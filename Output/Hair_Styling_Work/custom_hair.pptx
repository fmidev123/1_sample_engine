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hart10.xml" ContentType="application/vnd.openxmlformats-officedocument.drawingml.chart+xml"/>
  <Override PartName="/ppt/charts/chart100.xml" ContentType="application/vnd.openxmlformats-officedocument.drawingml.chart+xml"/>
  <Override PartName="/ppt/charts/chart1000.xml" ContentType="application/vnd.openxmlformats-officedocument.drawingml.chart+xml"/>
  <Override PartName="/ppt/charts/chart1001.xml" ContentType="application/vnd.openxmlformats-officedocument.drawingml.chart+xml"/>
  <Override PartName="/ppt/charts/chart1002.xml" ContentType="application/vnd.openxmlformats-officedocument.drawingml.chart+xml"/>
  <Override PartName="/ppt/charts/chart1003.xml" ContentType="application/vnd.openxmlformats-officedocument.drawingml.chart+xml"/>
  <Override PartName="/ppt/charts/chart1004.xml" ContentType="application/vnd.openxmlformats-officedocument.drawingml.chart+xml"/>
  <Override PartName="/ppt/charts/chart1005.xml" ContentType="application/vnd.openxmlformats-officedocument.drawingml.chart+xml"/>
  <Override PartName="/ppt/charts/chart1006.xml" ContentType="application/vnd.openxmlformats-officedocument.drawingml.chart+xml"/>
  <Override PartName="/ppt/charts/chart1007.xml" ContentType="application/vnd.openxmlformats-officedocument.drawingml.chart+xml"/>
  <Override PartName="/ppt/charts/chart1008.xml" ContentType="application/vnd.openxmlformats-officedocument.drawingml.chart+xml"/>
  <Override PartName="/ppt/charts/chart1009.xml" ContentType="application/vnd.openxmlformats-officedocument.drawingml.chart+xml"/>
  <Override PartName="/ppt/charts/chart101.xml" ContentType="application/vnd.openxmlformats-officedocument.drawingml.chart+xml"/>
  <Override PartName="/ppt/charts/chart1010.xml" ContentType="application/vnd.openxmlformats-officedocument.drawingml.chart+xml"/>
  <Override PartName="/ppt/charts/chart1011.xml" ContentType="application/vnd.openxmlformats-officedocument.drawingml.chart+xml"/>
  <Override PartName="/ppt/charts/chart1012.xml" ContentType="application/vnd.openxmlformats-officedocument.drawingml.chart+xml"/>
  <Override PartName="/ppt/charts/chart1013.xml" ContentType="application/vnd.openxmlformats-officedocument.drawingml.chart+xml"/>
  <Override PartName="/ppt/charts/chart1014.xml" ContentType="application/vnd.openxmlformats-officedocument.drawingml.chart+xml"/>
  <Override PartName="/ppt/charts/chart1015.xml" ContentType="application/vnd.openxmlformats-officedocument.drawingml.chart+xml"/>
  <Override PartName="/ppt/charts/chart1016.xml" ContentType="application/vnd.openxmlformats-officedocument.drawingml.chart+xml"/>
  <Override PartName="/ppt/charts/chart1017.xml" ContentType="application/vnd.openxmlformats-officedocument.drawingml.chart+xml"/>
  <Override PartName="/ppt/charts/chart1018.xml" ContentType="application/vnd.openxmlformats-officedocument.drawingml.chart+xml"/>
  <Override PartName="/ppt/charts/chart1019.xml" ContentType="application/vnd.openxmlformats-officedocument.drawingml.chart+xml"/>
  <Override PartName="/ppt/charts/chart102.xml" ContentType="application/vnd.openxmlformats-officedocument.drawingml.chart+xml"/>
  <Override PartName="/ppt/charts/chart1020.xml" ContentType="application/vnd.openxmlformats-officedocument.drawingml.chart+xml"/>
  <Override PartName="/ppt/charts/chart1021.xml" ContentType="application/vnd.openxmlformats-officedocument.drawingml.chart+xml"/>
  <Override PartName="/ppt/charts/chart1022.xml" ContentType="application/vnd.openxmlformats-officedocument.drawingml.chart+xml"/>
  <Override PartName="/ppt/charts/chart1023.xml" ContentType="application/vnd.openxmlformats-officedocument.drawingml.chart+xml"/>
  <Override PartName="/ppt/charts/chart1024.xml" ContentType="application/vnd.openxmlformats-officedocument.drawingml.chart+xml"/>
  <Override PartName="/ppt/charts/chart1025.xml" ContentType="application/vnd.openxmlformats-officedocument.drawingml.chart+xml"/>
  <Override PartName="/ppt/charts/chart1026.xml" ContentType="application/vnd.openxmlformats-officedocument.drawingml.chart+xml"/>
  <Override PartName="/ppt/charts/chart1027.xml" ContentType="application/vnd.openxmlformats-officedocument.drawingml.chart+xml"/>
  <Override PartName="/ppt/charts/chart1028.xml" ContentType="application/vnd.openxmlformats-officedocument.drawingml.chart+xml"/>
  <Override PartName="/ppt/charts/chart1029.xml" ContentType="application/vnd.openxmlformats-officedocument.drawingml.chart+xml"/>
  <Override PartName="/ppt/charts/chart103.xml" ContentType="application/vnd.openxmlformats-officedocument.drawingml.chart+xml"/>
  <Override PartName="/ppt/charts/chart1030.xml" ContentType="application/vnd.openxmlformats-officedocument.drawingml.chart+xml"/>
  <Override PartName="/ppt/charts/chart1031.xml" ContentType="application/vnd.openxmlformats-officedocument.drawingml.chart+xml"/>
  <Override PartName="/ppt/charts/chart1032.xml" ContentType="application/vnd.openxmlformats-officedocument.drawingml.chart+xml"/>
  <Override PartName="/ppt/charts/chart1033.xml" ContentType="application/vnd.openxmlformats-officedocument.drawingml.chart+xml"/>
  <Override PartName="/ppt/charts/chart1034.xml" ContentType="application/vnd.openxmlformats-officedocument.drawingml.chart+xml"/>
  <Override PartName="/ppt/charts/chart1035.xml" ContentType="application/vnd.openxmlformats-officedocument.drawingml.chart+xml"/>
  <Override PartName="/ppt/charts/chart1036.xml" ContentType="application/vnd.openxmlformats-officedocument.drawingml.chart+xml"/>
  <Override PartName="/ppt/charts/chart1037.xml" ContentType="application/vnd.openxmlformats-officedocument.drawingml.chart+xml"/>
  <Override PartName="/ppt/charts/chart1038.xml" ContentType="application/vnd.openxmlformats-officedocument.drawingml.chart+xml"/>
  <Override PartName="/ppt/charts/chart1039.xml" ContentType="application/vnd.openxmlformats-officedocument.drawingml.chart+xml"/>
  <Override PartName="/ppt/charts/chart104.xml" ContentType="application/vnd.openxmlformats-officedocument.drawingml.chart+xml"/>
  <Override PartName="/ppt/charts/chart1040.xml" ContentType="application/vnd.openxmlformats-officedocument.drawingml.chart+xml"/>
  <Override PartName="/ppt/charts/chart1041.xml" ContentType="application/vnd.openxmlformats-officedocument.drawingml.chart+xml"/>
  <Override PartName="/ppt/charts/chart1042.xml" ContentType="application/vnd.openxmlformats-officedocument.drawingml.chart+xml"/>
  <Override PartName="/ppt/charts/chart1043.xml" ContentType="application/vnd.openxmlformats-officedocument.drawingml.chart+xml"/>
  <Override PartName="/ppt/charts/chart1044.xml" ContentType="application/vnd.openxmlformats-officedocument.drawingml.chart+xml"/>
  <Override PartName="/ppt/charts/chart1045.xml" ContentType="application/vnd.openxmlformats-officedocument.drawingml.chart+xml"/>
  <Override PartName="/ppt/charts/chart1046.xml" ContentType="application/vnd.openxmlformats-officedocument.drawingml.chart+xml"/>
  <Override PartName="/ppt/charts/chart1047.xml" ContentType="application/vnd.openxmlformats-officedocument.drawingml.chart+xml"/>
  <Override PartName="/ppt/charts/chart1048.xml" ContentType="application/vnd.openxmlformats-officedocument.drawingml.chart+xml"/>
  <Override PartName="/ppt/charts/chart1049.xml" ContentType="application/vnd.openxmlformats-officedocument.drawingml.chart+xml"/>
  <Override PartName="/ppt/charts/chart105.xml" ContentType="application/vnd.openxmlformats-officedocument.drawingml.chart+xml"/>
  <Override PartName="/ppt/charts/chart1050.xml" ContentType="application/vnd.openxmlformats-officedocument.drawingml.chart+xml"/>
  <Override PartName="/ppt/charts/chart1051.xml" ContentType="application/vnd.openxmlformats-officedocument.drawingml.chart+xml"/>
  <Override PartName="/ppt/charts/chart1052.xml" ContentType="application/vnd.openxmlformats-officedocument.drawingml.chart+xml"/>
  <Override PartName="/ppt/charts/chart1053.xml" ContentType="application/vnd.openxmlformats-officedocument.drawingml.chart+xml"/>
  <Override PartName="/ppt/charts/chart1054.xml" ContentType="application/vnd.openxmlformats-officedocument.drawingml.chart+xml"/>
  <Override PartName="/ppt/charts/chart1055.xml" ContentType="application/vnd.openxmlformats-officedocument.drawingml.chart+xml"/>
  <Override PartName="/ppt/charts/chart1056.xml" ContentType="application/vnd.openxmlformats-officedocument.drawingml.chart+xml"/>
  <Override PartName="/ppt/charts/chart1057.xml" ContentType="application/vnd.openxmlformats-officedocument.drawingml.chart+xml"/>
  <Override PartName="/ppt/charts/chart1058.xml" ContentType="application/vnd.openxmlformats-officedocument.drawingml.chart+xml"/>
  <Override PartName="/ppt/charts/chart1059.xml" ContentType="application/vnd.openxmlformats-officedocument.drawingml.chart+xml"/>
  <Override PartName="/ppt/charts/chart106.xml" ContentType="application/vnd.openxmlformats-officedocument.drawingml.chart+xml"/>
  <Override PartName="/ppt/charts/chart1060.xml" ContentType="application/vnd.openxmlformats-officedocument.drawingml.chart+xml"/>
  <Override PartName="/ppt/charts/chart1061.xml" ContentType="application/vnd.openxmlformats-officedocument.drawingml.chart+xml"/>
  <Override PartName="/ppt/charts/chart1062.xml" ContentType="application/vnd.openxmlformats-officedocument.drawingml.chart+xml"/>
  <Override PartName="/ppt/charts/chart1063.xml" ContentType="application/vnd.openxmlformats-officedocument.drawingml.chart+xml"/>
  <Override PartName="/ppt/charts/chart1064.xml" ContentType="application/vnd.openxmlformats-officedocument.drawingml.chart+xml"/>
  <Override PartName="/ppt/charts/chart1065.xml" ContentType="application/vnd.openxmlformats-officedocument.drawingml.chart+xml"/>
  <Override PartName="/ppt/charts/chart1066.xml" ContentType="application/vnd.openxmlformats-officedocument.drawingml.chart+xml"/>
  <Override PartName="/ppt/charts/chart1067.xml" ContentType="application/vnd.openxmlformats-officedocument.drawingml.chart+xml"/>
  <Override PartName="/ppt/charts/chart1068.xml" ContentType="application/vnd.openxmlformats-officedocument.drawingml.chart+xml"/>
  <Override PartName="/ppt/charts/chart1069.xml" ContentType="application/vnd.openxmlformats-officedocument.drawingml.chart+xml"/>
  <Override PartName="/ppt/charts/chart107.xml" ContentType="application/vnd.openxmlformats-officedocument.drawingml.chart+xml"/>
  <Override PartName="/ppt/charts/chart1070.xml" ContentType="application/vnd.openxmlformats-officedocument.drawingml.chart+xml"/>
  <Override PartName="/ppt/charts/chart1071.xml" ContentType="application/vnd.openxmlformats-officedocument.drawingml.chart+xml"/>
  <Override PartName="/ppt/charts/chart1072.xml" ContentType="application/vnd.openxmlformats-officedocument.drawingml.chart+xml"/>
  <Override PartName="/ppt/charts/chart1073.xml" ContentType="application/vnd.openxmlformats-officedocument.drawingml.chart+xml"/>
  <Override PartName="/ppt/charts/chart1074.xml" ContentType="application/vnd.openxmlformats-officedocument.drawingml.chart+xml"/>
  <Override PartName="/ppt/charts/chart1075.xml" ContentType="application/vnd.openxmlformats-officedocument.drawingml.chart+xml"/>
  <Override PartName="/ppt/charts/chart1076.xml" ContentType="application/vnd.openxmlformats-officedocument.drawingml.chart+xml"/>
  <Override PartName="/ppt/charts/chart1077.xml" ContentType="application/vnd.openxmlformats-officedocument.drawingml.chart+xml"/>
  <Override PartName="/ppt/charts/chart1078.xml" ContentType="application/vnd.openxmlformats-officedocument.drawingml.chart+xml"/>
  <Override PartName="/ppt/charts/chart1079.xml" ContentType="application/vnd.openxmlformats-officedocument.drawingml.chart+xml"/>
  <Override PartName="/ppt/charts/chart108.xml" ContentType="application/vnd.openxmlformats-officedocument.drawingml.chart+xml"/>
  <Override PartName="/ppt/charts/chart1080.xml" ContentType="application/vnd.openxmlformats-officedocument.drawingml.chart+xml"/>
  <Override PartName="/ppt/charts/chart1081.xml" ContentType="application/vnd.openxmlformats-officedocument.drawingml.chart+xml"/>
  <Override PartName="/ppt/charts/chart1082.xml" ContentType="application/vnd.openxmlformats-officedocument.drawingml.chart+xml"/>
  <Override PartName="/ppt/charts/chart1083.xml" ContentType="application/vnd.openxmlformats-officedocument.drawingml.chart+xml"/>
  <Override PartName="/ppt/charts/chart1084.xml" ContentType="application/vnd.openxmlformats-officedocument.drawingml.chart+xml"/>
  <Override PartName="/ppt/charts/chart1085.xml" ContentType="application/vnd.openxmlformats-officedocument.drawingml.chart+xml"/>
  <Override PartName="/ppt/charts/chart1086.xml" ContentType="application/vnd.openxmlformats-officedocument.drawingml.chart+xml"/>
  <Override PartName="/ppt/charts/chart1087.xml" ContentType="application/vnd.openxmlformats-officedocument.drawingml.chart+xml"/>
  <Override PartName="/ppt/charts/chart1088.xml" ContentType="application/vnd.openxmlformats-officedocument.drawingml.chart+xml"/>
  <Override PartName="/ppt/charts/chart1089.xml" ContentType="application/vnd.openxmlformats-officedocument.drawingml.chart+xml"/>
  <Override PartName="/ppt/charts/chart109.xml" ContentType="application/vnd.openxmlformats-officedocument.drawingml.chart+xml"/>
  <Override PartName="/ppt/charts/chart1090.xml" ContentType="application/vnd.openxmlformats-officedocument.drawingml.chart+xml"/>
  <Override PartName="/ppt/charts/chart1091.xml" ContentType="application/vnd.openxmlformats-officedocument.drawingml.chart+xml"/>
  <Override PartName="/ppt/charts/chart1092.xml" ContentType="application/vnd.openxmlformats-officedocument.drawingml.chart+xml"/>
  <Override PartName="/ppt/charts/chart1093.xml" ContentType="application/vnd.openxmlformats-officedocument.drawingml.chart+xml"/>
  <Override PartName="/ppt/charts/chart1094.xml" ContentType="application/vnd.openxmlformats-officedocument.drawingml.chart+xml"/>
  <Override PartName="/ppt/charts/chart1095.xml" ContentType="application/vnd.openxmlformats-officedocument.drawingml.chart+xml"/>
  <Override PartName="/ppt/charts/chart1096.xml" ContentType="application/vnd.openxmlformats-officedocument.drawingml.chart+xml"/>
  <Override PartName="/ppt/charts/chart1097.xml" ContentType="application/vnd.openxmlformats-officedocument.drawingml.chart+xml"/>
  <Override PartName="/ppt/charts/chart1098.xml" ContentType="application/vnd.openxmlformats-officedocument.drawingml.chart+xml"/>
  <Override PartName="/ppt/charts/chart1099.xml" ContentType="application/vnd.openxmlformats-officedocument.drawingml.chart+xml"/>
  <Override PartName="/ppt/charts/chart11.xml" ContentType="application/vnd.openxmlformats-officedocument.drawingml.chart+xml"/>
  <Override PartName="/ppt/charts/chart110.xml" ContentType="application/vnd.openxmlformats-officedocument.drawingml.chart+xml"/>
  <Override PartName="/ppt/charts/chart1100.xml" ContentType="application/vnd.openxmlformats-officedocument.drawingml.chart+xml"/>
  <Override PartName="/ppt/charts/chart1101.xml" ContentType="application/vnd.openxmlformats-officedocument.drawingml.chart+xml"/>
  <Override PartName="/ppt/charts/chart1102.xml" ContentType="application/vnd.openxmlformats-officedocument.drawingml.chart+xml"/>
  <Override PartName="/ppt/charts/chart1103.xml" ContentType="application/vnd.openxmlformats-officedocument.drawingml.chart+xml"/>
  <Override PartName="/ppt/charts/chart1104.xml" ContentType="application/vnd.openxmlformats-officedocument.drawingml.chart+xml"/>
  <Override PartName="/ppt/charts/chart1105.xml" ContentType="application/vnd.openxmlformats-officedocument.drawingml.chart+xml"/>
  <Override PartName="/ppt/charts/chart1106.xml" ContentType="application/vnd.openxmlformats-officedocument.drawingml.chart+xml"/>
  <Override PartName="/ppt/charts/chart1107.xml" ContentType="application/vnd.openxmlformats-officedocument.drawingml.chart+xml"/>
  <Override PartName="/ppt/charts/chart1108.xml" ContentType="application/vnd.openxmlformats-officedocument.drawingml.chart+xml"/>
  <Override PartName="/ppt/charts/chart1109.xml" ContentType="application/vnd.openxmlformats-officedocument.drawingml.chart+xml"/>
  <Override PartName="/ppt/charts/chart111.xml" ContentType="application/vnd.openxmlformats-officedocument.drawingml.chart+xml"/>
  <Override PartName="/ppt/charts/chart1110.xml" ContentType="application/vnd.openxmlformats-officedocument.drawingml.chart+xml"/>
  <Override PartName="/ppt/charts/chart1111.xml" ContentType="application/vnd.openxmlformats-officedocument.drawingml.chart+xml"/>
  <Override PartName="/ppt/charts/chart1112.xml" ContentType="application/vnd.openxmlformats-officedocument.drawingml.chart+xml"/>
  <Override PartName="/ppt/charts/chart1113.xml" ContentType="application/vnd.openxmlformats-officedocument.drawingml.chart+xml"/>
  <Override PartName="/ppt/charts/chart1114.xml" ContentType="application/vnd.openxmlformats-officedocument.drawingml.chart+xml"/>
  <Override PartName="/ppt/charts/chart1115.xml" ContentType="application/vnd.openxmlformats-officedocument.drawingml.chart+xml"/>
  <Override PartName="/ppt/charts/chart1116.xml" ContentType="application/vnd.openxmlformats-officedocument.drawingml.chart+xml"/>
  <Override PartName="/ppt/charts/chart1117.xml" ContentType="application/vnd.openxmlformats-officedocument.drawingml.chart+xml"/>
  <Override PartName="/ppt/charts/chart1118.xml" ContentType="application/vnd.openxmlformats-officedocument.drawingml.chart+xml"/>
  <Override PartName="/ppt/charts/chart1119.xml" ContentType="application/vnd.openxmlformats-officedocument.drawingml.chart+xml"/>
  <Override PartName="/ppt/charts/chart112.xml" ContentType="application/vnd.openxmlformats-officedocument.drawingml.chart+xml"/>
  <Override PartName="/ppt/charts/chart1120.xml" ContentType="application/vnd.openxmlformats-officedocument.drawingml.chart+xml"/>
  <Override PartName="/ppt/charts/chart1121.xml" ContentType="application/vnd.openxmlformats-officedocument.drawingml.chart+xml"/>
  <Override PartName="/ppt/charts/chart1122.xml" ContentType="application/vnd.openxmlformats-officedocument.drawingml.chart+xml"/>
  <Override PartName="/ppt/charts/chart1123.xml" ContentType="application/vnd.openxmlformats-officedocument.drawingml.chart+xml"/>
  <Override PartName="/ppt/charts/chart1124.xml" ContentType="application/vnd.openxmlformats-officedocument.drawingml.chart+xml"/>
  <Override PartName="/ppt/charts/chart1125.xml" ContentType="application/vnd.openxmlformats-officedocument.drawingml.chart+xml"/>
  <Override PartName="/ppt/charts/chart1126.xml" ContentType="application/vnd.openxmlformats-officedocument.drawingml.chart+xml"/>
  <Override PartName="/ppt/charts/chart1127.xml" ContentType="application/vnd.openxmlformats-officedocument.drawingml.chart+xml"/>
  <Override PartName="/ppt/charts/chart1128.xml" ContentType="application/vnd.openxmlformats-officedocument.drawingml.chart+xml"/>
  <Override PartName="/ppt/charts/chart1129.xml" ContentType="application/vnd.openxmlformats-officedocument.drawingml.chart+xml"/>
  <Override PartName="/ppt/charts/chart113.xml" ContentType="application/vnd.openxmlformats-officedocument.drawingml.chart+xml"/>
  <Override PartName="/ppt/charts/chart1130.xml" ContentType="application/vnd.openxmlformats-officedocument.drawingml.chart+xml"/>
  <Override PartName="/ppt/charts/chart1131.xml" ContentType="application/vnd.openxmlformats-officedocument.drawingml.chart+xml"/>
  <Override PartName="/ppt/charts/chart1132.xml" ContentType="application/vnd.openxmlformats-officedocument.drawingml.chart+xml"/>
  <Override PartName="/ppt/charts/chart1133.xml" ContentType="application/vnd.openxmlformats-officedocument.drawingml.chart+xml"/>
  <Override PartName="/ppt/charts/chart1134.xml" ContentType="application/vnd.openxmlformats-officedocument.drawingml.chart+xml"/>
  <Override PartName="/ppt/charts/chart1135.xml" ContentType="application/vnd.openxmlformats-officedocument.drawingml.chart+xml"/>
  <Override PartName="/ppt/charts/chart1136.xml" ContentType="application/vnd.openxmlformats-officedocument.drawingml.chart+xml"/>
  <Override PartName="/ppt/charts/chart1137.xml" ContentType="application/vnd.openxmlformats-officedocument.drawingml.chart+xml"/>
  <Override PartName="/ppt/charts/chart1138.xml" ContentType="application/vnd.openxmlformats-officedocument.drawingml.chart+xml"/>
  <Override PartName="/ppt/charts/chart1139.xml" ContentType="application/vnd.openxmlformats-officedocument.drawingml.chart+xml"/>
  <Override PartName="/ppt/charts/chart114.xml" ContentType="application/vnd.openxmlformats-officedocument.drawingml.chart+xml"/>
  <Override PartName="/ppt/charts/chart1140.xml" ContentType="application/vnd.openxmlformats-officedocument.drawingml.chart+xml"/>
  <Override PartName="/ppt/charts/chart1141.xml" ContentType="application/vnd.openxmlformats-officedocument.drawingml.chart+xml"/>
  <Override PartName="/ppt/charts/chart1142.xml" ContentType="application/vnd.openxmlformats-officedocument.drawingml.chart+xml"/>
  <Override PartName="/ppt/charts/chart1143.xml" ContentType="application/vnd.openxmlformats-officedocument.drawingml.chart+xml"/>
  <Override PartName="/ppt/charts/chart1144.xml" ContentType="application/vnd.openxmlformats-officedocument.drawingml.chart+xml"/>
  <Override PartName="/ppt/charts/chart1145.xml" ContentType="application/vnd.openxmlformats-officedocument.drawingml.chart+xml"/>
  <Override PartName="/ppt/charts/chart1146.xml" ContentType="application/vnd.openxmlformats-officedocument.drawingml.chart+xml"/>
  <Override PartName="/ppt/charts/chart1147.xml" ContentType="application/vnd.openxmlformats-officedocument.drawingml.chart+xml"/>
  <Override PartName="/ppt/charts/chart1148.xml" ContentType="application/vnd.openxmlformats-officedocument.drawingml.chart+xml"/>
  <Override PartName="/ppt/charts/chart1149.xml" ContentType="application/vnd.openxmlformats-officedocument.drawingml.chart+xml"/>
  <Override PartName="/ppt/charts/chart115.xml" ContentType="application/vnd.openxmlformats-officedocument.drawingml.chart+xml"/>
  <Override PartName="/ppt/charts/chart1150.xml" ContentType="application/vnd.openxmlformats-officedocument.drawingml.chart+xml"/>
  <Override PartName="/ppt/charts/chart1151.xml" ContentType="application/vnd.openxmlformats-officedocument.drawingml.chart+xml"/>
  <Override PartName="/ppt/charts/chart1152.xml" ContentType="application/vnd.openxmlformats-officedocument.drawingml.chart+xml"/>
  <Override PartName="/ppt/charts/chart1153.xml" ContentType="application/vnd.openxmlformats-officedocument.drawingml.chart+xml"/>
  <Override PartName="/ppt/charts/chart1154.xml" ContentType="application/vnd.openxmlformats-officedocument.drawingml.chart+xml"/>
  <Override PartName="/ppt/charts/chart1155.xml" ContentType="application/vnd.openxmlformats-officedocument.drawingml.chart+xml"/>
  <Override PartName="/ppt/charts/chart1156.xml" ContentType="application/vnd.openxmlformats-officedocument.drawingml.chart+xml"/>
  <Override PartName="/ppt/charts/chart1157.xml" ContentType="application/vnd.openxmlformats-officedocument.drawingml.chart+xml"/>
  <Override PartName="/ppt/charts/chart1158.xml" ContentType="application/vnd.openxmlformats-officedocument.drawingml.chart+xml"/>
  <Override PartName="/ppt/charts/chart1159.xml" ContentType="application/vnd.openxmlformats-officedocument.drawingml.chart+xml"/>
  <Override PartName="/ppt/charts/chart116.xml" ContentType="application/vnd.openxmlformats-officedocument.drawingml.chart+xml"/>
  <Override PartName="/ppt/charts/chart1160.xml" ContentType="application/vnd.openxmlformats-officedocument.drawingml.chart+xml"/>
  <Override PartName="/ppt/charts/chart1161.xml" ContentType="application/vnd.openxmlformats-officedocument.drawingml.chart+xml"/>
  <Override PartName="/ppt/charts/chart1162.xml" ContentType="application/vnd.openxmlformats-officedocument.drawingml.chart+xml"/>
  <Override PartName="/ppt/charts/chart1163.xml" ContentType="application/vnd.openxmlformats-officedocument.drawingml.chart+xml"/>
  <Override PartName="/ppt/charts/chart1164.xml" ContentType="application/vnd.openxmlformats-officedocument.drawingml.chart+xml"/>
  <Override PartName="/ppt/charts/chart1165.xml" ContentType="application/vnd.openxmlformats-officedocument.drawingml.chart+xml"/>
  <Override PartName="/ppt/charts/chart1166.xml" ContentType="application/vnd.openxmlformats-officedocument.drawingml.chart+xml"/>
  <Override PartName="/ppt/charts/chart1167.xml" ContentType="application/vnd.openxmlformats-officedocument.drawingml.chart+xml"/>
  <Override PartName="/ppt/charts/chart1168.xml" ContentType="application/vnd.openxmlformats-officedocument.drawingml.chart+xml"/>
  <Override PartName="/ppt/charts/chart1169.xml" ContentType="application/vnd.openxmlformats-officedocument.drawingml.chart+xml"/>
  <Override PartName="/ppt/charts/chart117.xml" ContentType="application/vnd.openxmlformats-officedocument.drawingml.chart+xml"/>
  <Override PartName="/ppt/charts/chart1170.xml" ContentType="application/vnd.openxmlformats-officedocument.drawingml.chart+xml"/>
  <Override PartName="/ppt/charts/chart1171.xml" ContentType="application/vnd.openxmlformats-officedocument.drawingml.chart+xml"/>
  <Override PartName="/ppt/charts/chart1172.xml" ContentType="application/vnd.openxmlformats-officedocument.drawingml.chart+xml"/>
  <Override PartName="/ppt/charts/chart1173.xml" ContentType="application/vnd.openxmlformats-officedocument.drawingml.chart+xml"/>
  <Override PartName="/ppt/charts/chart1174.xml" ContentType="application/vnd.openxmlformats-officedocument.drawingml.chart+xml"/>
  <Override PartName="/ppt/charts/chart1175.xml" ContentType="application/vnd.openxmlformats-officedocument.drawingml.chart+xml"/>
  <Override PartName="/ppt/charts/chart1176.xml" ContentType="application/vnd.openxmlformats-officedocument.drawingml.chart+xml"/>
  <Override PartName="/ppt/charts/chart1177.xml" ContentType="application/vnd.openxmlformats-officedocument.drawingml.chart+xml"/>
  <Override PartName="/ppt/charts/chart1178.xml" ContentType="application/vnd.openxmlformats-officedocument.drawingml.chart+xml"/>
  <Override PartName="/ppt/charts/chart1179.xml" ContentType="application/vnd.openxmlformats-officedocument.drawingml.chart+xml"/>
  <Override PartName="/ppt/charts/chart118.xml" ContentType="application/vnd.openxmlformats-officedocument.drawingml.chart+xml"/>
  <Override PartName="/ppt/charts/chart1180.xml" ContentType="application/vnd.openxmlformats-officedocument.drawingml.chart+xml"/>
  <Override PartName="/ppt/charts/chart1181.xml" ContentType="application/vnd.openxmlformats-officedocument.drawingml.chart+xml"/>
  <Override PartName="/ppt/charts/chart1182.xml" ContentType="application/vnd.openxmlformats-officedocument.drawingml.chart+xml"/>
  <Override PartName="/ppt/charts/chart1183.xml" ContentType="application/vnd.openxmlformats-officedocument.drawingml.chart+xml"/>
  <Override PartName="/ppt/charts/chart1184.xml" ContentType="application/vnd.openxmlformats-officedocument.drawingml.chart+xml"/>
  <Override PartName="/ppt/charts/chart1185.xml" ContentType="application/vnd.openxmlformats-officedocument.drawingml.chart+xml"/>
  <Override PartName="/ppt/charts/chart1186.xml" ContentType="application/vnd.openxmlformats-officedocument.drawingml.chart+xml"/>
  <Override PartName="/ppt/charts/chart1187.xml" ContentType="application/vnd.openxmlformats-officedocument.drawingml.chart+xml"/>
  <Override PartName="/ppt/charts/chart1188.xml" ContentType="application/vnd.openxmlformats-officedocument.drawingml.chart+xml"/>
  <Override PartName="/ppt/charts/chart1189.xml" ContentType="application/vnd.openxmlformats-officedocument.drawingml.chart+xml"/>
  <Override PartName="/ppt/charts/chart119.xml" ContentType="application/vnd.openxmlformats-officedocument.drawingml.chart+xml"/>
  <Override PartName="/ppt/charts/chart1190.xml" ContentType="application/vnd.openxmlformats-officedocument.drawingml.chart+xml"/>
  <Override PartName="/ppt/charts/chart1191.xml" ContentType="application/vnd.openxmlformats-officedocument.drawingml.chart+xml"/>
  <Override PartName="/ppt/charts/chart1192.xml" ContentType="application/vnd.openxmlformats-officedocument.drawingml.chart+xml"/>
  <Override PartName="/ppt/charts/chart1193.xml" ContentType="application/vnd.openxmlformats-officedocument.drawingml.chart+xml"/>
  <Override PartName="/ppt/charts/chart1194.xml" ContentType="application/vnd.openxmlformats-officedocument.drawingml.chart+xml"/>
  <Override PartName="/ppt/charts/chart1195.xml" ContentType="application/vnd.openxmlformats-officedocument.drawingml.chart+xml"/>
  <Override PartName="/ppt/charts/chart1196.xml" ContentType="application/vnd.openxmlformats-officedocument.drawingml.chart+xml"/>
  <Override PartName="/ppt/charts/chart1197.xml" ContentType="application/vnd.openxmlformats-officedocument.drawingml.chart+xml"/>
  <Override PartName="/ppt/charts/chart1198.xml" ContentType="application/vnd.openxmlformats-officedocument.drawingml.chart+xml"/>
  <Override PartName="/ppt/charts/chart1199.xml" ContentType="application/vnd.openxmlformats-officedocument.drawingml.chart+xml"/>
  <Override PartName="/ppt/charts/chart12.xml" ContentType="application/vnd.openxmlformats-officedocument.drawingml.chart+xml"/>
  <Override PartName="/ppt/charts/chart120.xml" ContentType="application/vnd.openxmlformats-officedocument.drawingml.chart+xml"/>
  <Override PartName="/ppt/charts/chart1200.xml" ContentType="application/vnd.openxmlformats-officedocument.drawingml.chart+xml"/>
  <Override PartName="/ppt/charts/chart1201.xml" ContentType="application/vnd.openxmlformats-officedocument.drawingml.chart+xml"/>
  <Override PartName="/ppt/charts/chart1202.xml" ContentType="application/vnd.openxmlformats-officedocument.drawingml.chart+xml"/>
  <Override PartName="/ppt/charts/chart1203.xml" ContentType="application/vnd.openxmlformats-officedocument.drawingml.chart+xml"/>
  <Override PartName="/ppt/charts/chart1204.xml" ContentType="application/vnd.openxmlformats-officedocument.drawingml.chart+xml"/>
  <Override PartName="/ppt/charts/chart1205.xml" ContentType="application/vnd.openxmlformats-officedocument.drawingml.chart+xml"/>
  <Override PartName="/ppt/charts/chart1206.xml" ContentType="application/vnd.openxmlformats-officedocument.drawingml.chart+xml"/>
  <Override PartName="/ppt/charts/chart1207.xml" ContentType="application/vnd.openxmlformats-officedocument.drawingml.chart+xml"/>
  <Override PartName="/ppt/charts/chart1208.xml" ContentType="application/vnd.openxmlformats-officedocument.drawingml.chart+xml"/>
  <Override PartName="/ppt/charts/chart1209.xml" ContentType="application/vnd.openxmlformats-officedocument.drawingml.chart+xml"/>
  <Override PartName="/ppt/charts/chart121.xml" ContentType="application/vnd.openxmlformats-officedocument.drawingml.chart+xml"/>
  <Override PartName="/ppt/charts/chart1210.xml" ContentType="application/vnd.openxmlformats-officedocument.drawingml.chart+xml"/>
  <Override PartName="/ppt/charts/chart1211.xml" ContentType="application/vnd.openxmlformats-officedocument.drawingml.chart+xml"/>
  <Override PartName="/ppt/charts/chart1212.xml" ContentType="application/vnd.openxmlformats-officedocument.drawingml.chart+xml"/>
  <Override PartName="/ppt/charts/chart1213.xml" ContentType="application/vnd.openxmlformats-officedocument.drawingml.chart+xml"/>
  <Override PartName="/ppt/charts/chart1214.xml" ContentType="application/vnd.openxmlformats-officedocument.drawingml.chart+xml"/>
  <Override PartName="/ppt/charts/chart1215.xml" ContentType="application/vnd.openxmlformats-officedocument.drawingml.chart+xml"/>
  <Override PartName="/ppt/charts/chart1216.xml" ContentType="application/vnd.openxmlformats-officedocument.drawingml.chart+xml"/>
  <Override PartName="/ppt/charts/chart1217.xml" ContentType="application/vnd.openxmlformats-officedocument.drawingml.chart+xml"/>
  <Override PartName="/ppt/charts/chart1218.xml" ContentType="application/vnd.openxmlformats-officedocument.drawingml.chart+xml"/>
  <Override PartName="/ppt/charts/chart1219.xml" ContentType="application/vnd.openxmlformats-officedocument.drawingml.chart+xml"/>
  <Override PartName="/ppt/charts/chart122.xml" ContentType="application/vnd.openxmlformats-officedocument.drawingml.chart+xml"/>
  <Override PartName="/ppt/charts/chart1220.xml" ContentType="application/vnd.openxmlformats-officedocument.drawingml.chart+xml"/>
  <Override PartName="/ppt/charts/chart1221.xml" ContentType="application/vnd.openxmlformats-officedocument.drawingml.chart+xml"/>
  <Override PartName="/ppt/charts/chart1222.xml" ContentType="application/vnd.openxmlformats-officedocument.drawingml.chart+xml"/>
  <Override PartName="/ppt/charts/chart1223.xml" ContentType="application/vnd.openxmlformats-officedocument.drawingml.chart+xml"/>
  <Override PartName="/ppt/charts/chart1224.xml" ContentType="application/vnd.openxmlformats-officedocument.drawingml.chart+xml"/>
  <Override PartName="/ppt/charts/chart1225.xml" ContentType="application/vnd.openxmlformats-officedocument.drawingml.chart+xml"/>
  <Override PartName="/ppt/charts/chart1226.xml" ContentType="application/vnd.openxmlformats-officedocument.drawingml.chart+xml"/>
  <Override PartName="/ppt/charts/chart1227.xml" ContentType="application/vnd.openxmlformats-officedocument.drawingml.chart+xml"/>
  <Override PartName="/ppt/charts/chart1228.xml" ContentType="application/vnd.openxmlformats-officedocument.drawingml.chart+xml"/>
  <Override PartName="/ppt/charts/chart1229.xml" ContentType="application/vnd.openxmlformats-officedocument.drawingml.chart+xml"/>
  <Override PartName="/ppt/charts/chart123.xml" ContentType="application/vnd.openxmlformats-officedocument.drawingml.chart+xml"/>
  <Override PartName="/ppt/charts/chart1230.xml" ContentType="application/vnd.openxmlformats-officedocument.drawingml.chart+xml"/>
  <Override PartName="/ppt/charts/chart1231.xml" ContentType="application/vnd.openxmlformats-officedocument.drawingml.chart+xml"/>
  <Override PartName="/ppt/charts/chart1232.xml" ContentType="application/vnd.openxmlformats-officedocument.drawingml.chart+xml"/>
  <Override PartName="/ppt/charts/chart1233.xml" ContentType="application/vnd.openxmlformats-officedocument.drawingml.chart+xml"/>
  <Override PartName="/ppt/charts/chart1234.xml" ContentType="application/vnd.openxmlformats-officedocument.drawingml.chart+xml"/>
  <Override PartName="/ppt/charts/chart1235.xml" ContentType="application/vnd.openxmlformats-officedocument.drawingml.chart+xml"/>
  <Override PartName="/ppt/charts/chart1236.xml" ContentType="application/vnd.openxmlformats-officedocument.drawingml.chart+xml"/>
  <Override PartName="/ppt/charts/chart1237.xml" ContentType="application/vnd.openxmlformats-officedocument.drawingml.chart+xml"/>
  <Override PartName="/ppt/charts/chart1238.xml" ContentType="application/vnd.openxmlformats-officedocument.drawingml.chart+xml"/>
  <Override PartName="/ppt/charts/chart1239.xml" ContentType="application/vnd.openxmlformats-officedocument.drawingml.chart+xml"/>
  <Override PartName="/ppt/charts/chart124.xml" ContentType="application/vnd.openxmlformats-officedocument.drawingml.chart+xml"/>
  <Override PartName="/ppt/charts/chart1240.xml" ContentType="application/vnd.openxmlformats-officedocument.drawingml.chart+xml"/>
  <Override PartName="/ppt/charts/chart1241.xml" ContentType="application/vnd.openxmlformats-officedocument.drawingml.chart+xml"/>
  <Override PartName="/ppt/charts/chart1242.xml" ContentType="application/vnd.openxmlformats-officedocument.drawingml.chart+xml"/>
  <Override PartName="/ppt/charts/chart1243.xml" ContentType="application/vnd.openxmlformats-officedocument.drawingml.chart+xml"/>
  <Override PartName="/ppt/charts/chart1244.xml" ContentType="application/vnd.openxmlformats-officedocument.drawingml.chart+xml"/>
  <Override PartName="/ppt/charts/chart1245.xml" ContentType="application/vnd.openxmlformats-officedocument.drawingml.chart+xml"/>
  <Override PartName="/ppt/charts/chart1246.xml" ContentType="application/vnd.openxmlformats-officedocument.drawingml.chart+xml"/>
  <Override PartName="/ppt/charts/chart1247.xml" ContentType="application/vnd.openxmlformats-officedocument.drawingml.chart+xml"/>
  <Override PartName="/ppt/charts/chart1248.xml" ContentType="application/vnd.openxmlformats-officedocument.drawingml.chart+xml"/>
  <Override PartName="/ppt/charts/chart1249.xml" ContentType="application/vnd.openxmlformats-officedocument.drawingml.chart+xml"/>
  <Override PartName="/ppt/charts/chart125.xml" ContentType="application/vnd.openxmlformats-officedocument.drawingml.chart+xml"/>
  <Override PartName="/ppt/charts/chart1250.xml" ContentType="application/vnd.openxmlformats-officedocument.drawingml.chart+xml"/>
  <Override PartName="/ppt/charts/chart1251.xml" ContentType="application/vnd.openxmlformats-officedocument.drawingml.chart+xml"/>
  <Override PartName="/ppt/charts/chart1252.xml" ContentType="application/vnd.openxmlformats-officedocument.drawingml.chart+xml"/>
  <Override PartName="/ppt/charts/chart1253.xml" ContentType="application/vnd.openxmlformats-officedocument.drawingml.chart+xml"/>
  <Override PartName="/ppt/charts/chart1254.xml" ContentType="application/vnd.openxmlformats-officedocument.drawingml.chart+xml"/>
  <Override PartName="/ppt/charts/chart1255.xml" ContentType="application/vnd.openxmlformats-officedocument.drawingml.chart+xml"/>
  <Override PartName="/ppt/charts/chart1256.xml" ContentType="application/vnd.openxmlformats-officedocument.drawingml.chart+xml"/>
  <Override PartName="/ppt/charts/chart1257.xml" ContentType="application/vnd.openxmlformats-officedocument.drawingml.chart+xml"/>
  <Override PartName="/ppt/charts/chart1258.xml" ContentType="application/vnd.openxmlformats-officedocument.drawingml.chart+xml"/>
  <Override PartName="/ppt/charts/chart1259.xml" ContentType="application/vnd.openxmlformats-officedocument.drawingml.chart+xml"/>
  <Override PartName="/ppt/charts/chart126.xml" ContentType="application/vnd.openxmlformats-officedocument.drawingml.chart+xml"/>
  <Override PartName="/ppt/charts/chart1260.xml" ContentType="application/vnd.openxmlformats-officedocument.drawingml.chart+xml"/>
  <Override PartName="/ppt/charts/chart1261.xml" ContentType="application/vnd.openxmlformats-officedocument.drawingml.chart+xml"/>
  <Override PartName="/ppt/charts/chart1262.xml" ContentType="application/vnd.openxmlformats-officedocument.drawingml.chart+xml"/>
  <Override PartName="/ppt/charts/chart1263.xml" ContentType="application/vnd.openxmlformats-officedocument.drawingml.chart+xml"/>
  <Override PartName="/ppt/charts/chart1264.xml" ContentType="application/vnd.openxmlformats-officedocument.drawingml.chart+xml"/>
  <Override PartName="/ppt/charts/chart1265.xml" ContentType="application/vnd.openxmlformats-officedocument.drawingml.chart+xml"/>
  <Override PartName="/ppt/charts/chart1266.xml" ContentType="application/vnd.openxmlformats-officedocument.drawingml.chart+xml"/>
  <Override PartName="/ppt/charts/chart1267.xml" ContentType="application/vnd.openxmlformats-officedocument.drawingml.chart+xml"/>
  <Override PartName="/ppt/charts/chart1268.xml" ContentType="application/vnd.openxmlformats-officedocument.drawingml.chart+xml"/>
  <Override PartName="/ppt/charts/chart1269.xml" ContentType="application/vnd.openxmlformats-officedocument.drawingml.chart+xml"/>
  <Override PartName="/ppt/charts/chart127.xml" ContentType="application/vnd.openxmlformats-officedocument.drawingml.chart+xml"/>
  <Override PartName="/ppt/charts/chart1270.xml" ContentType="application/vnd.openxmlformats-officedocument.drawingml.chart+xml"/>
  <Override PartName="/ppt/charts/chart1271.xml" ContentType="application/vnd.openxmlformats-officedocument.drawingml.chart+xml"/>
  <Override PartName="/ppt/charts/chart1272.xml" ContentType="application/vnd.openxmlformats-officedocument.drawingml.chart+xml"/>
  <Override PartName="/ppt/charts/chart1273.xml" ContentType="application/vnd.openxmlformats-officedocument.drawingml.chart+xml"/>
  <Override PartName="/ppt/charts/chart1274.xml" ContentType="application/vnd.openxmlformats-officedocument.drawingml.chart+xml"/>
  <Override PartName="/ppt/charts/chart1275.xml" ContentType="application/vnd.openxmlformats-officedocument.drawingml.chart+xml"/>
  <Override PartName="/ppt/charts/chart1276.xml" ContentType="application/vnd.openxmlformats-officedocument.drawingml.chart+xml"/>
  <Override PartName="/ppt/charts/chart1277.xml" ContentType="application/vnd.openxmlformats-officedocument.drawingml.chart+xml"/>
  <Override PartName="/ppt/charts/chart1278.xml" ContentType="application/vnd.openxmlformats-officedocument.drawingml.chart+xml"/>
  <Override PartName="/ppt/charts/chart1279.xml" ContentType="application/vnd.openxmlformats-officedocument.drawingml.chart+xml"/>
  <Override PartName="/ppt/charts/chart128.xml" ContentType="application/vnd.openxmlformats-officedocument.drawingml.chart+xml"/>
  <Override PartName="/ppt/charts/chart1280.xml" ContentType="application/vnd.openxmlformats-officedocument.drawingml.chart+xml"/>
  <Override PartName="/ppt/charts/chart1281.xml" ContentType="application/vnd.openxmlformats-officedocument.drawingml.chart+xml"/>
  <Override PartName="/ppt/charts/chart1282.xml" ContentType="application/vnd.openxmlformats-officedocument.drawingml.chart+xml"/>
  <Override PartName="/ppt/charts/chart1283.xml" ContentType="application/vnd.openxmlformats-officedocument.drawingml.chart+xml"/>
  <Override PartName="/ppt/charts/chart1284.xml" ContentType="application/vnd.openxmlformats-officedocument.drawingml.chart+xml"/>
  <Override PartName="/ppt/charts/chart1285.xml" ContentType="application/vnd.openxmlformats-officedocument.drawingml.chart+xml"/>
  <Override PartName="/ppt/charts/chart1286.xml" ContentType="application/vnd.openxmlformats-officedocument.drawingml.chart+xml"/>
  <Override PartName="/ppt/charts/chart1287.xml" ContentType="application/vnd.openxmlformats-officedocument.drawingml.chart+xml"/>
  <Override PartName="/ppt/charts/chart1288.xml" ContentType="application/vnd.openxmlformats-officedocument.drawingml.chart+xml"/>
  <Override PartName="/ppt/charts/chart1289.xml" ContentType="application/vnd.openxmlformats-officedocument.drawingml.chart+xml"/>
  <Override PartName="/ppt/charts/chart129.xml" ContentType="application/vnd.openxmlformats-officedocument.drawingml.chart+xml"/>
  <Override PartName="/ppt/charts/chart1290.xml" ContentType="application/vnd.openxmlformats-officedocument.drawingml.chart+xml"/>
  <Override PartName="/ppt/charts/chart1291.xml" ContentType="application/vnd.openxmlformats-officedocument.drawingml.chart+xml"/>
  <Override PartName="/ppt/charts/chart1292.xml" ContentType="application/vnd.openxmlformats-officedocument.drawingml.chart+xml"/>
  <Override PartName="/ppt/charts/chart1293.xml" ContentType="application/vnd.openxmlformats-officedocument.drawingml.chart+xml"/>
  <Override PartName="/ppt/charts/chart1294.xml" ContentType="application/vnd.openxmlformats-officedocument.drawingml.chart+xml"/>
  <Override PartName="/ppt/charts/chart1295.xml" ContentType="application/vnd.openxmlformats-officedocument.drawingml.chart+xml"/>
  <Override PartName="/ppt/charts/chart1296.xml" ContentType="application/vnd.openxmlformats-officedocument.drawingml.chart+xml"/>
  <Override PartName="/ppt/charts/chart1297.xml" ContentType="application/vnd.openxmlformats-officedocument.drawingml.chart+xml"/>
  <Override PartName="/ppt/charts/chart1298.xml" ContentType="application/vnd.openxmlformats-officedocument.drawingml.chart+xml"/>
  <Override PartName="/ppt/charts/chart1299.xml" ContentType="application/vnd.openxmlformats-officedocument.drawingml.chart+xml"/>
  <Override PartName="/ppt/charts/chart13.xml" ContentType="application/vnd.openxmlformats-officedocument.drawingml.chart+xml"/>
  <Override PartName="/ppt/charts/chart130.xml" ContentType="application/vnd.openxmlformats-officedocument.drawingml.chart+xml"/>
  <Override PartName="/ppt/charts/chart1300.xml" ContentType="application/vnd.openxmlformats-officedocument.drawingml.chart+xml"/>
  <Override PartName="/ppt/charts/chart1301.xml" ContentType="application/vnd.openxmlformats-officedocument.drawingml.chart+xml"/>
  <Override PartName="/ppt/charts/chart1302.xml" ContentType="application/vnd.openxmlformats-officedocument.drawingml.chart+xml"/>
  <Override PartName="/ppt/charts/chart1303.xml" ContentType="application/vnd.openxmlformats-officedocument.drawingml.chart+xml"/>
  <Override PartName="/ppt/charts/chart1304.xml" ContentType="application/vnd.openxmlformats-officedocument.drawingml.chart+xml"/>
  <Override PartName="/ppt/charts/chart1305.xml" ContentType="application/vnd.openxmlformats-officedocument.drawingml.chart+xml"/>
  <Override PartName="/ppt/charts/chart1306.xml" ContentType="application/vnd.openxmlformats-officedocument.drawingml.chart+xml"/>
  <Override PartName="/ppt/charts/chart1307.xml" ContentType="application/vnd.openxmlformats-officedocument.drawingml.chart+xml"/>
  <Override PartName="/ppt/charts/chart1308.xml" ContentType="application/vnd.openxmlformats-officedocument.drawingml.chart+xml"/>
  <Override PartName="/ppt/charts/chart1309.xml" ContentType="application/vnd.openxmlformats-officedocument.drawingml.chart+xml"/>
  <Override PartName="/ppt/charts/chart131.xml" ContentType="application/vnd.openxmlformats-officedocument.drawingml.chart+xml"/>
  <Override PartName="/ppt/charts/chart1310.xml" ContentType="application/vnd.openxmlformats-officedocument.drawingml.chart+xml"/>
  <Override PartName="/ppt/charts/chart1311.xml" ContentType="application/vnd.openxmlformats-officedocument.drawingml.chart+xml"/>
  <Override PartName="/ppt/charts/chart1312.xml" ContentType="application/vnd.openxmlformats-officedocument.drawingml.chart+xml"/>
  <Override PartName="/ppt/charts/chart1313.xml" ContentType="application/vnd.openxmlformats-officedocument.drawingml.chart+xml"/>
  <Override PartName="/ppt/charts/chart1314.xml" ContentType="application/vnd.openxmlformats-officedocument.drawingml.chart+xml"/>
  <Override PartName="/ppt/charts/chart1315.xml" ContentType="application/vnd.openxmlformats-officedocument.drawingml.chart+xml"/>
  <Override PartName="/ppt/charts/chart1316.xml" ContentType="application/vnd.openxmlformats-officedocument.drawingml.chart+xml"/>
  <Override PartName="/ppt/charts/chart1317.xml" ContentType="application/vnd.openxmlformats-officedocument.drawingml.chart+xml"/>
  <Override PartName="/ppt/charts/chart1318.xml" ContentType="application/vnd.openxmlformats-officedocument.drawingml.chart+xml"/>
  <Override PartName="/ppt/charts/chart1319.xml" ContentType="application/vnd.openxmlformats-officedocument.drawingml.chart+xml"/>
  <Override PartName="/ppt/charts/chart132.xml" ContentType="application/vnd.openxmlformats-officedocument.drawingml.chart+xml"/>
  <Override PartName="/ppt/charts/chart1320.xml" ContentType="application/vnd.openxmlformats-officedocument.drawingml.chart+xml"/>
  <Override PartName="/ppt/charts/chart1321.xml" ContentType="application/vnd.openxmlformats-officedocument.drawingml.chart+xml"/>
  <Override PartName="/ppt/charts/chart1322.xml" ContentType="application/vnd.openxmlformats-officedocument.drawingml.chart+xml"/>
  <Override PartName="/ppt/charts/chart1323.xml" ContentType="application/vnd.openxmlformats-officedocument.drawingml.chart+xml"/>
  <Override PartName="/ppt/charts/chart1324.xml" ContentType="application/vnd.openxmlformats-officedocument.drawingml.chart+xml"/>
  <Override PartName="/ppt/charts/chart1325.xml" ContentType="application/vnd.openxmlformats-officedocument.drawingml.chart+xml"/>
  <Override PartName="/ppt/charts/chart1326.xml" ContentType="application/vnd.openxmlformats-officedocument.drawingml.chart+xml"/>
  <Override PartName="/ppt/charts/chart1327.xml" ContentType="application/vnd.openxmlformats-officedocument.drawingml.chart+xml"/>
  <Override PartName="/ppt/charts/chart1328.xml" ContentType="application/vnd.openxmlformats-officedocument.drawingml.chart+xml"/>
  <Override PartName="/ppt/charts/chart1329.xml" ContentType="application/vnd.openxmlformats-officedocument.drawingml.chart+xml"/>
  <Override PartName="/ppt/charts/chart133.xml" ContentType="application/vnd.openxmlformats-officedocument.drawingml.chart+xml"/>
  <Override PartName="/ppt/charts/chart1330.xml" ContentType="application/vnd.openxmlformats-officedocument.drawingml.chart+xml"/>
  <Override PartName="/ppt/charts/chart1331.xml" ContentType="application/vnd.openxmlformats-officedocument.drawingml.chart+xml"/>
  <Override PartName="/ppt/charts/chart1332.xml" ContentType="application/vnd.openxmlformats-officedocument.drawingml.chart+xml"/>
  <Override PartName="/ppt/charts/chart1333.xml" ContentType="application/vnd.openxmlformats-officedocument.drawingml.chart+xml"/>
  <Override PartName="/ppt/charts/chart1334.xml" ContentType="application/vnd.openxmlformats-officedocument.drawingml.chart+xml"/>
  <Override PartName="/ppt/charts/chart1335.xml" ContentType="application/vnd.openxmlformats-officedocument.drawingml.chart+xml"/>
  <Override PartName="/ppt/charts/chart1336.xml" ContentType="application/vnd.openxmlformats-officedocument.drawingml.chart+xml"/>
  <Override PartName="/ppt/charts/chart1337.xml" ContentType="application/vnd.openxmlformats-officedocument.drawingml.chart+xml"/>
  <Override PartName="/ppt/charts/chart1338.xml" ContentType="application/vnd.openxmlformats-officedocument.drawingml.chart+xml"/>
  <Override PartName="/ppt/charts/chart1339.xml" ContentType="application/vnd.openxmlformats-officedocument.drawingml.chart+xml"/>
  <Override PartName="/ppt/charts/chart134.xml" ContentType="application/vnd.openxmlformats-officedocument.drawingml.chart+xml"/>
  <Override PartName="/ppt/charts/chart1340.xml" ContentType="application/vnd.openxmlformats-officedocument.drawingml.chart+xml"/>
  <Override PartName="/ppt/charts/chart1341.xml" ContentType="application/vnd.openxmlformats-officedocument.drawingml.chart+xml"/>
  <Override PartName="/ppt/charts/chart1342.xml" ContentType="application/vnd.openxmlformats-officedocument.drawingml.chart+xml"/>
  <Override PartName="/ppt/charts/chart1343.xml" ContentType="application/vnd.openxmlformats-officedocument.drawingml.chart+xml"/>
  <Override PartName="/ppt/charts/chart1344.xml" ContentType="application/vnd.openxmlformats-officedocument.drawingml.chart+xml"/>
  <Override PartName="/ppt/charts/chart1345.xml" ContentType="application/vnd.openxmlformats-officedocument.drawingml.chart+xml"/>
  <Override PartName="/ppt/charts/chart1346.xml" ContentType="application/vnd.openxmlformats-officedocument.drawingml.chart+xml"/>
  <Override PartName="/ppt/charts/chart1347.xml" ContentType="application/vnd.openxmlformats-officedocument.drawingml.chart+xml"/>
  <Override PartName="/ppt/charts/chart1348.xml" ContentType="application/vnd.openxmlformats-officedocument.drawingml.chart+xml"/>
  <Override PartName="/ppt/charts/chart1349.xml" ContentType="application/vnd.openxmlformats-officedocument.drawingml.chart+xml"/>
  <Override PartName="/ppt/charts/chart135.xml" ContentType="application/vnd.openxmlformats-officedocument.drawingml.chart+xml"/>
  <Override PartName="/ppt/charts/chart1350.xml" ContentType="application/vnd.openxmlformats-officedocument.drawingml.chart+xml"/>
  <Override PartName="/ppt/charts/chart1351.xml" ContentType="application/vnd.openxmlformats-officedocument.drawingml.chart+xml"/>
  <Override PartName="/ppt/charts/chart1352.xml" ContentType="application/vnd.openxmlformats-officedocument.drawingml.chart+xml"/>
  <Override PartName="/ppt/charts/chart1353.xml" ContentType="application/vnd.openxmlformats-officedocument.drawingml.chart+xml"/>
  <Override PartName="/ppt/charts/chart1354.xml" ContentType="application/vnd.openxmlformats-officedocument.drawingml.chart+xml"/>
  <Override PartName="/ppt/charts/chart1355.xml" ContentType="application/vnd.openxmlformats-officedocument.drawingml.chart+xml"/>
  <Override PartName="/ppt/charts/chart1356.xml" ContentType="application/vnd.openxmlformats-officedocument.drawingml.chart+xml"/>
  <Override PartName="/ppt/charts/chart1357.xml" ContentType="application/vnd.openxmlformats-officedocument.drawingml.chart+xml"/>
  <Override PartName="/ppt/charts/chart1358.xml" ContentType="application/vnd.openxmlformats-officedocument.drawingml.chart+xml"/>
  <Override PartName="/ppt/charts/chart1359.xml" ContentType="application/vnd.openxmlformats-officedocument.drawingml.chart+xml"/>
  <Override PartName="/ppt/charts/chart136.xml" ContentType="application/vnd.openxmlformats-officedocument.drawingml.chart+xml"/>
  <Override PartName="/ppt/charts/chart1360.xml" ContentType="application/vnd.openxmlformats-officedocument.drawingml.chart+xml"/>
  <Override PartName="/ppt/charts/chart1361.xml" ContentType="application/vnd.openxmlformats-officedocument.drawingml.chart+xml"/>
  <Override PartName="/ppt/charts/chart1362.xml" ContentType="application/vnd.openxmlformats-officedocument.drawingml.chart+xml"/>
  <Override PartName="/ppt/charts/chart1363.xml" ContentType="application/vnd.openxmlformats-officedocument.drawingml.chart+xml"/>
  <Override PartName="/ppt/charts/chart1364.xml" ContentType="application/vnd.openxmlformats-officedocument.drawingml.chart+xml"/>
  <Override PartName="/ppt/charts/chart1365.xml" ContentType="application/vnd.openxmlformats-officedocument.drawingml.chart+xml"/>
  <Override PartName="/ppt/charts/chart1366.xml" ContentType="application/vnd.openxmlformats-officedocument.drawingml.chart+xml"/>
  <Override PartName="/ppt/charts/chart1367.xml" ContentType="application/vnd.openxmlformats-officedocument.drawingml.chart+xml"/>
  <Override PartName="/ppt/charts/chart1368.xml" ContentType="application/vnd.openxmlformats-officedocument.drawingml.chart+xml"/>
  <Override PartName="/ppt/charts/chart1369.xml" ContentType="application/vnd.openxmlformats-officedocument.drawingml.chart+xml"/>
  <Override PartName="/ppt/charts/chart137.xml" ContentType="application/vnd.openxmlformats-officedocument.drawingml.chart+xml"/>
  <Override PartName="/ppt/charts/chart1370.xml" ContentType="application/vnd.openxmlformats-officedocument.drawingml.chart+xml"/>
  <Override PartName="/ppt/charts/chart1371.xml" ContentType="application/vnd.openxmlformats-officedocument.drawingml.chart+xml"/>
  <Override PartName="/ppt/charts/chart1372.xml" ContentType="application/vnd.openxmlformats-officedocument.drawingml.chart+xml"/>
  <Override PartName="/ppt/charts/chart1373.xml" ContentType="application/vnd.openxmlformats-officedocument.drawingml.chart+xml"/>
  <Override PartName="/ppt/charts/chart1374.xml" ContentType="application/vnd.openxmlformats-officedocument.drawingml.chart+xml"/>
  <Override PartName="/ppt/charts/chart1375.xml" ContentType="application/vnd.openxmlformats-officedocument.drawingml.chart+xml"/>
  <Override PartName="/ppt/charts/chart1376.xml" ContentType="application/vnd.openxmlformats-officedocument.drawingml.chart+xml"/>
  <Override PartName="/ppt/charts/chart1377.xml" ContentType="application/vnd.openxmlformats-officedocument.drawingml.chart+xml"/>
  <Override PartName="/ppt/charts/chart1378.xml" ContentType="application/vnd.openxmlformats-officedocument.drawingml.chart+xml"/>
  <Override PartName="/ppt/charts/chart1379.xml" ContentType="application/vnd.openxmlformats-officedocument.drawingml.chart+xml"/>
  <Override PartName="/ppt/charts/chart138.xml" ContentType="application/vnd.openxmlformats-officedocument.drawingml.chart+xml"/>
  <Override PartName="/ppt/charts/chart1380.xml" ContentType="application/vnd.openxmlformats-officedocument.drawingml.chart+xml"/>
  <Override PartName="/ppt/charts/chart1381.xml" ContentType="application/vnd.openxmlformats-officedocument.drawingml.chart+xml"/>
  <Override PartName="/ppt/charts/chart1382.xml" ContentType="application/vnd.openxmlformats-officedocument.drawingml.chart+xml"/>
  <Override PartName="/ppt/charts/chart1383.xml" ContentType="application/vnd.openxmlformats-officedocument.drawingml.chart+xml"/>
  <Override PartName="/ppt/charts/chart1384.xml" ContentType="application/vnd.openxmlformats-officedocument.drawingml.chart+xml"/>
  <Override PartName="/ppt/charts/chart1385.xml" ContentType="application/vnd.openxmlformats-officedocument.drawingml.chart+xml"/>
  <Override PartName="/ppt/charts/chart1386.xml" ContentType="application/vnd.openxmlformats-officedocument.drawingml.chart+xml"/>
  <Override PartName="/ppt/charts/chart1387.xml" ContentType="application/vnd.openxmlformats-officedocument.drawingml.chart+xml"/>
  <Override PartName="/ppt/charts/chart1388.xml" ContentType="application/vnd.openxmlformats-officedocument.drawingml.chart+xml"/>
  <Override PartName="/ppt/charts/chart1389.xml" ContentType="application/vnd.openxmlformats-officedocument.drawingml.chart+xml"/>
  <Override PartName="/ppt/charts/chart139.xml" ContentType="application/vnd.openxmlformats-officedocument.drawingml.chart+xml"/>
  <Override PartName="/ppt/charts/chart1390.xml" ContentType="application/vnd.openxmlformats-officedocument.drawingml.chart+xml"/>
  <Override PartName="/ppt/charts/chart1391.xml" ContentType="application/vnd.openxmlformats-officedocument.drawingml.chart+xml"/>
  <Override PartName="/ppt/charts/chart1392.xml" ContentType="application/vnd.openxmlformats-officedocument.drawingml.chart+xml"/>
  <Override PartName="/ppt/charts/chart1393.xml" ContentType="application/vnd.openxmlformats-officedocument.drawingml.chart+xml"/>
  <Override PartName="/ppt/charts/chart1394.xml" ContentType="application/vnd.openxmlformats-officedocument.drawingml.chart+xml"/>
  <Override PartName="/ppt/charts/chart1395.xml" ContentType="application/vnd.openxmlformats-officedocument.drawingml.chart+xml"/>
  <Override PartName="/ppt/charts/chart1396.xml" ContentType="application/vnd.openxmlformats-officedocument.drawingml.chart+xml"/>
  <Override PartName="/ppt/charts/chart1397.xml" ContentType="application/vnd.openxmlformats-officedocument.drawingml.chart+xml"/>
  <Override PartName="/ppt/charts/chart1398.xml" ContentType="application/vnd.openxmlformats-officedocument.drawingml.chart+xml"/>
  <Override PartName="/ppt/charts/chart1399.xml" ContentType="application/vnd.openxmlformats-officedocument.drawingml.chart+xml"/>
  <Override PartName="/ppt/charts/chart14.xml" ContentType="application/vnd.openxmlformats-officedocument.drawingml.chart+xml"/>
  <Override PartName="/ppt/charts/chart140.xml" ContentType="application/vnd.openxmlformats-officedocument.drawingml.chart+xml"/>
  <Override PartName="/ppt/charts/chart1400.xml" ContentType="application/vnd.openxmlformats-officedocument.drawingml.chart+xml"/>
  <Override PartName="/ppt/charts/chart1401.xml" ContentType="application/vnd.openxmlformats-officedocument.drawingml.chart+xml"/>
  <Override PartName="/ppt/charts/chart1402.xml" ContentType="application/vnd.openxmlformats-officedocument.drawingml.chart+xml"/>
  <Override PartName="/ppt/charts/chart1403.xml" ContentType="application/vnd.openxmlformats-officedocument.drawingml.chart+xml"/>
  <Override PartName="/ppt/charts/chart1404.xml" ContentType="application/vnd.openxmlformats-officedocument.drawingml.chart+xml"/>
  <Override PartName="/ppt/charts/chart1405.xml" ContentType="application/vnd.openxmlformats-officedocument.drawingml.chart+xml"/>
  <Override PartName="/ppt/charts/chart1406.xml" ContentType="application/vnd.openxmlformats-officedocument.drawingml.chart+xml"/>
  <Override PartName="/ppt/charts/chart1407.xml" ContentType="application/vnd.openxmlformats-officedocument.drawingml.chart+xml"/>
  <Override PartName="/ppt/charts/chart1408.xml" ContentType="application/vnd.openxmlformats-officedocument.drawingml.chart+xml"/>
  <Override PartName="/ppt/charts/chart1409.xml" ContentType="application/vnd.openxmlformats-officedocument.drawingml.chart+xml"/>
  <Override PartName="/ppt/charts/chart141.xml" ContentType="application/vnd.openxmlformats-officedocument.drawingml.chart+xml"/>
  <Override PartName="/ppt/charts/chart1410.xml" ContentType="application/vnd.openxmlformats-officedocument.drawingml.chart+xml"/>
  <Override PartName="/ppt/charts/chart1411.xml" ContentType="application/vnd.openxmlformats-officedocument.drawingml.chart+xml"/>
  <Override PartName="/ppt/charts/chart1412.xml" ContentType="application/vnd.openxmlformats-officedocument.drawingml.chart+xml"/>
  <Override PartName="/ppt/charts/chart1413.xml" ContentType="application/vnd.openxmlformats-officedocument.drawingml.chart+xml"/>
  <Override PartName="/ppt/charts/chart1414.xml" ContentType="application/vnd.openxmlformats-officedocument.drawingml.chart+xml"/>
  <Override PartName="/ppt/charts/chart1415.xml" ContentType="application/vnd.openxmlformats-officedocument.drawingml.chart+xml"/>
  <Override PartName="/ppt/charts/chart1416.xml" ContentType="application/vnd.openxmlformats-officedocument.drawingml.chart+xml"/>
  <Override PartName="/ppt/charts/chart1417.xml" ContentType="application/vnd.openxmlformats-officedocument.drawingml.chart+xml"/>
  <Override PartName="/ppt/charts/chart1418.xml" ContentType="application/vnd.openxmlformats-officedocument.drawingml.chart+xml"/>
  <Override PartName="/ppt/charts/chart1419.xml" ContentType="application/vnd.openxmlformats-officedocument.drawingml.chart+xml"/>
  <Override PartName="/ppt/charts/chart142.xml" ContentType="application/vnd.openxmlformats-officedocument.drawingml.chart+xml"/>
  <Override PartName="/ppt/charts/chart1420.xml" ContentType="application/vnd.openxmlformats-officedocument.drawingml.chart+xml"/>
  <Override PartName="/ppt/charts/chart1421.xml" ContentType="application/vnd.openxmlformats-officedocument.drawingml.chart+xml"/>
  <Override PartName="/ppt/charts/chart1422.xml" ContentType="application/vnd.openxmlformats-officedocument.drawingml.chart+xml"/>
  <Override PartName="/ppt/charts/chart1423.xml" ContentType="application/vnd.openxmlformats-officedocument.drawingml.chart+xml"/>
  <Override PartName="/ppt/charts/chart1424.xml" ContentType="application/vnd.openxmlformats-officedocument.drawingml.chart+xml"/>
  <Override PartName="/ppt/charts/chart1425.xml" ContentType="application/vnd.openxmlformats-officedocument.drawingml.chart+xml"/>
  <Override PartName="/ppt/charts/chart1426.xml" ContentType="application/vnd.openxmlformats-officedocument.drawingml.chart+xml"/>
  <Override PartName="/ppt/charts/chart1427.xml" ContentType="application/vnd.openxmlformats-officedocument.drawingml.chart+xml"/>
  <Override PartName="/ppt/charts/chart1428.xml" ContentType="application/vnd.openxmlformats-officedocument.drawingml.chart+xml"/>
  <Override PartName="/ppt/charts/chart1429.xml" ContentType="application/vnd.openxmlformats-officedocument.drawingml.chart+xml"/>
  <Override PartName="/ppt/charts/chart143.xml" ContentType="application/vnd.openxmlformats-officedocument.drawingml.chart+xml"/>
  <Override PartName="/ppt/charts/chart1430.xml" ContentType="application/vnd.openxmlformats-officedocument.drawingml.chart+xml"/>
  <Override PartName="/ppt/charts/chart1431.xml" ContentType="application/vnd.openxmlformats-officedocument.drawingml.chart+xml"/>
  <Override PartName="/ppt/charts/chart1432.xml" ContentType="application/vnd.openxmlformats-officedocument.drawingml.chart+xml"/>
  <Override PartName="/ppt/charts/chart1433.xml" ContentType="application/vnd.openxmlformats-officedocument.drawingml.chart+xml"/>
  <Override PartName="/ppt/charts/chart1434.xml" ContentType="application/vnd.openxmlformats-officedocument.drawingml.chart+xml"/>
  <Override PartName="/ppt/charts/chart1435.xml" ContentType="application/vnd.openxmlformats-officedocument.drawingml.chart+xml"/>
  <Override PartName="/ppt/charts/chart1436.xml" ContentType="application/vnd.openxmlformats-officedocument.drawingml.chart+xml"/>
  <Override PartName="/ppt/charts/chart1437.xml" ContentType="application/vnd.openxmlformats-officedocument.drawingml.chart+xml"/>
  <Override PartName="/ppt/charts/chart1438.xml" ContentType="application/vnd.openxmlformats-officedocument.drawingml.chart+xml"/>
  <Override PartName="/ppt/charts/chart1439.xml" ContentType="application/vnd.openxmlformats-officedocument.drawingml.chart+xml"/>
  <Override PartName="/ppt/charts/chart144.xml" ContentType="application/vnd.openxmlformats-officedocument.drawingml.chart+xml"/>
  <Override PartName="/ppt/charts/chart1440.xml" ContentType="application/vnd.openxmlformats-officedocument.drawingml.chart+xml"/>
  <Override PartName="/ppt/charts/chart1441.xml" ContentType="application/vnd.openxmlformats-officedocument.drawingml.chart+xml"/>
  <Override PartName="/ppt/charts/chart1442.xml" ContentType="application/vnd.openxmlformats-officedocument.drawingml.chart+xml"/>
  <Override PartName="/ppt/charts/chart1443.xml" ContentType="application/vnd.openxmlformats-officedocument.drawingml.chart+xml"/>
  <Override PartName="/ppt/charts/chart1444.xml" ContentType="application/vnd.openxmlformats-officedocument.drawingml.chart+xml"/>
  <Override PartName="/ppt/charts/chart1445.xml" ContentType="application/vnd.openxmlformats-officedocument.drawingml.chart+xml"/>
  <Override PartName="/ppt/charts/chart1446.xml" ContentType="application/vnd.openxmlformats-officedocument.drawingml.chart+xml"/>
  <Override PartName="/ppt/charts/chart1447.xml" ContentType="application/vnd.openxmlformats-officedocument.drawingml.chart+xml"/>
  <Override PartName="/ppt/charts/chart1448.xml" ContentType="application/vnd.openxmlformats-officedocument.drawingml.chart+xml"/>
  <Override PartName="/ppt/charts/chart1449.xml" ContentType="application/vnd.openxmlformats-officedocument.drawingml.chart+xml"/>
  <Override PartName="/ppt/charts/chart145.xml" ContentType="application/vnd.openxmlformats-officedocument.drawingml.chart+xml"/>
  <Override PartName="/ppt/charts/chart1450.xml" ContentType="application/vnd.openxmlformats-officedocument.drawingml.chart+xml"/>
  <Override PartName="/ppt/charts/chart1451.xml" ContentType="application/vnd.openxmlformats-officedocument.drawingml.chart+xml"/>
  <Override PartName="/ppt/charts/chart1452.xml" ContentType="application/vnd.openxmlformats-officedocument.drawingml.chart+xml"/>
  <Override PartName="/ppt/charts/chart1453.xml" ContentType="application/vnd.openxmlformats-officedocument.drawingml.chart+xml"/>
  <Override PartName="/ppt/charts/chart1454.xml" ContentType="application/vnd.openxmlformats-officedocument.drawingml.chart+xml"/>
  <Override PartName="/ppt/charts/chart1455.xml" ContentType="application/vnd.openxmlformats-officedocument.drawingml.chart+xml"/>
  <Override PartName="/ppt/charts/chart1456.xml" ContentType="application/vnd.openxmlformats-officedocument.drawingml.chart+xml"/>
  <Override PartName="/ppt/charts/chart1457.xml" ContentType="application/vnd.openxmlformats-officedocument.drawingml.chart+xml"/>
  <Override PartName="/ppt/charts/chart1458.xml" ContentType="application/vnd.openxmlformats-officedocument.drawingml.chart+xml"/>
  <Override PartName="/ppt/charts/chart1459.xml" ContentType="application/vnd.openxmlformats-officedocument.drawingml.chart+xml"/>
  <Override PartName="/ppt/charts/chart146.xml" ContentType="application/vnd.openxmlformats-officedocument.drawingml.chart+xml"/>
  <Override PartName="/ppt/charts/chart1460.xml" ContentType="application/vnd.openxmlformats-officedocument.drawingml.chart+xml"/>
  <Override PartName="/ppt/charts/chart1461.xml" ContentType="application/vnd.openxmlformats-officedocument.drawingml.chart+xml"/>
  <Override PartName="/ppt/charts/chart1462.xml" ContentType="application/vnd.openxmlformats-officedocument.drawingml.chart+xml"/>
  <Override PartName="/ppt/charts/chart1463.xml" ContentType="application/vnd.openxmlformats-officedocument.drawingml.chart+xml"/>
  <Override PartName="/ppt/charts/chart1464.xml" ContentType="application/vnd.openxmlformats-officedocument.drawingml.chart+xml"/>
  <Override PartName="/ppt/charts/chart1465.xml" ContentType="application/vnd.openxmlformats-officedocument.drawingml.chart+xml"/>
  <Override PartName="/ppt/charts/chart1466.xml" ContentType="application/vnd.openxmlformats-officedocument.drawingml.chart+xml"/>
  <Override PartName="/ppt/charts/chart1467.xml" ContentType="application/vnd.openxmlformats-officedocument.drawingml.chart+xml"/>
  <Override PartName="/ppt/charts/chart1468.xml" ContentType="application/vnd.openxmlformats-officedocument.drawingml.chart+xml"/>
  <Override PartName="/ppt/charts/chart1469.xml" ContentType="application/vnd.openxmlformats-officedocument.drawingml.chart+xml"/>
  <Override PartName="/ppt/charts/chart147.xml" ContentType="application/vnd.openxmlformats-officedocument.drawingml.chart+xml"/>
  <Override PartName="/ppt/charts/chart1470.xml" ContentType="application/vnd.openxmlformats-officedocument.drawingml.chart+xml"/>
  <Override PartName="/ppt/charts/chart1471.xml" ContentType="application/vnd.openxmlformats-officedocument.drawingml.chart+xml"/>
  <Override PartName="/ppt/charts/chart1472.xml" ContentType="application/vnd.openxmlformats-officedocument.drawingml.chart+xml"/>
  <Override PartName="/ppt/charts/chart1473.xml" ContentType="application/vnd.openxmlformats-officedocument.drawingml.chart+xml"/>
  <Override PartName="/ppt/charts/chart1474.xml" ContentType="application/vnd.openxmlformats-officedocument.drawingml.chart+xml"/>
  <Override PartName="/ppt/charts/chart1475.xml" ContentType="application/vnd.openxmlformats-officedocument.drawingml.chart+xml"/>
  <Override PartName="/ppt/charts/chart1476.xml" ContentType="application/vnd.openxmlformats-officedocument.drawingml.chart+xml"/>
  <Override PartName="/ppt/charts/chart1477.xml" ContentType="application/vnd.openxmlformats-officedocument.drawingml.chart+xml"/>
  <Override PartName="/ppt/charts/chart1478.xml" ContentType="application/vnd.openxmlformats-officedocument.drawingml.chart+xml"/>
  <Override PartName="/ppt/charts/chart1479.xml" ContentType="application/vnd.openxmlformats-officedocument.drawingml.chart+xml"/>
  <Override PartName="/ppt/charts/chart148.xml" ContentType="application/vnd.openxmlformats-officedocument.drawingml.chart+xml"/>
  <Override PartName="/ppt/charts/chart1480.xml" ContentType="application/vnd.openxmlformats-officedocument.drawingml.chart+xml"/>
  <Override PartName="/ppt/charts/chart1481.xml" ContentType="application/vnd.openxmlformats-officedocument.drawingml.chart+xml"/>
  <Override PartName="/ppt/charts/chart1482.xml" ContentType="application/vnd.openxmlformats-officedocument.drawingml.chart+xml"/>
  <Override PartName="/ppt/charts/chart1483.xml" ContentType="application/vnd.openxmlformats-officedocument.drawingml.chart+xml"/>
  <Override PartName="/ppt/charts/chart1484.xml" ContentType="application/vnd.openxmlformats-officedocument.drawingml.chart+xml"/>
  <Override PartName="/ppt/charts/chart1485.xml" ContentType="application/vnd.openxmlformats-officedocument.drawingml.chart+xml"/>
  <Override PartName="/ppt/charts/chart1486.xml" ContentType="application/vnd.openxmlformats-officedocument.drawingml.chart+xml"/>
  <Override PartName="/ppt/charts/chart1487.xml" ContentType="application/vnd.openxmlformats-officedocument.drawingml.chart+xml"/>
  <Override PartName="/ppt/charts/chart1488.xml" ContentType="application/vnd.openxmlformats-officedocument.drawingml.chart+xml"/>
  <Override PartName="/ppt/charts/chart1489.xml" ContentType="application/vnd.openxmlformats-officedocument.drawingml.chart+xml"/>
  <Override PartName="/ppt/charts/chart149.xml" ContentType="application/vnd.openxmlformats-officedocument.drawingml.chart+xml"/>
  <Override PartName="/ppt/charts/chart1490.xml" ContentType="application/vnd.openxmlformats-officedocument.drawingml.chart+xml"/>
  <Override PartName="/ppt/charts/chart1491.xml" ContentType="application/vnd.openxmlformats-officedocument.drawingml.chart+xml"/>
  <Override PartName="/ppt/charts/chart1492.xml" ContentType="application/vnd.openxmlformats-officedocument.drawingml.chart+xml"/>
  <Override PartName="/ppt/charts/chart1493.xml" ContentType="application/vnd.openxmlformats-officedocument.drawingml.chart+xml"/>
  <Override PartName="/ppt/charts/chart1494.xml" ContentType="application/vnd.openxmlformats-officedocument.drawingml.chart+xml"/>
  <Override PartName="/ppt/charts/chart1495.xml" ContentType="application/vnd.openxmlformats-officedocument.drawingml.chart+xml"/>
  <Override PartName="/ppt/charts/chart1496.xml" ContentType="application/vnd.openxmlformats-officedocument.drawingml.chart+xml"/>
  <Override PartName="/ppt/charts/chart1497.xml" ContentType="application/vnd.openxmlformats-officedocument.drawingml.chart+xml"/>
  <Override PartName="/ppt/charts/chart1498.xml" ContentType="application/vnd.openxmlformats-officedocument.drawingml.chart+xml"/>
  <Override PartName="/ppt/charts/chart1499.xml" ContentType="application/vnd.openxmlformats-officedocument.drawingml.chart+xml"/>
  <Override PartName="/ppt/charts/chart15.xml" ContentType="application/vnd.openxmlformats-officedocument.drawingml.chart+xml"/>
  <Override PartName="/ppt/charts/chart150.xml" ContentType="application/vnd.openxmlformats-officedocument.drawingml.chart+xml"/>
  <Override PartName="/ppt/charts/chart1500.xml" ContentType="application/vnd.openxmlformats-officedocument.drawingml.chart+xml"/>
  <Override PartName="/ppt/charts/chart1501.xml" ContentType="application/vnd.openxmlformats-officedocument.drawingml.chart+xml"/>
  <Override PartName="/ppt/charts/chart1502.xml" ContentType="application/vnd.openxmlformats-officedocument.drawingml.chart+xml"/>
  <Override PartName="/ppt/charts/chart1503.xml" ContentType="application/vnd.openxmlformats-officedocument.drawingml.chart+xml"/>
  <Override PartName="/ppt/charts/chart1504.xml" ContentType="application/vnd.openxmlformats-officedocument.drawingml.chart+xml"/>
  <Override PartName="/ppt/charts/chart1505.xml" ContentType="application/vnd.openxmlformats-officedocument.drawingml.chart+xml"/>
  <Override PartName="/ppt/charts/chart1506.xml" ContentType="application/vnd.openxmlformats-officedocument.drawingml.chart+xml"/>
  <Override PartName="/ppt/charts/chart1507.xml" ContentType="application/vnd.openxmlformats-officedocument.drawingml.chart+xml"/>
  <Override PartName="/ppt/charts/chart1508.xml" ContentType="application/vnd.openxmlformats-officedocument.drawingml.chart+xml"/>
  <Override PartName="/ppt/charts/chart1509.xml" ContentType="application/vnd.openxmlformats-officedocument.drawingml.chart+xml"/>
  <Override PartName="/ppt/charts/chart151.xml" ContentType="application/vnd.openxmlformats-officedocument.drawingml.chart+xml"/>
  <Override PartName="/ppt/charts/chart1510.xml" ContentType="application/vnd.openxmlformats-officedocument.drawingml.chart+xml"/>
  <Override PartName="/ppt/charts/chart1511.xml" ContentType="application/vnd.openxmlformats-officedocument.drawingml.chart+xml"/>
  <Override PartName="/ppt/charts/chart1512.xml" ContentType="application/vnd.openxmlformats-officedocument.drawingml.chart+xml"/>
  <Override PartName="/ppt/charts/chart1513.xml" ContentType="application/vnd.openxmlformats-officedocument.drawingml.chart+xml"/>
  <Override PartName="/ppt/charts/chart1514.xml" ContentType="application/vnd.openxmlformats-officedocument.drawingml.chart+xml"/>
  <Override PartName="/ppt/charts/chart1515.xml" ContentType="application/vnd.openxmlformats-officedocument.drawingml.chart+xml"/>
  <Override PartName="/ppt/charts/chart1516.xml" ContentType="application/vnd.openxmlformats-officedocument.drawingml.chart+xml"/>
  <Override PartName="/ppt/charts/chart1517.xml" ContentType="application/vnd.openxmlformats-officedocument.drawingml.chart+xml"/>
  <Override PartName="/ppt/charts/chart1518.xml" ContentType="application/vnd.openxmlformats-officedocument.drawingml.chart+xml"/>
  <Override PartName="/ppt/charts/chart1519.xml" ContentType="application/vnd.openxmlformats-officedocument.drawingml.chart+xml"/>
  <Override PartName="/ppt/charts/chart152.xml" ContentType="application/vnd.openxmlformats-officedocument.drawingml.chart+xml"/>
  <Override PartName="/ppt/charts/chart1520.xml" ContentType="application/vnd.openxmlformats-officedocument.drawingml.chart+xml"/>
  <Override PartName="/ppt/charts/chart1521.xml" ContentType="application/vnd.openxmlformats-officedocument.drawingml.chart+xml"/>
  <Override PartName="/ppt/charts/chart1522.xml" ContentType="application/vnd.openxmlformats-officedocument.drawingml.chart+xml"/>
  <Override PartName="/ppt/charts/chart1523.xml" ContentType="application/vnd.openxmlformats-officedocument.drawingml.chart+xml"/>
  <Override PartName="/ppt/charts/chart1524.xml" ContentType="application/vnd.openxmlformats-officedocument.drawingml.chart+xml"/>
  <Override PartName="/ppt/charts/chart1525.xml" ContentType="application/vnd.openxmlformats-officedocument.drawingml.chart+xml"/>
  <Override PartName="/ppt/charts/chart1526.xml" ContentType="application/vnd.openxmlformats-officedocument.drawingml.chart+xml"/>
  <Override PartName="/ppt/charts/chart1527.xml" ContentType="application/vnd.openxmlformats-officedocument.drawingml.chart+xml"/>
  <Override PartName="/ppt/charts/chart1528.xml" ContentType="application/vnd.openxmlformats-officedocument.drawingml.chart+xml"/>
  <Override PartName="/ppt/charts/chart1529.xml" ContentType="application/vnd.openxmlformats-officedocument.drawingml.chart+xml"/>
  <Override PartName="/ppt/charts/chart153.xml" ContentType="application/vnd.openxmlformats-officedocument.drawingml.chart+xml"/>
  <Override PartName="/ppt/charts/chart1530.xml" ContentType="application/vnd.openxmlformats-officedocument.drawingml.chart+xml"/>
  <Override PartName="/ppt/charts/chart1531.xml" ContentType="application/vnd.openxmlformats-officedocument.drawingml.chart+xml"/>
  <Override PartName="/ppt/charts/chart1532.xml" ContentType="application/vnd.openxmlformats-officedocument.drawingml.chart+xml"/>
  <Override PartName="/ppt/charts/chart1533.xml" ContentType="application/vnd.openxmlformats-officedocument.drawingml.chart+xml"/>
  <Override PartName="/ppt/charts/chart1534.xml" ContentType="application/vnd.openxmlformats-officedocument.drawingml.chart+xml"/>
  <Override PartName="/ppt/charts/chart1535.xml" ContentType="application/vnd.openxmlformats-officedocument.drawingml.chart+xml"/>
  <Override PartName="/ppt/charts/chart1536.xml" ContentType="application/vnd.openxmlformats-officedocument.drawingml.chart+xml"/>
  <Override PartName="/ppt/charts/chart1537.xml" ContentType="application/vnd.openxmlformats-officedocument.drawingml.chart+xml"/>
  <Override PartName="/ppt/charts/chart1538.xml" ContentType="application/vnd.openxmlformats-officedocument.drawingml.chart+xml"/>
  <Override PartName="/ppt/charts/chart1539.xml" ContentType="application/vnd.openxmlformats-officedocument.drawingml.chart+xml"/>
  <Override PartName="/ppt/charts/chart154.xml" ContentType="application/vnd.openxmlformats-officedocument.drawingml.chart+xml"/>
  <Override PartName="/ppt/charts/chart1540.xml" ContentType="application/vnd.openxmlformats-officedocument.drawingml.chart+xml"/>
  <Override PartName="/ppt/charts/chart1541.xml" ContentType="application/vnd.openxmlformats-officedocument.drawingml.chart+xml"/>
  <Override PartName="/ppt/charts/chart1542.xml" ContentType="application/vnd.openxmlformats-officedocument.drawingml.chart+xml"/>
  <Override PartName="/ppt/charts/chart1543.xml" ContentType="application/vnd.openxmlformats-officedocument.drawingml.chart+xml"/>
  <Override PartName="/ppt/charts/chart1544.xml" ContentType="application/vnd.openxmlformats-officedocument.drawingml.chart+xml"/>
  <Override PartName="/ppt/charts/chart1545.xml" ContentType="application/vnd.openxmlformats-officedocument.drawingml.chart+xml"/>
  <Override PartName="/ppt/charts/chart1546.xml" ContentType="application/vnd.openxmlformats-officedocument.drawingml.chart+xml"/>
  <Override PartName="/ppt/charts/chart1547.xml" ContentType="application/vnd.openxmlformats-officedocument.drawingml.chart+xml"/>
  <Override PartName="/ppt/charts/chart1548.xml" ContentType="application/vnd.openxmlformats-officedocument.drawingml.chart+xml"/>
  <Override PartName="/ppt/charts/chart1549.xml" ContentType="application/vnd.openxmlformats-officedocument.drawingml.chart+xml"/>
  <Override PartName="/ppt/charts/chart155.xml" ContentType="application/vnd.openxmlformats-officedocument.drawingml.chart+xml"/>
  <Override PartName="/ppt/charts/chart1550.xml" ContentType="application/vnd.openxmlformats-officedocument.drawingml.chart+xml"/>
  <Override PartName="/ppt/charts/chart1551.xml" ContentType="application/vnd.openxmlformats-officedocument.drawingml.chart+xml"/>
  <Override PartName="/ppt/charts/chart1552.xml" ContentType="application/vnd.openxmlformats-officedocument.drawingml.chart+xml"/>
  <Override PartName="/ppt/charts/chart1553.xml" ContentType="application/vnd.openxmlformats-officedocument.drawingml.chart+xml"/>
  <Override PartName="/ppt/charts/chart1554.xml" ContentType="application/vnd.openxmlformats-officedocument.drawingml.chart+xml"/>
  <Override PartName="/ppt/charts/chart1555.xml" ContentType="application/vnd.openxmlformats-officedocument.drawingml.chart+xml"/>
  <Override PartName="/ppt/charts/chart1556.xml" ContentType="application/vnd.openxmlformats-officedocument.drawingml.chart+xml"/>
  <Override PartName="/ppt/charts/chart1557.xml" ContentType="application/vnd.openxmlformats-officedocument.drawingml.chart+xml"/>
  <Override PartName="/ppt/charts/chart1558.xml" ContentType="application/vnd.openxmlformats-officedocument.drawingml.chart+xml"/>
  <Override PartName="/ppt/charts/chart1559.xml" ContentType="application/vnd.openxmlformats-officedocument.drawingml.chart+xml"/>
  <Override PartName="/ppt/charts/chart156.xml" ContentType="application/vnd.openxmlformats-officedocument.drawingml.chart+xml"/>
  <Override PartName="/ppt/charts/chart1560.xml" ContentType="application/vnd.openxmlformats-officedocument.drawingml.chart+xml"/>
  <Override PartName="/ppt/charts/chart1561.xml" ContentType="application/vnd.openxmlformats-officedocument.drawingml.chart+xml"/>
  <Override PartName="/ppt/charts/chart1562.xml" ContentType="application/vnd.openxmlformats-officedocument.drawingml.chart+xml"/>
  <Override PartName="/ppt/charts/chart1563.xml" ContentType="application/vnd.openxmlformats-officedocument.drawingml.chart+xml"/>
  <Override PartName="/ppt/charts/chart1564.xml" ContentType="application/vnd.openxmlformats-officedocument.drawingml.chart+xml"/>
  <Override PartName="/ppt/charts/chart1565.xml" ContentType="application/vnd.openxmlformats-officedocument.drawingml.chart+xml"/>
  <Override PartName="/ppt/charts/chart1566.xml" ContentType="application/vnd.openxmlformats-officedocument.drawingml.chart+xml"/>
  <Override PartName="/ppt/charts/chart1567.xml" ContentType="application/vnd.openxmlformats-officedocument.drawingml.chart+xml"/>
  <Override PartName="/ppt/charts/chart1568.xml" ContentType="application/vnd.openxmlformats-officedocument.drawingml.chart+xml"/>
  <Override PartName="/ppt/charts/chart1569.xml" ContentType="application/vnd.openxmlformats-officedocument.drawingml.chart+xml"/>
  <Override PartName="/ppt/charts/chart157.xml" ContentType="application/vnd.openxmlformats-officedocument.drawingml.chart+xml"/>
  <Override PartName="/ppt/charts/chart1570.xml" ContentType="application/vnd.openxmlformats-officedocument.drawingml.chart+xml"/>
  <Override PartName="/ppt/charts/chart1571.xml" ContentType="application/vnd.openxmlformats-officedocument.drawingml.chart+xml"/>
  <Override PartName="/ppt/charts/chart1572.xml" ContentType="application/vnd.openxmlformats-officedocument.drawingml.chart+xml"/>
  <Override PartName="/ppt/charts/chart1573.xml" ContentType="application/vnd.openxmlformats-officedocument.drawingml.chart+xml"/>
  <Override PartName="/ppt/charts/chart1574.xml" ContentType="application/vnd.openxmlformats-officedocument.drawingml.chart+xml"/>
  <Override PartName="/ppt/charts/chart1575.xml" ContentType="application/vnd.openxmlformats-officedocument.drawingml.chart+xml"/>
  <Override PartName="/ppt/charts/chart1576.xml" ContentType="application/vnd.openxmlformats-officedocument.drawingml.chart+xml"/>
  <Override PartName="/ppt/charts/chart1577.xml" ContentType="application/vnd.openxmlformats-officedocument.drawingml.chart+xml"/>
  <Override PartName="/ppt/charts/chart1578.xml" ContentType="application/vnd.openxmlformats-officedocument.drawingml.chart+xml"/>
  <Override PartName="/ppt/charts/chart1579.xml" ContentType="application/vnd.openxmlformats-officedocument.drawingml.chart+xml"/>
  <Override PartName="/ppt/charts/chart158.xml" ContentType="application/vnd.openxmlformats-officedocument.drawingml.chart+xml"/>
  <Override PartName="/ppt/charts/chart1580.xml" ContentType="application/vnd.openxmlformats-officedocument.drawingml.chart+xml"/>
  <Override PartName="/ppt/charts/chart1581.xml" ContentType="application/vnd.openxmlformats-officedocument.drawingml.chart+xml"/>
  <Override PartName="/ppt/charts/chart1582.xml" ContentType="application/vnd.openxmlformats-officedocument.drawingml.chart+xml"/>
  <Override PartName="/ppt/charts/chart1583.xml" ContentType="application/vnd.openxmlformats-officedocument.drawingml.chart+xml"/>
  <Override PartName="/ppt/charts/chart1584.xml" ContentType="application/vnd.openxmlformats-officedocument.drawingml.chart+xml"/>
  <Override PartName="/ppt/charts/chart1585.xml" ContentType="application/vnd.openxmlformats-officedocument.drawingml.chart+xml"/>
  <Override PartName="/ppt/charts/chart1586.xml" ContentType="application/vnd.openxmlformats-officedocument.drawingml.chart+xml"/>
  <Override PartName="/ppt/charts/chart1587.xml" ContentType="application/vnd.openxmlformats-officedocument.drawingml.chart+xml"/>
  <Override PartName="/ppt/charts/chart1588.xml" ContentType="application/vnd.openxmlformats-officedocument.drawingml.chart+xml"/>
  <Override PartName="/ppt/charts/chart1589.xml" ContentType="application/vnd.openxmlformats-officedocument.drawingml.chart+xml"/>
  <Override PartName="/ppt/charts/chart159.xml" ContentType="application/vnd.openxmlformats-officedocument.drawingml.chart+xml"/>
  <Override PartName="/ppt/charts/chart1590.xml" ContentType="application/vnd.openxmlformats-officedocument.drawingml.chart+xml"/>
  <Override PartName="/ppt/charts/chart1591.xml" ContentType="application/vnd.openxmlformats-officedocument.drawingml.chart+xml"/>
  <Override PartName="/ppt/charts/chart1592.xml" ContentType="application/vnd.openxmlformats-officedocument.drawingml.chart+xml"/>
  <Override PartName="/ppt/charts/chart1593.xml" ContentType="application/vnd.openxmlformats-officedocument.drawingml.chart+xml"/>
  <Override PartName="/ppt/charts/chart1594.xml" ContentType="application/vnd.openxmlformats-officedocument.drawingml.chart+xml"/>
  <Override PartName="/ppt/charts/chart1595.xml" ContentType="application/vnd.openxmlformats-officedocument.drawingml.chart+xml"/>
  <Override PartName="/ppt/charts/chart1596.xml" ContentType="application/vnd.openxmlformats-officedocument.drawingml.chart+xml"/>
  <Override PartName="/ppt/charts/chart1597.xml" ContentType="application/vnd.openxmlformats-officedocument.drawingml.chart+xml"/>
  <Override PartName="/ppt/charts/chart1598.xml" ContentType="application/vnd.openxmlformats-officedocument.drawingml.chart+xml"/>
  <Override PartName="/ppt/charts/chart1599.xml" ContentType="application/vnd.openxmlformats-officedocument.drawingml.chart+xml"/>
  <Override PartName="/ppt/charts/chart16.xml" ContentType="application/vnd.openxmlformats-officedocument.drawingml.chart+xml"/>
  <Override PartName="/ppt/charts/chart160.xml" ContentType="application/vnd.openxmlformats-officedocument.drawingml.chart+xml"/>
  <Override PartName="/ppt/charts/chart1600.xml" ContentType="application/vnd.openxmlformats-officedocument.drawingml.chart+xml"/>
  <Override PartName="/ppt/charts/chart1601.xml" ContentType="application/vnd.openxmlformats-officedocument.drawingml.chart+xml"/>
  <Override PartName="/ppt/charts/chart1602.xml" ContentType="application/vnd.openxmlformats-officedocument.drawingml.chart+xml"/>
  <Override PartName="/ppt/charts/chart1603.xml" ContentType="application/vnd.openxmlformats-officedocument.drawingml.chart+xml"/>
  <Override PartName="/ppt/charts/chart1604.xml" ContentType="application/vnd.openxmlformats-officedocument.drawingml.chart+xml"/>
  <Override PartName="/ppt/charts/chart1605.xml" ContentType="application/vnd.openxmlformats-officedocument.drawingml.chart+xml"/>
  <Override PartName="/ppt/charts/chart1606.xml" ContentType="application/vnd.openxmlformats-officedocument.drawingml.chart+xml"/>
  <Override PartName="/ppt/charts/chart161.xml" ContentType="application/vnd.openxmlformats-officedocument.drawingml.chart+xml"/>
  <Override PartName="/ppt/charts/chart162.xml" ContentType="application/vnd.openxmlformats-officedocument.drawingml.chart+xml"/>
  <Override PartName="/ppt/charts/chart163.xml" ContentType="application/vnd.openxmlformats-officedocument.drawingml.chart+xml"/>
  <Override PartName="/ppt/charts/chart164.xml" ContentType="application/vnd.openxmlformats-officedocument.drawingml.chart+xml"/>
  <Override PartName="/ppt/charts/chart165.xml" ContentType="application/vnd.openxmlformats-officedocument.drawingml.chart+xml"/>
  <Override PartName="/ppt/charts/chart166.xml" ContentType="application/vnd.openxmlformats-officedocument.drawingml.chart+xml"/>
  <Override PartName="/ppt/charts/chart167.xml" ContentType="application/vnd.openxmlformats-officedocument.drawingml.chart+xml"/>
  <Override PartName="/ppt/charts/chart168.xml" ContentType="application/vnd.openxmlformats-officedocument.drawingml.chart+xml"/>
  <Override PartName="/ppt/charts/chart169.xml" ContentType="application/vnd.openxmlformats-officedocument.drawingml.chart+xml"/>
  <Override PartName="/ppt/charts/chart17.xml" ContentType="application/vnd.openxmlformats-officedocument.drawingml.chart+xml"/>
  <Override PartName="/ppt/charts/chart170.xml" ContentType="application/vnd.openxmlformats-officedocument.drawingml.chart+xml"/>
  <Override PartName="/ppt/charts/chart171.xml" ContentType="application/vnd.openxmlformats-officedocument.drawingml.chart+xml"/>
  <Override PartName="/ppt/charts/chart172.xml" ContentType="application/vnd.openxmlformats-officedocument.drawingml.chart+xml"/>
  <Override PartName="/ppt/charts/chart173.xml" ContentType="application/vnd.openxmlformats-officedocument.drawingml.chart+xml"/>
  <Override PartName="/ppt/charts/chart174.xml" ContentType="application/vnd.openxmlformats-officedocument.drawingml.chart+xml"/>
  <Override PartName="/ppt/charts/chart175.xml" ContentType="application/vnd.openxmlformats-officedocument.drawingml.chart+xml"/>
  <Override PartName="/ppt/charts/chart176.xml" ContentType="application/vnd.openxmlformats-officedocument.drawingml.chart+xml"/>
  <Override PartName="/ppt/charts/chart177.xml" ContentType="application/vnd.openxmlformats-officedocument.drawingml.chart+xml"/>
  <Override PartName="/ppt/charts/chart178.xml" ContentType="application/vnd.openxmlformats-officedocument.drawingml.chart+xml"/>
  <Override PartName="/ppt/charts/chart179.xml" ContentType="application/vnd.openxmlformats-officedocument.drawingml.chart+xml"/>
  <Override PartName="/ppt/charts/chart18.xml" ContentType="application/vnd.openxmlformats-officedocument.drawingml.chart+xml"/>
  <Override PartName="/ppt/charts/chart180.xml" ContentType="application/vnd.openxmlformats-officedocument.drawingml.chart+xml"/>
  <Override PartName="/ppt/charts/chart181.xml" ContentType="application/vnd.openxmlformats-officedocument.drawingml.chart+xml"/>
  <Override PartName="/ppt/charts/chart182.xml" ContentType="application/vnd.openxmlformats-officedocument.drawingml.chart+xml"/>
  <Override PartName="/ppt/charts/chart183.xml" ContentType="application/vnd.openxmlformats-officedocument.drawingml.chart+xml"/>
  <Override PartName="/ppt/charts/chart184.xml" ContentType="application/vnd.openxmlformats-officedocument.drawingml.chart+xml"/>
  <Override PartName="/ppt/charts/chart185.xml" ContentType="application/vnd.openxmlformats-officedocument.drawingml.chart+xml"/>
  <Override PartName="/ppt/charts/chart186.xml" ContentType="application/vnd.openxmlformats-officedocument.drawingml.chart+xml"/>
  <Override PartName="/ppt/charts/chart187.xml" ContentType="application/vnd.openxmlformats-officedocument.drawingml.chart+xml"/>
  <Override PartName="/ppt/charts/chart188.xml" ContentType="application/vnd.openxmlformats-officedocument.drawingml.chart+xml"/>
  <Override PartName="/ppt/charts/chart189.xml" ContentType="application/vnd.openxmlformats-officedocument.drawingml.chart+xml"/>
  <Override PartName="/ppt/charts/chart19.xml" ContentType="application/vnd.openxmlformats-officedocument.drawingml.chart+xml"/>
  <Override PartName="/ppt/charts/chart190.xml" ContentType="application/vnd.openxmlformats-officedocument.drawingml.chart+xml"/>
  <Override PartName="/ppt/charts/chart191.xml" ContentType="application/vnd.openxmlformats-officedocument.drawingml.chart+xml"/>
  <Override PartName="/ppt/charts/chart192.xml" ContentType="application/vnd.openxmlformats-officedocument.drawingml.chart+xml"/>
  <Override PartName="/ppt/charts/chart193.xml" ContentType="application/vnd.openxmlformats-officedocument.drawingml.chart+xml"/>
  <Override PartName="/ppt/charts/chart194.xml" ContentType="application/vnd.openxmlformats-officedocument.drawingml.chart+xml"/>
  <Override PartName="/ppt/charts/chart195.xml" ContentType="application/vnd.openxmlformats-officedocument.drawingml.chart+xml"/>
  <Override PartName="/ppt/charts/chart196.xml" ContentType="application/vnd.openxmlformats-officedocument.drawingml.chart+xml"/>
  <Override PartName="/ppt/charts/chart197.xml" ContentType="application/vnd.openxmlformats-officedocument.drawingml.chart+xml"/>
  <Override PartName="/ppt/charts/chart198.xml" ContentType="application/vnd.openxmlformats-officedocument.drawingml.chart+xml"/>
  <Override PartName="/ppt/charts/chart19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00.xml" ContentType="application/vnd.openxmlformats-officedocument.drawingml.chart+xml"/>
  <Override PartName="/ppt/charts/chart201.xml" ContentType="application/vnd.openxmlformats-officedocument.drawingml.chart+xml"/>
  <Override PartName="/ppt/charts/chart202.xml" ContentType="application/vnd.openxmlformats-officedocument.drawingml.chart+xml"/>
  <Override PartName="/ppt/charts/chart203.xml" ContentType="application/vnd.openxmlformats-officedocument.drawingml.chart+xml"/>
  <Override PartName="/ppt/charts/chart204.xml" ContentType="application/vnd.openxmlformats-officedocument.drawingml.chart+xml"/>
  <Override PartName="/ppt/charts/chart205.xml" ContentType="application/vnd.openxmlformats-officedocument.drawingml.chart+xml"/>
  <Override PartName="/ppt/charts/chart206.xml" ContentType="application/vnd.openxmlformats-officedocument.drawingml.chart+xml"/>
  <Override PartName="/ppt/charts/chart207.xml" ContentType="application/vnd.openxmlformats-officedocument.drawingml.chart+xml"/>
  <Override PartName="/ppt/charts/chart208.xml" ContentType="application/vnd.openxmlformats-officedocument.drawingml.chart+xml"/>
  <Override PartName="/ppt/charts/chart209.xml" ContentType="application/vnd.openxmlformats-officedocument.drawingml.chart+xml"/>
  <Override PartName="/ppt/charts/chart21.xml" ContentType="application/vnd.openxmlformats-officedocument.drawingml.chart+xml"/>
  <Override PartName="/ppt/charts/chart210.xml" ContentType="application/vnd.openxmlformats-officedocument.drawingml.chart+xml"/>
  <Override PartName="/ppt/charts/chart211.xml" ContentType="application/vnd.openxmlformats-officedocument.drawingml.chart+xml"/>
  <Override PartName="/ppt/charts/chart212.xml" ContentType="application/vnd.openxmlformats-officedocument.drawingml.chart+xml"/>
  <Override PartName="/ppt/charts/chart213.xml" ContentType="application/vnd.openxmlformats-officedocument.drawingml.chart+xml"/>
  <Override PartName="/ppt/charts/chart214.xml" ContentType="application/vnd.openxmlformats-officedocument.drawingml.chart+xml"/>
  <Override PartName="/ppt/charts/chart215.xml" ContentType="application/vnd.openxmlformats-officedocument.drawingml.chart+xml"/>
  <Override PartName="/ppt/charts/chart216.xml" ContentType="application/vnd.openxmlformats-officedocument.drawingml.chart+xml"/>
  <Override PartName="/ppt/charts/chart217.xml" ContentType="application/vnd.openxmlformats-officedocument.drawingml.chart+xml"/>
  <Override PartName="/ppt/charts/chart218.xml" ContentType="application/vnd.openxmlformats-officedocument.drawingml.chart+xml"/>
  <Override PartName="/ppt/charts/chart219.xml" ContentType="application/vnd.openxmlformats-officedocument.drawingml.chart+xml"/>
  <Override PartName="/ppt/charts/chart22.xml" ContentType="application/vnd.openxmlformats-officedocument.drawingml.chart+xml"/>
  <Override PartName="/ppt/charts/chart220.xml" ContentType="application/vnd.openxmlformats-officedocument.drawingml.chart+xml"/>
  <Override PartName="/ppt/charts/chart221.xml" ContentType="application/vnd.openxmlformats-officedocument.drawingml.chart+xml"/>
  <Override PartName="/ppt/charts/chart222.xml" ContentType="application/vnd.openxmlformats-officedocument.drawingml.chart+xml"/>
  <Override PartName="/ppt/charts/chart223.xml" ContentType="application/vnd.openxmlformats-officedocument.drawingml.chart+xml"/>
  <Override PartName="/ppt/charts/chart224.xml" ContentType="application/vnd.openxmlformats-officedocument.drawingml.chart+xml"/>
  <Override PartName="/ppt/charts/chart225.xml" ContentType="application/vnd.openxmlformats-officedocument.drawingml.chart+xml"/>
  <Override PartName="/ppt/charts/chart226.xml" ContentType="application/vnd.openxmlformats-officedocument.drawingml.chart+xml"/>
  <Override PartName="/ppt/charts/chart227.xml" ContentType="application/vnd.openxmlformats-officedocument.drawingml.chart+xml"/>
  <Override PartName="/ppt/charts/chart228.xml" ContentType="application/vnd.openxmlformats-officedocument.drawingml.chart+xml"/>
  <Override PartName="/ppt/charts/chart229.xml" ContentType="application/vnd.openxmlformats-officedocument.drawingml.chart+xml"/>
  <Override PartName="/ppt/charts/chart23.xml" ContentType="application/vnd.openxmlformats-officedocument.drawingml.chart+xml"/>
  <Override PartName="/ppt/charts/chart230.xml" ContentType="application/vnd.openxmlformats-officedocument.drawingml.chart+xml"/>
  <Override PartName="/ppt/charts/chart231.xml" ContentType="application/vnd.openxmlformats-officedocument.drawingml.chart+xml"/>
  <Override PartName="/ppt/charts/chart232.xml" ContentType="application/vnd.openxmlformats-officedocument.drawingml.chart+xml"/>
  <Override PartName="/ppt/charts/chart233.xml" ContentType="application/vnd.openxmlformats-officedocument.drawingml.chart+xml"/>
  <Override PartName="/ppt/charts/chart234.xml" ContentType="application/vnd.openxmlformats-officedocument.drawingml.chart+xml"/>
  <Override PartName="/ppt/charts/chart235.xml" ContentType="application/vnd.openxmlformats-officedocument.drawingml.chart+xml"/>
  <Override PartName="/ppt/charts/chart236.xml" ContentType="application/vnd.openxmlformats-officedocument.drawingml.chart+xml"/>
  <Override PartName="/ppt/charts/chart237.xml" ContentType="application/vnd.openxmlformats-officedocument.drawingml.chart+xml"/>
  <Override PartName="/ppt/charts/chart238.xml" ContentType="application/vnd.openxmlformats-officedocument.drawingml.chart+xml"/>
  <Override PartName="/ppt/charts/chart239.xml" ContentType="application/vnd.openxmlformats-officedocument.drawingml.chart+xml"/>
  <Override PartName="/ppt/charts/chart24.xml" ContentType="application/vnd.openxmlformats-officedocument.drawingml.chart+xml"/>
  <Override PartName="/ppt/charts/chart240.xml" ContentType="application/vnd.openxmlformats-officedocument.drawingml.chart+xml"/>
  <Override PartName="/ppt/charts/chart241.xml" ContentType="application/vnd.openxmlformats-officedocument.drawingml.chart+xml"/>
  <Override PartName="/ppt/charts/chart242.xml" ContentType="application/vnd.openxmlformats-officedocument.drawingml.chart+xml"/>
  <Override PartName="/ppt/charts/chart243.xml" ContentType="application/vnd.openxmlformats-officedocument.drawingml.chart+xml"/>
  <Override PartName="/ppt/charts/chart244.xml" ContentType="application/vnd.openxmlformats-officedocument.drawingml.chart+xml"/>
  <Override PartName="/ppt/charts/chart245.xml" ContentType="application/vnd.openxmlformats-officedocument.drawingml.chart+xml"/>
  <Override PartName="/ppt/charts/chart246.xml" ContentType="application/vnd.openxmlformats-officedocument.drawingml.chart+xml"/>
  <Override PartName="/ppt/charts/chart247.xml" ContentType="application/vnd.openxmlformats-officedocument.drawingml.chart+xml"/>
  <Override PartName="/ppt/charts/chart248.xml" ContentType="application/vnd.openxmlformats-officedocument.drawingml.chart+xml"/>
  <Override PartName="/ppt/charts/chart249.xml" ContentType="application/vnd.openxmlformats-officedocument.drawingml.chart+xml"/>
  <Override PartName="/ppt/charts/chart25.xml" ContentType="application/vnd.openxmlformats-officedocument.drawingml.chart+xml"/>
  <Override PartName="/ppt/charts/chart250.xml" ContentType="application/vnd.openxmlformats-officedocument.drawingml.chart+xml"/>
  <Override PartName="/ppt/charts/chart251.xml" ContentType="application/vnd.openxmlformats-officedocument.drawingml.chart+xml"/>
  <Override PartName="/ppt/charts/chart252.xml" ContentType="application/vnd.openxmlformats-officedocument.drawingml.chart+xml"/>
  <Override PartName="/ppt/charts/chart253.xml" ContentType="application/vnd.openxmlformats-officedocument.drawingml.chart+xml"/>
  <Override PartName="/ppt/charts/chart254.xml" ContentType="application/vnd.openxmlformats-officedocument.drawingml.chart+xml"/>
  <Override PartName="/ppt/charts/chart255.xml" ContentType="application/vnd.openxmlformats-officedocument.drawingml.chart+xml"/>
  <Override PartName="/ppt/charts/chart256.xml" ContentType="application/vnd.openxmlformats-officedocument.drawingml.chart+xml"/>
  <Override PartName="/ppt/charts/chart257.xml" ContentType="application/vnd.openxmlformats-officedocument.drawingml.chart+xml"/>
  <Override PartName="/ppt/charts/chart258.xml" ContentType="application/vnd.openxmlformats-officedocument.drawingml.chart+xml"/>
  <Override PartName="/ppt/charts/chart259.xml" ContentType="application/vnd.openxmlformats-officedocument.drawingml.chart+xml"/>
  <Override PartName="/ppt/charts/chart26.xml" ContentType="application/vnd.openxmlformats-officedocument.drawingml.chart+xml"/>
  <Override PartName="/ppt/charts/chart260.xml" ContentType="application/vnd.openxmlformats-officedocument.drawingml.chart+xml"/>
  <Override PartName="/ppt/charts/chart261.xml" ContentType="application/vnd.openxmlformats-officedocument.drawingml.chart+xml"/>
  <Override PartName="/ppt/charts/chart262.xml" ContentType="application/vnd.openxmlformats-officedocument.drawingml.chart+xml"/>
  <Override PartName="/ppt/charts/chart263.xml" ContentType="application/vnd.openxmlformats-officedocument.drawingml.chart+xml"/>
  <Override PartName="/ppt/charts/chart264.xml" ContentType="application/vnd.openxmlformats-officedocument.drawingml.chart+xml"/>
  <Override PartName="/ppt/charts/chart265.xml" ContentType="application/vnd.openxmlformats-officedocument.drawingml.chart+xml"/>
  <Override PartName="/ppt/charts/chart266.xml" ContentType="application/vnd.openxmlformats-officedocument.drawingml.chart+xml"/>
  <Override PartName="/ppt/charts/chart267.xml" ContentType="application/vnd.openxmlformats-officedocument.drawingml.chart+xml"/>
  <Override PartName="/ppt/charts/chart268.xml" ContentType="application/vnd.openxmlformats-officedocument.drawingml.chart+xml"/>
  <Override PartName="/ppt/charts/chart269.xml" ContentType="application/vnd.openxmlformats-officedocument.drawingml.chart+xml"/>
  <Override PartName="/ppt/charts/chart27.xml" ContentType="application/vnd.openxmlformats-officedocument.drawingml.chart+xml"/>
  <Override PartName="/ppt/charts/chart270.xml" ContentType="application/vnd.openxmlformats-officedocument.drawingml.chart+xml"/>
  <Override PartName="/ppt/charts/chart271.xml" ContentType="application/vnd.openxmlformats-officedocument.drawingml.chart+xml"/>
  <Override PartName="/ppt/charts/chart272.xml" ContentType="application/vnd.openxmlformats-officedocument.drawingml.chart+xml"/>
  <Override PartName="/ppt/charts/chart273.xml" ContentType="application/vnd.openxmlformats-officedocument.drawingml.chart+xml"/>
  <Override PartName="/ppt/charts/chart274.xml" ContentType="application/vnd.openxmlformats-officedocument.drawingml.chart+xml"/>
  <Override PartName="/ppt/charts/chart275.xml" ContentType="application/vnd.openxmlformats-officedocument.drawingml.chart+xml"/>
  <Override PartName="/ppt/charts/chart276.xml" ContentType="application/vnd.openxmlformats-officedocument.drawingml.chart+xml"/>
  <Override PartName="/ppt/charts/chart277.xml" ContentType="application/vnd.openxmlformats-officedocument.drawingml.chart+xml"/>
  <Override PartName="/ppt/charts/chart278.xml" ContentType="application/vnd.openxmlformats-officedocument.drawingml.chart+xml"/>
  <Override PartName="/ppt/charts/chart279.xml" ContentType="application/vnd.openxmlformats-officedocument.drawingml.chart+xml"/>
  <Override PartName="/ppt/charts/chart28.xml" ContentType="application/vnd.openxmlformats-officedocument.drawingml.chart+xml"/>
  <Override PartName="/ppt/charts/chart280.xml" ContentType="application/vnd.openxmlformats-officedocument.drawingml.chart+xml"/>
  <Override PartName="/ppt/charts/chart281.xml" ContentType="application/vnd.openxmlformats-officedocument.drawingml.chart+xml"/>
  <Override PartName="/ppt/charts/chart282.xml" ContentType="application/vnd.openxmlformats-officedocument.drawingml.chart+xml"/>
  <Override PartName="/ppt/charts/chart283.xml" ContentType="application/vnd.openxmlformats-officedocument.drawingml.chart+xml"/>
  <Override PartName="/ppt/charts/chart284.xml" ContentType="application/vnd.openxmlformats-officedocument.drawingml.chart+xml"/>
  <Override PartName="/ppt/charts/chart285.xml" ContentType="application/vnd.openxmlformats-officedocument.drawingml.chart+xml"/>
  <Override PartName="/ppt/charts/chart286.xml" ContentType="application/vnd.openxmlformats-officedocument.drawingml.chart+xml"/>
  <Override PartName="/ppt/charts/chart287.xml" ContentType="application/vnd.openxmlformats-officedocument.drawingml.chart+xml"/>
  <Override PartName="/ppt/charts/chart288.xml" ContentType="application/vnd.openxmlformats-officedocument.drawingml.chart+xml"/>
  <Override PartName="/ppt/charts/chart289.xml" ContentType="application/vnd.openxmlformats-officedocument.drawingml.chart+xml"/>
  <Override PartName="/ppt/charts/chart29.xml" ContentType="application/vnd.openxmlformats-officedocument.drawingml.chart+xml"/>
  <Override PartName="/ppt/charts/chart290.xml" ContentType="application/vnd.openxmlformats-officedocument.drawingml.chart+xml"/>
  <Override PartName="/ppt/charts/chart291.xml" ContentType="application/vnd.openxmlformats-officedocument.drawingml.chart+xml"/>
  <Override PartName="/ppt/charts/chart292.xml" ContentType="application/vnd.openxmlformats-officedocument.drawingml.chart+xml"/>
  <Override PartName="/ppt/charts/chart293.xml" ContentType="application/vnd.openxmlformats-officedocument.drawingml.chart+xml"/>
  <Override PartName="/ppt/charts/chart294.xml" ContentType="application/vnd.openxmlformats-officedocument.drawingml.chart+xml"/>
  <Override PartName="/ppt/charts/chart295.xml" ContentType="application/vnd.openxmlformats-officedocument.drawingml.chart+xml"/>
  <Override PartName="/ppt/charts/chart296.xml" ContentType="application/vnd.openxmlformats-officedocument.drawingml.chart+xml"/>
  <Override PartName="/ppt/charts/chart297.xml" ContentType="application/vnd.openxmlformats-officedocument.drawingml.chart+xml"/>
  <Override PartName="/ppt/charts/chart298.xml" ContentType="application/vnd.openxmlformats-officedocument.drawingml.chart+xml"/>
  <Override PartName="/ppt/charts/chart29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00.xml" ContentType="application/vnd.openxmlformats-officedocument.drawingml.chart+xml"/>
  <Override PartName="/ppt/charts/chart301.xml" ContentType="application/vnd.openxmlformats-officedocument.drawingml.chart+xml"/>
  <Override PartName="/ppt/charts/chart302.xml" ContentType="application/vnd.openxmlformats-officedocument.drawingml.chart+xml"/>
  <Override PartName="/ppt/charts/chart303.xml" ContentType="application/vnd.openxmlformats-officedocument.drawingml.chart+xml"/>
  <Override PartName="/ppt/charts/chart304.xml" ContentType="application/vnd.openxmlformats-officedocument.drawingml.chart+xml"/>
  <Override PartName="/ppt/charts/chart305.xml" ContentType="application/vnd.openxmlformats-officedocument.drawingml.chart+xml"/>
  <Override PartName="/ppt/charts/chart306.xml" ContentType="application/vnd.openxmlformats-officedocument.drawingml.chart+xml"/>
  <Override PartName="/ppt/charts/chart307.xml" ContentType="application/vnd.openxmlformats-officedocument.drawingml.chart+xml"/>
  <Override PartName="/ppt/charts/chart308.xml" ContentType="application/vnd.openxmlformats-officedocument.drawingml.chart+xml"/>
  <Override PartName="/ppt/charts/chart309.xml" ContentType="application/vnd.openxmlformats-officedocument.drawingml.chart+xml"/>
  <Override PartName="/ppt/charts/chart31.xml" ContentType="application/vnd.openxmlformats-officedocument.drawingml.chart+xml"/>
  <Override PartName="/ppt/charts/chart310.xml" ContentType="application/vnd.openxmlformats-officedocument.drawingml.chart+xml"/>
  <Override PartName="/ppt/charts/chart311.xml" ContentType="application/vnd.openxmlformats-officedocument.drawingml.chart+xml"/>
  <Override PartName="/ppt/charts/chart312.xml" ContentType="application/vnd.openxmlformats-officedocument.drawingml.chart+xml"/>
  <Override PartName="/ppt/charts/chart313.xml" ContentType="application/vnd.openxmlformats-officedocument.drawingml.chart+xml"/>
  <Override PartName="/ppt/charts/chart314.xml" ContentType="application/vnd.openxmlformats-officedocument.drawingml.chart+xml"/>
  <Override PartName="/ppt/charts/chart315.xml" ContentType="application/vnd.openxmlformats-officedocument.drawingml.chart+xml"/>
  <Override PartName="/ppt/charts/chart316.xml" ContentType="application/vnd.openxmlformats-officedocument.drawingml.chart+xml"/>
  <Override PartName="/ppt/charts/chart317.xml" ContentType="application/vnd.openxmlformats-officedocument.drawingml.chart+xml"/>
  <Override PartName="/ppt/charts/chart318.xml" ContentType="application/vnd.openxmlformats-officedocument.drawingml.chart+xml"/>
  <Override PartName="/ppt/charts/chart319.xml" ContentType="application/vnd.openxmlformats-officedocument.drawingml.chart+xml"/>
  <Override PartName="/ppt/charts/chart32.xml" ContentType="application/vnd.openxmlformats-officedocument.drawingml.chart+xml"/>
  <Override PartName="/ppt/charts/chart320.xml" ContentType="application/vnd.openxmlformats-officedocument.drawingml.chart+xml"/>
  <Override PartName="/ppt/charts/chart321.xml" ContentType="application/vnd.openxmlformats-officedocument.drawingml.chart+xml"/>
  <Override PartName="/ppt/charts/chart322.xml" ContentType="application/vnd.openxmlformats-officedocument.drawingml.chart+xml"/>
  <Override PartName="/ppt/charts/chart323.xml" ContentType="application/vnd.openxmlformats-officedocument.drawingml.chart+xml"/>
  <Override PartName="/ppt/charts/chart324.xml" ContentType="application/vnd.openxmlformats-officedocument.drawingml.chart+xml"/>
  <Override PartName="/ppt/charts/chart325.xml" ContentType="application/vnd.openxmlformats-officedocument.drawingml.chart+xml"/>
  <Override PartName="/ppt/charts/chart326.xml" ContentType="application/vnd.openxmlformats-officedocument.drawingml.chart+xml"/>
  <Override PartName="/ppt/charts/chart327.xml" ContentType="application/vnd.openxmlformats-officedocument.drawingml.chart+xml"/>
  <Override PartName="/ppt/charts/chart328.xml" ContentType="application/vnd.openxmlformats-officedocument.drawingml.chart+xml"/>
  <Override PartName="/ppt/charts/chart329.xml" ContentType="application/vnd.openxmlformats-officedocument.drawingml.chart+xml"/>
  <Override PartName="/ppt/charts/chart33.xml" ContentType="application/vnd.openxmlformats-officedocument.drawingml.chart+xml"/>
  <Override PartName="/ppt/charts/chart330.xml" ContentType="application/vnd.openxmlformats-officedocument.drawingml.chart+xml"/>
  <Override PartName="/ppt/charts/chart331.xml" ContentType="application/vnd.openxmlformats-officedocument.drawingml.chart+xml"/>
  <Override PartName="/ppt/charts/chart332.xml" ContentType="application/vnd.openxmlformats-officedocument.drawingml.chart+xml"/>
  <Override PartName="/ppt/charts/chart333.xml" ContentType="application/vnd.openxmlformats-officedocument.drawingml.chart+xml"/>
  <Override PartName="/ppt/charts/chart334.xml" ContentType="application/vnd.openxmlformats-officedocument.drawingml.chart+xml"/>
  <Override PartName="/ppt/charts/chart335.xml" ContentType="application/vnd.openxmlformats-officedocument.drawingml.chart+xml"/>
  <Override PartName="/ppt/charts/chart336.xml" ContentType="application/vnd.openxmlformats-officedocument.drawingml.chart+xml"/>
  <Override PartName="/ppt/charts/chart337.xml" ContentType="application/vnd.openxmlformats-officedocument.drawingml.chart+xml"/>
  <Override PartName="/ppt/charts/chart338.xml" ContentType="application/vnd.openxmlformats-officedocument.drawingml.chart+xml"/>
  <Override PartName="/ppt/charts/chart339.xml" ContentType="application/vnd.openxmlformats-officedocument.drawingml.chart+xml"/>
  <Override PartName="/ppt/charts/chart34.xml" ContentType="application/vnd.openxmlformats-officedocument.drawingml.chart+xml"/>
  <Override PartName="/ppt/charts/chart340.xml" ContentType="application/vnd.openxmlformats-officedocument.drawingml.chart+xml"/>
  <Override PartName="/ppt/charts/chart341.xml" ContentType="application/vnd.openxmlformats-officedocument.drawingml.chart+xml"/>
  <Override PartName="/ppt/charts/chart342.xml" ContentType="application/vnd.openxmlformats-officedocument.drawingml.chart+xml"/>
  <Override PartName="/ppt/charts/chart343.xml" ContentType="application/vnd.openxmlformats-officedocument.drawingml.chart+xml"/>
  <Override PartName="/ppt/charts/chart344.xml" ContentType="application/vnd.openxmlformats-officedocument.drawingml.chart+xml"/>
  <Override PartName="/ppt/charts/chart345.xml" ContentType="application/vnd.openxmlformats-officedocument.drawingml.chart+xml"/>
  <Override PartName="/ppt/charts/chart346.xml" ContentType="application/vnd.openxmlformats-officedocument.drawingml.chart+xml"/>
  <Override PartName="/ppt/charts/chart347.xml" ContentType="application/vnd.openxmlformats-officedocument.drawingml.chart+xml"/>
  <Override PartName="/ppt/charts/chart348.xml" ContentType="application/vnd.openxmlformats-officedocument.drawingml.chart+xml"/>
  <Override PartName="/ppt/charts/chart349.xml" ContentType="application/vnd.openxmlformats-officedocument.drawingml.chart+xml"/>
  <Override PartName="/ppt/charts/chart35.xml" ContentType="application/vnd.openxmlformats-officedocument.drawingml.chart+xml"/>
  <Override PartName="/ppt/charts/chart350.xml" ContentType="application/vnd.openxmlformats-officedocument.drawingml.chart+xml"/>
  <Override PartName="/ppt/charts/chart351.xml" ContentType="application/vnd.openxmlformats-officedocument.drawingml.chart+xml"/>
  <Override PartName="/ppt/charts/chart352.xml" ContentType="application/vnd.openxmlformats-officedocument.drawingml.chart+xml"/>
  <Override PartName="/ppt/charts/chart353.xml" ContentType="application/vnd.openxmlformats-officedocument.drawingml.chart+xml"/>
  <Override PartName="/ppt/charts/chart354.xml" ContentType="application/vnd.openxmlformats-officedocument.drawingml.chart+xml"/>
  <Override PartName="/ppt/charts/chart355.xml" ContentType="application/vnd.openxmlformats-officedocument.drawingml.chart+xml"/>
  <Override PartName="/ppt/charts/chart356.xml" ContentType="application/vnd.openxmlformats-officedocument.drawingml.chart+xml"/>
  <Override PartName="/ppt/charts/chart357.xml" ContentType="application/vnd.openxmlformats-officedocument.drawingml.chart+xml"/>
  <Override PartName="/ppt/charts/chart358.xml" ContentType="application/vnd.openxmlformats-officedocument.drawingml.chart+xml"/>
  <Override PartName="/ppt/charts/chart359.xml" ContentType="application/vnd.openxmlformats-officedocument.drawingml.chart+xml"/>
  <Override PartName="/ppt/charts/chart36.xml" ContentType="application/vnd.openxmlformats-officedocument.drawingml.chart+xml"/>
  <Override PartName="/ppt/charts/chart360.xml" ContentType="application/vnd.openxmlformats-officedocument.drawingml.chart+xml"/>
  <Override PartName="/ppt/charts/chart361.xml" ContentType="application/vnd.openxmlformats-officedocument.drawingml.chart+xml"/>
  <Override PartName="/ppt/charts/chart362.xml" ContentType="application/vnd.openxmlformats-officedocument.drawingml.chart+xml"/>
  <Override PartName="/ppt/charts/chart363.xml" ContentType="application/vnd.openxmlformats-officedocument.drawingml.chart+xml"/>
  <Override PartName="/ppt/charts/chart364.xml" ContentType="application/vnd.openxmlformats-officedocument.drawingml.chart+xml"/>
  <Override PartName="/ppt/charts/chart365.xml" ContentType="application/vnd.openxmlformats-officedocument.drawingml.chart+xml"/>
  <Override PartName="/ppt/charts/chart366.xml" ContentType="application/vnd.openxmlformats-officedocument.drawingml.chart+xml"/>
  <Override PartName="/ppt/charts/chart367.xml" ContentType="application/vnd.openxmlformats-officedocument.drawingml.chart+xml"/>
  <Override PartName="/ppt/charts/chart368.xml" ContentType="application/vnd.openxmlformats-officedocument.drawingml.chart+xml"/>
  <Override PartName="/ppt/charts/chart369.xml" ContentType="application/vnd.openxmlformats-officedocument.drawingml.chart+xml"/>
  <Override PartName="/ppt/charts/chart37.xml" ContentType="application/vnd.openxmlformats-officedocument.drawingml.chart+xml"/>
  <Override PartName="/ppt/charts/chart370.xml" ContentType="application/vnd.openxmlformats-officedocument.drawingml.chart+xml"/>
  <Override PartName="/ppt/charts/chart371.xml" ContentType="application/vnd.openxmlformats-officedocument.drawingml.chart+xml"/>
  <Override PartName="/ppt/charts/chart372.xml" ContentType="application/vnd.openxmlformats-officedocument.drawingml.chart+xml"/>
  <Override PartName="/ppt/charts/chart373.xml" ContentType="application/vnd.openxmlformats-officedocument.drawingml.chart+xml"/>
  <Override PartName="/ppt/charts/chart374.xml" ContentType="application/vnd.openxmlformats-officedocument.drawingml.chart+xml"/>
  <Override PartName="/ppt/charts/chart375.xml" ContentType="application/vnd.openxmlformats-officedocument.drawingml.chart+xml"/>
  <Override PartName="/ppt/charts/chart376.xml" ContentType="application/vnd.openxmlformats-officedocument.drawingml.chart+xml"/>
  <Override PartName="/ppt/charts/chart377.xml" ContentType="application/vnd.openxmlformats-officedocument.drawingml.chart+xml"/>
  <Override PartName="/ppt/charts/chart378.xml" ContentType="application/vnd.openxmlformats-officedocument.drawingml.chart+xml"/>
  <Override PartName="/ppt/charts/chart379.xml" ContentType="application/vnd.openxmlformats-officedocument.drawingml.chart+xml"/>
  <Override PartName="/ppt/charts/chart38.xml" ContentType="application/vnd.openxmlformats-officedocument.drawingml.chart+xml"/>
  <Override PartName="/ppt/charts/chart380.xml" ContentType="application/vnd.openxmlformats-officedocument.drawingml.chart+xml"/>
  <Override PartName="/ppt/charts/chart381.xml" ContentType="application/vnd.openxmlformats-officedocument.drawingml.chart+xml"/>
  <Override PartName="/ppt/charts/chart382.xml" ContentType="application/vnd.openxmlformats-officedocument.drawingml.chart+xml"/>
  <Override PartName="/ppt/charts/chart383.xml" ContentType="application/vnd.openxmlformats-officedocument.drawingml.chart+xml"/>
  <Override PartName="/ppt/charts/chart384.xml" ContentType="application/vnd.openxmlformats-officedocument.drawingml.chart+xml"/>
  <Override PartName="/ppt/charts/chart385.xml" ContentType="application/vnd.openxmlformats-officedocument.drawingml.chart+xml"/>
  <Override PartName="/ppt/charts/chart386.xml" ContentType="application/vnd.openxmlformats-officedocument.drawingml.chart+xml"/>
  <Override PartName="/ppt/charts/chart387.xml" ContentType="application/vnd.openxmlformats-officedocument.drawingml.chart+xml"/>
  <Override PartName="/ppt/charts/chart388.xml" ContentType="application/vnd.openxmlformats-officedocument.drawingml.chart+xml"/>
  <Override PartName="/ppt/charts/chart389.xml" ContentType="application/vnd.openxmlformats-officedocument.drawingml.chart+xml"/>
  <Override PartName="/ppt/charts/chart39.xml" ContentType="application/vnd.openxmlformats-officedocument.drawingml.chart+xml"/>
  <Override PartName="/ppt/charts/chart390.xml" ContentType="application/vnd.openxmlformats-officedocument.drawingml.chart+xml"/>
  <Override PartName="/ppt/charts/chart391.xml" ContentType="application/vnd.openxmlformats-officedocument.drawingml.chart+xml"/>
  <Override PartName="/ppt/charts/chart392.xml" ContentType="application/vnd.openxmlformats-officedocument.drawingml.chart+xml"/>
  <Override PartName="/ppt/charts/chart393.xml" ContentType="application/vnd.openxmlformats-officedocument.drawingml.chart+xml"/>
  <Override PartName="/ppt/charts/chart394.xml" ContentType="application/vnd.openxmlformats-officedocument.drawingml.chart+xml"/>
  <Override PartName="/ppt/charts/chart395.xml" ContentType="application/vnd.openxmlformats-officedocument.drawingml.chart+xml"/>
  <Override PartName="/ppt/charts/chart396.xml" ContentType="application/vnd.openxmlformats-officedocument.drawingml.chart+xml"/>
  <Override PartName="/ppt/charts/chart397.xml" ContentType="application/vnd.openxmlformats-officedocument.drawingml.chart+xml"/>
  <Override PartName="/ppt/charts/chart398.xml" ContentType="application/vnd.openxmlformats-officedocument.drawingml.chart+xml"/>
  <Override PartName="/ppt/charts/chart399.xml" ContentType="application/vnd.openxmlformats-officedocument.drawingml.chart+xml"/>
  <Override PartName="/ppt/charts/chart4.xml" ContentType="application/vnd.openxmlformats-officedocument.drawingml.chart+xml"/>
  <Override PartName="/ppt/charts/chart40.xml" ContentType="application/vnd.openxmlformats-officedocument.drawingml.chart+xml"/>
  <Override PartName="/ppt/charts/chart400.xml" ContentType="application/vnd.openxmlformats-officedocument.drawingml.chart+xml"/>
  <Override PartName="/ppt/charts/chart401.xml" ContentType="application/vnd.openxmlformats-officedocument.drawingml.chart+xml"/>
  <Override PartName="/ppt/charts/chart402.xml" ContentType="application/vnd.openxmlformats-officedocument.drawingml.chart+xml"/>
  <Override PartName="/ppt/charts/chart403.xml" ContentType="application/vnd.openxmlformats-officedocument.drawingml.chart+xml"/>
  <Override PartName="/ppt/charts/chart404.xml" ContentType="application/vnd.openxmlformats-officedocument.drawingml.chart+xml"/>
  <Override PartName="/ppt/charts/chart405.xml" ContentType="application/vnd.openxmlformats-officedocument.drawingml.chart+xml"/>
  <Override PartName="/ppt/charts/chart406.xml" ContentType="application/vnd.openxmlformats-officedocument.drawingml.chart+xml"/>
  <Override PartName="/ppt/charts/chart407.xml" ContentType="application/vnd.openxmlformats-officedocument.drawingml.chart+xml"/>
  <Override PartName="/ppt/charts/chart408.xml" ContentType="application/vnd.openxmlformats-officedocument.drawingml.chart+xml"/>
  <Override PartName="/ppt/charts/chart409.xml" ContentType="application/vnd.openxmlformats-officedocument.drawingml.chart+xml"/>
  <Override PartName="/ppt/charts/chart41.xml" ContentType="application/vnd.openxmlformats-officedocument.drawingml.chart+xml"/>
  <Override PartName="/ppt/charts/chart410.xml" ContentType="application/vnd.openxmlformats-officedocument.drawingml.chart+xml"/>
  <Override PartName="/ppt/charts/chart411.xml" ContentType="application/vnd.openxmlformats-officedocument.drawingml.chart+xml"/>
  <Override PartName="/ppt/charts/chart412.xml" ContentType="application/vnd.openxmlformats-officedocument.drawingml.chart+xml"/>
  <Override PartName="/ppt/charts/chart413.xml" ContentType="application/vnd.openxmlformats-officedocument.drawingml.chart+xml"/>
  <Override PartName="/ppt/charts/chart414.xml" ContentType="application/vnd.openxmlformats-officedocument.drawingml.chart+xml"/>
  <Override PartName="/ppt/charts/chart415.xml" ContentType="application/vnd.openxmlformats-officedocument.drawingml.chart+xml"/>
  <Override PartName="/ppt/charts/chart416.xml" ContentType="application/vnd.openxmlformats-officedocument.drawingml.chart+xml"/>
  <Override PartName="/ppt/charts/chart417.xml" ContentType="application/vnd.openxmlformats-officedocument.drawingml.chart+xml"/>
  <Override PartName="/ppt/charts/chart418.xml" ContentType="application/vnd.openxmlformats-officedocument.drawingml.chart+xml"/>
  <Override PartName="/ppt/charts/chart419.xml" ContentType="application/vnd.openxmlformats-officedocument.drawingml.chart+xml"/>
  <Override PartName="/ppt/charts/chart42.xml" ContentType="application/vnd.openxmlformats-officedocument.drawingml.chart+xml"/>
  <Override PartName="/ppt/charts/chart420.xml" ContentType="application/vnd.openxmlformats-officedocument.drawingml.chart+xml"/>
  <Override PartName="/ppt/charts/chart421.xml" ContentType="application/vnd.openxmlformats-officedocument.drawingml.chart+xml"/>
  <Override PartName="/ppt/charts/chart422.xml" ContentType="application/vnd.openxmlformats-officedocument.drawingml.chart+xml"/>
  <Override PartName="/ppt/charts/chart423.xml" ContentType="application/vnd.openxmlformats-officedocument.drawingml.chart+xml"/>
  <Override PartName="/ppt/charts/chart424.xml" ContentType="application/vnd.openxmlformats-officedocument.drawingml.chart+xml"/>
  <Override PartName="/ppt/charts/chart425.xml" ContentType="application/vnd.openxmlformats-officedocument.drawingml.chart+xml"/>
  <Override PartName="/ppt/charts/chart426.xml" ContentType="application/vnd.openxmlformats-officedocument.drawingml.chart+xml"/>
  <Override PartName="/ppt/charts/chart427.xml" ContentType="application/vnd.openxmlformats-officedocument.drawingml.chart+xml"/>
  <Override PartName="/ppt/charts/chart428.xml" ContentType="application/vnd.openxmlformats-officedocument.drawingml.chart+xml"/>
  <Override PartName="/ppt/charts/chart429.xml" ContentType="application/vnd.openxmlformats-officedocument.drawingml.chart+xml"/>
  <Override PartName="/ppt/charts/chart43.xml" ContentType="application/vnd.openxmlformats-officedocument.drawingml.chart+xml"/>
  <Override PartName="/ppt/charts/chart430.xml" ContentType="application/vnd.openxmlformats-officedocument.drawingml.chart+xml"/>
  <Override PartName="/ppt/charts/chart431.xml" ContentType="application/vnd.openxmlformats-officedocument.drawingml.chart+xml"/>
  <Override PartName="/ppt/charts/chart432.xml" ContentType="application/vnd.openxmlformats-officedocument.drawingml.chart+xml"/>
  <Override PartName="/ppt/charts/chart433.xml" ContentType="application/vnd.openxmlformats-officedocument.drawingml.chart+xml"/>
  <Override PartName="/ppt/charts/chart434.xml" ContentType="application/vnd.openxmlformats-officedocument.drawingml.chart+xml"/>
  <Override PartName="/ppt/charts/chart435.xml" ContentType="application/vnd.openxmlformats-officedocument.drawingml.chart+xml"/>
  <Override PartName="/ppt/charts/chart436.xml" ContentType="application/vnd.openxmlformats-officedocument.drawingml.chart+xml"/>
  <Override PartName="/ppt/charts/chart437.xml" ContentType="application/vnd.openxmlformats-officedocument.drawingml.chart+xml"/>
  <Override PartName="/ppt/charts/chart438.xml" ContentType="application/vnd.openxmlformats-officedocument.drawingml.chart+xml"/>
  <Override PartName="/ppt/charts/chart439.xml" ContentType="application/vnd.openxmlformats-officedocument.drawingml.chart+xml"/>
  <Override PartName="/ppt/charts/chart44.xml" ContentType="application/vnd.openxmlformats-officedocument.drawingml.chart+xml"/>
  <Override PartName="/ppt/charts/chart440.xml" ContentType="application/vnd.openxmlformats-officedocument.drawingml.chart+xml"/>
  <Override PartName="/ppt/charts/chart441.xml" ContentType="application/vnd.openxmlformats-officedocument.drawingml.chart+xml"/>
  <Override PartName="/ppt/charts/chart442.xml" ContentType="application/vnd.openxmlformats-officedocument.drawingml.chart+xml"/>
  <Override PartName="/ppt/charts/chart443.xml" ContentType="application/vnd.openxmlformats-officedocument.drawingml.chart+xml"/>
  <Override PartName="/ppt/charts/chart444.xml" ContentType="application/vnd.openxmlformats-officedocument.drawingml.chart+xml"/>
  <Override PartName="/ppt/charts/chart445.xml" ContentType="application/vnd.openxmlformats-officedocument.drawingml.chart+xml"/>
  <Override PartName="/ppt/charts/chart446.xml" ContentType="application/vnd.openxmlformats-officedocument.drawingml.chart+xml"/>
  <Override PartName="/ppt/charts/chart447.xml" ContentType="application/vnd.openxmlformats-officedocument.drawingml.chart+xml"/>
  <Override PartName="/ppt/charts/chart448.xml" ContentType="application/vnd.openxmlformats-officedocument.drawingml.chart+xml"/>
  <Override PartName="/ppt/charts/chart449.xml" ContentType="application/vnd.openxmlformats-officedocument.drawingml.chart+xml"/>
  <Override PartName="/ppt/charts/chart45.xml" ContentType="application/vnd.openxmlformats-officedocument.drawingml.chart+xml"/>
  <Override PartName="/ppt/charts/chart450.xml" ContentType="application/vnd.openxmlformats-officedocument.drawingml.chart+xml"/>
  <Override PartName="/ppt/charts/chart451.xml" ContentType="application/vnd.openxmlformats-officedocument.drawingml.chart+xml"/>
  <Override PartName="/ppt/charts/chart452.xml" ContentType="application/vnd.openxmlformats-officedocument.drawingml.chart+xml"/>
  <Override PartName="/ppt/charts/chart453.xml" ContentType="application/vnd.openxmlformats-officedocument.drawingml.chart+xml"/>
  <Override PartName="/ppt/charts/chart454.xml" ContentType="application/vnd.openxmlformats-officedocument.drawingml.chart+xml"/>
  <Override PartName="/ppt/charts/chart455.xml" ContentType="application/vnd.openxmlformats-officedocument.drawingml.chart+xml"/>
  <Override PartName="/ppt/charts/chart456.xml" ContentType="application/vnd.openxmlformats-officedocument.drawingml.chart+xml"/>
  <Override PartName="/ppt/charts/chart457.xml" ContentType="application/vnd.openxmlformats-officedocument.drawingml.chart+xml"/>
  <Override PartName="/ppt/charts/chart458.xml" ContentType="application/vnd.openxmlformats-officedocument.drawingml.chart+xml"/>
  <Override PartName="/ppt/charts/chart459.xml" ContentType="application/vnd.openxmlformats-officedocument.drawingml.chart+xml"/>
  <Override PartName="/ppt/charts/chart46.xml" ContentType="application/vnd.openxmlformats-officedocument.drawingml.chart+xml"/>
  <Override PartName="/ppt/charts/chart460.xml" ContentType="application/vnd.openxmlformats-officedocument.drawingml.chart+xml"/>
  <Override PartName="/ppt/charts/chart461.xml" ContentType="application/vnd.openxmlformats-officedocument.drawingml.chart+xml"/>
  <Override PartName="/ppt/charts/chart462.xml" ContentType="application/vnd.openxmlformats-officedocument.drawingml.chart+xml"/>
  <Override PartName="/ppt/charts/chart463.xml" ContentType="application/vnd.openxmlformats-officedocument.drawingml.chart+xml"/>
  <Override PartName="/ppt/charts/chart464.xml" ContentType="application/vnd.openxmlformats-officedocument.drawingml.chart+xml"/>
  <Override PartName="/ppt/charts/chart465.xml" ContentType="application/vnd.openxmlformats-officedocument.drawingml.chart+xml"/>
  <Override PartName="/ppt/charts/chart466.xml" ContentType="application/vnd.openxmlformats-officedocument.drawingml.chart+xml"/>
  <Override PartName="/ppt/charts/chart467.xml" ContentType="application/vnd.openxmlformats-officedocument.drawingml.chart+xml"/>
  <Override PartName="/ppt/charts/chart468.xml" ContentType="application/vnd.openxmlformats-officedocument.drawingml.chart+xml"/>
  <Override PartName="/ppt/charts/chart469.xml" ContentType="application/vnd.openxmlformats-officedocument.drawingml.chart+xml"/>
  <Override PartName="/ppt/charts/chart47.xml" ContentType="application/vnd.openxmlformats-officedocument.drawingml.chart+xml"/>
  <Override PartName="/ppt/charts/chart470.xml" ContentType="application/vnd.openxmlformats-officedocument.drawingml.chart+xml"/>
  <Override PartName="/ppt/charts/chart471.xml" ContentType="application/vnd.openxmlformats-officedocument.drawingml.chart+xml"/>
  <Override PartName="/ppt/charts/chart472.xml" ContentType="application/vnd.openxmlformats-officedocument.drawingml.chart+xml"/>
  <Override PartName="/ppt/charts/chart473.xml" ContentType="application/vnd.openxmlformats-officedocument.drawingml.chart+xml"/>
  <Override PartName="/ppt/charts/chart474.xml" ContentType="application/vnd.openxmlformats-officedocument.drawingml.chart+xml"/>
  <Override PartName="/ppt/charts/chart475.xml" ContentType="application/vnd.openxmlformats-officedocument.drawingml.chart+xml"/>
  <Override PartName="/ppt/charts/chart476.xml" ContentType="application/vnd.openxmlformats-officedocument.drawingml.chart+xml"/>
  <Override PartName="/ppt/charts/chart477.xml" ContentType="application/vnd.openxmlformats-officedocument.drawingml.chart+xml"/>
  <Override PartName="/ppt/charts/chart478.xml" ContentType="application/vnd.openxmlformats-officedocument.drawingml.chart+xml"/>
  <Override PartName="/ppt/charts/chart479.xml" ContentType="application/vnd.openxmlformats-officedocument.drawingml.chart+xml"/>
  <Override PartName="/ppt/charts/chart48.xml" ContentType="application/vnd.openxmlformats-officedocument.drawingml.chart+xml"/>
  <Override PartName="/ppt/charts/chart480.xml" ContentType="application/vnd.openxmlformats-officedocument.drawingml.chart+xml"/>
  <Override PartName="/ppt/charts/chart481.xml" ContentType="application/vnd.openxmlformats-officedocument.drawingml.chart+xml"/>
  <Override PartName="/ppt/charts/chart482.xml" ContentType="application/vnd.openxmlformats-officedocument.drawingml.chart+xml"/>
  <Override PartName="/ppt/charts/chart483.xml" ContentType="application/vnd.openxmlformats-officedocument.drawingml.chart+xml"/>
  <Override PartName="/ppt/charts/chart484.xml" ContentType="application/vnd.openxmlformats-officedocument.drawingml.chart+xml"/>
  <Override PartName="/ppt/charts/chart485.xml" ContentType="application/vnd.openxmlformats-officedocument.drawingml.chart+xml"/>
  <Override PartName="/ppt/charts/chart486.xml" ContentType="application/vnd.openxmlformats-officedocument.drawingml.chart+xml"/>
  <Override PartName="/ppt/charts/chart487.xml" ContentType="application/vnd.openxmlformats-officedocument.drawingml.chart+xml"/>
  <Override PartName="/ppt/charts/chart488.xml" ContentType="application/vnd.openxmlformats-officedocument.drawingml.chart+xml"/>
  <Override PartName="/ppt/charts/chart489.xml" ContentType="application/vnd.openxmlformats-officedocument.drawingml.chart+xml"/>
  <Override PartName="/ppt/charts/chart49.xml" ContentType="application/vnd.openxmlformats-officedocument.drawingml.chart+xml"/>
  <Override PartName="/ppt/charts/chart490.xml" ContentType="application/vnd.openxmlformats-officedocument.drawingml.chart+xml"/>
  <Override PartName="/ppt/charts/chart491.xml" ContentType="application/vnd.openxmlformats-officedocument.drawingml.chart+xml"/>
  <Override PartName="/ppt/charts/chart492.xml" ContentType="application/vnd.openxmlformats-officedocument.drawingml.chart+xml"/>
  <Override PartName="/ppt/charts/chart493.xml" ContentType="application/vnd.openxmlformats-officedocument.drawingml.chart+xml"/>
  <Override PartName="/ppt/charts/chart494.xml" ContentType="application/vnd.openxmlformats-officedocument.drawingml.chart+xml"/>
  <Override PartName="/ppt/charts/chart495.xml" ContentType="application/vnd.openxmlformats-officedocument.drawingml.chart+xml"/>
  <Override PartName="/ppt/charts/chart496.xml" ContentType="application/vnd.openxmlformats-officedocument.drawingml.chart+xml"/>
  <Override PartName="/ppt/charts/chart497.xml" ContentType="application/vnd.openxmlformats-officedocument.drawingml.chart+xml"/>
  <Override PartName="/ppt/charts/chart498.xml" ContentType="application/vnd.openxmlformats-officedocument.drawingml.chart+xml"/>
  <Override PartName="/ppt/charts/chart499.xml" ContentType="application/vnd.openxmlformats-officedocument.drawingml.chart+xml"/>
  <Override PartName="/ppt/charts/chart5.xml" ContentType="application/vnd.openxmlformats-officedocument.drawingml.chart+xml"/>
  <Override PartName="/ppt/charts/chart50.xml" ContentType="application/vnd.openxmlformats-officedocument.drawingml.chart+xml"/>
  <Override PartName="/ppt/charts/chart500.xml" ContentType="application/vnd.openxmlformats-officedocument.drawingml.chart+xml"/>
  <Override PartName="/ppt/charts/chart501.xml" ContentType="application/vnd.openxmlformats-officedocument.drawingml.chart+xml"/>
  <Override PartName="/ppt/charts/chart502.xml" ContentType="application/vnd.openxmlformats-officedocument.drawingml.chart+xml"/>
  <Override PartName="/ppt/charts/chart503.xml" ContentType="application/vnd.openxmlformats-officedocument.drawingml.chart+xml"/>
  <Override PartName="/ppt/charts/chart504.xml" ContentType="application/vnd.openxmlformats-officedocument.drawingml.chart+xml"/>
  <Override PartName="/ppt/charts/chart505.xml" ContentType="application/vnd.openxmlformats-officedocument.drawingml.chart+xml"/>
  <Override PartName="/ppt/charts/chart506.xml" ContentType="application/vnd.openxmlformats-officedocument.drawingml.chart+xml"/>
  <Override PartName="/ppt/charts/chart507.xml" ContentType="application/vnd.openxmlformats-officedocument.drawingml.chart+xml"/>
  <Override PartName="/ppt/charts/chart508.xml" ContentType="application/vnd.openxmlformats-officedocument.drawingml.chart+xml"/>
  <Override PartName="/ppt/charts/chart509.xml" ContentType="application/vnd.openxmlformats-officedocument.drawingml.chart+xml"/>
  <Override PartName="/ppt/charts/chart51.xml" ContentType="application/vnd.openxmlformats-officedocument.drawingml.chart+xml"/>
  <Override PartName="/ppt/charts/chart510.xml" ContentType="application/vnd.openxmlformats-officedocument.drawingml.chart+xml"/>
  <Override PartName="/ppt/charts/chart511.xml" ContentType="application/vnd.openxmlformats-officedocument.drawingml.chart+xml"/>
  <Override PartName="/ppt/charts/chart512.xml" ContentType="application/vnd.openxmlformats-officedocument.drawingml.chart+xml"/>
  <Override PartName="/ppt/charts/chart513.xml" ContentType="application/vnd.openxmlformats-officedocument.drawingml.chart+xml"/>
  <Override PartName="/ppt/charts/chart514.xml" ContentType="application/vnd.openxmlformats-officedocument.drawingml.chart+xml"/>
  <Override PartName="/ppt/charts/chart515.xml" ContentType="application/vnd.openxmlformats-officedocument.drawingml.chart+xml"/>
  <Override PartName="/ppt/charts/chart516.xml" ContentType="application/vnd.openxmlformats-officedocument.drawingml.chart+xml"/>
  <Override PartName="/ppt/charts/chart517.xml" ContentType="application/vnd.openxmlformats-officedocument.drawingml.chart+xml"/>
  <Override PartName="/ppt/charts/chart518.xml" ContentType="application/vnd.openxmlformats-officedocument.drawingml.chart+xml"/>
  <Override PartName="/ppt/charts/chart519.xml" ContentType="application/vnd.openxmlformats-officedocument.drawingml.chart+xml"/>
  <Override PartName="/ppt/charts/chart52.xml" ContentType="application/vnd.openxmlformats-officedocument.drawingml.chart+xml"/>
  <Override PartName="/ppt/charts/chart520.xml" ContentType="application/vnd.openxmlformats-officedocument.drawingml.chart+xml"/>
  <Override PartName="/ppt/charts/chart521.xml" ContentType="application/vnd.openxmlformats-officedocument.drawingml.chart+xml"/>
  <Override PartName="/ppt/charts/chart522.xml" ContentType="application/vnd.openxmlformats-officedocument.drawingml.chart+xml"/>
  <Override PartName="/ppt/charts/chart523.xml" ContentType="application/vnd.openxmlformats-officedocument.drawingml.chart+xml"/>
  <Override PartName="/ppt/charts/chart524.xml" ContentType="application/vnd.openxmlformats-officedocument.drawingml.chart+xml"/>
  <Override PartName="/ppt/charts/chart525.xml" ContentType="application/vnd.openxmlformats-officedocument.drawingml.chart+xml"/>
  <Override PartName="/ppt/charts/chart526.xml" ContentType="application/vnd.openxmlformats-officedocument.drawingml.chart+xml"/>
  <Override PartName="/ppt/charts/chart527.xml" ContentType="application/vnd.openxmlformats-officedocument.drawingml.chart+xml"/>
  <Override PartName="/ppt/charts/chart528.xml" ContentType="application/vnd.openxmlformats-officedocument.drawingml.chart+xml"/>
  <Override PartName="/ppt/charts/chart529.xml" ContentType="application/vnd.openxmlformats-officedocument.drawingml.chart+xml"/>
  <Override PartName="/ppt/charts/chart53.xml" ContentType="application/vnd.openxmlformats-officedocument.drawingml.chart+xml"/>
  <Override PartName="/ppt/charts/chart530.xml" ContentType="application/vnd.openxmlformats-officedocument.drawingml.chart+xml"/>
  <Override PartName="/ppt/charts/chart531.xml" ContentType="application/vnd.openxmlformats-officedocument.drawingml.chart+xml"/>
  <Override PartName="/ppt/charts/chart532.xml" ContentType="application/vnd.openxmlformats-officedocument.drawingml.chart+xml"/>
  <Override PartName="/ppt/charts/chart533.xml" ContentType="application/vnd.openxmlformats-officedocument.drawingml.chart+xml"/>
  <Override PartName="/ppt/charts/chart534.xml" ContentType="application/vnd.openxmlformats-officedocument.drawingml.chart+xml"/>
  <Override PartName="/ppt/charts/chart535.xml" ContentType="application/vnd.openxmlformats-officedocument.drawingml.chart+xml"/>
  <Override PartName="/ppt/charts/chart536.xml" ContentType="application/vnd.openxmlformats-officedocument.drawingml.chart+xml"/>
  <Override PartName="/ppt/charts/chart537.xml" ContentType="application/vnd.openxmlformats-officedocument.drawingml.chart+xml"/>
  <Override PartName="/ppt/charts/chart538.xml" ContentType="application/vnd.openxmlformats-officedocument.drawingml.chart+xml"/>
  <Override PartName="/ppt/charts/chart539.xml" ContentType="application/vnd.openxmlformats-officedocument.drawingml.chart+xml"/>
  <Override PartName="/ppt/charts/chart54.xml" ContentType="application/vnd.openxmlformats-officedocument.drawingml.chart+xml"/>
  <Override PartName="/ppt/charts/chart540.xml" ContentType="application/vnd.openxmlformats-officedocument.drawingml.chart+xml"/>
  <Override PartName="/ppt/charts/chart541.xml" ContentType="application/vnd.openxmlformats-officedocument.drawingml.chart+xml"/>
  <Override PartName="/ppt/charts/chart542.xml" ContentType="application/vnd.openxmlformats-officedocument.drawingml.chart+xml"/>
  <Override PartName="/ppt/charts/chart543.xml" ContentType="application/vnd.openxmlformats-officedocument.drawingml.chart+xml"/>
  <Override PartName="/ppt/charts/chart544.xml" ContentType="application/vnd.openxmlformats-officedocument.drawingml.chart+xml"/>
  <Override PartName="/ppt/charts/chart545.xml" ContentType="application/vnd.openxmlformats-officedocument.drawingml.chart+xml"/>
  <Override PartName="/ppt/charts/chart546.xml" ContentType="application/vnd.openxmlformats-officedocument.drawingml.chart+xml"/>
  <Override PartName="/ppt/charts/chart547.xml" ContentType="application/vnd.openxmlformats-officedocument.drawingml.chart+xml"/>
  <Override PartName="/ppt/charts/chart548.xml" ContentType="application/vnd.openxmlformats-officedocument.drawingml.chart+xml"/>
  <Override PartName="/ppt/charts/chart549.xml" ContentType="application/vnd.openxmlformats-officedocument.drawingml.chart+xml"/>
  <Override PartName="/ppt/charts/chart55.xml" ContentType="application/vnd.openxmlformats-officedocument.drawingml.chart+xml"/>
  <Override PartName="/ppt/charts/chart550.xml" ContentType="application/vnd.openxmlformats-officedocument.drawingml.chart+xml"/>
  <Override PartName="/ppt/charts/chart551.xml" ContentType="application/vnd.openxmlformats-officedocument.drawingml.chart+xml"/>
  <Override PartName="/ppt/charts/chart552.xml" ContentType="application/vnd.openxmlformats-officedocument.drawingml.chart+xml"/>
  <Override PartName="/ppt/charts/chart553.xml" ContentType="application/vnd.openxmlformats-officedocument.drawingml.chart+xml"/>
  <Override PartName="/ppt/charts/chart554.xml" ContentType="application/vnd.openxmlformats-officedocument.drawingml.chart+xml"/>
  <Override PartName="/ppt/charts/chart555.xml" ContentType="application/vnd.openxmlformats-officedocument.drawingml.chart+xml"/>
  <Override PartName="/ppt/charts/chart556.xml" ContentType="application/vnd.openxmlformats-officedocument.drawingml.chart+xml"/>
  <Override PartName="/ppt/charts/chart557.xml" ContentType="application/vnd.openxmlformats-officedocument.drawingml.chart+xml"/>
  <Override PartName="/ppt/charts/chart558.xml" ContentType="application/vnd.openxmlformats-officedocument.drawingml.chart+xml"/>
  <Override PartName="/ppt/charts/chart559.xml" ContentType="application/vnd.openxmlformats-officedocument.drawingml.chart+xml"/>
  <Override PartName="/ppt/charts/chart56.xml" ContentType="application/vnd.openxmlformats-officedocument.drawingml.chart+xml"/>
  <Override PartName="/ppt/charts/chart560.xml" ContentType="application/vnd.openxmlformats-officedocument.drawingml.chart+xml"/>
  <Override PartName="/ppt/charts/chart561.xml" ContentType="application/vnd.openxmlformats-officedocument.drawingml.chart+xml"/>
  <Override PartName="/ppt/charts/chart562.xml" ContentType="application/vnd.openxmlformats-officedocument.drawingml.chart+xml"/>
  <Override PartName="/ppt/charts/chart563.xml" ContentType="application/vnd.openxmlformats-officedocument.drawingml.chart+xml"/>
  <Override PartName="/ppt/charts/chart564.xml" ContentType="application/vnd.openxmlformats-officedocument.drawingml.chart+xml"/>
  <Override PartName="/ppt/charts/chart565.xml" ContentType="application/vnd.openxmlformats-officedocument.drawingml.chart+xml"/>
  <Override PartName="/ppt/charts/chart566.xml" ContentType="application/vnd.openxmlformats-officedocument.drawingml.chart+xml"/>
  <Override PartName="/ppt/charts/chart567.xml" ContentType="application/vnd.openxmlformats-officedocument.drawingml.chart+xml"/>
  <Override PartName="/ppt/charts/chart568.xml" ContentType="application/vnd.openxmlformats-officedocument.drawingml.chart+xml"/>
  <Override PartName="/ppt/charts/chart569.xml" ContentType="application/vnd.openxmlformats-officedocument.drawingml.chart+xml"/>
  <Override PartName="/ppt/charts/chart57.xml" ContentType="application/vnd.openxmlformats-officedocument.drawingml.chart+xml"/>
  <Override PartName="/ppt/charts/chart570.xml" ContentType="application/vnd.openxmlformats-officedocument.drawingml.chart+xml"/>
  <Override PartName="/ppt/charts/chart571.xml" ContentType="application/vnd.openxmlformats-officedocument.drawingml.chart+xml"/>
  <Override PartName="/ppt/charts/chart572.xml" ContentType="application/vnd.openxmlformats-officedocument.drawingml.chart+xml"/>
  <Override PartName="/ppt/charts/chart573.xml" ContentType="application/vnd.openxmlformats-officedocument.drawingml.chart+xml"/>
  <Override PartName="/ppt/charts/chart574.xml" ContentType="application/vnd.openxmlformats-officedocument.drawingml.chart+xml"/>
  <Override PartName="/ppt/charts/chart575.xml" ContentType="application/vnd.openxmlformats-officedocument.drawingml.chart+xml"/>
  <Override PartName="/ppt/charts/chart576.xml" ContentType="application/vnd.openxmlformats-officedocument.drawingml.chart+xml"/>
  <Override PartName="/ppt/charts/chart577.xml" ContentType="application/vnd.openxmlformats-officedocument.drawingml.chart+xml"/>
  <Override PartName="/ppt/charts/chart578.xml" ContentType="application/vnd.openxmlformats-officedocument.drawingml.chart+xml"/>
  <Override PartName="/ppt/charts/chart579.xml" ContentType="application/vnd.openxmlformats-officedocument.drawingml.chart+xml"/>
  <Override PartName="/ppt/charts/chart58.xml" ContentType="application/vnd.openxmlformats-officedocument.drawingml.chart+xml"/>
  <Override PartName="/ppt/charts/chart580.xml" ContentType="application/vnd.openxmlformats-officedocument.drawingml.chart+xml"/>
  <Override PartName="/ppt/charts/chart581.xml" ContentType="application/vnd.openxmlformats-officedocument.drawingml.chart+xml"/>
  <Override PartName="/ppt/charts/chart582.xml" ContentType="application/vnd.openxmlformats-officedocument.drawingml.chart+xml"/>
  <Override PartName="/ppt/charts/chart583.xml" ContentType="application/vnd.openxmlformats-officedocument.drawingml.chart+xml"/>
  <Override PartName="/ppt/charts/chart584.xml" ContentType="application/vnd.openxmlformats-officedocument.drawingml.chart+xml"/>
  <Override PartName="/ppt/charts/chart585.xml" ContentType="application/vnd.openxmlformats-officedocument.drawingml.chart+xml"/>
  <Override PartName="/ppt/charts/chart586.xml" ContentType="application/vnd.openxmlformats-officedocument.drawingml.chart+xml"/>
  <Override PartName="/ppt/charts/chart587.xml" ContentType="application/vnd.openxmlformats-officedocument.drawingml.chart+xml"/>
  <Override PartName="/ppt/charts/chart588.xml" ContentType="application/vnd.openxmlformats-officedocument.drawingml.chart+xml"/>
  <Override PartName="/ppt/charts/chart589.xml" ContentType="application/vnd.openxmlformats-officedocument.drawingml.chart+xml"/>
  <Override PartName="/ppt/charts/chart59.xml" ContentType="application/vnd.openxmlformats-officedocument.drawingml.chart+xml"/>
  <Override PartName="/ppt/charts/chart590.xml" ContentType="application/vnd.openxmlformats-officedocument.drawingml.chart+xml"/>
  <Override PartName="/ppt/charts/chart591.xml" ContentType="application/vnd.openxmlformats-officedocument.drawingml.chart+xml"/>
  <Override PartName="/ppt/charts/chart592.xml" ContentType="application/vnd.openxmlformats-officedocument.drawingml.chart+xml"/>
  <Override PartName="/ppt/charts/chart593.xml" ContentType="application/vnd.openxmlformats-officedocument.drawingml.chart+xml"/>
  <Override PartName="/ppt/charts/chart594.xml" ContentType="application/vnd.openxmlformats-officedocument.drawingml.chart+xml"/>
  <Override PartName="/ppt/charts/chart595.xml" ContentType="application/vnd.openxmlformats-officedocument.drawingml.chart+xml"/>
  <Override PartName="/ppt/charts/chart596.xml" ContentType="application/vnd.openxmlformats-officedocument.drawingml.chart+xml"/>
  <Override PartName="/ppt/charts/chart597.xml" ContentType="application/vnd.openxmlformats-officedocument.drawingml.chart+xml"/>
  <Override PartName="/ppt/charts/chart598.xml" ContentType="application/vnd.openxmlformats-officedocument.drawingml.chart+xml"/>
  <Override PartName="/ppt/charts/chart599.xml" ContentType="application/vnd.openxmlformats-officedocument.drawingml.chart+xml"/>
  <Override PartName="/ppt/charts/chart6.xml" ContentType="application/vnd.openxmlformats-officedocument.drawingml.chart+xml"/>
  <Override PartName="/ppt/charts/chart60.xml" ContentType="application/vnd.openxmlformats-officedocument.drawingml.chart+xml"/>
  <Override PartName="/ppt/charts/chart600.xml" ContentType="application/vnd.openxmlformats-officedocument.drawingml.chart+xml"/>
  <Override PartName="/ppt/charts/chart601.xml" ContentType="application/vnd.openxmlformats-officedocument.drawingml.chart+xml"/>
  <Override PartName="/ppt/charts/chart602.xml" ContentType="application/vnd.openxmlformats-officedocument.drawingml.chart+xml"/>
  <Override PartName="/ppt/charts/chart603.xml" ContentType="application/vnd.openxmlformats-officedocument.drawingml.chart+xml"/>
  <Override PartName="/ppt/charts/chart604.xml" ContentType="application/vnd.openxmlformats-officedocument.drawingml.chart+xml"/>
  <Override PartName="/ppt/charts/chart605.xml" ContentType="application/vnd.openxmlformats-officedocument.drawingml.chart+xml"/>
  <Override PartName="/ppt/charts/chart606.xml" ContentType="application/vnd.openxmlformats-officedocument.drawingml.chart+xml"/>
  <Override PartName="/ppt/charts/chart607.xml" ContentType="application/vnd.openxmlformats-officedocument.drawingml.chart+xml"/>
  <Override PartName="/ppt/charts/chart608.xml" ContentType="application/vnd.openxmlformats-officedocument.drawingml.chart+xml"/>
  <Override PartName="/ppt/charts/chart609.xml" ContentType="application/vnd.openxmlformats-officedocument.drawingml.chart+xml"/>
  <Override PartName="/ppt/charts/chart61.xml" ContentType="application/vnd.openxmlformats-officedocument.drawingml.chart+xml"/>
  <Override PartName="/ppt/charts/chart610.xml" ContentType="application/vnd.openxmlformats-officedocument.drawingml.chart+xml"/>
  <Override PartName="/ppt/charts/chart611.xml" ContentType="application/vnd.openxmlformats-officedocument.drawingml.chart+xml"/>
  <Override PartName="/ppt/charts/chart612.xml" ContentType="application/vnd.openxmlformats-officedocument.drawingml.chart+xml"/>
  <Override PartName="/ppt/charts/chart613.xml" ContentType="application/vnd.openxmlformats-officedocument.drawingml.chart+xml"/>
  <Override PartName="/ppt/charts/chart614.xml" ContentType="application/vnd.openxmlformats-officedocument.drawingml.chart+xml"/>
  <Override PartName="/ppt/charts/chart615.xml" ContentType="application/vnd.openxmlformats-officedocument.drawingml.chart+xml"/>
  <Override PartName="/ppt/charts/chart616.xml" ContentType="application/vnd.openxmlformats-officedocument.drawingml.chart+xml"/>
  <Override PartName="/ppt/charts/chart617.xml" ContentType="application/vnd.openxmlformats-officedocument.drawingml.chart+xml"/>
  <Override PartName="/ppt/charts/chart618.xml" ContentType="application/vnd.openxmlformats-officedocument.drawingml.chart+xml"/>
  <Override PartName="/ppt/charts/chart619.xml" ContentType="application/vnd.openxmlformats-officedocument.drawingml.chart+xml"/>
  <Override PartName="/ppt/charts/chart62.xml" ContentType="application/vnd.openxmlformats-officedocument.drawingml.chart+xml"/>
  <Override PartName="/ppt/charts/chart620.xml" ContentType="application/vnd.openxmlformats-officedocument.drawingml.chart+xml"/>
  <Override PartName="/ppt/charts/chart621.xml" ContentType="application/vnd.openxmlformats-officedocument.drawingml.chart+xml"/>
  <Override PartName="/ppt/charts/chart622.xml" ContentType="application/vnd.openxmlformats-officedocument.drawingml.chart+xml"/>
  <Override PartName="/ppt/charts/chart623.xml" ContentType="application/vnd.openxmlformats-officedocument.drawingml.chart+xml"/>
  <Override PartName="/ppt/charts/chart624.xml" ContentType="application/vnd.openxmlformats-officedocument.drawingml.chart+xml"/>
  <Override PartName="/ppt/charts/chart625.xml" ContentType="application/vnd.openxmlformats-officedocument.drawingml.chart+xml"/>
  <Override PartName="/ppt/charts/chart626.xml" ContentType="application/vnd.openxmlformats-officedocument.drawingml.chart+xml"/>
  <Override PartName="/ppt/charts/chart627.xml" ContentType="application/vnd.openxmlformats-officedocument.drawingml.chart+xml"/>
  <Override PartName="/ppt/charts/chart628.xml" ContentType="application/vnd.openxmlformats-officedocument.drawingml.chart+xml"/>
  <Override PartName="/ppt/charts/chart629.xml" ContentType="application/vnd.openxmlformats-officedocument.drawingml.chart+xml"/>
  <Override PartName="/ppt/charts/chart63.xml" ContentType="application/vnd.openxmlformats-officedocument.drawingml.chart+xml"/>
  <Override PartName="/ppt/charts/chart630.xml" ContentType="application/vnd.openxmlformats-officedocument.drawingml.chart+xml"/>
  <Override PartName="/ppt/charts/chart631.xml" ContentType="application/vnd.openxmlformats-officedocument.drawingml.chart+xml"/>
  <Override PartName="/ppt/charts/chart632.xml" ContentType="application/vnd.openxmlformats-officedocument.drawingml.chart+xml"/>
  <Override PartName="/ppt/charts/chart633.xml" ContentType="application/vnd.openxmlformats-officedocument.drawingml.chart+xml"/>
  <Override PartName="/ppt/charts/chart634.xml" ContentType="application/vnd.openxmlformats-officedocument.drawingml.chart+xml"/>
  <Override PartName="/ppt/charts/chart635.xml" ContentType="application/vnd.openxmlformats-officedocument.drawingml.chart+xml"/>
  <Override PartName="/ppt/charts/chart636.xml" ContentType="application/vnd.openxmlformats-officedocument.drawingml.chart+xml"/>
  <Override PartName="/ppt/charts/chart637.xml" ContentType="application/vnd.openxmlformats-officedocument.drawingml.chart+xml"/>
  <Override PartName="/ppt/charts/chart638.xml" ContentType="application/vnd.openxmlformats-officedocument.drawingml.chart+xml"/>
  <Override PartName="/ppt/charts/chart639.xml" ContentType="application/vnd.openxmlformats-officedocument.drawingml.chart+xml"/>
  <Override PartName="/ppt/charts/chart64.xml" ContentType="application/vnd.openxmlformats-officedocument.drawingml.chart+xml"/>
  <Override PartName="/ppt/charts/chart640.xml" ContentType="application/vnd.openxmlformats-officedocument.drawingml.chart+xml"/>
  <Override PartName="/ppt/charts/chart641.xml" ContentType="application/vnd.openxmlformats-officedocument.drawingml.chart+xml"/>
  <Override PartName="/ppt/charts/chart642.xml" ContentType="application/vnd.openxmlformats-officedocument.drawingml.chart+xml"/>
  <Override PartName="/ppt/charts/chart643.xml" ContentType="application/vnd.openxmlformats-officedocument.drawingml.chart+xml"/>
  <Override PartName="/ppt/charts/chart644.xml" ContentType="application/vnd.openxmlformats-officedocument.drawingml.chart+xml"/>
  <Override PartName="/ppt/charts/chart645.xml" ContentType="application/vnd.openxmlformats-officedocument.drawingml.chart+xml"/>
  <Override PartName="/ppt/charts/chart646.xml" ContentType="application/vnd.openxmlformats-officedocument.drawingml.chart+xml"/>
  <Override PartName="/ppt/charts/chart647.xml" ContentType="application/vnd.openxmlformats-officedocument.drawingml.chart+xml"/>
  <Override PartName="/ppt/charts/chart648.xml" ContentType="application/vnd.openxmlformats-officedocument.drawingml.chart+xml"/>
  <Override PartName="/ppt/charts/chart649.xml" ContentType="application/vnd.openxmlformats-officedocument.drawingml.chart+xml"/>
  <Override PartName="/ppt/charts/chart65.xml" ContentType="application/vnd.openxmlformats-officedocument.drawingml.chart+xml"/>
  <Override PartName="/ppt/charts/chart650.xml" ContentType="application/vnd.openxmlformats-officedocument.drawingml.chart+xml"/>
  <Override PartName="/ppt/charts/chart651.xml" ContentType="application/vnd.openxmlformats-officedocument.drawingml.chart+xml"/>
  <Override PartName="/ppt/charts/chart652.xml" ContentType="application/vnd.openxmlformats-officedocument.drawingml.chart+xml"/>
  <Override PartName="/ppt/charts/chart653.xml" ContentType="application/vnd.openxmlformats-officedocument.drawingml.chart+xml"/>
  <Override PartName="/ppt/charts/chart654.xml" ContentType="application/vnd.openxmlformats-officedocument.drawingml.chart+xml"/>
  <Override PartName="/ppt/charts/chart655.xml" ContentType="application/vnd.openxmlformats-officedocument.drawingml.chart+xml"/>
  <Override PartName="/ppt/charts/chart656.xml" ContentType="application/vnd.openxmlformats-officedocument.drawingml.chart+xml"/>
  <Override PartName="/ppt/charts/chart657.xml" ContentType="application/vnd.openxmlformats-officedocument.drawingml.chart+xml"/>
  <Override PartName="/ppt/charts/chart658.xml" ContentType="application/vnd.openxmlformats-officedocument.drawingml.chart+xml"/>
  <Override PartName="/ppt/charts/chart659.xml" ContentType="application/vnd.openxmlformats-officedocument.drawingml.chart+xml"/>
  <Override PartName="/ppt/charts/chart66.xml" ContentType="application/vnd.openxmlformats-officedocument.drawingml.chart+xml"/>
  <Override PartName="/ppt/charts/chart660.xml" ContentType="application/vnd.openxmlformats-officedocument.drawingml.chart+xml"/>
  <Override PartName="/ppt/charts/chart661.xml" ContentType="application/vnd.openxmlformats-officedocument.drawingml.chart+xml"/>
  <Override PartName="/ppt/charts/chart662.xml" ContentType="application/vnd.openxmlformats-officedocument.drawingml.chart+xml"/>
  <Override PartName="/ppt/charts/chart663.xml" ContentType="application/vnd.openxmlformats-officedocument.drawingml.chart+xml"/>
  <Override PartName="/ppt/charts/chart664.xml" ContentType="application/vnd.openxmlformats-officedocument.drawingml.chart+xml"/>
  <Override PartName="/ppt/charts/chart665.xml" ContentType="application/vnd.openxmlformats-officedocument.drawingml.chart+xml"/>
  <Override PartName="/ppt/charts/chart666.xml" ContentType="application/vnd.openxmlformats-officedocument.drawingml.chart+xml"/>
  <Override PartName="/ppt/charts/chart667.xml" ContentType="application/vnd.openxmlformats-officedocument.drawingml.chart+xml"/>
  <Override PartName="/ppt/charts/chart668.xml" ContentType="application/vnd.openxmlformats-officedocument.drawingml.chart+xml"/>
  <Override PartName="/ppt/charts/chart669.xml" ContentType="application/vnd.openxmlformats-officedocument.drawingml.chart+xml"/>
  <Override PartName="/ppt/charts/chart67.xml" ContentType="application/vnd.openxmlformats-officedocument.drawingml.chart+xml"/>
  <Override PartName="/ppt/charts/chart670.xml" ContentType="application/vnd.openxmlformats-officedocument.drawingml.chart+xml"/>
  <Override PartName="/ppt/charts/chart671.xml" ContentType="application/vnd.openxmlformats-officedocument.drawingml.chart+xml"/>
  <Override PartName="/ppt/charts/chart672.xml" ContentType="application/vnd.openxmlformats-officedocument.drawingml.chart+xml"/>
  <Override PartName="/ppt/charts/chart673.xml" ContentType="application/vnd.openxmlformats-officedocument.drawingml.chart+xml"/>
  <Override PartName="/ppt/charts/chart674.xml" ContentType="application/vnd.openxmlformats-officedocument.drawingml.chart+xml"/>
  <Override PartName="/ppt/charts/chart675.xml" ContentType="application/vnd.openxmlformats-officedocument.drawingml.chart+xml"/>
  <Override PartName="/ppt/charts/chart676.xml" ContentType="application/vnd.openxmlformats-officedocument.drawingml.chart+xml"/>
  <Override PartName="/ppt/charts/chart677.xml" ContentType="application/vnd.openxmlformats-officedocument.drawingml.chart+xml"/>
  <Override PartName="/ppt/charts/chart678.xml" ContentType="application/vnd.openxmlformats-officedocument.drawingml.chart+xml"/>
  <Override PartName="/ppt/charts/chart679.xml" ContentType="application/vnd.openxmlformats-officedocument.drawingml.chart+xml"/>
  <Override PartName="/ppt/charts/chart68.xml" ContentType="application/vnd.openxmlformats-officedocument.drawingml.chart+xml"/>
  <Override PartName="/ppt/charts/chart680.xml" ContentType="application/vnd.openxmlformats-officedocument.drawingml.chart+xml"/>
  <Override PartName="/ppt/charts/chart681.xml" ContentType="application/vnd.openxmlformats-officedocument.drawingml.chart+xml"/>
  <Override PartName="/ppt/charts/chart682.xml" ContentType="application/vnd.openxmlformats-officedocument.drawingml.chart+xml"/>
  <Override PartName="/ppt/charts/chart683.xml" ContentType="application/vnd.openxmlformats-officedocument.drawingml.chart+xml"/>
  <Override PartName="/ppt/charts/chart684.xml" ContentType="application/vnd.openxmlformats-officedocument.drawingml.chart+xml"/>
  <Override PartName="/ppt/charts/chart685.xml" ContentType="application/vnd.openxmlformats-officedocument.drawingml.chart+xml"/>
  <Override PartName="/ppt/charts/chart686.xml" ContentType="application/vnd.openxmlformats-officedocument.drawingml.chart+xml"/>
  <Override PartName="/ppt/charts/chart687.xml" ContentType="application/vnd.openxmlformats-officedocument.drawingml.chart+xml"/>
  <Override PartName="/ppt/charts/chart688.xml" ContentType="application/vnd.openxmlformats-officedocument.drawingml.chart+xml"/>
  <Override PartName="/ppt/charts/chart689.xml" ContentType="application/vnd.openxmlformats-officedocument.drawingml.chart+xml"/>
  <Override PartName="/ppt/charts/chart69.xml" ContentType="application/vnd.openxmlformats-officedocument.drawingml.chart+xml"/>
  <Override PartName="/ppt/charts/chart690.xml" ContentType="application/vnd.openxmlformats-officedocument.drawingml.chart+xml"/>
  <Override PartName="/ppt/charts/chart691.xml" ContentType="application/vnd.openxmlformats-officedocument.drawingml.chart+xml"/>
  <Override PartName="/ppt/charts/chart692.xml" ContentType="application/vnd.openxmlformats-officedocument.drawingml.chart+xml"/>
  <Override PartName="/ppt/charts/chart693.xml" ContentType="application/vnd.openxmlformats-officedocument.drawingml.chart+xml"/>
  <Override PartName="/ppt/charts/chart694.xml" ContentType="application/vnd.openxmlformats-officedocument.drawingml.chart+xml"/>
  <Override PartName="/ppt/charts/chart695.xml" ContentType="application/vnd.openxmlformats-officedocument.drawingml.chart+xml"/>
  <Override PartName="/ppt/charts/chart696.xml" ContentType="application/vnd.openxmlformats-officedocument.drawingml.chart+xml"/>
  <Override PartName="/ppt/charts/chart697.xml" ContentType="application/vnd.openxmlformats-officedocument.drawingml.chart+xml"/>
  <Override PartName="/ppt/charts/chart698.xml" ContentType="application/vnd.openxmlformats-officedocument.drawingml.chart+xml"/>
  <Override PartName="/ppt/charts/chart699.xml" ContentType="application/vnd.openxmlformats-officedocument.drawingml.chart+xml"/>
  <Override PartName="/ppt/charts/chart7.xml" ContentType="application/vnd.openxmlformats-officedocument.drawingml.chart+xml"/>
  <Override PartName="/ppt/charts/chart70.xml" ContentType="application/vnd.openxmlformats-officedocument.drawingml.chart+xml"/>
  <Override PartName="/ppt/charts/chart700.xml" ContentType="application/vnd.openxmlformats-officedocument.drawingml.chart+xml"/>
  <Override PartName="/ppt/charts/chart701.xml" ContentType="application/vnd.openxmlformats-officedocument.drawingml.chart+xml"/>
  <Override PartName="/ppt/charts/chart702.xml" ContentType="application/vnd.openxmlformats-officedocument.drawingml.chart+xml"/>
  <Override PartName="/ppt/charts/chart703.xml" ContentType="application/vnd.openxmlformats-officedocument.drawingml.chart+xml"/>
  <Override PartName="/ppt/charts/chart704.xml" ContentType="application/vnd.openxmlformats-officedocument.drawingml.chart+xml"/>
  <Override PartName="/ppt/charts/chart705.xml" ContentType="application/vnd.openxmlformats-officedocument.drawingml.chart+xml"/>
  <Override PartName="/ppt/charts/chart706.xml" ContentType="application/vnd.openxmlformats-officedocument.drawingml.chart+xml"/>
  <Override PartName="/ppt/charts/chart707.xml" ContentType="application/vnd.openxmlformats-officedocument.drawingml.chart+xml"/>
  <Override PartName="/ppt/charts/chart708.xml" ContentType="application/vnd.openxmlformats-officedocument.drawingml.chart+xml"/>
  <Override PartName="/ppt/charts/chart709.xml" ContentType="application/vnd.openxmlformats-officedocument.drawingml.chart+xml"/>
  <Override PartName="/ppt/charts/chart71.xml" ContentType="application/vnd.openxmlformats-officedocument.drawingml.chart+xml"/>
  <Override PartName="/ppt/charts/chart710.xml" ContentType="application/vnd.openxmlformats-officedocument.drawingml.chart+xml"/>
  <Override PartName="/ppt/charts/chart711.xml" ContentType="application/vnd.openxmlformats-officedocument.drawingml.chart+xml"/>
  <Override PartName="/ppt/charts/chart712.xml" ContentType="application/vnd.openxmlformats-officedocument.drawingml.chart+xml"/>
  <Override PartName="/ppt/charts/chart713.xml" ContentType="application/vnd.openxmlformats-officedocument.drawingml.chart+xml"/>
  <Override PartName="/ppt/charts/chart714.xml" ContentType="application/vnd.openxmlformats-officedocument.drawingml.chart+xml"/>
  <Override PartName="/ppt/charts/chart715.xml" ContentType="application/vnd.openxmlformats-officedocument.drawingml.chart+xml"/>
  <Override PartName="/ppt/charts/chart716.xml" ContentType="application/vnd.openxmlformats-officedocument.drawingml.chart+xml"/>
  <Override PartName="/ppt/charts/chart717.xml" ContentType="application/vnd.openxmlformats-officedocument.drawingml.chart+xml"/>
  <Override PartName="/ppt/charts/chart718.xml" ContentType="application/vnd.openxmlformats-officedocument.drawingml.chart+xml"/>
  <Override PartName="/ppt/charts/chart719.xml" ContentType="application/vnd.openxmlformats-officedocument.drawingml.chart+xml"/>
  <Override PartName="/ppt/charts/chart72.xml" ContentType="application/vnd.openxmlformats-officedocument.drawingml.chart+xml"/>
  <Override PartName="/ppt/charts/chart720.xml" ContentType="application/vnd.openxmlformats-officedocument.drawingml.chart+xml"/>
  <Override PartName="/ppt/charts/chart721.xml" ContentType="application/vnd.openxmlformats-officedocument.drawingml.chart+xml"/>
  <Override PartName="/ppt/charts/chart722.xml" ContentType="application/vnd.openxmlformats-officedocument.drawingml.chart+xml"/>
  <Override PartName="/ppt/charts/chart723.xml" ContentType="application/vnd.openxmlformats-officedocument.drawingml.chart+xml"/>
  <Override PartName="/ppt/charts/chart724.xml" ContentType="application/vnd.openxmlformats-officedocument.drawingml.chart+xml"/>
  <Override PartName="/ppt/charts/chart725.xml" ContentType="application/vnd.openxmlformats-officedocument.drawingml.chart+xml"/>
  <Override PartName="/ppt/charts/chart726.xml" ContentType="application/vnd.openxmlformats-officedocument.drawingml.chart+xml"/>
  <Override PartName="/ppt/charts/chart727.xml" ContentType="application/vnd.openxmlformats-officedocument.drawingml.chart+xml"/>
  <Override PartName="/ppt/charts/chart728.xml" ContentType="application/vnd.openxmlformats-officedocument.drawingml.chart+xml"/>
  <Override PartName="/ppt/charts/chart729.xml" ContentType="application/vnd.openxmlformats-officedocument.drawingml.chart+xml"/>
  <Override PartName="/ppt/charts/chart73.xml" ContentType="application/vnd.openxmlformats-officedocument.drawingml.chart+xml"/>
  <Override PartName="/ppt/charts/chart730.xml" ContentType="application/vnd.openxmlformats-officedocument.drawingml.chart+xml"/>
  <Override PartName="/ppt/charts/chart731.xml" ContentType="application/vnd.openxmlformats-officedocument.drawingml.chart+xml"/>
  <Override PartName="/ppt/charts/chart732.xml" ContentType="application/vnd.openxmlformats-officedocument.drawingml.chart+xml"/>
  <Override PartName="/ppt/charts/chart733.xml" ContentType="application/vnd.openxmlformats-officedocument.drawingml.chart+xml"/>
  <Override PartName="/ppt/charts/chart734.xml" ContentType="application/vnd.openxmlformats-officedocument.drawingml.chart+xml"/>
  <Override PartName="/ppt/charts/chart735.xml" ContentType="application/vnd.openxmlformats-officedocument.drawingml.chart+xml"/>
  <Override PartName="/ppt/charts/chart736.xml" ContentType="application/vnd.openxmlformats-officedocument.drawingml.chart+xml"/>
  <Override PartName="/ppt/charts/chart737.xml" ContentType="application/vnd.openxmlformats-officedocument.drawingml.chart+xml"/>
  <Override PartName="/ppt/charts/chart738.xml" ContentType="application/vnd.openxmlformats-officedocument.drawingml.chart+xml"/>
  <Override PartName="/ppt/charts/chart739.xml" ContentType="application/vnd.openxmlformats-officedocument.drawingml.chart+xml"/>
  <Override PartName="/ppt/charts/chart74.xml" ContentType="application/vnd.openxmlformats-officedocument.drawingml.chart+xml"/>
  <Override PartName="/ppt/charts/chart740.xml" ContentType="application/vnd.openxmlformats-officedocument.drawingml.chart+xml"/>
  <Override PartName="/ppt/charts/chart741.xml" ContentType="application/vnd.openxmlformats-officedocument.drawingml.chart+xml"/>
  <Override PartName="/ppt/charts/chart742.xml" ContentType="application/vnd.openxmlformats-officedocument.drawingml.chart+xml"/>
  <Override PartName="/ppt/charts/chart743.xml" ContentType="application/vnd.openxmlformats-officedocument.drawingml.chart+xml"/>
  <Override PartName="/ppt/charts/chart744.xml" ContentType="application/vnd.openxmlformats-officedocument.drawingml.chart+xml"/>
  <Override PartName="/ppt/charts/chart745.xml" ContentType="application/vnd.openxmlformats-officedocument.drawingml.chart+xml"/>
  <Override PartName="/ppt/charts/chart746.xml" ContentType="application/vnd.openxmlformats-officedocument.drawingml.chart+xml"/>
  <Override PartName="/ppt/charts/chart747.xml" ContentType="application/vnd.openxmlformats-officedocument.drawingml.chart+xml"/>
  <Override PartName="/ppt/charts/chart748.xml" ContentType="application/vnd.openxmlformats-officedocument.drawingml.chart+xml"/>
  <Override PartName="/ppt/charts/chart749.xml" ContentType="application/vnd.openxmlformats-officedocument.drawingml.chart+xml"/>
  <Override PartName="/ppt/charts/chart75.xml" ContentType="application/vnd.openxmlformats-officedocument.drawingml.chart+xml"/>
  <Override PartName="/ppt/charts/chart750.xml" ContentType="application/vnd.openxmlformats-officedocument.drawingml.chart+xml"/>
  <Override PartName="/ppt/charts/chart751.xml" ContentType="application/vnd.openxmlformats-officedocument.drawingml.chart+xml"/>
  <Override PartName="/ppt/charts/chart752.xml" ContentType="application/vnd.openxmlformats-officedocument.drawingml.chart+xml"/>
  <Override PartName="/ppt/charts/chart753.xml" ContentType="application/vnd.openxmlformats-officedocument.drawingml.chart+xml"/>
  <Override PartName="/ppt/charts/chart754.xml" ContentType="application/vnd.openxmlformats-officedocument.drawingml.chart+xml"/>
  <Override PartName="/ppt/charts/chart755.xml" ContentType="application/vnd.openxmlformats-officedocument.drawingml.chart+xml"/>
  <Override PartName="/ppt/charts/chart756.xml" ContentType="application/vnd.openxmlformats-officedocument.drawingml.chart+xml"/>
  <Override PartName="/ppt/charts/chart757.xml" ContentType="application/vnd.openxmlformats-officedocument.drawingml.chart+xml"/>
  <Override PartName="/ppt/charts/chart758.xml" ContentType="application/vnd.openxmlformats-officedocument.drawingml.chart+xml"/>
  <Override PartName="/ppt/charts/chart759.xml" ContentType="application/vnd.openxmlformats-officedocument.drawingml.chart+xml"/>
  <Override PartName="/ppt/charts/chart76.xml" ContentType="application/vnd.openxmlformats-officedocument.drawingml.chart+xml"/>
  <Override PartName="/ppt/charts/chart760.xml" ContentType="application/vnd.openxmlformats-officedocument.drawingml.chart+xml"/>
  <Override PartName="/ppt/charts/chart761.xml" ContentType="application/vnd.openxmlformats-officedocument.drawingml.chart+xml"/>
  <Override PartName="/ppt/charts/chart762.xml" ContentType="application/vnd.openxmlformats-officedocument.drawingml.chart+xml"/>
  <Override PartName="/ppt/charts/chart763.xml" ContentType="application/vnd.openxmlformats-officedocument.drawingml.chart+xml"/>
  <Override PartName="/ppt/charts/chart764.xml" ContentType="application/vnd.openxmlformats-officedocument.drawingml.chart+xml"/>
  <Override PartName="/ppt/charts/chart765.xml" ContentType="application/vnd.openxmlformats-officedocument.drawingml.chart+xml"/>
  <Override PartName="/ppt/charts/chart766.xml" ContentType="application/vnd.openxmlformats-officedocument.drawingml.chart+xml"/>
  <Override PartName="/ppt/charts/chart767.xml" ContentType="application/vnd.openxmlformats-officedocument.drawingml.chart+xml"/>
  <Override PartName="/ppt/charts/chart768.xml" ContentType="application/vnd.openxmlformats-officedocument.drawingml.chart+xml"/>
  <Override PartName="/ppt/charts/chart769.xml" ContentType="application/vnd.openxmlformats-officedocument.drawingml.chart+xml"/>
  <Override PartName="/ppt/charts/chart77.xml" ContentType="application/vnd.openxmlformats-officedocument.drawingml.chart+xml"/>
  <Override PartName="/ppt/charts/chart770.xml" ContentType="application/vnd.openxmlformats-officedocument.drawingml.chart+xml"/>
  <Override PartName="/ppt/charts/chart771.xml" ContentType="application/vnd.openxmlformats-officedocument.drawingml.chart+xml"/>
  <Override PartName="/ppt/charts/chart772.xml" ContentType="application/vnd.openxmlformats-officedocument.drawingml.chart+xml"/>
  <Override PartName="/ppt/charts/chart773.xml" ContentType="application/vnd.openxmlformats-officedocument.drawingml.chart+xml"/>
  <Override PartName="/ppt/charts/chart774.xml" ContentType="application/vnd.openxmlformats-officedocument.drawingml.chart+xml"/>
  <Override PartName="/ppt/charts/chart775.xml" ContentType="application/vnd.openxmlformats-officedocument.drawingml.chart+xml"/>
  <Override PartName="/ppt/charts/chart776.xml" ContentType="application/vnd.openxmlformats-officedocument.drawingml.chart+xml"/>
  <Override PartName="/ppt/charts/chart777.xml" ContentType="application/vnd.openxmlformats-officedocument.drawingml.chart+xml"/>
  <Override PartName="/ppt/charts/chart778.xml" ContentType="application/vnd.openxmlformats-officedocument.drawingml.chart+xml"/>
  <Override PartName="/ppt/charts/chart779.xml" ContentType="application/vnd.openxmlformats-officedocument.drawingml.chart+xml"/>
  <Override PartName="/ppt/charts/chart78.xml" ContentType="application/vnd.openxmlformats-officedocument.drawingml.chart+xml"/>
  <Override PartName="/ppt/charts/chart780.xml" ContentType="application/vnd.openxmlformats-officedocument.drawingml.chart+xml"/>
  <Override PartName="/ppt/charts/chart781.xml" ContentType="application/vnd.openxmlformats-officedocument.drawingml.chart+xml"/>
  <Override PartName="/ppt/charts/chart782.xml" ContentType="application/vnd.openxmlformats-officedocument.drawingml.chart+xml"/>
  <Override PartName="/ppt/charts/chart783.xml" ContentType="application/vnd.openxmlformats-officedocument.drawingml.chart+xml"/>
  <Override PartName="/ppt/charts/chart784.xml" ContentType="application/vnd.openxmlformats-officedocument.drawingml.chart+xml"/>
  <Override PartName="/ppt/charts/chart785.xml" ContentType="application/vnd.openxmlformats-officedocument.drawingml.chart+xml"/>
  <Override PartName="/ppt/charts/chart786.xml" ContentType="application/vnd.openxmlformats-officedocument.drawingml.chart+xml"/>
  <Override PartName="/ppt/charts/chart787.xml" ContentType="application/vnd.openxmlformats-officedocument.drawingml.chart+xml"/>
  <Override PartName="/ppt/charts/chart788.xml" ContentType="application/vnd.openxmlformats-officedocument.drawingml.chart+xml"/>
  <Override PartName="/ppt/charts/chart789.xml" ContentType="application/vnd.openxmlformats-officedocument.drawingml.chart+xml"/>
  <Override PartName="/ppt/charts/chart79.xml" ContentType="application/vnd.openxmlformats-officedocument.drawingml.chart+xml"/>
  <Override PartName="/ppt/charts/chart790.xml" ContentType="application/vnd.openxmlformats-officedocument.drawingml.chart+xml"/>
  <Override PartName="/ppt/charts/chart791.xml" ContentType="application/vnd.openxmlformats-officedocument.drawingml.chart+xml"/>
  <Override PartName="/ppt/charts/chart792.xml" ContentType="application/vnd.openxmlformats-officedocument.drawingml.chart+xml"/>
  <Override PartName="/ppt/charts/chart793.xml" ContentType="application/vnd.openxmlformats-officedocument.drawingml.chart+xml"/>
  <Override PartName="/ppt/charts/chart794.xml" ContentType="application/vnd.openxmlformats-officedocument.drawingml.chart+xml"/>
  <Override PartName="/ppt/charts/chart795.xml" ContentType="application/vnd.openxmlformats-officedocument.drawingml.chart+xml"/>
  <Override PartName="/ppt/charts/chart796.xml" ContentType="application/vnd.openxmlformats-officedocument.drawingml.chart+xml"/>
  <Override PartName="/ppt/charts/chart797.xml" ContentType="application/vnd.openxmlformats-officedocument.drawingml.chart+xml"/>
  <Override PartName="/ppt/charts/chart798.xml" ContentType="application/vnd.openxmlformats-officedocument.drawingml.chart+xml"/>
  <Override PartName="/ppt/charts/chart799.xml" ContentType="application/vnd.openxmlformats-officedocument.drawingml.chart+xml"/>
  <Override PartName="/ppt/charts/chart8.xml" ContentType="application/vnd.openxmlformats-officedocument.drawingml.chart+xml"/>
  <Override PartName="/ppt/charts/chart80.xml" ContentType="application/vnd.openxmlformats-officedocument.drawingml.chart+xml"/>
  <Override PartName="/ppt/charts/chart800.xml" ContentType="application/vnd.openxmlformats-officedocument.drawingml.chart+xml"/>
  <Override PartName="/ppt/charts/chart801.xml" ContentType="application/vnd.openxmlformats-officedocument.drawingml.chart+xml"/>
  <Override PartName="/ppt/charts/chart802.xml" ContentType="application/vnd.openxmlformats-officedocument.drawingml.chart+xml"/>
  <Override PartName="/ppt/charts/chart803.xml" ContentType="application/vnd.openxmlformats-officedocument.drawingml.chart+xml"/>
  <Override PartName="/ppt/charts/chart804.xml" ContentType="application/vnd.openxmlformats-officedocument.drawingml.chart+xml"/>
  <Override PartName="/ppt/charts/chart805.xml" ContentType="application/vnd.openxmlformats-officedocument.drawingml.chart+xml"/>
  <Override PartName="/ppt/charts/chart806.xml" ContentType="application/vnd.openxmlformats-officedocument.drawingml.chart+xml"/>
  <Override PartName="/ppt/charts/chart807.xml" ContentType="application/vnd.openxmlformats-officedocument.drawingml.chart+xml"/>
  <Override PartName="/ppt/charts/chart808.xml" ContentType="application/vnd.openxmlformats-officedocument.drawingml.chart+xml"/>
  <Override PartName="/ppt/charts/chart809.xml" ContentType="application/vnd.openxmlformats-officedocument.drawingml.chart+xml"/>
  <Override PartName="/ppt/charts/chart81.xml" ContentType="application/vnd.openxmlformats-officedocument.drawingml.chart+xml"/>
  <Override PartName="/ppt/charts/chart810.xml" ContentType="application/vnd.openxmlformats-officedocument.drawingml.chart+xml"/>
  <Override PartName="/ppt/charts/chart811.xml" ContentType="application/vnd.openxmlformats-officedocument.drawingml.chart+xml"/>
  <Override PartName="/ppt/charts/chart812.xml" ContentType="application/vnd.openxmlformats-officedocument.drawingml.chart+xml"/>
  <Override PartName="/ppt/charts/chart813.xml" ContentType="application/vnd.openxmlformats-officedocument.drawingml.chart+xml"/>
  <Override PartName="/ppt/charts/chart814.xml" ContentType="application/vnd.openxmlformats-officedocument.drawingml.chart+xml"/>
  <Override PartName="/ppt/charts/chart815.xml" ContentType="application/vnd.openxmlformats-officedocument.drawingml.chart+xml"/>
  <Override PartName="/ppt/charts/chart816.xml" ContentType="application/vnd.openxmlformats-officedocument.drawingml.chart+xml"/>
  <Override PartName="/ppt/charts/chart817.xml" ContentType="application/vnd.openxmlformats-officedocument.drawingml.chart+xml"/>
  <Override PartName="/ppt/charts/chart818.xml" ContentType="application/vnd.openxmlformats-officedocument.drawingml.chart+xml"/>
  <Override PartName="/ppt/charts/chart819.xml" ContentType="application/vnd.openxmlformats-officedocument.drawingml.chart+xml"/>
  <Override PartName="/ppt/charts/chart82.xml" ContentType="application/vnd.openxmlformats-officedocument.drawingml.chart+xml"/>
  <Override PartName="/ppt/charts/chart820.xml" ContentType="application/vnd.openxmlformats-officedocument.drawingml.chart+xml"/>
  <Override PartName="/ppt/charts/chart821.xml" ContentType="application/vnd.openxmlformats-officedocument.drawingml.chart+xml"/>
  <Override PartName="/ppt/charts/chart822.xml" ContentType="application/vnd.openxmlformats-officedocument.drawingml.chart+xml"/>
  <Override PartName="/ppt/charts/chart823.xml" ContentType="application/vnd.openxmlformats-officedocument.drawingml.chart+xml"/>
  <Override PartName="/ppt/charts/chart824.xml" ContentType="application/vnd.openxmlformats-officedocument.drawingml.chart+xml"/>
  <Override PartName="/ppt/charts/chart825.xml" ContentType="application/vnd.openxmlformats-officedocument.drawingml.chart+xml"/>
  <Override PartName="/ppt/charts/chart826.xml" ContentType="application/vnd.openxmlformats-officedocument.drawingml.chart+xml"/>
  <Override PartName="/ppt/charts/chart827.xml" ContentType="application/vnd.openxmlformats-officedocument.drawingml.chart+xml"/>
  <Override PartName="/ppt/charts/chart828.xml" ContentType="application/vnd.openxmlformats-officedocument.drawingml.chart+xml"/>
  <Override PartName="/ppt/charts/chart829.xml" ContentType="application/vnd.openxmlformats-officedocument.drawingml.chart+xml"/>
  <Override PartName="/ppt/charts/chart83.xml" ContentType="application/vnd.openxmlformats-officedocument.drawingml.chart+xml"/>
  <Override PartName="/ppt/charts/chart830.xml" ContentType="application/vnd.openxmlformats-officedocument.drawingml.chart+xml"/>
  <Override PartName="/ppt/charts/chart831.xml" ContentType="application/vnd.openxmlformats-officedocument.drawingml.chart+xml"/>
  <Override PartName="/ppt/charts/chart832.xml" ContentType="application/vnd.openxmlformats-officedocument.drawingml.chart+xml"/>
  <Override PartName="/ppt/charts/chart833.xml" ContentType="application/vnd.openxmlformats-officedocument.drawingml.chart+xml"/>
  <Override PartName="/ppt/charts/chart834.xml" ContentType="application/vnd.openxmlformats-officedocument.drawingml.chart+xml"/>
  <Override PartName="/ppt/charts/chart835.xml" ContentType="application/vnd.openxmlformats-officedocument.drawingml.chart+xml"/>
  <Override PartName="/ppt/charts/chart836.xml" ContentType="application/vnd.openxmlformats-officedocument.drawingml.chart+xml"/>
  <Override PartName="/ppt/charts/chart837.xml" ContentType="application/vnd.openxmlformats-officedocument.drawingml.chart+xml"/>
  <Override PartName="/ppt/charts/chart838.xml" ContentType="application/vnd.openxmlformats-officedocument.drawingml.chart+xml"/>
  <Override PartName="/ppt/charts/chart839.xml" ContentType="application/vnd.openxmlformats-officedocument.drawingml.chart+xml"/>
  <Override PartName="/ppt/charts/chart84.xml" ContentType="application/vnd.openxmlformats-officedocument.drawingml.chart+xml"/>
  <Override PartName="/ppt/charts/chart840.xml" ContentType="application/vnd.openxmlformats-officedocument.drawingml.chart+xml"/>
  <Override PartName="/ppt/charts/chart841.xml" ContentType="application/vnd.openxmlformats-officedocument.drawingml.chart+xml"/>
  <Override PartName="/ppt/charts/chart842.xml" ContentType="application/vnd.openxmlformats-officedocument.drawingml.chart+xml"/>
  <Override PartName="/ppt/charts/chart843.xml" ContentType="application/vnd.openxmlformats-officedocument.drawingml.chart+xml"/>
  <Override PartName="/ppt/charts/chart844.xml" ContentType="application/vnd.openxmlformats-officedocument.drawingml.chart+xml"/>
  <Override PartName="/ppt/charts/chart845.xml" ContentType="application/vnd.openxmlformats-officedocument.drawingml.chart+xml"/>
  <Override PartName="/ppt/charts/chart846.xml" ContentType="application/vnd.openxmlformats-officedocument.drawingml.chart+xml"/>
  <Override PartName="/ppt/charts/chart847.xml" ContentType="application/vnd.openxmlformats-officedocument.drawingml.chart+xml"/>
  <Override PartName="/ppt/charts/chart848.xml" ContentType="application/vnd.openxmlformats-officedocument.drawingml.chart+xml"/>
  <Override PartName="/ppt/charts/chart849.xml" ContentType="application/vnd.openxmlformats-officedocument.drawingml.chart+xml"/>
  <Override PartName="/ppt/charts/chart85.xml" ContentType="application/vnd.openxmlformats-officedocument.drawingml.chart+xml"/>
  <Override PartName="/ppt/charts/chart850.xml" ContentType="application/vnd.openxmlformats-officedocument.drawingml.chart+xml"/>
  <Override PartName="/ppt/charts/chart851.xml" ContentType="application/vnd.openxmlformats-officedocument.drawingml.chart+xml"/>
  <Override PartName="/ppt/charts/chart852.xml" ContentType="application/vnd.openxmlformats-officedocument.drawingml.chart+xml"/>
  <Override PartName="/ppt/charts/chart853.xml" ContentType="application/vnd.openxmlformats-officedocument.drawingml.chart+xml"/>
  <Override PartName="/ppt/charts/chart854.xml" ContentType="application/vnd.openxmlformats-officedocument.drawingml.chart+xml"/>
  <Override PartName="/ppt/charts/chart855.xml" ContentType="application/vnd.openxmlformats-officedocument.drawingml.chart+xml"/>
  <Override PartName="/ppt/charts/chart856.xml" ContentType="application/vnd.openxmlformats-officedocument.drawingml.chart+xml"/>
  <Override PartName="/ppt/charts/chart857.xml" ContentType="application/vnd.openxmlformats-officedocument.drawingml.chart+xml"/>
  <Override PartName="/ppt/charts/chart858.xml" ContentType="application/vnd.openxmlformats-officedocument.drawingml.chart+xml"/>
  <Override PartName="/ppt/charts/chart859.xml" ContentType="application/vnd.openxmlformats-officedocument.drawingml.chart+xml"/>
  <Override PartName="/ppt/charts/chart86.xml" ContentType="application/vnd.openxmlformats-officedocument.drawingml.chart+xml"/>
  <Override PartName="/ppt/charts/chart860.xml" ContentType="application/vnd.openxmlformats-officedocument.drawingml.chart+xml"/>
  <Override PartName="/ppt/charts/chart861.xml" ContentType="application/vnd.openxmlformats-officedocument.drawingml.chart+xml"/>
  <Override PartName="/ppt/charts/chart862.xml" ContentType="application/vnd.openxmlformats-officedocument.drawingml.chart+xml"/>
  <Override PartName="/ppt/charts/chart863.xml" ContentType="application/vnd.openxmlformats-officedocument.drawingml.chart+xml"/>
  <Override PartName="/ppt/charts/chart864.xml" ContentType="application/vnd.openxmlformats-officedocument.drawingml.chart+xml"/>
  <Override PartName="/ppt/charts/chart865.xml" ContentType="application/vnd.openxmlformats-officedocument.drawingml.chart+xml"/>
  <Override PartName="/ppt/charts/chart866.xml" ContentType="application/vnd.openxmlformats-officedocument.drawingml.chart+xml"/>
  <Override PartName="/ppt/charts/chart867.xml" ContentType="application/vnd.openxmlformats-officedocument.drawingml.chart+xml"/>
  <Override PartName="/ppt/charts/chart868.xml" ContentType="application/vnd.openxmlformats-officedocument.drawingml.chart+xml"/>
  <Override PartName="/ppt/charts/chart869.xml" ContentType="application/vnd.openxmlformats-officedocument.drawingml.chart+xml"/>
  <Override PartName="/ppt/charts/chart87.xml" ContentType="application/vnd.openxmlformats-officedocument.drawingml.chart+xml"/>
  <Override PartName="/ppt/charts/chart870.xml" ContentType="application/vnd.openxmlformats-officedocument.drawingml.chart+xml"/>
  <Override PartName="/ppt/charts/chart871.xml" ContentType="application/vnd.openxmlformats-officedocument.drawingml.chart+xml"/>
  <Override PartName="/ppt/charts/chart872.xml" ContentType="application/vnd.openxmlformats-officedocument.drawingml.chart+xml"/>
  <Override PartName="/ppt/charts/chart873.xml" ContentType="application/vnd.openxmlformats-officedocument.drawingml.chart+xml"/>
  <Override PartName="/ppt/charts/chart874.xml" ContentType="application/vnd.openxmlformats-officedocument.drawingml.chart+xml"/>
  <Override PartName="/ppt/charts/chart875.xml" ContentType="application/vnd.openxmlformats-officedocument.drawingml.chart+xml"/>
  <Override PartName="/ppt/charts/chart876.xml" ContentType="application/vnd.openxmlformats-officedocument.drawingml.chart+xml"/>
  <Override PartName="/ppt/charts/chart877.xml" ContentType="application/vnd.openxmlformats-officedocument.drawingml.chart+xml"/>
  <Override PartName="/ppt/charts/chart878.xml" ContentType="application/vnd.openxmlformats-officedocument.drawingml.chart+xml"/>
  <Override PartName="/ppt/charts/chart879.xml" ContentType="application/vnd.openxmlformats-officedocument.drawingml.chart+xml"/>
  <Override PartName="/ppt/charts/chart88.xml" ContentType="application/vnd.openxmlformats-officedocument.drawingml.chart+xml"/>
  <Override PartName="/ppt/charts/chart880.xml" ContentType="application/vnd.openxmlformats-officedocument.drawingml.chart+xml"/>
  <Override PartName="/ppt/charts/chart881.xml" ContentType="application/vnd.openxmlformats-officedocument.drawingml.chart+xml"/>
  <Override PartName="/ppt/charts/chart882.xml" ContentType="application/vnd.openxmlformats-officedocument.drawingml.chart+xml"/>
  <Override PartName="/ppt/charts/chart883.xml" ContentType="application/vnd.openxmlformats-officedocument.drawingml.chart+xml"/>
  <Override PartName="/ppt/charts/chart884.xml" ContentType="application/vnd.openxmlformats-officedocument.drawingml.chart+xml"/>
  <Override PartName="/ppt/charts/chart885.xml" ContentType="application/vnd.openxmlformats-officedocument.drawingml.chart+xml"/>
  <Override PartName="/ppt/charts/chart886.xml" ContentType="application/vnd.openxmlformats-officedocument.drawingml.chart+xml"/>
  <Override PartName="/ppt/charts/chart887.xml" ContentType="application/vnd.openxmlformats-officedocument.drawingml.chart+xml"/>
  <Override PartName="/ppt/charts/chart888.xml" ContentType="application/vnd.openxmlformats-officedocument.drawingml.chart+xml"/>
  <Override PartName="/ppt/charts/chart889.xml" ContentType="application/vnd.openxmlformats-officedocument.drawingml.chart+xml"/>
  <Override PartName="/ppt/charts/chart89.xml" ContentType="application/vnd.openxmlformats-officedocument.drawingml.chart+xml"/>
  <Override PartName="/ppt/charts/chart890.xml" ContentType="application/vnd.openxmlformats-officedocument.drawingml.chart+xml"/>
  <Override PartName="/ppt/charts/chart891.xml" ContentType="application/vnd.openxmlformats-officedocument.drawingml.chart+xml"/>
  <Override PartName="/ppt/charts/chart892.xml" ContentType="application/vnd.openxmlformats-officedocument.drawingml.chart+xml"/>
  <Override PartName="/ppt/charts/chart893.xml" ContentType="application/vnd.openxmlformats-officedocument.drawingml.chart+xml"/>
  <Override PartName="/ppt/charts/chart894.xml" ContentType="application/vnd.openxmlformats-officedocument.drawingml.chart+xml"/>
  <Override PartName="/ppt/charts/chart895.xml" ContentType="application/vnd.openxmlformats-officedocument.drawingml.chart+xml"/>
  <Override PartName="/ppt/charts/chart896.xml" ContentType="application/vnd.openxmlformats-officedocument.drawingml.chart+xml"/>
  <Override PartName="/ppt/charts/chart897.xml" ContentType="application/vnd.openxmlformats-officedocument.drawingml.chart+xml"/>
  <Override PartName="/ppt/charts/chart898.xml" ContentType="application/vnd.openxmlformats-officedocument.drawingml.chart+xml"/>
  <Override PartName="/ppt/charts/chart899.xml" ContentType="application/vnd.openxmlformats-officedocument.drawingml.chart+xml"/>
  <Override PartName="/ppt/charts/chart9.xml" ContentType="application/vnd.openxmlformats-officedocument.drawingml.chart+xml"/>
  <Override PartName="/ppt/charts/chart90.xml" ContentType="application/vnd.openxmlformats-officedocument.drawingml.chart+xml"/>
  <Override PartName="/ppt/charts/chart900.xml" ContentType="application/vnd.openxmlformats-officedocument.drawingml.chart+xml"/>
  <Override PartName="/ppt/charts/chart901.xml" ContentType="application/vnd.openxmlformats-officedocument.drawingml.chart+xml"/>
  <Override PartName="/ppt/charts/chart902.xml" ContentType="application/vnd.openxmlformats-officedocument.drawingml.chart+xml"/>
  <Override PartName="/ppt/charts/chart903.xml" ContentType="application/vnd.openxmlformats-officedocument.drawingml.chart+xml"/>
  <Override PartName="/ppt/charts/chart904.xml" ContentType="application/vnd.openxmlformats-officedocument.drawingml.chart+xml"/>
  <Override PartName="/ppt/charts/chart905.xml" ContentType="application/vnd.openxmlformats-officedocument.drawingml.chart+xml"/>
  <Override PartName="/ppt/charts/chart906.xml" ContentType="application/vnd.openxmlformats-officedocument.drawingml.chart+xml"/>
  <Override PartName="/ppt/charts/chart907.xml" ContentType="application/vnd.openxmlformats-officedocument.drawingml.chart+xml"/>
  <Override PartName="/ppt/charts/chart908.xml" ContentType="application/vnd.openxmlformats-officedocument.drawingml.chart+xml"/>
  <Override PartName="/ppt/charts/chart909.xml" ContentType="application/vnd.openxmlformats-officedocument.drawingml.chart+xml"/>
  <Override PartName="/ppt/charts/chart91.xml" ContentType="application/vnd.openxmlformats-officedocument.drawingml.chart+xml"/>
  <Override PartName="/ppt/charts/chart910.xml" ContentType="application/vnd.openxmlformats-officedocument.drawingml.chart+xml"/>
  <Override PartName="/ppt/charts/chart911.xml" ContentType="application/vnd.openxmlformats-officedocument.drawingml.chart+xml"/>
  <Override PartName="/ppt/charts/chart912.xml" ContentType="application/vnd.openxmlformats-officedocument.drawingml.chart+xml"/>
  <Override PartName="/ppt/charts/chart913.xml" ContentType="application/vnd.openxmlformats-officedocument.drawingml.chart+xml"/>
  <Override PartName="/ppt/charts/chart914.xml" ContentType="application/vnd.openxmlformats-officedocument.drawingml.chart+xml"/>
  <Override PartName="/ppt/charts/chart915.xml" ContentType="application/vnd.openxmlformats-officedocument.drawingml.chart+xml"/>
  <Override PartName="/ppt/charts/chart916.xml" ContentType="application/vnd.openxmlformats-officedocument.drawingml.chart+xml"/>
  <Override PartName="/ppt/charts/chart917.xml" ContentType="application/vnd.openxmlformats-officedocument.drawingml.chart+xml"/>
  <Override PartName="/ppt/charts/chart918.xml" ContentType="application/vnd.openxmlformats-officedocument.drawingml.chart+xml"/>
  <Override PartName="/ppt/charts/chart919.xml" ContentType="application/vnd.openxmlformats-officedocument.drawingml.chart+xml"/>
  <Override PartName="/ppt/charts/chart92.xml" ContentType="application/vnd.openxmlformats-officedocument.drawingml.chart+xml"/>
  <Override PartName="/ppt/charts/chart920.xml" ContentType="application/vnd.openxmlformats-officedocument.drawingml.chart+xml"/>
  <Override PartName="/ppt/charts/chart921.xml" ContentType="application/vnd.openxmlformats-officedocument.drawingml.chart+xml"/>
  <Override PartName="/ppt/charts/chart922.xml" ContentType="application/vnd.openxmlformats-officedocument.drawingml.chart+xml"/>
  <Override PartName="/ppt/charts/chart923.xml" ContentType="application/vnd.openxmlformats-officedocument.drawingml.chart+xml"/>
  <Override PartName="/ppt/charts/chart924.xml" ContentType="application/vnd.openxmlformats-officedocument.drawingml.chart+xml"/>
  <Override PartName="/ppt/charts/chart925.xml" ContentType="application/vnd.openxmlformats-officedocument.drawingml.chart+xml"/>
  <Override PartName="/ppt/charts/chart926.xml" ContentType="application/vnd.openxmlformats-officedocument.drawingml.chart+xml"/>
  <Override PartName="/ppt/charts/chart927.xml" ContentType="application/vnd.openxmlformats-officedocument.drawingml.chart+xml"/>
  <Override PartName="/ppt/charts/chart928.xml" ContentType="application/vnd.openxmlformats-officedocument.drawingml.chart+xml"/>
  <Override PartName="/ppt/charts/chart929.xml" ContentType="application/vnd.openxmlformats-officedocument.drawingml.chart+xml"/>
  <Override PartName="/ppt/charts/chart93.xml" ContentType="application/vnd.openxmlformats-officedocument.drawingml.chart+xml"/>
  <Override PartName="/ppt/charts/chart930.xml" ContentType="application/vnd.openxmlformats-officedocument.drawingml.chart+xml"/>
  <Override PartName="/ppt/charts/chart931.xml" ContentType="application/vnd.openxmlformats-officedocument.drawingml.chart+xml"/>
  <Override PartName="/ppt/charts/chart932.xml" ContentType="application/vnd.openxmlformats-officedocument.drawingml.chart+xml"/>
  <Override PartName="/ppt/charts/chart933.xml" ContentType="application/vnd.openxmlformats-officedocument.drawingml.chart+xml"/>
  <Override PartName="/ppt/charts/chart934.xml" ContentType="application/vnd.openxmlformats-officedocument.drawingml.chart+xml"/>
  <Override PartName="/ppt/charts/chart935.xml" ContentType="application/vnd.openxmlformats-officedocument.drawingml.chart+xml"/>
  <Override PartName="/ppt/charts/chart936.xml" ContentType="application/vnd.openxmlformats-officedocument.drawingml.chart+xml"/>
  <Override PartName="/ppt/charts/chart937.xml" ContentType="application/vnd.openxmlformats-officedocument.drawingml.chart+xml"/>
  <Override PartName="/ppt/charts/chart938.xml" ContentType="application/vnd.openxmlformats-officedocument.drawingml.chart+xml"/>
  <Override PartName="/ppt/charts/chart939.xml" ContentType="application/vnd.openxmlformats-officedocument.drawingml.chart+xml"/>
  <Override PartName="/ppt/charts/chart94.xml" ContentType="application/vnd.openxmlformats-officedocument.drawingml.chart+xml"/>
  <Override PartName="/ppt/charts/chart940.xml" ContentType="application/vnd.openxmlformats-officedocument.drawingml.chart+xml"/>
  <Override PartName="/ppt/charts/chart941.xml" ContentType="application/vnd.openxmlformats-officedocument.drawingml.chart+xml"/>
  <Override PartName="/ppt/charts/chart942.xml" ContentType="application/vnd.openxmlformats-officedocument.drawingml.chart+xml"/>
  <Override PartName="/ppt/charts/chart943.xml" ContentType="application/vnd.openxmlformats-officedocument.drawingml.chart+xml"/>
  <Override PartName="/ppt/charts/chart944.xml" ContentType="application/vnd.openxmlformats-officedocument.drawingml.chart+xml"/>
  <Override PartName="/ppt/charts/chart945.xml" ContentType="application/vnd.openxmlformats-officedocument.drawingml.chart+xml"/>
  <Override PartName="/ppt/charts/chart946.xml" ContentType="application/vnd.openxmlformats-officedocument.drawingml.chart+xml"/>
  <Override PartName="/ppt/charts/chart947.xml" ContentType="application/vnd.openxmlformats-officedocument.drawingml.chart+xml"/>
  <Override PartName="/ppt/charts/chart948.xml" ContentType="application/vnd.openxmlformats-officedocument.drawingml.chart+xml"/>
  <Override PartName="/ppt/charts/chart949.xml" ContentType="application/vnd.openxmlformats-officedocument.drawingml.chart+xml"/>
  <Override PartName="/ppt/charts/chart95.xml" ContentType="application/vnd.openxmlformats-officedocument.drawingml.chart+xml"/>
  <Override PartName="/ppt/charts/chart950.xml" ContentType="application/vnd.openxmlformats-officedocument.drawingml.chart+xml"/>
  <Override PartName="/ppt/charts/chart951.xml" ContentType="application/vnd.openxmlformats-officedocument.drawingml.chart+xml"/>
  <Override PartName="/ppt/charts/chart952.xml" ContentType="application/vnd.openxmlformats-officedocument.drawingml.chart+xml"/>
  <Override PartName="/ppt/charts/chart953.xml" ContentType="application/vnd.openxmlformats-officedocument.drawingml.chart+xml"/>
  <Override PartName="/ppt/charts/chart954.xml" ContentType="application/vnd.openxmlformats-officedocument.drawingml.chart+xml"/>
  <Override PartName="/ppt/charts/chart955.xml" ContentType="application/vnd.openxmlformats-officedocument.drawingml.chart+xml"/>
  <Override PartName="/ppt/charts/chart956.xml" ContentType="application/vnd.openxmlformats-officedocument.drawingml.chart+xml"/>
  <Override PartName="/ppt/charts/chart957.xml" ContentType="application/vnd.openxmlformats-officedocument.drawingml.chart+xml"/>
  <Override PartName="/ppt/charts/chart958.xml" ContentType="application/vnd.openxmlformats-officedocument.drawingml.chart+xml"/>
  <Override PartName="/ppt/charts/chart959.xml" ContentType="application/vnd.openxmlformats-officedocument.drawingml.chart+xml"/>
  <Override PartName="/ppt/charts/chart96.xml" ContentType="application/vnd.openxmlformats-officedocument.drawingml.chart+xml"/>
  <Override PartName="/ppt/charts/chart960.xml" ContentType="application/vnd.openxmlformats-officedocument.drawingml.chart+xml"/>
  <Override PartName="/ppt/charts/chart961.xml" ContentType="application/vnd.openxmlformats-officedocument.drawingml.chart+xml"/>
  <Override PartName="/ppt/charts/chart962.xml" ContentType="application/vnd.openxmlformats-officedocument.drawingml.chart+xml"/>
  <Override PartName="/ppt/charts/chart963.xml" ContentType="application/vnd.openxmlformats-officedocument.drawingml.chart+xml"/>
  <Override PartName="/ppt/charts/chart964.xml" ContentType="application/vnd.openxmlformats-officedocument.drawingml.chart+xml"/>
  <Override PartName="/ppt/charts/chart965.xml" ContentType="application/vnd.openxmlformats-officedocument.drawingml.chart+xml"/>
  <Override PartName="/ppt/charts/chart966.xml" ContentType="application/vnd.openxmlformats-officedocument.drawingml.chart+xml"/>
  <Override PartName="/ppt/charts/chart967.xml" ContentType="application/vnd.openxmlformats-officedocument.drawingml.chart+xml"/>
  <Override PartName="/ppt/charts/chart968.xml" ContentType="application/vnd.openxmlformats-officedocument.drawingml.chart+xml"/>
  <Override PartName="/ppt/charts/chart969.xml" ContentType="application/vnd.openxmlformats-officedocument.drawingml.chart+xml"/>
  <Override PartName="/ppt/charts/chart97.xml" ContentType="application/vnd.openxmlformats-officedocument.drawingml.chart+xml"/>
  <Override PartName="/ppt/charts/chart970.xml" ContentType="application/vnd.openxmlformats-officedocument.drawingml.chart+xml"/>
  <Override PartName="/ppt/charts/chart971.xml" ContentType="application/vnd.openxmlformats-officedocument.drawingml.chart+xml"/>
  <Override PartName="/ppt/charts/chart972.xml" ContentType="application/vnd.openxmlformats-officedocument.drawingml.chart+xml"/>
  <Override PartName="/ppt/charts/chart973.xml" ContentType="application/vnd.openxmlformats-officedocument.drawingml.chart+xml"/>
  <Override PartName="/ppt/charts/chart974.xml" ContentType="application/vnd.openxmlformats-officedocument.drawingml.chart+xml"/>
  <Override PartName="/ppt/charts/chart975.xml" ContentType="application/vnd.openxmlformats-officedocument.drawingml.chart+xml"/>
  <Override PartName="/ppt/charts/chart976.xml" ContentType="application/vnd.openxmlformats-officedocument.drawingml.chart+xml"/>
  <Override PartName="/ppt/charts/chart977.xml" ContentType="application/vnd.openxmlformats-officedocument.drawingml.chart+xml"/>
  <Override PartName="/ppt/charts/chart978.xml" ContentType="application/vnd.openxmlformats-officedocument.drawingml.chart+xml"/>
  <Override PartName="/ppt/charts/chart979.xml" ContentType="application/vnd.openxmlformats-officedocument.drawingml.chart+xml"/>
  <Override PartName="/ppt/charts/chart98.xml" ContentType="application/vnd.openxmlformats-officedocument.drawingml.chart+xml"/>
  <Override PartName="/ppt/charts/chart980.xml" ContentType="application/vnd.openxmlformats-officedocument.drawingml.chart+xml"/>
  <Override PartName="/ppt/charts/chart981.xml" ContentType="application/vnd.openxmlformats-officedocument.drawingml.chart+xml"/>
  <Override PartName="/ppt/charts/chart982.xml" ContentType="application/vnd.openxmlformats-officedocument.drawingml.chart+xml"/>
  <Override PartName="/ppt/charts/chart983.xml" ContentType="application/vnd.openxmlformats-officedocument.drawingml.chart+xml"/>
  <Override PartName="/ppt/charts/chart984.xml" ContentType="application/vnd.openxmlformats-officedocument.drawingml.chart+xml"/>
  <Override PartName="/ppt/charts/chart985.xml" ContentType="application/vnd.openxmlformats-officedocument.drawingml.chart+xml"/>
  <Override PartName="/ppt/charts/chart986.xml" ContentType="application/vnd.openxmlformats-officedocument.drawingml.chart+xml"/>
  <Override PartName="/ppt/charts/chart987.xml" ContentType="application/vnd.openxmlformats-officedocument.drawingml.chart+xml"/>
  <Override PartName="/ppt/charts/chart988.xml" ContentType="application/vnd.openxmlformats-officedocument.drawingml.chart+xml"/>
  <Override PartName="/ppt/charts/chart989.xml" ContentType="application/vnd.openxmlformats-officedocument.drawingml.chart+xml"/>
  <Override PartName="/ppt/charts/chart99.xml" ContentType="application/vnd.openxmlformats-officedocument.drawingml.chart+xml"/>
  <Override PartName="/ppt/charts/chart990.xml" ContentType="application/vnd.openxmlformats-officedocument.drawingml.chart+xml"/>
  <Override PartName="/ppt/charts/chart991.xml" ContentType="application/vnd.openxmlformats-officedocument.drawingml.chart+xml"/>
  <Override PartName="/ppt/charts/chart992.xml" ContentType="application/vnd.openxmlformats-officedocument.drawingml.chart+xml"/>
  <Override PartName="/ppt/charts/chart993.xml" ContentType="application/vnd.openxmlformats-officedocument.drawingml.chart+xml"/>
  <Override PartName="/ppt/charts/chart994.xml" ContentType="application/vnd.openxmlformats-officedocument.drawingml.chart+xml"/>
  <Override PartName="/ppt/charts/chart995.xml" ContentType="application/vnd.openxmlformats-officedocument.drawingml.chart+xml"/>
  <Override PartName="/ppt/charts/chart996.xml" ContentType="application/vnd.openxmlformats-officedocument.drawingml.chart+xml"/>
  <Override PartName="/ppt/charts/chart997.xml" ContentType="application/vnd.openxmlformats-officedocument.drawingml.chart+xml"/>
  <Override PartName="/ppt/charts/chart998.xml" ContentType="application/vnd.openxmlformats-officedocument.drawingml.chart+xml"/>
  <Override PartName="/ppt/charts/chart999.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00.xml" ContentType="application/vnd.openxmlformats-officedocument.presentationml.notesSlide+xml"/>
  <Override PartName="/ppt/notesSlides/notesSlide1002.xml" ContentType="application/vnd.openxmlformats-officedocument.presentationml.notesSlide+xml"/>
  <Override PartName="/ppt/notesSlides/notesSlide1003.xml" ContentType="application/vnd.openxmlformats-officedocument.presentationml.notesSlide+xml"/>
  <Override PartName="/ppt/notesSlides/notesSlide1004.xml" ContentType="application/vnd.openxmlformats-officedocument.presentationml.notesSlide+xml"/>
  <Override PartName="/ppt/notesSlides/notesSlide1005.xml" ContentType="application/vnd.openxmlformats-officedocument.presentationml.notesSlide+xml"/>
  <Override PartName="/ppt/notesSlides/notesSlide1006.xml" ContentType="application/vnd.openxmlformats-officedocument.presentationml.notesSlide+xml"/>
  <Override PartName="/ppt/notesSlides/notesSlide1007.xml" ContentType="application/vnd.openxmlformats-officedocument.presentationml.notesSlide+xml"/>
  <Override PartName="/ppt/notesSlides/notesSlide1009.xml" ContentType="application/vnd.openxmlformats-officedocument.presentationml.notesSlide+xml"/>
  <Override PartName="/ppt/notesSlides/notesSlide101.xml" ContentType="application/vnd.openxmlformats-officedocument.presentationml.notesSlide+xml"/>
  <Override PartName="/ppt/notesSlides/notesSlide1011.xml" ContentType="application/vnd.openxmlformats-officedocument.presentationml.notesSlide+xml"/>
  <Override PartName="/ppt/notesSlides/notesSlide1012.xml" ContentType="application/vnd.openxmlformats-officedocument.presentationml.notesSlide+xml"/>
  <Override PartName="/ppt/notesSlides/notesSlide1013.xml" ContentType="application/vnd.openxmlformats-officedocument.presentationml.notesSlide+xml"/>
  <Override PartName="/ppt/notesSlides/notesSlide1014.xml" ContentType="application/vnd.openxmlformats-officedocument.presentationml.notesSlide+xml"/>
  <Override PartName="/ppt/notesSlides/notesSlide1015.xml" ContentType="application/vnd.openxmlformats-officedocument.presentationml.notesSlide+xml"/>
  <Override PartName="/ppt/notesSlides/notesSlide1016.xml" ContentType="application/vnd.openxmlformats-officedocument.presentationml.notesSlide+xml"/>
  <Override PartName="/ppt/notesSlides/notesSlide1017.xml" ContentType="application/vnd.openxmlformats-officedocument.presentationml.notesSlide+xml"/>
  <Override PartName="/ppt/notesSlides/notesSlide1018.xml" ContentType="application/vnd.openxmlformats-officedocument.presentationml.notesSlide+xml"/>
  <Override PartName="/ppt/notesSlides/notesSlide1019.xml" ContentType="application/vnd.openxmlformats-officedocument.presentationml.notesSlide+xml"/>
  <Override PartName="/ppt/notesSlides/notesSlide102.xml" ContentType="application/vnd.openxmlformats-officedocument.presentationml.notesSlide+xml"/>
  <Override PartName="/ppt/notesSlides/notesSlide1020.xml" ContentType="application/vnd.openxmlformats-officedocument.presentationml.notesSlide+xml"/>
  <Override PartName="/ppt/notesSlides/notesSlide1021.xml" ContentType="application/vnd.openxmlformats-officedocument.presentationml.notesSlide+xml"/>
  <Override PartName="/ppt/notesSlides/notesSlide1022.xml" ContentType="application/vnd.openxmlformats-officedocument.presentationml.notesSlide+xml"/>
  <Override PartName="/ppt/notesSlides/notesSlide1023.xml" ContentType="application/vnd.openxmlformats-officedocument.presentationml.notesSlide+xml"/>
  <Override PartName="/ppt/notesSlides/notesSlide1024.xml" ContentType="application/vnd.openxmlformats-officedocument.presentationml.notesSlide+xml"/>
  <Override PartName="/ppt/notesSlides/notesSlide1025.xml" ContentType="application/vnd.openxmlformats-officedocument.presentationml.notesSlide+xml"/>
  <Override PartName="/ppt/notesSlides/notesSlide1026.xml" ContentType="application/vnd.openxmlformats-officedocument.presentationml.notesSlide+xml"/>
  <Override PartName="/ppt/notesSlides/notesSlide1027.xml" ContentType="application/vnd.openxmlformats-officedocument.presentationml.notesSlide+xml"/>
  <Override PartName="/ppt/notesSlides/notesSlide1029.xml" ContentType="application/vnd.openxmlformats-officedocument.presentationml.notesSlide+xml"/>
  <Override PartName="/ppt/notesSlides/notesSlide103.xml" ContentType="application/vnd.openxmlformats-officedocument.presentationml.notesSlide+xml"/>
  <Override PartName="/ppt/notesSlides/notesSlide1031.xml" ContentType="application/vnd.openxmlformats-officedocument.presentationml.notesSlide+xml"/>
  <Override PartName="/ppt/notesSlides/notesSlide1032.xml" ContentType="application/vnd.openxmlformats-officedocument.presentationml.notesSlide+xml"/>
  <Override PartName="/ppt/notesSlides/notesSlide1033.xml" ContentType="application/vnd.openxmlformats-officedocument.presentationml.notesSlide+xml"/>
  <Override PartName="/ppt/notesSlides/notesSlide1034.xml" ContentType="application/vnd.openxmlformats-officedocument.presentationml.notesSlide+xml"/>
  <Override PartName="/ppt/notesSlides/notesSlide1035.xml" ContentType="application/vnd.openxmlformats-officedocument.presentationml.notesSlide+xml"/>
  <Override PartName="/ppt/notesSlides/notesSlide1036.xml" ContentType="application/vnd.openxmlformats-officedocument.presentationml.notesSlide+xml"/>
  <Override PartName="/ppt/notesSlides/notesSlide1038.xml" ContentType="application/vnd.openxmlformats-officedocument.presentationml.notesSlide+xml"/>
  <Override PartName="/ppt/notesSlides/notesSlide104.xml" ContentType="application/vnd.openxmlformats-officedocument.presentationml.notesSlide+xml"/>
  <Override PartName="/ppt/notesSlides/notesSlide1040.xml" ContentType="application/vnd.openxmlformats-officedocument.presentationml.notesSlide+xml"/>
  <Override PartName="/ppt/notesSlides/notesSlide1041.xml" ContentType="application/vnd.openxmlformats-officedocument.presentationml.notesSlide+xml"/>
  <Override PartName="/ppt/notesSlides/notesSlide1042.xml" ContentType="application/vnd.openxmlformats-officedocument.presentationml.notesSlide+xml"/>
  <Override PartName="/ppt/notesSlides/notesSlide1043.xml" ContentType="application/vnd.openxmlformats-officedocument.presentationml.notesSlide+xml"/>
  <Override PartName="/ppt/notesSlides/notesSlide1044.xml" ContentType="application/vnd.openxmlformats-officedocument.presentationml.notesSlide+xml"/>
  <Override PartName="/ppt/notesSlides/notesSlide1045.xml" ContentType="application/vnd.openxmlformats-officedocument.presentationml.notesSlide+xml"/>
  <Override PartName="/ppt/notesSlides/notesSlide1046.xml" ContentType="application/vnd.openxmlformats-officedocument.presentationml.notesSlide+xml"/>
  <Override PartName="/ppt/notesSlides/notesSlide1047.xml" ContentType="application/vnd.openxmlformats-officedocument.presentationml.notesSlide+xml"/>
  <Override PartName="/ppt/notesSlides/notesSlide1048.xml" ContentType="application/vnd.openxmlformats-officedocument.presentationml.notesSlide+xml"/>
  <Override PartName="/ppt/notesSlides/notesSlide1049.xml" ContentType="application/vnd.openxmlformats-officedocument.presentationml.notesSlide+xml"/>
  <Override PartName="/ppt/notesSlides/notesSlide105.xml" ContentType="application/vnd.openxmlformats-officedocument.presentationml.notesSlide+xml"/>
  <Override PartName="/ppt/notesSlides/notesSlide1050.xml" ContentType="application/vnd.openxmlformats-officedocument.presentationml.notesSlide+xml"/>
  <Override PartName="/ppt/notesSlides/notesSlide1051.xml" ContentType="application/vnd.openxmlformats-officedocument.presentationml.notesSlide+xml"/>
  <Override PartName="/ppt/notesSlides/notesSlide1052.xml" ContentType="application/vnd.openxmlformats-officedocument.presentationml.notesSlide+xml"/>
  <Override PartName="/ppt/notesSlides/notesSlide1053.xml" ContentType="application/vnd.openxmlformats-officedocument.presentationml.notesSlide+xml"/>
  <Override PartName="/ppt/notesSlides/notesSlide1054.xml" ContentType="application/vnd.openxmlformats-officedocument.presentationml.notesSlide+xml"/>
  <Override PartName="/ppt/notesSlides/notesSlide1055.xml" ContentType="application/vnd.openxmlformats-officedocument.presentationml.notesSlide+xml"/>
  <Override PartName="/ppt/notesSlides/notesSlide1056.xml" ContentType="application/vnd.openxmlformats-officedocument.presentationml.notesSlide+xml"/>
  <Override PartName="/ppt/notesSlides/notesSlide1058.xml" ContentType="application/vnd.openxmlformats-officedocument.presentationml.notesSlide+xml"/>
  <Override PartName="/ppt/notesSlides/notesSlide106.xml" ContentType="application/vnd.openxmlformats-officedocument.presentationml.notesSlide+xml"/>
  <Override PartName="/ppt/notesSlides/notesSlide1060.xml" ContentType="application/vnd.openxmlformats-officedocument.presentationml.notesSlide+xml"/>
  <Override PartName="/ppt/notesSlides/notesSlide1061.xml" ContentType="application/vnd.openxmlformats-officedocument.presentationml.notesSlide+xml"/>
  <Override PartName="/ppt/notesSlides/notesSlide1062.xml" ContentType="application/vnd.openxmlformats-officedocument.presentationml.notesSlide+xml"/>
  <Override PartName="/ppt/notesSlides/notesSlide1063.xml" ContentType="application/vnd.openxmlformats-officedocument.presentationml.notesSlide+xml"/>
  <Override PartName="/ppt/notesSlides/notesSlide1064.xml" ContentType="application/vnd.openxmlformats-officedocument.presentationml.notesSlide+xml"/>
  <Override PartName="/ppt/notesSlides/notesSlide1065.xml" ContentType="application/vnd.openxmlformats-officedocument.presentationml.notesSlide+xml"/>
  <Override PartName="/ppt/notesSlides/notesSlide1067.xml" ContentType="application/vnd.openxmlformats-officedocument.presentationml.notesSlide+xml"/>
  <Override PartName="/ppt/notesSlides/notesSlide1069.xml" ContentType="application/vnd.openxmlformats-officedocument.presentationml.notesSlide+xml"/>
  <Override PartName="/ppt/notesSlides/notesSlide107.xml" ContentType="application/vnd.openxmlformats-officedocument.presentationml.notesSlide+xml"/>
  <Override PartName="/ppt/notesSlides/notesSlide1070.xml" ContentType="application/vnd.openxmlformats-officedocument.presentationml.notesSlide+xml"/>
  <Override PartName="/ppt/notesSlides/notesSlide1071.xml" ContentType="application/vnd.openxmlformats-officedocument.presentationml.notesSlide+xml"/>
  <Override PartName="/ppt/notesSlides/notesSlide1072.xml" ContentType="application/vnd.openxmlformats-officedocument.presentationml.notesSlide+xml"/>
  <Override PartName="/ppt/notesSlides/notesSlide1073.xml" ContentType="application/vnd.openxmlformats-officedocument.presentationml.notesSlide+xml"/>
  <Override PartName="/ppt/notesSlides/notesSlide1074.xml" ContentType="application/vnd.openxmlformats-officedocument.presentationml.notesSlide+xml"/>
  <Override PartName="/ppt/notesSlides/notesSlide1075.xml" ContentType="application/vnd.openxmlformats-officedocument.presentationml.notesSlide+xml"/>
  <Override PartName="/ppt/notesSlides/notesSlide1076.xml" ContentType="application/vnd.openxmlformats-officedocument.presentationml.notesSlide+xml"/>
  <Override PartName="/ppt/notesSlides/notesSlide1077.xml" ContentType="application/vnd.openxmlformats-officedocument.presentationml.notesSlide+xml"/>
  <Override PartName="/ppt/notesSlides/notesSlide1078.xml" ContentType="application/vnd.openxmlformats-officedocument.presentationml.notesSlide+xml"/>
  <Override PartName="/ppt/notesSlides/notesSlide1079.xml" ContentType="application/vnd.openxmlformats-officedocument.presentationml.notesSlide+xml"/>
  <Override PartName="/ppt/notesSlides/notesSlide108.xml" ContentType="application/vnd.openxmlformats-officedocument.presentationml.notesSlide+xml"/>
  <Override PartName="/ppt/notesSlides/notesSlide1080.xml" ContentType="application/vnd.openxmlformats-officedocument.presentationml.notesSlide+xml"/>
  <Override PartName="/ppt/notesSlides/notesSlide1081.xml" ContentType="application/vnd.openxmlformats-officedocument.presentationml.notesSlide+xml"/>
  <Override PartName="/ppt/notesSlides/notesSlide1082.xml" ContentType="application/vnd.openxmlformats-officedocument.presentationml.notesSlide+xml"/>
  <Override PartName="/ppt/notesSlides/notesSlide1083.xml" ContentType="application/vnd.openxmlformats-officedocument.presentationml.notesSlide+xml"/>
  <Override PartName="/ppt/notesSlides/notesSlide1084.xml" ContentType="application/vnd.openxmlformats-officedocument.presentationml.notesSlide+xml"/>
  <Override PartName="/ppt/notesSlides/notesSlide1085.xml" ContentType="application/vnd.openxmlformats-officedocument.presentationml.notesSlide+xml"/>
  <Override PartName="/ppt/notesSlides/notesSlide1087.xml" ContentType="application/vnd.openxmlformats-officedocument.presentationml.notesSlide+xml"/>
  <Override PartName="/ppt/notesSlides/notesSlide1089.xml" ContentType="application/vnd.openxmlformats-officedocument.presentationml.notesSlide+xml"/>
  <Override PartName="/ppt/notesSlides/notesSlide109.xml" ContentType="application/vnd.openxmlformats-officedocument.presentationml.notesSlide+xml"/>
  <Override PartName="/ppt/notesSlides/notesSlide1090.xml" ContentType="application/vnd.openxmlformats-officedocument.presentationml.notesSlide+xml"/>
  <Override PartName="/ppt/notesSlides/notesSlide1091.xml" ContentType="application/vnd.openxmlformats-officedocument.presentationml.notesSlide+xml"/>
  <Override PartName="/ppt/notesSlides/notesSlide1092.xml" ContentType="application/vnd.openxmlformats-officedocument.presentationml.notesSlide+xml"/>
  <Override PartName="/ppt/notesSlides/notesSlide1093.xml" ContentType="application/vnd.openxmlformats-officedocument.presentationml.notesSlide+xml"/>
  <Override PartName="/ppt/notesSlides/notesSlide1094.xml" ContentType="application/vnd.openxmlformats-officedocument.presentationml.notesSlide+xml"/>
  <Override PartName="/ppt/notesSlides/notesSlide1096.xml" ContentType="application/vnd.openxmlformats-officedocument.presentationml.notesSlide+xml"/>
  <Override PartName="/ppt/notesSlides/notesSlide1098.xml" ContentType="application/vnd.openxmlformats-officedocument.presentationml.notesSlide+xml"/>
  <Override PartName="/ppt/notesSlides/notesSlide109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00.xml" ContentType="application/vnd.openxmlformats-officedocument.presentationml.notesSlide+xml"/>
  <Override PartName="/ppt/notesSlides/notesSlide1101.xml" ContentType="application/vnd.openxmlformats-officedocument.presentationml.notesSlide+xml"/>
  <Override PartName="/ppt/notesSlides/notesSlide1102.xml" ContentType="application/vnd.openxmlformats-officedocument.presentationml.notesSlide+xml"/>
  <Override PartName="/ppt/notesSlides/notesSlide1103.xml" ContentType="application/vnd.openxmlformats-officedocument.presentationml.notesSlide+xml"/>
  <Override PartName="/ppt/notesSlides/notesSlide1104.xml" ContentType="application/vnd.openxmlformats-officedocument.presentationml.notesSlide+xml"/>
  <Override PartName="/ppt/notesSlides/notesSlide1105.xml" ContentType="application/vnd.openxmlformats-officedocument.presentationml.notesSlide+xml"/>
  <Override PartName="/ppt/notesSlides/notesSlide1106.xml" ContentType="application/vnd.openxmlformats-officedocument.presentationml.notesSlide+xml"/>
  <Override PartName="/ppt/notesSlides/notesSlide1107.xml" ContentType="application/vnd.openxmlformats-officedocument.presentationml.notesSlide+xml"/>
  <Override PartName="/ppt/notesSlides/notesSlide1108.xml" ContentType="application/vnd.openxmlformats-officedocument.presentationml.notesSlide+xml"/>
  <Override PartName="/ppt/notesSlides/notesSlide1109.xml" ContentType="application/vnd.openxmlformats-officedocument.presentationml.notesSlide+xml"/>
  <Override PartName="/ppt/notesSlides/notesSlide111.xml" ContentType="application/vnd.openxmlformats-officedocument.presentationml.notesSlide+xml"/>
  <Override PartName="/ppt/notesSlides/notesSlide1110.xml" ContentType="application/vnd.openxmlformats-officedocument.presentationml.notesSlide+xml"/>
  <Override PartName="/ppt/notesSlides/notesSlide1111.xml" ContentType="application/vnd.openxmlformats-officedocument.presentationml.notesSlide+xml"/>
  <Override PartName="/ppt/notesSlides/notesSlide1112.xml" ContentType="application/vnd.openxmlformats-officedocument.presentationml.notesSlide+xml"/>
  <Override PartName="/ppt/notesSlides/notesSlide1113.xml" ContentType="application/vnd.openxmlformats-officedocument.presentationml.notesSlide+xml"/>
  <Override PartName="/ppt/notesSlides/notesSlide1114.xml" ContentType="application/vnd.openxmlformats-officedocument.presentationml.notesSlide+xml"/>
  <Override PartName="/ppt/notesSlides/notesSlide1116.xml" ContentType="application/vnd.openxmlformats-officedocument.presentationml.notesSlide+xml"/>
  <Override PartName="/ppt/notesSlides/notesSlide1118.xml" ContentType="application/vnd.openxmlformats-officedocument.presentationml.notesSlide+xml"/>
  <Override PartName="/ppt/notesSlides/notesSlide1119.xml" ContentType="application/vnd.openxmlformats-officedocument.presentationml.notesSlide+xml"/>
  <Override PartName="/ppt/notesSlides/notesSlide112.xml" ContentType="application/vnd.openxmlformats-officedocument.presentationml.notesSlide+xml"/>
  <Override PartName="/ppt/notesSlides/notesSlide1120.xml" ContentType="application/vnd.openxmlformats-officedocument.presentationml.notesSlide+xml"/>
  <Override PartName="/ppt/notesSlides/notesSlide1121.xml" ContentType="application/vnd.openxmlformats-officedocument.presentationml.notesSlide+xml"/>
  <Override PartName="/ppt/notesSlides/notesSlide1122.xml" ContentType="application/vnd.openxmlformats-officedocument.presentationml.notesSlide+xml"/>
  <Override PartName="/ppt/notesSlides/notesSlide1123.xml" ContentType="application/vnd.openxmlformats-officedocument.presentationml.notesSlide+xml"/>
  <Override PartName="/ppt/notesSlides/notesSlide1125.xml" ContentType="application/vnd.openxmlformats-officedocument.presentationml.notesSlide+xml"/>
  <Override PartName="/ppt/notesSlides/notesSlide1127.xml" ContentType="application/vnd.openxmlformats-officedocument.presentationml.notesSlide+xml"/>
  <Override PartName="/ppt/notesSlides/notesSlide1128.xml" ContentType="application/vnd.openxmlformats-officedocument.presentationml.notesSlide+xml"/>
  <Override PartName="/ppt/notesSlides/notesSlide1129.xml" ContentType="application/vnd.openxmlformats-officedocument.presentationml.notesSlide+xml"/>
  <Override PartName="/ppt/notesSlides/notesSlide1130.xml" ContentType="application/vnd.openxmlformats-officedocument.presentationml.notesSlide+xml"/>
  <Override PartName="/ppt/notesSlides/notesSlide1131.xml" ContentType="application/vnd.openxmlformats-officedocument.presentationml.notesSlide+xml"/>
  <Override PartName="/ppt/notesSlides/notesSlide1132.xml" ContentType="application/vnd.openxmlformats-officedocument.presentationml.notesSlide+xml"/>
  <Override PartName="/ppt/notesSlides/notesSlide1133.xml" ContentType="application/vnd.openxmlformats-officedocument.presentationml.notesSlide+xml"/>
  <Override PartName="/ppt/notesSlides/notesSlide1134.xml" ContentType="application/vnd.openxmlformats-officedocument.presentationml.notesSlide+xml"/>
  <Override PartName="/ppt/notesSlides/notesSlide1135.xml" ContentType="application/vnd.openxmlformats-officedocument.presentationml.notesSlide+xml"/>
  <Override PartName="/ppt/notesSlides/notesSlide1136.xml" ContentType="application/vnd.openxmlformats-officedocument.presentationml.notesSlide+xml"/>
  <Override PartName="/ppt/notesSlides/notesSlide1137.xml" ContentType="application/vnd.openxmlformats-officedocument.presentationml.notesSlide+xml"/>
  <Override PartName="/ppt/notesSlides/notesSlide1138.xml" ContentType="application/vnd.openxmlformats-officedocument.presentationml.notesSlide+xml"/>
  <Override PartName="/ppt/notesSlides/notesSlide1139.xml" ContentType="application/vnd.openxmlformats-officedocument.presentationml.notesSlide+xml"/>
  <Override PartName="/ppt/notesSlides/notesSlide114.xml" ContentType="application/vnd.openxmlformats-officedocument.presentationml.notesSlide+xml"/>
  <Override PartName="/ppt/notesSlides/notesSlide1140.xml" ContentType="application/vnd.openxmlformats-officedocument.presentationml.notesSlide+xml"/>
  <Override PartName="/ppt/notesSlides/notesSlide1141.xml" ContentType="application/vnd.openxmlformats-officedocument.presentationml.notesSlide+xml"/>
  <Override PartName="/ppt/notesSlides/notesSlide1142.xml" ContentType="application/vnd.openxmlformats-officedocument.presentationml.notesSlide+xml"/>
  <Override PartName="/ppt/notesSlides/notesSlide1143.xml" ContentType="application/vnd.openxmlformats-officedocument.presentationml.notesSlide+xml"/>
  <Override PartName="/ppt/notesSlides/notesSlide1145.xml" ContentType="application/vnd.openxmlformats-officedocument.presentationml.notesSlide+xml"/>
  <Override PartName="/ppt/notesSlides/notesSlide1147.xml" ContentType="application/vnd.openxmlformats-officedocument.presentationml.notesSlide+xml"/>
  <Override PartName="/ppt/notesSlides/notesSlide1148.xml" ContentType="application/vnd.openxmlformats-officedocument.presentationml.notesSlide+xml"/>
  <Override PartName="/ppt/notesSlides/notesSlide1149.xml" ContentType="application/vnd.openxmlformats-officedocument.presentationml.notesSlide+xml"/>
  <Override PartName="/ppt/notesSlides/notesSlide115.xml" ContentType="application/vnd.openxmlformats-officedocument.presentationml.notesSlide+xml"/>
  <Override PartName="/ppt/notesSlides/notesSlide1150.xml" ContentType="application/vnd.openxmlformats-officedocument.presentationml.notesSlide+xml"/>
  <Override PartName="/ppt/notesSlides/notesSlide1151.xml" ContentType="application/vnd.openxmlformats-officedocument.presentationml.notesSlide+xml"/>
  <Override PartName="/ppt/notesSlides/notesSlide1152.xml" ContentType="application/vnd.openxmlformats-officedocument.presentationml.notesSlide+xml"/>
  <Override PartName="/ppt/notesSlides/notesSlide1154.xml" ContentType="application/vnd.openxmlformats-officedocument.presentationml.notesSlide+xml"/>
  <Override PartName="/ppt/notesSlides/notesSlide1156.xml" ContentType="application/vnd.openxmlformats-officedocument.presentationml.notesSlide+xml"/>
  <Override PartName="/ppt/notesSlides/notesSlide1157.xml" ContentType="application/vnd.openxmlformats-officedocument.presentationml.notesSlide+xml"/>
  <Override PartName="/ppt/notesSlides/notesSlide1158.xml" ContentType="application/vnd.openxmlformats-officedocument.presentationml.notesSlide+xml"/>
  <Override PartName="/ppt/notesSlides/notesSlide1159.xml" ContentType="application/vnd.openxmlformats-officedocument.presentationml.notesSlide+xml"/>
  <Override PartName="/ppt/notesSlides/notesSlide1160.xml" ContentType="application/vnd.openxmlformats-officedocument.presentationml.notesSlide+xml"/>
  <Override PartName="/ppt/notesSlides/notesSlide1161.xml" ContentType="application/vnd.openxmlformats-officedocument.presentationml.notesSlide+xml"/>
  <Override PartName="/ppt/notesSlides/notesSlide1162.xml" ContentType="application/vnd.openxmlformats-officedocument.presentationml.notesSlide+xml"/>
  <Override PartName="/ppt/notesSlides/notesSlide1163.xml" ContentType="application/vnd.openxmlformats-officedocument.presentationml.notesSlide+xml"/>
  <Override PartName="/ppt/notesSlides/notesSlide1164.xml" ContentType="application/vnd.openxmlformats-officedocument.presentationml.notesSlide+xml"/>
  <Override PartName="/ppt/notesSlides/notesSlide1165.xml" ContentType="application/vnd.openxmlformats-officedocument.presentationml.notesSlide+xml"/>
  <Override PartName="/ppt/notesSlides/notesSlide1166.xml" ContentType="application/vnd.openxmlformats-officedocument.presentationml.notesSlide+xml"/>
  <Override PartName="/ppt/notesSlides/notesSlide1167.xml" ContentType="application/vnd.openxmlformats-officedocument.presentationml.notesSlide+xml"/>
  <Override PartName="/ppt/notesSlides/notesSlide1168.xml" ContentType="application/vnd.openxmlformats-officedocument.presentationml.notesSlide+xml"/>
  <Override PartName="/ppt/notesSlides/notesSlide1169.xml" ContentType="application/vnd.openxmlformats-officedocument.presentationml.notesSlide+xml"/>
  <Override PartName="/ppt/notesSlides/notesSlide1170.xml" ContentType="application/vnd.openxmlformats-officedocument.presentationml.notesSlide+xml"/>
  <Override PartName="/ppt/notesSlides/notesSlide1171.xml" ContentType="application/vnd.openxmlformats-officedocument.presentationml.notesSlide+xml"/>
  <Override PartName="/ppt/notesSlides/notesSlide1172.xml" ContentType="application/vnd.openxmlformats-officedocument.presentationml.notesSlide+xml"/>
  <Override PartName="/ppt/notesSlides/notesSlide1174.xml" ContentType="application/vnd.openxmlformats-officedocument.presentationml.notesSlide+xml"/>
  <Override PartName="/ppt/notesSlides/notesSlide1176.xml" ContentType="application/vnd.openxmlformats-officedocument.presentationml.notesSlide+xml"/>
  <Override PartName="/ppt/notesSlides/notesSlide1177.xml" ContentType="application/vnd.openxmlformats-officedocument.presentationml.notesSlide+xml"/>
  <Override PartName="/ppt/notesSlides/notesSlide1178.xml" ContentType="application/vnd.openxmlformats-officedocument.presentationml.notesSlide+xml"/>
  <Override PartName="/ppt/notesSlides/notesSlide1179.xml" ContentType="application/vnd.openxmlformats-officedocument.presentationml.notesSlide+xml"/>
  <Override PartName="/ppt/notesSlides/notesSlide118.xml" ContentType="application/vnd.openxmlformats-officedocument.presentationml.notesSlide+xml"/>
  <Override PartName="/ppt/notesSlides/notesSlide1180.xml" ContentType="application/vnd.openxmlformats-officedocument.presentationml.notesSlide+xml"/>
  <Override PartName="/ppt/notesSlides/notesSlide1181.xml" ContentType="application/vnd.openxmlformats-officedocument.presentationml.notesSlide+xml"/>
  <Override PartName="/ppt/notesSlides/notesSlide1183.xml" ContentType="application/vnd.openxmlformats-officedocument.presentationml.notesSlide+xml"/>
  <Override PartName="/ppt/notesSlides/notesSlide1185.xml" ContentType="application/vnd.openxmlformats-officedocument.presentationml.notesSlide+xml"/>
  <Override PartName="/ppt/notesSlides/notesSlide1186.xml" ContentType="application/vnd.openxmlformats-officedocument.presentationml.notesSlide+xml"/>
  <Override PartName="/ppt/notesSlides/notesSlide1187.xml" ContentType="application/vnd.openxmlformats-officedocument.presentationml.notesSlide+xml"/>
  <Override PartName="/ppt/notesSlides/notesSlide1188.xml" ContentType="application/vnd.openxmlformats-officedocument.presentationml.notesSlide+xml"/>
  <Override PartName="/ppt/notesSlides/notesSlide1189.xml" ContentType="application/vnd.openxmlformats-officedocument.presentationml.notesSlide+xml"/>
  <Override PartName="/ppt/notesSlides/notesSlide119.xml" ContentType="application/vnd.openxmlformats-officedocument.presentationml.notesSlide+xml"/>
  <Override PartName="/ppt/notesSlides/notesSlide1190.xml" ContentType="application/vnd.openxmlformats-officedocument.presentationml.notesSlide+xml"/>
  <Override PartName="/ppt/notesSlides/notesSlide1191.xml" ContentType="application/vnd.openxmlformats-officedocument.presentationml.notesSlide+xml"/>
  <Override PartName="/ppt/notesSlides/notesSlide1192.xml" ContentType="application/vnd.openxmlformats-officedocument.presentationml.notesSlide+xml"/>
  <Override PartName="/ppt/notesSlides/notesSlide1193.xml" ContentType="application/vnd.openxmlformats-officedocument.presentationml.notesSlide+xml"/>
  <Override PartName="/ppt/notesSlides/notesSlide1194.xml" ContentType="application/vnd.openxmlformats-officedocument.presentationml.notesSlide+xml"/>
  <Override PartName="/ppt/notesSlides/notesSlide1195.xml" ContentType="application/vnd.openxmlformats-officedocument.presentationml.notesSlide+xml"/>
  <Override PartName="/ppt/notesSlides/notesSlide1196.xml" ContentType="application/vnd.openxmlformats-officedocument.presentationml.notesSlide+xml"/>
  <Override PartName="/ppt/notesSlides/notesSlide1197.xml" ContentType="application/vnd.openxmlformats-officedocument.presentationml.notesSlide+xml"/>
  <Override PartName="/ppt/notesSlides/notesSlide1198.xml" ContentType="application/vnd.openxmlformats-officedocument.presentationml.notesSlide+xml"/>
  <Override PartName="/ppt/notesSlides/notesSlide119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00.xml" ContentType="application/vnd.openxmlformats-officedocument.presentationml.notesSlide+xml"/>
  <Override PartName="/ppt/notesSlides/notesSlide1201.xml" ContentType="application/vnd.openxmlformats-officedocument.presentationml.notesSlide+xml"/>
  <Override PartName="/ppt/notesSlides/notesSlide1203.xml" ContentType="application/vnd.openxmlformats-officedocument.presentationml.notesSlide+xml"/>
  <Override PartName="/ppt/notesSlides/notesSlide1205.xml" ContentType="application/vnd.openxmlformats-officedocument.presentationml.notesSlide+xml"/>
  <Override PartName="/ppt/notesSlides/notesSlide1206.xml" ContentType="application/vnd.openxmlformats-officedocument.presentationml.notesSlide+xml"/>
  <Override PartName="/ppt/notesSlides/notesSlide1207.xml" ContentType="application/vnd.openxmlformats-officedocument.presentationml.notesSlide+xml"/>
  <Override PartName="/ppt/notesSlides/notesSlide1208.xml" ContentType="application/vnd.openxmlformats-officedocument.presentationml.notesSlide+xml"/>
  <Override PartName="/ppt/notesSlides/notesSlide1209.xml" ContentType="application/vnd.openxmlformats-officedocument.presentationml.notesSlide+xml"/>
  <Override PartName="/ppt/notesSlides/notesSlide121.xml" ContentType="application/vnd.openxmlformats-officedocument.presentationml.notesSlide+xml"/>
  <Override PartName="/ppt/notesSlides/notesSlide1210.xml" ContentType="application/vnd.openxmlformats-officedocument.presentationml.notesSlide+xml"/>
  <Override PartName="/ppt/notesSlides/notesSlide1212.xml" ContentType="application/vnd.openxmlformats-officedocument.presentationml.notesSlide+xml"/>
  <Override PartName="/ppt/notesSlides/notesSlide1214.xml" ContentType="application/vnd.openxmlformats-officedocument.presentationml.notesSlide+xml"/>
  <Override PartName="/ppt/notesSlides/notesSlide1215.xml" ContentType="application/vnd.openxmlformats-officedocument.presentationml.notesSlide+xml"/>
  <Override PartName="/ppt/notesSlides/notesSlide1216.xml" ContentType="application/vnd.openxmlformats-officedocument.presentationml.notesSlide+xml"/>
  <Override PartName="/ppt/notesSlides/notesSlide1217.xml" ContentType="application/vnd.openxmlformats-officedocument.presentationml.notesSlide+xml"/>
  <Override PartName="/ppt/notesSlides/notesSlide1218.xml" ContentType="application/vnd.openxmlformats-officedocument.presentationml.notesSlide+xml"/>
  <Override PartName="/ppt/notesSlides/notesSlide1219.xml" ContentType="application/vnd.openxmlformats-officedocument.presentationml.notesSlide+xml"/>
  <Override PartName="/ppt/notesSlides/notesSlide122.xml" ContentType="application/vnd.openxmlformats-officedocument.presentationml.notesSlide+xml"/>
  <Override PartName="/ppt/notesSlides/notesSlide1220.xml" ContentType="application/vnd.openxmlformats-officedocument.presentationml.notesSlide+xml"/>
  <Override PartName="/ppt/notesSlides/notesSlide1221.xml" ContentType="application/vnd.openxmlformats-officedocument.presentationml.notesSlide+xml"/>
  <Override PartName="/ppt/notesSlides/notesSlide1222.xml" ContentType="application/vnd.openxmlformats-officedocument.presentationml.notesSlide+xml"/>
  <Override PartName="/ppt/notesSlides/notesSlide1223.xml" ContentType="application/vnd.openxmlformats-officedocument.presentationml.notesSlide+xml"/>
  <Override PartName="/ppt/notesSlides/notesSlide1224.xml" ContentType="application/vnd.openxmlformats-officedocument.presentationml.notesSlide+xml"/>
  <Override PartName="/ppt/notesSlides/notesSlide1225.xml" ContentType="application/vnd.openxmlformats-officedocument.presentationml.notesSlide+xml"/>
  <Override PartName="/ppt/notesSlides/notesSlide1226.xml" ContentType="application/vnd.openxmlformats-officedocument.presentationml.notesSlide+xml"/>
  <Override PartName="/ppt/notesSlides/notesSlide1227.xml" ContentType="application/vnd.openxmlformats-officedocument.presentationml.notesSlide+xml"/>
  <Override PartName="/ppt/notesSlides/notesSlide1228.xml" ContentType="application/vnd.openxmlformats-officedocument.presentationml.notesSlide+xml"/>
  <Override PartName="/ppt/notesSlides/notesSlide1229.xml" ContentType="application/vnd.openxmlformats-officedocument.presentationml.notesSlide+xml"/>
  <Override PartName="/ppt/notesSlides/notesSlide123.xml" ContentType="application/vnd.openxmlformats-officedocument.presentationml.notesSlide+xml"/>
  <Override PartName="/ppt/notesSlides/notesSlide1230.xml" ContentType="application/vnd.openxmlformats-officedocument.presentationml.notesSlide+xml"/>
  <Override PartName="/ppt/notesSlides/notesSlide1232.xml" ContentType="application/vnd.openxmlformats-officedocument.presentationml.notesSlide+xml"/>
  <Override PartName="/ppt/notesSlides/notesSlide1234.xml" ContentType="application/vnd.openxmlformats-officedocument.presentationml.notesSlide+xml"/>
  <Override PartName="/ppt/notesSlides/notesSlide1235.xml" ContentType="application/vnd.openxmlformats-officedocument.presentationml.notesSlide+xml"/>
  <Override PartName="/ppt/notesSlides/notesSlide1236.xml" ContentType="application/vnd.openxmlformats-officedocument.presentationml.notesSlide+xml"/>
  <Override PartName="/ppt/notesSlides/notesSlide1237.xml" ContentType="application/vnd.openxmlformats-officedocument.presentationml.notesSlide+xml"/>
  <Override PartName="/ppt/notesSlides/notesSlide1238.xml" ContentType="application/vnd.openxmlformats-officedocument.presentationml.notesSlide+xml"/>
  <Override PartName="/ppt/notesSlides/notesSlide1239.xml" ContentType="application/vnd.openxmlformats-officedocument.presentationml.notesSlide+xml"/>
  <Override PartName="/ppt/notesSlides/notesSlide1241.xml" ContentType="application/vnd.openxmlformats-officedocument.presentationml.notesSlide+xml"/>
  <Override PartName="/ppt/notesSlides/notesSlide1243.xml" ContentType="application/vnd.openxmlformats-officedocument.presentationml.notesSlide+xml"/>
  <Override PartName="/ppt/notesSlides/notesSlide1244.xml" ContentType="application/vnd.openxmlformats-officedocument.presentationml.notesSlide+xml"/>
  <Override PartName="/ppt/notesSlides/notesSlide1245.xml" ContentType="application/vnd.openxmlformats-officedocument.presentationml.notesSlide+xml"/>
  <Override PartName="/ppt/notesSlides/notesSlide1246.xml" ContentType="application/vnd.openxmlformats-officedocument.presentationml.notesSlide+xml"/>
  <Override PartName="/ppt/notesSlides/notesSlide1247.xml" ContentType="application/vnd.openxmlformats-officedocument.presentationml.notesSlide+xml"/>
  <Override PartName="/ppt/notesSlides/notesSlide1248.xml" ContentType="application/vnd.openxmlformats-officedocument.presentationml.notesSlide+xml"/>
  <Override PartName="/ppt/notesSlides/notesSlide1249.xml" ContentType="application/vnd.openxmlformats-officedocument.presentationml.notesSlide+xml"/>
  <Override PartName="/ppt/notesSlides/notesSlide125.xml" ContentType="application/vnd.openxmlformats-officedocument.presentationml.notesSlide+xml"/>
  <Override PartName="/ppt/notesSlides/notesSlide1250.xml" ContentType="application/vnd.openxmlformats-officedocument.presentationml.notesSlide+xml"/>
  <Override PartName="/ppt/notesSlides/notesSlide1251.xml" ContentType="application/vnd.openxmlformats-officedocument.presentationml.notesSlide+xml"/>
  <Override PartName="/ppt/notesSlides/notesSlide1252.xml" ContentType="application/vnd.openxmlformats-officedocument.presentationml.notesSlide+xml"/>
  <Override PartName="/ppt/notesSlides/notesSlide1253.xml" ContentType="application/vnd.openxmlformats-officedocument.presentationml.notesSlide+xml"/>
  <Override PartName="/ppt/notesSlides/notesSlide1254.xml" ContentType="application/vnd.openxmlformats-officedocument.presentationml.notesSlide+xml"/>
  <Override PartName="/ppt/notesSlides/notesSlide1255.xml" ContentType="application/vnd.openxmlformats-officedocument.presentationml.notesSlide+xml"/>
  <Override PartName="/ppt/notesSlides/notesSlide1256.xml" ContentType="application/vnd.openxmlformats-officedocument.presentationml.notesSlide+xml"/>
  <Override PartName="/ppt/notesSlides/notesSlide1257.xml" ContentType="application/vnd.openxmlformats-officedocument.presentationml.notesSlide+xml"/>
  <Override PartName="/ppt/notesSlides/notesSlide1258.xml" ContentType="application/vnd.openxmlformats-officedocument.presentationml.notesSlide+xml"/>
  <Override PartName="/ppt/notesSlides/notesSlide1259.xml" ContentType="application/vnd.openxmlformats-officedocument.presentationml.notesSlide+xml"/>
  <Override PartName="/ppt/notesSlides/notesSlide126.xml" ContentType="application/vnd.openxmlformats-officedocument.presentationml.notesSlide+xml"/>
  <Override PartName="/ppt/notesSlides/notesSlide1261.xml" ContentType="application/vnd.openxmlformats-officedocument.presentationml.notesSlide+xml"/>
  <Override PartName="/ppt/notesSlides/notesSlide1263.xml" ContentType="application/vnd.openxmlformats-officedocument.presentationml.notesSlide+xml"/>
  <Override PartName="/ppt/notesSlides/notesSlide1264.xml" ContentType="application/vnd.openxmlformats-officedocument.presentationml.notesSlide+xml"/>
  <Override PartName="/ppt/notesSlides/notesSlide1265.xml" ContentType="application/vnd.openxmlformats-officedocument.presentationml.notesSlide+xml"/>
  <Override PartName="/ppt/notesSlides/notesSlide1266.xml" ContentType="application/vnd.openxmlformats-officedocument.presentationml.notesSlide+xml"/>
  <Override PartName="/ppt/notesSlides/notesSlide1267.xml" ContentType="application/vnd.openxmlformats-officedocument.presentationml.notesSlide+xml"/>
  <Override PartName="/ppt/notesSlides/notesSlide1268.xml" ContentType="application/vnd.openxmlformats-officedocument.presentationml.notesSlide+xml"/>
  <Override PartName="/ppt/notesSlides/notesSlide1270.xml" ContentType="application/vnd.openxmlformats-officedocument.presentationml.notesSlide+xml"/>
  <Override PartName="/ppt/notesSlides/notesSlide1272.xml" ContentType="application/vnd.openxmlformats-officedocument.presentationml.notesSlide+xml"/>
  <Override PartName="/ppt/notesSlides/notesSlide1273.xml" ContentType="application/vnd.openxmlformats-officedocument.presentationml.notesSlide+xml"/>
  <Override PartName="/ppt/notesSlides/notesSlide1274.xml" ContentType="application/vnd.openxmlformats-officedocument.presentationml.notesSlide+xml"/>
  <Override PartName="/ppt/notesSlides/notesSlide1275.xml" ContentType="application/vnd.openxmlformats-officedocument.presentationml.notesSlide+xml"/>
  <Override PartName="/ppt/notesSlides/notesSlide1276.xml" ContentType="application/vnd.openxmlformats-officedocument.presentationml.notesSlide+xml"/>
  <Override PartName="/ppt/notesSlides/notesSlide1277.xml" ContentType="application/vnd.openxmlformats-officedocument.presentationml.notesSlide+xml"/>
  <Override PartName="/ppt/notesSlides/notesSlide1278.xml" ContentType="application/vnd.openxmlformats-officedocument.presentationml.notesSlide+xml"/>
  <Override PartName="/ppt/notesSlides/notesSlide1279.xml" ContentType="application/vnd.openxmlformats-officedocument.presentationml.notesSlide+xml"/>
  <Override PartName="/ppt/notesSlides/notesSlide128.xml" ContentType="application/vnd.openxmlformats-officedocument.presentationml.notesSlide+xml"/>
  <Override PartName="/ppt/notesSlides/notesSlide1280.xml" ContentType="application/vnd.openxmlformats-officedocument.presentationml.notesSlide+xml"/>
  <Override PartName="/ppt/notesSlides/notesSlide1281.xml" ContentType="application/vnd.openxmlformats-officedocument.presentationml.notesSlide+xml"/>
  <Override PartName="/ppt/notesSlides/notesSlide1282.xml" ContentType="application/vnd.openxmlformats-officedocument.presentationml.notesSlide+xml"/>
  <Override PartName="/ppt/notesSlides/notesSlide1283.xml" ContentType="application/vnd.openxmlformats-officedocument.presentationml.notesSlide+xml"/>
  <Override PartName="/ppt/notesSlides/notesSlide1284.xml" ContentType="application/vnd.openxmlformats-officedocument.presentationml.notesSlide+xml"/>
  <Override PartName="/ppt/notesSlides/notesSlide1285.xml" ContentType="application/vnd.openxmlformats-officedocument.presentationml.notesSlide+xml"/>
  <Override PartName="/ppt/notesSlides/notesSlide1286.xml" ContentType="application/vnd.openxmlformats-officedocument.presentationml.notesSlide+xml"/>
  <Override PartName="/ppt/notesSlides/notesSlide1287.xml" ContentType="application/vnd.openxmlformats-officedocument.presentationml.notesSlide+xml"/>
  <Override PartName="/ppt/notesSlides/notesSlide1288.xml" ContentType="application/vnd.openxmlformats-officedocument.presentationml.notesSlide+xml"/>
  <Override PartName="/ppt/notesSlides/notesSlide129.xml" ContentType="application/vnd.openxmlformats-officedocument.presentationml.notesSlide+xml"/>
  <Override PartName="/ppt/notesSlides/notesSlide1290.xml" ContentType="application/vnd.openxmlformats-officedocument.presentationml.notesSlide+xml"/>
  <Override PartName="/ppt/notesSlides/notesSlide1292.xml" ContentType="application/vnd.openxmlformats-officedocument.presentationml.notesSlide+xml"/>
  <Override PartName="/ppt/notesSlides/notesSlide1293.xml" ContentType="application/vnd.openxmlformats-officedocument.presentationml.notesSlide+xml"/>
  <Override PartName="/ppt/notesSlides/notesSlide1294.xml" ContentType="application/vnd.openxmlformats-officedocument.presentationml.notesSlide+xml"/>
  <Override PartName="/ppt/notesSlides/notesSlide1295.xml" ContentType="application/vnd.openxmlformats-officedocument.presentationml.notesSlide+xml"/>
  <Override PartName="/ppt/notesSlides/notesSlide1296.xml" ContentType="application/vnd.openxmlformats-officedocument.presentationml.notesSlide+xml"/>
  <Override PartName="/ppt/notesSlides/notesSlide1297.xml" ContentType="application/vnd.openxmlformats-officedocument.presentationml.notesSlide+xml"/>
  <Override PartName="/ppt/notesSlides/notesSlide129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01.xml" ContentType="application/vnd.openxmlformats-officedocument.presentationml.notesSlide+xml"/>
  <Override PartName="/ppt/notesSlides/notesSlide1302.xml" ContentType="application/vnd.openxmlformats-officedocument.presentationml.notesSlide+xml"/>
  <Override PartName="/ppt/notesSlides/notesSlide1303.xml" ContentType="application/vnd.openxmlformats-officedocument.presentationml.notesSlide+xml"/>
  <Override PartName="/ppt/notesSlides/notesSlide1304.xml" ContentType="application/vnd.openxmlformats-officedocument.presentationml.notesSlide+xml"/>
  <Override PartName="/ppt/notesSlides/notesSlide1305.xml" ContentType="application/vnd.openxmlformats-officedocument.presentationml.notesSlide+xml"/>
  <Override PartName="/ppt/notesSlides/notesSlide1306.xml" ContentType="application/vnd.openxmlformats-officedocument.presentationml.notesSlide+xml"/>
  <Override PartName="/ppt/notesSlides/notesSlide1307.xml" ContentType="application/vnd.openxmlformats-officedocument.presentationml.notesSlide+xml"/>
  <Override PartName="/ppt/notesSlides/notesSlide1308.xml" ContentType="application/vnd.openxmlformats-officedocument.presentationml.notesSlide+xml"/>
  <Override PartName="/ppt/notesSlides/notesSlide1309.xml" ContentType="application/vnd.openxmlformats-officedocument.presentationml.notesSlide+xml"/>
  <Override PartName="/ppt/notesSlides/notesSlide131.xml" ContentType="application/vnd.openxmlformats-officedocument.presentationml.notesSlide+xml"/>
  <Override PartName="/ppt/notesSlides/notesSlide1310.xml" ContentType="application/vnd.openxmlformats-officedocument.presentationml.notesSlide+xml"/>
  <Override PartName="/ppt/notesSlides/notesSlide1311.xml" ContentType="application/vnd.openxmlformats-officedocument.presentationml.notesSlide+xml"/>
  <Override PartName="/ppt/notesSlides/notesSlide1312.xml" ContentType="application/vnd.openxmlformats-officedocument.presentationml.notesSlide+xml"/>
  <Override PartName="/ppt/notesSlides/notesSlide1313.xml" ContentType="application/vnd.openxmlformats-officedocument.presentationml.notesSlide+xml"/>
  <Override PartName="/ppt/notesSlides/notesSlide1314.xml" ContentType="application/vnd.openxmlformats-officedocument.presentationml.notesSlide+xml"/>
  <Override PartName="/ppt/notesSlides/notesSlide1315.xml" ContentType="application/vnd.openxmlformats-officedocument.presentationml.notesSlide+xml"/>
  <Override PartName="/ppt/notesSlides/notesSlide1316.xml" ContentType="application/vnd.openxmlformats-officedocument.presentationml.notesSlide+xml"/>
  <Override PartName="/ppt/notesSlides/notesSlide1317.xml" ContentType="application/vnd.openxmlformats-officedocument.presentationml.notesSlide+xml"/>
  <Override PartName="/ppt/notesSlides/notesSlide1319.xml" ContentType="application/vnd.openxmlformats-officedocument.presentationml.notesSlide+xml"/>
  <Override PartName="/ppt/notesSlides/notesSlide1321.xml" ContentType="application/vnd.openxmlformats-officedocument.presentationml.notesSlide+xml"/>
  <Override PartName="/ppt/notesSlides/notesSlide1322.xml" ContentType="application/vnd.openxmlformats-officedocument.presentationml.notesSlide+xml"/>
  <Override PartName="/ppt/notesSlides/notesSlide1323.xml" ContentType="application/vnd.openxmlformats-officedocument.presentationml.notesSlide+xml"/>
  <Override PartName="/ppt/notesSlides/notesSlide1324.xml" ContentType="application/vnd.openxmlformats-officedocument.presentationml.notesSlide+xml"/>
  <Override PartName="/ppt/notesSlides/notesSlide1325.xml" ContentType="application/vnd.openxmlformats-officedocument.presentationml.notesSlide+xml"/>
  <Override PartName="/ppt/notesSlides/notesSlide1326.xml" ContentType="application/vnd.openxmlformats-officedocument.presentationml.notesSlide+xml"/>
  <Override PartName="/ppt/notesSlides/notesSlide1328.xml" ContentType="application/vnd.openxmlformats-officedocument.presentationml.notesSlide+xml"/>
  <Override PartName="/ppt/notesSlides/notesSlide133.xml" ContentType="application/vnd.openxmlformats-officedocument.presentationml.notesSlide+xml"/>
  <Override PartName="/ppt/notesSlides/notesSlide1330.xml" ContentType="application/vnd.openxmlformats-officedocument.presentationml.notesSlide+xml"/>
  <Override PartName="/ppt/notesSlides/notesSlide1331.xml" ContentType="application/vnd.openxmlformats-officedocument.presentationml.notesSlide+xml"/>
  <Override PartName="/ppt/notesSlides/notesSlide1332.xml" ContentType="application/vnd.openxmlformats-officedocument.presentationml.notesSlide+xml"/>
  <Override PartName="/ppt/notesSlides/notesSlide1333.xml" ContentType="application/vnd.openxmlformats-officedocument.presentationml.notesSlide+xml"/>
  <Override PartName="/ppt/notesSlides/notesSlide1334.xml" ContentType="application/vnd.openxmlformats-officedocument.presentationml.notesSlide+xml"/>
  <Override PartName="/ppt/notesSlides/notesSlide1335.xml" ContentType="application/vnd.openxmlformats-officedocument.presentationml.notesSlide+xml"/>
  <Override PartName="/ppt/notesSlides/notesSlide1336.xml" ContentType="application/vnd.openxmlformats-officedocument.presentationml.notesSlide+xml"/>
  <Override PartName="/ppt/notesSlides/notesSlide1337.xml" ContentType="application/vnd.openxmlformats-officedocument.presentationml.notesSlide+xml"/>
  <Override PartName="/ppt/notesSlides/notesSlide1338.xml" ContentType="application/vnd.openxmlformats-officedocument.presentationml.notesSlide+xml"/>
  <Override PartName="/ppt/notesSlides/notesSlide1339.xml" ContentType="application/vnd.openxmlformats-officedocument.presentationml.notesSlide+xml"/>
  <Override PartName="/ppt/notesSlides/notesSlide134.xml" ContentType="application/vnd.openxmlformats-officedocument.presentationml.notesSlide+xml"/>
  <Override PartName="/ppt/notesSlides/notesSlide1340.xml" ContentType="application/vnd.openxmlformats-officedocument.presentationml.notesSlide+xml"/>
  <Override PartName="/ppt/notesSlides/notesSlide1341.xml" ContentType="application/vnd.openxmlformats-officedocument.presentationml.notesSlide+xml"/>
  <Override PartName="/ppt/notesSlides/notesSlide1342.xml" ContentType="application/vnd.openxmlformats-officedocument.presentationml.notesSlide+xml"/>
  <Override PartName="/ppt/notesSlides/notesSlide1343.xml" ContentType="application/vnd.openxmlformats-officedocument.presentationml.notesSlide+xml"/>
  <Override PartName="/ppt/notesSlides/notesSlide1344.xml" ContentType="application/vnd.openxmlformats-officedocument.presentationml.notesSlide+xml"/>
  <Override PartName="/ppt/notesSlides/notesSlide1345.xml" ContentType="application/vnd.openxmlformats-officedocument.presentationml.notesSlide+xml"/>
  <Override PartName="/ppt/notesSlides/notesSlide1346.xml" ContentType="application/vnd.openxmlformats-officedocument.presentationml.notesSlide+xml"/>
  <Override PartName="/ppt/notesSlides/notesSlide1348.xml" ContentType="application/vnd.openxmlformats-officedocument.presentationml.notesSlide+xml"/>
  <Override PartName="/ppt/notesSlides/notesSlide1350.xml" ContentType="application/vnd.openxmlformats-officedocument.presentationml.notesSlide+xml"/>
  <Override PartName="/ppt/notesSlides/notesSlide1351.xml" ContentType="application/vnd.openxmlformats-officedocument.presentationml.notesSlide+xml"/>
  <Override PartName="/ppt/notesSlides/notesSlide1352.xml" ContentType="application/vnd.openxmlformats-officedocument.presentationml.notesSlide+xml"/>
  <Override PartName="/ppt/notesSlides/notesSlide1353.xml" ContentType="application/vnd.openxmlformats-officedocument.presentationml.notesSlide+xml"/>
  <Override PartName="/ppt/notesSlides/notesSlide1354.xml" ContentType="application/vnd.openxmlformats-officedocument.presentationml.notesSlide+xml"/>
  <Override PartName="/ppt/notesSlides/notesSlide1355.xml" ContentType="application/vnd.openxmlformats-officedocument.presentationml.notesSlide+xml"/>
  <Override PartName="/ppt/notesSlides/notesSlide1357.xml" ContentType="application/vnd.openxmlformats-officedocument.presentationml.notesSlide+xml"/>
  <Override PartName="/ppt/notesSlides/notesSlide1359.xml" ContentType="application/vnd.openxmlformats-officedocument.presentationml.notesSlide+xml"/>
  <Override PartName="/ppt/notesSlides/notesSlide136.xml" ContentType="application/vnd.openxmlformats-officedocument.presentationml.notesSlide+xml"/>
  <Override PartName="/ppt/notesSlides/notesSlide1360.xml" ContentType="application/vnd.openxmlformats-officedocument.presentationml.notesSlide+xml"/>
  <Override PartName="/ppt/notesSlides/notesSlide1361.xml" ContentType="application/vnd.openxmlformats-officedocument.presentationml.notesSlide+xml"/>
  <Override PartName="/ppt/notesSlides/notesSlide1362.xml" ContentType="application/vnd.openxmlformats-officedocument.presentationml.notesSlide+xml"/>
  <Override PartName="/ppt/notesSlides/notesSlide1363.xml" ContentType="application/vnd.openxmlformats-officedocument.presentationml.notesSlide+xml"/>
  <Override PartName="/ppt/notesSlides/notesSlide1364.xml" ContentType="application/vnd.openxmlformats-officedocument.presentationml.notesSlide+xml"/>
  <Override PartName="/ppt/notesSlides/notesSlide1365.xml" ContentType="application/vnd.openxmlformats-officedocument.presentationml.notesSlide+xml"/>
  <Override PartName="/ppt/notesSlides/notesSlide1366.xml" ContentType="application/vnd.openxmlformats-officedocument.presentationml.notesSlide+xml"/>
  <Override PartName="/ppt/notesSlides/notesSlide1367.xml" ContentType="application/vnd.openxmlformats-officedocument.presentationml.notesSlide+xml"/>
  <Override PartName="/ppt/notesSlides/notesSlide1368.xml" ContentType="application/vnd.openxmlformats-officedocument.presentationml.notesSlide+xml"/>
  <Override PartName="/ppt/notesSlides/notesSlide1369.xml" ContentType="application/vnd.openxmlformats-officedocument.presentationml.notesSlide+xml"/>
  <Override PartName="/ppt/notesSlides/notesSlide137.xml" ContentType="application/vnd.openxmlformats-officedocument.presentationml.notesSlide+xml"/>
  <Override PartName="/ppt/notesSlides/notesSlide1370.xml" ContentType="application/vnd.openxmlformats-officedocument.presentationml.notesSlide+xml"/>
  <Override PartName="/ppt/notesSlides/notesSlide1371.xml" ContentType="application/vnd.openxmlformats-officedocument.presentationml.notesSlide+xml"/>
  <Override PartName="/ppt/notesSlides/notesSlide1372.xml" ContentType="application/vnd.openxmlformats-officedocument.presentationml.notesSlide+xml"/>
  <Override PartName="/ppt/notesSlides/notesSlide1373.xml" ContentType="application/vnd.openxmlformats-officedocument.presentationml.notesSlide+xml"/>
  <Override PartName="/ppt/notesSlides/notesSlide1374.xml" ContentType="application/vnd.openxmlformats-officedocument.presentationml.notesSlide+xml"/>
  <Override PartName="/ppt/notesSlides/notesSlide1375.xml" ContentType="application/vnd.openxmlformats-officedocument.presentationml.notesSlide+xml"/>
  <Override PartName="/ppt/notesSlides/notesSlide1377.xml" ContentType="application/vnd.openxmlformats-officedocument.presentationml.notesSlide+xml"/>
  <Override PartName="/ppt/notesSlides/notesSlide1379.xml" ContentType="application/vnd.openxmlformats-officedocument.presentationml.notesSlide+xml"/>
  <Override PartName="/ppt/notesSlides/notesSlide138.xml" ContentType="application/vnd.openxmlformats-officedocument.presentationml.notesSlide+xml"/>
  <Override PartName="/ppt/notesSlides/notesSlide1380.xml" ContentType="application/vnd.openxmlformats-officedocument.presentationml.notesSlide+xml"/>
  <Override PartName="/ppt/notesSlides/notesSlide1381.xml" ContentType="application/vnd.openxmlformats-officedocument.presentationml.notesSlide+xml"/>
  <Override PartName="/ppt/notesSlides/notesSlide1382.xml" ContentType="application/vnd.openxmlformats-officedocument.presentationml.notesSlide+xml"/>
  <Override PartName="/ppt/notesSlides/notesSlide1383.xml" ContentType="application/vnd.openxmlformats-officedocument.presentationml.notesSlide+xml"/>
  <Override PartName="/ppt/notesSlides/notesSlide1384.xml" ContentType="application/vnd.openxmlformats-officedocument.presentationml.notesSlide+xml"/>
  <Override PartName="/ppt/notesSlides/notesSlide1386.xml" ContentType="application/vnd.openxmlformats-officedocument.presentationml.notesSlide+xml"/>
  <Override PartName="/ppt/notesSlides/notesSlide1388.xml" ContentType="application/vnd.openxmlformats-officedocument.presentationml.notesSlide+xml"/>
  <Override PartName="/ppt/notesSlides/notesSlide1389.xml" ContentType="application/vnd.openxmlformats-officedocument.presentationml.notesSlide+xml"/>
  <Override PartName="/ppt/notesSlides/notesSlide139.xml" ContentType="application/vnd.openxmlformats-officedocument.presentationml.notesSlide+xml"/>
  <Override PartName="/ppt/notesSlides/notesSlide1390.xml" ContentType="application/vnd.openxmlformats-officedocument.presentationml.notesSlide+xml"/>
  <Override PartName="/ppt/notesSlides/notesSlide1391.xml" ContentType="application/vnd.openxmlformats-officedocument.presentationml.notesSlide+xml"/>
  <Override PartName="/ppt/notesSlides/notesSlide1392.xml" ContentType="application/vnd.openxmlformats-officedocument.presentationml.notesSlide+xml"/>
  <Override PartName="/ppt/notesSlides/notesSlide1393.xml" ContentType="application/vnd.openxmlformats-officedocument.presentationml.notesSlide+xml"/>
  <Override PartName="/ppt/notesSlides/notesSlide1394.xml" ContentType="application/vnd.openxmlformats-officedocument.presentationml.notesSlide+xml"/>
  <Override PartName="/ppt/notesSlides/notesSlide1395.xml" ContentType="application/vnd.openxmlformats-officedocument.presentationml.notesSlide+xml"/>
  <Override PartName="/ppt/notesSlides/notesSlide1396.xml" ContentType="application/vnd.openxmlformats-officedocument.presentationml.notesSlide+xml"/>
  <Override PartName="/ppt/notesSlides/notesSlide1397.xml" ContentType="application/vnd.openxmlformats-officedocument.presentationml.notesSlide+xml"/>
  <Override PartName="/ppt/notesSlides/notesSlide1398.xml" ContentType="application/vnd.openxmlformats-officedocument.presentationml.notesSlide+xml"/>
  <Override PartName="/ppt/notesSlides/notesSlide139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00.xml" ContentType="application/vnd.openxmlformats-officedocument.presentationml.notesSlide+xml"/>
  <Override PartName="/ppt/notesSlides/notesSlide1401.xml" ContentType="application/vnd.openxmlformats-officedocument.presentationml.notesSlide+xml"/>
  <Override PartName="/ppt/notesSlides/notesSlide1402.xml" ContentType="application/vnd.openxmlformats-officedocument.presentationml.notesSlide+xml"/>
  <Override PartName="/ppt/notesSlides/notesSlide1403.xml" ContentType="application/vnd.openxmlformats-officedocument.presentationml.notesSlide+xml"/>
  <Override PartName="/ppt/notesSlides/notesSlide1404.xml" ContentType="application/vnd.openxmlformats-officedocument.presentationml.notesSlide+xml"/>
  <Override PartName="/ppt/notesSlides/notesSlide1406.xml" ContentType="application/vnd.openxmlformats-officedocument.presentationml.notesSlide+xml"/>
  <Override PartName="/ppt/notesSlides/notesSlide1408.xml" ContentType="application/vnd.openxmlformats-officedocument.presentationml.notesSlide+xml"/>
  <Override PartName="/ppt/notesSlides/notesSlide1409.xml" ContentType="application/vnd.openxmlformats-officedocument.presentationml.notesSlide+xml"/>
  <Override PartName="/ppt/notesSlides/notesSlide141.xml" ContentType="application/vnd.openxmlformats-officedocument.presentationml.notesSlide+xml"/>
  <Override PartName="/ppt/notesSlides/notesSlide1410.xml" ContentType="application/vnd.openxmlformats-officedocument.presentationml.notesSlide+xml"/>
  <Override PartName="/ppt/notesSlides/notesSlide1411.xml" ContentType="application/vnd.openxmlformats-officedocument.presentationml.notesSlide+xml"/>
  <Override PartName="/ppt/notesSlides/notesSlide1412.xml" ContentType="application/vnd.openxmlformats-officedocument.presentationml.notesSlide+xml"/>
  <Override PartName="/ppt/notesSlides/notesSlide1413.xml" ContentType="application/vnd.openxmlformats-officedocument.presentationml.notesSlide+xml"/>
  <Override PartName="/ppt/notesSlides/notesSlide1415.xml" ContentType="application/vnd.openxmlformats-officedocument.presentationml.notesSlide+xml"/>
  <Override PartName="/ppt/notesSlides/notesSlide1417.xml" ContentType="application/vnd.openxmlformats-officedocument.presentationml.notesSlide+xml"/>
  <Override PartName="/ppt/notesSlides/notesSlide1418.xml" ContentType="application/vnd.openxmlformats-officedocument.presentationml.notesSlide+xml"/>
  <Override PartName="/ppt/notesSlides/notesSlide1419.xml" ContentType="application/vnd.openxmlformats-officedocument.presentationml.notesSlide+xml"/>
  <Override PartName="/ppt/notesSlides/notesSlide1420.xml" ContentType="application/vnd.openxmlformats-officedocument.presentationml.notesSlide+xml"/>
  <Override PartName="/ppt/notesSlides/notesSlide1421.xml" ContentType="application/vnd.openxmlformats-officedocument.presentationml.notesSlide+xml"/>
  <Override PartName="/ppt/notesSlides/notesSlide1422.xml" ContentType="application/vnd.openxmlformats-officedocument.presentationml.notesSlide+xml"/>
  <Override PartName="/ppt/notesSlides/notesSlide1423.xml" ContentType="application/vnd.openxmlformats-officedocument.presentationml.notesSlide+xml"/>
  <Override PartName="/ppt/notesSlides/notesSlide1424.xml" ContentType="application/vnd.openxmlformats-officedocument.presentationml.notesSlide+xml"/>
  <Override PartName="/ppt/notesSlides/notesSlide1425.xml" ContentType="application/vnd.openxmlformats-officedocument.presentationml.notesSlide+xml"/>
  <Override PartName="/ppt/notesSlides/notesSlide1426.xml" ContentType="application/vnd.openxmlformats-officedocument.presentationml.notesSlide+xml"/>
  <Override PartName="/ppt/notesSlides/notesSlide1427.xml" ContentType="application/vnd.openxmlformats-officedocument.presentationml.notesSlide+xml"/>
  <Override PartName="/ppt/notesSlides/notesSlide1428.xml" ContentType="application/vnd.openxmlformats-officedocument.presentationml.notesSlide+xml"/>
  <Override PartName="/ppt/notesSlides/notesSlide1429.xml" ContentType="application/vnd.openxmlformats-officedocument.presentationml.notesSlide+xml"/>
  <Override PartName="/ppt/notesSlides/notesSlide143.xml" ContentType="application/vnd.openxmlformats-officedocument.presentationml.notesSlide+xml"/>
  <Override PartName="/ppt/notesSlides/notesSlide1430.xml" ContentType="application/vnd.openxmlformats-officedocument.presentationml.notesSlide+xml"/>
  <Override PartName="/ppt/notesSlides/notesSlide1431.xml" ContentType="application/vnd.openxmlformats-officedocument.presentationml.notesSlide+xml"/>
  <Override PartName="/ppt/notesSlides/notesSlide1432.xml" ContentType="application/vnd.openxmlformats-officedocument.presentationml.notesSlide+xml"/>
  <Override PartName="/ppt/notesSlides/notesSlide1433.xml" ContentType="application/vnd.openxmlformats-officedocument.presentationml.notesSlide+xml"/>
  <Override PartName="/ppt/notesSlides/notesSlide1435.xml" ContentType="application/vnd.openxmlformats-officedocument.presentationml.notesSlide+xml"/>
  <Override PartName="/ppt/notesSlides/notesSlide1437.xml" ContentType="application/vnd.openxmlformats-officedocument.presentationml.notesSlide+xml"/>
  <Override PartName="/ppt/notesSlides/notesSlide1438.xml" ContentType="application/vnd.openxmlformats-officedocument.presentationml.notesSlide+xml"/>
  <Override PartName="/ppt/notesSlides/notesSlide1439.xml" ContentType="application/vnd.openxmlformats-officedocument.presentationml.notesSlide+xml"/>
  <Override PartName="/ppt/notesSlides/notesSlide144.xml" ContentType="application/vnd.openxmlformats-officedocument.presentationml.notesSlide+xml"/>
  <Override PartName="/ppt/notesSlides/notesSlide1440.xml" ContentType="application/vnd.openxmlformats-officedocument.presentationml.notesSlide+xml"/>
  <Override PartName="/ppt/notesSlides/notesSlide1441.xml" ContentType="application/vnd.openxmlformats-officedocument.presentationml.notesSlide+xml"/>
  <Override PartName="/ppt/notesSlides/notesSlide1442.xml" ContentType="application/vnd.openxmlformats-officedocument.presentationml.notesSlide+xml"/>
  <Override PartName="/ppt/notesSlides/notesSlide1444.xml" ContentType="application/vnd.openxmlformats-officedocument.presentationml.notesSlide+xml"/>
  <Override PartName="/ppt/notesSlides/notesSlide1446.xml" ContentType="application/vnd.openxmlformats-officedocument.presentationml.notesSlide+xml"/>
  <Override PartName="/ppt/notesSlides/notesSlide1447.xml" ContentType="application/vnd.openxmlformats-officedocument.presentationml.notesSlide+xml"/>
  <Override PartName="/ppt/notesSlides/notesSlide1448.xml" ContentType="application/vnd.openxmlformats-officedocument.presentationml.notesSlide+xml"/>
  <Override PartName="/ppt/notesSlides/notesSlide1449.xml" ContentType="application/vnd.openxmlformats-officedocument.presentationml.notesSlide+xml"/>
  <Override PartName="/ppt/notesSlides/notesSlide1450.xml" ContentType="application/vnd.openxmlformats-officedocument.presentationml.notesSlide+xml"/>
  <Override PartName="/ppt/notesSlides/notesSlide1451.xml" ContentType="application/vnd.openxmlformats-officedocument.presentationml.notesSlide+xml"/>
  <Override PartName="/ppt/notesSlides/notesSlide1452.xml" ContentType="application/vnd.openxmlformats-officedocument.presentationml.notesSlide+xml"/>
  <Override PartName="/ppt/notesSlides/notesSlide1453.xml" ContentType="application/vnd.openxmlformats-officedocument.presentationml.notesSlide+xml"/>
  <Override PartName="/ppt/notesSlides/notesSlide1454.xml" ContentType="application/vnd.openxmlformats-officedocument.presentationml.notesSlide+xml"/>
  <Override PartName="/ppt/notesSlides/notesSlide1455.xml" ContentType="application/vnd.openxmlformats-officedocument.presentationml.notesSlide+xml"/>
  <Override PartName="/ppt/notesSlides/notesSlide1456.xml" ContentType="application/vnd.openxmlformats-officedocument.presentationml.notesSlide+xml"/>
  <Override PartName="/ppt/notesSlides/notesSlide1457.xml" ContentType="application/vnd.openxmlformats-officedocument.presentationml.notesSlide+xml"/>
  <Override PartName="/ppt/notesSlides/notesSlide1458.xml" ContentType="application/vnd.openxmlformats-officedocument.presentationml.notesSlide+xml"/>
  <Override PartName="/ppt/notesSlides/notesSlide1459.xml" ContentType="application/vnd.openxmlformats-officedocument.presentationml.notesSlide+xml"/>
  <Override PartName="/ppt/notesSlides/notesSlide146.xml" ContentType="application/vnd.openxmlformats-officedocument.presentationml.notesSlide+xml"/>
  <Override PartName="/ppt/notesSlides/notesSlide1460.xml" ContentType="application/vnd.openxmlformats-officedocument.presentationml.notesSlide+xml"/>
  <Override PartName="/ppt/notesSlides/notesSlide1461.xml" ContentType="application/vnd.openxmlformats-officedocument.presentationml.notesSlide+xml"/>
  <Override PartName="/ppt/notesSlides/notesSlide1462.xml" ContentType="application/vnd.openxmlformats-officedocument.presentationml.notesSlide+xml"/>
  <Override PartName="/ppt/notesSlides/notesSlide1464.xml" ContentType="application/vnd.openxmlformats-officedocument.presentationml.notesSlide+xml"/>
  <Override PartName="/ppt/notesSlides/notesSlide1466.xml" ContentType="application/vnd.openxmlformats-officedocument.presentationml.notesSlide+xml"/>
  <Override PartName="/ppt/notesSlides/notesSlide1467.xml" ContentType="application/vnd.openxmlformats-officedocument.presentationml.notesSlide+xml"/>
  <Override PartName="/ppt/notesSlides/notesSlide1468.xml" ContentType="application/vnd.openxmlformats-officedocument.presentationml.notesSlide+xml"/>
  <Override PartName="/ppt/notesSlides/notesSlide1469.xml" ContentType="application/vnd.openxmlformats-officedocument.presentationml.notesSlide+xml"/>
  <Override PartName="/ppt/notesSlides/notesSlide147.xml" ContentType="application/vnd.openxmlformats-officedocument.presentationml.notesSlide+xml"/>
  <Override PartName="/ppt/notesSlides/notesSlide1470.xml" ContentType="application/vnd.openxmlformats-officedocument.presentationml.notesSlide+xml"/>
  <Override PartName="/ppt/notesSlides/notesSlide1471.xml" ContentType="application/vnd.openxmlformats-officedocument.presentationml.notesSlide+xml"/>
  <Override PartName="/ppt/notesSlides/notesSlide1473.xml" ContentType="application/vnd.openxmlformats-officedocument.presentationml.notesSlide+xml"/>
  <Override PartName="/ppt/notesSlides/notesSlide1475.xml" ContentType="application/vnd.openxmlformats-officedocument.presentationml.notesSlide+xml"/>
  <Override PartName="/ppt/notesSlides/notesSlide1476.xml" ContentType="application/vnd.openxmlformats-officedocument.presentationml.notesSlide+xml"/>
  <Override PartName="/ppt/notesSlides/notesSlide1477.xml" ContentType="application/vnd.openxmlformats-officedocument.presentationml.notesSlide+xml"/>
  <Override PartName="/ppt/notesSlides/notesSlide1478.xml" ContentType="application/vnd.openxmlformats-officedocument.presentationml.notesSlide+xml"/>
  <Override PartName="/ppt/notesSlides/notesSlide1479.xml" ContentType="application/vnd.openxmlformats-officedocument.presentationml.notesSlide+xml"/>
  <Override PartName="/ppt/notesSlides/notesSlide148.xml" ContentType="application/vnd.openxmlformats-officedocument.presentationml.notesSlide+xml"/>
  <Override PartName="/ppt/notesSlides/notesSlide1480.xml" ContentType="application/vnd.openxmlformats-officedocument.presentationml.notesSlide+xml"/>
  <Override PartName="/ppt/notesSlides/notesSlide1481.xml" ContentType="application/vnd.openxmlformats-officedocument.presentationml.notesSlide+xml"/>
  <Override PartName="/ppt/notesSlides/notesSlide1482.xml" ContentType="application/vnd.openxmlformats-officedocument.presentationml.notesSlide+xml"/>
  <Override PartName="/ppt/notesSlides/notesSlide1483.xml" ContentType="application/vnd.openxmlformats-officedocument.presentationml.notesSlide+xml"/>
  <Override PartName="/ppt/notesSlides/notesSlide1484.xml" ContentType="application/vnd.openxmlformats-officedocument.presentationml.notesSlide+xml"/>
  <Override PartName="/ppt/notesSlides/notesSlide1485.xml" ContentType="application/vnd.openxmlformats-officedocument.presentationml.notesSlide+xml"/>
  <Override PartName="/ppt/notesSlides/notesSlide1486.xml" ContentType="application/vnd.openxmlformats-officedocument.presentationml.notesSlide+xml"/>
  <Override PartName="/ppt/notesSlides/notesSlide1487.xml" ContentType="application/vnd.openxmlformats-officedocument.presentationml.notesSlide+xml"/>
  <Override PartName="/ppt/notesSlides/notesSlide1488.xml" ContentType="application/vnd.openxmlformats-officedocument.presentationml.notesSlide+xml"/>
  <Override PartName="/ppt/notesSlides/notesSlide1489.xml" ContentType="application/vnd.openxmlformats-officedocument.presentationml.notesSlide+xml"/>
  <Override PartName="/ppt/notesSlides/notesSlide149.xml" ContentType="application/vnd.openxmlformats-officedocument.presentationml.notesSlide+xml"/>
  <Override PartName="/ppt/notesSlides/notesSlide1490.xml" ContentType="application/vnd.openxmlformats-officedocument.presentationml.notesSlide+xml"/>
  <Override PartName="/ppt/notesSlides/notesSlide1491.xml" ContentType="application/vnd.openxmlformats-officedocument.presentationml.notesSlide+xml"/>
  <Override PartName="/ppt/notesSlides/notesSlide1493.xml" ContentType="application/vnd.openxmlformats-officedocument.presentationml.notesSlide+xml"/>
  <Override PartName="/ppt/notesSlides/notesSlide1495.xml" ContentType="application/vnd.openxmlformats-officedocument.presentationml.notesSlide+xml"/>
  <Override PartName="/ppt/notesSlides/notesSlide1496.xml" ContentType="application/vnd.openxmlformats-officedocument.presentationml.notesSlide+xml"/>
  <Override PartName="/ppt/notesSlides/notesSlide1497.xml" ContentType="application/vnd.openxmlformats-officedocument.presentationml.notesSlide+xml"/>
  <Override PartName="/ppt/notesSlides/notesSlide1498.xml" ContentType="application/vnd.openxmlformats-officedocument.presentationml.notesSlide+xml"/>
  <Override PartName="/ppt/notesSlides/notesSlide149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00.xml" ContentType="application/vnd.openxmlformats-officedocument.presentationml.notesSlide+xml"/>
  <Override PartName="/ppt/notesSlides/notesSlide1502.xml" ContentType="application/vnd.openxmlformats-officedocument.presentationml.notesSlide+xml"/>
  <Override PartName="/ppt/notesSlides/notesSlide1504.xml" ContentType="application/vnd.openxmlformats-officedocument.presentationml.notesSlide+xml"/>
  <Override PartName="/ppt/notesSlides/notesSlide1505.xml" ContentType="application/vnd.openxmlformats-officedocument.presentationml.notesSlide+xml"/>
  <Override PartName="/ppt/notesSlides/notesSlide1506.xml" ContentType="application/vnd.openxmlformats-officedocument.presentationml.notesSlide+xml"/>
  <Override PartName="/ppt/notesSlides/notesSlide1507.xml" ContentType="application/vnd.openxmlformats-officedocument.presentationml.notesSlide+xml"/>
  <Override PartName="/ppt/notesSlides/notesSlide1508.xml" ContentType="application/vnd.openxmlformats-officedocument.presentationml.notesSlide+xml"/>
  <Override PartName="/ppt/notesSlides/notesSlide1509.xml" ContentType="application/vnd.openxmlformats-officedocument.presentationml.notesSlide+xml"/>
  <Override PartName="/ppt/notesSlides/notesSlide1510.xml" ContentType="application/vnd.openxmlformats-officedocument.presentationml.notesSlide+xml"/>
  <Override PartName="/ppt/notesSlides/notesSlide1511.xml" ContentType="application/vnd.openxmlformats-officedocument.presentationml.notesSlide+xml"/>
  <Override PartName="/ppt/notesSlides/notesSlide1512.xml" ContentType="application/vnd.openxmlformats-officedocument.presentationml.notesSlide+xml"/>
  <Override PartName="/ppt/notesSlides/notesSlide1513.xml" ContentType="application/vnd.openxmlformats-officedocument.presentationml.notesSlide+xml"/>
  <Override PartName="/ppt/notesSlides/notesSlide1514.xml" ContentType="application/vnd.openxmlformats-officedocument.presentationml.notesSlide+xml"/>
  <Override PartName="/ppt/notesSlides/notesSlide1515.xml" ContentType="application/vnd.openxmlformats-officedocument.presentationml.notesSlide+xml"/>
  <Override PartName="/ppt/notesSlides/notesSlide1516.xml" ContentType="application/vnd.openxmlformats-officedocument.presentationml.notesSlide+xml"/>
  <Override PartName="/ppt/notesSlides/notesSlide1517.xml" ContentType="application/vnd.openxmlformats-officedocument.presentationml.notesSlide+xml"/>
  <Override PartName="/ppt/notesSlides/notesSlide1518.xml" ContentType="application/vnd.openxmlformats-officedocument.presentationml.notesSlide+xml"/>
  <Override PartName="/ppt/notesSlides/notesSlide1519.xml" ContentType="application/vnd.openxmlformats-officedocument.presentationml.notesSlide+xml"/>
  <Override PartName="/ppt/notesSlides/notesSlide152.xml" ContentType="application/vnd.openxmlformats-officedocument.presentationml.notesSlide+xml"/>
  <Override PartName="/ppt/notesSlides/notesSlide1520.xml" ContentType="application/vnd.openxmlformats-officedocument.presentationml.notesSlide+xml"/>
  <Override PartName="/ppt/notesSlides/notesSlide1522.xml" ContentType="application/vnd.openxmlformats-officedocument.presentationml.notesSlide+xml"/>
  <Override PartName="/ppt/notesSlides/notesSlide1524.xml" ContentType="application/vnd.openxmlformats-officedocument.presentationml.notesSlide+xml"/>
  <Override PartName="/ppt/notesSlides/notesSlide1525.xml" ContentType="application/vnd.openxmlformats-officedocument.presentationml.notesSlide+xml"/>
  <Override PartName="/ppt/notesSlides/notesSlide1526.xml" ContentType="application/vnd.openxmlformats-officedocument.presentationml.notesSlide+xml"/>
  <Override PartName="/ppt/notesSlides/notesSlide1527.xml" ContentType="application/vnd.openxmlformats-officedocument.presentationml.notesSlide+xml"/>
  <Override PartName="/ppt/notesSlides/notesSlide1528.xml" ContentType="application/vnd.openxmlformats-officedocument.presentationml.notesSlide+xml"/>
  <Override PartName="/ppt/notesSlides/notesSlide1529.xml" ContentType="application/vnd.openxmlformats-officedocument.presentationml.notesSlide+xml"/>
  <Override PartName="/ppt/notesSlides/notesSlide153.xml" ContentType="application/vnd.openxmlformats-officedocument.presentationml.notesSlide+xml"/>
  <Override PartName="/ppt/notesSlides/notesSlide1531.xml" ContentType="application/vnd.openxmlformats-officedocument.presentationml.notesSlide+xml"/>
  <Override PartName="/ppt/notesSlides/notesSlide1533.xml" ContentType="application/vnd.openxmlformats-officedocument.presentationml.notesSlide+xml"/>
  <Override PartName="/ppt/notesSlides/notesSlide1534.xml" ContentType="application/vnd.openxmlformats-officedocument.presentationml.notesSlide+xml"/>
  <Override PartName="/ppt/notesSlides/notesSlide1535.xml" ContentType="application/vnd.openxmlformats-officedocument.presentationml.notesSlide+xml"/>
  <Override PartName="/ppt/notesSlides/notesSlide1536.xml" ContentType="application/vnd.openxmlformats-officedocument.presentationml.notesSlide+xml"/>
  <Override PartName="/ppt/notesSlides/notesSlide1537.xml" ContentType="application/vnd.openxmlformats-officedocument.presentationml.notesSlide+xml"/>
  <Override PartName="/ppt/notesSlides/notesSlide1538.xml" ContentType="application/vnd.openxmlformats-officedocument.presentationml.notesSlide+xml"/>
  <Override PartName="/ppt/notesSlides/notesSlide1539.xml" ContentType="application/vnd.openxmlformats-officedocument.presentationml.notesSlide+xml"/>
  <Override PartName="/ppt/notesSlides/notesSlide1540.xml" ContentType="application/vnd.openxmlformats-officedocument.presentationml.notesSlide+xml"/>
  <Override PartName="/ppt/notesSlides/notesSlide1541.xml" ContentType="application/vnd.openxmlformats-officedocument.presentationml.notesSlide+xml"/>
  <Override PartName="/ppt/notesSlides/notesSlide1542.xml" ContentType="application/vnd.openxmlformats-officedocument.presentationml.notesSlide+xml"/>
  <Override PartName="/ppt/notesSlides/notesSlide1543.xml" ContentType="application/vnd.openxmlformats-officedocument.presentationml.notesSlide+xml"/>
  <Override PartName="/ppt/notesSlides/notesSlide1544.xml" ContentType="application/vnd.openxmlformats-officedocument.presentationml.notesSlide+xml"/>
  <Override PartName="/ppt/notesSlides/notesSlide1545.xml" ContentType="application/vnd.openxmlformats-officedocument.presentationml.notesSlide+xml"/>
  <Override PartName="/ppt/notesSlides/notesSlide1546.xml" ContentType="application/vnd.openxmlformats-officedocument.presentationml.notesSlide+xml"/>
  <Override PartName="/ppt/notesSlides/notesSlide1547.xml" ContentType="application/vnd.openxmlformats-officedocument.presentationml.notesSlide+xml"/>
  <Override PartName="/ppt/notesSlides/notesSlide1548.xml" ContentType="application/vnd.openxmlformats-officedocument.presentationml.notesSlide+xml"/>
  <Override PartName="/ppt/notesSlides/notesSlide1549.xml" ContentType="application/vnd.openxmlformats-officedocument.presentationml.notesSlide+xml"/>
  <Override PartName="/ppt/notesSlides/notesSlide155.xml" ContentType="application/vnd.openxmlformats-officedocument.presentationml.notesSlide+xml"/>
  <Override PartName="/ppt/notesSlides/notesSlide1551.xml" ContentType="application/vnd.openxmlformats-officedocument.presentationml.notesSlide+xml"/>
  <Override PartName="/ppt/notesSlides/notesSlide1553.xml" ContentType="application/vnd.openxmlformats-officedocument.presentationml.notesSlide+xml"/>
  <Override PartName="/ppt/notesSlides/notesSlide1554.xml" ContentType="application/vnd.openxmlformats-officedocument.presentationml.notesSlide+xml"/>
  <Override PartName="/ppt/notesSlides/notesSlide1555.xml" ContentType="application/vnd.openxmlformats-officedocument.presentationml.notesSlide+xml"/>
  <Override PartName="/ppt/notesSlides/notesSlide1556.xml" ContentType="application/vnd.openxmlformats-officedocument.presentationml.notesSlide+xml"/>
  <Override PartName="/ppt/notesSlides/notesSlide1557.xml" ContentType="application/vnd.openxmlformats-officedocument.presentationml.notesSlide+xml"/>
  <Override PartName="/ppt/notesSlides/notesSlide1558.xml" ContentType="application/vnd.openxmlformats-officedocument.presentationml.notesSlide+xml"/>
  <Override PartName="/ppt/notesSlides/notesSlide156.xml" ContentType="application/vnd.openxmlformats-officedocument.presentationml.notesSlide+xml"/>
  <Override PartName="/ppt/notesSlides/notesSlide1560.xml" ContentType="application/vnd.openxmlformats-officedocument.presentationml.notesSlide+xml"/>
  <Override PartName="/ppt/notesSlides/notesSlide1562.xml" ContentType="application/vnd.openxmlformats-officedocument.presentationml.notesSlide+xml"/>
  <Override PartName="/ppt/notesSlides/notesSlide1563.xml" ContentType="application/vnd.openxmlformats-officedocument.presentationml.notesSlide+xml"/>
  <Override PartName="/ppt/notesSlides/notesSlide1564.xml" ContentType="application/vnd.openxmlformats-officedocument.presentationml.notesSlide+xml"/>
  <Override PartName="/ppt/notesSlides/notesSlide1565.xml" ContentType="application/vnd.openxmlformats-officedocument.presentationml.notesSlide+xml"/>
  <Override PartName="/ppt/notesSlides/notesSlide1566.xml" ContentType="application/vnd.openxmlformats-officedocument.presentationml.notesSlide+xml"/>
  <Override PartName="/ppt/notesSlides/notesSlide1567.xml" ContentType="application/vnd.openxmlformats-officedocument.presentationml.notesSlide+xml"/>
  <Override PartName="/ppt/notesSlides/notesSlide1568.xml" ContentType="application/vnd.openxmlformats-officedocument.presentationml.notesSlide+xml"/>
  <Override PartName="/ppt/notesSlides/notesSlide1569.xml" ContentType="application/vnd.openxmlformats-officedocument.presentationml.notesSlide+xml"/>
  <Override PartName="/ppt/notesSlides/notesSlide157.xml" ContentType="application/vnd.openxmlformats-officedocument.presentationml.notesSlide+xml"/>
  <Override PartName="/ppt/notesSlides/notesSlide1570.xml" ContentType="application/vnd.openxmlformats-officedocument.presentationml.notesSlide+xml"/>
  <Override PartName="/ppt/notesSlides/notesSlide1571.xml" ContentType="application/vnd.openxmlformats-officedocument.presentationml.notesSlide+xml"/>
  <Override PartName="/ppt/notesSlides/notesSlide1572.xml" ContentType="application/vnd.openxmlformats-officedocument.presentationml.notesSlide+xml"/>
  <Override PartName="/ppt/notesSlides/notesSlide1573.xml" ContentType="application/vnd.openxmlformats-officedocument.presentationml.notesSlide+xml"/>
  <Override PartName="/ppt/notesSlides/notesSlide1574.xml" ContentType="application/vnd.openxmlformats-officedocument.presentationml.notesSlide+xml"/>
  <Override PartName="/ppt/notesSlides/notesSlide1575.xml" ContentType="application/vnd.openxmlformats-officedocument.presentationml.notesSlide+xml"/>
  <Override PartName="/ppt/notesSlides/notesSlide1576.xml" ContentType="application/vnd.openxmlformats-officedocument.presentationml.notesSlide+xml"/>
  <Override PartName="/ppt/notesSlides/notesSlide1577.xml" ContentType="application/vnd.openxmlformats-officedocument.presentationml.notesSlide+xml"/>
  <Override PartName="/ppt/notesSlides/notesSlide1578.xml" ContentType="application/vnd.openxmlformats-officedocument.presentationml.notesSlide+xml"/>
  <Override PartName="/ppt/notesSlides/notesSlide158.xml" ContentType="application/vnd.openxmlformats-officedocument.presentationml.notesSlide+xml"/>
  <Override PartName="/ppt/notesSlides/notesSlide1580.xml" ContentType="application/vnd.openxmlformats-officedocument.presentationml.notesSlide+xml"/>
  <Override PartName="/ppt/notesSlides/notesSlide1582.xml" ContentType="application/vnd.openxmlformats-officedocument.presentationml.notesSlide+xml"/>
  <Override PartName="/ppt/notesSlides/notesSlide1583.xml" ContentType="application/vnd.openxmlformats-officedocument.presentationml.notesSlide+xml"/>
  <Override PartName="/ppt/notesSlides/notesSlide1584.xml" ContentType="application/vnd.openxmlformats-officedocument.presentationml.notesSlide+xml"/>
  <Override PartName="/ppt/notesSlides/notesSlide1585.xml" ContentType="application/vnd.openxmlformats-officedocument.presentationml.notesSlide+xml"/>
  <Override PartName="/ppt/notesSlides/notesSlide1586.xml" ContentType="application/vnd.openxmlformats-officedocument.presentationml.notesSlide+xml"/>
  <Override PartName="/ppt/notesSlides/notesSlide1587.xml" ContentType="application/vnd.openxmlformats-officedocument.presentationml.notesSlide+xml"/>
  <Override PartName="/ppt/notesSlides/notesSlide1589.xml" ContentType="application/vnd.openxmlformats-officedocument.presentationml.notesSlide+xml"/>
  <Override PartName="/ppt/notesSlides/notesSlide159.xml" ContentType="application/vnd.openxmlformats-officedocument.presentationml.notesSlide+xml"/>
  <Override PartName="/ppt/notesSlides/notesSlide1591.xml" ContentType="application/vnd.openxmlformats-officedocument.presentationml.notesSlide+xml"/>
  <Override PartName="/ppt/notesSlides/notesSlide1592.xml" ContentType="application/vnd.openxmlformats-officedocument.presentationml.notesSlide+xml"/>
  <Override PartName="/ppt/notesSlides/notesSlide1593.xml" ContentType="application/vnd.openxmlformats-officedocument.presentationml.notesSlide+xml"/>
  <Override PartName="/ppt/notesSlides/notesSlide1594.xml" ContentType="application/vnd.openxmlformats-officedocument.presentationml.notesSlide+xml"/>
  <Override PartName="/ppt/notesSlides/notesSlide1595.xml" ContentType="application/vnd.openxmlformats-officedocument.presentationml.notesSlide+xml"/>
  <Override PartName="/ppt/notesSlides/notesSlide1596.xml" ContentType="application/vnd.openxmlformats-officedocument.presentationml.notesSlide+xml"/>
  <Override PartName="/ppt/notesSlides/notesSlide1597.xml" ContentType="application/vnd.openxmlformats-officedocument.presentationml.notesSlide+xml"/>
  <Override PartName="/ppt/notesSlides/notesSlide1598.xml" ContentType="application/vnd.openxmlformats-officedocument.presentationml.notesSlide+xml"/>
  <Override PartName="/ppt/notesSlides/notesSlide1599.xml" ContentType="application/vnd.openxmlformats-officedocument.presentationml.notesSlide+xml"/>
  <Override PartName="/ppt/notesSlides/notesSlide16.xml" ContentType="application/vnd.openxmlformats-officedocument.presentationml.notesSlide+xml"/>
  <Override PartName="/ppt/notesSlides/notesSlide1600.xml" ContentType="application/vnd.openxmlformats-officedocument.presentationml.notesSlide+xml"/>
  <Override PartName="/ppt/notesSlides/notesSlide1601.xml" ContentType="application/vnd.openxmlformats-officedocument.presentationml.notesSlide+xml"/>
  <Override PartName="/ppt/notesSlides/notesSlide1602.xml" ContentType="application/vnd.openxmlformats-officedocument.presentationml.notesSlide+xml"/>
  <Override PartName="/ppt/notesSlides/notesSlide1603.xml" ContentType="application/vnd.openxmlformats-officedocument.presentationml.notesSlide+xml"/>
  <Override PartName="/ppt/notesSlides/notesSlide1604.xml" ContentType="application/vnd.openxmlformats-officedocument.presentationml.notesSlide+xml"/>
  <Override PartName="/ppt/notesSlides/notesSlide1605.xml" ContentType="application/vnd.openxmlformats-officedocument.presentationml.notesSlide+xml"/>
  <Override PartName="/ppt/notesSlides/notesSlide1606.xml" ContentType="application/vnd.openxmlformats-officedocument.presentationml.notesSlide+xml"/>
  <Override PartName="/ppt/notesSlides/notesSlide1607.xml" ContentType="application/vnd.openxmlformats-officedocument.presentationml.notesSlide+xml"/>
  <Override PartName="/ppt/notesSlides/notesSlide1609.xml" ContentType="application/vnd.openxmlformats-officedocument.presentationml.notesSlide+xml"/>
  <Override PartName="/ppt/notesSlides/notesSlide161.xml" ContentType="application/vnd.openxmlformats-officedocument.presentationml.notesSlide+xml"/>
  <Override PartName="/ppt/notesSlides/notesSlide1611.xml" ContentType="application/vnd.openxmlformats-officedocument.presentationml.notesSlide+xml"/>
  <Override PartName="/ppt/notesSlides/notesSlide1612.xml" ContentType="application/vnd.openxmlformats-officedocument.presentationml.notesSlide+xml"/>
  <Override PartName="/ppt/notesSlides/notesSlide1613.xml" ContentType="application/vnd.openxmlformats-officedocument.presentationml.notesSlide+xml"/>
  <Override PartName="/ppt/notesSlides/notesSlide1614.xml" ContentType="application/vnd.openxmlformats-officedocument.presentationml.notesSlide+xml"/>
  <Override PartName="/ppt/notesSlides/notesSlide1615.xml" ContentType="application/vnd.openxmlformats-officedocument.presentationml.notesSlide+xml"/>
  <Override PartName="/ppt/notesSlides/notesSlide1616.xml" ContentType="application/vnd.openxmlformats-officedocument.presentationml.notesSlide+xml"/>
  <Override PartName="/ppt/notesSlides/notesSlide1618.xml" ContentType="application/vnd.openxmlformats-officedocument.presentationml.notesSlide+xml"/>
  <Override PartName="/ppt/notesSlides/notesSlide162.xml" ContentType="application/vnd.openxmlformats-officedocument.presentationml.notesSlide+xml"/>
  <Override PartName="/ppt/notesSlides/notesSlide1620.xml" ContentType="application/vnd.openxmlformats-officedocument.presentationml.notesSlide+xml"/>
  <Override PartName="/ppt/notesSlides/notesSlide1621.xml" ContentType="application/vnd.openxmlformats-officedocument.presentationml.notesSlide+xml"/>
  <Override PartName="/ppt/notesSlides/notesSlide1622.xml" ContentType="application/vnd.openxmlformats-officedocument.presentationml.notesSlide+xml"/>
  <Override PartName="/ppt/notesSlides/notesSlide1623.xml" ContentType="application/vnd.openxmlformats-officedocument.presentationml.notesSlide+xml"/>
  <Override PartName="/ppt/notesSlides/notesSlide1624.xml" ContentType="application/vnd.openxmlformats-officedocument.presentationml.notesSlide+xml"/>
  <Override PartName="/ppt/notesSlides/notesSlide1625.xml" ContentType="application/vnd.openxmlformats-officedocument.presentationml.notesSlide+xml"/>
  <Override PartName="/ppt/notesSlides/notesSlide1626.xml" ContentType="application/vnd.openxmlformats-officedocument.presentationml.notesSlide+xml"/>
  <Override PartName="/ppt/notesSlides/notesSlide1627.xml" ContentType="application/vnd.openxmlformats-officedocument.presentationml.notesSlide+xml"/>
  <Override PartName="/ppt/notesSlides/notesSlide1628.xml" ContentType="application/vnd.openxmlformats-officedocument.presentationml.notesSlide+xml"/>
  <Override PartName="/ppt/notesSlides/notesSlide1629.xml" ContentType="application/vnd.openxmlformats-officedocument.presentationml.notesSlide+xml"/>
  <Override PartName="/ppt/notesSlides/notesSlide1630.xml" ContentType="application/vnd.openxmlformats-officedocument.presentationml.notesSlide+xml"/>
  <Override PartName="/ppt/notesSlides/notesSlide1631.xml" ContentType="application/vnd.openxmlformats-officedocument.presentationml.notesSlide+xml"/>
  <Override PartName="/ppt/notesSlides/notesSlide1632.xml" ContentType="application/vnd.openxmlformats-officedocument.presentationml.notesSlide+xml"/>
  <Override PartName="/ppt/notesSlides/notesSlide1633.xml" ContentType="application/vnd.openxmlformats-officedocument.presentationml.notesSlide+xml"/>
  <Override PartName="/ppt/notesSlides/notesSlide1634.xml" ContentType="application/vnd.openxmlformats-officedocument.presentationml.notesSlide+xml"/>
  <Override PartName="/ppt/notesSlides/notesSlide1635.xml" ContentType="application/vnd.openxmlformats-officedocument.presentationml.notesSlide+xml"/>
  <Override PartName="/ppt/notesSlides/notesSlide1636.xml" ContentType="application/vnd.openxmlformats-officedocument.presentationml.notesSlide+xml"/>
  <Override PartName="/ppt/notesSlides/notesSlide1638.xml" ContentType="application/vnd.openxmlformats-officedocument.presentationml.notesSlide+xml"/>
  <Override PartName="/ppt/notesSlides/notesSlide164.xml" ContentType="application/vnd.openxmlformats-officedocument.presentationml.notesSlide+xml"/>
  <Override PartName="/ppt/notesSlides/notesSlide1640.xml" ContentType="application/vnd.openxmlformats-officedocument.presentationml.notesSlide+xml"/>
  <Override PartName="/ppt/notesSlides/notesSlide1641.xml" ContentType="application/vnd.openxmlformats-officedocument.presentationml.notesSlide+xml"/>
  <Override PartName="/ppt/notesSlides/notesSlide1642.xml" ContentType="application/vnd.openxmlformats-officedocument.presentationml.notesSlide+xml"/>
  <Override PartName="/ppt/notesSlides/notesSlide1643.xml" ContentType="application/vnd.openxmlformats-officedocument.presentationml.notesSlide+xml"/>
  <Override PartName="/ppt/notesSlides/notesSlide1644.xml" ContentType="application/vnd.openxmlformats-officedocument.presentationml.notesSlide+xml"/>
  <Override PartName="/ppt/notesSlides/notesSlide1645.xml" ContentType="application/vnd.openxmlformats-officedocument.presentationml.notesSlide+xml"/>
  <Override PartName="/ppt/notesSlides/notesSlide1647.xml" ContentType="application/vnd.openxmlformats-officedocument.presentationml.notesSlide+xml"/>
  <Override PartName="/ppt/notesSlides/notesSlide1649.xml" ContentType="application/vnd.openxmlformats-officedocument.presentationml.notesSlide+xml"/>
  <Override PartName="/ppt/notesSlides/notesSlide165.xml" ContentType="application/vnd.openxmlformats-officedocument.presentationml.notesSlide+xml"/>
  <Override PartName="/ppt/notesSlides/notesSlide1650.xml" ContentType="application/vnd.openxmlformats-officedocument.presentationml.notesSlide+xml"/>
  <Override PartName="/ppt/notesSlides/notesSlide1651.xml" ContentType="application/vnd.openxmlformats-officedocument.presentationml.notesSlide+xml"/>
  <Override PartName="/ppt/notesSlides/notesSlide1652.xml" ContentType="application/vnd.openxmlformats-officedocument.presentationml.notesSlide+xml"/>
  <Override PartName="/ppt/notesSlides/notesSlide1653.xml" ContentType="application/vnd.openxmlformats-officedocument.presentationml.notesSlide+xml"/>
  <Override PartName="/ppt/notesSlides/notesSlide1654.xml" ContentType="application/vnd.openxmlformats-officedocument.presentationml.notesSlide+xml"/>
  <Override PartName="/ppt/notesSlides/notesSlide1655.xml" ContentType="application/vnd.openxmlformats-officedocument.presentationml.notesSlide+xml"/>
  <Override PartName="/ppt/notesSlides/notesSlide1656.xml" ContentType="application/vnd.openxmlformats-officedocument.presentationml.notesSlide+xml"/>
  <Override PartName="/ppt/notesSlides/notesSlide1657.xml" ContentType="application/vnd.openxmlformats-officedocument.presentationml.notesSlide+xml"/>
  <Override PartName="/ppt/notesSlides/notesSlide1658.xml" ContentType="application/vnd.openxmlformats-officedocument.presentationml.notesSlide+xml"/>
  <Override PartName="/ppt/notesSlides/notesSlide1659.xml" ContentType="application/vnd.openxmlformats-officedocument.presentationml.notesSlide+xml"/>
  <Override PartName="/ppt/notesSlides/notesSlide166.xml" ContentType="application/vnd.openxmlformats-officedocument.presentationml.notesSlide+xml"/>
  <Override PartName="/ppt/notesSlides/notesSlide1660.xml" ContentType="application/vnd.openxmlformats-officedocument.presentationml.notesSlide+xml"/>
  <Override PartName="/ppt/notesSlides/notesSlide1661.xml" ContentType="application/vnd.openxmlformats-officedocument.presentationml.notesSlide+xml"/>
  <Override PartName="/ppt/notesSlides/notesSlide1662.xml" ContentType="application/vnd.openxmlformats-officedocument.presentationml.notesSlide+xml"/>
  <Override PartName="/ppt/notesSlides/notesSlide1663.xml" ContentType="application/vnd.openxmlformats-officedocument.presentationml.notesSlide+xml"/>
  <Override PartName="/ppt/notesSlides/notesSlide1664.xml" ContentType="application/vnd.openxmlformats-officedocument.presentationml.notesSlide+xml"/>
  <Override PartName="/ppt/notesSlides/notesSlide1665.xml" ContentType="application/vnd.openxmlformats-officedocument.presentationml.notesSlide+xml"/>
  <Override PartName="/ppt/notesSlides/notesSlide1667.xml" ContentType="application/vnd.openxmlformats-officedocument.presentationml.notesSlide+xml"/>
  <Override PartName="/ppt/notesSlides/notesSlide1669.xml" ContentType="application/vnd.openxmlformats-officedocument.presentationml.notesSlide+xml"/>
  <Override PartName="/ppt/notesSlides/notesSlide167.xml" ContentType="application/vnd.openxmlformats-officedocument.presentationml.notesSlide+xml"/>
  <Override PartName="/ppt/notesSlides/notesSlide1670.xml" ContentType="application/vnd.openxmlformats-officedocument.presentationml.notesSlide+xml"/>
  <Override PartName="/ppt/notesSlides/notesSlide1671.xml" ContentType="application/vnd.openxmlformats-officedocument.presentationml.notesSlide+xml"/>
  <Override PartName="/ppt/notesSlides/notesSlide1672.xml" ContentType="application/vnd.openxmlformats-officedocument.presentationml.notesSlide+xml"/>
  <Override PartName="/ppt/notesSlides/notesSlide1673.xml" ContentType="application/vnd.openxmlformats-officedocument.presentationml.notesSlide+xml"/>
  <Override PartName="/ppt/notesSlides/notesSlide1674.xml" ContentType="application/vnd.openxmlformats-officedocument.presentationml.notesSlide+xml"/>
  <Override PartName="/ppt/notesSlides/notesSlide1675.xml" ContentType="application/vnd.openxmlformats-officedocument.presentationml.notesSlide+xml"/>
  <Override PartName="/ppt/notesSlides/notesSlide1676.xml" ContentType="application/vnd.openxmlformats-officedocument.presentationml.notesSlide+xml"/>
  <Override PartName="/ppt/notesSlides/notesSlide1677.xml" ContentType="application/vnd.openxmlformats-officedocument.presentationml.notesSlide+xml"/>
  <Override PartName="/ppt/notesSlides/notesSlide1678.xml" ContentType="application/vnd.openxmlformats-officedocument.presentationml.notesSlide+xml"/>
  <Override PartName="/ppt/notesSlides/notesSlide1679.xml" ContentType="application/vnd.openxmlformats-officedocument.presentationml.notesSlide+xml"/>
  <Override PartName="/ppt/notesSlides/notesSlide1680.xml" ContentType="application/vnd.openxmlformats-officedocument.presentationml.notesSlide+xml"/>
  <Override PartName="/ppt/notesSlides/notesSlide1681.xml" ContentType="application/vnd.openxmlformats-officedocument.presentationml.notesSlide+xml"/>
  <Override PartName="/ppt/notesSlides/notesSlide1682.xml" ContentType="application/vnd.openxmlformats-officedocument.presentationml.notesSlide+xml"/>
  <Override PartName="/ppt/notesSlides/notesSlide1683.xml" ContentType="application/vnd.openxmlformats-officedocument.presentationml.notesSlide+xml"/>
  <Override PartName="/ppt/notesSlides/notesSlide1684.xml" ContentType="application/vnd.openxmlformats-officedocument.presentationml.notesSlide+xml"/>
  <Override PartName="/ppt/notesSlides/notesSlide1685.xml" ContentType="application/vnd.openxmlformats-officedocument.presentationml.notesSlide+xml"/>
  <Override PartName="/ppt/notesSlides/notesSlide1686.xml" ContentType="application/vnd.openxmlformats-officedocument.presentationml.notesSlide+xml"/>
  <Override PartName="/ppt/notesSlides/notesSlide1687.xml" ContentType="application/vnd.openxmlformats-officedocument.presentationml.notesSlide+xml"/>
  <Override PartName="/ppt/notesSlides/notesSlide1688.xml" ContentType="application/vnd.openxmlformats-officedocument.presentationml.notesSlide+xml"/>
  <Override PartName="/ppt/notesSlides/notesSlide1689.xml" ContentType="application/vnd.openxmlformats-officedocument.presentationml.notesSlide+xml"/>
  <Override PartName="/ppt/notesSlides/notesSlide169.xml" ContentType="application/vnd.openxmlformats-officedocument.presentationml.notesSlide+xml"/>
  <Override PartName="/ppt/notesSlides/notesSlide1690.xml" ContentType="application/vnd.openxmlformats-officedocument.presentationml.notesSlide+xml"/>
  <Override PartName="/ppt/notesSlides/notesSlide1691.xml" ContentType="application/vnd.openxmlformats-officedocument.presentationml.notesSlide+xml"/>
  <Override PartName="/ppt/notesSlides/notesSlide1692.xml" ContentType="application/vnd.openxmlformats-officedocument.presentationml.notesSlide+xml"/>
  <Override PartName="/ppt/notesSlides/notesSlide1693.xml" ContentType="application/vnd.openxmlformats-officedocument.presentationml.notesSlide+xml"/>
  <Override PartName="/ppt/notesSlides/notesSlide1694.xml" ContentType="application/vnd.openxmlformats-officedocument.presentationml.notesSlide+xml"/>
  <Override PartName="/ppt/notesSlides/notesSlide1695.xml" ContentType="application/vnd.openxmlformats-officedocument.presentationml.notesSlide+xml"/>
  <Override PartName="/ppt/notesSlides/notesSlide1696.xml" ContentType="application/vnd.openxmlformats-officedocument.presentationml.notesSlide+xml"/>
  <Override PartName="/ppt/notesSlides/notesSlide1697.xml" ContentType="application/vnd.openxmlformats-officedocument.presentationml.notesSlide+xml"/>
  <Override PartName="/ppt/notesSlides/notesSlide1698.xml" ContentType="application/vnd.openxmlformats-officedocument.presentationml.notesSlide+xml"/>
  <Override PartName="/ppt/notesSlides/notesSlide169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00.xml" ContentType="application/vnd.openxmlformats-officedocument.presentationml.notesSlide+xml"/>
  <Override PartName="/ppt/notesSlides/notesSlide1701.xml" ContentType="application/vnd.openxmlformats-officedocument.presentationml.notesSlide+xml"/>
  <Override PartName="/ppt/notesSlides/notesSlide1702.xml" ContentType="application/vnd.openxmlformats-officedocument.presentationml.notesSlide+xml"/>
  <Override PartName="/ppt/notesSlides/notesSlide1703.xml" ContentType="application/vnd.openxmlformats-officedocument.presentationml.notesSlide+xml"/>
  <Override PartName="/ppt/notesSlides/notesSlide1704.xml" ContentType="application/vnd.openxmlformats-officedocument.presentationml.notesSlide+xml"/>
  <Override PartName="/ppt/notesSlides/notesSlide1705.xml" ContentType="application/vnd.openxmlformats-officedocument.presentationml.notesSlide+xml"/>
  <Override PartName="/ppt/notesSlides/notesSlide1706.xml" ContentType="application/vnd.openxmlformats-officedocument.presentationml.notesSlide+xml"/>
  <Override PartName="/ppt/notesSlides/notesSlide1707.xml" ContentType="application/vnd.openxmlformats-officedocument.presentationml.notesSlide+xml"/>
  <Override PartName="/ppt/notesSlides/notesSlide1708.xml" ContentType="application/vnd.openxmlformats-officedocument.presentationml.notesSlide+xml"/>
  <Override PartName="/ppt/notesSlides/notesSlide1709.xml" ContentType="application/vnd.openxmlformats-officedocument.presentationml.notesSlide+xml"/>
  <Override PartName="/ppt/notesSlides/notesSlide1710.xml" ContentType="application/vnd.openxmlformats-officedocument.presentationml.notesSlide+xml"/>
  <Override PartName="/ppt/notesSlides/notesSlide1711.xml" ContentType="application/vnd.openxmlformats-officedocument.presentationml.notesSlide+xml"/>
  <Override PartName="/ppt/notesSlides/notesSlide1712.xml" ContentType="application/vnd.openxmlformats-officedocument.presentationml.notesSlide+xml"/>
  <Override PartName="/ppt/notesSlides/notesSlide1713.xml" ContentType="application/vnd.openxmlformats-officedocument.presentationml.notesSlide+xml"/>
  <Override PartName="/ppt/notesSlides/notesSlide1714.xml" ContentType="application/vnd.openxmlformats-officedocument.presentationml.notesSlide+xml"/>
  <Override PartName="/ppt/notesSlides/notesSlide1715.xml" ContentType="application/vnd.openxmlformats-officedocument.presentationml.notesSlide+xml"/>
  <Override PartName="/ppt/notesSlides/notesSlide1716.xml" ContentType="application/vnd.openxmlformats-officedocument.presentationml.notesSlide+xml"/>
  <Override PartName="/ppt/notesSlides/notesSlide1717.xml" ContentType="application/vnd.openxmlformats-officedocument.presentationml.notesSlide+xml"/>
  <Override PartName="/ppt/notesSlides/notesSlide1718.xml" ContentType="application/vnd.openxmlformats-officedocument.presentationml.notesSlide+xml"/>
  <Override PartName="/ppt/notesSlides/notesSlide1719.xml" ContentType="application/vnd.openxmlformats-officedocument.presentationml.notesSlide+xml"/>
  <Override PartName="/ppt/notesSlides/notesSlide1720.xml" ContentType="application/vnd.openxmlformats-officedocument.presentationml.notesSlide+xml"/>
  <Override PartName="/ppt/notesSlides/notesSlide1721.xml" ContentType="application/vnd.openxmlformats-officedocument.presentationml.notesSlide+xml"/>
  <Override PartName="/ppt/notesSlides/notesSlide1722.xml" ContentType="application/vnd.openxmlformats-officedocument.presentationml.notesSlide+xml"/>
  <Override PartName="/ppt/notesSlides/notesSlide1723.xml" ContentType="application/vnd.openxmlformats-officedocument.presentationml.notesSlide+xml"/>
  <Override PartName="/ppt/notesSlides/notesSlide1724.xml" ContentType="application/vnd.openxmlformats-officedocument.presentationml.notesSlide+xml"/>
  <Override PartName="/ppt/notesSlides/notesSlide1725.xml" ContentType="application/vnd.openxmlformats-officedocument.presentationml.notesSlide+xml"/>
  <Override PartName="/ppt/notesSlides/notesSlide1726.xml" ContentType="application/vnd.openxmlformats-officedocument.presentationml.notesSlide+xml"/>
  <Override PartName="/ppt/notesSlides/notesSlide1727.xml" ContentType="application/vnd.openxmlformats-officedocument.presentationml.notesSlide+xml"/>
  <Override PartName="/ppt/notesSlides/notesSlide1728.xml" ContentType="application/vnd.openxmlformats-officedocument.presentationml.notesSlide+xml"/>
  <Override PartName="/ppt/notesSlides/notesSlide1729.xml" ContentType="application/vnd.openxmlformats-officedocument.presentationml.notesSlide+xml"/>
  <Override PartName="/ppt/notesSlides/notesSlide173.xml" ContentType="application/vnd.openxmlformats-officedocument.presentationml.notesSlide+xml"/>
  <Override PartName="/ppt/notesSlides/notesSlide1730.xml" ContentType="application/vnd.openxmlformats-officedocument.presentationml.notesSlide+xml"/>
  <Override PartName="/ppt/notesSlides/notesSlide1731.xml" ContentType="application/vnd.openxmlformats-officedocument.presentationml.notesSlide+xml"/>
  <Override PartName="/ppt/notesSlides/notesSlide1732.xml" ContentType="application/vnd.openxmlformats-officedocument.presentationml.notesSlide+xml"/>
  <Override PartName="/ppt/notesSlides/notesSlide1733.xml" ContentType="application/vnd.openxmlformats-officedocument.presentationml.notesSlide+xml"/>
  <Override PartName="/ppt/notesSlides/notesSlide1734.xml" ContentType="application/vnd.openxmlformats-officedocument.presentationml.notesSlide+xml"/>
  <Override PartName="/ppt/notesSlides/notesSlide1735.xml" ContentType="application/vnd.openxmlformats-officedocument.presentationml.notesSlide+xml"/>
  <Override PartName="/ppt/notesSlides/notesSlide1736.xml" ContentType="application/vnd.openxmlformats-officedocument.presentationml.notesSlide+xml"/>
  <Override PartName="/ppt/notesSlides/notesSlide1737.xml" ContentType="application/vnd.openxmlformats-officedocument.presentationml.notesSlide+xml"/>
  <Override PartName="/ppt/notesSlides/notesSlide1738.xml" ContentType="application/vnd.openxmlformats-officedocument.presentationml.notesSlide+xml"/>
  <Override PartName="/ppt/notesSlides/notesSlide1739.xml" ContentType="application/vnd.openxmlformats-officedocument.presentationml.notesSlide+xml"/>
  <Override PartName="/ppt/notesSlides/notesSlide174.xml" ContentType="application/vnd.openxmlformats-officedocument.presentationml.notesSlide+xml"/>
  <Override PartName="/ppt/notesSlides/notesSlide1740.xml" ContentType="application/vnd.openxmlformats-officedocument.presentationml.notesSlide+xml"/>
  <Override PartName="/ppt/notesSlides/notesSlide1741.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00.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xml" ContentType="application/vnd.openxmlformats-officedocument.presentationml.notesSlide+xml"/>
  <Override PartName="/ppt/notesSlides/notesSlide310.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9.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9.xml" ContentType="application/vnd.openxmlformats-officedocument.presentationml.notesSlide+xml"/>
  <Override PartName="/ppt/notesSlides/notesSlide4.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5.xml" ContentType="application/vnd.openxmlformats-officedocument.presentationml.notesSlide+xml"/>
  <Override PartName="/ppt/notesSlides/notesSlide417.xml" ContentType="application/vnd.openxmlformats-officedocument.presentationml.notesSlide+xml"/>
  <Override PartName="/ppt/notesSlides/notesSlide418.xml" ContentType="application/vnd.openxmlformats-officedocument.presentationml.notesSlide+xml"/>
  <Override PartName="/ppt/notesSlides/notesSlide419.xml" ContentType="application/vnd.openxmlformats-officedocument.presentationml.notesSlide+xml"/>
  <Override PartName="/ppt/notesSlides/notesSlide42.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3.xml" ContentType="application/vnd.openxmlformats-officedocument.presentationml.notesSlide+xml"/>
  <Override PartName="/ppt/notesSlides/notesSlide426.xml" ContentType="application/vnd.openxmlformats-officedocument.presentationml.notesSlide+xml"/>
  <Override PartName="/ppt/notesSlides/notesSlide427.xml" ContentType="application/vnd.openxmlformats-officedocument.presentationml.notesSlide+xml"/>
  <Override PartName="/ppt/notesSlides/notesSlide428.xml" ContentType="application/vnd.openxmlformats-officedocument.presentationml.notesSlide+xml"/>
  <Override PartName="/ppt/notesSlides/notesSlide429.xml" ContentType="application/vnd.openxmlformats-officedocument.presentationml.notesSlide+xml"/>
  <Override PartName="/ppt/notesSlides/notesSlide430.xml" ContentType="application/vnd.openxmlformats-officedocument.presentationml.notesSlide+xml"/>
  <Override PartName="/ppt/notesSlides/notesSlide431.xml" ContentType="application/vnd.openxmlformats-officedocument.presentationml.notesSlide+xml"/>
  <Override PartName="/ppt/notesSlides/notesSlide432.xml" ContentType="application/vnd.openxmlformats-officedocument.presentationml.notesSlide+xml"/>
  <Override PartName="/ppt/notesSlides/notesSlide433.xml" ContentType="application/vnd.openxmlformats-officedocument.presentationml.notesSlide+xml"/>
  <Override PartName="/ppt/notesSlides/notesSlide434.xml" ContentType="application/vnd.openxmlformats-officedocument.presentationml.notesSlide+xml"/>
  <Override PartName="/ppt/notesSlides/notesSlide435.xml" ContentType="application/vnd.openxmlformats-officedocument.presentationml.notesSlide+xml"/>
  <Override PartName="/ppt/notesSlides/notesSlide436.xml" ContentType="application/vnd.openxmlformats-officedocument.presentationml.notesSlide+xml"/>
  <Override PartName="/ppt/notesSlides/notesSlide437.xml" ContentType="application/vnd.openxmlformats-officedocument.presentationml.notesSlide+xml"/>
  <Override PartName="/ppt/notesSlides/notesSlide438.xml" ContentType="application/vnd.openxmlformats-officedocument.presentationml.notesSlide+xml"/>
  <Override PartName="/ppt/notesSlides/notesSlide439.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1.xml" ContentType="application/vnd.openxmlformats-officedocument.presentationml.notesSlide+xml"/>
  <Override PartName="/ppt/notesSlides/notesSlide442.xml" ContentType="application/vnd.openxmlformats-officedocument.presentationml.notesSlide+xml"/>
  <Override PartName="/ppt/notesSlides/notesSlide443.xml" ContentType="application/vnd.openxmlformats-officedocument.presentationml.notesSlide+xml"/>
  <Override PartName="/ppt/notesSlides/notesSlide444.xml" ContentType="application/vnd.openxmlformats-officedocument.presentationml.notesSlide+xml"/>
  <Override PartName="/ppt/notesSlides/notesSlide445.xml" ContentType="application/vnd.openxmlformats-officedocument.presentationml.notesSlide+xml"/>
  <Override PartName="/ppt/notesSlides/notesSlide446.xml" ContentType="application/vnd.openxmlformats-officedocument.presentationml.notesSlide+xml"/>
  <Override PartName="/ppt/notesSlides/notesSlide447.xml" ContentType="application/vnd.openxmlformats-officedocument.presentationml.notesSlide+xml"/>
  <Override PartName="/ppt/notesSlides/notesSlide448.xml" ContentType="application/vnd.openxmlformats-officedocument.presentationml.notesSlide+xml"/>
  <Override PartName="/ppt/notesSlides/notesSlide449.xml" ContentType="application/vnd.openxmlformats-officedocument.presentationml.notesSlide+xml"/>
  <Override PartName="/ppt/notesSlides/notesSlide45.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7.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3.xml" ContentType="application/vnd.openxmlformats-officedocument.presentationml.notesSlide+xml"/>
  <Override PartName="/ppt/notesSlides/notesSlide474.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3.xml" ContentType="application/vnd.openxmlformats-officedocument.presentationml.notesSlide+xml"/>
  <Override PartName="/ppt/notesSlides/notesSlide484.xml" ContentType="application/vnd.openxmlformats-officedocument.presentationml.notesSlide+xml"/>
  <Override PartName="/ppt/notesSlides/notesSlide485.xml" ContentType="application/vnd.openxmlformats-officedocument.presentationml.notesSlide+xml"/>
  <Override PartName="/ppt/notesSlides/notesSlide486.xml" ContentType="application/vnd.openxmlformats-officedocument.presentationml.notesSlide+xml"/>
  <Override PartName="/ppt/notesSlides/notesSlide487.xml" ContentType="application/vnd.openxmlformats-officedocument.presentationml.notesSlide+xml"/>
  <Override PartName="/ppt/notesSlides/notesSlide489.xml" ContentType="application/vnd.openxmlformats-officedocument.presentationml.notesSlide+xml"/>
  <Override PartName="/ppt/notesSlides/notesSlide49.xml" ContentType="application/vnd.openxmlformats-officedocument.presentationml.notesSlide+xml"/>
  <Override PartName="/ppt/notesSlides/notesSlide490.xml" ContentType="application/vnd.openxmlformats-officedocument.presentationml.notesSlide+xml"/>
  <Override PartName="/ppt/notesSlides/notesSlide492.xml" ContentType="application/vnd.openxmlformats-officedocument.presentationml.notesSlide+xml"/>
  <Override PartName="/ppt/notesSlides/notesSlide493.xml" ContentType="application/vnd.openxmlformats-officedocument.presentationml.notesSlide+xml"/>
  <Override PartName="/ppt/notesSlides/notesSlide494.xml" ContentType="application/vnd.openxmlformats-officedocument.presentationml.notesSlide+xml"/>
  <Override PartName="/ppt/notesSlides/notesSlide495.xml" ContentType="application/vnd.openxmlformats-officedocument.presentationml.notesSlide+xml"/>
  <Override PartName="/ppt/notesSlides/notesSlide496.xml" ContentType="application/vnd.openxmlformats-officedocument.presentationml.notesSlide+xml"/>
  <Override PartName="/ppt/notesSlides/notesSlide498.xml" ContentType="application/vnd.openxmlformats-officedocument.presentationml.notesSlide+xml"/>
  <Override PartName="/ppt/notesSlides/notesSlide49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2.xml" ContentType="application/vnd.openxmlformats-officedocument.presentationml.notesSlide+xml"/>
  <Override PartName="/ppt/notesSlides/notesSlide503.xml" ContentType="application/vnd.openxmlformats-officedocument.presentationml.notesSlide+xml"/>
  <Override PartName="/ppt/notesSlides/notesSlide504.xml" ContentType="application/vnd.openxmlformats-officedocument.presentationml.notesSlide+xml"/>
  <Override PartName="/ppt/notesSlides/notesSlide506.xml" ContentType="application/vnd.openxmlformats-officedocument.presentationml.notesSlide+xml"/>
  <Override PartName="/ppt/notesSlides/notesSlide507.xml" ContentType="application/vnd.openxmlformats-officedocument.presentationml.notesSlide+xml"/>
  <Override PartName="/ppt/notesSlides/notesSlide510.xml" ContentType="application/vnd.openxmlformats-officedocument.presentationml.notesSlide+xml"/>
  <Override PartName="/ppt/notesSlides/notesSlide511.xml" ContentType="application/vnd.openxmlformats-officedocument.presentationml.notesSlide+xml"/>
  <Override PartName="/ppt/notesSlides/notesSlide512.xml" ContentType="application/vnd.openxmlformats-officedocument.presentationml.notesSlide+xml"/>
  <Override PartName="/ppt/notesSlides/notesSlide513.xml" ContentType="application/vnd.openxmlformats-officedocument.presentationml.notesSlide+xml"/>
  <Override PartName="/ppt/notesSlides/notesSlide514.xml" ContentType="application/vnd.openxmlformats-officedocument.presentationml.notesSlide+xml"/>
  <Override PartName="/ppt/notesSlides/notesSlide515.xml" ContentType="application/vnd.openxmlformats-officedocument.presentationml.notesSlide+xml"/>
  <Override PartName="/ppt/notesSlides/notesSlide516.xml" ContentType="application/vnd.openxmlformats-officedocument.presentationml.notesSlide+xml"/>
  <Override PartName="/ppt/notesSlides/notesSlide517.xml" ContentType="application/vnd.openxmlformats-officedocument.presentationml.notesSlide+xml"/>
  <Override PartName="/ppt/notesSlides/notesSlide518.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0.xml" ContentType="application/vnd.openxmlformats-officedocument.presentationml.notesSlide+xml"/>
  <Override PartName="/ppt/notesSlides/notesSlide521.xml" ContentType="application/vnd.openxmlformats-officedocument.presentationml.notesSlide+xml"/>
  <Override PartName="/ppt/notesSlides/notesSlide522.xml" ContentType="application/vnd.openxmlformats-officedocument.presentationml.notesSlide+xml"/>
  <Override PartName="/ppt/notesSlides/notesSlide523.xml" ContentType="application/vnd.openxmlformats-officedocument.presentationml.notesSlide+xml"/>
  <Override PartName="/ppt/notesSlides/notesSlide524.xml" ContentType="application/vnd.openxmlformats-officedocument.presentationml.notesSlide+xml"/>
  <Override PartName="/ppt/notesSlides/notesSlide525.xml" ContentType="application/vnd.openxmlformats-officedocument.presentationml.notesSlide+xml"/>
  <Override PartName="/ppt/notesSlides/notesSlide526.xml" ContentType="application/vnd.openxmlformats-officedocument.presentationml.notesSlide+xml"/>
  <Override PartName="/ppt/notesSlides/notesSlide527.xml" ContentType="application/vnd.openxmlformats-officedocument.presentationml.notesSlide+xml"/>
  <Override PartName="/ppt/notesSlides/notesSlide528.xml" ContentType="application/vnd.openxmlformats-officedocument.presentationml.notesSlide+xml"/>
  <Override PartName="/ppt/notesSlides/notesSlide529.xml" ContentType="application/vnd.openxmlformats-officedocument.presentationml.notesSlide+xml"/>
  <Override PartName="/ppt/notesSlides/notesSlide53.xml" ContentType="application/vnd.openxmlformats-officedocument.presentationml.notesSlide+xml"/>
  <Override PartName="/ppt/notesSlides/notesSlide530.xml" ContentType="application/vnd.openxmlformats-officedocument.presentationml.notesSlide+xml"/>
  <Override PartName="/ppt/notesSlides/notesSlide531.xml" ContentType="application/vnd.openxmlformats-officedocument.presentationml.notesSlide+xml"/>
  <Override PartName="/ppt/notesSlides/notesSlide532.xml" ContentType="application/vnd.openxmlformats-officedocument.presentationml.notesSlide+xml"/>
  <Override PartName="/ppt/notesSlides/notesSlide533.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9.xml" ContentType="application/vnd.openxmlformats-officedocument.presentationml.notesSlide+xml"/>
  <Override PartName="/ppt/notesSlides/notesSlide55.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1.xml" ContentType="application/vnd.openxmlformats-officedocument.presentationml.notesSlide+xml"/>
  <Override PartName="/ppt/notesSlides/notesSlide562.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7.xml" ContentType="application/vnd.openxmlformats-officedocument.presentationml.notesSlide+xml"/>
  <Override PartName="/ppt/notesSlides/notesSlide568.xml" ContentType="application/vnd.openxmlformats-officedocument.presentationml.notesSlide+xml"/>
  <Override PartName="/ppt/notesSlides/notesSlide569.xml" ContentType="application/vnd.openxmlformats-officedocument.presentationml.notesSlide+xml"/>
  <Override PartName="/ppt/notesSlides/notesSlide57.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79.xml" ContentType="application/vnd.openxmlformats-officedocument.presentationml.notesSlide+xml"/>
  <Override PartName="/ppt/notesSlides/notesSlide580.xml" ContentType="application/vnd.openxmlformats-officedocument.presentationml.notesSlide+xml"/>
  <Override PartName="/ppt/notesSlides/notesSlide582.xml" ContentType="application/vnd.openxmlformats-officedocument.presentationml.notesSlide+xml"/>
  <Override PartName="/ppt/notesSlides/notesSlide583.xml" ContentType="application/vnd.openxmlformats-officedocument.presentationml.notesSlide+xml"/>
  <Override PartName="/ppt/notesSlides/notesSlide585.xml" ContentType="application/vnd.openxmlformats-officedocument.presentationml.notesSlide+xml"/>
  <Override PartName="/ppt/notesSlides/notesSlide586.xml" ContentType="application/vnd.openxmlformats-officedocument.presentationml.notesSlide+xml"/>
  <Override PartName="/ppt/notesSlides/notesSlide587.xml" ContentType="application/vnd.openxmlformats-officedocument.presentationml.notesSlide+xml"/>
  <Override PartName="/ppt/notesSlides/notesSlide588.xml" ContentType="application/vnd.openxmlformats-officedocument.presentationml.notesSlide+xml"/>
  <Override PartName="/ppt/notesSlides/notesSlide59.xml" ContentType="application/vnd.openxmlformats-officedocument.presentationml.notesSlide+xml"/>
  <Override PartName="/ppt/notesSlides/notesSlide590.xml" ContentType="application/vnd.openxmlformats-officedocument.presentationml.notesSlide+xml"/>
  <Override PartName="/ppt/notesSlides/notesSlide591.xml" ContentType="application/vnd.openxmlformats-officedocument.presentationml.notesSlide+xml"/>
  <Override PartName="/ppt/notesSlides/notesSlide594.xml" ContentType="application/vnd.openxmlformats-officedocument.presentationml.notesSlide+xml"/>
  <Override PartName="/ppt/notesSlides/notesSlide595.xml" ContentType="application/vnd.openxmlformats-officedocument.presentationml.notesSlide+xml"/>
  <Override PartName="/ppt/notesSlides/notesSlide596.xml" ContentType="application/vnd.openxmlformats-officedocument.presentationml.notesSlide+xml"/>
  <Override PartName="/ppt/notesSlides/notesSlide597.xml" ContentType="application/vnd.openxmlformats-officedocument.presentationml.notesSlide+xml"/>
  <Override PartName="/ppt/notesSlides/notesSlide598.xml" ContentType="application/vnd.openxmlformats-officedocument.presentationml.notesSlide+xml"/>
  <Override PartName="/ppt/notesSlides/notesSlide59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1.xml" ContentType="application/vnd.openxmlformats-officedocument.presentationml.notesSlide+xml"/>
  <Override PartName="/ppt/notesSlides/notesSlide603.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2.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20.xml" ContentType="application/vnd.openxmlformats-officedocument.presentationml.notesSlide+xml"/>
  <Override PartName="/ppt/notesSlides/notesSlide621.xml" ContentType="application/vnd.openxmlformats-officedocument.presentationml.notesSlide+xml"/>
  <Override PartName="/ppt/notesSlides/notesSlide623.xml" ContentType="application/vnd.openxmlformats-officedocument.presentationml.notesSlide+xml"/>
  <Override PartName="/ppt/notesSlides/notesSlide625.xml" ContentType="application/vnd.openxmlformats-officedocument.presentationml.notesSlide+xml"/>
  <Override PartName="/ppt/notesSlides/notesSlide626.xml" ContentType="application/vnd.openxmlformats-officedocument.presentationml.notesSlide+xml"/>
  <Override PartName="/ppt/notesSlides/notesSlide627.xml" ContentType="application/vnd.openxmlformats-officedocument.presentationml.notesSlide+xml"/>
  <Override PartName="/ppt/notesSlides/notesSlide628.xml" ContentType="application/vnd.openxmlformats-officedocument.presentationml.notesSlide+xml"/>
  <Override PartName="/ppt/notesSlides/notesSlide629.xml" ContentType="application/vnd.openxmlformats-officedocument.presentationml.notesSlide+xml"/>
  <Override PartName="/ppt/notesSlides/notesSlide63.xml" ContentType="application/vnd.openxmlformats-officedocument.presentationml.notesSlide+xml"/>
  <Override PartName="/ppt/notesSlides/notesSlide630.xml" ContentType="application/vnd.openxmlformats-officedocument.presentationml.notesSlide+xml"/>
  <Override PartName="/ppt/notesSlides/notesSlide632.xml" ContentType="application/vnd.openxmlformats-officedocument.presentationml.notesSlide+xml"/>
  <Override PartName="/ppt/notesSlides/notesSlide634.xml" ContentType="application/vnd.openxmlformats-officedocument.presentationml.notesSlide+xml"/>
  <Override PartName="/ppt/notesSlides/notesSlide635.xml" ContentType="application/vnd.openxmlformats-officedocument.presentationml.notesSlide+xml"/>
  <Override PartName="/ppt/notesSlides/notesSlide636.xml" ContentType="application/vnd.openxmlformats-officedocument.presentationml.notesSlide+xml"/>
  <Override PartName="/ppt/notesSlides/notesSlide637.xml" ContentType="application/vnd.openxmlformats-officedocument.presentationml.notesSlide+xml"/>
  <Override PartName="/ppt/notesSlides/notesSlide638.xml" ContentType="application/vnd.openxmlformats-officedocument.presentationml.notesSlide+xml"/>
  <Override PartName="/ppt/notesSlides/notesSlide639.xml" ContentType="application/vnd.openxmlformats-officedocument.presentationml.notesSlide+xml"/>
  <Override PartName="/ppt/notesSlides/notesSlide64.xml" ContentType="application/vnd.openxmlformats-officedocument.presentationml.notesSlide+xml"/>
  <Override PartName="/ppt/notesSlides/notesSlide640.xml" ContentType="application/vnd.openxmlformats-officedocument.presentationml.notesSlide+xml"/>
  <Override PartName="/ppt/notesSlides/notesSlide641.xml" ContentType="application/vnd.openxmlformats-officedocument.presentationml.notesSlide+xml"/>
  <Override PartName="/ppt/notesSlides/notesSlide642.xml" ContentType="application/vnd.openxmlformats-officedocument.presentationml.notesSlide+xml"/>
  <Override PartName="/ppt/notesSlides/notesSlide643.xml" ContentType="application/vnd.openxmlformats-officedocument.presentationml.notesSlide+xml"/>
  <Override PartName="/ppt/notesSlides/notesSlide644.xml" ContentType="application/vnd.openxmlformats-officedocument.presentationml.notesSlide+xml"/>
  <Override PartName="/ppt/notesSlides/notesSlide645.xml" ContentType="application/vnd.openxmlformats-officedocument.presentationml.notesSlide+xml"/>
  <Override PartName="/ppt/notesSlides/notesSlide646.xml" ContentType="application/vnd.openxmlformats-officedocument.presentationml.notesSlide+xml"/>
  <Override PartName="/ppt/notesSlides/notesSlide647.xml" ContentType="application/vnd.openxmlformats-officedocument.presentationml.notesSlide+xml"/>
  <Override PartName="/ppt/notesSlides/notesSlide648.xml" ContentType="application/vnd.openxmlformats-officedocument.presentationml.notesSlide+xml"/>
  <Override PartName="/ppt/notesSlides/notesSlide649.xml" ContentType="application/vnd.openxmlformats-officedocument.presentationml.notesSlide+xml"/>
  <Override PartName="/ppt/notesSlides/notesSlide65.xml" ContentType="application/vnd.openxmlformats-officedocument.presentationml.notesSlide+xml"/>
  <Override PartName="/ppt/notesSlides/notesSlide650.xml" ContentType="application/vnd.openxmlformats-officedocument.presentationml.notesSlide+xml"/>
  <Override PartName="/ppt/notesSlides/notesSlide652.xml" ContentType="application/vnd.openxmlformats-officedocument.presentationml.notesSlide+xml"/>
  <Override PartName="/ppt/notesSlides/notesSlide654.xml" ContentType="application/vnd.openxmlformats-officedocument.presentationml.notesSlide+xml"/>
  <Override PartName="/ppt/notesSlides/notesSlide655.xml" ContentType="application/vnd.openxmlformats-officedocument.presentationml.notesSlide+xml"/>
  <Override PartName="/ppt/notesSlides/notesSlide656.xml" ContentType="application/vnd.openxmlformats-officedocument.presentationml.notesSlide+xml"/>
  <Override PartName="/ppt/notesSlides/notesSlide657.xml" ContentType="application/vnd.openxmlformats-officedocument.presentationml.notesSlide+xml"/>
  <Override PartName="/ppt/notesSlides/notesSlide658.xml" ContentType="application/vnd.openxmlformats-officedocument.presentationml.notesSlide+xml"/>
  <Override PartName="/ppt/notesSlides/notesSlide659.xml" ContentType="application/vnd.openxmlformats-officedocument.presentationml.notesSlide+xml"/>
  <Override PartName="/ppt/notesSlides/notesSlide66.xml" ContentType="application/vnd.openxmlformats-officedocument.presentationml.notesSlide+xml"/>
  <Override PartName="/ppt/notesSlides/notesSlide661.xml" ContentType="application/vnd.openxmlformats-officedocument.presentationml.notesSlide+xml"/>
  <Override PartName="/ppt/notesSlides/notesSlide663.xml" ContentType="application/vnd.openxmlformats-officedocument.presentationml.notesSlide+xml"/>
  <Override PartName="/ppt/notesSlides/notesSlide664.xml" ContentType="application/vnd.openxmlformats-officedocument.presentationml.notesSlide+xml"/>
  <Override PartName="/ppt/notesSlides/notesSlide665.xml" ContentType="application/vnd.openxmlformats-officedocument.presentationml.notesSlide+xml"/>
  <Override PartName="/ppt/notesSlides/notesSlide666.xml" ContentType="application/vnd.openxmlformats-officedocument.presentationml.notesSlide+xml"/>
  <Override PartName="/ppt/notesSlides/notesSlide667.xml" ContentType="application/vnd.openxmlformats-officedocument.presentationml.notesSlide+xml"/>
  <Override PartName="/ppt/notesSlides/notesSlide668.xml" ContentType="application/vnd.openxmlformats-officedocument.presentationml.notesSlide+xml"/>
  <Override PartName="/ppt/notesSlides/notesSlide669.xml" ContentType="application/vnd.openxmlformats-officedocument.presentationml.notesSlide+xml"/>
  <Override PartName="/ppt/notesSlides/notesSlide670.xml" ContentType="application/vnd.openxmlformats-officedocument.presentationml.notesSlide+xml"/>
  <Override PartName="/ppt/notesSlides/notesSlide671.xml" ContentType="application/vnd.openxmlformats-officedocument.presentationml.notesSlide+xml"/>
  <Override PartName="/ppt/notesSlides/notesSlide672.xml" ContentType="application/vnd.openxmlformats-officedocument.presentationml.notesSlide+xml"/>
  <Override PartName="/ppt/notesSlides/notesSlide673.xml" ContentType="application/vnd.openxmlformats-officedocument.presentationml.notesSlide+xml"/>
  <Override PartName="/ppt/notesSlides/notesSlide674.xml" ContentType="application/vnd.openxmlformats-officedocument.presentationml.notesSlide+xml"/>
  <Override PartName="/ppt/notesSlides/notesSlide675.xml" ContentType="application/vnd.openxmlformats-officedocument.presentationml.notesSlide+xml"/>
  <Override PartName="/ppt/notesSlides/notesSlide676.xml" ContentType="application/vnd.openxmlformats-officedocument.presentationml.notesSlide+xml"/>
  <Override PartName="/ppt/notesSlides/notesSlide677.xml" ContentType="application/vnd.openxmlformats-officedocument.presentationml.notesSlide+xml"/>
  <Override PartName="/ppt/notesSlides/notesSlide678.xml" ContentType="application/vnd.openxmlformats-officedocument.presentationml.notesSlide+xml"/>
  <Override PartName="/ppt/notesSlides/notesSlide679.xml" ContentType="application/vnd.openxmlformats-officedocument.presentationml.notesSlide+xml"/>
  <Override PartName="/ppt/notesSlides/notesSlide68.xml" ContentType="application/vnd.openxmlformats-officedocument.presentationml.notesSlide+xml"/>
  <Override PartName="/ppt/notesSlides/notesSlide681.xml" ContentType="application/vnd.openxmlformats-officedocument.presentationml.notesSlide+xml"/>
  <Override PartName="/ppt/notesSlides/notesSlide683.xml" ContentType="application/vnd.openxmlformats-officedocument.presentationml.notesSlide+xml"/>
  <Override PartName="/ppt/notesSlides/notesSlide684.xml" ContentType="application/vnd.openxmlformats-officedocument.presentationml.notesSlide+xml"/>
  <Override PartName="/ppt/notesSlides/notesSlide685.xml" ContentType="application/vnd.openxmlformats-officedocument.presentationml.notesSlide+xml"/>
  <Override PartName="/ppt/notesSlides/notesSlide686.xml" ContentType="application/vnd.openxmlformats-officedocument.presentationml.notesSlide+xml"/>
  <Override PartName="/ppt/notesSlides/notesSlide687.xml" ContentType="application/vnd.openxmlformats-officedocument.presentationml.notesSlide+xml"/>
  <Override PartName="/ppt/notesSlides/notesSlide688.xml" ContentType="application/vnd.openxmlformats-officedocument.presentationml.notesSlide+xml"/>
  <Override PartName="/ppt/notesSlides/notesSlide69.xml" ContentType="application/vnd.openxmlformats-officedocument.presentationml.notesSlide+xml"/>
  <Override PartName="/ppt/notesSlides/notesSlide690.xml" ContentType="application/vnd.openxmlformats-officedocument.presentationml.notesSlide+xml"/>
  <Override PartName="/ppt/notesSlides/notesSlide692.xml" ContentType="application/vnd.openxmlformats-officedocument.presentationml.notesSlide+xml"/>
  <Override PartName="/ppt/notesSlides/notesSlide693.xml" ContentType="application/vnd.openxmlformats-officedocument.presentationml.notesSlide+xml"/>
  <Override PartName="/ppt/notesSlides/notesSlide694.xml" ContentType="application/vnd.openxmlformats-officedocument.presentationml.notesSlide+xml"/>
  <Override PartName="/ppt/notesSlides/notesSlide695.xml" ContentType="application/vnd.openxmlformats-officedocument.presentationml.notesSlide+xml"/>
  <Override PartName="/ppt/notesSlides/notesSlide696.xml" ContentType="application/vnd.openxmlformats-officedocument.presentationml.notesSlide+xml"/>
  <Override PartName="/ppt/notesSlides/notesSlide697.xml" ContentType="application/vnd.openxmlformats-officedocument.presentationml.notesSlide+xml"/>
  <Override PartName="/ppt/notesSlides/notesSlide698.xml" ContentType="application/vnd.openxmlformats-officedocument.presentationml.notesSlide+xml"/>
  <Override PartName="/ppt/notesSlides/notesSlide699.xml" ContentType="application/vnd.openxmlformats-officedocument.presentationml.notesSlide+xml"/>
  <Override PartName="/ppt/notesSlides/notesSlide7.xml" ContentType="application/vnd.openxmlformats-officedocument.presentationml.notesSlide+xml"/>
  <Override PartName="/ppt/notesSlides/notesSlide700.xml" ContentType="application/vnd.openxmlformats-officedocument.presentationml.notesSlide+xml"/>
  <Override PartName="/ppt/notesSlides/notesSlide701.xml" ContentType="application/vnd.openxmlformats-officedocument.presentationml.notesSlide+xml"/>
  <Override PartName="/ppt/notesSlides/notesSlide702.xml" ContentType="application/vnd.openxmlformats-officedocument.presentationml.notesSlide+xml"/>
  <Override PartName="/ppt/notesSlides/notesSlide703.xml" ContentType="application/vnd.openxmlformats-officedocument.presentationml.notesSlide+xml"/>
  <Override PartName="/ppt/notesSlides/notesSlide704.xml" ContentType="application/vnd.openxmlformats-officedocument.presentationml.notesSlide+xml"/>
  <Override PartName="/ppt/notesSlides/notesSlide705.xml" ContentType="application/vnd.openxmlformats-officedocument.presentationml.notesSlide+xml"/>
  <Override PartName="/ppt/notesSlides/notesSlide706.xml" ContentType="application/vnd.openxmlformats-officedocument.presentationml.notesSlide+xml"/>
  <Override PartName="/ppt/notesSlides/notesSlide707.xml" ContentType="application/vnd.openxmlformats-officedocument.presentationml.notesSlide+xml"/>
  <Override PartName="/ppt/notesSlides/notesSlide708.xml" ContentType="application/vnd.openxmlformats-officedocument.presentationml.notesSlide+xml"/>
  <Override PartName="/ppt/notesSlides/notesSlide71.xml" ContentType="application/vnd.openxmlformats-officedocument.presentationml.notesSlide+xml"/>
  <Override PartName="/ppt/notesSlides/notesSlide710.xml" ContentType="application/vnd.openxmlformats-officedocument.presentationml.notesSlide+xml"/>
  <Override PartName="/ppt/notesSlides/notesSlide712.xml" ContentType="application/vnd.openxmlformats-officedocument.presentationml.notesSlide+xml"/>
  <Override PartName="/ppt/notesSlides/notesSlide713.xml" ContentType="application/vnd.openxmlformats-officedocument.presentationml.notesSlide+xml"/>
  <Override PartName="/ppt/notesSlides/notesSlide714.xml" ContentType="application/vnd.openxmlformats-officedocument.presentationml.notesSlide+xml"/>
  <Override PartName="/ppt/notesSlides/notesSlide715.xml" ContentType="application/vnd.openxmlformats-officedocument.presentationml.notesSlide+xml"/>
  <Override PartName="/ppt/notesSlides/notesSlide716.xml" ContentType="application/vnd.openxmlformats-officedocument.presentationml.notesSlide+xml"/>
  <Override PartName="/ppt/notesSlides/notesSlide717.xml" ContentType="application/vnd.openxmlformats-officedocument.presentationml.notesSlide+xml"/>
  <Override PartName="/ppt/notesSlides/notesSlide719.xml" ContentType="application/vnd.openxmlformats-officedocument.presentationml.notesSlide+xml"/>
  <Override PartName="/ppt/notesSlides/notesSlide72.xml" ContentType="application/vnd.openxmlformats-officedocument.presentationml.notesSlide+xml"/>
  <Override PartName="/ppt/notesSlides/notesSlide721.xml" ContentType="application/vnd.openxmlformats-officedocument.presentationml.notesSlide+xml"/>
  <Override PartName="/ppt/notesSlides/notesSlide722.xml" ContentType="application/vnd.openxmlformats-officedocument.presentationml.notesSlide+xml"/>
  <Override PartName="/ppt/notesSlides/notesSlide723.xml" ContentType="application/vnd.openxmlformats-officedocument.presentationml.notesSlide+xml"/>
  <Override PartName="/ppt/notesSlides/notesSlide724.xml" ContentType="application/vnd.openxmlformats-officedocument.presentationml.notesSlide+xml"/>
  <Override PartName="/ppt/notesSlides/notesSlide725.xml" ContentType="application/vnd.openxmlformats-officedocument.presentationml.notesSlide+xml"/>
  <Override PartName="/ppt/notesSlides/notesSlide726.xml" ContentType="application/vnd.openxmlformats-officedocument.presentationml.notesSlide+xml"/>
  <Override PartName="/ppt/notesSlides/notesSlide727.xml" ContentType="application/vnd.openxmlformats-officedocument.presentationml.notesSlide+xml"/>
  <Override PartName="/ppt/notesSlides/notesSlide728.xml" ContentType="application/vnd.openxmlformats-officedocument.presentationml.notesSlide+xml"/>
  <Override PartName="/ppt/notesSlides/notesSlide729.xml" ContentType="application/vnd.openxmlformats-officedocument.presentationml.notesSlide+xml"/>
  <Override PartName="/ppt/notesSlides/notesSlide73.xml" ContentType="application/vnd.openxmlformats-officedocument.presentationml.notesSlide+xml"/>
  <Override PartName="/ppt/notesSlides/notesSlide730.xml" ContentType="application/vnd.openxmlformats-officedocument.presentationml.notesSlide+xml"/>
  <Override PartName="/ppt/notesSlides/notesSlide731.xml" ContentType="application/vnd.openxmlformats-officedocument.presentationml.notesSlide+xml"/>
  <Override PartName="/ppt/notesSlides/notesSlide732.xml" ContentType="application/vnd.openxmlformats-officedocument.presentationml.notesSlide+xml"/>
  <Override PartName="/ppt/notesSlides/notesSlide733.xml" ContentType="application/vnd.openxmlformats-officedocument.presentationml.notesSlide+xml"/>
  <Override PartName="/ppt/notesSlides/notesSlide734.xml" ContentType="application/vnd.openxmlformats-officedocument.presentationml.notesSlide+xml"/>
  <Override PartName="/ppt/notesSlides/notesSlide735.xml" ContentType="application/vnd.openxmlformats-officedocument.presentationml.notesSlide+xml"/>
  <Override PartName="/ppt/notesSlides/notesSlide736.xml" ContentType="application/vnd.openxmlformats-officedocument.presentationml.notesSlide+xml"/>
  <Override PartName="/ppt/notesSlides/notesSlide737.xml" ContentType="application/vnd.openxmlformats-officedocument.presentationml.notesSlide+xml"/>
  <Override PartName="/ppt/notesSlides/notesSlide739.xml" ContentType="application/vnd.openxmlformats-officedocument.presentationml.notesSlide+xml"/>
  <Override PartName="/ppt/notesSlides/notesSlide74.xml" ContentType="application/vnd.openxmlformats-officedocument.presentationml.notesSlide+xml"/>
  <Override PartName="/ppt/notesSlides/notesSlide741.xml" ContentType="application/vnd.openxmlformats-officedocument.presentationml.notesSlide+xml"/>
  <Override PartName="/ppt/notesSlides/notesSlide742.xml" ContentType="application/vnd.openxmlformats-officedocument.presentationml.notesSlide+xml"/>
  <Override PartName="/ppt/notesSlides/notesSlide743.xml" ContentType="application/vnd.openxmlformats-officedocument.presentationml.notesSlide+xml"/>
  <Override PartName="/ppt/notesSlides/notesSlide744.xml" ContentType="application/vnd.openxmlformats-officedocument.presentationml.notesSlide+xml"/>
  <Override PartName="/ppt/notesSlides/notesSlide745.xml" ContentType="application/vnd.openxmlformats-officedocument.presentationml.notesSlide+xml"/>
  <Override PartName="/ppt/notesSlides/notesSlide746.xml" ContentType="application/vnd.openxmlformats-officedocument.presentationml.notesSlide+xml"/>
  <Override PartName="/ppt/notesSlides/notesSlide748.xml" ContentType="application/vnd.openxmlformats-officedocument.presentationml.notesSlide+xml"/>
  <Override PartName="/ppt/notesSlides/notesSlide75.xml" ContentType="application/vnd.openxmlformats-officedocument.presentationml.notesSlide+xml"/>
  <Override PartName="/ppt/notesSlides/notesSlide750.xml" ContentType="application/vnd.openxmlformats-officedocument.presentationml.notesSlide+xml"/>
  <Override PartName="/ppt/notesSlides/notesSlide751.xml" ContentType="application/vnd.openxmlformats-officedocument.presentationml.notesSlide+xml"/>
  <Override PartName="/ppt/notesSlides/notesSlide752.xml" ContentType="application/vnd.openxmlformats-officedocument.presentationml.notesSlide+xml"/>
  <Override PartName="/ppt/notesSlides/notesSlide753.xml" ContentType="application/vnd.openxmlformats-officedocument.presentationml.notesSlide+xml"/>
  <Override PartName="/ppt/notesSlides/notesSlide754.xml" ContentType="application/vnd.openxmlformats-officedocument.presentationml.notesSlide+xml"/>
  <Override PartName="/ppt/notesSlides/notesSlide755.xml" ContentType="application/vnd.openxmlformats-officedocument.presentationml.notesSlide+xml"/>
  <Override PartName="/ppt/notesSlides/notesSlide756.xml" ContentType="application/vnd.openxmlformats-officedocument.presentationml.notesSlide+xml"/>
  <Override PartName="/ppt/notesSlides/notesSlide757.xml" ContentType="application/vnd.openxmlformats-officedocument.presentationml.notesSlide+xml"/>
  <Override PartName="/ppt/notesSlides/notesSlide758.xml" ContentType="application/vnd.openxmlformats-officedocument.presentationml.notesSlide+xml"/>
  <Override PartName="/ppt/notesSlides/notesSlide759.xml" ContentType="application/vnd.openxmlformats-officedocument.presentationml.notesSlide+xml"/>
  <Override PartName="/ppt/notesSlides/notesSlide760.xml" ContentType="application/vnd.openxmlformats-officedocument.presentationml.notesSlide+xml"/>
  <Override PartName="/ppt/notesSlides/notesSlide761.xml" ContentType="application/vnd.openxmlformats-officedocument.presentationml.notesSlide+xml"/>
  <Override PartName="/ppt/notesSlides/notesSlide762.xml" ContentType="application/vnd.openxmlformats-officedocument.presentationml.notesSlide+xml"/>
  <Override PartName="/ppt/notesSlides/notesSlide763.xml" ContentType="application/vnd.openxmlformats-officedocument.presentationml.notesSlide+xml"/>
  <Override PartName="/ppt/notesSlides/notesSlide764.xml" ContentType="application/vnd.openxmlformats-officedocument.presentationml.notesSlide+xml"/>
  <Override PartName="/ppt/notesSlides/notesSlide765.xml" ContentType="application/vnd.openxmlformats-officedocument.presentationml.notesSlide+xml"/>
  <Override PartName="/ppt/notesSlides/notesSlide766.xml" ContentType="application/vnd.openxmlformats-officedocument.presentationml.notesSlide+xml"/>
  <Override PartName="/ppt/notesSlides/notesSlide768.xml" ContentType="application/vnd.openxmlformats-officedocument.presentationml.notesSlide+xml"/>
  <Override PartName="/ppt/notesSlides/notesSlide77.xml" ContentType="application/vnd.openxmlformats-officedocument.presentationml.notesSlide+xml"/>
  <Override PartName="/ppt/notesSlides/notesSlide770.xml" ContentType="application/vnd.openxmlformats-officedocument.presentationml.notesSlide+xml"/>
  <Override PartName="/ppt/notesSlides/notesSlide771.xml" ContentType="application/vnd.openxmlformats-officedocument.presentationml.notesSlide+xml"/>
  <Override PartName="/ppt/notesSlides/notesSlide772.xml" ContentType="application/vnd.openxmlformats-officedocument.presentationml.notesSlide+xml"/>
  <Override PartName="/ppt/notesSlides/notesSlide773.xml" ContentType="application/vnd.openxmlformats-officedocument.presentationml.notesSlide+xml"/>
  <Override PartName="/ppt/notesSlides/notesSlide774.xml" ContentType="application/vnd.openxmlformats-officedocument.presentationml.notesSlide+xml"/>
  <Override PartName="/ppt/notesSlides/notesSlide775.xml" ContentType="application/vnd.openxmlformats-officedocument.presentationml.notesSlide+xml"/>
  <Override PartName="/ppt/notesSlides/notesSlide777.xml" ContentType="application/vnd.openxmlformats-officedocument.presentationml.notesSlide+xml"/>
  <Override PartName="/ppt/notesSlides/notesSlide779.xml" ContentType="application/vnd.openxmlformats-officedocument.presentationml.notesSlide+xml"/>
  <Override PartName="/ppt/notesSlides/notesSlide78.xml" ContentType="application/vnd.openxmlformats-officedocument.presentationml.notesSlide+xml"/>
  <Override PartName="/ppt/notesSlides/notesSlide780.xml" ContentType="application/vnd.openxmlformats-officedocument.presentationml.notesSlide+xml"/>
  <Override PartName="/ppt/notesSlides/notesSlide781.xml" ContentType="application/vnd.openxmlformats-officedocument.presentationml.notesSlide+xml"/>
  <Override PartName="/ppt/notesSlides/notesSlide782.xml" ContentType="application/vnd.openxmlformats-officedocument.presentationml.notesSlide+xml"/>
  <Override PartName="/ppt/notesSlides/notesSlide783.xml" ContentType="application/vnd.openxmlformats-officedocument.presentationml.notesSlide+xml"/>
  <Override PartName="/ppt/notesSlides/notesSlide784.xml" ContentType="application/vnd.openxmlformats-officedocument.presentationml.notesSlide+xml"/>
  <Override PartName="/ppt/notesSlides/notesSlide785.xml" ContentType="application/vnd.openxmlformats-officedocument.presentationml.notesSlide+xml"/>
  <Override PartName="/ppt/notesSlides/notesSlide786.xml" ContentType="application/vnd.openxmlformats-officedocument.presentationml.notesSlide+xml"/>
  <Override PartName="/ppt/notesSlides/notesSlide787.xml" ContentType="application/vnd.openxmlformats-officedocument.presentationml.notesSlide+xml"/>
  <Override PartName="/ppt/notesSlides/notesSlide788.xml" ContentType="application/vnd.openxmlformats-officedocument.presentationml.notesSlide+xml"/>
  <Override PartName="/ppt/notesSlides/notesSlide789.xml" ContentType="application/vnd.openxmlformats-officedocument.presentationml.notesSlide+xml"/>
  <Override PartName="/ppt/notesSlides/notesSlide790.xml" ContentType="application/vnd.openxmlformats-officedocument.presentationml.notesSlide+xml"/>
  <Override PartName="/ppt/notesSlides/notesSlide791.xml" ContentType="application/vnd.openxmlformats-officedocument.presentationml.notesSlide+xml"/>
  <Override PartName="/ppt/notesSlides/notesSlide792.xml" ContentType="application/vnd.openxmlformats-officedocument.presentationml.notesSlide+xml"/>
  <Override PartName="/ppt/notesSlides/notesSlide793.xml" ContentType="application/vnd.openxmlformats-officedocument.presentationml.notesSlide+xml"/>
  <Override PartName="/ppt/notesSlides/notesSlide794.xml" ContentType="application/vnd.openxmlformats-officedocument.presentationml.notesSlide+xml"/>
  <Override PartName="/ppt/notesSlides/notesSlide795.xml" ContentType="application/vnd.openxmlformats-officedocument.presentationml.notesSlide+xml"/>
  <Override PartName="/ppt/notesSlides/notesSlide797.xml" ContentType="application/vnd.openxmlformats-officedocument.presentationml.notesSlide+xml"/>
  <Override PartName="/ppt/notesSlides/notesSlide79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00.xml" ContentType="application/vnd.openxmlformats-officedocument.presentationml.notesSlide+xml"/>
  <Override PartName="/ppt/notesSlides/notesSlide801.xml" ContentType="application/vnd.openxmlformats-officedocument.presentationml.notesSlide+xml"/>
  <Override PartName="/ppt/notesSlides/notesSlide802.xml" ContentType="application/vnd.openxmlformats-officedocument.presentationml.notesSlide+xml"/>
  <Override PartName="/ppt/notesSlides/notesSlide803.xml" ContentType="application/vnd.openxmlformats-officedocument.presentationml.notesSlide+xml"/>
  <Override PartName="/ppt/notesSlides/notesSlide804.xml" ContentType="application/vnd.openxmlformats-officedocument.presentationml.notesSlide+xml"/>
  <Override PartName="/ppt/notesSlides/notesSlide806.xml" ContentType="application/vnd.openxmlformats-officedocument.presentationml.notesSlide+xml"/>
  <Override PartName="/ppt/notesSlides/notesSlide808.xml" ContentType="application/vnd.openxmlformats-officedocument.presentationml.notesSlide+xml"/>
  <Override PartName="/ppt/notesSlides/notesSlide809.xml" ContentType="application/vnd.openxmlformats-officedocument.presentationml.notesSlide+xml"/>
  <Override PartName="/ppt/notesSlides/notesSlide81.xml" ContentType="application/vnd.openxmlformats-officedocument.presentationml.notesSlide+xml"/>
  <Override PartName="/ppt/notesSlides/notesSlide810.xml" ContentType="application/vnd.openxmlformats-officedocument.presentationml.notesSlide+xml"/>
  <Override PartName="/ppt/notesSlides/notesSlide811.xml" ContentType="application/vnd.openxmlformats-officedocument.presentationml.notesSlide+xml"/>
  <Override PartName="/ppt/notesSlides/notesSlide812.xml" ContentType="application/vnd.openxmlformats-officedocument.presentationml.notesSlide+xml"/>
  <Override PartName="/ppt/notesSlides/notesSlide813.xml" ContentType="application/vnd.openxmlformats-officedocument.presentationml.notesSlide+xml"/>
  <Override PartName="/ppt/notesSlides/notesSlide814.xml" ContentType="application/vnd.openxmlformats-officedocument.presentationml.notesSlide+xml"/>
  <Override PartName="/ppt/notesSlides/notesSlide815.xml" ContentType="application/vnd.openxmlformats-officedocument.presentationml.notesSlide+xml"/>
  <Override PartName="/ppt/notesSlides/notesSlide816.xml" ContentType="application/vnd.openxmlformats-officedocument.presentationml.notesSlide+xml"/>
  <Override PartName="/ppt/notesSlides/notesSlide817.xml" ContentType="application/vnd.openxmlformats-officedocument.presentationml.notesSlide+xml"/>
  <Override PartName="/ppt/notesSlides/notesSlide818.xml" ContentType="application/vnd.openxmlformats-officedocument.presentationml.notesSlide+xml"/>
  <Override PartName="/ppt/notesSlides/notesSlide819.xml" ContentType="application/vnd.openxmlformats-officedocument.presentationml.notesSlide+xml"/>
  <Override PartName="/ppt/notesSlides/notesSlide82.xml" ContentType="application/vnd.openxmlformats-officedocument.presentationml.notesSlide+xml"/>
  <Override PartName="/ppt/notesSlides/notesSlide820.xml" ContentType="application/vnd.openxmlformats-officedocument.presentationml.notesSlide+xml"/>
  <Override PartName="/ppt/notesSlides/notesSlide821.xml" ContentType="application/vnd.openxmlformats-officedocument.presentationml.notesSlide+xml"/>
  <Override PartName="/ppt/notesSlides/notesSlide822.xml" ContentType="application/vnd.openxmlformats-officedocument.presentationml.notesSlide+xml"/>
  <Override PartName="/ppt/notesSlides/notesSlide823.xml" ContentType="application/vnd.openxmlformats-officedocument.presentationml.notesSlide+xml"/>
  <Override PartName="/ppt/notesSlides/notesSlide824.xml" ContentType="application/vnd.openxmlformats-officedocument.presentationml.notesSlide+xml"/>
  <Override PartName="/ppt/notesSlides/notesSlide826.xml" ContentType="application/vnd.openxmlformats-officedocument.presentationml.notesSlide+xml"/>
  <Override PartName="/ppt/notesSlides/notesSlide828.xml" ContentType="application/vnd.openxmlformats-officedocument.presentationml.notesSlide+xml"/>
  <Override PartName="/ppt/notesSlides/notesSlide829.xml" ContentType="application/vnd.openxmlformats-officedocument.presentationml.notesSlide+xml"/>
  <Override PartName="/ppt/notesSlides/notesSlide83.xml" ContentType="application/vnd.openxmlformats-officedocument.presentationml.notesSlide+xml"/>
  <Override PartName="/ppt/notesSlides/notesSlide830.xml" ContentType="application/vnd.openxmlformats-officedocument.presentationml.notesSlide+xml"/>
  <Override PartName="/ppt/notesSlides/notesSlide831.xml" ContentType="application/vnd.openxmlformats-officedocument.presentationml.notesSlide+xml"/>
  <Override PartName="/ppt/notesSlides/notesSlide832.xml" ContentType="application/vnd.openxmlformats-officedocument.presentationml.notesSlide+xml"/>
  <Override PartName="/ppt/notesSlides/notesSlide833.xml" ContentType="application/vnd.openxmlformats-officedocument.presentationml.notesSlide+xml"/>
  <Override PartName="/ppt/notesSlides/notesSlide835.xml" ContentType="application/vnd.openxmlformats-officedocument.presentationml.notesSlide+xml"/>
  <Override PartName="/ppt/notesSlides/notesSlide837.xml" ContentType="application/vnd.openxmlformats-officedocument.presentationml.notesSlide+xml"/>
  <Override PartName="/ppt/notesSlides/notesSlide838.xml" ContentType="application/vnd.openxmlformats-officedocument.presentationml.notesSlide+xml"/>
  <Override PartName="/ppt/notesSlides/notesSlide839.xml" ContentType="application/vnd.openxmlformats-officedocument.presentationml.notesSlide+xml"/>
  <Override PartName="/ppt/notesSlides/notesSlide840.xml" ContentType="application/vnd.openxmlformats-officedocument.presentationml.notesSlide+xml"/>
  <Override PartName="/ppt/notesSlides/notesSlide841.xml" ContentType="application/vnd.openxmlformats-officedocument.presentationml.notesSlide+xml"/>
  <Override PartName="/ppt/notesSlides/notesSlide842.xml" ContentType="application/vnd.openxmlformats-officedocument.presentationml.notesSlide+xml"/>
  <Override PartName="/ppt/notesSlides/notesSlide843.xml" ContentType="application/vnd.openxmlformats-officedocument.presentationml.notesSlide+xml"/>
  <Override PartName="/ppt/notesSlides/notesSlide844.xml" ContentType="application/vnd.openxmlformats-officedocument.presentationml.notesSlide+xml"/>
  <Override PartName="/ppt/notesSlides/notesSlide845.xml" ContentType="application/vnd.openxmlformats-officedocument.presentationml.notesSlide+xml"/>
  <Override PartName="/ppt/notesSlides/notesSlide846.xml" ContentType="application/vnd.openxmlformats-officedocument.presentationml.notesSlide+xml"/>
  <Override PartName="/ppt/notesSlides/notesSlide847.xml" ContentType="application/vnd.openxmlformats-officedocument.presentationml.notesSlide+xml"/>
  <Override PartName="/ppt/notesSlides/notesSlide848.xml" ContentType="application/vnd.openxmlformats-officedocument.presentationml.notesSlide+xml"/>
  <Override PartName="/ppt/notesSlides/notesSlide849.xml" ContentType="application/vnd.openxmlformats-officedocument.presentationml.notesSlide+xml"/>
  <Override PartName="/ppt/notesSlides/notesSlide85.xml" ContentType="application/vnd.openxmlformats-officedocument.presentationml.notesSlide+xml"/>
  <Override PartName="/ppt/notesSlides/notesSlide850.xml" ContentType="application/vnd.openxmlformats-officedocument.presentationml.notesSlide+xml"/>
  <Override PartName="/ppt/notesSlides/notesSlide851.xml" ContentType="application/vnd.openxmlformats-officedocument.presentationml.notesSlide+xml"/>
  <Override PartName="/ppt/notesSlides/notesSlide852.xml" ContentType="application/vnd.openxmlformats-officedocument.presentationml.notesSlide+xml"/>
  <Override PartName="/ppt/notesSlides/notesSlide853.xml" ContentType="application/vnd.openxmlformats-officedocument.presentationml.notesSlide+xml"/>
  <Override PartName="/ppt/notesSlides/notesSlide855.xml" ContentType="application/vnd.openxmlformats-officedocument.presentationml.notesSlide+xml"/>
  <Override PartName="/ppt/notesSlides/notesSlide857.xml" ContentType="application/vnd.openxmlformats-officedocument.presentationml.notesSlide+xml"/>
  <Override PartName="/ppt/notesSlides/notesSlide858.xml" ContentType="application/vnd.openxmlformats-officedocument.presentationml.notesSlide+xml"/>
  <Override PartName="/ppt/notesSlides/notesSlide859.xml" ContentType="application/vnd.openxmlformats-officedocument.presentationml.notesSlide+xml"/>
  <Override PartName="/ppt/notesSlides/notesSlide86.xml" ContentType="application/vnd.openxmlformats-officedocument.presentationml.notesSlide+xml"/>
  <Override PartName="/ppt/notesSlides/notesSlide860.xml" ContentType="application/vnd.openxmlformats-officedocument.presentationml.notesSlide+xml"/>
  <Override PartName="/ppt/notesSlides/notesSlide861.xml" ContentType="application/vnd.openxmlformats-officedocument.presentationml.notesSlide+xml"/>
  <Override PartName="/ppt/notesSlides/notesSlide862.xml" ContentType="application/vnd.openxmlformats-officedocument.presentationml.notesSlide+xml"/>
  <Override PartName="/ppt/notesSlides/notesSlide864.xml" ContentType="application/vnd.openxmlformats-officedocument.presentationml.notesSlide+xml"/>
  <Override PartName="/ppt/notesSlides/notesSlide866.xml" ContentType="application/vnd.openxmlformats-officedocument.presentationml.notesSlide+xml"/>
  <Override PartName="/ppt/notesSlides/notesSlide867.xml" ContentType="application/vnd.openxmlformats-officedocument.presentationml.notesSlide+xml"/>
  <Override PartName="/ppt/notesSlides/notesSlide868.xml" ContentType="application/vnd.openxmlformats-officedocument.presentationml.notesSlide+xml"/>
  <Override PartName="/ppt/notesSlides/notesSlide869.xml" ContentType="application/vnd.openxmlformats-officedocument.presentationml.notesSlide+xml"/>
  <Override PartName="/ppt/notesSlides/notesSlide870.xml" ContentType="application/vnd.openxmlformats-officedocument.presentationml.notesSlide+xml"/>
  <Override PartName="/ppt/notesSlides/notesSlide871.xml" ContentType="application/vnd.openxmlformats-officedocument.presentationml.notesSlide+xml"/>
  <Override PartName="/ppt/notesSlides/notesSlide872.xml" ContentType="application/vnd.openxmlformats-officedocument.presentationml.notesSlide+xml"/>
  <Override PartName="/ppt/notesSlides/notesSlide873.xml" ContentType="application/vnd.openxmlformats-officedocument.presentationml.notesSlide+xml"/>
  <Override PartName="/ppt/notesSlides/notesSlide874.xml" ContentType="application/vnd.openxmlformats-officedocument.presentationml.notesSlide+xml"/>
  <Override PartName="/ppt/notesSlides/notesSlide875.xml" ContentType="application/vnd.openxmlformats-officedocument.presentationml.notesSlide+xml"/>
  <Override PartName="/ppt/notesSlides/notesSlide876.xml" ContentType="application/vnd.openxmlformats-officedocument.presentationml.notesSlide+xml"/>
  <Override PartName="/ppt/notesSlides/notesSlide877.xml" ContentType="application/vnd.openxmlformats-officedocument.presentationml.notesSlide+xml"/>
  <Override PartName="/ppt/notesSlides/notesSlide878.xml" ContentType="application/vnd.openxmlformats-officedocument.presentationml.notesSlide+xml"/>
  <Override PartName="/ppt/notesSlides/notesSlide879.xml" ContentType="application/vnd.openxmlformats-officedocument.presentationml.notesSlide+xml"/>
  <Override PartName="/ppt/notesSlides/notesSlide880.xml" ContentType="application/vnd.openxmlformats-officedocument.presentationml.notesSlide+xml"/>
  <Override PartName="/ppt/notesSlides/notesSlide881.xml" ContentType="application/vnd.openxmlformats-officedocument.presentationml.notesSlide+xml"/>
  <Override PartName="/ppt/notesSlides/notesSlide882.xml" ContentType="application/vnd.openxmlformats-officedocument.presentationml.notesSlide+xml"/>
  <Override PartName="/ppt/notesSlides/notesSlide884.xml" ContentType="application/vnd.openxmlformats-officedocument.presentationml.notesSlide+xml"/>
  <Override PartName="/ppt/notesSlides/notesSlide886.xml" ContentType="application/vnd.openxmlformats-officedocument.presentationml.notesSlide+xml"/>
  <Override PartName="/ppt/notesSlides/notesSlide887.xml" ContentType="application/vnd.openxmlformats-officedocument.presentationml.notesSlide+xml"/>
  <Override PartName="/ppt/notesSlides/notesSlide888.xml" ContentType="application/vnd.openxmlformats-officedocument.presentationml.notesSlide+xml"/>
  <Override PartName="/ppt/notesSlides/notesSlide889.xml" ContentType="application/vnd.openxmlformats-officedocument.presentationml.notesSlide+xml"/>
  <Override PartName="/ppt/notesSlides/notesSlide89.xml" ContentType="application/vnd.openxmlformats-officedocument.presentationml.notesSlide+xml"/>
  <Override PartName="/ppt/notesSlides/notesSlide890.xml" ContentType="application/vnd.openxmlformats-officedocument.presentationml.notesSlide+xml"/>
  <Override PartName="/ppt/notesSlides/notesSlide891.xml" ContentType="application/vnd.openxmlformats-officedocument.presentationml.notesSlide+xml"/>
  <Override PartName="/ppt/notesSlides/notesSlide893.xml" ContentType="application/vnd.openxmlformats-officedocument.presentationml.notesSlide+xml"/>
  <Override PartName="/ppt/notesSlides/notesSlide895.xml" ContentType="application/vnd.openxmlformats-officedocument.presentationml.notesSlide+xml"/>
  <Override PartName="/ppt/notesSlides/notesSlide896.xml" ContentType="application/vnd.openxmlformats-officedocument.presentationml.notesSlide+xml"/>
  <Override PartName="/ppt/notesSlides/notesSlide897.xml" ContentType="application/vnd.openxmlformats-officedocument.presentationml.notesSlide+xml"/>
  <Override PartName="/ppt/notesSlides/notesSlide898.xml" ContentType="application/vnd.openxmlformats-officedocument.presentationml.notesSlide+xml"/>
  <Override PartName="/ppt/notesSlides/notesSlide89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00.xml" ContentType="application/vnd.openxmlformats-officedocument.presentationml.notesSlide+xml"/>
  <Override PartName="/ppt/notesSlides/notesSlide901.xml" ContentType="application/vnd.openxmlformats-officedocument.presentationml.notesSlide+xml"/>
  <Override PartName="/ppt/notesSlides/notesSlide902.xml" ContentType="application/vnd.openxmlformats-officedocument.presentationml.notesSlide+xml"/>
  <Override PartName="/ppt/notesSlides/notesSlide903.xml" ContentType="application/vnd.openxmlformats-officedocument.presentationml.notesSlide+xml"/>
  <Override PartName="/ppt/notesSlides/notesSlide904.xml" ContentType="application/vnd.openxmlformats-officedocument.presentationml.notesSlide+xml"/>
  <Override PartName="/ppt/notesSlides/notesSlide905.xml" ContentType="application/vnd.openxmlformats-officedocument.presentationml.notesSlide+xml"/>
  <Override PartName="/ppt/notesSlides/notesSlide906.xml" ContentType="application/vnd.openxmlformats-officedocument.presentationml.notesSlide+xml"/>
  <Override PartName="/ppt/notesSlides/notesSlide907.xml" ContentType="application/vnd.openxmlformats-officedocument.presentationml.notesSlide+xml"/>
  <Override PartName="/ppt/notesSlides/notesSlide908.xml" ContentType="application/vnd.openxmlformats-officedocument.presentationml.notesSlide+xml"/>
  <Override PartName="/ppt/notesSlides/notesSlide909.xml" ContentType="application/vnd.openxmlformats-officedocument.presentationml.notesSlide+xml"/>
  <Override PartName="/ppt/notesSlides/notesSlide91.xml" ContentType="application/vnd.openxmlformats-officedocument.presentationml.notesSlide+xml"/>
  <Override PartName="/ppt/notesSlides/notesSlide910.xml" ContentType="application/vnd.openxmlformats-officedocument.presentationml.notesSlide+xml"/>
  <Override PartName="/ppt/notesSlides/notesSlide911.xml" ContentType="application/vnd.openxmlformats-officedocument.presentationml.notesSlide+xml"/>
  <Override PartName="/ppt/notesSlides/notesSlide913.xml" ContentType="application/vnd.openxmlformats-officedocument.presentationml.notesSlide+xml"/>
  <Override PartName="/ppt/notesSlides/notesSlide915.xml" ContentType="application/vnd.openxmlformats-officedocument.presentationml.notesSlide+xml"/>
  <Override PartName="/ppt/notesSlides/notesSlide916.xml" ContentType="application/vnd.openxmlformats-officedocument.presentationml.notesSlide+xml"/>
  <Override PartName="/ppt/notesSlides/notesSlide917.xml" ContentType="application/vnd.openxmlformats-officedocument.presentationml.notesSlide+xml"/>
  <Override PartName="/ppt/notesSlides/notesSlide918.xml" ContentType="application/vnd.openxmlformats-officedocument.presentationml.notesSlide+xml"/>
  <Override PartName="/ppt/notesSlides/notesSlide919.xml" ContentType="application/vnd.openxmlformats-officedocument.presentationml.notesSlide+xml"/>
  <Override PartName="/ppt/notesSlides/notesSlide92.xml" ContentType="application/vnd.openxmlformats-officedocument.presentationml.notesSlide+xml"/>
  <Override PartName="/ppt/notesSlides/notesSlide920.xml" ContentType="application/vnd.openxmlformats-officedocument.presentationml.notesSlide+xml"/>
  <Override PartName="/ppt/notesSlides/notesSlide922.xml" ContentType="application/vnd.openxmlformats-officedocument.presentationml.notesSlide+xml"/>
  <Override PartName="/ppt/notesSlides/notesSlide924.xml" ContentType="application/vnd.openxmlformats-officedocument.presentationml.notesSlide+xml"/>
  <Override PartName="/ppt/notesSlides/notesSlide925.xml" ContentType="application/vnd.openxmlformats-officedocument.presentationml.notesSlide+xml"/>
  <Override PartName="/ppt/notesSlides/notesSlide926.xml" ContentType="application/vnd.openxmlformats-officedocument.presentationml.notesSlide+xml"/>
  <Override PartName="/ppt/notesSlides/notesSlide927.xml" ContentType="application/vnd.openxmlformats-officedocument.presentationml.notesSlide+xml"/>
  <Override PartName="/ppt/notesSlides/notesSlide928.xml" ContentType="application/vnd.openxmlformats-officedocument.presentationml.notesSlide+xml"/>
  <Override PartName="/ppt/notesSlides/notesSlide929.xml" ContentType="application/vnd.openxmlformats-officedocument.presentationml.notesSlide+xml"/>
  <Override PartName="/ppt/notesSlides/notesSlide93.xml" ContentType="application/vnd.openxmlformats-officedocument.presentationml.notesSlide+xml"/>
  <Override PartName="/ppt/notesSlides/notesSlide930.xml" ContentType="application/vnd.openxmlformats-officedocument.presentationml.notesSlide+xml"/>
  <Override PartName="/ppt/notesSlides/notesSlide931.xml" ContentType="application/vnd.openxmlformats-officedocument.presentationml.notesSlide+xml"/>
  <Override PartName="/ppt/notesSlides/notesSlide932.xml" ContentType="application/vnd.openxmlformats-officedocument.presentationml.notesSlide+xml"/>
  <Override PartName="/ppt/notesSlides/notesSlide933.xml" ContentType="application/vnd.openxmlformats-officedocument.presentationml.notesSlide+xml"/>
  <Override PartName="/ppt/notesSlides/notesSlide934.xml" ContentType="application/vnd.openxmlformats-officedocument.presentationml.notesSlide+xml"/>
  <Override PartName="/ppt/notesSlides/notesSlide935.xml" ContentType="application/vnd.openxmlformats-officedocument.presentationml.notesSlide+xml"/>
  <Override PartName="/ppt/notesSlides/notesSlide936.xml" ContentType="application/vnd.openxmlformats-officedocument.presentationml.notesSlide+xml"/>
  <Override PartName="/ppt/notesSlides/notesSlide937.xml" ContentType="application/vnd.openxmlformats-officedocument.presentationml.notesSlide+xml"/>
  <Override PartName="/ppt/notesSlides/notesSlide938.xml" ContentType="application/vnd.openxmlformats-officedocument.presentationml.notesSlide+xml"/>
  <Override PartName="/ppt/notesSlides/notesSlide939.xml" ContentType="application/vnd.openxmlformats-officedocument.presentationml.notesSlide+xml"/>
  <Override PartName="/ppt/notesSlides/notesSlide94.xml" ContentType="application/vnd.openxmlformats-officedocument.presentationml.notesSlide+xml"/>
  <Override PartName="/ppt/notesSlides/notesSlide940.xml" ContentType="application/vnd.openxmlformats-officedocument.presentationml.notesSlide+xml"/>
  <Override PartName="/ppt/notesSlides/notesSlide942.xml" ContentType="application/vnd.openxmlformats-officedocument.presentationml.notesSlide+xml"/>
  <Override PartName="/ppt/notesSlides/notesSlide944.xml" ContentType="application/vnd.openxmlformats-officedocument.presentationml.notesSlide+xml"/>
  <Override PartName="/ppt/notesSlides/notesSlide945.xml" ContentType="application/vnd.openxmlformats-officedocument.presentationml.notesSlide+xml"/>
  <Override PartName="/ppt/notesSlides/notesSlide946.xml" ContentType="application/vnd.openxmlformats-officedocument.presentationml.notesSlide+xml"/>
  <Override PartName="/ppt/notesSlides/notesSlide947.xml" ContentType="application/vnd.openxmlformats-officedocument.presentationml.notesSlide+xml"/>
  <Override PartName="/ppt/notesSlides/notesSlide948.xml" ContentType="application/vnd.openxmlformats-officedocument.presentationml.notesSlide+xml"/>
  <Override PartName="/ppt/notesSlides/notesSlide949.xml" ContentType="application/vnd.openxmlformats-officedocument.presentationml.notesSlide+xml"/>
  <Override PartName="/ppt/notesSlides/notesSlide95.xml" ContentType="application/vnd.openxmlformats-officedocument.presentationml.notesSlide+xml"/>
  <Override PartName="/ppt/notesSlides/notesSlide951.xml" ContentType="application/vnd.openxmlformats-officedocument.presentationml.notesSlide+xml"/>
  <Override PartName="/ppt/notesSlides/notesSlide953.xml" ContentType="application/vnd.openxmlformats-officedocument.presentationml.notesSlide+xml"/>
  <Override PartName="/ppt/notesSlides/notesSlide954.xml" ContentType="application/vnd.openxmlformats-officedocument.presentationml.notesSlide+xml"/>
  <Override PartName="/ppt/notesSlides/notesSlide955.xml" ContentType="application/vnd.openxmlformats-officedocument.presentationml.notesSlide+xml"/>
  <Override PartName="/ppt/notesSlides/notesSlide956.xml" ContentType="application/vnd.openxmlformats-officedocument.presentationml.notesSlide+xml"/>
  <Override PartName="/ppt/notesSlides/notesSlide957.xml" ContentType="application/vnd.openxmlformats-officedocument.presentationml.notesSlide+xml"/>
  <Override PartName="/ppt/notesSlides/notesSlide958.xml" ContentType="application/vnd.openxmlformats-officedocument.presentationml.notesSlide+xml"/>
  <Override PartName="/ppt/notesSlides/notesSlide959.xml" ContentType="application/vnd.openxmlformats-officedocument.presentationml.notesSlide+xml"/>
  <Override PartName="/ppt/notesSlides/notesSlide96.xml" ContentType="application/vnd.openxmlformats-officedocument.presentationml.notesSlide+xml"/>
  <Override PartName="/ppt/notesSlides/notesSlide960.xml" ContentType="application/vnd.openxmlformats-officedocument.presentationml.notesSlide+xml"/>
  <Override PartName="/ppt/notesSlides/notesSlide961.xml" ContentType="application/vnd.openxmlformats-officedocument.presentationml.notesSlide+xml"/>
  <Override PartName="/ppt/notesSlides/notesSlide962.xml" ContentType="application/vnd.openxmlformats-officedocument.presentationml.notesSlide+xml"/>
  <Override PartName="/ppt/notesSlides/notesSlide963.xml" ContentType="application/vnd.openxmlformats-officedocument.presentationml.notesSlide+xml"/>
  <Override PartName="/ppt/notesSlides/notesSlide964.xml" ContentType="application/vnd.openxmlformats-officedocument.presentationml.notesSlide+xml"/>
  <Override PartName="/ppt/notesSlides/notesSlide965.xml" ContentType="application/vnd.openxmlformats-officedocument.presentationml.notesSlide+xml"/>
  <Override PartName="/ppt/notesSlides/notesSlide966.xml" ContentType="application/vnd.openxmlformats-officedocument.presentationml.notesSlide+xml"/>
  <Override PartName="/ppt/notesSlides/notesSlide967.xml" ContentType="application/vnd.openxmlformats-officedocument.presentationml.notesSlide+xml"/>
  <Override PartName="/ppt/notesSlides/notesSlide968.xml" ContentType="application/vnd.openxmlformats-officedocument.presentationml.notesSlide+xml"/>
  <Override PartName="/ppt/notesSlides/notesSlide969.xml" ContentType="application/vnd.openxmlformats-officedocument.presentationml.notesSlide+xml"/>
  <Override PartName="/ppt/notesSlides/notesSlide97.xml" ContentType="application/vnd.openxmlformats-officedocument.presentationml.notesSlide+xml"/>
  <Override PartName="/ppt/notesSlides/notesSlide971.xml" ContentType="application/vnd.openxmlformats-officedocument.presentationml.notesSlide+xml"/>
  <Override PartName="/ppt/notesSlides/notesSlide973.xml" ContentType="application/vnd.openxmlformats-officedocument.presentationml.notesSlide+xml"/>
  <Override PartName="/ppt/notesSlides/notesSlide974.xml" ContentType="application/vnd.openxmlformats-officedocument.presentationml.notesSlide+xml"/>
  <Override PartName="/ppt/notesSlides/notesSlide975.xml" ContentType="application/vnd.openxmlformats-officedocument.presentationml.notesSlide+xml"/>
  <Override PartName="/ppt/notesSlides/notesSlide976.xml" ContentType="application/vnd.openxmlformats-officedocument.presentationml.notesSlide+xml"/>
  <Override PartName="/ppt/notesSlides/notesSlide977.xml" ContentType="application/vnd.openxmlformats-officedocument.presentationml.notesSlide+xml"/>
  <Override PartName="/ppt/notesSlides/notesSlide978.xml" ContentType="application/vnd.openxmlformats-officedocument.presentationml.notesSlide+xml"/>
  <Override PartName="/ppt/notesSlides/notesSlide98.xml" ContentType="application/vnd.openxmlformats-officedocument.presentationml.notesSlide+xml"/>
  <Override PartName="/ppt/notesSlides/notesSlide980.xml" ContentType="application/vnd.openxmlformats-officedocument.presentationml.notesSlide+xml"/>
  <Override PartName="/ppt/notesSlides/notesSlide982.xml" ContentType="application/vnd.openxmlformats-officedocument.presentationml.notesSlide+xml"/>
  <Override PartName="/ppt/notesSlides/notesSlide983.xml" ContentType="application/vnd.openxmlformats-officedocument.presentationml.notesSlide+xml"/>
  <Override PartName="/ppt/notesSlides/notesSlide984.xml" ContentType="application/vnd.openxmlformats-officedocument.presentationml.notesSlide+xml"/>
  <Override PartName="/ppt/notesSlides/notesSlide985.xml" ContentType="application/vnd.openxmlformats-officedocument.presentationml.notesSlide+xml"/>
  <Override PartName="/ppt/notesSlides/notesSlide986.xml" ContentType="application/vnd.openxmlformats-officedocument.presentationml.notesSlide+xml"/>
  <Override PartName="/ppt/notesSlides/notesSlide987.xml" ContentType="application/vnd.openxmlformats-officedocument.presentationml.notesSlide+xml"/>
  <Override PartName="/ppt/notesSlides/notesSlide988.xml" ContentType="application/vnd.openxmlformats-officedocument.presentationml.notesSlide+xml"/>
  <Override PartName="/ppt/notesSlides/notesSlide989.xml" ContentType="application/vnd.openxmlformats-officedocument.presentationml.notesSlide+xml"/>
  <Override PartName="/ppt/notesSlides/notesSlide99.xml" ContentType="application/vnd.openxmlformats-officedocument.presentationml.notesSlide+xml"/>
  <Override PartName="/ppt/notesSlides/notesSlide990.xml" ContentType="application/vnd.openxmlformats-officedocument.presentationml.notesSlide+xml"/>
  <Override PartName="/ppt/notesSlides/notesSlide991.xml" ContentType="application/vnd.openxmlformats-officedocument.presentationml.notesSlide+xml"/>
  <Override PartName="/ppt/notesSlides/notesSlide992.xml" ContentType="application/vnd.openxmlformats-officedocument.presentationml.notesSlide+xml"/>
  <Override PartName="/ppt/notesSlides/notesSlide993.xml" ContentType="application/vnd.openxmlformats-officedocument.presentationml.notesSlide+xml"/>
  <Override PartName="/ppt/notesSlides/notesSlide994.xml" ContentType="application/vnd.openxmlformats-officedocument.presentationml.notesSlide+xml"/>
  <Override PartName="/ppt/notesSlides/notesSlide995.xml" ContentType="application/vnd.openxmlformats-officedocument.presentationml.notesSlide+xml"/>
  <Override PartName="/ppt/notesSlides/notesSlide996.xml" ContentType="application/vnd.openxmlformats-officedocument.presentationml.notesSlide+xml"/>
  <Override PartName="/ppt/notesSlides/notesSlide997.xml" ContentType="application/vnd.openxmlformats-officedocument.presentationml.notesSlide+xml"/>
  <Override PartName="/ppt/notesSlides/notesSlide9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00.xml" ContentType="application/vnd.openxmlformats-officedocument.presentationml.slide+xml"/>
  <Override PartName="/ppt/slides/slide1001.xml" ContentType="application/vnd.openxmlformats-officedocument.presentationml.slide+xml"/>
  <Override PartName="/ppt/slides/slide1003.xml" ContentType="application/vnd.openxmlformats-officedocument.presentationml.slide+xml"/>
  <Override PartName="/ppt/slides/slide1005.xml" ContentType="application/vnd.openxmlformats-officedocument.presentationml.slide+xml"/>
  <Override PartName="/ppt/slides/slide1006.xml" ContentType="application/vnd.openxmlformats-officedocument.presentationml.slide+xml"/>
  <Override PartName="/ppt/slides/slide1007.xml" ContentType="application/vnd.openxmlformats-officedocument.presentationml.slide+xml"/>
  <Override PartName="/ppt/slides/slide1008.xml" ContentType="application/vnd.openxmlformats-officedocument.presentationml.slide+xml"/>
  <Override PartName="/ppt/slides/slide1009.xml" ContentType="application/vnd.openxmlformats-officedocument.presentationml.slide+xml"/>
  <Override PartName="/ppt/slides/slide101.xml" ContentType="application/vnd.openxmlformats-officedocument.presentationml.slide+xml"/>
  <Override PartName="/ppt/slides/slide1010.xml" ContentType="application/vnd.openxmlformats-officedocument.presentationml.slide+xml"/>
  <Override PartName="/ppt/slides/slide1011.xml" ContentType="application/vnd.openxmlformats-officedocument.presentationml.slide+xml"/>
  <Override PartName="/ppt/slides/slide1012.xml" ContentType="application/vnd.openxmlformats-officedocument.presentationml.slide+xml"/>
  <Override PartName="/ppt/slides/slide1013.xml" ContentType="application/vnd.openxmlformats-officedocument.presentationml.slide+xml"/>
  <Override PartName="/ppt/slides/slide1014.xml" ContentType="application/vnd.openxmlformats-officedocument.presentationml.slide+xml"/>
  <Override PartName="/ppt/slides/slide1015.xml" ContentType="application/vnd.openxmlformats-officedocument.presentationml.slide+xml"/>
  <Override PartName="/ppt/slides/slide1016.xml" ContentType="application/vnd.openxmlformats-officedocument.presentationml.slide+xml"/>
  <Override PartName="/ppt/slides/slide1017.xml" ContentType="application/vnd.openxmlformats-officedocument.presentationml.slide+xml"/>
  <Override PartName="/ppt/slides/slide1018.xml" ContentType="application/vnd.openxmlformats-officedocument.presentationml.slide+xml"/>
  <Override PartName="/ppt/slides/slide1019.xml" ContentType="application/vnd.openxmlformats-officedocument.presentationml.slide+xml"/>
  <Override PartName="/ppt/slides/slide102.xml" ContentType="application/vnd.openxmlformats-officedocument.presentationml.slide+xml"/>
  <Override PartName="/ppt/slides/slide1020.xml" ContentType="application/vnd.openxmlformats-officedocument.presentationml.slide+xml"/>
  <Override PartName="/ppt/slides/slide1021.xml" ContentType="application/vnd.openxmlformats-officedocument.presentationml.slide+xml"/>
  <Override PartName="/ppt/slides/slide1023.xml" ContentType="application/vnd.openxmlformats-officedocument.presentationml.slide+xml"/>
  <Override PartName="/ppt/slides/slide1025.xml" ContentType="application/vnd.openxmlformats-officedocument.presentationml.slide+xml"/>
  <Override PartName="/ppt/slides/slide1026.xml" ContentType="application/vnd.openxmlformats-officedocument.presentationml.slide+xml"/>
  <Override PartName="/ppt/slides/slide1027.xml" ContentType="application/vnd.openxmlformats-officedocument.presentationml.slide+xml"/>
  <Override PartName="/ppt/slides/slide1028.xml" ContentType="application/vnd.openxmlformats-officedocument.presentationml.slide+xml"/>
  <Override PartName="/ppt/slides/slide1029.xml" ContentType="application/vnd.openxmlformats-officedocument.presentationml.slide+xml"/>
  <Override PartName="/ppt/slides/slide103.xml" ContentType="application/vnd.openxmlformats-officedocument.presentationml.slide+xml"/>
  <Override PartName="/ppt/slides/slide1030.xml" ContentType="application/vnd.openxmlformats-officedocument.presentationml.slide+xml"/>
  <Override PartName="/ppt/slides/slide1031.xml" ContentType="application/vnd.openxmlformats-officedocument.presentationml.slide+xml"/>
  <Override PartName="/ppt/slides/slide1033.xml" ContentType="application/vnd.openxmlformats-officedocument.presentationml.slide+xml"/>
  <Override PartName="/ppt/slides/slide1035.xml" ContentType="application/vnd.openxmlformats-officedocument.presentationml.slide+xml"/>
  <Override PartName="/ppt/slides/slide1036.xml" ContentType="application/vnd.openxmlformats-officedocument.presentationml.slide+xml"/>
  <Override PartName="/ppt/slides/slide1037.xml" ContentType="application/vnd.openxmlformats-officedocument.presentationml.slide+xml"/>
  <Override PartName="/ppt/slides/slide1038.xml" ContentType="application/vnd.openxmlformats-officedocument.presentationml.slide+xml"/>
  <Override PartName="/ppt/slides/slide1039.xml" ContentType="application/vnd.openxmlformats-officedocument.presentationml.slide+xml"/>
  <Override PartName="/ppt/slides/slide104.xml" ContentType="application/vnd.openxmlformats-officedocument.presentationml.slide+xml"/>
  <Override PartName="/ppt/slides/slide1040.xml" ContentType="application/vnd.openxmlformats-officedocument.presentationml.slide+xml"/>
  <Override PartName="/ppt/slides/slide1041.xml" ContentType="application/vnd.openxmlformats-officedocument.presentationml.slide+xml"/>
  <Override PartName="/ppt/slides/slide1042.xml" ContentType="application/vnd.openxmlformats-officedocument.presentationml.slide+xml"/>
  <Override PartName="/ppt/slides/slide1043.xml" ContentType="application/vnd.openxmlformats-officedocument.presentationml.slide+xml"/>
  <Override PartName="/ppt/slides/slide1044.xml" ContentType="application/vnd.openxmlformats-officedocument.presentationml.slide+xml"/>
  <Override PartName="/ppt/slides/slide1045.xml" ContentType="application/vnd.openxmlformats-officedocument.presentationml.slide+xml"/>
  <Override PartName="/ppt/slides/slide1046.xml" ContentType="application/vnd.openxmlformats-officedocument.presentationml.slide+xml"/>
  <Override PartName="/ppt/slides/slide1047.xml" ContentType="application/vnd.openxmlformats-officedocument.presentationml.slide+xml"/>
  <Override PartName="/ppt/slides/slide1048.xml" ContentType="application/vnd.openxmlformats-officedocument.presentationml.slide+xml"/>
  <Override PartName="/ppt/slides/slide1049.xml" ContentType="application/vnd.openxmlformats-officedocument.presentationml.slide+xml"/>
  <Override PartName="/ppt/slides/slide1050.xml" ContentType="application/vnd.openxmlformats-officedocument.presentationml.slide+xml"/>
  <Override PartName="/ppt/slides/slide1051.xml" ContentType="application/vnd.openxmlformats-officedocument.presentationml.slide+xml"/>
  <Override PartName="/ppt/slides/slide1053.xml" ContentType="application/vnd.openxmlformats-officedocument.presentationml.slide+xml"/>
  <Override PartName="/ppt/slides/slide1055.xml" ContentType="application/vnd.openxmlformats-officedocument.presentationml.slide+xml"/>
  <Override PartName="/ppt/slides/slide1056.xml" ContentType="application/vnd.openxmlformats-officedocument.presentationml.slide+xml"/>
  <Override PartName="/ppt/slides/slide1057.xml" ContentType="application/vnd.openxmlformats-officedocument.presentationml.slide+xml"/>
  <Override PartName="/ppt/slides/slide1058.xml" ContentType="application/vnd.openxmlformats-officedocument.presentationml.slide+xml"/>
  <Override PartName="/ppt/slides/slide1059.xml" ContentType="application/vnd.openxmlformats-officedocument.presentationml.slide+xml"/>
  <Override PartName="/ppt/slides/slide106.xml" ContentType="application/vnd.openxmlformats-officedocument.presentationml.slide+xml"/>
  <Override PartName="/ppt/slides/slide1060.xml" ContentType="application/vnd.openxmlformats-officedocument.presentationml.slide+xml"/>
  <Override PartName="/ppt/slides/slide1061.xml" ContentType="application/vnd.openxmlformats-officedocument.presentationml.slide+xml"/>
  <Override PartName="/ppt/slides/slide1063.xml" ContentType="application/vnd.openxmlformats-officedocument.presentationml.slide+xml"/>
  <Override PartName="/ppt/slides/slide1065.xml" ContentType="application/vnd.openxmlformats-officedocument.presentationml.slide+xml"/>
  <Override PartName="/ppt/slides/slide1066.xml" ContentType="application/vnd.openxmlformats-officedocument.presentationml.slide+xml"/>
  <Override PartName="/ppt/slides/slide1067.xml" ContentType="application/vnd.openxmlformats-officedocument.presentationml.slide+xml"/>
  <Override PartName="/ppt/slides/slide1068.xml" ContentType="application/vnd.openxmlformats-officedocument.presentationml.slide+xml"/>
  <Override PartName="/ppt/slides/slide1069.xml" ContentType="application/vnd.openxmlformats-officedocument.presentationml.slide+xml"/>
  <Override PartName="/ppt/slides/slide107.xml" ContentType="application/vnd.openxmlformats-officedocument.presentationml.slide+xml"/>
  <Override PartName="/ppt/slides/slide1070.xml" ContentType="application/vnd.openxmlformats-officedocument.presentationml.slide+xml"/>
  <Override PartName="/ppt/slides/slide1071.xml" ContentType="application/vnd.openxmlformats-officedocument.presentationml.slide+xml"/>
  <Override PartName="/ppt/slides/slide1072.xml" ContentType="application/vnd.openxmlformats-officedocument.presentationml.slide+xml"/>
  <Override PartName="/ppt/slides/slide1073.xml" ContentType="application/vnd.openxmlformats-officedocument.presentationml.slide+xml"/>
  <Override PartName="/ppt/slides/slide1074.xml" ContentType="application/vnd.openxmlformats-officedocument.presentationml.slide+xml"/>
  <Override PartName="/ppt/slides/slide1075.xml" ContentType="application/vnd.openxmlformats-officedocument.presentationml.slide+xml"/>
  <Override PartName="/ppt/slides/slide1076.xml" ContentType="application/vnd.openxmlformats-officedocument.presentationml.slide+xml"/>
  <Override PartName="/ppt/slides/slide1077.xml" ContentType="application/vnd.openxmlformats-officedocument.presentationml.slide+xml"/>
  <Override PartName="/ppt/slides/slide1078.xml" ContentType="application/vnd.openxmlformats-officedocument.presentationml.slide+xml"/>
  <Override PartName="/ppt/slides/slide1079.xml" ContentType="application/vnd.openxmlformats-officedocument.presentationml.slide+xml"/>
  <Override PartName="/ppt/slides/slide1080.xml" ContentType="application/vnd.openxmlformats-officedocument.presentationml.slide+xml"/>
  <Override PartName="/ppt/slides/slide1081.xml" ContentType="application/vnd.openxmlformats-officedocument.presentationml.slide+xml"/>
  <Override PartName="/ppt/slides/slide1083.xml" ContentType="application/vnd.openxmlformats-officedocument.presentationml.slide+xml"/>
  <Override PartName="/ppt/slides/slide1085.xml" ContentType="application/vnd.openxmlformats-officedocument.presentationml.slide+xml"/>
  <Override PartName="/ppt/slides/slide1086.xml" ContentType="application/vnd.openxmlformats-officedocument.presentationml.slide+xml"/>
  <Override PartName="/ppt/slides/slide1087.xml" ContentType="application/vnd.openxmlformats-officedocument.presentationml.slide+xml"/>
  <Override PartName="/ppt/slides/slide1088.xml" ContentType="application/vnd.openxmlformats-officedocument.presentationml.slide+xml"/>
  <Override PartName="/ppt/slides/slide1089.xml" ContentType="application/vnd.openxmlformats-officedocument.presentationml.slide+xml"/>
  <Override PartName="/ppt/slides/slide109.xml" ContentType="application/vnd.openxmlformats-officedocument.presentationml.slide+xml"/>
  <Override PartName="/ppt/slides/slide1090.xml" ContentType="application/vnd.openxmlformats-officedocument.presentationml.slide+xml"/>
  <Override PartName="/ppt/slides/slide1091.xml" ContentType="application/vnd.openxmlformats-officedocument.presentationml.slide+xml"/>
  <Override PartName="/ppt/slides/slide1093.xml" ContentType="application/vnd.openxmlformats-officedocument.presentationml.slide+xml"/>
  <Override PartName="/ppt/slides/slide1095.xml" ContentType="application/vnd.openxmlformats-officedocument.presentationml.slide+xml"/>
  <Override PartName="/ppt/slides/slide1096.xml" ContentType="application/vnd.openxmlformats-officedocument.presentationml.slide+xml"/>
  <Override PartName="/ppt/slides/slide1097.xml" ContentType="application/vnd.openxmlformats-officedocument.presentationml.slide+xml"/>
  <Override PartName="/ppt/slides/slide1098.xml" ContentType="application/vnd.openxmlformats-officedocument.presentationml.slide+xml"/>
  <Override PartName="/ppt/slides/slide109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00.xml" ContentType="application/vnd.openxmlformats-officedocument.presentationml.slide+xml"/>
  <Override PartName="/ppt/slides/slide1101.xml" ContentType="application/vnd.openxmlformats-officedocument.presentationml.slide+xml"/>
  <Override PartName="/ppt/slides/slide1102.xml" ContentType="application/vnd.openxmlformats-officedocument.presentationml.slide+xml"/>
  <Override PartName="/ppt/slides/slide1103.xml" ContentType="application/vnd.openxmlformats-officedocument.presentationml.slide+xml"/>
  <Override PartName="/ppt/slides/slide1104.xml" ContentType="application/vnd.openxmlformats-officedocument.presentationml.slide+xml"/>
  <Override PartName="/ppt/slides/slide1105.xml" ContentType="application/vnd.openxmlformats-officedocument.presentationml.slide+xml"/>
  <Override PartName="/ppt/slides/slide1106.xml" ContentType="application/vnd.openxmlformats-officedocument.presentationml.slide+xml"/>
  <Override PartName="/ppt/slides/slide1107.xml" ContentType="application/vnd.openxmlformats-officedocument.presentationml.slide+xml"/>
  <Override PartName="/ppt/slides/slide1108.xml" ContentType="application/vnd.openxmlformats-officedocument.presentationml.slide+xml"/>
  <Override PartName="/ppt/slides/slide1109.xml" ContentType="application/vnd.openxmlformats-officedocument.presentationml.slide+xml"/>
  <Override PartName="/ppt/slides/slide111.xml" ContentType="application/vnd.openxmlformats-officedocument.presentationml.slide+xml"/>
  <Override PartName="/ppt/slides/slide1110.xml" ContentType="application/vnd.openxmlformats-officedocument.presentationml.slide+xml"/>
  <Override PartName="/ppt/slides/slide1111.xml" ContentType="application/vnd.openxmlformats-officedocument.presentationml.slide+xml"/>
  <Override PartName="/ppt/slides/slide1113.xml" ContentType="application/vnd.openxmlformats-officedocument.presentationml.slide+xml"/>
  <Override PartName="/ppt/slides/slide1115.xml" ContentType="application/vnd.openxmlformats-officedocument.presentationml.slide+xml"/>
  <Override PartName="/ppt/slides/slide1116.xml" ContentType="application/vnd.openxmlformats-officedocument.presentationml.slide+xml"/>
  <Override PartName="/ppt/slides/slide1117.xml" ContentType="application/vnd.openxmlformats-officedocument.presentationml.slide+xml"/>
  <Override PartName="/ppt/slides/slide1118.xml" ContentType="application/vnd.openxmlformats-officedocument.presentationml.slide+xml"/>
  <Override PartName="/ppt/slides/slide1119.xml" ContentType="application/vnd.openxmlformats-officedocument.presentationml.slide+xml"/>
  <Override PartName="/ppt/slides/slide112.xml" ContentType="application/vnd.openxmlformats-officedocument.presentationml.slide+xml"/>
  <Override PartName="/ppt/slides/slide1120.xml" ContentType="application/vnd.openxmlformats-officedocument.presentationml.slide+xml"/>
  <Override PartName="/ppt/slides/slide1121.xml" ContentType="application/vnd.openxmlformats-officedocument.presentationml.slide+xml"/>
  <Override PartName="/ppt/slides/slide1123.xml" ContentType="application/vnd.openxmlformats-officedocument.presentationml.slide+xml"/>
  <Override PartName="/ppt/slides/slide1125.xml" ContentType="application/vnd.openxmlformats-officedocument.presentationml.slide+xml"/>
  <Override PartName="/ppt/slides/slide1126.xml" ContentType="application/vnd.openxmlformats-officedocument.presentationml.slide+xml"/>
  <Override PartName="/ppt/slides/slide1127.xml" ContentType="application/vnd.openxmlformats-officedocument.presentationml.slide+xml"/>
  <Override PartName="/ppt/slides/slide1128.xml" ContentType="application/vnd.openxmlformats-officedocument.presentationml.slide+xml"/>
  <Override PartName="/ppt/slides/slide1129.xml" ContentType="application/vnd.openxmlformats-officedocument.presentationml.slide+xml"/>
  <Override PartName="/ppt/slides/slide113.xml" ContentType="application/vnd.openxmlformats-officedocument.presentationml.slide+xml"/>
  <Override PartName="/ppt/slides/slide1130.xml" ContentType="application/vnd.openxmlformats-officedocument.presentationml.slide+xml"/>
  <Override PartName="/ppt/slides/slide1131.xml" ContentType="application/vnd.openxmlformats-officedocument.presentationml.slide+xml"/>
  <Override PartName="/ppt/slides/slide1132.xml" ContentType="application/vnd.openxmlformats-officedocument.presentationml.slide+xml"/>
  <Override PartName="/ppt/slides/slide1133.xml" ContentType="application/vnd.openxmlformats-officedocument.presentationml.slide+xml"/>
  <Override PartName="/ppt/slides/slide1134.xml" ContentType="application/vnd.openxmlformats-officedocument.presentationml.slide+xml"/>
  <Override PartName="/ppt/slides/slide1135.xml" ContentType="application/vnd.openxmlformats-officedocument.presentationml.slide+xml"/>
  <Override PartName="/ppt/slides/slide1136.xml" ContentType="application/vnd.openxmlformats-officedocument.presentationml.slide+xml"/>
  <Override PartName="/ppt/slides/slide1137.xml" ContentType="application/vnd.openxmlformats-officedocument.presentationml.slide+xml"/>
  <Override PartName="/ppt/slides/slide1138.xml" ContentType="application/vnd.openxmlformats-officedocument.presentationml.slide+xml"/>
  <Override PartName="/ppt/slides/slide1139.xml" ContentType="application/vnd.openxmlformats-officedocument.presentationml.slide+xml"/>
  <Override PartName="/ppt/slides/slide1140.xml" ContentType="application/vnd.openxmlformats-officedocument.presentationml.slide+xml"/>
  <Override PartName="/ppt/slides/slide1141.xml" ContentType="application/vnd.openxmlformats-officedocument.presentationml.slide+xml"/>
  <Override PartName="/ppt/slides/slide1143.xml" ContentType="application/vnd.openxmlformats-officedocument.presentationml.slide+xml"/>
  <Override PartName="/ppt/slides/slide1145.xml" ContentType="application/vnd.openxmlformats-officedocument.presentationml.slide+xml"/>
  <Override PartName="/ppt/slides/slide1146.xml" ContentType="application/vnd.openxmlformats-officedocument.presentationml.slide+xml"/>
  <Override PartName="/ppt/slides/slide1147.xml" ContentType="application/vnd.openxmlformats-officedocument.presentationml.slide+xml"/>
  <Override PartName="/ppt/slides/slide1148.xml" ContentType="application/vnd.openxmlformats-officedocument.presentationml.slide+xml"/>
  <Override PartName="/ppt/slides/slide1149.xml" ContentType="application/vnd.openxmlformats-officedocument.presentationml.slide+xml"/>
  <Override PartName="/ppt/slides/slide115.xml" ContentType="application/vnd.openxmlformats-officedocument.presentationml.slide+xml"/>
  <Override PartName="/ppt/slides/slide1150.xml" ContentType="application/vnd.openxmlformats-officedocument.presentationml.slide+xml"/>
  <Override PartName="/ppt/slides/slide1151.xml" ContentType="application/vnd.openxmlformats-officedocument.presentationml.slide+xml"/>
  <Override PartName="/ppt/slides/slide1153.xml" ContentType="application/vnd.openxmlformats-officedocument.presentationml.slide+xml"/>
  <Override PartName="/ppt/slides/slide1155.xml" ContentType="application/vnd.openxmlformats-officedocument.presentationml.slide+xml"/>
  <Override PartName="/ppt/slides/slide1156.xml" ContentType="application/vnd.openxmlformats-officedocument.presentationml.slide+xml"/>
  <Override PartName="/ppt/slides/slide1157.xml" ContentType="application/vnd.openxmlformats-officedocument.presentationml.slide+xml"/>
  <Override PartName="/ppt/slides/slide1158.xml" ContentType="application/vnd.openxmlformats-officedocument.presentationml.slide+xml"/>
  <Override PartName="/ppt/slides/slide1159.xml" ContentType="application/vnd.openxmlformats-officedocument.presentationml.slide+xml"/>
  <Override PartName="/ppt/slides/slide116.xml" ContentType="application/vnd.openxmlformats-officedocument.presentationml.slide+xml"/>
  <Override PartName="/ppt/slides/slide1160.xml" ContentType="application/vnd.openxmlformats-officedocument.presentationml.slide+xml"/>
  <Override PartName="/ppt/slides/slide1161.xml" ContentType="application/vnd.openxmlformats-officedocument.presentationml.slide+xml"/>
  <Override PartName="/ppt/slides/slide1162.xml" ContentType="application/vnd.openxmlformats-officedocument.presentationml.slide+xml"/>
  <Override PartName="/ppt/slides/slide1163.xml" ContentType="application/vnd.openxmlformats-officedocument.presentationml.slide+xml"/>
  <Override PartName="/ppt/slides/slide1164.xml" ContentType="application/vnd.openxmlformats-officedocument.presentationml.slide+xml"/>
  <Override PartName="/ppt/slides/slide1165.xml" ContentType="application/vnd.openxmlformats-officedocument.presentationml.slide+xml"/>
  <Override PartName="/ppt/slides/slide1166.xml" ContentType="application/vnd.openxmlformats-officedocument.presentationml.slide+xml"/>
  <Override PartName="/ppt/slides/slide1167.xml" ContentType="application/vnd.openxmlformats-officedocument.presentationml.slide+xml"/>
  <Override PartName="/ppt/slides/slide1168.xml" ContentType="application/vnd.openxmlformats-officedocument.presentationml.slide+xml"/>
  <Override PartName="/ppt/slides/slide1169.xml" ContentType="application/vnd.openxmlformats-officedocument.presentationml.slide+xml"/>
  <Override PartName="/ppt/slides/slide1170.xml" ContentType="application/vnd.openxmlformats-officedocument.presentationml.slide+xml"/>
  <Override PartName="/ppt/slides/slide1171.xml" ContentType="application/vnd.openxmlformats-officedocument.presentationml.slide+xml"/>
  <Override PartName="/ppt/slides/slide1173.xml" ContentType="application/vnd.openxmlformats-officedocument.presentationml.slide+xml"/>
  <Override PartName="/ppt/slides/slide1175.xml" ContentType="application/vnd.openxmlformats-officedocument.presentationml.slide+xml"/>
  <Override PartName="/ppt/slides/slide1176.xml" ContentType="application/vnd.openxmlformats-officedocument.presentationml.slide+xml"/>
  <Override PartName="/ppt/slides/slide1177.xml" ContentType="application/vnd.openxmlformats-officedocument.presentationml.slide+xml"/>
  <Override PartName="/ppt/slides/slide1178.xml" ContentType="application/vnd.openxmlformats-officedocument.presentationml.slide+xml"/>
  <Override PartName="/ppt/slides/slide1179.xml" ContentType="application/vnd.openxmlformats-officedocument.presentationml.slide+xml"/>
  <Override PartName="/ppt/slides/slide1180.xml" ContentType="application/vnd.openxmlformats-officedocument.presentationml.slide+xml"/>
  <Override PartName="/ppt/slides/slide1181.xml" ContentType="application/vnd.openxmlformats-officedocument.presentationml.slide+xml"/>
  <Override PartName="/ppt/slides/slide1183.xml" ContentType="application/vnd.openxmlformats-officedocument.presentationml.slide+xml"/>
  <Override PartName="/ppt/slides/slide1185.xml" ContentType="application/vnd.openxmlformats-officedocument.presentationml.slide+xml"/>
  <Override PartName="/ppt/slides/slide1186.xml" ContentType="application/vnd.openxmlformats-officedocument.presentationml.slide+xml"/>
  <Override PartName="/ppt/slides/slide1187.xml" ContentType="application/vnd.openxmlformats-officedocument.presentationml.slide+xml"/>
  <Override PartName="/ppt/slides/slide1188.xml" ContentType="application/vnd.openxmlformats-officedocument.presentationml.slide+xml"/>
  <Override PartName="/ppt/slides/slide1189.xml" ContentType="application/vnd.openxmlformats-officedocument.presentationml.slide+xml"/>
  <Override PartName="/ppt/slides/slide119.xml" ContentType="application/vnd.openxmlformats-officedocument.presentationml.slide+xml"/>
  <Override PartName="/ppt/slides/slide1190.xml" ContentType="application/vnd.openxmlformats-officedocument.presentationml.slide+xml"/>
  <Override PartName="/ppt/slides/slide1191.xml" ContentType="application/vnd.openxmlformats-officedocument.presentationml.slide+xml"/>
  <Override PartName="/ppt/slides/slide1192.xml" ContentType="application/vnd.openxmlformats-officedocument.presentationml.slide+xml"/>
  <Override PartName="/ppt/slides/slide1193.xml" ContentType="application/vnd.openxmlformats-officedocument.presentationml.slide+xml"/>
  <Override PartName="/ppt/slides/slide1194.xml" ContentType="application/vnd.openxmlformats-officedocument.presentationml.slide+xml"/>
  <Override PartName="/ppt/slides/slide1195.xml" ContentType="application/vnd.openxmlformats-officedocument.presentationml.slide+xml"/>
  <Override PartName="/ppt/slides/slide1196.xml" ContentType="application/vnd.openxmlformats-officedocument.presentationml.slide+xml"/>
  <Override PartName="/ppt/slides/slide1197.xml" ContentType="application/vnd.openxmlformats-officedocument.presentationml.slide+xml"/>
  <Override PartName="/ppt/slides/slide1198.xml" ContentType="application/vnd.openxmlformats-officedocument.presentationml.slide+xml"/>
  <Override PartName="/ppt/slides/slide119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00.xml" ContentType="application/vnd.openxmlformats-officedocument.presentationml.slide+xml"/>
  <Override PartName="/ppt/slides/slide1201.xml" ContentType="application/vnd.openxmlformats-officedocument.presentationml.slide+xml"/>
  <Override PartName="/ppt/slides/slide1203.xml" ContentType="application/vnd.openxmlformats-officedocument.presentationml.slide+xml"/>
  <Override PartName="/ppt/slides/slide1205.xml" ContentType="application/vnd.openxmlformats-officedocument.presentationml.slide+xml"/>
  <Override PartName="/ppt/slides/slide1206.xml" ContentType="application/vnd.openxmlformats-officedocument.presentationml.slide+xml"/>
  <Override PartName="/ppt/slides/slide1207.xml" ContentType="application/vnd.openxmlformats-officedocument.presentationml.slide+xml"/>
  <Override PartName="/ppt/slides/slide1208.xml" ContentType="application/vnd.openxmlformats-officedocument.presentationml.slide+xml"/>
  <Override PartName="/ppt/slides/slide1209.xml" ContentType="application/vnd.openxmlformats-officedocument.presentationml.slide+xml"/>
  <Override PartName="/ppt/slides/slide121.xml" ContentType="application/vnd.openxmlformats-officedocument.presentationml.slide+xml"/>
  <Override PartName="/ppt/slides/slide1210.xml" ContentType="application/vnd.openxmlformats-officedocument.presentationml.slide+xml"/>
  <Override PartName="/ppt/slides/slide1211.xml" ContentType="application/vnd.openxmlformats-officedocument.presentationml.slide+xml"/>
  <Override PartName="/ppt/slides/slide1213.xml" ContentType="application/vnd.openxmlformats-officedocument.presentationml.slide+xml"/>
  <Override PartName="/ppt/slides/slide1215.xml" ContentType="application/vnd.openxmlformats-officedocument.presentationml.slide+xml"/>
  <Override PartName="/ppt/slides/slide1216.xml" ContentType="application/vnd.openxmlformats-officedocument.presentationml.slide+xml"/>
  <Override PartName="/ppt/slides/slide1217.xml" ContentType="application/vnd.openxmlformats-officedocument.presentationml.slide+xml"/>
  <Override PartName="/ppt/slides/slide1218.xml" ContentType="application/vnd.openxmlformats-officedocument.presentationml.slide+xml"/>
  <Override PartName="/ppt/slides/slide1219.xml" ContentType="application/vnd.openxmlformats-officedocument.presentationml.slide+xml"/>
  <Override PartName="/ppt/slides/slide122.xml" ContentType="application/vnd.openxmlformats-officedocument.presentationml.slide+xml"/>
  <Override PartName="/ppt/slides/slide1220.xml" ContentType="application/vnd.openxmlformats-officedocument.presentationml.slide+xml"/>
  <Override PartName="/ppt/slides/slide1221.xml" ContentType="application/vnd.openxmlformats-officedocument.presentationml.slide+xml"/>
  <Override PartName="/ppt/slides/slide1222.xml" ContentType="application/vnd.openxmlformats-officedocument.presentationml.slide+xml"/>
  <Override PartName="/ppt/slides/slide1223.xml" ContentType="application/vnd.openxmlformats-officedocument.presentationml.slide+xml"/>
  <Override PartName="/ppt/slides/slide1224.xml" ContentType="application/vnd.openxmlformats-officedocument.presentationml.slide+xml"/>
  <Override PartName="/ppt/slides/slide1225.xml" ContentType="application/vnd.openxmlformats-officedocument.presentationml.slide+xml"/>
  <Override PartName="/ppt/slides/slide1226.xml" ContentType="application/vnd.openxmlformats-officedocument.presentationml.slide+xml"/>
  <Override PartName="/ppt/slides/slide1227.xml" ContentType="application/vnd.openxmlformats-officedocument.presentationml.slide+xml"/>
  <Override PartName="/ppt/slides/slide1228.xml" ContentType="application/vnd.openxmlformats-officedocument.presentationml.slide+xml"/>
  <Override PartName="/ppt/slides/slide1229.xml" ContentType="application/vnd.openxmlformats-officedocument.presentationml.slide+xml"/>
  <Override PartName="/ppt/slides/slide123.xml" ContentType="application/vnd.openxmlformats-officedocument.presentationml.slide+xml"/>
  <Override PartName="/ppt/slides/slide1230.xml" ContentType="application/vnd.openxmlformats-officedocument.presentationml.slide+xml"/>
  <Override PartName="/ppt/slides/slide1231.xml" ContentType="application/vnd.openxmlformats-officedocument.presentationml.slide+xml"/>
  <Override PartName="/ppt/slides/slide1233.xml" ContentType="application/vnd.openxmlformats-officedocument.presentationml.slide+xml"/>
  <Override PartName="/ppt/slides/slide1235.xml" ContentType="application/vnd.openxmlformats-officedocument.presentationml.slide+xml"/>
  <Override PartName="/ppt/slides/slide1236.xml" ContentType="application/vnd.openxmlformats-officedocument.presentationml.slide+xml"/>
  <Override PartName="/ppt/slides/slide1237.xml" ContentType="application/vnd.openxmlformats-officedocument.presentationml.slide+xml"/>
  <Override PartName="/ppt/slides/slide1238.xml" ContentType="application/vnd.openxmlformats-officedocument.presentationml.slide+xml"/>
  <Override PartName="/ppt/slides/slide1239.xml" ContentType="application/vnd.openxmlformats-officedocument.presentationml.slide+xml"/>
  <Override PartName="/ppt/slides/slide124.xml" ContentType="application/vnd.openxmlformats-officedocument.presentationml.slide+xml"/>
  <Override PartName="/ppt/slides/slide1240.xml" ContentType="application/vnd.openxmlformats-officedocument.presentationml.slide+xml"/>
  <Override PartName="/ppt/slides/slide1241.xml" ContentType="application/vnd.openxmlformats-officedocument.presentationml.slide+xml"/>
  <Override PartName="/ppt/slides/slide1243.xml" ContentType="application/vnd.openxmlformats-officedocument.presentationml.slide+xml"/>
  <Override PartName="/ppt/slides/slide1245.xml" ContentType="application/vnd.openxmlformats-officedocument.presentationml.slide+xml"/>
  <Override PartName="/ppt/slides/slide1246.xml" ContentType="application/vnd.openxmlformats-officedocument.presentationml.slide+xml"/>
  <Override PartName="/ppt/slides/slide1247.xml" ContentType="application/vnd.openxmlformats-officedocument.presentationml.slide+xml"/>
  <Override PartName="/ppt/slides/slide1248.xml" ContentType="application/vnd.openxmlformats-officedocument.presentationml.slide+xml"/>
  <Override PartName="/ppt/slides/slide1249.xml" ContentType="application/vnd.openxmlformats-officedocument.presentationml.slide+xml"/>
  <Override PartName="/ppt/slides/slide125.xml" ContentType="application/vnd.openxmlformats-officedocument.presentationml.slide+xml"/>
  <Override PartName="/ppt/slides/slide1250.xml" ContentType="application/vnd.openxmlformats-officedocument.presentationml.slide+xml"/>
  <Override PartName="/ppt/slides/slide1251.xml" ContentType="application/vnd.openxmlformats-officedocument.presentationml.slide+xml"/>
  <Override PartName="/ppt/slides/slide1252.xml" ContentType="application/vnd.openxmlformats-officedocument.presentationml.slide+xml"/>
  <Override PartName="/ppt/slides/slide1253.xml" ContentType="application/vnd.openxmlformats-officedocument.presentationml.slide+xml"/>
  <Override PartName="/ppt/slides/slide1254.xml" ContentType="application/vnd.openxmlformats-officedocument.presentationml.slide+xml"/>
  <Override PartName="/ppt/slides/slide1255.xml" ContentType="application/vnd.openxmlformats-officedocument.presentationml.slide+xml"/>
  <Override PartName="/ppt/slides/slide1256.xml" ContentType="application/vnd.openxmlformats-officedocument.presentationml.slide+xml"/>
  <Override PartName="/ppt/slides/slide1257.xml" ContentType="application/vnd.openxmlformats-officedocument.presentationml.slide+xml"/>
  <Override PartName="/ppt/slides/slide1258.xml" ContentType="application/vnd.openxmlformats-officedocument.presentationml.slide+xml"/>
  <Override PartName="/ppt/slides/slide1259.xml" ContentType="application/vnd.openxmlformats-officedocument.presentationml.slide+xml"/>
  <Override PartName="/ppt/slides/slide126.xml" ContentType="application/vnd.openxmlformats-officedocument.presentationml.slide+xml"/>
  <Override PartName="/ppt/slides/slide1260.xml" ContentType="application/vnd.openxmlformats-officedocument.presentationml.slide+xml"/>
  <Override PartName="/ppt/slides/slide1261.xml" ContentType="application/vnd.openxmlformats-officedocument.presentationml.slide+xml"/>
  <Override PartName="/ppt/slides/slide1263.xml" ContentType="application/vnd.openxmlformats-officedocument.presentationml.slide+xml"/>
  <Override PartName="/ppt/slides/slide1265.xml" ContentType="application/vnd.openxmlformats-officedocument.presentationml.slide+xml"/>
  <Override PartName="/ppt/slides/slide1266.xml" ContentType="application/vnd.openxmlformats-officedocument.presentationml.slide+xml"/>
  <Override PartName="/ppt/slides/slide1267.xml" ContentType="application/vnd.openxmlformats-officedocument.presentationml.slide+xml"/>
  <Override PartName="/ppt/slides/slide1268.xml" ContentType="application/vnd.openxmlformats-officedocument.presentationml.slide+xml"/>
  <Override PartName="/ppt/slides/slide1269.xml" ContentType="application/vnd.openxmlformats-officedocument.presentationml.slide+xml"/>
  <Override PartName="/ppt/slides/slide127.xml" ContentType="application/vnd.openxmlformats-officedocument.presentationml.slide+xml"/>
  <Override PartName="/ppt/slides/slide1270.xml" ContentType="application/vnd.openxmlformats-officedocument.presentationml.slide+xml"/>
  <Override PartName="/ppt/slides/slide1271.xml" ContentType="application/vnd.openxmlformats-officedocument.presentationml.slide+xml"/>
  <Override PartName="/ppt/slides/slide1273.xml" ContentType="application/vnd.openxmlformats-officedocument.presentationml.slide+xml"/>
  <Override PartName="/ppt/slides/slide1275.xml" ContentType="application/vnd.openxmlformats-officedocument.presentationml.slide+xml"/>
  <Override PartName="/ppt/slides/slide1276.xml" ContentType="application/vnd.openxmlformats-officedocument.presentationml.slide+xml"/>
  <Override PartName="/ppt/slides/slide1277.xml" ContentType="application/vnd.openxmlformats-officedocument.presentationml.slide+xml"/>
  <Override PartName="/ppt/slides/slide1278.xml" ContentType="application/vnd.openxmlformats-officedocument.presentationml.slide+xml"/>
  <Override PartName="/ppt/slides/slide1279.xml" ContentType="application/vnd.openxmlformats-officedocument.presentationml.slide+xml"/>
  <Override PartName="/ppt/slides/slide128.xml" ContentType="application/vnd.openxmlformats-officedocument.presentationml.slide+xml"/>
  <Override PartName="/ppt/slides/slide1280.xml" ContentType="application/vnd.openxmlformats-officedocument.presentationml.slide+xml"/>
  <Override PartName="/ppt/slides/slide1281.xml" ContentType="application/vnd.openxmlformats-officedocument.presentationml.slide+xml"/>
  <Override PartName="/ppt/slides/slide1282.xml" ContentType="application/vnd.openxmlformats-officedocument.presentationml.slide+xml"/>
  <Override PartName="/ppt/slides/slide1283.xml" ContentType="application/vnd.openxmlformats-officedocument.presentationml.slide+xml"/>
  <Override PartName="/ppt/slides/slide1284.xml" ContentType="application/vnd.openxmlformats-officedocument.presentationml.slide+xml"/>
  <Override PartName="/ppt/slides/slide1285.xml" ContentType="application/vnd.openxmlformats-officedocument.presentationml.slide+xml"/>
  <Override PartName="/ppt/slides/slide1286.xml" ContentType="application/vnd.openxmlformats-officedocument.presentationml.slide+xml"/>
  <Override PartName="/ppt/slides/slide1287.xml" ContentType="application/vnd.openxmlformats-officedocument.presentationml.slide+xml"/>
  <Override PartName="/ppt/slides/slide1288.xml" ContentType="application/vnd.openxmlformats-officedocument.presentationml.slide+xml"/>
  <Override PartName="/ppt/slides/slide1289.xml" ContentType="application/vnd.openxmlformats-officedocument.presentationml.slide+xml"/>
  <Override PartName="/ppt/slides/slide129.xml" ContentType="application/vnd.openxmlformats-officedocument.presentationml.slide+xml"/>
  <Override PartName="/ppt/slides/slide1290.xml" ContentType="application/vnd.openxmlformats-officedocument.presentationml.slide+xml"/>
  <Override PartName="/ppt/slides/slide1291.xml" ContentType="application/vnd.openxmlformats-officedocument.presentationml.slide+xml"/>
  <Override PartName="/ppt/slides/slide1293.xml" ContentType="application/vnd.openxmlformats-officedocument.presentationml.slide+xml"/>
  <Override PartName="/ppt/slides/slide1295.xml" ContentType="application/vnd.openxmlformats-officedocument.presentationml.slide+xml"/>
  <Override PartName="/ppt/slides/slide1296.xml" ContentType="application/vnd.openxmlformats-officedocument.presentationml.slide+xml"/>
  <Override PartName="/ppt/slides/slide1297.xml" ContentType="application/vnd.openxmlformats-officedocument.presentationml.slide+xml"/>
  <Override PartName="/ppt/slides/slide1298.xml" ContentType="application/vnd.openxmlformats-officedocument.presentationml.slide+xml"/>
  <Override PartName="/ppt/slides/slide129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00.xml" ContentType="application/vnd.openxmlformats-officedocument.presentationml.slide+xml"/>
  <Override PartName="/ppt/slides/slide1301.xml" ContentType="application/vnd.openxmlformats-officedocument.presentationml.slide+xml"/>
  <Override PartName="/ppt/slides/slide1303.xml" ContentType="application/vnd.openxmlformats-officedocument.presentationml.slide+xml"/>
  <Override PartName="/ppt/slides/slide1305.xml" ContentType="application/vnd.openxmlformats-officedocument.presentationml.slide+xml"/>
  <Override PartName="/ppt/slides/slide1306.xml" ContentType="application/vnd.openxmlformats-officedocument.presentationml.slide+xml"/>
  <Override PartName="/ppt/slides/slide1307.xml" ContentType="application/vnd.openxmlformats-officedocument.presentationml.slide+xml"/>
  <Override PartName="/ppt/slides/slide1308.xml" ContentType="application/vnd.openxmlformats-officedocument.presentationml.slide+xml"/>
  <Override PartName="/ppt/slides/slide1309.xml" ContentType="application/vnd.openxmlformats-officedocument.presentationml.slide+xml"/>
  <Override PartName="/ppt/slides/slide131.xml" ContentType="application/vnd.openxmlformats-officedocument.presentationml.slide+xml"/>
  <Override PartName="/ppt/slides/slide1310.xml" ContentType="application/vnd.openxmlformats-officedocument.presentationml.slide+xml"/>
  <Override PartName="/ppt/slides/slide1311.xml" ContentType="application/vnd.openxmlformats-officedocument.presentationml.slide+xml"/>
  <Override PartName="/ppt/slides/slide1312.xml" ContentType="application/vnd.openxmlformats-officedocument.presentationml.slide+xml"/>
  <Override PartName="/ppt/slides/slide1313.xml" ContentType="application/vnd.openxmlformats-officedocument.presentationml.slide+xml"/>
  <Override PartName="/ppt/slides/slide1314.xml" ContentType="application/vnd.openxmlformats-officedocument.presentationml.slide+xml"/>
  <Override PartName="/ppt/slides/slide1315.xml" ContentType="application/vnd.openxmlformats-officedocument.presentationml.slide+xml"/>
  <Override PartName="/ppt/slides/slide1316.xml" ContentType="application/vnd.openxmlformats-officedocument.presentationml.slide+xml"/>
  <Override PartName="/ppt/slides/slide1317.xml" ContentType="application/vnd.openxmlformats-officedocument.presentationml.slide+xml"/>
  <Override PartName="/ppt/slides/slide1318.xml" ContentType="application/vnd.openxmlformats-officedocument.presentationml.slide+xml"/>
  <Override PartName="/ppt/slides/slide1319.xml" ContentType="application/vnd.openxmlformats-officedocument.presentationml.slide+xml"/>
  <Override PartName="/ppt/slides/slide132.xml" ContentType="application/vnd.openxmlformats-officedocument.presentationml.slide+xml"/>
  <Override PartName="/ppt/slides/slide1320.xml" ContentType="application/vnd.openxmlformats-officedocument.presentationml.slide+xml"/>
  <Override PartName="/ppt/slides/slide1321.xml" ContentType="application/vnd.openxmlformats-officedocument.presentationml.slide+xml"/>
  <Override PartName="/ppt/slides/slide1323.xml" ContentType="application/vnd.openxmlformats-officedocument.presentationml.slide+xml"/>
  <Override PartName="/ppt/slides/slide1325.xml" ContentType="application/vnd.openxmlformats-officedocument.presentationml.slide+xml"/>
  <Override PartName="/ppt/slides/slide1326.xml" ContentType="application/vnd.openxmlformats-officedocument.presentationml.slide+xml"/>
  <Override PartName="/ppt/slides/slide1327.xml" ContentType="application/vnd.openxmlformats-officedocument.presentationml.slide+xml"/>
  <Override PartName="/ppt/slides/slide1328.xml" ContentType="application/vnd.openxmlformats-officedocument.presentationml.slide+xml"/>
  <Override PartName="/ppt/slides/slide1329.xml" ContentType="application/vnd.openxmlformats-officedocument.presentationml.slide+xml"/>
  <Override PartName="/ppt/slides/slide133.xml" ContentType="application/vnd.openxmlformats-officedocument.presentationml.slide+xml"/>
  <Override PartName="/ppt/slides/slide1330.xml" ContentType="application/vnd.openxmlformats-officedocument.presentationml.slide+xml"/>
  <Override PartName="/ppt/slides/slide1331.xml" ContentType="application/vnd.openxmlformats-officedocument.presentationml.slide+xml"/>
  <Override PartName="/ppt/slides/slide1333.xml" ContentType="application/vnd.openxmlformats-officedocument.presentationml.slide+xml"/>
  <Override PartName="/ppt/slides/slide1335.xml" ContentType="application/vnd.openxmlformats-officedocument.presentationml.slide+xml"/>
  <Override PartName="/ppt/slides/slide1336.xml" ContentType="application/vnd.openxmlformats-officedocument.presentationml.slide+xml"/>
  <Override PartName="/ppt/slides/slide1337.xml" ContentType="application/vnd.openxmlformats-officedocument.presentationml.slide+xml"/>
  <Override PartName="/ppt/slides/slide1338.xml" ContentType="application/vnd.openxmlformats-officedocument.presentationml.slide+xml"/>
  <Override PartName="/ppt/slides/slide1339.xml" ContentType="application/vnd.openxmlformats-officedocument.presentationml.slide+xml"/>
  <Override PartName="/ppt/slides/slide134.xml" ContentType="application/vnd.openxmlformats-officedocument.presentationml.slide+xml"/>
  <Override PartName="/ppt/slides/slide1340.xml" ContentType="application/vnd.openxmlformats-officedocument.presentationml.slide+xml"/>
  <Override PartName="/ppt/slides/slide1341.xml" ContentType="application/vnd.openxmlformats-officedocument.presentationml.slide+xml"/>
  <Override PartName="/ppt/slides/slide1342.xml" ContentType="application/vnd.openxmlformats-officedocument.presentationml.slide+xml"/>
  <Override PartName="/ppt/slides/slide1343.xml" ContentType="application/vnd.openxmlformats-officedocument.presentationml.slide+xml"/>
  <Override PartName="/ppt/slides/slide1344.xml" ContentType="application/vnd.openxmlformats-officedocument.presentationml.slide+xml"/>
  <Override PartName="/ppt/slides/slide1345.xml" ContentType="application/vnd.openxmlformats-officedocument.presentationml.slide+xml"/>
  <Override PartName="/ppt/slides/slide1346.xml" ContentType="application/vnd.openxmlformats-officedocument.presentationml.slide+xml"/>
  <Override PartName="/ppt/slides/slide1347.xml" ContentType="application/vnd.openxmlformats-officedocument.presentationml.slide+xml"/>
  <Override PartName="/ppt/slides/slide1348.xml" ContentType="application/vnd.openxmlformats-officedocument.presentationml.slide+xml"/>
  <Override PartName="/ppt/slides/slide1349.xml" ContentType="application/vnd.openxmlformats-officedocument.presentationml.slide+xml"/>
  <Override PartName="/ppt/slides/slide135.xml" ContentType="application/vnd.openxmlformats-officedocument.presentationml.slide+xml"/>
  <Override PartName="/ppt/slides/slide1350.xml" ContentType="application/vnd.openxmlformats-officedocument.presentationml.slide+xml"/>
  <Override PartName="/ppt/slides/slide1351.xml" ContentType="application/vnd.openxmlformats-officedocument.presentationml.slide+xml"/>
  <Override PartName="/ppt/slides/slide1353.xml" ContentType="application/vnd.openxmlformats-officedocument.presentationml.slide+xml"/>
  <Override PartName="/ppt/slides/slide1355.xml" ContentType="application/vnd.openxmlformats-officedocument.presentationml.slide+xml"/>
  <Override PartName="/ppt/slides/slide1356.xml" ContentType="application/vnd.openxmlformats-officedocument.presentationml.slide+xml"/>
  <Override PartName="/ppt/slides/slide1357.xml" ContentType="application/vnd.openxmlformats-officedocument.presentationml.slide+xml"/>
  <Override PartName="/ppt/slides/slide1358.xml" ContentType="application/vnd.openxmlformats-officedocument.presentationml.slide+xml"/>
  <Override PartName="/ppt/slides/slide1359.xml" ContentType="application/vnd.openxmlformats-officedocument.presentationml.slide+xml"/>
  <Override PartName="/ppt/slides/slide136.xml" ContentType="application/vnd.openxmlformats-officedocument.presentationml.slide+xml"/>
  <Override PartName="/ppt/slides/slide1360.xml" ContentType="application/vnd.openxmlformats-officedocument.presentationml.slide+xml"/>
  <Override PartName="/ppt/slides/slide1361.xml" ContentType="application/vnd.openxmlformats-officedocument.presentationml.slide+xml"/>
  <Override PartName="/ppt/slides/slide1363.xml" ContentType="application/vnd.openxmlformats-officedocument.presentationml.slide+xml"/>
  <Override PartName="/ppt/slides/slide1365.xml" ContentType="application/vnd.openxmlformats-officedocument.presentationml.slide+xml"/>
  <Override PartName="/ppt/slides/slide1366.xml" ContentType="application/vnd.openxmlformats-officedocument.presentationml.slide+xml"/>
  <Override PartName="/ppt/slides/slide1367.xml" ContentType="application/vnd.openxmlformats-officedocument.presentationml.slide+xml"/>
  <Override PartName="/ppt/slides/slide1368.xml" ContentType="application/vnd.openxmlformats-officedocument.presentationml.slide+xml"/>
  <Override PartName="/ppt/slides/slide1369.xml" ContentType="application/vnd.openxmlformats-officedocument.presentationml.slide+xml"/>
  <Override PartName="/ppt/slides/slide137.xml" ContentType="application/vnd.openxmlformats-officedocument.presentationml.slide+xml"/>
  <Override PartName="/ppt/slides/slide1370.xml" ContentType="application/vnd.openxmlformats-officedocument.presentationml.slide+xml"/>
  <Override PartName="/ppt/slides/slide1371.xml" ContentType="application/vnd.openxmlformats-officedocument.presentationml.slide+xml"/>
  <Override PartName="/ppt/slides/slide1372.xml" ContentType="application/vnd.openxmlformats-officedocument.presentationml.slide+xml"/>
  <Override PartName="/ppt/slides/slide1373.xml" ContentType="application/vnd.openxmlformats-officedocument.presentationml.slide+xml"/>
  <Override PartName="/ppt/slides/slide1374.xml" ContentType="application/vnd.openxmlformats-officedocument.presentationml.slide+xml"/>
  <Override PartName="/ppt/slides/slide1375.xml" ContentType="application/vnd.openxmlformats-officedocument.presentationml.slide+xml"/>
  <Override PartName="/ppt/slides/slide1376.xml" ContentType="application/vnd.openxmlformats-officedocument.presentationml.slide+xml"/>
  <Override PartName="/ppt/slides/slide1377.xml" ContentType="application/vnd.openxmlformats-officedocument.presentationml.slide+xml"/>
  <Override PartName="/ppt/slides/slide1378.xml" ContentType="application/vnd.openxmlformats-officedocument.presentationml.slide+xml"/>
  <Override PartName="/ppt/slides/slide1379.xml" ContentType="application/vnd.openxmlformats-officedocument.presentationml.slide+xml"/>
  <Override PartName="/ppt/slides/slide138.xml" ContentType="application/vnd.openxmlformats-officedocument.presentationml.slide+xml"/>
  <Override PartName="/ppt/slides/slide1380.xml" ContentType="application/vnd.openxmlformats-officedocument.presentationml.slide+xml"/>
  <Override PartName="/ppt/slides/slide1381.xml" ContentType="application/vnd.openxmlformats-officedocument.presentationml.slide+xml"/>
  <Override PartName="/ppt/slides/slide1383.xml" ContentType="application/vnd.openxmlformats-officedocument.presentationml.slide+xml"/>
  <Override PartName="/ppt/slides/slide1385.xml" ContentType="application/vnd.openxmlformats-officedocument.presentationml.slide+xml"/>
  <Override PartName="/ppt/slides/slide1386.xml" ContentType="application/vnd.openxmlformats-officedocument.presentationml.slide+xml"/>
  <Override PartName="/ppt/slides/slide1387.xml" ContentType="application/vnd.openxmlformats-officedocument.presentationml.slide+xml"/>
  <Override PartName="/ppt/slides/slide1388.xml" ContentType="application/vnd.openxmlformats-officedocument.presentationml.slide+xml"/>
  <Override PartName="/ppt/slides/slide1389.xml" ContentType="application/vnd.openxmlformats-officedocument.presentationml.slide+xml"/>
  <Override PartName="/ppt/slides/slide139.xml" ContentType="application/vnd.openxmlformats-officedocument.presentationml.slide+xml"/>
  <Override PartName="/ppt/slides/slide1390.xml" ContentType="application/vnd.openxmlformats-officedocument.presentationml.slide+xml"/>
  <Override PartName="/ppt/slides/slide1391.xml" ContentType="application/vnd.openxmlformats-officedocument.presentationml.slide+xml"/>
  <Override PartName="/ppt/slides/slide1393.xml" ContentType="application/vnd.openxmlformats-officedocument.presentationml.slide+xml"/>
  <Override PartName="/ppt/slides/slide1395.xml" ContentType="application/vnd.openxmlformats-officedocument.presentationml.slide+xml"/>
  <Override PartName="/ppt/slides/slide1396.xml" ContentType="application/vnd.openxmlformats-officedocument.presentationml.slide+xml"/>
  <Override PartName="/ppt/slides/slide1397.xml" ContentType="application/vnd.openxmlformats-officedocument.presentationml.slide+xml"/>
  <Override PartName="/ppt/slides/slide1398.xml" ContentType="application/vnd.openxmlformats-officedocument.presentationml.slide+xml"/>
  <Override PartName="/ppt/slides/slide139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00.xml" ContentType="application/vnd.openxmlformats-officedocument.presentationml.slide+xml"/>
  <Override PartName="/ppt/slides/slide1401.xml" ContentType="application/vnd.openxmlformats-officedocument.presentationml.slide+xml"/>
  <Override PartName="/ppt/slides/slide1402.xml" ContentType="application/vnd.openxmlformats-officedocument.presentationml.slide+xml"/>
  <Override PartName="/ppt/slides/slide1403.xml" ContentType="application/vnd.openxmlformats-officedocument.presentationml.slide+xml"/>
  <Override PartName="/ppt/slides/slide1404.xml" ContentType="application/vnd.openxmlformats-officedocument.presentationml.slide+xml"/>
  <Override PartName="/ppt/slides/slide1405.xml" ContentType="application/vnd.openxmlformats-officedocument.presentationml.slide+xml"/>
  <Override PartName="/ppt/slides/slide1406.xml" ContentType="application/vnd.openxmlformats-officedocument.presentationml.slide+xml"/>
  <Override PartName="/ppt/slides/slide1407.xml" ContentType="application/vnd.openxmlformats-officedocument.presentationml.slide+xml"/>
  <Override PartName="/ppt/slides/slide1408.xml" ContentType="application/vnd.openxmlformats-officedocument.presentationml.slide+xml"/>
  <Override PartName="/ppt/slides/slide1409.xml" ContentType="application/vnd.openxmlformats-officedocument.presentationml.slide+xml"/>
  <Override PartName="/ppt/slides/slide141.xml" ContentType="application/vnd.openxmlformats-officedocument.presentationml.slide+xml"/>
  <Override PartName="/ppt/slides/slide1410.xml" ContentType="application/vnd.openxmlformats-officedocument.presentationml.slide+xml"/>
  <Override PartName="/ppt/slides/slide1411.xml" ContentType="application/vnd.openxmlformats-officedocument.presentationml.slide+xml"/>
  <Override PartName="/ppt/slides/slide1413.xml" ContentType="application/vnd.openxmlformats-officedocument.presentationml.slide+xml"/>
  <Override PartName="/ppt/slides/slide1415.xml" ContentType="application/vnd.openxmlformats-officedocument.presentationml.slide+xml"/>
  <Override PartName="/ppt/slides/slide1416.xml" ContentType="application/vnd.openxmlformats-officedocument.presentationml.slide+xml"/>
  <Override PartName="/ppt/slides/slide1417.xml" ContentType="application/vnd.openxmlformats-officedocument.presentationml.slide+xml"/>
  <Override PartName="/ppt/slides/slide1418.xml" ContentType="application/vnd.openxmlformats-officedocument.presentationml.slide+xml"/>
  <Override PartName="/ppt/slides/slide1419.xml" ContentType="application/vnd.openxmlformats-officedocument.presentationml.slide+xml"/>
  <Override PartName="/ppt/slides/slide142.xml" ContentType="application/vnd.openxmlformats-officedocument.presentationml.slide+xml"/>
  <Override PartName="/ppt/slides/slide1420.xml" ContentType="application/vnd.openxmlformats-officedocument.presentationml.slide+xml"/>
  <Override PartName="/ppt/slides/slide1421.xml" ContentType="application/vnd.openxmlformats-officedocument.presentationml.slide+xml"/>
  <Override PartName="/ppt/slides/slide1423.xml" ContentType="application/vnd.openxmlformats-officedocument.presentationml.slide+xml"/>
  <Override PartName="/ppt/slides/slide1425.xml" ContentType="application/vnd.openxmlformats-officedocument.presentationml.slide+xml"/>
  <Override PartName="/ppt/slides/slide1426.xml" ContentType="application/vnd.openxmlformats-officedocument.presentationml.slide+xml"/>
  <Override PartName="/ppt/slides/slide1427.xml" ContentType="application/vnd.openxmlformats-officedocument.presentationml.slide+xml"/>
  <Override PartName="/ppt/slides/slide1428.xml" ContentType="application/vnd.openxmlformats-officedocument.presentationml.slide+xml"/>
  <Override PartName="/ppt/slides/slide1429.xml" ContentType="application/vnd.openxmlformats-officedocument.presentationml.slide+xml"/>
  <Override PartName="/ppt/slides/slide143.xml" ContentType="application/vnd.openxmlformats-officedocument.presentationml.slide+xml"/>
  <Override PartName="/ppt/slides/slide1430.xml" ContentType="application/vnd.openxmlformats-officedocument.presentationml.slide+xml"/>
  <Override PartName="/ppt/slides/slide1431.xml" ContentType="application/vnd.openxmlformats-officedocument.presentationml.slide+xml"/>
  <Override PartName="/ppt/slides/slide1432.xml" ContentType="application/vnd.openxmlformats-officedocument.presentationml.slide+xml"/>
  <Override PartName="/ppt/slides/slide1433.xml" ContentType="application/vnd.openxmlformats-officedocument.presentationml.slide+xml"/>
  <Override PartName="/ppt/slides/slide1434.xml" ContentType="application/vnd.openxmlformats-officedocument.presentationml.slide+xml"/>
  <Override PartName="/ppt/slides/slide1435.xml" ContentType="application/vnd.openxmlformats-officedocument.presentationml.slide+xml"/>
  <Override PartName="/ppt/slides/slide1436.xml" ContentType="application/vnd.openxmlformats-officedocument.presentationml.slide+xml"/>
  <Override PartName="/ppt/slides/slide1437.xml" ContentType="application/vnd.openxmlformats-officedocument.presentationml.slide+xml"/>
  <Override PartName="/ppt/slides/slide1438.xml" ContentType="application/vnd.openxmlformats-officedocument.presentationml.slide+xml"/>
  <Override PartName="/ppt/slides/slide1439.xml" ContentType="application/vnd.openxmlformats-officedocument.presentationml.slide+xml"/>
  <Override PartName="/ppt/slides/slide144.xml" ContentType="application/vnd.openxmlformats-officedocument.presentationml.slide+xml"/>
  <Override PartName="/ppt/slides/slide1440.xml" ContentType="application/vnd.openxmlformats-officedocument.presentationml.slide+xml"/>
  <Override PartName="/ppt/slides/slide1441.xml" ContentType="application/vnd.openxmlformats-officedocument.presentationml.slide+xml"/>
  <Override PartName="/ppt/slides/slide1443.xml" ContentType="application/vnd.openxmlformats-officedocument.presentationml.slide+xml"/>
  <Override PartName="/ppt/slides/slide1445.xml" ContentType="application/vnd.openxmlformats-officedocument.presentationml.slide+xml"/>
  <Override PartName="/ppt/slides/slide1446.xml" ContentType="application/vnd.openxmlformats-officedocument.presentationml.slide+xml"/>
  <Override PartName="/ppt/slides/slide1447.xml" ContentType="application/vnd.openxmlformats-officedocument.presentationml.slide+xml"/>
  <Override PartName="/ppt/slides/slide1448.xml" ContentType="application/vnd.openxmlformats-officedocument.presentationml.slide+xml"/>
  <Override PartName="/ppt/slides/slide1449.xml" ContentType="application/vnd.openxmlformats-officedocument.presentationml.slide+xml"/>
  <Override PartName="/ppt/slides/slide145.xml" ContentType="application/vnd.openxmlformats-officedocument.presentationml.slide+xml"/>
  <Override PartName="/ppt/slides/slide1450.xml" ContentType="application/vnd.openxmlformats-officedocument.presentationml.slide+xml"/>
  <Override PartName="/ppt/slides/slide1451.xml" ContentType="application/vnd.openxmlformats-officedocument.presentationml.slide+xml"/>
  <Override PartName="/ppt/slides/slide1453.xml" ContentType="application/vnd.openxmlformats-officedocument.presentationml.slide+xml"/>
  <Override PartName="/ppt/slides/slide1455.xml" ContentType="application/vnd.openxmlformats-officedocument.presentationml.slide+xml"/>
  <Override PartName="/ppt/slides/slide1456.xml" ContentType="application/vnd.openxmlformats-officedocument.presentationml.slide+xml"/>
  <Override PartName="/ppt/slides/slide1457.xml" ContentType="application/vnd.openxmlformats-officedocument.presentationml.slide+xml"/>
  <Override PartName="/ppt/slides/slide1458.xml" ContentType="application/vnd.openxmlformats-officedocument.presentationml.slide+xml"/>
  <Override PartName="/ppt/slides/slide1459.xml" ContentType="application/vnd.openxmlformats-officedocument.presentationml.slide+xml"/>
  <Override PartName="/ppt/slides/slide146.xml" ContentType="application/vnd.openxmlformats-officedocument.presentationml.slide+xml"/>
  <Override PartName="/ppt/slides/slide1460.xml" ContentType="application/vnd.openxmlformats-officedocument.presentationml.slide+xml"/>
  <Override PartName="/ppt/slides/slide1461.xml" ContentType="application/vnd.openxmlformats-officedocument.presentationml.slide+xml"/>
  <Override PartName="/ppt/slides/slide1462.xml" ContentType="application/vnd.openxmlformats-officedocument.presentationml.slide+xml"/>
  <Override PartName="/ppt/slides/slide1463.xml" ContentType="application/vnd.openxmlformats-officedocument.presentationml.slide+xml"/>
  <Override PartName="/ppt/slides/slide1464.xml" ContentType="application/vnd.openxmlformats-officedocument.presentationml.slide+xml"/>
  <Override PartName="/ppt/slides/slide1465.xml" ContentType="application/vnd.openxmlformats-officedocument.presentationml.slide+xml"/>
  <Override PartName="/ppt/slides/slide1466.xml" ContentType="application/vnd.openxmlformats-officedocument.presentationml.slide+xml"/>
  <Override PartName="/ppt/slides/slide1467.xml" ContentType="application/vnd.openxmlformats-officedocument.presentationml.slide+xml"/>
  <Override PartName="/ppt/slides/slide1468.xml" ContentType="application/vnd.openxmlformats-officedocument.presentationml.slide+xml"/>
  <Override PartName="/ppt/slides/slide1469.xml" ContentType="application/vnd.openxmlformats-officedocument.presentationml.slide+xml"/>
  <Override PartName="/ppt/slides/slide1470.xml" ContentType="application/vnd.openxmlformats-officedocument.presentationml.slide+xml"/>
  <Override PartName="/ppt/slides/slide1471.xml" ContentType="application/vnd.openxmlformats-officedocument.presentationml.slide+xml"/>
  <Override PartName="/ppt/slides/slide1473.xml" ContentType="application/vnd.openxmlformats-officedocument.presentationml.slide+xml"/>
  <Override PartName="/ppt/slides/slide1475.xml" ContentType="application/vnd.openxmlformats-officedocument.presentationml.slide+xml"/>
  <Override PartName="/ppt/slides/slide1476.xml" ContentType="application/vnd.openxmlformats-officedocument.presentationml.slide+xml"/>
  <Override PartName="/ppt/slides/slide1477.xml" ContentType="application/vnd.openxmlformats-officedocument.presentationml.slide+xml"/>
  <Override PartName="/ppt/slides/slide1478.xml" ContentType="application/vnd.openxmlformats-officedocument.presentationml.slide+xml"/>
  <Override PartName="/ppt/slides/slide1479.xml" ContentType="application/vnd.openxmlformats-officedocument.presentationml.slide+xml"/>
  <Override PartName="/ppt/slides/slide148.xml" ContentType="application/vnd.openxmlformats-officedocument.presentationml.slide+xml"/>
  <Override PartName="/ppt/slides/slide1480.xml" ContentType="application/vnd.openxmlformats-officedocument.presentationml.slide+xml"/>
  <Override PartName="/ppt/slides/slide1481.xml" ContentType="application/vnd.openxmlformats-officedocument.presentationml.slide+xml"/>
  <Override PartName="/ppt/slides/slide1483.xml" ContentType="application/vnd.openxmlformats-officedocument.presentationml.slide+xml"/>
  <Override PartName="/ppt/slides/slide1485.xml" ContentType="application/vnd.openxmlformats-officedocument.presentationml.slide+xml"/>
  <Override PartName="/ppt/slides/slide1486.xml" ContentType="application/vnd.openxmlformats-officedocument.presentationml.slide+xml"/>
  <Override PartName="/ppt/slides/slide1487.xml" ContentType="application/vnd.openxmlformats-officedocument.presentationml.slide+xml"/>
  <Override PartName="/ppt/slides/slide1488.xml" ContentType="application/vnd.openxmlformats-officedocument.presentationml.slide+xml"/>
  <Override PartName="/ppt/slides/slide1489.xml" ContentType="application/vnd.openxmlformats-officedocument.presentationml.slide+xml"/>
  <Override PartName="/ppt/slides/slide149.xml" ContentType="application/vnd.openxmlformats-officedocument.presentationml.slide+xml"/>
  <Override PartName="/ppt/slides/slide1490.xml" ContentType="application/vnd.openxmlformats-officedocument.presentationml.slide+xml"/>
  <Override PartName="/ppt/slides/slide1491.xml" ContentType="application/vnd.openxmlformats-officedocument.presentationml.slide+xml"/>
  <Override PartName="/ppt/slides/slide1492.xml" ContentType="application/vnd.openxmlformats-officedocument.presentationml.slide+xml"/>
  <Override PartName="/ppt/slides/slide1493.xml" ContentType="application/vnd.openxmlformats-officedocument.presentationml.slide+xml"/>
  <Override PartName="/ppt/slides/slide1494.xml" ContentType="application/vnd.openxmlformats-officedocument.presentationml.slide+xml"/>
  <Override PartName="/ppt/slides/slide1495.xml" ContentType="application/vnd.openxmlformats-officedocument.presentationml.slide+xml"/>
  <Override PartName="/ppt/slides/slide1496.xml" ContentType="application/vnd.openxmlformats-officedocument.presentationml.slide+xml"/>
  <Override PartName="/ppt/slides/slide1497.xml" ContentType="application/vnd.openxmlformats-officedocument.presentationml.slide+xml"/>
  <Override PartName="/ppt/slides/slide1498.xml" ContentType="application/vnd.openxmlformats-officedocument.presentationml.slide+xml"/>
  <Override PartName="/ppt/slides/slide1499.xml" ContentType="application/vnd.openxmlformats-officedocument.presentationml.slide+xml"/>
  <Override PartName="/ppt/slides/slide15.xml" ContentType="application/vnd.openxmlformats-officedocument.presentationml.slide+xml"/>
  <Override PartName="/ppt/slides/slide1500.xml" ContentType="application/vnd.openxmlformats-officedocument.presentationml.slide+xml"/>
  <Override PartName="/ppt/slides/slide1501.xml" ContentType="application/vnd.openxmlformats-officedocument.presentationml.slide+xml"/>
  <Override PartName="/ppt/slides/slide1503.xml" ContentType="application/vnd.openxmlformats-officedocument.presentationml.slide+xml"/>
  <Override PartName="/ppt/slides/slide1505.xml" ContentType="application/vnd.openxmlformats-officedocument.presentationml.slide+xml"/>
  <Override PartName="/ppt/slides/slide1506.xml" ContentType="application/vnd.openxmlformats-officedocument.presentationml.slide+xml"/>
  <Override PartName="/ppt/slides/slide1507.xml" ContentType="application/vnd.openxmlformats-officedocument.presentationml.slide+xml"/>
  <Override PartName="/ppt/slides/slide1508.xml" ContentType="application/vnd.openxmlformats-officedocument.presentationml.slide+xml"/>
  <Override PartName="/ppt/slides/slide1509.xml" ContentType="application/vnd.openxmlformats-officedocument.presentationml.slide+xml"/>
  <Override PartName="/ppt/slides/slide1510.xml" ContentType="application/vnd.openxmlformats-officedocument.presentationml.slide+xml"/>
  <Override PartName="/ppt/slides/slide1511.xml" ContentType="application/vnd.openxmlformats-officedocument.presentationml.slide+xml"/>
  <Override PartName="/ppt/slides/slide1513.xml" ContentType="application/vnd.openxmlformats-officedocument.presentationml.slide+xml"/>
  <Override PartName="/ppt/slides/slide1515.xml" ContentType="application/vnd.openxmlformats-officedocument.presentationml.slide+xml"/>
  <Override PartName="/ppt/slides/slide1516.xml" ContentType="application/vnd.openxmlformats-officedocument.presentationml.slide+xml"/>
  <Override PartName="/ppt/slides/slide1517.xml" ContentType="application/vnd.openxmlformats-officedocument.presentationml.slide+xml"/>
  <Override PartName="/ppt/slides/slide1518.xml" ContentType="application/vnd.openxmlformats-officedocument.presentationml.slide+xml"/>
  <Override PartName="/ppt/slides/slide1519.xml" ContentType="application/vnd.openxmlformats-officedocument.presentationml.slide+xml"/>
  <Override PartName="/ppt/slides/slide152.xml" ContentType="application/vnd.openxmlformats-officedocument.presentationml.slide+xml"/>
  <Override PartName="/ppt/slides/slide1520.xml" ContentType="application/vnd.openxmlformats-officedocument.presentationml.slide+xml"/>
  <Override PartName="/ppt/slides/slide1521.xml" ContentType="application/vnd.openxmlformats-officedocument.presentationml.slide+xml"/>
  <Override PartName="/ppt/slides/slide1522.xml" ContentType="application/vnd.openxmlformats-officedocument.presentationml.slide+xml"/>
  <Override PartName="/ppt/slides/slide1523.xml" ContentType="application/vnd.openxmlformats-officedocument.presentationml.slide+xml"/>
  <Override PartName="/ppt/slides/slide1524.xml" ContentType="application/vnd.openxmlformats-officedocument.presentationml.slide+xml"/>
  <Override PartName="/ppt/slides/slide1525.xml" ContentType="application/vnd.openxmlformats-officedocument.presentationml.slide+xml"/>
  <Override PartName="/ppt/slides/slide1526.xml" ContentType="application/vnd.openxmlformats-officedocument.presentationml.slide+xml"/>
  <Override PartName="/ppt/slides/slide1527.xml" ContentType="application/vnd.openxmlformats-officedocument.presentationml.slide+xml"/>
  <Override PartName="/ppt/slides/slide1528.xml" ContentType="application/vnd.openxmlformats-officedocument.presentationml.slide+xml"/>
  <Override PartName="/ppt/slides/slide1529.xml" ContentType="application/vnd.openxmlformats-officedocument.presentationml.slide+xml"/>
  <Override PartName="/ppt/slides/slide153.xml" ContentType="application/vnd.openxmlformats-officedocument.presentationml.slide+xml"/>
  <Override PartName="/ppt/slides/slide1530.xml" ContentType="application/vnd.openxmlformats-officedocument.presentationml.slide+xml"/>
  <Override PartName="/ppt/slides/slide1531.xml" ContentType="application/vnd.openxmlformats-officedocument.presentationml.slide+xml"/>
  <Override PartName="/ppt/slides/slide1533.xml" ContentType="application/vnd.openxmlformats-officedocument.presentationml.slide+xml"/>
  <Override PartName="/ppt/slides/slide1535.xml" ContentType="application/vnd.openxmlformats-officedocument.presentationml.slide+xml"/>
  <Override PartName="/ppt/slides/slide1536.xml" ContentType="application/vnd.openxmlformats-officedocument.presentationml.slide+xml"/>
  <Override PartName="/ppt/slides/slide1537.xml" ContentType="application/vnd.openxmlformats-officedocument.presentationml.slide+xml"/>
  <Override PartName="/ppt/slides/slide1538.xml" ContentType="application/vnd.openxmlformats-officedocument.presentationml.slide+xml"/>
  <Override PartName="/ppt/slides/slide1539.xml" ContentType="application/vnd.openxmlformats-officedocument.presentationml.slide+xml"/>
  <Override PartName="/ppt/slides/slide154.xml" ContentType="application/vnd.openxmlformats-officedocument.presentationml.slide+xml"/>
  <Override PartName="/ppt/slides/slide1540.xml" ContentType="application/vnd.openxmlformats-officedocument.presentationml.slide+xml"/>
  <Override PartName="/ppt/slides/slide1541.xml" ContentType="application/vnd.openxmlformats-officedocument.presentationml.slide+xml"/>
  <Override PartName="/ppt/slides/slide1543.xml" ContentType="application/vnd.openxmlformats-officedocument.presentationml.slide+xml"/>
  <Override PartName="/ppt/slides/slide1545.xml" ContentType="application/vnd.openxmlformats-officedocument.presentationml.slide+xml"/>
  <Override PartName="/ppt/slides/slide1546.xml" ContentType="application/vnd.openxmlformats-officedocument.presentationml.slide+xml"/>
  <Override PartName="/ppt/slides/slide1547.xml" ContentType="application/vnd.openxmlformats-officedocument.presentationml.slide+xml"/>
  <Override PartName="/ppt/slides/slide1548.xml" ContentType="application/vnd.openxmlformats-officedocument.presentationml.slide+xml"/>
  <Override PartName="/ppt/slides/slide1549.xml" ContentType="application/vnd.openxmlformats-officedocument.presentationml.slide+xml"/>
  <Override PartName="/ppt/slides/slide155.xml" ContentType="application/vnd.openxmlformats-officedocument.presentationml.slide+xml"/>
  <Override PartName="/ppt/slides/slide1550.xml" ContentType="application/vnd.openxmlformats-officedocument.presentationml.slide+xml"/>
  <Override PartName="/ppt/slides/slide1551.xml" ContentType="application/vnd.openxmlformats-officedocument.presentationml.slide+xml"/>
  <Override PartName="/ppt/slides/slide1552.xml" ContentType="application/vnd.openxmlformats-officedocument.presentationml.slide+xml"/>
  <Override PartName="/ppt/slides/slide1553.xml" ContentType="application/vnd.openxmlformats-officedocument.presentationml.slide+xml"/>
  <Override PartName="/ppt/slides/slide1554.xml" ContentType="application/vnd.openxmlformats-officedocument.presentationml.slide+xml"/>
  <Override PartName="/ppt/slides/slide1555.xml" ContentType="application/vnd.openxmlformats-officedocument.presentationml.slide+xml"/>
  <Override PartName="/ppt/slides/slide1556.xml" ContentType="application/vnd.openxmlformats-officedocument.presentationml.slide+xml"/>
  <Override PartName="/ppt/slides/slide1557.xml" ContentType="application/vnd.openxmlformats-officedocument.presentationml.slide+xml"/>
  <Override PartName="/ppt/slides/slide1558.xml" ContentType="application/vnd.openxmlformats-officedocument.presentationml.slide+xml"/>
  <Override PartName="/ppt/slides/slide1559.xml" ContentType="application/vnd.openxmlformats-officedocument.presentationml.slide+xml"/>
  <Override PartName="/ppt/slides/slide156.xml" ContentType="application/vnd.openxmlformats-officedocument.presentationml.slide+xml"/>
  <Override PartName="/ppt/slides/slide1560.xml" ContentType="application/vnd.openxmlformats-officedocument.presentationml.slide+xml"/>
  <Override PartName="/ppt/slides/slide1561.xml" ContentType="application/vnd.openxmlformats-officedocument.presentationml.slide+xml"/>
  <Override PartName="/ppt/slides/slide1563.xml" ContentType="application/vnd.openxmlformats-officedocument.presentationml.slide+xml"/>
  <Override PartName="/ppt/slides/slide1565.xml" ContentType="application/vnd.openxmlformats-officedocument.presentationml.slide+xml"/>
  <Override PartName="/ppt/slides/slide1566.xml" ContentType="application/vnd.openxmlformats-officedocument.presentationml.slide+xml"/>
  <Override PartName="/ppt/slides/slide1567.xml" ContentType="application/vnd.openxmlformats-officedocument.presentationml.slide+xml"/>
  <Override PartName="/ppt/slides/slide1568.xml" ContentType="application/vnd.openxmlformats-officedocument.presentationml.slide+xml"/>
  <Override PartName="/ppt/slides/slide1569.xml" ContentType="application/vnd.openxmlformats-officedocument.presentationml.slide+xml"/>
  <Override PartName="/ppt/slides/slide157.xml" ContentType="application/vnd.openxmlformats-officedocument.presentationml.slide+xml"/>
  <Override PartName="/ppt/slides/slide1570.xml" ContentType="application/vnd.openxmlformats-officedocument.presentationml.slide+xml"/>
  <Override PartName="/ppt/slides/slide1571.xml" ContentType="application/vnd.openxmlformats-officedocument.presentationml.slide+xml"/>
  <Override PartName="/ppt/slides/slide1573.xml" ContentType="application/vnd.openxmlformats-officedocument.presentationml.slide+xml"/>
  <Override PartName="/ppt/slides/slide1575.xml" ContentType="application/vnd.openxmlformats-officedocument.presentationml.slide+xml"/>
  <Override PartName="/ppt/slides/slide1576.xml" ContentType="application/vnd.openxmlformats-officedocument.presentationml.slide+xml"/>
  <Override PartName="/ppt/slides/slide1577.xml" ContentType="application/vnd.openxmlformats-officedocument.presentationml.slide+xml"/>
  <Override PartName="/ppt/slides/slide1578.xml" ContentType="application/vnd.openxmlformats-officedocument.presentationml.slide+xml"/>
  <Override PartName="/ppt/slides/slide1579.xml" ContentType="application/vnd.openxmlformats-officedocument.presentationml.slide+xml"/>
  <Override PartName="/ppt/slides/slide158.xml" ContentType="application/vnd.openxmlformats-officedocument.presentationml.slide+xml"/>
  <Override PartName="/ppt/slides/slide1580.xml" ContentType="application/vnd.openxmlformats-officedocument.presentationml.slide+xml"/>
  <Override PartName="/ppt/slides/slide1581.xml" ContentType="application/vnd.openxmlformats-officedocument.presentationml.slide+xml"/>
  <Override PartName="/ppt/slides/slide1582.xml" ContentType="application/vnd.openxmlformats-officedocument.presentationml.slide+xml"/>
  <Override PartName="/ppt/slides/slide1583.xml" ContentType="application/vnd.openxmlformats-officedocument.presentationml.slide+xml"/>
  <Override PartName="/ppt/slides/slide1584.xml" ContentType="application/vnd.openxmlformats-officedocument.presentationml.slide+xml"/>
  <Override PartName="/ppt/slides/slide1585.xml" ContentType="application/vnd.openxmlformats-officedocument.presentationml.slide+xml"/>
  <Override PartName="/ppt/slides/slide1586.xml" ContentType="application/vnd.openxmlformats-officedocument.presentationml.slide+xml"/>
  <Override PartName="/ppt/slides/slide1587.xml" ContentType="application/vnd.openxmlformats-officedocument.presentationml.slide+xml"/>
  <Override PartName="/ppt/slides/slide1588.xml" ContentType="application/vnd.openxmlformats-officedocument.presentationml.slide+xml"/>
  <Override PartName="/ppt/slides/slide1589.xml" ContentType="application/vnd.openxmlformats-officedocument.presentationml.slide+xml"/>
  <Override PartName="/ppt/slides/slide1590.xml" ContentType="application/vnd.openxmlformats-officedocument.presentationml.slide+xml"/>
  <Override PartName="/ppt/slides/slide1591.xml" ContentType="application/vnd.openxmlformats-officedocument.presentationml.slide+xml"/>
  <Override PartName="/ppt/slides/slide1593.xml" ContentType="application/vnd.openxmlformats-officedocument.presentationml.slide+xml"/>
  <Override PartName="/ppt/slides/slide1595.xml" ContentType="application/vnd.openxmlformats-officedocument.presentationml.slide+xml"/>
  <Override PartName="/ppt/slides/slide1596.xml" ContentType="application/vnd.openxmlformats-officedocument.presentationml.slide+xml"/>
  <Override PartName="/ppt/slides/slide1597.xml" ContentType="application/vnd.openxmlformats-officedocument.presentationml.slide+xml"/>
  <Override PartName="/ppt/slides/slide1598.xml" ContentType="application/vnd.openxmlformats-officedocument.presentationml.slide+xml"/>
  <Override PartName="/ppt/slides/slide159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00.xml" ContentType="application/vnd.openxmlformats-officedocument.presentationml.slide+xml"/>
  <Override PartName="/ppt/slides/slide1601.xml" ContentType="application/vnd.openxmlformats-officedocument.presentationml.slide+xml"/>
  <Override PartName="/ppt/slides/slide1603.xml" ContentType="application/vnd.openxmlformats-officedocument.presentationml.slide+xml"/>
  <Override PartName="/ppt/slides/slide1605.xml" ContentType="application/vnd.openxmlformats-officedocument.presentationml.slide+xml"/>
  <Override PartName="/ppt/slides/slide1606.xml" ContentType="application/vnd.openxmlformats-officedocument.presentationml.slide+xml"/>
  <Override PartName="/ppt/slides/slide1607.xml" ContentType="application/vnd.openxmlformats-officedocument.presentationml.slide+xml"/>
  <Override PartName="/ppt/slides/slide1608.xml" ContentType="application/vnd.openxmlformats-officedocument.presentationml.slide+xml"/>
  <Override PartName="/ppt/slides/slide1609.xml" ContentType="application/vnd.openxmlformats-officedocument.presentationml.slide+xml"/>
  <Override PartName="/ppt/slides/slide161.xml" ContentType="application/vnd.openxmlformats-officedocument.presentationml.slide+xml"/>
  <Override PartName="/ppt/slides/slide1610.xml" ContentType="application/vnd.openxmlformats-officedocument.presentationml.slide+xml"/>
  <Override PartName="/ppt/slides/slide1611.xml" ContentType="application/vnd.openxmlformats-officedocument.presentationml.slide+xml"/>
  <Override PartName="/ppt/slides/slide1612.xml" ContentType="application/vnd.openxmlformats-officedocument.presentationml.slide+xml"/>
  <Override PartName="/ppt/slides/slide1613.xml" ContentType="application/vnd.openxmlformats-officedocument.presentationml.slide+xml"/>
  <Override PartName="/ppt/slides/slide1614.xml" ContentType="application/vnd.openxmlformats-officedocument.presentationml.slide+xml"/>
  <Override PartName="/ppt/slides/slide1615.xml" ContentType="application/vnd.openxmlformats-officedocument.presentationml.slide+xml"/>
  <Override PartName="/ppt/slides/slide1616.xml" ContentType="application/vnd.openxmlformats-officedocument.presentationml.slide+xml"/>
  <Override PartName="/ppt/slides/slide1617.xml" ContentType="application/vnd.openxmlformats-officedocument.presentationml.slide+xml"/>
  <Override PartName="/ppt/slides/slide1618.xml" ContentType="application/vnd.openxmlformats-officedocument.presentationml.slide+xml"/>
  <Override PartName="/ppt/slides/slide1619.xml" ContentType="application/vnd.openxmlformats-officedocument.presentationml.slide+xml"/>
  <Override PartName="/ppt/slides/slide1620.xml" ContentType="application/vnd.openxmlformats-officedocument.presentationml.slide+xml"/>
  <Override PartName="/ppt/slides/slide1621.xml" ContentType="application/vnd.openxmlformats-officedocument.presentationml.slide+xml"/>
  <Override PartName="/ppt/slides/slide1623.xml" ContentType="application/vnd.openxmlformats-officedocument.presentationml.slide+xml"/>
  <Override PartName="/ppt/slides/slide1625.xml" ContentType="application/vnd.openxmlformats-officedocument.presentationml.slide+xml"/>
  <Override PartName="/ppt/slides/slide1626.xml" ContentType="application/vnd.openxmlformats-officedocument.presentationml.slide+xml"/>
  <Override PartName="/ppt/slides/slide1627.xml" ContentType="application/vnd.openxmlformats-officedocument.presentationml.slide+xml"/>
  <Override PartName="/ppt/slides/slide1628.xml" ContentType="application/vnd.openxmlformats-officedocument.presentationml.slide+xml"/>
  <Override PartName="/ppt/slides/slide1629.xml" ContentType="application/vnd.openxmlformats-officedocument.presentationml.slide+xml"/>
  <Override PartName="/ppt/slides/slide163.xml" ContentType="application/vnd.openxmlformats-officedocument.presentationml.slide+xml"/>
  <Override PartName="/ppt/slides/slide1630.xml" ContentType="application/vnd.openxmlformats-officedocument.presentationml.slide+xml"/>
  <Override PartName="/ppt/slides/slide1631.xml" ContentType="application/vnd.openxmlformats-officedocument.presentationml.slide+xml"/>
  <Override PartName="/ppt/slides/slide1633.xml" ContentType="application/vnd.openxmlformats-officedocument.presentationml.slide+xml"/>
  <Override PartName="/ppt/slides/slide1635.xml" ContentType="application/vnd.openxmlformats-officedocument.presentationml.slide+xml"/>
  <Override PartName="/ppt/slides/slide1636.xml" ContentType="application/vnd.openxmlformats-officedocument.presentationml.slide+xml"/>
  <Override PartName="/ppt/slides/slide1637.xml" ContentType="application/vnd.openxmlformats-officedocument.presentationml.slide+xml"/>
  <Override PartName="/ppt/slides/slide1638.xml" ContentType="application/vnd.openxmlformats-officedocument.presentationml.slide+xml"/>
  <Override PartName="/ppt/slides/slide1639.xml" ContentType="application/vnd.openxmlformats-officedocument.presentationml.slide+xml"/>
  <Override PartName="/ppt/slides/slide164.xml" ContentType="application/vnd.openxmlformats-officedocument.presentationml.slide+xml"/>
  <Override PartName="/ppt/slides/slide1640.xml" ContentType="application/vnd.openxmlformats-officedocument.presentationml.slide+xml"/>
  <Override PartName="/ppt/slides/slide1641.xml" ContentType="application/vnd.openxmlformats-officedocument.presentationml.slide+xml"/>
  <Override PartName="/ppt/slides/slide1642.xml" ContentType="application/vnd.openxmlformats-officedocument.presentationml.slide+xml"/>
  <Override PartName="/ppt/slides/slide1643.xml" ContentType="application/vnd.openxmlformats-officedocument.presentationml.slide+xml"/>
  <Override PartName="/ppt/slides/slide1644.xml" ContentType="application/vnd.openxmlformats-officedocument.presentationml.slide+xml"/>
  <Override PartName="/ppt/slides/slide1645.xml" ContentType="application/vnd.openxmlformats-officedocument.presentationml.slide+xml"/>
  <Override PartName="/ppt/slides/slide1646.xml" ContentType="application/vnd.openxmlformats-officedocument.presentationml.slide+xml"/>
  <Override PartName="/ppt/slides/slide1647.xml" ContentType="application/vnd.openxmlformats-officedocument.presentationml.slide+xml"/>
  <Override PartName="/ppt/slides/slide1648.xml" ContentType="application/vnd.openxmlformats-officedocument.presentationml.slide+xml"/>
  <Override PartName="/ppt/slides/slide1649.xml" ContentType="application/vnd.openxmlformats-officedocument.presentationml.slide+xml"/>
  <Override PartName="/ppt/slides/slide165.xml" ContentType="application/vnd.openxmlformats-officedocument.presentationml.slide+xml"/>
  <Override PartName="/ppt/slides/slide1650.xml" ContentType="application/vnd.openxmlformats-officedocument.presentationml.slide+xml"/>
  <Override PartName="/ppt/slides/slide1651.xml" ContentType="application/vnd.openxmlformats-officedocument.presentationml.slide+xml"/>
  <Override PartName="/ppt/slides/slide1653.xml" ContentType="application/vnd.openxmlformats-officedocument.presentationml.slide+xml"/>
  <Override PartName="/ppt/slides/slide1655.xml" ContentType="application/vnd.openxmlformats-officedocument.presentationml.slide+xml"/>
  <Override PartName="/ppt/slides/slide1656.xml" ContentType="application/vnd.openxmlformats-officedocument.presentationml.slide+xml"/>
  <Override PartName="/ppt/slides/slide1657.xml" ContentType="application/vnd.openxmlformats-officedocument.presentationml.slide+xml"/>
  <Override PartName="/ppt/slides/slide1658.xml" ContentType="application/vnd.openxmlformats-officedocument.presentationml.slide+xml"/>
  <Override PartName="/ppt/slides/slide1659.xml" ContentType="application/vnd.openxmlformats-officedocument.presentationml.slide+xml"/>
  <Override PartName="/ppt/slides/slide166.xml" ContentType="application/vnd.openxmlformats-officedocument.presentationml.slide+xml"/>
  <Override PartName="/ppt/slides/slide1660.xml" ContentType="application/vnd.openxmlformats-officedocument.presentationml.slide+xml"/>
  <Override PartName="/ppt/slides/slide1661.xml" ContentType="application/vnd.openxmlformats-officedocument.presentationml.slide+xml"/>
  <Override PartName="/ppt/slides/slide1663.xml" ContentType="application/vnd.openxmlformats-officedocument.presentationml.slide+xml"/>
  <Override PartName="/ppt/slides/slide1665.xml" ContentType="application/vnd.openxmlformats-officedocument.presentationml.slide+xml"/>
  <Override PartName="/ppt/slides/slide1666.xml" ContentType="application/vnd.openxmlformats-officedocument.presentationml.slide+xml"/>
  <Override PartName="/ppt/slides/slide1667.xml" ContentType="application/vnd.openxmlformats-officedocument.presentationml.slide+xml"/>
  <Override PartName="/ppt/slides/slide1668.xml" ContentType="application/vnd.openxmlformats-officedocument.presentationml.slide+xml"/>
  <Override PartName="/ppt/slides/slide1669.xml" ContentType="application/vnd.openxmlformats-officedocument.presentationml.slide+xml"/>
  <Override PartName="/ppt/slides/slide167.xml" ContentType="application/vnd.openxmlformats-officedocument.presentationml.slide+xml"/>
  <Override PartName="/ppt/slides/slide1670.xml" ContentType="application/vnd.openxmlformats-officedocument.presentationml.slide+xml"/>
  <Override PartName="/ppt/slides/slide1671.xml" ContentType="application/vnd.openxmlformats-officedocument.presentationml.slide+xml"/>
  <Override PartName="/ppt/slides/slide1672.xml" ContentType="application/vnd.openxmlformats-officedocument.presentationml.slide+xml"/>
  <Override PartName="/ppt/slides/slide1673.xml" ContentType="application/vnd.openxmlformats-officedocument.presentationml.slide+xml"/>
  <Override PartName="/ppt/slides/slide1674.xml" ContentType="application/vnd.openxmlformats-officedocument.presentationml.slide+xml"/>
  <Override PartName="/ppt/slides/slide1675.xml" ContentType="application/vnd.openxmlformats-officedocument.presentationml.slide+xml"/>
  <Override PartName="/ppt/slides/slide1676.xml" ContentType="application/vnd.openxmlformats-officedocument.presentationml.slide+xml"/>
  <Override PartName="/ppt/slides/slide1677.xml" ContentType="application/vnd.openxmlformats-officedocument.presentationml.slide+xml"/>
  <Override PartName="/ppt/slides/slide1678.xml" ContentType="application/vnd.openxmlformats-officedocument.presentationml.slide+xml"/>
  <Override PartName="/ppt/slides/slide1679.xml" ContentType="application/vnd.openxmlformats-officedocument.presentationml.slide+xml"/>
  <Override PartName="/ppt/slides/slide1680.xml" ContentType="application/vnd.openxmlformats-officedocument.presentationml.slide+xml"/>
  <Override PartName="/ppt/slides/slide1681.xml" ContentType="application/vnd.openxmlformats-officedocument.presentationml.slide+xml"/>
  <Override PartName="/ppt/slides/slide1683.xml" ContentType="application/vnd.openxmlformats-officedocument.presentationml.slide+xml"/>
  <Override PartName="/ppt/slides/slide1685.xml" ContentType="application/vnd.openxmlformats-officedocument.presentationml.slide+xml"/>
  <Override PartName="/ppt/slides/slide1686.xml" ContentType="application/vnd.openxmlformats-officedocument.presentationml.slide+xml"/>
  <Override PartName="/ppt/slides/slide1687.xml" ContentType="application/vnd.openxmlformats-officedocument.presentationml.slide+xml"/>
  <Override PartName="/ppt/slides/slide1688.xml" ContentType="application/vnd.openxmlformats-officedocument.presentationml.slide+xml"/>
  <Override PartName="/ppt/slides/slide1689.xml" ContentType="application/vnd.openxmlformats-officedocument.presentationml.slide+xml"/>
  <Override PartName="/ppt/slides/slide169.xml" ContentType="application/vnd.openxmlformats-officedocument.presentationml.slide+xml"/>
  <Override PartName="/ppt/slides/slide1690.xml" ContentType="application/vnd.openxmlformats-officedocument.presentationml.slide+xml"/>
  <Override PartName="/ppt/slides/slide1691.xml" ContentType="application/vnd.openxmlformats-officedocument.presentationml.slide+xml"/>
  <Override PartName="/ppt/slides/slide1693.xml" ContentType="application/vnd.openxmlformats-officedocument.presentationml.slide+xml"/>
  <Override PartName="/ppt/slides/slide1695.xml" ContentType="application/vnd.openxmlformats-officedocument.presentationml.slide+xml"/>
  <Override PartName="/ppt/slides/slide1696.xml" ContentType="application/vnd.openxmlformats-officedocument.presentationml.slide+xml"/>
  <Override PartName="/ppt/slides/slide1697.xml" ContentType="application/vnd.openxmlformats-officedocument.presentationml.slide+xml"/>
  <Override PartName="/ppt/slides/slide1698.xml" ContentType="application/vnd.openxmlformats-officedocument.presentationml.slide+xml"/>
  <Override PartName="/ppt/slides/slide169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00.xml" ContentType="application/vnd.openxmlformats-officedocument.presentationml.slide+xml"/>
  <Override PartName="/ppt/slides/slide1701.xml" ContentType="application/vnd.openxmlformats-officedocument.presentationml.slide+xml"/>
  <Override PartName="/ppt/slides/slide1702.xml" ContentType="application/vnd.openxmlformats-officedocument.presentationml.slide+xml"/>
  <Override PartName="/ppt/slides/slide1703.xml" ContentType="application/vnd.openxmlformats-officedocument.presentationml.slide+xml"/>
  <Override PartName="/ppt/slides/slide1704.xml" ContentType="application/vnd.openxmlformats-officedocument.presentationml.slide+xml"/>
  <Override PartName="/ppt/slides/slide1705.xml" ContentType="application/vnd.openxmlformats-officedocument.presentationml.slide+xml"/>
  <Override PartName="/ppt/slides/slide1706.xml" ContentType="application/vnd.openxmlformats-officedocument.presentationml.slide+xml"/>
  <Override PartName="/ppt/slides/slide1707.xml" ContentType="application/vnd.openxmlformats-officedocument.presentationml.slide+xml"/>
  <Override PartName="/ppt/slides/slide1708.xml" ContentType="application/vnd.openxmlformats-officedocument.presentationml.slide+xml"/>
  <Override PartName="/ppt/slides/slide1709.xml" ContentType="application/vnd.openxmlformats-officedocument.presentationml.slide+xml"/>
  <Override PartName="/ppt/slides/slide1710.xml" ContentType="application/vnd.openxmlformats-officedocument.presentationml.slide+xml"/>
  <Override PartName="/ppt/slides/slide1711.xml" ContentType="application/vnd.openxmlformats-officedocument.presentationml.slide+xml"/>
  <Override PartName="/ppt/slides/slide1713.xml" ContentType="application/vnd.openxmlformats-officedocument.presentationml.slide+xml"/>
  <Override PartName="/ppt/slides/slide1715.xml" ContentType="application/vnd.openxmlformats-officedocument.presentationml.slide+xml"/>
  <Override PartName="/ppt/slides/slide1716.xml" ContentType="application/vnd.openxmlformats-officedocument.presentationml.slide+xml"/>
  <Override PartName="/ppt/slides/slide1717.xml" ContentType="application/vnd.openxmlformats-officedocument.presentationml.slide+xml"/>
  <Override PartName="/ppt/slides/slide1718.xml" ContentType="application/vnd.openxmlformats-officedocument.presentationml.slide+xml"/>
  <Override PartName="/ppt/slides/slide1719.xml" ContentType="application/vnd.openxmlformats-officedocument.presentationml.slide+xml"/>
  <Override PartName="/ppt/slides/slide172.xml" ContentType="application/vnd.openxmlformats-officedocument.presentationml.slide+xml"/>
  <Override PartName="/ppt/slides/slide1720.xml" ContentType="application/vnd.openxmlformats-officedocument.presentationml.slide+xml"/>
  <Override PartName="/ppt/slides/slide1721.xml" ContentType="application/vnd.openxmlformats-officedocument.presentationml.slide+xml"/>
  <Override PartName="/ppt/slides/slide1723.xml" ContentType="application/vnd.openxmlformats-officedocument.presentationml.slide+xml"/>
  <Override PartName="/ppt/slides/slide1725.xml" ContentType="application/vnd.openxmlformats-officedocument.presentationml.slide+xml"/>
  <Override PartName="/ppt/slides/slide1726.xml" ContentType="application/vnd.openxmlformats-officedocument.presentationml.slide+xml"/>
  <Override PartName="/ppt/slides/slide1727.xml" ContentType="application/vnd.openxmlformats-officedocument.presentationml.slide+xml"/>
  <Override PartName="/ppt/slides/slide1728.xml" ContentType="application/vnd.openxmlformats-officedocument.presentationml.slide+xml"/>
  <Override PartName="/ppt/slides/slide1729.xml" ContentType="application/vnd.openxmlformats-officedocument.presentationml.slide+xml"/>
  <Override PartName="/ppt/slides/slide173.xml" ContentType="application/vnd.openxmlformats-officedocument.presentationml.slide+xml"/>
  <Override PartName="/ppt/slides/slide1730.xml" ContentType="application/vnd.openxmlformats-officedocument.presentationml.slide+xml"/>
  <Override PartName="/ppt/slides/slide1731.xml" ContentType="application/vnd.openxmlformats-officedocument.presentationml.slide+xml"/>
  <Override PartName="/ppt/slides/slide1732.xml" ContentType="application/vnd.openxmlformats-officedocument.presentationml.slide+xml"/>
  <Override PartName="/ppt/slides/slide1733.xml" ContentType="application/vnd.openxmlformats-officedocument.presentationml.slide+xml"/>
  <Override PartName="/ppt/slides/slide1734.xml" ContentType="application/vnd.openxmlformats-officedocument.presentationml.slide+xml"/>
  <Override PartName="/ppt/slides/slide1735.xml" ContentType="application/vnd.openxmlformats-officedocument.presentationml.slide+xml"/>
  <Override PartName="/ppt/slides/slide1736.xml" ContentType="application/vnd.openxmlformats-officedocument.presentationml.slide+xml"/>
  <Override PartName="/ppt/slides/slide1737.xml" ContentType="application/vnd.openxmlformats-officedocument.presentationml.slide+xml"/>
  <Override PartName="/ppt/slides/slide1738.xml" ContentType="application/vnd.openxmlformats-officedocument.presentationml.slide+xml"/>
  <Override PartName="/ppt/slides/slide1739.xml" ContentType="application/vnd.openxmlformats-officedocument.presentationml.slide+xml"/>
  <Override PartName="/ppt/slides/slide174.xml" ContentType="application/vnd.openxmlformats-officedocument.presentationml.slide+xml"/>
  <Override PartName="/ppt/slides/slide1740.xml" ContentType="application/vnd.openxmlformats-officedocument.presentationml.slide+xml"/>
  <Override PartName="/ppt/slides/slide1741.xml" ContentType="application/vnd.openxmlformats-officedocument.presentationml.slide+xml"/>
  <Override PartName="/ppt/slides/slide1743.xml" ContentType="application/vnd.openxmlformats-officedocument.presentationml.slide+xml"/>
  <Override PartName="/ppt/slides/slide1745.xml" ContentType="application/vnd.openxmlformats-officedocument.presentationml.slide+xml"/>
  <Override PartName="/ppt/slides/slide1746.xml" ContentType="application/vnd.openxmlformats-officedocument.presentationml.slide+xml"/>
  <Override PartName="/ppt/slides/slide1747.xml" ContentType="application/vnd.openxmlformats-officedocument.presentationml.slide+xml"/>
  <Override PartName="/ppt/slides/slide1748.xml" ContentType="application/vnd.openxmlformats-officedocument.presentationml.slide+xml"/>
  <Override PartName="/ppt/slides/slide1749.xml" ContentType="application/vnd.openxmlformats-officedocument.presentationml.slide+xml"/>
  <Override PartName="/ppt/slides/slide175.xml" ContentType="application/vnd.openxmlformats-officedocument.presentationml.slide+xml"/>
  <Override PartName="/ppt/slides/slide1750.xml" ContentType="application/vnd.openxmlformats-officedocument.presentationml.slide+xml"/>
  <Override PartName="/ppt/slides/slide1751.xml" ContentType="application/vnd.openxmlformats-officedocument.presentationml.slide+xml"/>
  <Override PartName="/ppt/slides/slide1753.xml" ContentType="application/vnd.openxmlformats-officedocument.presentationml.slide+xml"/>
  <Override PartName="/ppt/slides/slide1755.xml" ContentType="application/vnd.openxmlformats-officedocument.presentationml.slide+xml"/>
  <Override PartName="/ppt/slides/slide1756.xml" ContentType="application/vnd.openxmlformats-officedocument.presentationml.slide+xml"/>
  <Override PartName="/ppt/slides/slide1757.xml" ContentType="application/vnd.openxmlformats-officedocument.presentationml.slide+xml"/>
  <Override PartName="/ppt/slides/slide1758.xml" ContentType="application/vnd.openxmlformats-officedocument.presentationml.slide+xml"/>
  <Override PartName="/ppt/slides/slide1759.xml" ContentType="application/vnd.openxmlformats-officedocument.presentationml.slide+xml"/>
  <Override PartName="/ppt/slides/slide176.xml" ContentType="application/vnd.openxmlformats-officedocument.presentationml.slide+xml"/>
  <Override PartName="/ppt/slides/slide1760.xml" ContentType="application/vnd.openxmlformats-officedocument.presentationml.slide+xml"/>
  <Override PartName="/ppt/slides/slide1761.xml" ContentType="application/vnd.openxmlformats-officedocument.presentationml.slide+xml"/>
  <Override PartName="/ppt/slides/slide1762.xml" ContentType="application/vnd.openxmlformats-officedocument.presentationml.slide+xml"/>
  <Override PartName="/ppt/slides/slide1763.xml" ContentType="application/vnd.openxmlformats-officedocument.presentationml.slide+xml"/>
  <Override PartName="/ppt/slides/slide1764.xml" ContentType="application/vnd.openxmlformats-officedocument.presentationml.slide+xml"/>
  <Override PartName="/ppt/slides/slide1765.xml" ContentType="application/vnd.openxmlformats-officedocument.presentationml.slide+xml"/>
  <Override PartName="/ppt/slides/slide1766.xml" ContentType="application/vnd.openxmlformats-officedocument.presentationml.slide+xml"/>
  <Override PartName="/ppt/slides/slide1767.xml" ContentType="application/vnd.openxmlformats-officedocument.presentationml.slide+xml"/>
  <Override PartName="/ppt/slides/slide1768.xml" ContentType="application/vnd.openxmlformats-officedocument.presentationml.slide+xml"/>
  <Override PartName="/ppt/slides/slide1769.xml" ContentType="application/vnd.openxmlformats-officedocument.presentationml.slide+xml"/>
  <Override PartName="/ppt/slides/slide177.xml" ContentType="application/vnd.openxmlformats-officedocument.presentationml.slide+xml"/>
  <Override PartName="/ppt/slides/slide1770.xml" ContentType="application/vnd.openxmlformats-officedocument.presentationml.slide+xml"/>
  <Override PartName="/ppt/slides/slide1771.xml" ContentType="application/vnd.openxmlformats-officedocument.presentationml.slide+xml"/>
  <Override PartName="/ppt/slides/slide1773.xml" ContentType="application/vnd.openxmlformats-officedocument.presentationml.slide+xml"/>
  <Override PartName="/ppt/slides/slide1775.xml" ContentType="application/vnd.openxmlformats-officedocument.presentationml.slide+xml"/>
  <Override PartName="/ppt/slides/slide1776.xml" ContentType="application/vnd.openxmlformats-officedocument.presentationml.slide+xml"/>
  <Override PartName="/ppt/slides/slide1777.xml" ContentType="application/vnd.openxmlformats-officedocument.presentationml.slide+xml"/>
  <Override PartName="/ppt/slides/slide1778.xml" ContentType="application/vnd.openxmlformats-officedocument.presentationml.slide+xml"/>
  <Override PartName="/ppt/slides/slide1779.xml" ContentType="application/vnd.openxmlformats-officedocument.presentationml.slide+xml"/>
  <Override PartName="/ppt/slides/slide178.xml" ContentType="application/vnd.openxmlformats-officedocument.presentationml.slide+xml"/>
  <Override PartName="/ppt/slides/slide1780.xml" ContentType="application/vnd.openxmlformats-officedocument.presentationml.slide+xml"/>
  <Override PartName="/ppt/slides/slide1781.xml" ContentType="application/vnd.openxmlformats-officedocument.presentationml.slide+xml"/>
  <Override PartName="/ppt/slides/slide1783.xml" ContentType="application/vnd.openxmlformats-officedocument.presentationml.slide+xml"/>
  <Override PartName="/ppt/slides/slide1785.xml" ContentType="application/vnd.openxmlformats-officedocument.presentationml.slide+xml"/>
  <Override PartName="/ppt/slides/slide1786.xml" ContentType="application/vnd.openxmlformats-officedocument.presentationml.slide+xml"/>
  <Override PartName="/ppt/slides/slide1787.xml" ContentType="application/vnd.openxmlformats-officedocument.presentationml.slide+xml"/>
  <Override PartName="/ppt/slides/slide1788.xml" ContentType="application/vnd.openxmlformats-officedocument.presentationml.slide+xml"/>
  <Override PartName="/ppt/slides/slide1789.xml" ContentType="application/vnd.openxmlformats-officedocument.presentationml.slide+xml"/>
  <Override PartName="/ppt/slides/slide1790.xml" ContentType="application/vnd.openxmlformats-officedocument.presentationml.slide+xml"/>
  <Override PartName="/ppt/slides/slide1791.xml" ContentType="application/vnd.openxmlformats-officedocument.presentationml.slide+xml"/>
  <Override PartName="/ppt/slides/slide1792.xml" ContentType="application/vnd.openxmlformats-officedocument.presentationml.slide+xml"/>
  <Override PartName="/ppt/slides/slide1793.xml" ContentType="application/vnd.openxmlformats-officedocument.presentationml.slide+xml"/>
  <Override PartName="/ppt/slides/slide1794.xml" ContentType="application/vnd.openxmlformats-officedocument.presentationml.slide+xml"/>
  <Override PartName="/ppt/slides/slide1795.xml" ContentType="application/vnd.openxmlformats-officedocument.presentationml.slide+xml"/>
  <Override PartName="/ppt/slides/slide1796.xml" ContentType="application/vnd.openxmlformats-officedocument.presentationml.slide+xml"/>
  <Override PartName="/ppt/slides/slide1797.xml" ContentType="application/vnd.openxmlformats-officedocument.presentationml.slide+xml"/>
  <Override PartName="/ppt/slides/slide1798.xml" ContentType="application/vnd.openxmlformats-officedocument.presentationml.slide+xml"/>
  <Override PartName="/ppt/slides/slide179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00.xml" ContentType="application/vnd.openxmlformats-officedocument.presentationml.slide+xml"/>
  <Override PartName="/ppt/slides/slide1801.xml" ContentType="application/vnd.openxmlformats-officedocument.presentationml.slide+xml"/>
  <Override PartName="/ppt/slides/slide1803.xml" ContentType="application/vnd.openxmlformats-officedocument.presentationml.slide+xml"/>
  <Override PartName="/ppt/slides/slide1805.xml" ContentType="application/vnd.openxmlformats-officedocument.presentationml.slide+xml"/>
  <Override PartName="/ppt/slides/slide1806.xml" ContentType="application/vnd.openxmlformats-officedocument.presentationml.slide+xml"/>
  <Override PartName="/ppt/slides/slide1807.xml" ContentType="application/vnd.openxmlformats-officedocument.presentationml.slide+xml"/>
  <Override PartName="/ppt/slides/slide1808.xml" ContentType="application/vnd.openxmlformats-officedocument.presentationml.slide+xml"/>
  <Override PartName="/ppt/slides/slide1809.xml" ContentType="application/vnd.openxmlformats-officedocument.presentationml.slide+xml"/>
  <Override PartName="/ppt/slides/slide181.xml" ContentType="application/vnd.openxmlformats-officedocument.presentationml.slide+xml"/>
  <Override PartName="/ppt/slides/slide1810.xml" ContentType="application/vnd.openxmlformats-officedocument.presentationml.slide+xml"/>
  <Override PartName="/ppt/slides/slide1811.xml" ContentType="application/vnd.openxmlformats-officedocument.presentationml.slide+xml"/>
  <Override PartName="/ppt/slides/slide1812.xml" ContentType="application/vnd.openxmlformats-officedocument.presentationml.slide+xml"/>
  <Override PartName="/ppt/slides/slide1813.xml" ContentType="application/vnd.openxmlformats-officedocument.presentationml.slide+xml"/>
  <Override PartName="/ppt/slides/slide1814.xml" ContentType="application/vnd.openxmlformats-officedocument.presentationml.slide+xml"/>
  <Override PartName="/ppt/slides/slide1815.xml" ContentType="application/vnd.openxmlformats-officedocument.presentationml.slide+xml"/>
  <Override PartName="/ppt/slides/slide1816.xml" ContentType="application/vnd.openxmlformats-officedocument.presentationml.slide+xml"/>
  <Override PartName="/ppt/slides/slide1817.xml" ContentType="application/vnd.openxmlformats-officedocument.presentationml.slide+xml"/>
  <Override PartName="/ppt/slides/slide1818.xml" ContentType="application/vnd.openxmlformats-officedocument.presentationml.slide+xml"/>
  <Override PartName="/ppt/slides/slide1819.xml" ContentType="application/vnd.openxmlformats-officedocument.presentationml.slide+xml"/>
  <Override PartName="/ppt/slides/slide1820.xml" ContentType="application/vnd.openxmlformats-officedocument.presentationml.slide+xml"/>
  <Override PartName="/ppt/slides/slide1821.xml" ContentType="application/vnd.openxmlformats-officedocument.presentationml.slide+xml"/>
  <Override PartName="/ppt/slides/slide1822.xml" ContentType="application/vnd.openxmlformats-officedocument.presentationml.slide+xml"/>
  <Override PartName="/ppt/slides/slide1823.xml" ContentType="application/vnd.openxmlformats-officedocument.presentationml.slide+xml"/>
  <Override PartName="/ppt/slides/slide1824.xml" ContentType="application/vnd.openxmlformats-officedocument.presentationml.slide+xml"/>
  <Override PartName="/ppt/slides/slide1825.xml" ContentType="application/vnd.openxmlformats-officedocument.presentationml.slide+xml"/>
  <Override PartName="/ppt/slides/slide1826.xml" ContentType="application/vnd.openxmlformats-officedocument.presentationml.slide+xml"/>
  <Override PartName="/ppt/slides/slide1827.xml" ContentType="application/vnd.openxmlformats-officedocument.presentationml.slide+xml"/>
  <Override PartName="/ppt/slides/slide1828.xml" ContentType="application/vnd.openxmlformats-officedocument.presentationml.slide+xml"/>
  <Override PartName="/ppt/slides/slide1829.xml" ContentType="application/vnd.openxmlformats-officedocument.presentationml.slide+xml"/>
  <Override PartName="/ppt/slides/slide183.xml" ContentType="application/vnd.openxmlformats-officedocument.presentationml.slide+xml"/>
  <Override PartName="/ppt/slides/slide1830.xml" ContentType="application/vnd.openxmlformats-officedocument.presentationml.slide+xml"/>
  <Override PartName="/ppt/slides/slide1831.xml" ContentType="application/vnd.openxmlformats-officedocument.presentationml.slide+xml"/>
  <Override PartName="/ppt/slides/slide1832.xml" ContentType="application/vnd.openxmlformats-officedocument.presentationml.slide+xml"/>
  <Override PartName="/ppt/slides/slide1833.xml" ContentType="application/vnd.openxmlformats-officedocument.presentationml.slide+xml"/>
  <Override PartName="/ppt/slides/slide1834.xml" ContentType="application/vnd.openxmlformats-officedocument.presentationml.slide+xml"/>
  <Override PartName="/ppt/slides/slide1835.xml" ContentType="application/vnd.openxmlformats-officedocument.presentationml.slide+xml"/>
  <Override PartName="/ppt/slides/slide1836.xml" ContentType="application/vnd.openxmlformats-officedocument.presentationml.slide+xml"/>
  <Override PartName="/ppt/slides/slide1837.xml" ContentType="application/vnd.openxmlformats-officedocument.presentationml.slide+xml"/>
  <Override PartName="/ppt/slides/slide1838.xml" ContentType="application/vnd.openxmlformats-officedocument.presentationml.slide+xml"/>
  <Override PartName="/ppt/slides/slide1839.xml" ContentType="application/vnd.openxmlformats-officedocument.presentationml.slide+xml"/>
  <Override PartName="/ppt/slides/slide184.xml" ContentType="application/vnd.openxmlformats-officedocument.presentationml.slide+xml"/>
  <Override PartName="/ppt/slides/slide1840.xml" ContentType="application/vnd.openxmlformats-officedocument.presentationml.slide+xml"/>
  <Override PartName="/ppt/slides/slide1841.xml" ContentType="application/vnd.openxmlformats-officedocument.presentationml.slide+xml"/>
  <Override PartName="/ppt/slides/slide1842.xml" ContentType="application/vnd.openxmlformats-officedocument.presentationml.slide+xml"/>
  <Override PartName="/ppt/slides/slide1843.xml" ContentType="application/vnd.openxmlformats-officedocument.presentationml.slide+xml"/>
  <Override PartName="/ppt/slides/slide1844.xml" ContentType="application/vnd.openxmlformats-officedocument.presentationml.slide+xml"/>
  <Override PartName="/ppt/slides/slide1845.xml" ContentType="application/vnd.openxmlformats-officedocument.presentationml.slide+xml"/>
  <Override PartName="/ppt/slides/slide1846.xml" ContentType="application/vnd.openxmlformats-officedocument.presentationml.slide+xml"/>
  <Override PartName="/ppt/slides/slide1847.xml" ContentType="application/vnd.openxmlformats-officedocument.presentationml.slide+xml"/>
  <Override PartName="/ppt/slides/slide1848.xml" ContentType="application/vnd.openxmlformats-officedocument.presentationml.slide+xml"/>
  <Override PartName="/ppt/slides/slide1849.xml" ContentType="application/vnd.openxmlformats-officedocument.presentationml.slide+xml"/>
  <Override PartName="/ppt/slides/slide185.xml" ContentType="application/vnd.openxmlformats-officedocument.presentationml.slide+xml"/>
  <Override PartName="/ppt/slides/slide1850.xml" ContentType="application/vnd.openxmlformats-officedocument.presentationml.slide+xml"/>
  <Override PartName="/ppt/slides/slide1851.xml" ContentType="application/vnd.openxmlformats-officedocument.presentationml.slide+xml"/>
  <Override PartName="/ppt/slides/slide1852.xml" ContentType="application/vnd.openxmlformats-officedocument.presentationml.slide+xml"/>
  <Override PartName="/ppt/slides/slide1853.xml" ContentType="application/vnd.openxmlformats-officedocument.presentationml.slide+xml"/>
  <Override PartName="/ppt/slides/slide1854.xml" ContentType="application/vnd.openxmlformats-officedocument.presentationml.slide+xml"/>
  <Override PartName="/ppt/slides/slide1855.xml" ContentType="application/vnd.openxmlformats-officedocument.presentationml.slide+xml"/>
  <Override PartName="/ppt/slides/slide1856.xml" ContentType="application/vnd.openxmlformats-officedocument.presentationml.slide+xml"/>
  <Override PartName="/ppt/slides/slide1857.xml" ContentType="application/vnd.openxmlformats-officedocument.presentationml.slide+xml"/>
  <Override PartName="/ppt/slides/slide1858.xml" ContentType="application/vnd.openxmlformats-officedocument.presentationml.slide+xml"/>
  <Override PartName="/ppt/slides/slide1859.xml" ContentType="application/vnd.openxmlformats-officedocument.presentationml.slide+xml"/>
  <Override PartName="/ppt/slides/slide186.xml" ContentType="application/vnd.openxmlformats-officedocument.presentationml.slide+xml"/>
  <Override PartName="/ppt/slides/slide1860.xml" ContentType="application/vnd.openxmlformats-officedocument.presentationml.slide+xml"/>
  <Override PartName="/ppt/slides/slide1861.xml" ContentType="application/vnd.openxmlformats-officedocument.presentationml.slide+xml"/>
  <Override PartName="/ppt/slides/slide1862.xml" ContentType="application/vnd.openxmlformats-officedocument.presentationml.slide+xml"/>
  <Override PartName="/ppt/slides/slide1863.xml" ContentType="application/vnd.openxmlformats-officedocument.presentationml.slide+xml"/>
  <Override PartName="/ppt/slides/slide1864.xml" ContentType="application/vnd.openxmlformats-officedocument.presentationml.slide+xml"/>
  <Override PartName="/ppt/slides/slide1865.xml" ContentType="application/vnd.openxmlformats-officedocument.presentationml.slide+xml"/>
  <Override PartName="/ppt/slides/slide1866.xml" ContentType="application/vnd.openxmlformats-officedocument.presentationml.slide+xml"/>
  <Override PartName="/ppt/slides/slide1867.xml" ContentType="application/vnd.openxmlformats-officedocument.presentationml.slide+xml"/>
  <Override PartName="/ppt/slides/slide1868.xml" ContentType="application/vnd.openxmlformats-officedocument.presentationml.slide+xml"/>
  <Override PartName="/ppt/slides/slide1869.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4.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9.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xml" ContentType="application/vnd.openxmlformats-officedocument.presentationml.slide+xml"/>
  <Override PartName="/ppt/slides/slide450.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xml" ContentType="application/vnd.openxmlformats-officedocument.presentationml.slide+xml"/>
  <Override PartName="/ppt/slides/slide490.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9.xml" ContentType="application/vnd.openxmlformats-officedocument.presentationml.slide+xml"/>
  <Override PartName="/ppt/slides/slide55.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20.xml" ContentType="application/vnd.openxmlformats-officedocument.presentationml.slide+xml"/>
  <Override PartName="/ppt/slides/slide623.xml" ContentType="application/vnd.openxmlformats-officedocument.presentationml.slide+xml"/>
  <Override PartName="/ppt/slides/slide624.xml" ContentType="application/vnd.openxmlformats-officedocument.presentationml.slide+xml"/>
  <Override PartName="/ppt/slides/slide625.xml" ContentType="application/vnd.openxmlformats-officedocument.presentationml.slide+xml"/>
  <Override PartName="/ppt/slides/slide626.xml" ContentType="application/vnd.openxmlformats-officedocument.presentationml.slide+xml"/>
  <Override PartName="/ppt/slides/slide627.xml" ContentType="application/vnd.openxmlformats-officedocument.presentationml.slide+xml"/>
  <Override PartName="/ppt/slides/slide628.xml" ContentType="application/vnd.openxmlformats-officedocument.presentationml.slide+xml"/>
  <Override PartName="/ppt/slides/slide629.xml" ContentType="application/vnd.openxmlformats-officedocument.presentationml.slide+xml"/>
  <Override PartName="/ppt/slides/slide63.xml" ContentType="application/vnd.openxmlformats-officedocument.presentationml.slide+xml"/>
  <Override PartName="/ppt/slides/slide631.xml" ContentType="application/vnd.openxmlformats-officedocument.presentationml.slide+xml"/>
  <Override PartName="/ppt/slides/slide632.xml" ContentType="application/vnd.openxmlformats-officedocument.presentationml.slide+xml"/>
  <Override PartName="/ppt/slides/slide634.xml" ContentType="application/vnd.openxmlformats-officedocument.presentationml.slide+xml"/>
  <Override PartName="/ppt/slides/slide635.xml" ContentType="application/vnd.openxmlformats-officedocument.presentationml.slide+xml"/>
  <Override PartName="/ppt/slides/slide636.xml" ContentType="application/vnd.openxmlformats-officedocument.presentationml.slide+xml"/>
  <Override PartName="/ppt/slides/slide637.xml" ContentType="application/vnd.openxmlformats-officedocument.presentationml.slide+xml"/>
  <Override PartName="/ppt/slides/slide638.xml" ContentType="application/vnd.openxmlformats-officedocument.presentationml.slide+xml"/>
  <Override PartName="/ppt/slides/slide64.xml" ContentType="application/vnd.openxmlformats-officedocument.presentationml.slide+xml"/>
  <Override PartName="/ppt/slides/slide640.xml" ContentType="application/vnd.openxmlformats-officedocument.presentationml.slide+xml"/>
  <Override PartName="/ppt/slides/slide641.xml" ContentType="application/vnd.openxmlformats-officedocument.presentationml.slide+xml"/>
  <Override PartName="/ppt/slides/slide643.xml" ContentType="application/vnd.openxmlformats-officedocument.presentationml.slide+xml"/>
  <Override PartName="/ppt/slides/slide644.xml" ContentType="application/vnd.openxmlformats-officedocument.presentationml.slide+xml"/>
  <Override PartName="/ppt/slides/slide645.xml" ContentType="application/vnd.openxmlformats-officedocument.presentationml.slide+xml"/>
  <Override PartName="/ppt/slides/slide646.xml" ContentType="application/vnd.openxmlformats-officedocument.presentationml.slide+xml"/>
  <Override PartName="/ppt/slides/slide647.xml" ContentType="application/vnd.openxmlformats-officedocument.presentationml.slide+xml"/>
  <Override PartName="/ppt/slides/slide648.xml" ContentType="application/vnd.openxmlformats-officedocument.presentationml.slide+xml"/>
  <Override PartName="/ppt/slides/slide649.xml" ContentType="application/vnd.openxmlformats-officedocument.presentationml.slide+xml"/>
  <Override PartName="/ppt/slides/slide651.xml" ContentType="application/vnd.openxmlformats-officedocument.presentationml.slide+xml"/>
  <Override PartName="/ppt/slides/slide652.xml" ContentType="application/vnd.openxmlformats-officedocument.presentationml.slide+xml"/>
  <Override PartName="/ppt/slides/slide654.xml" ContentType="application/vnd.openxmlformats-officedocument.presentationml.slide+xml"/>
  <Override PartName="/ppt/slides/slide655.xml" ContentType="application/vnd.openxmlformats-officedocument.presentationml.slide+xml"/>
  <Override PartName="/ppt/slides/slide656.xml" ContentType="application/vnd.openxmlformats-officedocument.presentationml.slide+xml"/>
  <Override PartName="/ppt/slides/slide657.xml" ContentType="application/vnd.openxmlformats-officedocument.presentationml.slide+xml"/>
  <Override PartName="/ppt/slides/slide658.xml" ContentType="application/vnd.openxmlformats-officedocument.presentationml.slide+xml"/>
  <Override PartName="/ppt/slides/slide659.xml" ContentType="application/vnd.openxmlformats-officedocument.presentationml.slide+xml"/>
  <Override PartName="/ppt/slides/slide66.xml" ContentType="application/vnd.openxmlformats-officedocument.presentationml.slide+xml"/>
  <Override PartName="/ppt/slides/slide661.xml" ContentType="application/vnd.openxmlformats-officedocument.presentationml.slide+xml"/>
  <Override PartName="/ppt/slides/slide662.xml" ContentType="application/vnd.openxmlformats-officedocument.presentationml.slide+xml"/>
  <Override PartName="/ppt/slides/slide664.xml" ContentType="application/vnd.openxmlformats-officedocument.presentationml.slide+xml"/>
  <Override PartName="/ppt/slides/slide665.xml" ContentType="application/vnd.openxmlformats-officedocument.presentationml.slide+xml"/>
  <Override PartName="/ppt/slides/slide666.xml" ContentType="application/vnd.openxmlformats-officedocument.presentationml.slide+xml"/>
  <Override PartName="/ppt/slides/slide667.xml" ContentType="application/vnd.openxmlformats-officedocument.presentationml.slide+xml"/>
  <Override PartName="/ppt/slides/slide668.xml" ContentType="application/vnd.openxmlformats-officedocument.presentationml.slide+xml"/>
  <Override PartName="/ppt/slides/slide669.xml" ContentType="application/vnd.openxmlformats-officedocument.presentationml.slide+xml"/>
  <Override PartName="/ppt/slides/slide67.xml" ContentType="application/vnd.openxmlformats-officedocument.presentationml.slide+xml"/>
  <Override PartName="/ppt/slides/slide671.xml" ContentType="application/vnd.openxmlformats-officedocument.presentationml.slide+xml"/>
  <Override PartName="/ppt/slides/slide672.xml" ContentType="application/vnd.openxmlformats-officedocument.presentationml.slide+xml"/>
  <Override PartName="/ppt/slides/slide674.xml" ContentType="application/vnd.openxmlformats-officedocument.presentationml.slide+xml"/>
  <Override PartName="/ppt/slides/slide675.xml" ContentType="application/vnd.openxmlformats-officedocument.presentationml.slide+xml"/>
  <Override PartName="/ppt/slides/slide676.xml" ContentType="application/vnd.openxmlformats-officedocument.presentationml.slide+xml"/>
  <Override PartName="/ppt/slides/slide677.xml" ContentType="application/vnd.openxmlformats-officedocument.presentationml.slide+xml"/>
  <Override PartName="/ppt/slides/slide678.xml" ContentType="application/vnd.openxmlformats-officedocument.presentationml.slide+xml"/>
  <Override PartName="/ppt/slides/slide680.xml" ContentType="application/vnd.openxmlformats-officedocument.presentationml.slide+xml"/>
  <Override PartName="/ppt/slides/slide681.xml" ContentType="application/vnd.openxmlformats-officedocument.presentationml.slide+xml"/>
  <Override PartName="/ppt/slides/slide684.xml" ContentType="application/vnd.openxmlformats-officedocument.presentationml.slide+xml"/>
  <Override PartName="/ppt/slides/slide685.xml" ContentType="application/vnd.openxmlformats-officedocument.presentationml.slide+xml"/>
  <Override PartName="/ppt/slides/slide686.xml" ContentType="application/vnd.openxmlformats-officedocument.presentationml.slide+xml"/>
  <Override PartName="/ppt/slides/slide687.xml" ContentType="application/vnd.openxmlformats-officedocument.presentationml.slide+xml"/>
  <Override PartName="/ppt/slides/slide688.xml" ContentType="application/vnd.openxmlformats-officedocument.presentationml.slide+xml"/>
  <Override PartName="/ppt/slides/slide689.xml" ContentType="application/vnd.openxmlformats-officedocument.presentationml.slide+xml"/>
  <Override PartName="/ppt/slides/slide69.xml" ContentType="application/vnd.openxmlformats-officedocument.presentationml.slide+xml"/>
  <Override PartName="/ppt/slides/slide690.xml" ContentType="application/vnd.openxmlformats-officedocument.presentationml.slide+xml"/>
  <Override PartName="/ppt/slides/slide691.xml" ContentType="application/vnd.openxmlformats-officedocument.presentationml.slide+xml"/>
  <Override PartName="/ppt/slides/slide692.xml" ContentType="application/vnd.openxmlformats-officedocument.presentationml.slide+xml"/>
  <Override PartName="/ppt/slides/slide693.xml" ContentType="application/vnd.openxmlformats-officedocument.presentationml.slide+xml"/>
  <Override PartName="/ppt/slides/slide694.xml" ContentType="application/vnd.openxmlformats-officedocument.presentationml.slide+xml"/>
  <Override PartName="/ppt/slides/slide695.xml" ContentType="application/vnd.openxmlformats-officedocument.presentationml.slide+xml"/>
  <Override PartName="/ppt/slides/slide697.xml" ContentType="application/vnd.openxmlformats-officedocument.presentationml.slide+xml"/>
  <Override PartName="/ppt/slides/slide69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00.xml" ContentType="application/vnd.openxmlformats-officedocument.presentationml.slide+xml"/>
  <Override PartName="/ppt/slides/slide701.xml" ContentType="application/vnd.openxmlformats-officedocument.presentationml.slide+xml"/>
  <Override PartName="/ppt/slides/slide702.xml" ContentType="application/vnd.openxmlformats-officedocument.presentationml.slide+xml"/>
  <Override PartName="/ppt/slides/slide703.xml" ContentType="application/vnd.openxmlformats-officedocument.presentationml.slide+xml"/>
  <Override PartName="/ppt/slides/slide704.xml" ContentType="application/vnd.openxmlformats-officedocument.presentationml.slide+xml"/>
  <Override PartName="/ppt/slides/slide705.xml" ContentType="application/vnd.openxmlformats-officedocument.presentationml.slide+xml"/>
  <Override PartName="/ppt/slides/slide706.xml" ContentType="application/vnd.openxmlformats-officedocument.presentationml.slide+xml"/>
  <Override PartName="/ppt/slides/slide707.xml" ContentType="application/vnd.openxmlformats-officedocument.presentationml.slide+xml"/>
  <Override PartName="/ppt/slides/slide708.xml" ContentType="application/vnd.openxmlformats-officedocument.presentationml.slide+xml"/>
  <Override PartName="/ppt/slides/slide709.xml" ContentType="application/vnd.openxmlformats-officedocument.presentationml.slide+xml"/>
  <Override PartName="/ppt/slides/slide71.xml" ContentType="application/vnd.openxmlformats-officedocument.presentationml.slide+xml"/>
  <Override PartName="/ppt/slides/slide710.xml" ContentType="application/vnd.openxmlformats-officedocument.presentationml.slide+xml"/>
  <Override PartName="/ppt/slides/slide711.xml" ContentType="application/vnd.openxmlformats-officedocument.presentationml.slide+xml"/>
  <Override PartName="/ppt/slides/slide712.xml" ContentType="application/vnd.openxmlformats-officedocument.presentationml.slide+xml"/>
  <Override PartName="/ppt/slides/slide713.xml" ContentType="application/vnd.openxmlformats-officedocument.presentationml.slide+xml"/>
  <Override PartName="/ppt/slides/slide714.xml" ContentType="application/vnd.openxmlformats-officedocument.presentationml.slide+xml"/>
  <Override PartName="/ppt/slides/slide715.xml" ContentType="application/vnd.openxmlformats-officedocument.presentationml.slide+xml"/>
  <Override PartName="/ppt/slides/slide716.xml" ContentType="application/vnd.openxmlformats-officedocument.presentationml.slide+xml"/>
  <Override PartName="/ppt/slides/slide717.xml" ContentType="application/vnd.openxmlformats-officedocument.presentationml.slide+xml"/>
  <Override PartName="/ppt/slides/slide718.xml" ContentType="application/vnd.openxmlformats-officedocument.presentationml.slide+xml"/>
  <Override PartName="/ppt/slides/slide719.xml" ContentType="application/vnd.openxmlformats-officedocument.presentationml.slide+xml"/>
  <Override PartName="/ppt/slides/slide72.xml" ContentType="application/vnd.openxmlformats-officedocument.presentationml.slide+xml"/>
  <Override PartName="/ppt/slides/slide720.xml" ContentType="application/vnd.openxmlformats-officedocument.presentationml.slide+xml"/>
  <Override PartName="/ppt/slides/slide721.xml" ContentType="application/vnd.openxmlformats-officedocument.presentationml.slide+xml"/>
  <Override PartName="/ppt/slides/slide723.xml" ContentType="application/vnd.openxmlformats-officedocument.presentationml.slide+xml"/>
  <Override PartName="/ppt/slides/slide725.xml" ContentType="application/vnd.openxmlformats-officedocument.presentationml.slide+xml"/>
  <Override PartName="/ppt/slides/slide726.xml" ContentType="application/vnd.openxmlformats-officedocument.presentationml.slide+xml"/>
  <Override PartName="/ppt/slides/slide727.xml" ContentType="application/vnd.openxmlformats-officedocument.presentationml.slide+xml"/>
  <Override PartName="/ppt/slides/slide728.xml" ContentType="application/vnd.openxmlformats-officedocument.presentationml.slide+xml"/>
  <Override PartName="/ppt/slides/slide729.xml" ContentType="application/vnd.openxmlformats-officedocument.presentationml.slide+xml"/>
  <Override PartName="/ppt/slides/slide73.xml" ContentType="application/vnd.openxmlformats-officedocument.presentationml.slide+xml"/>
  <Override PartName="/ppt/slides/slide730.xml" ContentType="application/vnd.openxmlformats-officedocument.presentationml.slide+xml"/>
  <Override PartName="/ppt/slides/slide731.xml" ContentType="application/vnd.openxmlformats-officedocument.presentationml.slide+xml"/>
  <Override PartName="/ppt/slides/slide733.xml" ContentType="application/vnd.openxmlformats-officedocument.presentationml.slide+xml"/>
  <Override PartName="/ppt/slides/slide735.xml" ContentType="application/vnd.openxmlformats-officedocument.presentationml.slide+xml"/>
  <Override PartName="/ppt/slides/slide736.xml" ContentType="application/vnd.openxmlformats-officedocument.presentationml.slide+xml"/>
  <Override PartName="/ppt/slides/slide737.xml" ContentType="application/vnd.openxmlformats-officedocument.presentationml.slide+xml"/>
  <Override PartName="/ppt/slides/slide738.xml" ContentType="application/vnd.openxmlformats-officedocument.presentationml.slide+xml"/>
  <Override PartName="/ppt/slides/slide739.xml" ContentType="application/vnd.openxmlformats-officedocument.presentationml.slide+xml"/>
  <Override PartName="/ppt/slides/slide740.xml" ContentType="application/vnd.openxmlformats-officedocument.presentationml.slide+xml"/>
  <Override PartName="/ppt/slides/slide741.xml" ContentType="application/vnd.openxmlformats-officedocument.presentationml.slide+xml"/>
  <Override PartName="/ppt/slides/slide742.xml" ContentType="application/vnd.openxmlformats-officedocument.presentationml.slide+xml"/>
  <Override PartName="/ppt/slides/slide743.xml" ContentType="application/vnd.openxmlformats-officedocument.presentationml.slide+xml"/>
  <Override PartName="/ppt/slides/slide744.xml" ContentType="application/vnd.openxmlformats-officedocument.presentationml.slide+xml"/>
  <Override PartName="/ppt/slides/slide745.xml" ContentType="application/vnd.openxmlformats-officedocument.presentationml.slide+xml"/>
  <Override PartName="/ppt/slides/slide746.xml" ContentType="application/vnd.openxmlformats-officedocument.presentationml.slide+xml"/>
  <Override PartName="/ppt/slides/slide747.xml" ContentType="application/vnd.openxmlformats-officedocument.presentationml.slide+xml"/>
  <Override PartName="/ppt/slides/slide748.xml" ContentType="application/vnd.openxmlformats-officedocument.presentationml.slide+xml"/>
  <Override PartName="/ppt/slides/slide749.xml" ContentType="application/vnd.openxmlformats-officedocument.presentationml.slide+xml"/>
  <Override PartName="/ppt/slides/slide75.xml" ContentType="application/vnd.openxmlformats-officedocument.presentationml.slide+xml"/>
  <Override PartName="/ppt/slides/slide750.xml" ContentType="application/vnd.openxmlformats-officedocument.presentationml.slide+xml"/>
  <Override PartName="/ppt/slides/slide751.xml" ContentType="application/vnd.openxmlformats-officedocument.presentationml.slide+xml"/>
  <Override PartName="/ppt/slides/slide753.xml" ContentType="application/vnd.openxmlformats-officedocument.presentationml.slide+xml"/>
  <Override PartName="/ppt/slides/slide755.xml" ContentType="application/vnd.openxmlformats-officedocument.presentationml.slide+xml"/>
  <Override PartName="/ppt/slides/slide756.xml" ContentType="application/vnd.openxmlformats-officedocument.presentationml.slide+xml"/>
  <Override PartName="/ppt/slides/slide757.xml" ContentType="application/vnd.openxmlformats-officedocument.presentationml.slide+xml"/>
  <Override PartName="/ppt/slides/slide758.xml" ContentType="application/vnd.openxmlformats-officedocument.presentationml.slide+xml"/>
  <Override PartName="/ppt/slides/slide759.xml" ContentType="application/vnd.openxmlformats-officedocument.presentationml.slide+xml"/>
  <Override PartName="/ppt/slides/slide76.xml" ContentType="application/vnd.openxmlformats-officedocument.presentationml.slide+xml"/>
  <Override PartName="/ppt/slides/slide760.xml" ContentType="application/vnd.openxmlformats-officedocument.presentationml.slide+xml"/>
  <Override PartName="/ppt/slides/slide761.xml" ContentType="application/vnd.openxmlformats-officedocument.presentationml.slide+xml"/>
  <Override PartName="/ppt/slides/slide763.xml" ContentType="application/vnd.openxmlformats-officedocument.presentationml.slide+xml"/>
  <Override PartName="/ppt/slides/slide765.xml" ContentType="application/vnd.openxmlformats-officedocument.presentationml.slide+xml"/>
  <Override PartName="/ppt/slides/slide766.xml" ContentType="application/vnd.openxmlformats-officedocument.presentationml.slide+xml"/>
  <Override PartName="/ppt/slides/slide767.xml" ContentType="application/vnd.openxmlformats-officedocument.presentationml.slide+xml"/>
  <Override PartName="/ppt/slides/slide768.xml" ContentType="application/vnd.openxmlformats-officedocument.presentationml.slide+xml"/>
  <Override PartName="/ppt/slides/slide769.xml" ContentType="application/vnd.openxmlformats-officedocument.presentationml.slide+xml"/>
  <Override PartName="/ppt/slides/slide770.xml" ContentType="application/vnd.openxmlformats-officedocument.presentationml.slide+xml"/>
  <Override PartName="/ppt/slides/slide771.xml" ContentType="application/vnd.openxmlformats-officedocument.presentationml.slide+xml"/>
  <Override PartName="/ppt/slides/slide772.xml" ContentType="application/vnd.openxmlformats-officedocument.presentationml.slide+xml"/>
  <Override PartName="/ppt/slides/slide773.xml" ContentType="application/vnd.openxmlformats-officedocument.presentationml.slide+xml"/>
  <Override PartName="/ppt/slides/slide774.xml" ContentType="application/vnd.openxmlformats-officedocument.presentationml.slide+xml"/>
  <Override PartName="/ppt/slides/slide775.xml" ContentType="application/vnd.openxmlformats-officedocument.presentationml.slide+xml"/>
  <Override PartName="/ppt/slides/slide776.xml" ContentType="application/vnd.openxmlformats-officedocument.presentationml.slide+xml"/>
  <Override PartName="/ppt/slides/slide777.xml" ContentType="application/vnd.openxmlformats-officedocument.presentationml.slide+xml"/>
  <Override PartName="/ppt/slides/slide778.xml" ContentType="application/vnd.openxmlformats-officedocument.presentationml.slide+xml"/>
  <Override PartName="/ppt/slides/slide779.xml" ContentType="application/vnd.openxmlformats-officedocument.presentationml.slide+xml"/>
  <Override PartName="/ppt/slides/slide78.xml" ContentType="application/vnd.openxmlformats-officedocument.presentationml.slide+xml"/>
  <Override PartName="/ppt/slides/slide780.xml" ContentType="application/vnd.openxmlformats-officedocument.presentationml.slide+xml"/>
  <Override PartName="/ppt/slides/slide781.xml" ContentType="application/vnd.openxmlformats-officedocument.presentationml.slide+xml"/>
  <Override PartName="/ppt/slides/slide783.xml" ContentType="application/vnd.openxmlformats-officedocument.presentationml.slide+xml"/>
  <Override PartName="/ppt/slides/slide785.xml" ContentType="application/vnd.openxmlformats-officedocument.presentationml.slide+xml"/>
  <Override PartName="/ppt/slides/slide786.xml" ContentType="application/vnd.openxmlformats-officedocument.presentationml.slide+xml"/>
  <Override PartName="/ppt/slides/slide787.xml" ContentType="application/vnd.openxmlformats-officedocument.presentationml.slide+xml"/>
  <Override PartName="/ppt/slides/slide788.xml" ContentType="application/vnd.openxmlformats-officedocument.presentationml.slide+xml"/>
  <Override PartName="/ppt/slides/slide789.xml" ContentType="application/vnd.openxmlformats-officedocument.presentationml.slide+xml"/>
  <Override PartName="/ppt/slides/slide79.xml" ContentType="application/vnd.openxmlformats-officedocument.presentationml.slide+xml"/>
  <Override PartName="/ppt/slides/slide790.xml" ContentType="application/vnd.openxmlformats-officedocument.presentationml.slide+xml"/>
  <Override PartName="/ppt/slides/slide791.xml" ContentType="application/vnd.openxmlformats-officedocument.presentationml.slide+xml"/>
  <Override PartName="/ppt/slides/slide793.xml" ContentType="application/vnd.openxmlformats-officedocument.presentationml.slide+xml"/>
  <Override PartName="/ppt/slides/slide795.xml" ContentType="application/vnd.openxmlformats-officedocument.presentationml.slide+xml"/>
  <Override PartName="/ppt/slides/slide796.xml" ContentType="application/vnd.openxmlformats-officedocument.presentationml.slide+xml"/>
  <Override PartName="/ppt/slides/slide797.xml" ContentType="application/vnd.openxmlformats-officedocument.presentationml.slide+xml"/>
  <Override PartName="/ppt/slides/slide798.xml" ContentType="application/vnd.openxmlformats-officedocument.presentationml.slide+xml"/>
  <Override PartName="/ppt/slides/slide79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00.xml" ContentType="application/vnd.openxmlformats-officedocument.presentationml.slide+xml"/>
  <Override PartName="/ppt/slides/slide801.xml" ContentType="application/vnd.openxmlformats-officedocument.presentationml.slide+xml"/>
  <Override PartName="/ppt/slides/slide802.xml" ContentType="application/vnd.openxmlformats-officedocument.presentationml.slide+xml"/>
  <Override PartName="/ppt/slides/slide803.xml" ContentType="application/vnd.openxmlformats-officedocument.presentationml.slide+xml"/>
  <Override PartName="/ppt/slides/slide804.xml" ContentType="application/vnd.openxmlformats-officedocument.presentationml.slide+xml"/>
  <Override PartName="/ppt/slides/slide805.xml" ContentType="application/vnd.openxmlformats-officedocument.presentationml.slide+xml"/>
  <Override PartName="/ppt/slides/slide806.xml" ContentType="application/vnd.openxmlformats-officedocument.presentationml.slide+xml"/>
  <Override PartName="/ppt/slides/slide807.xml" ContentType="application/vnd.openxmlformats-officedocument.presentationml.slide+xml"/>
  <Override PartName="/ppt/slides/slide808.xml" ContentType="application/vnd.openxmlformats-officedocument.presentationml.slide+xml"/>
  <Override PartName="/ppt/slides/slide809.xml" ContentType="application/vnd.openxmlformats-officedocument.presentationml.slide+xml"/>
  <Override PartName="/ppt/slides/slide81.xml" ContentType="application/vnd.openxmlformats-officedocument.presentationml.slide+xml"/>
  <Override PartName="/ppt/slides/slide810.xml" ContentType="application/vnd.openxmlformats-officedocument.presentationml.slide+xml"/>
  <Override PartName="/ppt/slides/slide811.xml" ContentType="application/vnd.openxmlformats-officedocument.presentationml.slide+xml"/>
  <Override PartName="/ppt/slides/slide813.xml" ContentType="application/vnd.openxmlformats-officedocument.presentationml.slide+xml"/>
  <Override PartName="/ppt/slides/slide815.xml" ContentType="application/vnd.openxmlformats-officedocument.presentationml.slide+xml"/>
  <Override PartName="/ppt/slides/slide816.xml" ContentType="application/vnd.openxmlformats-officedocument.presentationml.slide+xml"/>
  <Override PartName="/ppt/slides/slide817.xml" ContentType="application/vnd.openxmlformats-officedocument.presentationml.slide+xml"/>
  <Override PartName="/ppt/slides/slide818.xml" ContentType="application/vnd.openxmlformats-officedocument.presentationml.slide+xml"/>
  <Override PartName="/ppt/slides/slide819.xml" ContentType="application/vnd.openxmlformats-officedocument.presentationml.slide+xml"/>
  <Override PartName="/ppt/slides/slide82.xml" ContentType="application/vnd.openxmlformats-officedocument.presentationml.slide+xml"/>
  <Override PartName="/ppt/slides/slide820.xml" ContentType="application/vnd.openxmlformats-officedocument.presentationml.slide+xml"/>
  <Override PartName="/ppt/slides/slide821.xml" ContentType="application/vnd.openxmlformats-officedocument.presentationml.slide+xml"/>
  <Override PartName="/ppt/slides/slide823.xml" ContentType="application/vnd.openxmlformats-officedocument.presentationml.slide+xml"/>
  <Override PartName="/ppt/slides/slide825.xml" ContentType="application/vnd.openxmlformats-officedocument.presentationml.slide+xml"/>
  <Override PartName="/ppt/slides/slide826.xml" ContentType="application/vnd.openxmlformats-officedocument.presentationml.slide+xml"/>
  <Override PartName="/ppt/slides/slide827.xml" ContentType="application/vnd.openxmlformats-officedocument.presentationml.slide+xml"/>
  <Override PartName="/ppt/slides/slide828.xml" ContentType="application/vnd.openxmlformats-officedocument.presentationml.slide+xml"/>
  <Override PartName="/ppt/slides/slide829.xml" ContentType="application/vnd.openxmlformats-officedocument.presentationml.slide+xml"/>
  <Override PartName="/ppt/slides/slide83.xml" ContentType="application/vnd.openxmlformats-officedocument.presentationml.slide+xml"/>
  <Override PartName="/ppt/slides/slide830.xml" ContentType="application/vnd.openxmlformats-officedocument.presentationml.slide+xml"/>
  <Override PartName="/ppt/slides/slide831.xml" ContentType="application/vnd.openxmlformats-officedocument.presentationml.slide+xml"/>
  <Override PartName="/ppt/slides/slide832.xml" ContentType="application/vnd.openxmlformats-officedocument.presentationml.slide+xml"/>
  <Override PartName="/ppt/slides/slide833.xml" ContentType="application/vnd.openxmlformats-officedocument.presentationml.slide+xml"/>
  <Override PartName="/ppt/slides/slide834.xml" ContentType="application/vnd.openxmlformats-officedocument.presentationml.slide+xml"/>
  <Override PartName="/ppt/slides/slide835.xml" ContentType="application/vnd.openxmlformats-officedocument.presentationml.slide+xml"/>
  <Override PartName="/ppt/slides/slide836.xml" ContentType="application/vnd.openxmlformats-officedocument.presentationml.slide+xml"/>
  <Override PartName="/ppt/slides/slide837.xml" ContentType="application/vnd.openxmlformats-officedocument.presentationml.slide+xml"/>
  <Override PartName="/ppt/slides/slide838.xml" ContentType="application/vnd.openxmlformats-officedocument.presentationml.slide+xml"/>
  <Override PartName="/ppt/slides/slide839.xml" ContentType="application/vnd.openxmlformats-officedocument.presentationml.slide+xml"/>
  <Override PartName="/ppt/slides/slide84.xml" ContentType="application/vnd.openxmlformats-officedocument.presentationml.slide+xml"/>
  <Override PartName="/ppt/slides/slide840.xml" ContentType="application/vnd.openxmlformats-officedocument.presentationml.slide+xml"/>
  <Override PartName="/ppt/slides/slide841.xml" ContentType="application/vnd.openxmlformats-officedocument.presentationml.slide+xml"/>
  <Override PartName="/ppt/slides/slide843.xml" ContentType="application/vnd.openxmlformats-officedocument.presentationml.slide+xml"/>
  <Override PartName="/ppt/slides/slide845.xml" ContentType="application/vnd.openxmlformats-officedocument.presentationml.slide+xml"/>
  <Override PartName="/ppt/slides/slide846.xml" ContentType="application/vnd.openxmlformats-officedocument.presentationml.slide+xml"/>
  <Override PartName="/ppt/slides/slide847.xml" ContentType="application/vnd.openxmlformats-officedocument.presentationml.slide+xml"/>
  <Override PartName="/ppt/slides/slide848.xml" ContentType="application/vnd.openxmlformats-officedocument.presentationml.slide+xml"/>
  <Override PartName="/ppt/slides/slide849.xml" ContentType="application/vnd.openxmlformats-officedocument.presentationml.slide+xml"/>
  <Override PartName="/ppt/slides/slide850.xml" ContentType="application/vnd.openxmlformats-officedocument.presentationml.slide+xml"/>
  <Override PartName="/ppt/slides/slide851.xml" ContentType="application/vnd.openxmlformats-officedocument.presentationml.slide+xml"/>
  <Override PartName="/ppt/slides/slide853.xml" ContentType="application/vnd.openxmlformats-officedocument.presentationml.slide+xml"/>
  <Override PartName="/ppt/slides/slide855.xml" ContentType="application/vnd.openxmlformats-officedocument.presentationml.slide+xml"/>
  <Override PartName="/ppt/slides/slide856.xml" ContentType="application/vnd.openxmlformats-officedocument.presentationml.slide+xml"/>
  <Override PartName="/ppt/slides/slide857.xml" ContentType="application/vnd.openxmlformats-officedocument.presentationml.slide+xml"/>
  <Override PartName="/ppt/slides/slide858.xml" ContentType="application/vnd.openxmlformats-officedocument.presentationml.slide+xml"/>
  <Override PartName="/ppt/slides/slide859.xml" ContentType="application/vnd.openxmlformats-officedocument.presentationml.slide+xml"/>
  <Override PartName="/ppt/slides/slide86.xml" ContentType="application/vnd.openxmlformats-officedocument.presentationml.slide+xml"/>
  <Override PartName="/ppt/slides/slide860.xml" ContentType="application/vnd.openxmlformats-officedocument.presentationml.slide+xml"/>
  <Override PartName="/ppt/slides/slide861.xml" ContentType="application/vnd.openxmlformats-officedocument.presentationml.slide+xml"/>
  <Override PartName="/ppt/slides/slide862.xml" ContentType="application/vnd.openxmlformats-officedocument.presentationml.slide+xml"/>
  <Override PartName="/ppt/slides/slide863.xml" ContentType="application/vnd.openxmlformats-officedocument.presentationml.slide+xml"/>
  <Override PartName="/ppt/slides/slide864.xml" ContentType="application/vnd.openxmlformats-officedocument.presentationml.slide+xml"/>
  <Override PartName="/ppt/slides/slide865.xml" ContentType="application/vnd.openxmlformats-officedocument.presentationml.slide+xml"/>
  <Override PartName="/ppt/slides/slide866.xml" ContentType="application/vnd.openxmlformats-officedocument.presentationml.slide+xml"/>
  <Override PartName="/ppt/slides/slide867.xml" ContentType="application/vnd.openxmlformats-officedocument.presentationml.slide+xml"/>
  <Override PartName="/ppt/slides/slide868.xml" ContentType="application/vnd.openxmlformats-officedocument.presentationml.slide+xml"/>
  <Override PartName="/ppt/slides/slide869.xml" ContentType="application/vnd.openxmlformats-officedocument.presentationml.slide+xml"/>
  <Override PartName="/ppt/slides/slide87.xml" ContentType="application/vnd.openxmlformats-officedocument.presentationml.slide+xml"/>
  <Override PartName="/ppt/slides/slide870.xml" ContentType="application/vnd.openxmlformats-officedocument.presentationml.slide+xml"/>
  <Override PartName="/ppt/slides/slide871.xml" ContentType="application/vnd.openxmlformats-officedocument.presentationml.slide+xml"/>
  <Override PartName="/ppt/slides/slide873.xml" ContentType="application/vnd.openxmlformats-officedocument.presentationml.slide+xml"/>
  <Override PartName="/ppt/slides/slide875.xml" ContentType="application/vnd.openxmlformats-officedocument.presentationml.slide+xml"/>
  <Override PartName="/ppt/slides/slide876.xml" ContentType="application/vnd.openxmlformats-officedocument.presentationml.slide+xml"/>
  <Override PartName="/ppt/slides/slide877.xml" ContentType="application/vnd.openxmlformats-officedocument.presentationml.slide+xml"/>
  <Override PartName="/ppt/slides/slide878.xml" ContentType="application/vnd.openxmlformats-officedocument.presentationml.slide+xml"/>
  <Override PartName="/ppt/slides/slide879.xml" ContentType="application/vnd.openxmlformats-officedocument.presentationml.slide+xml"/>
  <Override PartName="/ppt/slides/slide880.xml" ContentType="application/vnd.openxmlformats-officedocument.presentationml.slide+xml"/>
  <Override PartName="/ppt/slides/slide881.xml" ContentType="application/vnd.openxmlformats-officedocument.presentationml.slide+xml"/>
  <Override PartName="/ppt/slides/slide883.xml" ContentType="application/vnd.openxmlformats-officedocument.presentationml.slide+xml"/>
  <Override PartName="/ppt/slides/slide885.xml" ContentType="application/vnd.openxmlformats-officedocument.presentationml.slide+xml"/>
  <Override PartName="/ppt/slides/slide886.xml" ContentType="application/vnd.openxmlformats-officedocument.presentationml.slide+xml"/>
  <Override PartName="/ppt/slides/slide887.xml" ContentType="application/vnd.openxmlformats-officedocument.presentationml.slide+xml"/>
  <Override PartName="/ppt/slides/slide888.xml" ContentType="application/vnd.openxmlformats-officedocument.presentationml.slide+xml"/>
  <Override PartName="/ppt/slides/slide889.xml" ContentType="application/vnd.openxmlformats-officedocument.presentationml.slide+xml"/>
  <Override PartName="/ppt/slides/slide89.xml" ContentType="application/vnd.openxmlformats-officedocument.presentationml.slide+xml"/>
  <Override PartName="/ppt/slides/slide890.xml" ContentType="application/vnd.openxmlformats-officedocument.presentationml.slide+xml"/>
  <Override PartName="/ppt/slides/slide891.xml" ContentType="application/vnd.openxmlformats-officedocument.presentationml.slide+xml"/>
  <Override PartName="/ppt/slides/slide892.xml" ContentType="application/vnd.openxmlformats-officedocument.presentationml.slide+xml"/>
  <Override PartName="/ppt/slides/slide893.xml" ContentType="application/vnd.openxmlformats-officedocument.presentationml.slide+xml"/>
  <Override PartName="/ppt/slides/slide894.xml" ContentType="application/vnd.openxmlformats-officedocument.presentationml.slide+xml"/>
  <Override PartName="/ppt/slides/slide895.xml" ContentType="application/vnd.openxmlformats-officedocument.presentationml.slide+xml"/>
  <Override PartName="/ppt/slides/slide896.xml" ContentType="application/vnd.openxmlformats-officedocument.presentationml.slide+xml"/>
  <Override PartName="/ppt/slides/slide897.xml" ContentType="application/vnd.openxmlformats-officedocument.presentationml.slide+xml"/>
  <Override PartName="/ppt/slides/slide898.xml" ContentType="application/vnd.openxmlformats-officedocument.presentationml.slide+xml"/>
  <Override PartName="/ppt/slides/slide89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00.xml" ContentType="application/vnd.openxmlformats-officedocument.presentationml.slide+xml"/>
  <Override PartName="/ppt/slides/slide901.xml" ContentType="application/vnd.openxmlformats-officedocument.presentationml.slide+xml"/>
  <Override PartName="/ppt/slides/slide903.xml" ContentType="application/vnd.openxmlformats-officedocument.presentationml.slide+xml"/>
  <Override PartName="/ppt/slides/slide905.xml" ContentType="application/vnd.openxmlformats-officedocument.presentationml.slide+xml"/>
  <Override PartName="/ppt/slides/slide906.xml" ContentType="application/vnd.openxmlformats-officedocument.presentationml.slide+xml"/>
  <Override PartName="/ppt/slides/slide907.xml" ContentType="application/vnd.openxmlformats-officedocument.presentationml.slide+xml"/>
  <Override PartName="/ppt/slides/slide908.xml" ContentType="application/vnd.openxmlformats-officedocument.presentationml.slide+xml"/>
  <Override PartName="/ppt/slides/slide909.xml" ContentType="application/vnd.openxmlformats-officedocument.presentationml.slide+xml"/>
  <Override PartName="/ppt/slides/slide91.xml" ContentType="application/vnd.openxmlformats-officedocument.presentationml.slide+xml"/>
  <Override PartName="/ppt/slides/slide910.xml" ContentType="application/vnd.openxmlformats-officedocument.presentationml.slide+xml"/>
  <Override PartName="/ppt/slides/slide911.xml" ContentType="application/vnd.openxmlformats-officedocument.presentationml.slide+xml"/>
  <Override PartName="/ppt/slides/slide913.xml" ContentType="application/vnd.openxmlformats-officedocument.presentationml.slide+xml"/>
  <Override PartName="/ppt/slides/slide915.xml" ContentType="application/vnd.openxmlformats-officedocument.presentationml.slide+xml"/>
  <Override PartName="/ppt/slides/slide916.xml" ContentType="application/vnd.openxmlformats-officedocument.presentationml.slide+xml"/>
  <Override PartName="/ppt/slides/slide917.xml" ContentType="application/vnd.openxmlformats-officedocument.presentationml.slide+xml"/>
  <Override PartName="/ppt/slides/slide918.xml" ContentType="application/vnd.openxmlformats-officedocument.presentationml.slide+xml"/>
  <Override PartName="/ppt/slides/slide919.xml" ContentType="application/vnd.openxmlformats-officedocument.presentationml.slide+xml"/>
  <Override PartName="/ppt/slides/slide92.xml" ContentType="application/vnd.openxmlformats-officedocument.presentationml.slide+xml"/>
  <Override PartName="/ppt/slides/slide920.xml" ContentType="application/vnd.openxmlformats-officedocument.presentationml.slide+xml"/>
  <Override PartName="/ppt/slides/slide921.xml" ContentType="application/vnd.openxmlformats-officedocument.presentationml.slide+xml"/>
  <Override PartName="/ppt/slides/slide922.xml" ContentType="application/vnd.openxmlformats-officedocument.presentationml.slide+xml"/>
  <Override PartName="/ppt/slides/slide923.xml" ContentType="application/vnd.openxmlformats-officedocument.presentationml.slide+xml"/>
  <Override PartName="/ppt/slides/slide924.xml" ContentType="application/vnd.openxmlformats-officedocument.presentationml.slide+xml"/>
  <Override PartName="/ppt/slides/slide925.xml" ContentType="application/vnd.openxmlformats-officedocument.presentationml.slide+xml"/>
  <Override PartName="/ppt/slides/slide926.xml" ContentType="application/vnd.openxmlformats-officedocument.presentationml.slide+xml"/>
  <Override PartName="/ppt/slides/slide927.xml" ContentType="application/vnd.openxmlformats-officedocument.presentationml.slide+xml"/>
  <Override PartName="/ppt/slides/slide928.xml" ContentType="application/vnd.openxmlformats-officedocument.presentationml.slide+xml"/>
  <Override PartName="/ppt/slides/slide929.xml" ContentType="application/vnd.openxmlformats-officedocument.presentationml.slide+xml"/>
  <Override PartName="/ppt/slides/slide93.xml" ContentType="application/vnd.openxmlformats-officedocument.presentationml.slide+xml"/>
  <Override PartName="/ppt/slides/slide930.xml" ContentType="application/vnd.openxmlformats-officedocument.presentationml.slide+xml"/>
  <Override PartName="/ppt/slides/slide931.xml" ContentType="application/vnd.openxmlformats-officedocument.presentationml.slide+xml"/>
  <Override PartName="/ppt/slides/slide933.xml" ContentType="application/vnd.openxmlformats-officedocument.presentationml.slide+xml"/>
  <Override PartName="/ppt/slides/slide935.xml" ContentType="application/vnd.openxmlformats-officedocument.presentationml.slide+xml"/>
  <Override PartName="/ppt/slides/slide936.xml" ContentType="application/vnd.openxmlformats-officedocument.presentationml.slide+xml"/>
  <Override PartName="/ppt/slides/slide937.xml" ContentType="application/vnd.openxmlformats-officedocument.presentationml.slide+xml"/>
  <Override PartName="/ppt/slides/slide938.xml" ContentType="application/vnd.openxmlformats-officedocument.presentationml.slide+xml"/>
  <Override PartName="/ppt/slides/slide939.xml" ContentType="application/vnd.openxmlformats-officedocument.presentationml.slide+xml"/>
  <Override PartName="/ppt/slides/slide94.xml" ContentType="application/vnd.openxmlformats-officedocument.presentationml.slide+xml"/>
  <Override PartName="/ppt/slides/slide940.xml" ContentType="application/vnd.openxmlformats-officedocument.presentationml.slide+xml"/>
  <Override PartName="/ppt/slides/slide941.xml" ContentType="application/vnd.openxmlformats-officedocument.presentationml.slide+xml"/>
  <Override PartName="/ppt/slides/slide943.xml" ContentType="application/vnd.openxmlformats-officedocument.presentationml.slide+xml"/>
  <Override PartName="/ppt/slides/slide945.xml" ContentType="application/vnd.openxmlformats-officedocument.presentationml.slide+xml"/>
  <Override PartName="/ppt/slides/slide946.xml" ContentType="application/vnd.openxmlformats-officedocument.presentationml.slide+xml"/>
  <Override PartName="/ppt/slides/slide947.xml" ContentType="application/vnd.openxmlformats-officedocument.presentationml.slide+xml"/>
  <Override PartName="/ppt/slides/slide948.xml" ContentType="application/vnd.openxmlformats-officedocument.presentationml.slide+xml"/>
  <Override PartName="/ppt/slides/slide949.xml" ContentType="application/vnd.openxmlformats-officedocument.presentationml.slide+xml"/>
  <Override PartName="/ppt/slides/slide950.xml" ContentType="application/vnd.openxmlformats-officedocument.presentationml.slide+xml"/>
  <Override PartName="/ppt/slides/slide951.xml" ContentType="application/vnd.openxmlformats-officedocument.presentationml.slide+xml"/>
  <Override PartName="/ppt/slides/slide952.xml" ContentType="application/vnd.openxmlformats-officedocument.presentationml.slide+xml"/>
  <Override PartName="/ppt/slides/slide953.xml" ContentType="application/vnd.openxmlformats-officedocument.presentationml.slide+xml"/>
  <Override PartName="/ppt/slides/slide954.xml" ContentType="application/vnd.openxmlformats-officedocument.presentationml.slide+xml"/>
  <Override PartName="/ppt/slides/slide955.xml" ContentType="application/vnd.openxmlformats-officedocument.presentationml.slide+xml"/>
  <Override PartName="/ppt/slides/slide956.xml" ContentType="application/vnd.openxmlformats-officedocument.presentationml.slide+xml"/>
  <Override PartName="/ppt/slides/slide957.xml" ContentType="application/vnd.openxmlformats-officedocument.presentationml.slide+xml"/>
  <Override PartName="/ppt/slides/slide958.xml" ContentType="application/vnd.openxmlformats-officedocument.presentationml.slide+xml"/>
  <Override PartName="/ppt/slides/slide959.xml" ContentType="application/vnd.openxmlformats-officedocument.presentationml.slide+xml"/>
  <Override PartName="/ppt/slides/slide96.xml" ContentType="application/vnd.openxmlformats-officedocument.presentationml.slide+xml"/>
  <Override PartName="/ppt/slides/slide960.xml" ContentType="application/vnd.openxmlformats-officedocument.presentationml.slide+xml"/>
  <Override PartName="/ppt/slides/slide961.xml" ContentType="application/vnd.openxmlformats-officedocument.presentationml.slide+xml"/>
  <Override PartName="/ppt/slides/slide963.xml" ContentType="application/vnd.openxmlformats-officedocument.presentationml.slide+xml"/>
  <Override PartName="/ppt/slides/slide965.xml" ContentType="application/vnd.openxmlformats-officedocument.presentationml.slide+xml"/>
  <Override PartName="/ppt/slides/slide966.xml" ContentType="application/vnd.openxmlformats-officedocument.presentationml.slide+xml"/>
  <Override PartName="/ppt/slides/slide967.xml" ContentType="application/vnd.openxmlformats-officedocument.presentationml.slide+xml"/>
  <Override PartName="/ppt/slides/slide968.xml" ContentType="application/vnd.openxmlformats-officedocument.presentationml.slide+xml"/>
  <Override PartName="/ppt/slides/slide969.xml" ContentType="application/vnd.openxmlformats-officedocument.presentationml.slide+xml"/>
  <Override PartName="/ppt/slides/slide97.xml" ContentType="application/vnd.openxmlformats-officedocument.presentationml.slide+xml"/>
  <Override PartName="/ppt/slides/slide970.xml" ContentType="application/vnd.openxmlformats-officedocument.presentationml.slide+xml"/>
  <Override PartName="/ppt/slides/slide971.xml" ContentType="application/vnd.openxmlformats-officedocument.presentationml.slide+xml"/>
  <Override PartName="/ppt/slides/slide973.xml" ContentType="application/vnd.openxmlformats-officedocument.presentationml.slide+xml"/>
  <Override PartName="/ppt/slides/slide975.xml" ContentType="application/vnd.openxmlformats-officedocument.presentationml.slide+xml"/>
  <Override PartName="/ppt/slides/slide976.xml" ContentType="application/vnd.openxmlformats-officedocument.presentationml.slide+xml"/>
  <Override PartName="/ppt/slides/slide977.xml" ContentType="application/vnd.openxmlformats-officedocument.presentationml.slide+xml"/>
  <Override PartName="/ppt/slides/slide978.xml" ContentType="application/vnd.openxmlformats-officedocument.presentationml.slide+xml"/>
  <Override PartName="/ppt/slides/slide979.xml" ContentType="application/vnd.openxmlformats-officedocument.presentationml.slide+xml"/>
  <Override PartName="/ppt/slides/slide980.xml" ContentType="application/vnd.openxmlformats-officedocument.presentationml.slide+xml"/>
  <Override PartName="/ppt/slides/slide981.xml" ContentType="application/vnd.openxmlformats-officedocument.presentationml.slide+xml"/>
  <Override PartName="/ppt/slides/slide982.xml" ContentType="application/vnd.openxmlformats-officedocument.presentationml.slide+xml"/>
  <Override PartName="/ppt/slides/slide983.xml" ContentType="application/vnd.openxmlformats-officedocument.presentationml.slide+xml"/>
  <Override PartName="/ppt/slides/slide984.xml" ContentType="application/vnd.openxmlformats-officedocument.presentationml.slide+xml"/>
  <Override PartName="/ppt/slides/slide985.xml" ContentType="application/vnd.openxmlformats-officedocument.presentationml.slide+xml"/>
  <Override PartName="/ppt/slides/slide986.xml" ContentType="application/vnd.openxmlformats-officedocument.presentationml.slide+xml"/>
  <Override PartName="/ppt/slides/slide987.xml" ContentType="application/vnd.openxmlformats-officedocument.presentationml.slide+xml"/>
  <Override PartName="/ppt/slides/slide988.xml" ContentType="application/vnd.openxmlformats-officedocument.presentationml.slide+xml"/>
  <Override PartName="/ppt/slides/slide989.xml" ContentType="application/vnd.openxmlformats-officedocument.presentationml.slide+xml"/>
  <Override PartName="/ppt/slides/slide99.xml" ContentType="application/vnd.openxmlformats-officedocument.presentationml.slide+xml"/>
  <Override PartName="/ppt/slides/slide990.xml" ContentType="application/vnd.openxmlformats-officedocument.presentationml.slide+xml"/>
  <Override PartName="/ppt/slides/slide991.xml" ContentType="application/vnd.openxmlformats-officedocument.presentationml.slide+xml"/>
  <Override PartName="/ppt/slides/slide993.xml" ContentType="application/vnd.openxmlformats-officedocument.presentationml.slide+xml"/>
  <Override PartName="/ppt/slides/slide995.xml" ContentType="application/vnd.openxmlformats-officedocument.presentationml.slide+xml"/>
  <Override PartName="/ppt/slides/slide996.xml" ContentType="application/vnd.openxmlformats-officedocument.presentationml.slide+xml"/>
  <Override PartName="/ppt/slides/slide997.xml" ContentType="application/vnd.openxmlformats-officedocument.presentationml.slide+xml"/>
  <Override PartName="/ppt/slides/slide998.xml" ContentType="application/vnd.openxmlformats-officedocument.presentationml.slide+xml"/>
  <Override PartName="/ppt/slides/slide9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2"/>
    <p:sldId id="261" r:id="rId13"/>
    <p:sldId id="262" r:id="rId14"/>
    <p:sldId id="263" r:id="rId15"/>
    <p:sldId id="264" r:id="rId16"/>
    <p:sldId id="2115" r:id="rId1867"/>
    <p:sldId id="2109" r:id="rId1861"/>
    <p:sldId id="2110" r:id="rId1862"/>
    <p:sldId id="2111" r:id="rId1863"/>
    <p:sldId id="2112" r:id="rId1864"/>
    <p:sldId id="2113" r:id="rId1865"/>
    <p:sldId id="2114" r:id="rId1866"/>
    <p:sldId id="2124" r:id="rId1876"/>
    <p:sldId id="2116" r:id="rId1868"/>
    <p:sldId id="2117" r:id="rId1869"/>
    <p:sldId id="2118" r:id="rId1870"/>
    <p:sldId id="2119" r:id="rId1871"/>
    <p:sldId id="2120" r:id="rId1872"/>
    <p:sldId id="2121" r:id="rId1873"/>
    <p:sldId id="2122" r:id="rId1874"/>
    <p:sldId id="2123" r:id="rId1875"/>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3" r:id="rId45"/>
    <p:sldId id="294" r:id="rId46"/>
    <p:sldId id="297" r:id="rId49"/>
    <p:sldId id="298" r:id="rId50"/>
    <p:sldId id="299" r:id="rId51"/>
    <p:sldId id="300" r:id="rId52"/>
    <p:sldId id="301" r:id="rId53"/>
    <p:sldId id="302" r:id="rId54"/>
    <p:sldId id="303" r:id="rId55"/>
    <p:sldId id="305" r:id="rId57"/>
    <p:sldId id="306" r:id="rId58"/>
    <p:sldId id="308" r:id="rId60"/>
    <p:sldId id="309" r:id="rId61"/>
    <p:sldId id="310" r:id="rId62"/>
    <p:sldId id="311" r:id="rId63"/>
    <p:sldId id="312" r:id="rId64"/>
    <p:sldId id="314" r:id="rId66"/>
    <p:sldId id="315" r:id="rId67"/>
    <p:sldId id="317" r:id="rId69"/>
    <p:sldId id="318" r:id="rId70"/>
    <p:sldId id="319" r:id="rId71"/>
    <p:sldId id="320" r:id="rId72"/>
    <p:sldId id="321" r:id="rId73"/>
    <p:sldId id="322" r:id="rId74"/>
    <p:sldId id="323" r:id="rId75"/>
    <p:sldId id="325" r:id="rId77"/>
    <p:sldId id="326" r:id="rId78"/>
    <p:sldId id="328" r:id="rId80"/>
    <p:sldId id="329" r:id="rId81"/>
    <p:sldId id="330" r:id="rId82"/>
    <p:sldId id="331" r:id="rId83"/>
    <p:sldId id="332" r:id="rId84"/>
    <p:sldId id="333" r:id="rId85"/>
    <p:sldId id="335" r:id="rId87"/>
    <p:sldId id="336" r:id="rId88"/>
    <p:sldId id="338" r:id="rId90"/>
    <p:sldId id="339" r:id="rId91"/>
    <p:sldId id="340" r:id="rId92"/>
    <p:sldId id="341" r:id="rId93"/>
    <p:sldId id="342" r:id="rId94"/>
    <p:sldId id="343" r:id="rId95"/>
    <p:sldId id="345" r:id="rId97"/>
    <p:sldId id="346" r:id="rId98"/>
    <p:sldId id="348" r:id="rId100"/>
    <p:sldId id="349" r:id="rId101"/>
    <p:sldId id="350" r:id="rId102"/>
    <p:sldId id="351" r:id="rId103"/>
    <p:sldId id="352" r:id="rId104"/>
    <p:sldId id="354" r:id="rId106"/>
    <p:sldId id="355" r:id="rId107"/>
    <p:sldId id="358" r:id="rId110"/>
    <p:sldId id="359" r:id="rId111"/>
    <p:sldId id="360" r:id="rId112"/>
    <p:sldId id="361" r:id="rId113"/>
    <p:sldId id="362" r:id="rId114"/>
    <p:sldId id="363" r:id="rId115"/>
    <p:sldId id="364" r:id="rId116"/>
    <p:sldId id="365" r:id="rId117"/>
    <p:sldId id="366" r:id="rId118"/>
    <p:sldId id="367" r:id="rId119"/>
    <p:sldId id="368" r:id="rId120"/>
    <p:sldId id="369" r:id="rId121"/>
    <p:sldId id="370" r:id="rId122"/>
    <p:sldId id="371" r:id="rId123"/>
    <p:sldId id="372" r:id="rId124"/>
    <p:sldId id="373" r:id="rId125"/>
    <p:sldId id="374" r:id="rId126"/>
    <p:sldId id="375" r:id="rId127"/>
    <p:sldId id="376" r:id="rId128"/>
    <p:sldId id="377" r:id="rId129"/>
    <p:sldId id="378" r:id="rId130"/>
    <p:sldId id="379" r:id="rId131"/>
    <p:sldId id="380" r:id="rId132"/>
    <p:sldId id="381" r:id="rId133"/>
    <p:sldId id="382" r:id="rId134"/>
    <p:sldId id="383" r:id="rId135"/>
    <p:sldId id="384" r:id="rId136"/>
    <p:sldId id="385" r:id="rId137"/>
    <p:sldId id="387" r:id="rId139"/>
    <p:sldId id="388" r:id="rId140"/>
    <p:sldId id="391" r:id="rId143"/>
    <p:sldId id="392" r:id="rId144"/>
    <p:sldId id="393" r:id="rId145"/>
    <p:sldId id="394" r:id="rId146"/>
    <p:sldId id="395" r:id="rId147"/>
    <p:sldId id="396" r:id="rId148"/>
    <p:sldId id="397" r:id="rId149"/>
    <p:sldId id="399" r:id="rId151"/>
    <p:sldId id="400" r:id="rId152"/>
    <p:sldId id="402" r:id="rId154"/>
    <p:sldId id="403" r:id="rId155"/>
    <p:sldId id="404" r:id="rId156"/>
    <p:sldId id="405" r:id="rId157"/>
    <p:sldId id="406" r:id="rId158"/>
    <p:sldId id="408" r:id="rId160"/>
    <p:sldId id="409" r:id="rId161"/>
    <p:sldId id="411" r:id="rId163"/>
    <p:sldId id="412" r:id="rId164"/>
    <p:sldId id="413" r:id="rId165"/>
    <p:sldId id="414" r:id="rId166"/>
    <p:sldId id="415" r:id="rId167"/>
    <p:sldId id="416" r:id="rId168"/>
    <p:sldId id="417" r:id="rId169"/>
    <p:sldId id="419" r:id="rId171"/>
    <p:sldId id="420" r:id="rId172"/>
    <p:sldId id="422" r:id="rId174"/>
    <p:sldId id="423" r:id="rId175"/>
    <p:sldId id="424" r:id="rId176"/>
    <p:sldId id="425" r:id="rId177"/>
    <p:sldId id="426" r:id="rId178"/>
    <p:sldId id="427" r:id="rId179"/>
    <p:sldId id="429" r:id="rId181"/>
    <p:sldId id="430" r:id="rId182"/>
    <p:sldId id="432" r:id="rId184"/>
    <p:sldId id="433" r:id="rId185"/>
    <p:sldId id="434" r:id="rId186"/>
    <p:sldId id="435" r:id="rId187"/>
    <p:sldId id="436" r:id="rId188"/>
    <p:sldId id="437" r:id="rId189"/>
    <p:sldId id="439" r:id="rId191"/>
    <p:sldId id="440" r:id="rId192"/>
    <p:sldId id="442" r:id="rId194"/>
    <p:sldId id="443" r:id="rId195"/>
    <p:sldId id="444" r:id="rId196"/>
    <p:sldId id="445" r:id="rId197"/>
    <p:sldId id="446" r:id="rId198"/>
    <p:sldId id="448" r:id="rId200"/>
    <p:sldId id="449" r:id="rId201"/>
    <p:sldId id="452" r:id="rId204"/>
    <p:sldId id="453" r:id="rId205"/>
    <p:sldId id="454" r:id="rId206"/>
    <p:sldId id="455" r:id="rId207"/>
    <p:sldId id="456" r:id="rId208"/>
    <p:sldId id="457" r:id="rId209"/>
    <p:sldId id="458" r:id="rId210"/>
    <p:sldId id="459" r:id="rId211"/>
    <p:sldId id="460" r:id="rId212"/>
    <p:sldId id="461" r:id="rId213"/>
    <p:sldId id="462" r:id="rId214"/>
    <p:sldId id="463" r:id="rId215"/>
    <p:sldId id="464" r:id="rId216"/>
    <p:sldId id="465" r:id="rId217"/>
    <p:sldId id="466" r:id="rId218"/>
    <p:sldId id="467" r:id="rId219"/>
    <p:sldId id="468" r:id="rId220"/>
    <p:sldId id="469" r:id="rId221"/>
    <p:sldId id="470" r:id="rId222"/>
    <p:sldId id="471" r:id="rId223"/>
    <p:sldId id="472" r:id="rId224"/>
    <p:sldId id="473" r:id="rId225"/>
    <p:sldId id="474" r:id="rId226"/>
    <p:sldId id="475" r:id="rId227"/>
    <p:sldId id="476" r:id="rId228"/>
    <p:sldId id="477" r:id="rId229"/>
    <p:sldId id="478" r:id="rId230"/>
    <p:sldId id="479" r:id="rId231"/>
    <p:sldId id="481" r:id="rId233"/>
    <p:sldId id="482" r:id="rId234"/>
    <p:sldId id="485" r:id="rId237"/>
    <p:sldId id="486" r:id="rId238"/>
    <p:sldId id="487" r:id="rId239"/>
    <p:sldId id="488" r:id="rId240"/>
    <p:sldId id="489" r:id="rId241"/>
    <p:sldId id="490" r:id="rId242"/>
    <p:sldId id="491" r:id="rId243"/>
    <p:sldId id="493" r:id="rId245"/>
    <p:sldId id="494" r:id="rId246"/>
    <p:sldId id="496" r:id="rId248"/>
    <p:sldId id="497" r:id="rId249"/>
    <p:sldId id="498" r:id="rId250"/>
    <p:sldId id="499" r:id="rId251"/>
    <p:sldId id="500" r:id="rId252"/>
    <p:sldId id="502" r:id="rId254"/>
    <p:sldId id="503" r:id="rId255"/>
    <p:sldId id="505" r:id="rId257"/>
    <p:sldId id="506" r:id="rId258"/>
    <p:sldId id="507" r:id="rId259"/>
    <p:sldId id="508" r:id="rId260"/>
    <p:sldId id="509" r:id="rId261"/>
    <p:sldId id="510" r:id="rId262"/>
    <p:sldId id="511" r:id="rId263"/>
    <p:sldId id="513" r:id="rId265"/>
    <p:sldId id="514" r:id="rId266"/>
    <p:sldId id="516" r:id="rId268"/>
    <p:sldId id="517" r:id="rId269"/>
    <p:sldId id="518" r:id="rId270"/>
    <p:sldId id="519" r:id="rId271"/>
    <p:sldId id="520" r:id="rId272"/>
    <p:sldId id="521" r:id="rId273"/>
    <p:sldId id="523" r:id="rId275"/>
    <p:sldId id="524" r:id="rId276"/>
    <p:sldId id="526" r:id="rId278"/>
    <p:sldId id="527" r:id="rId279"/>
    <p:sldId id="528" r:id="rId280"/>
    <p:sldId id="529" r:id="rId281"/>
    <p:sldId id="530" r:id="rId282"/>
    <p:sldId id="531" r:id="rId283"/>
    <p:sldId id="533" r:id="rId285"/>
    <p:sldId id="534" r:id="rId286"/>
    <p:sldId id="536" r:id="rId288"/>
    <p:sldId id="537" r:id="rId289"/>
    <p:sldId id="538" r:id="rId290"/>
    <p:sldId id="539" r:id="rId291"/>
    <p:sldId id="540" r:id="rId292"/>
    <p:sldId id="542" r:id="rId294"/>
    <p:sldId id="543" r:id="rId295"/>
    <p:sldId id="546" r:id="rId298"/>
    <p:sldId id="547" r:id="rId299"/>
    <p:sldId id="548" r:id="rId300"/>
    <p:sldId id="549" r:id="rId301"/>
    <p:sldId id="550" r:id="rId302"/>
    <p:sldId id="551" r:id="rId303"/>
    <p:sldId id="552" r:id="rId304"/>
    <p:sldId id="553" r:id="rId305"/>
    <p:sldId id="554" r:id="rId306"/>
    <p:sldId id="555" r:id="rId307"/>
    <p:sldId id="556" r:id="rId308"/>
    <p:sldId id="557" r:id="rId309"/>
    <p:sldId id="558" r:id="rId310"/>
    <p:sldId id="559" r:id="rId311"/>
    <p:sldId id="560" r:id="rId312"/>
    <p:sldId id="561" r:id="rId313"/>
    <p:sldId id="562" r:id="rId314"/>
    <p:sldId id="563" r:id="rId315"/>
    <p:sldId id="564" r:id="rId316"/>
    <p:sldId id="565" r:id="rId317"/>
    <p:sldId id="566" r:id="rId318"/>
    <p:sldId id="567" r:id="rId319"/>
    <p:sldId id="568" r:id="rId320"/>
    <p:sldId id="569" r:id="rId321"/>
    <p:sldId id="570" r:id="rId322"/>
    <p:sldId id="571" r:id="rId323"/>
    <p:sldId id="572" r:id="rId324"/>
    <p:sldId id="573" r:id="rId325"/>
    <p:sldId id="574" r:id="rId326"/>
    <p:sldId id="576" r:id="rId328"/>
    <p:sldId id="577" r:id="rId329"/>
    <p:sldId id="580" r:id="rId332"/>
    <p:sldId id="581" r:id="rId333"/>
    <p:sldId id="582" r:id="rId334"/>
    <p:sldId id="583" r:id="rId335"/>
    <p:sldId id="584" r:id="rId336"/>
    <p:sldId id="585" r:id="rId337"/>
    <p:sldId id="586" r:id="rId338"/>
    <p:sldId id="588" r:id="rId340"/>
    <p:sldId id="589" r:id="rId341"/>
    <p:sldId id="591" r:id="rId343"/>
    <p:sldId id="592" r:id="rId344"/>
    <p:sldId id="593" r:id="rId345"/>
    <p:sldId id="594" r:id="rId346"/>
    <p:sldId id="595" r:id="rId347"/>
    <p:sldId id="597" r:id="rId349"/>
    <p:sldId id="598" r:id="rId350"/>
    <p:sldId id="600" r:id="rId352"/>
    <p:sldId id="601" r:id="rId353"/>
    <p:sldId id="602" r:id="rId354"/>
    <p:sldId id="603" r:id="rId355"/>
    <p:sldId id="604" r:id="rId356"/>
    <p:sldId id="605" r:id="rId357"/>
    <p:sldId id="606" r:id="rId358"/>
    <p:sldId id="608" r:id="rId360"/>
    <p:sldId id="609" r:id="rId361"/>
    <p:sldId id="611" r:id="rId363"/>
    <p:sldId id="612" r:id="rId364"/>
    <p:sldId id="613" r:id="rId365"/>
    <p:sldId id="614" r:id="rId366"/>
    <p:sldId id="615" r:id="rId367"/>
    <p:sldId id="616" r:id="rId368"/>
    <p:sldId id="618" r:id="rId370"/>
    <p:sldId id="619" r:id="rId371"/>
    <p:sldId id="621" r:id="rId373"/>
    <p:sldId id="622" r:id="rId374"/>
    <p:sldId id="623" r:id="rId375"/>
    <p:sldId id="624" r:id="rId376"/>
    <p:sldId id="625" r:id="rId377"/>
    <p:sldId id="626" r:id="rId378"/>
    <p:sldId id="628" r:id="rId380"/>
    <p:sldId id="629" r:id="rId381"/>
    <p:sldId id="631" r:id="rId383"/>
    <p:sldId id="632" r:id="rId384"/>
    <p:sldId id="633" r:id="rId385"/>
    <p:sldId id="634" r:id="rId386"/>
    <p:sldId id="635" r:id="rId387"/>
    <p:sldId id="637" r:id="rId389"/>
    <p:sldId id="638" r:id="rId390"/>
    <p:sldId id="641" r:id="rId393"/>
    <p:sldId id="642" r:id="rId394"/>
    <p:sldId id="643" r:id="rId395"/>
    <p:sldId id="644" r:id="rId396"/>
    <p:sldId id="645" r:id="rId397"/>
    <p:sldId id="646" r:id="rId398"/>
    <p:sldId id="647" r:id="rId399"/>
    <p:sldId id="648" r:id="rId400"/>
    <p:sldId id="649" r:id="rId401"/>
    <p:sldId id="650" r:id="rId402"/>
    <p:sldId id="651" r:id="rId403"/>
    <p:sldId id="652" r:id="rId404"/>
    <p:sldId id="653" r:id="rId405"/>
    <p:sldId id="654" r:id="rId406"/>
    <p:sldId id="655" r:id="rId407"/>
    <p:sldId id="656" r:id="rId408"/>
    <p:sldId id="657" r:id="rId409"/>
    <p:sldId id="658" r:id="rId410"/>
    <p:sldId id="659" r:id="rId411"/>
    <p:sldId id="660" r:id="rId412"/>
    <p:sldId id="661" r:id="rId413"/>
    <p:sldId id="662" r:id="rId414"/>
    <p:sldId id="663" r:id="rId415"/>
    <p:sldId id="664" r:id="rId416"/>
    <p:sldId id="665" r:id="rId417"/>
    <p:sldId id="666" r:id="rId418"/>
    <p:sldId id="667" r:id="rId419"/>
    <p:sldId id="668" r:id="rId420"/>
    <p:sldId id="670" r:id="rId422"/>
    <p:sldId id="671" r:id="rId423"/>
    <p:sldId id="674" r:id="rId426"/>
    <p:sldId id="675" r:id="rId427"/>
    <p:sldId id="676" r:id="rId428"/>
    <p:sldId id="677" r:id="rId429"/>
    <p:sldId id="678" r:id="rId430"/>
    <p:sldId id="679" r:id="rId431"/>
    <p:sldId id="680" r:id="rId432"/>
    <p:sldId id="682" r:id="rId434"/>
    <p:sldId id="683" r:id="rId435"/>
    <p:sldId id="685" r:id="rId437"/>
    <p:sldId id="686" r:id="rId438"/>
    <p:sldId id="687" r:id="rId439"/>
    <p:sldId id="688" r:id="rId440"/>
    <p:sldId id="689" r:id="rId441"/>
    <p:sldId id="691" r:id="rId443"/>
    <p:sldId id="692" r:id="rId444"/>
    <p:sldId id="694" r:id="rId446"/>
    <p:sldId id="695" r:id="rId447"/>
    <p:sldId id="696" r:id="rId448"/>
    <p:sldId id="697" r:id="rId449"/>
    <p:sldId id="698" r:id="rId450"/>
    <p:sldId id="699" r:id="rId451"/>
    <p:sldId id="700" r:id="rId452"/>
    <p:sldId id="702" r:id="rId454"/>
    <p:sldId id="703" r:id="rId455"/>
    <p:sldId id="705" r:id="rId457"/>
    <p:sldId id="706" r:id="rId458"/>
    <p:sldId id="707" r:id="rId459"/>
    <p:sldId id="708" r:id="rId460"/>
    <p:sldId id="709" r:id="rId461"/>
    <p:sldId id="710" r:id="rId462"/>
    <p:sldId id="712" r:id="rId464"/>
    <p:sldId id="713" r:id="rId465"/>
    <p:sldId id="715" r:id="rId467"/>
    <p:sldId id="716" r:id="rId468"/>
    <p:sldId id="717" r:id="rId469"/>
    <p:sldId id="718" r:id="rId470"/>
    <p:sldId id="719" r:id="rId471"/>
    <p:sldId id="720" r:id="rId472"/>
    <p:sldId id="722" r:id="rId474"/>
    <p:sldId id="723" r:id="rId475"/>
    <p:sldId id="725" r:id="rId477"/>
    <p:sldId id="726" r:id="rId478"/>
    <p:sldId id="727" r:id="rId479"/>
    <p:sldId id="728" r:id="rId480"/>
    <p:sldId id="729" r:id="rId481"/>
    <p:sldId id="731" r:id="rId483"/>
    <p:sldId id="732" r:id="rId484"/>
    <p:sldId id="735" r:id="rId487"/>
    <p:sldId id="736" r:id="rId488"/>
    <p:sldId id="737" r:id="rId489"/>
    <p:sldId id="738" r:id="rId490"/>
    <p:sldId id="739" r:id="rId491"/>
    <p:sldId id="740" r:id="rId492"/>
    <p:sldId id="741" r:id="rId493"/>
    <p:sldId id="742" r:id="rId494"/>
    <p:sldId id="743" r:id="rId495"/>
    <p:sldId id="744" r:id="rId496"/>
    <p:sldId id="745" r:id="rId497"/>
    <p:sldId id="746" r:id="rId498"/>
    <p:sldId id="747" r:id="rId499"/>
    <p:sldId id="748" r:id="rId500"/>
    <p:sldId id="749" r:id="rId501"/>
    <p:sldId id="750" r:id="rId502"/>
    <p:sldId id="751" r:id="rId503"/>
    <p:sldId id="752" r:id="rId504"/>
    <p:sldId id="753" r:id="rId505"/>
    <p:sldId id="754" r:id="rId506"/>
    <p:sldId id="755" r:id="rId507"/>
    <p:sldId id="756" r:id="rId508"/>
    <p:sldId id="757" r:id="rId509"/>
    <p:sldId id="758" r:id="rId510"/>
    <p:sldId id="759" r:id="rId511"/>
    <p:sldId id="760" r:id="rId512"/>
    <p:sldId id="761" r:id="rId513"/>
    <p:sldId id="762" r:id="rId514"/>
    <p:sldId id="764" r:id="rId516"/>
    <p:sldId id="765" r:id="rId517"/>
    <p:sldId id="768" r:id="rId520"/>
    <p:sldId id="769" r:id="rId521"/>
    <p:sldId id="770" r:id="rId522"/>
    <p:sldId id="771" r:id="rId523"/>
    <p:sldId id="772" r:id="rId524"/>
    <p:sldId id="773" r:id="rId525"/>
    <p:sldId id="774" r:id="rId526"/>
    <p:sldId id="776" r:id="rId528"/>
    <p:sldId id="777" r:id="rId529"/>
    <p:sldId id="779" r:id="rId531"/>
    <p:sldId id="780" r:id="rId532"/>
    <p:sldId id="781" r:id="rId533"/>
    <p:sldId id="782" r:id="rId534"/>
    <p:sldId id="783" r:id="rId535"/>
    <p:sldId id="785" r:id="rId537"/>
    <p:sldId id="786" r:id="rId538"/>
    <p:sldId id="788" r:id="rId540"/>
    <p:sldId id="789" r:id="rId541"/>
    <p:sldId id="790" r:id="rId542"/>
    <p:sldId id="791" r:id="rId543"/>
    <p:sldId id="792" r:id="rId544"/>
    <p:sldId id="793" r:id="rId545"/>
    <p:sldId id="794" r:id="rId546"/>
    <p:sldId id="796" r:id="rId548"/>
    <p:sldId id="797" r:id="rId549"/>
    <p:sldId id="799" r:id="rId551"/>
    <p:sldId id="800" r:id="rId552"/>
    <p:sldId id="801" r:id="rId553"/>
    <p:sldId id="802" r:id="rId554"/>
    <p:sldId id="803" r:id="rId555"/>
    <p:sldId id="804" r:id="rId556"/>
    <p:sldId id="806" r:id="rId558"/>
    <p:sldId id="807" r:id="rId559"/>
    <p:sldId id="809" r:id="rId561"/>
    <p:sldId id="810" r:id="rId562"/>
    <p:sldId id="811" r:id="rId563"/>
    <p:sldId id="812" r:id="rId564"/>
    <p:sldId id="813" r:id="rId565"/>
    <p:sldId id="814" r:id="rId566"/>
    <p:sldId id="816" r:id="rId568"/>
    <p:sldId id="817" r:id="rId569"/>
    <p:sldId id="819" r:id="rId571"/>
    <p:sldId id="820" r:id="rId572"/>
    <p:sldId id="821" r:id="rId573"/>
    <p:sldId id="822" r:id="rId574"/>
    <p:sldId id="823" r:id="rId575"/>
    <p:sldId id="825" r:id="rId577"/>
    <p:sldId id="826" r:id="rId578"/>
    <p:sldId id="829" r:id="rId581"/>
    <p:sldId id="830" r:id="rId582"/>
    <p:sldId id="831" r:id="rId583"/>
    <p:sldId id="832" r:id="rId584"/>
    <p:sldId id="833" r:id="rId585"/>
    <p:sldId id="834" r:id="rId586"/>
    <p:sldId id="835" r:id="rId587"/>
    <p:sldId id="836" r:id="rId588"/>
    <p:sldId id="837" r:id="rId589"/>
    <p:sldId id="838" r:id="rId590"/>
    <p:sldId id="839" r:id="rId591"/>
    <p:sldId id="840" r:id="rId592"/>
    <p:sldId id="841" r:id="rId593"/>
    <p:sldId id="842" r:id="rId594"/>
    <p:sldId id="843" r:id="rId595"/>
    <p:sldId id="844" r:id="rId596"/>
    <p:sldId id="845" r:id="rId597"/>
    <p:sldId id="846" r:id="rId598"/>
    <p:sldId id="847" r:id="rId599"/>
    <p:sldId id="848" r:id="rId600"/>
    <p:sldId id="849" r:id="rId601"/>
    <p:sldId id="850" r:id="rId602"/>
    <p:sldId id="851" r:id="rId603"/>
    <p:sldId id="852" r:id="rId604"/>
    <p:sldId id="853" r:id="rId605"/>
    <p:sldId id="854" r:id="rId606"/>
    <p:sldId id="855" r:id="rId607"/>
    <p:sldId id="856" r:id="rId608"/>
    <p:sldId id="858" r:id="rId610"/>
    <p:sldId id="859" r:id="rId611"/>
    <p:sldId id="862" r:id="rId614"/>
    <p:sldId id="863" r:id="rId615"/>
    <p:sldId id="864" r:id="rId616"/>
    <p:sldId id="865" r:id="rId617"/>
    <p:sldId id="866" r:id="rId618"/>
    <p:sldId id="867" r:id="rId619"/>
    <p:sldId id="868" r:id="rId620"/>
    <p:sldId id="870" r:id="rId622"/>
    <p:sldId id="871" r:id="rId623"/>
    <p:sldId id="873" r:id="rId625"/>
    <p:sldId id="874" r:id="rId626"/>
    <p:sldId id="875" r:id="rId627"/>
    <p:sldId id="876" r:id="rId628"/>
    <p:sldId id="877" r:id="rId629"/>
    <p:sldId id="879" r:id="rId631"/>
    <p:sldId id="880" r:id="rId632"/>
    <p:sldId id="882" r:id="rId634"/>
    <p:sldId id="883" r:id="rId635"/>
    <p:sldId id="884" r:id="rId636"/>
    <p:sldId id="885" r:id="rId637"/>
    <p:sldId id="886" r:id="rId638"/>
    <p:sldId id="887" r:id="rId639"/>
    <p:sldId id="888" r:id="rId640"/>
    <p:sldId id="890" r:id="rId642"/>
    <p:sldId id="891" r:id="rId643"/>
    <p:sldId id="893" r:id="rId645"/>
    <p:sldId id="894" r:id="rId646"/>
    <p:sldId id="895" r:id="rId647"/>
    <p:sldId id="896" r:id="rId648"/>
    <p:sldId id="897" r:id="rId649"/>
    <p:sldId id="898" r:id="rId650"/>
    <p:sldId id="900" r:id="rId652"/>
    <p:sldId id="901" r:id="rId653"/>
    <p:sldId id="903" r:id="rId655"/>
    <p:sldId id="904" r:id="rId656"/>
    <p:sldId id="905" r:id="rId657"/>
    <p:sldId id="906" r:id="rId658"/>
    <p:sldId id="907" r:id="rId659"/>
    <p:sldId id="908" r:id="rId660"/>
    <p:sldId id="910" r:id="rId662"/>
    <p:sldId id="911" r:id="rId663"/>
    <p:sldId id="913" r:id="rId665"/>
    <p:sldId id="914" r:id="rId666"/>
    <p:sldId id="915" r:id="rId667"/>
    <p:sldId id="916" r:id="rId668"/>
    <p:sldId id="917" r:id="rId669"/>
    <p:sldId id="919" r:id="rId671"/>
    <p:sldId id="920" r:id="rId672"/>
    <p:sldId id="923" r:id="rId675"/>
    <p:sldId id="924" r:id="rId676"/>
    <p:sldId id="925" r:id="rId677"/>
    <p:sldId id="926" r:id="rId678"/>
    <p:sldId id="927" r:id="rId679"/>
    <p:sldId id="928" r:id="rId680"/>
    <p:sldId id="929" r:id="rId681"/>
    <p:sldId id="930" r:id="rId682"/>
    <p:sldId id="931" r:id="rId683"/>
    <p:sldId id="932" r:id="rId684"/>
    <p:sldId id="933" r:id="rId685"/>
    <p:sldId id="934" r:id="rId686"/>
    <p:sldId id="936" r:id="rId688"/>
    <p:sldId id="938" r:id="rId690"/>
    <p:sldId id="939" r:id="rId691"/>
    <p:sldId id="940" r:id="rId692"/>
    <p:sldId id="941" r:id="rId693"/>
    <p:sldId id="942" r:id="rId694"/>
    <p:sldId id="943" r:id="rId695"/>
    <p:sldId id="944" r:id="rId696"/>
    <p:sldId id="945" r:id="rId697"/>
    <p:sldId id="946" r:id="rId698"/>
    <p:sldId id="947" r:id="rId699"/>
    <p:sldId id="948" r:id="rId700"/>
    <p:sldId id="949" r:id="rId701"/>
    <p:sldId id="950" r:id="rId702"/>
    <p:sldId id="951" r:id="rId703"/>
    <p:sldId id="952" r:id="rId704"/>
    <p:sldId id="953" r:id="rId705"/>
    <p:sldId id="954" r:id="rId706"/>
    <p:sldId id="955" r:id="rId707"/>
    <p:sldId id="956" r:id="rId708"/>
    <p:sldId id="957" r:id="rId709"/>
    <p:sldId id="958" r:id="rId710"/>
    <p:sldId id="959" r:id="rId711"/>
    <p:sldId id="960" r:id="rId712"/>
    <p:sldId id="962" r:id="rId714"/>
    <p:sldId id="964" r:id="rId716"/>
    <p:sldId id="965" r:id="rId717"/>
    <p:sldId id="966" r:id="rId718"/>
    <p:sldId id="967" r:id="rId719"/>
    <p:sldId id="968" r:id="rId720"/>
    <p:sldId id="969" r:id="rId721"/>
    <p:sldId id="970" r:id="rId722"/>
    <p:sldId id="972" r:id="rId724"/>
    <p:sldId id="974" r:id="rId726"/>
    <p:sldId id="975" r:id="rId727"/>
    <p:sldId id="976" r:id="rId728"/>
    <p:sldId id="977" r:id="rId729"/>
    <p:sldId id="978" r:id="rId730"/>
    <p:sldId id="979" r:id="rId731"/>
    <p:sldId id="980" r:id="rId732"/>
    <p:sldId id="981" r:id="rId733"/>
    <p:sldId id="982" r:id="rId734"/>
    <p:sldId id="983" r:id="rId735"/>
    <p:sldId id="984" r:id="rId736"/>
    <p:sldId id="985" r:id="rId737"/>
    <p:sldId id="986" r:id="rId738"/>
    <p:sldId id="987" r:id="rId739"/>
    <p:sldId id="988" r:id="rId740"/>
    <p:sldId id="989" r:id="rId741"/>
    <p:sldId id="990" r:id="rId742"/>
    <p:sldId id="992" r:id="rId744"/>
    <p:sldId id="994" r:id="rId746"/>
    <p:sldId id="995" r:id="rId747"/>
    <p:sldId id="996" r:id="rId748"/>
    <p:sldId id="997" r:id="rId749"/>
    <p:sldId id="998" r:id="rId750"/>
    <p:sldId id="999" r:id="rId751"/>
    <p:sldId id="1000" r:id="rId752"/>
    <p:sldId id="1002" r:id="rId754"/>
    <p:sldId id="1004" r:id="rId756"/>
    <p:sldId id="1005" r:id="rId757"/>
    <p:sldId id="1006" r:id="rId758"/>
    <p:sldId id="1007" r:id="rId759"/>
    <p:sldId id="1008" r:id="rId760"/>
    <p:sldId id="1009" r:id="rId761"/>
    <p:sldId id="1010" r:id="rId762"/>
    <p:sldId id="1011" r:id="rId763"/>
    <p:sldId id="1012" r:id="rId764"/>
    <p:sldId id="1013" r:id="rId765"/>
    <p:sldId id="1014" r:id="rId766"/>
    <p:sldId id="1015" r:id="rId767"/>
    <p:sldId id="1016" r:id="rId768"/>
    <p:sldId id="1017" r:id="rId769"/>
    <p:sldId id="1018" r:id="rId770"/>
    <p:sldId id="1019" r:id="rId771"/>
    <p:sldId id="1020" r:id="rId772"/>
    <p:sldId id="1022" r:id="rId774"/>
    <p:sldId id="1024" r:id="rId776"/>
    <p:sldId id="1025" r:id="rId777"/>
    <p:sldId id="1026" r:id="rId778"/>
    <p:sldId id="1027" r:id="rId779"/>
    <p:sldId id="1028" r:id="rId780"/>
    <p:sldId id="1029" r:id="rId781"/>
    <p:sldId id="1030" r:id="rId782"/>
    <p:sldId id="1032" r:id="rId784"/>
    <p:sldId id="1034" r:id="rId786"/>
    <p:sldId id="1035" r:id="rId787"/>
    <p:sldId id="1036" r:id="rId788"/>
    <p:sldId id="1037" r:id="rId789"/>
    <p:sldId id="1038" r:id="rId790"/>
    <p:sldId id="1039" r:id="rId791"/>
    <p:sldId id="1040" r:id="rId792"/>
    <p:sldId id="1041" r:id="rId793"/>
    <p:sldId id="1042" r:id="rId794"/>
    <p:sldId id="1043" r:id="rId795"/>
    <p:sldId id="1044" r:id="rId796"/>
    <p:sldId id="1045" r:id="rId797"/>
    <p:sldId id="1046" r:id="rId798"/>
    <p:sldId id="1047" r:id="rId799"/>
    <p:sldId id="1048" r:id="rId800"/>
    <p:sldId id="1049" r:id="rId801"/>
    <p:sldId id="1050" r:id="rId802"/>
    <p:sldId id="1052" r:id="rId804"/>
    <p:sldId id="1054" r:id="rId806"/>
    <p:sldId id="1055" r:id="rId807"/>
    <p:sldId id="1056" r:id="rId808"/>
    <p:sldId id="1057" r:id="rId809"/>
    <p:sldId id="1058" r:id="rId810"/>
    <p:sldId id="1059" r:id="rId811"/>
    <p:sldId id="1060" r:id="rId812"/>
    <p:sldId id="1062" r:id="rId814"/>
    <p:sldId id="1064" r:id="rId816"/>
    <p:sldId id="1065" r:id="rId817"/>
    <p:sldId id="1066" r:id="rId818"/>
    <p:sldId id="1067" r:id="rId819"/>
    <p:sldId id="1068" r:id="rId820"/>
    <p:sldId id="1069" r:id="rId821"/>
    <p:sldId id="1070" r:id="rId822"/>
    <p:sldId id="1071" r:id="rId823"/>
    <p:sldId id="1072" r:id="rId824"/>
    <p:sldId id="1073" r:id="rId825"/>
    <p:sldId id="1074" r:id="rId826"/>
    <p:sldId id="1075" r:id="rId827"/>
    <p:sldId id="1076" r:id="rId828"/>
    <p:sldId id="1077" r:id="rId829"/>
    <p:sldId id="1078" r:id="rId830"/>
    <p:sldId id="1079" r:id="rId831"/>
    <p:sldId id="1080" r:id="rId832"/>
    <p:sldId id="1082" r:id="rId834"/>
    <p:sldId id="1084" r:id="rId836"/>
    <p:sldId id="1085" r:id="rId837"/>
    <p:sldId id="1086" r:id="rId838"/>
    <p:sldId id="1087" r:id="rId839"/>
    <p:sldId id="1088" r:id="rId840"/>
    <p:sldId id="1089" r:id="rId841"/>
    <p:sldId id="1090" r:id="rId842"/>
    <p:sldId id="1092" r:id="rId844"/>
    <p:sldId id="1094" r:id="rId846"/>
    <p:sldId id="1095" r:id="rId847"/>
    <p:sldId id="1096" r:id="rId848"/>
    <p:sldId id="1097" r:id="rId849"/>
    <p:sldId id="1098" r:id="rId850"/>
    <p:sldId id="1099" r:id="rId851"/>
    <p:sldId id="1100" r:id="rId852"/>
    <p:sldId id="1101" r:id="rId853"/>
    <p:sldId id="1102" r:id="rId854"/>
    <p:sldId id="1103" r:id="rId855"/>
    <p:sldId id="1104" r:id="rId856"/>
    <p:sldId id="1105" r:id="rId857"/>
    <p:sldId id="1106" r:id="rId858"/>
    <p:sldId id="1107" r:id="rId859"/>
    <p:sldId id="1108" r:id="rId860"/>
    <p:sldId id="1109" r:id="rId861"/>
    <p:sldId id="1110" r:id="rId862"/>
    <p:sldId id="1112" r:id="rId864"/>
    <p:sldId id="1114" r:id="rId866"/>
    <p:sldId id="1115" r:id="rId867"/>
    <p:sldId id="1116" r:id="rId868"/>
    <p:sldId id="1117" r:id="rId869"/>
    <p:sldId id="1118" r:id="rId870"/>
    <p:sldId id="1119" r:id="rId871"/>
    <p:sldId id="1120" r:id="rId872"/>
    <p:sldId id="1122" r:id="rId874"/>
    <p:sldId id="1124" r:id="rId876"/>
    <p:sldId id="1125" r:id="rId877"/>
    <p:sldId id="1126" r:id="rId878"/>
    <p:sldId id="1127" r:id="rId879"/>
    <p:sldId id="1128" r:id="rId880"/>
    <p:sldId id="1129" r:id="rId881"/>
    <p:sldId id="1130" r:id="rId882"/>
    <p:sldId id="1131" r:id="rId883"/>
    <p:sldId id="1132" r:id="rId884"/>
    <p:sldId id="1133" r:id="rId885"/>
    <p:sldId id="1134" r:id="rId886"/>
    <p:sldId id="1135" r:id="rId887"/>
    <p:sldId id="1136" r:id="rId888"/>
    <p:sldId id="1137" r:id="rId889"/>
    <p:sldId id="1138" r:id="rId890"/>
    <p:sldId id="1139" r:id="rId891"/>
    <p:sldId id="1140" r:id="rId892"/>
    <p:sldId id="1142" r:id="rId894"/>
    <p:sldId id="1144" r:id="rId896"/>
    <p:sldId id="1145" r:id="rId897"/>
    <p:sldId id="1146" r:id="rId898"/>
    <p:sldId id="1147" r:id="rId899"/>
    <p:sldId id="1148" r:id="rId900"/>
    <p:sldId id="1149" r:id="rId901"/>
    <p:sldId id="1150" r:id="rId902"/>
    <p:sldId id="1152" r:id="rId904"/>
    <p:sldId id="1154" r:id="rId906"/>
    <p:sldId id="1155" r:id="rId907"/>
    <p:sldId id="1156" r:id="rId908"/>
    <p:sldId id="1157" r:id="rId909"/>
    <p:sldId id="1158" r:id="rId910"/>
    <p:sldId id="1159" r:id="rId911"/>
    <p:sldId id="1160" r:id="rId912"/>
    <p:sldId id="1161" r:id="rId913"/>
    <p:sldId id="1162" r:id="rId914"/>
    <p:sldId id="1163" r:id="rId915"/>
    <p:sldId id="1164" r:id="rId916"/>
    <p:sldId id="1165" r:id="rId917"/>
    <p:sldId id="1166" r:id="rId918"/>
    <p:sldId id="1167" r:id="rId919"/>
    <p:sldId id="1168" r:id="rId920"/>
    <p:sldId id="1169" r:id="rId921"/>
    <p:sldId id="1170" r:id="rId922"/>
    <p:sldId id="1172" r:id="rId924"/>
    <p:sldId id="1174" r:id="rId926"/>
    <p:sldId id="1175" r:id="rId927"/>
    <p:sldId id="1176" r:id="rId928"/>
    <p:sldId id="1177" r:id="rId929"/>
    <p:sldId id="1178" r:id="rId930"/>
    <p:sldId id="1179" r:id="rId931"/>
    <p:sldId id="1180" r:id="rId932"/>
    <p:sldId id="1182" r:id="rId934"/>
    <p:sldId id="1184" r:id="rId936"/>
    <p:sldId id="1185" r:id="rId937"/>
    <p:sldId id="1186" r:id="rId938"/>
    <p:sldId id="1187" r:id="rId939"/>
    <p:sldId id="1188" r:id="rId940"/>
    <p:sldId id="1189" r:id="rId941"/>
    <p:sldId id="1190" r:id="rId942"/>
    <p:sldId id="1191" r:id="rId943"/>
    <p:sldId id="1192" r:id="rId944"/>
    <p:sldId id="1193" r:id="rId945"/>
    <p:sldId id="1194" r:id="rId946"/>
    <p:sldId id="1195" r:id="rId947"/>
    <p:sldId id="1196" r:id="rId948"/>
    <p:sldId id="1197" r:id="rId949"/>
    <p:sldId id="1198" r:id="rId950"/>
    <p:sldId id="1199" r:id="rId951"/>
    <p:sldId id="1200" r:id="rId952"/>
    <p:sldId id="1202" r:id="rId954"/>
    <p:sldId id="1204" r:id="rId956"/>
    <p:sldId id="1205" r:id="rId957"/>
    <p:sldId id="1206" r:id="rId958"/>
    <p:sldId id="1207" r:id="rId959"/>
    <p:sldId id="1208" r:id="rId960"/>
    <p:sldId id="1209" r:id="rId961"/>
    <p:sldId id="1210" r:id="rId962"/>
    <p:sldId id="1212" r:id="rId964"/>
    <p:sldId id="1214" r:id="rId966"/>
    <p:sldId id="1215" r:id="rId967"/>
    <p:sldId id="1216" r:id="rId968"/>
    <p:sldId id="1217" r:id="rId969"/>
    <p:sldId id="1218" r:id="rId970"/>
    <p:sldId id="1219" r:id="rId971"/>
    <p:sldId id="1220" r:id="rId972"/>
    <p:sldId id="1221" r:id="rId973"/>
    <p:sldId id="1222" r:id="rId974"/>
    <p:sldId id="1223" r:id="rId975"/>
    <p:sldId id="1224" r:id="rId976"/>
    <p:sldId id="1225" r:id="rId977"/>
    <p:sldId id="1226" r:id="rId978"/>
    <p:sldId id="1227" r:id="rId979"/>
    <p:sldId id="1228" r:id="rId980"/>
    <p:sldId id="1229" r:id="rId981"/>
    <p:sldId id="1230" r:id="rId982"/>
    <p:sldId id="1232" r:id="rId984"/>
    <p:sldId id="1234" r:id="rId986"/>
    <p:sldId id="1235" r:id="rId987"/>
    <p:sldId id="1236" r:id="rId988"/>
    <p:sldId id="1237" r:id="rId989"/>
    <p:sldId id="1238" r:id="rId990"/>
    <p:sldId id="1239" r:id="rId991"/>
    <p:sldId id="1240" r:id="rId992"/>
    <p:sldId id="1242" r:id="rId994"/>
    <p:sldId id="1244" r:id="rId996"/>
    <p:sldId id="1245" r:id="rId997"/>
    <p:sldId id="1246" r:id="rId998"/>
    <p:sldId id="1247" r:id="rId999"/>
    <p:sldId id="1248" r:id="rId1000"/>
    <p:sldId id="1249" r:id="rId1001"/>
    <p:sldId id="1250" r:id="rId1002"/>
    <p:sldId id="1251" r:id="rId1003"/>
    <p:sldId id="1252" r:id="rId1004"/>
    <p:sldId id="1253" r:id="rId1005"/>
    <p:sldId id="1254" r:id="rId1006"/>
    <p:sldId id="1255" r:id="rId1007"/>
    <p:sldId id="1256" r:id="rId1008"/>
    <p:sldId id="1257" r:id="rId1009"/>
    <p:sldId id="1258" r:id="rId1010"/>
    <p:sldId id="1259" r:id="rId1011"/>
    <p:sldId id="1260" r:id="rId1012"/>
    <p:sldId id="1262" r:id="rId1014"/>
    <p:sldId id="1264" r:id="rId1016"/>
    <p:sldId id="1265" r:id="rId1017"/>
    <p:sldId id="1266" r:id="rId1018"/>
    <p:sldId id="1267" r:id="rId1019"/>
    <p:sldId id="1268" r:id="rId1020"/>
    <p:sldId id="1269" r:id="rId1021"/>
    <p:sldId id="1270" r:id="rId1022"/>
    <p:sldId id="1272" r:id="rId1024"/>
    <p:sldId id="1274" r:id="rId1026"/>
    <p:sldId id="1275" r:id="rId1027"/>
    <p:sldId id="1276" r:id="rId1028"/>
    <p:sldId id="1277" r:id="rId1029"/>
    <p:sldId id="1278" r:id="rId1030"/>
    <p:sldId id="1279" r:id="rId1031"/>
    <p:sldId id="1280" r:id="rId1032"/>
    <p:sldId id="1281" r:id="rId1033"/>
    <p:sldId id="1282" r:id="rId1034"/>
    <p:sldId id="1283" r:id="rId1035"/>
    <p:sldId id="1284" r:id="rId1036"/>
    <p:sldId id="1285" r:id="rId1037"/>
    <p:sldId id="1286" r:id="rId1038"/>
    <p:sldId id="1287" r:id="rId1039"/>
    <p:sldId id="1288" r:id="rId1040"/>
    <p:sldId id="1289" r:id="rId1041"/>
    <p:sldId id="1290" r:id="rId1042"/>
    <p:sldId id="1292" r:id="rId1044"/>
    <p:sldId id="1294" r:id="rId1046"/>
    <p:sldId id="1295" r:id="rId1047"/>
    <p:sldId id="1296" r:id="rId1048"/>
    <p:sldId id="1297" r:id="rId1049"/>
    <p:sldId id="1298" r:id="rId1050"/>
    <p:sldId id="1299" r:id="rId1051"/>
    <p:sldId id="1300" r:id="rId1052"/>
    <p:sldId id="1302" r:id="rId1054"/>
    <p:sldId id="1304" r:id="rId1056"/>
    <p:sldId id="1305" r:id="rId1057"/>
    <p:sldId id="1306" r:id="rId1058"/>
    <p:sldId id="1307" r:id="rId1059"/>
    <p:sldId id="1308" r:id="rId1060"/>
    <p:sldId id="1309" r:id="rId1061"/>
    <p:sldId id="1310" r:id="rId1062"/>
    <p:sldId id="1311" r:id="rId1063"/>
    <p:sldId id="1312" r:id="rId1064"/>
    <p:sldId id="1313" r:id="rId1065"/>
    <p:sldId id="1314" r:id="rId1066"/>
    <p:sldId id="1315" r:id="rId1067"/>
    <p:sldId id="1316" r:id="rId1068"/>
    <p:sldId id="1317" r:id="rId1069"/>
    <p:sldId id="1318" r:id="rId1070"/>
    <p:sldId id="1319" r:id="rId1071"/>
    <p:sldId id="1320" r:id="rId1072"/>
    <p:sldId id="1322" r:id="rId1074"/>
    <p:sldId id="1324" r:id="rId1076"/>
    <p:sldId id="1325" r:id="rId1077"/>
    <p:sldId id="1326" r:id="rId1078"/>
    <p:sldId id="1327" r:id="rId1079"/>
    <p:sldId id="1328" r:id="rId1080"/>
    <p:sldId id="1329" r:id="rId1081"/>
    <p:sldId id="1330" r:id="rId1082"/>
    <p:sldId id="1332" r:id="rId1084"/>
    <p:sldId id="1334" r:id="rId1086"/>
    <p:sldId id="1335" r:id="rId1087"/>
    <p:sldId id="1336" r:id="rId1088"/>
    <p:sldId id="1337" r:id="rId1089"/>
    <p:sldId id="1338" r:id="rId1090"/>
    <p:sldId id="1339" r:id="rId1091"/>
    <p:sldId id="1340" r:id="rId1092"/>
    <p:sldId id="1341" r:id="rId1093"/>
    <p:sldId id="1342" r:id="rId1094"/>
    <p:sldId id="1343" r:id="rId1095"/>
    <p:sldId id="1344" r:id="rId1096"/>
    <p:sldId id="1345" r:id="rId1097"/>
    <p:sldId id="1346" r:id="rId1098"/>
    <p:sldId id="1347" r:id="rId1099"/>
    <p:sldId id="1348" r:id="rId1100"/>
    <p:sldId id="1349" r:id="rId1101"/>
    <p:sldId id="1350" r:id="rId1102"/>
    <p:sldId id="1352" r:id="rId1104"/>
    <p:sldId id="1354" r:id="rId1106"/>
    <p:sldId id="1355" r:id="rId1107"/>
    <p:sldId id="1356" r:id="rId1108"/>
    <p:sldId id="1357" r:id="rId1109"/>
    <p:sldId id="1358" r:id="rId1110"/>
    <p:sldId id="1359" r:id="rId1111"/>
    <p:sldId id="1360" r:id="rId1112"/>
    <p:sldId id="1362" r:id="rId1114"/>
    <p:sldId id="1364" r:id="rId1116"/>
    <p:sldId id="1365" r:id="rId1117"/>
    <p:sldId id="1366" r:id="rId1118"/>
    <p:sldId id="1367" r:id="rId1119"/>
    <p:sldId id="1368" r:id="rId1120"/>
    <p:sldId id="1369" r:id="rId1121"/>
    <p:sldId id="1370" r:id="rId1122"/>
    <p:sldId id="1371" r:id="rId1123"/>
    <p:sldId id="1372" r:id="rId1124"/>
    <p:sldId id="1373" r:id="rId1125"/>
    <p:sldId id="1374" r:id="rId1126"/>
    <p:sldId id="1375" r:id="rId1127"/>
    <p:sldId id="1376" r:id="rId1128"/>
    <p:sldId id="1377" r:id="rId1129"/>
    <p:sldId id="1378" r:id="rId1130"/>
    <p:sldId id="1379" r:id="rId1131"/>
    <p:sldId id="1380" r:id="rId1132"/>
    <p:sldId id="1382" r:id="rId1134"/>
    <p:sldId id="1384" r:id="rId1136"/>
    <p:sldId id="1385" r:id="rId1137"/>
    <p:sldId id="1386" r:id="rId1138"/>
    <p:sldId id="1387" r:id="rId1139"/>
    <p:sldId id="1388" r:id="rId1140"/>
    <p:sldId id="1389" r:id="rId1141"/>
    <p:sldId id="1390" r:id="rId1142"/>
    <p:sldId id="1392" r:id="rId1144"/>
    <p:sldId id="1394" r:id="rId1146"/>
    <p:sldId id="1395" r:id="rId1147"/>
    <p:sldId id="1396" r:id="rId1148"/>
    <p:sldId id="1397" r:id="rId1149"/>
    <p:sldId id="1398" r:id="rId1150"/>
    <p:sldId id="1399" r:id="rId1151"/>
    <p:sldId id="1400" r:id="rId1152"/>
    <p:sldId id="1401" r:id="rId1153"/>
    <p:sldId id="1402" r:id="rId1154"/>
    <p:sldId id="1403" r:id="rId1155"/>
    <p:sldId id="1404" r:id="rId1156"/>
    <p:sldId id="1405" r:id="rId1157"/>
    <p:sldId id="1406" r:id="rId1158"/>
    <p:sldId id="1407" r:id="rId1159"/>
    <p:sldId id="1408" r:id="rId1160"/>
    <p:sldId id="1409" r:id="rId1161"/>
    <p:sldId id="1410" r:id="rId1162"/>
    <p:sldId id="1412" r:id="rId1164"/>
    <p:sldId id="1414" r:id="rId1166"/>
    <p:sldId id="1415" r:id="rId1167"/>
    <p:sldId id="1416" r:id="rId1168"/>
    <p:sldId id="1417" r:id="rId1169"/>
    <p:sldId id="1418" r:id="rId1170"/>
    <p:sldId id="1419" r:id="rId1171"/>
    <p:sldId id="1420" r:id="rId1172"/>
    <p:sldId id="1422" r:id="rId1174"/>
    <p:sldId id="1424" r:id="rId1176"/>
    <p:sldId id="1425" r:id="rId1177"/>
    <p:sldId id="1426" r:id="rId1178"/>
    <p:sldId id="1427" r:id="rId1179"/>
    <p:sldId id="1428" r:id="rId1180"/>
    <p:sldId id="1429" r:id="rId1181"/>
    <p:sldId id="1430" r:id="rId1182"/>
    <p:sldId id="1431" r:id="rId1183"/>
    <p:sldId id="1432" r:id="rId1184"/>
    <p:sldId id="1433" r:id="rId1185"/>
    <p:sldId id="1434" r:id="rId1186"/>
    <p:sldId id="1435" r:id="rId1187"/>
    <p:sldId id="1436" r:id="rId1188"/>
    <p:sldId id="1437" r:id="rId1189"/>
    <p:sldId id="1438" r:id="rId1190"/>
    <p:sldId id="1439" r:id="rId1191"/>
    <p:sldId id="1440" r:id="rId1192"/>
    <p:sldId id="1442" r:id="rId1194"/>
    <p:sldId id="1444" r:id="rId1196"/>
    <p:sldId id="1445" r:id="rId1197"/>
    <p:sldId id="1446" r:id="rId1198"/>
    <p:sldId id="1447" r:id="rId1199"/>
    <p:sldId id="1448" r:id="rId1200"/>
    <p:sldId id="1449" r:id="rId1201"/>
    <p:sldId id="1450" r:id="rId1202"/>
    <p:sldId id="1452" r:id="rId1204"/>
    <p:sldId id="1454" r:id="rId1206"/>
    <p:sldId id="1455" r:id="rId1207"/>
    <p:sldId id="1456" r:id="rId1208"/>
    <p:sldId id="1457" r:id="rId1209"/>
    <p:sldId id="1458" r:id="rId1210"/>
    <p:sldId id="1459" r:id="rId1211"/>
    <p:sldId id="1460" r:id="rId1212"/>
    <p:sldId id="1461" r:id="rId1213"/>
    <p:sldId id="1462" r:id="rId1214"/>
    <p:sldId id="1463" r:id="rId1215"/>
    <p:sldId id="1464" r:id="rId1216"/>
    <p:sldId id="1465" r:id="rId1217"/>
    <p:sldId id="1466" r:id="rId1218"/>
    <p:sldId id="1467" r:id="rId1219"/>
    <p:sldId id="1468" r:id="rId1220"/>
    <p:sldId id="1469" r:id="rId1221"/>
    <p:sldId id="1470" r:id="rId1222"/>
    <p:sldId id="1472" r:id="rId1224"/>
    <p:sldId id="1474" r:id="rId1226"/>
    <p:sldId id="1475" r:id="rId1227"/>
    <p:sldId id="1476" r:id="rId1228"/>
    <p:sldId id="1477" r:id="rId1229"/>
    <p:sldId id="1478" r:id="rId1230"/>
    <p:sldId id="1479" r:id="rId1231"/>
    <p:sldId id="1480" r:id="rId1232"/>
    <p:sldId id="1482" r:id="rId1234"/>
    <p:sldId id="1484" r:id="rId1236"/>
    <p:sldId id="1485" r:id="rId1237"/>
    <p:sldId id="1486" r:id="rId1238"/>
    <p:sldId id="1487" r:id="rId1239"/>
    <p:sldId id="1488" r:id="rId1240"/>
    <p:sldId id="1489" r:id="rId1241"/>
    <p:sldId id="1490" r:id="rId1242"/>
    <p:sldId id="1491" r:id="rId1243"/>
    <p:sldId id="1492" r:id="rId1244"/>
    <p:sldId id="1493" r:id="rId1245"/>
    <p:sldId id="1494" r:id="rId1246"/>
    <p:sldId id="1495" r:id="rId1247"/>
    <p:sldId id="1496" r:id="rId1248"/>
    <p:sldId id="1497" r:id="rId1249"/>
    <p:sldId id="1498" r:id="rId1250"/>
    <p:sldId id="1499" r:id="rId1251"/>
    <p:sldId id="1500" r:id="rId1252"/>
    <p:sldId id="1502" r:id="rId1254"/>
    <p:sldId id="1504" r:id="rId1256"/>
    <p:sldId id="1505" r:id="rId1257"/>
    <p:sldId id="1506" r:id="rId1258"/>
    <p:sldId id="1507" r:id="rId1259"/>
    <p:sldId id="1508" r:id="rId1260"/>
    <p:sldId id="1509" r:id="rId1261"/>
    <p:sldId id="1510" r:id="rId1262"/>
    <p:sldId id="1512" r:id="rId1264"/>
    <p:sldId id="1514" r:id="rId1266"/>
    <p:sldId id="1515" r:id="rId1267"/>
    <p:sldId id="1516" r:id="rId1268"/>
    <p:sldId id="1517" r:id="rId1269"/>
    <p:sldId id="1518" r:id="rId1270"/>
    <p:sldId id="1519" r:id="rId1271"/>
    <p:sldId id="1520" r:id="rId1272"/>
    <p:sldId id="1521" r:id="rId1273"/>
    <p:sldId id="1522" r:id="rId1274"/>
    <p:sldId id="1523" r:id="rId1275"/>
    <p:sldId id="1524" r:id="rId1276"/>
    <p:sldId id="1525" r:id="rId1277"/>
    <p:sldId id="1526" r:id="rId1278"/>
    <p:sldId id="1527" r:id="rId1279"/>
    <p:sldId id="1528" r:id="rId1280"/>
    <p:sldId id="1529" r:id="rId1281"/>
    <p:sldId id="1530" r:id="rId1282"/>
    <p:sldId id="1532" r:id="rId1284"/>
    <p:sldId id="1534" r:id="rId1286"/>
    <p:sldId id="1535" r:id="rId1287"/>
    <p:sldId id="1536" r:id="rId1288"/>
    <p:sldId id="1537" r:id="rId1289"/>
    <p:sldId id="1538" r:id="rId1290"/>
    <p:sldId id="1539" r:id="rId1291"/>
    <p:sldId id="1540" r:id="rId1292"/>
    <p:sldId id="1542" r:id="rId1294"/>
    <p:sldId id="1544" r:id="rId1296"/>
    <p:sldId id="1545" r:id="rId1297"/>
    <p:sldId id="1546" r:id="rId1298"/>
    <p:sldId id="1547" r:id="rId1299"/>
    <p:sldId id="1548" r:id="rId1300"/>
    <p:sldId id="1549" r:id="rId1301"/>
    <p:sldId id="1550" r:id="rId1302"/>
    <p:sldId id="1551" r:id="rId1303"/>
    <p:sldId id="1552" r:id="rId1304"/>
    <p:sldId id="1553" r:id="rId1305"/>
    <p:sldId id="1554" r:id="rId1306"/>
    <p:sldId id="1555" r:id="rId1307"/>
    <p:sldId id="1556" r:id="rId1308"/>
    <p:sldId id="1557" r:id="rId1309"/>
    <p:sldId id="1558" r:id="rId1310"/>
    <p:sldId id="1559" r:id="rId1311"/>
    <p:sldId id="1560" r:id="rId1312"/>
    <p:sldId id="1562" r:id="rId1314"/>
    <p:sldId id="1564" r:id="rId1316"/>
    <p:sldId id="1565" r:id="rId1317"/>
    <p:sldId id="1566" r:id="rId1318"/>
    <p:sldId id="1567" r:id="rId1319"/>
    <p:sldId id="1568" r:id="rId1320"/>
    <p:sldId id="1569" r:id="rId1321"/>
    <p:sldId id="1570" r:id="rId1322"/>
    <p:sldId id="1572" r:id="rId1324"/>
    <p:sldId id="1574" r:id="rId1326"/>
    <p:sldId id="1575" r:id="rId1327"/>
    <p:sldId id="1576" r:id="rId1328"/>
    <p:sldId id="1577" r:id="rId1329"/>
    <p:sldId id="1578" r:id="rId1330"/>
    <p:sldId id="1579" r:id="rId1331"/>
    <p:sldId id="1580" r:id="rId1332"/>
    <p:sldId id="1581" r:id="rId1333"/>
    <p:sldId id="1582" r:id="rId1334"/>
    <p:sldId id="1583" r:id="rId1335"/>
    <p:sldId id="1584" r:id="rId1336"/>
    <p:sldId id="1585" r:id="rId1337"/>
    <p:sldId id="1586" r:id="rId1338"/>
    <p:sldId id="1587" r:id="rId1339"/>
    <p:sldId id="1588" r:id="rId1340"/>
    <p:sldId id="1589" r:id="rId1341"/>
    <p:sldId id="1590" r:id="rId1342"/>
    <p:sldId id="1592" r:id="rId1344"/>
    <p:sldId id="1594" r:id="rId1346"/>
    <p:sldId id="1595" r:id="rId1347"/>
    <p:sldId id="1596" r:id="rId1348"/>
    <p:sldId id="1597" r:id="rId1349"/>
    <p:sldId id="1598" r:id="rId1350"/>
    <p:sldId id="1599" r:id="rId1351"/>
    <p:sldId id="1600" r:id="rId1352"/>
    <p:sldId id="1602" r:id="rId1354"/>
    <p:sldId id="1604" r:id="rId1356"/>
    <p:sldId id="1605" r:id="rId1357"/>
    <p:sldId id="1606" r:id="rId1358"/>
    <p:sldId id="1607" r:id="rId1359"/>
    <p:sldId id="1608" r:id="rId1360"/>
    <p:sldId id="1609" r:id="rId1361"/>
    <p:sldId id="1610" r:id="rId1362"/>
    <p:sldId id="1611" r:id="rId1363"/>
    <p:sldId id="1612" r:id="rId1364"/>
    <p:sldId id="1613" r:id="rId1365"/>
    <p:sldId id="1614" r:id="rId1366"/>
    <p:sldId id="1615" r:id="rId1367"/>
    <p:sldId id="1616" r:id="rId1368"/>
    <p:sldId id="1617" r:id="rId1369"/>
    <p:sldId id="1618" r:id="rId1370"/>
    <p:sldId id="1619" r:id="rId1371"/>
    <p:sldId id="1620" r:id="rId1372"/>
    <p:sldId id="1622" r:id="rId1374"/>
    <p:sldId id="1624" r:id="rId1376"/>
    <p:sldId id="1625" r:id="rId1377"/>
    <p:sldId id="1626" r:id="rId1378"/>
    <p:sldId id="1627" r:id="rId1379"/>
    <p:sldId id="1628" r:id="rId1380"/>
    <p:sldId id="1629" r:id="rId1381"/>
    <p:sldId id="1630" r:id="rId1382"/>
    <p:sldId id="1632" r:id="rId1384"/>
    <p:sldId id="1634" r:id="rId1386"/>
    <p:sldId id="1635" r:id="rId1387"/>
    <p:sldId id="1636" r:id="rId1388"/>
    <p:sldId id="1637" r:id="rId1389"/>
    <p:sldId id="1638" r:id="rId1390"/>
    <p:sldId id="1639" r:id="rId1391"/>
    <p:sldId id="1640" r:id="rId1392"/>
    <p:sldId id="1641" r:id="rId1393"/>
    <p:sldId id="1642" r:id="rId1394"/>
    <p:sldId id="1643" r:id="rId1395"/>
    <p:sldId id="1644" r:id="rId1396"/>
    <p:sldId id="1645" r:id="rId1397"/>
    <p:sldId id="1646" r:id="rId1398"/>
    <p:sldId id="1647" r:id="rId1399"/>
    <p:sldId id="1648" r:id="rId1400"/>
    <p:sldId id="1649" r:id="rId1401"/>
    <p:sldId id="1650" r:id="rId1402"/>
    <p:sldId id="1652" r:id="rId1404"/>
    <p:sldId id="1654" r:id="rId1406"/>
    <p:sldId id="1655" r:id="rId1407"/>
    <p:sldId id="1656" r:id="rId1408"/>
    <p:sldId id="1657" r:id="rId1409"/>
    <p:sldId id="1658" r:id="rId1410"/>
    <p:sldId id="1659" r:id="rId1411"/>
    <p:sldId id="1660" r:id="rId1412"/>
    <p:sldId id="1662" r:id="rId1414"/>
    <p:sldId id="1664" r:id="rId1416"/>
    <p:sldId id="1665" r:id="rId1417"/>
    <p:sldId id="1666" r:id="rId1418"/>
    <p:sldId id="1667" r:id="rId1419"/>
    <p:sldId id="1668" r:id="rId1420"/>
    <p:sldId id="1669" r:id="rId1421"/>
    <p:sldId id="1670" r:id="rId1422"/>
    <p:sldId id="1671" r:id="rId1423"/>
    <p:sldId id="1672" r:id="rId1424"/>
    <p:sldId id="1673" r:id="rId1425"/>
    <p:sldId id="1674" r:id="rId1426"/>
    <p:sldId id="1675" r:id="rId1427"/>
    <p:sldId id="1676" r:id="rId1428"/>
    <p:sldId id="1677" r:id="rId1429"/>
    <p:sldId id="1678" r:id="rId1430"/>
    <p:sldId id="1679" r:id="rId1431"/>
    <p:sldId id="1680" r:id="rId1432"/>
    <p:sldId id="1682" r:id="rId1434"/>
    <p:sldId id="1684" r:id="rId1436"/>
    <p:sldId id="1685" r:id="rId1437"/>
    <p:sldId id="1686" r:id="rId1438"/>
    <p:sldId id="1687" r:id="rId1439"/>
    <p:sldId id="1688" r:id="rId1440"/>
    <p:sldId id="1689" r:id="rId1441"/>
    <p:sldId id="1690" r:id="rId1442"/>
    <p:sldId id="1692" r:id="rId1444"/>
    <p:sldId id="1694" r:id="rId1446"/>
    <p:sldId id="1695" r:id="rId1447"/>
    <p:sldId id="1696" r:id="rId1448"/>
    <p:sldId id="1697" r:id="rId1449"/>
    <p:sldId id="1698" r:id="rId1450"/>
    <p:sldId id="1699" r:id="rId1451"/>
    <p:sldId id="1700" r:id="rId1452"/>
    <p:sldId id="1701" r:id="rId1453"/>
    <p:sldId id="1702" r:id="rId1454"/>
    <p:sldId id="1703" r:id="rId1455"/>
    <p:sldId id="1704" r:id="rId1456"/>
    <p:sldId id="1705" r:id="rId1457"/>
    <p:sldId id="1706" r:id="rId1458"/>
    <p:sldId id="1707" r:id="rId1459"/>
    <p:sldId id="1708" r:id="rId1460"/>
    <p:sldId id="1709" r:id="rId1461"/>
    <p:sldId id="1710" r:id="rId1462"/>
    <p:sldId id="1712" r:id="rId1464"/>
    <p:sldId id="1714" r:id="rId1466"/>
    <p:sldId id="1715" r:id="rId1467"/>
    <p:sldId id="1716" r:id="rId1468"/>
    <p:sldId id="1717" r:id="rId1469"/>
    <p:sldId id="1718" r:id="rId1470"/>
    <p:sldId id="1719" r:id="rId1471"/>
    <p:sldId id="1720" r:id="rId1472"/>
    <p:sldId id="1722" r:id="rId1474"/>
    <p:sldId id="1724" r:id="rId1476"/>
    <p:sldId id="1725" r:id="rId1477"/>
    <p:sldId id="1726" r:id="rId1478"/>
    <p:sldId id="1727" r:id="rId1479"/>
    <p:sldId id="1728" r:id="rId1480"/>
    <p:sldId id="1729" r:id="rId1481"/>
    <p:sldId id="1730" r:id="rId1482"/>
    <p:sldId id="1731" r:id="rId1483"/>
    <p:sldId id="1732" r:id="rId1484"/>
    <p:sldId id="1733" r:id="rId1485"/>
    <p:sldId id="1734" r:id="rId1486"/>
    <p:sldId id="1735" r:id="rId1487"/>
    <p:sldId id="1736" r:id="rId1488"/>
    <p:sldId id="1737" r:id="rId1489"/>
    <p:sldId id="1738" r:id="rId1490"/>
    <p:sldId id="1739" r:id="rId1491"/>
    <p:sldId id="1740" r:id="rId1492"/>
    <p:sldId id="1742" r:id="rId1494"/>
    <p:sldId id="1744" r:id="rId1496"/>
    <p:sldId id="1745" r:id="rId1497"/>
    <p:sldId id="1746" r:id="rId1498"/>
    <p:sldId id="1747" r:id="rId1499"/>
    <p:sldId id="1748" r:id="rId1500"/>
    <p:sldId id="1749" r:id="rId1501"/>
    <p:sldId id="1750" r:id="rId1502"/>
    <p:sldId id="1752" r:id="rId1504"/>
    <p:sldId id="1754" r:id="rId1506"/>
    <p:sldId id="1755" r:id="rId1507"/>
    <p:sldId id="1756" r:id="rId1508"/>
    <p:sldId id="1757" r:id="rId1509"/>
    <p:sldId id="1758" r:id="rId1510"/>
    <p:sldId id="1759" r:id="rId1511"/>
    <p:sldId id="1760" r:id="rId1512"/>
    <p:sldId id="1761" r:id="rId1513"/>
    <p:sldId id="1762" r:id="rId1514"/>
    <p:sldId id="1763" r:id="rId1515"/>
    <p:sldId id="1764" r:id="rId1516"/>
    <p:sldId id="1765" r:id="rId1517"/>
    <p:sldId id="1766" r:id="rId1518"/>
    <p:sldId id="1767" r:id="rId1519"/>
    <p:sldId id="1768" r:id="rId1520"/>
    <p:sldId id="1769" r:id="rId1521"/>
    <p:sldId id="1770" r:id="rId1522"/>
    <p:sldId id="1772" r:id="rId1524"/>
    <p:sldId id="1774" r:id="rId1526"/>
    <p:sldId id="1775" r:id="rId1527"/>
    <p:sldId id="1776" r:id="rId1528"/>
    <p:sldId id="1777" r:id="rId1529"/>
    <p:sldId id="1778" r:id="rId1530"/>
    <p:sldId id="1779" r:id="rId1531"/>
    <p:sldId id="1780" r:id="rId1532"/>
    <p:sldId id="1782" r:id="rId1534"/>
    <p:sldId id="1784" r:id="rId1536"/>
    <p:sldId id="1785" r:id="rId1537"/>
    <p:sldId id="1786" r:id="rId1538"/>
    <p:sldId id="1787" r:id="rId1539"/>
    <p:sldId id="1788" r:id="rId1540"/>
    <p:sldId id="1789" r:id="rId1541"/>
    <p:sldId id="1790" r:id="rId1542"/>
    <p:sldId id="1791" r:id="rId1543"/>
    <p:sldId id="1792" r:id="rId1544"/>
    <p:sldId id="1793" r:id="rId1545"/>
    <p:sldId id="1794" r:id="rId1546"/>
    <p:sldId id="1795" r:id="rId1547"/>
    <p:sldId id="1796" r:id="rId1548"/>
    <p:sldId id="1797" r:id="rId1549"/>
    <p:sldId id="1798" r:id="rId1550"/>
    <p:sldId id="1799" r:id="rId1551"/>
    <p:sldId id="1800" r:id="rId1552"/>
    <p:sldId id="1802" r:id="rId1554"/>
    <p:sldId id="1804" r:id="rId1556"/>
    <p:sldId id="1805" r:id="rId1557"/>
    <p:sldId id="1806" r:id="rId1558"/>
    <p:sldId id="1807" r:id="rId1559"/>
    <p:sldId id="1808" r:id="rId1560"/>
    <p:sldId id="1809" r:id="rId1561"/>
    <p:sldId id="1810" r:id="rId1562"/>
    <p:sldId id="1812" r:id="rId1564"/>
    <p:sldId id="1814" r:id="rId1566"/>
    <p:sldId id="1815" r:id="rId1567"/>
    <p:sldId id="1816" r:id="rId1568"/>
    <p:sldId id="1817" r:id="rId1569"/>
    <p:sldId id="1818" r:id="rId1570"/>
    <p:sldId id="1819" r:id="rId1571"/>
    <p:sldId id="1820" r:id="rId1572"/>
    <p:sldId id="1821" r:id="rId1573"/>
    <p:sldId id="1822" r:id="rId1574"/>
    <p:sldId id="1823" r:id="rId1575"/>
    <p:sldId id="1824" r:id="rId1576"/>
    <p:sldId id="1825" r:id="rId1577"/>
    <p:sldId id="1826" r:id="rId1578"/>
    <p:sldId id="1827" r:id="rId1579"/>
    <p:sldId id="1828" r:id="rId1580"/>
    <p:sldId id="1829" r:id="rId1581"/>
    <p:sldId id="1830" r:id="rId1582"/>
    <p:sldId id="1832" r:id="rId1584"/>
    <p:sldId id="1834" r:id="rId1586"/>
    <p:sldId id="1835" r:id="rId1587"/>
    <p:sldId id="1836" r:id="rId1588"/>
    <p:sldId id="1837" r:id="rId1589"/>
    <p:sldId id="1838" r:id="rId1590"/>
    <p:sldId id="1839" r:id="rId1591"/>
    <p:sldId id="1840" r:id="rId1592"/>
    <p:sldId id="1842" r:id="rId1594"/>
    <p:sldId id="1844" r:id="rId1596"/>
    <p:sldId id="1845" r:id="rId1597"/>
    <p:sldId id="1846" r:id="rId1598"/>
    <p:sldId id="1847" r:id="rId1599"/>
    <p:sldId id="1848" r:id="rId1600"/>
    <p:sldId id="1849" r:id="rId1601"/>
    <p:sldId id="1850" r:id="rId1602"/>
    <p:sldId id="1851" r:id="rId1603"/>
    <p:sldId id="1852" r:id="rId1604"/>
    <p:sldId id="1853" r:id="rId1605"/>
    <p:sldId id="1854" r:id="rId1606"/>
    <p:sldId id="1855" r:id="rId1607"/>
    <p:sldId id="1856" r:id="rId1608"/>
    <p:sldId id="1857" r:id="rId1609"/>
    <p:sldId id="1858" r:id="rId1610"/>
    <p:sldId id="1859" r:id="rId1611"/>
    <p:sldId id="1860" r:id="rId1612"/>
    <p:sldId id="1862" r:id="rId1614"/>
    <p:sldId id="1864" r:id="rId1616"/>
    <p:sldId id="1865" r:id="rId1617"/>
    <p:sldId id="1866" r:id="rId1618"/>
    <p:sldId id="1867" r:id="rId1619"/>
    <p:sldId id="1868" r:id="rId1620"/>
    <p:sldId id="1869" r:id="rId1621"/>
    <p:sldId id="1870" r:id="rId1622"/>
    <p:sldId id="1872" r:id="rId1624"/>
    <p:sldId id="1874" r:id="rId1626"/>
    <p:sldId id="1875" r:id="rId1627"/>
    <p:sldId id="1876" r:id="rId1628"/>
    <p:sldId id="1877" r:id="rId1629"/>
    <p:sldId id="1878" r:id="rId1630"/>
    <p:sldId id="1879" r:id="rId1631"/>
    <p:sldId id="1880" r:id="rId1632"/>
    <p:sldId id="1881" r:id="rId1633"/>
    <p:sldId id="1882" r:id="rId1634"/>
    <p:sldId id="1883" r:id="rId1635"/>
    <p:sldId id="1884" r:id="rId1636"/>
    <p:sldId id="1885" r:id="rId1637"/>
    <p:sldId id="1886" r:id="rId1638"/>
    <p:sldId id="1887" r:id="rId1639"/>
    <p:sldId id="1888" r:id="rId1640"/>
    <p:sldId id="1889" r:id="rId1641"/>
    <p:sldId id="1890" r:id="rId1642"/>
    <p:sldId id="1892" r:id="rId1644"/>
    <p:sldId id="1894" r:id="rId1646"/>
    <p:sldId id="1895" r:id="rId1647"/>
    <p:sldId id="1896" r:id="rId1648"/>
    <p:sldId id="1897" r:id="rId1649"/>
    <p:sldId id="1898" r:id="rId1650"/>
    <p:sldId id="1899" r:id="rId1651"/>
    <p:sldId id="1900" r:id="rId1652"/>
    <p:sldId id="1902" r:id="rId1654"/>
    <p:sldId id="1904" r:id="rId1656"/>
    <p:sldId id="1905" r:id="rId1657"/>
    <p:sldId id="1906" r:id="rId1658"/>
    <p:sldId id="1907" r:id="rId1659"/>
    <p:sldId id="1908" r:id="rId1660"/>
    <p:sldId id="1909" r:id="rId1661"/>
    <p:sldId id="1910" r:id="rId1662"/>
    <p:sldId id="1911" r:id="rId1663"/>
    <p:sldId id="1912" r:id="rId1664"/>
    <p:sldId id="1913" r:id="rId1665"/>
    <p:sldId id="1914" r:id="rId1666"/>
    <p:sldId id="1915" r:id="rId1667"/>
    <p:sldId id="1916" r:id="rId1668"/>
    <p:sldId id="1917" r:id="rId1669"/>
    <p:sldId id="1918" r:id="rId1670"/>
    <p:sldId id="1919" r:id="rId1671"/>
    <p:sldId id="1920" r:id="rId1672"/>
    <p:sldId id="1922" r:id="rId1674"/>
    <p:sldId id="1924" r:id="rId1676"/>
    <p:sldId id="1925" r:id="rId1677"/>
    <p:sldId id="1926" r:id="rId1678"/>
    <p:sldId id="1927" r:id="rId1679"/>
    <p:sldId id="1928" r:id="rId1680"/>
    <p:sldId id="1929" r:id="rId1681"/>
    <p:sldId id="1930" r:id="rId1682"/>
    <p:sldId id="1932" r:id="rId1684"/>
    <p:sldId id="1934" r:id="rId1686"/>
    <p:sldId id="1935" r:id="rId1687"/>
    <p:sldId id="1936" r:id="rId1688"/>
    <p:sldId id="1937" r:id="rId1689"/>
    <p:sldId id="1938" r:id="rId1690"/>
    <p:sldId id="1939" r:id="rId1691"/>
    <p:sldId id="1940" r:id="rId1692"/>
    <p:sldId id="1941" r:id="rId1693"/>
    <p:sldId id="1942" r:id="rId1694"/>
    <p:sldId id="1943" r:id="rId1695"/>
    <p:sldId id="1944" r:id="rId1696"/>
    <p:sldId id="1945" r:id="rId1697"/>
    <p:sldId id="1946" r:id="rId1698"/>
    <p:sldId id="1947" r:id="rId1699"/>
    <p:sldId id="1948" r:id="rId1700"/>
    <p:sldId id="1949" r:id="rId1701"/>
    <p:sldId id="1950" r:id="rId1702"/>
    <p:sldId id="1952" r:id="rId1704"/>
    <p:sldId id="1954" r:id="rId1706"/>
    <p:sldId id="1955" r:id="rId1707"/>
    <p:sldId id="1956" r:id="rId1708"/>
    <p:sldId id="1957" r:id="rId1709"/>
    <p:sldId id="1958" r:id="rId1710"/>
    <p:sldId id="1959" r:id="rId1711"/>
    <p:sldId id="1960" r:id="rId1712"/>
    <p:sldId id="1962" r:id="rId1714"/>
    <p:sldId id="1964" r:id="rId1716"/>
    <p:sldId id="1965" r:id="rId1717"/>
    <p:sldId id="1966" r:id="rId1718"/>
    <p:sldId id="1967" r:id="rId1719"/>
    <p:sldId id="1968" r:id="rId1720"/>
    <p:sldId id="1969" r:id="rId1721"/>
    <p:sldId id="1970" r:id="rId1722"/>
    <p:sldId id="1971" r:id="rId1723"/>
    <p:sldId id="1972" r:id="rId1724"/>
    <p:sldId id="1973" r:id="rId1725"/>
    <p:sldId id="1974" r:id="rId1726"/>
    <p:sldId id="1975" r:id="rId1727"/>
    <p:sldId id="1976" r:id="rId1728"/>
    <p:sldId id="1977" r:id="rId1729"/>
    <p:sldId id="1978" r:id="rId1730"/>
    <p:sldId id="1979" r:id="rId1731"/>
    <p:sldId id="1980" r:id="rId1732"/>
    <p:sldId id="1982" r:id="rId1734"/>
    <p:sldId id="1984" r:id="rId1736"/>
    <p:sldId id="1985" r:id="rId1737"/>
    <p:sldId id="1986" r:id="rId1738"/>
    <p:sldId id="1987" r:id="rId1739"/>
    <p:sldId id="1988" r:id="rId1740"/>
    <p:sldId id="1989" r:id="rId1741"/>
    <p:sldId id="1990" r:id="rId1742"/>
    <p:sldId id="1992" r:id="rId1744"/>
    <p:sldId id="1994" r:id="rId1746"/>
    <p:sldId id="1995" r:id="rId1747"/>
    <p:sldId id="1996" r:id="rId1748"/>
    <p:sldId id="1997" r:id="rId1749"/>
    <p:sldId id="1998" r:id="rId1750"/>
    <p:sldId id="1999" r:id="rId1751"/>
    <p:sldId id="2000" r:id="rId1752"/>
    <p:sldId id="2001" r:id="rId1753"/>
    <p:sldId id="2002" r:id="rId1754"/>
    <p:sldId id="2003" r:id="rId1755"/>
    <p:sldId id="2004" r:id="rId1756"/>
    <p:sldId id="2005" r:id="rId1757"/>
    <p:sldId id="2006" r:id="rId1758"/>
    <p:sldId id="2007" r:id="rId1759"/>
    <p:sldId id="2008" r:id="rId1760"/>
    <p:sldId id="2009" r:id="rId1761"/>
    <p:sldId id="2010" r:id="rId1762"/>
    <p:sldId id="2012" r:id="rId1764"/>
    <p:sldId id="2014" r:id="rId1766"/>
    <p:sldId id="2015" r:id="rId1767"/>
    <p:sldId id="2016" r:id="rId1768"/>
    <p:sldId id="2017" r:id="rId1769"/>
    <p:sldId id="2018" r:id="rId1770"/>
    <p:sldId id="2019" r:id="rId1771"/>
    <p:sldId id="2020" r:id="rId1772"/>
    <p:sldId id="2022" r:id="rId1774"/>
    <p:sldId id="2024" r:id="rId1776"/>
    <p:sldId id="2025" r:id="rId1777"/>
    <p:sldId id="2026" r:id="rId1778"/>
    <p:sldId id="2027" r:id="rId1779"/>
    <p:sldId id="2028" r:id="rId1780"/>
    <p:sldId id="2029" r:id="rId1781"/>
    <p:sldId id="2030" r:id="rId1782"/>
    <p:sldId id="2031" r:id="rId1783"/>
    <p:sldId id="2032" r:id="rId1784"/>
    <p:sldId id="2033" r:id="rId1785"/>
    <p:sldId id="2034" r:id="rId1786"/>
    <p:sldId id="2035" r:id="rId1787"/>
    <p:sldId id="2036" r:id="rId1788"/>
    <p:sldId id="2037" r:id="rId1789"/>
    <p:sldId id="2038" r:id="rId1790"/>
    <p:sldId id="2039" r:id="rId1791"/>
    <p:sldId id="2040" r:id="rId1792"/>
    <p:sldId id="2042" r:id="rId1794"/>
    <p:sldId id="2044" r:id="rId1796"/>
    <p:sldId id="2045" r:id="rId1797"/>
    <p:sldId id="2046" r:id="rId1798"/>
    <p:sldId id="2047" r:id="rId1799"/>
    <p:sldId id="2048" r:id="rId1800"/>
    <p:sldId id="2049" r:id="rId1801"/>
    <p:sldId id="2050" r:id="rId1802"/>
    <p:sldId id="2051" r:id="rId1803"/>
    <p:sldId id="2052" r:id="rId1804"/>
    <p:sldId id="2053" r:id="rId1805"/>
    <p:sldId id="2054" r:id="rId1806"/>
    <p:sldId id="2055" r:id="rId1807"/>
    <p:sldId id="2056" r:id="rId1808"/>
    <p:sldId id="2057" r:id="rId1809"/>
    <p:sldId id="2058" r:id="rId1810"/>
    <p:sldId id="2059" r:id="rId1811"/>
    <p:sldId id="2060" r:id="rId1812"/>
    <p:sldId id="2061" r:id="rId1813"/>
    <p:sldId id="2062" r:id="rId1814"/>
    <p:sldId id="2063" r:id="rId1815"/>
    <p:sldId id="2064" r:id="rId1816"/>
    <p:sldId id="2065" r:id="rId1817"/>
    <p:sldId id="2066" r:id="rId1818"/>
    <p:sldId id="2067" r:id="rId1819"/>
    <p:sldId id="2068" r:id="rId1820"/>
    <p:sldId id="2069" r:id="rId1821"/>
    <p:sldId id="2070" r:id="rId1822"/>
    <p:sldId id="2071" r:id="rId1823"/>
    <p:sldId id="2072" r:id="rId1824"/>
    <p:sldId id="2073" r:id="rId1825"/>
    <p:sldId id="2074" r:id="rId1826"/>
    <p:sldId id="2075" r:id="rId1827"/>
    <p:sldId id="2076" r:id="rId1828"/>
    <p:sldId id="2077" r:id="rId1829"/>
    <p:sldId id="2078" r:id="rId1830"/>
    <p:sldId id="2079" r:id="rId1831"/>
    <p:sldId id="2080" r:id="rId1832"/>
    <p:sldId id="2081" r:id="rId1833"/>
    <p:sldId id="2082" r:id="rId1834"/>
    <p:sldId id="2083" r:id="rId1835"/>
    <p:sldId id="2084" r:id="rId1836"/>
    <p:sldId id="2085" r:id="rId1837"/>
    <p:sldId id="2086" r:id="rId1838"/>
    <p:sldId id="2087" r:id="rId1839"/>
    <p:sldId id="2088" r:id="rId1840"/>
    <p:sldId id="2089" r:id="rId1841"/>
    <p:sldId id="2090" r:id="rId1842"/>
    <p:sldId id="2091" r:id="rId1843"/>
    <p:sldId id="2092" r:id="rId1844"/>
    <p:sldId id="2093" r:id="rId1845"/>
    <p:sldId id="2094" r:id="rId1846"/>
    <p:sldId id="2095" r:id="rId1847"/>
    <p:sldId id="2096" r:id="rId1848"/>
    <p:sldId id="2097" r:id="rId1849"/>
    <p:sldId id="2098" r:id="rId1850"/>
    <p:sldId id="2099" r:id="rId1851"/>
    <p:sldId id="2100" r:id="rId1852"/>
    <p:sldId id="2101" r:id="rId1853"/>
    <p:sldId id="2102" r:id="rId1854"/>
    <p:sldId id="2103" r:id="rId1855"/>
    <p:sldId id="2104" r:id="rId1856"/>
    <p:sldId id="2105" r:id="rId1857"/>
    <p:sldId id="2106" r:id="rId1858"/>
    <p:sldId id="2107" r:id="rId1859"/>
    <p:sldId id="2108" r:id="rId1860"/>
  </p:sldIdLst>
  <p:sldSz cx="12192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notesMaster" Target="notesMasters/notesMaster1.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26.xml"/><Relationship Id="rId18" Type="http://schemas.openxmlformats.org/officeDocument/2006/relationships/slide" Target="slides/slide27.xml"/><Relationship Id="rId19" Type="http://schemas.openxmlformats.org/officeDocument/2006/relationships/slide" Target="slides/slide28.xml"/><Relationship Id="rId20" Type="http://schemas.openxmlformats.org/officeDocument/2006/relationships/slide" Target="slides/slide29.xml"/><Relationship Id="rId21" Type="http://schemas.openxmlformats.org/officeDocument/2006/relationships/slide" Target="slides/slide30.xml"/><Relationship Id="rId22" Type="http://schemas.openxmlformats.org/officeDocument/2006/relationships/slide" Target="slides/slide31.xml"/><Relationship Id="rId23" Type="http://schemas.openxmlformats.org/officeDocument/2006/relationships/slide" Target="slides/slide32.xml"/><Relationship Id="rId24" Type="http://schemas.openxmlformats.org/officeDocument/2006/relationships/slide" Target="slides/slide33.xml"/><Relationship Id="rId25" Type="http://schemas.openxmlformats.org/officeDocument/2006/relationships/slide" Target="slides/slide34.xml"/><Relationship Id="rId26" Type="http://schemas.openxmlformats.org/officeDocument/2006/relationships/slide" Target="slides/slide35.xml"/><Relationship Id="rId27" Type="http://schemas.openxmlformats.org/officeDocument/2006/relationships/slide" Target="slides/slide36.xml"/><Relationship Id="rId28" Type="http://schemas.openxmlformats.org/officeDocument/2006/relationships/slide" Target="slides/slide37.xml"/><Relationship Id="rId29" Type="http://schemas.openxmlformats.org/officeDocument/2006/relationships/slide" Target="slides/slide38.xml"/><Relationship Id="rId30" Type="http://schemas.openxmlformats.org/officeDocument/2006/relationships/slide" Target="slides/slide39.xml"/><Relationship Id="rId31" Type="http://schemas.openxmlformats.org/officeDocument/2006/relationships/slide" Target="slides/slide40.xml"/><Relationship Id="rId32" Type="http://schemas.openxmlformats.org/officeDocument/2006/relationships/slide" Target="slides/slide41.xml"/><Relationship Id="rId33" Type="http://schemas.openxmlformats.org/officeDocument/2006/relationships/slide" Target="slides/slide42.xml"/><Relationship Id="rId34" Type="http://schemas.openxmlformats.org/officeDocument/2006/relationships/slide" Target="slides/slide43.xml"/><Relationship Id="rId35" Type="http://schemas.openxmlformats.org/officeDocument/2006/relationships/slide" Target="slides/slide44.xml"/><Relationship Id="rId36" Type="http://schemas.openxmlformats.org/officeDocument/2006/relationships/slide" Target="slides/slide45.xml"/><Relationship Id="rId37" Type="http://schemas.openxmlformats.org/officeDocument/2006/relationships/slide" Target="slides/slide46.xml"/><Relationship Id="rId38" Type="http://schemas.openxmlformats.org/officeDocument/2006/relationships/slide" Target="slides/slide47.xml"/><Relationship Id="rId39" Type="http://schemas.openxmlformats.org/officeDocument/2006/relationships/slide" Target="slides/slide48.xml"/><Relationship Id="rId40" Type="http://schemas.openxmlformats.org/officeDocument/2006/relationships/slide" Target="slides/slide49.xml"/><Relationship Id="rId41" Type="http://schemas.openxmlformats.org/officeDocument/2006/relationships/slide" Target="slides/slide50.xml"/><Relationship Id="rId42" Type="http://schemas.openxmlformats.org/officeDocument/2006/relationships/slide" Target="slides/slide51.xml"/><Relationship Id="rId43" Type="http://schemas.openxmlformats.org/officeDocument/2006/relationships/slide" Target="slides/slide52.xml"/><Relationship Id="rId45" Type="http://schemas.openxmlformats.org/officeDocument/2006/relationships/slide" Target="slides/slide54.xml"/><Relationship Id="rId46" Type="http://schemas.openxmlformats.org/officeDocument/2006/relationships/slide" Target="slides/slide55.xml"/><Relationship Id="rId49" Type="http://schemas.openxmlformats.org/officeDocument/2006/relationships/slide" Target="slides/slide58.xml"/><Relationship Id="rId50" Type="http://schemas.openxmlformats.org/officeDocument/2006/relationships/slide" Target="slides/slide59.xml"/><Relationship Id="rId51" Type="http://schemas.openxmlformats.org/officeDocument/2006/relationships/slide" Target="slides/slide60.xml"/><Relationship Id="rId52" Type="http://schemas.openxmlformats.org/officeDocument/2006/relationships/slide" Target="slides/slide61.xml"/><Relationship Id="rId53" Type="http://schemas.openxmlformats.org/officeDocument/2006/relationships/slide" Target="slides/slide62.xml"/><Relationship Id="rId54" Type="http://schemas.openxmlformats.org/officeDocument/2006/relationships/slide" Target="slides/slide63.xml"/><Relationship Id="rId55" Type="http://schemas.openxmlformats.org/officeDocument/2006/relationships/slide" Target="slides/slide64.xml"/><Relationship Id="rId57" Type="http://schemas.openxmlformats.org/officeDocument/2006/relationships/slide" Target="slides/slide66.xml"/><Relationship Id="rId58" Type="http://schemas.openxmlformats.org/officeDocument/2006/relationships/slide" Target="slides/slide67.xml"/><Relationship Id="rId60" Type="http://schemas.openxmlformats.org/officeDocument/2006/relationships/slide" Target="slides/slide69.xml"/><Relationship Id="rId61" Type="http://schemas.openxmlformats.org/officeDocument/2006/relationships/slide" Target="slides/slide70.xml"/><Relationship Id="rId62" Type="http://schemas.openxmlformats.org/officeDocument/2006/relationships/slide" Target="slides/slide71.xml"/><Relationship Id="rId63" Type="http://schemas.openxmlformats.org/officeDocument/2006/relationships/slide" Target="slides/slide72.xml"/><Relationship Id="rId64" Type="http://schemas.openxmlformats.org/officeDocument/2006/relationships/slide" Target="slides/slide73.xml"/><Relationship Id="rId66" Type="http://schemas.openxmlformats.org/officeDocument/2006/relationships/slide" Target="slides/slide75.xml"/><Relationship Id="rId67" Type="http://schemas.openxmlformats.org/officeDocument/2006/relationships/slide" Target="slides/slide76.xml"/><Relationship Id="rId69" Type="http://schemas.openxmlformats.org/officeDocument/2006/relationships/slide" Target="slides/slide78.xml"/><Relationship Id="rId70" Type="http://schemas.openxmlformats.org/officeDocument/2006/relationships/slide" Target="slides/slide79.xml"/><Relationship Id="rId71" Type="http://schemas.openxmlformats.org/officeDocument/2006/relationships/slide" Target="slides/slide80.xml"/><Relationship Id="rId72" Type="http://schemas.openxmlformats.org/officeDocument/2006/relationships/slide" Target="slides/slide81.xml"/><Relationship Id="rId73" Type="http://schemas.openxmlformats.org/officeDocument/2006/relationships/slide" Target="slides/slide82.xml"/><Relationship Id="rId74" Type="http://schemas.openxmlformats.org/officeDocument/2006/relationships/slide" Target="slides/slide83.xml"/><Relationship Id="rId75" Type="http://schemas.openxmlformats.org/officeDocument/2006/relationships/slide" Target="slides/slide84.xml"/><Relationship Id="rId77" Type="http://schemas.openxmlformats.org/officeDocument/2006/relationships/slide" Target="slides/slide86.xml"/><Relationship Id="rId78" Type="http://schemas.openxmlformats.org/officeDocument/2006/relationships/slide" Target="slides/slide87.xml"/><Relationship Id="rId80" Type="http://schemas.openxmlformats.org/officeDocument/2006/relationships/slide" Target="slides/slide89.xml"/><Relationship Id="rId81" Type="http://schemas.openxmlformats.org/officeDocument/2006/relationships/slide" Target="slides/slide90.xml"/><Relationship Id="rId82" Type="http://schemas.openxmlformats.org/officeDocument/2006/relationships/slide" Target="slides/slide91.xml"/><Relationship Id="rId83" Type="http://schemas.openxmlformats.org/officeDocument/2006/relationships/slide" Target="slides/slide92.xml"/><Relationship Id="rId84" Type="http://schemas.openxmlformats.org/officeDocument/2006/relationships/slide" Target="slides/slide93.xml"/><Relationship Id="rId85" Type="http://schemas.openxmlformats.org/officeDocument/2006/relationships/slide" Target="slides/slide94.xml"/><Relationship Id="rId87" Type="http://schemas.openxmlformats.org/officeDocument/2006/relationships/slide" Target="slides/slide96.xml"/><Relationship Id="rId88" Type="http://schemas.openxmlformats.org/officeDocument/2006/relationships/slide" Target="slides/slide97.xml"/><Relationship Id="rId90" Type="http://schemas.openxmlformats.org/officeDocument/2006/relationships/slide" Target="slides/slide99.xml"/><Relationship Id="rId91" Type="http://schemas.openxmlformats.org/officeDocument/2006/relationships/slide" Target="slides/slide100.xml"/><Relationship Id="rId92" Type="http://schemas.openxmlformats.org/officeDocument/2006/relationships/slide" Target="slides/slide101.xml"/><Relationship Id="rId93" Type="http://schemas.openxmlformats.org/officeDocument/2006/relationships/slide" Target="slides/slide102.xml"/><Relationship Id="rId94" Type="http://schemas.openxmlformats.org/officeDocument/2006/relationships/slide" Target="slides/slide103.xml"/><Relationship Id="rId95" Type="http://schemas.openxmlformats.org/officeDocument/2006/relationships/slide" Target="slides/slide104.xml"/><Relationship Id="rId97" Type="http://schemas.openxmlformats.org/officeDocument/2006/relationships/slide" Target="slides/slide106.xml"/><Relationship Id="rId98" Type="http://schemas.openxmlformats.org/officeDocument/2006/relationships/slide" Target="slides/slide107.xml"/><Relationship Id="rId100" Type="http://schemas.openxmlformats.org/officeDocument/2006/relationships/slide" Target="slides/slide109.xml"/><Relationship Id="rId101" Type="http://schemas.openxmlformats.org/officeDocument/2006/relationships/slide" Target="slides/slide110.xml"/><Relationship Id="rId102" Type="http://schemas.openxmlformats.org/officeDocument/2006/relationships/slide" Target="slides/slide111.xml"/><Relationship Id="rId103" Type="http://schemas.openxmlformats.org/officeDocument/2006/relationships/slide" Target="slides/slide112.xml"/><Relationship Id="rId104" Type="http://schemas.openxmlformats.org/officeDocument/2006/relationships/slide" Target="slides/slide113.xml"/><Relationship Id="rId106" Type="http://schemas.openxmlformats.org/officeDocument/2006/relationships/slide" Target="slides/slide115.xml"/><Relationship Id="rId107" Type="http://schemas.openxmlformats.org/officeDocument/2006/relationships/slide" Target="slides/slide116.xml"/><Relationship Id="rId110" Type="http://schemas.openxmlformats.org/officeDocument/2006/relationships/slide" Target="slides/slide119.xml"/><Relationship Id="rId111" Type="http://schemas.openxmlformats.org/officeDocument/2006/relationships/slide" Target="slides/slide120.xml"/><Relationship Id="rId112" Type="http://schemas.openxmlformats.org/officeDocument/2006/relationships/slide" Target="slides/slide121.xml"/><Relationship Id="rId113" Type="http://schemas.openxmlformats.org/officeDocument/2006/relationships/slide" Target="slides/slide122.xml"/><Relationship Id="rId114" Type="http://schemas.openxmlformats.org/officeDocument/2006/relationships/slide" Target="slides/slide123.xml"/><Relationship Id="rId115" Type="http://schemas.openxmlformats.org/officeDocument/2006/relationships/slide" Target="slides/slide124.xml"/><Relationship Id="rId116" Type="http://schemas.openxmlformats.org/officeDocument/2006/relationships/slide" Target="slides/slide125.xml"/><Relationship Id="rId117" Type="http://schemas.openxmlformats.org/officeDocument/2006/relationships/slide" Target="slides/slide126.xml"/><Relationship Id="rId118" Type="http://schemas.openxmlformats.org/officeDocument/2006/relationships/slide" Target="slides/slide127.xml"/><Relationship Id="rId119" Type="http://schemas.openxmlformats.org/officeDocument/2006/relationships/slide" Target="slides/slide128.xml"/><Relationship Id="rId120" Type="http://schemas.openxmlformats.org/officeDocument/2006/relationships/slide" Target="slides/slide129.xml"/><Relationship Id="rId121" Type="http://schemas.openxmlformats.org/officeDocument/2006/relationships/slide" Target="slides/slide130.xml"/><Relationship Id="rId122" Type="http://schemas.openxmlformats.org/officeDocument/2006/relationships/slide" Target="slides/slide131.xml"/><Relationship Id="rId123" Type="http://schemas.openxmlformats.org/officeDocument/2006/relationships/slide" Target="slides/slide132.xml"/><Relationship Id="rId124" Type="http://schemas.openxmlformats.org/officeDocument/2006/relationships/slide" Target="slides/slide133.xml"/><Relationship Id="rId125" Type="http://schemas.openxmlformats.org/officeDocument/2006/relationships/slide" Target="slides/slide134.xml"/><Relationship Id="rId126" Type="http://schemas.openxmlformats.org/officeDocument/2006/relationships/slide" Target="slides/slide135.xml"/><Relationship Id="rId127" Type="http://schemas.openxmlformats.org/officeDocument/2006/relationships/slide" Target="slides/slide136.xml"/><Relationship Id="rId128" Type="http://schemas.openxmlformats.org/officeDocument/2006/relationships/slide" Target="slides/slide137.xml"/><Relationship Id="rId129" Type="http://schemas.openxmlformats.org/officeDocument/2006/relationships/slide" Target="slides/slide138.xml"/><Relationship Id="rId130" Type="http://schemas.openxmlformats.org/officeDocument/2006/relationships/slide" Target="slides/slide139.xml"/><Relationship Id="rId131" Type="http://schemas.openxmlformats.org/officeDocument/2006/relationships/slide" Target="slides/slide140.xml"/><Relationship Id="rId132" Type="http://schemas.openxmlformats.org/officeDocument/2006/relationships/slide" Target="slides/slide141.xml"/><Relationship Id="rId133" Type="http://schemas.openxmlformats.org/officeDocument/2006/relationships/slide" Target="slides/slide142.xml"/><Relationship Id="rId134" Type="http://schemas.openxmlformats.org/officeDocument/2006/relationships/slide" Target="slides/slide143.xml"/><Relationship Id="rId135" Type="http://schemas.openxmlformats.org/officeDocument/2006/relationships/slide" Target="slides/slide144.xml"/><Relationship Id="rId136" Type="http://schemas.openxmlformats.org/officeDocument/2006/relationships/slide" Target="slides/slide145.xml"/><Relationship Id="rId137" Type="http://schemas.openxmlformats.org/officeDocument/2006/relationships/slide" Target="slides/slide146.xml"/><Relationship Id="rId139" Type="http://schemas.openxmlformats.org/officeDocument/2006/relationships/slide" Target="slides/slide148.xml"/><Relationship Id="rId140" Type="http://schemas.openxmlformats.org/officeDocument/2006/relationships/slide" Target="slides/slide149.xml"/><Relationship Id="rId143" Type="http://schemas.openxmlformats.org/officeDocument/2006/relationships/slide" Target="slides/slide152.xml"/><Relationship Id="rId144" Type="http://schemas.openxmlformats.org/officeDocument/2006/relationships/slide" Target="slides/slide153.xml"/><Relationship Id="rId145" Type="http://schemas.openxmlformats.org/officeDocument/2006/relationships/slide" Target="slides/slide154.xml"/><Relationship Id="rId146" Type="http://schemas.openxmlformats.org/officeDocument/2006/relationships/slide" Target="slides/slide155.xml"/><Relationship Id="rId147" Type="http://schemas.openxmlformats.org/officeDocument/2006/relationships/slide" Target="slides/slide156.xml"/><Relationship Id="rId148" Type="http://schemas.openxmlformats.org/officeDocument/2006/relationships/slide" Target="slides/slide157.xml"/><Relationship Id="rId149" Type="http://schemas.openxmlformats.org/officeDocument/2006/relationships/slide" Target="slides/slide158.xml"/><Relationship Id="rId151" Type="http://schemas.openxmlformats.org/officeDocument/2006/relationships/slide" Target="slides/slide160.xml"/><Relationship Id="rId152" Type="http://schemas.openxmlformats.org/officeDocument/2006/relationships/slide" Target="slides/slide161.xml"/><Relationship Id="rId154" Type="http://schemas.openxmlformats.org/officeDocument/2006/relationships/slide" Target="slides/slide163.xml"/><Relationship Id="rId155" Type="http://schemas.openxmlformats.org/officeDocument/2006/relationships/slide" Target="slides/slide164.xml"/><Relationship Id="rId156" Type="http://schemas.openxmlformats.org/officeDocument/2006/relationships/slide" Target="slides/slide165.xml"/><Relationship Id="rId157" Type="http://schemas.openxmlformats.org/officeDocument/2006/relationships/slide" Target="slides/slide166.xml"/><Relationship Id="rId158" Type="http://schemas.openxmlformats.org/officeDocument/2006/relationships/slide" Target="slides/slide167.xml"/><Relationship Id="rId160" Type="http://schemas.openxmlformats.org/officeDocument/2006/relationships/slide" Target="slides/slide169.xml"/><Relationship Id="rId161" Type="http://schemas.openxmlformats.org/officeDocument/2006/relationships/slide" Target="slides/slide170.xml"/><Relationship Id="rId163" Type="http://schemas.openxmlformats.org/officeDocument/2006/relationships/slide" Target="slides/slide172.xml"/><Relationship Id="rId164" Type="http://schemas.openxmlformats.org/officeDocument/2006/relationships/slide" Target="slides/slide173.xml"/><Relationship Id="rId165" Type="http://schemas.openxmlformats.org/officeDocument/2006/relationships/slide" Target="slides/slide174.xml"/><Relationship Id="rId166" Type="http://schemas.openxmlformats.org/officeDocument/2006/relationships/slide" Target="slides/slide175.xml"/><Relationship Id="rId167" Type="http://schemas.openxmlformats.org/officeDocument/2006/relationships/slide" Target="slides/slide176.xml"/><Relationship Id="rId168" Type="http://schemas.openxmlformats.org/officeDocument/2006/relationships/slide" Target="slides/slide177.xml"/><Relationship Id="rId169" Type="http://schemas.openxmlformats.org/officeDocument/2006/relationships/slide" Target="slides/slide178.xml"/><Relationship Id="rId171" Type="http://schemas.openxmlformats.org/officeDocument/2006/relationships/slide" Target="slides/slide180.xml"/><Relationship Id="rId172" Type="http://schemas.openxmlformats.org/officeDocument/2006/relationships/slide" Target="slides/slide181.xml"/><Relationship Id="rId174" Type="http://schemas.openxmlformats.org/officeDocument/2006/relationships/slide" Target="slides/slide183.xml"/><Relationship Id="rId175" Type="http://schemas.openxmlformats.org/officeDocument/2006/relationships/slide" Target="slides/slide184.xml"/><Relationship Id="rId176" Type="http://schemas.openxmlformats.org/officeDocument/2006/relationships/slide" Target="slides/slide185.xml"/><Relationship Id="rId177" Type="http://schemas.openxmlformats.org/officeDocument/2006/relationships/slide" Target="slides/slide186.xml"/><Relationship Id="rId178" Type="http://schemas.openxmlformats.org/officeDocument/2006/relationships/slide" Target="slides/slide187.xml"/><Relationship Id="rId179" Type="http://schemas.openxmlformats.org/officeDocument/2006/relationships/slide" Target="slides/slide188.xml"/><Relationship Id="rId181" Type="http://schemas.openxmlformats.org/officeDocument/2006/relationships/slide" Target="slides/slide190.xml"/><Relationship Id="rId182" Type="http://schemas.openxmlformats.org/officeDocument/2006/relationships/slide" Target="slides/slide191.xml"/><Relationship Id="rId184" Type="http://schemas.openxmlformats.org/officeDocument/2006/relationships/slide" Target="slides/slide193.xml"/><Relationship Id="rId185" Type="http://schemas.openxmlformats.org/officeDocument/2006/relationships/slide" Target="slides/slide194.xml"/><Relationship Id="rId186" Type="http://schemas.openxmlformats.org/officeDocument/2006/relationships/slide" Target="slides/slide195.xml"/><Relationship Id="rId187" Type="http://schemas.openxmlformats.org/officeDocument/2006/relationships/slide" Target="slides/slide196.xml"/><Relationship Id="rId188" Type="http://schemas.openxmlformats.org/officeDocument/2006/relationships/slide" Target="slides/slide197.xml"/><Relationship Id="rId189" Type="http://schemas.openxmlformats.org/officeDocument/2006/relationships/slide" Target="slides/slide198.xml"/><Relationship Id="rId191" Type="http://schemas.openxmlformats.org/officeDocument/2006/relationships/slide" Target="slides/slide200.xml"/><Relationship Id="rId192" Type="http://schemas.openxmlformats.org/officeDocument/2006/relationships/slide" Target="slides/slide201.xml"/><Relationship Id="rId194" Type="http://schemas.openxmlformats.org/officeDocument/2006/relationships/slide" Target="slides/slide203.xml"/><Relationship Id="rId195" Type="http://schemas.openxmlformats.org/officeDocument/2006/relationships/slide" Target="slides/slide204.xml"/><Relationship Id="rId196" Type="http://schemas.openxmlformats.org/officeDocument/2006/relationships/slide" Target="slides/slide205.xml"/><Relationship Id="rId197" Type="http://schemas.openxmlformats.org/officeDocument/2006/relationships/slide" Target="slides/slide206.xml"/><Relationship Id="rId198" Type="http://schemas.openxmlformats.org/officeDocument/2006/relationships/slide" Target="slides/slide207.xml"/><Relationship Id="rId200" Type="http://schemas.openxmlformats.org/officeDocument/2006/relationships/slide" Target="slides/slide209.xml"/><Relationship Id="rId201" Type="http://schemas.openxmlformats.org/officeDocument/2006/relationships/slide" Target="slides/slide210.xml"/><Relationship Id="rId204" Type="http://schemas.openxmlformats.org/officeDocument/2006/relationships/slide" Target="slides/slide213.xml"/><Relationship Id="rId205" Type="http://schemas.openxmlformats.org/officeDocument/2006/relationships/slide" Target="slides/slide214.xml"/><Relationship Id="rId206" Type="http://schemas.openxmlformats.org/officeDocument/2006/relationships/slide" Target="slides/slide215.xml"/><Relationship Id="rId207" Type="http://schemas.openxmlformats.org/officeDocument/2006/relationships/slide" Target="slides/slide216.xml"/><Relationship Id="rId208" Type="http://schemas.openxmlformats.org/officeDocument/2006/relationships/slide" Target="slides/slide217.xml"/><Relationship Id="rId209" Type="http://schemas.openxmlformats.org/officeDocument/2006/relationships/slide" Target="slides/slide218.xml"/><Relationship Id="rId210" Type="http://schemas.openxmlformats.org/officeDocument/2006/relationships/slide" Target="slides/slide219.xml"/><Relationship Id="rId211" Type="http://schemas.openxmlformats.org/officeDocument/2006/relationships/slide" Target="slides/slide220.xml"/><Relationship Id="rId212" Type="http://schemas.openxmlformats.org/officeDocument/2006/relationships/slide" Target="slides/slide221.xml"/><Relationship Id="rId213" Type="http://schemas.openxmlformats.org/officeDocument/2006/relationships/slide" Target="slides/slide222.xml"/><Relationship Id="rId214" Type="http://schemas.openxmlformats.org/officeDocument/2006/relationships/slide" Target="slides/slide223.xml"/><Relationship Id="rId215" Type="http://schemas.openxmlformats.org/officeDocument/2006/relationships/slide" Target="slides/slide224.xml"/><Relationship Id="rId216" Type="http://schemas.openxmlformats.org/officeDocument/2006/relationships/slide" Target="slides/slide225.xml"/><Relationship Id="rId217" Type="http://schemas.openxmlformats.org/officeDocument/2006/relationships/slide" Target="slides/slide226.xml"/><Relationship Id="rId218" Type="http://schemas.openxmlformats.org/officeDocument/2006/relationships/slide" Target="slides/slide227.xml"/><Relationship Id="rId219" Type="http://schemas.openxmlformats.org/officeDocument/2006/relationships/slide" Target="slides/slide228.xml"/><Relationship Id="rId220" Type="http://schemas.openxmlformats.org/officeDocument/2006/relationships/slide" Target="slides/slide229.xml"/><Relationship Id="rId221" Type="http://schemas.openxmlformats.org/officeDocument/2006/relationships/slide" Target="slides/slide230.xml"/><Relationship Id="rId222" Type="http://schemas.openxmlformats.org/officeDocument/2006/relationships/slide" Target="slides/slide231.xml"/><Relationship Id="rId223" Type="http://schemas.openxmlformats.org/officeDocument/2006/relationships/slide" Target="slides/slide232.xml"/><Relationship Id="rId224" Type="http://schemas.openxmlformats.org/officeDocument/2006/relationships/slide" Target="slides/slide233.xml"/><Relationship Id="rId225" Type="http://schemas.openxmlformats.org/officeDocument/2006/relationships/slide" Target="slides/slide234.xml"/><Relationship Id="rId226" Type="http://schemas.openxmlformats.org/officeDocument/2006/relationships/slide" Target="slides/slide235.xml"/><Relationship Id="rId227" Type="http://schemas.openxmlformats.org/officeDocument/2006/relationships/slide" Target="slides/slide236.xml"/><Relationship Id="rId228" Type="http://schemas.openxmlformats.org/officeDocument/2006/relationships/slide" Target="slides/slide237.xml"/><Relationship Id="rId229" Type="http://schemas.openxmlformats.org/officeDocument/2006/relationships/slide" Target="slides/slide238.xml"/><Relationship Id="rId230" Type="http://schemas.openxmlformats.org/officeDocument/2006/relationships/slide" Target="slides/slide239.xml"/><Relationship Id="rId231" Type="http://schemas.openxmlformats.org/officeDocument/2006/relationships/slide" Target="slides/slide240.xml"/><Relationship Id="rId233" Type="http://schemas.openxmlformats.org/officeDocument/2006/relationships/slide" Target="slides/slide242.xml"/><Relationship Id="rId234" Type="http://schemas.openxmlformats.org/officeDocument/2006/relationships/slide" Target="slides/slide243.xml"/><Relationship Id="rId237" Type="http://schemas.openxmlformats.org/officeDocument/2006/relationships/slide" Target="slides/slide246.xml"/><Relationship Id="rId238" Type="http://schemas.openxmlformats.org/officeDocument/2006/relationships/slide" Target="slides/slide247.xml"/><Relationship Id="rId239" Type="http://schemas.openxmlformats.org/officeDocument/2006/relationships/slide" Target="slides/slide248.xml"/><Relationship Id="rId240" Type="http://schemas.openxmlformats.org/officeDocument/2006/relationships/slide" Target="slides/slide249.xml"/><Relationship Id="rId241" Type="http://schemas.openxmlformats.org/officeDocument/2006/relationships/slide" Target="slides/slide250.xml"/><Relationship Id="rId242" Type="http://schemas.openxmlformats.org/officeDocument/2006/relationships/slide" Target="slides/slide251.xml"/><Relationship Id="rId243" Type="http://schemas.openxmlformats.org/officeDocument/2006/relationships/slide" Target="slides/slide252.xml"/><Relationship Id="rId245" Type="http://schemas.openxmlformats.org/officeDocument/2006/relationships/slide" Target="slides/slide254.xml"/><Relationship Id="rId246" Type="http://schemas.openxmlformats.org/officeDocument/2006/relationships/slide" Target="slides/slide255.xml"/><Relationship Id="rId248" Type="http://schemas.openxmlformats.org/officeDocument/2006/relationships/slide" Target="slides/slide257.xml"/><Relationship Id="rId249" Type="http://schemas.openxmlformats.org/officeDocument/2006/relationships/slide" Target="slides/slide258.xml"/><Relationship Id="rId250" Type="http://schemas.openxmlformats.org/officeDocument/2006/relationships/slide" Target="slides/slide259.xml"/><Relationship Id="rId251" Type="http://schemas.openxmlformats.org/officeDocument/2006/relationships/slide" Target="slides/slide260.xml"/><Relationship Id="rId252" Type="http://schemas.openxmlformats.org/officeDocument/2006/relationships/slide" Target="slides/slide261.xml"/><Relationship Id="rId254" Type="http://schemas.openxmlformats.org/officeDocument/2006/relationships/slide" Target="slides/slide263.xml"/><Relationship Id="rId255" Type="http://schemas.openxmlformats.org/officeDocument/2006/relationships/slide" Target="slides/slide264.xml"/><Relationship Id="rId257" Type="http://schemas.openxmlformats.org/officeDocument/2006/relationships/slide" Target="slides/slide266.xml"/><Relationship Id="rId258" Type="http://schemas.openxmlformats.org/officeDocument/2006/relationships/slide" Target="slides/slide267.xml"/><Relationship Id="rId259" Type="http://schemas.openxmlformats.org/officeDocument/2006/relationships/slide" Target="slides/slide268.xml"/><Relationship Id="rId260" Type="http://schemas.openxmlformats.org/officeDocument/2006/relationships/slide" Target="slides/slide269.xml"/><Relationship Id="rId261" Type="http://schemas.openxmlformats.org/officeDocument/2006/relationships/slide" Target="slides/slide270.xml"/><Relationship Id="rId262" Type="http://schemas.openxmlformats.org/officeDocument/2006/relationships/slide" Target="slides/slide271.xml"/><Relationship Id="rId263" Type="http://schemas.openxmlformats.org/officeDocument/2006/relationships/slide" Target="slides/slide272.xml"/><Relationship Id="rId265" Type="http://schemas.openxmlformats.org/officeDocument/2006/relationships/slide" Target="slides/slide274.xml"/><Relationship Id="rId266" Type="http://schemas.openxmlformats.org/officeDocument/2006/relationships/slide" Target="slides/slide275.xml"/><Relationship Id="rId268" Type="http://schemas.openxmlformats.org/officeDocument/2006/relationships/slide" Target="slides/slide277.xml"/><Relationship Id="rId269" Type="http://schemas.openxmlformats.org/officeDocument/2006/relationships/slide" Target="slides/slide278.xml"/><Relationship Id="rId270" Type="http://schemas.openxmlformats.org/officeDocument/2006/relationships/slide" Target="slides/slide279.xml"/><Relationship Id="rId271" Type="http://schemas.openxmlformats.org/officeDocument/2006/relationships/slide" Target="slides/slide280.xml"/><Relationship Id="rId272" Type="http://schemas.openxmlformats.org/officeDocument/2006/relationships/slide" Target="slides/slide281.xml"/><Relationship Id="rId273" Type="http://schemas.openxmlformats.org/officeDocument/2006/relationships/slide" Target="slides/slide282.xml"/><Relationship Id="rId275" Type="http://schemas.openxmlformats.org/officeDocument/2006/relationships/slide" Target="slides/slide284.xml"/><Relationship Id="rId276" Type="http://schemas.openxmlformats.org/officeDocument/2006/relationships/slide" Target="slides/slide285.xml"/><Relationship Id="rId278" Type="http://schemas.openxmlformats.org/officeDocument/2006/relationships/slide" Target="slides/slide287.xml"/><Relationship Id="rId279" Type="http://schemas.openxmlformats.org/officeDocument/2006/relationships/slide" Target="slides/slide288.xml"/><Relationship Id="rId280" Type="http://schemas.openxmlformats.org/officeDocument/2006/relationships/slide" Target="slides/slide289.xml"/><Relationship Id="rId281" Type="http://schemas.openxmlformats.org/officeDocument/2006/relationships/slide" Target="slides/slide290.xml"/><Relationship Id="rId282" Type="http://schemas.openxmlformats.org/officeDocument/2006/relationships/slide" Target="slides/slide291.xml"/><Relationship Id="rId283" Type="http://schemas.openxmlformats.org/officeDocument/2006/relationships/slide" Target="slides/slide292.xml"/><Relationship Id="rId285" Type="http://schemas.openxmlformats.org/officeDocument/2006/relationships/slide" Target="slides/slide294.xml"/><Relationship Id="rId286" Type="http://schemas.openxmlformats.org/officeDocument/2006/relationships/slide" Target="slides/slide295.xml"/><Relationship Id="rId288" Type="http://schemas.openxmlformats.org/officeDocument/2006/relationships/slide" Target="slides/slide297.xml"/><Relationship Id="rId289" Type="http://schemas.openxmlformats.org/officeDocument/2006/relationships/slide" Target="slides/slide298.xml"/><Relationship Id="rId290" Type="http://schemas.openxmlformats.org/officeDocument/2006/relationships/slide" Target="slides/slide299.xml"/><Relationship Id="rId291" Type="http://schemas.openxmlformats.org/officeDocument/2006/relationships/slide" Target="slides/slide300.xml"/><Relationship Id="rId292" Type="http://schemas.openxmlformats.org/officeDocument/2006/relationships/slide" Target="slides/slide301.xml"/><Relationship Id="rId294" Type="http://schemas.openxmlformats.org/officeDocument/2006/relationships/slide" Target="slides/slide303.xml"/><Relationship Id="rId295" Type="http://schemas.openxmlformats.org/officeDocument/2006/relationships/slide" Target="slides/slide304.xml"/><Relationship Id="rId298" Type="http://schemas.openxmlformats.org/officeDocument/2006/relationships/slide" Target="slides/slide307.xml"/><Relationship Id="rId299" Type="http://schemas.openxmlformats.org/officeDocument/2006/relationships/slide" Target="slides/slide308.xml"/><Relationship Id="rId300" Type="http://schemas.openxmlformats.org/officeDocument/2006/relationships/slide" Target="slides/slide309.xml"/><Relationship Id="rId301" Type="http://schemas.openxmlformats.org/officeDocument/2006/relationships/slide" Target="slides/slide310.xml"/><Relationship Id="rId302" Type="http://schemas.openxmlformats.org/officeDocument/2006/relationships/slide" Target="slides/slide311.xml"/><Relationship Id="rId303" Type="http://schemas.openxmlformats.org/officeDocument/2006/relationships/slide" Target="slides/slide312.xml"/><Relationship Id="rId304" Type="http://schemas.openxmlformats.org/officeDocument/2006/relationships/slide" Target="slides/slide313.xml"/><Relationship Id="rId305" Type="http://schemas.openxmlformats.org/officeDocument/2006/relationships/slide" Target="slides/slide314.xml"/><Relationship Id="rId306" Type="http://schemas.openxmlformats.org/officeDocument/2006/relationships/slide" Target="slides/slide315.xml"/><Relationship Id="rId307" Type="http://schemas.openxmlformats.org/officeDocument/2006/relationships/slide" Target="slides/slide316.xml"/><Relationship Id="rId308" Type="http://schemas.openxmlformats.org/officeDocument/2006/relationships/slide" Target="slides/slide317.xml"/><Relationship Id="rId309" Type="http://schemas.openxmlformats.org/officeDocument/2006/relationships/slide" Target="slides/slide318.xml"/><Relationship Id="rId310" Type="http://schemas.openxmlformats.org/officeDocument/2006/relationships/slide" Target="slides/slide319.xml"/><Relationship Id="rId311" Type="http://schemas.openxmlformats.org/officeDocument/2006/relationships/slide" Target="slides/slide320.xml"/><Relationship Id="rId312" Type="http://schemas.openxmlformats.org/officeDocument/2006/relationships/slide" Target="slides/slide321.xml"/><Relationship Id="rId313" Type="http://schemas.openxmlformats.org/officeDocument/2006/relationships/slide" Target="slides/slide322.xml"/><Relationship Id="rId314" Type="http://schemas.openxmlformats.org/officeDocument/2006/relationships/slide" Target="slides/slide323.xml"/><Relationship Id="rId315" Type="http://schemas.openxmlformats.org/officeDocument/2006/relationships/slide" Target="slides/slide324.xml"/><Relationship Id="rId316" Type="http://schemas.openxmlformats.org/officeDocument/2006/relationships/slide" Target="slides/slide325.xml"/><Relationship Id="rId317" Type="http://schemas.openxmlformats.org/officeDocument/2006/relationships/slide" Target="slides/slide326.xml"/><Relationship Id="rId318" Type="http://schemas.openxmlformats.org/officeDocument/2006/relationships/slide" Target="slides/slide327.xml"/><Relationship Id="rId319" Type="http://schemas.openxmlformats.org/officeDocument/2006/relationships/slide" Target="slides/slide328.xml"/><Relationship Id="rId320" Type="http://schemas.openxmlformats.org/officeDocument/2006/relationships/slide" Target="slides/slide329.xml"/><Relationship Id="rId321" Type="http://schemas.openxmlformats.org/officeDocument/2006/relationships/slide" Target="slides/slide330.xml"/><Relationship Id="rId322" Type="http://schemas.openxmlformats.org/officeDocument/2006/relationships/slide" Target="slides/slide331.xml"/><Relationship Id="rId323" Type="http://schemas.openxmlformats.org/officeDocument/2006/relationships/slide" Target="slides/slide332.xml"/><Relationship Id="rId324" Type="http://schemas.openxmlformats.org/officeDocument/2006/relationships/slide" Target="slides/slide333.xml"/><Relationship Id="rId325" Type="http://schemas.openxmlformats.org/officeDocument/2006/relationships/slide" Target="slides/slide334.xml"/><Relationship Id="rId326" Type="http://schemas.openxmlformats.org/officeDocument/2006/relationships/slide" Target="slides/slide335.xml"/><Relationship Id="rId328" Type="http://schemas.openxmlformats.org/officeDocument/2006/relationships/slide" Target="slides/slide337.xml"/><Relationship Id="rId329" Type="http://schemas.openxmlformats.org/officeDocument/2006/relationships/slide" Target="slides/slide338.xml"/><Relationship Id="rId332" Type="http://schemas.openxmlformats.org/officeDocument/2006/relationships/slide" Target="slides/slide341.xml"/><Relationship Id="rId333" Type="http://schemas.openxmlformats.org/officeDocument/2006/relationships/slide" Target="slides/slide342.xml"/><Relationship Id="rId334" Type="http://schemas.openxmlformats.org/officeDocument/2006/relationships/slide" Target="slides/slide343.xml"/><Relationship Id="rId335" Type="http://schemas.openxmlformats.org/officeDocument/2006/relationships/slide" Target="slides/slide344.xml"/><Relationship Id="rId336" Type="http://schemas.openxmlformats.org/officeDocument/2006/relationships/slide" Target="slides/slide345.xml"/><Relationship Id="rId337" Type="http://schemas.openxmlformats.org/officeDocument/2006/relationships/slide" Target="slides/slide346.xml"/><Relationship Id="rId338" Type="http://schemas.openxmlformats.org/officeDocument/2006/relationships/slide" Target="slides/slide347.xml"/><Relationship Id="rId340" Type="http://schemas.openxmlformats.org/officeDocument/2006/relationships/slide" Target="slides/slide349.xml"/><Relationship Id="rId341" Type="http://schemas.openxmlformats.org/officeDocument/2006/relationships/slide" Target="slides/slide350.xml"/><Relationship Id="rId343" Type="http://schemas.openxmlformats.org/officeDocument/2006/relationships/slide" Target="slides/slide352.xml"/><Relationship Id="rId344" Type="http://schemas.openxmlformats.org/officeDocument/2006/relationships/slide" Target="slides/slide353.xml"/><Relationship Id="rId345" Type="http://schemas.openxmlformats.org/officeDocument/2006/relationships/slide" Target="slides/slide354.xml"/><Relationship Id="rId346" Type="http://schemas.openxmlformats.org/officeDocument/2006/relationships/slide" Target="slides/slide355.xml"/><Relationship Id="rId347" Type="http://schemas.openxmlformats.org/officeDocument/2006/relationships/slide" Target="slides/slide356.xml"/><Relationship Id="rId349" Type="http://schemas.openxmlformats.org/officeDocument/2006/relationships/slide" Target="slides/slide358.xml"/><Relationship Id="rId350" Type="http://schemas.openxmlformats.org/officeDocument/2006/relationships/slide" Target="slides/slide359.xml"/><Relationship Id="rId352" Type="http://schemas.openxmlformats.org/officeDocument/2006/relationships/slide" Target="slides/slide361.xml"/><Relationship Id="rId353" Type="http://schemas.openxmlformats.org/officeDocument/2006/relationships/slide" Target="slides/slide362.xml"/><Relationship Id="rId354" Type="http://schemas.openxmlformats.org/officeDocument/2006/relationships/slide" Target="slides/slide363.xml"/><Relationship Id="rId355" Type="http://schemas.openxmlformats.org/officeDocument/2006/relationships/slide" Target="slides/slide364.xml"/><Relationship Id="rId356" Type="http://schemas.openxmlformats.org/officeDocument/2006/relationships/slide" Target="slides/slide365.xml"/><Relationship Id="rId357" Type="http://schemas.openxmlformats.org/officeDocument/2006/relationships/slide" Target="slides/slide366.xml"/><Relationship Id="rId358" Type="http://schemas.openxmlformats.org/officeDocument/2006/relationships/slide" Target="slides/slide367.xml"/><Relationship Id="rId360" Type="http://schemas.openxmlformats.org/officeDocument/2006/relationships/slide" Target="slides/slide369.xml"/><Relationship Id="rId361" Type="http://schemas.openxmlformats.org/officeDocument/2006/relationships/slide" Target="slides/slide370.xml"/><Relationship Id="rId363" Type="http://schemas.openxmlformats.org/officeDocument/2006/relationships/slide" Target="slides/slide372.xml"/><Relationship Id="rId364" Type="http://schemas.openxmlformats.org/officeDocument/2006/relationships/slide" Target="slides/slide373.xml"/><Relationship Id="rId365" Type="http://schemas.openxmlformats.org/officeDocument/2006/relationships/slide" Target="slides/slide374.xml"/><Relationship Id="rId366" Type="http://schemas.openxmlformats.org/officeDocument/2006/relationships/slide" Target="slides/slide375.xml"/><Relationship Id="rId367" Type="http://schemas.openxmlformats.org/officeDocument/2006/relationships/slide" Target="slides/slide376.xml"/><Relationship Id="rId368" Type="http://schemas.openxmlformats.org/officeDocument/2006/relationships/slide" Target="slides/slide377.xml"/><Relationship Id="rId370" Type="http://schemas.openxmlformats.org/officeDocument/2006/relationships/slide" Target="slides/slide379.xml"/><Relationship Id="rId371" Type="http://schemas.openxmlformats.org/officeDocument/2006/relationships/slide" Target="slides/slide380.xml"/><Relationship Id="rId373" Type="http://schemas.openxmlformats.org/officeDocument/2006/relationships/slide" Target="slides/slide382.xml"/><Relationship Id="rId374" Type="http://schemas.openxmlformats.org/officeDocument/2006/relationships/slide" Target="slides/slide383.xml"/><Relationship Id="rId375" Type="http://schemas.openxmlformats.org/officeDocument/2006/relationships/slide" Target="slides/slide384.xml"/><Relationship Id="rId376" Type="http://schemas.openxmlformats.org/officeDocument/2006/relationships/slide" Target="slides/slide385.xml"/><Relationship Id="rId377" Type="http://schemas.openxmlformats.org/officeDocument/2006/relationships/slide" Target="slides/slide386.xml"/><Relationship Id="rId378" Type="http://schemas.openxmlformats.org/officeDocument/2006/relationships/slide" Target="slides/slide387.xml"/><Relationship Id="rId380" Type="http://schemas.openxmlformats.org/officeDocument/2006/relationships/slide" Target="slides/slide389.xml"/><Relationship Id="rId381" Type="http://schemas.openxmlformats.org/officeDocument/2006/relationships/slide" Target="slides/slide390.xml"/><Relationship Id="rId383" Type="http://schemas.openxmlformats.org/officeDocument/2006/relationships/slide" Target="slides/slide392.xml"/><Relationship Id="rId384" Type="http://schemas.openxmlformats.org/officeDocument/2006/relationships/slide" Target="slides/slide393.xml"/><Relationship Id="rId385" Type="http://schemas.openxmlformats.org/officeDocument/2006/relationships/slide" Target="slides/slide394.xml"/><Relationship Id="rId386" Type="http://schemas.openxmlformats.org/officeDocument/2006/relationships/slide" Target="slides/slide395.xml"/><Relationship Id="rId387" Type="http://schemas.openxmlformats.org/officeDocument/2006/relationships/slide" Target="slides/slide396.xml"/><Relationship Id="rId389" Type="http://schemas.openxmlformats.org/officeDocument/2006/relationships/slide" Target="slides/slide398.xml"/><Relationship Id="rId390" Type="http://schemas.openxmlformats.org/officeDocument/2006/relationships/slide" Target="slides/slide399.xml"/><Relationship Id="rId393" Type="http://schemas.openxmlformats.org/officeDocument/2006/relationships/slide" Target="slides/slide402.xml"/><Relationship Id="rId394" Type="http://schemas.openxmlformats.org/officeDocument/2006/relationships/slide" Target="slides/slide403.xml"/><Relationship Id="rId395" Type="http://schemas.openxmlformats.org/officeDocument/2006/relationships/slide" Target="slides/slide404.xml"/><Relationship Id="rId396" Type="http://schemas.openxmlformats.org/officeDocument/2006/relationships/slide" Target="slides/slide405.xml"/><Relationship Id="rId397" Type="http://schemas.openxmlformats.org/officeDocument/2006/relationships/slide" Target="slides/slide406.xml"/><Relationship Id="rId398" Type="http://schemas.openxmlformats.org/officeDocument/2006/relationships/slide" Target="slides/slide407.xml"/><Relationship Id="rId399" Type="http://schemas.openxmlformats.org/officeDocument/2006/relationships/slide" Target="slides/slide408.xml"/><Relationship Id="rId400" Type="http://schemas.openxmlformats.org/officeDocument/2006/relationships/slide" Target="slides/slide409.xml"/><Relationship Id="rId401" Type="http://schemas.openxmlformats.org/officeDocument/2006/relationships/slide" Target="slides/slide410.xml"/><Relationship Id="rId402" Type="http://schemas.openxmlformats.org/officeDocument/2006/relationships/slide" Target="slides/slide411.xml"/><Relationship Id="rId403" Type="http://schemas.openxmlformats.org/officeDocument/2006/relationships/slide" Target="slides/slide412.xml"/><Relationship Id="rId404" Type="http://schemas.openxmlformats.org/officeDocument/2006/relationships/slide" Target="slides/slide413.xml"/><Relationship Id="rId405" Type="http://schemas.openxmlformats.org/officeDocument/2006/relationships/slide" Target="slides/slide414.xml"/><Relationship Id="rId406" Type="http://schemas.openxmlformats.org/officeDocument/2006/relationships/slide" Target="slides/slide415.xml"/><Relationship Id="rId407" Type="http://schemas.openxmlformats.org/officeDocument/2006/relationships/slide" Target="slides/slide416.xml"/><Relationship Id="rId408" Type="http://schemas.openxmlformats.org/officeDocument/2006/relationships/slide" Target="slides/slide417.xml"/><Relationship Id="rId409" Type="http://schemas.openxmlformats.org/officeDocument/2006/relationships/slide" Target="slides/slide418.xml"/><Relationship Id="rId410" Type="http://schemas.openxmlformats.org/officeDocument/2006/relationships/slide" Target="slides/slide419.xml"/><Relationship Id="rId411" Type="http://schemas.openxmlformats.org/officeDocument/2006/relationships/slide" Target="slides/slide420.xml"/><Relationship Id="rId412" Type="http://schemas.openxmlformats.org/officeDocument/2006/relationships/slide" Target="slides/slide421.xml"/><Relationship Id="rId413" Type="http://schemas.openxmlformats.org/officeDocument/2006/relationships/slide" Target="slides/slide422.xml"/><Relationship Id="rId414" Type="http://schemas.openxmlformats.org/officeDocument/2006/relationships/slide" Target="slides/slide423.xml"/><Relationship Id="rId415" Type="http://schemas.openxmlformats.org/officeDocument/2006/relationships/slide" Target="slides/slide424.xml"/><Relationship Id="rId416" Type="http://schemas.openxmlformats.org/officeDocument/2006/relationships/slide" Target="slides/slide425.xml"/><Relationship Id="rId417" Type="http://schemas.openxmlformats.org/officeDocument/2006/relationships/slide" Target="slides/slide426.xml"/><Relationship Id="rId418" Type="http://schemas.openxmlformats.org/officeDocument/2006/relationships/slide" Target="slides/slide427.xml"/><Relationship Id="rId419" Type="http://schemas.openxmlformats.org/officeDocument/2006/relationships/slide" Target="slides/slide428.xml"/><Relationship Id="rId420" Type="http://schemas.openxmlformats.org/officeDocument/2006/relationships/slide" Target="slides/slide429.xml"/><Relationship Id="rId422" Type="http://schemas.openxmlformats.org/officeDocument/2006/relationships/slide" Target="slides/slide431.xml"/><Relationship Id="rId423" Type="http://schemas.openxmlformats.org/officeDocument/2006/relationships/slide" Target="slides/slide432.xml"/><Relationship Id="rId426" Type="http://schemas.openxmlformats.org/officeDocument/2006/relationships/slide" Target="slides/slide435.xml"/><Relationship Id="rId427" Type="http://schemas.openxmlformats.org/officeDocument/2006/relationships/slide" Target="slides/slide436.xml"/><Relationship Id="rId428" Type="http://schemas.openxmlformats.org/officeDocument/2006/relationships/slide" Target="slides/slide437.xml"/><Relationship Id="rId429" Type="http://schemas.openxmlformats.org/officeDocument/2006/relationships/slide" Target="slides/slide438.xml"/><Relationship Id="rId430" Type="http://schemas.openxmlformats.org/officeDocument/2006/relationships/slide" Target="slides/slide439.xml"/><Relationship Id="rId431" Type="http://schemas.openxmlformats.org/officeDocument/2006/relationships/slide" Target="slides/slide440.xml"/><Relationship Id="rId432" Type="http://schemas.openxmlformats.org/officeDocument/2006/relationships/slide" Target="slides/slide441.xml"/><Relationship Id="rId434" Type="http://schemas.openxmlformats.org/officeDocument/2006/relationships/slide" Target="slides/slide443.xml"/><Relationship Id="rId435" Type="http://schemas.openxmlformats.org/officeDocument/2006/relationships/slide" Target="slides/slide444.xml"/><Relationship Id="rId437" Type="http://schemas.openxmlformats.org/officeDocument/2006/relationships/slide" Target="slides/slide446.xml"/><Relationship Id="rId438" Type="http://schemas.openxmlformats.org/officeDocument/2006/relationships/slide" Target="slides/slide447.xml"/><Relationship Id="rId439" Type="http://schemas.openxmlformats.org/officeDocument/2006/relationships/slide" Target="slides/slide448.xml"/><Relationship Id="rId440" Type="http://schemas.openxmlformats.org/officeDocument/2006/relationships/slide" Target="slides/slide449.xml"/><Relationship Id="rId441" Type="http://schemas.openxmlformats.org/officeDocument/2006/relationships/slide" Target="slides/slide450.xml"/><Relationship Id="rId443" Type="http://schemas.openxmlformats.org/officeDocument/2006/relationships/slide" Target="slides/slide452.xml"/><Relationship Id="rId444" Type="http://schemas.openxmlformats.org/officeDocument/2006/relationships/slide" Target="slides/slide453.xml"/><Relationship Id="rId446" Type="http://schemas.openxmlformats.org/officeDocument/2006/relationships/slide" Target="slides/slide455.xml"/><Relationship Id="rId447" Type="http://schemas.openxmlformats.org/officeDocument/2006/relationships/slide" Target="slides/slide456.xml"/><Relationship Id="rId448" Type="http://schemas.openxmlformats.org/officeDocument/2006/relationships/slide" Target="slides/slide457.xml"/><Relationship Id="rId449" Type="http://schemas.openxmlformats.org/officeDocument/2006/relationships/slide" Target="slides/slide458.xml"/><Relationship Id="rId450" Type="http://schemas.openxmlformats.org/officeDocument/2006/relationships/slide" Target="slides/slide459.xml"/><Relationship Id="rId451" Type="http://schemas.openxmlformats.org/officeDocument/2006/relationships/slide" Target="slides/slide460.xml"/><Relationship Id="rId452" Type="http://schemas.openxmlformats.org/officeDocument/2006/relationships/slide" Target="slides/slide461.xml"/><Relationship Id="rId454" Type="http://schemas.openxmlformats.org/officeDocument/2006/relationships/slide" Target="slides/slide463.xml"/><Relationship Id="rId455" Type="http://schemas.openxmlformats.org/officeDocument/2006/relationships/slide" Target="slides/slide464.xml"/><Relationship Id="rId457" Type="http://schemas.openxmlformats.org/officeDocument/2006/relationships/slide" Target="slides/slide466.xml"/><Relationship Id="rId458" Type="http://schemas.openxmlformats.org/officeDocument/2006/relationships/slide" Target="slides/slide467.xml"/><Relationship Id="rId459" Type="http://schemas.openxmlformats.org/officeDocument/2006/relationships/slide" Target="slides/slide468.xml"/><Relationship Id="rId460" Type="http://schemas.openxmlformats.org/officeDocument/2006/relationships/slide" Target="slides/slide469.xml"/><Relationship Id="rId461" Type="http://schemas.openxmlformats.org/officeDocument/2006/relationships/slide" Target="slides/slide470.xml"/><Relationship Id="rId462" Type="http://schemas.openxmlformats.org/officeDocument/2006/relationships/slide" Target="slides/slide471.xml"/><Relationship Id="rId464" Type="http://schemas.openxmlformats.org/officeDocument/2006/relationships/slide" Target="slides/slide473.xml"/><Relationship Id="rId465" Type="http://schemas.openxmlformats.org/officeDocument/2006/relationships/slide" Target="slides/slide474.xml"/><Relationship Id="rId467" Type="http://schemas.openxmlformats.org/officeDocument/2006/relationships/slide" Target="slides/slide476.xml"/><Relationship Id="rId468" Type="http://schemas.openxmlformats.org/officeDocument/2006/relationships/slide" Target="slides/slide477.xml"/><Relationship Id="rId469" Type="http://schemas.openxmlformats.org/officeDocument/2006/relationships/slide" Target="slides/slide478.xml"/><Relationship Id="rId470" Type="http://schemas.openxmlformats.org/officeDocument/2006/relationships/slide" Target="slides/slide479.xml"/><Relationship Id="rId471" Type="http://schemas.openxmlformats.org/officeDocument/2006/relationships/slide" Target="slides/slide480.xml"/><Relationship Id="rId472" Type="http://schemas.openxmlformats.org/officeDocument/2006/relationships/slide" Target="slides/slide481.xml"/><Relationship Id="rId474" Type="http://schemas.openxmlformats.org/officeDocument/2006/relationships/slide" Target="slides/slide483.xml"/><Relationship Id="rId475" Type="http://schemas.openxmlformats.org/officeDocument/2006/relationships/slide" Target="slides/slide484.xml"/><Relationship Id="rId477" Type="http://schemas.openxmlformats.org/officeDocument/2006/relationships/slide" Target="slides/slide486.xml"/><Relationship Id="rId478" Type="http://schemas.openxmlformats.org/officeDocument/2006/relationships/slide" Target="slides/slide487.xml"/><Relationship Id="rId479" Type="http://schemas.openxmlformats.org/officeDocument/2006/relationships/slide" Target="slides/slide488.xml"/><Relationship Id="rId480" Type="http://schemas.openxmlformats.org/officeDocument/2006/relationships/slide" Target="slides/slide489.xml"/><Relationship Id="rId481" Type="http://schemas.openxmlformats.org/officeDocument/2006/relationships/slide" Target="slides/slide490.xml"/><Relationship Id="rId483" Type="http://schemas.openxmlformats.org/officeDocument/2006/relationships/slide" Target="slides/slide492.xml"/><Relationship Id="rId484" Type="http://schemas.openxmlformats.org/officeDocument/2006/relationships/slide" Target="slides/slide493.xml"/><Relationship Id="rId487" Type="http://schemas.openxmlformats.org/officeDocument/2006/relationships/slide" Target="slides/slide496.xml"/><Relationship Id="rId488" Type="http://schemas.openxmlformats.org/officeDocument/2006/relationships/slide" Target="slides/slide497.xml"/><Relationship Id="rId489" Type="http://schemas.openxmlformats.org/officeDocument/2006/relationships/slide" Target="slides/slide498.xml"/><Relationship Id="rId490" Type="http://schemas.openxmlformats.org/officeDocument/2006/relationships/slide" Target="slides/slide499.xml"/><Relationship Id="rId491" Type="http://schemas.openxmlformats.org/officeDocument/2006/relationships/slide" Target="slides/slide500.xml"/><Relationship Id="rId492" Type="http://schemas.openxmlformats.org/officeDocument/2006/relationships/slide" Target="slides/slide501.xml"/><Relationship Id="rId493" Type="http://schemas.openxmlformats.org/officeDocument/2006/relationships/slide" Target="slides/slide502.xml"/><Relationship Id="rId494" Type="http://schemas.openxmlformats.org/officeDocument/2006/relationships/slide" Target="slides/slide503.xml"/><Relationship Id="rId495" Type="http://schemas.openxmlformats.org/officeDocument/2006/relationships/slide" Target="slides/slide504.xml"/><Relationship Id="rId496" Type="http://schemas.openxmlformats.org/officeDocument/2006/relationships/slide" Target="slides/slide505.xml"/><Relationship Id="rId497" Type="http://schemas.openxmlformats.org/officeDocument/2006/relationships/slide" Target="slides/slide506.xml"/><Relationship Id="rId498" Type="http://schemas.openxmlformats.org/officeDocument/2006/relationships/slide" Target="slides/slide507.xml"/><Relationship Id="rId499" Type="http://schemas.openxmlformats.org/officeDocument/2006/relationships/slide" Target="slides/slide508.xml"/><Relationship Id="rId500" Type="http://schemas.openxmlformats.org/officeDocument/2006/relationships/slide" Target="slides/slide509.xml"/><Relationship Id="rId501" Type="http://schemas.openxmlformats.org/officeDocument/2006/relationships/slide" Target="slides/slide510.xml"/><Relationship Id="rId502" Type="http://schemas.openxmlformats.org/officeDocument/2006/relationships/slide" Target="slides/slide511.xml"/><Relationship Id="rId503" Type="http://schemas.openxmlformats.org/officeDocument/2006/relationships/slide" Target="slides/slide512.xml"/><Relationship Id="rId504" Type="http://schemas.openxmlformats.org/officeDocument/2006/relationships/slide" Target="slides/slide513.xml"/><Relationship Id="rId505" Type="http://schemas.openxmlformats.org/officeDocument/2006/relationships/slide" Target="slides/slide514.xml"/><Relationship Id="rId506" Type="http://schemas.openxmlformats.org/officeDocument/2006/relationships/slide" Target="slides/slide515.xml"/><Relationship Id="rId507" Type="http://schemas.openxmlformats.org/officeDocument/2006/relationships/slide" Target="slides/slide516.xml"/><Relationship Id="rId508" Type="http://schemas.openxmlformats.org/officeDocument/2006/relationships/slide" Target="slides/slide517.xml"/><Relationship Id="rId509" Type="http://schemas.openxmlformats.org/officeDocument/2006/relationships/slide" Target="slides/slide518.xml"/><Relationship Id="rId510" Type="http://schemas.openxmlformats.org/officeDocument/2006/relationships/slide" Target="slides/slide519.xml"/><Relationship Id="rId511" Type="http://schemas.openxmlformats.org/officeDocument/2006/relationships/slide" Target="slides/slide520.xml"/><Relationship Id="rId512" Type="http://schemas.openxmlformats.org/officeDocument/2006/relationships/slide" Target="slides/slide521.xml"/><Relationship Id="rId513" Type="http://schemas.openxmlformats.org/officeDocument/2006/relationships/slide" Target="slides/slide522.xml"/><Relationship Id="rId514" Type="http://schemas.openxmlformats.org/officeDocument/2006/relationships/slide" Target="slides/slide523.xml"/><Relationship Id="rId516" Type="http://schemas.openxmlformats.org/officeDocument/2006/relationships/slide" Target="slides/slide525.xml"/><Relationship Id="rId517" Type="http://schemas.openxmlformats.org/officeDocument/2006/relationships/slide" Target="slides/slide526.xml"/><Relationship Id="rId520" Type="http://schemas.openxmlformats.org/officeDocument/2006/relationships/slide" Target="slides/slide529.xml"/><Relationship Id="rId521" Type="http://schemas.openxmlformats.org/officeDocument/2006/relationships/slide" Target="slides/slide530.xml"/><Relationship Id="rId522" Type="http://schemas.openxmlformats.org/officeDocument/2006/relationships/slide" Target="slides/slide531.xml"/><Relationship Id="rId523" Type="http://schemas.openxmlformats.org/officeDocument/2006/relationships/slide" Target="slides/slide532.xml"/><Relationship Id="rId524" Type="http://schemas.openxmlformats.org/officeDocument/2006/relationships/slide" Target="slides/slide533.xml"/><Relationship Id="rId525" Type="http://schemas.openxmlformats.org/officeDocument/2006/relationships/slide" Target="slides/slide534.xml"/><Relationship Id="rId526" Type="http://schemas.openxmlformats.org/officeDocument/2006/relationships/slide" Target="slides/slide535.xml"/><Relationship Id="rId528" Type="http://schemas.openxmlformats.org/officeDocument/2006/relationships/slide" Target="slides/slide537.xml"/><Relationship Id="rId529" Type="http://schemas.openxmlformats.org/officeDocument/2006/relationships/slide" Target="slides/slide538.xml"/><Relationship Id="rId531" Type="http://schemas.openxmlformats.org/officeDocument/2006/relationships/slide" Target="slides/slide540.xml"/><Relationship Id="rId532" Type="http://schemas.openxmlformats.org/officeDocument/2006/relationships/slide" Target="slides/slide541.xml"/><Relationship Id="rId533" Type="http://schemas.openxmlformats.org/officeDocument/2006/relationships/slide" Target="slides/slide542.xml"/><Relationship Id="rId534" Type="http://schemas.openxmlformats.org/officeDocument/2006/relationships/slide" Target="slides/slide543.xml"/><Relationship Id="rId535" Type="http://schemas.openxmlformats.org/officeDocument/2006/relationships/slide" Target="slides/slide544.xml"/><Relationship Id="rId537" Type="http://schemas.openxmlformats.org/officeDocument/2006/relationships/slide" Target="slides/slide546.xml"/><Relationship Id="rId538" Type="http://schemas.openxmlformats.org/officeDocument/2006/relationships/slide" Target="slides/slide547.xml"/><Relationship Id="rId540" Type="http://schemas.openxmlformats.org/officeDocument/2006/relationships/slide" Target="slides/slide549.xml"/><Relationship Id="rId541" Type="http://schemas.openxmlformats.org/officeDocument/2006/relationships/slide" Target="slides/slide550.xml"/><Relationship Id="rId542" Type="http://schemas.openxmlformats.org/officeDocument/2006/relationships/slide" Target="slides/slide551.xml"/><Relationship Id="rId543" Type="http://schemas.openxmlformats.org/officeDocument/2006/relationships/slide" Target="slides/slide552.xml"/><Relationship Id="rId544" Type="http://schemas.openxmlformats.org/officeDocument/2006/relationships/slide" Target="slides/slide553.xml"/><Relationship Id="rId545" Type="http://schemas.openxmlformats.org/officeDocument/2006/relationships/slide" Target="slides/slide554.xml"/><Relationship Id="rId546" Type="http://schemas.openxmlformats.org/officeDocument/2006/relationships/slide" Target="slides/slide555.xml"/><Relationship Id="rId548" Type="http://schemas.openxmlformats.org/officeDocument/2006/relationships/slide" Target="slides/slide557.xml"/><Relationship Id="rId549" Type="http://schemas.openxmlformats.org/officeDocument/2006/relationships/slide" Target="slides/slide558.xml"/><Relationship Id="rId551" Type="http://schemas.openxmlformats.org/officeDocument/2006/relationships/slide" Target="slides/slide560.xml"/><Relationship Id="rId552" Type="http://schemas.openxmlformats.org/officeDocument/2006/relationships/slide" Target="slides/slide561.xml"/><Relationship Id="rId553" Type="http://schemas.openxmlformats.org/officeDocument/2006/relationships/slide" Target="slides/slide562.xml"/><Relationship Id="rId554" Type="http://schemas.openxmlformats.org/officeDocument/2006/relationships/slide" Target="slides/slide563.xml"/><Relationship Id="rId555" Type="http://schemas.openxmlformats.org/officeDocument/2006/relationships/slide" Target="slides/slide564.xml"/><Relationship Id="rId556" Type="http://schemas.openxmlformats.org/officeDocument/2006/relationships/slide" Target="slides/slide565.xml"/><Relationship Id="rId558" Type="http://schemas.openxmlformats.org/officeDocument/2006/relationships/slide" Target="slides/slide567.xml"/><Relationship Id="rId559" Type="http://schemas.openxmlformats.org/officeDocument/2006/relationships/slide" Target="slides/slide568.xml"/><Relationship Id="rId561" Type="http://schemas.openxmlformats.org/officeDocument/2006/relationships/slide" Target="slides/slide570.xml"/><Relationship Id="rId562" Type="http://schemas.openxmlformats.org/officeDocument/2006/relationships/slide" Target="slides/slide571.xml"/><Relationship Id="rId563" Type="http://schemas.openxmlformats.org/officeDocument/2006/relationships/slide" Target="slides/slide572.xml"/><Relationship Id="rId564" Type="http://schemas.openxmlformats.org/officeDocument/2006/relationships/slide" Target="slides/slide573.xml"/><Relationship Id="rId565" Type="http://schemas.openxmlformats.org/officeDocument/2006/relationships/slide" Target="slides/slide574.xml"/><Relationship Id="rId566" Type="http://schemas.openxmlformats.org/officeDocument/2006/relationships/slide" Target="slides/slide575.xml"/><Relationship Id="rId568" Type="http://schemas.openxmlformats.org/officeDocument/2006/relationships/slide" Target="slides/slide577.xml"/><Relationship Id="rId569" Type="http://schemas.openxmlformats.org/officeDocument/2006/relationships/slide" Target="slides/slide578.xml"/><Relationship Id="rId571" Type="http://schemas.openxmlformats.org/officeDocument/2006/relationships/slide" Target="slides/slide580.xml"/><Relationship Id="rId572" Type="http://schemas.openxmlformats.org/officeDocument/2006/relationships/slide" Target="slides/slide581.xml"/><Relationship Id="rId573" Type="http://schemas.openxmlformats.org/officeDocument/2006/relationships/slide" Target="slides/slide582.xml"/><Relationship Id="rId574" Type="http://schemas.openxmlformats.org/officeDocument/2006/relationships/slide" Target="slides/slide583.xml"/><Relationship Id="rId575" Type="http://schemas.openxmlformats.org/officeDocument/2006/relationships/slide" Target="slides/slide584.xml"/><Relationship Id="rId577" Type="http://schemas.openxmlformats.org/officeDocument/2006/relationships/slide" Target="slides/slide586.xml"/><Relationship Id="rId578" Type="http://schemas.openxmlformats.org/officeDocument/2006/relationships/slide" Target="slides/slide587.xml"/><Relationship Id="rId581" Type="http://schemas.openxmlformats.org/officeDocument/2006/relationships/slide" Target="slides/slide590.xml"/><Relationship Id="rId582" Type="http://schemas.openxmlformats.org/officeDocument/2006/relationships/slide" Target="slides/slide591.xml"/><Relationship Id="rId583" Type="http://schemas.openxmlformats.org/officeDocument/2006/relationships/slide" Target="slides/slide592.xml"/><Relationship Id="rId584" Type="http://schemas.openxmlformats.org/officeDocument/2006/relationships/slide" Target="slides/slide593.xml"/><Relationship Id="rId585" Type="http://schemas.openxmlformats.org/officeDocument/2006/relationships/slide" Target="slides/slide594.xml"/><Relationship Id="rId586" Type="http://schemas.openxmlformats.org/officeDocument/2006/relationships/slide" Target="slides/slide595.xml"/><Relationship Id="rId587" Type="http://schemas.openxmlformats.org/officeDocument/2006/relationships/slide" Target="slides/slide596.xml"/><Relationship Id="rId588" Type="http://schemas.openxmlformats.org/officeDocument/2006/relationships/slide" Target="slides/slide597.xml"/><Relationship Id="rId589" Type="http://schemas.openxmlformats.org/officeDocument/2006/relationships/slide" Target="slides/slide598.xml"/><Relationship Id="rId590" Type="http://schemas.openxmlformats.org/officeDocument/2006/relationships/slide" Target="slides/slide599.xml"/><Relationship Id="rId591" Type="http://schemas.openxmlformats.org/officeDocument/2006/relationships/slide" Target="slides/slide600.xml"/><Relationship Id="rId592" Type="http://schemas.openxmlformats.org/officeDocument/2006/relationships/slide" Target="slides/slide601.xml"/><Relationship Id="rId593" Type="http://schemas.openxmlformats.org/officeDocument/2006/relationships/slide" Target="slides/slide602.xml"/><Relationship Id="rId594" Type="http://schemas.openxmlformats.org/officeDocument/2006/relationships/slide" Target="slides/slide603.xml"/><Relationship Id="rId595" Type="http://schemas.openxmlformats.org/officeDocument/2006/relationships/slide" Target="slides/slide604.xml"/><Relationship Id="rId596" Type="http://schemas.openxmlformats.org/officeDocument/2006/relationships/slide" Target="slides/slide605.xml"/><Relationship Id="rId597" Type="http://schemas.openxmlformats.org/officeDocument/2006/relationships/slide" Target="slides/slide606.xml"/><Relationship Id="rId598" Type="http://schemas.openxmlformats.org/officeDocument/2006/relationships/slide" Target="slides/slide607.xml"/><Relationship Id="rId599" Type="http://schemas.openxmlformats.org/officeDocument/2006/relationships/slide" Target="slides/slide608.xml"/><Relationship Id="rId600" Type="http://schemas.openxmlformats.org/officeDocument/2006/relationships/slide" Target="slides/slide609.xml"/><Relationship Id="rId601" Type="http://schemas.openxmlformats.org/officeDocument/2006/relationships/slide" Target="slides/slide610.xml"/><Relationship Id="rId602" Type="http://schemas.openxmlformats.org/officeDocument/2006/relationships/slide" Target="slides/slide611.xml"/><Relationship Id="rId603" Type="http://schemas.openxmlformats.org/officeDocument/2006/relationships/slide" Target="slides/slide612.xml"/><Relationship Id="rId604" Type="http://schemas.openxmlformats.org/officeDocument/2006/relationships/slide" Target="slides/slide613.xml"/><Relationship Id="rId605" Type="http://schemas.openxmlformats.org/officeDocument/2006/relationships/slide" Target="slides/slide614.xml"/><Relationship Id="rId606" Type="http://schemas.openxmlformats.org/officeDocument/2006/relationships/slide" Target="slides/slide615.xml"/><Relationship Id="rId607" Type="http://schemas.openxmlformats.org/officeDocument/2006/relationships/slide" Target="slides/slide616.xml"/><Relationship Id="rId608" Type="http://schemas.openxmlformats.org/officeDocument/2006/relationships/slide" Target="slides/slide617.xml"/><Relationship Id="rId610" Type="http://schemas.openxmlformats.org/officeDocument/2006/relationships/slide" Target="slides/slide619.xml"/><Relationship Id="rId611" Type="http://schemas.openxmlformats.org/officeDocument/2006/relationships/slide" Target="slides/slide620.xml"/><Relationship Id="rId614" Type="http://schemas.openxmlformats.org/officeDocument/2006/relationships/slide" Target="slides/slide623.xml"/><Relationship Id="rId615" Type="http://schemas.openxmlformats.org/officeDocument/2006/relationships/slide" Target="slides/slide624.xml"/><Relationship Id="rId616" Type="http://schemas.openxmlformats.org/officeDocument/2006/relationships/slide" Target="slides/slide625.xml"/><Relationship Id="rId617" Type="http://schemas.openxmlformats.org/officeDocument/2006/relationships/slide" Target="slides/slide626.xml"/><Relationship Id="rId618" Type="http://schemas.openxmlformats.org/officeDocument/2006/relationships/slide" Target="slides/slide627.xml"/><Relationship Id="rId619" Type="http://schemas.openxmlformats.org/officeDocument/2006/relationships/slide" Target="slides/slide628.xml"/><Relationship Id="rId620" Type="http://schemas.openxmlformats.org/officeDocument/2006/relationships/slide" Target="slides/slide629.xml"/><Relationship Id="rId622" Type="http://schemas.openxmlformats.org/officeDocument/2006/relationships/slide" Target="slides/slide631.xml"/><Relationship Id="rId623" Type="http://schemas.openxmlformats.org/officeDocument/2006/relationships/slide" Target="slides/slide632.xml"/><Relationship Id="rId625" Type="http://schemas.openxmlformats.org/officeDocument/2006/relationships/slide" Target="slides/slide634.xml"/><Relationship Id="rId626" Type="http://schemas.openxmlformats.org/officeDocument/2006/relationships/slide" Target="slides/slide635.xml"/><Relationship Id="rId627" Type="http://schemas.openxmlformats.org/officeDocument/2006/relationships/slide" Target="slides/slide636.xml"/><Relationship Id="rId628" Type="http://schemas.openxmlformats.org/officeDocument/2006/relationships/slide" Target="slides/slide637.xml"/><Relationship Id="rId629" Type="http://schemas.openxmlformats.org/officeDocument/2006/relationships/slide" Target="slides/slide638.xml"/><Relationship Id="rId631" Type="http://schemas.openxmlformats.org/officeDocument/2006/relationships/slide" Target="slides/slide640.xml"/><Relationship Id="rId632" Type="http://schemas.openxmlformats.org/officeDocument/2006/relationships/slide" Target="slides/slide641.xml"/><Relationship Id="rId634" Type="http://schemas.openxmlformats.org/officeDocument/2006/relationships/slide" Target="slides/slide643.xml"/><Relationship Id="rId635" Type="http://schemas.openxmlformats.org/officeDocument/2006/relationships/slide" Target="slides/slide644.xml"/><Relationship Id="rId636" Type="http://schemas.openxmlformats.org/officeDocument/2006/relationships/slide" Target="slides/slide645.xml"/><Relationship Id="rId637" Type="http://schemas.openxmlformats.org/officeDocument/2006/relationships/slide" Target="slides/slide646.xml"/><Relationship Id="rId638" Type="http://schemas.openxmlformats.org/officeDocument/2006/relationships/slide" Target="slides/slide647.xml"/><Relationship Id="rId639" Type="http://schemas.openxmlformats.org/officeDocument/2006/relationships/slide" Target="slides/slide648.xml"/><Relationship Id="rId640" Type="http://schemas.openxmlformats.org/officeDocument/2006/relationships/slide" Target="slides/slide649.xml"/><Relationship Id="rId642" Type="http://schemas.openxmlformats.org/officeDocument/2006/relationships/slide" Target="slides/slide651.xml"/><Relationship Id="rId643" Type="http://schemas.openxmlformats.org/officeDocument/2006/relationships/slide" Target="slides/slide652.xml"/><Relationship Id="rId645" Type="http://schemas.openxmlformats.org/officeDocument/2006/relationships/slide" Target="slides/slide654.xml"/><Relationship Id="rId646" Type="http://schemas.openxmlformats.org/officeDocument/2006/relationships/slide" Target="slides/slide655.xml"/><Relationship Id="rId647" Type="http://schemas.openxmlformats.org/officeDocument/2006/relationships/slide" Target="slides/slide656.xml"/><Relationship Id="rId648" Type="http://schemas.openxmlformats.org/officeDocument/2006/relationships/slide" Target="slides/slide657.xml"/><Relationship Id="rId649" Type="http://schemas.openxmlformats.org/officeDocument/2006/relationships/slide" Target="slides/slide658.xml"/><Relationship Id="rId650" Type="http://schemas.openxmlformats.org/officeDocument/2006/relationships/slide" Target="slides/slide659.xml"/><Relationship Id="rId652" Type="http://schemas.openxmlformats.org/officeDocument/2006/relationships/slide" Target="slides/slide661.xml"/><Relationship Id="rId653" Type="http://schemas.openxmlformats.org/officeDocument/2006/relationships/slide" Target="slides/slide662.xml"/><Relationship Id="rId655" Type="http://schemas.openxmlformats.org/officeDocument/2006/relationships/slide" Target="slides/slide664.xml"/><Relationship Id="rId656" Type="http://schemas.openxmlformats.org/officeDocument/2006/relationships/slide" Target="slides/slide665.xml"/><Relationship Id="rId657" Type="http://schemas.openxmlformats.org/officeDocument/2006/relationships/slide" Target="slides/slide666.xml"/><Relationship Id="rId658" Type="http://schemas.openxmlformats.org/officeDocument/2006/relationships/slide" Target="slides/slide667.xml"/><Relationship Id="rId659" Type="http://schemas.openxmlformats.org/officeDocument/2006/relationships/slide" Target="slides/slide668.xml"/><Relationship Id="rId660" Type="http://schemas.openxmlformats.org/officeDocument/2006/relationships/slide" Target="slides/slide669.xml"/><Relationship Id="rId662" Type="http://schemas.openxmlformats.org/officeDocument/2006/relationships/slide" Target="slides/slide671.xml"/><Relationship Id="rId663" Type="http://schemas.openxmlformats.org/officeDocument/2006/relationships/slide" Target="slides/slide672.xml"/><Relationship Id="rId665" Type="http://schemas.openxmlformats.org/officeDocument/2006/relationships/slide" Target="slides/slide674.xml"/><Relationship Id="rId666" Type="http://schemas.openxmlformats.org/officeDocument/2006/relationships/slide" Target="slides/slide675.xml"/><Relationship Id="rId667" Type="http://schemas.openxmlformats.org/officeDocument/2006/relationships/slide" Target="slides/slide676.xml"/><Relationship Id="rId668" Type="http://schemas.openxmlformats.org/officeDocument/2006/relationships/slide" Target="slides/slide677.xml"/><Relationship Id="rId669" Type="http://schemas.openxmlformats.org/officeDocument/2006/relationships/slide" Target="slides/slide678.xml"/><Relationship Id="rId671" Type="http://schemas.openxmlformats.org/officeDocument/2006/relationships/slide" Target="slides/slide680.xml"/><Relationship Id="rId672" Type="http://schemas.openxmlformats.org/officeDocument/2006/relationships/slide" Target="slides/slide681.xml"/><Relationship Id="rId675" Type="http://schemas.openxmlformats.org/officeDocument/2006/relationships/slide" Target="slides/slide684.xml"/><Relationship Id="rId676" Type="http://schemas.openxmlformats.org/officeDocument/2006/relationships/slide" Target="slides/slide685.xml"/><Relationship Id="rId677" Type="http://schemas.openxmlformats.org/officeDocument/2006/relationships/slide" Target="slides/slide686.xml"/><Relationship Id="rId678" Type="http://schemas.openxmlformats.org/officeDocument/2006/relationships/slide" Target="slides/slide687.xml"/><Relationship Id="rId679" Type="http://schemas.openxmlformats.org/officeDocument/2006/relationships/slide" Target="slides/slide688.xml"/><Relationship Id="rId680" Type="http://schemas.openxmlformats.org/officeDocument/2006/relationships/slide" Target="slides/slide689.xml"/><Relationship Id="rId681" Type="http://schemas.openxmlformats.org/officeDocument/2006/relationships/slide" Target="slides/slide690.xml"/><Relationship Id="rId682" Type="http://schemas.openxmlformats.org/officeDocument/2006/relationships/slide" Target="slides/slide691.xml"/><Relationship Id="rId683" Type="http://schemas.openxmlformats.org/officeDocument/2006/relationships/slide" Target="slides/slide692.xml"/><Relationship Id="rId684" Type="http://schemas.openxmlformats.org/officeDocument/2006/relationships/slide" Target="slides/slide693.xml"/><Relationship Id="rId685" Type="http://schemas.openxmlformats.org/officeDocument/2006/relationships/slide" Target="slides/slide694.xml"/><Relationship Id="rId686" Type="http://schemas.openxmlformats.org/officeDocument/2006/relationships/slide" Target="slides/slide695.xml"/><Relationship Id="rId688" Type="http://schemas.openxmlformats.org/officeDocument/2006/relationships/slide" Target="slides/slide697.xml"/><Relationship Id="rId690" Type="http://schemas.openxmlformats.org/officeDocument/2006/relationships/slide" Target="slides/slide699.xml"/><Relationship Id="rId691" Type="http://schemas.openxmlformats.org/officeDocument/2006/relationships/slide" Target="slides/slide700.xml"/><Relationship Id="rId692" Type="http://schemas.openxmlformats.org/officeDocument/2006/relationships/slide" Target="slides/slide701.xml"/><Relationship Id="rId693" Type="http://schemas.openxmlformats.org/officeDocument/2006/relationships/slide" Target="slides/slide702.xml"/><Relationship Id="rId694" Type="http://schemas.openxmlformats.org/officeDocument/2006/relationships/slide" Target="slides/slide703.xml"/><Relationship Id="rId695" Type="http://schemas.openxmlformats.org/officeDocument/2006/relationships/slide" Target="slides/slide704.xml"/><Relationship Id="rId696" Type="http://schemas.openxmlformats.org/officeDocument/2006/relationships/slide" Target="slides/slide705.xml"/><Relationship Id="rId697" Type="http://schemas.openxmlformats.org/officeDocument/2006/relationships/slide" Target="slides/slide706.xml"/><Relationship Id="rId698" Type="http://schemas.openxmlformats.org/officeDocument/2006/relationships/slide" Target="slides/slide707.xml"/><Relationship Id="rId699" Type="http://schemas.openxmlformats.org/officeDocument/2006/relationships/slide" Target="slides/slide708.xml"/><Relationship Id="rId700" Type="http://schemas.openxmlformats.org/officeDocument/2006/relationships/slide" Target="slides/slide709.xml"/><Relationship Id="rId701" Type="http://schemas.openxmlformats.org/officeDocument/2006/relationships/slide" Target="slides/slide710.xml"/><Relationship Id="rId702" Type="http://schemas.openxmlformats.org/officeDocument/2006/relationships/slide" Target="slides/slide711.xml"/><Relationship Id="rId703" Type="http://schemas.openxmlformats.org/officeDocument/2006/relationships/slide" Target="slides/slide712.xml"/><Relationship Id="rId704" Type="http://schemas.openxmlformats.org/officeDocument/2006/relationships/slide" Target="slides/slide713.xml"/><Relationship Id="rId705" Type="http://schemas.openxmlformats.org/officeDocument/2006/relationships/slide" Target="slides/slide714.xml"/><Relationship Id="rId706" Type="http://schemas.openxmlformats.org/officeDocument/2006/relationships/slide" Target="slides/slide715.xml"/><Relationship Id="rId707" Type="http://schemas.openxmlformats.org/officeDocument/2006/relationships/slide" Target="slides/slide716.xml"/><Relationship Id="rId708" Type="http://schemas.openxmlformats.org/officeDocument/2006/relationships/slide" Target="slides/slide717.xml"/><Relationship Id="rId709" Type="http://schemas.openxmlformats.org/officeDocument/2006/relationships/slide" Target="slides/slide718.xml"/><Relationship Id="rId710" Type="http://schemas.openxmlformats.org/officeDocument/2006/relationships/slide" Target="slides/slide719.xml"/><Relationship Id="rId711" Type="http://schemas.openxmlformats.org/officeDocument/2006/relationships/slide" Target="slides/slide720.xml"/><Relationship Id="rId712" Type="http://schemas.openxmlformats.org/officeDocument/2006/relationships/slide" Target="slides/slide721.xml"/><Relationship Id="rId714" Type="http://schemas.openxmlformats.org/officeDocument/2006/relationships/slide" Target="slides/slide723.xml"/><Relationship Id="rId716" Type="http://schemas.openxmlformats.org/officeDocument/2006/relationships/slide" Target="slides/slide725.xml"/><Relationship Id="rId717" Type="http://schemas.openxmlformats.org/officeDocument/2006/relationships/slide" Target="slides/slide726.xml"/><Relationship Id="rId718" Type="http://schemas.openxmlformats.org/officeDocument/2006/relationships/slide" Target="slides/slide727.xml"/><Relationship Id="rId719" Type="http://schemas.openxmlformats.org/officeDocument/2006/relationships/slide" Target="slides/slide728.xml"/><Relationship Id="rId720" Type="http://schemas.openxmlformats.org/officeDocument/2006/relationships/slide" Target="slides/slide729.xml"/><Relationship Id="rId721" Type="http://schemas.openxmlformats.org/officeDocument/2006/relationships/slide" Target="slides/slide730.xml"/><Relationship Id="rId722" Type="http://schemas.openxmlformats.org/officeDocument/2006/relationships/slide" Target="slides/slide731.xml"/><Relationship Id="rId724" Type="http://schemas.openxmlformats.org/officeDocument/2006/relationships/slide" Target="slides/slide733.xml"/><Relationship Id="rId726" Type="http://schemas.openxmlformats.org/officeDocument/2006/relationships/slide" Target="slides/slide735.xml"/><Relationship Id="rId727" Type="http://schemas.openxmlformats.org/officeDocument/2006/relationships/slide" Target="slides/slide736.xml"/><Relationship Id="rId728" Type="http://schemas.openxmlformats.org/officeDocument/2006/relationships/slide" Target="slides/slide737.xml"/><Relationship Id="rId729" Type="http://schemas.openxmlformats.org/officeDocument/2006/relationships/slide" Target="slides/slide738.xml"/><Relationship Id="rId730" Type="http://schemas.openxmlformats.org/officeDocument/2006/relationships/slide" Target="slides/slide739.xml"/><Relationship Id="rId731" Type="http://schemas.openxmlformats.org/officeDocument/2006/relationships/slide" Target="slides/slide740.xml"/><Relationship Id="rId732" Type="http://schemas.openxmlformats.org/officeDocument/2006/relationships/slide" Target="slides/slide741.xml"/><Relationship Id="rId733" Type="http://schemas.openxmlformats.org/officeDocument/2006/relationships/slide" Target="slides/slide742.xml"/><Relationship Id="rId734" Type="http://schemas.openxmlformats.org/officeDocument/2006/relationships/slide" Target="slides/slide743.xml"/><Relationship Id="rId735" Type="http://schemas.openxmlformats.org/officeDocument/2006/relationships/slide" Target="slides/slide744.xml"/><Relationship Id="rId736" Type="http://schemas.openxmlformats.org/officeDocument/2006/relationships/slide" Target="slides/slide745.xml"/><Relationship Id="rId737" Type="http://schemas.openxmlformats.org/officeDocument/2006/relationships/slide" Target="slides/slide746.xml"/><Relationship Id="rId738" Type="http://schemas.openxmlformats.org/officeDocument/2006/relationships/slide" Target="slides/slide747.xml"/><Relationship Id="rId739" Type="http://schemas.openxmlformats.org/officeDocument/2006/relationships/slide" Target="slides/slide748.xml"/><Relationship Id="rId740" Type="http://schemas.openxmlformats.org/officeDocument/2006/relationships/slide" Target="slides/slide749.xml"/><Relationship Id="rId741" Type="http://schemas.openxmlformats.org/officeDocument/2006/relationships/slide" Target="slides/slide750.xml"/><Relationship Id="rId742" Type="http://schemas.openxmlformats.org/officeDocument/2006/relationships/slide" Target="slides/slide751.xml"/><Relationship Id="rId744" Type="http://schemas.openxmlformats.org/officeDocument/2006/relationships/slide" Target="slides/slide753.xml"/><Relationship Id="rId746" Type="http://schemas.openxmlformats.org/officeDocument/2006/relationships/slide" Target="slides/slide755.xml"/><Relationship Id="rId747" Type="http://schemas.openxmlformats.org/officeDocument/2006/relationships/slide" Target="slides/slide756.xml"/><Relationship Id="rId748" Type="http://schemas.openxmlformats.org/officeDocument/2006/relationships/slide" Target="slides/slide757.xml"/><Relationship Id="rId749" Type="http://schemas.openxmlformats.org/officeDocument/2006/relationships/slide" Target="slides/slide758.xml"/><Relationship Id="rId750" Type="http://schemas.openxmlformats.org/officeDocument/2006/relationships/slide" Target="slides/slide759.xml"/><Relationship Id="rId751" Type="http://schemas.openxmlformats.org/officeDocument/2006/relationships/slide" Target="slides/slide760.xml"/><Relationship Id="rId752" Type="http://schemas.openxmlformats.org/officeDocument/2006/relationships/slide" Target="slides/slide761.xml"/><Relationship Id="rId754" Type="http://schemas.openxmlformats.org/officeDocument/2006/relationships/slide" Target="slides/slide763.xml"/><Relationship Id="rId756" Type="http://schemas.openxmlformats.org/officeDocument/2006/relationships/slide" Target="slides/slide765.xml"/><Relationship Id="rId757" Type="http://schemas.openxmlformats.org/officeDocument/2006/relationships/slide" Target="slides/slide766.xml"/><Relationship Id="rId758" Type="http://schemas.openxmlformats.org/officeDocument/2006/relationships/slide" Target="slides/slide767.xml"/><Relationship Id="rId759" Type="http://schemas.openxmlformats.org/officeDocument/2006/relationships/slide" Target="slides/slide768.xml"/><Relationship Id="rId760" Type="http://schemas.openxmlformats.org/officeDocument/2006/relationships/slide" Target="slides/slide769.xml"/><Relationship Id="rId761" Type="http://schemas.openxmlformats.org/officeDocument/2006/relationships/slide" Target="slides/slide770.xml"/><Relationship Id="rId762" Type="http://schemas.openxmlformats.org/officeDocument/2006/relationships/slide" Target="slides/slide771.xml"/><Relationship Id="rId763" Type="http://schemas.openxmlformats.org/officeDocument/2006/relationships/slide" Target="slides/slide772.xml"/><Relationship Id="rId764" Type="http://schemas.openxmlformats.org/officeDocument/2006/relationships/slide" Target="slides/slide773.xml"/><Relationship Id="rId765" Type="http://schemas.openxmlformats.org/officeDocument/2006/relationships/slide" Target="slides/slide774.xml"/><Relationship Id="rId766" Type="http://schemas.openxmlformats.org/officeDocument/2006/relationships/slide" Target="slides/slide775.xml"/><Relationship Id="rId767" Type="http://schemas.openxmlformats.org/officeDocument/2006/relationships/slide" Target="slides/slide776.xml"/><Relationship Id="rId768" Type="http://schemas.openxmlformats.org/officeDocument/2006/relationships/slide" Target="slides/slide777.xml"/><Relationship Id="rId769" Type="http://schemas.openxmlformats.org/officeDocument/2006/relationships/slide" Target="slides/slide778.xml"/><Relationship Id="rId770" Type="http://schemas.openxmlformats.org/officeDocument/2006/relationships/slide" Target="slides/slide779.xml"/><Relationship Id="rId771" Type="http://schemas.openxmlformats.org/officeDocument/2006/relationships/slide" Target="slides/slide780.xml"/><Relationship Id="rId772" Type="http://schemas.openxmlformats.org/officeDocument/2006/relationships/slide" Target="slides/slide781.xml"/><Relationship Id="rId774" Type="http://schemas.openxmlformats.org/officeDocument/2006/relationships/slide" Target="slides/slide783.xml"/><Relationship Id="rId776" Type="http://schemas.openxmlformats.org/officeDocument/2006/relationships/slide" Target="slides/slide785.xml"/><Relationship Id="rId777" Type="http://schemas.openxmlformats.org/officeDocument/2006/relationships/slide" Target="slides/slide786.xml"/><Relationship Id="rId778" Type="http://schemas.openxmlformats.org/officeDocument/2006/relationships/slide" Target="slides/slide787.xml"/><Relationship Id="rId779" Type="http://schemas.openxmlformats.org/officeDocument/2006/relationships/slide" Target="slides/slide788.xml"/><Relationship Id="rId780" Type="http://schemas.openxmlformats.org/officeDocument/2006/relationships/slide" Target="slides/slide789.xml"/><Relationship Id="rId781" Type="http://schemas.openxmlformats.org/officeDocument/2006/relationships/slide" Target="slides/slide790.xml"/><Relationship Id="rId782" Type="http://schemas.openxmlformats.org/officeDocument/2006/relationships/slide" Target="slides/slide791.xml"/><Relationship Id="rId784" Type="http://schemas.openxmlformats.org/officeDocument/2006/relationships/slide" Target="slides/slide793.xml"/><Relationship Id="rId786" Type="http://schemas.openxmlformats.org/officeDocument/2006/relationships/slide" Target="slides/slide795.xml"/><Relationship Id="rId787" Type="http://schemas.openxmlformats.org/officeDocument/2006/relationships/slide" Target="slides/slide796.xml"/><Relationship Id="rId788" Type="http://schemas.openxmlformats.org/officeDocument/2006/relationships/slide" Target="slides/slide797.xml"/><Relationship Id="rId789" Type="http://schemas.openxmlformats.org/officeDocument/2006/relationships/slide" Target="slides/slide798.xml"/><Relationship Id="rId790" Type="http://schemas.openxmlformats.org/officeDocument/2006/relationships/slide" Target="slides/slide799.xml"/><Relationship Id="rId791" Type="http://schemas.openxmlformats.org/officeDocument/2006/relationships/slide" Target="slides/slide800.xml"/><Relationship Id="rId792" Type="http://schemas.openxmlformats.org/officeDocument/2006/relationships/slide" Target="slides/slide801.xml"/><Relationship Id="rId793" Type="http://schemas.openxmlformats.org/officeDocument/2006/relationships/slide" Target="slides/slide802.xml"/><Relationship Id="rId794" Type="http://schemas.openxmlformats.org/officeDocument/2006/relationships/slide" Target="slides/slide803.xml"/><Relationship Id="rId795" Type="http://schemas.openxmlformats.org/officeDocument/2006/relationships/slide" Target="slides/slide804.xml"/><Relationship Id="rId796" Type="http://schemas.openxmlformats.org/officeDocument/2006/relationships/slide" Target="slides/slide805.xml"/><Relationship Id="rId797" Type="http://schemas.openxmlformats.org/officeDocument/2006/relationships/slide" Target="slides/slide806.xml"/><Relationship Id="rId798" Type="http://schemas.openxmlformats.org/officeDocument/2006/relationships/slide" Target="slides/slide807.xml"/><Relationship Id="rId799" Type="http://schemas.openxmlformats.org/officeDocument/2006/relationships/slide" Target="slides/slide808.xml"/><Relationship Id="rId800" Type="http://schemas.openxmlformats.org/officeDocument/2006/relationships/slide" Target="slides/slide809.xml"/><Relationship Id="rId801" Type="http://schemas.openxmlformats.org/officeDocument/2006/relationships/slide" Target="slides/slide810.xml"/><Relationship Id="rId802" Type="http://schemas.openxmlformats.org/officeDocument/2006/relationships/slide" Target="slides/slide811.xml"/><Relationship Id="rId804" Type="http://schemas.openxmlformats.org/officeDocument/2006/relationships/slide" Target="slides/slide813.xml"/><Relationship Id="rId806" Type="http://schemas.openxmlformats.org/officeDocument/2006/relationships/slide" Target="slides/slide815.xml"/><Relationship Id="rId807" Type="http://schemas.openxmlformats.org/officeDocument/2006/relationships/slide" Target="slides/slide816.xml"/><Relationship Id="rId808" Type="http://schemas.openxmlformats.org/officeDocument/2006/relationships/slide" Target="slides/slide817.xml"/><Relationship Id="rId809" Type="http://schemas.openxmlformats.org/officeDocument/2006/relationships/slide" Target="slides/slide818.xml"/><Relationship Id="rId810" Type="http://schemas.openxmlformats.org/officeDocument/2006/relationships/slide" Target="slides/slide819.xml"/><Relationship Id="rId811" Type="http://schemas.openxmlformats.org/officeDocument/2006/relationships/slide" Target="slides/slide820.xml"/><Relationship Id="rId812" Type="http://schemas.openxmlformats.org/officeDocument/2006/relationships/slide" Target="slides/slide821.xml"/><Relationship Id="rId814" Type="http://schemas.openxmlformats.org/officeDocument/2006/relationships/slide" Target="slides/slide823.xml"/><Relationship Id="rId816" Type="http://schemas.openxmlformats.org/officeDocument/2006/relationships/slide" Target="slides/slide825.xml"/><Relationship Id="rId817" Type="http://schemas.openxmlformats.org/officeDocument/2006/relationships/slide" Target="slides/slide826.xml"/><Relationship Id="rId818" Type="http://schemas.openxmlformats.org/officeDocument/2006/relationships/slide" Target="slides/slide827.xml"/><Relationship Id="rId819" Type="http://schemas.openxmlformats.org/officeDocument/2006/relationships/slide" Target="slides/slide828.xml"/><Relationship Id="rId820" Type="http://schemas.openxmlformats.org/officeDocument/2006/relationships/slide" Target="slides/slide829.xml"/><Relationship Id="rId821" Type="http://schemas.openxmlformats.org/officeDocument/2006/relationships/slide" Target="slides/slide830.xml"/><Relationship Id="rId822" Type="http://schemas.openxmlformats.org/officeDocument/2006/relationships/slide" Target="slides/slide831.xml"/><Relationship Id="rId823" Type="http://schemas.openxmlformats.org/officeDocument/2006/relationships/slide" Target="slides/slide832.xml"/><Relationship Id="rId824" Type="http://schemas.openxmlformats.org/officeDocument/2006/relationships/slide" Target="slides/slide833.xml"/><Relationship Id="rId825" Type="http://schemas.openxmlformats.org/officeDocument/2006/relationships/slide" Target="slides/slide834.xml"/><Relationship Id="rId826" Type="http://schemas.openxmlformats.org/officeDocument/2006/relationships/slide" Target="slides/slide835.xml"/><Relationship Id="rId827" Type="http://schemas.openxmlformats.org/officeDocument/2006/relationships/slide" Target="slides/slide836.xml"/><Relationship Id="rId828" Type="http://schemas.openxmlformats.org/officeDocument/2006/relationships/slide" Target="slides/slide837.xml"/><Relationship Id="rId829" Type="http://schemas.openxmlformats.org/officeDocument/2006/relationships/slide" Target="slides/slide838.xml"/><Relationship Id="rId830" Type="http://schemas.openxmlformats.org/officeDocument/2006/relationships/slide" Target="slides/slide839.xml"/><Relationship Id="rId831" Type="http://schemas.openxmlformats.org/officeDocument/2006/relationships/slide" Target="slides/slide840.xml"/><Relationship Id="rId832" Type="http://schemas.openxmlformats.org/officeDocument/2006/relationships/slide" Target="slides/slide841.xml"/><Relationship Id="rId834" Type="http://schemas.openxmlformats.org/officeDocument/2006/relationships/slide" Target="slides/slide843.xml"/><Relationship Id="rId836" Type="http://schemas.openxmlformats.org/officeDocument/2006/relationships/slide" Target="slides/slide845.xml"/><Relationship Id="rId837" Type="http://schemas.openxmlformats.org/officeDocument/2006/relationships/slide" Target="slides/slide846.xml"/><Relationship Id="rId838" Type="http://schemas.openxmlformats.org/officeDocument/2006/relationships/slide" Target="slides/slide847.xml"/><Relationship Id="rId839" Type="http://schemas.openxmlformats.org/officeDocument/2006/relationships/slide" Target="slides/slide848.xml"/><Relationship Id="rId840" Type="http://schemas.openxmlformats.org/officeDocument/2006/relationships/slide" Target="slides/slide849.xml"/><Relationship Id="rId841" Type="http://schemas.openxmlformats.org/officeDocument/2006/relationships/slide" Target="slides/slide850.xml"/><Relationship Id="rId842" Type="http://schemas.openxmlformats.org/officeDocument/2006/relationships/slide" Target="slides/slide851.xml"/><Relationship Id="rId844" Type="http://schemas.openxmlformats.org/officeDocument/2006/relationships/slide" Target="slides/slide853.xml"/><Relationship Id="rId846" Type="http://schemas.openxmlformats.org/officeDocument/2006/relationships/slide" Target="slides/slide855.xml"/><Relationship Id="rId847" Type="http://schemas.openxmlformats.org/officeDocument/2006/relationships/slide" Target="slides/slide856.xml"/><Relationship Id="rId848" Type="http://schemas.openxmlformats.org/officeDocument/2006/relationships/slide" Target="slides/slide857.xml"/><Relationship Id="rId849" Type="http://schemas.openxmlformats.org/officeDocument/2006/relationships/slide" Target="slides/slide858.xml"/><Relationship Id="rId850" Type="http://schemas.openxmlformats.org/officeDocument/2006/relationships/slide" Target="slides/slide859.xml"/><Relationship Id="rId851" Type="http://schemas.openxmlformats.org/officeDocument/2006/relationships/slide" Target="slides/slide860.xml"/><Relationship Id="rId852" Type="http://schemas.openxmlformats.org/officeDocument/2006/relationships/slide" Target="slides/slide861.xml"/><Relationship Id="rId853" Type="http://schemas.openxmlformats.org/officeDocument/2006/relationships/slide" Target="slides/slide862.xml"/><Relationship Id="rId854" Type="http://schemas.openxmlformats.org/officeDocument/2006/relationships/slide" Target="slides/slide863.xml"/><Relationship Id="rId855" Type="http://schemas.openxmlformats.org/officeDocument/2006/relationships/slide" Target="slides/slide864.xml"/><Relationship Id="rId856" Type="http://schemas.openxmlformats.org/officeDocument/2006/relationships/slide" Target="slides/slide865.xml"/><Relationship Id="rId857" Type="http://schemas.openxmlformats.org/officeDocument/2006/relationships/slide" Target="slides/slide866.xml"/><Relationship Id="rId858" Type="http://schemas.openxmlformats.org/officeDocument/2006/relationships/slide" Target="slides/slide867.xml"/><Relationship Id="rId859" Type="http://schemas.openxmlformats.org/officeDocument/2006/relationships/slide" Target="slides/slide868.xml"/><Relationship Id="rId860" Type="http://schemas.openxmlformats.org/officeDocument/2006/relationships/slide" Target="slides/slide869.xml"/><Relationship Id="rId861" Type="http://schemas.openxmlformats.org/officeDocument/2006/relationships/slide" Target="slides/slide870.xml"/><Relationship Id="rId862" Type="http://schemas.openxmlformats.org/officeDocument/2006/relationships/slide" Target="slides/slide871.xml"/><Relationship Id="rId864" Type="http://schemas.openxmlformats.org/officeDocument/2006/relationships/slide" Target="slides/slide873.xml"/><Relationship Id="rId866" Type="http://schemas.openxmlformats.org/officeDocument/2006/relationships/slide" Target="slides/slide875.xml"/><Relationship Id="rId867" Type="http://schemas.openxmlformats.org/officeDocument/2006/relationships/slide" Target="slides/slide876.xml"/><Relationship Id="rId868" Type="http://schemas.openxmlformats.org/officeDocument/2006/relationships/slide" Target="slides/slide877.xml"/><Relationship Id="rId869" Type="http://schemas.openxmlformats.org/officeDocument/2006/relationships/slide" Target="slides/slide878.xml"/><Relationship Id="rId870" Type="http://schemas.openxmlformats.org/officeDocument/2006/relationships/slide" Target="slides/slide879.xml"/><Relationship Id="rId871" Type="http://schemas.openxmlformats.org/officeDocument/2006/relationships/slide" Target="slides/slide880.xml"/><Relationship Id="rId872" Type="http://schemas.openxmlformats.org/officeDocument/2006/relationships/slide" Target="slides/slide881.xml"/><Relationship Id="rId874" Type="http://schemas.openxmlformats.org/officeDocument/2006/relationships/slide" Target="slides/slide883.xml"/><Relationship Id="rId876" Type="http://schemas.openxmlformats.org/officeDocument/2006/relationships/slide" Target="slides/slide885.xml"/><Relationship Id="rId877" Type="http://schemas.openxmlformats.org/officeDocument/2006/relationships/slide" Target="slides/slide886.xml"/><Relationship Id="rId878" Type="http://schemas.openxmlformats.org/officeDocument/2006/relationships/slide" Target="slides/slide887.xml"/><Relationship Id="rId879" Type="http://schemas.openxmlformats.org/officeDocument/2006/relationships/slide" Target="slides/slide888.xml"/><Relationship Id="rId880" Type="http://schemas.openxmlformats.org/officeDocument/2006/relationships/slide" Target="slides/slide889.xml"/><Relationship Id="rId881" Type="http://schemas.openxmlformats.org/officeDocument/2006/relationships/slide" Target="slides/slide890.xml"/><Relationship Id="rId882" Type="http://schemas.openxmlformats.org/officeDocument/2006/relationships/slide" Target="slides/slide891.xml"/><Relationship Id="rId883" Type="http://schemas.openxmlformats.org/officeDocument/2006/relationships/slide" Target="slides/slide892.xml"/><Relationship Id="rId884" Type="http://schemas.openxmlformats.org/officeDocument/2006/relationships/slide" Target="slides/slide893.xml"/><Relationship Id="rId885" Type="http://schemas.openxmlformats.org/officeDocument/2006/relationships/slide" Target="slides/slide894.xml"/><Relationship Id="rId886" Type="http://schemas.openxmlformats.org/officeDocument/2006/relationships/slide" Target="slides/slide895.xml"/><Relationship Id="rId887" Type="http://schemas.openxmlformats.org/officeDocument/2006/relationships/slide" Target="slides/slide896.xml"/><Relationship Id="rId888" Type="http://schemas.openxmlformats.org/officeDocument/2006/relationships/slide" Target="slides/slide897.xml"/><Relationship Id="rId889" Type="http://schemas.openxmlformats.org/officeDocument/2006/relationships/slide" Target="slides/slide898.xml"/><Relationship Id="rId890" Type="http://schemas.openxmlformats.org/officeDocument/2006/relationships/slide" Target="slides/slide899.xml"/><Relationship Id="rId891" Type="http://schemas.openxmlformats.org/officeDocument/2006/relationships/slide" Target="slides/slide900.xml"/><Relationship Id="rId892" Type="http://schemas.openxmlformats.org/officeDocument/2006/relationships/slide" Target="slides/slide901.xml"/><Relationship Id="rId894" Type="http://schemas.openxmlformats.org/officeDocument/2006/relationships/slide" Target="slides/slide903.xml"/><Relationship Id="rId896" Type="http://schemas.openxmlformats.org/officeDocument/2006/relationships/slide" Target="slides/slide905.xml"/><Relationship Id="rId897" Type="http://schemas.openxmlformats.org/officeDocument/2006/relationships/slide" Target="slides/slide906.xml"/><Relationship Id="rId898" Type="http://schemas.openxmlformats.org/officeDocument/2006/relationships/slide" Target="slides/slide907.xml"/><Relationship Id="rId899" Type="http://schemas.openxmlformats.org/officeDocument/2006/relationships/slide" Target="slides/slide908.xml"/><Relationship Id="rId900" Type="http://schemas.openxmlformats.org/officeDocument/2006/relationships/slide" Target="slides/slide909.xml"/><Relationship Id="rId901" Type="http://schemas.openxmlformats.org/officeDocument/2006/relationships/slide" Target="slides/slide910.xml"/><Relationship Id="rId902" Type="http://schemas.openxmlformats.org/officeDocument/2006/relationships/slide" Target="slides/slide911.xml"/><Relationship Id="rId904" Type="http://schemas.openxmlformats.org/officeDocument/2006/relationships/slide" Target="slides/slide913.xml"/><Relationship Id="rId906" Type="http://schemas.openxmlformats.org/officeDocument/2006/relationships/slide" Target="slides/slide915.xml"/><Relationship Id="rId907" Type="http://schemas.openxmlformats.org/officeDocument/2006/relationships/slide" Target="slides/slide916.xml"/><Relationship Id="rId908" Type="http://schemas.openxmlformats.org/officeDocument/2006/relationships/slide" Target="slides/slide917.xml"/><Relationship Id="rId909" Type="http://schemas.openxmlformats.org/officeDocument/2006/relationships/slide" Target="slides/slide918.xml"/><Relationship Id="rId910" Type="http://schemas.openxmlformats.org/officeDocument/2006/relationships/slide" Target="slides/slide919.xml"/><Relationship Id="rId911" Type="http://schemas.openxmlformats.org/officeDocument/2006/relationships/slide" Target="slides/slide920.xml"/><Relationship Id="rId912" Type="http://schemas.openxmlformats.org/officeDocument/2006/relationships/slide" Target="slides/slide921.xml"/><Relationship Id="rId913" Type="http://schemas.openxmlformats.org/officeDocument/2006/relationships/slide" Target="slides/slide922.xml"/><Relationship Id="rId914" Type="http://schemas.openxmlformats.org/officeDocument/2006/relationships/slide" Target="slides/slide923.xml"/><Relationship Id="rId915" Type="http://schemas.openxmlformats.org/officeDocument/2006/relationships/slide" Target="slides/slide924.xml"/><Relationship Id="rId916" Type="http://schemas.openxmlformats.org/officeDocument/2006/relationships/slide" Target="slides/slide925.xml"/><Relationship Id="rId917" Type="http://schemas.openxmlformats.org/officeDocument/2006/relationships/slide" Target="slides/slide926.xml"/><Relationship Id="rId918" Type="http://schemas.openxmlformats.org/officeDocument/2006/relationships/slide" Target="slides/slide927.xml"/><Relationship Id="rId919" Type="http://schemas.openxmlformats.org/officeDocument/2006/relationships/slide" Target="slides/slide928.xml"/><Relationship Id="rId920" Type="http://schemas.openxmlformats.org/officeDocument/2006/relationships/slide" Target="slides/slide929.xml"/><Relationship Id="rId921" Type="http://schemas.openxmlformats.org/officeDocument/2006/relationships/slide" Target="slides/slide930.xml"/><Relationship Id="rId922" Type="http://schemas.openxmlformats.org/officeDocument/2006/relationships/slide" Target="slides/slide931.xml"/><Relationship Id="rId924" Type="http://schemas.openxmlformats.org/officeDocument/2006/relationships/slide" Target="slides/slide933.xml"/><Relationship Id="rId926" Type="http://schemas.openxmlformats.org/officeDocument/2006/relationships/slide" Target="slides/slide935.xml"/><Relationship Id="rId927" Type="http://schemas.openxmlformats.org/officeDocument/2006/relationships/slide" Target="slides/slide936.xml"/><Relationship Id="rId928" Type="http://schemas.openxmlformats.org/officeDocument/2006/relationships/slide" Target="slides/slide937.xml"/><Relationship Id="rId929" Type="http://schemas.openxmlformats.org/officeDocument/2006/relationships/slide" Target="slides/slide938.xml"/><Relationship Id="rId930" Type="http://schemas.openxmlformats.org/officeDocument/2006/relationships/slide" Target="slides/slide939.xml"/><Relationship Id="rId931" Type="http://schemas.openxmlformats.org/officeDocument/2006/relationships/slide" Target="slides/slide940.xml"/><Relationship Id="rId932" Type="http://schemas.openxmlformats.org/officeDocument/2006/relationships/slide" Target="slides/slide941.xml"/><Relationship Id="rId934" Type="http://schemas.openxmlformats.org/officeDocument/2006/relationships/slide" Target="slides/slide943.xml"/><Relationship Id="rId936" Type="http://schemas.openxmlformats.org/officeDocument/2006/relationships/slide" Target="slides/slide945.xml"/><Relationship Id="rId937" Type="http://schemas.openxmlformats.org/officeDocument/2006/relationships/slide" Target="slides/slide946.xml"/><Relationship Id="rId938" Type="http://schemas.openxmlformats.org/officeDocument/2006/relationships/slide" Target="slides/slide947.xml"/><Relationship Id="rId939" Type="http://schemas.openxmlformats.org/officeDocument/2006/relationships/slide" Target="slides/slide948.xml"/><Relationship Id="rId940" Type="http://schemas.openxmlformats.org/officeDocument/2006/relationships/slide" Target="slides/slide949.xml"/><Relationship Id="rId941" Type="http://schemas.openxmlformats.org/officeDocument/2006/relationships/slide" Target="slides/slide950.xml"/><Relationship Id="rId942" Type="http://schemas.openxmlformats.org/officeDocument/2006/relationships/slide" Target="slides/slide951.xml"/><Relationship Id="rId943" Type="http://schemas.openxmlformats.org/officeDocument/2006/relationships/slide" Target="slides/slide952.xml"/><Relationship Id="rId944" Type="http://schemas.openxmlformats.org/officeDocument/2006/relationships/slide" Target="slides/slide953.xml"/><Relationship Id="rId945" Type="http://schemas.openxmlformats.org/officeDocument/2006/relationships/slide" Target="slides/slide954.xml"/><Relationship Id="rId946" Type="http://schemas.openxmlformats.org/officeDocument/2006/relationships/slide" Target="slides/slide955.xml"/><Relationship Id="rId947" Type="http://schemas.openxmlformats.org/officeDocument/2006/relationships/slide" Target="slides/slide956.xml"/><Relationship Id="rId948" Type="http://schemas.openxmlformats.org/officeDocument/2006/relationships/slide" Target="slides/slide957.xml"/><Relationship Id="rId949" Type="http://schemas.openxmlformats.org/officeDocument/2006/relationships/slide" Target="slides/slide958.xml"/><Relationship Id="rId950" Type="http://schemas.openxmlformats.org/officeDocument/2006/relationships/slide" Target="slides/slide959.xml"/><Relationship Id="rId951" Type="http://schemas.openxmlformats.org/officeDocument/2006/relationships/slide" Target="slides/slide960.xml"/><Relationship Id="rId952" Type="http://schemas.openxmlformats.org/officeDocument/2006/relationships/slide" Target="slides/slide961.xml"/><Relationship Id="rId954" Type="http://schemas.openxmlformats.org/officeDocument/2006/relationships/slide" Target="slides/slide963.xml"/><Relationship Id="rId956" Type="http://schemas.openxmlformats.org/officeDocument/2006/relationships/slide" Target="slides/slide965.xml"/><Relationship Id="rId957" Type="http://schemas.openxmlformats.org/officeDocument/2006/relationships/slide" Target="slides/slide966.xml"/><Relationship Id="rId958" Type="http://schemas.openxmlformats.org/officeDocument/2006/relationships/slide" Target="slides/slide967.xml"/><Relationship Id="rId959" Type="http://schemas.openxmlformats.org/officeDocument/2006/relationships/slide" Target="slides/slide968.xml"/><Relationship Id="rId960" Type="http://schemas.openxmlformats.org/officeDocument/2006/relationships/slide" Target="slides/slide969.xml"/><Relationship Id="rId961" Type="http://schemas.openxmlformats.org/officeDocument/2006/relationships/slide" Target="slides/slide970.xml"/><Relationship Id="rId962" Type="http://schemas.openxmlformats.org/officeDocument/2006/relationships/slide" Target="slides/slide971.xml"/><Relationship Id="rId964" Type="http://schemas.openxmlformats.org/officeDocument/2006/relationships/slide" Target="slides/slide973.xml"/><Relationship Id="rId966" Type="http://schemas.openxmlformats.org/officeDocument/2006/relationships/slide" Target="slides/slide975.xml"/><Relationship Id="rId967" Type="http://schemas.openxmlformats.org/officeDocument/2006/relationships/slide" Target="slides/slide976.xml"/><Relationship Id="rId968" Type="http://schemas.openxmlformats.org/officeDocument/2006/relationships/slide" Target="slides/slide977.xml"/><Relationship Id="rId969" Type="http://schemas.openxmlformats.org/officeDocument/2006/relationships/slide" Target="slides/slide978.xml"/><Relationship Id="rId970" Type="http://schemas.openxmlformats.org/officeDocument/2006/relationships/slide" Target="slides/slide979.xml"/><Relationship Id="rId971" Type="http://schemas.openxmlformats.org/officeDocument/2006/relationships/slide" Target="slides/slide980.xml"/><Relationship Id="rId972" Type="http://schemas.openxmlformats.org/officeDocument/2006/relationships/slide" Target="slides/slide981.xml"/><Relationship Id="rId973" Type="http://schemas.openxmlformats.org/officeDocument/2006/relationships/slide" Target="slides/slide982.xml"/><Relationship Id="rId974" Type="http://schemas.openxmlformats.org/officeDocument/2006/relationships/slide" Target="slides/slide983.xml"/><Relationship Id="rId975" Type="http://schemas.openxmlformats.org/officeDocument/2006/relationships/slide" Target="slides/slide984.xml"/><Relationship Id="rId976" Type="http://schemas.openxmlformats.org/officeDocument/2006/relationships/slide" Target="slides/slide985.xml"/><Relationship Id="rId977" Type="http://schemas.openxmlformats.org/officeDocument/2006/relationships/slide" Target="slides/slide986.xml"/><Relationship Id="rId978" Type="http://schemas.openxmlformats.org/officeDocument/2006/relationships/slide" Target="slides/slide987.xml"/><Relationship Id="rId979" Type="http://schemas.openxmlformats.org/officeDocument/2006/relationships/slide" Target="slides/slide988.xml"/><Relationship Id="rId980" Type="http://schemas.openxmlformats.org/officeDocument/2006/relationships/slide" Target="slides/slide989.xml"/><Relationship Id="rId981" Type="http://schemas.openxmlformats.org/officeDocument/2006/relationships/slide" Target="slides/slide990.xml"/><Relationship Id="rId982" Type="http://schemas.openxmlformats.org/officeDocument/2006/relationships/slide" Target="slides/slide991.xml"/><Relationship Id="rId984" Type="http://schemas.openxmlformats.org/officeDocument/2006/relationships/slide" Target="slides/slide993.xml"/><Relationship Id="rId986" Type="http://schemas.openxmlformats.org/officeDocument/2006/relationships/slide" Target="slides/slide995.xml"/><Relationship Id="rId987" Type="http://schemas.openxmlformats.org/officeDocument/2006/relationships/slide" Target="slides/slide996.xml"/><Relationship Id="rId988" Type="http://schemas.openxmlformats.org/officeDocument/2006/relationships/slide" Target="slides/slide997.xml"/><Relationship Id="rId989" Type="http://schemas.openxmlformats.org/officeDocument/2006/relationships/slide" Target="slides/slide998.xml"/><Relationship Id="rId990" Type="http://schemas.openxmlformats.org/officeDocument/2006/relationships/slide" Target="slides/slide999.xml"/><Relationship Id="rId991" Type="http://schemas.openxmlformats.org/officeDocument/2006/relationships/slide" Target="slides/slide1000.xml"/><Relationship Id="rId992" Type="http://schemas.openxmlformats.org/officeDocument/2006/relationships/slide" Target="slides/slide1001.xml"/><Relationship Id="rId994" Type="http://schemas.openxmlformats.org/officeDocument/2006/relationships/slide" Target="slides/slide1003.xml"/><Relationship Id="rId996" Type="http://schemas.openxmlformats.org/officeDocument/2006/relationships/slide" Target="slides/slide1005.xml"/><Relationship Id="rId997" Type="http://schemas.openxmlformats.org/officeDocument/2006/relationships/slide" Target="slides/slide1006.xml"/><Relationship Id="rId998" Type="http://schemas.openxmlformats.org/officeDocument/2006/relationships/slide" Target="slides/slide1007.xml"/><Relationship Id="rId999" Type="http://schemas.openxmlformats.org/officeDocument/2006/relationships/slide" Target="slides/slide1008.xml"/><Relationship Id="rId1000" Type="http://schemas.openxmlformats.org/officeDocument/2006/relationships/slide" Target="slides/slide1009.xml"/><Relationship Id="rId1001" Type="http://schemas.openxmlformats.org/officeDocument/2006/relationships/slide" Target="slides/slide1010.xml"/><Relationship Id="rId1002" Type="http://schemas.openxmlformats.org/officeDocument/2006/relationships/slide" Target="slides/slide1011.xml"/><Relationship Id="rId1003" Type="http://schemas.openxmlformats.org/officeDocument/2006/relationships/slide" Target="slides/slide1012.xml"/><Relationship Id="rId1004" Type="http://schemas.openxmlformats.org/officeDocument/2006/relationships/slide" Target="slides/slide1013.xml"/><Relationship Id="rId1005" Type="http://schemas.openxmlformats.org/officeDocument/2006/relationships/slide" Target="slides/slide1014.xml"/><Relationship Id="rId1006" Type="http://schemas.openxmlformats.org/officeDocument/2006/relationships/slide" Target="slides/slide1015.xml"/><Relationship Id="rId1007" Type="http://schemas.openxmlformats.org/officeDocument/2006/relationships/slide" Target="slides/slide1016.xml"/><Relationship Id="rId1008" Type="http://schemas.openxmlformats.org/officeDocument/2006/relationships/slide" Target="slides/slide1017.xml"/><Relationship Id="rId1009" Type="http://schemas.openxmlformats.org/officeDocument/2006/relationships/slide" Target="slides/slide1018.xml"/><Relationship Id="rId1010" Type="http://schemas.openxmlformats.org/officeDocument/2006/relationships/slide" Target="slides/slide1019.xml"/><Relationship Id="rId1011" Type="http://schemas.openxmlformats.org/officeDocument/2006/relationships/slide" Target="slides/slide1020.xml"/><Relationship Id="rId1012" Type="http://schemas.openxmlformats.org/officeDocument/2006/relationships/slide" Target="slides/slide1021.xml"/><Relationship Id="rId1014" Type="http://schemas.openxmlformats.org/officeDocument/2006/relationships/slide" Target="slides/slide1023.xml"/><Relationship Id="rId1016" Type="http://schemas.openxmlformats.org/officeDocument/2006/relationships/slide" Target="slides/slide1025.xml"/><Relationship Id="rId1017" Type="http://schemas.openxmlformats.org/officeDocument/2006/relationships/slide" Target="slides/slide1026.xml"/><Relationship Id="rId1018" Type="http://schemas.openxmlformats.org/officeDocument/2006/relationships/slide" Target="slides/slide1027.xml"/><Relationship Id="rId1019" Type="http://schemas.openxmlformats.org/officeDocument/2006/relationships/slide" Target="slides/slide1028.xml"/><Relationship Id="rId1020" Type="http://schemas.openxmlformats.org/officeDocument/2006/relationships/slide" Target="slides/slide1029.xml"/><Relationship Id="rId1021" Type="http://schemas.openxmlformats.org/officeDocument/2006/relationships/slide" Target="slides/slide1030.xml"/><Relationship Id="rId1022" Type="http://schemas.openxmlformats.org/officeDocument/2006/relationships/slide" Target="slides/slide1031.xml"/><Relationship Id="rId1024" Type="http://schemas.openxmlformats.org/officeDocument/2006/relationships/slide" Target="slides/slide1033.xml"/><Relationship Id="rId1026" Type="http://schemas.openxmlformats.org/officeDocument/2006/relationships/slide" Target="slides/slide1035.xml"/><Relationship Id="rId1027" Type="http://schemas.openxmlformats.org/officeDocument/2006/relationships/slide" Target="slides/slide1036.xml"/><Relationship Id="rId1028" Type="http://schemas.openxmlformats.org/officeDocument/2006/relationships/slide" Target="slides/slide1037.xml"/><Relationship Id="rId1029" Type="http://schemas.openxmlformats.org/officeDocument/2006/relationships/slide" Target="slides/slide1038.xml"/><Relationship Id="rId1030" Type="http://schemas.openxmlformats.org/officeDocument/2006/relationships/slide" Target="slides/slide1039.xml"/><Relationship Id="rId1031" Type="http://schemas.openxmlformats.org/officeDocument/2006/relationships/slide" Target="slides/slide1040.xml"/><Relationship Id="rId1032" Type="http://schemas.openxmlformats.org/officeDocument/2006/relationships/slide" Target="slides/slide1041.xml"/><Relationship Id="rId1033" Type="http://schemas.openxmlformats.org/officeDocument/2006/relationships/slide" Target="slides/slide1042.xml"/><Relationship Id="rId1034" Type="http://schemas.openxmlformats.org/officeDocument/2006/relationships/slide" Target="slides/slide1043.xml"/><Relationship Id="rId1035" Type="http://schemas.openxmlformats.org/officeDocument/2006/relationships/slide" Target="slides/slide1044.xml"/><Relationship Id="rId1036" Type="http://schemas.openxmlformats.org/officeDocument/2006/relationships/slide" Target="slides/slide1045.xml"/><Relationship Id="rId1037" Type="http://schemas.openxmlformats.org/officeDocument/2006/relationships/slide" Target="slides/slide1046.xml"/><Relationship Id="rId1038" Type="http://schemas.openxmlformats.org/officeDocument/2006/relationships/slide" Target="slides/slide1047.xml"/><Relationship Id="rId1039" Type="http://schemas.openxmlformats.org/officeDocument/2006/relationships/slide" Target="slides/slide1048.xml"/><Relationship Id="rId1040" Type="http://schemas.openxmlformats.org/officeDocument/2006/relationships/slide" Target="slides/slide1049.xml"/><Relationship Id="rId1041" Type="http://schemas.openxmlformats.org/officeDocument/2006/relationships/slide" Target="slides/slide1050.xml"/><Relationship Id="rId1042" Type="http://schemas.openxmlformats.org/officeDocument/2006/relationships/slide" Target="slides/slide1051.xml"/><Relationship Id="rId1044" Type="http://schemas.openxmlformats.org/officeDocument/2006/relationships/slide" Target="slides/slide1053.xml"/><Relationship Id="rId1046" Type="http://schemas.openxmlformats.org/officeDocument/2006/relationships/slide" Target="slides/slide1055.xml"/><Relationship Id="rId1047" Type="http://schemas.openxmlformats.org/officeDocument/2006/relationships/slide" Target="slides/slide1056.xml"/><Relationship Id="rId1048" Type="http://schemas.openxmlformats.org/officeDocument/2006/relationships/slide" Target="slides/slide1057.xml"/><Relationship Id="rId1049" Type="http://schemas.openxmlformats.org/officeDocument/2006/relationships/slide" Target="slides/slide1058.xml"/><Relationship Id="rId1050" Type="http://schemas.openxmlformats.org/officeDocument/2006/relationships/slide" Target="slides/slide1059.xml"/><Relationship Id="rId1051" Type="http://schemas.openxmlformats.org/officeDocument/2006/relationships/slide" Target="slides/slide1060.xml"/><Relationship Id="rId1052" Type="http://schemas.openxmlformats.org/officeDocument/2006/relationships/slide" Target="slides/slide1061.xml"/><Relationship Id="rId1054" Type="http://schemas.openxmlformats.org/officeDocument/2006/relationships/slide" Target="slides/slide1063.xml"/><Relationship Id="rId1056" Type="http://schemas.openxmlformats.org/officeDocument/2006/relationships/slide" Target="slides/slide1065.xml"/><Relationship Id="rId1057" Type="http://schemas.openxmlformats.org/officeDocument/2006/relationships/slide" Target="slides/slide1066.xml"/><Relationship Id="rId1058" Type="http://schemas.openxmlformats.org/officeDocument/2006/relationships/slide" Target="slides/slide1067.xml"/><Relationship Id="rId1059" Type="http://schemas.openxmlformats.org/officeDocument/2006/relationships/slide" Target="slides/slide1068.xml"/><Relationship Id="rId1060" Type="http://schemas.openxmlformats.org/officeDocument/2006/relationships/slide" Target="slides/slide1069.xml"/><Relationship Id="rId1061" Type="http://schemas.openxmlformats.org/officeDocument/2006/relationships/slide" Target="slides/slide1070.xml"/><Relationship Id="rId1062" Type="http://schemas.openxmlformats.org/officeDocument/2006/relationships/slide" Target="slides/slide1071.xml"/><Relationship Id="rId1063" Type="http://schemas.openxmlformats.org/officeDocument/2006/relationships/slide" Target="slides/slide1072.xml"/><Relationship Id="rId1064" Type="http://schemas.openxmlformats.org/officeDocument/2006/relationships/slide" Target="slides/slide1073.xml"/><Relationship Id="rId1065" Type="http://schemas.openxmlformats.org/officeDocument/2006/relationships/slide" Target="slides/slide1074.xml"/><Relationship Id="rId1066" Type="http://schemas.openxmlformats.org/officeDocument/2006/relationships/slide" Target="slides/slide1075.xml"/><Relationship Id="rId1067" Type="http://schemas.openxmlformats.org/officeDocument/2006/relationships/slide" Target="slides/slide1076.xml"/><Relationship Id="rId1068" Type="http://schemas.openxmlformats.org/officeDocument/2006/relationships/slide" Target="slides/slide1077.xml"/><Relationship Id="rId1069" Type="http://schemas.openxmlformats.org/officeDocument/2006/relationships/slide" Target="slides/slide1078.xml"/><Relationship Id="rId1070" Type="http://schemas.openxmlformats.org/officeDocument/2006/relationships/slide" Target="slides/slide1079.xml"/><Relationship Id="rId1071" Type="http://schemas.openxmlformats.org/officeDocument/2006/relationships/slide" Target="slides/slide1080.xml"/><Relationship Id="rId1072" Type="http://schemas.openxmlformats.org/officeDocument/2006/relationships/slide" Target="slides/slide1081.xml"/><Relationship Id="rId1074" Type="http://schemas.openxmlformats.org/officeDocument/2006/relationships/slide" Target="slides/slide1083.xml"/><Relationship Id="rId1076" Type="http://schemas.openxmlformats.org/officeDocument/2006/relationships/slide" Target="slides/slide1085.xml"/><Relationship Id="rId1077" Type="http://schemas.openxmlformats.org/officeDocument/2006/relationships/slide" Target="slides/slide1086.xml"/><Relationship Id="rId1078" Type="http://schemas.openxmlformats.org/officeDocument/2006/relationships/slide" Target="slides/slide1087.xml"/><Relationship Id="rId1079" Type="http://schemas.openxmlformats.org/officeDocument/2006/relationships/slide" Target="slides/slide1088.xml"/><Relationship Id="rId1080" Type="http://schemas.openxmlformats.org/officeDocument/2006/relationships/slide" Target="slides/slide1089.xml"/><Relationship Id="rId1081" Type="http://schemas.openxmlformats.org/officeDocument/2006/relationships/slide" Target="slides/slide1090.xml"/><Relationship Id="rId1082" Type="http://schemas.openxmlformats.org/officeDocument/2006/relationships/slide" Target="slides/slide1091.xml"/><Relationship Id="rId1084" Type="http://schemas.openxmlformats.org/officeDocument/2006/relationships/slide" Target="slides/slide1093.xml"/><Relationship Id="rId1086" Type="http://schemas.openxmlformats.org/officeDocument/2006/relationships/slide" Target="slides/slide1095.xml"/><Relationship Id="rId1087" Type="http://schemas.openxmlformats.org/officeDocument/2006/relationships/slide" Target="slides/slide1096.xml"/><Relationship Id="rId1088" Type="http://schemas.openxmlformats.org/officeDocument/2006/relationships/slide" Target="slides/slide1097.xml"/><Relationship Id="rId1089" Type="http://schemas.openxmlformats.org/officeDocument/2006/relationships/slide" Target="slides/slide1098.xml"/><Relationship Id="rId1090" Type="http://schemas.openxmlformats.org/officeDocument/2006/relationships/slide" Target="slides/slide1099.xml"/><Relationship Id="rId1091" Type="http://schemas.openxmlformats.org/officeDocument/2006/relationships/slide" Target="slides/slide1100.xml"/><Relationship Id="rId1092" Type="http://schemas.openxmlformats.org/officeDocument/2006/relationships/slide" Target="slides/slide1101.xml"/><Relationship Id="rId1093" Type="http://schemas.openxmlformats.org/officeDocument/2006/relationships/slide" Target="slides/slide1102.xml"/><Relationship Id="rId1094" Type="http://schemas.openxmlformats.org/officeDocument/2006/relationships/slide" Target="slides/slide1103.xml"/><Relationship Id="rId1095" Type="http://schemas.openxmlformats.org/officeDocument/2006/relationships/slide" Target="slides/slide1104.xml"/><Relationship Id="rId1096" Type="http://schemas.openxmlformats.org/officeDocument/2006/relationships/slide" Target="slides/slide1105.xml"/><Relationship Id="rId1097" Type="http://schemas.openxmlformats.org/officeDocument/2006/relationships/slide" Target="slides/slide1106.xml"/><Relationship Id="rId1098" Type="http://schemas.openxmlformats.org/officeDocument/2006/relationships/slide" Target="slides/slide1107.xml"/><Relationship Id="rId1099" Type="http://schemas.openxmlformats.org/officeDocument/2006/relationships/slide" Target="slides/slide1108.xml"/><Relationship Id="rId1100" Type="http://schemas.openxmlformats.org/officeDocument/2006/relationships/slide" Target="slides/slide1109.xml"/><Relationship Id="rId1101" Type="http://schemas.openxmlformats.org/officeDocument/2006/relationships/slide" Target="slides/slide1110.xml"/><Relationship Id="rId1102" Type="http://schemas.openxmlformats.org/officeDocument/2006/relationships/slide" Target="slides/slide1111.xml"/><Relationship Id="rId1104" Type="http://schemas.openxmlformats.org/officeDocument/2006/relationships/slide" Target="slides/slide1113.xml"/><Relationship Id="rId1106" Type="http://schemas.openxmlformats.org/officeDocument/2006/relationships/slide" Target="slides/slide1115.xml"/><Relationship Id="rId1107" Type="http://schemas.openxmlformats.org/officeDocument/2006/relationships/slide" Target="slides/slide1116.xml"/><Relationship Id="rId1108" Type="http://schemas.openxmlformats.org/officeDocument/2006/relationships/slide" Target="slides/slide1117.xml"/><Relationship Id="rId1109" Type="http://schemas.openxmlformats.org/officeDocument/2006/relationships/slide" Target="slides/slide1118.xml"/><Relationship Id="rId1110" Type="http://schemas.openxmlformats.org/officeDocument/2006/relationships/slide" Target="slides/slide1119.xml"/><Relationship Id="rId1111" Type="http://schemas.openxmlformats.org/officeDocument/2006/relationships/slide" Target="slides/slide1120.xml"/><Relationship Id="rId1112" Type="http://schemas.openxmlformats.org/officeDocument/2006/relationships/slide" Target="slides/slide1121.xml"/><Relationship Id="rId1114" Type="http://schemas.openxmlformats.org/officeDocument/2006/relationships/slide" Target="slides/slide1123.xml"/><Relationship Id="rId1116" Type="http://schemas.openxmlformats.org/officeDocument/2006/relationships/slide" Target="slides/slide1125.xml"/><Relationship Id="rId1117" Type="http://schemas.openxmlformats.org/officeDocument/2006/relationships/slide" Target="slides/slide1126.xml"/><Relationship Id="rId1118" Type="http://schemas.openxmlformats.org/officeDocument/2006/relationships/slide" Target="slides/slide1127.xml"/><Relationship Id="rId1119" Type="http://schemas.openxmlformats.org/officeDocument/2006/relationships/slide" Target="slides/slide1128.xml"/><Relationship Id="rId1120" Type="http://schemas.openxmlformats.org/officeDocument/2006/relationships/slide" Target="slides/slide1129.xml"/><Relationship Id="rId1121" Type="http://schemas.openxmlformats.org/officeDocument/2006/relationships/slide" Target="slides/slide1130.xml"/><Relationship Id="rId1122" Type="http://schemas.openxmlformats.org/officeDocument/2006/relationships/slide" Target="slides/slide1131.xml"/><Relationship Id="rId1123" Type="http://schemas.openxmlformats.org/officeDocument/2006/relationships/slide" Target="slides/slide1132.xml"/><Relationship Id="rId1124" Type="http://schemas.openxmlformats.org/officeDocument/2006/relationships/slide" Target="slides/slide1133.xml"/><Relationship Id="rId1125" Type="http://schemas.openxmlformats.org/officeDocument/2006/relationships/slide" Target="slides/slide1134.xml"/><Relationship Id="rId1126" Type="http://schemas.openxmlformats.org/officeDocument/2006/relationships/slide" Target="slides/slide1135.xml"/><Relationship Id="rId1127" Type="http://schemas.openxmlformats.org/officeDocument/2006/relationships/slide" Target="slides/slide1136.xml"/><Relationship Id="rId1128" Type="http://schemas.openxmlformats.org/officeDocument/2006/relationships/slide" Target="slides/slide1137.xml"/><Relationship Id="rId1129" Type="http://schemas.openxmlformats.org/officeDocument/2006/relationships/slide" Target="slides/slide1138.xml"/><Relationship Id="rId1130" Type="http://schemas.openxmlformats.org/officeDocument/2006/relationships/slide" Target="slides/slide1139.xml"/><Relationship Id="rId1131" Type="http://schemas.openxmlformats.org/officeDocument/2006/relationships/slide" Target="slides/slide1140.xml"/><Relationship Id="rId1132" Type="http://schemas.openxmlformats.org/officeDocument/2006/relationships/slide" Target="slides/slide1141.xml"/><Relationship Id="rId1134" Type="http://schemas.openxmlformats.org/officeDocument/2006/relationships/slide" Target="slides/slide1143.xml"/><Relationship Id="rId1136" Type="http://schemas.openxmlformats.org/officeDocument/2006/relationships/slide" Target="slides/slide1145.xml"/><Relationship Id="rId1137" Type="http://schemas.openxmlformats.org/officeDocument/2006/relationships/slide" Target="slides/slide1146.xml"/><Relationship Id="rId1138" Type="http://schemas.openxmlformats.org/officeDocument/2006/relationships/slide" Target="slides/slide1147.xml"/><Relationship Id="rId1139" Type="http://schemas.openxmlformats.org/officeDocument/2006/relationships/slide" Target="slides/slide1148.xml"/><Relationship Id="rId1140" Type="http://schemas.openxmlformats.org/officeDocument/2006/relationships/slide" Target="slides/slide1149.xml"/><Relationship Id="rId1141" Type="http://schemas.openxmlformats.org/officeDocument/2006/relationships/slide" Target="slides/slide1150.xml"/><Relationship Id="rId1142" Type="http://schemas.openxmlformats.org/officeDocument/2006/relationships/slide" Target="slides/slide1151.xml"/><Relationship Id="rId1144" Type="http://schemas.openxmlformats.org/officeDocument/2006/relationships/slide" Target="slides/slide1153.xml"/><Relationship Id="rId1146" Type="http://schemas.openxmlformats.org/officeDocument/2006/relationships/slide" Target="slides/slide1155.xml"/><Relationship Id="rId1147" Type="http://schemas.openxmlformats.org/officeDocument/2006/relationships/slide" Target="slides/slide1156.xml"/><Relationship Id="rId1148" Type="http://schemas.openxmlformats.org/officeDocument/2006/relationships/slide" Target="slides/slide1157.xml"/><Relationship Id="rId1149" Type="http://schemas.openxmlformats.org/officeDocument/2006/relationships/slide" Target="slides/slide1158.xml"/><Relationship Id="rId1150" Type="http://schemas.openxmlformats.org/officeDocument/2006/relationships/slide" Target="slides/slide1159.xml"/><Relationship Id="rId1151" Type="http://schemas.openxmlformats.org/officeDocument/2006/relationships/slide" Target="slides/slide1160.xml"/><Relationship Id="rId1152" Type="http://schemas.openxmlformats.org/officeDocument/2006/relationships/slide" Target="slides/slide1161.xml"/><Relationship Id="rId1153" Type="http://schemas.openxmlformats.org/officeDocument/2006/relationships/slide" Target="slides/slide1162.xml"/><Relationship Id="rId1154" Type="http://schemas.openxmlformats.org/officeDocument/2006/relationships/slide" Target="slides/slide1163.xml"/><Relationship Id="rId1155" Type="http://schemas.openxmlformats.org/officeDocument/2006/relationships/slide" Target="slides/slide1164.xml"/><Relationship Id="rId1156" Type="http://schemas.openxmlformats.org/officeDocument/2006/relationships/slide" Target="slides/slide1165.xml"/><Relationship Id="rId1157" Type="http://schemas.openxmlformats.org/officeDocument/2006/relationships/slide" Target="slides/slide1166.xml"/><Relationship Id="rId1158" Type="http://schemas.openxmlformats.org/officeDocument/2006/relationships/slide" Target="slides/slide1167.xml"/><Relationship Id="rId1159" Type="http://schemas.openxmlformats.org/officeDocument/2006/relationships/slide" Target="slides/slide1168.xml"/><Relationship Id="rId1160" Type="http://schemas.openxmlformats.org/officeDocument/2006/relationships/slide" Target="slides/slide1169.xml"/><Relationship Id="rId1161" Type="http://schemas.openxmlformats.org/officeDocument/2006/relationships/slide" Target="slides/slide1170.xml"/><Relationship Id="rId1162" Type="http://schemas.openxmlformats.org/officeDocument/2006/relationships/slide" Target="slides/slide1171.xml"/><Relationship Id="rId1164" Type="http://schemas.openxmlformats.org/officeDocument/2006/relationships/slide" Target="slides/slide1173.xml"/><Relationship Id="rId1166" Type="http://schemas.openxmlformats.org/officeDocument/2006/relationships/slide" Target="slides/slide1175.xml"/><Relationship Id="rId1167" Type="http://schemas.openxmlformats.org/officeDocument/2006/relationships/slide" Target="slides/slide1176.xml"/><Relationship Id="rId1168" Type="http://schemas.openxmlformats.org/officeDocument/2006/relationships/slide" Target="slides/slide1177.xml"/><Relationship Id="rId1169" Type="http://schemas.openxmlformats.org/officeDocument/2006/relationships/slide" Target="slides/slide1178.xml"/><Relationship Id="rId1170" Type="http://schemas.openxmlformats.org/officeDocument/2006/relationships/slide" Target="slides/slide1179.xml"/><Relationship Id="rId1171" Type="http://schemas.openxmlformats.org/officeDocument/2006/relationships/slide" Target="slides/slide1180.xml"/><Relationship Id="rId1172" Type="http://schemas.openxmlformats.org/officeDocument/2006/relationships/slide" Target="slides/slide1181.xml"/><Relationship Id="rId1174" Type="http://schemas.openxmlformats.org/officeDocument/2006/relationships/slide" Target="slides/slide1183.xml"/><Relationship Id="rId1176" Type="http://schemas.openxmlformats.org/officeDocument/2006/relationships/slide" Target="slides/slide1185.xml"/><Relationship Id="rId1177" Type="http://schemas.openxmlformats.org/officeDocument/2006/relationships/slide" Target="slides/slide1186.xml"/><Relationship Id="rId1178" Type="http://schemas.openxmlformats.org/officeDocument/2006/relationships/slide" Target="slides/slide1187.xml"/><Relationship Id="rId1179" Type="http://schemas.openxmlformats.org/officeDocument/2006/relationships/slide" Target="slides/slide1188.xml"/><Relationship Id="rId1180" Type="http://schemas.openxmlformats.org/officeDocument/2006/relationships/slide" Target="slides/slide1189.xml"/><Relationship Id="rId1181" Type="http://schemas.openxmlformats.org/officeDocument/2006/relationships/slide" Target="slides/slide1190.xml"/><Relationship Id="rId1182" Type="http://schemas.openxmlformats.org/officeDocument/2006/relationships/slide" Target="slides/slide1191.xml"/><Relationship Id="rId1183" Type="http://schemas.openxmlformats.org/officeDocument/2006/relationships/slide" Target="slides/slide1192.xml"/><Relationship Id="rId1184" Type="http://schemas.openxmlformats.org/officeDocument/2006/relationships/slide" Target="slides/slide1193.xml"/><Relationship Id="rId1185" Type="http://schemas.openxmlformats.org/officeDocument/2006/relationships/slide" Target="slides/slide1194.xml"/><Relationship Id="rId1186" Type="http://schemas.openxmlformats.org/officeDocument/2006/relationships/slide" Target="slides/slide1195.xml"/><Relationship Id="rId1187" Type="http://schemas.openxmlformats.org/officeDocument/2006/relationships/slide" Target="slides/slide1196.xml"/><Relationship Id="rId1188" Type="http://schemas.openxmlformats.org/officeDocument/2006/relationships/slide" Target="slides/slide1197.xml"/><Relationship Id="rId1189" Type="http://schemas.openxmlformats.org/officeDocument/2006/relationships/slide" Target="slides/slide1198.xml"/><Relationship Id="rId1190" Type="http://schemas.openxmlformats.org/officeDocument/2006/relationships/slide" Target="slides/slide1199.xml"/><Relationship Id="rId1191" Type="http://schemas.openxmlformats.org/officeDocument/2006/relationships/slide" Target="slides/slide1200.xml"/><Relationship Id="rId1192" Type="http://schemas.openxmlformats.org/officeDocument/2006/relationships/slide" Target="slides/slide1201.xml"/><Relationship Id="rId1194" Type="http://schemas.openxmlformats.org/officeDocument/2006/relationships/slide" Target="slides/slide1203.xml"/><Relationship Id="rId1196" Type="http://schemas.openxmlformats.org/officeDocument/2006/relationships/slide" Target="slides/slide1205.xml"/><Relationship Id="rId1197" Type="http://schemas.openxmlformats.org/officeDocument/2006/relationships/slide" Target="slides/slide1206.xml"/><Relationship Id="rId1198" Type="http://schemas.openxmlformats.org/officeDocument/2006/relationships/slide" Target="slides/slide1207.xml"/><Relationship Id="rId1199" Type="http://schemas.openxmlformats.org/officeDocument/2006/relationships/slide" Target="slides/slide1208.xml"/><Relationship Id="rId1200" Type="http://schemas.openxmlformats.org/officeDocument/2006/relationships/slide" Target="slides/slide1209.xml"/><Relationship Id="rId1201" Type="http://schemas.openxmlformats.org/officeDocument/2006/relationships/slide" Target="slides/slide1210.xml"/><Relationship Id="rId1202" Type="http://schemas.openxmlformats.org/officeDocument/2006/relationships/slide" Target="slides/slide1211.xml"/><Relationship Id="rId1204" Type="http://schemas.openxmlformats.org/officeDocument/2006/relationships/slide" Target="slides/slide1213.xml"/><Relationship Id="rId1206" Type="http://schemas.openxmlformats.org/officeDocument/2006/relationships/slide" Target="slides/slide1215.xml"/><Relationship Id="rId1207" Type="http://schemas.openxmlformats.org/officeDocument/2006/relationships/slide" Target="slides/slide1216.xml"/><Relationship Id="rId1208" Type="http://schemas.openxmlformats.org/officeDocument/2006/relationships/slide" Target="slides/slide1217.xml"/><Relationship Id="rId1209" Type="http://schemas.openxmlformats.org/officeDocument/2006/relationships/slide" Target="slides/slide1218.xml"/><Relationship Id="rId1210" Type="http://schemas.openxmlformats.org/officeDocument/2006/relationships/slide" Target="slides/slide1219.xml"/><Relationship Id="rId1211" Type="http://schemas.openxmlformats.org/officeDocument/2006/relationships/slide" Target="slides/slide1220.xml"/><Relationship Id="rId1212" Type="http://schemas.openxmlformats.org/officeDocument/2006/relationships/slide" Target="slides/slide1221.xml"/><Relationship Id="rId1213" Type="http://schemas.openxmlformats.org/officeDocument/2006/relationships/slide" Target="slides/slide1222.xml"/><Relationship Id="rId1214" Type="http://schemas.openxmlformats.org/officeDocument/2006/relationships/slide" Target="slides/slide1223.xml"/><Relationship Id="rId1215" Type="http://schemas.openxmlformats.org/officeDocument/2006/relationships/slide" Target="slides/slide1224.xml"/><Relationship Id="rId1216" Type="http://schemas.openxmlformats.org/officeDocument/2006/relationships/slide" Target="slides/slide1225.xml"/><Relationship Id="rId1217" Type="http://schemas.openxmlformats.org/officeDocument/2006/relationships/slide" Target="slides/slide1226.xml"/><Relationship Id="rId1218" Type="http://schemas.openxmlformats.org/officeDocument/2006/relationships/slide" Target="slides/slide1227.xml"/><Relationship Id="rId1219" Type="http://schemas.openxmlformats.org/officeDocument/2006/relationships/slide" Target="slides/slide1228.xml"/><Relationship Id="rId1220" Type="http://schemas.openxmlformats.org/officeDocument/2006/relationships/slide" Target="slides/slide1229.xml"/><Relationship Id="rId1221" Type="http://schemas.openxmlformats.org/officeDocument/2006/relationships/slide" Target="slides/slide1230.xml"/><Relationship Id="rId1222" Type="http://schemas.openxmlformats.org/officeDocument/2006/relationships/slide" Target="slides/slide1231.xml"/><Relationship Id="rId1224" Type="http://schemas.openxmlformats.org/officeDocument/2006/relationships/slide" Target="slides/slide1233.xml"/><Relationship Id="rId1226" Type="http://schemas.openxmlformats.org/officeDocument/2006/relationships/slide" Target="slides/slide1235.xml"/><Relationship Id="rId1227" Type="http://schemas.openxmlformats.org/officeDocument/2006/relationships/slide" Target="slides/slide1236.xml"/><Relationship Id="rId1228" Type="http://schemas.openxmlformats.org/officeDocument/2006/relationships/slide" Target="slides/slide1237.xml"/><Relationship Id="rId1229" Type="http://schemas.openxmlformats.org/officeDocument/2006/relationships/slide" Target="slides/slide1238.xml"/><Relationship Id="rId1230" Type="http://schemas.openxmlformats.org/officeDocument/2006/relationships/slide" Target="slides/slide1239.xml"/><Relationship Id="rId1231" Type="http://schemas.openxmlformats.org/officeDocument/2006/relationships/slide" Target="slides/slide1240.xml"/><Relationship Id="rId1232" Type="http://schemas.openxmlformats.org/officeDocument/2006/relationships/slide" Target="slides/slide1241.xml"/><Relationship Id="rId1234" Type="http://schemas.openxmlformats.org/officeDocument/2006/relationships/slide" Target="slides/slide1243.xml"/><Relationship Id="rId1236" Type="http://schemas.openxmlformats.org/officeDocument/2006/relationships/slide" Target="slides/slide1245.xml"/><Relationship Id="rId1237" Type="http://schemas.openxmlformats.org/officeDocument/2006/relationships/slide" Target="slides/slide1246.xml"/><Relationship Id="rId1238" Type="http://schemas.openxmlformats.org/officeDocument/2006/relationships/slide" Target="slides/slide1247.xml"/><Relationship Id="rId1239" Type="http://schemas.openxmlformats.org/officeDocument/2006/relationships/slide" Target="slides/slide1248.xml"/><Relationship Id="rId1240" Type="http://schemas.openxmlformats.org/officeDocument/2006/relationships/slide" Target="slides/slide1249.xml"/><Relationship Id="rId1241" Type="http://schemas.openxmlformats.org/officeDocument/2006/relationships/slide" Target="slides/slide1250.xml"/><Relationship Id="rId1242" Type="http://schemas.openxmlformats.org/officeDocument/2006/relationships/slide" Target="slides/slide1251.xml"/><Relationship Id="rId1243" Type="http://schemas.openxmlformats.org/officeDocument/2006/relationships/slide" Target="slides/slide1252.xml"/><Relationship Id="rId1244" Type="http://schemas.openxmlformats.org/officeDocument/2006/relationships/slide" Target="slides/slide1253.xml"/><Relationship Id="rId1245" Type="http://schemas.openxmlformats.org/officeDocument/2006/relationships/slide" Target="slides/slide1254.xml"/><Relationship Id="rId1246" Type="http://schemas.openxmlformats.org/officeDocument/2006/relationships/slide" Target="slides/slide1255.xml"/><Relationship Id="rId1247" Type="http://schemas.openxmlformats.org/officeDocument/2006/relationships/slide" Target="slides/slide1256.xml"/><Relationship Id="rId1248" Type="http://schemas.openxmlformats.org/officeDocument/2006/relationships/slide" Target="slides/slide1257.xml"/><Relationship Id="rId1249" Type="http://schemas.openxmlformats.org/officeDocument/2006/relationships/slide" Target="slides/slide1258.xml"/><Relationship Id="rId1250" Type="http://schemas.openxmlformats.org/officeDocument/2006/relationships/slide" Target="slides/slide1259.xml"/><Relationship Id="rId1251" Type="http://schemas.openxmlformats.org/officeDocument/2006/relationships/slide" Target="slides/slide1260.xml"/><Relationship Id="rId1252" Type="http://schemas.openxmlformats.org/officeDocument/2006/relationships/slide" Target="slides/slide1261.xml"/><Relationship Id="rId1254" Type="http://schemas.openxmlformats.org/officeDocument/2006/relationships/slide" Target="slides/slide1263.xml"/><Relationship Id="rId1256" Type="http://schemas.openxmlformats.org/officeDocument/2006/relationships/slide" Target="slides/slide1265.xml"/><Relationship Id="rId1257" Type="http://schemas.openxmlformats.org/officeDocument/2006/relationships/slide" Target="slides/slide1266.xml"/><Relationship Id="rId1258" Type="http://schemas.openxmlformats.org/officeDocument/2006/relationships/slide" Target="slides/slide1267.xml"/><Relationship Id="rId1259" Type="http://schemas.openxmlformats.org/officeDocument/2006/relationships/slide" Target="slides/slide1268.xml"/><Relationship Id="rId1260" Type="http://schemas.openxmlformats.org/officeDocument/2006/relationships/slide" Target="slides/slide1269.xml"/><Relationship Id="rId1261" Type="http://schemas.openxmlformats.org/officeDocument/2006/relationships/slide" Target="slides/slide1270.xml"/><Relationship Id="rId1262" Type="http://schemas.openxmlformats.org/officeDocument/2006/relationships/slide" Target="slides/slide1271.xml"/><Relationship Id="rId1264" Type="http://schemas.openxmlformats.org/officeDocument/2006/relationships/slide" Target="slides/slide1273.xml"/><Relationship Id="rId1266" Type="http://schemas.openxmlformats.org/officeDocument/2006/relationships/slide" Target="slides/slide1275.xml"/><Relationship Id="rId1267" Type="http://schemas.openxmlformats.org/officeDocument/2006/relationships/slide" Target="slides/slide1276.xml"/><Relationship Id="rId1268" Type="http://schemas.openxmlformats.org/officeDocument/2006/relationships/slide" Target="slides/slide1277.xml"/><Relationship Id="rId1269" Type="http://schemas.openxmlformats.org/officeDocument/2006/relationships/slide" Target="slides/slide1278.xml"/><Relationship Id="rId1270" Type="http://schemas.openxmlformats.org/officeDocument/2006/relationships/slide" Target="slides/slide1279.xml"/><Relationship Id="rId1271" Type="http://schemas.openxmlformats.org/officeDocument/2006/relationships/slide" Target="slides/slide1280.xml"/><Relationship Id="rId1272" Type="http://schemas.openxmlformats.org/officeDocument/2006/relationships/slide" Target="slides/slide1281.xml"/><Relationship Id="rId1273" Type="http://schemas.openxmlformats.org/officeDocument/2006/relationships/slide" Target="slides/slide1282.xml"/><Relationship Id="rId1274" Type="http://schemas.openxmlformats.org/officeDocument/2006/relationships/slide" Target="slides/slide1283.xml"/><Relationship Id="rId1275" Type="http://schemas.openxmlformats.org/officeDocument/2006/relationships/slide" Target="slides/slide1284.xml"/><Relationship Id="rId1276" Type="http://schemas.openxmlformats.org/officeDocument/2006/relationships/slide" Target="slides/slide1285.xml"/><Relationship Id="rId1277" Type="http://schemas.openxmlformats.org/officeDocument/2006/relationships/slide" Target="slides/slide1286.xml"/><Relationship Id="rId1278" Type="http://schemas.openxmlformats.org/officeDocument/2006/relationships/slide" Target="slides/slide1287.xml"/><Relationship Id="rId1279" Type="http://schemas.openxmlformats.org/officeDocument/2006/relationships/slide" Target="slides/slide1288.xml"/><Relationship Id="rId1280" Type="http://schemas.openxmlformats.org/officeDocument/2006/relationships/slide" Target="slides/slide1289.xml"/><Relationship Id="rId1281" Type="http://schemas.openxmlformats.org/officeDocument/2006/relationships/slide" Target="slides/slide1290.xml"/><Relationship Id="rId1282" Type="http://schemas.openxmlformats.org/officeDocument/2006/relationships/slide" Target="slides/slide1291.xml"/><Relationship Id="rId1284" Type="http://schemas.openxmlformats.org/officeDocument/2006/relationships/slide" Target="slides/slide1293.xml"/><Relationship Id="rId1286" Type="http://schemas.openxmlformats.org/officeDocument/2006/relationships/slide" Target="slides/slide1295.xml"/><Relationship Id="rId1287" Type="http://schemas.openxmlformats.org/officeDocument/2006/relationships/slide" Target="slides/slide1296.xml"/><Relationship Id="rId1288" Type="http://schemas.openxmlformats.org/officeDocument/2006/relationships/slide" Target="slides/slide1297.xml"/><Relationship Id="rId1289" Type="http://schemas.openxmlformats.org/officeDocument/2006/relationships/slide" Target="slides/slide1298.xml"/><Relationship Id="rId1290" Type="http://schemas.openxmlformats.org/officeDocument/2006/relationships/slide" Target="slides/slide1299.xml"/><Relationship Id="rId1291" Type="http://schemas.openxmlformats.org/officeDocument/2006/relationships/slide" Target="slides/slide1300.xml"/><Relationship Id="rId1292" Type="http://schemas.openxmlformats.org/officeDocument/2006/relationships/slide" Target="slides/slide1301.xml"/><Relationship Id="rId1294" Type="http://schemas.openxmlformats.org/officeDocument/2006/relationships/slide" Target="slides/slide1303.xml"/><Relationship Id="rId1296" Type="http://schemas.openxmlformats.org/officeDocument/2006/relationships/slide" Target="slides/slide1305.xml"/><Relationship Id="rId1297" Type="http://schemas.openxmlformats.org/officeDocument/2006/relationships/slide" Target="slides/slide1306.xml"/><Relationship Id="rId1298" Type="http://schemas.openxmlformats.org/officeDocument/2006/relationships/slide" Target="slides/slide1307.xml"/><Relationship Id="rId1299" Type="http://schemas.openxmlformats.org/officeDocument/2006/relationships/slide" Target="slides/slide1308.xml"/><Relationship Id="rId1300" Type="http://schemas.openxmlformats.org/officeDocument/2006/relationships/slide" Target="slides/slide1309.xml"/><Relationship Id="rId1301" Type="http://schemas.openxmlformats.org/officeDocument/2006/relationships/slide" Target="slides/slide1310.xml"/><Relationship Id="rId1302" Type="http://schemas.openxmlformats.org/officeDocument/2006/relationships/slide" Target="slides/slide1311.xml"/><Relationship Id="rId1303" Type="http://schemas.openxmlformats.org/officeDocument/2006/relationships/slide" Target="slides/slide1312.xml"/><Relationship Id="rId1304" Type="http://schemas.openxmlformats.org/officeDocument/2006/relationships/slide" Target="slides/slide1313.xml"/><Relationship Id="rId1305" Type="http://schemas.openxmlformats.org/officeDocument/2006/relationships/slide" Target="slides/slide1314.xml"/><Relationship Id="rId1306" Type="http://schemas.openxmlformats.org/officeDocument/2006/relationships/slide" Target="slides/slide1315.xml"/><Relationship Id="rId1307" Type="http://schemas.openxmlformats.org/officeDocument/2006/relationships/slide" Target="slides/slide1316.xml"/><Relationship Id="rId1308" Type="http://schemas.openxmlformats.org/officeDocument/2006/relationships/slide" Target="slides/slide1317.xml"/><Relationship Id="rId1309" Type="http://schemas.openxmlformats.org/officeDocument/2006/relationships/slide" Target="slides/slide1318.xml"/><Relationship Id="rId1310" Type="http://schemas.openxmlformats.org/officeDocument/2006/relationships/slide" Target="slides/slide1319.xml"/><Relationship Id="rId1311" Type="http://schemas.openxmlformats.org/officeDocument/2006/relationships/slide" Target="slides/slide1320.xml"/><Relationship Id="rId1312" Type="http://schemas.openxmlformats.org/officeDocument/2006/relationships/slide" Target="slides/slide1321.xml"/><Relationship Id="rId1314" Type="http://schemas.openxmlformats.org/officeDocument/2006/relationships/slide" Target="slides/slide1323.xml"/><Relationship Id="rId1316" Type="http://schemas.openxmlformats.org/officeDocument/2006/relationships/slide" Target="slides/slide1325.xml"/><Relationship Id="rId1317" Type="http://schemas.openxmlformats.org/officeDocument/2006/relationships/slide" Target="slides/slide1326.xml"/><Relationship Id="rId1318" Type="http://schemas.openxmlformats.org/officeDocument/2006/relationships/slide" Target="slides/slide1327.xml"/><Relationship Id="rId1319" Type="http://schemas.openxmlformats.org/officeDocument/2006/relationships/slide" Target="slides/slide1328.xml"/><Relationship Id="rId1320" Type="http://schemas.openxmlformats.org/officeDocument/2006/relationships/slide" Target="slides/slide1329.xml"/><Relationship Id="rId1321" Type="http://schemas.openxmlformats.org/officeDocument/2006/relationships/slide" Target="slides/slide1330.xml"/><Relationship Id="rId1322" Type="http://schemas.openxmlformats.org/officeDocument/2006/relationships/slide" Target="slides/slide1331.xml"/><Relationship Id="rId1324" Type="http://schemas.openxmlformats.org/officeDocument/2006/relationships/slide" Target="slides/slide1333.xml"/><Relationship Id="rId1326" Type="http://schemas.openxmlformats.org/officeDocument/2006/relationships/slide" Target="slides/slide1335.xml"/><Relationship Id="rId1327" Type="http://schemas.openxmlformats.org/officeDocument/2006/relationships/slide" Target="slides/slide1336.xml"/><Relationship Id="rId1328" Type="http://schemas.openxmlformats.org/officeDocument/2006/relationships/slide" Target="slides/slide1337.xml"/><Relationship Id="rId1329" Type="http://schemas.openxmlformats.org/officeDocument/2006/relationships/slide" Target="slides/slide1338.xml"/><Relationship Id="rId1330" Type="http://schemas.openxmlformats.org/officeDocument/2006/relationships/slide" Target="slides/slide1339.xml"/><Relationship Id="rId1331" Type="http://schemas.openxmlformats.org/officeDocument/2006/relationships/slide" Target="slides/slide1340.xml"/><Relationship Id="rId1332" Type="http://schemas.openxmlformats.org/officeDocument/2006/relationships/slide" Target="slides/slide1341.xml"/><Relationship Id="rId1333" Type="http://schemas.openxmlformats.org/officeDocument/2006/relationships/slide" Target="slides/slide1342.xml"/><Relationship Id="rId1334" Type="http://schemas.openxmlformats.org/officeDocument/2006/relationships/slide" Target="slides/slide1343.xml"/><Relationship Id="rId1335" Type="http://schemas.openxmlformats.org/officeDocument/2006/relationships/slide" Target="slides/slide1344.xml"/><Relationship Id="rId1336" Type="http://schemas.openxmlformats.org/officeDocument/2006/relationships/slide" Target="slides/slide1345.xml"/><Relationship Id="rId1337" Type="http://schemas.openxmlformats.org/officeDocument/2006/relationships/slide" Target="slides/slide1346.xml"/><Relationship Id="rId1338" Type="http://schemas.openxmlformats.org/officeDocument/2006/relationships/slide" Target="slides/slide1347.xml"/><Relationship Id="rId1339" Type="http://schemas.openxmlformats.org/officeDocument/2006/relationships/slide" Target="slides/slide1348.xml"/><Relationship Id="rId1340" Type="http://schemas.openxmlformats.org/officeDocument/2006/relationships/slide" Target="slides/slide1349.xml"/><Relationship Id="rId1341" Type="http://schemas.openxmlformats.org/officeDocument/2006/relationships/slide" Target="slides/slide1350.xml"/><Relationship Id="rId1342" Type="http://schemas.openxmlformats.org/officeDocument/2006/relationships/slide" Target="slides/slide1351.xml"/><Relationship Id="rId1344" Type="http://schemas.openxmlformats.org/officeDocument/2006/relationships/slide" Target="slides/slide1353.xml"/><Relationship Id="rId1346" Type="http://schemas.openxmlformats.org/officeDocument/2006/relationships/slide" Target="slides/slide1355.xml"/><Relationship Id="rId1347" Type="http://schemas.openxmlformats.org/officeDocument/2006/relationships/slide" Target="slides/slide1356.xml"/><Relationship Id="rId1348" Type="http://schemas.openxmlformats.org/officeDocument/2006/relationships/slide" Target="slides/slide1357.xml"/><Relationship Id="rId1349" Type="http://schemas.openxmlformats.org/officeDocument/2006/relationships/slide" Target="slides/slide1358.xml"/><Relationship Id="rId1350" Type="http://schemas.openxmlformats.org/officeDocument/2006/relationships/slide" Target="slides/slide1359.xml"/><Relationship Id="rId1351" Type="http://schemas.openxmlformats.org/officeDocument/2006/relationships/slide" Target="slides/slide1360.xml"/><Relationship Id="rId1352" Type="http://schemas.openxmlformats.org/officeDocument/2006/relationships/slide" Target="slides/slide1361.xml"/><Relationship Id="rId1354" Type="http://schemas.openxmlformats.org/officeDocument/2006/relationships/slide" Target="slides/slide1363.xml"/><Relationship Id="rId1356" Type="http://schemas.openxmlformats.org/officeDocument/2006/relationships/slide" Target="slides/slide1365.xml"/><Relationship Id="rId1357" Type="http://schemas.openxmlformats.org/officeDocument/2006/relationships/slide" Target="slides/slide1366.xml"/><Relationship Id="rId1358" Type="http://schemas.openxmlformats.org/officeDocument/2006/relationships/slide" Target="slides/slide1367.xml"/><Relationship Id="rId1359" Type="http://schemas.openxmlformats.org/officeDocument/2006/relationships/slide" Target="slides/slide1368.xml"/><Relationship Id="rId1360" Type="http://schemas.openxmlformats.org/officeDocument/2006/relationships/slide" Target="slides/slide1369.xml"/><Relationship Id="rId1361" Type="http://schemas.openxmlformats.org/officeDocument/2006/relationships/slide" Target="slides/slide1370.xml"/><Relationship Id="rId1362" Type="http://schemas.openxmlformats.org/officeDocument/2006/relationships/slide" Target="slides/slide1371.xml"/><Relationship Id="rId1363" Type="http://schemas.openxmlformats.org/officeDocument/2006/relationships/slide" Target="slides/slide1372.xml"/><Relationship Id="rId1364" Type="http://schemas.openxmlformats.org/officeDocument/2006/relationships/slide" Target="slides/slide1373.xml"/><Relationship Id="rId1365" Type="http://schemas.openxmlformats.org/officeDocument/2006/relationships/slide" Target="slides/slide1374.xml"/><Relationship Id="rId1366" Type="http://schemas.openxmlformats.org/officeDocument/2006/relationships/slide" Target="slides/slide1375.xml"/><Relationship Id="rId1367" Type="http://schemas.openxmlformats.org/officeDocument/2006/relationships/slide" Target="slides/slide1376.xml"/><Relationship Id="rId1368" Type="http://schemas.openxmlformats.org/officeDocument/2006/relationships/slide" Target="slides/slide1377.xml"/><Relationship Id="rId1369" Type="http://schemas.openxmlformats.org/officeDocument/2006/relationships/slide" Target="slides/slide1378.xml"/><Relationship Id="rId1370" Type="http://schemas.openxmlformats.org/officeDocument/2006/relationships/slide" Target="slides/slide1379.xml"/><Relationship Id="rId1371" Type="http://schemas.openxmlformats.org/officeDocument/2006/relationships/slide" Target="slides/slide1380.xml"/><Relationship Id="rId1372" Type="http://schemas.openxmlformats.org/officeDocument/2006/relationships/slide" Target="slides/slide1381.xml"/><Relationship Id="rId1374" Type="http://schemas.openxmlformats.org/officeDocument/2006/relationships/slide" Target="slides/slide1383.xml"/><Relationship Id="rId1376" Type="http://schemas.openxmlformats.org/officeDocument/2006/relationships/slide" Target="slides/slide1385.xml"/><Relationship Id="rId1377" Type="http://schemas.openxmlformats.org/officeDocument/2006/relationships/slide" Target="slides/slide1386.xml"/><Relationship Id="rId1378" Type="http://schemas.openxmlformats.org/officeDocument/2006/relationships/slide" Target="slides/slide1387.xml"/><Relationship Id="rId1379" Type="http://schemas.openxmlformats.org/officeDocument/2006/relationships/slide" Target="slides/slide1388.xml"/><Relationship Id="rId1380" Type="http://schemas.openxmlformats.org/officeDocument/2006/relationships/slide" Target="slides/slide1389.xml"/><Relationship Id="rId1381" Type="http://schemas.openxmlformats.org/officeDocument/2006/relationships/slide" Target="slides/slide1390.xml"/><Relationship Id="rId1382" Type="http://schemas.openxmlformats.org/officeDocument/2006/relationships/slide" Target="slides/slide1391.xml"/><Relationship Id="rId1384" Type="http://schemas.openxmlformats.org/officeDocument/2006/relationships/slide" Target="slides/slide1393.xml"/><Relationship Id="rId1386" Type="http://schemas.openxmlformats.org/officeDocument/2006/relationships/slide" Target="slides/slide1395.xml"/><Relationship Id="rId1387" Type="http://schemas.openxmlformats.org/officeDocument/2006/relationships/slide" Target="slides/slide1396.xml"/><Relationship Id="rId1388" Type="http://schemas.openxmlformats.org/officeDocument/2006/relationships/slide" Target="slides/slide1397.xml"/><Relationship Id="rId1389" Type="http://schemas.openxmlformats.org/officeDocument/2006/relationships/slide" Target="slides/slide1398.xml"/><Relationship Id="rId1390" Type="http://schemas.openxmlformats.org/officeDocument/2006/relationships/slide" Target="slides/slide1399.xml"/><Relationship Id="rId1391" Type="http://schemas.openxmlformats.org/officeDocument/2006/relationships/slide" Target="slides/slide1400.xml"/><Relationship Id="rId1392" Type="http://schemas.openxmlformats.org/officeDocument/2006/relationships/slide" Target="slides/slide1401.xml"/><Relationship Id="rId1393" Type="http://schemas.openxmlformats.org/officeDocument/2006/relationships/slide" Target="slides/slide1402.xml"/><Relationship Id="rId1394" Type="http://schemas.openxmlformats.org/officeDocument/2006/relationships/slide" Target="slides/slide1403.xml"/><Relationship Id="rId1395" Type="http://schemas.openxmlformats.org/officeDocument/2006/relationships/slide" Target="slides/slide1404.xml"/><Relationship Id="rId1396" Type="http://schemas.openxmlformats.org/officeDocument/2006/relationships/slide" Target="slides/slide1405.xml"/><Relationship Id="rId1397" Type="http://schemas.openxmlformats.org/officeDocument/2006/relationships/slide" Target="slides/slide1406.xml"/><Relationship Id="rId1398" Type="http://schemas.openxmlformats.org/officeDocument/2006/relationships/slide" Target="slides/slide1407.xml"/><Relationship Id="rId1399" Type="http://schemas.openxmlformats.org/officeDocument/2006/relationships/slide" Target="slides/slide1408.xml"/><Relationship Id="rId1400" Type="http://schemas.openxmlformats.org/officeDocument/2006/relationships/slide" Target="slides/slide1409.xml"/><Relationship Id="rId1401" Type="http://schemas.openxmlformats.org/officeDocument/2006/relationships/slide" Target="slides/slide1410.xml"/><Relationship Id="rId1402" Type="http://schemas.openxmlformats.org/officeDocument/2006/relationships/slide" Target="slides/slide1411.xml"/><Relationship Id="rId1404" Type="http://schemas.openxmlformats.org/officeDocument/2006/relationships/slide" Target="slides/slide1413.xml"/><Relationship Id="rId1406" Type="http://schemas.openxmlformats.org/officeDocument/2006/relationships/slide" Target="slides/slide1415.xml"/><Relationship Id="rId1407" Type="http://schemas.openxmlformats.org/officeDocument/2006/relationships/slide" Target="slides/slide1416.xml"/><Relationship Id="rId1408" Type="http://schemas.openxmlformats.org/officeDocument/2006/relationships/slide" Target="slides/slide1417.xml"/><Relationship Id="rId1409" Type="http://schemas.openxmlformats.org/officeDocument/2006/relationships/slide" Target="slides/slide1418.xml"/><Relationship Id="rId1410" Type="http://schemas.openxmlformats.org/officeDocument/2006/relationships/slide" Target="slides/slide1419.xml"/><Relationship Id="rId1411" Type="http://schemas.openxmlformats.org/officeDocument/2006/relationships/slide" Target="slides/slide1420.xml"/><Relationship Id="rId1412" Type="http://schemas.openxmlformats.org/officeDocument/2006/relationships/slide" Target="slides/slide1421.xml"/><Relationship Id="rId1414" Type="http://schemas.openxmlformats.org/officeDocument/2006/relationships/slide" Target="slides/slide1423.xml"/><Relationship Id="rId1416" Type="http://schemas.openxmlformats.org/officeDocument/2006/relationships/slide" Target="slides/slide1425.xml"/><Relationship Id="rId1417" Type="http://schemas.openxmlformats.org/officeDocument/2006/relationships/slide" Target="slides/slide1426.xml"/><Relationship Id="rId1418" Type="http://schemas.openxmlformats.org/officeDocument/2006/relationships/slide" Target="slides/slide1427.xml"/><Relationship Id="rId1419" Type="http://schemas.openxmlformats.org/officeDocument/2006/relationships/slide" Target="slides/slide1428.xml"/><Relationship Id="rId1420" Type="http://schemas.openxmlformats.org/officeDocument/2006/relationships/slide" Target="slides/slide1429.xml"/><Relationship Id="rId1421" Type="http://schemas.openxmlformats.org/officeDocument/2006/relationships/slide" Target="slides/slide1430.xml"/><Relationship Id="rId1422" Type="http://schemas.openxmlformats.org/officeDocument/2006/relationships/slide" Target="slides/slide1431.xml"/><Relationship Id="rId1423" Type="http://schemas.openxmlformats.org/officeDocument/2006/relationships/slide" Target="slides/slide1432.xml"/><Relationship Id="rId1424" Type="http://schemas.openxmlformats.org/officeDocument/2006/relationships/slide" Target="slides/slide1433.xml"/><Relationship Id="rId1425" Type="http://schemas.openxmlformats.org/officeDocument/2006/relationships/slide" Target="slides/slide1434.xml"/><Relationship Id="rId1426" Type="http://schemas.openxmlformats.org/officeDocument/2006/relationships/slide" Target="slides/slide1435.xml"/><Relationship Id="rId1427" Type="http://schemas.openxmlformats.org/officeDocument/2006/relationships/slide" Target="slides/slide1436.xml"/><Relationship Id="rId1428" Type="http://schemas.openxmlformats.org/officeDocument/2006/relationships/slide" Target="slides/slide1437.xml"/><Relationship Id="rId1429" Type="http://schemas.openxmlformats.org/officeDocument/2006/relationships/slide" Target="slides/slide1438.xml"/><Relationship Id="rId1430" Type="http://schemas.openxmlformats.org/officeDocument/2006/relationships/slide" Target="slides/slide1439.xml"/><Relationship Id="rId1431" Type="http://schemas.openxmlformats.org/officeDocument/2006/relationships/slide" Target="slides/slide1440.xml"/><Relationship Id="rId1432" Type="http://schemas.openxmlformats.org/officeDocument/2006/relationships/slide" Target="slides/slide1441.xml"/><Relationship Id="rId1434" Type="http://schemas.openxmlformats.org/officeDocument/2006/relationships/slide" Target="slides/slide1443.xml"/><Relationship Id="rId1436" Type="http://schemas.openxmlformats.org/officeDocument/2006/relationships/slide" Target="slides/slide1445.xml"/><Relationship Id="rId1437" Type="http://schemas.openxmlformats.org/officeDocument/2006/relationships/slide" Target="slides/slide1446.xml"/><Relationship Id="rId1438" Type="http://schemas.openxmlformats.org/officeDocument/2006/relationships/slide" Target="slides/slide1447.xml"/><Relationship Id="rId1439" Type="http://schemas.openxmlformats.org/officeDocument/2006/relationships/slide" Target="slides/slide1448.xml"/><Relationship Id="rId1440" Type="http://schemas.openxmlformats.org/officeDocument/2006/relationships/slide" Target="slides/slide1449.xml"/><Relationship Id="rId1441" Type="http://schemas.openxmlformats.org/officeDocument/2006/relationships/slide" Target="slides/slide1450.xml"/><Relationship Id="rId1442" Type="http://schemas.openxmlformats.org/officeDocument/2006/relationships/slide" Target="slides/slide1451.xml"/><Relationship Id="rId1444" Type="http://schemas.openxmlformats.org/officeDocument/2006/relationships/slide" Target="slides/slide1453.xml"/><Relationship Id="rId1446" Type="http://schemas.openxmlformats.org/officeDocument/2006/relationships/slide" Target="slides/slide1455.xml"/><Relationship Id="rId1447" Type="http://schemas.openxmlformats.org/officeDocument/2006/relationships/slide" Target="slides/slide1456.xml"/><Relationship Id="rId1448" Type="http://schemas.openxmlformats.org/officeDocument/2006/relationships/slide" Target="slides/slide1457.xml"/><Relationship Id="rId1449" Type="http://schemas.openxmlformats.org/officeDocument/2006/relationships/slide" Target="slides/slide1458.xml"/><Relationship Id="rId1450" Type="http://schemas.openxmlformats.org/officeDocument/2006/relationships/slide" Target="slides/slide1459.xml"/><Relationship Id="rId1451" Type="http://schemas.openxmlformats.org/officeDocument/2006/relationships/slide" Target="slides/slide1460.xml"/><Relationship Id="rId1452" Type="http://schemas.openxmlformats.org/officeDocument/2006/relationships/slide" Target="slides/slide1461.xml"/><Relationship Id="rId1453" Type="http://schemas.openxmlformats.org/officeDocument/2006/relationships/slide" Target="slides/slide1462.xml"/><Relationship Id="rId1454" Type="http://schemas.openxmlformats.org/officeDocument/2006/relationships/slide" Target="slides/slide1463.xml"/><Relationship Id="rId1455" Type="http://schemas.openxmlformats.org/officeDocument/2006/relationships/slide" Target="slides/slide1464.xml"/><Relationship Id="rId1456" Type="http://schemas.openxmlformats.org/officeDocument/2006/relationships/slide" Target="slides/slide1465.xml"/><Relationship Id="rId1457" Type="http://schemas.openxmlformats.org/officeDocument/2006/relationships/slide" Target="slides/slide1466.xml"/><Relationship Id="rId1458" Type="http://schemas.openxmlformats.org/officeDocument/2006/relationships/slide" Target="slides/slide1467.xml"/><Relationship Id="rId1459" Type="http://schemas.openxmlformats.org/officeDocument/2006/relationships/slide" Target="slides/slide1468.xml"/><Relationship Id="rId1460" Type="http://schemas.openxmlformats.org/officeDocument/2006/relationships/slide" Target="slides/slide1469.xml"/><Relationship Id="rId1461" Type="http://schemas.openxmlformats.org/officeDocument/2006/relationships/slide" Target="slides/slide1470.xml"/><Relationship Id="rId1462" Type="http://schemas.openxmlformats.org/officeDocument/2006/relationships/slide" Target="slides/slide1471.xml"/><Relationship Id="rId1464" Type="http://schemas.openxmlformats.org/officeDocument/2006/relationships/slide" Target="slides/slide1473.xml"/><Relationship Id="rId1466" Type="http://schemas.openxmlformats.org/officeDocument/2006/relationships/slide" Target="slides/slide1475.xml"/><Relationship Id="rId1467" Type="http://schemas.openxmlformats.org/officeDocument/2006/relationships/slide" Target="slides/slide1476.xml"/><Relationship Id="rId1468" Type="http://schemas.openxmlformats.org/officeDocument/2006/relationships/slide" Target="slides/slide1477.xml"/><Relationship Id="rId1469" Type="http://schemas.openxmlformats.org/officeDocument/2006/relationships/slide" Target="slides/slide1478.xml"/><Relationship Id="rId1470" Type="http://schemas.openxmlformats.org/officeDocument/2006/relationships/slide" Target="slides/slide1479.xml"/><Relationship Id="rId1471" Type="http://schemas.openxmlformats.org/officeDocument/2006/relationships/slide" Target="slides/slide1480.xml"/><Relationship Id="rId1472" Type="http://schemas.openxmlformats.org/officeDocument/2006/relationships/slide" Target="slides/slide1481.xml"/><Relationship Id="rId1474" Type="http://schemas.openxmlformats.org/officeDocument/2006/relationships/slide" Target="slides/slide1483.xml"/><Relationship Id="rId1476" Type="http://schemas.openxmlformats.org/officeDocument/2006/relationships/slide" Target="slides/slide1485.xml"/><Relationship Id="rId1477" Type="http://schemas.openxmlformats.org/officeDocument/2006/relationships/slide" Target="slides/slide1486.xml"/><Relationship Id="rId1478" Type="http://schemas.openxmlformats.org/officeDocument/2006/relationships/slide" Target="slides/slide1487.xml"/><Relationship Id="rId1479" Type="http://schemas.openxmlformats.org/officeDocument/2006/relationships/slide" Target="slides/slide1488.xml"/><Relationship Id="rId1480" Type="http://schemas.openxmlformats.org/officeDocument/2006/relationships/slide" Target="slides/slide1489.xml"/><Relationship Id="rId1481" Type="http://schemas.openxmlformats.org/officeDocument/2006/relationships/slide" Target="slides/slide1490.xml"/><Relationship Id="rId1482" Type="http://schemas.openxmlformats.org/officeDocument/2006/relationships/slide" Target="slides/slide1491.xml"/><Relationship Id="rId1483" Type="http://schemas.openxmlformats.org/officeDocument/2006/relationships/slide" Target="slides/slide1492.xml"/><Relationship Id="rId1484" Type="http://schemas.openxmlformats.org/officeDocument/2006/relationships/slide" Target="slides/slide1493.xml"/><Relationship Id="rId1485" Type="http://schemas.openxmlformats.org/officeDocument/2006/relationships/slide" Target="slides/slide1494.xml"/><Relationship Id="rId1486" Type="http://schemas.openxmlformats.org/officeDocument/2006/relationships/slide" Target="slides/slide1495.xml"/><Relationship Id="rId1487" Type="http://schemas.openxmlformats.org/officeDocument/2006/relationships/slide" Target="slides/slide1496.xml"/><Relationship Id="rId1488" Type="http://schemas.openxmlformats.org/officeDocument/2006/relationships/slide" Target="slides/slide1497.xml"/><Relationship Id="rId1489" Type="http://schemas.openxmlformats.org/officeDocument/2006/relationships/slide" Target="slides/slide1498.xml"/><Relationship Id="rId1490" Type="http://schemas.openxmlformats.org/officeDocument/2006/relationships/slide" Target="slides/slide1499.xml"/><Relationship Id="rId1491" Type="http://schemas.openxmlformats.org/officeDocument/2006/relationships/slide" Target="slides/slide1500.xml"/><Relationship Id="rId1492" Type="http://schemas.openxmlformats.org/officeDocument/2006/relationships/slide" Target="slides/slide1501.xml"/><Relationship Id="rId1494" Type="http://schemas.openxmlformats.org/officeDocument/2006/relationships/slide" Target="slides/slide1503.xml"/><Relationship Id="rId1496" Type="http://schemas.openxmlformats.org/officeDocument/2006/relationships/slide" Target="slides/slide1505.xml"/><Relationship Id="rId1497" Type="http://schemas.openxmlformats.org/officeDocument/2006/relationships/slide" Target="slides/slide1506.xml"/><Relationship Id="rId1498" Type="http://schemas.openxmlformats.org/officeDocument/2006/relationships/slide" Target="slides/slide1507.xml"/><Relationship Id="rId1499" Type="http://schemas.openxmlformats.org/officeDocument/2006/relationships/slide" Target="slides/slide1508.xml"/><Relationship Id="rId1500" Type="http://schemas.openxmlformats.org/officeDocument/2006/relationships/slide" Target="slides/slide1509.xml"/><Relationship Id="rId1501" Type="http://schemas.openxmlformats.org/officeDocument/2006/relationships/slide" Target="slides/slide1510.xml"/><Relationship Id="rId1502" Type="http://schemas.openxmlformats.org/officeDocument/2006/relationships/slide" Target="slides/slide1511.xml"/><Relationship Id="rId1504" Type="http://schemas.openxmlformats.org/officeDocument/2006/relationships/slide" Target="slides/slide1513.xml"/><Relationship Id="rId1506" Type="http://schemas.openxmlformats.org/officeDocument/2006/relationships/slide" Target="slides/slide1515.xml"/><Relationship Id="rId1507" Type="http://schemas.openxmlformats.org/officeDocument/2006/relationships/slide" Target="slides/slide1516.xml"/><Relationship Id="rId1508" Type="http://schemas.openxmlformats.org/officeDocument/2006/relationships/slide" Target="slides/slide1517.xml"/><Relationship Id="rId1509" Type="http://schemas.openxmlformats.org/officeDocument/2006/relationships/slide" Target="slides/slide1518.xml"/><Relationship Id="rId1510" Type="http://schemas.openxmlformats.org/officeDocument/2006/relationships/slide" Target="slides/slide1519.xml"/><Relationship Id="rId1511" Type="http://schemas.openxmlformats.org/officeDocument/2006/relationships/slide" Target="slides/slide1520.xml"/><Relationship Id="rId1512" Type="http://schemas.openxmlformats.org/officeDocument/2006/relationships/slide" Target="slides/slide1521.xml"/><Relationship Id="rId1513" Type="http://schemas.openxmlformats.org/officeDocument/2006/relationships/slide" Target="slides/slide1522.xml"/><Relationship Id="rId1514" Type="http://schemas.openxmlformats.org/officeDocument/2006/relationships/slide" Target="slides/slide1523.xml"/><Relationship Id="rId1515" Type="http://schemas.openxmlformats.org/officeDocument/2006/relationships/slide" Target="slides/slide1524.xml"/><Relationship Id="rId1516" Type="http://schemas.openxmlformats.org/officeDocument/2006/relationships/slide" Target="slides/slide1525.xml"/><Relationship Id="rId1517" Type="http://schemas.openxmlformats.org/officeDocument/2006/relationships/slide" Target="slides/slide1526.xml"/><Relationship Id="rId1518" Type="http://schemas.openxmlformats.org/officeDocument/2006/relationships/slide" Target="slides/slide1527.xml"/><Relationship Id="rId1519" Type="http://schemas.openxmlformats.org/officeDocument/2006/relationships/slide" Target="slides/slide1528.xml"/><Relationship Id="rId1520" Type="http://schemas.openxmlformats.org/officeDocument/2006/relationships/slide" Target="slides/slide1529.xml"/><Relationship Id="rId1521" Type="http://schemas.openxmlformats.org/officeDocument/2006/relationships/slide" Target="slides/slide1530.xml"/><Relationship Id="rId1522" Type="http://schemas.openxmlformats.org/officeDocument/2006/relationships/slide" Target="slides/slide1531.xml"/><Relationship Id="rId1524" Type="http://schemas.openxmlformats.org/officeDocument/2006/relationships/slide" Target="slides/slide1533.xml"/><Relationship Id="rId1526" Type="http://schemas.openxmlformats.org/officeDocument/2006/relationships/slide" Target="slides/slide1535.xml"/><Relationship Id="rId1527" Type="http://schemas.openxmlformats.org/officeDocument/2006/relationships/slide" Target="slides/slide1536.xml"/><Relationship Id="rId1528" Type="http://schemas.openxmlformats.org/officeDocument/2006/relationships/slide" Target="slides/slide1537.xml"/><Relationship Id="rId1529" Type="http://schemas.openxmlformats.org/officeDocument/2006/relationships/slide" Target="slides/slide1538.xml"/><Relationship Id="rId1530" Type="http://schemas.openxmlformats.org/officeDocument/2006/relationships/slide" Target="slides/slide1539.xml"/><Relationship Id="rId1531" Type="http://schemas.openxmlformats.org/officeDocument/2006/relationships/slide" Target="slides/slide1540.xml"/><Relationship Id="rId1532" Type="http://schemas.openxmlformats.org/officeDocument/2006/relationships/slide" Target="slides/slide1541.xml"/><Relationship Id="rId1534" Type="http://schemas.openxmlformats.org/officeDocument/2006/relationships/slide" Target="slides/slide1543.xml"/><Relationship Id="rId1536" Type="http://schemas.openxmlformats.org/officeDocument/2006/relationships/slide" Target="slides/slide1545.xml"/><Relationship Id="rId1537" Type="http://schemas.openxmlformats.org/officeDocument/2006/relationships/slide" Target="slides/slide1546.xml"/><Relationship Id="rId1538" Type="http://schemas.openxmlformats.org/officeDocument/2006/relationships/slide" Target="slides/slide1547.xml"/><Relationship Id="rId1539" Type="http://schemas.openxmlformats.org/officeDocument/2006/relationships/slide" Target="slides/slide1548.xml"/><Relationship Id="rId1540" Type="http://schemas.openxmlformats.org/officeDocument/2006/relationships/slide" Target="slides/slide1549.xml"/><Relationship Id="rId1541" Type="http://schemas.openxmlformats.org/officeDocument/2006/relationships/slide" Target="slides/slide1550.xml"/><Relationship Id="rId1542" Type="http://schemas.openxmlformats.org/officeDocument/2006/relationships/slide" Target="slides/slide1551.xml"/><Relationship Id="rId1543" Type="http://schemas.openxmlformats.org/officeDocument/2006/relationships/slide" Target="slides/slide1552.xml"/><Relationship Id="rId1544" Type="http://schemas.openxmlformats.org/officeDocument/2006/relationships/slide" Target="slides/slide1553.xml"/><Relationship Id="rId1545" Type="http://schemas.openxmlformats.org/officeDocument/2006/relationships/slide" Target="slides/slide1554.xml"/><Relationship Id="rId1546" Type="http://schemas.openxmlformats.org/officeDocument/2006/relationships/slide" Target="slides/slide1555.xml"/><Relationship Id="rId1547" Type="http://schemas.openxmlformats.org/officeDocument/2006/relationships/slide" Target="slides/slide1556.xml"/><Relationship Id="rId1548" Type="http://schemas.openxmlformats.org/officeDocument/2006/relationships/slide" Target="slides/slide1557.xml"/><Relationship Id="rId1549" Type="http://schemas.openxmlformats.org/officeDocument/2006/relationships/slide" Target="slides/slide1558.xml"/><Relationship Id="rId1550" Type="http://schemas.openxmlformats.org/officeDocument/2006/relationships/slide" Target="slides/slide1559.xml"/><Relationship Id="rId1551" Type="http://schemas.openxmlformats.org/officeDocument/2006/relationships/slide" Target="slides/slide1560.xml"/><Relationship Id="rId1552" Type="http://schemas.openxmlformats.org/officeDocument/2006/relationships/slide" Target="slides/slide1561.xml"/><Relationship Id="rId1554" Type="http://schemas.openxmlformats.org/officeDocument/2006/relationships/slide" Target="slides/slide1563.xml"/><Relationship Id="rId1556" Type="http://schemas.openxmlformats.org/officeDocument/2006/relationships/slide" Target="slides/slide1565.xml"/><Relationship Id="rId1557" Type="http://schemas.openxmlformats.org/officeDocument/2006/relationships/slide" Target="slides/slide1566.xml"/><Relationship Id="rId1558" Type="http://schemas.openxmlformats.org/officeDocument/2006/relationships/slide" Target="slides/slide1567.xml"/><Relationship Id="rId1559" Type="http://schemas.openxmlformats.org/officeDocument/2006/relationships/slide" Target="slides/slide1568.xml"/><Relationship Id="rId1560" Type="http://schemas.openxmlformats.org/officeDocument/2006/relationships/slide" Target="slides/slide1569.xml"/><Relationship Id="rId1561" Type="http://schemas.openxmlformats.org/officeDocument/2006/relationships/slide" Target="slides/slide1570.xml"/><Relationship Id="rId1562" Type="http://schemas.openxmlformats.org/officeDocument/2006/relationships/slide" Target="slides/slide1571.xml"/><Relationship Id="rId1564" Type="http://schemas.openxmlformats.org/officeDocument/2006/relationships/slide" Target="slides/slide1573.xml"/><Relationship Id="rId1566" Type="http://schemas.openxmlformats.org/officeDocument/2006/relationships/slide" Target="slides/slide1575.xml"/><Relationship Id="rId1567" Type="http://schemas.openxmlformats.org/officeDocument/2006/relationships/slide" Target="slides/slide1576.xml"/><Relationship Id="rId1568" Type="http://schemas.openxmlformats.org/officeDocument/2006/relationships/slide" Target="slides/slide1577.xml"/><Relationship Id="rId1569" Type="http://schemas.openxmlformats.org/officeDocument/2006/relationships/slide" Target="slides/slide1578.xml"/><Relationship Id="rId1570" Type="http://schemas.openxmlformats.org/officeDocument/2006/relationships/slide" Target="slides/slide1579.xml"/><Relationship Id="rId1571" Type="http://schemas.openxmlformats.org/officeDocument/2006/relationships/slide" Target="slides/slide1580.xml"/><Relationship Id="rId1572" Type="http://schemas.openxmlformats.org/officeDocument/2006/relationships/slide" Target="slides/slide1581.xml"/><Relationship Id="rId1573" Type="http://schemas.openxmlformats.org/officeDocument/2006/relationships/slide" Target="slides/slide1582.xml"/><Relationship Id="rId1574" Type="http://schemas.openxmlformats.org/officeDocument/2006/relationships/slide" Target="slides/slide1583.xml"/><Relationship Id="rId1575" Type="http://schemas.openxmlformats.org/officeDocument/2006/relationships/slide" Target="slides/slide1584.xml"/><Relationship Id="rId1576" Type="http://schemas.openxmlformats.org/officeDocument/2006/relationships/slide" Target="slides/slide1585.xml"/><Relationship Id="rId1577" Type="http://schemas.openxmlformats.org/officeDocument/2006/relationships/slide" Target="slides/slide1586.xml"/><Relationship Id="rId1578" Type="http://schemas.openxmlformats.org/officeDocument/2006/relationships/slide" Target="slides/slide1587.xml"/><Relationship Id="rId1579" Type="http://schemas.openxmlformats.org/officeDocument/2006/relationships/slide" Target="slides/slide1588.xml"/><Relationship Id="rId1580" Type="http://schemas.openxmlformats.org/officeDocument/2006/relationships/slide" Target="slides/slide1589.xml"/><Relationship Id="rId1581" Type="http://schemas.openxmlformats.org/officeDocument/2006/relationships/slide" Target="slides/slide1590.xml"/><Relationship Id="rId1582" Type="http://schemas.openxmlformats.org/officeDocument/2006/relationships/slide" Target="slides/slide1591.xml"/><Relationship Id="rId1584" Type="http://schemas.openxmlformats.org/officeDocument/2006/relationships/slide" Target="slides/slide1593.xml"/><Relationship Id="rId1586" Type="http://schemas.openxmlformats.org/officeDocument/2006/relationships/slide" Target="slides/slide1595.xml"/><Relationship Id="rId1587" Type="http://schemas.openxmlformats.org/officeDocument/2006/relationships/slide" Target="slides/slide1596.xml"/><Relationship Id="rId1588" Type="http://schemas.openxmlformats.org/officeDocument/2006/relationships/slide" Target="slides/slide1597.xml"/><Relationship Id="rId1589" Type="http://schemas.openxmlformats.org/officeDocument/2006/relationships/slide" Target="slides/slide1598.xml"/><Relationship Id="rId1590" Type="http://schemas.openxmlformats.org/officeDocument/2006/relationships/slide" Target="slides/slide1599.xml"/><Relationship Id="rId1591" Type="http://schemas.openxmlformats.org/officeDocument/2006/relationships/slide" Target="slides/slide1600.xml"/><Relationship Id="rId1592" Type="http://schemas.openxmlformats.org/officeDocument/2006/relationships/slide" Target="slides/slide1601.xml"/><Relationship Id="rId1594" Type="http://schemas.openxmlformats.org/officeDocument/2006/relationships/slide" Target="slides/slide1603.xml"/><Relationship Id="rId1596" Type="http://schemas.openxmlformats.org/officeDocument/2006/relationships/slide" Target="slides/slide1605.xml"/><Relationship Id="rId1597" Type="http://schemas.openxmlformats.org/officeDocument/2006/relationships/slide" Target="slides/slide1606.xml"/><Relationship Id="rId1598" Type="http://schemas.openxmlformats.org/officeDocument/2006/relationships/slide" Target="slides/slide1607.xml"/><Relationship Id="rId1599" Type="http://schemas.openxmlformats.org/officeDocument/2006/relationships/slide" Target="slides/slide1608.xml"/><Relationship Id="rId1600" Type="http://schemas.openxmlformats.org/officeDocument/2006/relationships/slide" Target="slides/slide1609.xml"/><Relationship Id="rId1601" Type="http://schemas.openxmlformats.org/officeDocument/2006/relationships/slide" Target="slides/slide1610.xml"/><Relationship Id="rId1602" Type="http://schemas.openxmlformats.org/officeDocument/2006/relationships/slide" Target="slides/slide1611.xml"/><Relationship Id="rId1603" Type="http://schemas.openxmlformats.org/officeDocument/2006/relationships/slide" Target="slides/slide1612.xml"/><Relationship Id="rId1604" Type="http://schemas.openxmlformats.org/officeDocument/2006/relationships/slide" Target="slides/slide1613.xml"/><Relationship Id="rId1605" Type="http://schemas.openxmlformats.org/officeDocument/2006/relationships/slide" Target="slides/slide1614.xml"/><Relationship Id="rId1606" Type="http://schemas.openxmlformats.org/officeDocument/2006/relationships/slide" Target="slides/slide1615.xml"/><Relationship Id="rId1607" Type="http://schemas.openxmlformats.org/officeDocument/2006/relationships/slide" Target="slides/slide1616.xml"/><Relationship Id="rId1608" Type="http://schemas.openxmlformats.org/officeDocument/2006/relationships/slide" Target="slides/slide1617.xml"/><Relationship Id="rId1609" Type="http://schemas.openxmlformats.org/officeDocument/2006/relationships/slide" Target="slides/slide1618.xml"/><Relationship Id="rId1610" Type="http://schemas.openxmlformats.org/officeDocument/2006/relationships/slide" Target="slides/slide1619.xml"/><Relationship Id="rId1611" Type="http://schemas.openxmlformats.org/officeDocument/2006/relationships/slide" Target="slides/slide1620.xml"/><Relationship Id="rId1612" Type="http://schemas.openxmlformats.org/officeDocument/2006/relationships/slide" Target="slides/slide1621.xml"/><Relationship Id="rId1614" Type="http://schemas.openxmlformats.org/officeDocument/2006/relationships/slide" Target="slides/slide1623.xml"/><Relationship Id="rId1616" Type="http://schemas.openxmlformats.org/officeDocument/2006/relationships/slide" Target="slides/slide1625.xml"/><Relationship Id="rId1617" Type="http://schemas.openxmlformats.org/officeDocument/2006/relationships/slide" Target="slides/slide1626.xml"/><Relationship Id="rId1618" Type="http://schemas.openxmlformats.org/officeDocument/2006/relationships/slide" Target="slides/slide1627.xml"/><Relationship Id="rId1619" Type="http://schemas.openxmlformats.org/officeDocument/2006/relationships/slide" Target="slides/slide1628.xml"/><Relationship Id="rId1620" Type="http://schemas.openxmlformats.org/officeDocument/2006/relationships/slide" Target="slides/slide1629.xml"/><Relationship Id="rId1621" Type="http://schemas.openxmlformats.org/officeDocument/2006/relationships/slide" Target="slides/slide1630.xml"/><Relationship Id="rId1622" Type="http://schemas.openxmlformats.org/officeDocument/2006/relationships/slide" Target="slides/slide1631.xml"/><Relationship Id="rId1624" Type="http://schemas.openxmlformats.org/officeDocument/2006/relationships/slide" Target="slides/slide1633.xml"/><Relationship Id="rId1626" Type="http://schemas.openxmlformats.org/officeDocument/2006/relationships/slide" Target="slides/slide1635.xml"/><Relationship Id="rId1627" Type="http://schemas.openxmlformats.org/officeDocument/2006/relationships/slide" Target="slides/slide1636.xml"/><Relationship Id="rId1628" Type="http://schemas.openxmlformats.org/officeDocument/2006/relationships/slide" Target="slides/slide1637.xml"/><Relationship Id="rId1629" Type="http://schemas.openxmlformats.org/officeDocument/2006/relationships/slide" Target="slides/slide1638.xml"/><Relationship Id="rId1630" Type="http://schemas.openxmlformats.org/officeDocument/2006/relationships/slide" Target="slides/slide1639.xml"/><Relationship Id="rId1631" Type="http://schemas.openxmlformats.org/officeDocument/2006/relationships/slide" Target="slides/slide1640.xml"/><Relationship Id="rId1632" Type="http://schemas.openxmlformats.org/officeDocument/2006/relationships/slide" Target="slides/slide1641.xml"/><Relationship Id="rId1633" Type="http://schemas.openxmlformats.org/officeDocument/2006/relationships/slide" Target="slides/slide1642.xml"/><Relationship Id="rId1634" Type="http://schemas.openxmlformats.org/officeDocument/2006/relationships/slide" Target="slides/slide1643.xml"/><Relationship Id="rId1635" Type="http://schemas.openxmlformats.org/officeDocument/2006/relationships/slide" Target="slides/slide1644.xml"/><Relationship Id="rId1636" Type="http://schemas.openxmlformats.org/officeDocument/2006/relationships/slide" Target="slides/slide1645.xml"/><Relationship Id="rId1637" Type="http://schemas.openxmlformats.org/officeDocument/2006/relationships/slide" Target="slides/slide1646.xml"/><Relationship Id="rId1638" Type="http://schemas.openxmlformats.org/officeDocument/2006/relationships/slide" Target="slides/slide1647.xml"/><Relationship Id="rId1639" Type="http://schemas.openxmlformats.org/officeDocument/2006/relationships/slide" Target="slides/slide1648.xml"/><Relationship Id="rId1640" Type="http://schemas.openxmlformats.org/officeDocument/2006/relationships/slide" Target="slides/slide1649.xml"/><Relationship Id="rId1641" Type="http://schemas.openxmlformats.org/officeDocument/2006/relationships/slide" Target="slides/slide1650.xml"/><Relationship Id="rId1642" Type="http://schemas.openxmlformats.org/officeDocument/2006/relationships/slide" Target="slides/slide1651.xml"/><Relationship Id="rId1644" Type="http://schemas.openxmlformats.org/officeDocument/2006/relationships/slide" Target="slides/slide1653.xml"/><Relationship Id="rId1646" Type="http://schemas.openxmlformats.org/officeDocument/2006/relationships/slide" Target="slides/slide1655.xml"/><Relationship Id="rId1647" Type="http://schemas.openxmlformats.org/officeDocument/2006/relationships/slide" Target="slides/slide1656.xml"/><Relationship Id="rId1648" Type="http://schemas.openxmlformats.org/officeDocument/2006/relationships/slide" Target="slides/slide1657.xml"/><Relationship Id="rId1649" Type="http://schemas.openxmlformats.org/officeDocument/2006/relationships/slide" Target="slides/slide1658.xml"/><Relationship Id="rId1650" Type="http://schemas.openxmlformats.org/officeDocument/2006/relationships/slide" Target="slides/slide1659.xml"/><Relationship Id="rId1651" Type="http://schemas.openxmlformats.org/officeDocument/2006/relationships/slide" Target="slides/slide1660.xml"/><Relationship Id="rId1652" Type="http://schemas.openxmlformats.org/officeDocument/2006/relationships/slide" Target="slides/slide1661.xml"/><Relationship Id="rId1654" Type="http://schemas.openxmlformats.org/officeDocument/2006/relationships/slide" Target="slides/slide1663.xml"/><Relationship Id="rId1656" Type="http://schemas.openxmlformats.org/officeDocument/2006/relationships/slide" Target="slides/slide1665.xml"/><Relationship Id="rId1657" Type="http://schemas.openxmlformats.org/officeDocument/2006/relationships/slide" Target="slides/slide1666.xml"/><Relationship Id="rId1658" Type="http://schemas.openxmlformats.org/officeDocument/2006/relationships/slide" Target="slides/slide1667.xml"/><Relationship Id="rId1659" Type="http://schemas.openxmlformats.org/officeDocument/2006/relationships/slide" Target="slides/slide1668.xml"/><Relationship Id="rId1660" Type="http://schemas.openxmlformats.org/officeDocument/2006/relationships/slide" Target="slides/slide1669.xml"/><Relationship Id="rId1661" Type="http://schemas.openxmlformats.org/officeDocument/2006/relationships/slide" Target="slides/slide1670.xml"/><Relationship Id="rId1662" Type="http://schemas.openxmlformats.org/officeDocument/2006/relationships/slide" Target="slides/slide1671.xml"/><Relationship Id="rId1663" Type="http://schemas.openxmlformats.org/officeDocument/2006/relationships/slide" Target="slides/slide1672.xml"/><Relationship Id="rId1664" Type="http://schemas.openxmlformats.org/officeDocument/2006/relationships/slide" Target="slides/slide1673.xml"/><Relationship Id="rId1665" Type="http://schemas.openxmlformats.org/officeDocument/2006/relationships/slide" Target="slides/slide1674.xml"/><Relationship Id="rId1666" Type="http://schemas.openxmlformats.org/officeDocument/2006/relationships/slide" Target="slides/slide1675.xml"/><Relationship Id="rId1667" Type="http://schemas.openxmlformats.org/officeDocument/2006/relationships/slide" Target="slides/slide1676.xml"/><Relationship Id="rId1668" Type="http://schemas.openxmlformats.org/officeDocument/2006/relationships/slide" Target="slides/slide1677.xml"/><Relationship Id="rId1669" Type="http://schemas.openxmlformats.org/officeDocument/2006/relationships/slide" Target="slides/slide1678.xml"/><Relationship Id="rId1670" Type="http://schemas.openxmlformats.org/officeDocument/2006/relationships/slide" Target="slides/slide1679.xml"/><Relationship Id="rId1671" Type="http://schemas.openxmlformats.org/officeDocument/2006/relationships/slide" Target="slides/slide1680.xml"/><Relationship Id="rId1672" Type="http://schemas.openxmlformats.org/officeDocument/2006/relationships/slide" Target="slides/slide1681.xml"/><Relationship Id="rId1674" Type="http://schemas.openxmlformats.org/officeDocument/2006/relationships/slide" Target="slides/slide1683.xml"/><Relationship Id="rId1676" Type="http://schemas.openxmlformats.org/officeDocument/2006/relationships/slide" Target="slides/slide1685.xml"/><Relationship Id="rId1677" Type="http://schemas.openxmlformats.org/officeDocument/2006/relationships/slide" Target="slides/slide1686.xml"/><Relationship Id="rId1678" Type="http://schemas.openxmlformats.org/officeDocument/2006/relationships/slide" Target="slides/slide1687.xml"/><Relationship Id="rId1679" Type="http://schemas.openxmlformats.org/officeDocument/2006/relationships/slide" Target="slides/slide1688.xml"/><Relationship Id="rId1680" Type="http://schemas.openxmlformats.org/officeDocument/2006/relationships/slide" Target="slides/slide1689.xml"/><Relationship Id="rId1681" Type="http://schemas.openxmlformats.org/officeDocument/2006/relationships/slide" Target="slides/slide1690.xml"/><Relationship Id="rId1682" Type="http://schemas.openxmlformats.org/officeDocument/2006/relationships/slide" Target="slides/slide1691.xml"/><Relationship Id="rId1684" Type="http://schemas.openxmlformats.org/officeDocument/2006/relationships/slide" Target="slides/slide1693.xml"/><Relationship Id="rId1686" Type="http://schemas.openxmlformats.org/officeDocument/2006/relationships/slide" Target="slides/slide1695.xml"/><Relationship Id="rId1687" Type="http://schemas.openxmlformats.org/officeDocument/2006/relationships/slide" Target="slides/slide1696.xml"/><Relationship Id="rId1688" Type="http://schemas.openxmlformats.org/officeDocument/2006/relationships/slide" Target="slides/slide1697.xml"/><Relationship Id="rId1689" Type="http://schemas.openxmlformats.org/officeDocument/2006/relationships/slide" Target="slides/slide1698.xml"/><Relationship Id="rId1690" Type="http://schemas.openxmlformats.org/officeDocument/2006/relationships/slide" Target="slides/slide1699.xml"/><Relationship Id="rId1691" Type="http://schemas.openxmlformats.org/officeDocument/2006/relationships/slide" Target="slides/slide1700.xml"/><Relationship Id="rId1692" Type="http://schemas.openxmlformats.org/officeDocument/2006/relationships/slide" Target="slides/slide1701.xml"/><Relationship Id="rId1693" Type="http://schemas.openxmlformats.org/officeDocument/2006/relationships/slide" Target="slides/slide1702.xml"/><Relationship Id="rId1694" Type="http://schemas.openxmlformats.org/officeDocument/2006/relationships/slide" Target="slides/slide1703.xml"/><Relationship Id="rId1695" Type="http://schemas.openxmlformats.org/officeDocument/2006/relationships/slide" Target="slides/slide1704.xml"/><Relationship Id="rId1696" Type="http://schemas.openxmlformats.org/officeDocument/2006/relationships/slide" Target="slides/slide1705.xml"/><Relationship Id="rId1697" Type="http://schemas.openxmlformats.org/officeDocument/2006/relationships/slide" Target="slides/slide1706.xml"/><Relationship Id="rId1698" Type="http://schemas.openxmlformats.org/officeDocument/2006/relationships/slide" Target="slides/slide1707.xml"/><Relationship Id="rId1699" Type="http://schemas.openxmlformats.org/officeDocument/2006/relationships/slide" Target="slides/slide1708.xml"/><Relationship Id="rId1700" Type="http://schemas.openxmlformats.org/officeDocument/2006/relationships/slide" Target="slides/slide1709.xml"/><Relationship Id="rId1701" Type="http://schemas.openxmlformats.org/officeDocument/2006/relationships/slide" Target="slides/slide1710.xml"/><Relationship Id="rId1702" Type="http://schemas.openxmlformats.org/officeDocument/2006/relationships/slide" Target="slides/slide1711.xml"/><Relationship Id="rId1704" Type="http://schemas.openxmlformats.org/officeDocument/2006/relationships/slide" Target="slides/slide1713.xml"/><Relationship Id="rId1706" Type="http://schemas.openxmlformats.org/officeDocument/2006/relationships/slide" Target="slides/slide1715.xml"/><Relationship Id="rId1707" Type="http://schemas.openxmlformats.org/officeDocument/2006/relationships/slide" Target="slides/slide1716.xml"/><Relationship Id="rId1708" Type="http://schemas.openxmlformats.org/officeDocument/2006/relationships/slide" Target="slides/slide1717.xml"/><Relationship Id="rId1709" Type="http://schemas.openxmlformats.org/officeDocument/2006/relationships/slide" Target="slides/slide1718.xml"/><Relationship Id="rId1710" Type="http://schemas.openxmlformats.org/officeDocument/2006/relationships/slide" Target="slides/slide1719.xml"/><Relationship Id="rId1711" Type="http://schemas.openxmlformats.org/officeDocument/2006/relationships/slide" Target="slides/slide1720.xml"/><Relationship Id="rId1712" Type="http://schemas.openxmlformats.org/officeDocument/2006/relationships/slide" Target="slides/slide1721.xml"/><Relationship Id="rId1714" Type="http://schemas.openxmlformats.org/officeDocument/2006/relationships/slide" Target="slides/slide1723.xml"/><Relationship Id="rId1716" Type="http://schemas.openxmlformats.org/officeDocument/2006/relationships/slide" Target="slides/slide1725.xml"/><Relationship Id="rId1717" Type="http://schemas.openxmlformats.org/officeDocument/2006/relationships/slide" Target="slides/slide1726.xml"/><Relationship Id="rId1718" Type="http://schemas.openxmlformats.org/officeDocument/2006/relationships/slide" Target="slides/slide1727.xml"/><Relationship Id="rId1719" Type="http://schemas.openxmlformats.org/officeDocument/2006/relationships/slide" Target="slides/slide1728.xml"/><Relationship Id="rId1720" Type="http://schemas.openxmlformats.org/officeDocument/2006/relationships/slide" Target="slides/slide1729.xml"/><Relationship Id="rId1721" Type="http://schemas.openxmlformats.org/officeDocument/2006/relationships/slide" Target="slides/slide1730.xml"/><Relationship Id="rId1722" Type="http://schemas.openxmlformats.org/officeDocument/2006/relationships/slide" Target="slides/slide1731.xml"/><Relationship Id="rId1723" Type="http://schemas.openxmlformats.org/officeDocument/2006/relationships/slide" Target="slides/slide1732.xml"/><Relationship Id="rId1724" Type="http://schemas.openxmlformats.org/officeDocument/2006/relationships/slide" Target="slides/slide1733.xml"/><Relationship Id="rId1725" Type="http://schemas.openxmlformats.org/officeDocument/2006/relationships/slide" Target="slides/slide1734.xml"/><Relationship Id="rId1726" Type="http://schemas.openxmlformats.org/officeDocument/2006/relationships/slide" Target="slides/slide1735.xml"/><Relationship Id="rId1727" Type="http://schemas.openxmlformats.org/officeDocument/2006/relationships/slide" Target="slides/slide1736.xml"/><Relationship Id="rId1728" Type="http://schemas.openxmlformats.org/officeDocument/2006/relationships/slide" Target="slides/slide1737.xml"/><Relationship Id="rId1729" Type="http://schemas.openxmlformats.org/officeDocument/2006/relationships/slide" Target="slides/slide1738.xml"/><Relationship Id="rId1730" Type="http://schemas.openxmlformats.org/officeDocument/2006/relationships/slide" Target="slides/slide1739.xml"/><Relationship Id="rId1731" Type="http://schemas.openxmlformats.org/officeDocument/2006/relationships/slide" Target="slides/slide1740.xml"/><Relationship Id="rId1732" Type="http://schemas.openxmlformats.org/officeDocument/2006/relationships/slide" Target="slides/slide1741.xml"/><Relationship Id="rId1734" Type="http://schemas.openxmlformats.org/officeDocument/2006/relationships/slide" Target="slides/slide1743.xml"/><Relationship Id="rId1736" Type="http://schemas.openxmlformats.org/officeDocument/2006/relationships/slide" Target="slides/slide1745.xml"/><Relationship Id="rId1737" Type="http://schemas.openxmlformats.org/officeDocument/2006/relationships/slide" Target="slides/slide1746.xml"/><Relationship Id="rId1738" Type="http://schemas.openxmlformats.org/officeDocument/2006/relationships/slide" Target="slides/slide1747.xml"/><Relationship Id="rId1739" Type="http://schemas.openxmlformats.org/officeDocument/2006/relationships/slide" Target="slides/slide1748.xml"/><Relationship Id="rId1740" Type="http://schemas.openxmlformats.org/officeDocument/2006/relationships/slide" Target="slides/slide1749.xml"/><Relationship Id="rId1741" Type="http://schemas.openxmlformats.org/officeDocument/2006/relationships/slide" Target="slides/slide1750.xml"/><Relationship Id="rId1742" Type="http://schemas.openxmlformats.org/officeDocument/2006/relationships/slide" Target="slides/slide1751.xml"/><Relationship Id="rId1744" Type="http://schemas.openxmlformats.org/officeDocument/2006/relationships/slide" Target="slides/slide1753.xml"/><Relationship Id="rId1746" Type="http://schemas.openxmlformats.org/officeDocument/2006/relationships/slide" Target="slides/slide1755.xml"/><Relationship Id="rId1747" Type="http://schemas.openxmlformats.org/officeDocument/2006/relationships/slide" Target="slides/slide1756.xml"/><Relationship Id="rId1748" Type="http://schemas.openxmlformats.org/officeDocument/2006/relationships/slide" Target="slides/slide1757.xml"/><Relationship Id="rId1749" Type="http://schemas.openxmlformats.org/officeDocument/2006/relationships/slide" Target="slides/slide1758.xml"/><Relationship Id="rId1750" Type="http://schemas.openxmlformats.org/officeDocument/2006/relationships/slide" Target="slides/slide1759.xml"/><Relationship Id="rId1751" Type="http://schemas.openxmlformats.org/officeDocument/2006/relationships/slide" Target="slides/slide1760.xml"/><Relationship Id="rId1752" Type="http://schemas.openxmlformats.org/officeDocument/2006/relationships/slide" Target="slides/slide1761.xml"/><Relationship Id="rId1753" Type="http://schemas.openxmlformats.org/officeDocument/2006/relationships/slide" Target="slides/slide1762.xml"/><Relationship Id="rId1754" Type="http://schemas.openxmlformats.org/officeDocument/2006/relationships/slide" Target="slides/slide1763.xml"/><Relationship Id="rId1755" Type="http://schemas.openxmlformats.org/officeDocument/2006/relationships/slide" Target="slides/slide1764.xml"/><Relationship Id="rId1756" Type="http://schemas.openxmlformats.org/officeDocument/2006/relationships/slide" Target="slides/slide1765.xml"/><Relationship Id="rId1757" Type="http://schemas.openxmlformats.org/officeDocument/2006/relationships/slide" Target="slides/slide1766.xml"/><Relationship Id="rId1758" Type="http://schemas.openxmlformats.org/officeDocument/2006/relationships/slide" Target="slides/slide1767.xml"/><Relationship Id="rId1759" Type="http://schemas.openxmlformats.org/officeDocument/2006/relationships/slide" Target="slides/slide1768.xml"/><Relationship Id="rId1760" Type="http://schemas.openxmlformats.org/officeDocument/2006/relationships/slide" Target="slides/slide1769.xml"/><Relationship Id="rId1761" Type="http://schemas.openxmlformats.org/officeDocument/2006/relationships/slide" Target="slides/slide1770.xml"/><Relationship Id="rId1762" Type="http://schemas.openxmlformats.org/officeDocument/2006/relationships/slide" Target="slides/slide1771.xml"/><Relationship Id="rId1764" Type="http://schemas.openxmlformats.org/officeDocument/2006/relationships/slide" Target="slides/slide1773.xml"/><Relationship Id="rId1766" Type="http://schemas.openxmlformats.org/officeDocument/2006/relationships/slide" Target="slides/slide1775.xml"/><Relationship Id="rId1767" Type="http://schemas.openxmlformats.org/officeDocument/2006/relationships/slide" Target="slides/slide1776.xml"/><Relationship Id="rId1768" Type="http://schemas.openxmlformats.org/officeDocument/2006/relationships/slide" Target="slides/slide1777.xml"/><Relationship Id="rId1769" Type="http://schemas.openxmlformats.org/officeDocument/2006/relationships/slide" Target="slides/slide1778.xml"/><Relationship Id="rId1770" Type="http://schemas.openxmlformats.org/officeDocument/2006/relationships/slide" Target="slides/slide1779.xml"/><Relationship Id="rId1771" Type="http://schemas.openxmlformats.org/officeDocument/2006/relationships/slide" Target="slides/slide1780.xml"/><Relationship Id="rId1772" Type="http://schemas.openxmlformats.org/officeDocument/2006/relationships/slide" Target="slides/slide1781.xml"/><Relationship Id="rId1774" Type="http://schemas.openxmlformats.org/officeDocument/2006/relationships/slide" Target="slides/slide1783.xml"/><Relationship Id="rId1776" Type="http://schemas.openxmlformats.org/officeDocument/2006/relationships/slide" Target="slides/slide1785.xml"/><Relationship Id="rId1777" Type="http://schemas.openxmlformats.org/officeDocument/2006/relationships/slide" Target="slides/slide1786.xml"/><Relationship Id="rId1778" Type="http://schemas.openxmlformats.org/officeDocument/2006/relationships/slide" Target="slides/slide1787.xml"/><Relationship Id="rId1779" Type="http://schemas.openxmlformats.org/officeDocument/2006/relationships/slide" Target="slides/slide1788.xml"/><Relationship Id="rId1780" Type="http://schemas.openxmlformats.org/officeDocument/2006/relationships/slide" Target="slides/slide1789.xml"/><Relationship Id="rId1781" Type="http://schemas.openxmlformats.org/officeDocument/2006/relationships/slide" Target="slides/slide1790.xml"/><Relationship Id="rId1782" Type="http://schemas.openxmlformats.org/officeDocument/2006/relationships/slide" Target="slides/slide1791.xml"/><Relationship Id="rId1783" Type="http://schemas.openxmlformats.org/officeDocument/2006/relationships/slide" Target="slides/slide1792.xml"/><Relationship Id="rId1784" Type="http://schemas.openxmlformats.org/officeDocument/2006/relationships/slide" Target="slides/slide1793.xml"/><Relationship Id="rId1785" Type="http://schemas.openxmlformats.org/officeDocument/2006/relationships/slide" Target="slides/slide1794.xml"/><Relationship Id="rId1786" Type="http://schemas.openxmlformats.org/officeDocument/2006/relationships/slide" Target="slides/slide1795.xml"/><Relationship Id="rId1787" Type="http://schemas.openxmlformats.org/officeDocument/2006/relationships/slide" Target="slides/slide1796.xml"/><Relationship Id="rId1788" Type="http://schemas.openxmlformats.org/officeDocument/2006/relationships/slide" Target="slides/slide1797.xml"/><Relationship Id="rId1789" Type="http://schemas.openxmlformats.org/officeDocument/2006/relationships/slide" Target="slides/slide1798.xml"/><Relationship Id="rId1790" Type="http://schemas.openxmlformats.org/officeDocument/2006/relationships/slide" Target="slides/slide1799.xml"/><Relationship Id="rId1791" Type="http://schemas.openxmlformats.org/officeDocument/2006/relationships/slide" Target="slides/slide1800.xml"/><Relationship Id="rId1792" Type="http://schemas.openxmlformats.org/officeDocument/2006/relationships/slide" Target="slides/slide1801.xml"/><Relationship Id="rId1794" Type="http://schemas.openxmlformats.org/officeDocument/2006/relationships/slide" Target="slides/slide1803.xml"/><Relationship Id="rId1796" Type="http://schemas.openxmlformats.org/officeDocument/2006/relationships/slide" Target="slides/slide1805.xml"/><Relationship Id="rId1797" Type="http://schemas.openxmlformats.org/officeDocument/2006/relationships/slide" Target="slides/slide1806.xml"/><Relationship Id="rId1798" Type="http://schemas.openxmlformats.org/officeDocument/2006/relationships/slide" Target="slides/slide1807.xml"/><Relationship Id="rId1799" Type="http://schemas.openxmlformats.org/officeDocument/2006/relationships/slide" Target="slides/slide1808.xml"/><Relationship Id="rId1800" Type="http://schemas.openxmlformats.org/officeDocument/2006/relationships/slide" Target="slides/slide1809.xml"/><Relationship Id="rId1801" Type="http://schemas.openxmlformats.org/officeDocument/2006/relationships/slide" Target="slides/slide1810.xml"/><Relationship Id="rId1802" Type="http://schemas.openxmlformats.org/officeDocument/2006/relationships/slide" Target="slides/slide1811.xml"/><Relationship Id="rId1803" Type="http://schemas.openxmlformats.org/officeDocument/2006/relationships/slide" Target="slides/slide1812.xml"/><Relationship Id="rId1804" Type="http://schemas.openxmlformats.org/officeDocument/2006/relationships/slide" Target="slides/slide1813.xml"/><Relationship Id="rId1805" Type="http://schemas.openxmlformats.org/officeDocument/2006/relationships/slide" Target="slides/slide1814.xml"/><Relationship Id="rId1806" Type="http://schemas.openxmlformats.org/officeDocument/2006/relationships/slide" Target="slides/slide1815.xml"/><Relationship Id="rId1807" Type="http://schemas.openxmlformats.org/officeDocument/2006/relationships/slide" Target="slides/slide1816.xml"/><Relationship Id="rId1808" Type="http://schemas.openxmlformats.org/officeDocument/2006/relationships/slide" Target="slides/slide1817.xml"/><Relationship Id="rId1809" Type="http://schemas.openxmlformats.org/officeDocument/2006/relationships/slide" Target="slides/slide1818.xml"/><Relationship Id="rId1810" Type="http://schemas.openxmlformats.org/officeDocument/2006/relationships/slide" Target="slides/slide1819.xml"/><Relationship Id="rId1811" Type="http://schemas.openxmlformats.org/officeDocument/2006/relationships/slide" Target="slides/slide1820.xml"/><Relationship Id="rId1812" Type="http://schemas.openxmlformats.org/officeDocument/2006/relationships/slide" Target="slides/slide1821.xml"/><Relationship Id="rId1813" Type="http://schemas.openxmlformats.org/officeDocument/2006/relationships/slide" Target="slides/slide1822.xml"/><Relationship Id="rId1814" Type="http://schemas.openxmlformats.org/officeDocument/2006/relationships/slide" Target="slides/slide1823.xml"/><Relationship Id="rId1815" Type="http://schemas.openxmlformats.org/officeDocument/2006/relationships/slide" Target="slides/slide1824.xml"/><Relationship Id="rId1816" Type="http://schemas.openxmlformats.org/officeDocument/2006/relationships/slide" Target="slides/slide1825.xml"/><Relationship Id="rId1817" Type="http://schemas.openxmlformats.org/officeDocument/2006/relationships/slide" Target="slides/slide1826.xml"/><Relationship Id="rId1818" Type="http://schemas.openxmlformats.org/officeDocument/2006/relationships/slide" Target="slides/slide1827.xml"/><Relationship Id="rId1819" Type="http://schemas.openxmlformats.org/officeDocument/2006/relationships/slide" Target="slides/slide1828.xml"/><Relationship Id="rId1820" Type="http://schemas.openxmlformats.org/officeDocument/2006/relationships/slide" Target="slides/slide1829.xml"/><Relationship Id="rId1821" Type="http://schemas.openxmlformats.org/officeDocument/2006/relationships/slide" Target="slides/slide1830.xml"/><Relationship Id="rId1822" Type="http://schemas.openxmlformats.org/officeDocument/2006/relationships/slide" Target="slides/slide1831.xml"/><Relationship Id="rId1823" Type="http://schemas.openxmlformats.org/officeDocument/2006/relationships/slide" Target="slides/slide1832.xml"/><Relationship Id="rId1824" Type="http://schemas.openxmlformats.org/officeDocument/2006/relationships/slide" Target="slides/slide1833.xml"/><Relationship Id="rId1825" Type="http://schemas.openxmlformats.org/officeDocument/2006/relationships/slide" Target="slides/slide1834.xml"/><Relationship Id="rId1826" Type="http://schemas.openxmlformats.org/officeDocument/2006/relationships/slide" Target="slides/slide1835.xml"/><Relationship Id="rId1827" Type="http://schemas.openxmlformats.org/officeDocument/2006/relationships/slide" Target="slides/slide1836.xml"/><Relationship Id="rId1828" Type="http://schemas.openxmlformats.org/officeDocument/2006/relationships/slide" Target="slides/slide1837.xml"/><Relationship Id="rId1829" Type="http://schemas.openxmlformats.org/officeDocument/2006/relationships/slide" Target="slides/slide1838.xml"/><Relationship Id="rId1830" Type="http://schemas.openxmlformats.org/officeDocument/2006/relationships/slide" Target="slides/slide1839.xml"/><Relationship Id="rId1831" Type="http://schemas.openxmlformats.org/officeDocument/2006/relationships/slide" Target="slides/slide1840.xml"/><Relationship Id="rId1832" Type="http://schemas.openxmlformats.org/officeDocument/2006/relationships/slide" Target="slides/slide1841.xml"/><Relationship Id="rId1833" Type="http://schemas.openxmlformats.org/officeDocument/2006/relationships/slide" Target="slides/slide1842.xml"/><Relationship Id="rId1834" Type="http://schemas.openxmlformats.org/officeDocument/2006/relationships/slide" Target="slides/slide1843.xml"/><Relationship Id="rId1835" Type="http://schemas.openxmlformats.org/officeDocument/2006/relationships/slide" Target="slides/slide1844.xml"/><Relationship Id="rId1836" Type="http://schemas.openxmlformats.org/officeDocument/2006/relationships/slide" Target="slides/slide1845.xml"/><Relationship Id="rId1837" Type="http://schemas.openxmlformats.org/officeDocument/2006/relationships/slide" Target="slides/slide1846.xml"/><Relationship Id="rId1838" Type="http://schemas.openxmlformats.org/officeDocument/2006/relationships/slide" Target="slides/slide1847.xml"/><Relationship Id="rId1839" Type="http://schemas.openxmlformats.org/officeDocument/2006/relationships/slide" Target="slides/slide1848.xml"/><Relationship Id="rId1840" Type="http://schemas.openxmlformats.org/officeDocument/2006/relationships/slide" Target="slides/slide1849.xml"/><Relationship Id="rId1841" Type="http://schemas.openxmlformats.org/officeDocument/2006/relationships/slide" Target="slides/slide1850.xml"/><Relationship Id="rId1842" Type="http://schemas.openxmlformats.org/officeDocument/2006/relationships/slide" Target="slides/slide1851.xml"/><Relationship Id="rId1843" Type="http://schemas.openxmlformats.org/officeDocument/2006/relationships/slide" Target="slides/slide1852.xml"/><Relationship Id="rId1844" Type="http://schemas.openxmlformats.org/officeDocument/2006/relationships/slide" Target="slides/slide1853.xml"/><Relationship Id="rId1845" Type="http://schemas.openxmlformats.org/officeDocument/2006/relationships/slide" Target="slides/slide1854.xml"/><Relationship Id="rId1846" Type="http://schemas.openxmlformats.org/officeDocument/2006/relationships/slide" Target="slides/slide1855.xml"/><Relationship Id="rId1847" Type="http://schemas.openxmlformats.org/officeDocument/2006/relationships/slide" Target="slides/slide1856.xml"/><Relationship Id="rId1848" Type="http://schemas.openxmlformats.org/officeDocument/2006/relationships/slide" Target="slides/slide1857.xml"/><Relationship Id="rId1849" Type="http://schemas.openxmlformats.org/officeDocument/2006/relationships/slide" Target="slides/slide1858.xml"/><Relationship Id="rId1850" Type="http://schemas.openxmlformats.org/officeDocument/2006/relationships/slide" Target="slides/slide1859.xml"/><Relationship Id="rId1851" Type="http://schemas.openxmlformats.org/officeDocument/2006/relationships/slide" Target="slides/slide1860.xml"/><Relationship Id="rId1852" Type="http://schemas.openxmlformats.org/officeDocument/2006/relationships/slide" Target="slides/slide1861.xml"/><Relationship Id="rId1853" Type="http://schemas.openxmlformats.org/officeDocument/2006/relationships/slide" Target="slides/slide1862.xml"/><Relationship Id="rId1854" Type="http://schemas.openxmlformats.org/officeDocument/2006/relationships/slide" Target="slides/slide1863.xml"/><Relationship Id="rId1855" Type="http://schemas.openxmlformats.org/officeDocument/2006/relationships/slide" Target="slides/slide1864.xml"/><Relationship Id="rId1856" Type="http://schemas.openxmlformats.org/officeDocument/2006/relationships/slide" Target="slides/slide1865.xml"/><Relationship Id="rId1857" Type="http://schemas.openxmlformats.org/officeDocument/2006/relationships/slide" Target="slides/slide1866.xml"/><Relationship Id="rId1858" Type="http://schemas.openxmlformats.org/officeDocument/2006/relationships/slide" Target="slides/slide1867.xml"/><Relationship Id="rId1859" Type="http://schemas.openxmlformats.org/officeDocument/2006/relationships/slide" Target="slides/slide1868.xml"/><Relationship Id="rId1860" Type="http://schemas.openxmlformats.org/officeDocument/2006/relationships/slide" Target="slides/slide1869.xml"/><Relationship Id="rId1861" Type="http://schemas.openxmlformats.org/officeDocument/2006/relationships/slide" Target="slides/slide11.xml"/><Relationship Id="rId1862" Type="http://schemas.openxmlformats.org/officeDocument/2006/relationships/slide" Target="slides/slide12.xml"/><Relationship Id="rId1863" Type="http://schemas.openxmlformats.org/officeDocument/2006/relationships/slide" Target="slides/slide13.xml"/><Relationship Id="rId1864" Type="http://schemas.openxmlformats.org/officeDocument/2006/relationships/slide" Target="slides/slide14.xml"/><Relationship Id="rId1865" Type="http://schemas.openxmlformats.org/officeDocument/2006/relationships/slide" Target="slides/slide15.xml"/><Relationship Id="rId1866" Type="http://schemas.openxmlformats.org/officeDocument/2006/relationships/slide" Target="slides/slide16.xml"/><Relationship Id="rId1867" Type="http://schemas.openxmlformats.org/officeDocument/2006/relationships/slide" Target="slides/slide10.xml"/><Relationship Id="rId1868" Type="http://schemas.openxmlformats.org/officeDocument/2006/relationships/slide" Target="slides/slide18.xml"/><Relationship Id="rId1869" Type="http://schemas.openxmlformats.org/officeDocument/2006/relationships/slide" Target="slides/slide19.xml"/><Relationship Id="rId1870" Type="http://schemas.openxmlformats.org/officeDocument/2006/relationships/slide" Target="slides/slide20.xml"/><Relationship Id="rId1871" Type="http://schemas.openxmlformats.org/officeDocument/2006/relationships/slide" Target="slides/slide21.xml"/><Relationship Id="rId1872" Type="http://schemas.openxmlformats.org/officeDocument/2006/relationships/slide" Target="slides/slide22.xml"/><Relationship Id="rId1873" Type="http://schemas.openxmlformats.org/officeDocument/2006/relationships/slide" Target="slides/slide23.xml"/><Relationship Id="rId1874" Type="http://schemas.openxmlformats.org/officeDocument/2006/relationships/slide" Target="slides/slide24.xml"/><Relationship Id="rId1875" Type="http://schemas.openxmlformats.org/officeDocument/2006/relationships/slide" Target="slides/slide25.xml"/><Relationship Id="rId1876" Type="http://schemas.openxmlformats.org/officeDocument/2006/relationships/slide" Target="slides/slide17.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Sheet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Sheet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Sheet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Sheet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Sheet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Sheet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Sheet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Sheet8.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Sheet9.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Sheet10.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Sheet11.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Sheet12.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Sheet13.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Sheet14.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Sheet15.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Sheet16.xlsx"/></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Sheet17.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Sheet18.xlsx"/></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Sheet19.xlsx"/></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Sheet20.xlsx"/></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Sheet21.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Sheet22.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Sheet23.xlsx"/></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Sheet24.xlsx"/></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Sheet25.xlsx"/></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Sheet26.xlsx"/></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Excel_Sheet27.xlsx"/></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Sheet28.xlsx"/></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Sheet29.xlsx"/></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Sheet30.xlsx"/></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Excel_Sheet31.xlsx"/></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Excel_Sheet32.xlsx"/></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Excel_Sheet33.xlsx"/></Relationships>
</file>

<file path=ppt/charts/_rels/chart34.xml.rels><?xml version='1.0' encoding='UTF-8' standalone='yes'?>
<Relationships xmlns="http://schemas.openxmlformats.org/package/2006/relationships"><Relationship Id="rId1" Type="http://schemas.openxmlformats.org/officeDocument/2006/relationships/package" Target="../embeddings/Microsoft_Excel_Sheet34.xlsx"/></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Excel_Sheet35.xlsx"/></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Excel_Sheet36.xlsx"/></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Excel_Sheet37.xlsx"/></Relationships>
</file>

<file path=ppt/charts/_rels/chart38.xml.rels><?xml version='1.0' encoding='UTF-8' standalone='yes'?>
<Relationships xmlns="http://schemas.openxmlformats.org/package/2006/relationships"><Relationship Id="rId1" Type="http://schemas.openxmlformats.org/officeDocument/2006/relationships/package" Target="../embeddings/Microsoft_Excel_Sheet38.xlsx"/></Relationships>
</file>

<file path=ppt/charts/_rels/chart39.xml.rels><?xml version='1.0' encoding='UTF-8' standalone='yes'?>
<Relationships xmlns="http://schemas.openxmlformats.org/package/2006/relationships"><Relationship Id="rId1" Type="http://schemas.openxmlformats.org/officeDocument/2006/relationships/package" Target="../embeddings/Microsoft_Excel_Sheet39.xlsx"/></Relationships>
</file>

<file path=ppt/charts/_rels/chart40.xml.rels><?xml version='1.0' encoding='UTF-8' standalone='yes'?>
<Relationships xmlns="http://schemas.openxmlformats.org/package/2006/relationships"><Relationship Id="rId1" Type="http://schemas.openxmlformats.org/officeDocument/2006/relationships/package" Target="../embeddings/Microsoft_Excel_Sheet40.xlsx"/></Relationships>
</file>

<file path=ppt/charts/_rels/chart41.xml.rels><?xml version='1.0' encoding='UTF-8' standalone='yes'?>
<Relationships xmlns="http://schemas.openxmlformats.org/package/2006/relationships"><Relationship Id="rId1" Type="http://schemas.openxmlformats.org/officeDocument/2006/relationships/package" Target="../embeddings/Microsoft_Excel_Sheet41.xlsx"/></Relationships>
</file>

<file path=ppt/charts/_rels/chart42.xml.rels><?xml version='1.0' encoding='UTF-8' standalone='yes'?>
<Relationships xmlns="http://schemas.openxmlformats.org/package/2006/relationships"><Relationship Id="rId1" Type="http://schemas.openxmlformats.org/officeDocument/2006/relationships/package" Target="../embeddings/Microsoft_Excel_Sheet42.xlsx"/></Relationships>
</file>

<file path=ppt/charts/_rels/chart43.xml.rels><?xml version='1.0' encoding='UTF-8' standalone='yes'?>
<Relationships xmlns="http://schemas.openxmlformats.org/package/2006/relationships"><Relationship Id="rId1" Type="http://schemas.openxmlformats.org/officeDocument/2006/relationships/package" Target="../embeddings/Microsoft_Excel_Sheet43.xlsx"/></Relationships>
</file>

<file path=ppt/charts/_rels/chart44.xml.rels><?xml version='1.0' encoding='UTF-8' standalone='yes'?>
<Relationships xmlns="http://schemas.openxmlformats.org/package/2006/relationships"><Relationship Id="rId1" Type="http://schemas.openxmlformats.org/officeDocument/2006/relationships/package" Target="../embeddings/Microsoft_Excel_Sheet44.xlsx"/></Relationships>
</file>

<file path=ppt/charts/_rels/chart45.xml.rels><?xml version='1.0' encoding='UTF-8' standalone='yes'?>
<Relationships xmlns="http://schemas.openxmlformats.org/package/2006/relationships"><Relationship Id="rId1" Type="http://schemas.openxmlformats.org/officeDocument/2006/relationships/package" Target="../embeddings/Microsoft_Excel_Sheet45.xlsx"/></Relationships>
</file>

<file path=ppt/charts/_rels/chart46.xml.rels><?xml version='1.0' encoding='UTF-8' standalone='yes'?>
<Relationships xmlns="http://schemas.openxmlformats.org/package/2006/relationships"><Relationship Id="rId1" Type="http://schemas.openxmlformats.org/officeDocument/2006/relationships/package" Target="../embeddings/Microsoft_Excel_Sheet46.xlsx"/></Relationships>
</file>

<file path=ppt/charts/_rels/chart47.xml.rels><?xml version='1.0' encoding='UTF-8' standalone='yes'?>
<Relationships xmlns="http://schemas.openxmlformats.org/package/2006/relationships"><Relationship Id="rId1" Type="http://schemas.openxmlformats.org/officeDocument/2006/relationships/package" Target="../embeddings/Microsoft_Excel_Sheet47.xlsx"/></Relationships>
</file>

<file path=ppt/charts/_rels/chart48.xml.rels><?xml version='1.0' encoding='UTF-8' standalone='yes'?>
<Relationships xmlns="http://schemas.openxmlformats.org/package/2006/relationships"><Relationship Id="rId1" Type="http://schemas.openxmlformats.org/officeDocument/2006/relationships/package" Target="../embeddings/Microsoft_Excel_Sheet48.xlsx"/></Relationships>
</file>

<file path=ppt/charts/_rels/chart49.xml.rels><?xml version='1.0' encoding='UTF-8' standalone='yes'?>
<Relationships xmlns="http://schemas.openxmlformats.org/package/2006/relationships"><Relationship Id="rId1" Type="http://schemas.openxmlformats.org/officeDocument/2006/relationships/package" Target="../embeddings/Microsoft_Excel_Sheet49.xlsx"/></Relationships>
</file>

<file path=ppt/charts/_rels/chart50.xml.rels><?xml version='1.0' encoding='UTF-8' standalone='yes'?>
<Relationships xmlns="http://schemas.openxmlformats.org/package/2006/relationships"><Relationship Id="rId1" Type="http://schemas.openxmlformats.org/officeDocument/2006/relationships/package" Target="../embeddings/Microsoft_Excel_Sheet50.xlsx"/></Relationships>
</file>

<file path=ppt/charts/_rels/chart51.xml.rels><?xml version='1.0' encoding='UTF-8' standalone='yes'?>
<Relationships xmlns="http://schemas.openxmlformats.org/package/2006/relationships"><Relationship Id="rId1" Type="http://schemas.openxmlformats.org/officeDocument/2006/relationships/package" Target="../embeddings/Microsoft_Excel_Sheet51.xlsx"/></Relationships>
</file>

<file path=ppt/charts/_rels/chart52.xml.rels><?xml version='1.0' encoding='UTF-8' standalone='yes'?>
<Relationships xmlns="http://schemas.openxmlformats.org/package/2006/relationships"><Relationship Id="rId1" Type="http://schemas.openxmlformats.org/officeDocument/2006/relationships/package" Target="../embeddings/Microsoft_Excel_Sheet52.xlsx"/></Relationships>
</file>

<file path=ppt/charts/_rels/chart53.xml.rels><?xml version='1.0' encoding='UTF-8' standalone='yes'?>
<Relationships xmlns="http://schemas.openxmlformats.org/package/2006/relationships"><Relationship Id="rId1" Type="http://schemas.openxmlformats.org/officeDocument/2006/relationships/package" Target="../embeddings/Microsoft_Excel_Sheet53.xlsx"/></Relationships>
</file>

<file path=ppt/charts/_rels/chart54.xml.rels><?xml version='1.0' encoding='UTF-8' standalone='yes'?>
<Relationships xmlns="http://schemas.openxmlformats.org/package/2006/relationships"><Relationship Id="rId1" Type="http://schemas.openxmlformats.org/officeDocument/2006/relationships/package" Target="../embeddings/Microsoft_Excel_Sheet54.xlsx"/></Relationships>
</file>

<file path=ppt/charts/_rels/chart55.xml.rels><?xml version='1.0' encoding='UTF-8' standalone='yes'?>
<Relationships xmlns="http://schemas.openxmlformats.org/package/2006/relationships"><Relationship Id="rId1" Type="http://schemas.openxmlformats.org/officeDocument/2006/relationships/package" Target="../embeddings/Microsoft_Excel_Sheet55.xlsx"/></Relationships>
</file>

<file path=ppt/charts/_rels/chart56.xml.rels><?xml version='1.0' encoding='UTF-8' standalone='yes'?>
<Relationships xmlns="http://schemas.openxmlformats.org/package/2006/relationships"><Relationship Id="rId1" Type="http://schemas.openxmlformats.org/officeDocument/2006/relationships/package" Target="../embeddings/Microsoft_Excel_Sheet56.xlsx"/></Relationships>
</file>

<file path=ppt/charts/_rels/chart57.xml.rels><?xml version='1.0' encoding='UTF-8' standalone='yes'?>
<Relationships xmlns="http://schemas.openxmlformats.org/package/2006/relationships"><Relationship Id="rId1" Type="http://schemas.openxmlformats.org/officeDocument/2006/relationships/package" Target="../embeddings/Microsoft_Excel_Sheet57.xlsx"/></Relationships>
</file>

<file path=ppt/charts/_rels/chart58.xml.rels><?xml version='1.0' encoding='UTF-8' standalone='yes'?>
<Relationships xmlns="http://schemas.openxmlformats.org/package/2006/relationships"><Relationship Id="rId1" Type="http://schemas.openxmlformats.org/officeDocument/2006/relationships/package" Target="../embeddings/Microsoft_Excel_Sheet58.xlsx"/></Relationships>
</file>

<file path=ppt/charts/_rels/chart59.xml.rels><?xml version='1.0' encoding='UTF-8' standalone='yes'?>
<Relationships xmlns="http://schemas.openxmlformats.org/package/2006/relationships"><Relationship Id="rId1" Type="http://schemas.openxmlformats.org/officeDocument/2006/relationships/package" Target="../embeddings/Microsoft_Excel_Sheet59.xlsx"/></Relationships>
</file>

<file path=ppt/charts/_rels/chart60.xml.rels><?xml version='1.0' encoding='UTF-8' standalone='yes'?>
<Relationships xmlns="http://schemas.openxmlformats.org/package/2006/relationships"><Relationship Id="rId1" Type="http://schemas.openxmlformats.org/officeDocument/2006/relationships/package" Target="../embeddings/Microsoft_Excel_Sheet60.xlsx"/></Relationships>
</file>

<file path=ppt/charts/_rels/chart61.xml.rels><?xml version='1.0' encoding='UTF-8' standalone='yes'?>
<Relationships xmlns="http://schemas.openxmlformats.org/package/2006/relationships"><Relationship Id="rId1" Type="http://schemas.openxmlformats.org/officeDocument/2006/relationships/package" Target="../embeddings/Microsoft_Excel_Sheet61.xlsx"/></Relationships>
</file>

<file path=ppt/charts/_rels/chart62.xml.rels><?xml version='1.0' encoding='UTF-8' standalone='yes'?>
<Relationships xmlns="http://schemas.openxmlformats.org/package/2006/relationships"><Relationship Id="rId1" Type="http://schemas.openxmlformats.org/officeDocument/2006/relationships/package" Target="../embeddings/Microsoft_Excel_Sheet62.xlsx"/></Relationships>
</file>

<file path=ppt/charts/_rels/chart63.xml.rels><?xml version='1.0' encoding='UTF-8' standalone='yes'?>
<Relationships xmlns="http://schemas.openxmlformats.org/package/2006/relationships"><Relationship Id="rId1" Type="http://schemas.openxmlformats.org/officeDocument/2006/relationships/package" Target="../embeddings/Microsoft_Excel_Sheet63.xlsx"/></Relationships>
</file>

<file path=ppt/charts/_rels/chart64.xml.rels><?xml version='1.0' encoding='UTF-8' standalone='yes'?>
<Relationships xmlns="http://schemas.openxmlformats.org/package/2006/relationships"><Relationship Id="rId1" Type="http://schemas.openxmlformats.org/officeDocument/2006/relationships/package" Target="../embeddings/Microsoft_Excel_Sheet64.xlsx"/></Relationships>
</file>

<file path=ppt/charts/_rels/chart65.xml.rels><?xml version='1.0' encoding='UTF-8' standalone='yes'?>
<Relationships xmlns="http://schemas.openxmlformats.org/package/2006/relationships"><Relationship Id="rId1" Type="http://schemas.openxmlformats.org/officeDocument/2006/relationships/package" Target="../embeddings/Microsoft_Excel_Sheet65.xlsx"/></Relationships>
</file>

<file path=ppt/charts/_rels/chart66.xml.rels><?xml version='1.0' encoding='UTF-8' standalone='yes'?>
<Relationships xmlns="http://schemas.openxmlformats.org/package/2006/relationships"><Relationship Id="rId1" Type="http://schemas.openxmlformats.org/officeDocument/2006/relationships/package" Target="../embeddings/Microsoft_Excel_Sheet66.xlsx"/></Relationships>
</file>

<file path=ppt/charts/_rels/chart67.xml.rels><?xml version='1.0' encoding='UTF-8' standalone='yes'?>
<Relationships xmlns="http://schemas.openxmlformats.org/package/2006/relationships"><Relationship Id="rId1" Type="http://schemas.openxmlformats.org/officeDocument/2006/relationships/package" Target="../embeddings/Microsoft_Excel_Sheet67.xlsx"/></Relationships>
</file>

<file path=ppt/charts/_rels/chart68.xml.rels><?xml version='1.0' encoding='UTF-8' standalone='yes'?>
<Relationships xmlns="http://schemas.openxmlformats.org/package/2006/relationships"><Relationship Id="rId1" Type="http://schemas.openxmlformats.org/officeDocument/2006/relationships/package" Target="../embeddings/Microsoft_Excel_Sheet68.xlsx"/></Relationships>
</file>

<file path=ppt/charts/_rels/chart69.xml.rels><?xml version='1.0' encoding='UTF-8' standalone='yes'?>
<Relationships xmlns="http://schemas.openxmlformats.org/package/2006/relationships"><Relationship Id="rId1" Type="http://schemas.openxmlformats.org/officeDocument/2006/relationships/package" Target="../embeddings/Microsoft_Excel_Sheet69.xlsx"/></Relationships>
</file>

<file path=ppt/charts/_rels/chart70.xml.rels><?xml version='1.0' encoding='UTF-8' standalone='yes'?>
<Relationships xmlns="http://schemas.openxmlformats.org/package/2006/relationships"><Relationship Id="rId1" Type="http://schemas.openxmlformats.org/officeDocument/2006/relationships/package" Target="../embeddings/Microsoft_Excel_Sheet70.xlsx"/></Relationships>
</file>

<file path=ppt/charts/_rels/chart71.xml.rels><?xml version='1.0' encoding='UTF-8' standalone='yes'?>
<Relationships xmlns="http://schemas.openxmlformats.org/package/2006/relationships"><Relationship Id="rId1" Type="http://schemas.openxmlformats.org/officeDocument/2006/relationships/package" Target="../embeddings/Microsoft_Excel_Sheet71.xlsx"/></Relationships>
</file>

<file path=ppt/charts/_rels/chart72.xml.rels><?xml version='1.0' encoding='UTF-8' standalone='yes'?>
<Relationships xmlns="http://schemas.openxmlformats.org/package/2006/relationships"><Relationship Id="rId1" Type="http://schemas.openxmlformats.org/officeDocument/2006/relationships/package" Target="../embeddings/Microsoft_Excel_Sheet72.xlsx"/></Relationships>
</file>

<file path=ppt/charts/_rels/chart73.xml.rels><?xml version='1.0' encoding='UTF-8' standalone='yes'?>
<Relationships xmlns="http://schemas.openxmlformats.org/package/2006/relationships"><Relationship Id="rId1" Type="http://schemas.openxmlformats.org/officeDocument/2006/relationships/package" Target="../embeddings/Microsoft_Excel_Sheet73.xlsx"/></Relationships>
</file>

<file path=ppt/charts/_rels/chart74.xml.rels><?xml version='1.0' encoding='UTF-8' standalone='yes'?>
<Relationships xmlns="http://schemas.openxmlformats.org/package/2006/relationships"><Relationship Id="rId1" Type="http://schemas.openxmlformats.org/officeDocument/2006/relationships/package" Target="../embeddings/Microsoft_Excel_Sheet74.xlsx"/></Relationships>
</file>

<file path=ppt/charts/_rels/chart75.xml.rels><?xml version='1.0' encoding='UTF-8' standalone='yes'?>
<Relationships xmlns="http://schemas.openxmlformats.org/package/2006/relationships"><Relationship Id="rId1" Type="http://schemas.openxmlformats.org/officeDocument/2006/relationships/package" Target="../embeddings/Microsoft_Excel_Sheet75.xlsx"/></Relationships>
</file>

<file path=ppt/charts/_rels/chart76.xml.rels><?xml version='1.0' encoding='UTF-8' standalone='yes'?>
<Relationships xmlns="http://schemas.openxmlformats.org/package/2006/relationships"><Relationship Id="rId1" Type="http://schemas.openxmlformats.org/officeDocument/2006/relationships/package" Target="../embeddings/Microsoft_Excel_Sheet76.xlsx"/></Relationships>
</file>

<file path=ppt/charts/_rels/chart77.xml.rels><?xml version='1.0' encoding='UTF-8' standalone='yes'?>
<Relationships xmlns="http://schemas.openxmlformats.org/package/2006/relationships"><Relationship Id="rId1" Type="http://schemas.openxmlformats.org/officeDocument/2006/relationships/package" Target="../embeddings/Microsoft_Excel_Sheet77.xlsx"/></Relationships>
</file>

<file path=ppt/charts/_rels/chart78.xml.rels><?xml version='1.0' encoding='UTF-8' standalone='yes'?>
<Relationships xmlns="http://schemas.openxmlformats.org/package/2006/relationships"><Relationship Id="rId1" Type="http://schemas.openxmlformats.org/officeDocument/2006/relationships/package" Target="../embeddings/Microsoft_Excel_Sheet78.xlsx"/></Relationships>
</file>

<file path=ppt/charts/_rels/chart79.xml.rels><?xml version='1.0' encoding='UTF-8' standalone='yes'?>
<Relationships xmlns="http://schemas.openxmlformats.org/package/2006/relationships"><Relationship Id="rId1" Type="http://schemas.openxmlformats.org/officeDocument/2006/relationships/package" Target="../embeddings/Microsoft_Excel_Sheet79.xlsx"/></Relationships>
</file>

<file path=ppt/charts/_rels/chart80.xml.rels><?xml version='1.0' encoding='UTF-8' standalone='yes'?>
<Relationships xmlns="http://schemas.openxmlformats.org/package/2006/relationships"><Relationship Id="rId1" Type="http://schemas.openxmlformats.org/officeDocument/2006/relationships/package" Target="../embeddings/Microsoft_Excel_Sheet80.xlsx"/></Relationships>
</file>

<file path=ppt/charts/_rels/chart81.xml.rels><?xml version='1.0' encoding='UTF-8' standalone='yes'?>
<Relationships xmlns="http://schemas.openxmlformats.org/package/2006/relationships"><Relationship Id="rId1" Type="http://schemas.openxmlformats.org/officeDocument/2006/relationships/package" Target="../embeddings/Microsoft_Excel_Sheet81.xlsx"/></Relationships>
</file>

<file path=ppt/charts/_rels/chart82.xml.rels><?xml version='1.0' encoding='UTF-8' standalone='yes'?>
<Relationships xmlns="http://schemas.openxmlformats.org/package/2006/relationships"><Relationship Id="rId1" Type="http://schemas.openxmlformats.org/officeDocument/2006/relationships/package" Target="../embeddings/Microsoft_Excel_Sheet82.xlsx"/></Relationships>
</file>

<file path=ppt/charts/_rels/chart83.xml.rels><?xml version='1.0' encoding='UTF-8' standalone='yes'?>
<Relationships xmlns="http://schemas.openxmlformats.org/package/2006/relationships"><Relationship Id="rId1" Type="http://schemas.openxmlformats.org/officeDocument/2006/relationships/package" Target="../embeddings/Microsoft_Excel_Sheet83.xlsx"/></Relationships>
</file>

<file path=ppt/charts/_rels/chart84.xml.rels><?xml version='1.0' encoding='UTF-8' standalone='yes'?>
<Relationships xmlns="http://schemas.openxmlformats.org/package/2006/relationships"><Relationship Id="rId1" Type="http://schemas.openxmlformats.org/officeDocument/2006/relationships/package" Target="../embeddings/Microsoft_Excel_Sheet84.xlsx"/></Relationships>
</file>

<file path=ppt/charts/_rels/chart85.xml.rels><?xml version='1.0' encoding='UTF-8' standalone='yes'?>
<Relationships xmlns="http://schemas.openxmlformats.org/package/2006/relationships"><Relationship Id="rId1" Type="http://schemas.openxmlformats.org/officeDocument/2006/relationships/package" Target="../embeddings/Microsoft_Excel_Sheet85.xlsx"/></Relationships>
</file>

<file path=ppt/charts/_rels/chart86.xml.rels><?xml version='1.0' encoding='UTF-8' standalone='yes'?>
<Relationships xmlns="http://schemas.openxmlformats.org/package/2006/relationships"><Relationship Id="rId1" Type="http://schemas.openxmlformats.org/officeDocument/2006/relationships/package" Target="../embeddings/Microsoft_Excel_Sheet86.xlsx"/></Relationships>
</file>

<file path=ppt/charts/_rels/chart87.xml.rels><?xml version='1.0' encoding='UTF-8' standalone='yes'?>
<Relationships xmlns="http://schemas.openxmlformats.org/package/2006/relationships"><Relationship Id="rId1" Type="http://schemas.openxmlformats.org/officeDocument/2006/relationships/package" Target="../embeddings/Microsoft_Excel_Sheet87.xlsx"/></Relationships>
</file>

<file path=ppt/charts/_rels/chart88.xml.rels><?xml version='1.0' encoding='UTF-8' standalone='yes'?>
<Relationships xmlns="http://schemas.openxmlformats.org/package/2006/relationships"><Relationship Id="rId1" Type="http://schemas.openxmlformats.org/officeDocument/2006/relationships/package" Target="../embeddings/Microsoft_Excel_Sheet88.xlsx"/></Relationships>
</file>

<file path=ppt/charts/_rels/chart89.xml.rels><?xml version='1.0' encoding='UTF-8' standalone='yes'?>
<Relationships xmlns="http://schemas.openxmlformats.org/package/2006/relationships"><Relationship Id="rId1" Type="http://schemas.openxmlformats.org/officeDocument/2006/relationships/package" Target="../embeddings/Microsoft_Excel_Sheet89.xlsx"/></Relationships>
</file>

<file path=ppt/charts/_rels/chart90.xml.rels><?xml version='1.0' encoding='UTF-8' standalone='yes'?>
<Relationships xmlns="http://schemas.openxmlformats.org/package/2006/relationships"><Relationship Id="rId1" Type="http://schemas.openxmlformats.org/officeDocument/2006/relationships/package" Target="../embeddings/Microsoft_Excel_Sheet90.xlsx"/></Relationships>
</file>

<file path=ppt/charts/_rels/chart91.xml.rels><?xml version='1.0' encoding='UTF-8' standalone='yes'?>
<Relationships xmlns="http://schemas.openxmlformats.org/package/2006/relationships"><Relationship Id="rId1" Type="http://schemas.openxmlformats.org/officeDocument/2006/relationships/package" Target="../embeddings/Microsoft_Excel_Sheet91.xlsx"/></Relationships>
</file>

<file path=ppt/charts/_rels/chart92.xml.rels><?xml version='1.0' encoding='UTF-8' standalone='yes'?>
<Relationships xmlns="http://schemas.openxmlformats.org/package/2006/relationships"><Relationship Id="rId1" Type="http://schemas.openxmlformats.org/officeDocument/2006/relationships/package" Target="../embeddings/Microsoft_Excel_Sheet92.xlsx"/></Relationships>
</file>

<file path=ppt/charts/_rels/chart93.xml.rels><?xml version='1.0' encoding='UTF-8' standalone='yes'?>
<Relationships xmlns="http://schemas.openxmlformats.org/package/2006/relationships"><Relationship Id="rId1" Type="http://schemas.openxmlformats.org/officeDocument/2006/relationships/package" Target="../embeddings/Microsoft_Excel_Sheet93.xlsx"/></Relationships>
</file>

<file path=ppt/charts/_rels/chart94.xml.rels><?xml version='1.0' encoding='UTF-8' standalone='yes'?>
<Relationships xmlns="http://schemas.openxmlformats.org/package/2006/relationships"><Relationship Id="rId1" Type="http://schemas.openxmlformats.org/officeDocument/2006/relationships/package" Target="../embeddings/Microsoft_Excel_Sheet94.xlsx"/></Relationships>
</file>

<file path=ppt/charts/_rels/chart95.xml.rels><?xml version='1.0' encoding='UTF-8' standalone='yes'?>
<Relationships xmlns="http://schemas.openxmlformats.org/package/2006/relationships"><Relationship Id="rId1" Type="http://schemas.openxmlformats.org/officeDocument/2006/relationships/package" Target="../embeddings/Microsoft_Excel_Sheet95.xlsx"/></Relationships>
</file>

<file path=ppt/charts/_rels/chart96.xml.rels><?xml version='1.0' encoding='UTF-8' standalone='yes'?>
<Relationships xmlns="http://schemas.openxmlformats.org/package/2006/relationships"><Relationship Id="rId1" Type="http://schemas.openxmlformats.org/officeDocument/2006/relationships/package" Target="../embeddings/Microsoft_Excel_Sheet96.xlsx"/></Relationships>
</file>

<file path=ppt/charts/_rels/chart97.xml.rels><?xml version='1.0' encoding='UTF-8' standalone='yes'?>
<Relationships xmlns="http://schemas.openxmlformats.org/package/2006/relationships"><Relationship Id="rId1" Type="http://schemas.openxmlformats.org/officeDocument/2006/relationships/package" Target="../embeddings/Microsoft_Excel_Sheet97.xlsx"/></Relationships>
</file>

<file path=ppt/charts/_rels/chart98.xml.rels><?xml version='1.0' encoding='UTF-8' standalone='yes'?>
<Relationships xmlns="http://schemas.openxmlformats.org/package/2006/relationships"><Relationship Id="rId1" Type="http://schemas.openxmlformats.org/officeDocument/2006/relationships/package" Target="../embeddings/Microsoft_Excel_Sheet98.xlsx"/></Relationships>
</file>

<file path=ppt/charts/_rels/chart99.xml.rels><?xml version='1.0' encoding='UTF-8' standalone='yes'?>
<Relationships xmlns="http://schemas.openxmlformats.org/package/2006/relationships"><Relationship Id="rId1" Type="http://schemas.openxmlformats.org/officeDocument/2006/relationships/package" Target="../embeddings/Microsoft_Excel_Sheet99.xlsx"/></Relationships>
</file>

<file path=ppt/charts/_rels/chart100.xml.rels><?xml version='1.0' encoding='UTF-8' standalone='yes'?>
<Relationships xmlns="http://schemas.openxmlformats.org/package/2006/relationships"><Relationship Id="rId1" Type="http://schemas.openxmlformats.org/officeDocument/2006/relationships/package" Target="../embeddings/Microsoft_Excel_Sheet100.xlsx"/></Relationships>
</file>

<file path=ppt/charts/_rels/chart101.xml.rels><?xml version='1.0' encoding='UTF-8' standalone='yes'?>
<Relationships xmlns="http://schemas.openxmlformats.org/package/2006/relationships"><Relationship Id="rId1" Type="http://schemas.openxmlformats.org/officeDocument/2006/relationships/package" Target="../embeddings/Microsoft_Excel_Sheet101.xlsx"/></Relationships>
</file>

<file path=ppt/charts/_rels/chart102.xml.rels><?xml version='1.0' encoding='UTF-8' standalone='yes'?>
<Relationships xmlns="http://schemas.openxmlformats.org/package/2006/relationships"><Relationship Id="rId1" Type="http://schemas.openxmlformats.org/officeDocument/2006/relationships/package" Target="../embeddings/Microsoft_Excel_Sheet102.xlsx"/></Relationships>
</file>

<file path=ppt/charts/_rels/chart103.xml.rels><?xml version='1.0' encoding='UTF-8' standalone='yes'?>
<Relationships xmlns="http://schemas.openxmlformats.org/package/2006/relationships"><Relationship Id="rId1" Type="http://schemas.openxmlformats.org/officeDocument/2006/relationships/package" Target="../embeddings/Microsoft_Excel_Sheet103.xlsx"/></Relationships>
</file>

<file path=ppt/charts/_rels/chart104.xml.rels><?xml version='1.0' encoding='UTF-8' standalone='yes'?>
<Relationships xmlns="http://schemas.openxmlformats.org/package/2006/relationships"><Relationship Id="rId1" Type="http://schemas.openxmlformats.org/officeDocument/2006/relationships/package" Target="../embeddings/Microsoft_Excel_Sheet104.xlsx"/></Relationships>
</file>

<file path=ppt/charts/_rels/chart105.xml.rels><?xml version='1.0' encoding='UTF-8' standalone='yes'?>
<Relationships xmlns="http://schemas.openxmlformats.org/package/2006/relationships"><Relationship Id="rId1" Type="http://schemas.openxmlformats.org/officeDocument/2006/relationships/package" Target="../embeddings/Microsoft_Excel_Sheet105.xlsx"/></Relationships>
</file>

<file path=ppt/charts/_rels/chart106.xml.rels><?xml version='1.0' encoding='UTF-8' standalone='yes'?>
<Relationships xmlns="http://schemas.openxmlformats.org/package/2006/relationships"><Relationship Id="rId1" Type="http://schemas.openxmlformats.org/officeDocument/2006/relationships/package" Target="../embeddings/Microsoft_Excel_Sheet106.xlsx"/></Relationships>
</file>

<file path=ppt/charts/_rels/chart107.xml.rels><?xml version='1.0' encoding='UTF-8' standalone='yes'?>
<Relationships xmlns="http://schemas.openxmlformats.org/package/2006/relationships"><Relationship Id="rId1" Type="http://schemas.openxmlformats.org/officeDocument/2006/relationships/package" Target="../embeddings/Microsoft_Excel_Sheet107.xlsx"/></Relationships>
</file>

<file path=ppt/charts/_rels/chart108.xml.rels><?xml version='1.0' encoding='UTF-8' standalone='yes'?>
<Relationships xmlns="http://schemas.openxmlformats.org/package/2006/relationships"><Relationship Id="rId1" Type="http://schemas.openxmlformats.org/officeDocument/2006/relationships/package" Target="../embeddings/Microsoft_Excel_Sheet108.xlsx"/></Relationships>
</file>

<file path=ppt/charts/_rels/chart109.xml.rels><?xml version='1.0' encoding='UTF-8' standalone='yes'?>
<Relationships xmlns="http://schemas.openxmlformats.org/package/2006/relationships"><Relationship Id="rId1" Type="http://schemas.openxmlformats.org/officeDocument/2006/relationships/package" Target="../embeddings/Microsoft_Excel_Sheet109.xlsx"/></Relationships>
</file>

<file path=ppt/charts/_rels/chart110.xml.rels><?xml version='1.0' encoding='UTF-8' standalone='yes'?>
<Relationships xmlns="http://schemas.openxmlformats.org/package/2006/relationships"><Relationship Id="rId1" Type="http://schemas.openxmlformats.org/officeDocument/2006/relationships/package" Target="../embeddings/Microsoft_Excel_Sheet110.xlsx"/></Relationships>
</file>

<file path=ppt/charts/_rels/chart111.xml.rels><?xml version='1.0' encoding='UTF-8' standalone='yes'?>
<Relationships xmlns="http://schemas.openxmlformats.org/package/2006/relationships"><Relationship Id="rId1" Type="http://schemas.openxmlformats.org/officeDocument/2006/relationships/package" Target="../embeddings/Microsoft_Excel_Sheet111.xlsx"/></Relationships>
</file>

<file path=ppt/charts/_rels/chart112.xml.rels><?xml version='1.0' encoding='UTF-8' standalone='yes'?>
<Relationships xmlns="http://schemas.openxmlformats.org/package/2006/relationships"><Relationship Id="rId1" Type="http://schemas.openxmlformats.org/officeDocument/2006/relationships/package" Target="../embeddings/Microsoft_Excel_Sheet112.xlsx"/></Relationships>
</file>

<file path=ppt/charts/_rels/chart113.xml.rels><?xml version='1.0' encoding='UTF-8' standalone='yes'?>
<Relationships xmlns="http://schemas.openxmlformats.org/package/2006/relationships"><Relationship Id="rId1" Type="http://schemas.openxmlformats.org/officeDocument/2006/relationships/package" Target="../embeddings/Microsoft_Excel_Sheet113.xlsx"/></Relationships>
</file>

<file path=ppt/charts/_rels/chart114.xml.rels><?xml version='1.0' encoding='UTF-8' standalone='yes'?>
<Relationships xmlns="http://schemas.openxmlformats.org/package/2006/relationships"><Relationship Id="rId1" Type="http://schemas.openxmlformats.org/officeDocument/2006/relationships/package" Target="../embeddings/Microsoft_Excel_Sheet114.xlsx"/></Relationships>
</file>

<file path=ppt/charts/_rels/chart115.xml.rels><?xml version='1.0' encoding='UTF-8' standalone='yes'?>
<Relationships xmlns="http://schemas.openxmlformats.org/package/2006/relationships"><Relationship Id="rId1" Type="http://schemas.openxmlformats.org/officeDocument/2006/relationships/package" Target="../embeddings/Microsoft_Excel_Sheet115.xlsx"/></Relationships>
</file>

<file path=ppt/charts/_rels/chart116.xml.rels><?xml version='1.0' encoding='UTF-8' standalone='yes'?>
<Relationships xmlns="http://schemas.openxmlformats.org/package/2006/relationships"><Relationship Id="rId1" Type="http://schemas.openxmlformats.org/officeDocument/2006/relationships/package" Target="../embeddings/Microsoft_Excel_Sheet116.xlsx"/></Relationships>
</file>

<file path=ppt/charts/_rels/chart117.xml.rels><?xml version='1.0' encoding='UTF-8' standalone='yes'?>
<Relationships xmlns="http://schemas.openxmlformats.org/package/2006/relationships"><Relationship Id="rId1" Type="http://schemas.openxmlformats.org/officeDocument/2006/relationships/package" Target="../embeddings/Microsoft_Excel_Sheet117.xlsx"/></Relationships>
</file>

<file path=ppt/charts/_rels/chart118.xml.rels><?xml version='1.0' encoding='UTF-8' standalone='yes'?>
<Relationships xmlns="http://schemas.openxmlformats.org/package/2006/relationships"><Relationship Id="rId1" Type="http://schemas.openxmlformats.org/officeDocument/2006/relationships/package" Target="../embeddings/Microsoft_Excel_Sheet118.xlsx"/></Relationships>
</file>

<file path=ppt/charts/_rels/chart119.xml.rels><?xml version='1.0' encoding='UTF-8' standalone='yes'?>
<Relationships xmlns="http://schemas.openxmlformats.org/package/2006/relationships"><Relationship Id="rId1" Type="http://schemas.openxmlformats.org/officeDocument/2006/relationships/package" Target="../embeddings/Microsoft_Excel_Sheet119.xlsx"/></Relationships>
</file>

<file path=ppt/charts/_rels/chart120.xml.rels><?xml version='1.0' encoding='UTF-8' standalone='yes'?>
<Relationships xmlns="http://schemas.openxmlformats.org/package/2006/relationships"><Relationship Id="rId1" Type="http://schemas.openxmlformats.org/officeDocument/2006/relationships/package" Target="../embeddings/Microsoft_Excel_Sheet120.xlsx"/></Relationships>
</file>

<file path=ppt/charts/_rels/chart121.xml.rels><?xml version='1.0' encoding='UTF-8' standalone='yes'?>
<Relationships xmlns="http://schemas.openxmlformats.org/package/2006/relationships"><Relationship Id="rId1" Type="http://schemas.openxmlformats.org/officeDocument/2006/relationships/package" Target="../embeddings/Microsoft_Excel_Sheet121.xlsx"/></Relationships>
</file>

<file path=ppt/charts/_rels/chart122.xml.rels><?xml version='1.0' encoding='UTF-8' standalone='yes'?>
<Relationships xmlns="http://schemas.openxmlformats.org/package/2006/relationships"><Relationship Id="rId1" Type="http://schemas.openxmlformats.org/officeDocument/2006/relationships/package" Target="../embeddings/Microsoft_Excel_Sheet122.xlsx"/></Relationships>
</file>

<file path=ppt/charts/_rels/chart123.xml.rels><?xml version='1.0' encoding='UTF-8' standalone='yes'?>
<Relationships xmlns="http://schemas.openxmlformats.org/package/2006/relationships"><Relationship Id="rId1" Type="http://schemas.openxmlformats.org/officeDocument/2006/relationships/package" Target="../embeddings/Microsoft_Excel_Sheet123.xlsx"/></Relationships>
</file>

<file path=ppt/charts/_rels/chart124.xml.rels><?xml version='1.0' encoding='UTF-8' standalone='yes'?>
<Relationships xmlns="http://schemas.openxmlformats.org/package/2006/relationships"><Relationship Id="rId1" Type="http://schemas.openxmlformats.org/officeDocument/2006/relationships/package" Target="../embeddings/Microsoft_Excel_Sheet124.xlsx"/></Relationships>
</file>

<file path=ppt/charts/_rels/chart125.xml.rels><?xml version='1.0' encoding='UTF-8' standalone='yes'?>
<Relationships xmlns="http://schemas.openxmlformats.org/package/2006/relationships"><Relationship Id="rId1" Type="http://schemas.openxmlformats.org/officeDocument/2006/relationships/package" Target="../embeddings/Microsoft_Excel_Sheet125.xlsx"/></Relationships>
</file>

<file path=ppt/charts/_rels/chart126.xml.rels><?xml version='1.0' encoding='UTF-8' standalone='yes'?>
<Relationships xmlns="http://schemas.openxmlformats.org/package/2006/relationships"><Relationship Id="rId1" Type="http://schemas.openxmlformats.org/officeDocument/2006/relationships/package" Target="../embeddings/Microsoft_Excel_Sheet126.xlsx"/></Relationships>
</file>

<file path=ppt/charts/_rels/chart127.xml.rels><?xml version='1.0' encoding='UTF-8' standalone='yes'?>
<Relationships xmlns="http://schemas.openxmlformats.org/package/2006/relationships"><Relationship Id="rId1" Type="http://schemas.openxmlformats.org/officeDocument/2006/relationships/package" Target="../embeddings/Microsoft_Excel_Sheet127.xlsx"/></Relationships>
</file>

<file path=ppt/charts/_rels/chart128.xml.rels><?xml version='1.0' encoding='UTF-8' standalone='yes'?>
<Relationships xmlns="http://schemas.openxmlformats.org/package/2006/relationships"><Relationship Id="rId1" Type="http://schemas.openxmlformats.org/officeDocument/2006/relationships/package" Target="../embeddings/Microsoft_Excel_Sheet128.xlsx"/></Relationships>
</file>

<file path=ppt/charts/_rels/chart129.xml.rels><?xml version='1.0' encoding='UTF-8' standalone='yes'?>
<Relationships xmlns="http://schemas.openxmlformats.org/package/2006/relationships"><Relationship Id="rId1" Type="http://schemas.openxmlformats.org/officeDocument/2006/relationships/package" Target="../embeddings/Microsoft_Excel_Sheet129.xlsx"/></Relationships>
</file>

<file path=ppt/charts/_rels/chart130.xml.rels><?xml version='1.0' encoding='UTF-8' standalone='yes'?>
<Relationships xmlns="http://schemas.openxmlformats.org/package/2006/relationships"><Relationship Id="rId1" Type="http://schemas.openxmlformats.org/officeDocument/2006/relationships/package" Target="../embeddings/Microsoft_Excel_Sheet130.xlsx"/></Relationships>
</file>

<file path=ppt/charts/_rels/chart131.xml.rels><?xml version='1.0' encoding='UTF-8' standalone='yes'?>
<Relationships xmlns="http://schemas.openxmlformats.org/package/2006/relationships"><Relationship Id="rId1" Type="http://schemas.openxmlformats.org/officeDocument/2006/relationships/package" Target="../embeddings/Microsoft_Excel_Sheet131.xlsx"/></Relationships>
</file>

<file path=ppt/charts/_rels/chart132.xml.rels><?xml version='1.0' encoding='UTF-8' standalone='yes'?>
<Relationships xmlns="http://schemas.openxmlformats.org/package/2006/relationships"><Relationship Id="rId1" Type="http://schemas.openxmlformats.org/officeDocument/2006/relationships/package" Target="../embeddings/Microsoft_Excel_Sheet132.xlsx"/></Relationships>
</file>

<file path=ppt/charts/_rels/chart133.xml.rels><?xml version='1.0' encoding='UTF-8' standalone='yes'?>
<Relationships xmlns="http://schemas.openxmlformats.org/package/2006/relationships"><Relationship Id="rId1" Type="http://schemas.openxmlformats.org/officeDocument/2006/relationships/package" Target="../embeddings/Microsoft_Excel_Sheet133.xlsx"/></Relationships>
</file>

<file path=ppt/charts/_rels/chart134.xml.rels><?xml version='1.0' encoding='UTF-8' standalone='yes'?>
<Relationships xmlns="http://schemas.openxmlformats.org/package/2006/relationships"><Relationship Id="rId1" Type="http://schemas.openxmlformats.org/officeDocument/2006/relationships/package" Target="../embeddings/Microsoft_Excel_Sheet134.xlsx"/></Relationships>
</file>

<file path=ppt/charts/_rels/chart135.xml.rels><?xml version='1.0' encoding='UTF-8' standalone='yes'?>
<Relationships xmlns="http://schemas.openxmlformats.org/package/2006/relationships"><Relationship Id="rId1" Type="http://schemas.openxmlformats.org/officeDocument/2006/relationships/package" Target="../embeddings/Microsoft_Excel_Sheet135.xlsx"/></Relationships>
</file>

<file path=ppt/charts/_rels/chart136.xml.rels><?xml version='1.0' encoding='UTF-8' standalone='yes'?>
<Relationships xmlns="http://schemas.openxmlformats.org/package/2006/relationships"><Relationship Id="rId1" Type="http://schemas.openxmlformats.org/officeDocument/2006/relationships/package" Target="../embeddings/Microsoft_Excel_Sheet136.xlsx"/></Relationships>
</file>

<file path=ppt/charts/_rels/chart137.xml.rels><?xml version='1.0' encoding='UTF-8' standalone='yes'?>
<Relationships xmlns="http://schemas.openxmlformats.org/package/2006/relationships"><Relationship Id="rId1" Type="http://schemas.openxmlformats.org/officeDocument/2006/relationships/package" Target="../embeddings/Microsoft_Excel_Sheet137.xlsx"/></Relationships>
</file>

<file path=ppt/charts/_rels/chart138.xml.rels><?xml version='1.0' encoding='UTF-8' standalone='yes'?>
<Relationships xmlns="http://schemas.openxmlformats.org/package/2006/relationships"><Relationship Id="rId1" Type="http://schemas.openxmlformats.org/officeDocument/2006/relationships/package" Target="../embeddings/Microsoft_Excel_Sheet138.xlsx"/></Relationships>
</file>

<file path=ppt/charts/_rels/chart139.xml.rels><?xml version='1.0' encoding='UTF-8' standalone='yes'?>
<Relationships xmlns="http://schemas.openxmlformats.org/package/2006/relationships"><Relationship Id="rId1" Type="http://schemas.openxmlformats.org/officeDocument/2006/relationships/package" Target="../embeddings/Microsoft_Excel_Sheet139.xlsx"/></Relationships>
</file>

<file path=ppt/charts/_rels/chart140.xml.rels><?xml version='1.0' encoding='UTF-8' standalone='yes'?>
<Relationships xmlns="http://schemas.openxmlformats.org/package/2006/relationships"><Relationship Id="rId1" Type="http://schemas.openxmlformats.org/officeDocument/2006/relationships/package" Target="../embeddings/Microsoft_Excel_Sheet140.xlsx"/></Relationships>
</file>

<file path=ppt/charts/_rels/chart141.xml.rels><?xml version='1.0' encoding='UTF-8' standalone='yes'?>
<Relationships xmlns="http://schemas.openxmlformats.org/package/2006/relationships"><Relationship Id="rId1" Type="http://schemas.openxmlformats.org/officeDocument/2006/relationships/package" Target="../embeddings/Microsoft_Excel_Sheet141.xlsx"/></Relationships>
</file>

<file path=ppt/charts/_rels/chart142.xml.rels><?xml version='1.0' encoding='UTF-8' standalone='yes'?>
<Relationships xmlns="http://schemas.openxmlformats.org/package/2006/relationships"><Relationship Id="rId1" Type="http://schemas.openxmlformats.org/officeDocument/2006/relationships/package" Target="../embeddings/Microsoft_Excel_Sheet142.xlsx"/></Relationships>
</file>

<file path=ppt/charts/_rels/chart143.xml.rels><?xml version='1.0' encoding='UTF-8' standalone='yes'?>
<Relationships xmlns="http://schemas.openxmlformats.org/package/2006/relationships"><Relationship Id="rId1" Type="http://schemas.openxmlformats.org/officeDocument/2006/relationships/package" Target="../embeddings/Microsoft_Excel_Sheet143.xlsx"/></Relationships>
</file>

<file path=ppt/charts/_rels/chart144.xml.rels><?xml version='1.0' encoding='UTF-8' standalone='yes'?>
<Relationships xmlns="http://schemas.openxmlformats.org/package/2006/relationships"><Relationship Id="rId1" Type="http://schemas.openxmlformats.org/officeDocument/2006/relationships/package" Target="../embeddings/Microsoft_Excel_Sheet144.xlsx"/></Relationships>
</file>

<file path=ppt/charts/_rels/chart145.xml.rels><?xml version='1.0' encoding='UTF-8' standalone='yes'?>
<Relationships xmlns="http://schemas.openxmlformats.org/package/2006/relationships"><Relationship Id="rId1" Type="http://schemas.openxmlformats.org/officeDocument/2006/relationships/package" Target="../embeddings/Microsoft_Excel_Sheet145.xlsx"/></Relationships>
</file>

<file path=ppt/charts/_rels/chart146.xml.rels><?xml version='1.0' encoding='UTF-8' standalone='yes'?>
<Relationships xmlns="http://schemas.openxmlformats.org/package/2006/relationships"><Relationship Id="rId1" Type="http://schemas.openxmlformats.org/officeDocument/2006/relationships/package" Target="../embeddings/Microsoft_Excel_Sheet146.xlsx"/></Relationships>
</file>

<file path=ppt/charts/_rels/chart147.xml.rels><?xml version='1.0' encoding='UTF-8' standalone='yes'?>
<Relationships xmlns="http://schemas.openxmlformats.org/package/2006/relationships"><Relationship Id="rId1" Type="http://schemas.openxmlformats.org/officeDocument/2006/relationships/package" Target="../embeddings/Microsoft_Excel_Sheet147.xlsx"/></Relationships>
</file>

<file path=ppt/charts/_rels/chart148.xml.rels><?xml version='1.0' encoding='UTF-8' standalone='yes'?>
<Relationships xmlns="http://schemas.openxmlformats.org/package/2006/relationships"><Relationship Id="rId1" Type="http://schemas.openxmlformats.org/officeDocument/2006/relationships/package" Target="../embeddings/Microsoft_Excel_Sheet148.xlsx"/></Relationships>
</file>

<file path=ppt/charts/_rels/chart149.xml.rels><?xml version='1.0' encoding='UTF-8' standalone='yes'?>
<Relationships xmlns="http://schemas.openxmlformats.org/package/2006/relationships"><Relationship Id="rId1" Type="http://schemas.openxmlformats.org/officeDocument/2006/relationships/package" Target="../embeddings/Microsoft_Excel_Sheet149.xlsx"/></Relationships>
</file>

<file path=ppt/charts/_rels/chart150.xml.rels><?xml version='1.0' encoding='UTF-8' standalone='yes'?>
<Relationships xmlns="http://schemas.openxmlformats.org/package/2006/relationships"><Relationship Id="rId1" Type="http://schemas.openxmlformats.org/officeDocument/2006/relationships/package" Target="../embeddings/Microsoft_Excel_Sheet150.xlsx"/></Relationships>
</file>

<file path=ppt/charts/_rels/chart151.xml.rels><?xml version='1.0' encoding='UTF-8' standalone='yes'?>
<Relationships xmlns="http://schemas.openxmlformats.org/package/2006/relationships"><Relationship Id="rId1" Type="http://schemas.openxmlformats.org/officeDocument/2006/relationships/package" Target="../embeddings/Microsoft_Excel_Sheet151.xlsx"/></Relationships>
</file>

<file path=ppt/charts/_rels/chart152.xml.rels><?xml version='1.0' encoding='UTF-8' standalone='yes'?>
<Relationships xmlns="http://schemas.openxmlformats.org/package/2006/relationships"><Relationship Id="rId1" Type="http://schemas.openxmlformats.org/officeDocument/2006/relationships/package" Target="../embeddings/Microsoft_Excel_Sheet152.xlsx"/></Relationships>
</file>

<file path=ppt/charts/_rels/chart153.xml.rels><?xml version='1.0' encoding='UTF-8' standalone='yes'?>
<Relationships xmlns="http://schemas.openxmlformats.org/package/2006/relationships"><Relationship Id="rId1" Type="http://schemas.openxmlformats.org/officeDocument/2006/relationships/package" Target="../embeddings/Microsoft_Excel_Sheet153.xlsx"/></Relationships>
</file>

<file path=ppt/charts/_rels/chart154.xml.rels><?xml version='1.0' encoding='UTF-8' standalone='yes'?>
<Relationships xmlns="http://schemas.openxmlformats.org/package/2006/relationships"><Relationship Id="rId1" Type="http://schemas.openxmlformats.org/officeDocument/2006/relationships/package" Target="../embeddings/Microsoft_Excel_Sheet154.xlsx"/></Relationships>
</file>

<file path=ppt/charts/_rels/chart155.xml.rels><?xml version='1.0' encoding='UTF-8' standalone='yes'?>
<Relationships xmlns="http://schemas.openxmlformats.org/package/2006/relationships"><Relationship Id="rId1" Type="http://schemas.openxmlformats.org/officeDocument/2006/relationships/package" Target="../embeddings/Microsoft_Excel_Sheet155.xlsx"/></Relationships>
</file>

<file path=ppt/charts/_rels/chart156.xml.rels><?xml version='1.0' encoding='UTF-8' standalone='yes'?>
<Relationships xmlns="http://schemas.openxmlformats.org/package/2006/relationships"><Relationship Id="rId1" Type="http://schemas.openxmlformats.org/officeDocument/2006/relationships/package" Target="../embeddings/Microsoft_Excel_Sheet156.xlsx"/></Relationships>
</file>

<file path=ppt/charts/_rels/chart157.xml.rels><?xml version='1.0' encoding='UTF-8' standalone='yes'?>
<Relationships xmlns="http://schemas.openxmlformats.org/package/2006/relationships"><Relationship Id="rId1" Type="http://schemas.openxmlformats.org/officeDocument/2006/relationships/package" Target="../embeddings/Microsoft_Excel_Sheet157.xlsx"/></Relationships>
</file>

<file path=ppt/charts/_rels/chart158.xml.rels><?xml version='1.0' encoding='UTF-8' standalone='yes'?>
<Relationships xmlns="http://schemas.openxmlformats.org/package/2006/relationships"><Relationship Id="rId1" Type="http://schemas.openxmlformats.org/officeDocument/2006/relationships/package" Target="../embeddings/Microsoft_Excel_Sheet158.xlsx"/></Relationships>
</file>

<file path=ppt/charts/_rels/chart159.xml.rels><?xml version='1.0' encoding='UTF-8' standalone='yes'?>
<Relationships xmlns="http://schemas.openxmlformats.org/package/2006/relationships"><Relationship Id="rId1" Type="http://schemas.openxmlformats.org/officeDocument/2006/relationships/package" Target="../embeddings/Microsoft_Excel_Sheet159.xlsx"/></Relationships>
</file>

<file path=ppt/charts/_rels/chart160.xml.rels><?xml version='1.0' encoding='UTF-8' standalone='yes'?>
<Relationships xmlns="http://schemas.openxmlformats.org/package/2006/relationships"><Relationship Id="rId1" Type="http://schemas.openxmlformats.org/officeDocument/2006/relationships/package" Target="../embeddings/Microsoft_Excel_Sheet160.xlsx"/></Relationships>
</file>

<file path=ppt/charts/_rels/chart161.xml.rels><?xml version='1.0' encoding='UTF-8' standalone='yes'?>
<Relationships xmlns="http://schemas.openxmlformats.org/package/2006/relationships"><Relationship Id="rId1" Type="http://schemas.openxmlformats.org/officeDocument/2006/relationships/package" Target="../embeddings/Microsoft_Excel_Sheet161.xlsx"/></Relationships>
</file>

<file path=ppt/charts/_rels/chart162.xml.rels><?xml version='1.0' encoding='UTF-8' standalone='yes'?>
<Relationships xmlns="http://schemas.openxmlformats.org/package/2006/relationships"><Relationship Id="rId1" Type="http://schemas.openxmlformats.org/officeDocument/2006/relationships/package" Target="../embeddings/Microsoft_Excel_Sheet162.xlsx"/></Relationships>
</file>

<file path=ppt/charts/_rels/chart163.xml.rels><?xml version='1.0' encoding='UTF-8' standalone='yes'?>
<Relationships xmlns="http://schemas.openxmlformats.org/package/2006/relationships"><Relationship Id="rId1" Type="http://schemas.openxmlformats.org/officeDocument/2006/relationships/package" Target="../embeddings/Microsoft_Excel_Sheet163.xlsx"/></Relationships>
</file>

<file path=ppt/charts/_rels/chart164.xml.rels><?xml version='1.0' encoding='UTF-8' standalone='yes'?>
<Relationships xmlns="http://schemas.openxmlformats.org/package/2006/relationships"><Relationship Id="rId1" Type="http://schemas.openxmlformats.org/officeDocument/2006/relationships/package" Target="../embeddings/Microsoft_Excel_Sheet164.xlsx"/></Relationships>
</file>

<file path=ppt/charts/_rels/chart165.xml.rels><?xml version='1.0' encoding='UTF-8' standalone='yes'?>
<Relationships xmlns="http://schemas.openxmlformats.org/package/2006/relationships"><Relationship Id="rId1" Type="http://schemas.openxmlformats.org/officeDocument/2006/relationships/package" Target="../embeddings/Microsoft_Excel_Sheet165.xlsx"/></Relationships>
</file>

<file path=ppt/charts/_rels/chart166.xml.rels><?xml version='1.0' encoding='UTF-8' standalone='yes'?>
<Relationships xmlns="http://schemas.openxmlformats.org/package/2006/relationships"><Relationship Id="rId1" Type="http://schemas.openxmlformats.org/officeDocument/2006/relationships/package" Target="../embeddings/Microsoft_Excel_Sheet166.xlsx"/></Relationships>
</file>

<file path=ppt/charts/_rels/chart167.xml.rels><?xml version='1.0' encoding='UTF-8' standalone='yes'?>
<Relationships xmlns="http://schemas.openxmlformats.org/package/2006/relationships"><Relationship Id="rId1" Type="http://schemas.openxmlformats.org/officeDocument/2006/relationships/package" Target="../embeddings/Microsoft_Excel_Sheet167.xlsx"/></Relationships>
</file>

<file path=ppt/charts/_rels/chart168.xml.rels><?xml version='1.0' encoding='UTF-8' standalone='yes'?>
<Relationships xmlns="http://schemas.openxmlformats.org/package/2006/relationships"><Relationship Id="rId1" Type="http://schemas.openxmlformats.org/officeDocument/2006/relationships/package" Target="../embeddings/Microsoft_Excel_Sheet168.xlsx"/></Relationships>
</file>

<file path=ppt/charts/_rels/chart169.xml.rels><?xml version='1.0' encoding='UTF-8' standalone='yes'?>
<Relationships xmlns="http://schemas.openxmlformats.org/package/2006/relationships"><Relationship Id="rId1" Type="http://schemas.openxmlformats.org/officeDocument/2006/relationships/package" Target="../embeddings/Microsoft_Excel_Sheet169.xlsx"/></Relationships>
</file>

<file path=ppt/charts/_rels/chart170.xml.rels><?xml version='1.0' encoding='UTF-8' standalone='yes'?>
<Relationships xmlns="http://schemas.openxmlformats.org/package/2006/relationships"><Relationship Id="rId1" Type="http://schemas.openxmlformats.org/officeDocument/2006/relationships/package" Target="../embeddings/Microsoft_Excel_Sheet170.xlsx"/></Relationships>
</file>

<file path=ppt/charts/_rels/chart171.xml.rels><?xml version='1.0' encoding='UTF-8' standalone='yes'?>
<Relationships xmlns="http://schemas.openxmlformats.org/package/2006/relationships"><Relationship Id="rId1" Type="http://schemas.openxmlformats.org/officeDocument/2006/relationships/package" Target="../embeddings/Microsoft_Excel_Sheet171.xlsx"/></Relationships>
</file>

<file path=ppt/charts/_rels/chart172.xml.rels><?xml version='1.0' encoding='UTF-8' standalone='yes'?>
<Relationships xmlns="http://schemas.openxmlformats.org/package/2006/relationships"><Relationship Id="rId1" Type="http://schemas.openxmlformats.org/officeDocument/2006/relationships/package" Target="../embeddings/Microsoft_Excel_Sheet172.xlsx"/></Relationships>
</file>

<file path=ppt/charts/_rels/chart173.xml.rels><?xml version='1.0' encoding='UTF-8' standalone='yes'?>
<Relationships xmlns="http://schemas.openxmlformats.org/package/2006/relationships"><Relationship Id="rId1" Type="http://schemas.openxmlformats.org/officeDocument/2006/relationships/package" Target="../embeddings/Microsoft_Excel_Sheet173.xlsx"/></Relationships>
</file>

<file path=ppt/charts/_rels/chart174.xml.rels><?xml version='1.0' encoding='UTF-8' standalone='yes'?>
<Relationships xmlns="http://schemas.openxmlformats.org/package/2006/relationships"><Relationship Id="rId1" Type="http://schemas.openxmlformats.org/officeDocument/2006/relationships/package" Target="../embeddings/Microsoft_Excel_Sheet174.xlsx"/></Relationships>
</file>

<file path=ppt/charts/_rels/chart175.xml.rels><?xml version='1.0' encoding='UTF-8' standalone='yes'?>
<Relationships xmlns="http://schemas.openxmlformats.org/package/2006/relationships"><Relationship Id="rId1" Type="http://schemas.openxmlformats.org/officeDocument/2006/relationships/package" Target="../embeddings/Microsoft_Excel_Sheet175.xlsx"/></Relationships>
</file>

<file path=ppt/charts/_rels/chart176.xml.rels><?xml version='1.0' encoding='UTF-8' standalone='yes'?>
<Relationships xmlns="http://schemas.openxmlformats.org/package/2006/relationships"><Relationship Id="rId1" Type="http://schemas.openxmlformats.org/officeDocument/2006/relationships/package" Target="../embeddings/Microsoft_Excel_Sheet176.xlsx"/></Relationships>
</file>

<file path=ppt/charts/_rels/chart177.xml.rels><?xml version='1.0' encoding='UTF-8' standalone='yes'?>
<Relationships xmlns="http://schemas.openxmlformats.org/package/2006/relationships"><Relationship Id="rId1" Type="http://schemas.openxmlformats.org/officeDocument/2006/relationships/package" Target="../embeddings/Microsoft_Excel_Sheet177.xlsx"/></Relationships>
</file>

<file path=ppt/charts/_rels/chart178.xml.rels><?xml version='1.0' encoding='UTF-8' standalone='yes'?>
<Relationships xmlns="http://schemas.openxmlformats.org/package/2006/relationships"><Relationship Id="rId1" Type="http://schemas.openxmlformats.org/officeDocument/2006/relationships/package" Target="../embeddings/Microsoft_Excel_Sheet178.xlsx"/></Relationships>
</file>

<file path=ppt/charts/_rels/chart179.xml.rels><?xml version='1.0' encoding='UTF-8' standalone='yes'?>
<Relationships xmlns="http://schemas.openxmlformats.org/package/2006/relationships"><Relationship Id="rId1" Type="http://schemas.openxmlformats.org/officeDocument/2006/relationships/package" Target="../embeddings/Microsoft_Excel_Sheet179.xlsx"/></Relationships>
</file>

<file path=ppt/charts/_rels/chart180.xml.rels><?xml version='1.0' encoding='UTF-8' standalone='yes'?>
<Relationships xmlns="http://schemas.openxmlformats.org/package/2006/relationships"><Relationship Id="rId1" Type="http://schemas.openxmlformats.org/officeDocument/2006/relationships/package" Target="../embeddings/Microsoft_Excel_Sheet180.xlsx"/></Relationships>
</file>

<file path=ppt/charts/_rels/chart181.xml.rels><?xml version='1.0' encoding='UTF-8' standalone='yes'?>
<Relationships xmlns="http://schemas.openxmlformats.org/package/2006/relationships"><Relationship Id="rId1" Type="http://schemas.openxmlformats.org/officeDocument/2006/relationships/package" Target="../embeddings/Microsoft_Excel_Sheet181.xlsx"/></Relationships>
</file>

<file path=ppt/charts/_rels/chart182.xml.rels><?xml version='1.0' encoding='UTF-8' standalone='yes'?>
<Relationships xmlns="http://schemas.openxmlformats.org/package/2006/relationships"><Relationship Id="rId1" Type="http://schemas.openxmlformats.org/officeDocument/2006/relationships/package" Target="../embeddings/Microsoft_Excel_Sheet182.xlsx"/></Relationships>
</file>

<file path=ppt/charts/_rels/chart183.xml.rels><?xml version='1.0' encoding='UTF-8' standalone='yes'?>
<Relationships xmlns="http://schemas.openxmlformats.org/package/2006/relationships"><Relationship Id="rId1" Type="http://schemas.openxmlformats.org/officeDocument/2006/relationships/package" Target="../embeddings/Microsoft_Excel_Sheet183.xlsx"/></Relationships>
</file>

<file path=ppt/charts/_rels/chart184.xml.rels><?xml version='1.0' encoding='UTF-8' standalone='yes'?>
<Relationships xmlns="http://schemas.openxmlformats.org/package/2006/relationships"><Relationship Id="rId1" Type="http://schemas.openxmlformats.org/officeDocument/2006/relationships/package" Target="../embeddings/Microsoft_Excel_Sheet184.xlsx"/></Relationships>
</file>

<file path=ppt/charts/_rels/chart185.xml.rels><?xml version='1.0' encoding='UTF-8' standalone='yes'?>
<Relationships xmlns="http://schemas.openxmlformats.org/package/2006/relationships"><Relationship Id="rId1" Type="http://schemas.openxmlformats.org/officeDocument/2006/relationships/package" Target="../embeddings/Microsoft_Excel_Sheet185.xlsx"/></Relationships>
</file>

<file path=ppt/charts/_rels/chart186.xml.rels><?xml version='1.0' encoding='UTF-8' standalone='yes'?>
<Relationships xmlns="http://schemas.openxmlformats.org/package/2006/relationships"><Relationship Id="rId1" Type="http://schemas.openxmlformats.org/officeDocument/2006/relationships/package" Target="../embeddings/Microsoft_Excel_Sheet186.xlsx"/></Relationships>
</file>

<file path=ppt/charts/_rels/chart187.xml.rels><?xml version='1.0' encoding='UTF-8' standalone='yes'?>
<Relationships xmlns="http://schemas.openxmlformats.org/package/2006/relationships"><Relationship Id="rId1" Type="http://schemas.openxmlformats.org/officeDocument/2006/relationships/package" Target="../embeddings/Microsoft_Excel_Sheet187.xlsx"/></Relationships>
</file>

<file path=ppt/charts/_rels/chart188.xml.rels><?xml version='1.0' encoding='UTF-8' standalone='yes'?>
<Relationships xmlns="http://schemas.openxmlformats.org/package/2006/relationships"><Relationship Id="rId1" Type="http://schemas.openxmlformats.org/officeDocument/2006/relationships/package" Target="../embeddings/Microsoft_Excel_Sheet188.xlsx"/></Relationships>
</file>

<file path=ppt/charts/_rels/chart189.xml.rels><?xml version='1.0' encoding='UTF-8' standalone='yes'?>
<Relationships xmlns="http://schemas.openxmlformats.org/package/2006/relationships"><Relationship Id="rId1" Type="http://schemas.openxmlformats.org/officeDocument/2006/relationships/package" Target="../embeddings/Microsoft_Excel_Sheet189.xlsx"/></Relationships>
</file>

<file path=ppt/charts/_rels/chart190.xml.rels><?xml version='1.0' encoding='UTF-8' standalone='yes'?>
<Relationships xmlns="http://schemas.openxmlformats.org/package/2006/relationships"><Relationship Id="rId1" Type="http://schemas.openxmlformats.org/officeDocument/2006/relationships/package" Target="../embeddings/Microsoft_Excel_Sheet190.xlsx"/></Relationships>
</file>

<file path=ppt/charts/_rels/chart191.xml.rels><?xml version='1.0' encoding='UTF-8' standalone='yes'?>
<Relationships xmlns="http://schemas.openxmlformats.org/package/2006/relationships"><Relationship Id="rId1" Type="http://schemas.openxmlformats.org/officeDocument/2006/relationships/package" Target="../embeddings/Microsoft_Excel_Sheet191.xlsx"/></Relationships>
</file>

<file path=ppt/charts/_rels/chart192.xml.rels><?xml version='1.0' encoding='UTF-8' standalone='yes'?>
<Relationships xmlns="http://schemas.openxmlformats.org/package/2006/relationships"><Relationship Id="rId1" Type="http://schemas.openxmlformats.org/officeDocument/2006/relationships/package" Target="../embeddings/Microsoft_Excel_Sheet192.xlsx"/></Relationships>
</file>

<file path=ppt/charts/_rels/chart193.xml.rels><?xml version='1.0' encoding='UTF-8' standalone='yes'?>
<Relationships xmlns="http://schemas.openxmlformats.org/package/2006/relationships"><Relationship Id="rId1" Type="http://schemas.openxmlformats.org/officeDocument/2006/relationships/package" Target="../embeddings/Microsoft_Excel_Sheet193.xlsx"/></Relationships>
</file>

<file path=ppt/charts/_rels/chart194.xml.rels><?xml version='1.0' encoding='UTF-8' standalone='yes'?>
<Relationships xmlns="http://schemas.openxmlformats.org/package/2006/relationships"><Relationship Id="rId1" Type="http://schemas.openxmlformats.org/officeDocument/2006/relationships/package" Target="../embeddings/Microsoft_Excel_Sheet194.xlsx"/></Relationships>
</file>

<file path=ppt/charts/_rels/chart195.xml.rels><?xml version='1.0' encoding='UTF-8' standalone='yes'?>
<Relationships xmlns="http://schemas.openxmlformats.org/package/2006/relationships"><Relationship Id="rId1" Type="http://schemas.openxmlformats.org/officeDocument/2006/relationships/package" Target="../embeddings/Microsoft_Excel_Sheet195.xlsx"/></Relationships>
</file>

<file path=ppt/charts/_rels/chart196.xml.rels><?xml version='1.0' encoding='UTF-8' standalone='yes'?>
<Relationships xmlns="http://schemas.openxmlformats.org/package/2006/relationships"><Relationship Id="rId1" Type="http://schemas.openxmlformats.org/officeDocument/2006/relationships/package" Target="../embeddings/Microsoft_Excel_Sheet196.xlsx"/></Relationships>
</file>

<file path=ppt/charts/_rels/chart197.xml.rels><?xml version='1.0' encoding='UTF-8' standalone='yes'?>
<Relationships xmlns="http://schemas.openxmlformats.org/package/2006/relationships"><Relationship Id="rId1" Type="http://schemas.openxmlformats.org/officeDocument/2006/relationships/package" Target="../embeddings/Microsoft_Excel_Sheet197.xlsx"/></Relationships>
</file>

<file path=ppt/charts/_rels/chart198.xml.rels><?xml version='1.0' encoding='UTF-8' standalone='yes'?>
<Relationships xmlns="http://schemas.openxmlformats.org/package/2006/relationships"><Relationship Id="rId1" Type="http://schemas.openxmlformats.org/officeDocument/2006/relationships/package" Target="../embeddings/Microsoft_Excel_Sheet198.xlsx"/></Relationships>
</file>

<file path=ppt/charts/_rels/chart199.xml.rels><?xml version='1.0' encoding='UTF-8' standalone='yes'?>
<Relationships xmlns="http://schemas.openxmlformats.org/package/2006/relationships"><Relationship Id="rId1" Type="http://schemas.openxmlformats.org/officeDocument/2006/relationships/package" Target="../embeddings/Microsoft_Excel_Sheet199.xlsx"/></Relationships>
</file>

<file path=ppt/charts/_rels/chart200.xml.rels><?xml version='1.0' encoding='UTF-8' standalone='yes'?>
<Relationships xmlns="http://schemas.openxmlformats.org/package/2006/relationships"><Relationship Id="rId1" Type="http://schemas.openxmlformats.org/officeDocument/2006/relationships/package" Target="../embeddings/Microsoft_Excel_Sheet200.xlsx"/></Relationships>
</file>

<file path=ppt/charts/_rels/chart201.xml.rels><?xml version='1.0' encoding='UTF-8' standalone='yes'?>
<Relationships xmlns="http://schemas.openxmlformats.org/package/2006/relationships"><Relationship Id="rId1" Type="http://schemas.openxmlformats.org/officeDocument/2006/relationships/package" Target="../embeddings/Microsoft_Excel_Sheet201.xlsx"/></Relationships>
</file>

<file path=ppt/charts/_rels/chart202.xml.rels><?xml version='1.0' encoding='UTF-8' standalone='yes'?>
<Relationships xmlns="http://schemas.openxmlformats.org/package/2006/relationships"><Relationship Id="rId1" Type="http://schemas.openxmlformats.org/officeDocument/2006/relationships/package" Target="../embeddings/Microsoft_Excel_Sheet202.xlsx"/></Relationships>
</file>

<file path=ppt/charts/_rels/chart203.xml.rels><?xml version='1.0' encoding='UTF-8' standalone='yes'?>
<Relationships xmlns="http://schemas.openxmlformats.org/package/2006/relationships"><Relationship Id="rId1" Type="http://schemas.openxmlformats.org/officeDocument/2006/relationships/package" Target="../embeddings/Microsoft_Excel_Sheet203.xlsx"/></Relationships>
</file>

<file path=ppt/charts/_rels/chart204.xml.rels><?xml version='1.0' encoding='UTF-8' standalone='yes'?>
<Relationships xmlns="http://schemas.openxmlformats.org/package/2006/relationships"><Relationship Id="rId1" Type="http://schemas.openxmlformats.org/officeDocument/2006/relationships/package" Target="../embeddings/Microsoft_Excel_Sheet204.xlsx"/></Relationships>
</file>

<file path=ppt/charts/_rels/chart205.xml.rels><?xml version='1.0' encoding='UTF-8' standalone='yes'?>
<Relationships xmlns="http://schemas.openxmlformats.org/package/2006/relationships"><Relationship Id="rId1" Type="http://schemas.openxmlformats.org/officeDocument/2006/relationships/package" Target="../embeddings/Microsoft_Excel_Sheet205.xlsx"/></Relationships>
</file>

<file path=ppt/charts/_rels/chart206.xml.rels><?xml version='1.0' encoding='UTF-8' standalone='yes'?>
<Relationships xmlns="http://schemas.openxmlformats.org/package/2006/relationships"><Relationship Id="rId1" Type="http://schemas.openxmlformats.org/officeDocument/2006/relationships/package" Target="../embeddings/Microsoft_Excel_Sheet206.xlsx"/></Relationships>
</file>

<file path=ppt/charts/_rels/chart207.xml.rels><?xml version='1.0' encoding='UTF-8' standalone='yes'?>
<Relationships xmlns="http://schemas.openxmlformats.org/package/2006/relationships"><Relationship Id="rId1" Type="http://schemas.openxmlformats.org/officeDocument/2006/relationships/package" Target="../embeddings/Microsoft_Excel_Sheet207.xlsx"/></Relationships>
</file>

<file path=ppt/charts/_rels/chart208.xml.rels><?xml version='1.0' encoding='UTF-8' standalone='yes'?>
<Relationships xmlns="http://schemas.openxmlformats.org/package/2006/relationships"><Relationship Id="rId1" Type="http://schemas.openxmlformats.org/officeDocument/2006/relationships/package" Target="../embeddings/Microsoft_Excel_Sheet208.xlsx"/></Relationships>
</file>

<file path=ppt/charts/_rels/chart209.xml.rels><?xml version='1.0' encoding='UTF-8' standalone='yes'?>
<Relationships xmlns="http://schemas.openxmlformats.org/package/2006/relationships"><Relationship Id="rId1" Type="http://schemas.openxmlformats.org/officeDocument/2006/relationships/package" Target="../embeddings/Microsoft_Excel_Sheet209.xlsx"/></Relationships>
</file>

<file path=ppt/charts/_rels/chart210.xml.rels><?xml version='1.0' encoding='UTF-8' standalone='yes'?>
<Relationships xmlns="http://schemas.openxmlformats.org/package/2006/relationships"><Relationship Id="rId1" Type="http://schemas.openxmlformats.org/officeDocument/2006/relationships/package" Target="../embeddings/Microsoft_Excel_Sheet210.xlsx"/></Relationships>
</file>

<file path=ppt/charts/_rels/chart211.xml.rels><?xml version='1.0' encoding='UTF-8' standalone='yes'?>
<Relationships xmlns="http://schemas.openxmlformats.org/package/2006/relationships"><Relationship Id="rId1" Type="http://schemas.openxmlformats.org/officeDocument/2006/relationships/package" Target="../embeddings/Microsoft_Excel_Sheet211.xlsx"/></Relationships>
</file>

<file path=ppt/charts/_rels/chart212.xml.rels><?xml version='1.0' encoding='UTF-8' standalone='yes'?>
<Relationships xmlns="http://schemas.openxmlformats.org/package/2006/relationships"><Relationship Id="rId1" Type="http://schemas.openxmlformats.org/officeDocument/2006/relationships/package" Target="../embeddings/Microsoft_Excel_Sheet212.xlsx"/></Relationships>
</file>

<file path=ppt/charts/_rels/chart213.xml.rels><?xml version='1.0' encoding='UTF-8' standalone='yes'?>
<Relationships xmlns="http://schemas.openxmlformats.org/package/2006/relationships"><Relationship Id="rId1" Type="http://schemas.openxmlformats.org/officeDocument/2006/relationships/package" Target="../embeddings/Microsoft_Excel_Sheet213.xlsx"/></Relationships>
</file>

<file path=ppt/charts/_rels/chart214.xml.rels><?xml version='1.0' encoding='UTF-8' standalone='yes'?>
<Relationships xmlns="http://schemas.openxmlformats.org/package/2006/relationships"><Relationship Id="rId1" Type="http://schemas.openxmlformats.org/officeDocument/2006/relationships/package" Target="../embeddings/Microsoft_Excel_Sheet214.xlsx"/></Relationships>
</file>

<file path=ppt/charts/_rels/chart215.xml.rels><?xml version='1.0' encoding='UTF-8' standalone='yes'?>
<Relationships xmlns="http://schemas.openxmlformats.org/package/2006/relationships"><Relationship Id="rId1" Type="http://schemas.openxmlformats.org/officeDocument/2006/relationships/package" Target="../embeddings/Microsoft_Excel_Sheet215.xlsx"/></Relationships>
</file>

<file path=ppt/charts/_rels/chart216.xml.rels><?xml version='1.0' encoding='UTF-8' standalone='yes'?>
<Relationships xmlns="http://schemas.openxmlformats.org/package/2006/relationships"><Relationship Id="rId1" Type="http://schemas.openxmlformats.org/officeDocument/2006/relationships/package" Target="../embeddings/Microsoft_Excel_Sheet216.xlsx"/></Relationships>
</file>

<file path=ppt/charts/_rels/chart217.xml.rels><?xml version='1.0' encoding='UTF-8' standalone='yes'?>
<Relationships xmlns="http://schemas.openxmlformats.org/package/2006/relationships"><Relationship Id="rId1" Type="http://schemas.openxmlformats.org/officeDocument/2006/relationships/package" Target="../embeddings/Microsoft_Excel_Sheet217.xlsx"/></Relationships>
</file>

<file path=ppt/charts/_rels/chart218.xml.rels><?xml version='1.0' encoding='UTF-8' standalone='yes'?>
<Relationships xmlns="http://schemas.openxmlformats.org/package/2006/relationships"><Relationship Id="rId1" Type="http://schemas.openxmlformats.org/officeDocument/2006/relationships/package" Target="../embeddings/Microsoft_Excel_Sheet218.xlsx"/></Relationships>
</file>

<file path=ppt/charts/_rels/chart219.xml.rels><?xml version='1.0' encoding='UTF-8' standalone='yes'?>
<Relationships xmlns="http://schemas.openxmlformats.org/package/2006/relationships"><Relationship Id="rId1" Type="http://schemas.openxmlformats.org/officeDocument/2006/relationships/package" Target="../embeddings/Microsoft_Excel_Sheet219.xlsx"/></Relationships>
</file>

<file path=ppt/charts/_rels/chart220.xml.rels><?xml version='1.0' encoding='UTF-8' standalone='yes'?>
<Relationships xmlns="http://schemas.openxmlformats.org/package/2006/relationships"><Relationship Id="rId1" Type="http://schemas.openxmlformats.org/officeDocument/2006/relationships/package" Target="../embeddings/Microsoft_Excel_Sheet220.xlsx"/></Relationships>
</file>

<file path=ppt/charts/_rels/chart221.xml.rels><?xml version='1.0' encoding='UTF-8' standalone='yes'?>
<Relationships xmlns="http://schemas.openxmlformats.org/package/2006/relationships"><Relationship Id="rId1" Type="http://schemas.openxmlformats.org/officeDocument/2006/relationships/package" Target="../embeddings/Microsoft_Excel_Sheet221.xlsx"/></Relationships>
</file>

<file path=ppt/charts/_rels/chart222.xml.rels><?xml version='1.0' encoding='UTF-8' standalone='yes'?>
<Relationships xmlns="http://schemas.openxmlformats.org/package/2006/relationships"><Relationship Id="rId1" Type="http://schemas.openxmlformats.org/officeDocument/2006/relationships/package" Target="../embeddings/Microsoft_Excel_Sheet222.xlsx"/></Relationships>
</file>

<file path=ppt/charts/_rels/chart223.xml.rels><?xml version='1.0' encoding='UTF-8' standalone='yes'?>
<Relationships xmlns="http://schemas.openxmlformats.org/package/2006/relationships"><Relationship Id="rId1" Type="http://schemas.openxmlformats.org/officeDocument/2006/relationships/package" Target="../embeddings/Microsoft_Excel_Sheet223.xlsx"/></Relationships>
</file>

<file path=ppt/charts/_rels/chart224.xml.rels><?xml version='1.0' encoding='UTF-8' standalone='yes'?>
<Relationships xmlns="http://schemas.openxmlformats.org/package/2006/relationships"><Relationship Id="rId1" Type="http://schemas.openxmlformats.org/officeDocument/2006/relationships/package" Target="../embeddings/Microsoft_Excel_Sheet224.xlsx"/></Relationships>
</file>

<file path=ppt/charts/_rels/chart225.xml.rels><?xml version='1.0' encoding='UTF-8' standalone='yes'?>
<Relationships xmlns="http://schemas.openxmlformats.org/package/2006/relationships"><Relationship Id="rId1" Type="http://schemas.openxmlformats.org/officeDocument/2006/relationships/package" Target="../embeddings/Microsoft_Excel_Sheet225.xlsx"/></Relationships>
</file>

<file path=ppt/charts/_rels/chart226.xml.rels><?xml version='1.0' encoding='UTF-8' standalone='yes'?>
<Relationships xmlns="http://schemas.openxmlformats.org/package/2006/relationships"><Relationship Id="rId1" Type="http://schemas.openxmlformats.org/officeDocument/2006/relationships/package" Target="../embeddings/Microsoft_Excel_Sheet226.xlsx"/></Relationships>
</file>

<file path=ppt/charts/_rels/chart227.xml.rels><?xml version='1.0' encoding='UTF-8' standalone='yes'?>
<Relationships xmlns="http://schemas.openxmlformats.org/package/2006/relationships"><Relationship Id="rId1" Type="http://schemas.openxmlformats.org/officeDocument/2006/relationships/package" Target="../embeddings/Microsoft_Excel_Sheet227.xlsx"/></Relationships>
</file>

<file path=ppt/charts/_rels/chart228.xml.rels><?xml version='1.0' encoding='UTF-8' standalone='yes'?>
<Relationships xmlns="http://schemas.openxmlformats.org/package/2006/relationships"><Relationship Id="rId1" Type="http://schemas.openxmlformats.org/officeDocument/2006/relationships/package" Target="../embeddings/Microsoft_Excel_Sheet228.xlsx"/></Relationships>
</file>

<file path=ppt/charts/_rels/chart229.xml.rels><?xml version='1.0' encoding='UTF-8' standalone='yes'?>
<Relationships xmlns="http://schemas.openxmlformats.org/package/2006/relationships"><Relationship Id="rId1" Type="http://schemas.openxmlformats.org/officeDocument/2006/relationships/package" Target="../embeddings/Microsoft_Excel_Sheet229.xlsx"/></Relationships>
</file>

<file path=ppt/charts/_rels/chart230.xml.rels><?xml version='1.0' encoding='UTF-8' standalone='yes'?>
<Relationships xmlns="http://schemas.openxmlformats.org/package/2006/relationships"><Relationship Id="rId1" Type="http://schemas.openxmlformats.org/officeDocument/2006/relationships/package" Target="../embeddings/Microsoft_Excel_Sheet230.xlsx"/></Relationships>
</file>

<file path=ppt/charts/_rels/chart231.xml.rels><?xml version='1.0' encoding='UTF-8' standalone='yes'?>
<Relationships xmlns="http://schemas.openxmlformats.org/package/2006/relationships"><Relationship Id="rId1" Type="http://schemas.openxmlformats.org/officeDocument/2006/relationships/package" Target="../embeddings/Microsoft_Excel_Sheet231.xlsx"/></Relationships>
</file>

<file path=ppt/charts/_rels/chart232.xml.rels><?xml version='1.0' encoding='UTF-8' standalone='yes'?>
<Relationships xmlns="http://schemas.openxmlformats.org/package/2006/relationships"><Relationship Id="rId1" Type="http://schemas.openxmlformats.org/officeDocument/2006/relationships/package" Target="../embeddings/Microsoft_Excel_Sheet232.xlsx"/></Relationships>
</file>

<file path=ppt/charts/_rels/chart233.xml.rels><?xml version='1.0' encoding='UTF-8' standalone='yes'?>
<Relationships xmlns="http://schemas.openxmlformats.org/package/2006/relationships"><Relationship Id="rId1" Type="http://schemas.openxmlformats.org/officeDocument/2006/relationships/package" Target="../embeddings/Microsoft_Excel_Sheet233.xlsx"/></Relationships>
</file>

<file path=ppt/charts/_rels/chart234.xml.rels><?xml version='1.0' encoding='UTF-8' standalone='yes'?>
<Relationships xmlns="http://schemas.openxmlformats.org/package/2006/relationships"><Relationship Id="rId1" Type="http://schemas.openxmlformats.org/officeDocument/2006/relationships/package" Target="../embeddings/Microsoft_Excel_Sheet234.xlsx"/></Relationships>
</file>

<file path=ppt/charts/_rels/chart235.xml.rels><?xml version='1.0' encoding='UTF-8' standalone='yes'?>
<Relationships xmlns="http://schemas.openxmlformats.org/package/2006/relationships"><Relationship Id="rId1" Type="http://schemas.openxmlformats.org/officeDocument/2006/relationships/package" Target="../embeddings/Microsoft_Excel_Sheet235.xlsx"/></Relationships>
</file>

<file path=ppt/charts/_rels/chart236.xml.rels><?xml version='1.0' encoding='UTF-8' standalone='yes'?>
<Relationships xmlns="http://schemas.openxmlformats.org/package/2006/relationships"><Relationship Id="rId1" Type="http://schemas.openxmlformats.org/officeDocument/2006/relationships/package" Target="../embeddings/Microsoft_Excel_Sheet236.xlsx"/></Relationships>
</file>

<file path=ppt/charts/_rels/chart237.xml.rels><?xml version='1.0' encoding='UTF-8' standalone='yes'?>
<Relationships xmlns="http://schemas.openxmlformats.org/package/2006/relationships"><Relationship Id="rId1" Type="http://schemas.openxmlformats.org/officeDocument/2006/relationships/package" Target="../embeddings/Microsoft_Excel_Sheet237.xlsx"/></Relationships>
</file>

<file path=ppt/charts/_rels/chart238.xml.rels><?xml version='1.0' encoding='UTF-8' standalone='yes'?>
<Relationships xmlns="http://schemas.openxmlformats.org/package/2006/relationships"><Relationship Id="rId1" Type="http://schemas.openxmlformats.org/officeDocument/2006/relationships/package" Target="../embeddings/Microsoft_Excel_Sheet238.xlsx"/></Relationships>
</file>

<file path=ppt/charts/_rels/chart239.xml.rels><?xml version='1.0' encoding='UTF-8' standalone='yes'?>
<Relationships xmlns="http://schemas.openxmlformats.org/package/2006/relationships"><Relationship Id="rId1" Type="http://schemas.openxmlformats.org/officeDocument/2006/relationships/package" Target="../embeddings/Microsoft_Excel_Sheet239.xlsx"/></Relationships>
</file>

<file path=ppt/charts/_rels/chart240.xml.rels><?xml version='1.0' encoding='UTF-8' standalone='yes'?>
<Relationships xmlns="http://schemas.openxmlformats.org/package/2006/relationships"><Relationship Id="rId1" Type="http://schemas.openxmlformats.org/officeDocument/2006/relationships/package" Target="../embeddings/Microsoft_Excel_Sheet240.xlsx"/></Relationships>
</file>

<file path=ppt/charts/_rels/chart241.xml.rels><?xml version='1.0' encoding='UTF-8' standalone='yes'?>
<Relationships xmlns="http://schemas.openxmlformats.org/package/2006/relationships"><Relationship Id="rId1" Type="http://schemas.openxmlformats.org/officeDocument/2006/relationships/package" Target="../embeddings/Microsoft_Excel_Sheet241.xlsx"/></Relationships>
</file>

<file path=ppt/charts/_rels/chart242.xml.rels><?xml version='1.0' encoding='UTF-8' standalone='yes'?>
<Relationships xmlns="http://schemas.openxmlformats.org/package/2006/relationships"><Relationship Id="rId1" Type="http://schemas.openxmlformats.org/officeDocument/2006/relationships/package" Target="../embeddings/Microsoft_Excel_Sheet242.xlsx"/></Relationships>
</file>

<file path=ppt/charts/_rels/chart243.xml.rels><?xml version='1.0' encoding='UTF-8' standalone='yes'?>
<Relationships xmlns="http://schemas.openxmlformats.org/package/2006/relationships"><Relationship Id="rId1" Type="http://schemas.openxmlformats.org/officeDocument/2006/relationships/package" Target="../embeddings/Microsoft_Excel_Sheet243.xlsx"/></Relationships>
</file>

<file path=ppt/charts/_rels/chart244.xml.rels><?xml version='1.0' encoding='UTF-8' standalone='yes'?>
<Relationships xmlns="http://schemas.openxmlformats.org/package/2006/relationships"><Relationship Id="rId1" Type="http://schemas.openxmlformats.org/officeDocument/2006/relationships/package" Target="../embeddings/Microsoft_Excel_Sheet244.xlsx"/></Relationships>
</file>

<file path=ppt/charts/_rels/chart245.xml.rels><?xml version='1.0' encoding='UTF-8' standalone='yes'?>
<Relationships xmlns="http://schemas.openxmlformats.org/package/2006/relationships"><Relationship Id="rId1" Type="http://schemas.openxmlformats.org/officeDocument/2006/relationships/package" Target="../embeddings/Microsoft_Excel_Sheet245.xlsx"/></Relationships>
</file>

<file path=ppt/charts/_rels/chart246.xml.rels><?xml version='1.0' encoding='UTF-8' standalone='yes'?>
<Relationships xmlns="http://schemas.openxmlformats.org/package/2006/relationships"><Relationship Id="rId1" Type="http://schemas.openxmlformats.org/officeDocument/2006/relationships/package" Target="../embeddings/Microsoft_Excel_Sheet246.xlsx"/></Relationships>
</file>

<file path=ppt/charts/_rels/chart247.xml.rels><?xml version='1.0' encoding='UTF-8' standalone='yes'?>
<Relationships xmlns="http://schemas.openxmlformats.org/package/2006/relationships"><Relationship Id="rId1" Type="http://schemas.openxmlformats.org/officeDocument/2006/relationships/package" Target="../embeddings/Microsoft_Excel_Sheet247.xlsx"/></Relationships>
</file>

<file path=ppt/charts/_rels/chart248.xml.rels><?xml version='1.0' encoding='UTF-8' standalone='yes'?>
<Relationships xmlns="http://schemas.openxmlformats.org/package/2006/relationships"><Relationship Id="rId1" Type="http://schemas.openxmlformats.org/officeDocument/2006/relationships/package" Target="../embeddings/Microsoft_Excel_Sheet248.xlsx"/></Relationships>
</file>

<file path=ppt/charts/_rels/chart249.xml.rels><?xml version='1.0' encoding='UTF-8' standalone='yes'?>
<Relationships xmlns="http://schemas.openxmlformats.org/package/2006/relationships"><Relationship Id="rId1" Type="http://schemas.openxmlformats.org/officeDocument/2006/relationships/package" Target="../embeddings/Microsoft_Excel_Sheet249.xlsx"/></Relationships>
</file>

<file path=ppt/charts/_rels/chart250.xml.rels><?xml version='1.0' encoding='UTF-8' standalone='yes'?>
<Relationships xmlns="http://schemas.openxmlformats.org/package/2006/relationships"><Relationship Id="rId1" Type="http://schemas.openxmlformats.org/officeDocument/2006/relationships/package" Target="../embeddings/Microsoft_Excel_Sheet250.xlsx"/></Relationships>
</file>

<file path=ppt/charts/_rels/chart251.xml.rels><?xml version='1.0' encoding='UTF-8' standalone='yes'?>
<Relationships xmlns="http://schemas.openxmlformats.org/package/2006/relationships"><Relationship Id="rId1" Type="http://schemas.openxmlformats.org/officeDocument/2006/relationships/package" Target="../embeddings/Microsoft_Excel_Sheet251.xlsx"/></Relationships>
</file>

<file path=ppt/charts/_rels/chart252.xml.rels><?xml version='1.0' encoding='UTF-8' standalone='yes'?>
<Relationships xmlns="http://schemas.openxmlformats.org/package/2006/relationships"><Relationship Id="rId1" Type="http://schemas.openxmlformats.org/officeDocument/2006/relationships/package" Target="../embeddings/Microsoft_Excel_Sheet252.xlsx"/></Relationships>
</file>

<file path=ppt/charts/_rels/chart253.xml.rels><?xml version='1.0' encoding='UTF-8' standalone='yes'?>
<Relationships xmlns="http://schemas.openxmlformats.org/package/2006/relationships"><Relationship Id="rId1" Type="http://schemas.openxmlformats.org/officeDocument/2006/relationships/package" Target="../embeddings/Microsoft_Excel_Sheet253.xlsx"/></Relationships>
</file>

<file path=ppt/charts/_rels/chart254.xml.rels><?xml version='1.0' encoding='UTF-8' standalone='yes'?>
<Relationships xmlns="http://schemas.openxmlformats.org/package/2006/relationships"><Relationship Id="rId1" Type="http://schemas.openxmlformats.org/officeDocument/2006/relationships/package" Target="../embeddings/Microsoft_Excel_Sheet254.xlsx"/></Relationships>
</file>

<file path=ppt/charts/_rels/chart255.xml.rels><?xml version='1.0' encoding='UTF-8' standalone='yes'?>
<Relationships xmlns="http://schemas.openxmlformats.org/package/2006/relationships"><Relationship Id="rId1" Type="http://schemas.openxmlformats.org/officeDocument/2006/relationships/package" Target="../embeddings/Microsoft_Excel_Sheet255.xlsx"/></Relationships>
</file>

<file path=ppt/charts/_rels/chart256.xml.rels><?xml version='1.0' encoding='UTF-8' standalone='yes'?>
<Relationships xmlns="http://schemas.openxmlformats.org/package/2006/relationships"><Relationship Id="rId1" Type="http://schemas.openxmlformats.org/officeDocument/2006/relationships/package" Target="../embeddings/Microsoft_Excel_Sheet256.xlsx"/></Relationships>
</file>

<file path=ppt/charts/_rels/chart257.xml.rels><?xml version='1.0' encoding='UTF-8' standalone='yes'?>
<Relationships xmlns="http://schemas.openxmlformats.org/package/2006/relationships"><Relationship Id="rId1" Type="http://schemas.openxmlformats.org/officeDocument/2006/relationships/package" Target="../embeddings/Microsoft_Excel_Sheet257.xlsx"/></Relationships>
</file>

<file path=ppt/charts/_rels/chart258.xml.rels><?xml version='1.0' encoding='UTF-8' standalone='yes'?>
<Relationships xmlns="http://schemas.openxmlformats.org/package/2006/relationships"><Relationship Id="rId1" Type="http://schemas.openxmlformats.org/officeDocument/2006/relationships/package" Target="../embeddings/Microsoft_Excel_Sheet258.xlsx"/></Relationships>
</file>

<file path=ppt/charts/_rels/chart259.xml.rels><?xml version='1.0' encoding='UTF-8' standalone='yes'?>
<Relationships xmlns="http://schemas.openxmlformats.org/package/2006/relationships"><Relationship Id="rId1" Type="http://schemas.openxmlformats.org/officeDocument/2006/relationships/package" Target="../embeddings/Microsoft_Excel_Sheet259.xlsx"/></Relationships>
</file>

<file path=ppt/charts/_rels/chart260.xml.rels><?xml version='1.0' encoding='UTF-8' standalone='yes'?>
<Relationships xmlns="http://schemas.openxmlformats.org/package/2006/relationships"><Relationship Id="rId1" Type="http://schemas.openxmlformats.org/officeDocument/2006/relationships/package" Target="../embeddings/Microsoft_Excel_Sheet260.xlsx"/></Relationships>
</file>

<file path=ppt/charts/_rels/chart261.xml.rels><?xml version='1.0' encoding='UTF-8' standalone='yes'?>
<Relationships xmlns="http://schemas.openxmlformats.org/package/2006/relationships"><Relationship Id="rId1" Type="http://schemas.openxmlformats.org/officeDocument/2006/relationships/package" Target="../embeddings/Microsoft_Excel_Sheet261.xlsx"/></Relationships>
</file>

<file path=ppt/charts/_rels/chart262.xml.rels><?xml version='1.0' encoding='UTF-8' standalone='yes'?>
<Relationships xmlns="http://schemas.openxmlformats.org/package/2006/relationships"><Relationship Id="rId1" Type="http://schemas.openxmlformats.org/officeDocument/2006/relationships/package" Target="../embeddings/Microsoft_Excel_Sheet262.xlsx"/></Relationships>
</file>

<file path=ppt/charts/_rels/chart263.xml.rels><?xml version='1.0' encoding='UTF-8' standalone='yes'?>
<Relationships xmlns="http://schemas.openxmlformats.org/package/2006/relationships"><Relationship Id="rId1" Type="http://schemas.openxmlformats.org/officeDocument/2006/relationships/package" Target="../embeddings/Microsoft_Excel_Sheet263.xlsx"/></Relationships>
</file>

<file path=ppt/charts/_rels/chart264.xml.rels><?xml version='1.0' encoding='UTF-8' standalone='yes'?>
<Relationships xmlns="http://schemas.openxmlformats.org/package/2006/relationships"><Relationship Id="rId1" Type="http://schemas.openxmlformats.org/officeDocument/2006/relationships/package" Target="../embeddings/Microsoft_Excel_Sheet264.xlsx"/></Relationships>
</file>

<file path=ppt/charts/_rels/chart265.xml.rels><?xml version='1.0' encoding='UTF-8' standalone='yes'?>
<Relationships xmlns="http://schemas.openxmlformats.org/package/2006/relationships"><Relationship Id="rId1" Type="http://schemas.openxmlformats.org/officeDocument/2006/relationships/package" Target="../embeddings/Microsoft_Excel_Sheet265.xlsx"/></Relationships>
</file>

<file path=ppt/charts/_rels/chart266.xml.rels><?xml version='1.0' encoding='UTF-8' standalone='yes'?>
<Relationships xmlns="http://schemas.openxmlformats.org/package/2006/relationships"><Relationship Id="rId1" Type="http://schemas.openxmlformats.org/officeDocument/2006/relationships/package" Target="../embeddings/Microsoft_Excel_Sheet266.xlsx"/></Relationships>
</file>

<file path=ppt/charts/_rels/chart267.xml.rels><?xml version='1.0' encoding='UTF-8' standalone='yes'?>
<Relationships xmlns="http://schemas.openxmlformats.org/package/2006/relationships"><Relationship Id="rId1" Type="http://schemas.openxmlformats.org/officeDocument/2006/relationships/package" Target="../embeddings/Microsoft_Excel_Sheet267.xlsx"/></Relationships>
</file>

<file path=ppt/charts/_rels/chart268.xml.rels><?xml version='1.0' encoding='UTF-8' standalone='yes'?>
<Relationships xmlns="http://schemas.openxmlformats.org/package/2006/relationships"><Relationship Id="rId1" Type="http://schemas.openxmlformats.org/officeDocument/2006/relationships/package" Target="../embeddings/Microsoft_Excel_Sheet268.xlsx"/></Relationships>
</file>

<file path=ppt/charts/_rels/chart269.xml.rels><?xml version='1.0' encoding='UTF-8' standalone='yes'?>
<Relationships xmlns="http://schemas.openxmlformats.org/package/2006/relationships"><Relationship Id="rId1" Type="http://schemas.openxmlformats.org/officeDocument/2006/relationships/package" Target="../embeddings/Microsoft_Excel_Sheet269.xlsx"/></Relationships>
</file>

<file path=ppt/charts/_rels/chart270.xml.rels><?xml version='1.0' encoding='UTF-8' standalone='yes'?>
<Relationships xmlns="http://schemas.openxmlformats.org/package/2006/relationships"><Relationship Id="rId1" Type="http://schemas.openxmlformats.org/officeDocument/2006/relationships/package" Target="../embeddings/Microsoft_Excel_Sheet270.xlsx"/></Relationships>
</file>

<file path=ppt/charts/_rels/chart271.xml.rels><?xml version='1.0' encoding='UTF-8' standalone='yes'?>
<Relationships xmlns="http://schemas.openxmlformats.org/package/2006/relationships"><Relationship Id="rId1" Type="http://schemas.openxmlformats.org/officeDocument/2006/relationships/package" Target="../embeddings/Microsoft_Excel_Sheet271.xlsx"/></Relationships>
</file>

<file path=ppt/charts/_rels/chart272.xml.rels><?xml version='1.0' encoding='UTF-8' standalone='yes'?>
<Relationships xmlns="http://schemas.openxmlformats.org/package/2006/relationships"><Relationship Id="rId1" Type="http://schemas.openxmlformats.org/officeDocument/2006/relationships/package" Target="../embeddings/Microsoft_Excel_Sheet272.xlsx"/></Relationships>
</file>

<file path=ppt/charts/_rels/chart273.xml.rels><?xml version='1.0' encoding='UTF-8' standalone='yes'?>
<Relationships xmlns="http://schemas.openxmlformats.org/package/2006/relationships"><Relationship Id="rId1" Type="http://schemas.openxmlformats.org/officeDocument/2006/relationships/package" Target="../embeddings/Microsoft_Excel_Sheet273.xlsx"/></Relationships>
</file>

<file path=ppt/charts/_rels/chart274.xml.rels><?xml version='1.0' encoding='UTF-8' standalone='yes'?>
<Relationships xmlns="http://schemas.openxmlformats.org/package/2006/relationships"><Relationship Id="rId1" Type="http://schemas.openxmlformats.org/officeDocument/2006/relationships/package" Target="../embeddings/Microsoft_Excel_Sheet274.xlsx"/></Relationships>
</file>

<file path=ppt/charts/_rels/chart275.xml.rels><?xml version='1.0' encoding='UTF-8' standalone='yes'?>
<Relationships xmlns="http://schemas.openxmlformats.org/package/2006/relationships"><Relationship Id="rId1" Type="http://schemas.openxmlformats.org/officeDocument/2006/relationships/package" Target="../embeddings/Microsoft_Excel_Sheet275.xlsx"/></Relationships>
</file>

<file path=ppt/charts/_rels/chart276.xml.rels><?xml version='1.0' encoding='UTF-8' standalone='yes'?>
<Relationships xmlns="http://schemas.openxmlformats.org/package/2006/relationships"><Relationship Id="rId1" Type="http://schemas.openxmlformats.org/officeDocument/2006/relationships/package" Target="../embeddings/Microsoft_Excel_Sheet276.xlsx"/></Relationships>
</file>

<file path=ppt/charts/_rels/chart277.xml.rels><?xml version='1.0' encoding='UTF-8' standalone='yes'?>
<Relationships xmlns="http://schemas.openxmlformats.org/package/2006/relationships"><Relationship Id="rId1" Type="http://schemas.openxmlformats.org/officeDocument/2006/relationships/package" Target="../embeddings/Microsoft_Excel_Sheet277.xlsx"/></Relationships>
</file>

<file path=ppt/charts/_rels/chart278.xml.rels><?xml version='1.0' encoding='UTF-8' standalone='yes'?>
<Relationships xmlns="http://schemas.openxmlformats.org/package/2006/relationships"><Relationship Id="rId1" Type="http://schemas.openxmlformats.org/officeDocument/2006/relationships/package" Target="../embeddings/Microsoft_Excel_Sheet278.xlsx"/></Relationships>
</file>

<file path=ppt/charts/_rels/chart279.xml.rels><?xml version='1.0' encoding='UTF-8' standalone='yes'?>
<Relationships xmlns="http://schemas.openxmlformats.org/package/2006/relationships"><Relationship Id="rId1" Type="http://schemas.openxmlformats.org/officeDocument/2006/relationships/package" Target="../embeddings/Microsoft_Excel_Sheet279.xlsx"/></Relationships>
</file>

<file path=ppt/charts/_rels/chart280.xml.rels><?xml version='1.0' encoding='UTF-8' standalone='yes'?>
<Relationships xmlns="http://schemas.openxmlformats.org/package/2006/relationships"><Relationship Id="rId1" Type="http://schemas.openxmlformats.org/officeDocument/2006/relationships/package" Target="../embeddings/Microsoft_Excel_Sheet280.xlsx"/></Relationships>
</file>

<file path=ppt/charts/_rels/chart281.xml.rels><?xml version='1.0' encoding='UTF-8' standalone='yes'?>
<Relationships xmlns="http://schemas.openxmlformats.org/package/2006/relationships"><Relationship Id="rId1" Type="http://schemas.openxmlformats.org/officeDocument/2006/relationships/package" Target="../embeddings/Microsoft_Excel_Sheet281.xlsx"/></Relationships>
</file>

<file path=ppt/charts/_rels/chart282.xml.rels><?xml version='1.0' encoding='UTF-8' standalone='yes'?>
<Relationships xmlns="http://schemas.openxmlformats.org/package/2006/relationships"><Relationship Id="rId1" Type="http://schemas.openxmlformats.org/officeDocument/2006/relationships/package" Target="../embeddings/Microsoft_Excel_Sheet282.xlsx"/></Relationships>
</file>

<file path=ppt/charts/_rels/chart283.xml.rels><?xml version='1.0' encoding='UTF-8' standalone='yes'?>
<Relationships xmlns="http://schemas.openxmlformats.org/package/2006/relationships"><Relationship Id="rId1" Type="http://schemas.openxmlformats.org/officeDocument/2006/relationships/package" Target="../embeddings/Microsoft_Excel_Sheet283.xlsx"/></Relationships>
</file>

<file path=ppt/charts/_rels/chart284.xml.rels><?xml version='1.0' encoding='UTF-8' standalone='yes'?>
<Relationships xmlns="http://schemas.openxmlformats.org/package/2006/relationships"><Relationship Id="rId1" Type="http://schemas.openxmlformats.org/officeDocument/2006/relationships/package" Target="../embeddings/Microsoft_Excel_Sheet284.xlsx"/></Relationships>
</file>

<file path=ppt/charts/_rels/chart285.xml.rels><?xml version='1.0' encoding='UTF-8' standalone='yes'?>
<Relationships xmlns="http://schemas.openxmlformats.org/package/2006/relationships"><Relationship Id="rId1" Type="http://schemas.openxmlformats.org/officeDocument/2006/relationships/package" Target="../embeddings/Microsoft_Excel_Sheet285.xlsx"/></Relationships>
</file>

<file path=ppt/charts/_rels/chart286.xml.rels><?xml version='1.0' encoding='UTF-8' standalone='yes'?>
<Relationships xmlns="http://schemas.openxmlformats.org/package/2006/relationships"><Relationship Id="rId1" Type="http://schemas.openxmlformats.org/officeDocument/2006/relationships/package" Target="../embeddings/Microsoft_Excel_Sheet286.xlsx"/></Relationships>
</file>

<file path=ppt/charts/_rels/chart287.xml.rels><?xml version='1.0' encoding='UTF-8' standalone='yes'?>
<Relationships xmlns="http://schemas.openxmlformats.org/package/2006/relationships"><Relationship Id="rId1" Type="http://schemas.openxmlformats.org/officeDocument/2006/relationships/package" Target="../embeddings/Microsoft_Excel_Sheet287.xlsx"/></Relationships>
</file>

<file path=ppt/charts/_rels/chart288.xml.rels><?xml version='1.0' encoding='UTF-8' standalone='yes'?>
<Relationships xmlns="http://schemas.openxmlformats.org/package/2006/relationships"><Relationship Id="rId1" Type="http://schemas.openxmlformats.org/officeDocument/2006/relationships/package" Target="../embeddings/Microsoft_Excel_Sheet288.xlsx"/></Relationships>
</file>

<file path=ppt/charts/_rels/chart289.xml.rels><?xml version='1.0' encoding='UTF-8' standalone='yes'?>
<Relationships xmlns="http://schemas.openxmlformats.org/package/2006/relationships"><Relationship Id="rId1" Type="http://schemas.openxmlformats.org/officeDocument/2006/relationships/package" Target="../embeddings/Microsoft_Excel_Sheet289.xlsx"/></Relationships>
</file>

<file path=ppt/charts/_rels/chart290.xml.rels><?xml version='1.0' encoding='UTF-8' standalone='yes'?>
<Relationships xmlns="http://schemas.openxmlformats.org/package/2006/relationships"><Relationship Id="rId1" Type="http://schemas.openxmlformats.org/officeDocument/2006/relationships/package" Target="../embeddings/Microsoft_Excel_Sheet290.xlsx"/></Relationships>
</file>

<file path=ppt/charts/_rels/chart291.xml.rels><?xml version='1.0' encoding='UTF-8' standalone='yes'?>
<Relationships xmlns="http://schemas.openxmlformats.org/package/2006/relationships"><Relationship Id="rId1" Type="http://schemas.openxmlformats.org/officeDocument/2006/relationships/package" Target="../embeddings/Microsoft_Excel_Sheet291.xlsx"/></Relationships>
</file>

<file path=ppt/charts/_rels/chart292.xml.rels><?xml version='1.0' encoding='UTF-8' standalone='yes'?>
<Relationships xmlns="http://schemas.openxmlformats.org/package/2006/relationships"><Relationship Id="rId1" Type="http://schemas.openxmlformats.org/officeDocument/2006/relationships/package" Target="../embeddings/Microsoft_Excel_Sheet292.xlsx"/></Relationships>
</file>

<file path=ppt/charts/_rels/chart293.xml.rels><?xml version='1.0' encoding='UTF-8' standalone='yes'?>
<Relationships xmlns="http://schemas.openxmlformats.org/package/2006/relationships"><Relationship Id="rId1" Type="http://schemas.openxmlformats.org/officeDocument/2006/relationships/package" Target="../embeddings/Microsoft_Excel_Sheet293.xlsx"/></Relationships>
</file>

<file path=ppt/charts/_rels/chart294.xml.rels><?xml version='1.0' encoding='UTF-8' standalone='yes'?>
<Relationships xmlns="http://schemas.openxmlformats.org/package/2006/relationships"><Relationship Id="rId1" Type="http://schemas.openxmlformats.org/officeDocument/2006/relationships/package" Target="../embeddings/Microsoft_Excel_Sheet294.xlsx"/></Relationships>
</file>

<file path=ppt/charts/_rels/chart295.xml.rels><?xml version='1.0' encoding='UTF-8' standalone='yes'?>
<Relationships xmlns="http://schemas.openxmlformats.org/package/2006/relationships"><Relationship Id="rId1" Type="http://schemas.openxmlformats.org/officeDocument/2006/relationships/package" Target="../embeddings/Microsoft_Excel_Sheet295.xlsx"/></Relationships>
</file>

<file path=ppt/charts/_rels/chart296.xml.rels><?xml version='1.0' encoding='UTF-8' standalone='yes'?>
<Relationships xmlns="http://schemas.openxmlformats.org/package/2006/relationships"><Relationship Id="rId1" Type="http://schemas.openxmlformats.org/officeDocument/2006/relationships/package" Target="../embeddings/Microsoft_Excel_Sheet296.xlsx"/></Relationships>
</file>

<file path=ppt/charts/_rels/chart297.xml.rels><?xml version='1.0' encoding='UTF-8' standalone='yes'?>
<Relationships xmlns="http://schemas.openxmlformats.org/package/2006/relationships"><Relationship Id="rId1" Type="http://schemas.openxmlformats.org/officeDocument/2006/relationships/package" Target="../embeddings/Microsoft_Excel_Sheet297.xlsx"/></Relationships>
</file>

<file path=ppt/charts/_rels/chart298.xml.rels><?xml version='1.0' encoding='UTF-8' standalone='yes'?>
<Relationships xmlns="http://schemas.openxmlformats.org/package/2006/relationships"><Relationship Id="rId1" Type="http://schemas.openxmlformats.org/officeDocument/2006/relationships/package" Target="../embeddings/Microsoft_Excel_Sheet298.xlsx"/></Relationships>
</file>

<file path=ppt/charts/_rels/chart299.xml.rels><?xml version='1.0' encoding='UTF-8' standalone='yes'?>
<Relationships xmlns="http://schemas.openxmlformats.org/package/2006/relationships"><Relationship Id="rId1" Type="http://schemas.openxmlformats.org/officeDocument/2006/relationships/package" Target="../embeddings/Microsoft_Excel_Sheet299.xlsx"/></Relationships>
</file>

<file path=ppt/charts/_rels/chart300.xml.rels><?xml version='1.0' encoding='UTF-8' standalone='yes'?>
<Relationships xmlns="http://schemas.openxmlformats.org/package/2006/relationships"><Relationship Id="rId1" Type="http://schemas.openxmlformats.org/officeDocument/2006/relationships/package" Target="../embeddings/Microsoft_Excel_Sheet300.xlsx"/></Relationships>
</file>

<file path=ppt/charts/_rels/chart301.xml.rels><?xml version='1.0' encoding='UTF-8' standalone='yes'?>
<Relationships xmlns="http://schemas.openxmlformats.org/package/2006/relationships"><Relationship Id="rId1" Type="http://schemas.openxmlformats.org/officeDocument/2006/relationships/package" Target="../embeddings/Microsoft_Excel_Sheet301.xlsx"/></Relationships>
</file>

<file path=ppt/charts/_rels/chart302.xml.rels><?xml version='1.0' encoding='UTF-8' standalone='yes'?>
<Relationships xmlns="http://schemas.openxmlformats.org/package/2006/relationships"><Relationship Id="rId1" Type="http://schemas.openxmlformats.org/officeDocument/2006/relationships/package" Target="../embeddings/Microsoft_Excel_Sheet302.xlsx"/></Relationships>
</file>

<file path=ppt/charts/_rels/chart303.xml.rels><?xml version='1.0' encoding='UTF-8' standalone='yes'?>
<Relationships xmlns="http://schemas.openxmlformats.org/package/2006/relationships"><Relationship Id="rId1" Type="http://schemas.openxmlformats.org/officeDocument/2006/relationships/package" Target="../embeddings/Microsoft_Excel_Sheet303.xlsx"/></Relationships>
</file>

<file path=ppt/charts/_rels/chart304.xml.rels><?xml version='1.0' encoding='UTF-8' standalone='yes'?>
<Relationships xmlns="http://schemas.openxmlformats.org/package/2006/relationships"><Relationship Id="rId1" Type="http://schemas.openxmlformats.org/officeDocument/2006/relationships/package" Target="../embeddings/Microsoft_Excel_Sheet304.xlsx"/></Relationships>
</file>

<file path=ppt/charts/_rels/chart305.xml.rels><?xml version='1.0' encoding='UTF-8' standalone='yes'?>
<Relationships xmlns="http://schemas.openxmlformats.org/package/2006/relationships"><Relationship Id="rId1" Type="http://schemas.openxmlformats.org/officeDocument/2006/relationships/package" Target="../embeddings/Microsoft_Excel_Sheet305.xlsx"/></Relationships>
</file>

<file path=ppt/charts/_rels/chart306.xml.rels><?xml version='1.0' encoding='UTF-8' standalone='yes'?>
<Relationships xmlns="http://schemas.openxmlformats.org/package/2006/relationships"><Relationship Id="rId1" Type="http://schemas.openxmlformats.org/officeDocument/2006/relationships/package" Target="../embeddings/Microsoft_Excel_Sheet306.xlsx"/></Relationships>
</file>

<file path=ppt/charts/_rels/chart307.xml.rels><?xml version='1.0' encoding='UTF-8' standalone='yes'?>
<Relationships xmlns="http://schemas.openxmlformats.org/package/2006/relationships"><Relationship Id="rId1" Type="http://schemas.openxmlformats.org/officeDocument/2006/relationships/package" Target="../embeddings/Microsoft_Excel_Sheet307.xlsx"/></Relationships>
</file>

<file path=ppt/charts/_rels/chart308.xml.rels><?xml version='1.0' encoding='UTF-8' standalone='yes'?>
<Relationships xmlns="http://schemas.openxmlformats.org/package/2006/relationships"><Relationship Id="rId1" Type="http://schemas.openxmlformats.org/officeDocument/2006/relationships/package" Target="../embeddings/Microsoft_Excel_Sheet308.xlsx"/></Relationships>
</file>

<file path=ppt/charts/_rels/chart309.xml.rels><?xml version='1.0' encoding='UTF-8' standalone='yes'?>
<Relationships xmlns="http://schemas.openxmlformats.org/package/2006/relationships"><Relationship Id="rId1" Type="http://schemas.openxmlformats.org/officeDocument/2006/relationships/package" Target="../embeddings/Microsoft_Excel_Sheet309.xlsx"/></Relationships>
</file>

<file path=ppt/charts/_rels/chart310.xml.rels><?xml version='1.0' encoding='UTF-8' standalone='yes'?>
<Relationships xmlns="http://schemas.openxmlformats.org/package/2006/relationships"><Relationship Id="rId1" Type="http://schemas.openxmlformats.org/officeDocument/2006/relationships/package" Target="../embeddings/Microsoft_Excel_Sheet310.xlsx"/></Relationships>
</file>

<file path=ppt/charts/_rels/chart311.xml.rels><?xml version='1.0' encoding='UTF-8' standalone='yes'?>
<Relationships xmlns="http://schemas.openxmlformats.org/package/2006/relationships"><Relationship Id="rId1" Type="http://schemas.openxmlformats.org/officeDocument/2006/relationships/package" Target="../embeddings/Microsoft_Excel_Sheet311.xlsx"/></Relationships>
</file>

<file path=ppt/charts/_rels/chart312.xml.rels><?xml version='1.0' encoding='UTF-8' standalone='yes'?>
<Relationships xmlns="http://schemas.openxmlformats.org/package/2006/relationships"><Relationship Id="rId1" Type="http://schemas.openxmlformats.org/officeDocument/2006/relationships/package" Target="../embeddings/Microsoft_Excel_Sheet312.xlsx"/></Relationships>
</file>

<file path=ppt/charts/_rels/chart313.xml.rels><?xml version='1.0' encoding='UTF-8' standalone='yes'?>
<Relationships xmlns="http://schemas.openxmlformats.org/package/2006/relationships"><Relationship Id="rId1" Type="http://schemas.openxmlformats.org/officeDocument/2006/relationships/package" Target="../embeddings/Microsoft_Excel_Sheet313.xlsx"/></Relationships>
</file>

<file path=ppt/charts/_rels/chart314.xml.rels><?xml version='1.0' encoding='UTF-8' standalone='yes'?>
<Relationships xmlns="http://schemas.openxmlformats.org/package/2006/relationships"><Relationship Id="rId1" Type="http://schemas.openxmlformats.org/officeDocument/2006/relationships/package" Target="../embeddings/Microsoft_Excel_Sheet314.xlsx"/></Relationships>
</file>

<file path=ppt/charts/_rels/chart315.xml.rels><?xml version='1.0' encoding='UTF-8' standalone='yes'?>
<Relationships xmlns="http://schemas.openxmlformats.org/package/2006/relationships"><Relationship Id="rId1" Type="http://schemas.openxmlformats.org/officeDocument/2006/relationships/package" Target="../embeddings/Microsoft_Excel_Sheet315.xlsx"/></Relationships>
</file>

<file path=ppt/charts/_rels/chart316.xml.rels><?xml version='1.0' encoding='UTF-8' standalone='yes'?>
<Relationships xmlns="http://schemas.openxmlformats.org/package/2006/relationships"><Relationship Id="rId1" Type="http://schemas.openxmlformats.org/officeDocument/2006/relationships/package" Target="../embeddings/Microsoft_Excel_Sheet316.xlsx"/></Relationships>
</file>

<file path=ppt/charts/_rels/chart317.xml.rels><?xml version='1.0' encoding='UTF-8' standalone='yes'?>
<Relationships xmlns="http://schemas.openxmlformats.org/package/2006/relationships"><Relationship Id="rId1" Type="http://schemas.openxmlformats.org/officeDocument/2006/relationships/package" Target="../embeddings/Microsoft_Excel_Sheet317.xlsx"/></Relationships>
</file>

<file path=ppt/charts/_rels/chart318.xml.rels><?xml version='1.0' encoding='UTF-8' standalone='yes'?>
<Relationships xmlns="http://schemas.openxmlformats.org/package/2006/relationships"><Relationship Id="rId1" Type="http://schemas.openxmlformats.org/officeDocument/2006/relationships/package" Target="../embeddings/Microsoft_Excel_Sheet318.xlsx"/></Relationships>
</file>

<file path=ppt/charts/_rels/chart319.xml.rels><?xml version='1.0' encoding='UTF-8' standalone='yes'?>
<Relationships xmlns="http://schemas.openxmlformats.org/package/2006/relationships"><Relationship Id="rId1" Type="http://schemas.openxmlformats.org/officeDocument/2006/relationships/package" Target="../embeddings/Microsoft_Excel_Sheet319.xlsx"/></Relationships>
</file>

<file path=ppt/charts/_rels/chart320.xml.rels><?xml version='1.0' encoding='UTF-8' standalone='yes'?>
<Relationships xmlns="http://schemas.openxmlformats.org/package/2006/relationships"><Relationship Id="rId1" Type="http://schemas.openxmlformats.org/officeDocument/2006/relationships/package" Target="../embeddings/Microsoft_Excel_Sheet320.xlsx"/></Relationships>
</file>

<file path=ppt/charts/_rels/chart321.xml.rels><?xml version='1.0' encoding='UTF-8' standalone='yes'?>
<Relationships xmlns="http://schemas.openxmlformats.org/package/2006/relationships"><Relationship Id="rId1" Type="http://schemas.openxmlformats.org/officeDocument/2006/relationships/package" Target="../embeddings/Microsoft_Excel_Sheet321.xlsx"/></Relationships>
</file>

<file path=ppt/charts/_rels/chart322.xml.rels><?xml version='1.0' encoding='UTF-8' standalone='yes'?>
<Relationships xmlns="http://schemas.openxmlformats.org/package/2006/relationships"><Relationship Id="rId1" Type="http://schemas.openxmlformats.org/officeDocument/2006/relationships/package" Target="../embeddings/Microsoft_Excel_Sheet322.xlsx"/></Relationships>
</file>

<file path=ppt/charts/_rels/chart323.xml.rels><?xml version='1.0' encoding='UTF-8' standalone='yes'?>
<Relationships xmlns="http://schemas.openxmlformats.org/package/2006/relationships"><Relationship Id="rId1" Type="http://schemas.openxmlformats.org/officeDocument/2006/relationships/package" Target="../embeddings/Microsoft_Excel_Sheet323.xlsx"/></Relationships>
</file>

<file path=ppt/charts/_rels/chart324.xml.rels><?xml version='1.0' encoding='UTF-8' standalone='yes'?>
<Relationships xmlns="http://schemas.openxmlformats.org/package/2006/relationships"><Relationship Id="rId1" Type="http://schemas.openxmlformats.org/officeDocument/2006/relationships/package" Target="../embeddings/Microsoft_Excel_Sheet324.xlsx"/></Relationships>
</file>

<file path=ppt/charts/_rels/chart325.xml.rels><?xml version='1.0' encoding='UTF-8' standalone='yes'?>
<Relationships xmlns="http://schemas.openxmlformats.org/package/2006/relationships"><Relationship Id="rId1" Type="http://schemas.openxmlformats.org/officeDocument/2006/relationships/package" Target="../embeddings/Microsoft_Excel_Sheet325.xlsx"/></Relationships>
</file>

<file path=ppt/charts/_rels/chart326.xml.rels><?xml version='1.0' encoding='UTF-8' standalone='yes'?>
<Relationships xmlns="http://schemas.openxmlformats.org/package/2006/relationships"><Relationship Id="rId1" Type="http://schemas.openxmlformats.org/officeDocument/2006/relationships/package" Target="../embeddings/Microsoft_Excel_Sheet326.xlsx"/></Relationships>
</file>

<file path=ppt/charts/_rels/chart327.xml.rels><?xml version='1.0' encoding='UTF-8' standalone='yes'?>
<Relationships xmlns="http://schemas.openxmlformats.org/package/2006/relationships"><Relationship Id="rId1" Type="http://schemas.openxmlformats.org/officeDocument/2006/relationships/package" Target="../embeddings/Microsoft_Excel_Sheet327.xlsx"/></Relationships>
</file>

<file path=ppt/charts/_rels/chart328.xml.rels><?xml version='1.0' encoding='UTF-8' standalone='yes'?>
<Relationships xmlns="http://schemas.openxmlformats.org/package/2006/relationships"><Relationship Id="rId1" Type="http://schemas.openxmlformats.org/officeDocument/2006/relationships/package" Target="../embeddings/Microsoft_Excel_Sheet328.xlsx"/></Relationships>
</file>

<file path=ppt/charts/_rels/chart329.xml.rels><?xml version='1.0' encoding='UTF-8' standalone='yes'?>
<Relationships xmlns="http://schemas.openxmlformats.org/package/2006/relationships"><Relationship Id="rId1" Type="http://schemas.openxmlformats.org/officeDocument/2006/relationships/package" Target="../embeddings/Microsoft_Excel_Sheet329.xlsx"/></Relationships>
</file>

<file path=ppt/charts/_rels/chart330.xml.rels><?xml version='1.0' encoding='UTF-8' standalone='yes'?>
<Relationships xmlns="http://schemas.openxmlformats.org/package/2006/relationships"><Relationship Id="rId1" Type="http://schemas.openxmlformats.org/officeDocument/2006/relationships/package" Target="../embeddings/Microsoft_Excel_Sheet330.xlsx"/></Relationships>
</file>

<file path=ppt/charts/_rels/chart331.xml.rels><?xml version='1.0' encoding='UTF-8' standalone='yes'?>
<Relationships xmlns="http://schemas.openxmlformats.org/package/2006/relationships"><Relationship Id="rId1" Type="http://schemas.openxmlformats.org/officeDocument/2006/relationships/package" Target="../embeddings/Microsoft_Excel_Sheet331.xlsx"/></Relationships>
</file>

<file path=ppt/charts/_rels/chart332.xml.rels><?xml version='1.0' encoding='UTF-8' standalone='yes'?>
<Relationships xmlns="http://schemas.openxmlformats.org/package/2006/relationships"><Relationship Id="rId1" Type="http://schemas.openxmlformats.org/officeDocument/2006/relationships/package" Target="../embeddings/Microsoft_Excel_Sheet332.xlsx"/></Relationships>
</file>

<file path=ppt/charts/_rels/chart333.xml.rels><?xml version='1.0' encoding='UTF-8' standalone='yes'?>
<Relationships xmlns="http://schemas.openxmlformats.org/package/2006/relationships"><Relationship Id="rId1" Type="http://schemas.openxmlformats.org/officeDocument/2006/relationships/package" Target="../embeddings/Microsoft_Excel_Sheet333.xlsx"/></Relationships>
</file>

<file path=ppt/charts/_rels/chart334.xml.rels><?xml version='1.0' encoding='UTF-8' standalone='yes'?>
<Relationships xmlns="http://schemas.openxmlformats.org/package/2006/relationships"><Relationship Id="rId1" Type="http://schemas.openxmlformats.org/officeDocument/2006/relationships/package" Target="../embeddings/Microsoft_Excel_Sheet334.xlsx"/></Relationships>
</file>

<file path=ppt/charts/_rels/chart335.xml.rels><?xml version='1.0' encoding='UTF-8' standalone='yes'?>
<Relationships xmlns="http://schemas.openxmlformats.org/package/2006/relationships"><Relationship Id="rId1" Type="http://schemas.openxmlformats.org/officeDocument/2006/relationships/package" Target="../embeddings/Microsoft_Excel_Sheet335.xlsx"/></Relationships>
</file>

<file path=ppt/charts/_rels/chart336.xml.rels><?xml version='1.0' encoding='UTF-8' standalone='yes'?>
<Relationships xmlns="http://schemas.openxmlformats.org/package/2006/relationships"><Relationship Id="rId1" Type="http://schemas.openxmlformats.org/officeDocument/2006/relationships/package" Target="../embeddings/Microsoft_Excel_Sheet336.xlsx"/></Relationships>
</file>

<file path=ppt/charts/_rels/chart337.xml.rels><?xml version='1.0' encoding='UTF-8' standalone='yes'?>
<Relationships xmlns="http://schemas.openxmlformats.org/package/2006/relationships"><Relationship Id="rId1" Type="http://schemas.openxmlformats.org/officeDocument/2006/relationships/package" Target="../embeddings/Microsoft_Excel_Sheet337.xlsx"/></Relationships>
</file>

<file path=ppt/charts/_rels/chart338.xml.rels><?xml version='1.0' encoding='UTF-8' standalone='yes'?>
<Relationships xmlns="http://schemas.openxmlformats.org/package/2006/relationships"><Relationship Id="rId1" Type="http://schemas.openxmlformats.org/officeDocument/2006/relationships/package" Target="../embeddings/Microsoft_Excel_Sheet338.xlsx"/></Relationships>
</file>

<file path=ppt/charts/_rels/chart339.xml.rels><?xml version='1.0' encoding='UTF-8' standalone='yes'?>
<Relationships xmlns="http://schemas.openxmlformats.org/package/2006/relationships"><Relationship Id="rId1" Type="http://schemas.openxmlformats.org/officeDocument/2006/relationships/package" Target="../embeddings/Microsoft_Excel_Sheet339.xlsx"/></Relationships>
</file>

<file path=ppt/charts/_rels/chart340.xml.rels><?xml version='1.0' encoding='UTF-8' standalone='yes'?>
<Relationships xmlns="http://schemas.openxmlformats.org/package/2006/relationships"><Relationship Id="rId1" Type="http://schemas.openxmlformats.org/officeDocument/2006/relationships/package" Target="../embeddings/Microsoft_Excel_Sheet340.xlsx"/></Relationships>
</file>

<file path=ppt/charts/_rels/chart341.xml.rels><?xml version='1.0' encoding='UTF-8' standalone='yes'?>
<Relationships xmlns="http://schemas.openxmlformats.org/package/2006/relationships"><Relationship Id="rId1" Type="http://schemas.openxmlformats.org/officeDocument/2006/relationships/package" Target="../embeddings/Microsoft_Excel_Sheet341.xlsx"/></Relationships>
</file>

<file path=ppt/charts/_rels/chart342.xml.rels><?xml version='1.0' encoding='UTF-8' standalone='yes'?>
<Relationships xmlns="http://schemas.openxmlformats.org/package/2006/relationships"><Relationship Id="rId1" Type="http://schemas.openxmlformats.org/officeDocument/2006/relationships/package" Target="../embeddings/Microsoft_Excel_Sheet342.xlsx"/></Relationships>
</file>

<file path=ppt/charts/_rels/chart343.xml.rels><?xml version='1.0' encoding='UTF-8' standalone='yes'?>
<Relationships xmlns="http://schemas.openxmlformats.org/package/2006/relationships"><Relationship Id="rId1" Type="http://schemas.openxmlformats.org/officeDocument/2006/relationships/package" Target="../embeddings/Microsoft_Excel_Sheet343.xlsx"/></Relationships>
</file>

<file path=ppt/charts/_rels/chart344.xml.rels><?xml version='1.0' encoding='UTF-8' standalone='yes'?>
<Relationships xmlns="http://schemas.openxmlformats.org/package/2006/relationships"><Relationship Id="rId1" Type="http://schemas.openxmlformats.org/officeDocument/2006/relationships/package" Target="../embeddings/Microsoft_Excel_Sheet344.xlsx"/></Relationships>
</file>

<file path=ppt/charts/_rels/chart345.xml.rels><?xml version='1.0' encoding='UTF-8' standalone='yes'?>
<Relationships xmlns="http://schemas.openxmlformats.org/package/2006/relationships"><Relationship Id="rId1" Type="http://schemas.openxmlformats.org/officeDocument/2006/relationships/package" Target="../embeddings/Microsoft_Excel_Sheet345.xlsx"/></Relationships>
</file>

<file path=ppt/charts/_rels/chart346.xml.rels><?xml version='1.0' encoding='UTF-8' standalone='yes'?>
<Relationships xmlns="http://schemas.openxmlformats.org/package/2006/relationships"><Relationship Id="rId1" Type="http://schemas.openxmlformats.org/officeDocument/2006/relationships/package" Target="../embeddings/Microsoft_Excel_Sheet346.xlsx"/></Relationships>
</file>

<file path=ppt/charts/_rels/chart347.xml.rels><?xml version='1.0' encoding='UTF-8' standalone='yes'?>
<Relationships xmlns="http://schemas.openxmlformats.org/package/2006/relationships"><Relationship Id="rId1" Type="http://schemas.openxmlformats.org/officeDocument/2006/relationships/package" Target="../embeddings/Microsoft_Excel_Sheet347.xlsx"/></Relationships>
</file>

<file path=ppt/charts/_rels/chart348.xml.rels><?xml version='1.0' encoding='UTF-8' standalone='yes'?>
<Relationships xmlns="http://schemas.openxmlformats.org/package/2006/relationships"><Relationship Id="rId1" Type="http://schemas.openxmlformats.org/officeDocument/2006/relationships/package" Target="../embeddings/Microsoft_Excel_Sheet348.xlsx"/></Relationships>
</file>

<file path=ppt/charts/_rels/chart349.xml.rels><?xml version='1.0' encoding='UTF-8' standalone='yes'?>
<Relationships xmlns="http://schemas.openxmlformats.org/package/2006/relationships"><Relationship Id="rId1" Type="http://schemas.openxmlformats.org/officeDocument/2006/relationships/package" Target="../embeddings/Microsoft_Excel_Sheet349.xlsx"/></Relationships>
</file>

<file path=ppt/charts/_rels/chart350.xml.rels><?xml version='1.0' encoding='UTF-8' standalone='yes'?>
<Relationships xmlns="http://schemas.openxmlformats.org/package/2006/relationships"><Relationship Id="rId1" Type="http://schemas.openxmlformats.org/officeDocument/2006/relationships/package" Target="../embeddings/Microsoft_Excel_Sheet350.xlsx"/></Relationships>
</file>

<file path=ppt/charts/_rels/chart351.xml.rels><?xml version='1.0' encoding='UTF-8' standalone='yes'?>
<Relationships xmlns="http://schemas.openxmlformats.org/package/2006/relationships"><Relationship Id="rId1" Type="http://schemas.openxmlformats.org/officeDocument/2006/relationships/package" Target="../embeddings/Microsoft_Excel_Sheet351.xlsx"/></Relationships>
</file>

<file path=ppt/charts/_rels/chart352.xml.rels><?xml version='1.0' encoding='UTF-8' standalone='yes'?>
<Relationships xmlns="http://schemas.openxmlformats.org/package/2006/relationships"><Relationship Id="rId1" Type="http://schemas.openxmlformats.org/officeDocument/2006/relationships/package" Target="../embeddings/Microsoft_Excel_Sheet352.xlsx"/></Relationships>
</file>

<file path=ppt/charts/_rels/chart353.xml.rels><?xml version='1.0' encoding='UTF-8' standalone='yes'?>
<Relationships xmlns="http://schemas.openxmlformats.org/package/2006/relationships"><Relationship Id="rId1" Type="http://schemas.openxmlformats.org/officeDocument/2006/relationships/package" Target="../embeddings/Microsoft_Excel_Sheet353.xlsx"/></Relationships>
</file>

<file path=ppt/charts/_rels/chart354.xml.rels><?xml version='1.0' encoding='UTF-8' standalone='yes'?>
<Relationships xmlns="http://schemas.openxmlformats.org/package/2006/relationships"><Relationship Id="rId1" Type="http://schemas.openxmlformats.org/officeDocument/2006/relationships/package" Target="../embeddings/Microsoft_Excel_Sheet354.xlsx"/></Relationships>
</file>

<file path=ppt/charts/_rels/chart355.xml.rels><?xml version='1.0' encoding='UTF-8' standalone='yes'?>
<Relationships xmlns="http://schemas.openxmlformats.org/package/2006/relationships"><Relationship Id="rId1" Type="http://schemas.openxmlformats.org/officeDocument/2006/relationships/package" Target="../embeddings/Microsoft_Excel_Sheet355.xlsx"/></Relationships>
</file>

<file path=ppt/charts/_rels/chart356.xml.rels><?xml version='1.0' encoding='UTF-8' standalone='yes'?>
<Relationships xmlns="http://schemas.openxmlformats.org/package/2006/relationships"><Relationship Id="rId1" Type="http://schemas.openxmlformats.org/officeDocument/2006/relationships/package" Target="../embeddings/Microsoft_Excel_Sheet356.xlsx"/></Relationships>
</file>

<file path=ppt/charts/_rels/chart357.xml.rels><?xml version='1.0' encoding='UTF-8' standalone='yes'?>
<Relationships xmlns="http://schemas.openxmlformats.org/package/2006/relationships"><Relationship Id="rId1" Type="http://schemas.openxmlformats.org/officeDocument/2006/relationships/package" Target="../embeddings/Microsoft_Excel_Sheet357.xlsx"/></Relationships>
</file>

<file path=ppt/charts/_rels/chart358.xml.rels><?xml version='1.0' encoding='UTF-8' standalone='yes'?>
<Relationships xmlns="http://schemas.openxmlformats.org/package/2006/relationships"><Relationship Id="rId1" Type="http://schemas.openxmlformats.org/officeDocument/2006/relationships/package" Target="../embeddings/Microsoft_Excel_Sheet358.xlsx"/></Relationships>
</file>

<file path=ppt/charts/_rels/chart359.xml.rels><?xml version='1.0' encoding='UTF-8' standalone='yes'?>
<Relationships xmlns="http://schemas.openxmlformats.org/package/2006/relationships"><Relationship Id="rId1" Type="http://schemas.openxmlformats.org/officeDocument/2006/relationships/package" Target="../embeddings/Microsoft_Excel_Sheet359.xlsx"/></Relationships>
</file>

<file path=ppt/charts/_rels/chart360.xml.rels><?xml version='1.0' encoding='UTF-8' standalone='yes'?>
<Relationships xmlns="http://schemas.openxmlformats.org/package/2006/relationships"><Relationship Id="rId1" Type="http://schemas.openxmlformats.org/officeDocument/2006/relationships/package" Target="../embeddings/Microsoft_Excel_Sheet360.xlsx"/></Relationships>
</file>

<file path=ppt/charts/_rels/chart361.xml.rels><?xml version='1.0' encoding='UTF-8' standalone='yes'?>
<Relationships xmlns="http://schemas.openxmlformats.org/package/2006/relationships"><Relationship Id="rId1" Type="http://schemas.openxmlformats.org/officeDocument/2006/relationships/package" Target="../embeddings/Microsoft_Excel_Sheet361.xlsx"/></Relationships>
</file>

<file path=ppt/charts/_rels/chart362.xml.rels><?xml version='1.0' encoding='UTF-8' standalone='yes'?>
<Relationships xmlns="http://schemas.openxmlformats.org/package/2006/relationships"><Relationship Id="rId1" Type="http://schemas.openxmlformats.org/officeDocument/2006/relationships/package" Target="../embeddings/Microsoft_Excel_Sheet362.xlsx"/></Relationships>
</file>

<file path=ppt/charts/_rels/chart363.xml.rels><?xml version='1.0' encoding='UTF-8' standalone='yes'?>
<Relationships xmlns="http://schemas.openxmlformats.org/package/2006/relationships"><Relationship Id="rId1" Type="http://schemas.openxmlformats.org/officeDocument/2006/relationships/package" Target="../embeddings/Microsoft_Excel_Sheet363.xlsx"/></Relationships>
</file>

<file path=ppt/charts/_rels/chart364.xml.rels><?xml version='1.0' encoding='UTF-8' standalone='yes'?>
<Relationships xmlns="http://schemas.openxmlformats.org/package/2006/relationships"><Relationship Id="rId1" Type="http://schemas.openxmlformats.org/officeDocument/2006/relationships/package" Target="../embeddings/Microsoft_Excel_Sheet364.xlsx"/></Relationships>
</file>

<file path=ppt/charts/_rels/chart365.xml.rels><?xml version='1.0' encoding='UTF-8' standalone='yes'?>
<Relationships xmlns="http://schemas.openxmlformats.org/package/2006/relationships"><Relationship Id="rId1" Type="http://schemas.openxmlformats.org/officeDocument/2006/relationships/package" Target="../embeddings/Microsoft_Excel_Sheet365.xlsx"/></Relationships>
</file>

<file path=ppt/charts/_rels/chart366.xml.rels><?xml version='1.0' encoding='UTF-8' standalone='yes'?>
<Relationships xmlns="http://schemas.openxmlformats.org/package/2006/relationships"><Relationship Id="rId1" Type="http://schemas.openxmlformats.org/officeDocument/2006/relationships/package" Target="../embeddings/Microsoft_Excel_Sheet366.xlsx"/></Relationships>
</file>

<file path=ppt/charts/_rels/chart367.xml.rels><?xml version='1.0' encoding='UTF-8' standalone='yes'?>
<Relationships xmlns="http://schemas.openxmlformats.org/package/2006/relationships"><Relationship Id="rId1" Type="http://schemas.openxmlformats.org/officeDocument/2006/relationships/package" Target="../embeddings/Microsoft_Excel_Sheet367.xlsx"/></Relationships>
</file>

<file path=ppt/charts/_rels/chart368.xml.rels><?xml version='1.0' encoding='UTF-8' standalone='yes'?>
<Relationships xmlns="http://schemas.openxmlformats.org/package/2006/relationships"><Relationship Id="rId1" Type="http://schemas.openxmlformats.org/officeDocument/2006/relationships/package" Target="../embeddings/Microsoft_Excel_Sheet368.xlsx"/></Relationships>
</file>

<file path=ppt/charts/_rels/chart369.xml.rels><?xml version='1.0' encoding='UTF-8' standalone='yes'?>
<Relationships xmlns="http://schemas.openxmlformats.org/package/2006/relationships"><Relationship Id="rId1" Type="http://schemas.openxmlformats.org/officeDocument/2006/relationships/package" Target="../embeddings/Microsoft_Excel_Sheet369.xlsx"/></Relationships>
</file>

<file path=ppt/charts/_rels/chart370.xml.rels><?xml version='1.0' encoding='UTF-8' standalone='yes'?>
<Relationships xmlns="http://schemas.openxmlformats.org/package/2006/relationships"><Relationship Id="rId1" Type="http://schemas.openxmlformats.org/officeDocument/2006/relationships/package" Target="../embeddings/Microsoft_Excel_Sheet370.xlsx"/></Relationships>
</file>

<file path=ppt/charts/_rels/chart371.xml.rels><?xml version='1.0' encoding='UTF-8' standalone='yes'?>
<Relationships xmlns="http://schemas.openxmlformats.org/package/2006/relationships"><Relationship Id="rId1" Type="http://schemas.openxmlformats.org/officeDocument/2006/relationships/package" Target="../embeddings/Microsoft_Excel_Sheet371.xlsx"/></Relationships>
</file>

<file path=ppt/charts/_rels/chart372.xml.rels><?xml version='1.0' encoding='UTF-8' standalone='yes'?>
<Relationships xmlns="http://schemas.openxmlformats.org/package/2006/relationships"><Relationship Id="rId1" Type="http://schemas.openxmlformats.org/officeDocument/2006/relationships/package" Target="../embeddings/Microsoft_Excel_Sheet372.xlsx"/></Relationships>
</file>

<file path=ppt/charts/_rels/chart373.xml.rels><?xml version='1.0' encoding='UTF-8' standalone='yes'?>
<Relationships xmlns="http://schemas.openxmlformats.org/package/2006/relationships"><Relationship Id="rId1" Type="http://schemas.openxmlformats.org/officeDocument/2006/relationships/package" Target="../embeddings/Microsoft_Excel_Sheet373.xlsx"/></Relationships>
</file>

<file path=ppt/charts/_rels/chart374.xml.rels><?xml version='1.0' encoding='UTF-8' standalone='yes'?>
<Relationships xmlns="http://schemas.openxmlformats.org/package/2006/relationships"><Relationship Id="rId1" Type="http://schemas.openxmlformats.org/officeDocument/2006/relationships/package" Target="../embeddings/Microsoft_Excel_Sheet374.xlsx"/></Relationships>
</file>

<file path=ppt/charts/_rels/chart375.xml.rels><?xml version='1.0' encoding='UTF-8' standalone='yes'?>
<Relationships xmlns="http://schemas.openxmlformats.org/package/2006/relationships"><Relationship Id="rId1" Type="http://schemas.openxmlformats.org/officeDocument/2006/relationships/package" Target="../embeddings/Microsoft_Excel_Sheet375.xlsx"/></Relationships>
</file>

<file path=ppt/charts/_rels/chart376.xml.rels><?xml version='1.0' encoding='UTF-8' standalone='yes'?>
<Relationships xmlns="http://schemas.openxmlformats.org/package/2006/relationships"><Relationship Id="rId1" Type="http://schemas.openxmlformats.org/officeDocument/2006/relationships/package" Target="../embeddings/Microsoft_Excel_Sheet376.xlsx"/></Relationships>
</file>

<file path=ppt/charts/_rels/chart377.xml.rels><?xml version='1.0' encoding='UTF-8' standalone='yes'?>
<Relationships xmlns="http://schemas.openxmlformats.org/package/2006/relationships"><Relationship Id="rId1" Type="http://schemas.openxmlformats.org/officeDocument/2006/relationships/package" Target="../embeddings/Microsoft_Excel_Sheet377.xlsx"/></Relationships>
</file>

<file path=ppt/charts/_rels/chart378.xml.rels><?xml version='1.0' encoding='UTF-8' standalone='yes'?>
<Relationships xmlns="http://schemas.openxmlformats.org/package/2006/relationships"><Relationship Id="rId1" Type="http://schemas.openxmlformats.org/officeDocument/2006/relationships/package" Target="../embeddings/Microsoft_Excel_Sheet378.xlsx"/></Relationships>
</file>

<file path=ppt/charts/_rels/chart379.xml.rels><?xml version='1.0' encoding='UTF-8' standalone='yes'?>
<Relationships xmlns="http://schemas.openxmlformats.org/package/2006/relationships"><Relationship Id="rId1" Type="http://schemas.openxmlformats.org/officeDocument/2006/relationships/package" Target="../embeddings/Microsoft_Excel_Sheet379.xlsx"/></Relationships>
</file>

<file path=ppt/charts/_rels/chart380.xml.rels><?xml version='1.0' encoding='UTF-8' standalone='yes'?>
<Relationships xmlns="http://schemas.openxmlformats.org/package/2006/relationships"><Relationship Id="rId1" Type="http://schemas.openxmlformats.org/officeDocument/2006/relationships/package" Target="../embeddings/Microsoft_Excel_Sheet380.xlsx"/></Relationships>
</file>

<file path=ppt/charts/_rels/chart381.xml.rels><?xml version='1.0' encoding='UTF-8' standalone='yes'?>
<Relationships xmlns="http://schemas.openxmlformats.org/package/2006/relationships"><Relationship Id="rId1" Type="http://schemas.openxmlformats.org/officeDocument/2006/relationships/package" Target="../embeddings/Microsoft_Excel_Sheet381.xlsx"/></Relationships>
</file>

<file path=ppt/charts/_rels/chart382.xml.rels><?xml version='1.0' encoding='UTF-8' standalone='yes'?>
<Relationships xmlns="http://schemas.openxmlformats.org/package/2006/relationships"><Relationship Id="rId1" Type="http://schemas.openxmlformats.org/officeDocument/2006/relationships/package" Target="../embeddings/Microsoft_Excel_Sheet382.xlsx"/></Relationships>
</file>

<file path=ppt/charts/_rels/chart383.xml.rels><?xml version='1.0' encoding='UTF-8' standalone='yes'?>
<Relationships xmlns="http://schemas.openxmlformats.org/package/2006/relationships"><Relationship Id="rId1" Type="http://schemas.openxmlformats.org/officeDocument/2006/relationships/package" Target="../embeddings/Microsoft_Excel_Sheet383.xlsx"/></Relationships>
</file>

<file path=ppt/charts/_rels/chart384.xml.rels><?xml version='1.0' encoding='UTF-8' standalone='yes'?>
<Relationships xmlns="http://schemas.openxmlformats.org/package/2006/relationships"><Relationship Id="rId1" Type="http://schemas.openxmlformats.org/officeDocument/2006/relationships/package" Target="../embeddings/Microsoft_Excel_Sheet384.xlsx"/></Relationships>
</file>

<file path=ppt/charts/_rels/chart385.xml.rels><?xml version='1.0' encoding='UTF-8' standalone='yes'?>
<Relationships xmlns="http://schemas.openxmlformats.org/package/2006/relationships"><Relationship Id="rId1" Type="http://schemas.openxmlformats.org/officeDocument/2006/relationships/package" Target="../embeddings/Microsoft_Excel_Sheet385.xlsx"/></Relationships>
</file>

<file path=ppt/charts/_rels/chart386.xml.rels><?xml version='1.0' encoding='UTF-8' standalone='yes'?>
<Relationships xmlns="http://schemas.openxmlformats.org/package/2006/relationships"><Relationship Id="rId1" Type="http://schemas.openxmlformats.org/officeDocument/2006/relationships/package" Target="../embeddings/Microsoft_Excel_Sheet386.xlsx"/></Relationships>
</file>

<file path=ppt/charts/_rels/chart387.xml.rels><?xml version='1.0' encoding='UTF-8' standalone='yes'?>
<Relationships xmlns="http://schemas.openxmlformats.org/package/2006/relationships"><Relationship Id="rId1" Type="http://schemas.openxmlformats.org/officeDocument/2006/relationships/package" Target="../embeddings/Microsoft_Excel_Sheet387.xlsx"/></Relationships>
</file>

<file path=ppt/charts/_rels/chart388.xml.rels><?xml version='1.0' encoding='UTF-8' standalone='yes'?>
<Relationships xmlns="http://schemas.openxmlformats.org/package/2006/relationships"><Relationship Id="rId1" Type="http://schemas.openxmlformats.org/officeDocument/2006/relationships/package" Target="../embeddings/Microsoft_Excel_Sheet388.xlsx"/></Relationships>
</file>

<file path=ppt/charts/_rels/chart389.xml.rels><?xml version='1.0' encoding='UTF-8' standalone='yes'?>
<Relationships xmlns="http://schemas.openxmlformats.org/package/2006/relationships"><Relationship Id="rId1" Type="http://schemas.openxmlformats.org/officeDocument/2006/relationships/package" Target="../embeddings/Microsoft_Excel_Sheet389.xlsx"/></Relationships>
</file>

<file path=ppt/charts/_rels/chart390.xml.rels><?xml version='1.0' encoding='UTF-8' standalone='yes'?>
<Relationships xmlns="http://schemas.openxmlformats.org/package/2006/relationships"><Relationship Id="rId1" Type="http://schemas.openxmlformats.org/officeDocument/2006/relationships/package" Target="../embeddings/Microsoft_Excel_Sheet390.xlsx"/></Relationships>
</file>

<file path=ppt/charts/_rels/chart391.xml.rels><?xml version='1.0' encoding='UTF-8' standalone='yes'?>
<Relationships xmlns="http://schemas.openxmlformats.org/package/2006/relationships"><Relationship Id="rId1" Type="http://schemas.openxmlformats.org/officeDocument/2006/relationships/package" Target="../embeddings/Microsoft_Excel_Sheet391.xlsx"/></Relationships>
</file>

<file path=ppt/charts/_rels/chart392.xml.rels><?xml version='1.0' encoding='UTF-8' standalone='yes'?>
<Relationships xmlns="http://schemas.openxmlformats.org/package/2006/relationships"><Relationship Id="rId1" Type="http://schemas.openxmlformats.org/officeDocument/2006/relationships/package" Target="../embeddings/Microsoft_Excel_Sheet392.xlsx"/></Relationships>
</file>

<file path=ppt/charts/_rels/chart393.xml.rels><?xml version='1.0' encoding='UTF-8' standalone='yes'?>
<Relationships xmlns="http://schemas.openxmlformats.org/package/2006/relationships"><Relationship Id="rId1" Type="http://schemas.openxmlformats.org/officeDocument/2006/relationships/package" Target="../embeddings/Microsoft_Excel_Sheet393.xlsx"/></Relationships>
</file>

<file path=ppt/charts/_rels/chart394.xml.rels><?xml version='1.0' encoding='UTF-8' standalone='yes'?>
<Relationships xmlns="http://schemas.openxmlformats.org/package/2006/relationships"><Relationship Id="rId1" Type="http://schemas.openxmlformats.org/officeDocument/2006/relationships/package" Target="../embeddings/Microsoft_Excel_Sheet394.xlsx"/></Relationships>
</file>

<file path=ppt/charts/_rels/chart395.xml.rels><?xml version='1.0' encoding='UTF-8' standalone='yes'?>
<Relationships xmlns="http://schemas.openxmlformats.org/package/2006/relationships"><Relationship Id="rId1" Type="http://schemas.openxmlformats.org/officeDocument/2006/relationships/package" Target="../embeddings/Microsoft_Excel_Sheet395.xlsx"/></Relationships>
</file>

<file path=ppt/charts/_rels/chart396.xml.rels><?xml version='1.0' encoding='UTF-8' standalone='yes'?>
<Relationships xmlns="http://schemas.openxmlformats.org/package/2006/relationships"><Relationship Id="rId1" Type="http://schemas.openxmlformats.org/officeDocument/2006/relationships/package" Target="../embeddings/Microsoft_Excel_Sheet396.xlsx"/></Relationships>
</file>

<file path=ppt/charts/_rels/chart397.xml.rels><?xml version='1.0' encoding='UTF-8' standalone='yes'?>
<Relationships xmlns="http://schemas.openxmlformats.org/package/2006/relationships"><Relationship Id="rId1" Type="http://schemas.openxmlformats.org/officeDocument/2006/relationships/package" Target="../embeddings/Microsoft_Excel_Sheet397.xlsx"/></Relationships>
</file>

<file path=ppt/charts/_rels/chart398.xml.rels><?xml version='1.0' encoding='UTF-8' standalone='yes'?>
<Relationships xmlns="http://schemas.openxmlformats.org/package/2006/relationships"><Relationship Id="rId1" Type="http://schemas.openxmlformats.org/officeDocument/2006/relationships/package" Target="../embeddings/Microsoft_Excel_Sheet398.xlsx"/></Relationships>
</file>

<file path=ppt/charts/_rels/chart399.xml.rels><?xml version='1.0' encoding='UTF-8' standalone='yes'?>
<Relationships xmlns="http://schemas.openxmlformats.org/package/2006/relationships"><Relationship Id="rId1" Type="http://schemas.openxmlformats.org/officeDocument/2006/relationships/package" Target="../embeddings/Microsoft_Excel_Sheet399.xlsx"/></Relationships>
</file>

<file path=ppt/charts/_rels/chart400.xml.rels><?xml version='1.0' encoding='UTF-8' standalone='yes'?>
<Relationships xmlns="http://schemas.openxmlformats.org/package/2006/relationships"><Relationship Id="rId1" Type="http://schemas.openxmlformats.org/officeDocument/2006/relationships/package" Target="../embeddings/Microsoft_Excel_Sheet400.xlsx"/></Relationships>
</file>

<file path=ppt/charts/_rels/chart401.xml.rels><?xml version='1.0' encoding='UTF-8' standalone='yes'?>
<Relationships xmlns="http://schemas.openxmlformats.org/package/2006/relationships"><Relationship Id="rId1" Type="http://schemas.openxmlformats.org/officeDocument/2006/relationships/package" Target="../embeddings/Microsoft_Excel_Sheet401.xlsx"/></Relationships>
</file>

<file path=ppt/charts/_rels/chart402.xml.rels><?xml version='1.0' encoding='UTF-8' standalone='yes'?>
<Relationships xmlns="http://schemas.openxmlformats.org/package/2006/relationships"><Relationship Id="rId1" Type="http://schemas.openxmlformats.org/officeDocument/2006/relationships/package" Target="../embeddings/Microsoft_Excel_Sheet402.xlsx"/></Relationships>
</file>

<file path=ppt/charts/_rels/chart403.xml.rels><?xml version='1.0' encoding='UTF-8' standalone='yes'?>
<Relationships xmlns="http://schemas.openxmlformats.org/package/2006/relationships"><Relationship Id="rId1" Type="http://schemas.openxmlformats.org/officeDocument/2006/relationships/package" Target="../embeddings/Microsoft_Excel_Sheet403.xlsx"/></Relationships>
</file>

<file path=ppt/charts/_rels/chart404.xml.rels><?xml version='1.0' encoding='UTF-8' standalone='yes'?>
<Relationships xmlns="http://schemas.openxmlformats.org/package/2006/relationships"><Relationship Id="rId1" Type="http://schemas.openxmlformats.org/officeDocument/2006/relationships/package" Target="../embeddings/Microsoft_Excel_Sheet404.xlsx"/></Relationships>
</file>

<file path=ppt/charts/_rels/chart405.xml.rels><?xml version='1.0' encoding='UTF-8' standalone='yes'?>
<Relationships xmlns="http://schemas.openxmlformats.org/package/2006/relationships"><Relationship Id="rId1" Type="http://schemas.openxmlformats.org/officeDocument/2006/relationships/package" Target="../embeddings/Microsoft_Excel_Sheet405.xlsx"/></Relationships>
</file>

<file path=ppt/charts/_rels/chart406.xml.rels><?xml version='1.0' encoding='UTF-8' standalone='yes'?>
<Relationships xmlns="http://schemas.openxmlformats.org/package/2006/relationships"><Relationship Id="rId1" Type="http://schemas.openxmlformats.org/officeDocument/2006/relationships/package" Target="../embeddings/Microsoft_Excel_Sheet406.xlsx"/></Relationships>
</file>

<file path=ppt/charts/_rels/chart407.xml.rels><?xml version='1.0' encoding='UTF-8' standalone='yes'?>
<Relationships xmlns="http://schemas.openxmlformats.org/package/2006/relationships"><Relationship Id="rId1" Type="http://schemas.openxmlformats.org/officeDocument/2006/relationships/package" Target="../embeddings/Microsoft_Excel_Sheet407.xlsx"/></Relationships>
</file>

<file path=ppt/charts/_rels/chart408.xml.rels><?xml version='1.0' encoding='UTF-8' standalone='yes'?>
<Relationships xmlns="http://schemas.openxmlformats.org/package/2006/relationships"><Relationship Id="rId1" Type="http://schemas.openxmlformats.org/officeDocument/2006/relationships/package" Target="../embeddings/Microsoft_Excel_Sheet408.xlsx"/></Relationships>
</file>

<file path=ppt/charts/_rels/chart409.xml.rels><?xml version='1.0' encoding='UTF-8' standalone='yes'?>
<Relationships xmlns="http://schemas.openxmlformats.org/package/2006/relationships"><Relationship Id="rId1" Type="http://schemas.openxmlformats.org/officeDocument/2006/relationships/package" Target="../embeddings/Microsoft_Excel_Sheet409.xlsx"/></Relationships>
</file>

<file path=ppt/charts/_rels/chart410.xml.rels><?xml version='1.0' encoding='UTF-8' standalone='yes'?>
<Relationships xmlns="http://schemas.openxmlformats.org/package/2006/relationships"><Relationship Id="rId1" Type="http://schemas.openxmlformats.org/officeDocument/2006/relationships/package" Target="../embeddings/Microsoft_Excel_Sheet410.xlsx"/></Relationships>
</file>

<file path=ppt/charts/_rels/chart411.xml.rels><?xml version='1.0' encoding='UTF-8' standalone='yes'?>
<Relationships xmlns="http://schemas.openxmlformats.org/package/2006/relationships"><Relationship Id="rId1" Type="http://schemas.openxmlformats.org/officeDocument/2006/relationships/package" Target="../embeddings/Microsoft_Excel_Sheet411.xlsx"/></Relationships>
</file>

<file path=ppt/charts/_rels/chart412.xml.rels><?xml version='1.0' encoding='UTF-8' standalone='yes'?>
<Relationships xmlns="http://schemas.openxmlformats.org/package/2006/relationships"><Relationship Id="rId1" Type="http://schemas.openxmlformats.org/officeDocument/2006/relationships/package" Target="../embeddings/Microsoft_Excel_Sheet412.xlsx"/></Relationships>
</file>

<file path=ppt/charts/_rels/chart413.xml.rels><?xml version='1.0' encoding='UTF-8' standalone='yes'?>
<Relationships xmlns="http://schemas.openxmlformats.org/package/2006/relationships"><Relationship Id="rId1" Type="http://schemas.openxmlformats.org/officeDocument/2006/relationships/package" Target="../embeddings/Microsoft_Excel_Sheet413.xlsx"/></Relationships>
</file>

<file path=ppt/charts/_rels/chart414.xml.rels><?xml version='1.0' encoding='UTF-8' standalone='yes'?>
<Relationships xmlns="http://schemas.openxmlformats.org/package/2006/relationships"><Relationship Id="rId1" Type="http://schemas.openxmlformats.org/officeDocument/2006/relationships/package" Target="../embeddings/Microsoft_Excel_Sheet414.xlsx"/></Relationships>
</file>

<file path=ppt/charts/_rels/chart415.xml.rels><?xml version='1.0' encoding='UTF-8' standalone='yes'?>
<Relationships xmlns="http://schemas.openxmlformats.org/package/2006/relationships"><Relationship Id="rId1" Type="http://schemas.openxmlformats.org/officeDocument/2006/relationships/package" Target="../embeddings/Microsoft_Excel_Sheet415.xlsx"/></Relationships>
</file>

<file path=ppt/charts/_rels/chart416.xml.rels><?xml version='1.0' encoding='UTF-8' standalone='yes'?>
<Relationships xmlns="http://schemas.openxmlformats.org/package/2006/relationships"><Relationship Id="rId1" Type="http://schemas.openxmlformats.org/officeDocument/2006/relationships/package" Target="../embeddings/Microsoft_Excel_Sheet416.xlsx"/></Relationships>
</file>

<file path=ppt/charts/_rels/chart417.xml.rels><?xml version='1.0' encoding='UTF-8' standalone='yes'?>
<Relationships xmlns="http://schemas.openxmlformats.org/package/2006/relationships"><Relationship Id="rId1" Type="http://schemas.openxmlformats.org/officeDocument/2006/relationships/package" Target="../embeddings/Microsoft_Excel_Sheet417.xlsx"/></Relationships>
</file>

<file path=ppt/charts/_rels/chart418.xml.rels><?xml version='1.0' encoding='UTF-8' standalone='yes'?>
<Relationships xmlns="http://schemas.openxmlformats.org/package/2006/relationships"><Relationship Id="rId1" Type="http://schemas.openxmlformats.org/officeDocument/2006/relationships/package" Target="../embeddings/Microsoft_Excel_Sheet418.xlsx"/></Relationships>
</file>

<file path=ppt/charts/_rels/chart419.xml.rels><?xml version='1.0' encoding='UTF-8' standalone='yes'?>
<Relationships xmlns="http://schemas.openxmlformats.org/package/2006/relationships"><Relationship Id="rId1" Type="http://schemas.openxmlformats.org/officeDocument/2006/relationships/package" Target="../embeddings/Microsoft_Excel_Sheet419.xlsx"/></Relationships>
</file>

<file path=ppt/charts/_rels/chart420.xml.rels><?xml version='1.0' encoding='UTF-8' standalone='yes'?>
<Relationships xmlns="http://schemas.openxmlformats.org/package/2006/relationships"><Relationship Id="rId1" Type="http://schemas.openxmlformats.org/officeDocument/2006/relationships/package" Target="../embeddings/Microsoft_Excel_Sheet420.xlsx"/></Relationships>
</file>

<file path=ppt/charts/_rels/chart421.xml.rels><?xml version='1.0' encoding='UTF-8' standalone='yes'?>
<Relationships xmlns="http://schemas.openxmlformats.org/package/2006/relationships"><Relationship Id="rId1" Type="http://schemas.openxmlformats.org/officeDocument/2006/relationships/package" Target="../embeddings/Microsoft_Excel_Sheet421.xlsx"/></Relationships>
</file>

<file path=ppt/charts/_rels/chart422.xml.rels><?xml version='1.0' encoding='UTF-8' standalone='yes'?>
<Relationships xmlns="http://schemas.openxmlformats.org/package/2006/relationships"><Relationship Id="rId1" Type="http://schemas.openxmlformats.org/officeDocument/2006/relationships/package" Target="../embeddings/Microsoft_Excel_Sheet422.xlsx"/></Relationships>
</file>

<file path=ppt/charts/_rels/chart423.xml.rels><?xml version='1.0' encoding='UTF-8' standalone='yes'?>
<Relationships xmlns="http://schemas.openxmlformats.org/package/2006/relationships"><Relationship Id="rId1" Type="http://schemas.openxmlformats.org/officeDocument/2006/relationships/package" Target="../embeddings/Microsoft_Excel_Sheet423.xlsx"/></Relationships>
</file>

<file path=ppt/charts/_rels/chart424.xml.rels><?xml version='1.0' encoding='UTF-8' standalone='yes'?>
<Relationships xmlns="http://schemas.openxmlformats.org/package/2006/relationships"><Relationship Id="rId1" Type="http://schemas.openxmlformats.org/officeDocument/2006/relationships/package" Target="../embeddings/Microsoft_Excel_Sheet424.xlsx"/></Relationships>
</file>

<file path=ppt/charts/_rels/chart425.xml.rels><?xml version='1.0' encoding='UTF-8' standalone='yes'?>
<Relationships xmlns="http://schemas.openxmlformats.org/package/2006/relationships"><Relationship Id="rId1" Type="http://schemas.openxmlformats.org/officeDocument/2006/relationships/package" Target="../embeddings/Microsoft_Excel_Sheet425.xlsx"/></Relationships>
</file>

<file path=ppt/charts/_rels/chart426.xml.rels><?xml version='1.0' encoding='UTF-8' standalone='yes'?>
<Relationships xmlns="http://schemas.openxmlformats.org/package/2006/relationships"><Relationship Id="rId1" Type="http://schemas.openxmlformats.org/officeDocument/2006/relationships/package" Target="../embeddings/Microsoft_Excel_Sheet426.xlsx"/></Relationships>
</file>

<file path=ppt/charts/_rels/chart427.xml.rels><?xml version='1.0' encoding='UTF-8' standalone='yes'?>
<Relationships xmlns="http://schemas.openxmlformats.org/package/2006/relationships"><Relationship Id="rId1" Type="http://schemas.openxmlformats.org/officeDocument/2006/relationships/package" Target="../embeddings/Microsoft_Excel_Sheet427.xlsx"/></Relationships>
</file>

<file path=ppt/charts/_rels/chart428.xml.rels><?xml version='1.0' encoding='UTF-8' standalone='yes'?>
<Relationships xmlns="http://schemas.openxmlformats.org/package/2006/relationships"><Relationship Id="rId1" Type="http://schemas.openxmlformats.org/officeDocument/2006/relationships/package" Target="../embeddings/Microsoft_Excel_Sheet428.xlsx"/></Relationships>
</file>

<file path=ppt/charts/_rels/chart429.xml.rels><?xml version='1.0' encoding='UTF-8' standalone='yes'?>
<Relationships xmlns="http://schemas.openxmlformats.org/package/2006/relationships"><Relationship Id="rId1" Type="http://schemas.openxmlformats.org/officeDocument/2006/relationships/package" Target="../embeddings/Microsoft_Excel_Sheet429.xlsx"/></Relationships>
</file>

<file path=ppt/charts/_rels/chart430.xml.rels><?xml version='1.0' encoding='UTF-8' standalone='yes'?>
<Relationships xmlns="http://schemas.openxmlformats.org/package/2006/relationships"><Relationship Id="rId1" Type="http://schemas.openxmlformats.org/officeDocument/2006/relationships/package" Target="../embeddings/Microsoft_Excel_Sheet430.xlsx"/></Relationships>
</file>

<file path=ppt/charts/_rels/chart431.xml.rels><?xml version='1.0' encoding='UTF-8' standalone='yes'?>
<Relationships xmlns="http://schemas.openxmlformats.org/package/2006/relationships"><Relationship Id="rId1" Type="http://schemas.openxmlformats.org/officeDocument/2006/relationships/package" Target="../embeddings/Microsoft_Excel_Sheet431.xlsx"/></Relationships>
</file>

<file path=ppt/charts/_rels/chart432.xml.rels><?xml version='1.0' encoding='UTF-8' standalone='yes'?>
<Relationships xmlns="http://schemas.openxmlformats.org/package/2006/relationships"><Relationship Id="rId1" Type="http://schemas.openxmlformats.org/officeDocument/2006/relationships/package" Target="../embeddings/Microsoft_Excel_Sheet432.xlsx"/></Relationships>
</file>

<file path=ppt/charts/_rels/chart433.xml.rels><?xml version='1.0' encoding='UTF-8' standalone='yes'?>
<Relationships xmlns="http://schemas.openxmlformats.org/package/2006/relationships"><Relationship Id="rId1" Type="http://schemas.openxmlformats.org/officeDocument/2006/relationships/package" Target="../embeddings/Microsoft_Excel_Sheet433.xlsx"/></Relationships>
</file>

<file path=ppt/charts/_rels/chart434.xml.rels><?xml version='1.0' encoding='UTF-8' standalone='yes'?>
<Relationships xmlns="http://schemas.openxmlformats.org/package/2006/relationships"><Relationship Id="rId1" Type="http://schemas.openxmlformats.org/officeDocument/2006/relationships/package" Target="../embeddings/Microsoft_Excel_Sheet434.xlsx"/></Relationships>
</file>

<file path=ppt/charts/_rels/chart435.xml.rels><?xml version='1.0' encoding='UTF-8' standalone='yes'?>
<Relationships xmlns="http://schemas.openxmlformats.org/package/2006/relationships"><Relationship Id="rId1" Type="http://schemas.openxmlformats.org/officeDocument/2006/relationships/package" Target="../embeddings/Microsoft_Excel_Sheet435.xlsx"/></Relationships>
</file>

<file path=ppt/charts/_rels/chart436.xml.rels><?xml version='1.0' encoding='UTF-8' standalone='yes'?>
<Relationships xmlns="http://schemas.openxmlformats.org/package/2006/relationships"><Relationship Id="rId1" Type="http://schemas.openxmlformats.org/officeDocument/2006/relationships/package" Target="../embeddings/Microsoft_Excel_Sheet436.xlsx"/></Relationships>
</file>

<file path=ppt/charts/_rels/chart437.xml.rels><?xml version='1.0' encoding='UTF-8' standalone='yes'?>
<Relationships xmlns="http://schemas.openxmlformats.org/package/2006/relationships"><Relationship Id="rId1" Type="http://schemas.openxmlformats.org/officeDocument/2006/relationships/package" Target="../embeddings/Microsoft_Excel_Sheet437.xlsx"/></Relationships>
</file>

<file path=ppt/charts/_rels/chart438.xml.rels><?xml version='1.0' encoding='UTF-8' standalone='yes'?>
<Relationships xmlns="http://schemas.openxmlformats.org/package/2006/relationships"><Relationship Id="rId1" Type="http://schemas.openxmlformats.org/officeDocument/2006/relationships/package" Target="../embeddings/Microsoft_Excel_Sheet438.xlsx"/></Relationships>
</file>

<file path=ppt/charts/_rels/chart439.xml.rels><?xml version='1.0' encoding='UTF-8' standalone='yes'?>
<Relationships xmlns="http://schemas.openxmlformats.org/package/2006/relationships"><Relationship Id="rId1" Type="http://schemas.openxmlformats.org/officeDocument/2006/relationships/package" Target="../embeddings/Microsoft_Excel_Sheet439.xlsx"/></Relationships>
</file>

<file path=ppt/charts/_rels/chart440.xml.rels><?xml version='1.0' encoding='UTF-8' standalone='yes'?>
<Relationships xmlns="http://schemas.openxmlformats.org/package/2006/relationships"><Relationship Id="rId1" Type="http://schemas.openxmlformats.org/officeDocument/2006/relationships/package" Target="../embeddings/Microsoft_Excel_Sheet440.xlsx"/></Relationships>
</file>

<file path=ppt/charts/_rels/chart441.xml.rels><?xml version='1.0' encoding='UTF-8' standalone='yes'?>
<Relationships xmlns="http://schemas.openxmlformats.org/package/2006/relationships"><Relationship Id="rId1" Type="http://schemas.openxmlformats.org/officeDocument/2006/relationships/package" Target="../embeddings/Microsoft_Excel_Sheet441.xlsx"/></Relationships>
</file>

<file path=ppt/charts/_rels/chart442.xml.rels><?xml version='1.0' encoding='UTF-8' standalone='yes'?>
<Relationships xmlns="http://schemas.openxmlformats.org/package/2006/relationships"><Relationship Id="rId1" Type="http://schemas.openxmlformats.org/officeDocument/2006/relationships/package" Target="../embeddings/Microsoft_Excel_Sheet442.xlsx"/></Relationships>
</file>

<file path=ppt/charts/_rels/chart443.xml.rels><?xml version='1.0' encoding='UTF-8' standalone='yes'?>
<Relationships xmlns="http://schemas.openxmlformats.org/package/2006/relationships"><Relationship Id="rId1" Type="http://schemas.openxmlformats.org/officeDocument/2006/relationships/package" Target="../embeddings/Microsoft_Excel_Sheet443.xlsx"/></Relationships>
</file>

<file path=ppt/charts/_rels/chart444.xml.rels><?xml version='1.0' encoding='UTF-8' standalone='yes'?>
<Relationships xmlns="http://schemas.openxmlformats.org/package/2006/relationships"><Relationship Id="rId1" Type="http://schemas.openxmlformats.org/officeDocument/2006/relationships/package" Target="../embeddings/Microsoft_Excel_Sheet444.xlsx"/></Relationships>
</file>

<file path=ppt/charts/_rels/chart445.xml.rels><?xml version='1.0' encoding='UTF-8' standalone='yes'?>
<Relationships xmlns="http://schemas.openxmlformats.org/package/2006/relationships"><Relationship Id="rId1" Type="http://schemas.openxmlformats.org/officeDocument/2006/relationships/package" Target="../embeddings/Microsoft_Excel_Sheet445.xlsx"/></Relationships>
</file>

<file path=ppt/charts/_rels/chart446.xml.rels><?xml version='1.0' encoding='UTF-8' standalone='yes'?>
<Relationships xmlns="http://schemas.openxmlformats.org/package/2006/relationships"><Relationship Id="rId1" Type="http://schemas.openxmlformats.org/officeDocument/2006/relationships/package" Target="../embeddings/Microsoft_Excel_Sheet446.xlsx"/></Relationships>
</file>

<file path=ppt/charts/_rels/chart447.xml.rels><?xml version='1.0' encoding='UTF-8' standalone='yes'?>
<Relationships xmlns="http://schemas.openxmlformats.org/package/2006/relationships"><Relationship Id="rId1" Type="http://schemas.openxmlformats.org/officeDocument/2006/relationships/package" Target="../embeddings/Microsoft_Excel_Sheet447.xlsx"/></Relationships>
</file>

<file path=ppt/charts/_rels/chart448.xml.rels><?xml version='1.0' encoding='UTF-8' standalone='yes'?>
<Relationships xmlns="http://schemas.openxmlformats.org/package/2006/relationships"><Relationship Id="rId1" Type="http://schemas.openxmlformats.org/officeDocument/2006/relationships/package" Target="../embeddings/Microsoft_Excel_Sheet448.xlsx"/></Relationships>
</file>

<file path=ppt/charts/_rels/chart449.xml.rels><?xml version='1.0' encoding='UTF-8' standalone='yes'?>
<Relationships xmlns="http://schemas.openxmlformats.org/package/2006/relationships"><Relationship Id="rId1" Type="http://schemas.openxmlformats.org/officeDocument/2006/relationships/package" Target="../embeddings/Microsoft_Excel_Sheet449.xlsx"/></Relationships>
</file>

<file path=ppt/charts/_rels/chart450.xml.rels><?xml version='1.0' encoding='UTF-8' standalone='yes'?>
<Relationships xmlns="http://schemas.openxmlformats.org/package/2006/relationships"><Relationship Id="rId1" Type="http://schemas.openxmlformats.org/officeDocument/2006/relationships/package" Target="../embeddings/Microsoft_Excel_Sheet450.xlsx"/></Relationships>
</file>

<file path=ppt/charts/_rels/chart451.xml.rels><?xml version='1.0' encoding='UTF-8' standalone='yes'?>
<Relationships xmlns="http://schemas.openxmlformats.org/package/2006/relationships"><Relationship Id="rId1" Type="http://schemas.openxmlformats.org/officeDocument/2006/relationships/package" Target="../embeddings/Microsoft_Excel_Sheet451.xlsx"/></Relationships>
</file>

<file path=ppt/charts/_rels/chart452.xml.rels><?xml version='1.0' encoding='UTF-8' standalone='yes'?>
<Relationships xmlns="http://schemas.openxmlformats.org/package/2006/relationships"><Relationship Id="rId1" Type="http://schemas.openxmlformats.org/officeDocument/2006/relationships/package" Target="../embeddings/Microsoft_Excel_Sheet452.xlsx"/></Relationships>
</file>

<file path=ppt/charts/_rels/chart453.xml.rels><?xml version='1.0' encoding='UTF-8' standalone='yes'?>
<Relationships xmlns="http://schemas.openxmlformats.org/package/2006/relationships"><Relationship Id="rId1" Type="http://schemas.openxmlformats.org/officeDocument/2006/relationships/package" Target="../embeddings/Microsoft_Excel_Sheet453.xlsx"/></Relationships>
</file>

<file path=ppt/charts/_rels/chart454.xml.rels><?xml version='1.0' encoding='UTF-8' standalone='yes'?>
<Relationships xmlns="http://schemas.openxmlformats.org/package/2006/relationships"><Relationship Id="rId1" Type="http://schemas.openxmlformats.org/officeDocument/2006/relationships/package" Target="../embeddings/Microsoft_Excel_Sheet454.xlsx"/></Relationships>
</file>

<file path=ppt/charts/_rels/chart455.xml.rels><?xml version='1.0' encoding='UTF-8' standalone='yes'?>
<Relationships xmlns="http://schemas.openxmlformats.org/package/2006/relationships"><Relationship Id="rId1" Type="http://schemas.openxmlformats.org/officeDocument/2006/relationships/package" Target="../embeddings/Microsoft_Excel_Sheet455.xlsx"/></Relationships>
</file>

<file path=ppt/charts/_rels/chart456.xml.rels><?xml version='1.0' encoding='UTF-8' standalone='yes'?>
<Relationships xmlns="http://schemas.openxmlformats.org/package/2006/relationships"><Relationship Id="rId1" Type="http://schemas.openxmlformats.org/officeDocument/2006/relationships/package" Target="../embeddings/Microsoft_Excel_Sheet456.xlsx"/></Relationships>
</file>

<file path=ppt/charts/_rels/chart457.xml.rels><?xml version='1.0' encoding='UTF-8' standalone='yes'?>
<Relationships xmlns="http://schemas.openxmlformats.org/package/2006/relationships"><Relationship Id="rId1" Type="http://schemas.openxmlformats.org/officeDocument/2006/relationships/package" Target="../embeddings/Microsoft_Excel_Sheet457.xlsx"/></Relationships>
</file>

<file path=ppt/charts/_rels/chart458.xml.rels><?xml version='1.0' encoding='UTF-8' standalone='yes'?>
<Relationships xmlns="http://schemas.openxmlformats.org/package/2006/relationships"><Relationship Id="rId1" Type="http://schemas.openxmlformats.org/officeDocument/2006/relationships/package" Target="../embeddings/Microsoft_Excel_Sheet458.xlsx"/></Relationships>
</file>

<file path=ppt/charts/_rels/chart459.xml.rels><?xml version='1.0' encoding='UTF-8' standalone='yes'?>
<Relationships xmlns="http://schemas.openxmlformats.org/package/2006/relationships"><Relationship Id="rId1" Type="http://schemas.openxmlformats.org/officeDocument/2006/relationships/package" Target="../embeddings/Microsoft_Excel_Sheet459.xlsx"/></Relationships>
</file>

<file path=ppt/charts/_rels/chart460.xml.rels><?xml version='1.0' encoding='UTF-8' standalone='yes'?>
<Relationships xmlns="http://schemas.openxmlformats.org/package/2006/relationships"><Relationship Id="rId1" Type="http://schemas.openxmlformats.org/officeDocument/2006/relationships/package" Target="../embeddings/Microsoft_Excel_Sheet460.xlsx"/></Relationships>
</file>

<file path=ppt/charts/_rels/chart461.xml.rels><?xml version='1.0' encoding='UTF-8' standalone='yes'?>
<Relationships xmlns="http://schemas.openxmlformats.org/package/2006/relationships"><Relationship Id="rId1" Type="http://schemas.openxmlformats.org/officeDocument/2006/relationships/package" Target="../embeddings/Microsoft_Excel_Sheet461.xlsx"/></Relationships>
</file>

<file path=ppt/charts/_rels/chart462.xml.rels><?xml version='1.0' encoding='UTF-8' standalone='yes'?>
<Relationships xmlns="http://schemas.openxmlformats.org/package/2006/relationships"><Relationship Id="rId1" Type="http://schemas.openxmlformats.org/officeDocument/2006/relationships/package" Target="../embeddings/Microsoft_Excel_Sheet462.xlsx"/></Relationships>
</file>

<file path=ppt/charts/_rels/chart463.xml.rels><?xml version='1.0' encoding='UTF-8' standalone='yes'?>
<Relationships xmlns="http://schemas.openxmlformats.org/package/2006/relationships"><Relationship Id="rId1" Type="http://schemas.openxmlformats.org/officeDocument/2006/relationships/package" Target="../embeddings/Microsoft_Excel_Sheet463.xlsx"/></Relationships>
</file>

<file path=ppt/charts/_rels/chart464.xml.rels><?xml version='1.0' encoding='UTF-8' standalone='yes'?>
<Relationships xmlns="http://schemas.openxmlformats.org/package/2006/relationships"><Relationship Id="rId1" Type="http://schemas.openxmlformats.org/officeDocument/2006/relationships/package" Target="../embeddings/Microsoft_Excel_Sheet464.xlsx"/></Relationships>
</file>

<file path=ppt/charts/_rels/chart465.xml.rels><?xml version='1.0' encoding='UTF-8' standalone='yes'?>
<Relationships xmlns="http://schemas.openxmlformats.org/package/2006/relationships"><Relationship Id="rId1" Type="http://schemas.openxmlformats.org/officeDocument/2006/relationships/package" Target="../embeddings/Microsoft_Excel_Sheet465.xlsx"/></Relationships>
</file>

<file path=ppt/charts/_rels/chart466.xml.rels><?xml version='1.0' encoding='UTF-8' standalone='yes'?>
<Relationships xmlns="http://schemas.openxmlformats.org/package/2006/relationships"><Relationship Id="rId1" Type="http://schemas.openxmlformats.org/officeDocument/2006/relationships/package" Target="../embeddings/Microsoft_Excel_Sheet466.xlsx"/></Relationships>
</file>

<file path=ppt/charts/_rels/chart467.xml.rels><?xml version='1.0' encoding='UTF-8' standalone='yes'?>
<Relationships xmlns="http://schemas.openxmlformats.org/package/2006/relationships"><Relationship Id="rId1" Type="http://schemas.openxmlformats.org/officeDocument/2006/relationships/package" Target="../embeddings/Microsoft_Excel_Sheet467.xlsx"/></Relationships>
</file>

<file path=ppt/charts/_rels/chart468.xml.rels><?xml version='1.0' encoding='UTF-8' standalone='yes'?>
<Relationships xmlns="http://schemas.openxmlformats.org/package/2006/relationships"><Relationship Id="rId1" Type="http://schemas.openxmlformats.org/officeDocument/2006/relationships/package" Target="../embeddings/Microsoft_Excel_Sheet468.xlsx"/></Relationships>
</file>

<file path=ppt/charts/_rels/chart469.xml.rels><?xml version='1.0' encoding='UTF-8' standalone='yes'?>
<Relationships xmlns="http://schemas.openxmlformats.org/package/2006/relationships"><Relationship Id="rId1" Type="http://schemas.openxmlformats.org/officeDocument/2006/relationships/package" Target="../embeddings/Microsoft_Excel_Sheet469.xlsx"/></Relationships>
</file>

<file path=ppt/charts/_rels/chart470.xml.rels><?xml version='1.0' encoding='UTF-8' standalone='yes'?>
<Relationships xmlns="http://schemas.openxmlformats.org/package/2006/relationships"><Relationship Id="rId1" Type="http://schemas.openxmlformats.org/officeDocument/2006/relationships/package" Target="../embeddings/Microsoft_Excel_Sheet470.xlsx"/></Relationships>
</file>

<file path=ppt/charts/_rels/chart471.xml.rels><?xml version='1.0' encoding='UTF-8' standalone='yes'?>
<Relationships xmlns="http://schemas.openxmlformats.org/package/2006/relationships"><Relationship Id="rId1" Type="http://schemas.openxmlformats.org/officeDocument/2006/relationships/package" Target="../embeddings/Microsoft_Excel_Sheet471.xlsx"/></Relationships>
</file>

<file path=ppt/charts/_rels/chart472.xml.rels><?xml version='1.0' encoding='UTF-8' standalone='yes'?>
<Relationships xmlns="http://schemas.openxmlformats.org/package/2006/relationships"><Relationship Id="rId1" Type="http://schemas.openxmlformats.org/officeDocument/2006/relationships/package" Target="../embeddings/Microsoft_Excel_Sheet472.xlsx"/></Relationships>
</file>

<file path=ppt/charts/_rels/chart473.xml.rels><?xml version='1.0' encoding='UTF-8' standalone='yes'?>
<Relationships xmlns="http://schemas.openxmlformats.org/package/2006/relationships"><Relationship Id="rId1" Type="http://schemas.openxmlformats.org/officeDocument/2006/relationships/package" Target="../embeddings/Microsoft_Excel_Sheet473.xlsx"/></Relationships>
</file>

<file path=ppt/charts/_rels/chart474.xml.rels><?xml version='1.0' encoding='UTF-8' standalone='yes'?>
<Relationships xmlns="http://schemas.openxmlformats.org/package/2006/relationships"><Relationship Id="rId1" Type="http://schemas.openxmlformats.org/officeDocument/2006/relationships/package" Target="../embeddings/Microsoft_Excel_Sheet474.xlsx"/></Relationships>
</file>

<file path=ppt/charts/_rels/chart475.xml.rels><?xml version='1.0' encoding='UTF-8' standalone='yes'?>
<Relationships xmlns="http://schemas.openxmlformats.org/package/2006/relationships"><Relationship Id="rId1" Type="http://schemas.openxmlformats.org/officeDocument/2006/relationships/package" Target="../embeddings/Microsoft_Excel_Sheet475.xlsx"/></Relationships>
</file>

<file path=ppt/charts/_rels/chart476.xml.rels><?xml version='1.0' encoding='UTF-8' standalone='yes'?>
<Relationships xmlns="http://schemas.openxmlformats.org/package/2006/relationships"><Relationship Id="rId1" Type="http://schemas.openxmlformats.org/officeDocument/2006/relationships/package" Target="../embeddings/Microsoft_Excel_Sheet476.xlsx"/></Relationships>
</file>

<file path=ppt/charts/_rels/chart477.xml.rels><?xml version='1.0' encoding='UTF-8' standalone='yes'?>
<Relationships xmlns="http://schemas.openxmlformats.org/package/2006/relationships"><Relationship Id="rId1" Type="http://schemas.openxmlformats.org/officeDocument/2006/relationships/package" Target="../embeddings/Microsoft_Excel_Sheet477.xlsx"/></Relationships>
</file>

<file path=ppt/charts/_rels/chart478.xml.rels><?xml version='1.0' encoding='UTF-8' standalone='yes'?>
<Relationships xmlns="http://schemas.openxmlformats.org/package/2006/relationships"><Relationship Id="rId1" Type="http://schemas.openxmlformats.org/officeDocument/2006/relationships/package" Target="../embeddings/Microsoft_Excel_Sheet478.xlsx"/></Relationships>
</file>

<file path=ppt/charts/_rels/chart479.xml.rels><?xml version='1.0' encoding='UTF-8' standalone='yes'?>
<Relationships xmlns="http://schemas.openxmlformats.org/package/2006/relationships"><Relationship Id="rId1" Type="http://schemas.openxmlformats.org/officeDocument/2006/relationships/package" Target="../embeddings/Microsoft_Excel_Sheet479.xlsx"/></Relationships>
</file>

<file path=ppt/charts/_rels/chart480.xml.rels><?xml version='1.0' encoding='UTF-8' standalone='yes'?>
<Relationships xmlns="http://schemas.openxmlformats.org/package/2006/relationships"><Relationship Id="rId1" Type="http://schemas.openxmlformats.org/officeDocument/2006/relationships/package" Target="../embeddings/Microsoft_Excel_Sheet480.xlsx"/></Relationships>
</file>

<file path=ppt/charts/_rels/chart481.xml.rels><?xml version='1.0' encoding='UTF-8' standalone='yes'?>
<Relationships xmlns="http://schemas.openxmlformats.org/package/2006/relationships"><Relationship Id="rId1" Type="http://schemas.openxmlformats.org/officeDocument/2006/relationships/package" Target="../embeddings/Microsoft_Excel_Sheet481.xlsx"/></Relationships>
</file>

<file path=ppt/charts/_rels/chart482.xml.rels><?xml version='1.0' encoding='UTF-8' standalone='yes'?>
<Relationships xmlns="http://schemas.openxmlformats.org/package/2006/relationships"><Relationship Id="rId1" Type="http://schemas.openxmlformats.org/officeDocument/2006/relationships/package" Target="../embeddings/Microsoft_Excel_Sheet482.xlsx"/></Relationships>
</file>

<file path=ppt/charts/_rels/chart483.xml.rels><?xml version='1.0' encoding='UTF-8' standalone='yes'?>
<Relationships xmlns="http://schemas.openxmlformats.org/package/2006/relationships"><Relationship Id="rId1" Type="http://schemas.openxmlformats.org/officeDocument/2006/relationships/package" Target="../embeddings/Microsoft_Excel_Sheet483.xlsx"/></Relationships>
</file>

<file path=ppt/charts/_rels/chart484.xml.rels><?xml version='1.0' encoding='UTF-8' standalone='yes'?>
<Relationships xmlns="http://schemas.openxmlformats.org/package/2006/relationships"><Relationship Id="rId1" Type="http://schemas.openxmlformats.org/officeDocument/2006/relationships/package" Target="../embeddings/Microsoft_Excel_Sheet484.xlsx"/></Relationships>
</file>

<file path=ppt/charts/_rels/chart485.xml.rels><?xml version='1.0' encoding='UTF-8' standalone='yes'?>
<Relationships xmlns="http://schemas.openxmlformats.org/package/2006/relationships"><Relationship Id="rId1" Type="http://schemas.openxmlformats.org/officeDocument/2006/relationships/package" Target="../embeddings/Microsoft_Excel_Sheet485.xlsx"/></Relationships>
</file>

<file path=ppt/charts/_rels/chart486.xml.rels><?xml version='1.0' encoding='UTF-8' standalone='yes'?>
<Relationships xmlns="http://schemas.openxmlformats.org/package/2006/relationships"><Relationship Id="rId1" Type="http://schemas.openxmlformats.org/officeDocument/2006/relationships/package" Target="../embeddings/Microsoft_Excel_Sheet486.xlsx"/></Relationships>
</file>

<file path=ppt/charts/_rels/chart487.xml.rels><?xml version='1.0' encoding='UTF-8' standalone='yes'?>
<Relationships xmlns="http://schemas.openxmlformats.org/package/2006/relationships"><Relationship Id="rId1" Type="http://schemas.openxmlformats.org/officeDocument/2006/relationships/package" Target="../embeddings/Microsoft_Excel_Sheet487.xlsx"/></Relationships>
</file>

<file path=ppt/charts/_rels/chart488.xml.rels><?xml version='1.0' encoding='UTF-8' standalone='yes'?>
<Relationships xmlns="http://schemas.openxmlformats.org/package/2006/relationships"><Relationship Id="rId1" Type="http://schemas.openxmlformats.org/officeDocument/2006/relationships/package" Target="../embeddings/Microsoft_Excel_Sheet488.xlsx"/></Relationships>
</file>

<file path=ppt/charts/_rels/chart489.xml.rels><?xml version='1.0' encoding='UTF-8' standalone='yes'?>
<Relationships xmlns="http://schemas.openxmlformats.org/package/2006/relationships"><Relationship Id="rId1" Type="http://schemas.openxmlformats.org/officeDocument/2006/relationships/package" Target="../embeddings/Microsoft_Excel_Sheet489.xlsx"/></Relationships>
</file>

<file path=ppt/charts/_rels/chart490.xml.rels><?xml version='1.0' encoding='UTF-8' standalone='yes'?>
<Relationships xmlns="http://schemas.openxmlformats.org/package/2006/relationships"><Relationship Id="rId1" Type="http://schemas.openxmlformats.org/officeDocument/2006/relationships/package" Target="../embeddings/Microsoft_Excel_Sheet490.xlsx"/></Relationships>
</file>

<file path=ppt/charts/_rels/chart491.xml.rels><?xml version='1.0' encoding='UTF-8' standalone='yes'?>
<Relationships xmlns="http://schemas.openxmlformats.org/package/2006/relationships"><Relationship Id="rId1" Type="http://schemas.openxmlformats.org/officeDocument/2006/relationships/package" Target="../embeddings/Microsoft_Excel_Sheet491.xlsx"/></Relationships>
</file>

<file path=ppt/charts/_rels/chart492.xml.rels><?xml version='1.0' encoding='UTF-8' standalone='yes'?>
<Relationships xmlns="http://schemas.openxmlformats.org/package/2006/relationships"><Relationship Id="rId1" Type="http://schemas.openxmlformats.org/officeDocument/2006/relationships/package" Target="../embeddings/Microsoft_Excel_Sheet492.xlsx"/></Relationships>
</file>

<file path=ppt/charts/_rels/chart493.xml.rels><?xml version='1.0' encoding='UTF-8' standalone='yes'?>
<Relationships xmlns="http://schemas.openxmlformats.org/package/2006/relationships"><Relationship Id="rId1" Type="http://schemas.openxmlformats.org/officeDocument/2006/relationships/package" Target="../embeddings/Microsoft_Excel_Sheet493.xlsx"/></Relationships>
</file>

<file path=ppt/charts/_rels/chart494.xml.rels><?xml version='1.0' encoding='UTF-8' standalone='yes'?>
<Relationships xmlns="http://schemas.openxmlformats.org/package/2006/relationships"><Relationship Id="rId1" Type="http://schemas.openxmlformats.org/officeDocument/2006/relationships/package" Target="../embeddings/Microsoft_Excel_Sheet494.xlsx"/></Relationships>
</file>

<file path=ppt/charts/_rels/chart495.xml.rels><?xml version='1.0' encoding='UTF-8' standalone='yes'?>
<Relationships xmlns="http://schemas.openxmlformats.org/package/2006/relationships"><Relationship Id="rId1" Type="http://schemas.openxmlformats.org/officeDocument/2006/relationships/package" Target="../embeddings/Microsoft_Excel_Sheet495.xlsx"/></Relationships>
</file>

<file path=ppt/charts/_rels/chart496.xml.rels><?xml version='1.0' encoding='UTF-8' standalone='yes'?>
<Relationships xmlns="http://schemas.openxmlformats.org/package/2006/relationships"><Relationship Id="rId1" Type="http://schemas.openxmlformats.org/officeDocument/2006/relationships/package" Target="../embeddings/Microsoft_Excel_Sheet496.xlsx"/></Relationships>
</file>

<file path=ppt/charts/_rels/chart497.xml.rels><?xml version='1.0' encoding='UTF-8' standalone='yes'?>
<Relationships xmlns="http://schemas.openxmlformats.org/package/2006/relationships"><Relationship Id="rId1" Type="http://schemas.openxmlformats.org/officeDocument/2006/relationships/package" Target="../embeddings/Microsoft_Excel_Sheet497.xlsx"/></Relationships>
</file>

<file path=ppt/charts/_rels/chart498.xml.rels><?xml version='1.0' encoding='UTF-8' standalone='yes'?>
<Relationships xmlns="http://schemas.openxmlformats.org/package/2006/relationships"><Relationship Id="rId1" Type="http://schemas.openxmlformats.org/officeDocument/2006/relationships/package" Target="../embeddings/Microsoft_Excel_Sheet498.xlsx"/></Relationships>
</file>

<file path=ppt/charts/_rels/chart499.xml.rels><?xml version='1.0' encoding='UTF-8' standalone='yes'?>
<Relationships xmlns="http://schemas.openxmlformats.org/package/2006/relationships"><Relationship Id="rId1" Type="http://schemas.openxmlformats.org/officeDocument/2006/relationships/package" Target="../embeddings/Microsoft_Excel_Sheet499.xlsx"/></Relationships>
</file>

<file path=ppt/charts/_rels/chart500.xml.rels><?xml version='1.0' encoding='UTF-8' standalone='yes'?>
<Relationships xmlns="http://schemas.openxmlformats.org/package/2006/relationships"><Relationship Id="rId1" Type="http://schemas.openxmlformats.org/officeDocument/2006/relationships/package" Target="../embeddings/Microsoft_Excel_Sheet500.xlsx"/></Relationships>
</file>

<file path=ppt/charts/_rels/chart501.xml.rels><?xml version='1.0' encoding='UTF-8' standalone='yes'?>
<Relationships xmlns="http://schemas.openxmlformats.org/package/2006/relationships"><Relationship Id="rId1" Type="http://schemas.openxmlformats.org/officeDocument/2006/relationships/package" Target="../embeddings/Microsoft_Excel_Sheet501.xlsx"/></Relationships>
</file>

<file path=ppt/charts/_rels/chart502.xml.rels><?xml version='1.0' encoding='UTF-8' standalone='yes'?>
<Relationships xmlns="http://schemas.openxmlformats.org/package/2006/relationships"><Relationship Id="rId1" Type="http://schemas.openxmlformats.org/officeDocument/2006/relationships/package" Target="../embeddings/Microsoft_Excel_Sheet502.xlsx"/></Relationships>
</file>

<file path=ppt/charts/_rels/chart503.xml.rels><?xml version='1.0' encoding='UTF-8' standalone='yes'?>
<Relationships xmlns="http://schemas.openxmlformats.org/package/2006/relationships"><Relationship Id="rId1" Type="http://schemas.openxmlformats.org/officeDocument/2006/relationships/package" Target="../embeddings/Microsoft_Excel_Sheet503.xlsx"/></Relationships>
</file>

<file path=ppt/charts/_rels/chart504.xml.rels><?xml version='1.0' encoding='UTF-8' standalone='yes'?>
<Relationships xmlns="http://schemas.openxmlformats.org/package/2006/relationships"><Relationship Id="rId1" Type="http://schemas.openxmlformats.org/officeDocument/2006/relationships/package" Target="../embeddings/Microsoft_Excel_Sheet504.xlsx"/></Relationships>
</file>

<file path=ppt/charts/_rels/chart505.xml.rels><?xml version='1.0' encoding='UTF-8' standalone='yes'?>
<Relationships xmlns="http://schemas.openxmlformats.org/package/2006/relationships"><Relationship Id="rId1" Type="http://schemas.openxmlformats.org/officeDocument/2006/relationships/package" Target="../embeddings/Microsoft_Excel_Sheet505.xlsx"/></Relationships>
</file>

<file path=ppt/charts/_rels/chart506.xml.rels><?xml version='1.0' encoding='UTF-8' standalone='yes'?>
<Relationships xmlns="http://schemas.openxmlformats.org/package/2006/relationships"><Relationship Id="rId1" Type="http://schemas.openxmlformats.org/officeDocument/2006/relationships/package" Target="../embeddings/Microsoft_Excel_Sheet506.xlsx"/></Relationships>
</file>

<file path=ppt/charts/_rels/chart507.xml.rels><?xml version='1.0' encoding='UTF-8' standalone='yes'?>
<Relationships xmlns="http://schemas.openxmlformats.org/package/2006/relationships"><Relationship Id="rId1" Type="http://schemas.openxmlformats.org/officeDocument/2006/relationships/package" Target="../embeddings/Microsoft_Excel_Sheet507.xlsx"/></Relationships>
</file>

<file path=ppt/charts/_rels/chart508.xml.rels><?xml version='1.0' encoding='UTF-8' standalone='yes'?>
<Relationships xmlns="http://schemas.openxmlformats.org/package/2006/relationships"><Relationship Id="rId1" Type="http://schemas.openxmlformats.org/officeDocument/2006/relationships/package" Target="../embeddings/Microsoft_Excel_Sheet508.xlsx"/></Relationships>
</file>

<file path=ppt/charts/_rels/chart509.xml.rels><?xml version='1.0' encoding='UTF-8' standalone='yes'?>
<Relationships xmlns="http://schemas.openxmlformats.org/package/2006/relationships"><Relationship Id="rId1" Type="http://schemas.openxmlformats.org/officeDocument/2006/relationships/package" Target="../embeddings/Microsoft_Excel_Sheet509.xlsx"/></Relationships>
</file>

<file path=ppt/charts/_rels/chart510.xml.rels><?xml version='1.0' encoding='UTF-8' standalone='yes'?>
<Relationships xmlns="http://schemas.openxmlformats.org/package/2006/relationships"><Relationship Id="rId1" Type="http://schemas.openxmlformats.org/officeDocument/2006/relationships/package" Target="../embeddings/Microsoft_Excel_Sheet510.xlsx"/></Relationships>
</file>

<file path=ppt/charts/_rels/chart511.xml.rels><?xml version='1.0' encoding='UTF-8' standalone='yes'?>
<Relationships xmlns="http://schemas.openxmlformats.org/package/2006/relationships"><Relationship Id="rId1" Type="http://schemas.openxmlformats.org/officeDocument/2006/relationships/package" Target="../embeddings/Microsoft_Excel_Sheet511.xlsx"/></Relationships>
</file>

<file path=ppt/charts/_rels/chart512.xml.rels><?xml version='1.0' encoding='UTF-8' standalone='yes'?>
<Relationships xmlns="http://schemas.openxmlformats.org/package/2006/relationships"><Relationship Id="rId1" Type="http://schemas.openxmlformats.org/officeDocument/2006/relationships/package" Target="../embeddings/Microsoft_Excel_Sheet512.xlsx"/></Relationships>
</file>

<file path=ppt/charts/_rels/chart513.xml.rels><?xml version='1.0' encoding='UTF-8' standalone='yes'?>
<Relationships xmlns="http://schemas.openxmlformats.org/package/2006/relationships"><Relationship Id="rId1" Type="http://schemas.openxmlformats.org/officeDocument/2006/relationships/package" Target="../embeddings/Microsoft_Excel_Sheet513.xlsx"/></Relationships>
</file>

<file path=ppt/charts/_rels/chart514.xml.rels><?xml version='1.0' encoding='UTF-8' standalone='yes'?>
<Relationships xmlns="http://schemas.openxmlformats.org/package/2006/relationships"><Relationship Id="rId1" Type="http://schemas.openxmlformats.org/officeDocument/2006/relationships/package" Target="../embeddings/Microsoft_Excel_Sheet514.xlsx"/></Relationships>
</file>

<file path=ppt/charts/_rels/chart515.xml.rels><?xml version='1.0' encoding='UTF-8' standalone='yes'?>
<Relationships xmlns="http://schemas.openxmlformats.org/package/2006/relationships"><Relationship Id="rId1" Type="http://schemas.openxmlformats.org/officeDocument/2006/relationships/package" Target="../embeddings/Microsoft_Excel_Sheet515.xlsx"/></Relationships>
</file>

<file path=ppt/charts/_rels/chart516.xml.rels><?xml version='1.0' encoding='UTF-8' standalone='yes'?>
<Relationships xmlns="http://schemas.openxmlformats.org/package/2006/relationships"><Relationship Id="rId1" Type="http://schemas.openxmlformats.org/officeDocument/2006/relationships/package" Target="../embeddings/Microsoft_Excel_Sheet516.xlsx"/></Relationships>
</file>

<file path=ppt/charts/_rels/chart517.xml.rels><?xml version='1.0' encoding='UTF-8' standalone='yes'?>
<Relationships xmlns="http://schemas.openxmlformats.org/package/2006/relationships"><Relationship Id="rId1" Type="http://schemas.openxmlformats.org/officeDocument/2006/relationships/package" Target="../embeddings/Microsoft_Excel_Sheet517.xlsx"/></Relationships>
</file>

<file path=ppt/charts/_rels/chart518.xml.rels><?xml version='1.0' encoding='UTF-8' standalone='yes'?>
<Relationships xmlns="http://schemas.openxmlformats.org/package/2006/relationships"><Relationship Id="rId1" Type="http://schemas.openxmlformats.org/officeDocument/2006/relationships/package" Target="../embeddings/Microsoft_Excel_Sheet518.xlsx"/></Relationships>
</file>

<file path=ppt/charts/_rels/chart519.xml.rels><?xml version='1.0' encoding='UTF-8' standalone='yes'?>
<Relationships xmlns="http://schemas.openxmlformats.org/package/2006/relationships"><Relationship Id="rId1" Type="http://schemas.openxmlformats.org/officeDocument/2006/relationships/package" Target="../embeddings/Microsoft_Excel_Sheet519.xlsx"/></Relationships>
</file>

<file path=ppt/charts/_rels/chart520.xml.rels><?xml version='1.0' encoding='UTF-8' standalone='yes'?>
<Relationships xmlns="http://schemas.openxmlformats.org/package/2006/relationships"><Relationship Id="rId1" Type="http://schemas.openxmlformats.org/officeDocument/2006/relationships/package" Target="../embeddings/Microsoft_Excel_Sheet520.xlsx"/></Relationships>
</file>

<file path=ppt/charts/_rels/chart521.xml.rels><?xml version='1.0' encoding='UTF-8' standalone='yes'?>
<Relationships xmlns="http://schemas.openxmlformats.org/package/2006/relationships"><Relationship Id="rId1" Type="http://schemas.openxmlformats.org/officeDocument/2006/relationships/package" Target="../embeddings/Microsoft_Excel_Sheet521.xlsx"/></Relationships>
</file>

<file path=ppt/charts/_rels/chart522.xml.rels><?xml version='1.0' encoding='UTF-8' standalone='yes'?>
<Relationships xmlns="http://schemas.openxmlformats.org/package/2006/relationships"><Relationship Id="rId1" Type="http://schemas.openxmlformats.org/officeDocument/2006/relationships/package" Target="../embeddings/Microsoft_Excel_Sheet522.xlsx"/></Relationships>
</file>

<file path=ppt/charts/_rels/chart523.xml.rels><?xml version='1.0' encoding='UTF-8' standalone='yes'?>
<Relationships xmlns="http://schemas.openxmlformats.org/package/2006/relationships"><Relationship Id="rId1" Type="http://schemas.openxmlformats.org/officeDocument/2006/relationships/package" Target="../embeddings/Microsoft_Excel_Sheet523.xlsx"/></Relationships>
</file>

<file path=ppt/charts/_rels/chart524.xml.rels><?xml version='1.0' encoding='UTF-8' standalone='yes'?>
<Relationships xmlns="http://schemas.openxmlformats.org/package/2006/relationships"><Relationship Id="rId1" Type="http://schemas.openxmlformats.org/officeDocument/2006/relationships/package" Target="../embeddings/Microsoft_Excel_Sheet524.xlsx"/></Relationships>
</file>

<file path=ppt/charts/_rels/chart525.xml.rels><?xml version='1.0' encoding='UTF-8' standalone='yes'?>
<Relationships xmlns="http://schemas.openxmlformats.org/package/2006/relationships"><Relationship Id="rId1" Type="http://schemas.openxmlformats.org/officeDocument/2006/relationships/package" Target="../embeddings/Microsoft_Excel_Sheet525.xlsx"/></Relationships>
</file>

<file path=ppt/charts/_rels/chart526.xml.rels><?xml version='1.0' encoding='UTF-8' standalone='yes'?>
<Relationships xmlns="http://schemas.openxmlformats.org/package/2006/relationships"><Relationship Id="rId1" Type="http://schemas.openxmlformats.org/officeDocument/2006/relationships/package" Target="../embeddings/Microsoft_Excel_Sheet526.xlsx"/></Relationships>
</file>

<file path=ppt/charts/_rels/chart527.xml.rels><?xml version='1.0' encoding='UTF-8' standalone='yes'?>
<Relationships xmlns="http://schemas.openxmlformats.org/package/2006/relationships"><Relationship Id="rId1" Type="http://schemas.openxmlformats.org/officeDocument/2006/relationships/package" Target="../embeddings/Microsoft_Excel_Sheet527.xlsx"/></Relationships>
</file>

<file path=ppt/charts/_rels/chart528.xml.rels><?xml version='1.0' encoding='UTF-8' standalone='yes'?>
<Relationships xmlns="http://schemas.openxmlformats.org/package/2006/relationships"><Relationship Id="rId1" Type="http://schemas.openxmlformats.org/officeDocument/2006/relationships/package" Target="../embeddings/Microsoft_Excel_Sheet528.xlsx"/></Relationships>
</file>

<file path=ppt/charts/_rels/chart529.xml.rels><?xml version='1.0' encoding='UTF-8' standalone='yes'?>
<Relationships xmlns="http://schemas.openxmlformats.org/package/2006/relationships"><Relationship Id="rId1" Type="http://schemas.openxmlformats.org/officeDocument/2006/relationships/package" Target="../embeddings/Microsoft_Excel_Sheet529.xlsx"/></Relationships>
</file>

<file path=ppt/charts/_rels/chart530.xml.rels><?xml version='1.0' encoding='UTF-8' standalone='yes'?>
<Relationships xmlns="http://schemas.openxmlformats.org/package/2006/relationships"><Relationship Id="rId1" Type="http://schemas.openxmlformats.org/officeDocument/2006/relationships/package" Target="../embeddings/Microsoft_Excel_Sheet530.xlsx"/></Relationships>
</file>

<file path=ppt/charts/_rels/chart531.xml.rels><?xml version='1.0' encoding='UTF-8' standalone='yes'?>
<Relationships xmlns="http://schemas.openxmlformats.org/package/2006/relationships"><Relationship Id="rId1" Type="http://schemas.openxmlformats.org/officeDocument/2006/relationships/package" Target="../embeddings/Microsoft_Excel_Sheet531.xlsx"/></Relationships>
</file>

<file path=ppt/charts/_rels/chart532.xml.rels><?xml version='1.0' encoding='UTF-8' standalone='yes'?>
<Relationships xmlns="http://schemas.openxmlformats.org/package/2006/relationships"><Relationship Id="rId1" Type="http://schemas.openxmlformats.org/officeDocument/2006/relationships/package" Target="../embeddings/Microsoft_Excel_Sheet532.xlsx"/></Relationships>
</file>

<file path=ppt/charts/_rels/chart533.xml.rels><?xml version='1.0' encoding='UTF-8' standalone='yes'?>
<Relationships xmlns="http://schemas.openxmlformats.org/package/2006/relationships"><Relationship Id="rId1" Type="http://schemas.openxmlformats.org/officeDocument/2006/relationships/package" Target="../embeddings/Microsoft_Excel_Sheet533.xlsx"/></Relationships>
</file>

<file path=ppt/charts/_rels/chart534.xml.rels><?xml version='1.0' encoding='UTF-8' standalone='yes'?>
<Relationships xmlns="http://schemas.openxmlformats.org/package/2006/relationships"><Relationship Id="rId1" Type="http://schemas.openxmlformats.org/officeDocument/2006/relationships/package" Target="../embeddings/Microsoft_Excel_Sheet534.xlsx"/></Relationships>
</file>

<file path=ppt/charts/_rels/chart535.xml.rels><?xml version='1.0' encoding='UTF-8' standalone='yes'?>
<Relationships xmlns="http://schemas.openxmlformats.org/package/2006/relationships"><Relationship Id="rId1" Type="http://schemas.openxmlformats.org/officeDocument/2006/relationships/package" Target="../embeddings/Microsoft_Excel_Sheet535.xlsx"/></Relationships>
</file>

<file path=ppt/charts/_rels/chart536.xml.rels><?xml version='1.0' encoding='UTF-8' standalone='yes'?>
<Relationships xmlns="http://schemas.openxmlformats.org/package/2006/relationships"><Relationship Id="rId1" Type="http://schemas.openxmlformats.org/officeDocument/2006/relationships/package" Target="../embeddings/Microsoft_Excel_Sheet536.xlsx"/></Relationships>
</file>

<file path=ppt/charts/_rels/chart537.xml.rels><?xml version='1.0' encoding='UTF-8' standalone='yes'?>
<Relationships xmlns="http://schemas.openxmlformats.org/package/2006/relationships"><Relationship Id="rId1" Type="http://schemas.openxmlformats.org/officeDocument/2006/relationships/package" Target="../embeddings/Microsoft_Excel_Sheet537.xlsx"/></Relationships>
</file>

<file path=ppt/charts/_rels/chart538.xml.rels><?xml version='1.0' encoding='UTF-8' standalone='yes'?>
<Relationships xmlns="http://schemas.openxmlformats.org/package/2006/relationships"><Relationship Id="rId1" Type="http://schemas.openxmlformats.org/officeDocument/2006/relationships/package" Target="../embeddings/Microsoft_Excel_Sheet538.xlsx"/></Relationships>
</file>

<file path=ppt/charts/_rels/chart539.xml.rels><?xml version='1.0' encoding='UTF-8' standalone='yes'?>
<Relationships xmlns="http://schemas.openxmlformats.org/package/2006/relationships"><Relationship Id="rId1" Type="http://schemas.openxmlformats.org/officeDocument/2006/relationships/package" Target="../embeddings/Microsoft_Excel_Sheet539.xlsx"/></Relationships>
</file>

<file path=ppt/charts/_rels/chart540.xml.rels><?xml version='1.0' encoding='UTF-8' standalone='yes'?>
<Relationships xmlns="http://schemas.openxmlformats.org/package/2006/relationships"><Relationship Id="rId1" Type="http://schemas.openxmlformats.org/officeDocument/2006/relationships/package" Target="../embeddings/Microsoft_Excel_Sheet540.xlsx"/></Relationships>
</file>

<file path=ppt/charts/_rels/chart541.xml.rels><?xml version='1.0' encoding='UTF-8' standalone='yes'?>
<Relationships xmlns="http://schemas.openxmlformats.org/package/2006/relationships"><Relationship Id="rId1" Type="http://schemas.openxmlformats.org/officeDocument/2006/relationships/package" Target="../embeddings/Microsoft_Excel_Sheet541.xlsx"/></Relationships>
</file>

<file path=ppt/charts/_rels/chart542.xml.rels><?xml version='1.0' encoding='UTF-8' standalone='yes'?>
<Relationships xmlns="http://schemas.openxmlformats.org/package/2006/relationships"><Relationship Id="rId1" Type="http://schemas.openxmlformats.org/officeDocument/2006/relationships/package" Target="../embeddings/Microsoft_Excel_Sheet542.xlsx"/></Relationships>
</file>

<file path=ppt/charts/_rels/chart543.xml.rels><?xml version='1.0' encoding='UTF-8' standalone='yes'?>
<Relationships xmlns="http://schemas.openxmlformats.org/package/2006/relationships"><Relationship Id="rId1" Type="http://schemas.openxmlformats.org/officeDocument/2006/relationships/package" Target="../embeddings/Microsoft_Excel_Sheet543.xlsx"/></Relationships>
</file>

<file path=ppt/charts/_rels/chart544.xml.rels><?xml version='1.0' encoding='UTF-8' standalone='yes'?>
<Relationships xmlns="http://schemas.openxmlformats.org/package/2006/relationships"><Relationship Id="rId1" Type="http://schemas.openxmlformats.org/officeDocument/2006/relationships/package" Target="../embeddings/Microsoft_Excel_Sheet544.xlsx"/></Relationships>
</file>

<file path=ppt/charts/_rels/chart545.xml.rels><?xml version='1.0' encoding='UTF-8' standalone='yes'?>
<Relationships xmlns="http://schemas.openxmlformats.org/package/2006/relationships"><Relationship Id="rId1" Type="http://schemas.openxmlformats.org/officeDocument/2006/relationships/package" Target="../embeddings/Microsoft_Excel_Sheet545.xlsx"/></Relationships>
</file>

<file path=ppt/charts/_rels/chart546.xml.rels><?xml version='1.0' encoding='UTF-8' standalone='yes'?>
<Relationships xmlns="http://schemas.openxmlformats.org/package/2006/relationships"><Relationship Id="rId1" Type="http://schemas.openxmlformats.org/officeDocument/2006/relationships/package" Target="../embeddings/Microsoft_Excel_Sheet546.xlsx"/></Relationships>
</file>

<file path=ppt/charts/_rels/chart547.xml.rels><?xml version='1.0' encoding='UTF-8' standalone='yes'?>
<Relationships xmlns="http://schemas.openxmlformats.org/package/2006/relationships"><Relationship Id="rId1" Type="http://schemas.openxmlformats.org/officeDocument/2006/relationships/package" Target="../embeddings/Microsoft_Excel_Sheet547.xlsx"/></Relationships>
</file>

<file path=ppt/charts/_rels/chart548.xml.rels><?xml version='1.0' encoding='UTF-8' standalone='yes'?>
<Relationships xmlns="http://schemas.openxmlformats.org/package/2006/relationships"><Relationship Id="rId1" Type="http://schemas.openxmlformats.org/officeDocument/2006/relationships/package" Target="../embeddings/Microsoft_Excel_Sheet548.xlsx"/></Relationships>
</file>

<file path=ppt/charts/_rels/chart549.xml.rels><?xml version='1.0' encoding='UTF-8' standalone='yes'?>
<Relationships xmlns="http://schemas.openxmlformats.org/package/2006/relationships"><Relationship Id="rId1" Type="http://schemas.openxmlformats.org/officeDocument/2006/relationships/package" Target="../embeddings/Microsoft_Excel_Sheet549.xlsx"/></Relationships>
</file>

<file path=ppt/charts/_rels/chart550.xml.rels><?xml version='1.0' encoding='UTF-8' standalone='yes'?>
<Relationships xmlns="http://schemas.openxmlformats.org/package/2006/relationships"><Relationship Id="rId1" Type="http://schemas.openxmlformats.org/officeDocument/2006/relationships/package" Target="../embeddings/Microsoft_Excel_Sheet550.xlsx"/></Relationships>
</file>

<file path=ppt/charts/_rels/chart551.xml.rels><?xml version='1.0' encoding='UTF-8' standalone='yes'?>
<Relationships xmlns="http://schemas.openxmlformats.org/package/2006/relationships"><Relationship Id="rId1" Type="http://schemas.openxmlformats.org/officeDocument/2006/relationships/package" Target="../embeddings/Microsoft_Excel_Sheet551.xlsx"/></Relationships>
</file>

<file path=ppt/charts/_rels/chart552.xml.rels><?xml version='1.0' encoding='UTF-8' standalone='yes'?>
<Relationships xmlns="http://schemas.openxmlformats.org/package/2006/relationships"><Relationship Id="rId1" Type="http://schemas.openxmlformats.org/officeDocument/2006/relationships/package" Target="../embeddings/Microsoft_Excel_Sheet552.xlsx"/></Relationships>
</file>

<file path=ppt/charts/_rels/chart553.xml.rels><?xml version='1.0' encoding='UTF-8' standalone='yes'?>
<Relationships xmlns="http://schemas.openxmlformats.org/package/2006/relationships"><Relationship Id="rId1" Type="http://schemas.openxmlformats.org/officeDocument/2006/relationships/package" Target="../embeddings/Microsoft_Excel_Sheet553.xlsx"/></Relationships>
</file>

<file path=ppt/charts/_rels/chart554.xml.rels><?xml version='1.0' encoding='UTF-8' standalone='yes'?>
<Relationships xmlns="http://schemas.openxmlformats.org/package/2006/relationships"><Relationship Id="rId1" Type="http://schemas.openxmlformats.org/officeDocument/2006/relationships/package" Target="../embeddings/Microsoft_Excel_Sheet554.xlsx"/></Relationships>
</file>

<file path=ppt/charts/_rels/chart555.xml.rels><?xml version='1.0' encoding='UTF-8' standalone='yes'?>
<Relationships xmlns="http://schemas.openxmlformats.org/package/2006/relationships"><Relationship Id="rId1" Type="http://schemas.openxmlformats.org/officeDocument/2006/relationships/package" Target="../embeddings/Microsoft_Excel_Sheet555.xlsx"/></Relationships>
</file>

<file path=ppt/charts/_rels/chart556.xml.rels><?xml version='1.0' encoding='UTF-8' standalone='yes'?>
<Relationships xmlns="http://schemas.openxmlformats.org/package/2006/relationships"><Relationship Id="rId1" Type="http://schemas.openxmlformats.org/officeDocument/2006/relationships/package" Target="../embeddings/Microsoft_Excel_Sheet556.xlsx"/></Relationships>
</file>

<file path=ppt/charts/_rels/chart557.xml.rels><?xml version='1.0' encoding='UTF-8' standalone='yes'?>
<Relationships xmlns="http://schemas.openxmlformats.org/package/2006/relationships"><Relationship Id="rId1" Type="http://schemas.openxmlformats.org/officeDocument/2006/relationships/package" Target="../embeddings/Microsoft_Excel_Sheet557.xlsx"/></Relationships>
</file>

<file path=ppt/charts/_rels/chart558.xml.rels><?xml version='1.0' encoding='UTF-8' standalone='yes'?>
<Relationships xmlns="http://schemas.openxmlformats.org/package/2006/relationships"><Relationship Id="rId1" Type="http://schemas.openxmlformats.org/officeDocument/2006/relationships/package" Target="../embeddings/Microsoft_Excel_Sheet558.xlsx"/></Relationships>
</file>

<file path=ppt/charts/_rels/chart559.xml.rels><?xml version='1.0' encoding='UTF-8' standalone='yes'?>
<Relationships xmlns="http://schemas.openxmlformats.org/package/2006/relationships"><Relationship Id="rId1" Type="http://schemas.openxmlformats.org/officeDocument/2006/relationships/package" Target="../embeddings/Microsoft_Excel_Sheet559.xlsx"/></Relationships>
</file>

<file path=ppt/charts/_rels/chart560.xml.rels><?xml version='1.0' encoding='UTF-8' standalone='yes'?>
<Relationships xmlns="http://schemas.openxmlformats.org/package/2006/relationships"><Relationship Id="rId1" Type="http://schemas.openxmlformats.org/officeDocument/2006/relationships/package" Target="../embeddings/Microsoft_Excel_Sheet560.xlsx"/></Relationships>
</file>

<file path=ppt/charts/_rels/chart561.xml.rels><?xml version='1.0' encoding='UTF-8' standalone='yes'?>
<Relationships xmlns="http://schemas.openxmlformats.org/package/2006/relationships"><Relationship Id="rId1" Type="http://schemas.openxmlformats.org/officeDocument/2006/relationships/package" Target="../embeddings/Microsoft_Excel_Sheet561.xlsx"/></Relationships>
</file>

<file path=ppt/charts/_rels/chart562.xml.rels><?xml version='1.0' encoding='UTF-8' standalone='yes'?>
<Relationships xmlns="http://schemas.openxmlformats.org/package/2006/relationships"><Relationship Id="rId1" Type="http://schemas.openxmlformats.org/officeDocument/2006/relationships/package" Target="../embeddings/Microsoft_Excel_Sheet562.xlsx"/></Relationships>
</file>

<file path=ppt/charts/_rels/chart563.xml.rels><?xml version='1.0' encoding='UTF-8' standalone='yes'?>
<Relationships xmlns="http://schemas.openxmlformats.org/package/2006/relationships"><Relationship Id="rId1" Type="http://schemas.openxmlformats.org/officeDocument/2006/relationships/package" Target="../embeddings/Microsoft_Excel_Sheet563.xlsx"/></Relationships>
</file>

<file path=ppt/charts/_rels/chart564.xml.rels><?xml version='1.0' encoding='UTF-8' standalone='yes'?>
<Relationships xmlns="http://schemas.openxmlformats.org/package/2006/relationships"><Relationship Id="rId1" Type="http://schemas.openxmlformats.org/officeDocument/2006/relationships/package" Target="../embeddings/Microsoft_Excel_Sheet564.xlsx"/></Relationships>
</file>

<file path=ppt/charts/_rels/chart565.xml.rels><?xml version='1.0' encoding='UTF-8' standalone='yes'?>
<Relationships xmlns="http://schemas.openxmlformats.org/package/2006/relationships"><Relationship Id="rId1" Type="http://schemas.openxmlformats.org/officeDocument/2006/relationships/package" Target="../embeddings/Microsoft_Excel_Sheet565.xlsx"/></Relationships>
</file>

<file path=ppt/charts/_rels/chart566.xml.rels><?xml version='1.0' encoding='UTF-8' standalone='yes'?>
<Relationships xmlns="http://schemas.openxmlformats.org/package/2006/relationships"><Relationship Id="rId1" Type="http://schemas.openxmlformats.org/officeDocument/2006/relationships/package" Target="../embeddings/Microsoft_Excel_Sheet566.xlsx"/></Relationships>
</file>

<file path=ppt/charts/_rels/chart567.xml.rels><?xml version='1.0' encoding='UTF-8' standalone='yes'?>
<Relationships xmlns="http://schemas.openxmlformats.org/package/2006/relationships"><Relationship Id="rId1" Type="http://schemas.openxmlformats.org/officeDocument/2006/relationships/package" Target="../embeddings/Microsoft_Excel_Sheet567.xlsx"/></Relationships>
</file>

<file path=ppt/charts/_rels/chart568.xml.rels><?xml version='1.0' encoding='UTF-8' standalone='yes'?>
<Relationships xmlns="http://schemas.openxmlformats.org/package/2006/relationships"><Relationship Id="rId1" Type="http://schemas.openxmlformats.org/officeDocument/2006/relationships/package" Target="../embeddings/Microsoft_Excel_Sheet568.xlsx"/></Relationships>
</file>

<file path=ppt/charts/_rels/chart569.xml.rels><?xml version='1.0' encoding='UTF-8' standalone='yes'?>
<Relationships xmlns="http://schemas.openxmlformats.org/package/2006/relationships"><Relationship Id="rId1" Type="http://schemas.openxmlformats.org/officeDocument/2006/relationships/package" Target="../embeddings/Microsoft_Excel_Sheet569.xlsx"/></Relationships>
</file>

<file path=ppt/charts/_rels/chart570.xml.rels><?xml version='1.0' encoding='UTF-8' standalone='yes'?>
<Relationships xmlns="http://schemas.openxmlformats.org/package/2006/relationships"><Relationship Id="rId1" Type="http://schemas.openxmlformats.org/officeDocument/2006/relationships/package" Target="../embeddings/Microsoft_Excel_Sheet570.xlsx"/></Relationships>
</file>

<file path=ppt/charts/_rels/chart571.xml.rels><?xml version='1.0' encoding='UTF-8' standalone='yes'?>
<Relationships xmlns="http://schemas.openxmlformats.org/package/2006/relationships"><Relationship Id="rId1" Type="http://schemas.openxmlformats.org/officeDocument/2006/relationships/package" Target="../embeddings/Microsoft_Excel_Sheet571.xlsx"/></Relationships>
</file>

<file path=ppt/charts/_rels/chart572.xml.rels><?xml version='1.0' encoding='UTF-8' standalone='yes'?>
<Relationships xmlns="http://schemas.openxmlformats.org/package/2006/relationships"><Relationship Id="rId1" Type="http://schemas.openxmlformats.org/officeDocument/2006/relationships/package" Target="../embeddings/Microsoft_Excel_Sheet572.xlsx"/></Relationships>
</file>

<file path=ppt/charts/_rels/chart573.xml.rels><?xml version='1.0' encoding='UTF-8' standalone='yes'?>
<Relationships xmlns="http://schemas.openxmlformats.org/package/2006/relationships"><Relationship Id="rId1" Type="http://schemas.openxmlformats.org/officeDocument/2006/relationships/package" Target="../embeddings/Microsoft_Excel_Sheet573.xlsx"/></Relationships>
</file>

<file path=ppt/charts/_rels/chart574.xml.rels><?xml version='1.0' encoding='UTF-8' standalone='yes'?>
<Relationships xmlns="http://schemas.openxmlformats.org/package/2006/relationships"><Relationship Id="rId1" Type="http://schemas.openxmlformats.org/officeDocument/2006/relationships/package" Target="../embeddings/Microsoft_Excel_Sheet574.xlsx"/></Relationships>
</file>

<file path=ppt/charts/_rels/chart575.xml.rels><?xml version='1.0' encoding='UTF-8' standalone='yes'?>
<Relationships xmlns="http://schemas.openxmlformats.org/package/2006/relationships"><Relationship Id="rId1" Type="http://schemas.openxmlformats.org/officeDocument/2006/relationships/package" Target="../embeddings/Microsoft_Excel_Sheet575.xlsx"/></Relationships>
</file>

<file path=ppt/charts/_rels/chart576.xml.rels><?xml version='1.0' encoding='UTF-8' standalone='yes'?>
<Relationships xmlns="http://schemas.openxmlformats.org/package/2006/relationships"><Relationship Id="rId1" Type="http://schemas.openxmlformats.org/officeDocument/2006/relationships/package" Target="../embeddings/Microsoft_Excel_Sheet576.xlsx"/></Relationships>
</file>

<file path=ppt/charts/_rels/chart577.xml.rels><?xml version='1.0' encoding='UTF-8' standalone='yes'?>
<Relationships xmlns="http://schemas.openxmlformats.org/package/2006/relationships"><Relationship Id="rId1" Type="http://schemas.openxmlformats.org/officeDocument/2006/relationships/package" Target="../embeddings/Microsoft_Excel_Sheet577.xlsx"/></Relationships>
</file>

<file path=ppt/charts/_rels/chart578.xml.rels><?xml version='1.0' encoding='UTF-8' standalone='yes'?>
<Relationships xmlns="http://schemas.openxmlformats.org/package/2006/relationships"><Relationship Id="rId1" Type="http://schemas.openxmlformats.org/officeDocument/2006/relationships/package" Target="../embeddings/Microsoft_Excel_Sheet578.xlsx"/></Relationships>
</file>

<file path=ppt/charts/_rels/chart579.xml.rels><?xml version='1.0' encoding='UTF-8' standalone='yes'?>
<Relationships xmlns="http://schemas.openxmlformats.org/package/2006/relationships"><Relationship Id="rId1" Type="http://schemas.openxmlformats.org/officeDocument/2006/relationships/package" Target="../embeddings/Microsoft_Excel_Sheet579.xlsx"/></Relationships>
</file>

<file path=ppt/charts/_rels/chart580.xml.rels><?xml version='1.0' encoding='UTF-8' standalone='yes'?>
<Relationships xmlns="http://schemas.openxmlformats.org/package/2006/relationships"><Relationship Id="rId1" Type="http://schemas.openxmlformats.org/officeDocument/2006/relationships/package" Target="../embeddings/Microsoft_Excel_Sheet580.xlsx"/></Relationships>
</file>

<file path=ppt/charts/_rels/chart581.xml.rels><?xml version='1.0' encoding='UTF-8' standalone='yes'?>
<Relationships xmlns="http://schemas.openxmlformats.org/package/2006/relationships"><Relationship Id="rId1" Type="http://schemas.openxmlformats.org/officeDocument/2006/relationships/package" Target="../embeddings/Microsoft_Excel_Sheet581.xlsx"/></Relationships>
</file>

<file path=ppt/charts/_rels/chart582.xml.rels><?xml version='1.0' encoding='UTF-8' standalone='yes'?>
<Relationships xmlns="http://schemas.openxmlformats.org/package/2006/relationships"><Relationship Id="rId1" Type="http://schemas.openxmlformats.org/officeDocument/2006/relationships/package" Target="../embeddings/Microsoft_Excel_Sheet582.xlsx"/></Relationships>
</file>

<file path=ppt/charts/_rels/chart583.xml.rels><?xml version='1.0' encoding='UTF-8' standalone='yes'?>
<Relationships xmlns="http://schemas.openxmlformats.org/package/2006/relationships"><Relationship Id="rId1" Type="http://schemas.openxmlformats.org/officeDocument/2006/relationships/package" Target="../embeddings/Microsoft_Excel_Sheet583.xlsx"/></Relationships>
</file>

<file path=ppt/charts/_rels/chart584.xml.rels><?xml version='1.0' encoding='UTF-8' standalone='yes'?>
<Relationships xmlns="http://schemas.openxmlformats.org/package/2006/relationships"><Relationship Id="rId1" Type="http://schemas.openxmlformats.org/officeDocument/2006/relationships/package" Target="../embeddings/Microsoft_Excel_Sheet584.xlsx"/></Relationships>
</file>

<file path=ppt/charts/_rels/chart585.xml.rels><?xml version='1.0' encoding='UTF-8' standalone='yes'?>
<Relationships xmlns="http://schemas.openxmlformats.org/package/2006/relationships"><Relationship Id="rId1" Type="http://schemas.openxmlformats.org/officeDocument/2006/relationships/package" Target="../embeddings/Microsoft_Excel_Sheet585.xlsx"/></Relationships>
</file>

<file path=ppt/charts/_rels/chart586.xml.rels><?xml version='1.0' encoding='UTF-8' standalone='yes'?>
<Relationships xmlns="http://schemas.openxmlformats.org/package/2006/relationships"><Relationship Id="rId1" Type="http://schemas.openxmlformats.org/officeDocument/2006/relationships/package" Target="../embeddings/Microsoft_Excel_Sheet586.xlsx"/></Relationships>
</file>

<file path=ppt/charts/_rels/chart587.xml.rels><?xml version='1.0' encoding='UTF-8' standalone='yes'?>
<Relationships xmlns="http://schemas.openxmlformats.org/package/2006/relationships"><Relationship Id="rId1" Type="http://schemas.openxmlformats.org/officeDocument/2006/relationships/package" Target="../embeddings/Microsoft_Excel_Sheet587.xlsx"/></Relationships>
</file>

<file path=ppt/charts/_rels/chart588.xml.rels><?xml version='1.0' encoding='UTF-8' standalone='yes'?>
<Relationships xmlns="http://schemas.openxmlformats.org/package/2006/relationships"><Relationship Id="rId1" Type="http://schemas.openxmlformats.org/officeDocument/2006/relationships/package" Target="../embeddings/Microsoft_Excel_Sheet588.xlsx"/></Relationships>
</file>

<file path=ppt/charts/_rels/chart589.xml.rels><?xml version='1.0' encoding='UTF-8' standalone='yes'?>
<Relationships xmlns="http://schemas.openxmlformats.org/package/2006/relationships"><Relationship Id="rId1" Type="http://schemas.openxmlformats.org/officeDocument/2006/relationships/package" Target="../embeddings/Microsoft_Excel_Sheet589.xlsx"/></Relationships>
</file>

<file path=ppt/charts/_rels/chart590.xml.rels><?xml version='1.0' encoding='UTF-8' standalone='yes'?>
<Relationships xmlns="http://schemas.openxmlformats.org/package/2006/relationships"><Relationship Id="rId1" Type="http://schemas.openxmlformats.org/officeDocument/2006/relationships/package" Target="../embeddings/Microsoft_Excel_Sheet590.xlsx"/></Relationships>
</file>

<file path=ppt/charts/_rels/chart591.xml.rels><?xml version='1.0' encoding='UTF-8' standalone='yes'?>
<Relationships xmlns="http://schemas.openxmlformats.org/package/2006/relationships"><Relationship Id="rId1" Type="http://schemas.openxmlformats.org/officeDocument/2006/relationships/package" Target="../embeddings/Microsoft_Excel_Sheet591.xlsx"/></Relationships>
</file>

<file path=ppt/charts/_rels/chart592.xml.rels><?xml version='1.0' encoding='UTF-8' standalone='yes'?>
<Relationships xmlns="http://schemas.openxmlformats.org/package/2006/relationships"><Relationship Id="rId1" Type="http://schemas.openxmlformats.org/officeDocument/2006/relationships/package" Target="../embeddings/Microsoft_Excel_Sheet592.xlsx"/></Relationships>
</file>

<file path=ppt/charts/_rels/chart593.xml.rels><?xml version='1.0' encoding='UTF-8' standalone='yes'?>
<Relationships xmlns="http://schemas.openxmlformats.org/package/2006/relationships"><Relationship Id="rId1" Type="http://schemas.openxmlformats.org/officeDocument/2006/relationships/package" Target="../embeddings/Microsoft_Excel_Sheet593.xlsx"/></Relationships>
</file>

<file path=ppt/charts/_rels/chart594.xml.rels><?xml version='1.0' encoding='UTF-8' standalone='yes'?>
<Relationships xmlns="http://schemas.openxmlformats.org/package/2006/relationships"><Relationship Id="rId1" Type="http://schemas.openxmlformats.org/officeDocument/2006/relationships/package" Target="../embeddings/Microsoft_Excel_Sheet594.xlsx"/></Relationships>
</file>

<file path=ppt/charts/_rels/chart595.xml.rels><?xml version='1.0' encoding='UTF-8' standalone='yes'?>
<Relationships xmlns="http://schemas.openxmlformats.org/package/2006/relationships"><Relationship Id="rId1" Type="http://schemas.openxmlformats.org/officeDocument/2006/relationships/package" Target="../embeddings/Microsoft_Excel_Sheet595.xlsx"/></Relationships>
</file>

<file path=ppt/charts/_rels/chart596.xml.rels><?xml version='1.0' encoding='UTF-8' standalone='yes'?>
<Relationships xmlns="http://schemas.openxmlformats.org/package/2006/relationships"><Relationship Id="rId1" Type="http://schemas.openxmlformats.org/officeDocument/2006/relationships/package" Target="../embeddings/Microsoft_Excel_Sheet596.xlsx"/></Relationships>
</file>

<file path=ppt/charts/_rels/chart597.xml.rels><?xml version='1.0' encoding='UTF-8' standalone='yes'?>
<Relationships xmlns="http://schemas.openxmlformats.org/package/2006/relationships"><Relationship Id="rId1" Type="http://schemas.openxmlformats.org/officeDocument/2006/relationships/package" Target="../embeddings/Microsoft_Excel_Sheet597.xlsx"/></Relationships>
</file>

<file path=ppt/charts/_rels/chart598.xml.rels><?xml version='1.0' encoding='UTF-8' standalone='yes'?>
<Relationships xmlns="http://schemas.openxmlformats.org/package/2006/relationships"><Relationship Id="rId1" Type="http://schemas.openxmlformats.org/officeDocument/2006/relationships/package" Target="../embeddings/Microsoft_Excel_Sheet598.xlsx"/></Relationships>
</file>

<file path=ppt/charts/_rels/chart599.xml.rels><?xml version='1.0' encoding='UTF-8' standalone='yes'?>
<Relationships xmlns="http://schemas.openxmlformats.org/package/2006/relationships"><Relationship Id="rId1" Type="http://schemas.openxmlformats.org/officeDocument/2006/relationships/package" Target="../embeddings/Microsoft_Excel_Sheet599.xlsx"/></Relationships>
</file>

<file path=ppt/charts/_rels/chart600.xml.rels><?xml version='1.0' encoding='UTF-8' standalone='yes'?>
<Relationships xmlns="http://schemas.openxmlformats.org/package/2006/relationships"><Relationship Id="rId1" Type="http://schemas.openxmlformats.org/officeDocument/2006/relationships/package" Target="../embeddings/Microsoft_Excel_Sheet600.xlsx"/></Relationships>
</file>

<file path=ppt/charts/_rels/chart601.xml.rels><?xml version='1.0' encoding='UTF-8' standalone='yes'?>
<Relationships xmlns="http://schemas.openxmlformats.org/package/2006/relationships"><Relationship Id="rId1" Type="http://schemas.openxmlformats.org/officeDocument/2006/relationships/package" Target="../embeddings/Microsoft_Excel_Sheet601.xlsx"/></Relationships>
</file>

<file path=ppt/charts/_rels/chart602.xml.rels><?xml version='1.0' encoding='UTF-8' standalone='yes'?>
<Relationships xmlns="http://schemas.openxmlformats.org/package/2006/relationships"><Relationship Id="rId1" Type="http://schemas.openxmlformats.org/officeDocument/2006/relationships/package" Target="../embeddings/Microsoft_Excel_Sheet602.xlsx"/></Relationships>
</file>

<file path=ppt/charts/_rels/chart603.xml.rels><?xml version='1.0' encoding='UTF-8' standalone='yes'?>
<Relationships xmlns="http://schemas.openxmlformats.org/package/2006/relationships"><Relationship Id="rId1" Type="http://schemas.openxmlformats.org/officeDocument/2006/relationships/package" Target="../embeddings/Microsoft_Excel_Sheet603.xlsx"/></Relationships>
</file>

<file path=ppt/charts/_rels/chart604.xml.rels><?xml version='1.0' encoding='UTF-8' standalone='yes'?>
<Relationships xmlns="http://schemas.openxmlformats.org/package/2006/relationships"><Relationship Id="rId1" Type="http://schemas.openxmlformats.org/officeDocument/2006/relationships/package" Target="../embeddings/Microsoft_Excel_Sheet604.xlsx"/></Relationships>
</file>

<file path=ppt/charts/_rels/chart605.xml.rels><?xml version='1.0' encoding='UTF-8' standalone='yes'?>
<Relationships xmlns="http://schemas.openxmlformats.org/package/2006/relationships"><Relationship Id="rId1" Type="http://schemas.openxmlformats.org/officeDocument/2006/relationships/package" Target="../embeddings/Microsoft_Excel_Sheet605.xlsx"/></Relationships>
</file>

<file path=ppt/charts/_rels/chart606.xml.rels><?xml version='1.0' encoding='UTF-8' standalone='yes'?>
<Relationships xmlns="http://schemas.openxmlformats.org/package/2006/relationships"><Relationship Id="rId1" Type="http://schemas.openxmlformats.org/officeDocument/2006/relationships/package" Target="../embeddings/Microsoft_Excel_Sheet606.xlsx"/></Relationships>
</file>

<file path=ppt/charts/_rels/chart607.xml.rels><?xml version='1.0' encoding='UTF-8' standalone='yes'?>
<Relationships xmlns="http://schemas.openxmlformats.org/package/2006/relationships"><Relationship Id="rId1" Type="http://schemas.openxmlformats.org/officeDocument/2006/relationships/package" Target="../embeddings/Microsoft_Excel_Sheet607.xlsx"/></Relationships>
</file>

<file path=ppt/charts/_rels/chart608.xml.rels><?xml version='1.0' encoding='UTF-8' standalone='yes'?>
<Relationships xmlns="http://schemas.openxmlformats.org/package/2006/relationships"><Relationship Id="rId1" Type="http://schemas.openxmlformats.org/officeDocument/2006/relationships/package" Target="../embeddings/Microsoft_Excel_Sheet608.xlsx"/></Relationships>
</file>

<file path=ppt/charts/_rels/chart609.xml.rels><?xml version='1.0' encoding='UTF-8' standalone='yes'?>
<Relationships xmlns="http://schemas.openxmlformats.org/package/2006/relationships"><Relationship Id="rId1" Type="http://schemas.openxmlformats.org/officeDocument/2006/relationships/package" Target="../embeddings/Microsoft_Excel_Sheet609.xlsx"/></Relationships>
</file>

<file path=ppt/charts/_rels/chart610.xml.rels><?xml version='1.0' encoding='UTF-8' standalone='yes'?>
<Relationships xmlns="http://schemas.openxmlformats.org/package/2006/relationships"><Relationship Id="rId1" Type="http://schemas.openxmlformats.org/officeDocument/2006/relationships/package" Target="../embeddings/Microsoft_Excel_Sheet610.xlsx"/></Relationships>
</file>

<file path=ppt/charts/_rels/chart611.xml.rels><?xml version='1.0' encoding='UTF-8' standalone='yes'?>
<Relationships xmlns="http://schemas.openxmlformats.org/package/2006/relationships"><Relationship Id="rId1" Type="http://schemas.openxmlformats.org/officeDocument/2006/relationships/package" Target="../embeddings/Microsoft_Excel_Sheet611.xlsx"/></Relationships>
</file>

<file path=ppt/charts/_rels/chart612.xml.rels><?xml version='1.0' encoding='UTF-8' standalone='yes'?>
<Relationships xmlns="http://schemas.openxmlformats.org/package/2006/relationships"><Relationship Id="rId1" Type="http://schemas.openxmlformats.org/officeDocument/2006/relationships/package" Target="../embeddings/Microsoft_Excel_Sheet612.xlsx"/></Relationships>
</file>

<file path=ppt/charts/_rels/chart613.xml.rels><?xml version='1.0' encoding='UTF-8' standalone='yes'?>
<Relationships xmlns="http://schemas.openxmlformats.org/package/2006/relationships"><Relationship Id="rId1" Type="http://schemas.openxmlformats.org/officeDocument/2006/relationships/package" Target="../embeddings/Microsoft_Excel_Sheet613.xlsx"/></Relationships>
</file>

<file path=ppt/charts/_rels/chart614.xml.rels><?xml version='1.0' encoding='UTF-8' standalone='yes'?>
<Relationships xmlns="http://schemas.openxmlformats.org/package/2006/relationships"><Relationship Id="rId1" Type="http://schemas.openxmlformats.org/officeDocument/2006/relationships/package" Target="../embeddings/Microsoft_Excel_Sheet614.xlsx"/></Relationships>
</file>

<file path=ppt/charts/_rels/chart615.xml.rels><?xml version='1.0' encoding='UTF-8' standalone='yes'?>
<Relationships xmlns="http://schemas.openxmlformats.org/package/2006/relationships"><Relationship Id="rId1" Type="http://schemas.openxmlformats.org/officeDocument/2006/relationships/package" Target="../embeddings/Microsoft_Excel_Sheet615.xlsx"/></Relationships>
</file>

<file path=ppt/charts/_rels/chart616.xml.rels><?xml version='1.0' encoding='UTF-8' standalone='yes'?>
<Relationships xmlns="http://schemas.openxmlformats.org/package/2006/relationships"><Relationship Id="rId1" Type="http://schemas.openxmlformats.org/officeDocument/2006/relationships/package" Target="../embeddings/Microsoft_Excel_Sheet616.xlsx"/></Relationships>
</file>

<file path=ppt/charts/_rels/chart617.xml.rels><?xml version='1.0' encoding='UTF-8' standalone='yes'?>
<Relationships xmlns="http://schemas.openxmlformats.org/package/2006/relationships"><Relationship Id="rId1" Type="http://schemas.openxmlformats.org/officeDocument/2006/relationships/package" Target="../embeddings/Microsoft_Excel_Sheet617.xlsx"/></Relationships>
</file>

<file path=ppt/charts/_rels/chart618.xml.rels><?xml version='1.0' encoding='UTF-8' standalone='yes'?>
<Relationships xmlns="http://schemas.openxmlformats.org/package/2006/relationships"><Relationship Id="rId1" Type="http://schemas.openxmlformats.org/officeDocument/2006/relationships/package" Target="../embeddings/Microsoft_Excel_Sheet618.xlsx"/></Relationships>
</file>

<file path=ppt/charts/_rels/chart619.xml.rels><?xml version='1.0' encoding='UTF-8' standalone='yes'?>
<Relationships xmlns="http://schemas.openxmlformats.org/package/2006/relationships"><Relationship Id="rId1" Type="http://schemas.openxmlformats.org/officeDocument/2006/relationships/package" Target="../embeddings/Microsoft_Excel_Sheet619.xlsx"/></Relationships>
</file>

<file path=ppt/charts/_rels/chart620.xml.rels><?xml version='1.0' encoding='UTF-8' standalone='yes'?>
<Relationships xmlns="http://schemas.openxmlformats.org/package/2006/relationships"><Relationship Id="rId1" Type="http://schemas.openxmlformats.org/officeDocument/2006/relationships/package" Target="../embeddings/Microsoft_Excel_Sheet620.xlsx"/></Relationships>
</file>

<file path=ppt/charts/_rels/chart621.xml.rels><?xml version='1.0' encoding='UTF-8' standalone='yes'?>
<Relationships xmlns="http://schemas.openxmlformats.org/package/2006/relationships"><Relationship Id="rId1" Type="http://schemas.openxmlformats.org/officeDocument/2006/relationships/package" Target="../embeddings/Microsoft_Excel_Sheet621.xlsx"/></Relationships>
</file>

<file path=ppt/charts/_rels/chart622.xml.rels><?xml version='1.0' encoding='UTF-8' standalone='yes'?>
<Relationships xmlns="http://schemas.openxmlformats.org/package/2006/relationships"><Relationship Id="rId1" Type="http://schemas.openxmlformats.org/officeDocument/2006/relationships/package" Target="../embeddings/Microsoft_Excel_Sheet622.xlsx"/></Relationships>
</file>

<file path=ppt/charts/_rels/chart623.xml.rels><?xml version='1.0' encoding='UTF-8' standalone='yes'?>
<Relationships xmlns="http://schemas.openxmlformats.org/package/2006/relationships"><Relationship Id="rId1" Type="http://schemas.openxmlformats.org/officeDocument/2006/relationships/package" Target="../embeddings/Microsoft_Excel_Sheet623.xlsx"/></Relationships>
</file>

<file path=ppt/charts/_rels/chart624.xml.rels><?xml version='1.0' encoding='UTF-8' standalone='yes'?>
<Relationships xmlns="http://schemas.openxmlformats.org/package/2006/relationships"><Relationship Id="rId1" Type="http://schemas.openxmlformats.org/officeDocument/2006/relationships/package" Target="../embeddings/Microsoft_Excel_Sheet624.xlsx"/></Relationships>
</file>

<file path=ppt/charts/_rels/chart625.xml.rels><?xml version='1.0' encoding='UTF-8' standalone='yes'?>
<Relationships xmlns="http://schemas.openxmlformats.org/package/2006/relationships"><Relationship Id="rId1" Type="http://schemas.openxmlformats.org/officeDocument/2006/relationships/package" Target="../embeddings/Microsoft_Excel_Sheet625.xlsx"/></Relationships>
</file>

<file path=ppt/charts/_rels/chart626.xml.rels><?xml version='1.0' encoding='UTF-8' standalone='yes'?>
<Relationships xmlns="http://schemas.openxmlformats.org/package/2006/relationships"><Relationship Id="rId1" Type="http://schemas.openxmlformats.org/officeDocument/2006/relationships/package" Target="../embeddings/Microsoft_Excel_Sheet626.xlsx"/></Relationships>
</file>

<file path=ppt/charts/_rels/chart627.xml.rels><?xml version='1.0' encoding='UTF-8' standalone='yes'?>
<Relationships xmlns="http://schemas.openxmlformats.org/package/2006/relationships"><Relationship Id="rId1" Type="http://schemas.openxmlformats.org/officeDocument/2006/relationships/package" Target="../embeddings/Microsoft_Excel_Sheet627.xlsx"/></Relationships>
</file>

<file path=ppt/charts/_rels/chart628.xml.rels><?xml version='1.0' encoding='UTF-8' standalone='yes'?>
<Relationships xmlns="http://schemas.openxmlformats.org/package/2006/relationships"><Relationship Id="rId1" Type="http://schemas.openxmlformats.org/officeDocument/2006/relationships/package" Target="../embeddings/Microsoft_Excel_Sheet628.xlsx"/></Relationships>
</file>

<file path=ppt/charts/_rels/chart629.xml.rels><?xml version='1.0' encoding='UTF-8' standalone='yes'?>
<Relationships xmlns="http://schemas.openxmlformats.org/package/2006/relationships"><Relationship Id="rId1" Type="http://schemas.openxmlformats.org/officeDocument/2006/relationships/package" Target="../embeddings/Microsoft_Excel_Sheet629.xlsx"/></Relationships>
</file>

<file path=ppt/charts/_rels/chart630.xml.rels><?xml version='1.0' encoding='UTF-8' standalone='yes'?>
<Relationships xmlns="http://schemas.openxmlformats.org/package/2006/relationships"><Relationship Id="rId1" Type="http://schemas.openxmlformats.org/officeDocument/2006/relationships/package" Target="../embeddings/Microsoft_Excel_Sheet630.xlsx"/></Relationships>
</file>

<file path=ppt/charts/_rels/chart631.xml.rels><?xml version='1.0' encoding='UTF-8' standalone='yes'?>
<Relationships xmlns="http://schemas.openxmlformats.org/package/2006/relationships"><Relationship Id="rId1" Type="http://schemas.openxmlformats.org/officeDocument/2006/relationships/package" Target="../embeddings/Microsoft_Excel_Sheet631.xlsx"/></Relationships>
</file>

<file path=ppt/charts/_rels/chart632.xml.rels><?xml version='1.0' encoding='UTF-8' standalone='yes'?>
<Relationships xmlns="http://schemas.openxmlformats.org/package/2006/relationships"><Relationship Id="rId1" Type="http://schemas.openxmlformats.org/officeDocument/2006/relationships/package" Target="../embeddings/Microsoft_Excel_Sheet632.xlsx"/></Relationships>
</file>

<file path=ppt/charts/_rels/chart633.xml.rels><?xml version='1.0' encoding='UTF-8' standalone='yes'?>
<Relationships xmlns="http://schemas.openxmlformats.org/package/2006/relationships"><Relationship Id="rId1" Type="http://schemas.openxmlformats.org/officeDocument/2006/relationships/package" Target="../embeddings/Microsoft_Excel_Sheet633.xlsx"/></Relationships>
</file>

<file path=ppt/charts/_rels/chart634.xml.rels><?xml version='1.0' encoding='UTF-8' standalone='yes'?>
<Relationships xmlns="http://schemas.openxmlformats.org/package/2006/relationships"><Relationship Id="rId1" Type="http://schemas.openxmlformats.org/officeDocument/2006/relationships/package" Target="../embeddings/Microsoft_Excel_Sheet634.xlsx"/></Relationships>
</file>

<file path=ppt/charts/_rels/chart635.xml.rels><?xml version='1.0' encoding='UTF-8' standalone='yes'?>
<Relationships xmlns="http://schemas.openxmlformats.org/package/2006/relationships"><Relationship Id="rId1" Type="http://schemas.openxmlformats.org/officeDocument/2006/relationships/package" Target="../embeddings/Microsoft_Excel_Sheet635.xlsx"/></Relationships>
</file>

<file path=ppt/charts/_rels/chart636.xml.rels><?xml version='1.0' encoding='UTF-8' standalone='yes'?>
<Relationships xmlns="http://schemas.openxmlformats.org/package/2006/relationships"><Relationship Id="rId1" Type="http://schemas.openxmlformats.org/officeDocument/2006/relationships/package" Target="../embeddings/Microsoft_Excel_Sheet636.xlsx"/></Relationships>
</file>

<file path=ppt/charts/_rels/chart637.xml.rels><?xml version='1.0' encoding='UTF-8' standalone='yes'?>
<Relationships xmlns="http://schemas.openxmlformats.org/package/2006/relationships"><Relationship Id="rId1" Type="http://schemas.openxmlformats.org/officeDocument/2006/relationships/package" Target="../embeddings/Microsoft_Excel_Sheet637.xlsx"/></Relationships>
</file>

<file path=ppt/charts/_rels/chart638.xml.rels><?xml version='1.0' encoding='UTF-8' standalone='yes'?>
<Relationships xmlns="http://schemas.openxmlformats.org/package/2006/relationships"><Relationship Id="rId1" Type="http://schemas.openxmlformats.org/officeDocument/2006/relationships/package" Target="../embeddings/Microsoft_Excel_Sheet638.xlsx"/></Relationships>
</file>

<file path=ppt/charts/_rels/chart639.xml.rels><?xml version='1.0' encoding='UTF-8' standalone='yes'?>
<Relationships xmlns="http://schemas.openxmlformats.org/package/2006/relationships"><Relationship Id="rId1" Type="http://schemas.openxmlformats.org/officeDocument/2006/relationships/package" Target="../embeddings/Microsoft_Excel_Sheet639.xlsx"/></Relationships>
</file>

<file path=ppt/charts/_rels/chart640.xml.rels><?xml version='1.0' encoding='UTF-8' standalone='yes'?>
<Relationships xmlns="http://schemas.openxmlformats.org/package/2006/relationships"><Relationship Id="rId1" Type="http://schemas.openxmlformats.org/officeDocument/2006/relationships/package" Target="../embeddings/Microsoft_Excel_Sheet640.xlsx"/></Relationships>
</file>

<file path=ppt/charts/_rels/chart641.xml.rels><?xml version='1.0' encoding='UTF-8' standalone='yes'?>
<Relationships xmlns="http://schemas.openxmlformats.org/package/2006/relationships"><Relationship Id="rId1" Type="http://schemas.openxmlformats.org/officeDocument/2006/relationships/package" Target="../embeddings/Microsoft_Excel_Sheet641.xlsx"/></Relationships>
</file>

<file path=ppt/charts/_rels/chart642.xml.rels><?xml version='1.0' encoding='UTF-8' standalone='yes'?>
<Relationships xmlns="http://schemas.openxmlformats.org/package/2006/relationships"><Relationship Id="rId1" Type="http://schemas.openxmlformats.org/officeDocument/2006/relationships/package" Target="../embeddings/Microsoft_Excel_Sheet642.xlsx"/></Relationships>
</file>

<file path=ppt/charts/_rels/chart643.xml.rels><?xml version='1.0' encoding='UTF-8' standalone='yes'?>
<Relationships xmlns="http://schemas.openxmlformats.org/package/2006/relationships"><Relationship Id="rId1" Type="http://schemas.openxmlformats.org/officeDocument/2006/relationships/package" Target="../embeddings/Microsoft_Excel_Sheet643.xlsx"/></Relationships>
</file>

<file path=ppt/charts/_rels/chart644.xml.rels><?xml version='1.0' encoding='UTF-8' standalone='yes'?>
<Relationships xmlns="http://schemas.openxmlformats.org/package/2006/relationships"><Relationship Id="rId1" Type="http://schemas.openxmlformats.org/officeDocument/2006/relationships/package" Target="../embeddings/Microsoft_Excel_Sheet644.xlsx"/></Relationships>
</file>

<file path=ppt/charts/_rels/chart645.xml.rels><?xml version='1.0' encoding='UTF-8' standalone='yes'?>
<Relationships xmlns="http://schemas.openxmlformats.org/package/2006/relationships"><Relationship Id="rId1" Type="http://schemas.openxmlformats.org/officeDocument/2006/relationships/package" Target="../embeddings/Microsoft_Excel_Sheet645.xlsx"/></Relationships>
</file>

<file path=ppt/charts/_rels/chart646.xml.rels><?xml version='1.0' encoding='UTF-8' standalone='yes'?>
<Relationships xmlns="http://schemas.openxmlformats.org/package/2006/relationships"><Relationship Id="rId1" Type="http://schemas.openxmlformats.org/officeDocument/2006/relationships/package" Target="../embeddings/Microsoft_Excel_Sheet646.xlsx"/></Relationships>
</file>

<file path=ppt/charts/_rels/chart647.xml.rels><?xml version='1.0' encoding='UTF-8' standalone='yes'?>
<Relationships xmlns="http://schemas.openxmlformats.org/package/2006/relationships"><Relationship Id="rId1" Type="http://schemas.openxmlformats.org/officeDocument/2006/relationships/package" Target="../embeddings/Microsoft_Excel_Sheet647.xlsx"/></Relationships>
</file>

<file path=ppt/charts/_rels/chart648.xml.rels><?xml version='1.0' encoding='UTF-8' standalone='yes'?>
<Relationships xmlns="http://schemas.openxmlformats.org/package/2006/relationships"><Relationship Id="rId1" Type="http://schemas.openxmlformats.org/officeDocument/2006/relationships/package" Target="../embeddings/Microsoft_Excel_Sheet648.xlsx"/></Relationships>
</file>

<file path=ppt/charts/_rels/chart649.xml.rels><?xml version='1.0' encoding='UTF-8' standalone='yes'?>
<Relationships xmlns="http://schemas.openxmlformats.org/package/2006/relationships"><Relationship Id="rId1" Type="http://schemas.openxmlformats.org/officeDocument/2006/relationships/package" Target="../embeddings/Microsoft_Excel_Sheet649.xlsx"/></Relationships>
</file>

<file path=ppt/charts/_rels/chart650.xml.rels><?xml version='1.0' encoding='UTF-8' standalone='yes'?>
<Relationships xmlns="http://schemas.openxmlformats.org/package/2006/relationships"><Relationship Id="rId1" Type="http://schemas.openxmlformats.org/officeDocument/2006/relationships/package" Target="../embeddings/Microsoft_Excel_Sheet650.xlsx"/></Relationships>
</file>

<file path=ppt/charts/_rels/chart651.xml.rels><?xml version='1.0' encoding='UTF-8' standalone='yes'?>
<Relationships xmlns="http://schemas.openxmlformats.org/package/2006/relationships"><Relationship Id="rId1" Type="http://schemas.openxmlformats.org/officeDocument/2006/relationships/package" Target="../embeddings/Microsoft_Excel_Sheet651.xlsx"/></Relationships>
</file>

<file path=ppt/charts/_rels/chart652.xml.rels><?xml version='1.0' encoding='UTF-8' standalone='yes'?>
<Relationships xmlns="http://schemas.openxmlformats.org/package/2006/relationships"><Relationship Id="rId1" Type="http://schemas.openxmlformats.org/officeDocument/2006/relationships/package" Target="../embeddings/Microsoft_Excel_Sheet652.xlsx"/></Relationships>
</file>

<file path=ppt/charts/_rels/chart653.xml.rels><?xml version='1.0' encoding='UTF-8' standalone='yes'?>
<Relationships xmlns="http://schemas.openxmlformats.org/package/2006/relationships"><Relationship Id="rId1" Type="http://schemas.openxmlformats.org/officeDocument/2006/relationships/package" Target="../embeddings/Microsoft_Excel_Sheet653.xlsx"/></Relationships>
</file>

<file path=ppt/charts/_rels/chart654.xml.rels><?xml version='1.0' encoding='UTF-8' standalone='yes'?>
<Relationships xmlns="http://schemas.openxmlformats.org/package/2006/relationships"><Relationship Id="rId1" Type="http://schemas.openxmlformats.org/officeDocument/2006/relationships/package" Target="../embeddings/Microsoft_Excel_Sheet654.xlsx"/></Relationships>
</file>

<file path=ppt/charts/_rels/chart655.xml.rels><?xml version='1.0' encoding='UTF-8' standalone='yes'?>
<Relationships xmlns="http://schemas.openxmlformats.org/package/2006/relationships"><Relationship Id="rId1" Type="http://schemas.openxmlformats.org/officeDocument/2006/relationships/package" Target="../embeddings/Microsoft_Excel_Sheet655.xlsx"/></Relationships>
</file>

<file path=ppt/charts/_rels/chart656.xml.rels><?xml version='1.0' encoding='UTF-8' standalone='yes'?>
<Relationships xmlns="http://schemas.openxmlformats.org/package/2006/relationships"><Relationship Id="rId1" Type="http://schemas.openxmlformats.org/officeDocument/2006/relationships/package" Target="../embeddings/Microsoft_Excel_Sheet656.xlsx"/></Relationships>
</file>

<file path=ppt/charts/_rels/chart657.xml.rels><?xml version='1.0' encoding='UTF-8' standalone='yes'?>
<Relationships xmlns="http://schemas.openxmlformats.org/package/2006/relationships"><Relationship Id="rId1" Type="http://schemas.openxmlformats.org/officeDocument/2006/relationships/package" Target="../embeddings/Microsoft_Excel_Sheet657.xlsx"/></Relationships>
</file>

<file path=ppt/charts/_rels/chart658.xml.rels><?xml version='1.0' encoding='UTF-8' standalone='yes'?>
<Relationships xmlns="http://schemas.openxmlformats.org/package/2006/relationships"><Relationship Id="rId1" Type="http://schemas.openxmlformats.org/officeDocument/2006/relationships/package" Target="../embeddings/Microsoft_Excel_Sheet658.xlsx"/></Relationships>
</file>

<file path=ppt/charts/_rels/chart659.xml.rels><?xml version='1.0' encoding='UTF-8' standalone='yes'?>
<Relationships xmlns="http://schemas.openxmlformats.org/package/2006/relationships"><Relationship Id="rId1" Type="http://schemas.openxmlformats.org/officeDocument/2006/relationships/package" Target="../embeddings/Microsoft_Excel_Sheet659.xlsx"/></Relationships>
</file>

<file path=ppt/charts/_rels/chart660.xml.rels><?xml version='1.0' encoding='UTF-8' standalone='yes'?>
<Relationships xmlns="http://schemas.openxmlformats.org/package/2006/relationships"><Relationship Id="rId1" Type="http://schemas.openxmlformats.org/officeDocument/2006/relationships/package" Target="../embeddings/Microsoft_Excel_Sheet660.xlsx"/></Relationships>
</file>

<file path=ppt/charts/_rels/chart661.xml.rels><?xml version='1.0' encoding='UTF-8' standalone='yes'?>
<Relationships xmlns="http://schemas.openxmlformats.org/package/2006/relationships"><Relationship Id="rId1" Type="http://schemas.openxmlformats.org/officeDocument/2006/relationships/package" Target="../embeddings/Microsoft_Excel_Sheet661.xlsx"/></Relationships>
</file>

<file path=ppt/charts/_rels/chart662.xml.rels><?xml version='1.0' encoding='UTF-8' standalone='yes'?>
<Relationships xmlns="http://schemas.openxmlformats.org/package/2006/relationships"><Relationship Id="rId1" Type="http://schemas.openxmlformats.org/officeDocument/2006/relationships/package" Target="../embeddings/Microsoft_Excel_Sheet662.xlsx"/></Relationships>
</file>

<file path=ppt/charts/_rels/chart663.xml.rels><?xml version='1.0' encoding='UTF-8' standalone='yes'?>
<Relationships xmlns="http://schemas.openxmlformats.org/package/2006/relationships"><Relationship Id="rId1" Type="http://schemas.openxmlformats.org/officeDocument/2006/relationships/package" Target="../embeddings/Microsoft_Excel_Sheet663.xlsx"/></Relationships>
</file>

<file path=ppt/charts/_rels/chart664.xml.rels><?xml version='1.0' encoding='UTF-8' standalone='yes'?>
<Relationships xmlns="http://schemas.openxmlformats.org/package/2006/relationships"><Relationship Id="rId1" Type="http://schemas.openxmlformats.org/officeDocument/2006/relationships/package" Target="../embeddings/Microsoft_Excel_Sheet664.xlsx"/></Relationships>
</file>

<file path=ppt/charts/_rels/chart665.xml.rels><?xml version='1.0' encoding='UTF-8' standalone='yes'?>
<Relationships xmlns="http://schemas.openxmlformats.org/package/2006/relationships"><Relationship Id="rId1" Type="http://schemas.openxmlformats.org/officeDocument/2006/relationships/package" Target="../embeddings/Microsoft_Excel_Sheet665.xlsx"/></Relationships>
</file>

<file path=ppt/charts/_rels/chart666.xml.rels><?xml version='1.0' encoding='UTF-8' standalone='yes'?>
<Relationships xmlns="http://schemas.openxmlformats.org/package/2006/relationships"><Relationship Id="rId1" Type="http://schemas.openxmlformats.org/officeDocument/2006/relationships/package" Target="../embeddings/Microsoft_Excel_Sheet666.xlsx"/></Relationships>
</file>

<file path=ppt/charts/_rels/chart667.xml.rels><?xml version='1.0' encoding='UTF-8' standalone='yes'?>
<Relationships xmlns="http://schemas.openxmlformats.org/package/2006/relationships"><Relationship Id="rId1" Type="http://schemas.openxmlformats.org/officeDocument/2006/relationships/package" Target="../embeddings/Microsoft_Excel_Sheet667.xlsx"/></Relationships>
</file>

<file path=ppt/charts/_rels/chart668.xml.rels><?xml version='1.0' encoding='UTF-8' standalone='yes'?>
<Relationships xmlns="http://schemas.openxmlformats.org/package/2006/relationships"><Relationship Id="rId1" Type="http://schemas.openxmlformats.org/officeDocument/2006/relationships/package" Target="../embeddings/Microsoft_Excel_Sheet668.xlsx"/></Relationships>
</file>

<file path=ppt/charts/_rels/chart669.xml.rels><?xml version='1.0' encoding='UTF-8' standalone='yes'?>
<Relationships xmlns="http://schemas.openxmlformats.org/package/2006/relationships"><Relationship Id="rId1" Type="http://schemas.openxmlformats.org/officeDocument/2006/relationships/package" Target="../embeddings/Microsoft_Excel_Sheet669.xlsx"/></Relationships>
</file>

<file path=ppt/charts/_rels/chart670.xml.rels><?xml version='1.0' encoding='UTF-8' standalone='yes'?>
<Relationships xmlns="http://schemas.openxmlformats.org/package/2006/relationships"><Relationship Id="rId1" Type="http://schemas.openxmlformats.org/officeDocument/2006/relationships/package" Target="../embeddings/Microsoft_Excel_Sheet670.xlsx"/></Relationships>
</file>

<file path=ppt/charts/_rels/chart671.xml.rels><?xml version='1.0' encoding='UTF-8' standalone='yes'?>
<Relationships xmlns="http://schemas.openxmlformats.org/package/2006/relationships"><Relationship Id="rId1" Type="http://schemas.openxmlformats.org/officeDocument/2006/relationships/package" Target="../embeddings/Microsoft_Excel_Sheet671.xlsx"/></Relationships>
</file>

<file path=ppt/charts/_rels/chart672.xml.rels><?xml version='1.0' encoding='UTF-8' standalone='yes'?>
<Relationships xmlns="http://schemas.openxmlformats.org/package/2006/relationships"><Relationship Id="rId1" Type="http://schemas.openxmlformats.org/officeDocument/2006/relationships/package" Target="../embeddings/Microsoft_Excel_Sheet672.xlsx"/></Relationships>
</file>

<file path=ppt/charts/_rels/chart673.xml.rels><?xml version='1.0' encoding='UTF-8' standalone='yes'?>
<Relationships xmlns="http://schemas.openxmlformats.org/package/2006/relationships"><Relationship Id="rId1" Type="http://schemas.openxmlformats.org/officeDocument/2006/relationships/package" Target="../embeddings/Microsoft_Excel_Sheet673.xlsx"/></Relationships>
</file>

<file path=ppt/charts/_rels/chart674.xml.rels><?xml version='1.0' encoding='UTF-8' standalone='yes'?>
<Relationships xmlns="http://schemas.openxmlformats.org/package/2006/relationships"><Relationship Id="rId1" Type="http://schemas.openxmlformats.org/officeDocument/2006/relationships/package" Target="../embeddings/Microsoft_Excel_Sheet674.xlsx"/></Relationships>
</file>

<file path=ppt/charts/_rels/chart675.xml.rels><?xml version='1.0' encoding='UTF-8' standalone='yes'?>
<Relationships xmlns="http://schemas.openxmlformats.org/package/2006/relationships"><Relationship Id="rId1" Type="http://schemas.openxmlformats.org/officeDocument/2006/relationships/package" Target="../embeddings/Microsoft_Excel_Sheet675.xlsx"/></Relationships>
</file>

<file path=ppt/charts/_rels/chart676.xml.rels><?xml version='1.0' encoding='UTF-8' standalone='yes'?>
<Relationships xmlns="http://schemas.openxmlformats.org/package/2006/relationships"><Relationship Id="rId1" Type="http://schemas.openxmlformats.org/officeDocument/2006/relationships/package" Target="../embeddings/Microsoft_Excel_Sheet676.xlsx"/></Relationships>
</file>

<file path=ppt/charts/_rels/chart677.xml.rels><?xml version='1.0' encoding='UTF-8' standalone='yes'?>
<Relationships xmlns="http://schemas.openxmlformats.org/package/2006/relationships"><Relationship Id="rId1" Type="http://schemas.openxmlformats.org/officeDocument/2006/relationships/package" Target="../embeddings/Microsoft_Excel_Sheet677.xlsx"/></Relationships>
</file>

<file path=ppt/charts/_rels/chart678.xml.rels><?xml version='1.0' encoding='UTF-8' standalone='yes'?>
<Relationships xmlns="http://schemas.openxmlformats.org/package/2006/relationships"><Relationship Id="rId1" Type="http://schemas.openxmlformats.org/officeDocument/2006/relationships/package" Target="../embeddings/Microsoft_Excel_Sheet678.xlsx"/></Relationships>
</file>

<file path=ppt/charts/_rels/chart679.xml.rels><?xml version='1.0' encoding='UTF-8' standalone='yes'?>
<Relationships xmlns="http://schemas.openxmlformats.org/package/2006/relationships"><Relationship Id="rId1" Type="http://schemas.openxmlformats.org/officeDocument/2006/relationships/package" Target="../embeddings/Microsoft_Excel_Sheet679.xlsx"/></Relationships>
</file>

<file path=ppt/charts/_rels/chart680.xml.rels><?xml version='1.0' encoding='UTF-8' standalone='yes'?>
<Relationships xmlns="http://schemas.openxmlformats.org/package/2006/relationships"><Relationship Id="rId1" Type="http://schemas.openxmlformats.org/officeDocument/2006/relationships/package" Target="../embeddings/Microsoft_Excel_Sheet680.xlsx"/></Relationships>
</file>

<file path=ppt/charts/_rels/chart681.xml.rels><?xml version='1.0' encoding='UTF-8' standalone='yes'?>
<Relationships xmlns="http://schemas.openxmlformats.org/package/2006/relationships"><Relationship Id="rId1" Type="http://schemas.openxmlformats.org/officeDocument/2006/relationships/package" Target="../embeddings/Microsoft_Excel_Sheet681.xlsx"/></Relationships>
</file>

<file path=ppt/charts/_rels/chart682.xml.rels><?xml version='1.0' encoding='UTF-8' standalone='yes'?>
<Relationships xmlns="http://schemas.openxmlformats.org/package/2006/relationships"><Relationship Id="rId1" Type="http://schemas.openxmlformats.org/officeDocument/2006/relationships/package" Target="../embeddings/Microsoft_Excel_Sheet682.xlsx"/></Relationships>
</file>

<file path=ppt/charts/_rels/chart683.xml.rels><?xml version='1.0' encoding='UTF-8' standalone='yes'?>
<Relationships xmlns="http://schemas.openxmlformats.org/package/2006/relationships"><Relationship Id="rId1" Type="http://schemas.openxmlformats.org/officeDocument/2006/relationships/package" Target="../embeddings/Microsoft_Excel_Sheet683.xlsx"/></Relationships>
</file>

<file path=ppt/charts/_rels/chart684.xml.rels><?xml version='1.0' encoding='UTF-8' standalone='yes'?>
<Relationships xmlns="http://schemas.openxmlformats.org/package/2006/relationships"><Relationship Id="rId1" Type="http://schemas.openxmlformats.org/officeDocument/2006/relationships/package" Target="../embeddings/Microsoft_Excel_Sheet684.xlsx"/></Relationships>
</file>

<file path=ppt/charts/_rels/chart685.xml.rels><?xml version='1.0' encoding='UTF-8' standalone='yes'?>
<Relationships xmlns="http://schemas.openxmlformats.org/package/2006/relationships"><Relationship Id="rId1" Type="http://schemas.openxmlformats.org/officeDocument/2006/relationships/package" Target="../embeddings/Microsoft_Excel_Sheet685.xlsx"/></Relationships>
</file>

<file path=ppt/charts/_rels/chart686.xml.rels><?xml version='1.0' encoding='UTF-8' standalone='yes'?>
<Relationships xmlns="http://schemas.openxmlformats.org/package/2006/relationships"><Relationship Id="rId1" Type="http://schemas.openxmlformats.org/officeDocument/2006/relationships/package" Target="../embeddings/Microsoft_Excel_Sheet686.xlsx"/></Relationships>
</file>

<file path=ppt/charts/_rels/chart687.xml.rels><?xml version='1.0' encoding='UTF-8' standalone='yes'?>
<Relationships xmlns="http://schemas.openxmlformats.org/package/2006/relationships"><Relationship Id="rId1" Type="http://schemas.openxmlformats.org/officeDocument/2006/relationships/package" Target="../embeddings/Microsoft_Excel_Sheet687.xlsx"/></Relationships>
</file>

<file path=ppt/charts/_rels/chart688.xml.rels><?xml version='1.0' encoding='UTF-8' standalone='yes'?>
<Relationships xmlns="http://schemas.openxmlformats.org/package/2006/relationships"><Relationship Id="rId1" Type="http://schemas.openxmlformats.org/officeDocument/2006/relationships/package" Target="../embeddings/Microsoft_Excel_Sheet688.xlsx"/></Relationships>
</file>

<file path=ppt/charts/_rels/chart689.xml.rels><?xml version='1.0' encoding='UTF-8' standalone='yes'?>
<Relationships xmlns="http://schemas.openxmlformats.org/package/2006/relationships"><Relationship Id="rId1" Type="http://schemas.openxmlformats.org/officeDocument/2006/relationships/package" Target="../embeddings/Microsoft_Excel_Sheet689.xlsx"/></Relationships>
</file>

<file path=ppt/charts/_rels/chart690.xml.rels><?xml version='1.0' encoding='UTF-8' standalone='yes'?>
<Relationships xmlns="http://schemas.openxmlformats.org/package/2006/relationships"><Relationship Id="rId1" Type="http://schemas.openxmlformats.org/officeDocument/2006/relationships/package" Target="../embeddings/Microsoft_Excel_Sheet690.xlsx"/></Relationships>
</file>

<file path=ppt/charts/_rels/chart691.xml.rels><?xml version='1.0' encoding='UTF-8' standalone='yes'?>
<Relationships xmlns="http://schemas.openxmlformats.org/package/2006/relationships"><Relationship Id="rId1" Type="http://schemas.openxmlformats.org/officeDocument/2006/relationships/package" Target="../embeddings/Microsoft_Excel_Sheet691.xlsx"/></Relationships>
</file>

<file path=ppt/charts/_rels/chart692.xml.rels><?xml version='1.0' encoding='UTF-8' standalone='yes'?>
<Relationships xmlns="http://schemas.openxmlformats.org/package/2006/relationships"><Relationship Id="rId1" Type="http://schemas.openxmlformats.org/officeDocument/2006/relationships/package" Target="../embeddings/Microsoft_Excel_Sheet692.xlsx"/></Relationships>
</file>

<file path=ppt/charts/_rels/chart693.xml.rels><?xml version='1.0' encoding='UTF-8' standalone='yes'?>
<Relationships xmlns="http://schemas.openxmlformats.org/package/2006/relationships"><Relationship Id="rId1" Type="http://schemas.openxmlformats.org/officeDocument/2006/relationships/package" Target="../embeddings/Microsoft_Excel_Sheet693.xlsx"/></Relationships>
</file>

<file path=ppt/charts/_rels/chart694.xml.rels><?xml version='1.0' encoding='UTF-8' standalone='yes'?>
<Relationships xmlns="http://schemas.openxmlformats.org/package/2006/relationships"><Relationship Id="rId1" Type="http://schemas.openxmlformats.org/officeDocument/2006/relationships/package" Target="../embeddings/Microsoft_Excel_Sheet694.xlsx"/></Relationships>
</file>

<file path=ppt/charts/_rels/chart695.xml.rels><?xml version='1.0' encoding='UTF-8' standalone='yes'?>
<Relationships xmlns="http://schemas.openxmlformats.org/package/2006/relationships"><Relationship Id="rId1" Type="http://schemas.openxmlformats.org/officeDocument/2006/relationships/package" Target="../embeddings/Microsoft_Excel_Sheet695.xlsx"/></Relationships>
</file>

<file path=ppt/charts/_rels/chart696.xml.rels><?xml version='1.0' encoding='UTF-8' standalone='yes'?>
<Relationships xmlns="http://schemas.openxmlformats.org/package/2006/relationships"><Relationship Id="rId1" Type="http://schemas.openxmlformats.org/officeDocument/2006/relationships/package" Target="../embeddings/Microsoft_Excel_Sheet696.xlsx"/></Relationships>
</file>

<file path=ppt/charts/_rels/chart697.xml.rels><?xml version='1.0' encoding='UTF-8' standalone='yes'?>
<Relationships xmlns="http://schemas.openxmlformats.org/package/2006/relationships"><Relationship Id="rId1" Type="http://schemas.openxmlformats.org/officeDocument/2006/relationships/package" Target="../embeddings/Microsoft_Excel_Sheet697.xlsx"/></Relationships>
</file>

<file path=ppt/charts/_rels/chart698.xml.rels><?xml version='1.0' encoding='UTF-8' standalone='yes'?>
<Relationships xmlns="http://schemas.openxmlformats.org/package/2006/relationships"><Relationship Id="rId1" Type="http://schemas.openxmlformats.org/officeDocument/2006/relationships/package" Target="../embeddings/Microsoft_Excel_Sheet698.xlsx"/></Relationships>
</file>

<file path=ppt/charts/_rels/chart699.xml.rels><?xml version='1.0' encoding='UTF-8' standalone='yes'?>
<Relationships xmlns="http://schemas.openxmlformats.org/package/2006/relationships"><Relationship Id="rId1" Type="http://schemas.openxmlformats.org/officeDocument/2006/relationships/package" Target="../embeddings/Microsoft_Excel_Sheet699.xlsx"/></Relationships>
</file>

<file path=ppt/charts/_rels/chart700.xml.rels><?xml version='1.0' encoding='UTF-8' standalone='yes'?>
<Relationships xmlns="http://schemas.openxmlformats.org/package/2006/relationships"><Relationship Id="rId1" Type="http://schemas.openxmlformats.org/officeDocument/2006/relationships/package" Target="../embeddings/Microsoft_Excel_Sheet700.xlsx"/></Relationships>
</file>

<file path=ppt/charts/_rels/chart701.xml.rels><?xml version='1.0' encoding='UTF-8' standalone='yes'?>
<Relationships xmlns="http://schemas.openxmlformats.org/package/2006/relationships"><Relationship Id="rId1" Type="http://schemas.openxmlformats.org/officeDocument/2006/relationships/package" Target="../embeddings/Microsoft_Excel_Sheet701.xlsx"/></Relationships>
</file>

<file path=ppt/charts/_rels/chart702.xml.rels><?xml version='1.0' encoding='UTF-8' standalone='yes'?>
<Relationships xmlns="http://schemas.openxmlformats.org/package/2006/relationships"><Relationship Id="rId1" Type="http://schemas.openxmlformats.org/officeDocument/2006/relationships/package" Target="../embeddings/Microsoft_Excel_Sheet702.xlsx"/></Relationships>
</file>

<file path=ppt/charts/_rels/chart703.xml.rels><?xml version='1.0' encoding='UTF-8' standalone='yes'?>
<Relationships xmlns="http://schemas.openxmlformats.org/package/2006/relationships"><Relationship Id="rId1" Type="http://schemas.openxmlformats.org/officeDocument/2006/relationships/package" Target="../embeddings/Microsoft_Excel_Sheet703.xlsx"/></Relationships>
</file>

<file path=ppt/charts/_rels/chart704.xml.rels><?xml version='1.0' encoding='UTF-8' standalone='yes'?>
<Relationships xmlns="http://schemas.openxmlformats.org/package/2006/relationships"><Relationship Id="rId1" Type="http://schemas.openxmlformats.org/officeDocument/2006/relationships/package" Target="../embeddings/Microsoft_Excel_Sheet704.xlsx"/></Relationships>
</file>

<file path=ppt/charts/_rels/chart705.xml.rels><?xml version='1.0' encoding='UTF-8' standalone='yes'?>
<Relationships xmlns="http://schemas.openxmlformats.org/package/2006/relationships"><Relationship Id="rId1" Type="http://schemas.openxmlformats.org/officeDocument/2006/relationships/package" Target="../embeddings/Microsoft_Excel_Sheet705.xlsx"/></Relationships>
</file>

<file path=ppt/charts/_rels/chart706.xml.rels><?xml version='1.0' encoding='UTF-8' standalone='yes'?>
<Relationships xmlns="http://schemas.openxmlformats.org/package/2006/relationships"><Relationship Id="rId1" Type="http://schemas.openxmlformats.org/officeDocument/2006/relationships/package" Target="../embeddings/Microsoft_Excel_Sheet706.xlsx"/></Relationships>
</file>

<file path=ppt/charts/_rels/chart707.xml.rels><?xml version='1.0' encoding='UTF-8' standalone='yes'?>
<Relationships xmlns="http://schemas.openxmlformats.org/package/2006/relationships"><Relationship Id="rId1" Type="http://schemas.openxmlformats.org/officeDocument/2006/relationships/package" Target="../embeddings/Microsoft_Excel_Sheet707.xlsx"/></Relationships>
</file>

<file path=ppt/charts/_rels/chart708.xml.rels><?xml version='1.0' encoding='UTF-8' standalone='yes'?>
<Relationships xmlns="http://schemas.openxmlformats.org/package/2006/relationships"><Relationship Id="rId1" Type="http://schemas.openxmlformats.org/officeDocument/2006/relationships/package" Target="../embeddings/Microsoft_Excel_Sheet708.xlsx"/></Relationships>
</file>

<file path=ppt/charts/_rels/chart709.xml.rels><?xml version='1.0' encoding='UTF-8' standalone='yes'?>
<Relationships xmlns="http://schemas.openxmlformats.org/package/2006/relationships"><Relationship Id="rId1" Type="http://schemas.openxmlformats.org/officeDocument/2006/relationships/package" Target="../embeddings/Microsoft_Excel_Sheet709.xlsx"/></Relationships>
</file>

<file path=ppt/charts/_rels/chart710.xml.rels><?xml version='1.0' encoding='UTF-8' standalone='yes'?>
<Relationships xmlns="http://schemas.openxmlformats.org/package/2006/relationships"><Relationship Id="rId1" Type="http://schemas.openxmlformats.org/officeDocument/2006/relationships/package" Target="../embeddings/Microsoft_Excel_Sheet710.xlsx"/></Relationships>
</file>

<file path=ppt/charts/_rels/chart711.xml.rels><?xml version='1.0' encoding='UTF-8' standalone='yes'?>
<Relationships xmlns="http://schemas.openxmlformats.org/package/2006/relationships"><Relationship Id="rId1" Type="http://schemas.openxmlformats.org/officeDocument/2006/relationships/package" Target="../embeddings/Microsoft_Excel_Sheet711.xlsx"/></Relationships>
</file>

<file path=ppt/charts/_rels/chart712.xml.rels><?xml version='1.0' encoding='UTF-8' standalone='yes'?>
<Relationships xmlns="http://schemas.openxmlformats.org/package/2006/relationships"><Relationship Id="rId1" Type="http://schemas.openxmlformats.org/officeDocument/2006/relationships/package" Target="../embeddings/Microsoft_Excel_Sheet712.xlsx"/></Relationships>
</file>

<file path=ppt/charts/_rels/chart713.xml.rels><?xml version='1.0' encoding='UTF-8' standalone='yes'?>
<Relationships xmlns="http://schemas.openxmlformats.org/package/2006/relationships"><Relationship Id="rId1" Type="http://schemas.openxmlformats.org/officeDocument/2006/relationships/package" Target="../embeddings/Microsoft_Excel_Sheet713.xlsx"/></Relationships>
</file>

<file path=ppt/charts/_rels/chart714.xml.rels><?xml version='1.0' encoding='UTF-8' standalone='yes'?>
<Relationships xmlns="http://schemas.openxmlformats.org/package/2006/relationships"><Relationship Id="rId1" Type="http://schemas.openxmlformats.org/officeDocument/2006/relationships/package" Target="../embeddings/Microsoft_Excel_Sheet714.xlsx"/></Relationships>
</file>

<file path=ppt/charts/_rels/chart715.xml.rels><?xml version='1.0' encoding='UTF-8' standalone='yes'?>
<Relationships xmlns="http://schemas.openxmlformats.org/package/2006/relationships"><Relationship Id="rId1" Type="http://schemas.openxmlformats.org/officeDocument/2006/relationships/package" Target="../embeddings/Microsoft_Excel_Sheet715.xlsx"/></Relationships>
</file>

<file path=ppt/charts/_rels/chart716.xml.rels><?xml version='1.0' encoding='UTF-8' standalone='yes'?>
<Relationships xmlns="http://schemas.openxmlformats.org/package/2006/relationships"><Relationship Id="rId1" Type="http://schemas.openxmlformats.org/officeDocument/2006/relationships/package" Target="../embeddings/Microsoft_Excel_Sheet716.xlsx"/></Relationships>
</file>

<file path=ppt/charts/_rels/chart717.xml.rels><?xml version='1.0' encoding='UTF-8' standalone='yes'?>
<Relationships xmlns="http://schemas.openxmlformats.org/package/2006/relationships"><Relationship Id="rId1" Type="http://schemas.openxmlformats.org/officeDocument/2006/relationships/package" Target="../embeddings/Microsoft_Excel_Sheet717.xlsx"/></Relationships>
</file>

<file path=ppt/charts/_rels/chart718.xml.rels><?xml version='1.0' encoding='UTF-8' standalone='yes'?>
<Relationships xmlns="http://schemas.openxmlformats.org/package/2006/relationships"><Relationship Id="rId1" Type="http://schemas.openxmlformats.org/officeDocument/2006/relationships/package" Target="../embeddings/Microsoft_Excel_Sheet718.xlsx"/></Relationships>
</file>

<file path=ppt/charts/_rels/chart719.xml.rels><?xml version='1.0' encoding='UTF-8' standalone='yes'?>
<Relationships xmlns="http://schemas.openxmlformats.org/package/2006/relationships"><Relationship Id="rId1" Type="http://schemas.openxmlformats.org/officeDocument/2006/relationships/package" Target="../embeddings/Microsoft_Excel_Sheet719.xlsx"/></Relationships>
</file>

<file path=ppt/charts/_rels/chart720.xml.rels><?xml version='1.0' encoding='UTF-8' standalone='yes'?>
<Relationships xmlns="http://schemas.openxmlformats.org/package/2006/relationships"><Relationship Id="rId1" Type="http://schemas.openxmlformats.org/officeDocument/2006/relationships/package" Target="../embeddings/Microsoft_Excel_Sheet720.xlsx"/></Relationships>
</file>

<file path=ppt/charts/_rels/chart721.xml.rels><?xml version='1.0' encoding='UTF-8' standalone='yes'?>
<Relationships xmlns="http://schemas.openxmlformats.org/package/2006/relationships"><Relationship Id="rId1" Type="http://schemas.openxmlformats.org/officeDocument/2006/relationships/package" Target="../embeddings/Microsoft_Excel_Sheet721.xlsx"/></Relationships>
</file>

<file path=ppt/charts/_rels/chart722.xml.rels><?xml version='1.0' encoding='UTF-8' standalone='yes'?>
<Relationships xmlns="http://schemas.openxmlformats.org/package/2006/relationships"><Relationship Id="rId1" Type="http://schemas.openxmlformats.org/officeDocument/2006/relationships/package" Target="../embeddings/Microsoft_Excel_Sheet722.xlsx"/></Relationships>
</file>

<file path=ppt/charts/_rels/chart723.xml.rels><?xml version='1.0' encoding='UTF-8' standalone='yes'?>
<Relationships xmlns="http://schemas.openxmlformats.org/package/2006/relationships"><Relationship Id="rId1" Type="http://schemas.openxmlformats.org/officeDocument/2006/relationships/package" Target="../embeddings/Microsoft_Excel_Sheet723.xlsx"/></Relationships>
</file>

<file path=ppt/charts/_rels/chart724.xml.rels><?xml version='1.0' encoding='UTF-8' standalone='yes'?>
<Relationships xmlns="http://schemas.openxmlformats.org/package/2006/relationships"><Relationship Id="rId1" Type="http://schemas.openxmlformats.org/officeDocument/2006/relationships/package" Target="../embeddings/Microsoft_Excel_Sheet724.xlsx"/></Relationships>
</file>

<file path=ppt/charts/_rels/chart725.xml.rels><?xml version='1.0' encoding='UTF-8' standalone='yes'?>
<Relationships xmlns="http://schemas.openxmlformats.org/package/2006/relationships"><Relationship Id="rId1" Type="http://schemas.openxmlformats.org/officeDocument/2006/relationships/package" Target="../embeddings/Microsoft_Excel_Sheet725.xlsx"/></Relationships>
</file>

<file path=ppt/charts/_rels/chart726.xml.rels><?xml version='1.0' encoding='UTF-8' standalone='yes'?>
<Relationships xmlns="http://schemas.openxmlformats.org/package/2006/relationships"><Relationship Id="rId1" Type="http://schemas.openxmlformats.org/officeDocument/2006/relationships/package" Target="../embeddings/Microsoft_Excel_Sheet726.xlsx"/></Relationships>
</file>

<file path=ppt/charts/_rels/chart727.xml.rels><?xml version='1.0' encoding='UTF-8' standalone='yes'?>
<Relationships xmlns="http://schemas.openxmlformats.org/package/2006/relationships"><Relationship Id="rId1" Type="http://schemas.openxmlformats.org/officeDocument/2006/relationships/package" Target="../embeddings/Microsoft_Excel_Sheet727.xlsx"/></Relationships>
</file>

<file path=ppt/charts/_rels/chart728.xml.rels><?xml version='1.0' encoding='UTF-8' standalone='yes'?>
<Relationships xmlns="http://schemas.openxmlformats.org/package/2006/relationships"><Relationship Id="rId1" Type="http://schemas.openxmlformats.org/officeDocument/2006/relationships/package" Target="../embeddings/Microsoft_Excel_Sheet728.xlsx"/></Relationships>
</file>

<file path=ppt/charts/_rels/chart729.xml.rels><?xml version='1.0' encoding='UTF-8' standalone='yes'?>
<Relationships xmlns="http://schemas.openxmlformats.org/package/2006/relationships"><Relationship Id="rId1" Type="http://schemas.openxmlformats.org/officeDocument/2006/relationships/package" Target="../embeddings/Microsoft_Excel_Sheet729.xlsx"/></Relationships>
</file>

<file path=ppt/charts/_rels/chart730.xml.rels><?xml version='1.0' encoding='UTF-8' standalone='yes'?>
<Relationships xmlns="http://schemas.openxmlformats.org/package/2006/relationships"><Relationship Id="rId1" Type="http://schemas.openxmlformats.org/officeDocument/2006/relationships/package" Target="../embeddings/Microsoft_Excel_Sheet730.xlsx"/></Relationships>
</file>

<file path=ppt/charts/_rels/chart731.xml.rels><?xml version='1.0' encoding='UTF-8' standalone='yes'?>
<Relationships xmlns="http://schemas.openxmlformats.org/package/2006/relationships"><Relationship Id="rId1" Type="http://schemas.openxmlformats.org/officeDocument/2006/relationships/package" Target="../embeddings/Microsoft_Excel_Sheet731.xlsx"/></Relationships>
</file>

<file path=ppt/charts/_rels/chart732.xml.rels><?xml version='1.0' encoding='UTF-8' standalone='yes'?>
<Relationships xmlns="http://schemas.openxmlformats.org/package/2006/relationships"><Relationship Id="rId1" Type="http://schemas.openxmlformats.org/officeDocument/2006/relationships/package" Target="../embeddings/Microsoft_Excel_Sheet732.xlsx"/></Relationships>
</file>

<file path=ppt/charts/_rels/chart733.xml.rels><?xml version='1.0' encoding='UTF-8' standalone='yes'?>
<Relationships xmlns="http://schemas.openxmlformats.org/package/2006/relationships"><Relationship Id="rId1" Type="http://schemas.openxmlformats.org/officeDocument/2006/relationships/package" Target="../embeddings/Microsoft_Excel_Sheet733.xlsx"/></Relationships>
</file>

<file path=ppt/charts/_rels/chart734.xml.rels><?xml version='1.0' encoding='UTF-8' standalone='yes'?>
<Relationships xmlns="http://schemas.openxmlformats.org/package/2006/relationships"><Relationship Id="rId1" Type="http://schemas.openxmlformats.org/officeDocument/2006/relationships/package" Target="../embeddings/Microsoft_Excel_Sheet734.xlsx"/></Relationships>
</file>

<file path=ppt/charts/_rels/chart735.xml.rels><?xml version='1.0' encoding='UTF-8' standalone='yes'?>
<Relationships xmlns="http://schemas.openxmlformats.org/package/2006/relationships"><Relationship Id="rId1" Type="http://schemas.openxmlformats.org/officeDocument/2006/relationships/package" Target="../embeddings/Microsoft_Excel_Sheet735.xlsx"/></Relationships>
</file>

<file path=ppt/charts/_rels/chart736.xml.rels><?xml version='1.0' encoding='UTF-8' standalone='yes'?>
<Relationships xmlns="http://schemas.openxmlformats.org/package/2006/relationships"><Relationship Id="rId1" Type="http://schemas.openxmlformats.org/officeDocument/2006/relationships/package" Target="../embeddings/Microsoft_Excel_Sheet736.xlsx"/></Relationships>
</file>

<file path=ppt/charts/_rels/chart737.xml.rels><?xml version='1.0' encoding='UTF-8' standalone='yes'?>
<Relationships xmlns="http://schemas.openxmlformats.org/package/2006/relationships"><Relationship Id="rId1" Type="http://schemas.openxmlformats.org/officeDocument/2006/relationships/package" Target="../embeddings/Microsoft_Excel_Sheet737.xlsx"/></Relationships>
</file>

<file path=ppt/charts/_rels/chart738.xml.rels><?xml version='1.0' encoding='UTF-8' standalone='yes'?>
<Relationships xmlns="http://schemas.openxmlformats.org/package/2006/relationships"><Relationship Id="rId1" Type="http://schemas.openxmlformats.org/officeDocument/2006/relationships/package" Target="../embeddings/Microsoft_Excel_Sheet738.xlsx"/></Relationships>
</file>

<file path=ppt/charts/_rels/chart739.xml.rels><?xml version='1.0' encoding='UTF-8' standalone='yes'?>
<Relationships xmlns="http://schemas.openxmlformats.org/package/2006/relationships"><Relationship Id="rId1" Type="http://schemas.openxmlformats.org/officeDocument/2006/relationships/package" Target="../embeddings/Microsoft_Excel_Sheet739.xlsx"/></Relationships>
</file>

<file path=ppt/charts/_rels/chart740.xml.rels><?xml version='1.0' encoding='UTF-8' standalone='yes'?>
<Relationships xmlns="http://schemas.openxmlformats.org/package/2006/relationships"><Relationship Id="rId1" Type="http://schemas.openxmlformats.org/officeDocument/2006/relationships/package" Target="../embeddings/Microsoft_Excel_Sheet740.xlsx"/></Relationships>
</file>

<file path=ppt/charts/_rels/chart741.xml.rels><?xml version='1.0' encoding='UTF-8' standalone='yes'?>
<Relationships xmlns="http://schemas.openxmlformats.org/package/2006/relationships"><Relationship Id="rId1" Type="http://schemas.openxmlformats.org/officeDocument/2006/relationships/package" Target="../embeddings/Microsoft_Excel_Sheet741.xlsx"/></Relationships>
</file>

<file path=ppt/charts/_rels/chart742.xml.rels><?xml version='1.0' encoding='UTF-8' standalone='yes'?>
<Relationships xmlns="http://schemas.openxmlformats.org/package/2006/relationships"><Relationship Id="rId1" Type="http://schemas.openxmlformats.org/officeDocument/2006/relationships/package" Target="../embeddings/Microsoft_Excel_Sheet742.xlsx"/></Relationships>
</file>

<file path=ppt/charts/_rels/chart743.xml.rels><?xml version='1.0' encoding='UTF-8' standalone='yes'?>
<Relationships xmlns="http://schemas.openxmlformats.org/package/2006/relationships"><Relationship Id="rId1" Type="http://schemas.openxmlformats.org/officeDocument/2006/relationships/package" Target="../embeddings/Microsoft_Excel_Sheet743.xlsx"/></Relationships>
</file>

<file path=ppt/charts/_rels/chart744.xml.rels><?xml version='1.0' encoding='UTF-8' standalone='yes'?>
<Relationships xmlns="http://schemas.openxmlformats.org/package/2006/relationships"><Relationship Id="rId1" Type="http://schemas.openxmlformats.org/officeDocument/2006/relationships/package" Target="../embeddings/Microsoft_Excel_Sheet744.xlsx"/></Relationships>
</file>

<file path=ppt/charts/_rels/chart745.xml.rels><?xml version='1.0' encoding='UTF-8' standalone='yes'?>
<Relationships xmlns="http://schemas.openxmlformats.org/package/2006/relationships"><Relationship Id="rId1" Type="http://schemas.openxmlformats.org/officeDocument/2006/relationships/package" Target="../embeddings/Microsoft_Excel_Sheet745.xlsx"/></Relationships>
</file>

<file path=ppt/charts/_rels/chart746.xml.rels><?xml version='1.0' encoding='UTF-8' standalone='yes'?>
<Relationships xmlns="http://schemas.openxmlformats.org/package/2006/relationships"><Relationship Id="rId1" Type="http://schemas.openxmlformats.org/officeDocument/2006/relationships/package" Target="../embeddings/Microsoft_Excel_Sheet746.xlsx"/></Relationships>
</file>

<file path=ppt/charts/_rels/chart747.xml.rels><?xml version='1.0' encoding='UTF-8' standalone='yes'?>
<Relationships xmlns="http://schemas.openxmlformats.org/package/2006/relationships"><Relationship Id="rId1" Type="http://schemas.openxmlformats.org/officeDocument/2006/relationships/package" Target="../embeddings/Microsoft_Excel_Sheet747.xlsx"/></Relationships>
</file>

<file path=ppt/charts/_rels/chart748.xml.rels><?xml version='1.0' encoding='UTF-8' standalone='yes'?>
<Relationships xmlns="http://schemas.openxmlformats.org/package/2006/relationships"><Relationship Id="rId1" Type="http://schemas.openxmlformats.org/officeDocument/2006/relationships/package" Target="../embeddings/Microsoft_Excel_Sheet748.xlsx"/></Relationships>
</file>

<file path=ppt/charts/_rels/chart749.xml.rels><?xml version='1.0' encoding='UTF-8' standalone='yes'?>
<Relationships xmlns="http://schemas.openxmlformats.org/package/2006/relationships"><Relationship Id="rId1" Type="http://schemas.openxmlformats.org/officeDocument/2006/relationships/package" Target="../embeddings/Microsoft_Excel_Sheet749.xlsx"/></Relationships>
</file>

<file path=ppt/charts/_rels/chart750.xml.rels><?xml version='1.0' encoding='UTF-8' standalone='yes'?>
<Relationships xmlns="http://schemas.openxmlformats.org/package/2006/relationships"><Relationship Id="rId1" Type="http://schemas.openxmlformats.org/officeDocument/2006/relationships/package" Target="../embeddings/Microsoft_Excel_Sheet750.xlsx"/></Relationships>
</file>

<file path=ppt/charts/_rels/chart751.xml.rels><?xml version='1.0' encoding='UTF-8' standalone='yes'?>
<Relationships xmlns="http://schemas.openxmlformats.org/package/2006/relationships"><Relationship Id="rId1" Type="http://schemas.openxmlformats.org/officeDocument/2006/relationships/package" Target="../embeddings/Microsoft_Excel_Sheet751.xlsx"/></Relationships>
</file>

<file path=ppt/charts/_rels/chart752.xml.rels><?xml version='1.0' encoding='UTF-8' standalone='yes'?>
<Relationships xmlns="http://schemas.openxmlformats.org/package/2006/relationships"><Relationship Id="rId1" Type="http://schemas.openxmlformats.org/officeDocument/2006/relationships/package" Target="../embeddings/Microsoft_Excel_Sheet752.xlsx"/></Relationships>
</file>

<file path=ppt/charts/_rels/chart753.xml.rels><?xml version='1.0' encoding='UTF-8' standalone='yes'?>
<Relationships xmlns="http://schemas.openxmlformats.org/package/2006/relationships"><Relationship Id="rId1" Type="http://schemas.openxmlformats.org/officeDocument/2006/relationships/package" Target="../embeddings/Microsoft_Excel_Sheet753.xlsx"/></Relationships>
</file>

<file path=ppt/charts/_rels/chart754.xml.rels><?xml version='1.0' encoding='UTF-8' standalone='yes'?>
<Relationships xmlns="http://schemas.openxmlformats.org/package/2006/relationships"><Relationship Id="rId1" Type="http://schemas.openxmlformats.org/officeDocument/2006/relationships/package" Target="../embeddings/Microsoft_Excel_Sheet754.xlsx"/></Relationships>
</file>

<file path=ppt/charts/_rels/chart755.xml.rels><?xml version='1.0' encoding='UTF-8' standalone='yes'?>
<Relationships xmlns="http://schemas.openxmlformats.org/package/2006/relationships"><Relationship Id="rId1" Type="http://schemas.openxmlformats.org/officeDocument/2006/relationships/package" Target="../embeddings/Microsoft_Excel_Sheet755.xlsx"/></Relationships>
</file>

<file path=ppt/charts/_rels/chart756.xml.rels><?xml version='1.0' encoding='UTF-8' standalone='yes'?>
<Relationships xmlns="http://schemas.openxmlformats.org/package/2006/relationships"><Relationship Id="rId1" Type="http://schemas.openxmlformats.org/officeDocument/2006/relationships/package" Target="../embeddings/Microsoft_Excel_Sheet756.xlsx"/></Relationships>
</file>

<file path=ppt/charts/_rels/chart757.xml.rels><?xml version='1.0' encoding='UTF-8' standalone='yes'?>
<Relationships xmlns="http://schemas.openxmlformats.org/package/2006/relationships"><Relationship Id="rId1" Type="http://schemas.openxmlformats.org/officeDocument/2006/relationships/package" Target="../embeddings/Microsoft_Excel_Sheet757.xlsx"/></Relationships>
</file>

<file path=ppt/charts/_rels/chart758.xml.rels><?xml version='1.0' encoding='UTF-8' standalone='yes'?>
<Relationships xmlns="http://schemas.openxmlformats.org/package/2006/relationships"><Relationship Id="rId1" Type="http://schemas.openxmlformats.org/officeDocument/2006/relationships/package" Target="../embeddings/Microsoft_Excel_Sheet758.xlsx"/></Relationships>
</file>

<file path=ppt/charts/_rels/chart759.xml.rels><?xml version='1.0' encoding='UTF-8' standalone='yes'?>
<Relationships xmlns="http://schemas.openxmlformats.org/package/2006/relationships"><Relationship Id="rId1" Type="http://schemas.openxmlformats.org/officeDocument/2006/relationships/package" Target="../embeddings/Microsoft_Excel_Sheet759.xlsx"/></Relationships>
</file>

<file path=ppt/charts/_rels/chart760.xml.rels><?xml version='1.0' encoding='UTF-8' standalone='yes'?>
<Relationships xmlns="http://schemas.openxmlformats.org/package/2006/relationships"><Relationship Id="rId1" Type="http://schemas.openxmlformats.org/officeDocument/2006/relationships/package" Target="../embeddings/Microsoft_Excel_Sheet760.xlsx"/></Relationships>
</file>

<file path=ppt/charts/_rels/chart761.xml.rels><?xml version='1.0' encoding='UTF-8' standalone='yes'?>
<Relationships xmlns="http://schemas.openxmlformats.org/package/2006/relationships"><Relationship Id="rId1" Type="http://schemas.openxmlformats.org/officeDocument/2006/relationships/package" Target="../embeddings/Microsoft_Excel_Sheet761.xlsx"/></Relationships>
</file>

<file path=ppt/charts/_rels/chart762.xml.rels><?xml version='1.0' encoding='UTF-8' standalone='yes'?>
<Relationships xmlns="http://schemas.openxmlformats.org/package/2006/relationships"><Relationship Id="rId1" Type="http://schemas.openxmlformats.org/officeDocument/2006/relationships/package" Target="../embeddings/Microsoft_Excel_Sheet762.xlsx"/></Relationships>
</file>

<file path=ppt/charts/_rels/chart763.xml.rels><?xml version='1.0' encoding='UTF-8' standalone='yes'?>
<Relationships xmlns="http://schemas.openxmlformats.org/package/2006/relationships"><Relationship Id="rId1" Type="http://schemas.openxmlformats.org/officeDocument/2006/relationships/package" Target="../embeddings/Microsoft_Excel_Sheet763.xlsx"/></Relationships>
</file>

<file path=ppt/charts/_rels/chart764.xml.rels><?xml version='1.0' encoding='UTF-8' standalone='yes'?>
<Relationships xmlns="http://schemas.openxmlformats.org/package/2006/relationships"><Relationship Id="rId1" Type="http://schemas.openxmlformats.org/officeDocument/2006/relationships/package" Target="../embeddings/Microsoft_Excel_Sheet764.xlsx"/></Relationships>
</file>

<file path=ppt/charts/_rels/chart765.xml.rels><?xml version='1.0' encoding='UTF-8' standalone='yes'?>
<Relationships xmlns="http://schemas.openxmlformats.org/package/2006/relationships"><Relationship Id="rId1" Type="http://schemas.openxmlformats.org/officeDocument/2006/relationships/package" Target="../embeddings/Microsoft_Excel_Sheet765.xlsx"/></Relationships>
</file>

<file path=ppt/charts/_rels/chart766.xml.rels><?xml version='1.0' encoding='UTF-8' standalone='yes'?>
<Relationships xmlns="http://schemas.openxmlformats.org/package/2006/relationships"><Relationship Id="rId1" Type="http://schemas.openxmlformats.org/officeDocument/2006/relationships/package" Target="../embeddings/Microsoft_Excel_Sheet766.xlsx"/></Relationships>
</file>

<file path=ppt/charts/_rels/chart767.xml.rels><?xml version='1.0' encoding='UTF-8' standalone='yes'?>
<Relationships xmlns="http://schemas.openxmlformats.org/package/2006/relationships"><Relationship Id="rId1" Type="http://schemas.openxmlformats.org/officeDocument/2006/relationships/package" Target="../embeddings/Microsoft_Excel_Sheet767.xlsx"/></Relationships>
</file>

<file path=ppt/charts/_rels/chart768.xml.rels><?xml version='1.0' encoding='UTF-8' standalone='yes'?>
<Relationships xmlns="http://schemas.openxmlformats.org/package/2006/relationships"><Relationship Id="rId1" Type="http://schemas.openxmlformats.org/officeDocument/2006/relationships/package" Target="../embeddings/Microsoft_Excel_Sheet768.xlsx"/></Relationships>
</file>

<file path=ppt/charts/_rels/chart769.xml.rels><?xml version='1.0' encoding='UTF-8' standalone='yes'?>
<Relationships xmlns="http://schemas.openxmlformats.org/package/2006/relationships"><Relationship Id="rId1" Type="http://schemas.openxmlformats.org/officeDocument/2006/relationships/package" Target="../embeddings/Microsoft_Excel_Sheet769.xlsx"/></Relationships>
</file>

<file path=ppt/charts/_rels/chart770.xml.rels><?xml version='1.0' encoding='UTF-8' standalone='yes'?>
<Relationships xmlns="http://schemas.openxmlformats.org/package/2006/relationships"><Relationship Id="rId1" Type="http://schemas.openxmlformats.org/officeDocument/2006/relationships/package" Target="../embeddings/Microsoft_Excel_Sheet770.xlsx"/></Relationships>
</file>

<file path=ppt/charts/_rels/chart771.xml.rels><?xml version='1.0' encoding='UTF-8' standalone='yes'?>
<Relationships xmlns="http://schemas.openxmlformats.org/package/2006/relationships"><Relationship Id="rId1" Type="http://schemas.openxmlformats.org/officeDocument/2006/relationships/package" Target="../embeddings/Microsoft_Excel_Sheet771.xlsx"/></Relationships>
</file>

<file path=ppt/charts/_rels/chart772.xml.rels><?xml version='1.0' encoding='UTF-8' standalone='yes'?>
<Relationships xmlns="http://schemas.openxmlformats.org/package/2006/relationships"><Relationship Id="rId1" Type="http://schemas.openxmlformats.org/officeDocument/2006/relationships/package" Target="../embeddings/Microsoft_Excel_Sheet772.xlsx"/></Relationships>
</file>

<file path=ppt/charts/_rels/chart773.xml.rels><?xml version='1.0' encoding='UTF-8' standalone='yes'?>
<Relationships xmlns="http://schemas.openxmlformats.org/package/2006/relationships"><Relationship Id="rId1" Type="http://schemas.openxmlformats.org/officeDocument/2006/relationships/package" Target="../embeddings/Microsoft_Excel_Sheet773.xlsx"/></Relationships>
</file>

<file path=ppt/charts/_rels/chart774.xml.rels><?xml version='1.0' encoding='UTF-8' standalone='yes'?>
<Relationships xmlns="http://schemas.openxmlformats.org/package/2006/relationships"><Relationship Id="rId1" Type="http://schemas.openxmlformats.org/officeDocument/2006/relationships/package" Target="../embeddings/Microsoft_Excel_Sheet774.xlsx"/></Relationships>
</file>

<file path=ppt/charts/_rels/chart775.xml.rels><?xml version='1.0' encoding='UTF-8' standalone='yes'?>
<Relationships xmlns="http://schemas.openxmlformats.org/package/2006/relationships"><Relationship Id="rId1" Type="http://schemas.openxmlformats.org/officeDocument/2006/relationships/package" Target="../embeddings/Microsoft_Excel_Sheet775.xlsx"/></Relationships>
</file>

<file path=ppt/charts/_rels/chart776.xml.rels><?xml version='1.0' encoding='UTF-8' standalone='yes'?>
<Relationships xmlns="http://schemas.openxmlformats.org/package/2006/relationships"><Relationship Id="rId1" Type="http://schemas.openxmlformats.org/officeDocument/2006/relationships/package" Target="../embeddings/Microsoft_Excel_Sheet776.xlsx"/></Relationships>
</file>

<file path=ppt/charts/_rels/chart777.xml.rels><?xml version='1.0' encoding='UTF-8' standalone='yes'?>
<Relationships xmlns="http://schemas.openxmlformats.org/package/2006/relationships"><Relationship Id="rId1" Type="http://schemas.openxmlformats.org/officeDocument/2006/relationships/package" Target="../embeddings/Microsoft_Excel_Sheet777.xlsx"/></Relationships>
</file>

<file path=ppt/charts/_rels/chart778.xml.rels><?xml version='1.0' encoding='UTF-8' standalone='yes'?>
<Relationships xmlns="http://schemas.openxmlformats.org/package/2006/relationships"><Relationship Id="rId1" Type="http://schemas.openxmlformats.org/officeDocument/2006/relationships/package" Target="../embeddings/Microsoft_Excel_Sheet778.xlsx"/></Relationships>
</file>

<file path=ppt/charts/_rels/chart779.xml.rels><?xml version='1.0' encoding='UTF-8' standalone='yes'?>
<Relationships xmlns="http://schemas.openxmlformats.org/package/2006/relationships"><Relationship Id="rId1" Type="http://schemas.openxmlformats.org/officeDocument/2006/relationships/package" Target="../embeddings/Microsoft_Excel_Sheet779.xlsx"/></Relationships>
</file>

<file path=ppt/charts/_rels/chart780.xml.rels><?xml version='1.0' encoding='UTF-8' standalone='yes'?>
<Relationships xmlns="http://schemas.openxmlformats.org/package/2006/relationships"><Relationship Id="rId1" Type="http://schemas.openxmlformats.org/officeDocument/2006/relationships/package" Target="../embeddings/Microsoft_Excel_Sheet780.xlsx"/></Relationships>
</file>

<file path=ppt/charts/_rels/chart781.xml.rels><?xml version='1.0' encoding='UTF-8' standalone='yes'?>
<Relationships xmlns="http://schemas.openxmlformats.org/package/2006/relationships"><Relationship Id="rId1" Type="http://schemas.openxmlformats.org/officeDocument/2006/relationships/package" Target="../embeddings/Microsoft_Excel_Sheet781.xlsx"/></Relationships>
</file>

<file path=ppt/charts/_rels/chart782.xml.rels><?xml version='1.0' encoding='UTF-8' standalone='yes'?>
<Relationships xmlns="http://schemas.openxmlformats.org/package/2006/relationships"><Relationship Id="rId1" Type="http://schemas.openxmlformats.org/officeDocument/2006/relationships/package" Target="../embeddings/Microsoft_Excel_Sheet782.xlsx"/></Relationships>
</file>

<file path=ppt/charts/_rels/chart783.xml.rels><?xml version='1.0' encoding='UTF-8' standalone='yes'?>
<Relationships xmlns="http://schemas.openxmlformats.org/package/2006/relationships"><Relationship Id="rId1" Type="http://schemas.openxmlformats.org/officeDocument/2006/relationships/package" Target="../embeddings/Microsoft_Excel_Sheet783.xlsx"/></Relationships>
</file>

<file path=ppt/charts/_rels/chart784.xml.rels><?xml version='1.0' encoding='UTF-8' standalone='yes'?>
<Relationships xmlns="http://schemas.openxmlformats.org/package/2006/relationships"><Relationship Id="rId1" Type="http://schemas.openxmlformats.org/officeDocument/2006/relationships/package" Target="../embeddings/Microsoft_Excel_Sheet784.xlsx"/></Relationships>
</file>

<file path=ppt/charts/_rels/chart785.xml.rels><?xml version='1.0' encoding='UTF-8' standalone='yes'?>
<Relationships xmlns="http://schemas.openxmlformats.org/package/2006/relationships"><Relationship Id="rId1" Type="http://schemas.openxmlformats.org/officeDocument/2006/relationships/package" Target="../embeddings/Microsoft_Excel_Sheet785.xlsx"/></Relationships>
</file>

<file path=ppt/charts/_rels/chart786.xml.rels><?xml version='1.0' encoding='UTF-8' standalone='yes'?>
<Relationships xmlns="http://schemas.openxmlformats.org/package/2006/relationships"><Relationship Id="rId1" Type="http://schemas.openxmlformats.org/officeDocument/2006/relationships/package" Target="../embeddings/Microsoft_Excel_Sheet786.xlsx"/></Relationships>
</file>

<file path=ppt/charts/_rels/chart787.xml.rels><?xml version='1.0' encoding='UTF-8' standalone='yes'?>
<Relationships xmlns="http://schemas.openxmlformats.org/package/2006/relationships"><Relationship Id="rId1" Type="http://schemas.openxmlformats.org/officeDocument/2006/relationships/package" Target="../embeddings/Microsoft_Excel_Sheet787.xlsx"/></Relationships>
</file>

<file path=ppt/charts/_rels/chart788.xml.rels><?xml version='1.0' encoding='UTF-8' standalone='yes'?>
<Relationships xmlns="http://schemas.openxmlformats.org/package/2006/relationships"><Relationship Id="rId1" Type="http://schemas.openxmlformats.org/officeDocument/2006/relationships/package" Target="../embeddings/Microsoft_Excel_Sheet788.xlsx"/></Relationships>
</file>

<file path=ppt/charts/_rels/chart789.xml.rels><?xml version='1.0' encoding='UTF-8' standalone='yes'?>
<Relationships xmlns="http://schemas.openxmlformats.org/package/2006/relationships"><Relationship Id="rId1" Type="http://schemas.openxmlformats.org/officeDocument/2006/relationships/package" Target="../embeddings/Microsoft_Excel_Sheet789.xlsx"/></Relationships>
</file>

<file path=ppt/charts/_rels/chart790.xml.rels><?xml version='1.0' encoding='UTF-8' standalone='yes'?>
<Relationships xmlns="http://schemas.openxmlformats.org/package/2006/relationships"><Relationship Id="rId1" Type="http://schemas.openxmlformats.org/officeDocument/2006/relationships/package" Target="../embeddings/Microsoft_Excel_Sheet790.xlsx"/></Relationships>
</file>

<file path=ppt/charts/_rels/chart791.xml.rels><?xml version='1.0' encoding='UTF-8' standalone='yes'?>
<Relationships xmlns="http://schemas.openxmlformats.org/package/2006/relationships"><Relationship Id="rId1" Type="http://schemas.openxmlformats.org/officeDocument/2006/relationships/package" Target="../embeddings/Microsoft_Excel_Sheet791.xlsx"/></Relationships>
</file>

<file path=ppt/charts/_rels/chart792.xml.rels><?xml version='1.0' encoding='UTF-8' standalone='yes'?>
<Relationships xmlns="http://schemas.openxmlformats.org/package/2006/relationships"><Relationship Id="rId1" Type="http://schemas.openxmlformats.org/officeDocument/2006/relationships/package" Target="../embeddings/Microsoft_Excel_Sheet792.xlsx"/></Relationships>
</file>

<file path=ppt/charts/_rels/chart793.xml.rels><?xml version='1.0' encoding='UTF-8' standalone='yes'?>
<Relationships xmlns="http://schemas.openxmlformats.org/package/2006/relationships"><Relationship Id="rId1" Type="http://schemas.openxmlformats.org/officeDocument/2006/relationships/package" Target="../embeddings/Microsoft_Excel_Sheet793.xlsx"/></Relationships>
</file>

<file path=ppt/charts/_rels/chart794.xml.rels><?xml version='1.0' encoding='UTF-8' standalone='yes'?>
<Relationships xmlns="http://schemas.openxmlformats.org/package/2006/relationships"><Relationship Id="rId1" Type="http://schemas.openxmlformats.org/officeDocument/2006/relationships/package" Target="../embeddings/Microsoft_Excel_Sheet794.xlsx"/></Relationships>
</file>

<file path=ppt/charts/_rels/chart795.xml.rels><?xml version='1.0' encoding='UTF-8' standalone='yes'?>
<Relationships xmlns="http://schemas.openxmlformats.org/package/2006/relationships"><Relationship Id="rId1" Type="http://schemas.openxmlformats.org/officeDocument/2006/relationships/package" Target="../embeddings/Microsoft_Excel_Sheet795.xlsx"/></Relationships>
</file>

<file path=ppt/charts/_rels/chart796.xml.rels><?xml version='1.0' encoding='UTF-8' standalone='yes'?>
<Relationships xmlns="http://schemas.openxmlformats.org/package/2006/relationships"><Relationship Id="rId1" Type="http://schemas.openxmlformats.org/officeDocument/2006/relationships/package" Target="../embeddings/Microsoft_Excel_Sheet796.xlsx"/></Relationships>
</file>

<file path=ppt/charts/_rels/chart797.xml.rels><?xml version='1.0' encoding='UTF-8' standalone='yes'?>
<Relationships xmlns="http://schemas.openxmlformats.org/package/2006/relationships"><Relationship Id="rId1" Type="http://schemas.openxmlformats.org/officeDocument/2006/relationships/package" Target="../embeddings/Microsoft_Excel_Sheet797.xlsx"/></Relationships>
</file>

<file path=ppt/charts/_rels/chart798.xml.rels><?xml version='1.0' encoding='UTF-8' standalone='yes'?>
<Relationships xmlns="http://schemas.openxmlformats.org/package/2006/relationships"><Relationship Id="rId1" Type="http://schemas.openxmlformats.org/officeDocument/2006/relationships/package" Target="../embeddings/Microsoft_Excel_Sheet798.xlsx"/></Relationships>
</file>

<file path=ppt/charts/_rels/chart799.xml.rels><?xml version='1.0' encoding='UTF-8' standalone='yes'?>
<Relationships xmlns="http://schemas.openxmlformats.org/package/2006/relationships"><Relationship Id="rId1" Type="http://schemas.openxmlformats.org/officeDocument/2006/relationships/package" Target="../embeddings/Microsoft_Excel_Sheet799.xlsx"/></Relationships>
</file>

<file path=ppt/charts/_rels/chart800.xml.rels><?xml version='1.0' encoding='UTF-8' standalone='yes'?>
<Relationships xmlns="http://schemas.openxmlformats.org/package/2006/relationships"><Relationship Id="rId1" Type="http://schemas.openxmlformats.org/officeDocument/2006/relationships/package" Target="../embeddings/Microsoft_Excel_Sheet800.xlsx"/></Relationships>
</file>

<file path=ppt/charts/_rels/chart801.xml.rels><?xml version='1.0' encoding='UTF-8' standalone='yes'?>
<Relationships xmlns="http://schemas.openxmlformats.org/package/2006/relationships"><Relationship Id="rId1" Type="http://schemas.openxmlformats.org/officeDocument/2006/relationships/package" Target="../embeddings/Microsoft_Excel_Sheet801.xlsx"/></Relationships>
</file>

<file path=ppt/charts/_rels/chart802.xml.rels><?xml version='1.0' encoding='UTF-8' standalone='yes'?>
<Relationships xmlns="http://schemas.openxmlformats.org/package/2006/relationships"><Relationship Id="rId1" Type="http://schemas.openxmlformats.org/officeDocument/2006/relationships/package" Target="../embeddings/Microsoft_Excel_Sheet802.xlsx"/></Relationships>
</file>

<file path=ppt/charts/_rels/chart803.xml.rels><?xml version='1.0' encoding='UTF-8' standalone='yes'?>
<Relationships xmlns="http://schemas.openxmlformats.org/package/2006/relationships"><Relationship Id="rId1" Type="http://schemas.openxmlformats.org/officeDocument/2006/relationships/package" Target="../embeddings/Microsoft_Excel_Sheet803.xlsx"/></Relationships>
</file>

<file path=ppt/charts/_rels/chart804.xml.rels><?xml version='1.0' encoding='UTF-8' standalone='yes'?>
<Relationships xmlns="http://schemas.openxmlformats.org/package/2006/relationships"><Relationship Id="rId1" Type="http://schemas.openxmlformats.org/officeDocument/2006/relationships/package" Target="../embeddings/Microsoft_Excel_Sheet804.xlsx"/></Relationships>
</file>

<file path=ppt/charts/_rels/chart805.xml.rels><?xml version='1.0' encoding='UTF-8' standalone='yes'?>
<Relationships xmlns="http://schemas.openxmlformats.org/package/2006/relationships"><Relationship Id="rId1" Type="http://schemas.openxmlformats.org/officeDocument/2006/relationships/package" Target="../embeddings/Microsoft_Excel_Sheet805.xlsx"/></Relationships>
</file>

<file path=ppt/charts/_rels/chart806.xml.rels><?xml version='1.0' encoding='UTF-8' standalone='yes'?>
<Relationships xmlns="http://schemas.openxmlformats.org/package/2006/relationships"><Relationship Id="rId1" Type="http://schemas.openxmlformats.org/officeDocument/2006/relationships/package" Target="../embeddings/Microsoft_Excel_Sheet806.xlsx"/></Relationships>
</file>

<file path=ppt/charts/_rels/chart807.xml.rels><?xml version='1.0' encoding='UTF-8' standalone='yes'?>
<Relationships xmlns="http://schemas.openxmlformats.org/package/2006/relationships"><Relationship Id="rId1" Type="http://schemas.openxmlformats.org/officeDocument/2006/relationships/package" Target="../embeddings/Microsoft_Excel_Sheet807.xlsx"/></Relationships>
</file>

<file path=ppt/charts/_rels/chart808.xml.rels><?xml version='1.0' encoding='UTF-8' standalone='yes'?>
<Relationships xmlns="http://schemas.openxmlformats.org/package/2006/relationships"><Relationship Id="rId1" Type="http://schemas.openxmlformats.org/officeDocument/2006/relationships/package" Target="../embeddings/Microsoft_Excel_Sheet808.xlsx"/></Relationships>
</file>

<file path=ppt/charts/_rels/chart809.xml.rels><?xml version='1.0' encoding='UTF-8' standalone='yes'?>
<Relationships xmlns="http://schemas.openxmlformats.org/package/2006/relationships"><Relationship Id="rId1" Type="http://schemas.openxmlformats.org/officeDocument/2006/relationships/package" Target="../embeddings/Microsoft_Excel_Sheet809.xlsx"/></Relationships>
</file>

<file path=ppt/charts/_rels/chart810.xml.rels><?xml version='1.0' encoding='UTF-8' standalone='yes'?>
<Relationships xmlns="http://schemas.openxmlformats.org/package/2006/relationships"><Relationship Id="rId1" Type="http://schemas.openxmlformats.org/officeDocument/2006/relationships/package" Target="../embeddings/Microsoft_Excel_Sheet810.xlsx"/></Relationships>
</file>

<file path=ppt/charts/_rels/chart811.xml.rels><?xml version='1.0' encoding='UTF-8' standalone='yes'?>
<Relationships xmlns="http://schemas.openxmlformats.org/package/2006/relationships"><Relationship Id="rId1" Type="http://schemas.openxmlformats.org/officeDocument/2006/relationships/package" Target="../embeddings/Microsoft_Excel_Sheet811.xlsx"/></Relationships>
</file>

<file path=ppt/charts/_rels/chart812.xml.rels><?xml version='1.0' encoding='UTF-8' standalone='yes'?>
<Relationships xmlns="http://schemas.openxmlformats.org/package/2006/relationships"><Relationship Id="rId1" Type="http://schemas.openxmlformats.org/officeDocument/2006/relationships/package" Target="../embeddings/Microsoft_Excel_Sheet812.xlsx"/></Relationships>
</file>

<file path=ppt/charts/_rels/chart813.xml.rels><?xml version='1.0' encoding='UTF-8' standalone='yes'?>
<Relationships xmlns="http://schemas.openxmlformats.org/package/2006/relationships"><Relationship Id="rId1" Type="http://schemas.openxmlformats.org/officeDocument/2006/relationships/package" Target="../embeddings/Microsoft_Excel_Sheet813.xlsx"/></Relationships>
</file>

<file path=ppt/charts/_rels/chart814.xml.rels><?xml version='1.0' encoding='UTF-8' standalone='yes'?>
<Relationships xmlns="http://schemas.openxmlformats.org/package/2006/relationships"><Relationship Id="rId1" Type="http://schemas.openxmlformats.org/officeDocument/2006/relationships/package" Target="../embeddings/Microsoft_Excel_Sheet814.xlsx"/></Relationships>
</file>

<file path=ppt/charts/_rels/chart815.xml.rels><?xml version='1.0' encoding='UTF-8' standalone='yes'?>
<Relationships xmlns="http://schemas.openxmlformats.org/package/2006/relationships"><Relationship Id="rId1" Type="http://schemas.openxmlformats.org/officeDocument/2006/relationships/package" Target="../embeddings/Microsoft_Excel_Sheet815.xlsx"/></Relationships>
</file>

<file path=ppt/charts/_rels/chart816.xml.rels><?xml version='1.0' encoding='UTF-8' standalone='yes'?>
<Relationships xmlns="http://schemas.openxmlformats.org/package/2006/relationships"><Relationship Id="rId1" Type="http://schemas.openxmlformats.org/officeDocument/2006/relationships/package" Target="../embeddings/Microsoft_Excel_Sheet816.xlsx"/></Relationships>
</file>

<file path=ppt/charts/_rels/chart817.xml.rels><?xml version='1.0' encoding='UTF-8' standalone='yes'?>
<Relationships xmlns="http://schemas.openxmlformats.org/package/2006/relationships"><Relationship Id="rId1" Type="http://schemas.openxmlformats.org/officeDocument/2006/relationships/package" Target="../embeddings/Microsoft_Excel_Sheet817.xlsx"/></Relationships>
</file>

<file path=ppt/charts/_rels/chart818.xml.rels><?xml version='1.0' encoding='UTF-8' standalone='yes'?>
<Relationships xmlns="http://schemas.openxmlformats.org/package/2006/relationships"><Relationship Id="rId1" Type="http://schemas.openxmlformats.org/officeDocument/2006/relationships/package" Target="../embeddings/Microsoft_Excel_Sheet818.xlsx"/></Relationships>
</file>

<file path=ppt/charts/_rels/chart819.xml.rels><?xml version='1.0' encoding='UTF-8' standalone='yes'?>
<Relationships xmlns="http://schemas.openxmlformats.org/package/2006/relationships"><Relationship Id="rId1" Type="http://schemas.openxmlformats.org/officeDocument/2006/relationships/package" Target="../embeddings/Microsoft_Excel_Sheet819.xlsx"/></Relationships>
</file>

<file path=ppt/charts/_rels/chart820.xml.rels><?xml version='1.0' encoding='UTF-8' standalone='yes'?>
<Relationships xmlns="http://schemas.openxmlformats.org/package/2006/relationships"><Relationship Id="rId1" Type="http://schemas.openxmlformats.org/officeDocument/2006/relationships/package" Target="../embeddings/Microsoft_Excel_Sheet820.xlsx"/></Relationships>
</file>

<file path=ppt/charts/_rels/chart821.xml.rels><?xml version='1.0' encoding='UTF-8' standalone='yes'?>
<Relationships xmlns="http://schemas.openxmlformats.org/package/2006/relationships"><Relationship Id="rId1" Type="http://schemas.openxmlformats.org/officeDocument/2006/relationships/package" Target="../embeddings/Microsoft_Excel_Sheet821.xlsx"/></Relationships>
</file>

<file path=ppt/charts/_rels/chart822.xml.rels><?xml version='1.0' encoding='UTF-8' standalone='yes'?>
<Relationships xmlns="http://schemas.openxmlformats.org/package/2006/relationships"><Relationship Id="rId1" Type="http://schemas.openxmlformats.org/officeDocument/2006/relationships/package" Target="../embeddings/Microsoft_Excel_Sheet822.xlsx"/></Relationships>
</file>

<file path=ppt/charts/_rels/chart823.xml.rels><?xml version='1.0' encoding='UTF-8' standalone='yes'?>
<Relationships xmlns="http://schemas.openxmlformats.org/package/2006/relationships"><Relationship Id="rId1" Type="http://schemas.openxmlformats.org/officeDocument/2006/relationships/package" Target="../embeddings/Microsoft_Excel_Sheet823.xlsx"/></Relationships>
</file>

<file path=ppt/charts/_rels/chart824.xml.rels><?xml version='1.0' encoding='UTF-8' standalone='yes'?>
<Relationships xmlns="http://schemas.openxmlformats.org/package/2006/relationships"><Relationship Id="rId1" Type="http://schemas.openxmlformats.org/officeDocument/2006/relationships/package" Target="../embeddings/Microsoft_Excel_Sheet824.xlsx"/></Relationships>
</file>

<file path=ppt/charts/_rels/chart825.xml.rels><?xml version='1.0' encoding='UTF-8' standalone='yes'?>
<Relationships xmlns="http://schemas.openxmlformats.org/package/2006/relationships"><Relationship Id="rId1" Type="http://schemas.openxmlformats.org/officeDocument/2006/relationships/package" Target="../embeddings/Microsoft_Excel_Sheet825.xlsx"/></Relationships>
</file>

<file path=ppt/charts/_rels/chart826.xml.rels><?xml version='1.0' encoding='UTF-8' standalone='yes'?>
<Relationships xmlns="http://schemas.openxmlformats.org/package/2006/relationships"><Relationship Id="rId1" Type="http://schemas.openxmlformats.org/officeDocument/2006/relationships/package" Target="../embeddings/Microsoft_Excel_Sheet826.xlsx"/></Relationships>
</file>

<file path=ppt/charts/_rels/chart827.xml.rels><?xml version='1.0' encoding='UTF-8' standalone='yes'?>
<Relationships xmlns="http://schemas.openxmlformats.org/package/2006/relationships"><Relationship Id="rId1" Type="http://schemas.openxmlformats.org/officeDocument/2006/relationships/package" Target="../embeddings/Microsoft_Excel_Sheet827.xlsx"/></Relationships>
</file>

<file path=ppt/charts/_rels/chart828.xml.rels><?xml version='1.0' encoding='UTF-8' standalone='yes'?>
<Relationships xmlns="http://schemas.openxmlformats.org/package/2006/relationships"><Relationship Id="rId1" Type="http://schemas.openxmlformats.org/officeDocument/2006/relationships/package" Target="../embeddings/Microsoft_Excel_Sheet828.xlsx"/></Relationships>
</file>

<file path=ppt/charts/_rels/chart829.xml.rels><?xml version='1.0' encoding='UTF-8' standalone='yes'?>
<Relationships xmlns="http://schemas.openxmlformats.org/package/2006/relationships"><Relationship Id="rId1" Type="http://schemas.openxmlformats.org/officeDocument/2006/relationships/package" Target="../embeddings/Microsoft_Excel_Sheet829.xlsx"/></Relationships>
</file>

<file path=ppt/charts/_rels/chart830.xml.rels><?xml version='1.0' encoding='UTF-8' standalone='yes'?>
<Relationships xmlns="http://schemas.openxmlformats.org/package/2006/relationships"><Relationship Id="rId1" Type="http://schemas.openxmlformats.org/officeDocument/2006/relationships/package" Target="../embeddings/Microsoft_Excel_Sheet830.xlsx"/></Relationships>
</file>

<file path=ppt/charts/_rels/chart831.xml.rels><?xml version='1.0' encoding='UTF-8' standalone='yes'?>
<Relationships xmlns="http://schemas.openxmlformats.org/package/2006/relationships"><Relationship Id="rId1" Type="http://schemas.openxmlformats.org/officeDocument/2006/relationships/package" Target="../embeddings/Microsoft_Excel_Sheet831.xlsx"/></Relationships>
</file>

<file path=ppt/charts/_rels/chart832.xml.rels><?xml version='1.0' encoding='UTF-8' standalone='yes'?>
<Relationships xmlns="http://schemas.openxmlformats.org/package/2006/relationships"><Relationship Id="rId1" Type="http://schemas.openxmlformats.org/officeDocument/2006/relationships/package" Target="../embeddings/Microsoft_Excel_Sheet832.xlsx"/></Relationships>
</file>

<file path=ppt/charts/_rels/chart833.xml.rels><?xml version='1.0' encoding='UTF-8' standalone='yes'?>
<Relationships xmlns="http://schemas.openxmlformats.org/package/2006/relationships"><Relationship Id="rId1" Type="http://schemas.openxmlformats.org/officeDocument/2006/relationships/package" Target="../embeddings/Microsoft_Excel_Sheet833.xlsx"/></Relationships>
</file>

<file path=ppt/charts/_rels/chart834.xml.rels><?xml version='1.0' encoding='UTF-8' standalone='yes'?>
<Relationships xmlns="http://schemas.openxmlformats.org/package/2006/relationships"><Relationship Id="rId1" Type="http://schemas.openxmlformats.org/officeDocument/2006/relationships/package" Target="../embeddings/Microsoft_Excel_Sheet834.xlsx"/></Relationships>
</file>

<file path=ppt/charts/_rels/chart835.xml.rels><?xml version='1.0' encoding='UTF-8' standalone='yes'?>
<Relationships xmlns="http://schemas.openxmlformats.org/package/2006/relationships"><Relationship Id="rId1" Type="http://schemas.openxmlformats.org/officeDocument/2006/relationships/package" Target="../embeddings/Microsoft_Excel_Sheet835.xlsx"/></Relationships>
</file>

<file path=ppt/charts/_rels/chart836.xml.rels><?xml version='1.0' encoding='UTF-8' standalone='yes'?>
<Relationships xmlns="http://schemas.openxmlformats.org/package/2006/relationships"><Relationship Id="rId1" Type="http://schemas.openxmlformats.org/officeDocument/2006/relationships/package" Target="../embeddings/Microsoft_Excel_Sheet836.xlsx"/></Relationships>
</file>

<file path=ppt/charts/_rels/chart837.xml.rels><?xml version='1.0' encoding='UTF-8' standalone='yes'?>
<Relationships xmlns="http://schemas.openxmlformats.org/package/2006/relationships"><Relationship Id="rId1" Type="http://schemas.openxmlformats.org/officeDocument/2006/relationships/package" Target="../embeddings/Microsoft_Excel_Sheet837.xlsx"/></Relationships>
</file>

<file path=ppt/charts/_rels/chart838.xml.rels><?xml version='1.0' encoding='UTF-8' standalone='yes'?>
<Relationships xmlns="http://schemas.openxmlformats.org/package/2006/relationships"><Relationship Id="rId1" Type="http://schemas.openxmlformats.org/officeDocument/2006/relationships/package" Target="../embeddings/Microsoft_Excel_Sheet838.xlsx"/></Relationships>
</file>

<file path=ppt/charts/_rels/chart839.xml.rels><?xml version='1.0' encoding='UTF-8' standalone='yes'?>
<Relationships xmlns="http://schemas.openxmlformats.org/package/2006/relationships"><Relationship Id="rId1" Type="http://schemas.openxmlformats.org/officeDocument/2006/relationships/package" Target="../embeddings/Microsoft_Excel_Sheet839.xlsx"/></Relationships>
</file>

<file path=ppt/charts/_rels/chart840.xml.rels><?xml version='1.0' encoding='UTF-8' standalone='yes'?>
<Relationships xmlns="http://schemas.openxmlformats.org/package/2006/relationships"><Relationship Id="rId1" Type="http://schemas.openxmlformats.org/officeDocument/2006/relationships/package" Target="../embeddings/Microsoft_Excel_Sheet840.xlsx"/></Relationships>
</file>

<file path=ppt/charts/_rels/chart841.xml.rels><?xml version='1.0' encoding='UTF-8' standalone='yes'?>
<Relationships xmlns="http://schemas.openxmlformats.org/package/2006/relationships"><Relationship Id="rId1" Type="http://schemas.openxmlformats.org/officeDocument/2006/relationships/package" Target="../embeddings/Microsoft_Excel_Sheet841.xlsx"/></Relationships>
</file>

<file path=ppt/charts/_rels/chart842.xml.rels><?xml version='1.0' encoding='UTF-8' standalone='yes'?>
<Relationships xmlns="http://schemas.openxmlformats.org/package/2006/relationships"><Relationship Id="rId1" Type="http://schemas.openxmlformats.org/officeDocument/2006/relationships/package" Target="../embeddings/Microsoft_Excel_Sheet842.xlsx"/></Relationships>
</file>

<file path=ppt/charts/_rels/chart843.xml.rels><?xml version='1.0' encoding='UTF-8' standalone='yes'?>
<Relationships xmlns="http://schemas.openxmlformats.org/package/2006/relationships"><Relationship Id="rId1" Type="http://schemas.openxmlformats.org/officeDocument/2006/relationships/package" Target="../embeddings/Microsoft_Excel_Sheet843.xlsx"/></Relationships>
</file>

<file path=ppt/charts/_rels/chart844.xml.rels><?xml version='1.0' encoding='UTF-8' standalone='yes'?>
<Relationships xmlns="http://schemas.openxmlformats.org/package/2006/relationships"><Relationship Id="rId1" Type="http://schemas.openxmlformats.org/officeDocument/2006/relationships/package" Target="../embeddings/Microsoft_Excel_Sheet844.xlsx"/></Relationships>
</file>

<file path=ppt/charts/_rels/chart845.xml.rels><?xml version='1.0' encoding='UTF-8' standalone='yes'?>
<Relationships xmlns="http://schemas.openxmlformats.org/package/2006/relationships"><Relationship Id="rId1" Type="http://schemas.openxmlformats.org/officeDocument/2006/relationships/package" Target="../embeddings/Microsoft_Excel_Sheet845.xlsx"/></Relationships>
</file>

<file path=ppt/charts/_rels/chart846.xml.rels><?xml version='1.0' encoding='UTF-8' standalone='yes'?>
<Relationships xmlns="http://schemas.openxmlformats.org/package/2006/relationships"><Relationship Id="rId1" Type="http://schemas.openxmlformats.org/officeDocument/2006/relationships/package" Target="../embeddings/Microsoft_Excel_Sheet846.xlsx"/></Relationships>
</file>

<file path=ppt/charts/_rels/chart847.xml.rels><?xml version='1.0' encoding='UTF-8' standalone='yes'?>
<Relationships xmlns="http://schemas.openxmlformats.org/package/2006/relationships"><Relationship Id="rId1" Type="http://schemas.openxmlformats.org/officeDocument/2006/relationships/package" Target="../embeddings/Microsoft_Excel_Sheet847.xlsx"/></Relationships>
</file>

<file path=ppt/charts/_rels/chart848.xml.rels><?xml version='1.0' encoding='UTF-8' standalone='yes'?>
<Relationships xmlns="http://schemas.openxmlformats.org/package/2006/relationships"><Relationship Id="rId1" Type="http://schemas.openxmlformats.org/officeDocument/2006/relationships/package" Target="../embeddings/Microsoft_Excel_Sheet848.xlsx"/></Relationships>
</file>

<file path=ppt/charts/_rels/chart849.xml.rels><?xml version='1.0' encoding='UTF-8' standalone='yes'?>
<Relationships xmlns="http://schemas.openxmlformats.org/package/2006/relationships"><Relationship Id="rId1" Type="http://schemas.openxmlformats.org/officeDocument/2006/relationships/package" Target="../embeddings/Microsoft_Excel_Sheet849.xlsx"/></Relationships>
</file>

<file path=ppt/charts/_rels/chart850.xml.rels><?xml version='1.0' encoding='UTF-8' standalone='yes'?>
<Relationships xmlns="http://schemas.openxmlformats.org/package/2006/relationships"><Relationship Id="rId1" Type="http://schemas.openxmlformats.org/officeDocument/2006/relationships/package" Target="../embeddings/Microsoft_Excel_Sheet850.xlsx"/></Relationships>
</file>

<file path=ppt/charts/_rels/chart851.xml.rels><?xml version='1.0' encoding='UTF-8' standalone='yes'?>
<Relationships xmlns="http://schemas.openxmlformats.org/package/2006/relationships"><Relationship Id="rId1" Type="http://schemas.openxmlformats.org/officeDocument/2006/relationships/package" Target="../embeddings/Microsoft_Excel_Sheet851.xlsx"/></Relationships>
</file>

<file path=ppt/charts/_rels/chart852.xml.rels><?xml version='1.0' encoding='UTF-8' standalone='yes'?>
<Relationships xmlns="http://schemas.openxmlformats.org/package/2006/relationships"><Relationship Id="rId1" Type="http://schemas.openxmlformats.org/officeDocument/2006/relationships/package" Target="../embeddings/Microsoft_Excel_Sheet852.xlsx"/></Relationships>
</file>

<file path=ppt/charts/_rels/chart853.xml.rels><?xml version='1.0' encoding='UTF-8' standalone='yes'?>
<Relationships xmlns="http://schemas.openxmlformats.org/package/2006/relationships"><Relationship Id="rId1" Type="http://schemas.openxmlformats.org/officeDocument/2006/relationships/package" Target="../embeddings/Microsoft_Excel_Sheet853.xlsx"/></Relationships>
</file>

<file path=ppt/charts/_rels/chart854.xml.rels><?xml version='1.0' encoding='UTF-8' standalone='yes'?>
<Relationships xmlns="http://schemas.openxmlformats.org/package/2006/relationships"><Relationship Id="rId1" Type="http://schemas.openxmlformats.org/officeDocument/2006/relationships/package" Target="../embeddings/Microsoft_Excel_Sheet854.xlsx"/></Relationships>
</file>

<file path=ppt/charts/_rels/chart855.xml.rels><?xml version='1.0' encoding='UTF-8' standalone='yes'?>
<Relationships xmlns="http://schemas.openxmlformats.org/package/2006/relationships"><Relationship Id="rId1" Type="http://schemas.openxmlformats.org/officeDocument/2006/relationships/package" Target="../embeddings/Microsoft_Excel_Sheet855.xlsx"/></Relationships>
</file>

<file path=ppt/charts/_rels/chart856.xml.rels><?xml version='1.0' encoding='UTF-8' standalone='yes'?>
<Relationships xmlns="http://schemas.openxmlformats.org/package/2006/relationships"><Relationship Id="rId1" Type="http://schemas.openxmlformats.org/officeDocument/2006/relationships/package" Target="../embeddings/Microsoft_Excel_Sheet856.xlsx"/></Relationships>
</file>

<file path=ppt/charts/_rels/chart857.xml.rels><?xml version='1.0' encoding='UTF-8' standalone='yes'?>
<Relationships xmlns="http://schemas.openxmlformats.org/package/2006/relationships"><Relationship Id="rId1" Type="http://schemas.openxmlformats.org/officeDocument/2006/relationships/package" Target="../embeddings/Microsoft_Excel_Sheet857.xlsx"/></Relationships>
</file>

<file path=ppt/charts/_rels/chart858.xml.rels><?xml version='1.0' encoding='UTF-8' standalone='yes'?>
<Relationships xmlns="http://schemas.openxmlformats.org/package/2006/relationships"><Relationship Id="rId1" Type="http://schemas.openxmlformats.org/officeDocument/2006/relationships/package" Target="../embeddings/Microsoft_Excel_Sheet858.xlsx"/></Relationships>
</file>

<file path=ppt/charts/_rels/chart859.xml.rels><?xml version='1.0' encoding='UTF-8' standalone='yes'?>
<Relationships xmlns="http://schemas.openxmlformats.org/package/2006/relationships"><Relationship Id="rId1" Type="http://schemas.openxmlformats.org/officeDocument/2006/relationships/package" Target="../embeddings/Microsoft_Excel_Sheet859.xlsx"/></Relationships>
</file>

<file path=ppt/charts/_rels/chart860.xml.rels><?xml version='1.0' encoding='UTF-8' standalone='yes'?>
<Relationships xmlns="http://schemas.openxmlformats.org/package/2006/relationships"><Relationship Id="rId1" Type="http://schemas.openxmlformats.org/officeDocument/2006/relationships/package" Target="../embeddings/Microsoft_Excel_Sheet860.xlsx"/></Relationships>
</file>

<file path=ppt/charts/_rels/chart861.xml.rels><?xml version='1.0' encoding='UTF-8' standalone='yes'?>
<Relationships xmlns="http://schemas.openxmlformats.org/package/2006/relationships"><Relationship Id="rId1" Type="http://schemas.openxmlformats.org/officeDocument/2006/relationships/package" Target="../embeddings/Microsoft_Excel_Sheet861.xlsx"/></Relationships>
</file>

<file path=ppt/charts/_rels/chart862.xml.rels><?xml version='1.0' encoding='UTF-8' standalone='yes'?>
<Relationships xmlns="http://schemas.openxmlformats.org/package/2006/relationships"><Relationship Id="rId1" Type="http://schemas.openxmlformats.org/officeDocument/2006/relationships/package" Target="../embeddings/Microsoft_Excel_Sheet862.xlsx"/></Relationships>
</file>

<file path=ppt/charts/_rels/chart863.xml.rels><?xml version='1.0' encoding='UTF-8' standalone='yes'?>
<Relationships xmlns="http://schemas.openxmlformats.org/package/2006/relationships"><Relationship Id="rId1" Type="http://schemas.openxmlformats.org/officeDocument/2006/relationships/package" Target="../embeddings/Microsoft_Excel_Sheet863.xlsx"/></Relationships>
</file>

<file path=ppt/charts/_rels/chart864.xml.rels><?xml version='1.0' encoding='UTF-8' standalone='yes'?>
<Relationships xmlns="http://schemas.openxmlformats.org/package/2006/relationships"><Relationship Id="rId1" Type="http://schemas.openxmlformats.org/officeDocument/2006/relationships/package" Target="../embeddings/Microsoft_Excel_Sheet864.xlsx"/></Relationships>
</file>

<file path=ppt/charts/_rels/chart865.xml.rels><?xml version='1.0' encoding='UTF-8' standalone='yes'?>
<Relationships xmlns="http://schemas.openxmlformats.org/package/2006/relationships"><Relationship Id="rId1" Type="http://schemas.openxmlformats.org/officeDocument/2006/relationships/package" Target="../embeddings/Microsoft_Excel_Sheet865.xlsx"/></Relationships>
</file>

<file path=ppt/charts/_rels/chart866.xml.rels><?xml version='1.0' encoding='UTF-8' standalone='yes'?>
<Relationships xmlns="http://schemas.openxmlformats.org/package/2006/relationships"><Relationship Id="rId1" Type="http://schemas.openxmlformats.org/officeDocument/2006/relationships/package" Target="../embeddings/Microsoft_Excel_Sheet866.xlsx"/></Relationships>
</file>

<file path=ppt/charts/_rels/chart867.xml.rels><?xml version='1.0' encoding='UTF-8' standalone='yes'?>
<Relationships xmlns="http://schemas.openxmlformats.org/package/2006/relationships"><Relationship Id="rId1" Type="http://schemas.openxmlformats.org/officeDocument/2006/relationships/package" Target="../embeddings/Microsoft_Excel_Sheet867.xlsx"/></Relationships>
</file>

<file path=ppt/charts/_rels/chart868.xml.rels><?xml version='1.0' encoding='UTF-8' standalone='yes'?>
<Relationships xmlns="http://schemas.openxmlformats.org/package/2006/relationships"><Relationship Id="rId1" Type="http://schemas.openxmlformats.org/officeDocument/2006/relationships/package" Target="../embeddings/Microsoft_Excel_Sheet868.xlsx"/></Relationships>
</file>

<file path=ppt/charts/_rels/chart869.xml.rels><?xml version='1.0' encoding='UTF-8' standalone='yes'?>
<Relationships xmlns="http://schemas.openxmlformats.org/package/2006/relationships"><Relationship Id="rId1" Type="http://schemas.openxmlformats.org/officeDocument/2006/relationships/package" Target="../embeddings/Microsoft_Excel_Sheet869.xlsx"/></Relationships>
</file>

<file path=ppt/charts/_rels/chart870.xml.rels><?xml version='1.0' encoding='UTF-8' standalone='yes'?>
<Relationships xmlns="http://schemas.openxmlformats.org/package/2006/relationships"><Relationship Id="rId1" Type="http://schemas.openxmlformats.org/officeDocument/2006/relationships/package" Target="../embeddings/Microsoft_Excel_Sheet870.xlsx"/></Relationships>
</file>

<file path=ppt/charts/_rels/chart871.xml.rels><?xml version='1.0' encoding='UTF-8' standalone='yes'?>
<Relationships xmlns="http://schemas.openxmlformats.org/package/2006/relationships"><Relationship Id="rId1" Type="http://schemas.openxmlformats.org/officeDocument/2006/relationships/package" Target="../embeddings/Microsoft_Excel_Sheet871.xlsx"/></Relationships>
</file>

<file path=ppt/charts/_rels/chart872.xml.rels><?xml version='1.0' encoding='UTF-8' standalone='yes'?>
<Relationships xmlns="http://schemas.openxmlformats.org/package/2006/relationships"><Relationship Id="rId1" Type="http://schemas.openxmlformats.org/officeDocument/2006/relationships/package" Target="../embeddings/Microsoft_Excel_Sheet872.xlsx"/></Relationships>
</file>

<file path=ppt/charts/_rels/chart873.xml.rels><?xml version='1.0' encoding='UTF-8' standalone='yes'?>
<Relationships xmlns="http://schemas.openxmlformats.org/package/2006/relationships"><Relationship Id="rId1" Type="http://schemas.openxmlformats.org/officeDocument/2006/relationships/package" Target="../embeddings/Microsoft_Excel_Sheet873.xlsx"/></Relationships>
</file>

<file path=ppt/charts/_rels/chart874.xml.rels><?xml version='1.0' encoding='UTF-8' standalone='yes'?>
<Relationships xmlns="http://schemas.openxmlformats.org/package/2006/relationships"><Relationship Id="rId1" Type="http://schemas.openxmlformats.org/officeDocument/2006/relationships/package" Target="../embeddings/Microsoft_Excel_Sheet874.xlsx"/></Relationships>
</file>

<file path=ppt/charts/_rels/chart875.xml.rels><?xml version='1.0' encoding='UTF-8' standalone='yes'?>
<Relationships xmlns="http://schemas.openxmlformats.org/package/2006/relationships"><Relationship Id="rId1" Type="http://schemas.openxmlformats.org/officeDocument/2006/relationships/package" Target="../embeddings/Microsoft_Excel_Sheet875.xlsx"/></Relationships>
</file>

<file path=ppt/charts/_rels/chart876.xml.rels><?xml version='1.0' encoding='UTF-8' standalone='yes'?>
<Relationships xmlns="http://schemas.openxmlformats.org/package/2006/relationships"><Relationship Id="rId1" Type="http://schemas.openxmlformats.org/officeDocument/2006/relationships/package" Target="../embeddings/Microsoft_Excel_Sheet876.xlsx"/></Relationships>
</file>

<file path=ppt/charts/_rels/chart877.xml.rels><?xml version='1.0' encoding='UTF-8' standalone='yes'?>
<Relationships xmlns="http://schemas.openxmlformats.org/package/2006/relationships"><Relationship Id="rId1" Type="http://schemas.openxmlformats.org/officeDocument/2006/relationships/package" Target="../embeddings/Microsoft_Excel_Sheet877.xlsx"/></Relationships>
</file>

<file path=ppt/charts/_rels/chart878.xml.rels><?xml version='1.0' encoding='UTF-8' standalone='yes'?>
<Relationships xmlns="http://schemas.openxmlformats.org/package/2006/relationships"><Relationship Id="rId1" Type="http://schemas.openxmlformats.org/officeDocument/2006/relationships/package" Target="../embeddings/Microsoft_Excel_Sheet878.xlsx"/></Relationships>
</file>

<file path=ppt/charts/_rels/chart879.xml.rels><?xml version='1.0' encoding='UTF-8' standalone='yes'?>
<Relationships xmlns="http://schemas.openxmlformats.org/package/2006/relationships"><Relationship Id="rId1" Type="http://schemas.openxmlformats.org/officeDocument/2006/relationships/package" Target="../embeddings/Microsoft_Excel_Sheet879.xlsx"/></Relationships>
</file>

<file path=ppt/charts/_rels/chart880.xml.rels><?xml version='1.0' encoding='UTF-8' standalone='yes'?>
<Relationships xmlns="http://schemas.openxmlformats.org/package/2006/relationships"><Relationship Id="rId1" Type="http://schemas.openxmlformats.org/officeDocument/2006/relationships/package" Target="../embeddings/Microsoft_Excel_Sheet880.xlsx"/></Relationships>
</file>

<file path=ppt/charts/_rels/chart881.xml.rels><?xml version='1.0' encoding='UTF-8' standalone='yes'?>
<Relationships xmlns="http://schemas.openxmlformats.org/package/2006/relationships"><Relationship Id="rId1" Type="http://schemas.openxmlformats.org/officeDocument/2006/relationships/package" Target="../embeddings/Microsoft_Excel_Sheet881.xlsx"/></Relationships>
</file>

<file path=ppt/charts/_rels/chart882.xml.rels><?xml version='1.0' encoding='UTF-8' standalone='yes'?>
<Relationships xmlns="http://schemas.openxmlformats.org/package/2006/relationships"><Relationship Id="rId1" Type="http://schemas.openxmlformats.org/officeDocument/2006/relationships/package" Target="../embeddings/Microsoft_Excel_Sheet882.xlsx"/></Relationships>
</file>

<file path=ppt/charts/_rels/chart883.xml.rels><?xml version='1.0' encoding='UTF-8' standalone='yes'?>
<Relationships xmlns="http://schemas.openxmlformats.org/package/2006/relationships"><Relationship Id="rId1" Type="http://schemas.openxmlformats.org/officeDocument/2006/relationships/package" Target="../embeddings/Microsoft_Excel_Sheet883.xlsx"/></Relationships>
</file>

<file path=ppt/charts/_rels/chart884.xml.rels><?xml version='1.0' encoding='UTF-8' standalone='yes'?>
<Relationships xmlns="http://schemas.openxmlformats.org/package/2006/relationships"><Relationship Id="rId1" Type="http://schemas.openxmlformats.org/officeDocument/2006/relationships/package" Target="../embeddings/Microsoft_Excel_Sheet884.xlsx"/></Relationships>
</file>

<file path=ppt/charts/_rels/chart885.xml.rels><?xml version='1.0' encoding='UTF-8' standalone='yes'?>
<Relationships xmlns="http://schemas.openxmlformats.org/package/2006/relationships"><Relationship Id="rId1" Type="http://schemas.openxmlformats.org/officeDocument/2006/relationships/package" Target="../embeddings/Microsoft_Excel_Sheet885.xlsx"/></Relationships>
</file>

<file path=ppt/charts/_rels/chart886.xml.rels><?xml version='1.0' encoding='UTF-8' standalone='yes'?>
<Relationships xmlns="http://schemas.openxmlformats.org/package/2006/relationships"><Relationship Id="rId1" Type="http://schemas.openxmlformats.org/officeDocument/2006/relationships/package" Target="../embeddings/Microsoft_Excel_Sheet886.xlsx"/></Relationships>
</file>

<file path=ppt/charts/_rels/chart887.xml.rels><?xml version='1.0' encoding='UTF-8' standalone='yes'?>
<Relationships xmlns="http://schemas.openxmlformats.org/package/2006/relationships"><Relationship Id="rId1" Type="http://schemas.openxmlformats.org/officeDocument/2006/relationships/package" Target="../embeddings/Microsoft_Excel_Sheet887.xlsx"/></Relationships>
</file>

<file path=ppt/charts/_rels/chart888.xml.rels><?xml version='1.0' encoding='UTF-8' standalone='yes'?>
<Relationships xmlns="http://schemas.openxmlformats.org/package/2006/relationships"><Relationship Id="rId1" Type="http://schemas.openxmlformats.org/officeDocument/2006/relationships/package" Target="../embeddings/Microsoft_Excel_Sheet888.xlsx"/></Relationships>
</file>

<file path=ppt/charts/_rels/chart889.xml.rels><?xml version='1.0' encoding='UTF-8' standalone='yes'?>
<Relationships xmlns="http://schemas.openxmlformats.org/package/2006/relationships"><Relationship Id="rId1" Type="http://schemas.openxmlformats.org/officeDocument/2006/relationships/package" Target="../embeddings/Microsoft_Excel_Sheet889.xlsx"/></Relationships>
</file>

<file path=ppt/charts/_rels/chart890.xml.rels><?xml version='1.0' encoding='UTF-8' standalone='yes'?>
<Relationships xmlns="http://schemas.openxmlformats.org/package/2006/relationships"><Relationship Id="rId1" Type="http://schemas.openxmlformats.org/officeDocument/2006/relationships/package" Target="../embeddings/Microsoft_Excel_Sheet890.xlsx"/></Relationships>
</file>

<file path=ppt/charts/_rels/chart891.xml.rels><?xml version='1.0' encoding='UTF-8' standalone='yes'?>
<Relationships xmlns="http://schemas.openxmlformats.org/package/2006/relationships"><Relationship Id="rId1" Type="http://schemas.openxmlformats.org/officeDocument/2006/relationships/package" Target="../embeddings/Microsoft_Excel_Sheet891.xlsx"/></Relationships>
</file>

<file path=ppt/charts/_rels/chart892.xml.rels><?xml version='1.0' encoding='UTF-8' standalone='yes'?>
<Relationships xmlns="http://schemas.openxmlformats.org/package/2006/relationships"><Relationship Id="rId1" Type="http://schemas.openxmlformats.org/officeDocument/2006/relationships/package" Target="../embeddings/Microsoft_Excel_Sheet892.xlsx"/></Relationships>
</file>

<file path=ppt/charts/_rels/chart893.xml.rels><?xml version='1.0' encoding='UTF-8' standalone='yes'?>
<Relationships xmlns="http://schemas.openxmlformats.org/package/2006/relationships"><Relationship Id="rId1" Type="http://schemas.openxmlformats.org/officeDocument/2006/relationships/package" Target="../embeddings/Microsoft_Excel_Sheet893.xlsx"/></Relationships>
</file>

<file path=ppt/charts/_rels/chart894.xml.rels><?xml version='1.0' encoding='UTF-8' standalone='yes'?>
<Relationships xmlns="http://schemas.openxmlformats.org/package/2006/relationships"><Relationship Id="rId1" Type="http://schemas.openxmlformats.org/officeDocument/2006/relationships/package" Target="../embeddings/Microsoft_Excel_Sheet894.xlsx"/></Relationships>
</file>

<file path=ppt/charts/_rels/chart895.xml.rels><?xml version='1.0' encoding='UTF-8' standalone='yes'?>
<Relationships xmlns="http://schemas.openxmlformats.org/package/2006/relationships"><Relationship Id="rId1" Type="http://schemas.openxmlformats.org/officeDocument/2006/relationships/package" Target="../embeddings/Microsoft_Excel_Sheet895.xlsx"/></Relationships>
</file>

<file path=ppt/charts/_rels/chart896.xml.rels><?xml version='1.0' encoding='UTF-8' standalone='yes'?>
<Relationships xmlns="http://schemas.openxmlformats.org/package/2006/relationships"><Relationship Id="rId1" Type="http://schemas.openxmlformats.org/officeDocument/2006/relationships/package" Target="../embeddings/Microsoft_Excel_Sheet896.xlsx"/></Relationships>
</file>

<file path=ppt/charts/_rels/chart897.xml.rels><?xml version='1.0' encoding='UTF-8' standalone='yes'?>
<Relationships xmlns="http://schemas.openxmlformats.org/package/2006/relationships"><Relationship Id="rId1" Type="http://schemas.openxmlformats.org/officeDocument/2006/relationships/package" Target="../embeddings/Microsoft_Excel_Sheet897.xlsx"/></Relationships>
</file>

<file path=ppt/charts/_rels/chart898.xml.rels><?xml version='1.0' encoding='UTF-8' standalone='yes'?>
<Relationships xmlns="http://schemas.openxmlformats.org/package/2006/relationships"><Relationship Id="rId1" Type="http://schemas.openxmlformats.org/officeDocument/2006/relationships/package" Target="../embeddings/Microsoft_Excel_Sheet898.xlsx"/></Relationships>
</file>

<file path=ppt/charts/_rels/chart899.xml.rels><?xml version='1.0' encoding='UTF-8' standalone='yes'?>
<Relationships xmlns="http://schemas.openxmlformats.org/package/2006/relationships"><Relationship Id="rId1" Type="http://schemas.openxmlformats.org/officeDocument/2006/relationships/package" Target="../embeddings/Microsoft_Excel_Sheet899.xlsx"/></Relationships>
</file>

<file path=ppt/charts/_rels/chart900.xml.rels><?xml version='1.0' encoding='UTF-8' standalone='yes'?>
<Relationships xmlns="http://schemas.openxmlformats.org/package/2006/relationships"><Relationship Id="rId1" Type="http://schemas.openxmlformats.org/officeDocument/2006/relationships/package" Target="../embeddings/Microsoft_Excel_Sheet900.xlsx"/></Relationships>
</file>

<file path=ppt/charts/_rels/chart901.xml.rels><?xml version='1.0' encoding='UTF-8' standalone='yes'?>
<Relationships xmlns="http://schemas.openxmlformats.org/package/2006/relationships"><Relationship Id="rId1" Type="http://schemas.openxmlformats.org/officeDocument/2006/relationships/package" Target="../embeddings/Microsoft_Excel_Sheet901.xlsx"/></Relationships>
</file>

<file path=ppt/charts/_rels/chart902.xml.rels><?xml version='1.0' encoding='UTF-8' standalone='yes'?>
<Relationships xmlns="http://schemas.openxmlformats.org/package/2006/relationships"><Relationship Id="rId1" Type="http://schemas.openxmlformats.org/officeDocument/2006/relationships/package" Target="../embeddings/Microsoft_Excel_Sheet902.xlsx"/></Relationships>
</file>

<file path=ppt/charts/_rels/chart903.xml.rels><?xml version='1.0' encoding='UTF-8' standalone='yes'?>
<Relationships xmlns="http://schemas.openxmlformats.org/package/2006/relationships"><Relationship Id="rId1" Type="http://schemas.openxmlformats.org/officeDocument/2006/relationships/package" Target="../embeddings/Microsoft_Excel_Sheet903.xlsx"/></Relationships>
</file>

<file path=ppt/charts/_rels/chart904.xml.rels><?xml version='1.0' encoding='UTF-8' standalone='yes'?>
<Relationships xmlns="http://schemas.openxmlformats.org/package/2006/relationships"><Relationship Id="rId1" Type="http://schemas.openxmlformats.org/officeDocument/2006/relationships/package" Target="../embeddings/Microsoft_Excel_Sheet904.xlsx"/></Relationships>
</file>

<file path=ppt/charts/_rels/chart905.xml.rels><?xml version='1.0' encoding='UTF-8' standalone='yes'?>
<Relationships xmlns="http://schemas.openxmlformats.org/package/2006/relationships"><Relationship Id="rId1" Type="http://schemas.openxmlformats.org/officeDocument/2006/relationships/package" Target="../embeddings/Microsoft_Excel_Sheet905.xlsx"/></Relationships>
</file>

<file path=ppt/charts/_rels/chart906.xml.rels><?xml version='1.0' encoding='UTF-8' standalone='yes'?>
<Relationships xmlns="http://schemas.openxmlformats.org/package/2006/relationships"><Relationship Id="rId1" Type="http://schemas.openxmlformats.org/officeDocument/2006/relationships/package" Target="../embeddings/Microsoft_Excel_Sheet906.xlsx"/></Relationships>
</file>

<file path=ppt/charts/_rels/chart907.xml.rels><?xml version='1.0' encoding='UTF-8' standalone='yes'?>
<Relationships xmlns="http://schemas.openxmlformats.org/package/2006/relationships"><Relationship Id="rId1" Type="http://schemas.openxmlformats.org/officeDocument/2006/relationships/package" Target="../embeddings/Microsoft_Excel_Sheet907.xlsx"/></Relationships>
</file>

<file path=ppt/charts/_rels/chart908.xml.rels><?xml version='1.0' encoding='UTF-8' standalone='yes'?>
<Relationships xmlns="http://schemas.openxmlformats.org/package/2006/relationships"><Relationship Id="rId1" Type="http://schemas.openxmlformats.org/officeDocument/2006/relationships/package" Target="../embeddings/Microsoft_Excel_Sheet908.xlsx"/></Relationships>
</file>

<file path=ppt/charts/_rels/chart909.xml.rels><?xml version='1.0' encoding='UTF-8' standalone='yes'?>
<Relationships xmlns="http://schemas.openxmlformats.org/package/2006/relationships"><Relationship Id="rId1" Type="http://schemas.openxmlformats.org/officeDocument/2006/relationships/package" Target="../embeddings/Microsoft_Excel_Sheet909.xlsx"/></Relationships>
</file>

<file path=ppt/charts/_rels/chart910.xml.rels><?xml version='1.0' encoding='UTF-8' standalone='yes'?>
<Relationships xmlns="http://schemas.openxmlformats.org/package/2006/relationships"><Relationship Id="rId1" Type="http://schemas.openxmlformats.org/officeDocument/2006/relationships/package" Target="../embeddings/Microsoft_Excel_Sheet910.xlsx"/></Relationships>
</file>

<file path=ppt/charts/_rels/chart911.xml.rels><?xml version='1.0' encoding='UTF-8' standalone='yes'?>
<Relationships xmlns="http://schemas.openxmlformats.org/package/2006/relationships"><Relationship Id="rId1" Type="http://schemas.openxmlformats.org/officeDocument/2006/relationships/package" Target="../embeddings/Microsoft_Excel_Sheet911.xlsx"/></Relationships>
</file>

<file path=ppt/charts/_rels/chart912.xml.rels><?xml version='1.0' encoding='UTF-8' standalone='yes'?>
<Relationships xmlns="http://schemas.openxmlformats.org/package/2006/relationships"><Relationship Id="rId1" Type="http://schemas.openxmlformats.org/officeDocument/2006/relationships/package" Target="../embeddings/Microsoft_Excel_Sheet912.xlsx"/></Relationships>
</file>

<file path=ppt/charts/_rels/chart913.xml.rels><?xml version='1.0' encoding='UTF-8' standalone='yes'?>
<Relationships xmlns="http://schemas.openxmlformats.org/package/2006/relationships"><Relationship Id="rId1" Type="http://schemas.openxmlformats.org/officeDocument/2006/relationships/package" Target="../embeddings/Microsoft_Excel_Sheet913.xlsx"/></Relationships>
</file>

<file path=ppt/charts/_rels/chart914.xml.rels><?xml version='1.0' encoding='UTF-8' standalone='yes'?>
<Relationships xmlns="http://schemas.openxmlformats.org/package/2006/relationships"><Relationship Id="rId1" Type="http://schemas.openxmlformats.org/officeDocument/2006/relationships/package" Target="../embeddings/Microsoft_Excel_Sheet914.xlsx"/></Relationships>
</file>

<file path=ppt/charts/_rels/chart915.xml.rels><?xml version='1.0' encoding='UTF-8' standalone='yes'?>
<Relationships xmlns="http://schemas.openxmlformats.org/package/2006/relationships"><Relationship Id="rId1" Type="http://schemas.openxmlformats.org/officeDocument/2006/relationships/package" Target="../embeddings/Microsoft_Excel_Sheet915.xlsx"/></Relationships>
</file>

<file path=ppt/charts/_rels/chart916.xml.rels><?xml version='1.0' encoding='UTF-8' standalone='yes'?>
<Relationships xmlns="http://schemas.openxmlformats.org/package/2006/relationships"><Relationship Id="rId1" Type="http://schemas.openxmlformats.org/officeDocument/2006/relationships/package" Target="../embeddings/Microsoft_Excel_Sheet916.xlsx"/></Relationships>
</file>

<file path=ppt/charts/_rels/chart917.xml.rels><?xml version='1.0' encoding='UTF-8' standalone='yes'?>
<Relationships xmlns="http://schemas.openxmlformats.org/package/2006/relationships"><Relationship Id="rId1" Type="http://schemas.openxmlformats.org/officeDocument/2006/relationships/package" Target="../embeddings/Microsoft_Excel_Sheet917.xlsx"/></Relationships>
</file>

<file path=ppt/charts/_rels/chart918.xml.rels><?xml version='1.0' encoding='UTF-8' standalone='yes'?>
<Relationships xmlns="http://schemas.openxmlformats.org/package/2006/relationships"><Relationship Id="rId1" Type="http://schemas.openxmlformats.org/officeDocument/2006/relationships/package" Target="../embeddings/Microsoft_Excel_Sheet918.xlsx"/></Relationships>
</file>

<file path=ppt/charts/_rels/chart919.xml.rels><?xml version='1.0' encoding='UTF-8' standalone='yes'?>
<Relationships xmlns="http://schemas.openxmlformats.org/package/2006/relationships"><Relationship Id="rId1" Type="http://schemas.openxmlformats.org/officeDocument/2006/relationships/package" Target="../embeddings/Microsoft_Excel_Sheet919.xlsx"/></Relationships>
</file>

<file path=ppt/charts/_rels/chart920.xml.rels><?xml version='1.0' encoding='UTF-8' standalone='yes'?>
<Relationships xmlns="http://schemas.openxmlformats.org/package/2006/relationships"><Relationship Id="rId1" Type="http://schemas.openxmlformats.org/officeDocument/2006/relationships/package" Target="../embeddings/Microsoft_Excel_Sheet920.xlsx"/></Relationships>
</file>

<file path=ppt/charts/_rels/chart921.xml.rels><?xml version='1.0' encoding='UTF-8' standalone='yes'?>
<Relationships xmlns="http://schemas.openxmlformats.org/package/2006/relationships"><Relationship Id="rId1" Type="http://schemas.openxmlformats.org/officeDocument/2006/relationships/package" Target="../embeddings/Microsoft_Excel_Sheet921.xlsx"/></Relationships>
</file>

<file path=ppt/charts/_rels/chart922.xml.rels><?xml version='1.0' encoding='UTF-8' standalone='yes'?>
<Relationships xmlns="http://schemas.openxmlformats.org/package/2006/relationships"><Relationship Id="rId1" Type="http://schemas.openxmlformats.org/officeDocument/2006/relationships/package" Target="../embeddings/Microsoft_Excel_Sheet922.xlsx"/></Relationships>
</file>

<file path=ppt/charts/_rels/chart923.xml.rels><?xml version='1.0' encoding='UTF-8' standalone='yes'?>
<Relationships xmlns="http://schemas.openxmlformats.org/package/2006/relationships"><Relationship Id="rId1" Type="http://schemas.openxmlformats.org/officeDocument/2006/relationships/package" Target="../embeddings/Microsoft_Excel_Sheet923.xlsx"/></Relationships>
</file>

<file path=ppt/charts/_rels/chart924.xml.rels><?xml version='1.0' encoding='UTF-8' standalone='yes'?>
<Relationships xmlns="http://schemas.openxmlformats.org/package/2006/relationships"><Relationship Id="rId1" Type="http://schemas.openxmlformats.org/officeDocument/2006/relationships/package" Target="../embeddings/Microsoft_Excel_Sheet924.xlsx"/></Relationships>
</file>

<file path=ppt/charts/_rels/chart925.xml.rels><?xml version='1.0' encoding='UTF-8' standalone='yes'?>
<Relationships xmlns="http://schemas.openxmlformats.org/package/2006/relationships"><Relationship Id="rId1" Type="http://schemas.openxmlformats.org/officeDocument/2006/relationships/package" Target="../embeddings/Microsoft_Excel_Sheet925.xlsx"/></Relationships>
</file>

<file path=ppt/charts/_rels/chart926.xml.rels><?xml version='1.0' encoding='UTF-8' standalone='yes'?>
<Relationships xmlns="http://schemas.openxmlformats.org/package/2006/relationships"><Relationship Id="rId1" Type="http://schemas.openxmlformats.org/officeDocument/2006/relationships/package" Target="../embeddings/Microsoft_Excel_Sheet926.xlsx"/></Relationships>
</file>

<file path=ppt/charts/_rels/chart927.xml.rels><?xml version='1.0' encoding='UTF-8' standalone='yes'?>
<Relationships xmlns="http://schemas.openxmlformats.org/package/2006/relationships"><Relationship Id="rId1" Type="http://schemas.openxmlformats.org/officeDocument/2006/relationships/package" Target="../embeddings/Microsoft_Excel_Sheet927.xlsx"/></Relationships>
</file>

<file path=ppt/charts/_rels/chart928.xml.rels><?xml version='1.0' encoding='UTF-8' standalone='yes'?>
<Relationships xmlns="http://schemas.openxmlformats.org/package/2006/relationships"><Relationship Id="rId1" Type="http://schemas.openxmlformats.org/officeDocument/2006/relationships/package" Target="../embeddings/Microsoft_Excel_Sheet928.xlsx"/></Relationships>
</file>

<file path=ppt/charts/_rels/chart929.xml.rels><?xml version='1.0' encoding='UTF-8' standalone='yes'?>
<Relationships xmlns="http://schemas.openxmlformats.org/package/2006/relationships"><Relationship Id="rId1" Type="http://schemas.openxmlformats.org/officeDocument/2006/relationships/package" Target="../embeddings/Microsoft_Excel_Sheet929.xlsx"/></Relationships>
</file>

<file path=ppt/charts/_rels/chart930.xml.rels><?xml version='1.0' encoding='UTF-8' standalone='yes'?>
<Relationships xmlns="http://schemas.openxmlformats.org/package/2006/relationships"><Relationship Id="rId1" Type="http://schemas.openxmlformats.org/officeDocument/2006/relationships/package" Target="../embeddings/Microsoft_Excel_Sheet930.xlsx"/></Relationships>
</file>

<file path=ppt/charts/_rels/chart931.xml.rels><?xml version='1.0' encoding='UTF-8' standalone='yes'?>
<Relationships xmlns="http://schemas.openxmlformats.org/package/2006/relationships"><Relationship Id="rId1" Type="http://schemas.openxmlformats.org/officeDocument/2006/relationships/package" Target="../embeddings/Microsoft_Excel_Sheet931.xlsx"/></Relationships>
</file>

<file path=ppt/charts/_rels/chart932.xml.rels><?xml version='1.0' encoding='UTF-8' standalone='yes'?>
<Relationships xmlns="http://schemas.openxmlformats.org/package/2006/relationships"><Relationship Id="rId1" Type="http://schemas.openxmlformats.org/officeDocument/2006/relationships/package" Target="../embeddings/Microsoft_Excel_Sheet932.xlsx"/></Relationships>
</file>

<file path=ppt/charts/_rels/chart933.xml.rels><?xml version='1.0' encoding='UTF-8' standalone='yes'?>
<Relationships xmlns="http://schemas.openxmlformats.org/package/2006/relationships"><Relationship Id="rId1" Type="http://schemas.openxmlformats.org/officeDocument/2006/relationships/package" Target="../embeddings/Microsoft_Excel_Sheet933.xlsx"/></Relationships>
</file>

<file path=ppt/charts/_rels/chart934.xml.rels><?xml version='1.0' encoding='UTF-8' standalone='yes'?>
<Relationships xmlns="http://schemas.openxmlformats.org/package/2006/relationships"><Relationship Id="rId1" Type="http://schemas.openxmlformats.org/officeDocument/2006/relationships/package" Target="../embeddings/Microsoft_Excel_Sheet934.xlsx"/></Relationships>
</file>

<file path=ppt/charts/_rels/chart935.xml.rels><?xml version='1.0' encoding='UTF-8' standalone='yes'?>
<Relationships xmlns="http://schemas.openxmlformats.org/package/2006/relationships"><Relationship Id="rId1" Type="http://schemas.openxmlformats.org/officeDocument/2006/relationships/package" Target="../embeddings/Microsoft_Excel_Sheet935.xlsx"/></Relationships>
</file>

<file path=ppt/charts/_rels/chart936.xml.rels><?xml version='1.0' encoding='UTF-8' standalone='yes'?>
<Relationships xmlns="http://schemas.openxmlformats.org/package/2006/relationships"><Relationship Id="rId1" Type="http://schemas.openxmlformats.org/officeDocument/2006/relationships/package" Target="../embeddings/Microsoft_Excel_Sheet936.xlsx"/></Relationships>
</file>

<file path=ppt/charts/_rels/chart937.xml.rels><?xml version='1.0' encoding='UTF-8' standalone='yes'?>
<Relationships xmlns="http://schemas.openxmlformats.org/package/2006/relationships"><Relationship Id="rId1" Type="http://schemas.openxmlformats.org/officeDocument/2006/relationships/package" Target="../embeddings/Microsoft_Excel_Sheet937.xlsx"/></Relationships>
</file>

<file path=ppt/charts/_rels/chart938.xml.rels><?xml version='1.0' encoding='UTF-8' standalone='yes'?>
<Relationships xmlns="http://schemas.openxmlformats.org/package/2006/relationships"><Relationship Id="rId1" Type="http://schemas.openxmlformats.org/officeDocument/2006/relationships/package" Target="../embeddings/Microsoft_Excel_Sheet938.xlsx"/></Relationships>
</file>

<file path=ppt/charts/_rels/chart939.xml.rels><?xml version='1.0' encoding='UTF-8' standalone='yes'?>
<Relationships xmlns="http://schemas.openxmlformats.org/package/2006/relationships"><Relationship Id="rId1" Type="http://schemas.openxmlformats.org/officeDocument/2006/relationships/package" Target="../embeddings/Microsoft_Excel_Sheet939.xlsx"/></Relationships>
</file>

<file path=ppt/charts/_rels/chart940.xml.rels><?xml version='1.0' encoding='UTF-8' standalone='yes'?>
<Relationships xmlns="http://schemas.openxmlformats.org/package/2006/relationships"><Relationship Id="rId1" Type="http://schemas.openxmlformats.org/officeDocument/2006/relationships/package" Target="../embeddings/Microsoft_Excel_Sheet940.xlsx"/></Relationships>
</file>

<file path=ppt/charts/_rels/chart941.xml.rels><?xml version='1.0' encoding='UTF-8' standalone='yes'?>
<Relationships xmlns="http://schemas.openxmlformats.org/package/2006/relationships"><Relationship Id="rId1" Type="http://schemas.openxmlformats.org/officeDocument/2006/relationships/package" Target="../embeddings/Microsoft_Excel_Sheet941.xlsx"/></Relationships>
</file>

<file path=ppt/charts/_rels/chart942.xml.rels><?xml version='1.0' encoding='UTF-8' standalone='yes'?>
<Relationships xmlns="http://schemas.openxmlformats.org/package/2006/relationships"><Relationship Id="rId1" Type="http://schemas.openxmlformats.org/officeDocument/2006/relationships/package" Target="../embeddings/Microsoft_Excel_Sheet942.xlsx"/></Relationships>
</file>

<file path=ppt/charts/_rels/chart943.xml.rels><?xml version='1.0' encoding='UTF-8' standalone='yes'?>
<Relationships xmlns="http://schemas.openxmlformats.org/package/2006/relationships"><Relationship Id="rId1" Type="http://schemas.openxmlformats.org/officeDocument/2006/relationships/package" Target="../embeddings/Microsoft_Excel_Sheet943.xlsx"/></Relationships>
</file>

<file path=ppt/charts/_rels/chart944.xml.rels><?xml version='1.0' encoding='UTF-8' standalone='yes'?>
<Relationships xmlns="http://schemas.openxmlformats.org/package/2006/relationships"><Relationship Id="rId1" Type="http://schemas.openxmlformats.org/officeDocument/2006/relationships/package" Target="../embeddings/Microsoft_Excel_Sheet944.xlsx"/></Relationships>
</file>

<file path=ppt/charts/_rels/chart945.xml.rels><?xml version='1.0' encoding='UTF-8' standalone='yes'?>
<Relationships xmlns="http://schemas.openxmlformats.org/package/2006/relationships"><Relationship Id="rId1" Type="http://schemas.openxmlformats.org/officeDocument/2006/relationships/package" Target="../embeddings/Microsoft_Excel_Sheet945.xlsx"/></Relationships>
</file>

<file path=ppt/charts/_rels/chart946.xml.rels><?xml version='1.0' encoding='UTF-8' standalone='yes'?>
<Relationships xmlns="http://schemas.openxmlformats.org/package/2006/relationships"><Relationship Id="rId1" Type="http://schemas.openxmlformats.org/officeDocument/2006/relationships/package" Target="../embeddings/Microsoft_Excel_Sheet946.xlsx"/></Relationships>
</file>

<file path=ppt/charts/_rels/chart947.xml.rels><?xml version='1.0' encoding='UTF-8' standalone='yes'?>
<Relationships xmlns="http://schemas.openxmlformats.org/package/2006/relationships"><Relationship Id="rId1" Type="http://schemas.openxmlformats.org/officeDocument/2006/relationships/package" Target="../embeddings/Microsoft_Excel_Sheet947.xlsx"/></Relationships>
</file>

<file path=ppt/charts/_rels/chart948.xml.rels><?xml version='1.0' encoding='UTF-8' standalone='yes'?>
<Relationships xmlns="http://schemas.openxmlformats.org/package/2006/relationships"><Relationship Id="rId1" Type="http://schemas.openxmlformats.org/officeDocument/2006/relationships/package" Target="../embeddings/Microsoft_Excel_Sheet948.xlsx"/></Relationships>
</file>

<file path=ppt/charts/_rels/chart949.xml.rels><?xml version='1.0' encoding='UTF-8' standalone='yes'?>
<Relationships xmlns="http://schemas.openxmlformats.org/package/2006/relationships"><Relationship Id="rId1" Type="http://schemas.openxmlformats.org/officeDocument/2006/relationships/package" Target="../embeddings/Microsoft_Excel_Sheet949.xlsx"/></Relationships>
</file>

<file path=ppt/charts/_rels/chart950.xml.rels><?xml version='1.0' encoding='UTF-8' standalone='yes'?>
<Relationships xmlns="http://schemas.openxmlformats.org/package/2006/relationships"><Relationship Id="rId1" Type="http://schemas.openxmlformats.org/officeDocument/2006/relationships/package" Target="../embeddings/Microsoft_Excel_Sheet950.xlsx"/></Relationships>
</file>

<file path=ppt/charts/_rels/chart951.xml.rels><?xml version='1.0' encoding='UTF-8' standalone='yes'?>
<Relationships xmlns="http://schemas.openxmlformats.org/package/2006/relationships"><Relationship Id="rId1" Type="http://schemas.openxmlformats.org/officeDocument/2006/relationships/package" Target="../embeddings/Microsoft_Excel_Sheet951.xlsx"/></Relationships>
</file>

<file path=ppt/charts/_rels/chart952.xml.rels><?xml version='1.0' encoding='UTF-8' standalone='yes'?>
<Relationships xmlns="http://schemas.openxmlformats.org/package/2006/relationships"><Relationship Id="rId1" Type="http://schemas.openxmlformats.org/officeDocument/2006/relationships/package" Target="../embeddings/Microsoft_Excel_Sheet952.xlsx"/></Relationships>
</file>

<file path=ppt/charts/_rels/chart953.xml.rels><?xml version='1.0' encoding='UTF-8' standalone='yes'?>
<Relationships xmlns="http://schemas.openxmlformats.org/package/2006/relationships"><Relationship Id="rId1" Type="http://schemas.openxmlformats.org/officeDocument/2006/relationships/package" Target="../embeddings/Microsoft_Excel_Sheet953.xlsx"/></Relationships>
</file>

<file path=ppt/charts/_rels/chart954.xml.rels><?xml version='1.0' encoding='UTF-8' standalone='yes'?>
<Relationships xmlns="http://schemas.openxmlformats.org/package/2006/relationships"><Relationship Id="rId1" Type="http://schemas.openxmlformats.org/officeDocument/2006/relationships/package" Target="../embeddings/Microsoft_Excel_Sheet954.xlsx"/></Relationships>
</file>

<file path=ppt/charts/_rels/chart955.xml.rels><?xml version='1.0' encoding='UTF-8' standalone='yes'?>
<Relationships xmlns="http://schemas.openxmlformats.org/package/2006/relationships"><Relationship Id="rId1" Type="http://schemas.openxmlformats.org/officeDocument/2006/relationships/package" Target="../embeddings/Microsoft_Excel_Sheet955.xlsx"/></Relationships>
</file>

<file path=ppt/charts/_rels/chart956.xml.rels><?xml version='1.0' encoding='UTF-8' standalone='yes'?>
<Relationships xmlns="http://schemas.openxmlformats.org/package/2006/relationships"><Relationship Id="rId1" Type="http://schemas.openxmlformats.org/officeDocument/2006/relationships/package" Target="../embeddings/Microsoft_Excel_Sheet956.xlsx"/></Relationships>
</file>

<file path=ppt/charts/_rels/chart957.xml.rels><?xml version='1.0' encoding='UTF-8' standalone='yes'?>
<Relationships xmlns="http://schemas.openxmlformats.org/package/2006/relationships"><Relationship Id="rId1" Type="http://schemas.openxmlformats.org/officeDocument/2006/relationships/package" Target="../embeddings/Microsoft_Excel_Sheet957.xlsx"/></Relationships>
</file>

<file path=ppt/charts/_rels/chart958.xml.rels><?xml version='1.0' encoding='UTF-8' standalone='yes'?>
<Relationships xmlns="http://schemas.openxmlformats.org/package/2006/relationships"><Relationship Id="rId1" Type="http://schemas.openxmlformats.org/officeDocument/2006/relationships/package" Target="../embeddings/Microsoft_Excel_Sheet958.xlsx"/></Relationships>
</file>

<file path=ppt/charts/_rels/chart959.xml.rels><?xml version='1.0' encoding='UTF-8' standalone='yes'?>
<Relationships xmlns="http://schemas.openxmlformats.org/package/2006/relationships"><Relationship Id="rId1" Type="http://schemas.openxmlformats.org/officeDocument/2006/relationships/package" Target="../embeddings/Microsoft_Excel_Sheet959.xlsx"/></Relationships>
</file>

<file path=ppt/charts/_rels/chart960.xml.rels><?xml version='1.0' encoding='UTF-8' standalone='yes'?>
<Relationships xmlns="http://schemas.openxmlformats.org/package/2006/relationships"><Relationship Id="rId1" Type="http://schemas.openxmlformats.org/officeDocument/2006/relationships/package" Target="../embeddings/Microsoft_Excel_Sheet960.xlsx"/></Relationships>
</file>

<file path=ppt/charts/_rels/chart961.xml.rels><?xml version='1.0' encoding='UTF-8' standalone='yes'?>
<Relationships xmlns="http://schemas.openxmlformats.org/package/2006/relationships"><Relationship Id="rId1" Type="http://schemas.openxmlformats.org/officeDocument/2006/relationships/package" Target="../embeddings/Microsoft_Excel_Sheet961.xlsx"/></Relationships>
</file>

<file path=ppt/charts/_rels/chart962.xml.rels><?xml version='1.0' encoding='UTF-8' standalone='yes'?>
<Relationships xmlns="http://schemas.openxmlformats.org/package/2006/relationships"><Relationship Id="rId1" Type="http://schemas.openxmlformats.org/officeDocument/2006/relationships/package" Target="../embeddings/Microsoft_Excel_Sheet962.xlsx"/></Relationships>
</file>

<file path=ppt/charts/_rels/chart963.xml.rels><?xml version='1.0' encoding='UTF-8' standalone='yes'?>
<Relationships xmlns="http://schemas.openxmlformats.org/package/2006/relationships"><Relationship Id="rId1" Type="http://schemas.openxmlformats.org/officeDocument/2006/relationships/package" Target="../embeddings/Microsoft_Excel_Sheet963.xlsx"/></Relationships>
</file>

<file path=ppt/charts/_rels/chart964.xml.rels><?xml version='1.0' encoding='UTF-8' standalone='yes'?>
<Relationships xmlns="http://schemas.openxmlformats.org/package/2006/relationships"><Relationship Id="rId1" Type="http://schemas.openxmlformats.org/officeDocument/2006/relationships/package" Target="../embeddings/Microsoft_Excel_Sheet964.xlsx"/></Relationships>
</file>

<file path=ppt/charts/_rels/chart965.xml.rels><?xml version='1.0' encoding='UTF-8' standalone='yes'?>
<Relationships xmlns="http://schemas.openxmlformats.org/package/2006/relationships"><Relationship Id="rId1" Type="http://schemas.openxmlformats.org/officeDocument/2006/relationships/package" Target="../embeddings/Microsoft_Excel_Sheet965.xlsx"/></Relationships>
</file>

<file path=ppt/charts/_rels/chart966.xml.rels><?xml version='1.0' encoding='UTF-8' standalone='yes'?>
<Relationships xmlns="http://schemas.openxmlformats.org/package/2006/relationships"><Relationship Id="rId1" Type="http://schemas.openxmlformats.org/officeDocument/2006/relationships/package" Target="../embeddings/Microsoft_Excel_Sheet966.xlsx"/></Relationships>
</file>

<file path=ppt/charts/_rels/chart967.xml.rels><?xml version='1.0' encoding='UTF-8' standalone='yes'?>
<Relationships xmlns="http://schemas.openxmlformats.org/package/2006/relationships"><Relationship Id="rId1" Type="http://schemas.openxmlformats.org/officeDocument/2006/relationships/package" Target="../embeddings/Microsoft_Excel_Sheet967.xlsx"/></Relationships>
</file>

<file path=ppt/charts/_rels/chart968.xml.rels><?xml version='1.0' encoding='UTF-8' standalone='yes'?>
<Relationships xmlns="http://schemas.openxmlformats.org/package/2006/relationships"><Relationship Id="rId1" Type="http://schemas.openxmlformats.org/officeDocument/2006/relationships/package" Target="../embeddings/Microsoft_Excel_Sheet968.xlsx"/></Relationships>
</file>

<file path=ppt/charts/_rels/chart969.xml.rels><?xml version='1.0' encoding='UTF-8' standalone='yes'?>
<Relationships xmlns="http://schemas.openxmlformats.org/package/2006/relationships"><Relationship Id="rId1" Type="http://schemas.openxmlformats.org/officeDocument/2006/relationships/package" Target="../embeddings/Microsoft_Excel_Sheet969.xlsx"/></Relationships>
</file>

<file path=ppt/charts/_rels/chart970.xml.rels><?xml version='1.0' encoding='UTF-8' standalone='yes'?>
<Relationships xmlns="http://schemas.openxmlformats.org/package/2006/relationships"><Relationship Id="rId1" Type="http://schemas.openxmlformats.org/officeDocument/2006/relationships/package" Target="../embeddings/Microsoft_Excel_Sheet970.xlsx"/></Relationships>
</file>

<file path=ppt/charts/_rels/chart971.xml.rels><?xml version='1.0' encoding='UTF-8' standalone='yes'?>
<Relationships xmlns="http://schemas.openxmlformats.org/package/2006/relationships"><Relationship Id="rId1" Type="http://schemas.openxmlformats.org/officeDocument/2006/relationships/package" Target="../embeddings/Microsoft_Excel_Sheet971.xlsx"/></Relationships>
</file>

<file path=ppt/charts/_rels/chart972.xml.rels><?xml version='1.0' encoding='UTF-8' standalone='yes'?>
<Relationships xmlns="http://schemas.openxmlformats.org/package/2006/relationships"><Relationship Id="rId1" Type="http://schemas.openxmlformats.org/officeDocument/2006/relationships/package" Target="../embeddings/Microsoft_Excel_Sheet972.xlsx"/></Relationships>
</file>

<file path=ppt/charts/_rels/chart973.xml.rels><?xml version='1.0' encoding='UTF-8' standalone='yes'?>
<Relationships xmlns="http://schemas.openxmlformats.org/package/2006/relationships"><Relationship Id="rId1" Type="http://schemas.openxmlformats.org/officeDocument/2006/relationships/package" Target="../embeddings/Microsoft_Excel_Sheet973.xlsx"/></Relationships>
</file>

<file path=ppt/charts/_rels/chart974.xml.rels><?xml version='1.0' encoding='UTF-8' standalone='yes'?>
<Relationships xmlns="http://schemas.openxmlformats.org/package/2006/relationships"><Relationship Id="rId1" Type="http://schemas.openxmlformats.org/officeDocument/2006/relationships/package" Target="../embeddings/Microsoft_Excel_Sheet974.xlsx"/></Relationships>
</file>

<file path=ppt/charts/_rels/chart975.xml.rels><?xml version='1.0' encoding='UTF-8' standalone='yes'?>
<Relationships xmlns="http://schemas.openxmlformats.org/package/2006/relationships"><Relationship Id="rId1" Type="http://schemas.openxmlformats.org/officeDocument/2006/relationships/package" Target="../embeddings/Microsoft_Excel_Sheet975.xlsx"/></Relationships>
</file>

<file path=ppt/charts/_rels/chart976.xml.rels><?xml version='1.0' encoding='UTF-8' standalone='yes'?>
<Relationships xmlns="http://schemas.openxmlformats.org/package/2006/relationships"><Relationship Id="rId1" Type="http://schemas.openxmlformats.org/officeDocument/2006/relationships/package" Target="../embeddings/Microsoft_Excel_Sheet976.xlsx"/></Relationships>
</file>

<file path=ppt/charts/_rels/chart977.xml.rels><?xml version='1.0' encoding='UTF-8' standalone='yes'?>
<Relationships xmlns="http://schemas.openxmlformats.org/package/2006/relationships"><Relationship Id="rId1" Type="http://schemas.openxmlformats.org/officeDocument/2006/relationships/package" Target="../embeddings/Microsoft_Excel_Sheet977.xlsx"/></Relationships>
</file>

<file path=ppt/charts/_rels/chart978.xml.rels><?xml version='1.0' encoding='UTF-8' standalone='yes'?>
<Relationships xmlns="http://schemas.openxmlformats.org/package/2006/relationships"><Relationship Id="rId1" Type="http://schemas.openxmlformats.org/officeDocument/2006/relationships/package" Target="../embeddings/Microsoft_Excel_Sheet978.xlsx"/></Relationships>
</file>

<file path=ppt/charts/_rels/chart979.xml.rels><?xml version='1.0' encoding='UTF-8' standalone='yes'?>
<Relationships xmlns="http://schemas.openxmlformats.org/package/2006/relationships"><Relationship Id="rId1" Type="http://schemas.openxmlformats.org/officeDocument/2006/relationships/package" Target="../embeddings/Microsoft_Excel_Sheet979.xlsx"/></Relationships>
</file>

<file path=ppt/charts/_rels/chart980.xml.rels><?xml version='1.0' encoding='UTF-8' standalone='yes'?>
<Relationships xmlns="http://schemas.openxmlformats.org/package/2006/relationships"><Relationship Id="rId1" Type="http://schemas.openxmlformats.org/officeDocument/2006/relationships/package" Target="../embeddings/Microsoft_Excel_Sheet980.xlsx"/></Relationships>
</file>

<file path=ppt/charts/_rels/chart981.xml.rels><?xml version='1.0' encoding='UTF-8' standalone='yes'?>
<Relationships xmlns="http://schemas.openxmlformats.org/package/2006/relationships"><Relationship Id="rId1" Type="http://schemas.openxmlformats.org/officeDocument/2006/relationships/package" Target="../embeddings/Microsoft_Excel_Sheet981.xlsx"/></Relationships>
</file>

<file path=ppt/charts/_rels/chart982.xml.rels><?xml version='1.0' encoding='UTF-8' standalone='yes'?>
<Relationships xmlns="http://schemas.openxmlformats.org/package/2006/relationships"><Relationship Id="rId1" Type="http://schemas.openxmlformats.org/officeDocument/2006/relationships/package" Target="../embeddings/Microsoft_Excel_Sheet982.xlsx"/></Relationships>
</file>

<file path=ppt/charts/_rels/chart983.xml.rels><?xml version='1.0' encoding='UTF-8' standalone='yes'?>
<Relationships xmlns="http://schemas.openxmlformats.org/package/2006/relationships"><Relationship Id="rId1" Type="http://schemas.openxmlformats.org/officeDocument/2006/relationships/package" Target="../embeddings/Microsoft_Excel_Sheet983.xlsx"/></Relationships>
</file>

<file path=ppt/charts/_rels/chart984.xml.rels><?xml version='1.0' encoding='UTF-8' standalone='yes'?>
<Relationships xmlns="http://schemas.openxmlformats.org/package/2006/relationships"><Relationship Id="rId1" Type="http://schemas.openxmlformats.org/officeDocument/2006/relationships/package" Target="../embeddings/Microsoft_Excel_Sheet984.xlsx"/></Relationships>
</file>

<file path=ppt/charts/_rels/chart985.xml.rels><?xml version='1.0' encoding='UTF-8' standalone='yes'?>
<Relationships xmlns="http://schemas.openxmlformats.org/package/2006/relationships"><Relationship Id="rId1" Type="http://schemas.openxmlformats.org/officeDocument/2006/relationships/package" Target="../embeddings/Microsoft_Excel_Sheet985.xlsx"/></Relationships>
</file>

<file path=ppt/charts/_rels/chart986.xml.rels><?xml version='1.0' encoding='UTF-8' standalone='yes'?>
<Relationships xmlns="http://schemas.openxmlformats.org/package/2006/relationships"><Relationship Id="rId1" Type="http://schemas.openxmlformats.org/officeDocument/2006/relationships/package" Target="../embeddings/Microsoft_Excel_Sheet986.xlsx"/></Relationships>
</file>

<file path=ppt/charts/_rels/chart987.xml.rels><?xml version='1.0' encoding='UTF-8' standalone='yes'?>
<Relationships xmlns="http://schemas.openxmlformats.org/package/2006/relationships"><Relationship Id="rId1" Type="http://schemas.openxmlformats.org/officeDocument/2006/relationships/package" Target="../embeddings/Microsoft_Excel_Sheet987.xlsx"/></Relationships>
</file>

<file path=ppt/charts/_rels/chart988.xml.rels><?xml version='1.0' encoding='UTF-8' standalone='yes'?>
<Relationships xmlns="http://schemas.openxmlformats.org/package/2006/relationships"><Relationship Id="rId1" Type="http://schemas.openxmlformats.org/officeDocument/2006/relationships/package" Target="../embeddings/Microsoft_Excel_Sheet988.xlsx"/></Relationships>
</file>

<file path=ppt/charts/_rels/chart989.xml.rels><?xml version='1.0' encoding='UTF-8' standalone='yes'?>
<Relationships xmlns="http://schemas.openxmlformats.org/package/2006/relationships"><Relationship Id="rId1" Type="http://schemas.openxmlformats.org/officeDocument/2006/relationships/package" Target="../embeddings/Microsoft_Excel_Sheet989.xlsx"/></Relationships>
</file>

<file path=ppt/charts/_rels/chart990.xml.rels><?xml version='1.0' encoding='UTF-8' standalone='yes'?>
<Relationships xmlns="http://schemas.openxmlformats.org/package/2006/relationships"><Relationship Id="rId1" Type="http://schemas.openxmlformats.org/officeDocument/2006/relationships/package" Target="../embeddings/Microsoft_Excel_Sheet990.xlsx"/></Relationships>
</file>

<file path=ppt/charts/_rels/chart991.xml.rels><?xml version='1.0' encoding='UTF-8' standalone='yes'?>
<Relationships xmlns="http://schemas.openxmlformats.org/package/2006/relationships"><Relationship Id="rId1" Type="http://schemas.openxmlformats.org/officeDocument/2006/relationships/package" Target="../embeddings/Microsoft_Excel_Sheet991.xlsx"/></Relationships>
</file>

<file path=ppt/charts/_rels/chart992.xml.rels><?xml version='1.0' encoding='UTF-8' standalone='yes'?>
<Relationships xmlns="http://schemas.openxmlformats.org/package/2006/relationships"><Relationship Id="rId1" Type="http://schemas.openxmlformats.org/officeDocument/2006/relationships/package" Target="../embeddings/Microsoft_Excel_Sheet992.xlsx"/></Relationships>
</file>

<file path=ppt/charts/_rels/chart993.xml.rels><?xml version='1.0' encoding='UTF-8' standalone='yes'?>
<Relationships xmlns="http://schemas.openxmlformats.org/package/2006/relationships"><Relationship Id="rId1" Type="http://schemas.openxmlformats.org/officeDocument/2006/relationships/package" Target="../embeddings/Microsoft_Excel_Sheet993.xlsx"/></Relationships>
</file>

<file path=ppt/charts/_rels/chart994.xml.rels><?xml version='1.0' encoding='UTF-8' standalone='yes'?>
<Relationships xmlns="http://schemas.openxmlformats.org/package/2006/relationships"><Relationship Id="rId1" Type="http://schemas.openxmlformats.org/officeDocument/2006/relationships/package" Target="../embeddings/Microsoft_Excel_Sheet994.xlsx"/></Relationships>
</file>

<file path=ppt/charts/_rels/chart995.xml.rels><?xml version='1.0' encoding='UTF-8' standalone='yes'?>
<Relationships xmlns="http://schemas.openxmlformats.org/package/2006/relationships"><Relationship Id="rId1" Type="http://schemas.openxmlformats.org/officeDocument/2006/relationships/package" Target="../embeddings/Microsoft_Excel_Sheet995.xlsx"/></Relationships>
</file>

<file path=ppt/charts/_rels/chart996.xml.rels><?xml version='1.0' encoding='UTF-8' standalone='yes'?>
<Relationships xmlns="http://schemas.openxmlformats.org/package/2006/relationships"><Relationship Id="rId1" Type="http://schemas.openxmlformats.org/officeDocument/2006/relationships/package" Target="../embeddings/Microsoft_Excel_Sheet996.xlsx"/></Relationships>
</file>

<file path=ppt/charts/_rels/chart997.xml.rels><?xml version='1.0' encoding='UTF-8' standalone='yes'?>
<Relationships xmlns="http://schemas.openxmlformats.org/package/2006/relationships"><Relationship Id="rId1" Type="http://schemas.openxmlformats.org/officeDocument/2006/relationships/package" Target="../embeddings/Microsoft_Excel_Sheet997.xlsx"/></Relationships>
</file>

<file path=ppt/charts/_rels/chart998.xml.rels><?xml version='1.0' encoding='UTF-8' standalone='yes'?>
<Relationships xmlns="http://schemas.openxmlformats.org/package/2006/relationships"><Relationship Id="rId1" Type="http://schemas.openxmlformats.org/officeDocument/2006/relationships/package" Target="../embeddings/Microsoft_Excel_Sheet998.xlsx"/></Relationships>
</file>

<file path=ppt/charts/_rels/chart999.xml.rels><?xml version='1.0' encoding='UTF-8' standalone='yes'?>
<Relationships xmlns="http://schemas.openxmlformats.org/package/2006/relationships"><Relationship Id="rId1" Type="http://schemas.openxmlformats.org/officeDocument/2006/relationships/package" Target="../embeddings/Microsoft_Excel_Sheet999.xlsx"/></Relationships>
</file>

<file path=ppt/charts/_rels/chart1000.xml.rels><?xml version='1.0' encoding='UTF-8' standalone='yes'?>
<Relationships xmlns="http://schemas.openxmlformats.org/package/2006/relationships"><Relationship Id="rId1" Type="http://schemas.openxmlformats.org/officeDocument/2006/relationships/package" Target="../embeddings/Microsoft_Excel_Sheet1000.xlsx"/></Relationships>
</file>

<file path=ppt/charts/_rels/chart1001.xml.rels><?xml version='1.0' encoding='UTF-8' standalone='yes'?>
<Relationships xmlns="http://schemas.openxmlformats.org/package/2006/relationships"><Relationship Id="rId1" Type="http://schemas.openxmlformats.org/officeDocument/2006/relationships/package" Target="../embeddings/Microsoft_Excel_Sheet1001.xlsx"/></Relationships>
</file>

<file path=ppt/charts/_rels/chart1002.xml.rels><?xml version='1.0' encoding='UTF-8' standalone='yes'?>
<Relationships xmlns="http://schemas.openxmlformats.org/package/2006/relationships"><Relationship Id="rId1" Type="http://schemas.openxmlformats.org/officeDocument/2006/relationships/package" Target="../embeddings/Microsoft_Excel_Sheet1002.xlsx"/></Relationships>
</file>

<file path=ppt/charts/_rels/chart1003.xml.rels><?xml version='1.0' encoding='UTF-8' standalone='yes'?>
<Relationships xmlns="http://schemas.openxmlformats.org/package/2006/relationships"><Relationship Id="rId1" Type="http://schemas.openxmlformats.org/officeDocument/2006/relationships/package" Target="../embeddings/Microsoft_Excel_Sheet1003.xlsx"/></Relationships>
</file>

<file path=ppt/charts/_rels/chart1004.xml.rels><?xml version='1.0' encoding='UTF-8' standalone='yes'?>
<Relationships xmlns="http://schemas.openxmlformats.org/package/2006/relationships"><Relationship Id="rId1" Type="http://schemas.openxmlformats.org/officeDocument/2006/relationships/package" Target="../embeddings/Microsoft_Excel_Sheet1004.xlsx"/></Relationships>
</file>

<file path=ppt/charts/_rels/chart1005.xml.rels><?xml version='1.0' encoding='UTF-8' standalone='yes'?>
<Relationships xmlns="http://schemas.openxmlformats.org/package/2006/relationships"><Relationship Id="rId1" Type="http://schemas.openxmlformats.org/officeDocument/2006/relationships/package" Target="../embeddings/Microsoft_Excel_Sheet1005.xlsx"/></Relationships>
</file>

<file path=ppt/charts/_rels/chart1006.xml.rels><?xml version='1.0' encoding='UTF-8' standalone='yes'?>
<Relationships xmlns="http://schemas.openxmlformats.org/package/2006/relationships"><Relationship Id="rId1" Type="http://schemas.openxmlformats.org/officeDocument/2006/relationships/package" Target="../embeddings/Microsoft_Excel_Sheet1006.xlsx"/></Relationships>
</file>

<file path=ppt/charts/_rels/chart1007.xml.rels><?xml version='1.0' encoding='UTF-8' standalone='yes'?>
<Relationships xmlns="http://schemas.openxmlformats.org/package/2006/relationships"><Relationship Id="rId1" Type="http://schemas.openxmlformats.org/officeDocument/2006/relationships/package" Target="../embeddings/Microsoft_Excel_Sheet1007.xlsx"/></Relationships>
</file>

<file path=ppt/charts/_rels/chart1008.xml.rels><?xml version='1.0' encoding='UTF-8' standalone='yes'?>
<Relationships xmlns="http://schemas.openxmlformats.org/package/2006/relationships"><Relationship Id="rId1" Type="http://schemas.openxmlformats.org/officeDocument/2006/relationships/package" Target="../embeddings/Microsoft_Excel_Sheet1008.xlsx"/></Relationships>
</file>

<file path=ppt/charts/_rels/chart1009.xml.rels><?xml version='1.0' encoding='UTF-8' standalone='yes'?>
<Relationships xmlns="http://schemas.openxmlformats.org/package/2006/relationships"><Relationship Id="rId1" Type="http://schemas.openxmlformats.org/officeDocument/2006/relationships/package" Target="../embeddings/Microsoft_Excel_Sheet1009.xlsx"/></Relationships>
</file>

<file path=ppt/charts/_rels/chart1010.xml.rels><?xml version='1.0' encoding='UTF-8' standalone='yes'?>
<Relationships xmlns="http://schemas.openxmlformats.org/package/2006/relationships"><Relationship Id="rId1" Type="http://schemas.openxmlformats.org/officeDocument/2006/relationships/package" Target="../embeddings/Microsoft_Excel_Sheet1010.xlsx"/></Relationships>
</file>

<file path=ppt/charts/_rels/chart1011.xml.rels><?xml version='1.0' encoding='UTF-8' standalone='yes'?>
<Relationships xmlns="http://schemas.openxmlformats.org/package/2006/relationships"><Relationship Id="rId1" Type="http://schemas.openxmlformats.org/officeDocument/2006/relationships/package" Target="../embeddings/Microsoft_Excel_Sheet1011.xlsx"/></Relationships>
</file>

<file path=ppt/charts/_rels/chart1012.xml.rels><?xml version='1.0' encoding='UTF-8' standalone='yes'?>
<Relationships xmlns="http://schemas.openxmlformats.org/package/2006/relationships"><Relationship Id="rId1" Type="http://schemas.openxmlformats.org/officeDocument/2006/relationships/package" Target="../embeddings/Microsoft_Excel_Sheet1012.xlsx"/></Relationships>
</file>

<file path=ppt/charts/_rels/chart1013.xml.rels><?xml version='1.0' encoding='UTF-8' standalone='yes'?>
<Relationships xmlns="http://schemas.openxmlformats.org/package/2006/relationships"><Relationship Id="rId1" Type="http://schemas.openxmlformats.org/officeDocument/2006/relationships/package" Target="../embeddings/Microsoft_Excel_Sheet1013.xlsx"/></Relationships>
</file>

<file path=ppt/charts/_rels/chart1014.xml.rels><?xml version='1.0' encoding='UTF-8' standalone='yes'?>
<Relationships xmlns="http://schemas.openxmlformats.org/package/2006/relationships"><Relationship Id="rId1" Type="http://schemas.openxmlformats.org/officeDocument/2006/relationships/package" Target="../embeddings/Microsoft_Excel_Sheet1014.xlsx"/></Relationships>
</file>

<file path=ppt/charts/_rels/chart1015.xml.rels><?xml version='1.0' encoding='UTF-8' standalone='yes'?>
<Relationships xmlns="http://schemas.openxmlformats.org/package/2006/relationships"><Relationship Id="rId1" Type="http://schemas.openxmlformats.org/officeDocument/2006/relationships/package" Target="../embeddings/Microsoft_Excel_Sheet1015.xlsx"/></Relationships>
</file>

<file path=ppt/charts/_rels/chart1016.xml.rels><?xml version='1.0' encoding='UTF-8' standalone='yes'?>
<Relationships xmlns="http://schemas.openxmlformats.org/package/2006/relationships"><Relationship Id="rId1" Type="http://schemas.openxmlformats.org/officeDocument/2006/relationships/package" Target="../embeddings/Microsoft_Excel_Sheet1016.xlsx"/></Relationships>
</file>

<file path=ppt/charts/_rels/chart1017.xml.rels><?xml version='1.0' encoding='UTF-8' standalone='yes'?>
<Relationships xmlns="http://schemas.openxmlformats.org/package/2006/relationships"><Relationship Id="rId1" Type="http://schemas.openxmlformats.org/officeDocument/2006/relationships/package" Target="../embeddings/Microsoft_Excel_Sheet1017.xlsx"/></Relationships>
</file>

<file path=ppt/charts/_rels/chart1018.xml.rels><?xml version='1.0' encoding='UTF-8' standalone='yes'?>
<Relationships xmlns="http://schemas.openxmlformats.org/package/2006/relationships"><Relationship Id="rId1" Type="http://schemas.openxmlformats.org/officeDocument/2006/relationships/package" Target="../embeddings/Microsoft_Excel_Sheet1018.xlsx"/></Relationships>
</file>

<file path=ppt/charts/_rels/chart1019.xml.rels><?xml version='1.0' encoding='UTF-8' standalone='yes'?>
<Relationships xmlns="http://schemas.openxmlformats.org/package/2006/relationships"><Relationship Id="rId1" Type="http://schemas.openxmlformats.org/officeDocument/2006/relationships/package" Target="../embeddings/Microsoft_Excel_Sheet1019.xlsx"/></Relationships>
</file>

<file path=ppt/charts/_rels/chart1020.xml.rels><?xml version='1.0' encoding='UTF-8' standalone='yes'?>
<Relationships xmlns="http://schemas.openxmlformats.org/package/2006/relationships"><Relationship Id="rId1" Type="http://schemas.openxmlformats.org/officeDocument/2006/relationships/package" Target="../embeddings/Microsoft_Excel_Sheet1020.xlsx"/></Relationships>
</file>

<file path=ppt/charts/_rels/chart1021.xml.rels><?xml version='1.0' encoding='UTF-8' standalone='yes'?>
<Relationships xmlns="http://schemas.openxmlformats.org/package/2006/relationships"><Relationship Id="rId1" Type="http://schemas.openxmlformats.org/officeDocument/2006/relationships/package" Target="../embeddings/Microsoft_Excel_Sheet1021.xlsx"/></Relationships>
</file>

<file path=ppt/charts/_rels/chart1022.xml.rels><?xml version='1.0' encoding='UTF-8' standalone='yes'?>
<Relationships xmlns="http://schemas.openxmlformats.org/package/2006/relationships"><Relationship Id="rId1" Type="http://schemas.openxmlformats.org/officeDocument/2006/relationships/package" Target="../embeddings/Microsoft_Excel_Sheet1022.xlsx"/></Relationships>
</file>

<file path=ppt/charts/_rels/chart1023.xml.rels><?xml version='1.0' encoding='UTF-8' standalone='yes'?>
<Relationships xmlns="http://schemas.openxmlformats.org/package/2006/relationships"><Relationship Id="rId1" Type="http://schemas.openxmlformats.org/officeDocument/2006/relationships/package" Target="../embeddings/Microsoft_Excel_Sheet1023.xlsx"/></Relationships>
</file>

<file path=ppt/charts/_rels/chart1024.xml.rels><?xml version='1.0' encoding='UTF-8' standalone='yes'?>
<Relationships xmlns="http://schemas.openxmlformats.org/package/2006/relationships"><Relationship Id="rId1" Type="http://schemas.openxmlformats.org/officeDocument/2006/relationships/package" Target="../embeddings/Microsoft_Excel_Sheet1024.xlsx"/></Relationships>
</file>

<file path=ppt/charts/_rels/chart1025.xml.rels><?xml version='1.0' encoding='UTF-8' standalone='yes'?>
<Relationships xmlns="http://schemas.openxmlformats.org/package/2006/relationships"><Relationship Id="rId1" Type="http://schemas.openxmlformats.org/officeDocument/2006/relationships/package" Target="../embeddings/Microsoft_Excel_Sheet1025.xlsx"/></Relationships>
</file>

<file path=ppt/charts/_rels/chart1026.xml.rels><?xml version='1.0' encoding='UTF-8' standalone='yes'?>
<Relationships xmlns="http://schemas.openxmlformats.org/package/2006/relationships"><Relationship Id="rId1" Type="http://schemas.openxmlformats.org/officeDocument/2006/relationships/package" Target="../embeddings/Microsoft_Excel_Sheet1026.xlsx"/></Relationships>
</file>

<file path=ppt/charts/_rels/chart1027.xml.rels><?xml version='1.0' encoding='UTF-8' standalone='yes'?>
<Relationships xmlns="http://schemas.openxmlformats.org/package/2006/relationships"><Relationship Id="rId1" Type="http://schemas.openxmlformats.org/officeDocument/2006/relationships/package" Target="../embeddings/Microsoft_Excel_Sheet1027.xlsx"/></Relationships>
</file>

<file path=ppt/charts/_rels/chart1028.xml.rels><?xml version='1.0' encoding='UTF-8' standalone='yes'?>
<Relationships xmlns="http://schemas.openxmlformats.org/package/2006/relationships"><Relationship Id="rId1" Type="http://schemas.openxmlformats.org/officeDocument/2006/relationships/package" Target="../embeddings/Microsoft_Excel_Sheet1028.xlsx"/></Relationships>
</file>

<file path=ppt/charts/_rels/chart1029.xml.rels><?xml version='1.0' encoding='UTF-8' standalone='yes'?>
<Relationships xmlns="http://schemas.openxmlformats.org/package/2006/relationships"><Relationship Id="rId1" Type="http://schemas.openxmlformats.org/officeDocument/2006/relationships/package" Target="../embeddings/Microsoft_Excel_Sheet1029.xlsx"/></Relationships>
</file>

<file path=ppt/charts/_rels/chart1030.xml.rels><?xml version='1.0' encoding='UTF-8' standalone='yes'?>
<Relationships xmlns="http://schemas.openxmlformats.org/package/2006/relationships"><Relationship Id="rId1" Type="http://schemas.openxmlformats.org/officeDocument/2006/relationships/package" Target="../embeddings/Microsoft_Excel_Sheet1030.xlsx"/></Relationships>
</file>

<file path=ppt/charts/_rels/chart1031.xml.rels><?xml version='1.0' encoding='UTF-8' standalone='yes'?>
<Relationships xmlns="http://schemas.openxmlformats.org/package/2006/relationships"><Relationship Id="rId1" Type="http://schemas.openxmlformats.org/officeDocument/2006/relationships/package" Target="../embeddings/Microsoft_Excel_Sheet1031.xlsx"/></Relationships>
</file>

<file path=ppt/charts/_rels/chart1032.xml.rels><?xml version='1.0' encoding='UTF-8' standalone='yes'?>
<Relationships xmlns="http://schemas.openxmlformats.org/package/2006/relationships"><Relationship Id="rId1" Type="http://schemas.openxmlformats.org/officeDocument/2006/relationships/package" Target="../embeddings/Microsoft_Excel_Sheet1032.xlsx"/></Relationships>
</file>

<file path=ppt/charts/_rels/chart1033.xml.rels><?xml version='1.0' encoding='UTF-8' standalone='yes'?>
<Relationships xmlns="http://schemas.openxmlformats.org/package/2006/relationships"><Relationship Id="rId1" Type="http://schemas.openxmlformats.org/officeDocument/2006/relationships/package" Target="../embeddings/Microsoft_Excel_Sheet1033.xlsx"/></Relationships>
</file>

<file path=ppt/charts/_rels/chart1034.xml.rels><?xml version='1.0' encoding='UTF-8' standalone='yes'?>
<Relationships xmlns="http://schemas.openxmlformats.org/package/2006/relationships"><Relationship Id="rId1" Type="http://schemas.openxmlformats.org/officeDocument/2006/relationships/package" Target="../embeddings/Microsoft_Excel_Sheet1034.xlsx"/></Relationships>
</file>

<file path=ppt/charts/_rels/chart1035.xml.rels><?xml version='1.0' encoding='UTF-8' standalone='yes'?>
<Relationships xmlns="http://schemas.openxmlformats.org/package/2006/relationships"><Relationship Id="rId1" Type="http://schemas.openxmlformats.org/officeDocument/2006/relationships/package" Target="../embeddings/Microsoft_Excel_Sheet1035.xlsx"/></Relationships>
</file>

<file path=ppt/charts/_rels/chart1036.xml.rels><?xml version='1.0' encoding='UTF-8' standalone='yes'?>
<Relationships xmlns="http://schemas.openxmlformats.org/package/2006/relationships"><Relationship Id="rId1" Type="http://schemas.openxmlformats.org/officeDocument/2006/relationships/package" Target="../embeddings/Microsoft_Excel_Sheet1036.xlsx"/></Relationships>
</file>

<file path=ppt/charts/_rels/chart1037.xml.rels><?xml version='1.0' encoding='UTF-8' standalone='yes'?>
<Relationships xmlns="http://schemas.openxmlformats.org/package/2006/relationships"><Relationship Id="rId1" Type="http://schemas.openxmlformats.org/officeDocument/2006/relationships/package" Target="../embeddings/Microsoft_Excel_Sheet1037.xlsx"/></Relationships>
</file>

<file path=ppt/charts/_rels/chart1038.xml.rels><?xml version='1.0' encoding='UTF-8' standalone='yes'?>
<Relationships xmlns="http://schemas.openxmlformats.org/package/2006/relationships"><Relationship Id="rId1" Type="http://schemas.openxmlformats.org/officeDocument/2006/relationships/package" Target="../embeddings/Microsoft_Excel_Sheet1038.xlsx"/></Relationships>
</file>

<file path=ppt/charts/_rels/chart1039.xml.rels><?xml version='1.0' encoding='UTF-8' standalone='yes'?>
<Relationships xmlns="http://schemas.openxmlformats.org/package/2006/relationships"><Relationship Id="rId1" Type="http://schemas.openxmlformats.org/officeDocument/2006/relationships/package" Target="../embeddings/Microsoft_Excel_Sheet1039.xlsx"/></Relationships>
</file>

<file path=ppt/charts/_rels/chart1040.xml.rels><?xml version='1.0' encoding='UTF-8' standalone='yes'?>
<Relationships xmlns="http://schemas.openxmlformats.org/package/2006/relationships"><Relationship Id="rId1" Type="http://schemas.openxmlformats.org/officeDocument/2006/relationships/package" Target="../embeddings/Microsoft_Excel_Sheet1040.xlsx"/></Relationships>
</file>

<file path=ppt/charts/_rels/chart1041.xml.rels><?xml version='1.0' encoding='UTF-8' standalone='yes'?>
<Relationships xmlns="http://schemas.openxmlformats.org/package/2006/relationships"><Relationship Id="rId1" Type="http://schemas.openxmlformats.org/officeDocument/2006/relationships/package" Target="../embeddings/Microsoft_Excel_Sheet1041.xlsx"/></Relationships>
</file>

<file path=ppt/charts/_rels/chart1042.xml.rels><?xml version='1.0' encoding='UTF-8' standalone='yes'?>
<Relationships xmlns="http://schemas.openxmlformats.org/package/2006/relationships"><Relationship Id="rId1" Type="http://schemas.openxmlformats.org/officeDocument/2006/relationships/package" Target="../embeddings/Microsoft_Excel_Sheet1042.xlsx"/></Relationships>
</file>

<file path=ppt/charts/_rels/chart1043.xml.rels><?xml version='1.0' encoding='UTF-8' standalone='yes'?>
<Relationships xmlns="http://schemas.openxmlformats.org/package/2006/relationships"><Relationship Id="rId1" Type="http://schemas.openxmlformats.org/officeDocument/2006/relationships/package" Target="../embeddings/Microsoft_Excel_Sheet1043.xlsx"/></Relationships>
</file>

<file path=ppt/charts/_rels/chart1044.xml.rels><?xml version='1.0' encoding='UTF-8' standalone='yes'?>
<Relationships xmlns="http://schemas.openxmlformats.org/package/2006/relationships"><Relationship Id="rId1" Type="http://schemas.openxmlformats.org/officeDocument/2006/relationships/package" Target="../embeddings/Microsoft_Excel_Sheet1044.xlsx"/></Relationships>
</file>

<file path=ppt/charts/_rels/chart1045.xml.rels><?xml version='1.0' encoding='UTF-8' standalone='yes'?>
<Relationships xmlns="http://schemas.openxmlformats.org/package/2006/relationships"><Relationship Id="rId1" Type="http://schemas.openxmlformats.org/officeDocument/2006/relationships/package" Target="../embeddings/Microsoft_Excel_Sheet1045.xlsx"/></Relationships>
</file>

<file path=ppt/charts/_rels/chart1046.xml.rels><?xml version='1.0' encoding='UTF-8' standalone='yes'?>
<Relationships xmlns="http://schemas.openxmlformats.org/package/2006/relationships"><Relationship Id="rId1" Type="http://schemas.openxmlformats.org/officeDocument/2006/relationships/package" Target="../embeddings/Microsoft_Excel_Sheet1046.xlsx"/></Relationships>
</file>

<file path=ppt/charts/_rels/chart1047.xml.rels><?xml version='1.0' encoding='UTF-8' standalone='yes'?>
<Relationships xmlns="http://schemas.openxmlformats.org/package/2006/relationships"><Relationship Id="rId1" Type="http://schemas.openxmlformats.org/officeDocument/2006/relationships/package" Target="../embeddings/Microsoft_Excel_Sheet1047.xlsx"/></Relationships>
</file>

<file path=ppt/charts/_rels/chart1048.xml.rels><?xml version='1.0' encoding='UTF-8' standalone='yes'?>
<Relationships xmlns="http://schemas.openxmlformats.org/package/2006/relationships"><Relationship Id="rId1" Type="http://schemas.openxmlformats.org/officeDocument/2006/relationships/package" Target="../embeddings/Microsoft_Excel_Sheet1048.xlsx"/></Relationships>
</file>

<file path=ppt/charts/_rels/chart1049.xml.rels><?xml version='1.0' encoding='UTF-8' standalone='yes'?>
<Relationships xmlns="http://schemas.openxmlformats.org/package/2006/relationships"><Relationship Id="rId1" Type="http://schemas.openxmlformats.org/officeDocument/2006/relationships/package" Target="../embeddings/Microsoft_Excel_Sheet1049.xlsx"/></Relationships>
</file>

<file path=ppt/charts/_rels/chart1050.xml.rels><?xml version='1.0' encoding='UTF-8' standalone='yes'?>
<Relationships xmlns="http://schemas.openxmlformats.org/package/2006/relationships"><Relationship Id="rId1" Type="http://schemas.openxmlformats.org/officeDocument/2006/relationships/package" Target="../embeddings/Microsoft_Excel_Sheet1050.xlsx"/></Relationships>
</file>

<file path=ppt/charts/_rels/chart1051.xml.rels><?xml version='1.0' encoding='UTF-8' standalone='yes'?>
<Relationships xmlns="http://schemas.openxmlformats.org/package/2006/relationships"><Relationship Id="rId1" Type="http://schemas.openxmlformats.org/officeDocument/2006/relationships/package" Target="../embeddings/Microsoft_Excel_Sheet1051.xlsx"/></Relationships>
</file>

<file path=ppt/charts/_rels/chart1052.xml.rels><?xml version='1.0' encoding='UTF-8' standalone='yes'?>
<Relationships xmlns="http://schemas.openxmlformats.org/package/2006/relationships"><Relationship Id="rId1" Type="http://schemas.openxmlformats.org/officeDocument/2006/relationships/package" Target="../embeddings/Microsoft_Excel_Sheet1052.xlsx"/></Relationships>
</file>

<file path=ppt/charts/_rels/chart1053.xml.rels><?xml version='1.0' encoding='UTF-8' standalone='yes'?>
<Relationships xmlns="http://schemas.openxmlformats.org/package/2006/relationships"><Relationship Id="rId1" Type="http://schemas.openxmlformats.org/officeDocument/2006/relationships/package" Target="../embeddings/Microsoft_Excel_Sheet1053.xlsx"/></Relationships>
</file>

<file path=ppt/charts/_rels/chart1054.xml.rels><?xml version='1.0' encoding='UTF-8' standalone='yes'?>
<Relationships xmlns="http://schemas.openxmlformats.org/package/2006/relationships"><Relationship Id="rId1" Type="http://schemas.openxmlformats.org/officeDocument/2006/relationships/package" Target="../embeddings/Microsoft_Excel_Sheet1054.xlsx"/></Relationships>
</file>

<file path=ppt/charts/_rels/chart1055.xml.rels><?xml version='1.0' encoding='UTF-8' standalone='yes'?>
<Relationships xmlns="http://schemas.openxmlformats.org/package/2006/relationships"><Relationship Id="rId1" Type="http://schemas.openxmlformats.org/officeDocument/2006/relationships/package" Target="../embeddings/Microsoft_Excel_Sheet1055.xlsx"/></Relationships>
</file>

<file path=ppt/charts/_rels/chart1056.xml.rels><?xml version='1.0' encoding='UTF-8' standalone='yes'?>
<Relationships xmlns="http://schemas.openxmlformats.org/package/2006/relationships"><Relationship Id="rId1" Type="http://schemas.openxmlformats.org/officeDocument/2006/relationships/package" Target="../embeddings/Microsoft_Excel_Sheet1056.xlsx"/></Relationships>
</file>

<file path=ppt/charts/_rels/chart1057.xml.rels><?xml version='1.0' encoding='UTF-8' standalone='yes'?>
<Relationships xmlns="http://schemas.openxmlformats.org/package/2006/relationships"><Relationship Id="rId1" Type="http://schemas.openxmlformats.org/officeDocument/2006/relationships/package" Target="../embeddings/Microsoft_Excel_Sheet1057.xlsx"/></Relationships>
</file>

<file path=ppt/charts/_rels/chart1058.xml.rels><?xml version='1.0' encoding='UTF-8' standalone='yes'?>
<Relationships xmlns="http://schemas.openxmlformats.org/package/2006/relationships"><Relationship Id="rId1" Type="http://schemas.openxmlformats.org/officeDocument/2006/relationships/package" Target="../embeddings/Microsoft_Excel_Sheet1058.xlsx"/></Relationships>
</file>

<file path=ppt/charts/_rels/chart1059.xml.rels><?xml version='1.0' encoding='UTF-8' standalone='yes'?>
<Relationships xmlns="http://schemas.openxmlformats.org/package/2006/relationships"><Relationship Id="rId1" Type="http://schemas.openxmlformats.org/officeDocument/2006/relationships/package" Target="../embeddings/Microsoft_Excel_Sheet1059.xlsx"/></Relationships>
</file>

<file path=ppt/charts/_rels/chart1060.xml.rels><?xml version='1.0' encoding='UTF-8' standalone='yes'?>
<Relationships xmlns="http://schemas.openxmlformats.org/package/2006/relationships"><Relationship Id="rId1" Type="http://schemas.openxmlformats.org/officeDocument/2006/relationships/package" Target="../embeddings/Microsoft_Excel_Sheet1060.xlsx"/></Relationships>
</file>

<file path=ppt/charts/_rels/chart1061.xml.rels><?xml version='1.0' encoding='UTF-8' standalone='yes'?>
<Relationships xmlns="http://schemas.openxmlformats.org/package/2006/relationships"><Relationship Id="rId1" Type="http://schemas.openxmlformats.org/officeDocument/2006/relationships/package" Target="../embeddings/Microsoft_Excel_Sheet1061.xlsx"/></Relationships>
</file>

<file path=ppt/charts/_rels/chart1062.xml.rels><?xml version='1.0' encoding='UTF-8' standalone='yes'?>
<Relationships xmlns="http://schemas.openxmlformats.org/package/2006/relationships"><Relationship Id="rId1" Type="http://schemas.openxmlformats.org/officeDocument/2006/relationships/package" Target="../embeddings/Microsoft_Excel_Sheet1062.xlsx"/></Relationships>
</file>

<file path=ppt/charts/_rels/chart1063.xml.rels><?xml version='1.0' encoding='UTF-8' standalone='yes'?>
<Relationships xmlns="http://schemas.openxmlformats.org/package/2006/relationships"><Relationship Id="rId1" Type="http://schemas.openxmlformats.org/officeDocument/2006/relationships/package" Target="../embeddings/Microsoft_Excel_Sheet1063.xlsx"/></Relationships>
</file>

<file path=ppt/charts/_rels/chart1064.xml.rels><?xml version='1.0' encoding='UTF-8' standalone='yes'?>
<Relationships xmlns="http://schemas.openxmlformats.org/package/2006/relationships"><Relationship Id="rId1" Type="http://schemas.openxmlformats.org/officeDocument/2006/relationships/package" Target="../embeddings/Microsoft_Excel_Sheet1064.xlsx"/></Relationships>
</file>

<file path=ppt/charts/_rels/chart1065.xml.rels><?xml version='1.0' encoding='UTF-8' standalone='yes'?>
<Relationships xmlns="http://schemas.openxmlformats.org/package/2006/relationships"><Relationship Id="rId1" Type="http://schemas.openxmlformats.org/officeDocument/2006/relationships/package" Target="../embeddings/Microsoft_Excel_Sheet1065.xlsx"/></Relationships>
</file>

<file path=ppt/charts/_rels/chart1066.xml.rels><?xml version='1.0' encoding='UTF-8' standalone='yes'?>
<Relationships xmlns="http://schemas.openxmlformats.org/package/2006/relationships"><Relationship Id="rId1" Type="http://schemas.openxmlformats.org/officeDocument/2006/relationships/package" Target="../embeddings/Microsoft_Excel_Sheet1066.xlsx"/></Relationships>
</file>

<file path=ppt/charts/_rels/chart1067.xml.rels><?xml version='1.0' encoding='UTF-8' standalone='yes'?>
<Relationships xmlns="http://schemas.openxmlformats.org/package/2006/relationships"><Relationship Id="rId1" Type="http://schemas.openxmlformats.org/officeDocument/2006/relationships/package" Target="../embeddings/Microsoft_Excel_Sheet1067.xlsx"/></Relationships>
</file>

<file path=ppt/charts/_rels/chart1068.xml.rels><?xml version='1.0' encoding='UTF-8' standalone='yes'?>
<Relationships xmlns="http://schemas.openxmlformats.org/package/2006/relationships"><Relationship Id="rId1" Type="http://schemas.openxmlformats.org/officeDocument/2006/relationships/package" Target="../embeddings/Microsoft_Excel_Sheet1068.xlsx"/></Relationships>
</file>

<file path=ppt/charts/_rels/chart1069.xml.rels><?xml version='1.0' encoding='UTF-8' standalone='yes'?>
<Relationships xmlns="http://schemas.openxmlformats.org/package/2006/relationships"><Relationship Id="rId1" Type="http://schemas.openxmlformats.org/officeDocument/2006/relationships/package" Target="../embeddings/Microsoft_Excel_Sheet1069.xlsx"/></Relationships>
</file>

<file path=ppt/charts/_rels/chart1070.xml.rels><?xml version='1.0' encoding='UTF-8' standalone='yes'?>
<Relationships xmlns="http://schemas.openxmlformats.org/package/2006/relationships"><Relationship Id="rId1" Type="http://schemas.openxmlformats.org/officeDocument/2006/relationships/package" Target="../embeddings/Microsoft_Excel_Sheet1070.xlsx"/></Relationships>
</file>

<file path=ppt/charts/_rels/chart1071.xml.rels><?xml version='1.0' encoding='UTF-8' standalone='yes'?>
<Relationships xmlns="http://schemas.openxmlformats.org/package/2006/relationships"><Relationship Id="rId1" Type="http://schemas.openxmlformats.org/officeDocument/2006/relationships/package" Target="../embeddings/Microsoft_Excel_Sheet1071.xlsx"/></Relationships>
</file>

<file path=ppt/charts/_rels/chart1072.xml.rels><?xml version='1.0' encoding='UTF-8' standalone='yes'?>
<Relationships xmlns="http://schemas.openxmlformats.org/package/2006/relationships"><Relationship Id="rId1" Type="http://schemas.openxmlformats.org/officeDocument/2006/relationships/package" Target="../embeddings/Microsoft_Excel_Sheet1072.xlsx"/></Relationships>
</file>

<file path=ppt/charts/_rels/chart1073.xml.rels><?xml version='1.0' encoding='UTF-8' standalone='yes'?>
<Relationships xmlns="http://schemas.openxmlformats.org/package/2006/relationships"><Relationship Id="rId1" Type="http://schemas.openxmlformats.org/officeDocument/2006/relationships/package" Target="../embeddings/Microsoft_Excel_Sheet1073.xlsx"/></Relationships>
</file>

<file path=ppt/charts/_rels/chart1074.xml.rels><?xml version='1.0' encoding='UTF-8' standalone='yes'?>
<Relationships xmlns="http://schemas.openxmlformats.org/package/2006/relationships"><Relationship Id="rId1" Type="http://schemas.openxmlformats.org/officeDocument/2006/relationships/package" Target="../embeddings/Microsoft_Excel_Sheet1074.xlsx"/></Relationships>
</file>

<file path=ppt/charts/_rels/chart1075.xml.rels><?xml version='1.0' encoding='UTF-8' standalone='yes'?>
<Relationships xmlns="http://schemas.openxmlformats.org/package/2006/relationships"><Relationship Id="rId1" Type="http://schemas.openxmlformats.org/officeDocument/2006/relationships/package" Target="../embeddings/Microsoft_Excel_Sheet1075.xlsx"/></Relationships>
</file>

<file path=ppt/charts/_rels/chart1076.xml.rels><?xml version='1.0' encoding='UTF-8' standalone='yes'?>
<Relationships xmlns="http://schemas.openxmlformats.org/package/2006/relationships"><Relationship Id="rId1" Type="http://schemas.openxmlformats.org/officeDocument/2006/relationships/package" Target="../embeddings/Microsoft_Excel_Sheet1076.xlsx"/></Relationships>
</file>

<file path=ppt/charts/_rels/chart1077.xml.rels><?xml version='1.0' encoding='UTF-8' standalone='yes'?>
<Relationships xmlns="http://schemas.openxmlformats.org/package/2006/relationships"><Relationship Id="rId1" Type="http://schemas.openxmlformats.org/officeDocument/2006/relationships/package" Target="../embeddings/Microsoft_Excel_Sheet1077.xlsx"/></Relationships>
</file>

<file path=ppt/charts/_rels/chart1078.xml.rels><?xml version='1.0' encoding='UTF-8' standalone='yes'?>
<Relationships xmlns="http://schemas.openxmlformats.org/package/2006/relationships"><Relationship Id="rId1" Type="http://schemas.openxmlformats.org/officeDocument/2006/relationships/package" Target="../embeddings/Microsoft_Excel_Sheet1078.xlsx"/></Relationships>
</file>

<file path=ppt/charts/_rels/chart1079.xml.rels><?xml version='1.0' encoding='UTF-8' standalone='yes'?>
<Relationships xmlns="http://schemas.openxmlformats.org/package/2006/relationships"><Relationship Id="rId1" Type="http://schemas.openxmlformats.org/officeDocument/2006/relationships/package" Target="../embeddings/Microsoft_Excel_Sheet1079.xlsx"/></Relationships>
</file>

<file path=ppt/charts/_rels/chart1080.xml.rels><?xml version='1.0' encoding='UTF-8' standalone='yes'?>
<Relationships xmlns="http://schemas.openxmlformats.org/package/2006/relationships"><Relationship Id="rId1" Type="http://schemas.openxmlformats.org/officeDocument/2006/relationships/package" Target="../embeddings/Microsoft_Excel_Sheet1080.xlsx"/></Relationships>
</file>

<file path=ppt/charts/_rels/chart1081.xml.rels><?xml version='1.0' encoding='UTF-8' standalone='yes'?>
<Relationships xmlns="http://schemas.openxmlformats.org/package/2006/relationships"><Relationship Id="rId1" Type="http://schemas.openxmlformats.org/officeDocument/2006/relationships/package" Target="../embeddings/Microsoft_Excel_Sheet1081.xlsx"/></Relationships>
</file>

<file path=ppt/charts/_rels/chart1082.xml.rels><?xml version='1.0' encoding='UTF-8' standalone='yes'?>
<Relationships xmlns="http://schemas.openxmlformats.org/package/2006/relationships"><Relationship Id="rId1" Type="http://schemas.openxmlformats.org/officeDocument/2006/relationships/package" Target="../embeddings/Microsoft_Excel_Sheet1082.xlsx"/></Relationships>
</file>

<file path=ppt/charts/_rels/chart1083.xml.rels><?xml version='1.0' encoding='UTF-8' standalone='yes'?>
<Relationships xmlns="http://schemas.openxmlformats.org/package/2006/relationships"><Relationship Id="rId1" Type="http://schemas.openxmlformats.org/officeDocument/2006/relationships/package" Target="../embeddings/Microsoft_Excel_Sheet1083.xlsx"/></Relationships>
</file>

<file path=ppt/charts/_rels/chart1084.xml.rels><?xml version='1.0' encoding='UTF-8' standalone='yes'?>
<Relationships xmlns="http://schemas.openxmlformats.org/package/2006/relationships"><Relationship Id="rId1" Type="http://schemas.openxmlformats.org/officeDocument/2006/relationships/package" Target="../embeddings/Microsoft_Excel_Sheet1084.xlsx"/></Relationships>
</file>

<file path=ppt/charts/_rels/chart1085.xml.rels><?xml version='1.0' encoding='UTF-8' standalone='yes'?>
<Relationships xmlns="http://schemas.openxmlformats.org/package/2006/relationships"><Relationship Id="rId1" Type="http://schemas.openxmlformats.org/officeDocument/2006/relationships/package" Target="../embeddings/Microsoft_Excel_Sheet1085.xlsx"/></Relationships>
</file>

<file path=ppt/charts/_rels/chart1086.xml.rels><?xml version='1.0' encoding='UTF-8' standalone='yes'?>
<Relationships xmlns="http://schemas.openxmlformats.org/package/2006/relationships"><Relationship Id="rId1" Type="http://schemas.openxmlformats.org/officeDocument/2006/relationships/package" Target="../embeddings/Microsoft_Excel_Sheet1086.xlsx"/></Relationships>
</file>

<file path=ppt/charts/_rels/chart1087.xml.rels><?xml version='1.0' encoding='UTF-8' standalone='yes'?>
<Relationships xmlns="http://schemas.openxmlformats.org/package/2006/relationships"><Relationship Id="rId1" Type="http://schemas.openxmlformats.org/officeDocument/2006/relationships/package" Target="../embeddings/Microsoft_Excel_Sheet1087.xlsx"/></Relationships>
</file>

<file path=ppt/charts/_rels/chart1088.xml.rels><?xml version='1.0' encoding='UTF-8' standalone='yes'?>
<Relationships xmlns="http://schemas.openxmlformats.org/package/2006/relationships"><Relationship Id="rId1" Type="http://schemas.openxmlformats.org/officeDocument/2006/relationships/package" Target="../embeddings/Microsoft_Excel_Sheet1088.xlsx"/></Relationships>
</file>

<file path=ppt/charts/_rels/chart1089.xml.rels><?xml version='1.0' encoding='UTF-8' standalone='yes'?>
<Relationships xmlns="http://schemas.openxmlformats.org/package/2006/relationships"><Relationship Id="rId1" Type="http://schemas.openxmlformats.org/officeDocument/2006/relationships/package" Target="../embeddings/Microsoft_Excel_Sheet1089.xlsx"/></Relationships>
</file>

<file path=ppt/charts/_rels/chart1090.xml.rels><?xml version='1.0' encoding='UTF-8' standalone='yes'?>
<Relationships xmlns="http://schemas.openxmlformats.org/package/2006/relationships"><Relationship Id="rId1" Type="http://schemas.openxmlformats.org/officeDocument/2006/relationships/package" Target="../embeddings/Microsoft_Excel_Sheet1090.xlsx"/></Relationships>
</file>

<file path=ppt/charts/_rels/chart1091.xml.rels><?xml version='1.0' encoding='UTF-8' standalone='yes'?>
<Relationships xmlns="http://schemas.openxmlformats.org/package/2006/relationships"><Relationship Id="rId1" Type="http://schemas.openxmlformats.org/officeDocument/2006/relationships/package" Target="../embeddings/Microsoft_Excel_Sheet1091.xlsx"/></Relationships>
</file>

<file path=ppt/charts/_rels/chart1092.xml.rels><?xml version='1.0' encoding='UTF-8' standalone='yes'?>
<Relationships xmlns="http://schemas.openxmlformats.org/package/2006/relationships"><Relationship Id="rId1" Type="http://schemas.openxmlformats.org/officeDocument/2006/relationships/package" Target="../embeddings/Microsoft_Excel_Sheet1092.xlsx"/></Relationships>
</file>

<file path=ppt/charts/_rels/chart1093.xml.rels><?xml version='1.0' encoding='UTF-8' standalone='yes'?>
<Relationships xmlns="http://schemas.openxmlformats.org/package/2006/relationships"><Relationship Id="rId1" Type="http://schemas.openxmlformats.org/officeDocument/2006/relationships/package" Target="../embeddings/Microsoft_Excel_Sheet1093.xlsx"/></Relationships>
</file>

<file path=ppt/charts/_rels/chart1094.xml.rels><?xml version='1.0' encoding='UTF-8' standalone='yes'?>
<Relationships xmlns="http://schemas.openxmlformats.org/package/2006/relationships"><Relationship Id="rId1" Type="http://schemas.openxmlformats.org/officeDocument/2006/relationships/package" Target="../embeddings/Microsoft_Excel_Sheet1094.xlsx"/></Relationships>
</file>

<file path=ppt/charts/_rels/chart1095.xml.rels><?xml version='1.0' encoding='UTF-8' standalone='yes'?>
<Relationships xmlns="http://schemas.openxmlformats.org/package/2006/relationships"><Relationship Id="rId1" Type="http://schemas.openxmlformats.org/officeDocument/2006/relationships/package" Target="../embeddings/Microsoft_Excel_Sheet1095.xlsx"/></Relationships>
</file>

<file path=ppt/charts/_rels/chart1096.xml.rels><?xml version='1.0' encoding='UTF-8' standalone='yes'?>
<Relationships xmlns="http://schemas.openxmlformats.org/package/2006/relationships"><Relationship Id="rId1" Type="http://schemas.openxmlformats.org/officeDocument/2006/relationships/package" Target="../embeddings/Microsoft_Excel_Sheet1096.xlsx"/></Relationships>
</file>

<file path=ppt/charts/_rels/chart1097.xml.rels><?xml version='1.0' encoding='UTF-8' standalone='yes'?>
<Relationships xmlns="http://schemas.openxmlformats.org/package/2006/relationships"><Relationship Id="rId1" Type="http://schemas.openxmlformats.org/officeDocument/2006/relationships/package" Target="../embeddings/Microsoft_Excel_Sheet1097.xlsx"/></Relationships>
</file>

<file path=ppt/charts/_rels/chart1098.xml.rels><?xml version='1.0' encoding='UTF-8' standalone='yes'?>
<Relationships xmlns="http://schemas.openxmlformats.org/package/2006/relationships"><Relationship Id="rId1" Type="http://schemas.openxmlformats.org/officeDocument/2006/relationships/package" Target="../embeddings/Microsoft_Excel_Sheet1098.xlsx"/></Relationships>
</file>

<file path=ppt/charts/_rels/chart1099.xml.rels><?xml version='1.0' encoding='UTF-8' standalone='yes'?>
<Relationships xmlns="http://schemas.openxmlformats.org/package/2006/relationships"><Relationship Id="rId1" Type="http://schemas.openxmlformats.org/officeDocument/2006/relationships/package" Target="../embeddings/Microsoft_Excel_Sheet1099.xlsx"/></Relationships>
</file>

<file path=ppt/charts/_rels/chart1100.xml.rels><?xml version='1.0' encoding='UTF-8' standalone='yes'?>
<Relationships xmlns="http://schemas.openxmlformats.org/package/2006/relationships"><Relationship Id="rId1" Type="http://schemas.openxmlformats.org/officeDocument/2006/relationships/package" Target="../embeddings/Microsoft_Excel_Sheet1100.xlsx"/></Relationships>
</file>

<file path=ppt/charts/_rels/chart1101.xml.rels><?xml version='1.0' encoding='UTF-8' standalone='yes'?>
<Relationships xmlns="http://schemas.openxmlformats.org/package/2006/relationships"><Relationship Id="rId1" Type="http://schemas.openxmlformats.org/officeDocument/2006/relationships/package" Target="../embeddings/Microsoft_Excel_Sheet1101.xlsx"/></Relationships>
</file>

<file path=ppt/charts/_rels/chart1102.xml.rels><?xml version='1.0' encoding='UTF-8' standalone='yes'?>
<Relationships xmlns="http://schemas.openxmlformats.org/package/2006/relationships"><Relationship Id="rId1" Type="http://schemas.openxmlformats.org/officeDocument/2006/relationships/package" Target="../embeddings/Microsoft_Excel_Sheet1102.xlsx"/></Relationships>
</file>

<file path=ppt/charts/_rels/chart1103.xml.rels><?xml version='1.0' encoding='UTF-8' standalone='yes'?>
<Relationships xmlns="http://schemas.openxmlformats.org/package/2006/relationships"><Relationship Id="rId1" Type="http://schemas.openxmlformats.org/officeDocument/2006/relationships/package" Target="../embeddings/Microsoft_Excel_Sheet1103.xlsx"/></Relationships>
</file>

<file path=ppt/charts/_rels/chart1104.xml.rels><?xml version='1.0' encoding='UTF-8' standalone='yes'?>
<Relationships xmlns="http://schemas.openxmlformats.org/package/2006/relationships"><Relationship Id="rId1" Type="http://schemas.openxmlformats.org/officeDocument/2006/relationships/package" Target="../embeddings/Microsoft_Excel_Sheet1104.xlsx"/></Relationships>
</file>

<file path=ppt/charts/_rels/chart1105.xml.rels><?xml version='1.0' encoding='UTF-8' standalone='yes'?>
<Relationships xmlns="http://schemas.openxmlformats.org/package/2006/relationships"><Relationship Id="rId1" Type="http://schemas.openxmlformats.org/officeDocument/2006/relationships/package" Target="../embeddings/Microsoft_Excel_Sheet1105.xlsx"/></Relationships>
</file>

<file path=ppt/charts/_rels/chart1106.xml.rels><?xml version='1.0' encoding='UTF-8' standalone='yes'?>
<Relationships xmlns="http://schemas.openxmlformats.org/package/2006/relationships"><Relationship Id="rId1" Type="http://schemas.openxmlformats.org/officeDocument/2006/relationships/package" Target="../embeddings/Microsoft_Excel_Sheet1106.xlsx"/></Relationships>
</file>

<file path=ppt/charts/_rels/chart1107.xml.rels><?xml version='1.0' encoding='UTF-8' standalone='yes'?>
<Relationships xmlns="http://schemas.openxmlformats.org/package/2006/relationships"><Relationship Id="rId1" Type="http://schemas.openxmlformats.org/officeDocument/2006/relationships/package" Target="../embeddings/Microsoft_Excel_Sheet1107.xlsx"/></Relationships>
</file>

<file path=ppt/charts/_rels/chart1108.xml.rels><?xml version='1.0' encoding='UTF-8' standalone='yes'?>
<Relationships xmlns="http://schemas.openxmlformats.org/package/2006/relationships"><Relationship Id="rId1" Type="http://schemas.openxmlformats.org/officeDocument/2006/relationships/package" Target="../embeddings/Microsoft_Excel_Sheet1108.xlsx"/></Relationships>
</file>

<file path=ppt/charts/_rels/chart1109.xml.rels><?xml version='1.0' encoding='UTF-8' standalone='yes'?>
<Relationships xmlns="http://schemas.openxmlformats.org/package/2006/relationships"><Relationship Id="rId1" Type="http://schemas.openxmlformats.org/officeDocument/2006/relationships/package" Target="../embeddings/Microsoft_Excel_Sheet1109.xlsx"/></Relationships>
</file>

<file path=ppt/charts/_rels/chart1110.xml.rels><?xml version='1.0' encoding='UTF-8' standalone='yes'?>
<Relationships xmlns="http://schemas.openxmlformats.org/package/2006/relationships"><Relationship Id="rId1" Type="http://schemas.openxmlformats.org/officeDocument/2006/relationships/package" Target="../embeddings/Microsoft_Excel_Sheet1110.xlsx"/></Relationships>
</file>

<file path=ppt/charts/_rels/chart1111.xml.rels><?xml version='1.0' encoding='UTF-8' standalone='yes'?>
<Relationships xmlns="http://schemas.openxmlformats.org/package/2006/relationships"><Relationship Id="rId1" Type="http://schemas.openxmlformats.org/officeDocument/2006/relationships/package" Target="../embeddings/Microsoft_Excel_Sheet1111.xlsx"/></Relationships>
</file>

<file path=ppt/charts/_rels/chart1112.xml.rels><?xml version='1.0' encoding='UTF-8' standalone='yes'?>
<Relationships xmlns="http://schemas.openxmlformats.org/package/2006/relationships"><Relationship Id="rId1" Type="http://schemas.openxmlformats.org/officeDocument/2006/relationships/package" Target="../embeddings/Microsoft_Excel_Sheet1112.xlsx"/></Relationships>
</file>

<file path=ppt/charts/_rels/chart1113.xml.rels><?xml version='1.0' encoding='UTF-8' standalone='yes'?>
<Relationships xmlns="http://schemas.openxmlformats.org/package/2006/relationships"><Relationship Id="rId1" Type="http://schemas.openxmlformats.org/officeDocument/2006/relationships/package" Target="../embeddings/Microsoft_Excel_Sheet1113.xlsx"/></Relationships>
</file>

<file path=ppt/charts/_rels/chart1114.xml.rels><?xml version='1.0' encoding='UTF-8' standalone='yes'?>
<Relationships xmlns="http://schemas.openxmlformats.org/package/2006/relationships"><Relationship Id="rId1" Type="http://schemas.openxmlformats.org/officeDocument/2006/relationships/package" Target="../embeddings/Microsoft_Excel_Sheet1114.xlsx"/></Relationships>
</file>

<file path=ppt/charts/_rels/chart1115.xml.rels><?xml version='1.0' encoding='UTF-8' standalone='yes'?>
<Relationships xmlns="http://schemas.openxmlformats.org/package/2006/relationships"><Relationship Id="rId1" Type="http://schemas.openxmlformats.org/officeDocument/2006/relationships/package" Target="../embeddings/Microsoft_Excel_Sheet1115.xlsx"/></Relationships>
</file>

<file path=ppt/charts/_rels/chart1116.xml.rels><?xml version='1.0' encoding='UTF-8' standalone='yes'?>
<Relationships xmlns="http://schemas.openxmlformats.org/package/2006/relationships"><Relationship Id="rId1" Type="http://schemas.openxmlformats.org/officeDocument/2006/relationships/package" Target="../embeddings/Microsoft_Excel_Sheet1116.xlsx"/></Relationships>
</file>

<file path=ppt/charts/_rels/chart1117.xml.rels><?xml version='1.0' encoding='UTF-8' standalone='yes'?>
<Relationships xmlns="http://schemas.openxmlformats.org/package/2006/relationships"><Relationship Id="rId1" Type="http://schemas.openxmlformats.org/officeDocument/2006/relationships/package" Target="../embeddings/Microsoft_Excel_Sheet1117.xlsx"/></Relationships>
</file>

<file path=ppt/charts/_rels/chart1118.xml.rels><?xml version='1.0' encoding='UTF-8' standalone='yes'?>
<Relationships xmlns="http://schemas.openxmlformats.org/package/2006/relationships"><Relationship Id="rId1" Type="http://schemas.openxmlformats.org/officeDocument/2006/relationships/package" Target="../embeddings/Microsoft_Excel_Sheet1118.xlsx"/></Relationships>
</file>

<file path=ppt/charts/_rels/chart1119.xml.rels><?xml version='1.0' encoding='UTF-8' standalone='yes'?>
<Relationships xmlns="http://schemas.openxmlformats.org/package/2006/relationships"><Relationship Id="rId1" Type="http://schemas.openxmlformats.org/officeDocument/2006/relationships/package" Target="../embeddings/Microsoft_Excel_Sheet1119.xlsx"/></Relationships>
</file>

<file path=ppt/charts/_rels/chart1120.xml.rels><?xml version='1.0' encoding='UTF-8' standalone='yes'?>
<Relationships xmlns="http://schemas.openxmlformats.org/package/2006/relationships"><Relationship Id="rId1" Type="http://schemas.openxmlformats.org/officeDocument/2006/relationships/package" Target="../embeddings/Microsoft_Excel_Sheet1120.xlsx"/></Relationships>
</file>

<file path=ppt/charts/_rels/chart1121.xml.rels><?xml version='1.0' encoding='UTF-8' standalone='yes'?>
<Relationships xmlns="http://schemas.openxmlformats.org/package/2006/relationships"><Relationship Id="rId1" Type="http://schemas.openxmlformats.org/officeDocument/2006/relationships/package" Target="../embeddings/Microsoft_Excel_Sheet1121.xlsx"/></Relationships>
</file>

<file path=ppt/charts/_rels/chart1122.xml.rels><?xml version='1.0' encoding='UTF-8' standalone='yes'?>
<Relationships xmlns="http://schemas.openxmlformats.org/package/2006/relationships"><Relationship Id="rId1" Type="http://schemas.openxmlformats.org/officeDocument/2006/relationships/package" Target="../embeddings/Microsoft_Excel_Sheet1122.xlsx"/></Relationships>
</file>

<file path=ppt/charts/_rels/chart1123.xml.rels><?xml version='1.0' encoding='UTF-8' standalone='yes'?>
<Relationships xmlns="http://schemas.openxmlformats.org/package/2006/relationships"><Relationship Id="rId1" Type="http://schemas.openxmlformats.org/officeDocument/2006/relationships/package" Target="../embeddings/Microsoft_Excel_Sheet1123.xlsx"/></Relationships>
</file>

<file path=ppt/charts/_rels/chart1124.xml.rels><?xml version='1.0' encoding='UTF-8' standalone='yes'?>
<Relationships xmlns="http://schemas.openxmlformats.org/package/2006/relationships"><Relationship Id="rId1" Type="http://schemas.openxmlformats.org/officeDocument/2006/relationships/package" Target="../embeddings/Microsoft_Excel_Sheet1124.xlsx"/></Relationships>
</file>

<file path=ppt/charts/_rels/chart1125.xml.rels><?xml version='1.0' encoding='UTF-8' standalone='yes'?>
<Relationships xmlns="http://schemas.openxmlformats.org/package/2006/relationships"><Relationship Id="rId1" Type="http://schemas.openxmlformats.org/officeDocument/2006/relationships/package" Target="../embeddings/Microsoft_Excel_Sheet1125.xlsx"/></Relationships>
</file>

<file path=ppt/charts/_rels/chart1126.xml.rels><?xml version='1.0' encoding='UTF-8' standalone='yes'?>
<Relationships xmlns="http://schemas.openxmlformats.org/package/2006/relationships"><Relationship Id="rId1" Type="http://schemas.openxmlformats.org/officeDocument/2006/relationships/package" Target="../embeddings/Microsoft_Excel_Sheet1126.xlsx"/></Relationships>
</file>

<file path=ppt/charts/_rels/chart1127.xml.rels><?xml version='1.0' encoding='UTF-8' standalone='yes'?>
<Relationships xmlns="http://schemas.openxmlformats.org/package/2006/relationships"><Relationship Id="rId1" Type="http://schemas.openxmlformats.org/officeDocument/2006/relationships/package" Target="../embeddings/Microsoft_Excel_Sheet1127.xlsx"/></Relationships>
</file>

<file path=ppt/charts/_rels/chart1128.xml.rels><?xml version='1.0' encoding='UTF-8' standalone='yes'?>
<Relationships xmlns="http://schemas.openxmlformats.org/package/2006/relationships"><Relationship Id="rId1" Type="http://schemas.openxmlformats.org/officeDocument/2006/relationships/package" Target="../embeddings/Microsoft_Excel_Sheet1128.xlsx"/></Relationships>
</file>

<file path=ppt/charts/_rels/chart1129.xml.rels><?xml version='1.0' encoding='UTF-8' standalone='yes'?>
<Relationships xmlns="http://schemas.openxmlformats.org/package/2006/relationships"><Relationship Id="rId1" Type="http://schemas.openxmlformats.org/officeDocument/2006/relationships/package" Target="../embeddings/Microsoft_Excel_Sheet1129.xlsx"/></Relationships>
</file>

<file path=ppt/charts/_rels/chart1130.xml.rels><?xml version='1.0' encoding='UTF-8' standalone='yes'?>
<Relationships xmlns="http://schemas.openxmlformats.org/package/2006/relationships"><Relationship Id="rId1" Type="http://schemas.openxmlformats.org/officeDocument/2006/relationships/package" Target="../embeddings/Microsoft_Excel_Sheet1130.xlsx"/></Relationships>
</file>

<file path=ppt/charts/_rels/chart1131.xml.rels><?xml version='1.0' encoding='UTF-8' standalone='yes'?>
<Relationships xmlns="http://schemas.openxmlformats.org/package/2006/relationships"><Relationship Id="rId1" Type="http://schemas.openxmlformats.org/officeDocument/2006/relationships/package" Target="../embeddings/Microsoft_Excel_Sheet1131.xlsx"/></Relationships>
</file>

<file path=ppt/charts/_rels/chart1132.xml.rels><?xml version='1.0' encoding='UTF-8' standalone='yes'?>
<Relationships xmlns="http://schemas.openxmlformats.org/package/2006/relationships"><Relationship Id="rId1" Type="http://schemas.openxmlformats.org/officeDocument/2006/relationships/package" Target="../embeddings/Microsoft_Excel_Sheet1132.xlsx"/></Relationships>
</file>

<file path=ppt/charts/_rels/chart1133.xml.rels><?xml version='1.0' encoding='UTF-8' standalone='yes'?>
<Relationships xmlns="http://schemas.openxmlformats.org/package/2006/relationships"><Relationship Id="rId1" Type="http://schemas.openxmlformats.org/officeDocument/2006/relationships/package" Target="../embeddings/Microsoft_Excel_Sheet1133.xlsx"/></Relationships>
</file>

<file path=ppt/charts/_rels/chart1134.xml.rels><?xml version='1.0' encoding='UTF-8' standalone='yes'?>
<Relationships xmlns="http://schemas.openxmlformats.org/package/2006/relationships"><Relationship Id="rId1" Type="http://schemas.openxmlformats.org/officeDocument/2006/relationships/package" Target="../embeddings/Microsoft_Excel_Sheet1134.xlsx"/></Relationships>
</file>

<file path=ppt/charts/_rels/chart1135.xml.rels><?xml version='1.0' encoding='UTF-8' standalone='yes'?>
<Relationships xmlns="http://schemas.openxmlformats.org/package/2006/relationships"><Relationship Id="rId1" Type="http://schemas.openxmlformats.org/officeDocument/2006/relationships/package" Target="../embeddings/Microsoft_Excel_Sheet1135.xlsx"/></Relationships>
</file>

<file path=ppt/charts/_rels/chart1136.xml.rels><?xml version='1.0' encoding='UTF-8' standalone='yes'?>
<Relationships xmlns="http://schemas.openxmlformats.org/package/2006/relationships"><Relationship Id="rId1" Type="http://schemas.openxmlformats.org/officeDocument/2006/relationships/package" Target="../embeddings/Microsoft_Excel_Sheet1136.xlsx"/></Relationships>
</file>

<file path=ppt/charts/_rels/chart1137.xml.rels><?xml version='1.0' encoding='UTF-8' standalone='yes'?>
<Relationships xmlns="http://schemas.openxmlformats.org/package/2006/relationships"><Relationship Id="rId1" Type="http://schemas.openxmlformats.org/officeDocument/2006/relationships/package" Target="../embeddings/Microsoft_Excel_Sheet1137.xlsx"/></Relationships>
</file>

<file path=ppt/charts/_rels/chart1138.xml.rels><?xml version='1.0' encoding='UTF-8' standalone='yes'?>
<Relationships xmlns="http://schemas.openxmlformats.org/package/2006/relationships"><Relationship Id="rId1" Type="http://schemas.openxmlformats.org/officeDocument/2006/relationships/package" Target="../embeddings/Microsoft_Excel_Sheet1138.xlsx"/></Relationships>
</file>

<file path=ppt/charts/_rels/chart1139.xml.rels><?xml version='1.0' encoding='UTF-8' standalone='yes'?>
<Relationships xmlns="http://schemas.openxmlformats.org/package/2006/relationships"><Relationship Id="rId1" Type="http://schemas.openxmlformats.org/officeDocument/2006/relationships/package" Target="../embeddings/Microsoft_Excel_Sheet1139.xlsx"/></Relationships>
</file>

<file path=ppt/charts/_rels/chart1140.xml.rels><?xml version='1.0' encoding='UTF-8' standalone='yes'?>
<Relationships xmlns="http://schemas.openxmlformats.org/package/2006/relationships"><Relationship Id="rId1" Type="http://schemas.openxmlformats.org/officeDocument/2006/relationships/package" Target="../embeddings/Microsoft_Excel_Sheet1140.xlsx"/></Relationships>
</file>

<file path=ppt/charts/_rels/chart1141.xml.rels><?xml version='1.0' encoding='UTF-8' standalone='yes'?>
<Relationships xmlns="http://schemas.openxmlformats.org/package/2006/relationships"><Relationship Id="rId1" Type="http://schemas.openxmlformats.org/officeDocument/2006/relationships/package" Target="../embeddings/Microsoft_Excel_Sheet1141.xlsx"/></Relationships>
</file>

<file path=ppt/charts/_rels/chart1142.xml.rels><?xml version='1.0' encoding='UTF-8' standalone='yes'?>
<Relationships xmlns="http://schemas.openxmlformats.org/package/2006/relationships"><Relationship Id="rId1" Type="http://schemas.openxmlformats.org/officeDocument/2006/relationships/package" Target="../embeddings/Microsoft_Excel_Sheet1142.xlsx"/></Relationships>
</file>

<file path=ppt/charts/_rels/chart1143.xml.rels><?xml version='1.0' encoding='UTF-8' standalone='yes'?>
<Relationships xmlns="http://schemas.openxmlformats.org/package/2006/relationships"><Relationship Id="rId1" Type="http://schemas.openxmlformats.org/officeDocument/2006/relationships/package" Target="../embeddings/Microsoft_Excel_Sheet1143.xlsx"/></Relationships>
</file>

<file path=ppt/charts/_rels/chart1144.xml.rels><?xml version='1.0' encoding='UTF-8' standalone='yes'?>
<Relationships xmlns="http://schemas.openxmlformats.org/package/2006/relationships"><Relationship Id="rId1" Type="http://schemas.openxmlformats.org/officeDocument/2006/relationships/package" Target="../embeddings/Microsoft_Excel_Sheet1144.xlsx"/></Relationships>
</file>

<file path=ppt/charts/_rels/chart1145.xml.rels><?xml version='1.0' encoding='UTF-8' standalone='yes'?>
<Relationships xmlns="http://schemas.openxmlformats.org/package/2006/relationships"><Relationship Id="rId1" Type="http://schemas.openxmlformats.org/officeDocument/2006/relationships/package" Target="../embeddings/Microsoft_Excel_Sheet1145.xlsx"/></Relationships>
</file>

<file path=ppt/charts/_rels/chart1146.xml.rels><?xml version='1.0' encoding='UTF-8' standalone='yes'?>
<Relationships xmlns="http://schemas.openxmlformats.org/package/2006/relationships"><Relationship Id="rId1" Type="http://schemas.openxmlformats.org/officeDocument/2006/relationships/package" Target="../embeddings/Microsoft_Excel_Sheet1146.xlsx"/></Relationships>
</file>

<file path=ppt/charts/_rels/chart1147.xml.rels><?xml version='1.0' encoding='UTF-8' standalone='yes'?>
<Relationships xmlns="http://schemas.openxmlformats.org/package/2006/relationships"><Relationship Id="rId1" Type="http://schemas.openxmlformats.org/officeDocument/2006/relationships/package" Target="../embeddings/Microsoft_Excel_Sheet1147.xlsx"/></Relationships>
</file>

<file path=ppt/charts/_rels/chart1148.xml.rels><?xml version='1.0' encoding='UTF-8' standalone='yes'?>
<Relationships xmlns="http://schemas.openxmlformats.org/package/2006/relationships"><Relationship Id="rId1" Type="http://schemas.openxmlformats.org/officeDocument/2006/relationships/package" Target="../embeddings/Microsoft_Excel_Sheet1148.xlsx"/></Relationships>
</file>

<file path=ppt/charts/_rels/chart1149.xml.rels><?xml version='1.0' encoding='UTF-8' standalone='yes'?>
<Relationships xmlns="http://schemas.openxmlformats.org/package/2006/relationships"><Relationship Id="rId1" Type="http://schemas.openxmlformats.org/officeDocument/2006/relationships/package" Target="../embeddings/Microsoft_Excel_Sheet1149.xlsx"/></Relationships>
</file>

<file path=ppt/charts/_rels/chart1150.xml.rels><?xml version='1.0' encoding='UTF-8' standalone='yes'?>
<Relationships xmlns="http://schemas.openxmlformats.org/package/2006/relationships"><Relationship Id="rId1" Type="http://schemas.openxmlformats.org/officeDocument/2006/relationships/package" Target="../embeddings/Microsoft_Excel_Sheet1150.xlsx"/></Relationships>
</file>

<file path=ppt/charts/_rels/chart1151.xml.rels><?xml version='1.0' encoding='UTF-8' standalone='yes'?>
<Relationships xmlns="http://schemas.openxmlformats.org/package/2006/relationships"><Relationship Id="rId1" Type="http://schemas.openxmlformats.org/officeDocument/2006/relationships/package" Target="../embeddings/Microsoft_Excel_Sheet1151.xlsx"/></Relationships>
</file>

<file path=ppt/charts/_rels/chart1152.xml.rels><?xml version='1.0' encoding='UTF-8' standalone='yes'?>
<Relationships xmlns="http://schemas.openxmlformats.org/package/2006/relationships"><Relationship Id="rId1" Type="http://schemas.openxmlformats.org/officeDocument/2006/relationships/package" Target="../embeddings/Microsoft_Excel_Sheet1152.xlsx"/></Relationships>
</file>

<file path=ppt/charts/_rels/chart1153.xml.rels><?xml version='1.0' encoding='UTF-8' standalone='yes'?>
<Relationships xmlns="http://schemas.openxmlformats.org/package/2006/relationships"><Relationship Id="rId1" Type="http://schemas.openxmlformats.org/officeDocument/2006/relationships/package" Target="../embeddings/Microsoft_Excel_Sheet1153.xlsx"/></Relationships>
</file>

<file path=ppt/charts/_rels/chart1154.xml.rels><?xml version='1.0' encoding='UTF-8' standalone='yes'?>
<Relationships xmlns="http://schemas.openxmlformats.org/package/2006/relationships"><Relationship Id="rId1" Type="http://schemas.openxmlformats.org/officeDocument/2006/relationships/package" Target="../embeddings/Microsoft_Excel_Sheet1154.xlsx"/></Relationships>
</file>

<file path=ppt/charts/_rels/chart1155.xml.rels><?xml version='1.0' encoding='UTF-8' standalone='yes'?>
<Relationships xmlns="http://schemas.openxmlformats.org/package/2006/relationships"><Relationship Id="rId1" Type="http://schemas.openxmlformats.org/officeDocument/2006/relationships/package" Target="../embeddings/Microsoft_Excel_Sheet1155.xlsx"/></Relationships>
</file>

<file path=ppt/charts/_rels/chart1156.xml.rels><?xml version='1.0' encoding='UTF-8' standalone='yes'?>
<Relationships xmlns="http://schemas.openxmlformats.org/package/2006/relationships"><Relationship Id="rId1" Type="http://schemas.openxmlformats.org/officeDocument/2006/relationships/package" Target="../embeddings/Microsoft_Excel_Sheet1156.xlsx"/></Relationships>
</file>

<file path=ppt/charts/_rels/chart1157.xml.rels><?xml version='1.0' encoding='UTF-8' standalone='yes'?>
<Relationships xmlns="http://schemas.openxmlformats.org/package/2006/relationships"><Relationship Id="rId1" Type="http://schemas.openxmlformats.org/officeDocument/2006/relationships/package" Target="../embeddings/Microsoft_Excel_Sheet1157.xlsx"/></Relationships>
</file>

<file path=ppt/charts/_rels/chart1158.xml.rels><?xml version='1.0' encoding='UTF-8' standalone='yes'?>
<Relationships xmlns="http://schemas.openxmlformats.org/package/2006/relationships"><Relationship Id="rId1" Type="http://schemas.openxmlformats.org/officeDocument/2006/relationships/package" Target="../embeddings/Microsoft_Excel_Sheet1158.xlsx"/></Relationships>
</file>

<file path=ppt/charts/_rels/chart1159.xml.rels><?xml version='1.0' encoding='UTF-8' standalone='yes'?>
<Relationships xmlns="http://schemas.openxmlformats.org/package/2006/relationships"><Relationship Id="rId1" Type="http://schemas.openxmlformats.org/officeDocument/2006/relationships/package" Target="../embeddings/Microsoft_Excel_Sheet1159.xlsx"/></Relationships>
</file>

<file path=ppt/charts/_rels/chart1160.xml.rels><?xml version='1.0' encoding='UTF-8' standalone='yes'?>
<Relationships xmlns="http://schemas.openxmlformats.org/package/2006/relationships"><Relationship Id="rId1" Type="http://schemas.openxmlformats.org/officeDocument/2006/relationships/package" Target="../embeddings/Microsoft_Excel_Sheet1160.xlsx"/></Relationships>
</file>

<file path=ppt/charts/_rels/chart1161.xml.rels><?xml version='1.0' encoding='UTF-8' standalone='yes'?>
<Relationships xmlns="http://schemas.openxmlformats.org/package/2006/relationships"><Relationship Id="rId1" Type="http://schemas.openxmlformats.org/officeDocument/2006/relationships/package" Target="../embeddings/Microsoft_Excel_Sheet1161.xlsx"/></Relationships>
</file>

<file path=ppt/charts/_rels/chart1162.xml.rels><?xml version='1.0' encoding='UTF-8' standalone='yes'?>
<Relationships xmlns="http://schemas.openxmlformats.org/package/2006/relationships"><Relationship Id="rId1" Type="http://schemas.openxmlformats.org/officeDocument/2006/relationships/package" Target="../embeddings/Microsoft_Excel_Sheet1162.xlsx"/></Relationships>
</file>

<file path=ppt/charts/_rels/chart1163.xml.rels><?xml version='1.0' encoding='UTF-8' standalone='yes'?>
<Relationships xmlns="http://schemas.openxmlformats.org/package/2006/relationships"><Relationship Id="rId1" Type="http://schemas.openxmlformats.org/officeDocument/2006/relationships/package" Target="../embeddings/Microsoft_Excel_Sheet1163.xlsx"/></Relationships>
</file>

<file path=ppt/charts/_rels/chart1164.xml.rels><?xml version='1.0' encoding='UTF-8' standalone='yes'?>
<Relationships xmlns="http://schemas.openxmlformats.org/package/2006/relationships"><Relationship Id="rId1" Type="http://schemas.openxmlformats.org/officeDocument/2006/relationships/package" Target="../embeddings/Microsoft_Excel_Sheet1164.xlsx"/></Relationships>
</file>

<file path=ppt/charts/_rels/chart1165.xml.rels><?xml version='1.0' encoding='UTF-8' standalone='yes'?>
<Relationships xmlns="http://schemas.openxmlformats.org/package/2006/relationships"><Relationship Id="rId1" Type="http://schemas.openxmlformats.org/officeDocument/2006/relationships/package" Target="../embeddings/Microsoft_Excel_Sheet1165.xlsx"/></Relationships>
</file>

<file path=ppt/charts/_rels/chart1166.xml.rels><?xml version='1.0' encoding='UTF-8' standalone='yes'?>
<Relationships xmlns="http://schemas.openxmlformats.org/package/2006/relationships"><Relationship Id="rId1" Type="http://schemas.openxmlformats.org/officeDocument/2006/relationships/package" Target="../embeddings/Microsoft_Excel_Sheet1166.xlsx"/></Relationships>
</file>

<file path=ppt/charts/_rels/chart1167.xml.rels><?xml version='1.0' encoding='UTF-8' standalone='yes'?>
<Relationships xmlns="http://schemas.openxmlformats.org/package/2006/relationships"><Relationship Id="rId1" Type="http://schemas.openxmlformats.org/officeDocument/2006/relationships/package" Target="../embeddings/Microsoft_Excel_Sheet1167.xlsx"/></Relationships>
</file>

<file path=ppt/charts/_rels/chart1168.xml.rels><?xml version='1.0' encoding='UTF-8' standalone='yes'?>
<Relationships xmlns="http://schemas.openxmlformats.org/package/2006/relationships"><Relationship Id="rId1" Type="http://schemas.openxmlformats.org/officeDocument/2006/relationships/package" Target="../embeddings/Microsoft_Excel_Sheet1168.xlsx"/></Relationships>
</file>

<file path=ppt/charts/_rels/chart1169.xml.rels><?xml version='1.0' encoding='UTF-8' standalone='yes'?>
<Relationships xmlns="http://schemas.openxmlformats.org/package/2006/relationships"><Relationship Id="rId1" Type="http://schemas.openxmlformats.org/officeDocument/2006/relationships/package" Target="../embeddings/Microsoft_Excel_Sheet1169.xlsx"/></Relationships>
</file>

<file path=ppt/charts/_rels/chart1170.xml.rels><?xml version='1.0' encoding='UTF-8' standalone='yes'?>
<Relationships xmlns="http://schemas.openxmlformats.org/package/2006/relationships"><Relationship Id="rId1" Type="http://schemas.openxmlformats.org/officeDocument/2006/relationships/package" Target="../embeddings/Microsoft_Excel_Sheet1170.xlsx"/></Relationships>
</file>

<file path=ppt/charts/_rels/chart1171.xml.rels><?xml version='1.0' encoding='UTF-8' standalone='yes'?>
<Relationships xmlns="http://schemas.openxmlformats.org/package/2006/relationships"><Relationship Id="rId1" Type="http://schemas.openxmlformats.org/officeDocument/2006/relationships/package" Target="../embeddings/Microsoft_Excel_Sheet1171.xlsx"/></Relationships>
</file>

<file path=ppt/charts/_rels/chart1172.xml.rels><?xml version='1.0' encoding='UTF-8' standalone='yes'?>
<Relationships xmlns="http://schemas.openxmlformats.org/package/2006/relationships"><Relationship Id="rId1" Type="http://schemas.openxmlformats.org/officeDocument/2006/relationships/package" Target="../embeddings/Microsoft_Excel_Sheet1172.xlsx"/></Relationships>
</file>

<file path=ppt/charts/_rels/chart1173.xml.rels><?xml version='1.0' encoding='UTF-8' standalone='yes'?>
<Relationships xmlns="http://schemas.openxmlformats.org/package/2006/relationships"><Relationship Id="rId1" Type="http://schemas.openxmlformats.org/officeDocument/2006/relationships/package" Target="../embeddings/Microsoft_Excel_Sheet1173.xlsx"/></Relationships>
</file>

<file path=ppt/charts/_rels/chart1174.xml.rels><?xml version='1.0' encoding='UTF-8' standalone='yes'?>
<Relationships xmlns="http://schemas.openxmlformats.org/package/2006/relationships"><Relationship Id="rId1" Type="http://schemas.openxmlformats.org/officeDocument/2006/relationships/package" Target="../embeddings/Microsoft_Excel_Sheet1174.xlsx"/></Relationships>
</file>

<file path=ppt/charts/_rels/chart1175.xml.rels><?xml version='1.0' encoding='UTF-8' standalone='yes'?>
<Relationships xmlns="http://schemas.openxmlformats.org/package/2006/relationships"><Relationship Id="rId1" Type="http://schemas.openxmlformats.org/officeDocument/2006/relationships/package" Target="../embeddings/Microsoft_Excel_Sheet1175.xlsx"/></Relationships>
</file>

<file path=ppt/charts/_rels/chart1176.xml.rels><?xml version='1.0' encoding='UTF-8' standalone='yes'?>
<Relationships xmlns="http://schemas.openxmlformats.org/package/2006/relationships"><Relationship Id="rId1" Type="http://schemas.openxmlformats.org/officeDocument/2006/relationships/package" Target="../embeddings/Microsoft_Excel_Sheet1176.xlsx"/></Relationships>
</file>

<file path=ppt/charts/_rels/chart1177.xml.rels><?xml version='1.0' encoding='UTF-8' standalone='yes'?>
<Relationships xmlns="http://schemas.openxmlformats.org/package/2006/relationships"><Relationship Id="rId1" Type="http://schemas.openxmlformats.org/officeDocument/2006/relationships/package" Target="../embeddings/Microsoft_Excel_Sheet1177.xlsx"/></Relationships>
</file>

<file path=ppt/charts/_rels/chart1178.xml.rels><?xml version='1.0' encoding='UTF-8' standalone='yes'?>
<Relationships xmlns="http://schemas.openxmlformats.org/package/2006/relationships"><Relationship Id="rId1" Type="http://schemas.openxmlformats.org/officeDocument/2006/relationships/package" Target="../embeddings/Microsoft_Excel_Sheet1178.xlsx"/></Relationships>
</file>

<file path=ppt/charts/_rels/chart1179.xml.rels><?xml version='1.0' encoding='UTF-8' standalone='yes'?>
<Relationships xmlns="http://schemas.openxmlformats.org/package/2006/relationships"><Relationship Id="rId1" Type="http://schemas.openxmlformats.org/officeDocument/2006/relationships/package" Target="../embeddings/Microsoft_Excel_Sheet1179.xlsx"/></Relationships>
</file>

<file path=ppt/charts/_rels/chart1180.xml.rels><?xml version='1.0' encoding='UTF-8' standalone='yes'?>
<Relationships xmlns="http://schemas.openxmlformats.org/package/2006/relationships"><Relationship Id="rId1" Type="http://schemas.openxmlformats.org/officeDocument/2006/relationships/package" Target="../embeddings/Microsoft_Excel_Sheet1180.xlsx"/></Relationships>
</file>

<file path=ppt/charts/_rels/chart1181.xml.rels><?xml version='1.0' encoding='UTF-8' standalone='yes'?>
<Relationships xmlns="http://schemas.openxmlformats.org/package/2006/relationships"><Relationship Id="rId1" Type="http://schemas.openxmlformats.org/officeDocument/2006/relationships/package" Target="../embeddings/Microsoft_Excel_Sheet1181.xlsx"/></Relationships>
</file>

<file path=ppt/charts/_rels/chart1182.xml.rels><?xml version='1.0' encoding='UTF-8' standalone='yes'?>
<Relationships xmlns="http://schemas.openxmlformats.org/package/2006/relationships"><Relationship Id="rId1" Type="http://schemas.openxmlformats.org/officeDocument/2006/relationships/package" Target="../embeddings/Microsoft_Excel_Sheet1182.xlsx"/></Relationships>
</file>

<file path=ppt/charts/_rels/chart1183.xml.rels><?xml version='1.0' encoding='UTF-8' standalone='yes'?>
<Relationships xmlns="http://schemas.openxmlformats.org/package/2006/relationships"><Relationship Id="rId1" Type="http://schemas.openxmlformats.org/officeDocument/2006/relationships/package" Target="../embeddings/Microsoft_Excel_Sheet1183.xlsx"/></Relationships>
</file>

<file path=ppt/charts/_rels/chart1184.xml.rels><?xml version='1.0' encoding='UTF-8' standalone='yes'?>
<Relationships xmlns="http://schemas.openxmlformats.org/package/2006/relationships"><Relationship Id="rId1" Type="http://schemas.openxmlformats.org/officeDocument/2006/relationships/package" Target="../embeddings/Microsoft_Excel_Sheet1184.xlsx"/></Relationships>
</file>

<file path=ppt/charts/_rels/chart1185.xml.rels><?xml version='1.0' encoding='UTF-8' standalone='yes'?>
<Relationships xmlns="http://schemas.openxmlformats.org/package/2006/relationships"><Relationship Id="rId1" Type="http://schemas.openxmlformats.org/officeDocument/2006/relationships/package" Target="../embeddings/Microsoft_Excel_Sheet1185.xlsx"/></Relationships>
</file>

<file path=ppt/charts/_rels/chart1186.xml.rels><?xml version='1.0' encoding='UTF-8' standalone='yes'?>
<Relationships xmlns="http://schemas.openxmlformats.org/package/2006/relationships"><Relationship Id="rId1" Type="http://schemas.openxmlformats.org/officeDocument/2006/relationships/package" Target="../embeddings/Microsoft_Excel_Sheet1186.xlsx"/></Relationships>
</file>

<file path=ppt/charts/_rels/chart1187.xml.rels><?xml version='1.0' encoding='UTF-8' standalone='yes'?>
<Relationships xmlns="http://schemas.openxmlformats.org/package/2006/relationships"><Relationship Id="rId1" Type="http://schemas.openxmlformats.org/officeDocument/2006/relationships/package" Target="../embeddings/Microsoft_Excel_Sheet1187.xlsx"/></Relationships>
</file>

<file path=ppt/charts/_rels/chart1188.xml.rels><?xml version='1.0' encoding='UTF-8' standalone='yes'?>
<Relationships xmlns="http://schemas.openxmlformats.org/package/2006/relationships"><Relationship Id="rId1" Type="http://schemas.openxmlformats.org/officeDocument/2006/relationships/package" Target="../embeddings/Microsoft_Excel_Sheet1188.xlsx"/></Relationships>
</file>

<file path=ppt/charts/_rels/chart1189.xml.rels><?xml version='1.0' encoding='UTF-8' standalone='yes'?>
<Relationships xmlns="http://schemas.openxmlformats.org/package/2006/relationships"><Relationship Id="rId1" Type="http://schemas.openxmlformats.org/officeDocument/2006/relationships/package" Target="../embeddings/Microsoft_Excel_Sheet1189.xlsx"/></Relationships>
</file>

<file path=ppt/charts/_rels/chart1190.xml.rels><?xml version='1.0' encoding='UTF-8' standalone='yes'?>
<Relationships xmlns="http://schemas.openxmlformats.org/package/2006/relationships"><Relationship Id="rId1" Type="http://schemas.openxmlformats.org/officeDocument/2006/relationships/package" Target="../embeddings/Microsoft_Excel_Sheet1190.xlsx"/></Relationships>
</file>

<file path=ppt/charts/_rels/chart1191.xml.rels><?xml version='1.0' encoding='UTF-8' standalone='yes'?>
<Relationships xmlns="http://schemas.openxmlformats.org/package/2006/relationships"><Relationship Id="rId1" Type="http://schemas.openxmlformats.org/officeDocument/2006/relationships/package" Target="../embeddings/Microsoft_Excel_Sheet1191.xlsx"/></Relationships>
</file>

<file path=ppt/charts/_rels/chart1192.xml.rels><?xml version='1.0' encoding='UTF-8' standalone='yes'?>
<Relationships xmlns="http://schemas.openxmlformats.org/package/2006/relationships"><Relationship Id="rId1" Type="http://schemas.openxmlformats.org/officeDocument/2006/relationships/package" Target="../embeddings/Microsoft_Excel_Sheet1192.xlsx"/></Relationships>
</file>

<file path=ppt/charts/_rels/chart1193.xml.rels><?xml version='1.0' encoding='UTF-8' standalone='yes'?>
<Relationships xmlns="http://schemas.openxmlformats.org/package/2006/relationships"><Relationship Id="rId1" Type="http://schemas.openxmlformats.org/officeDocument/2006/relationships/package" Target="../embeddings/Microsoft_Excel_Sheet1193.xlsx"/></Relationships>
</file>

<file path=ppt/charts/_rels/chart1194.xml.rels><?xml version='1.0' encoding='UTF-8' standalone='yes'?>
<Relationships xmlns="http://schemas.openxmlformats.org/package/2006/relationships"><Relationship Id="rId1" Type="http://schemas.openxmlformats.org/officeDocument/2006/relationships/package" Target="../embeddings/Microsoft_Excel_Sheet1194.xlsx"/></Relationships>
</file>

<file path=ppt/charts/_rels/chart1195.xml.rels><?xml version='1.0' encoding='UTF-8' standalone='yes'?>
<Relationships xmlns="http://schemas.openxmlformats.org/package/2006/relationships"><Relationship Id="rId1" Type="http://schemas.openxmlformats.org/officeDocument/2006/relationships/package" Target="../embeddings/Microsoft_Excel_Sheet1195.xlsx"/></Relationships>
</file>

<file path=ppt/charts/_rels/chart1196.xml.rels><?xml version='1.0' encoding='UTF-8' standalone='yes'?>
<Relationships xmlns="http://schemas.openxmlformats.org/package/2006/relationships"><Relationship Id="rId1" Type="http://schemas.openxmlformats.org/officeDocument/2006/relationships/package" Target="../embeddings/Microsoft_Excel_Sheet1196.xlsx"/></Relationships>
</file>

<file path=ppt/charts/_rels/chart1197.xml.rels><?xml version='1.0' encoding='UTF-8' standalone='yes'?>
<Relationships xmlns="http://schemas.openxmlformats.org/package/2006/relationships"><Relationship Id="rId1" Type="http://schemas.openxmlformats.org/officeDocument/2006/relationships/package" Target="../embeddings/Microsoft_Excel_Sheet1197.xlsx"/></Relationships>
</file>

<file path=ppt/charts/_rels/chart1198.xml.rels><?xml version='1.0' encoding='UTF-8' standalone='yes'?>
<Relationships xmlns="http://schemas.openxmlformats.org/package/2006/relationships"><Relationship Id="rId1" Type="http://schemas.openxmlformats.org/officeDocument/2006/relationships/package" Target="../embeddings/Microsoft_Excel_Sheet1198.xlsx"/></Relationships>
</file>

<file path=ppt/charts/_rels/chart1199.xml.rels><?xml version='1.0' encoding='UTF-8' standalone='yes'?>
<Relationships xmlns="http://schemas.openxmlformats.org/package/2006/relationships"><Relationship Id="rId1" Type="http://schemas.openxmlformats.org/officeDocument/2006/relationships/package" Target="../embeddings/Microsoft_Excel_Sheet1199.xlsx"/></Relationships>
</file>

<file path=ppt/charts/_rels/chart1200.xml.rels><?xml version='1.0' encoding='UTF-8' standalone='yes'?>
<Relationships xmlns="http://schemas.openxmlformats.org/package/2006/relationships"><Relationship Id="rId1" Type="http://schemas.openxmlformats.org/officeDocument/2006/relationships/package" Target="../embeddings/Microsoft_Excel_Sheet1200.xlsx"/></Relationships>
</file>

<file path=ppt/charts/_rels/chart1201.xml.rels><?xml version='1.0' encoding='UTF-8' standalone='yes'?>
<Relationships xmlns="http://schemas.openxmlformats.org/package/2006/relationships"><Relationship Id="rId1" Type="http://schemas.openxmlformats.org/officeDocument/2006/relationships/package" Target="../embeddings/Microsoft_Excel_Sheet1201.xlsx"/></Relationships>
</file>

<file path=ppt/charts/_rels/chart1202.xml.rels><?xml version='1.0' encoding='UTF-8' standalone='yes'?>
<Relationships xmlns="http://schemas.openxmlformats.org/package/2006/relationships"><Relationship Id="rId1" Type="http://schemas.openxmlformats.org/officeDocument/2006/relationships/package" Target="../embeddings/Microsoft_Excel_Sheet1202.xlsx"/></Relationships>
</file>

<file path=ppt/charts/_rels/chart1203.xml.rels><?xml version='1.0' encoding='UTF-8' standalone='yes'?>
<Relationships xmlns="http://schemas.openxmlformats.org/package/2006/relationships"><Relationship Id="rId1" Type="http://schemas.openxmlformats.org/officeDocument/2006/relationships/package" Target="../embeddings/Microsoft_Excel_Sheet1203.xlsx"/></Relationships>
</file>

<file path=ppt/charts/_rels/chart1204.xml.rels><?xml version='1.0' encoding='UTF-8' standalone='yes'?>
<Relationships xmlns="http://schemas.openxmlformats.org/package/2006/relationships"><Relationship Id="rId1" Type="http://schemas.openxmlformats.org/officeDocument/2006/relationships/package" Target="../embeddings/Microsoft_Excel_Sheet1204.xlsx"/></Relationships>
</file>

<file path=ppt/charts/_rels/chart1205.xml.rels><?xml version='1.0' encoding='UTF-8' standalone='yes'?>
<Relationships xmlns="http://schemas.openxmlformats.org/package/2006/relationships"><Relationship Id="rId1" Type="http://schemas.openxmlformats.org/officeDocument/2006/relationships/package" Target="../embeddings/Microsoft_Excel_Sheet1205.xlsx"/></Relationships>
</file>

<file path=ppt/charts/_rels/chart1206.xml.rels><?xml version='1.0' encoding='UTF-8' standalone='yes'?>
<Relationships xmlns="http://schemas.openxmlformats.org/package/2006/relationships"><Relationship Id="rId1" Type="http://schemas.openxmlformats.org/officeDocument/2006/relationships/package" Target="../embeddings/Microsoft_Excel_Sheet1206.xlsx"/></Relationships>
</file>

<file path=ppt/charts/_rels/chart1207.xml.rels><?xml version='1.0' encoding='UTF-8' standalone='yes'?>
<Relationships xmlns="http://schemas.openxmlformats.org/package/2006/relationships"><Relationship Id="rId1" Type="http://schemas.openxmlformats.org/officeDocument/2006/relationships/package" Target="../embeddings/Microsoft_Excel_Sheet1207.xlsx"/></Relationships>
</file>

<file path=ppt/charts/_rels/chart1208.xml.rels><?xml version='1.0' encoding='UTF-8' standalone='yes'?>
<Relationships xmlns="http://schemas.openxmlformats.org/package/2006/relationships"><Relationship Id="rId1" Type="http://schemas.openxmlformats.org/officeDocument/2006/relationships/package" Target="../embeddings/Microsoft_Excel_Sheet1208.xlsx"/></Relationships>
</file>

<file path=ppt/charts/_rels/chart1209.xml.rels><?xml version='1.0' encoding='UTF-8' standalone='yes'?>
<Relationships xmlns="http://schemas.openxmlformats.org/package/2006/relationships"><Relationship Id="rId1" Type="http://schemas.openxmlformats.org/officeDocument/2006/relationships/package" Target="../embeddings/Microsoft_Excel_Sheet1209.xlsx"/></Relationships>
</file>

<file path=ppt/charts/_rels/chart1210.xml.rels><?xml version='1.0' encoding='UTF-8' standalone='yes'?>
<Relationships xmlns="http://schemas.openxmlformats.org/package/2006/relationships"><Relationship Id="rId1" Type="http://schemas.openxmlformats.org/officeDocument/2006/relationships/package" Target="../embeddings/Microsoft_Excel_Sheet1210.xlsx"/></Relationships>
</file>

<file path=ppt/charts/_rels/chart1211.xml.rels><?xml version='1.0' encoding='UTF-8' standalone='yes'?>
<Relationships xmlns="http://schemas.openxmlformats.org/package/2006/relationships"><Relationship Id="rId1" Type="http://schemas.openxmlformats.org/officeDocument/2006/relationships/package" Target="../embeddings/Microsoft_Excel_Sheet1211.xlsx"/></Relationships>
</file>

<file path=ppt/charts/_rels/chart1212.xml.rels><?xml version='1.0' encoding='UTF-8' standalone='yes'?>
<Relationships xmlns="http://schemas.openxmlformats.org/package/2006/relationships"><Relationship Id="rId1" Type="http://schemas.openxmlformats.org/officeDocument/2006/relationships/package" Target="../embeddings/Microsoft_Excel_Sheet1212.xlsx"/></Relationships>
</file>

<file path=ppt/charts/_rels/chart1213.xml.rels><?xml version='1.0' encoding='UTF-8' standalone='yes'?>
<Relationships xmlns="http://schemas.openxmlformats.org/package/2006/relationships"><Relationship Id="rId1" Type="http://schemas.openxmlformats.org/officeDocument/2006/relationships/package" Target="../embeddings/Microsoft_Excel_Sheet1213.xlsx"/></Relationships>
</file>

<file path=ppt/charts/_rels/chart1214.xml.rels><?xml version='1.0' encoding='UTF-8' standalone='yes'?>
<Relationships xmlns="http://schemas.openxmlformats.org/package/2006/relationships"><Relationship Id="rId1" Type="http://schemas.openxmlformats.org/officeDocument/2006/relationships/package" Target="../embeddings/Microsoft_Excel_Sheet1214.xlsx"/></Relationships>
</file>

<file path=ppt/charts/_rels/chart1215.xml.rels><?xml version='1.0' encoding='UTF-8' standalone='yes'?>
<Relationships xmlns="http://schemas.openxmlformats.org/package/2006/relationships"><Relationship Id="rId1" Type="http://schemas.openxmlformats.org/officeDocument/2006/relationships/package" Target="../embeddings/Microsoft_Excel_Sheet1215.xlsx"/></Relationships>
</file>

<file path=ppt/charts/_rels/chart1216.xml.rels><?xml version='1.0' encoding='UTF-8' standalone='yes'?>
<Relationships xmlns="http://schemas.openxmlformats.org/package/2006/relationships"><Relationship Id="rId1" Type="http://schemas.openxmlformats.org/officeDocument/2006/relationships/package" Target="../embeddings/Microsoft_Excel_Sheet1216.xlsx"/></Relationships>
</file>

<file path=ppt/charts/_rels/chart1217.xml.rels><?xml version='1.0' encoding='UTF-8' standalone='yes'?>
<Relationships xmlns="http://schemas.openxmlformats.org/package/2006/relationships"><Relationship Id="rId1" Type="http://schemas.openxmlformats.org/officeDocument/2006/relationships/package" Target="../embeddings/Microsoft_Excel_Sheet1217.xlsx"/></Relationships>
</file>

<file path=ppt/charts/_rels/chart1218.xml.rels><?xml version='1.0' encoding='UTF-8' standalone='yes'?>
<Relationships xmlns="http://schemas.openxmlformats.org/package/2006/relationships"><Relationship Id="rId1" Type="http://schemas.openxmlformats.org/officeDocument/2006/relationships/package" Target="../embeddings/Microsoft_Excel_Sheet1218.xlsx"/></Relationships>
</file>

<file path=ppt/charts/_rels/chart1219.xml.rels><?xml version='1.0' encoding='UTF-8' standalone='yes'?>
<Relationships xmlns="http://schemas.openxmlformats.org/package/2006/relationships"><Relationship Id="rId1" Type="http://schemas.openxmlformats.org/officeDocument/2006/relationships/package" Target="../embeddings/Microsoft_Excel_Sheet1219.xlsx"/></Relationships>
</file>

<file path=ppt/charts/_rels/chart1220.xml.rels><?xml version='1.0' encoding='UTF-8' standalone='yes'?>
<Relationships xmlns="http://schemas.openxmlformats.org/package/2006/relationships"><Relationship Id="rId1" Type="http://schemas.openxmlformats.org/officeDocument/2006/relationships/package" Target="../embeddings/Microsoft_Excel_Sheet1220.xlsx"/></Relationships>
</file>

<file path=ppt/charts/_rels/chart1221.xml.rels><?xml version='1.0' encoding='UTF-8' standalone='yes'?>
<Relationships xmlns="http://schemas.openxmlformats.org/package/2006/relationships"><Relationship Id="rId1" Type="http://schemas.openxmlformats.org/officeDocument/2006/relationships/package" Target="../embeddings/Microsoft_Excel_Sheet1221.xlsx"/></Relationships>
</file>

<file path=ppt/charts/_rels/chart1222.xml.rels><?xml version='1.0' encoding='UTF-8' standalone='yes'?>
<Relationships xmlns="http://schemas.openxmlformats.org/package/2006/relationships"><Relationship Id="rId1" Type="http://schemas.openxmlformats.org/officeDocument/2006/relationships/package" Target="../embeddings/Microsoft_Excel_Sheet1222.xlsx"/></Relationships>
</file>

<file path=ppt/charts/_rels/chart1223.xml.rels><?xml version='1.0' encoding='UTF-8' standalone='yes'?>
<Relationships xmlns="http://schemas.openxmlformats.org/package/2006/relationships"><Relationship Id="rId1" Type="http://schemas.openxmlformats.org/officeDocument/2006/relationships/package" Target="../embeddings/Microsoft_Excel_Sheet1223.xlsx"/></Relationships>
</file>

<file path=ppt/charts/_rels/chart1224.xml.rels><?xml version='1.0' encoding='UTF-8' standalone='yes'?>
<Relationships xmlns="http://schemas.openxmlformats.org/package/2006/relationships"><Relationship Id="rId1" Type="http://schemas.openxmlformats.org/officeDocument/2006/relationships/package" Target="../embeddings/Microsoft_Excel_Sheet1224.xlsx"/></Relationships>
</file>

<file path=ppt/charts/_rels/chart1225.xml.rels><?xml version='1.0' encoding='UTF-8' standalone='yes'?>
<Relationships xmlns="http://schemas.openxmlformats.org/package/2006/relationships"><Relationship Id="rId1" Type="http://schemas.openxmlformats.org/officeDocument/2006/relationships/package" Target="../embeddings/Microsoft_Excel_Sheet1225.xlsx"/></Relationships>
</file>

<file path=ppt/charts/_rels/chart1226.xml.rels><?xml version='1.0' encoding='UTF-8' standalone='yes'?>
<Relationships xmlns="http://schemas.openxmlformats.org/package/2006/relationships"><Relationship Id="rId1" Type="http://schemas.openxmlformats.org/officeDocument/2006/relationships/package" Target="../embeddings/Microsoft_Excel_Sheet1226.xlsx"/></Relationships>
</file>

<file path=ppt/charts/_rels/chart1227.xml.rels><?xml version='1.0' encoding='UTF-8' standalone='yes'?>
<Relationships xmlns="http://schemas.openxmlformats.org/package/2006/relationships"><Relationship Id="rId1" Type="http://schemas.openxmlformats.org/officeDocument/2006/relationships/package" Target="../embeddings/Microsoft_Excel_Sheet1227.xlsx"/></Relationships>
</file>

<file path=ppt/charts/_rels/chart1228.xml.rels><?xml version='1.0' encoding='UTF-8' standalone='yes'?>
<Relationships xmlns="http://schemas.openxmlformats.org/package/2006/relationships"><Relationship Id="rId1" Type="http://schemas.openxmlformats.org/officeDocument/2006/relationships/package" Target="../embeddings/Microsoft_Excel_Sheet1228.xlsx"/></Relationships>
</file>

<file path=ppt/charts/_rels/chart1229.xml.rels><?xml version='1.0' encoding='UTF-8' standalone='yes'?>
<Relationships xmlns="http://schemas.openxmlformats.org/package/2006/relationships"><Relationship Id="rId1" Type="http://schemas.openxmlformats.org/officeDocument/2006/relationships/package" Target="../embeddings/Microsoft_Excel_Sheet1229.xlsx"/></Relationships>
</file>

<file path=ppt/charts/_rels/chart1230.xml.rels><?xml version='1.0' encoding='UTF-8' standalone='yes'?>
<Relationships xmlns="http://schemas.openxmlformats.org/package/2006/relationships"><Relationship Id="rId1" Type="http://schemas.openxmlformats.org/officeDocument/2006/relationships/package" Target="../embeddings/Microsoft_Excel_Sheet1230.xlsx"/></Relationships>
</file>

<file path=ppt/charts/_rels/chart1231.xml.rels><?xml version='1.0' encoding='UTF-8' standalone='yes'?>
<Relationships xmlns="http://schemas.openxmlformats.org/package/2006/relationships"><Relationship Id="rId1" Type="http://schemas.openxmlformats.org/officeDocument/2006/relationships/package" Target="../embeddings/Microsoft_Excel_Sheet1231.xlsx"/></Relationships>
</file>

<file path=ppt/charts/_rels/chart1232.xml.rels><?xml version='1.0' encoding='UTF-8' standalone='yes'?>
<Relationships xmlns="http://schemas.openxmlformats.org/package/2006/relationships"><Relationship Id="rId1" Type="http://schemas.openxmlformats.org/officeDocument/2006/relationships/package" Target="../embeddings/Microsoft_Excel_Sheet1232.xlsx"/></Relationships>
</file>

<file path=ppt/charts/_rels/chart1233.xml.rels><?xml version='1.0' encoding='UTF-8' standalone='yes'?>
<Relationships xmlns="http://schemas.openxmlformats.org/package/2006/relationships"><Relationship Id="rId1" Type="http://schemas.openxmlformats.org/officeDocument/2006/relationships/package" Target="../embeddings/Microsoft_Excel_Sheet1233.xlsx"/></Relationships>
</file>

<file path=ppt/charts/_rels/chart1234.xml.rels><?xml version='1.0' encoding='UTF-8' standalone='yes'?>
<Relationships xmlns="http://schemas.openxmlformats.org/package/2006/relationships"><Relationship Id="rId1" Type="http://schemas.openxmlformats.org/officeDocument/2006/relationships/package" Target="../embeddings/Microsoft_Excel_Sheet1234.xlsx"/></Relationships>
</file>

<file path=ppt/charts/_rels/chart1235.xml.rels><?xml version='1.0' encoding='UTF-8' standalone='yes'?>
<Relationships xmlns="http://schemas.openxmlformats.org/package/2006/relationships"><Relationship Id="rId1" Type="http://schemas.openxmlformats.org/officeDocument/2006/relationships/package" Target="../embeddings/Microsoft_Excel_Sheet1235.xlsx"/></Relationships>
</file>

<file path=ppt/charts/_rels/chart1236.xml.rels><?xml version='1.0' encoding='UTF-8' standalone='yes'?>
<Relationships xmlns="http://schemas.openxmlformats.org/package/2006/relationships"><Relationship Id="rId1" Type="http://schemas.openxmlformats.org/officeDocument/2006/relationships/package" Target="../embeddings/Microsoft_Excel_Sheet1236.xlsx"/></Relationships>
</file>

<file path=ppt/charts/_rels/chart1237.xml.rels><?xml version='1.0' encoding='UTF-8' standalone='yes'?>
<Relationships xmlns="http://schemas.openxmlformats.org/package/2006/relationships"><Relationship Id="rId1" Type="http://schemas.openxmlformats.org/officeDocument/2006/relationships/package" Target="../embeddings/Microsoft_Excel_Sheet1237.xlsx"/></Relationships>
</file>

<file path=ppt/charts/_rels/chart1238.xml.rels><?xml version='1.0' encoding='UTF-8' standalone='yes'?>
<Relationships xmlns="http://schemas.openxmlformats.org/package/2006/relationships"><Relationship Id="rId1" Type="http://schemas.openxmlformats.org/officeDocument/2006/relationships/package" Target="../embeddings/Microsoft_Excel_Sheet1238.xlsx"/></Relationships>
</file>

<file path=ppt/charts/_rels/chart1239.xml.rels><?xml version='1.0' encoding='UTF-8' standalone='yes'?>
<Relationships xmlns="http://schemas.openxmlformats.org/package/2006/relationships"><Relationship Id="rId1" Type="http://schemas.openxmlformats.org/officeDocument/2006/relationships/package" Target="../embeddings/Microsoft_Excel_Sheet1239.xlsx"/></Relationships>
</file>

<file path=ppt/charts/_rels/chart1240.xml.rels><?xml version='1.0' encoding='UTF-8' standalone='yes'?>
<Relationships xmlns="http://schemas.openxmlformats.org/package/2006/relationships"><Relationship Id="rId1" Type="http://schemas.openxmlformats.org/officeDocument/2006/relationships/package" Target="../embeddings/Microsoft_Excel_Sheet1240.xlsx"/></Relationships>
</file>

<file path=ppt/charts/_rels/chart1241.xml.rels><?xml version='1.0' encoding='UTF-8' standalone='yes'?>
<Relationships xmlns="http://schemas.openxmlformats.org/package/2006/relationships"><Relationship Id="rId1" Type="http://schemas.openxmlformats.org/officeDocument/2006/relationships/package" Target="../embeddings/Microsoft_Excel_Sheet1241.xlsx"/></Relationships>
</file>

<file path=ppt/charts/_rels/chart1242.xml.rels><?xml version='1.0' encoding='UTF-8' standalone='yes'?>
<Relationships xmlns="http://schemas.openxmlformats.org/package/2006/relationships"><Relationship Id="rId1" Type="http://schemas.openxmlformats.org/officeDocument/2006/relationships/package" Target="../embeddings/Microsoft_Excel_Sheet1242.xlsx"/></Relationships>
</file>

<file path=ppt/charts/_rels/chart1243.xml.rels><?xml version='1.0' encoding='UTF-8' standalone='yes'?>
<Relationships xmlns="http://schemas.openxmlformats.org/package/2006/relationships"><Relationship Id="rId1" Type="http://schemas.openxmlformats.org/officeDocument/2006/relationships/package" Target="../embeddings/Microsoft_Excel_Sheet1243.xlsx"/></Relationships>
</file>

<file path=ppt/charts/_rels/chart1244.xml.rels><?xml version='1.0' encoding='UTF-8' standalone='yes'?>
<Relationships xmlns="http://schemas.openxmlformats.org/package/2006/relationships"><Relationship Id="rId1" Type="http://schemas.openxmlformats.org/officeDocument/2006/relationships/package" Target="../embeddings/Microsoft_Excel_Sheet1244.xlsx"/></Relationships>
</file>

<file path=ppt/charts/_rels/chart1245.xml.rels><?xml version='1.0' encoding='UTF-8' standalone='yes'?>
<Relationships xmlns="http://schemas.openxmlformats.org/package/2006/relationships"><Relationship Id="rId1" Type="http://schemas.openxmlformats.org/officeDocument/2006/relationships/package" Target="../embeddings/Microsoft_Excel_Sheet1245.xlsx"/></Relationships>
</file>

<file path=ppt/charts/_rels/chart1246.xml.rels><?xml version='1.0' encoding='UTF-8' standalone='yes'?>
<Relationships xmlns="http://schemas.openxmlformats.org/package/2006/relationships"><Relationship Id="rId1" Type="http://schemas.openxmlformats.org/officeDocument/2006/relationships/package" Target="../embeddings/Microsoft_Excel_Sheet1246.xlsx"/></Relationships>
</file>

<file path=ppt/charts/_rels/chart1247.xml.rels><?xml version='1.0' encoding='UTF-8' standalone='yes'?>
<Relationships xmlns="http://schemas.openxmlformats.org/package/2006/relationships"><Relationship Id="rId1" Type="http://schemas.openxmlformats.org/officeDocument/2006/relationships/package" Target="../embeddings/Microsoft_Excel_Sheet1247.xlsx"/></Relationships>
</file>

<file path=ppt/charts/_rels/chart1248.xml.rels><?xml version='1.0' encoding='UTF-8' standalone='yes'?>
<Relationships xmlns="http://schemas.openxmlformats.org/package/2006/relationships"><Relationship Id="rId1" Type="http://schemas.openxmlformats.org/officeDocument/2006/relationships/package" Target="../embeddings/Microsoft_Excel_Sheet1248.xlsx"/></Relationships>
</file>

<file path=ppt/charts/_rels/chart1249.xml.rels><?xml version='1.0' encoding='UTF-8' standalone='yes'?>
<Relationships xmlns="http://schemas.openxmlformats.org/package/2006/relationships"><Relationship Id="rId1" Type="http://schemas.openxmlformats.org/officeDocument/2006/relationships/package" Target="../embeddings/Microsoft_Excel_Sheet1249.xlsx"/></Relationships>
</file>

<file path=ppt/charts/_rels/chart1250.xml.rels><?xml version='1.0' encoding='UTF-8' standalone='yes'?>
<Relationships xmlns="http://schemas.openxmlformats.org/package/2006/relationships"><Relationship Id="rId1" Type="http://schemas.openxmlformats.org/officeDocument/2006/relationships/package" Target="../embeddings/Microsoft_Excel_Sheet1250.xlsx"/></Relationships>
</file>

<file path=ppt/charts/_rels/chart1251.xml.rels><?xml version='1.0' encoding='UTF-8' standalone='yes'?>
<Relationships xmlns="http://schemas.openxmlformats.org/package/2006/relationships"><Relationship Id="rId1" Type="http://schemas.openxmlformats.org/officeDocument/2006/relationships/package" Target="../embeddings/Microsoft_Excel_Sheet1251.xlsx"/></Relationships>
</file>

<file path=ppt/charts/_rels/chart1252.xml.rels><?xml version='1.0' encoding='UTF-8' standalone='yes'?>
<Relationships xmlns="http://schemas.openxmlformats.org/package/2006/relationships"><Relationship Id="rId1" Type="http://schemas.openxmlformats.org/officeDocument/2006/relationships/package" Target="../embeddings/Microsoft_Excel_Sheet1252.xlsx"/></Relationships>
</file>

<file path=ppt/charts/_rels/chart1253.xml.rels><?xml version='1.0' encoding='UTF-8' standalone='yes'?>
<Relationships xmlns="http://schemas.openxmlformats.org/package/2006/relationships"><Relationship Id="rId1" Type="http://schemas.openxmlformats.org/officeDocument/2006/relationships/package" Target="../embeddings/Microsoft_Excel_Sheet1253.xlsx"/></Relationships>
</file>

<file path=ppt/charts/_rels/chart1254.xml.rels><?xml version='1.0' encoding='UTF-8' standalone='yes'?>
<Relationships xmlns="http://schemas.openxmlformats.org/package/2006/relationships"><Relationship Id="rId1" Type="http://schemas.openxmlformats.org/officeDocument/2006/relationships/package" Target="../embeddings/Microsoft_Excel_Sheet1254.xlsx"/></Relationships>
</file>

<file path=ppt/charts/_rels/chart1255.xml.rels><?xml version='1.0' encoding='UTF-8' standalone='yes'?>
<Relationships xmlns="http://schemas.openxmlformats.org/package/2006/relationships"><Relationship Id="rId1" Type="http://schemas.openxmlformats.org/officeDocument/2006/relationships/package" Target="../embeddings/Microsoft_Excel_Sheet1255.xlsx"/></Relationships>
</file>

<file path=ppt/charts/_rels/chart1256.xml.rels><?xml version='1.0' encoding='UTF-8' standalone='yes'?>
<Relationships xmlns="http://schemas.openxmlformats.org/package/2006/relationships"><Relationship Id="rId1" Type="http://schemas.openxmlformats.org/officeDocument/2006/relationships/package" Target="../embeddings/Microsoft_Excel_Sheet1256.xlsx"/></Relationships>
</file>

<file path=ppt/charts/_rels/chart1257.xml.rels><?xml version='1.0' encoding='UTF-8' standalone='yes'?>
<Relationships xmlns="http://schemas.openxmlformats.org/package/2006/relationships"><Relationship Id="rId1" Type="http://schemas.openxmlformats.org/officeDocument/2006/relationships/package" Target="../embeddings/Microsoft_Excel_Sheet1257.xlsx"/></Relationships>
</file>

<file path=ppt/charts/_rels/chart1258.xml.rels><?xml version='1.0' encoding='UTF-8' standalone='yes'?>
<Relationships xmlns="http://schemas.openxmlformats.org/package/2006/relationships"><Relationship Id="rId1" Type="http://schemas.openxmlformats.org/officeDocument/2006/relationships/package" Target="../embeddings/Microsoft_Excel_Sheet1258.xlsx"/></Relationships>
</file>

<file path=ppt/charts/_rels/chart1259.xml.rels><?xml version='1.0' encoding='UTF-8' standalone='yes'?>
<Relationships xmlns="http://schemas.openxmlformats.org/package/2006/relationships"><Relationship Id="rId1" Type="http://schemas.openxmlformats.org/officeDocument/2006/relationships/package" Target="../embeddings/Microsoft_Excel_Sheet1259.xlsx"/></Relationships>
</file>

<file path=ppt/charts/_rels/chart1260.xml.rels><?xml version='1.0' encoding='UTF-8' standalone='yes'?>
<Relationships xmlns="http://schemas.openxmlformats.org/package/2006/relationships"><Relationship Id="rId1" Type="http://schemas.openxmlformats.org/officeDocument/2006/relationships/package" Target="../embeddings/Microsoft_Excel_Sheet1260.xlsx"/></Relationships>
</file>

<file path=ppt/charts/_rels/chart1261.xml.rels><?xml version='1.0' encoding='UTF-8' standalone='yes'?>
<Relationships xmlns="http://schemas.openxmlformats.org/package/2006/relationships"><Relationship Id="rId1" Type="http://schemas.openxmlformats.org/officeDocument/2006/relationships/package" Target="../embeddings/Microsoft_Excel_Sheet1261.xlsx"/></Relationships>
</file>

<file path=ppt/charts/_rels/chart1262.xml.rels><?xml version='1.0' encoding='UTF-8' standalone='yes'?>
<Relationships xmlns="http://schemas.openxmlformats.org/package/2006/relationships"><Relationship Id="rId1" Type="http://schemas.openxmlformats.org/officeDocument/2006/relationships/package" Target="../embeddings/Microsoft_Excel_Sheet1262.xlsx"/></Relationships>
</file>

<file path=ppt/charts/_rels/chart1263.xml.rels><?xml version='1.0' encoding='UTF-8' standalone='yes'?>
<Relationships xmlns="http://schemas.openxmlformats.org/package/2006/relationships"><Relationship Id="rId1" Type="http://schemas.openxmlformats.org/officeDocument/2006/relationships/package" Target="../embeddings/Microsoft_Excel_Sheet1263.xlsx"/></Relationships>
</file>

<file path=ppt/charts/_rels/chart1264.xml.rels><?xml version='1.0' encoding='UTF-8' standalone='yes'?>
<Relationships xmlns="http://schemas.openxmlformats.org/package/2006/relationships"><Relationship Id="rId1" Type="http://schemas.openxmlformats.org/officeDocument/2006/relationships/package" Target="../embeddings/Microsoft_Excel_Sheet1264.xlsx"/></Relationships>
</file>

<file path=ppt/charts/_rels/chart1265.xml.rels><?xml version='1.0' encoding='UTF-8' standalone='yes'?>
<Relationships xmlns="http://schemas.openxmlformats.org/package/2006/relationships"><Relationship Id="rId1" Type="http://schemas.openxmlformats.org/officeDocument/2006/relationships/package" Target="../embeddings/Microsoft_Excel_Sheet1265.xlsx"/></Relationships>
</file>

<file path=ppt/charts/_rels/chart1266.xml.rels><?xml version='1.0' encoding='UTF-8' standalone='yes'?>
<Relationships xmlns="http://schemas.openxmlformats.org/package/2006/relationships"><Relationship Id="rId1" Type="http://schemas.openxmlformats.org/officeDocument/2006/relationships/package" Target="../embeddings/Microsoft_Excel_Sheet1266.xlsx"/></Relationships>
</file>

<file path=ppt/charts/_rels/chart1267.xml.rels><?xml version='1.0' encoding='UTF-8' standalone='yes'?>
<Relationships xmlns="http://schemas.openxmlformats.org/package/2006/relationships"><Relationship Id="rId1" Type="http://schemas.openxmlformats.org/officeDocument/2006/relationships/package" Target="../embeddings/Microsoft_Excel_Sheet1267.xlsx"/></Relationships>
</file>

<file path=ppt/charts/_rels/chart1268.xml.rels><?xml version='1.0' encoding='UTF-8' standalone='yes'?>
<Relationships xmlns="http://schemas.openxmlformats.org/package/2006/relationships"><Relationship Id="rId1" Type="http://schemas.openxmlformats.org/officeDocument/2006/relationships/package" Target="../embeddings/Microsoft_Excel_Sheet1268.xlsx"/></Relationships>
</file>

<file path=ppt/charts/_rels/chart1269.xml.rels><?xml version='1.0' encoding='UTF-8' standalone='yes'?>
<Relationships xmlns="http://schemas.openxmlformats.org/package/2006/relationships"><Relationship Id="rId1" Type="http://schemas.openxmlformats.org/officeDocument/2006/relationships/package" Target="../embeddings/Microsoft_Excel_Sheet1269.xlsx"/></Relationships>
</file>

<file path=ppt/charts/_rels/chart1270.xml.rels><?xml version='1.0' encoding='UTF-8' standalone='yes'?>
<Relationships xmlns="http://schemas.openxmlformats.org/package/2006/relationships"><Relationship Id="rId1" Type="http://schemas.openxmlformats.org/officeDocument/2006/relationships/package" Target="../embeddings/Microsoft_Excel_Sheet1270.xlsx"/></Relationships>
</file>

<file path=ppt/charts/_rels/chart1271.xml.rels><?xml version='1.0' encoding='UTF-8' standalone='yes'?>
<Relationships xmlns="http://schemas.openxmlformats.org/package/2006/relationships"><Relationship Id="rId1" Type="http://schemas.openxmlformats.org/officeDocument/2006/relationships/package" Target="../embeddings/Microsoft_Excel_Sheet1271.xlsx"/></Relationships>
</file>

<file path=ppt/charts/_rels/chart1272.xml.rels><?xml version='1.0' encoding='UTF-8' standalone='yes'?>
<Relationships xmlns="http://schemas.openxmlformats.org/package/2006/relationships"><Relationship Id="rId1" Type="http://schemas.openxmlformats.org/officeDocument/2006/relationships/package" Target="../embeddings/Microsoft_Excel_Sheet1272.xlsx"/></Relationships>
</file>

<file path=ppt/charts/_rels/chart1273.xml.rels><?xml version='1.0' encoding='UTF-8' standalone='yes'?>
<Relationships xmlns="http://schemas.openxmlformats.org/package/2006/relationships"><Relationship Id="rId1" Type="http://schemas.openxmlformats.org/officeDocument/2006/relationships/package" Target="../embeddings/Microsoft_Excel_Sheet1273.xlsx"/></Relationships>
</file>

<file path=ppt/charts/_rels/chart1274.xml.rels><?xml version='1.0' encoding='UTF-8' standalone='yes'?>
<Relationships xmlns="http://schemas.openxmlformats.org/package/2006/relationships"><Relationship Id="rId1" Type="http://schemas.openxmlformats.org/officeDocument/2006/relationships/package" Target="../embeddings/Microsoft_Excel_Sheet1274.xlsx"/></Relationships>
</file>

<file path=ppt/charts/_rels/chart1275.xml.rels><?xml version='1.0' encoding='UTF-8' standalone='yes'?>
<Relationships xmlns="http://schemas.openxmlformats.org/package/2006/relationships"><Relationship Id="rId1" Type="http://schemas.openxmlformats.org/officeDocument/2006/relationships/package" Target="../embeddings/Microsoft_Excel_Sheet1275.xlsx"/></Relationships>
</file>

<file path=ppt/charts/_rels/chart1276.xml.rels><?xml version='1.0' encoding='UTF-8' standalone='yes'?>
<Relationships xmlns="http://schemas.openxmlformats.org/package/2006/relationships"><Relationship Id="rId1" Type="http://schemas.openxmlformats.org/officeDocument/2006/relationships/package" Target="../embeddings/Microsoft_Excel_Sheet1276.xlsx"/></Relationships>
</file>

<file path=ppt/charts/_rels/chart1277.xml.rels><?xml version='1.0' encoding='UTF-8' standalone='yes'?>
<Relationships xmlns="http://schemas.openxmlformats.org/package/2006/relationships"><Relationship Id="rId1" Type="http://schemas.openxmlformats.org/officeDocument/2006/relationships/package" Target="../embeddings/Microsoft_Excel_Sheet1277.xlsx"/></Relationships>
</file>

<file path=ppt/charts/_rels/chart1278.xml.rels><?xml version='1.0' encoding='UTF-8' standalone='yes'?>
<Relationships xmlns="http://schemas.openxmlformats.org/package/2006/relationships"><Relationship Id="rId1" Type="http://schemas.openxmlformats.org/officeDocument/2006/relationships/package" Target="../embeddings/Microsoft_Excel_Sheet1278.xlsx"/></Relationships>
</file>

<file path=ppt/charts/_rels/chart1279.xml.rels><?xml version='1.0' encoding='UTF-8' standalone='yes'?>
<Relationships xmlns="http://schemas.openxmlformats.org/package/2006/relationships"><Relationship Id="rId1" Type="http://schemas.openxmlformats.org/officeDocument/2006/relationships/package" Target="../embeddings/Microsoft_Excel_Sheet1279.xlsx"/></Relationships>
</file>

<file path=ppt/charts/_rels/chart1280.xml.rels><?xml version='1.0' encoding='UTF-8' standalone='yes'?>
<Relationships xmlns="http://schemas.openxmlformats.org/package/2006/relationships"><Relationship Id="rId1" Type="http://schemas.openxmlformats.org/officeDocument/2006/relationships/package" Target="../embeddings/Microsoft_Excel_Sheet1280.xlsx"/></Relationships>
</file>

<file path=ppt/charts/_rels/chart1281.xml.rels><?xml version='1.0' encoding='UTF-8' standalone='yes'?>
<Relationships xmlns="http://schemas.openxmlformats.org/package/2006/relationships"><Relationship Id="rId1" Type="http://schemas.openxmlformats.org/officeDocument/2006/relationships/package" Target="../embeddings/Microsoft_Excel_Sheet1281.xlsx"/></Relationships>
</file>

<file path=ppt/charts/_rels/chart1282.xml.rels><?xml version='1.0' encoding='UTF-8' standalone='yes'?>
<Relationships xmlns="http://schemas.openxmlformats.org/package/2006/relationships"><Relationship Id="rId1" Type="http://schemas.openxmlformats.org/officeDocument/2006/relationships/package" Target="../embeddings/Microsoft_Excel_Sheet1282.xlsx"/></Relationships>
</file>

<file path=ppt/charts/_rels/chart1283.xml.rels><?xml version='1.0' encoding='UTF-8' standalone='yes'?>
<Relationships xmlns="http://schemas.openxmlformats.org/package/2006/relationships"><Relationship Id="rId1" Type="http://schemas.openxmlformats.org/officeDocument/2006/relationships/package" Target="../embeddings/Microsoft_Excel_Sheet1283.xlsx"/></Relationships>
</file>

<file path=ppt/charts/_rels/chart1284.xml.rels><?xml version='1.0' encoding='UTF-8' standalone='yes'?>
<Relationships xmlns="http://schemas.openxmlformats.org/package/2006/relationships"><Relationship Id="rId1" Type="http://schemas.openxmlformats.org/officeDocument/2006/relationships/package" Target="../embeddings/Microsoft_Excel_Sheet1284.xlsx"/></Relationships>
</file>

<file path=ppt/charts/_rels/chart1285.xml.rels><?xml version='1.0' encoding='UTF-8' standalone='yes'?>
<Relationships xmlns="http://schemas.openxmlformats.org/package/2006/relationships"><Relationship Id="rId1" Type="http://schemas.openxmlformats.org/officeDocument/2006/relationships/package" Target="../embeddings/Microsoft_Excel_Sheet1285.xlsx"/></Relationships>
</file>

<file path=ppt/charts/_rels/chart1286.xml.rels><?xml version='1.0' encoding='UTF-8' standalone='yes'?>
<Relationships xmlns="http://schemas.openxmlformats.org/package/2006/relationships"><Relationship Id="rId1" Type="http://schemas.openxmlformats.org/officeDocument/2006/relationships/package" Target="../embeddings/Microsoft_Excel_Sheet1286.xlsx"/></Relationships>
</file>

<file path=ppt/charts/_rels/chart1287.xml.rels><?xml version='1.0' encoding='UTF-8' standalone='yes'?>
<Relationships xmlns="http://schemas.openxmlformats.org/package/2006/relationships"><Relationship Id="rId1" Type="http://schemas.openxmlformats.org/officeDocument/2006/relationships/package" Target="../embeddings/Microsoft_Excel_Sheet1287.xlsx"/></Relationships>
</file>

<file path=ppt/charts/_rels/chart1288.xml.rels><?xml version='1.0' encoding='UTF-8' standalone='yes'?>
<Relationships xmlns="http://schemas.openxmlformats.org/package/2006/relationships"><Relationship Id="rId1" Type="http://schemas.openxmlformats.org/officeDocument/2006/relationships/package" Target="../embeddings/Microsoft_Excel_Sheet1288.xlsx"/></Relationships>
</file>

<file path=ppt/charts/_rels/chart1289.xml.rels><?xml version='1.0' encoding='UTF-8' standalone='yes'?>
<Relationships xmlns="http://schemas.openxmlformats.org/package/2006/relationships"><Relationship Id="rId1" Type="http://schemas.openxmlformats.org/officeDocument/2006/relationships/package" Target="../embeddings/Microsoft_Excel_Sheet1289.xlsx"/></Relationships>
</file>

<file path=ppt/charts/_rels/chart1290.xml.rels><?xml version='1.0' encoding='UTF-8' standalone='yes'?>
<Relationships xmlns="http://schemas.openxmlformats.org/package/2006/relationships"><Relationship Id="rId1" Type="http://schemas.openxmlformats.org/officeDocument/2006/relationships/package" Target="../embeddings/Microsoft_Excel_Sheet1290.xlsx"/></Relationships>
</file>

<file path=ppt/charts/_rels/chart1291.xml.rels><?xml version='1.0' encoding='UTF-8' standalone='yes'?>
<Relationships xmlns="http://schemas.openxmlformats.org/package/2006/relationships"><Relationship Id="rId1" Type="http://schemas.openxmlformats.org/officeDocument/2006/relationships/package" Target="../embeddings/Microsoft_Excel_Sheet1291.xlsx"/></Relationships>
</file>

<file path=ppt/charts/_rels/chart1292.xml.rels><?xml version='1.0' encoding='UTF-8' standalone='yes'?>
<Relationships xmlns="http://schemas.openxmlformats.org/package/2006/relationships"><Relationship Id="rId1" Type="http://schemas.openxmlformats.org/officeDocument/2006/relationships/package" Target="../embeddings/Microsoft_Excel_Sheet1292.xlsx"/></Relationships>
</file>

<file path=ppt/charts/_rels/chart1293.xml.rels><?xml version='1.0' encoding='UTF-8' standalone='yes'?>
<Relationships xmlns="http://schemas.openxmlformats.org/package/2006/relationships"><Relationship Id="rId1" Type="http://schemas.openxmlformats.org/officeDocument/2006/relationships/package" Target="../embeddings/Microsoft_Excel_Sheet1293.xlsx"/></Relationships>
</file>

<file path=ppt/charts/_rels/chart1294.xml.rels><?xml version='1.0' encoding='UTF-8' standalone='yes'?>
<Relationships xmlns="http://schemas.openxmlformats.org/package/2006/relationships"><Relationship Id="rId1" Type="http://schemas.openxmlformats.org/officeDocument/2006/relationships/package" Target="../embeddings/Microsoft_Excel_Sheet1294.xlsx"/></Relationships>
</file>

<file path=ppt/charts/_rels/chart1295.xml.rels><?xml version='1.0' encoding='UTF-8' standalone='yes'?>
<Relationships xmlns="http://schemas.openxmlformats.org/package/2006/relationships"><Relationship Id="rId1" Type="http://schemas.openxmlformats.org/officeDocument/2006/relationships/package" Target="../embeddings/Microsoft_Excel_Sheet1295.xlsx"/></Relationships>
</file>

<file path=ppt/charts/_rels/chart1296.xml.rels><?xml version='1.0' encoding='UTF-8' standalone='yes'?>
<Relationships xmlns="http://schemas.openxmlformats.org/package/2006/relationships"><Relationship Id="rId1" Type="http://schemas.openxmlformats.org/officeDocument/2006/relationships/package" Target="../embeddings/Microsoft_Excel_Sheet1296.xlsx"/></Relationships>
</file>

<file path=ppt/charts/_rels/chart1297.xml.rels><?xml version='1.0' encoding='UTF-8' standalone='yes'?>
<Relationships xmlns="http://schemas.openxmlformats.org/package/2006/relationships"><Relationship Id="rId1" Type="http://schemas.openxmlformats.org/officeDocument/2006/relationships/package" Target="../embeddings/Microsoft_Excel_Sheet1297.xlsx"/></Relationships>
</file>

<file path=ppt/charts/_rels/chart1298.xml.rels><?xml version='1.0' encoding='UTF-8' standalone='yes'?>
<Relationships xmlns="http://schemas.openxmlformats.org/package/2006/relationships"><Relationship Id="rId1" Type="http://schemas.openxmlformats.org/officeDocument/2006/relationships/package" Target="../embeddings/Microsoft_Excel_Sheet1298.xlsx"/></Relationships>
</file>

<file path=ppt/charts/_rels/chart1299.xml.rels><?xml version='1.0' encoding='UTF-8' standalone='yes'?>
<Relationships xmlns="http://schemas.openxmlformats.org/package/2006/relationships"><Relationship Id="rId1" Type="http://schemas.openxmlformats.org/officeDocument/2006/relationships/package" Target="../embeddings/Microsoft_Excel_Sheet1299.xlsx"/></Relationships>
</file>

<file path=ppt/charts/_rels/chart1300.xml.rels><?xml version='1.0' encoding='UTF-8' standalone='yes'?>
<Relationships xmlns="http://schemas.openxmlformats.org/package/2006/relationships"><Relationship Id="rId1" Type="http://schemas.openxmlformats.org/officeDocument/2006/relationships/package" Target="../embeddings/Microsoft_Excel_Sheet1300.xlsx"/></Relationships>
</file>

<file path=ppt/charts/_rels/chart1301.xml.rels><?xml version='1.0' encoding='UTF-8' standalone='yes'?>
<Relationships xmlns="http://schemas.openxmlformats.org/package/2006/relationships"><Relationship Id="rId1" Type="http://schemas.openxmlformats.org/officeDocument/2006/relationships/package" Target="../embeddings/Microsoft_Excel_Sheet1301.xlsx"/></Relationships>
</file>

<file path=ppt/charts/_rels/chart1302.xml.rels><?xml version='1.0' encoding='UTF-8' standalone='yes'?>
<Relationships xmlns="http://schemas.openxmlformats.org/package/2006/relationships"><Relationship Id="rId1" Type="http://schemas.openxmlformats.org/officeDocument/2006/relationships/package" Target="../embeddings/Microsoft_Excel_Sheet1302.xlsx"/></Relationships>
</file>

<file path=ppt/charts/_rels/chart1303.xml.rels><?xml version='1.0' encoding='UTF-8' standalone='yes'?>
<Relationships xmlns="http://schemas.openxmlformats.org/package/2006/relationships"><Relationship Id="rId1" Type="http://schemas.openxmlformats.org/officeDocument/2006/relationships/package" Target="../embeddings/Microsoft_Excel_Sheet1303.xlsx"/></Relationships>
</file>

<file path=ppt/charts/_rels/chart1304.xml.rels><?xml version='1.0' encoding='UTF-8' standalone='yes'?>
<Relationships xmlns="http://schemas.openxmlformats.org/package/2006/relationships"><Relationship Id="rId1" Type="http://schemas.openxmlformats.org/officeDocument/2006/relationships/package" Target="../embeddings/Microsoft_Excel_Sheet1304.xlsx"/></Relationships>
</file>

<file path=ppt/charts/_rels/chart1305.xml.rels><?xml version='1.0' encoding='UTF-8' standalone='yes'?>
<Relationships xmlns="http://schemas.openxmlformats.org/package/2006/relationships"><Relationship Id="rId1" Type="http://schemas.openxmlformats.org/officeDocument/2006/relationships/package" Target="../embeddings/Microsoft_Excel_Sheet1305.xlsx"/></Relationships>
</file>

<file path=ppt/charts/_rels/chart1306.xml.rels><?xml version='1.0' encoding='UTF-8' standalone='yes'?>
<Relationships xmlns="http://schemas.openxmlformats.org/package/2006/relationships"><Relationship Id="rId1" Type="http://schemas.openxmlformats.org/officeDocument/2006/relationships/package" Target="../embeddings/Microsoft_Excel_Sheet1306.xlsx"/></Relationships>
</file>

<file path=ppt/charts/_rels/chart1307.xml.rels><?xml version='1.0' encoding='UTF-8' standalone='yes'?>
<Relationships xmlns="http://schemas.openxmlformats.org/package/2006/relationships"><Relationship Id="rId1" Type="http://schemas.openxmlformats.org/officeDocument/2006/relationships/package" Target="../embeddings/Microsoft_Excel_Sheet1307.xlsx"/></Relationships>
</file>

<file path=ppt/charts/_rels/chart1308.xml.rels><?xml version='1.0' encoding='UTF-8' standalone='yes'?>
<Relationships xmlns="http://schemas.openxmlformats.org/package/2006/relationships"><Relationship Id="rId1" Type="http://schemas.openxmlformats.org/officeDocument/2006/relationships/package" Target="../embeddings/Microsoft_Excel_Sheet1308.xlsx"/></Relationships>
</file>

<file path=ppt/charts/_rels/chart1309.xml.rels><?xml version='1.0' encoding='UTF-8' standalone='yes'?>
<Relationships xmlns="http://schemas.openxmlformats.org/package/2006/relationships"><Relationship Id="rId1" Type="http://schemas.openxmlformats.org/officeDocument/2006/relationships/package" Target="../embeddings/Microsoft_Excel_Sheet1309.xlsx"/></Relationships>
</file>

<file path=ppt/charts/_rels/chart1310.xml.rels><?xml version='1.0' encoding='UTF-8' standalone='yes'?>
<Relationships xmlns="http://schemas.openxmlformats.org/package/2006/relationships"><Relationship Id="rId1" Type="http://schemas.openxmlformats.org/officeDocument/2006/relationships/package" Target="../embeddings/Microsoft_Excel_Sheet1310.xlsx"/></Relationships>
</file>

<file path=ppt/charts/_rels/chart1311.xml.rels><?xml version='1.0' encoding='UTF-8' standalone='yes'?>
<Relationships xmlns="http://schemas.openxmlformats.org/package/2006/relationships"><Relationship Id="rId1" Type="http://schemas.openxmlformats.org/officeDocument/2006/relationships/package" Target="../embeddings/Microsoft_Excel_Sheet1311.xlsx"/></Relationships>
</file>

<file path=ppt/charts/_rels/chart1312.xml.rels><?xml version='1.0' encoding='UTF-8' standalone='yes'?>
<Relationships xmlns="http://schemas.openxmlformats.org/package/2006/relationships"><Relationship Id="rId1" Type="http://schemas.openxmlformats.org/officeDocument/2006/relationships/package" Target="../embeddings/Microsoft_Excel_Sheet1312.xlsx"/></Relationships>
</file>

<file path=ppt/charts/_rels/chart1313.xml.rels><?xml version='1.0' encoding='UTF-8' standalone='yes'?>
<Relationships xmlns="http://schemas.openxmlformats.org/package/2006/relationships"><Relationship Id="rId1" Type="http://schemas.openxmlformats.org/officeDocument/2006/relationships/package" Target="../embeddings/Microsoft_Excel_Sheet1313.xlsx"/></Relationships>
</file>

<file path=ppt/charts/_rels/chart1314.xml.rels><?xml version='1.0' encoding='UTF-8' standalone='yes'?>
<Relationships xmlns="http://schemas.openxmlformats.org/package/2006/relationships"><Relationship Id="rId1" Type="http://schemas.openxmlformats.org/officeDocument/2006/relationships/package" Target="../embeddings/Microsoft_Excel_Sheet1314.xlsx"/></Relationships>
</file>

<file path=ppt/charts/_rels/chart1315.xml.rels><?xml version='1.0' encoding='UTF-8' standalone='yes'?>
<Relationships xmlns="http://schemas.openxmlformats.org/package/2006/relationships"><Relationship Id="rId1" Type="http://schemas.openxmlformats.org/officeDocument/2006/relationships/package" Target="../embeddings/Microsoft_Excel_Sheet1315.xlsx"/></Relationships>
</file>

<file path=ppt/charts/_rels/chart1316.xml.rels><?xml version='1.0' encoding='UTF-8' standalone='yes'?>
<Relationships xmlns="http://schemas.openxmlformats.org/package/2006/relationships"><Relationship Id="rId1" Type="http://schemas.openxmlformats.org/officeDocument/2006/relationships/package" Target="../embeddings/Microsoft_Excel_Sheet1316.xlsx"/></Relationships>
</file>

<file path=ppt/charts/_rels/chart1317.xml.rels><?xml version='1.0' encoding='UTF-8' standalone='yes'?>
<Relationships xmlns="http://schemas.openxmlformats.org/package/2006/relationships"><Relationship Id="rId1" Type="http://schemas.openxmlformats.org/officeDocument/2006/relationships/package" Target="../embeddings/Microsoft_Excel_Sheet1317.xlsx"/></Relationships>
</file>

<file path=ppt/charts/_rels/chart1318.xml.rels><?xml version='1.0' encoding='UTF-8' standalone='yes'?>
<Relationships xmlns="http://schemas.openxmlformats.org/package/2006/relationships"><Relationship Id="rId1" Type="http://schemas.openxmlformats.org/officeDocument/2006/relationships/package" Target="../embeddings/Microsoft_Excel_Sheet1318.xlsx"/></Relationships>
</file>

<file path=ppt/charts/_rels/chart1319.xml.rels><?xml version='1.0' encoding='UTF-8' standalone='yes'?>
<Relationships xmlns="http://schemas.openxmlformats.org/package/2006/relationships"><Relationship Id="rId1" Type="http://schemas.openxmlformats.org/officeDocument/2006/relationships/package" Target="../embeddings/Microsoft_Excel_Sheet1319.xlsx"/></Relationships>
</file>

<file path=ppt/charts/_rels/chart1320.xml.rels><?xml version='1.0' encoding='UTF-8' standalone='yes'?>
<Relationships xmlns="http://schemas.openxmlformats.org/package/2006/relationships"><Relationship Id="rId1" Type="http://schemas.openxmlformats.org/officeDocument/2006/relationships/package" Target="../embeddings/Microsoft_Excel_Sheet1320.xlsx"/></Relationships>
</file>

<file path=ppt/charts/_rels/chart1321.xml.rels><?xml version='1.0' encoding='UTF-8' standalone='yes'?>
<Relationships xmlns="http://schemas.openxmlformats.org/package/2006/relationships"><Relationship Id="rId1" Type="http://schemas.openxmlformats.org/officeDocument/2006/relationships/package" Target="../embeddings/Microsoft_Excel_Sheet1321.xlsx"/></Relationships>
</file>

<file path=ppt/charts/_rels/chart1322.xml.rels><?xml version='1.0' encoding='UTF-8' standalone='yes'?>
<Relationships xmlns="http://schemas.openxmlformats.org/package/2006/relationships"><Relationship Id="rId1" Type="http://schemas.openxmlformats.org/officeDocument/2006/relationships/package" Target="../embeddings/Microsoft_Excel_Sheet1322.xlsx"/></Relationships>
</file>

<file path=ppt/charts/_rels/chart1323.xml.rels><?xml version='1.0' encoding='UTF-8' standalone='yes'?>
<Relationships xmlns="http://schemas.openxmlformats.org/package/2006/relationships"><Relationship Id="rId1" Type="http://schemas.openxmlformats.org/officeDocument/2006/relationships/package" Target="../embeddings/Microsoft_Excel_Sheet1323.xlsx"/></Relationships>
</file>

<file path=ppt/charts/_rels/chart1324.xml.rels><?xml version='1.0' encoding='UTF-8' standalone='yes'?>
<Relationships xmlns="http://schemas.openxmlformats.org/package/2006/relationships"><Relationship Id="rId1" Type="http://schemas.openxmlformats.org/officeDocument/2006/relationships/package" Target="../embeddings/Microsoft_Excel_Sheet1324.xlsx"/></Relationships>
</file>

<file path=ppt/charts/_rels/chart1325.xml.rels><?xml version='1.0' encoding='UTF-8' standalone='yes'?>
<Relationships xmlns="http://schemas.openxmlformats.org/package/2006/relationships"><Relationship Id="rId1" Type="http://schemas.openxmlformats.org/officeDocument/2006/relationships/package" Target="../embeddings/Microsoft_Excel_Sheet1325.xlsx"/></Relationships>
</file>

<file path=ppt/charts/_rels/chart1326.xml.rels><?xml version='1.0' encoding='UTF-8' standalone='yes'?>
<Relationships xmlns="http://schemas.openxmlformats.org/package/2006/relationships"><Relationship Id="rId1" Type="http://schemas.openxmlformats.org/officeDocument/2006/relationships/package" Target="../embeddings/Microsoft_Excel_Sheet1326.xlsx"/></Relationships>
</file>

<file path=ppt/charts/_rels/chart1327.xml.rels><?xml version='1.0' encoding='UTF-8' standalone='yes'?>
<Relationships xmlns="http://schemas.openxmlformats.org/package/2006/relationships"><Relationship Id="rId1" Type="http://schemas.openxmlformats.org/officeDocument/2006/relationships/package" Target="../embeddings/Microsoft_Excel_Sheet1327.xlsx"/></Relationships>
</file>

<file path=ppt/charts/_rels/chart1328.xml.rels><?xml version='1.0' encoding='UTF-8' standalone='yes'?>
<Relationships xmlns="http://schemas.openxmlformats.org/package/2006/relationships"><Relationship Id="rId1" Type="http://schemas.openxmlformats.org/officeDocument/2006/relationships/package" Target="../embeddings/Microsoft_Excel_Sheet1328.xlsx"/></Relationships>
</file>

<file path=ppt/charts/_rels/chart1329.xml.rels><?xml version='1.0' encoding='UTF-8' standalone='yes'?>
<Relationships xmlns="http://schemas.openxmlformats.org/package/2006/relationships"><Relationship Id="rId1" Type="http://schemas.openxmlformats.org/officeDocument/2006/relationships/package" Target="../embeddings/Microsoft_Excel_Sheet1329.xlsx"/></Relationships>
</file>

<file path=ppt/charts/_rels/chart1330.xml.rels><?xml version='1.0' encoding='UTF-8' standalone='yes'?>
<Relationships xmlns="http://schemas.openxmlformats.org/package/2006/relationships"><Relationship Id="rId1" Type="http://schemas.openxmlformats.org/officeDocument/2006/relationships/package" Target="../embeddings/Microsoft_Excel_Sheet1330.xlsx"/></Relationships>
</file>

<file path=ppt/charts/_rels/chart1331.xml.rels><?xml version='1.0' encoding='UTF-8' standalone='yes'?>
<Relationships xmlns="http://schemas.openxmlformats.org/package/2006/relationships"><Relationship Id="rId1" Type="http://schemas.openxmlformats.org/officeDocument/2006/relationships/package" Target="../embeddings/Microsoft_Excel_Sheet1331.xlsx"/></Relationships>
</file>

<file path=ppt/charts/_rels/chart1332.xml.rels><?xml version='1.0' encoding='UTF-8' standalone='yes'?>
<Relationships xmlns="http://schemas.openxmlformats.org/package/2006/relationships"><Relationship Id="rId1" Type="http://schemas.openxmlformats.org/officeDocument/2006/relationships/package" Target="../embeddings/Microsoft_Excel_Sheet1332.xlsx"/></Relationships>
</file>

<file path=ppt/charts/_rels/chart1333.xml.rels><?xml version='1.0' encoding='UTF-8' standalone='yes'?>
<Relationships xmlns="http://schemas.openxmlformats.org/package/2006/relationships"><Relationship Id="rId1" Type="http://schemas.openxmlformats.org/officeDocument/2006/relationships/package" Target="../embeddings/Microsoft_Excel_Sheet1333.xlsx"/></Relationships>
</file>

<file path=ppt/charts/_rels/chart1334.xml.rels><?xml version='1.0' encoding='UTF-8' standalone='yes'?>
<Relationships xmlns="http://schemas.openxmlformats.org/package/2006/relationships"><Relationship Id="rId1" Type="http://schemas.openxmlformats.org/officeDocument/2006/relationships/package" Target="../embeddings/Microsoft_Excel_Sheet1334.xlsx"/></Relationships>
</file>

<file path=ppt/charts/_rels/chart1335.xml.rels><?xml version='1.0' encoding='UTF-8' standalone='yes'?>
<Relationships xmlns="http://schemas.openxmlformats.org/package/2006/relationships"><Relationship Id="rId1" Type="http://schemas.openxmlformats.org/officeDocument/2006/relationships/package" Target="../embeddings/Microsoft_Excel_Sheet1335.xlsx"/></Relationships>
</file>

<file path=ppt/charts/_rels/chart1336.xml.rels><?xml version='1.0' encoding='UTF-8' standalone='yes'?>
<Relationships xmlns="http://schemas.openxmlformats.org/package/2006/relationships"><Relationship Id="rId1" Type="http://schemas.openxmlformats.org/officeDocument/2006/relationships/package" Target="../embeddings/Microsoft_Excel_Sheet1336.xlsx"/></Relationships>
</file>

<file path=ppt/charts/_rels/chart1337.xml.rels><?xml version='1.0' encoding='UTF-8' standalone='yes'?>
<Relationships xmlns="http://schemas.openxmlformats.org/package/2006/relationships"><Relationship Id="rId1" Type="http://schemas.openxmlformats.org/officeDocument/2006/relationships/package" Target="../embeddings/Microsoft_Excel_Sheet1337.xlsx"/></Relationships>
</file>

<file path=ppt/charts/_rels/chart1338.xml.rels><?xml version='1.0' encoding='UTF-8' standalone='yes'?>
<Relationships xmlns="http://schemas.openxmlformats.org/package/2006/relationships"><Relationship Id="rId1" Type="http://schemas.openxmlformats.org/officeDocument/2006/relationships/package" Target="../embeddings/Microsoft_Excel_Sheet1338.xlsx"/></Relationships>
</file>

<file path=ppt/charts/_rels/chart1339.xml.rels><?xml version='1.0' encoding='UTF-8' standalone='yes'?>
<Relationships xmlns="http://schemas.openxmlformats.org/package/2006/relationships"><Relationship Id="rId1" Type="http://schemas.openxmlformats.org/officeDocument/2006/relationships/package" Target="../embeddings/Microsoft_Excel_Sheet1339.xlsx"/></Relationships>
</file>

<file path=ppt/charts/_rels/chart1340.xml.rels><?xml version='1.0' encoding='UTF-8' standalone='yes'?>
<Relationships xmlns="http://schemas.openxmlformats.org/package/2006/relationships"><Relationship Id="rId1" Type="http://schemas.openxmlformats.org/officeDocument/2006/relationships/package" Target="../embeddings/Microsoft_Excel_Sheet1340.xlsx"/></Relationships>
</file>

<file path=ppt/charts/_rels/chart1341.xml.rels><?xml version='1.0' encoding='UTF-8' standalone='yes'?>
<Relationships xmlns="http://schemas.openxmlformats.org/package/2006/relationships"><Relationship Id="rId1" Type="http://schemas.openxmlformats.org/officeDocument/2006/relationships/package" Target="../embeddings/Microsoft_Excel_Sheet1341.xlsx"/></Relationships>
</file>

<file path=ppt/charts/_rels/chart1342.xml.rels><?xml version='1.0' encoding='UTF-8' standalone='yes'?>
<Relationships xmlns="http://schemas.openxmlformats.org/package/2006/relationships"><Relationship Id="rId1" Type="http://schemas.openxmlformats.org/officeDocument/2006/relationships/package" Target="../embeddings/Microsoft_Excel_Sheet1342.xlsx"/></Relationships>
</file>

<file path=ppt/charts/_rels/chart1343.xml.rels><?xml version='1.0' encoding='UTF-8' standalone='yes'?>
<Relationships xmlns="http://schemas.openxmlformats.org/package/2006/relationships"><Relationship Id="rId1" Type="http://schemas.openxmlformats.org/officeDocument/2006/relationships/package" Target="../embeddings/Microsoft_Excel_Sheet1343.xlsx"/></Relationships>
</file>

<file path=ppt/charts/_rels/chart1344.xml.rels><?xml version='1.0' encoding='UTF-8' standalone='yes'?>
<Relationships xmlns="http://schemas.openxmlformats.org/package/2006/relationships"><Relationship Id="rId1" Type="http://schemas.openxmlformats.org/officeDocument/2006/relationships/package" Target="../embeddings/Microsoft_Excel_Sheet1344.xlsx"/></Relationships>
</file>

<file path=ppt/charts/_rels/chart1345.xml.rels><?xml version='1.0' encoding='UTF-8' standalone='yes'?>
<Relationships xmlns="http://schemas.openxmlformats.org/package/2006/relationships"><Relationship Id="rId1" Type="http://schemas.openxmlformats.org/officeDocument/2006/relationships/package" Target="../embeddings/Microsoft_Excel_Sheet1345.xlsx"/></Relationships>
</file>

<file path=ppt/charts/_rels/chart1346.xml.rels><?xml version='1.0' encoding='UTF-8' standalone='yes'?>
<Relationships xmlns="http://schemas.openxmlformats.org/package/2006/relationships"><Relationship Id="rId1" Type="http://schemas.openxmlformats.org/officeDocument/2006/relationships/package" Target="../embeddings/Microsoft_Excel_Sheet1346.xlsx"/></Relationships>
</file>

<file path=ppt/charts/_rels/chart1347.xml.rels><?xml version='1.0' encoding='UTF-8' standalone='yes'?>
<Relationships xmlns="http://schemas.openxmlformats.org/package/2006/relationships"><Relationship Id="rId1" Type="http://schemas.openxmlformats.org/officeDocument/2006/relationships/package" Target="../embeddings/Microsoft_Excel_Sheet1347.xlsx"/></Relationships>
</file>

<file path=ppt/charts/_rels/chart1348.xml.rels><?xml version='1.0' encoding='UTF-8' standalone='yes'?>
<Relationships xmlns="http://schemas.openxmlformats.org/package/2006/relationships"><Relationship Id="rId1" Type="http://schemas.openxmlformats.org/officeDocument/2006/relationships/package" Target="../embeddings/Microsoft_Excel_Sheet1348.xlsx"/></Relationships>
</file>

<file path=ppt/charts/_rels/chart1349.xml.rels><?xml version='1.0' encoding='UTF-8' standalone='yes'?>
<Relationships xmlns="http://schemas.openxmlformats.org/package/2006/relationships"><Relationship Id="rId1" Type="http://schemas.openxmlformats.org/officeDocument/2006/relationships/package" Target="../embeddings/Microsoft_Excel_Sheet1349.xlsx"/></Relationships>
</file>

<file path=ppt/charts/_rels/chart1350.xml.rels><?xml version='1.0' encoding='UTF-8' standalone='yes'?>
<Relationships xmlns="http://schemas.openxmlformats.org/package/2006/relationships"><Relationship Id="rId1" Type="http://schemas.openxmlformats.org/officeDocument/2006/relationships/package" Target="../embeddings/Microsoft_Excel_Sheet1350.xlsx"/></Relationships>
</file>

<file path=ppt/charts/_rels/chart1351.xml.rels><?xml version='1.0' encoding='UTF-8' standalone='yes'?>
<Relationships xmlns="http://schemas.openxmlformats.org/package/2006/relationships"><Relationship Id="rId1" Type="http://schemas.openxmlformats.org/officeDocument/2006/relationships/package" Target="../embeddings/Microsoft_Excel_Sheet1351.xlsx"/></Relationships>
</file>

<file path=ppt/charts/_rels/chart1352.xml.rels><?xml version='1.0' encoding='UTF-8' standalone='yes'?>
<Relationships xmlns="http://schemas.openxmlformats.org/package/2006/relationships"><Relationship Id="rId1" Type="http://schemas.openxmlformats.org/officeDocument/2006/relationships/package" Target="../embeddings/Microsoft_Excel_Sheet1352.xlsx"/></Relationships>
</file>

<file path=ppt/charts/_rels/chart1353.xml.rels><?xml version='1.0' encoding='UTF-8' standalone='yes'?>
<Relationships xmlns="http://schemas.openxmlformats.org/package/2006/relationships"><Relationship Id="rId1" Type="http://schemas.openxmlformats.org/officeDocument/2006/relationships/package" Target="../embeddings/Microsoft_Excel_Sheet1353.xlsx"/></Relationships>
</file>

<file path=ppt/charts/_rels/chart1354.xml.rels><?xml version='1.0' encoding='UTF-8' standalone='yes'?>
<Relationships xmlns="http://schemas.openxmlformats.org/package/2006/relationships"><Relationship Id="rId1" Type="http://schemas.openxmlformats.org/officeDocument/2006/relationships/package" Target="../embeddings/Microsoft_Excel_Sheet1354.xlsx"/></Relationships>
</file>

<file path=ppt/charts/_rels/chart1355.xml.rels><?xml version='1.0' encoding='UTF-8' standalone='yes'?>
<Relationships xmlns="http://schemas.openxmlformats.org/package/2006/relationships"><Relationship Id="rId1" Type="http://schemas.openxmlformats.org/officeDocument/2006/relationships/package" Target="../embeddings/Microsoft_Excel_Sheet1355.xlsx"/></Relationships>
</file>

<file path=ppt/charts/_rels/chart1356.xml.rels><?xml version='1.0' encoding='UTF-8' standalone='yes'?>
<Relationships xmlns="http://schemas.openxmlformats.org/package/2006/relationships"><Relationship Id="rId1" Type="http://schemas.openxmlformats.org/officeDocument/2006/relationships/package" Target="../embeddings/Microsoft_Excel_Sheet1356.xlsx"/></Relationships>
</file>

<file path=ppt/charts/_rels/chart1357.xml.rels><?xml version='1.0' encoding='UTF-8' standalone='yes'?>
<Relationships xmlns="http://schemas.openxmlformats.org/package/2006/relationships"><Relationship Id="rId1" Type="http://schemas.openxmlformats.org/officeDocument/2006/relationships/package" Target="../embeddings/Microsoft_Excel_Sheet1357.xlsx"/></Relationships>
</file>

<file path=ppt/charts/_rels/chart1358.xml.rels><?xml version='1.0' encoding='UTF-8' standalone='yes'?>
<Relationships xmlns="http://schemas.openxmlformats.org/package/2006/relationships"><Relationship Id="rId1" Type="http://schemas.openxmlformats.org/officeDocument/2006/relationships/package" Target="../embeddings/Microsoft_Excel_Sheet1358.xlsx"/></Relationships>
</file>

<file path=ppt/charts/_rels/chart1359.xml.rels><?xml version='1.0' encoding='UTF-8' standalone='yes'?>
<Relationships xmlns="http://schemas.openxmlformats.org/package/2006/relationships"><Relationship Id="rId1" Type="http://schemas.openxmlformats.org/officeDocument/2006/relationships/package" Target="../embeddings/Microsoft_Excel_Sheet1359.xlsx"/></Relationships>
</file>

<file path=ppt/charts/_rels/chart1360.xml.rels><?xml version='1.0' encoding='UTF-8' standalone='yes'?>
<Relationships xmlns="http://schemas.openxmlformats.org/package/2006/relationships"><Relationship Id="rId1" Type="http://schemas.openxmlformats.org/officeDocument/2006/relationships/package" Target="../embeddings/Microsoft_Excel_Sheet1360.xlsx"/></Relationships>
</file>

<file path=ppt/charts/_rels/chart1361.xml.rels><?xml version='1.0' encoding='UTF-8' standalone='yes'?>
<Relationships xmlns="http://schemas.openxmlformats.org/package/2006/relationships"><Relationship Id="rId1" Type="http://schemas.openxmlformats.org/officeDocument/2006/relationships/package" Target="../embeddings/Microsoft_Excel_Sheet1361.xlsx"/></Relationships>
</file>

<file path=ppt/charts/_rels/chart1362.xml.rels><?xml version='1.0' encoding='UTF-8' standalone='yes'?>
<Relationships xmlns="http://schemas.openxmlformats.org/package/2006/relationships"><Relationship Id="rId1" Type="http://schemas.openxmlformats.org/officeDocument/2006/relationships/package" Target="../embeddings/Microsoft_Excel_Sheet1362.xlsx"/></Relationships>
</file>

<file path=ppt/charts/_rels/chart1363.xml.rels><?xml version='1.0' encoding='UTF-8' standalone='yes'?>
<Relationships xmlns="http://schemas.openxmlformats.org/package/2006/relationships"><Relationship Id="rId1" Type="http://schemas.openxmlformats.org/officeDocument/2006/relationships/package" Target="../embeddings/Microsoft_Excel_Sheet1363.xlsx"/></Relationships>
</file>

<file path=ppt/charts/_rels/chart1364.xml.rels><?xml version='1.0' encoding='UTF-8' standalone='yes'?>
<Relationships xmlns="http://schemas.openxmlformats.org/package/2006/relationships"><Relationship Id="rId1" Type="http://schemas.openxmlformats.org/officeDocument/2006/relationships/package" Target="../embeddings/Microsoft_Excel_Sheet1364.xlsx"/></Relationships>
</file>

<file path=ppt/charts/_rels/chart1365.xml.rels><?xml version='1.0' encoding='UTF-8' standalone='yes'?>
<Relationships xmlns="http://schemas.openxmlformats.org/package/2006/relationships"><Relationship Id="rId1" Type="http://schemas.openxmlformats.org/officeDocument/2006/relationships/package" Target="../embeddings/Microsoft_Excel_Sheet1365.xlsx"/></Relationships>
</file>

<file path=ppt/charts/_rels/chart1366.xml.rels><?xml version='1.0' encoding='UTF-8' standalone='yes'?>
<Relationships xmlns="http://schemas.openxmlformats.org/package/2006/relationships"><Relationship Id="rId1" Type="http://schemas.openxmlformats.org/officeDocument/2006/relationships/package" Target="../embeddings/Microsoft_Excel_Sheet1366.xlsx"/></Relationships>
</file>

<file path=ppt/charts/_rels/chart1367.xml.rels><?xml version='1.0' encoding='UTF-8' standalone='yes'?>
<Relationships xmlns="http://schemas.openxmlformats.org/package/2006/relationships"><Relationship Id="rId1" Type="http://schemas.openxmlformats.org/officeDocument/2006/relationships/package" Target="../embeddings/Microsoft_Excel_Sheet1367.xlsx"/></Relationships>
</file>

<file path=ppt/charts/_rels/chart1368.xml.rels><?xml version='1.0' encoding='UTF-8' standalone='yes'?>
<Relationships xmlns="http://schemas.openxmlformats.org/package/2006/relationships"><Relationship Id="rId1" Type="http://schemas.openxmlformats.org/officeDocument/2006/relationships/package" Target="../embeddings/Microsoft_Excel_Sheet1368.xlsx"/></Relationships>
</file>

<file path=ppt/charts/_rels/chart1369.xml.rels><?xml version='1.0' encoding='UTF-8' standalone='yes'?>
<Relationships xmlns="http://schemas.openxmlformats.org/package/2006/relationships"><Relationship Id="rId1" Type="http://schemas.openxmlformats.org/officeDocument/2006/relationships/package" Target="../embeddings/Microsoft_Excel_Sheet1369.xlsx"/></Relationships>
</file>

<file path=ppt/charts/_rels/chart1370.xml.rels><?xml version='1.0' encoding='UTF-8' standalone='yes'?>
<Relationships xmlns="http://schemas.openxmlformats.org/package/2006/relationships"><Relationship Id="rId1" Type="http://schemas.openxmlformats.org/officeDocument/2006/relationships/package" Target="../embeddings/Microsoft_Excel_Sheet1370.xlsx"/></Relationships>
</file>

<file path=ppt/charts/_rels/chart1371.xml.rels><?xml version='1.0' encoding='UTF-8' standalone='yes'?>
<Relationships xmlns="http://schemas.openxmlformats.org/package/2006/relationships"><Relationship Id="rId1" Type="http://schemas.openxmlformats.org/officeDocument/2006/relationships/package" Target="../embeddings/Microsoft_Excel_Sheet1371.xlsx"/></Relationships>
</file>

<file path=ppt/charts/_rels/chart1372.xml.rels><?xml version='1.0' encoding='UTF-8' standalone='yes'?>
<Relationships xmlns="http://schemas.openxmlformats.org/package/2006/relationships"><Relationship Id="rId1" Type="http://schemas.openxmlformats.org/officeDocument/2006/relationships/package" Target="../embeddings/Microsoft_Excel_Sheet1372.xlsx"/></Relationships>
</file>

<file path=ppt/charts/_rels/chart1373.xml.rels><?xml version='1.0' encoding='UTF-8' standalone='yes'?>
<Relationships xmlns="http://schemas.openxmlformats.org/package/2006/relationships"><Relationship Id="rId1" Type="http://schemas.openxmlformats.org/officeDocument/2006/relationships/package" Target="../embeddings/Microsoft_Excel_Sheet1373.xlsx"/></Relationships>
</file>

<file path=ppt/charts/_rels/chart1374.xml.rels><?xml version='1.0' encoding='UTF-8' standalone='yes'?>
<Relationships xmlns="http://schemas.openxmlformats.org/package/2006/relationships"><Relationship Id="rId1" Type="http://schemas.openxmlformats.org/officeDocument/2006/relationships/package" Target="../embeddings/Microsoft_Excel_Sheet1374.xlsx"/></Relationships>
</file>

<file path=ppt/charts/_rels/chart1375.xml.rels><?xml version='1.0' encoding='UTF-8' standalone='yes'?>
<Relationships xmlns="http://schemas.openxmlformats.org/package/2006/relationships"><Relationship Id="rId1" Type="http://schemas.openxmlformats.org/officeDocument/2006/relationships/package" Target="../embeddings/Microsoft_Excel_Sheet1375.xlsx"/></Relationships>
</file>

<file path=ppt/charts/_rels/chart1376.xml.rels><?xml version='1.0' encoding='UTF-8' standalone='yes'?>
<Relationships xmlns="http://schemas.openxmlformats.org/package/2006/relationships"><Relationship Id="rId1" Type="http://schemas.openxmlformats.org/officeDocument/2006/relationships/package" Target="../embeddings/Microsoft_Excel_Sheet1376.xlsx"/></Relationships>
</file>

<file path=ppt/charts/_rels/chart1377.xml.rels><?xml version='1.0' encoding='UTF-8' standalone='yes'?>
<Relationships xmlns="http://schemas.openxmlformats.org/package/2006/relationships"><Relationship Id="rId1" Type="http://schemas.openxmlformats.org/officeDocument/2006/relationships/package" Target="../embeddings/Microsoft_Excel_Sheet1377.xlsx"/></Relationships>
</file>

<file path=ppt/charts/_rels/chart1378.xml.rels><?xml version='1.0' encoding='UTF-8' standalone='yes'?>
<Relationships xmlns="http://schemas.openxmlformats.org/package/2006/relationships"><Relationship Id="rId1" Type="http://schemas.openxmlformats.org/officeDocument/2006/relationships/package" Target="../embeddings/Microsoft_Excel_Sheet1378.xlsx"/></Relationships>
</file>

<file path=ppt/charts/_rels/chart1379.xml.rels><?xml version='1.0' encoding='UTF-8' standalone='yes'?>
<Relationships xmlns="http://schemas.openxmlformats.org/package/2006/relationships"><Relationship Id="rId1" Type="http://schemas.openxmlformats.org/officeDocument/2006/relationships/package" Target="../embeddings/Microsoft_Excel_Sheet1379.xlsx"/></Relationships>
</file>

<file path=ppt/charts/_rels/chart1380.xml.rels><?xml version='1.0' encoding='UTF-8' standalone='yes'?>
<Relationships xmlns="http://schemas.openxmlformats.org/package/2006/relationships"><Relationship Id="rId1" Type="http://schemas.openxmlformats.org/officeDocument/2006/relationships/package" Target="../embeddings/Microsoft_Excel_Sheet1380.xlsx"/></Relationships>
</file>

<file path=ppt/charts/_rels/chart1381.xml.rels><?xml version='1.0' encoding='UTF-8' standalone='yes'?>
<Relationships xmlns="http://schemas.openxmlformats.org/package/2006/relationships"><Relationship Id="rId1" Type="http://schemas.openxmlformats.org/officeDocument/2006/relationships/package" Target="../embeddings/Microsoft_Excel_Sheet1381.xlsx"/></Relationships>
</file>

<file path=ppt/charts/_rels/chart1382.xml.rels><?xml version='1.0' encoding='UTF-8' standalone='yes'?>
<Relationships xmlns="http://schemas.openxmlformats.org/package/2006/relationships"><Relationship Id="rId1" Type="http://schemas.openxmlformats.org/officeDocument/2006/relationships/package" Target="../embeddings/Microsoft_Excel_Sheet1382.xlsx"/></Relationships>
</file>

<file path=ppt/charts/_rels/chart1383.xml.rels><?xml version='1.0' encoding='UTF-8' standalone='yes'?>
<Relationships xmlns="http://schemas.openxmlformats.org/package/2006/relationships"><Relationship Id="rId1" Type="http://schemas.openxmlformats.org/officeDocument/2006/relationships/package" Target="../embeddings/Microsoft_Excel_Sheet1383.xlsx"/></Relationships>
</file>

<file path=ppt/charts/_rels/chart1384.xml.rels><?xml version='1.0' encoding='UTF-8' standalone='yes'?>
<Relationships xmlns="http://schemas.openxmlformats.org/package/2006/relationships"><Relationship Id="rId1" Type="http://schemas.openxmlformats.org/officeDocument/2006/relationships/package" Target="../embeddings/Microsoft_Excel_Sheet1384.xlsx"/></Relationships>
</file>

<file path=ppt/charts/_rels/chart1385.xml.rels><?xml version='1.0' encoding='UTF-8' standalone='yes'?>
<Relationships xmlns="http://schemas.openxmlformats.org/package/2006/relationships"><Relationship Id="rId1" Type="http://schemas.openxmlformats.org/officeDocument/2006/relationships/package" Target="../embeddings/Microsoft_Excel_Sheet1385.xlsx"/></Relationships>
</file>

<file path=ppt/charts/_rels/chart1386.xml.rels><?xml version='1.0' encoding='UTF-8' standalone='yes'?>
<Relationships xmlns="http://schemas.openxmlformats.org/package/2006/relationships"><Relationship Id="rId1" Type="http://schemas.openxmlformats.org/officeDocument/2006/relationships/package" Target="../embeddings/Microsoft_Excel_Sheet1386.xlsx"/></Relationships>
</file>

<file path=ppt/charts/_rels/chart1387.xml.rels><?xml version='1.0' encoding='UTF-8' standalone='yes'?>
<Relationships xmlns="http://schemas.openxmlformats.org/package/2006/relationships"><Relationship Id="rId1" Type="http://schemas.openxmlformats.org/officeDocument/2006/relationships/package" Target="../embeddings/Microsoft_Excel_Sheet1387.xlsx"/></Relationships>
</file>

<file path=ppt/charts/_rels/chart1388.xml.rels><?xml version='1.0' encoding='UTF-8' standalone='yes'?>
<Relationships xmlns="http://schemas.openxmlformats.org/package/2006/relationships"><Relationship Id="rId1" Type="http://schemas.openxmlformats.org/officeDocument/2006/relationships/package" Target="../embeddings/Microsoft_Excel_Sheet1388.xlsx"/></Relationships>
</file>

<file path=ppt/charts/_rels/chart1389.xml.rels><?xml version='1.0' encoding='UTF-8' standalone='yes'?>
<Relationships xmlns="http://schemas.openxmlformats.org/package/2006/relationships"><Relationship Id="rId1" Type="http://schemas.openxmlformats.org/officeDocument/2006/relationships/package" Target="../embeddings/Microsoft_Excel_Sheet1389.xlsx"/></Relationships>
</file>

<file path=ppt/charts/_rels/chart1390.xml.rels><?xml version='1.0' encoding='UTF-8' standalone='yes'?>
<Relationships xmlns="http://schemas.openxmlformats.org/package/2006/relationships"><Relationship Id="rId1" Type="http://schemas.openxmlformats.org/officeDocument/2006/relationships/package" Target="../embeddings/Microsoft_Excel_Sheet1390.xlsx"/></Relationships>
</file>

<file path=ppt/charts/_rels/chart1391.xml.rels><?xml version='1.0' encoding='UTF-8' standalone='yes'?>
<Relationships xmlns="http://schemas.openxmlformats.org/package/2006/relationships"><Relationship Id="rId1" Type="http://schemas.openxmlformats.org/officeDocument/2006/relationships/package" Target="../embeddings/Microsoft_Excel_Sheet1391.xlsx"/></Relationships>
</file>

<file path=ppt/charts/_rels/chart1392.xml.rels><?xml version='1.0' encoding='UTF-8' standalone='yes'?>
<Relationships xmlns="http://schemas.openxmlformats.org/package/2006/relationships"><Relationship Id="rId1" Type="http://schemas.openxmlformats.org/officeDocument/2006/relationships/package" Target="../embeddings/Microsoft_Excel_Sheet1392.xlsx"/></Relationships>
</file>

<file path=ppt/charts/_rels/chart1393.xml.rels><?xml version='1.0' encoding='UTF-8' standalone='yes'?>
<Relationships xmlns="http://schemas.openxmlformats.org/package/2006/relationships"><Relationship Id="rId1" Type="http://schemas.openxmlformats.org/officeDocument/2006/relationships/package" Target="../embeddings/Microsoft_Excel_Sheet1393.xlsx"/></Relationships>
</file>

<file path=ppt/charts/_rels/chart1394.xml.rels><?xml version='1.0' encoding='UTF-8' standalone='yes'?>
<Relationships xmlns="http://schemas.openxmlformats.org/package/2006/relationships"><Relationship Id="rId1" Type="http://schemas.openxmlformats.org/officeDocument/2006/relationships/package" Target="../embeddings/Microsoft_Excel_Sheet1394.xlsx"/></Relationships>
</file>

<file path=ppt/charts/_rels/chart1395.xml.rels><?xml version='1.0' encoding='UTF-8' standalone='yes'?>
<Relationships xmlns="http://schemas.openxmlformats.org/package/2006/relationships"><Relationship Id="rId1" Type="http://schemas.openxmlformats.org/officeDocument/2006/relationships/package" Target="../embeddings/Microsoft_Excel_Sheet1395.xlsx"/></Relationships>
</file>

<file path=ppt/charts/_rels/chart1396.xml.rels><?xml version='1.0' encoding='UTF-8' standalone='yes'?>
<Relationships xmlns="http://schemas.openxmlformats.org/package/2006/relationships"><Relationship Id="rId1" Type="http://schemas.openxmlformats.org/officeDocument/2006/relationships/package" Target="../embeddings/Microsoft_Excel_Sheet1396.xlsx"/></Relationships>
</file>

<file path=ppt/charts/_rels/chart1397.xml.rels><?xml version='1.0' encoding='UTF-8' standalone='yes'?>
<Relationships xmlns="http://schemas.openxmlformats.org/package/2006/relationships"><Relationship Id="rId1" Type="http://schemas.openxmlformats.org/officeDocument/2006/relationships/package" Target="../embeddings/Microsoft_Excel_Sheet1397.xlsx"/></Relationships>
</file>

<file path=ppt/charts/_rels/chart1398.xml.rels><?xml version='1.0' encoding='UTF-8' standalone='yes'?>
<Relationships xmlns="http://schemas.openxmlformats.org/package/2006/relationships"><Relationship Id="rId1" Type="http://schemas.openxmlformats.org/officeDocument/2006/relationships/package" Target="../embeddings/Microsoft_Excel_Sheet1398.xlsx"/></Relationships>
</file>

<file path=ppt/charts/_rels/chart1399.xml.rels><?xml version='1.0' encoding='UTF-8' standalone='yes'?>
<Relationships xmlns="http://schemas.openxmlformats.org/package/2006/relationships"><Relationship Id="rId1" Type="http://schemas.openxmlformats.org/officeDocument/2006/relationships/package" Target="../embeddings/Microsoft_Excel_Sheet1399.xlsx"/></Relationships>
</file>

<file path=ppt/charts/_rels/chart1400.xml.rels><?xml version='1.0' encoding='UTF-8' standalone='yes'?>
<Relationships xmlns="http://schemas.openxmlformats.org/package/2006/relationships"><Relationship Id="rId1" Type="http://schemas.openxmlformats.org/officeDocument/2006/relationships/package" Target="../embeddings/Microsoft_Excel_Sheet1400.xlsx"/></Relationships>
</file>

<file path=ppt/charts/_rels/chart1401.xml.rels><?xml version='1.0' encoding='UTF-8' standalone='yes'?>
<Relationships xmlns="http://schemas.openxmlformats.org/package/2006/relationships"><Relationship Id="rId1" Type="http://schemas.openxmlformats.org/officeDocument/2006/relationships/package" Target="../embeddings/Microsoft_Excel_Sheet1401.xlsx"/></Relationships>
</file>

<file path=ppt/charts/_rels/chart1402.xml.rels><?xml version='1.0' encoding='UTF-8' standalone='yes'?>
<Relationships xmlns="http://schemas.openxmlformats.org/package/2006/relationships"><Relationship Id="rId1" Type="http://schemas.openxmlformats.org/officeDocument/2006/relationships/package" Target="../embeddings/Microsoft_Excel_Sheet1402.xlsx"/></Relationships>
</file>

<file path=ppt/charts/_rels/chart1403.xml.rels><?xml version='1.0' encoding='UTF-8' standalone='yes'?>
<Relationships xmlns="http://schemas.openxmlformats.org/package/2006/relationships"><Relationship Id="rId1" Type="http://schemas.openxmlformats.org/officeDocument/2006/relationships/package" Target="../embeddings/Microsoft_Excel_Sheet1403.xlsx"/></Relationships>
</file>

<file path=ppt/charts/_rels/chart1404.xml.rels><?xml version='1.0' encoding='UTF-8' standalone='yes'?>
<Relationships xmlns="http://schemas.openxmlformats.org/package/2006/relationships"><Relationship Id="rId1" Type="http://schemas.openxmlformats.org/officeDocument/2006/relationships/package" Target="../embeddings/Microsoft_Excel_Sheet1404.xlsx"/></Relationships>
</file>

<file path=ppt/charts/_rels/chart1405.xml.rels><?xml version='1.0' encoding='UTF-8' standalone='yes'?>
<Relationships xmlns="http://schemas.openxmlformats.org/package/2006/relationships"><Relationship Id="rId1" Type="http://schemas.openxmlformats.org/officeDocument/2006/relationships/package" Target="../embeddings/Microsoft_Excel_Sheet1405.xlsx"/></Relationships>
</file>

<file path=ppt/charts/_rels/chart1406.xml.rels><?xml version='1.0' encoding='UTF-8' standalone='yes'?>
<Relationships xmlns="http://schemas.openxmlformats.org/package/2006/relationships"><Relationship Id="rId1" Type="http://schemas.openxmlformats.org/officeDocument/2006/relationships/package" Target="../embeddings/Microsoft_Excel_Sheet1406.xlsx"/></Relationships>
</file>

<file path=ppt/charts/_rels/chart1407.xml.rels><?xml version='1.0' encoding='UTF-8' standalone='yes'?>
<Relationships xmlns="http://schemas.openxmlformats.org/package/2006/relationships"><Relationship Id="rId1" Type="http://schemas.openxmlformats.org/officeDocument/2006/relationships/package" Target="../embeddings/Microsoft_Excel_Sheet1407.xlsx"/></Relationships>
</file>

<file path=ppt/charts/_rels/chart1408.xml.rels><?xml version='1.0' encoding='UTF-8' standalone='yes'?>
<Relationships xmlns="http://schemas.openxmlformats.org/package/2006/relationships"><Relationship Id="rId1" Type="http://schemas.openxmlformats.org/officeDocument/2006/relationships/package" Target="../embeddings/Microsoft_Excel_Sheet1408.xlsx"/></Relationships>
</file>

<file path=ppt/charts/_rels/chart1409.xml.rels><?xml version='1.0' encoding='UTF-8' standalone='yes'?>
<Relationships xmlns="http://schemas.openxmlformats.org/package/2006/relationships"><Relationship Id="rId1" Type="http://schemas.openxmlformats.org/officeDocument/2006/relationships/package" Target="../embeddings/Microsoft_Excel_Sheet1409.xlsx"/></Relationships>
</file>

<file path=ppt/charts/_rels/chart1410.xml.rels><?xml version='1.0' encoding='UTF-8' standalone='yes'?>
<Relationships xmlns="http://schemas.openxmlformats.org/package/2006/relationships"><Relationship Id="rId1" Type="http://schemas.openxmlformats.org/officeDocument/2006/relationships/package" Target="../embeddings/Microsoft_Excel_Sheet1410.xlsx"/></Relationships>
</file>

<file path=ppt/charts/_rels/chart1411.xml.rels><?xml version='1.0' encoding='UTF-8' standalone='yes'?>
<Relationships xmlns="http://schemas.openxmlformats.org/package/2006/relationships"><Relationship Id="rId1" Type="http://schemas.openxmlformats.org/officeDocument/2006/relationships/package" Target="../embeddings/Microsoft_Excel_Sheet1411.xlsx"/></Relationships>
</file>

<file path=ppt/charts/_rels/chart1412.xml.rels><?xml version='1.0' encoding='UTF-8' standalone='yes'?>
<Relationships xmlns="http://schemas.openxmlformats.org/package/2006/relationships"><Relationship Id="rId1" Type="http://schemas.openxmlformats.org/officeDocument/2006/relationships/package" Target="../embeddings/Microsoft_Excel_Sheet1412.xlsx"/></Relationships>
</file>

<file path=ppt/charts/_rels/chart1413.xml.rels><?xml version='1.0' encoding='UTF-8' standalone='yes'?>
<Relationships xmlns="http://schemas.openxmlformats.org/package/2006/relationships"><Relationship Id="rId1" Type="http://schemas.openxmlformats.org/officeDocument/2006/relationships/package" Target="../embeddings/Microsoft_Excel_Sheet1413.xlsx"/></Relationships>
</file>

<file path=ppt/charts/_rels/chart1414.xml.rels><?xml version='1.0' encoding='UTF-8' standalone='yes'?>
<Relationships xmlns="http://schemas.openxmlformats.org/package/2006/relationships"><Relationship Id="rId1" Type="http://schemas.openxmlformats.org/officeDocument/2006/relationships/package" Target="../embeddings/Microsoft_Excel_Sheet1414.xlsx"/></Relationships>
</file>

<file path=ppt/charts/_rels/chart1415.xml.rels><?xml version='1.0' encoding='UTF-8' standalone='yes'?>
<Relationships xmlns="http://schemas.openxmlformats.org/package/2006/relationships"><Relationship Id="rId1" Type="http://schemas.openxmlformats.org/officeDocument/2006/relationships/package" Target="../embeddings/Microsoft_Excel_Sheet1415.xlsx"/></Relationships>
</file>

<file path=ppt/charts/_rels/chart1416.xml.rels><?xml version='1.0' encoding='UTF-8' standalone='yes'?>
<Relationships xmlns="http://schemas.openxmlformats.org/package/2006/relationships"><Relationship Id="rId1" Type="http://schemas.openxmlformats.org/officeDocument/2006/relationships/package" Target="../embeddings/Microsoft_Excel_Sheet1416.xlsx"/></Relationships>
</file>

<file path=ppt/charts/_rels/chart1417.xml.rels><?xml version='1.0' encoding='UTF-8' standalone='yes'?>
<Relationships xmlns="http://schemas.openxmlformats.org/package/2006/relationships"><Relationship Id="rId1" Type="http://schemas.openxmlformats.org/officeDocument/2006/relationships/package" Target="../embeddings/Microsoft_Excel_Sheet1417.xlsx"/></Relationships>
</file>

<file path=ppt/charts/_rels/chart1418.xml.rels><?xml version='1.0' encoding='UTF-8' standalone='yes'?>
<Relationships xmlns="http://schemas.openxmlformats.org/package/2006/relationships"><Relationship Id="rId1" Type="http://schemas.openxmlformats.org/officeDocument/2006/relationships/package" Target="../embeddings/Microsoft_Excel_Sheet1418.xlsx"/></Relationships>
</file>

<file path=ppt/charts/_rels/chart1419.xml.rels><?xml version='1.0' encoding='UTF-8' standalone='yes'?>
<Relationships xmlns="http://schemas.openxmlformats.org/package/2006/relationships"><Relationship Id="rId1" Type="http://schemas.openxmlformats.org/officeDocument/2006/relationships/package" Target="../embeddings/Microsoft_Excel_Sheet1419.xlsx"/></Relationships>
</file>

<file path=ppt/charts/_rels/chart1420.xml.rels><?xml version='1.0' encoding='UTF-8' standalone='yes'?>
<Relationships xmlns="http://schemas.openxmlformats.org/package/2006/relationships"><Relationship Id="rId1" Type="http://schemas.openxmlformats.org/officeDocument/2006/relationships/package" Target="../embeddings/Microsoft_Excel_Sheet1420.xlsx"/></Relationships>
</file>

<file path=ppt/charts/_rels/chart1421.xml.rels><?xml version='1.0' encoding='UTF-8' standalone='yes'?>
<Relationships xmlns="http://schemas.openxmlformats.org/package/2006/relationships"><Relationship Id="rId1" Type="http://schemas.openxmlformats.org/officeDocument/2006/relationships/package" Target="../embeddings/Microsoft_Excel_Sheet1421.xlsx"/></Relationships>
</file>

<file path=ppt/charts/_rels/chart1422.xml.rels><?xml version='1.0' encoding='UTF-8' standalone='yes'?>
<Relationships xmlns="http://schemas.openxmlformats.org/package/2006/relationships"><Relationship Id="rId1" Type="http://schemas.openxmlformats.org/officeDocument/2006/relationships/package" Target="../embeddings/Microsoft_Excel_Sheet1422.xlsx"/></Relationships>
</file>

<file path=ppt/charts/_rels/chart1423.xml.rels><?xml version='1.0' encoding='UTF-8' standalone='yes'?>
<Relationships xmlns="http://schemas.openxmlformats.org/package/2006/relationships"><Relationship Id="rId1" Type="http://schemas.openxmlformats.org/officeDocument/2006/relationships/package" Target="../embeddings/Microsoft_Excel_Sheet1423.xlsx"/></Relationships>
</file>

<file path=ppt/charts/_rels/chart1424.xml.rels><?xml version='1.0' encoding='UTF-8' standalone='yes'?>
<Relationships xmlns="http://schemas.openxmlformats.org/package/2006/relationships"><Relationship Id="rId1" Type="http://schemas.openxmlformats.org/officeDocument/2006/relationships/package" Target="../embeddings/Microsoft_Excel_Sheet1424.xlsx"/></Relationships>
</file>

<file path=ppt/charts/_rels/chart1425.xml.rels><?xml version='1.0' encoding='UTF-8' standalone='yes'?>
<Relationships xmlns="http://schemas.openxmlformats.org/package/2006/relationships"><Relationship Id="rId1" Type="http://schemas.openxmlformats.org/officeDocument/2006/relationships/package" Target="../embeddings/Microsoft_Excel_Sheet1425.xlsx"/></Relationships>
</file>

<file path=ppt/charts/_rels/chart1426.xml.rels><?xml version='1.0' encoding='UTF-8' standalone='yes'?>
<Relationships xmlns="http://schemas.openxmlformats.org/package/2006/relationships"><Relationship Id="rId1" Type="http://schemas.openxmlformats.org/officeDocument/2006/relationships/package" Target="../embeddings/Microsoft_Excel_Sheet1426.xlsx"/></Relationships>
</file>

<file path=ppt/charts/_rels/chart1427.xml.rels><?xml version='1.0' encoding='UTF-8' standalone='yes'?>
<Relationships xmlns="http://schemas.openxmlformats.org/package/2006/relationships"><Relationship Id="rId1" Type="http://schemas.openxmlformats.org/officeDocument/2006/relationships/package" Target="../embeddings/Microsoft_Excel_Sheet1427.xlsx"/></Relationships>
</file>

<file path=ppt/charts/_rels/chart1428.xml.rels><?xml version='1.0' encoding='UTF-8' standalone='yes'?>
<Relationships xmlns="http://schemas.openxmlformats.org/package/2006/relationships"><Relationship Id="rId1" Type="http://schemas.openxmlformats.org/officeDocument/2006/relationships/package" Target="../embeddings/Microsoft_Excel_Sheet1428.xlsx"/></Relationships>
</file>

<file path=ppt/charts/_rels/chart1429.xml.rels><?xml version='1.0' encoding='UTF-8' standalone='yes'?>
<Relationships xmlns="http://schemas.openxmlformats.org/package/2006/relationships"><Relationship Id="rId1" Type="http://schemas.openxmlformats.org/officeDocument/2006/relationships/package" Target="../embeddings/Microsoft_Excel_Sheet1429.xlsx"/></Relationships>
</file>

<file path=ppt/charts/_rels/chart1430.xml.rels><?xml version='1.0' encoding='UTF-8' standalone='yes'?>
<Relationships xmlns="http://schemas.openxmlformats.org/package/2006/relationships"><Relationship Id="rId1" Type="http://schemas.openxmlformats.org/officeDocument/2006/relationships/package" Target="../embeddings/Microsoft_Excel_Sheet1430.xlsx"/></Relationships>
</file>

<file path=ppt/charts/_rels/chart1431.xml.rels><?xml version='1.0' encoding='UTF-8' standalone='yes'?>
<Relationships xmlns="http://schemas.openxmlformats.org/package/2006/relationships"><Relationship Id="rId1" Type="http://schemas.openxmlformats.org/officeDocument/2006/relationships/package" Target="../embeddings/Microsoft_Excel_Sheet1431.xlsx"/></Relationships>
</file>

<file path=ppt/charts/_rels/chart1432.xml.rels><?xml version='1.0' encoding='UTF-8' standalone='yes'?>
<Relationships xmlns="http://schemas.openxmlformats.org/package/2006/relationships"><Relationship Id="rId1" Type="http://schemas.openxmlformats.org/officeDocument/2006/relationships/package" Target="../embeddings/Microsoft_Excel_Sheet1432.xlsx"/></Relationships>
</file>

<file path=ppt/charts/_rels/chart1433.xml.rels><?xml version='1.0' encoding='UTF-8' standalone='yes'?>
<Relationships xmlns="http://schemas.openxmlformats.org/package/2006/relationships"><Relationship Id="rId1" Type="http://schemas.openxmlformats.org/officeDocument/2006/relationships/package" Target="../embeddings/Microsoft_Excel_Sheet1433.xlsx"/></Relationships>
</file>

<file path=ppt/charts/_rels/chart1434.xml.rels><?xml version='1.0' encoding='UTF-8' standalone='yes'?>
<Relationships xmlns="http://schemas.openxmlformats.org/package/2006/relationships"><Relationship Id="rId1" Type="http://schemas.openxmlformats.org/officeDocument/2006/relationships/package" Target="../embeddings/Microsoft_Excel_Sheet1434.xlsx"/></Relationships>
</file>

<file path=ppt/charts/_rels/chart1435.xml.rels><?xml version='1.0' encoding='UTF-8' standalone='yes'?>
<Relationships xmlns="http://schemas.openxmlformats.org/package/2006/relationships"><Relationship Id="rId1" Type="http://schemas.openxmlformats.org/officeDocument/2006/relationships/package" Target="../embeddings/Microsoft_Excel_Sheet1435.xlsx"/></Relationships>
</file>

<file path=ppt/charts/_rels/chart1436.xml.rels><?xml version='1.0' encoding='UTF-8' standalone='yes'?>
<Relationships xmlns="http://schemas.openxmlformats.org/package/2006/relationships"><Relationship Id="rId1" Type="http://schemas.openxmlformats.org/officeDocument/2006/relationships/package" Target="../embeddings/Microsoft_Excel_Sheet1436.xlsx"/></Relationships>
</file>

<file path=ppt/charts/_rels/chart1437.xml.rels><?xml version='1.0' encoding='UTF-8' standalone='yes'?>
<Relationships xmlns="http://schemas.openxmlformats.org/package/2006/relationships"><Relationship Id="rId1" Type="http://schemas.openxmlformats.org/officeDocument/2006/relationships/package" Target="../embeddings/Microsoft_Excel_Sheet1437.xlsx"/></Relationships>
</file>

<file path=ppt/charts/_rels/chart1438.xml.rels><?xml version='1.0' encoding='UTF-8' standalone='yes'?>
<Relationships xmlns="http://schemas.openxmlformats.org/package/2006/relationships"><Relationship Id="rId1" Type="http://schemas.openxmlformats.org/officeDocument/2006/relationships/package" Target="../embeddings/Microsoft_Excel_Sheet1438.xlsx"/></Relationships>
</file>

<file path=ppt/charts/_rels/chart1439.xml.rels><?xml version='1.0' encoding='UTF-8' standalone='yes'?>
<Relationships xmlns="http://schemas.openxmlformats.org/package/2006/relationships"><Relationship Id="rId1" Type="http://schemas.openxmlformats.org/officeDocument/2006/relationships/package" Target="../embeddings/Microsoft_Excel_Sheet1439.xlsx"/></Relationships>
</file>

<file path=ppt/charts/_rels/chart1440.xml.rels><?xml version='1.0' encoding='UTF-8' standalone='yes'?>
<Relationships xmlns="http://schemas.openxmlformats.org/package/2006/relationships"><Relationship Id="rId1" Type="http://schemas.openxmlformats.org/officeDocument/2006/relationships/package" Target="../embeddings/Microsoft_Excel_Sheet1440.xlsx"/></Relationships>
</file>

<file path=ppt/charts/_rels/chart1441.xml.rels><?xml version='1.0' encoding='UTF-8' standalone='yes'?>
<Relationships xmlns="http://schemas.openxmlformats.org/package/2006/relationships"><Relationship Id="rId1" Type="http://schemas.openxmlformats.org/officeDocument/2006/relationships/package" Target="../embeddings/Microsoft_Excel_Sheet1441.xlsx"/></Relationships>
</file>

<file path=ppt/charts/_rels/chart1442.xml.rels><?xml version='1.0' encoding='UTF-8' standalone='yes'?>
<Relationships xmlns="http://schemas.openxmlformats.org/package/2006/relationships"><Relationship Id="rId1" Type="http://schemas.openxmlformats.org/officeDocument/2006/relationships/package" Target="../embeddings/Microsoft_Excel_Sheet1442.xlsx"/></Relationships>
</file>

<file path=ppt/charts/_rels/chart1443.xml.rels><?xml version='1.0' encoding='UTF-8' standalone='yes'?>
<Relationships xmlns="http://schemas.openxmlformats.org/package/2006/relationships"><Relationship Id="rId1" Type="http://schemas.openxmlformats.org/officeDocument/2006/relationships/package" Target="../embeddings/Microsoft_Excel_Sheet1443.xlsx"/></Relationships>
</file>

<file path=ppt/charts/_rels/chart1444.xml.rels><?xml version='1.0' encoding='UTF-8' standalone='yes'?>
<Relationships xmlns="http://schemas.openxmlformats.org/package/2006/relationships"><Relationship Id="rId1" Type="http://schemas.openxmlformats.org/officeDocument/2006/relationships/package" Target="../embeddings/Microsoft_Excel_Sheet1444.xlsx"/></Relationships>
</file>

<file path=ppt/charts/_rels/chart1445.xml.rels><?xml version='1.0' encoding='UTF-8' standalone='yes'?>
<Relationships xmlns="http://schemas.openxmlformats.org/package/2006/relationships"><Relationship Id="rId1" Type="http://schemas.openxmlformats.org/officeDocument/2006/relationships/package" Target="../embeddings/Microsoft_Excel_Sheet1445.xlsx"/></Relationships>
</file>

<file path=ppt/charts/_rels/chart1446.xml.rels><?xml version='1.0' encoding='UTF-8' standalone='yes'?>
<Relationships xmlns="http://schemas.openxmlformats.org/package/2006/relationships"><Relationship Id="rId1" Type="http://schemas.openxmlformats.org/officeDocument/2006/relationships/package" Target="../embeddings/Microsoft_Excel_Sheet1446.xlsx"/></Relationships>
</file>

<file path=ppt/charts/_rels/chart1447.xml.rels><?xml version='1.0' encoding='UTF-8' standalone='yes'?>
<Relationships xmlns="http://schemas.openxmlformats.org/package/2006/relationships"><Relationship Id="rId1" Type="http://schemas.openxmlformats.org/officeDocument/2006/relationships/package" Target="../embeddings/Microsoft_Excel_Sheet1447.xlsx"/></Relationships>
</file>

<file path=ppt/charts/_rels/chart1448.xml.rels><?xml version='1.0' encoding='UTF-8' standalone='yes'?>
<Relationships xmlns="http://schemas.openxmlformats.org/package/2006/relationships"><Relationship Id="rId1" Type="http://schemas.openxmlformats.org/officeDocument/2006/relationships/package" Target="../embeddings/Microsoft_Excel_Sheet1448.xlsx"/></Relationships>
</file>

<file path=ppt/charts/_rels/chart1449.xml.rels><?xml version='1.0' encoding='UTF-8' standalone='yes'?>
<Relationships xmlns="http://schemas.openxmlformats.org/package/2006/relationships"><Relationship Id="rId1" Type="http://schemas.openxmlformats.org/officeDocument/2006/relationships/package" Target="../embeddings/Microsoft_Excel_Sheet1449.xlsx"/></Relationships>
</file>

<file path=ppt/charts/_rels/chart1450.xml.rels><?xml version='1.0' encoding='UTF-8' standalone='yes'?>
<Relationships xmlns="http://schemas.openxmlformats.org/package/2006/relationships"><Relationship Id="rId1" Type="http://schemas.openxmlformats.org/officeDocument/2006/relationships/package" Target="../embeddings/Microsoft_Excel_Sheet1450.xlsx"/></Relationships>
</file>

<file path=ppt/charts/_rels/chart1451.xml.rels><?xml version='1.0' encoding='UTF-8' standalone='yes'?>
<Relationships xmlns="http://schemas.openxmlformats.org/package/2006/relationships"><Relationship Id="rId1" Type="http://schemas.openxmlformats.org/officeDocument/2006/relationships/package" Target="../embeddings/Microsoft_Excel_Sheet1451.xlsx"/></Relationships>
</file>

<file path=ppt/charts/_rels/chart1452.xml.rels><?xml version='1.0' encoding='UTF-8' standalone='yes'?>
<Relationships xmlns="http://schemas.openxmlformats.org/package/2006/relationships"><Relationship Id="rId1" Type="http://schemas.openxmlformats.org/officeDocument/2006/relationships/package" Target="../embeddings/Microsoft_Excel_Sheet1452.xlsx"/></Relationships>
</file>

<file path=ppt/charts/_rels/chart1453.xml.rels><?xml version='1.0' encoding='UTF-8' standalone='yes'?>
<Relationships xmlns="http://schemas.openxmlformats.org/package/2006/relationships"><Relationship Id="rId1" Type="http://schemas.openxmlformats.org/officeDocument/2006/relationships/package" Target="../embeddings/Microsoft_Excel_Sheet1453.xlsx"/></Relationships>
</file>

<file path=ppt/charts/_rels/chart1454.xml.rels><?xml version='1.0' encoding='UTF-8' standalone='yes'?>
<Relationships xmlns="http://schemas.openxmlformats.org/package/2006/relationships"><Relationship Id="rId1" Type="http://schemas.openxmlformats.org/officeDocument/2006/relationships/package" Target="../embeddings/Microsoft_Excel_Sheet1454.xlsx"/></Relationships>
</file>

<file path=ppt/charts/_rels/chart1455.xml.rels><?xml version='1.0' encoding='UTF-8' standalone='yes'?>
<Relationships xmlns="http://schemas.openxmlformats.org/package/2006/relationships"><Relationship Id="rId1" Type="http://schemas.openxmlformats.org/officeDocument/2006/relationships/package" Target="../embeddings/Microsoft_Excel_Sheet1455.xlsx"/></Relationships>
</file>

<file path=ppt/charts/_rels/chart1456.xml.rels><?xml version='1.0' encoding='UTF-8' standalone='yes'?>
<Relationships xmlns="http://schemas.openxmlformats.org/package/2006/relationships"><Relationship Id="rId1" Type="http://schemas.openxmlformats.org/officeDocument/2006/relationships/package" Target="../embeddings/Microsoft_Excel_Sheet1456.xlsx"/></Relationships>
</file>

<file path=ppt/charts/_rels/chart1457.xml.rels><?xml version='1.0' encoding='UTF-8' standalone='yes'?>
<Relationships xmlns="http://schemas.openxmlformats.org/package/2006/relationships"><Relationship Id="rId1" Type="http://schemas.openxmlformats.org/officeDocument/2006/relationships/package" Target="../embeddings/Microsoft_Excel_Sheet1457.xlsx"/></Relationships>
</file>

<file path=ppt/charts/_rels/chart1458.xml.rels><?xml version='1.0' encoding='UTF-8' standalone='yes'?>
<Relationships xmlns="http://schemas.openxmlformats.org/package/2006/relationships"><Relationship Id="rId1" Type="http://schemas.openxmlformats.org/officeDocument/2006/relationships/package" Target="../embeddings/Microsoft_Excel_Sheet1458.xlsx"/></Relationships>
</file>

<file path=ppt/charts/_rels/chart1459.xml.rels><?xml version='1.0' encoding='UTF-8' standalone='yes'?>
<Relationships xmlns="http://schemas.openxmlformats.org/package/2006/relationships"><Relationship Id="rId1" Type="http://schemas.openxmlformats.org/officeDocument/2006/relationships/package" Target="../embeddings/Microsoft_Excel_Sheet1459.xlsx"/></Relationships>
</file>

<file path=ppt/charts/_rels/chart1460.xml.rels><?xml version='1.0' encoding='UTF-8' standalone='yes'?>
<Relationships xmlns="http://schemas.openxmlformats.org/package/2006/relationships"><Relationship Id="rId1" Type="http://schemas.openxmlformats.org/officeDocument/2006/relationships/package" Target="../embeddings/Microsoft_Excel_Sheet1460.xlsx"/></Relationships>
</file>

<file path=ppt/charts/_rels/chart1461.xml.rels><?xml version='1.0' encoding='UTF-8' standalone='yes'?>
<Relationships xmlns="http://schemas.openxmlformats.org/package/2006/relationships"><Relationship Id="rId1" Type="http://schemas.openxmlformats.org/officeDocument/2006/relationships/package" Target="../embeddings/Microsoft_Excel_Sheet1461.xlsx"/></Relationships>
</file>

<file path=ppt/charts/_rels/chart1462.xml.rels><?xml version='1.0' encoding='UTF-8' standalone='yes'?>
<Relationships xmlns="http://schemas.openxmlformats.org/package/2006/relationships"><Relationship Id="rId1" Type="http://schemas.openxmlformats.org/officeDocument/2006/relationships/package" Target="../embeddings/Microsoft_Excel_Sheet1462.xlsx"/></Relationships>
</file>

<file path=ppt/charts/_rels/chart1463.xml.rels><?xml version='1.0' encoding='UTF-8' standalone='yes'?>
<Relationships xmlns="http://schemas.openxmlformats.org/package/2006/relationships"><Relationship Id="rId1" Type="http://schemas.openxmlformats.org/officeDocument/2006/relationships/package" Target="../embeddings/Microsoft_Excel_Sheet1463.xlsx"/></Relationships>
</file>

<file path=ppt/charts/_rels/chart1464.xml.rels><?xml version='1.0' encoding='UTF-8' standalone='yes'?>
<Relationships xmlns="http://schemas.openxmlformats.org/package/2006/relationships"><Relationship Id="rId1" Type="http://schemas.openxmlformats.org/officeDocument/2006/relationships/package" Target="../embeddings/Microsoft_Excel_Sheet1464.xlsx"/></Relationships>
</file>

<file path=ppt/charts/_rels/chart1465.xml.rels><?xml version='1.0' encoding='UTF-8' standalone='yes'?>
<Relationships xmlns="http://schemas.openxmlformats.org/package/2006/relationships"><Relationship Id="rId1" Type="http://schemas.openxmlformats.org/officeDocument/2006/relationships/package" Target="../embeddings/Microsoft_Excel_Sheet1465.xlsx"/></Relationships>
</file>

<file path=ppt/charts/_rels/chart1466.xml.rels><?xml version='1.0' encoding='UTF-8' standalone='yes'?>
<Relationships xmlns="http://schemas.openxmlformats.org/package/2006/relationships"><Relationship Id="rId1" Type="http://schemas.openxmlformats.org/officeDocument/2006/relationships/package" Target="../embeddings/Microsoft_Excel_Sheet1466.xlsx"/></Relationships>
</file>

<file path=ppt/charts/_rels/chart1467.xml.rels><?xml version='1.0' encoding='UTF-8' standalone='yes'?>
<Relationships xmlns="http://schemas.openxmlformats.org/package/2006/relationships"><Relationship Id="rId1" Type="http://schemas.openxmlformats.org/officeDocument/2006/relationships/package" Target="../embeddings/Microsoft_Excel_Sheet1467.xlsx"/></Relationships>
</file>

<file path=ppt/charts/_rels/chart1468.xml.rels><?xml version='1.0' encoding='UTF-8' standalone='yes'?>
<Relationships xmlns="http://schemas.openxmlformats.org/package/2006/relationships"><Relationship Id="rId1" Type="http://schemas.openxmlformats.org/officeDocument/2006/relationships/package" Target="../embeddings/Microsoft_Excel_Sheet1468.xlsx"/></Relationships>
</file>

<file path=ppt/charts/_rels/chart1469.xml.rels><?xml version='1.0' encoding='UTF-8' standalone='yes'?>
<Relationships xmlns="http://schemas.openxmlformats.org/package/2006/relationships"><Relationship Id="rId1" Type="http://schemas.openxmlformats.org/officeDocument/2006/relationships/package" Target="../embeddings/Microsoft_Excel_Sheet1469.xlsx"/></Relationships>
</file>

<file path=ppt/charts/_rels/chart1470.xml.rels><?xml version='1.0' encoding='UTF-8' standalone='yes'?>
<Relationships xmlns="http://schemas.openxmlformats.org/package/2006/relationships"><Relationship Id="rId1" Type="http://schemas.openxmlformats.org/officeDocument/2006/relationships/package" Target="../embeddings/Microsoft_Excel_Sheet1470.xlsx"/></Relationships>
</file>

<file path=ppt/charts/_rels/chart1471.xml.rels><?xml version='1.0' encoding='UTF-8' standalone='yes'?>
<Relationships xmlns="http://schemas.openxmlformats.org/package/2006/relationships"><Relationship Id="rId1" Type="http://schemas.openxmlformats.org/officeDocument/2006/relationships/package" Target="../embeddings/Microsoft_Excel_Sheet1471.xlsx"/></Relationships>
</file>

<file path=ppt/charts/_rels/chart1472.xml.rels><?xml version='1.0' encoding='UTF-8' standalone='yes'?>
<Relationships xmlns="http://schemas.openxmlformats.org/package/2006/relationships"><Relationship Id="rId1" Type="http://schemas.openxmlformats.org/officeDocument/2006/relationships/package" Target="../embeddings/Microsoft_Excel_Sheet1472.xlsx"/></Relationships>
</file>

<file path=ppt/charts/_rels/chart1473.xml.rels><?xml version='1.0' encoding='UTF-8' standalone='yes'?>
<Relationships xmlns="http://schemas.openxmlformats.org/package/2006/relationships"><Relationship Id="rId1" Type="http://schemas.openxmlformats.org/officeDocument/2006/relationships/package" Target="../embeddings/Microsoft_Excel_Sheet1473.xlsx"/></Relationships>
</file>

<file path=ppt/charts/_rels/chart1474.xml.rels><?xml version='1.0' encoding='UTF-8' standalone='yes'?>
<Relationships xmlns="http://schemas.openxmlformats.org/package/2006/relationships"><Relationship Id="rId1" Type="http://schemas.openxmlformats.org/officeDocument/2006/relationships/package" Target="../embeddings/Microsoft_Excel_Sheet1474.xlsx"/></Relationships>
</file>

<file path=ppt/charts/_rels/chart1475.xml.rels><?xml version='1.0' encoding='UTF-8' standalone='yes'?>
<Relationships xmlns="http://schemas.openxmlformats.org/package/2006/relationships"><Relationship Id="rId1" Type="http://schemas.openxmlformats.org/officeDocument/2006/relationships/package" Target="../embeddings/Microsoft_Excel_Sheet1475.xlsx"/></Relationships>
</file>

<file path=ppt/charts/_rels/chart1476.xml.rels><?xml version='1.0' encoding='UTF-8' standalone='yes'?>
<Relationships xmlns="http://schemas.openxmlformats.org/package/2006/relationships"><Relationship Id="rId1" Type="http://schemas.openxmlformats.org/officeDocument/2006/relationships/package" Target="../embeddings/Microsoft_Excel_Sheet1476.xlsx"/></Relationships>
</file>

<file path=ppt/charts/_rels/chart1477.xml.rels><?xml version='1.0' encoding='UTF-8' standalone='yes'?>
<Relationships xmlns="http://schemas.openxmlformats.org/package/2006/relationships"><Relationship Id="rId1" Type="http://schemas.openxmlformats.org/officeDocument/2006/relationships/package" Target="../embeddings/Microsoft_Excel_Sheet1477.xlsx"/></Relationships>
</file>

<file path=ppt/charts/_rels/chart1478.xml.rels><?xml version='1.0' encoding='UTF-8' standalone='yes'?>
<Relationships xmlns="http://schemas.openxmlformats.org/package/2006/relationships"><Relationship Id="rId1" Type="http://schemas.openxmlformats.org/officeDocument/2006/relationships/package" Target="../embeddings/Microsoft_Excel_Sheet1478.xlsx"/></Relationships>
</file>

<file path=ppt/charts/_rels/chart1479.xml.rels><?xml version='1.0' encoding='UTF-8' standalone='yes'?>
<Relationships xmlns="http://schemas.openxmlformats.org/package/2006/relationships"><Relationship Id="rId1" Type="http://schemas.openxmlformats.org/officeDocument/2006/relationships/package" Target="../embeddings/Microsoft_Excel_Sheet1479.xlsx"/></Relationships>
</file>

<file path=ppt/charts/_rels/chart1480.xml.rels><?xml version='1.0' encoding='UTF-8' standalone='yes'?>
<Relationships xmlns="http://schemas.openxmlformats.org/package/2006/relationships"><Relationship Id="rId1" Type="http://schemas.openxmlformats.org/officeDocument/2006/relationships/package" Target="../embeddings/Microsoft_Excel_Sheet1480.xlsx"/></Relationships>
</file>

<file path=ppt/charts/_rels/chart1481.xml.rels><?xml version='1.0' encoding='UTF-8' standalone='yes'?>
<Relationships xmlns="http://schemas.openxmlformats.org/package/2006/relationships"><Relationship Id="rId1" Type="http://schemas.openxmlformats.org/officeDocument/2006/relationships/package" Target="../embeddings/Microsoft_Excel_Sheet1481.xlsx"/></Relationships>
</file>

<file path=ppt/charts/_rels/chart1482.xml.rels><?xml version='1.0' encoding='UTF-8' standalone='yes'?>
<Relationships xmlns="http://schemas.openxmlformats.org/package/2006/relationships"><Relationship Id="rId1" Type="http://schemas.openxmlformats.org/officeDocument/2006/relationships/package" Target="../embeddings/Microsoft_Excel_Sheet1482.xlsx"/></Relationships>
</file>

<file path=ppt/charts/_rels/chart1483.xml.rels><?xml version='1.0' encoding='UTF-8' standalone='yes'?>
<Relationships xmlns="http://schemas.openxmlformats.org/package/2006/relationships"><Relationship Id="rId1" Type="http://schemas.openxmlformats.org/officeDocument/2006/relationships/package" Target="../embeddings/Microsoft_Excel_Sheet1483.xlsx"/></Relationships>
</file>

<file path=ppt/charts/_rels/chart1484.xml.rels><?xml version='1.0' encoding='UTF-8' standalone='yes'?>
<Relationships xmlns="http://schemas.openxmlformats.org/package/2006/relationships"><Relationship Id="rId1" Type="http://schemas.openxmlformats.org/officeDocument/2006/relationships/package" Target="../embeddings/Microsoft_Excel_Sheet1484.xlsx"/></Relationships>
</file>

<file path=ppt/charts/_rels/chart1485.xml.rels><?xml version='1.0' encoding='UTF-8' standalone='yes'?>
<Relationships xmlns="http://schemas.openxmlformats.org/package/2006/relationships"><Relationship Id="rId1" Type="http://schemas.openxmlformats.org/officeDocument/2006/relationships/package" Target="../embeddings/Microsoft_Excel_Sheet1485.xlsx"/></Relationships>
</file>

<file path=ppt/charts/_rels/chart1486.xml.rels><?xml version='1.0' encoding='UTF-8' standalone='yes'?>
<Relationships xmlns="http://schemas.openxmlformats.org/package/2006/relationships"><Relationship Id="rId1" Type="http://schemas.openxmlformats.org/officeDocument/2006/relationships/package" Target="../embeddings/Microsoft_Excel_Sheet1486.xlsx"/></Relationships>
</file>

<file path=ppt/charts/_rels/chart1487.xml.rels><?xml version='1.0' encoding='UTF-8' standalone='yes'?>
<Relationships xmlns="http://schemas.openxmlformats.org/package/2006/relationships"><Relationship Id="rId1" Type="http://schemas.openxmlformats.org/officeDocument/2006/relationships/package" Target="../embeddings/Microsoft_Excel_Sheet1487.xlsx"/></Relationships>
</file>

<file path=ppt/charts/_rels/chart1488.xml.rels><?xml version='1.0' encoding='UTF-8' standalone='yes'?>
<Relationships xmlns="http://schemas.openxmlformats.org/package/2006/relationships"><Relationship Id="rId1" Type="http://schemas.openxmlformats.org/officeDocument/2006/relationships/package" Target="../embeddings/Microsoft_Excel_Sheet1488.xlsx"/></Relationships>
</file>

<file path=ppt/charts/_rels/chart1489.xml.rels><?xml version='1.0' encoding='UTF-8' standalone='yes'?>
<Relationships xmlns="http://schemas.openxmlformats.org/package/2006/relationships"><Relationship Id="rId1" Type="http://schemas.openxmlformats.org/officeDocument/2006/relationships/package" Target="../embeddings/Microsoft_Excel_Sheet1489.xlsx"/></Relationships>
</file>

<file path=ppt/charts/_rels/chart1490.xml.rels><?xml version='1.0' encoding='UTF-8' standalone='yes'?>
<Relationships xmlns="http://schemas.openxmlformats.org/package/2006/relationships"><Relationship Id="rId1" Type="http://schemas.openxmlformats.org/officeDocument/2006/relationships/package" Target="../embeddings/Microsoft_Excel_Sheet1490.xlsx"/></Relationships>
</file>

<file path=ppt/charts/_rels/chart1491.xml.rels><?xml version='1.0' encoding='UTF-8' standalone='yes'?>
<Relationships xmlns="http://schemas.openxmlformats.org/package/2006/relationships"><Relationship Id="rId1" Type="http://schemas.openxmlformats.org/officeDocument/2006/relationships/package" Target="../embeddings/Microsoft_Excel_Sheet1491.xlsx"/></Relationships>
</file>

<file path=ppt/charts/_rels/chart1492.xml.rels><?xml version='1.0' encoding='UTF-8' standalone='yes'?>
<Relationships xmlns="http://schemas.openxmlformats.org/package/2006/relationships"><Relationship Id="rId1" Type="http://schemas.openxmlformats.org/officeDocument/2006/relationships/package" Target="../embeddings/Microsoft_Excel_Sheet1492.xlsx"/></Relationships>
</file>

<file path=ppt/charts/_rels/chart1493.xml.rels><?xml version='1.0' encoding='UTF-8' standalone='yes'?>
<Relationships xmlns="http://schemas.openxmlformats.org/package/2006/relationships"><Relationship Id="rId1" Type="http://schemas.openxmlformats.org/officeDocument/2006/relationships/package" Target="../embeddings/Microsoft_Excel_Sheet1493.xlsx"/></Relationships>
</file>

<file path=ppt/charts/_rels/chart1494.xml.rels><?xml version='1.0' encoding='UTF-8' standalone='yes'?>
<Relationships xmlns="http://schemas.openxmlformats.org/package/2006/relationships"><Relationship Id="rId1" Type="http://schemas.openxmlformats.org/officeDocument/2006/relationships/package" Target="../embeddings/Microsoft_Excel_Sheet1494.xlsx"/></Relationships>
</file>

<file path=ppt/charts/_rels/chart1495.xml.rels><?xml version='1.0' encoding='UTF-8' standalone='yes'?>
<Relationships xmlns="http://schemas.openxmlformats.org/package/2006/relationships"><Relationship Id="rId1" Type="http://schemas.openxmlformats.org/officeDocument/2006/relationships/package" Target="../embeddings/Microsoft_Excel_Sheet1495.xlsx"/></Relationships>
</file>

<file path=ppt/charts/_rels/chart1496.xml.rels><?xml version='1.0' encoding='UTF-8' standalone='yes'?>
<Relationships xmlns="http://schemas.openxmlformats.org/package/2006/relationships"><Relationship Id="rId1" Type="http://schemas.openxmlformats.org/officeDocument/2006/relationships/package" Target="../embeddings/Microsoft_Excel_Sheet1496.xlsx"/></Relationships>
</file>

<file path=ppt/charts/_rels/chart1497.xml.rels><?xml version='1.0' encoding='UTF-8' standalone='yes'?>
<Relationships xmlns="http://schemas.openxmlformats.org/package/2006/relationships"><Relationship Id="rId1" Type="http://schemas.openxmlformats.org/officeDocument/2006/relationships/package" Target="../embeddings/Microsoft_Excel_Sheet1497.xlsx"/></Relationships>
</file>

<file path=ppt/charts/_rels/chart1498.xml.rels><?xml version='1.0' encoding='UTF-8' standalone='yes'?>
<Relationships xmlns="http://schemas.openxmlformats.org/package/2006/relationships"><Relationship Id="rId1" Type="http://schemas.openxmlformats.org/officeDocument/2006/relationships/package" Target="../embeddings/Microsoft_Excel_Sheet1498.xlsx"/></Relationships>
</file>

<file path=ppt/charts/_rels/chart1499.xml.rels><?xml version='1.0' encoding='UTF-8' standalone='yes'?>
<Relationships xmlns="http://schemas.openxmlformats.org/package/2006/relationships"><Relationship Id="rId1" Type="http://schemas.openxmlformats.org/officeDocument/2006/relationships/package" Target="../embeddings/Microsoft_Excel_Sheet1499.xlsx"/></Relationships>
</file>

<file path=ppt/charts/_rels/chart1500.xml.rels><?xml version='1.0' encoding='UTF-8' standalone='yes'?>
<Relationships xmlns="http://schemas.openxmlformats.org/package/2006/relationships"><Relationship Id="rId1" Type="http://schemas.openxmlformats.org/officeDocument/2006/relationships/package" Target="../embeddings/Microsoft_Excel_Sheet1500.xlsx"/></Relationships>
</file>

<file path=ppt/charts/_rels/chart1501.xml.rels><?xml version='1.0' encoding='UTF-8' standalone='yes'?>
<Relationships xmlns="http://schemas.openxmlformats.org/package/2006/relationships"><Relationship Id="rId1" Type="http://schemas.openxmlformats.org/officeDocument/2006/relationships/package" Target="../embeddings/Microsoft_Excel_Sheet1501.xlsx"/></Relationships>
</file>

<file path=ppt/charts/_rels/chart1502.xml.rels><?xml version='1.0' encoding='UTF-8' standalone='yes'?>
<Relationships xmlns="http://schemas.openxmlformats.org/package/2006/relationships"><Relationship Id="rId1" Type="http://schemas.openxmlformats.org/officeDocument/2006/relationships/package" Target="../embeddings/Microsoft_Excel_Sheet1502.xlsx"/></Relationships>
</file>

<file path=ppt/charts/_rels/chart1503.xml.rels><?xml version='1.0' encoding='UTF-8' standalone='yes'?>
<Relationships xmlns="http://schemas.openxmlformats.org/package/2006/relationships"><Relationship Id="rId1" Type="http://schemas.openxmlformats.org/officeDocument/2006/relationships/package" Target="../embeddings/Microsoft_Excel_Sheet1503.xlsx"/></Relationships>
</file>

<file path=ppt/charts/_rels/chart1504.xml.rels><?xml version='1.0' encoding='UTF-8' standalone='yes'?>
<Relationships xmlns="http://schemas.openxmlformats.org/package/2006/relationships"><Relationship Id="rId1" Type="http://schemas.openxmlformats.org/officeDocument/2006/relationships/package" Target="../embeddings/Microsoft_Excel_Sheet1504.xlsx"/></Relationships>
</file>

<file path=ppt/charts/_rels/chart1505.xml.rels><?xml version='1.0' encoding='UTF-8' standalone='yes'?>
<Relationships xmlns="http://schemas.openxmlformats.org/package/2006/relationships"><Relationship Id="rId1" Type="http://schemas.openxmlformats.org/officeDocument/2006/relationships/package" Target="../embeddings/Microsoft_Excel_Sheet1505.xlsx"/></Relationships>
</file>

<file path=ppt/charts/_rels/chart1506.xml.rels><?xml version='1.0' encoding='UTF-8' standalone='yes'?>
<Relationships xmlns="http://schemas.openxmlformats.org/package/2006/relationships"><Relationship Id="rId1" Type="http://schemas.openxmlformats.org/officeDocument/2006/relationships/package" Target="../embeddings/Microsoft_Excel_Sheet1506.xlsx"/></Relationships>
</file>

<file path=ppt/charts/_rels/chart1507.xml.rels><?xml version='1.0' encoding='UTF-8' standalone='yes'?>
<Relationships xmlns="http://schemas.openxmlformats.org/package/2006/relationships"><Relationship Id="rId1" Type="http://schemas.openxmlformats.org/officeDocument/2006/relationships/package" Target="../embeddings/Microsoft_Excel_Sheet1507.xlsx"/></Relationships>
</file>

<file path=ppt/charts/_rels/chart1508.xml.rels><?xml version='1.0' encoding='UTF-8' standalone='yes'?>
<Relationships xmlns="http://schemas.openxmlformats.org/package/2006/relationships"><Relationship Id="rId1" Type="http://schemas.openxmlformats.org/officeDocument/2006/relationships/package" Target="../embeddings/Microsoft_Excel_Sheet1508.xlsx"/></Relationships>
</file>

<file path=ppt/charts/_rels/chart1509.xml.rels><?xml version='1.0' encoding='UTF-8' standalone='yes'?>
<Relationships xmlns="http://schemas.openxmlformats.org/package/2006/relationships"><Relationship Id="rId1" Type="http://schemas.openxmlformats.org/officeDocument/2006/relationships/package" Target="../embeddings/Microsoft_Excel_Sheet1509.xlsx"/></Relationships>
</file>

<file path=ppt/charts/_rels/chart1510.xml.rels><?xml version='1.0' encoding='UTF-8' standalone='yes'?>
<Relationships xmlns="http://schemas.openxmlformats.org/package/2006/relationships"><Relationship Id="rId1" Type="http://schemas.openxmlformats.org/officeDocument/2006/relationships/package" Target="../embeddings/Microsoft_Excel_Sheet1510.xlsx"/></Relationships>
</file>

<file path=ppt/charts/_rels/chart1511.xml.rels><?xml version='1.0' encoding='UTF-8' standalone='yes'?>
<Relationships xmlns="http://schemas.openxmlformats.org/package/2006/relationships"><Relationship Id="rId1" Type="http://schemas.openxmlformats.org/officeDocument/2006/relationships/package" Target="../embeddings/Microsoft_Excel_Sheet1511.xlsx"/></Relationships>
</file>

<file path=ppt/charts/_rels/chart1512.xml.rels><?xml version='1.0' encoding='UTF-8' standalone='yes'?>
<Relationships xmlns="http://schemas.openxmlformats.org/package/2006/relationships"><Relationship Id="rId1" Type="http://schemas.openxmlformats.org/officeDocument/2006/relationships/package" Target="../embeddings/Microsoft_Excel_Sheet1512.xlsx"/></Relationships>
</file>

<file path=ppt/charts/_rels/chart1513.xml.rels><?xml version='1.0' encoding='UTF-8' standalone='yes'?>
<Relationships xmlns="http://schemas.openxmlformats.org/package/2006/relationships"><Relationship Id="rId1" Type="http://schemas.openxmlformats.org/officeDocument/2006/relationships/package" Target="../embeddings/Microsoft_Excel_Sheet1513.xlsx"/></Relationships>
</file>

<file path=ppt/charts/_rels/chart1514.xml.rels><?xml version='1.0' encoding='UTF-8' standalone='yes'?>
<Relationships xmlns="http://schemas.openxmlformats.org/package/2006/relationships"><Relationship Id="rId1" Type="http://schemas.openxmlformats.org/officeDocument/2006/relationships/package" Target="../embeddings/Microsoft_Excel_Sheet1514.xlsx"/></Relationships>
</file>

<file path=ppt/charts/_rels/chart1515.xml.rels><?xml version='1.0' encoding='UTF-8' standalone='yes'?>
<Relationships xmlns="http://schemas.openxmlformats.org/package/2006/relationships"><Relationship Id="rId1" Type="http://schemas.openxmlformats.org/officeDocument/2006/relationships/package" Target="../embeddings/Microsoft_Excel_Sheet1515.xlsx"/></Relationships>
</file>

<file path=ppt/charts/_rels/chart1516.xml.rels><?xml version='1.0' encoding='UTF-8' standalone='yes'?>
<Relationships xmlns="http://schemas.openxmlformats.org/package/2006/relationships"><Relationship Id="rId1" Type="http://schemas.openxmlformats.org/officeDocument/2006/relationships/package" Target="../embeddings/Microsoft_Excel_Sheet1516.xlsx"/></Relationships>
</file>

<file path=ppt/charts/_rels/chart1517.xml.rels><?xml version='1.0' encoding='UTF-8' standalone='yes'?>
<Relationships xmlns="http://schemas.openxmlformats.org/package/2006/relationships"><Relationship Id="rId1" Type="http://schemas.openxmlformats.org/officeDocument/2006/relationships/package" Target="../embeddings/Microsoft_Excel_Sheet1517.xlsx"/></Relationships>
</file>

<file path=ppt/charts/_rels/chart1518.xml.rels><?xml version='1.0' encoding='UTF-8' standalone='yes'?>
<Relationships xmlns="http://schemas.openxmlformats.org/package/2006/relationships"><Relationship Id="rId1" Type="http://schemas.openxmlformats.org/officeDocument/2006/relationships/package" Target="../embeddings/Microsoft_Excel_Sheet1518.xlsx"/></Relationships>
</file>

<file path=ppt/charts/_rels/chart1519.xml.rels><?xml version='1.0' encoding='UTF-8' standalone='yes'?>
<Relationships xmlns="http://schemas.openxmlformats.org/package/2006/relationships"><Relationship Id="rId1" Type="http://schemas.openxmlformats.org/officeDocument/2006/relationships/package" Target="../embeddings/Microsoft_Excel_Sheet1519.xlsx"/></Relationships>
</file>

<file path=ppt/charts/_rels/chart1520.xml.rels><?xml version='1.0' encoding='UTF-8' standalone='yes'?>
<Relationships xmlns="http://schemas.openxmlformats.org/package/2006/relationships"><Relationship Id="rId1" Type="http://schemas.openxmlformats.org/officeDocument/2006/relationships/package" Target="../embeddings/Microsoft_Excel_Sheet1520.xlsx"/></Relationships>
</file>

<file path=ppt/charts/_rels/chart1521.xml.rels><?xml version='1.0' encoding='UTF-8' standalone='yes'?>
<Relationships xmlns="http://schemas.openxmlformats.org/package/2006/relationships"><Relationship Id="rId1" Type="http://schemas.openxmlformats.org/officeDocument/2006/relationships/package" Target="../embeddings/Microsoft_Excel_Sheet1521.xlsx"/></Relationships>
</file>

<file path=ppt/charts/_rels/chart1522.xml.rels><?xml version='1.0' encoding='UTF-8' standalone='yes'?>
<Relationships xmlns="http://schemas.openxmlformats.org/package/2006/relationships"><Relationship Id="rId1" Type="http://schemas.openxmlformats.org/officeDocument/2006/relationships/package" Target="../embeddings/Microsoft_Excel_Sheet1522.xlsx"/></Relationships>
</file>

<file path=ppt/charts/_rels/chart1523.xml.rels><?xml version='1.0' encoding='UTF-8' standalone='yes'?>
<Relationships xmlns="http://schemas.openxmlformats.org/package/2006/relationships"><Relationship Id="rId1" Type="http://schemas.openxmlformats.org/officeDocument/2006/relationships/package" Target="../embeddings/Microsoft_Excel_Sheet1523.xlsx"/></Relationships>
</file>

<file path=ppt/charts/_rels/chart1524.xml.rels><?xml version='1.0' encoding='UTF-8' standalone='yes'?>
<Relationships xmlns="http://schemas.openxmlformats.org/package/2006/relationships"><Relationship Id="rId1" Type="http://schemas.openxmlformats.org/officeDocument/2006/relationships/package" Target="../embeddings/Microsoft_Excel_Sheet1524.xlsx"/></Relationships>
</file>

<file path=ppt/charts/_rels/chart1525.xml.rels><?xml version='1.0' encoding='UTF-8' standalone='yes'?>
<Relationships xmlns="http://schemas.openxmlformats.org/package/2006/relationships"><Relationship Id="rId1" Type="http://schemas.openxmlformats.org/officeDocument/2006/relationships/package" Target="../embeddings/Microsoft_Excel_Sheet1525.xlsx"/></Relationships>
</file>

<file path=ppt/charts/_rels/chart1526.xml.rels><?xml version='1.0' encoding='UTF-8' standalone='yes'?>
<Relationships xmlns="http://schemas.openxmlformats.org/package/2006/relationships"><Relationship Id="rId1" Type="http://schemas.openxmlformats.org/officeDocument/2006/relationships/package" Target="../embeddings/Microsoft_Excel_Sheet1526.xlsx"/></Relationships>
</file>

<file path=ppt/charts/_rels/chart1527.xml.rels><?xml version='1.0' encoding='UTF-8' standalone='yes'?>
<Relationships xmlns="http://schemas.openxmlformats.org/package/2006/relationships"><Relationship Id="rId1" Type="http://schemas.openxmlformats.org/officeDocument/2006/relationships/package" Target="../embeddings/Microsoft_Excel_Sheet1527.xlsx"/></Relationships>
</file>

<file path=ppt/charts/_rels/chart1528.xml.rels><?xml version='1.0' encoding='UTF-8' standalone='yes'?>
<Relationships xmlns="http://schemas.openxmlformats.org/package/2006/relationships"><Relationship Id="rId1" Type="http://schemas.openxmlformats.org/officeDocument/2006/relationships/package" Target="../embeddings/Microsoft_Excel_Sheet1528.xlsx"/></Relationships>
</file>

<file path=ppt/charts/_rels/chart1529.xml.rels><?xml version='1.0' encoding='UTF-8' standalone='yes'?>
<Relationships xmlns="http://schemas.openxmlformats.org/package/2006/relationships"><Relationship Id="rId1" Type="http://schemas.openxmlformats.org/officeDocument/2006/relationships/package" Target="../embeddings/Microsoft_Excel_Sheet1529.xlsx"/></Relationships>
</file>

<file path=ppt/charts/_rels/chart1530.xml.rels><?xml version='1.0' encoding='UTF-8' standalone='yes'?>
<Relationships xmlns="http://schemas.openxmlformats.org/package/2006/relationships"><Relationship Id="rId1" Type="http://schemas.openxmlformats.org/officeDocument/2006/relationships/package" Target="../embeddings/Microsoft_Excel_Sheet1530.xlsx"/></Relationships>
</file>

<file path=ppt/charts/_rels/chart1531.xml.rels><?xml version='1.0' encoding='UTF-8' standalone='yes'?>
<Relationships xmlns="http://schemas.openxmlformats.org/package/2006/relationships"><Relationship Id="rId1" Type="http://schemas.openxmlformats.org/officeDocument/2006/relationships/package" Target="../embeddings/Microsoft_Excel_Sheet1531.xlsx"/></Relationships>
</file>

<file path=ppt/charts/_rels/chart1532.xml.rels><?xml version='1.0' encoding='UTF-8' standalone='yes'?>
<Relationships xmlns="http://schemas.openxmlformats.org/package/2006/relationships"><Relationship Id="rId1" Type="http://schemas.openxmlformats.org/officeDocument/2006/relationships/package" Target="../embeddings/Microsoft_Excel_Sheet1532.xlsx"/></Relationships>
</file>

<file path=ppt/charts/_rels/chart1533.xml.rels><?xml version='1.0' encoding='UTF-8' standalone='yes'?>
<Relationships xmlns="http://schemas.openxmlformats.org/package/2006/relationships"><Relationship Id="rId1" Type="http://schemas.openxmlformats.org/officeDocument/2006/relationships/package" Target="../embeddings/Microsoft_Excel_Sheet1533.xlsx"/></Relationships>
</file>

<file path=ppt/charts/_rels/chart1534.xml.rels><?xml version='1.0' encoding='UTF-8' standalone='yes'?>
<Relationships xmlns="http://schemas.openxmlformats.org/package/2006/relationships"><Relationship Id="rId1" Type="http://schemas.openxmlformats.org/officeDocument/2006/relationships/package" Target="../embeddings/Microsoft_Excel_Sheet1534.xlsx"/></Relationships>
</file>

<file path=ppt/charts/_rels/chart1535.xml.rels><?xml version='1.0' encoding='UTF-8' standalone='yes'?>
<Relationships xmlns="http://schemas.openxmlformats.org/package/2006/relationships"><Relationship Id="rId1" Type="http://schemas.openxmlformats.org/officeDocument/2006/relationships/package" Target="../embeddings/Microsoft_Excel_Sheet1535.xlsx"/></Relationships>
</file>

<file path=ppt/charts/_rels/chart1536.xml.rels><?xml version='1.0' encoding='UTF-8' standalone='yes'?>
<Relationships xmlns="http://schemas.openxmlformats.org/package/2006/relationships"><Relationship Id="rId1" Type="http://schemas.openxmlformats.org/officeDocument/2006/relationships/package" Target="../embeddings/Microsoft_Excel_Sheet1536.xlsx"/></Relationships>
</file>

<file path=ppt/charts/_rels/chart1537.xml.rels><?xml version='1.0' encoding='UTF-8' standalone='yes'?>
<Relationships xmlns="http://schemas.openxmlformats.org/package/2006/relationships"><Relationship Id="rId1" Type="http://schemas.openxmlformats.org/officeDocument/2006/relationships/package" Target="../embeddings/Microsoft_Excel_Sheet1537.xlsx"/></Relationships>
</file>

<file path=ppt/charts/_rels/chart1538.xml.rels><?xml version='1.0' encoding='UTF-8' standalone='yes'?>
<Relationships xmlns="http://schemas.openxmlformats.org/package/2006/relationships"><Relationship Id="rId1" Type="http://schemas.openxmlformats.org/officeDocument/2006/relationships/package" Target="../embeddings/Microsoft_Excel_Sheet1538.xlsx"/></Relationships>
</file>

<file path=ppt/charts/_rels/chart1539.xml.rels><?xml version='1.0' encoding='UTF-8' standalone='yes'?>
<Relationships xmlns="http://schemas.openxmlformats.org/package/2006/relationships"><Relationship Id="rId1" Type="http://schemas.openxmlformats.org/officeDocument/2006/relationships/package" Target="../embeddings/Microsoft_Excel_Sheet1539.xlsx"/></Relationships>
</file>

<file path=ppt/charts/_rels/chart1540.xml.rels><?xml version='1.0' encoding='UTF-8' standalone='yes'?>
<Relationships xmlns="http://schemas.openxmlformats.org/package/2006/relationships"><Relationship Id="rId1" Type="http://schemas.openxmlformats.org/officeDocument/2006/relationships/package" Target="../embeddings/Microsoft_Excel_Sheet1540.xlsx"/></Relationships>
</file>

<file path=ppt/charts/_rels/chart1541.xml.rels><?xml version='1.0' encoding='UTF-8' standalone='yes'?>
<Relationships xmlns="http://schemas.openxmlformats.org/package/2006/relationships"><Relationship Id="rId1" Type="http://schemas.openxmlformats.org/officeDocument/2006/relationships/package" Target="../embeddings/Microsoft_Excel_Sheet1541.xlsx"/></Relationships>
</file>

<file path=ppt/charts/_rels/chart1542.xml.rels><?xml version='1.0' encoding='UTF-8' standalone='yes'?>
<Relationships xmlns="http://schemas.openxmlformats.org/package/2006/relationships"><Relationship Id="rId1" Type="http://schemas.openxmlformats.org/officeDocument/2006/relationships/package" Target="../embeddings/Microsoft_Excel_Sheet1542.xlsx"/></Relationships>
</file>

<file path=ppt/charts/_rels/chart1543.xml.rels><?xml version='1.0' encoding='UTF-8' standalone='yes'?>
<Relationships xmlns="http://schemas.openxmlformats.org/package/2006/relationships"><Relationship Id="rId1" Type="http://schemas.openxmlformats.org/officeDocument/2006/relationships/package" Target="../embeddings/Microsoft_Excel_Sheet1543.xlsx"/></Relationships>
</file>

<file path=ppt/charts/_rels/chart1544.xml.rels><?xml version='1.0' encoding='UTF-8' standalone='yes'?>
<Relationships xmlns="http://schemas.openxmlformats.org/package/2006/relationships"><Relationship Id="rId1" Type="http://schemas.openxmlformats.org/officeDocument/2006/relationships/package" Target="../embeddings/Microsoft_Excel_Sheet1544.xlsx"/></Relationships>
</file>

<file path=ppt/charts/_rels/chart1545.xml.rels><?xml version='1.0' encoding='UTF-8' standalone='yes'?>
<Relationships xmlns="http://schemas.openxmlformats.org/package/2006/relationships"><Relationship Id="rId1" Type="http://schemas.openxmlformats.org/officeDocument/2006/relationships/package" Target="../embeddings/Microsoft_Excel_Sheet1545.xlsx"/></Relationships>
</file>

<file path=ppt/charts/_rels/chart1546.xml.rels><?xml version='1.0' encoding='UTF-8' standalone='yes'?>
<Relationships xmlns="http://schemas.openxmlformats.org/package/2006/relationships"><Relationship Id="rId1" Type="http://schemas.openxmlformats.org/officeDocument/2006/relationships/package" Target="../embeddings/Microsoft_Excel_Sheet1546.xlsx"/></Relationships>
</file>

<file path=ppt/charts/_rels/chart1547.xml.rels><?xml version='1.0' encoding='UTF-8' standalone='yes'?>
<Relationships xmlns="http://schemas.openxmlformats.org/package/2006/relationships"><Relationship Id="rId1" Type="http://schemas.openxmlformats.org/officeDocument/2006/relationships/package" Target="../embeddings/Microsoft_Excel_Sheet1547.xlsx"/></Relationships>
</file>

<file path=ppt/charts/_rels/chart1548.xml.rels><?xml version='1.0' encoding='UTF-8' standalone='yes'?>
<Relationships xmlns="http://schemas.openxmlformats.org/package/2006/relationships"><Relationship Id="rId1" Type="http://schemas.openxmlformats.org/officeDocument/2006/relationships/package" Target="../embeddings/Microsoft_Excel_Sheet1548.xlsx"/></Relationships>
</file>

<file path=ppt/charts/_rels/chart1549.xml.rels><?xml version='1.0' encoding='UTF-8' standalone='yes'?>
<Relationships xmlns="http://schemas.openxmlformats.org/package/2006/relationships"><Relationship Id="rId1" Type="http://schemas.openxmlformats.org/officeDocument/2006/relationships/package" Target="../embeddings/Microsoft_Excel_Sheet1549.xlsx"/></Relationships>
</file>

<file path=ppt/charts/_rels/chart1550.xml.rels><?xml version='1.0' encoding='UTF-8' standalone='yes'?>
<Relationships xmlns="http://schemas.openxmlformats.org/package/2006/relationships"><Relationship Id="rId1" Type="http://schemas.openxmlformats.org/officeDocument/2006/relationships/package" Target="../embeddings/Microsoft_Excel_Sheet1550.xlsx"/></Relationships>
</file>

<file path=ppt/charts/_rels/chart1551.xml.rels><?xml version='1.0' encoding='UTF-8' standalone='yes'?>
<Relationships xmlns="http://schemas.openxmlformats.org/package/2006/relationships"><Relationship Id="rId1" Type="http://schemas.openxmlformats.org/officeDocument/2006/relationships/package" Target="../embeddings/Microsoft_Excel_Sheet1551.xlsx"/></Relationships>
</file>

<file path=ppt/charts/_rels/chart1552.xml.rels><?xml version='1.0' encoding='UTF-8' standalone='yes'?>
<Relationships xmlns="http://schemas.openxmlformats.org/package/2006/relationships"><Relationship Id="rId1" Type="http://schemas.openxmlformats.org/officeDocument/2006/relationships/package" Target="../embeddings/Microsoft_Excel_Sheet1552.xlsx"/></Relationships>
</file>

<file path=ppt/charts/_rels/chart1553.xml.rels><?xml version='1.0' encoding='UTF-8' standalone='yes'?>
<Relationships xmlns="http://schemas.openxmlformats.org/package/2006/relationships"><Relationship Id="rId1" Type="http://schemas.openxmlformats.org/officeDocument/2006/relationships/package" Target="../embeddings/Microsoft_Excel_Sheet1553.xlsx"/></Relationships>
</file>

<file path=ppt/charts/_rels/chart1554.xml.rels><?xml version='1.0' encoding='UTF-8' standalone='yes'?>
<Relationships xmlns="http://schemas.openxmlformats.org/package/2006/relationships"><Relationship Id="rId1" Type="http://schemas.openxmlformats.org/officeDocument/2006/relationships/package" Target="../embeddings/Microsoft_Excel_Sheet1554.xlsx"/></Relationships>
</file>

<file path=ppt/charts/_rels/chart1555.xml.rels><?xml version='1.0' encoding='UTF-8' standalone='yes'?>
<Relationships xmlns="http://schemas.openxmlformats.org/package/2006/relationships"><Relationship Id="rId1" Type="http://schemas.openxmlformats.org/officeDocument/2006/relationships/package" Target="../embeddings/Microsoft_Excel_Sheet1555.xlsx"/></Relationships>
</file>

<file path=ppt/charts/_rels/chart1556.xml.rels><?xml version='1.0' encoding='UTF-8' standalone='yes'?>
<Relationships xmlns="http://schemas.openxmlformats.org/package/2006/relationships"><Relationship Id="rId1" Type="http://schemas.openxmlformats.org/officeDocument/2006/relationships/package" Target="../embeddings/Microsoft_Excel_Sheet1556.xlsx"/></Relationships>
</file>

<file path=ppt/charts/_rels/chart1557.xml.rels><?xml version='1.0' encoding='UTF-8' standalone='yes'?>
<Relationships xmlns="http://schemas.openxmlformats.org/package/2006/relationships"><Relationship Id="rId1" Type="http://schemas.openxmlformats.org/officeDocument/2006/relationships/package" Target="../embeddings/Microsoft_Excel_Sheet1557.xlsx"/></Relationships>
</file>

<file path=ppt/charts/_rels/chart1558.xml.rels><?xml version='1.0' encoding='UTF-8' standalone='yes'?>
<Relationships xmlns="http://schemas.openxmlformats.org/package/2006/relationships"><Relationship Id="rId1" Type="http://schemas.openxmlformats.org/officeDocument/2006/relationships/package" Target="../embeddings/Microsoft_Excel_Sheet1558.xlsx"/></Relationships>
</file>

<file path=ppt/charts/_rels/chart1559.xml.rels><?xml version='1.0' encoding='UTF-8' standalone='yes'?>
<Relationships xmlns="http://schemas.openxmlformats.org/package/2006/relationships"><Relationship Id="rId1" Type="http://schemas.openxmlformats.org/officeDocument/2006/relationships/package" Target="../embeddings/Microsoft_Excel_Sheet1559.xlsx"/></Relationships>
</file>

<file path=ppt/charts/_rels/chart1560.xml.rels><?xml version='1.0' encoding='UTF-8' standalone='yes'?>
<Relationships xmlns="http://schemas.openxmlformats.org/package/2006/relationships"><Relationship Id="rId1" Type="http://schemas.openxmlformats.org/officeDocument/2006/relationships/package" Target="../embeddings/Microsoft_Excel_Sheet1560.xlsx"/></Relationships>
</file>

<file path=ppt/charts/_rels/chart1561.xml.rels><?xml version='1.0' encoding='UTF-8' standalone='yes'?>
<Relationships xmlns="http://schemas.openxmlformats.org/package/2006/relationships"><Relationship Id="rId1" Type="http://schemas.openxmlformats.org/officeDocument/2006/relationships/package" Target="../embeddings/Microsoft_Excel_Sheet1561.xlsx"/></Relationships>
</file>

<file path=ppt/charts/_rels/chart1562.xml.rels><?xml version='1.0' encoding='UTF-8' standalone='yes'?>
<Relationships xmlns="http://schemas.openxmlformats.org/package/2006/relationships"><Relationship Id="rId1" Type="http://schemas.openxmlformats.org/officeDocument/2006/relationships/package" Target="../embeddings/Microsoft_Excel_Sheet1562.xlsx"/></Relationships>
</file>

<file path=ppt/charts/_rels/chart1563.xml.rels><?xml version='1.0' encoding='UTF-8' standalone='yes'?>
<Relationships xmlns="http://schemas.openxmlformats.org/package/2006/relationships"><Relationship Id="rId1" Type="http://schemas.openxmlformats.org/officeDocument/2006/relationships/package" Target="../embeddings/Microsoft_Excel_Sheet1563.xlsx"/></Relationships>
</file>

<file path=ppt/charts/_rels/chart1564.xml.rels><?xml version='1.0' encoding='UTF-8' standalone='yes'?>
<Relationships xmlns="http://schemas.openxmlformats.org/package/2006/relationships"><Relationship Id="rId1" Type="http://schemas.openxmlformats.org/officeDocument/2006/relationships/package" Target="../embeddings/Microsoft_Excel_Sheet1564.xlsx"/></Relationships>
</file>

<file path=ppt/charts/_rels/chart1565.xml.rels><?xml version='1.0' encoding='UTF-8' standalone='yes'?>
<Relationships xmlns="http://schemas.openxmlformats.org/package/2006/relationships"><Relationship Id="rId1" Type="http://schemas.openxmlformats.org/officeDocument/2006/relationships/package" Target="../embeddings/Microsoft_Excel_Sheet1565.xlsx"/></Relationships>
</file>

<file path=ppt/charts/_rels/chart1566.xml.rels><?xml version='1.0' encoding='UTF-8' standalone='yes'?>
<Relationships xmlns="http://schemas.openxmlformats.org/package/2006/relationships"><Relationship Id="rId1" Type="http://schemas.openxmlformats.org/officeDocument/2006/relationships/package" Target="../embeddings/Microsoft_Excel_Sheet1566.xlsx"/></Relationships>
</file>

<file path=ppt/charts/_rels/chart1567.xml.rels><?xml version='1.0' encoding='UTF-8' standalone='yes'?>
<Relationships xmlns="http://schemas.openxmlformats.org/package/2006/relationships"><Relationship Id="rId1" Type="http://schemas.openxmlformats.org/officeDocument/2006/relationships/package" Target="../embeddings/Microsoft_Excel_Sheet1567.xlsx"/></Relationships>
</file>

<file path=ppt/charts/_rels/chart1568.xml.rels><?xml version='1.0' encoding='UTF-8' standalone='yes'?>
<Relationships xmlns="http://schemas.openxmlformats.org/package/2006/relationships"><Relationship Id="rId1" Type="http://schemas.openxmlformats.org/officeDocument/2006/relationships/package" Target="../embeddings/Microsoft_Excel_Sheet1568.xlsx"/></Relationships>
</file>

<file path=ppt/charts/_rels/chart1569.xml.rels><?xml version='1.0' encoding='UTF-8' standalone='yes'?>
<Relationships xmlns="http://schemas.openxmlformats.org/package/2006/relationships"><Relationship Id="rId1" Type="http://schemas.openxmlformats.org/officeDocument/2006/relationships/package" Target="../embeddings/Microsoft_Excel_Sheet1569.xlsx"/></Relationships>
</file>

<file path=ppt/charts/_rels/chart1570.xml.rels><?xml version='1.0' encoding='UTF-8' standalone='yes'?>
<Relationships xmlns="http://schemas.openxmlformats.org/package/2006/relationships"><Relationship Id="rId1" Type="http://schemas.openxmlformats.org/officeDocument/2006/relationships/package" Target="../embeddings/Microsoft_Excel_Sheet1570.xlsx"/></Relationships>
</file>

<file path=ppt/charts/_rels/chart1571.xml.rels><?xml version='1.0' encoding='UTF-8' standalone='yes'?>
<Relationships xmlns="http://schemas.openxmlformats.org/package/2006/relationships"><Relationship Id="rId1" Type="http://schemas.openxmlformats.org/officeDocument/2006/relationships/package" Target="../embeddings/Microsoft_Excel_Sheet1571.xlsx"/></Relationships>
</file>

<file path=ppt/charts/_rels/chart1572.xml.rels><?xml version='1.0' encoding='UTF-8' standalone='yes'?>
<Relationships xmlns="http://schemas.openxmlformats.org/package/2006/relationships"><Relationship Id="rId1" Type="http://schemas.openxmlformats.org/officeDocument/2006/relationships/package" Target="../embeddings/Microsoft_Excel_Sheet1572.xlsx"/></Relationships>
</file>

<file path=ppt/charts/_rels/chart1573.xml.rels><?xml version='1.0' encoding='UTF-8' standalone='yes'?>
<Relationships xmlns="http://schemas.openxmlformats.org/package/2006/relationships"><Relationship Id="rId1" Type="http://schemas.openxmlformats.org/officeDocument/2006/relationships/package" Target="../embeddings/Microsoft_Excel_Sheet1573.xlsx"/></Relationships>
</file>

<file path=ppt/charts/_rels/chart1574.xml.rels><?xml version='1.0' encoding='UTF-8' standalone='yes'?>
<Relationships xmlns="http://schemas.openxmlformats.org/package/2006/relationships"><Relationship Id="rId1" Type="http://schemas.openxmlformats.org/officeDocument/2006/relationships/package" Target="../embeddings/Microsoft_Excel_Sheet1574.xlsx"/></Relationships>
</file>

<file path=ppt/charts/_rels/chart1575.xml.rels><?xml version='1.0' encoding='UTF-8' standalone='yes'?>
<Relationships xmlns="http://schemas.openxmlformats.org/package/2006/relationships"><Relationship Id="rId1" Type="http://schemas.openxmlformats.org/officeDocument/2006/relationships/package" Target="../embeddings/Microsoft_Excel_Sheet1575.xlsx"/></Relationships>
</file>

<file path=ppt/charts/_rels/chart1576.xml.rels><?xml version='1.0' encoding='UTF-8' standalone='yes'?>
<Relationships xmlns="http://schemas.openxmlformats.org/package/2006/relationships"><Relationship Id="rId1" Type="http://schemas.openxmlformats.org/officeDocument/2006/relationships/package" Target="../embeddings/Microsoft_Excel_Sheet1576.xlsx"/></Relationships>
</file>

<file path=ppt/charts/_rels/chart1577.xml.rels><?xml version='1.0' encoding='UTF-8' standalone='yes'?>
<Relationships xmlns="http://schemas.openxmlformats.org/package/2006/relationships"><Relationship Id="rId1" Type="http://schemas.openxmlformats.org/officeDocument/2006/relationships/package" Target="../embeddings/Microsoft_Excel_Sheet1577.xlsx"/></Relationships>
</file>

<file path=ppt/charts/_rels/chart1578.xml.rels><?xml version='1.0' encoding='UTF-8' standalone='yes'?>
<Relationships xmlns="http://schemas.openxmlformats.org/package/2006/relationships"><Relationship Id="rId1" Type="http://schemas.openxmlformats.org/officeDocument/2006/relationships/package" Target="../embeddings/Microsoft_Excel_Sheet1578.xlsx"/></Relationships>
</file>

<file path=ppt/charts/_rels/chart1579.xml.rels><?xml version='1.0' encoding='UTF-8' standalone='yes'?>
<Relationships xmlns="http://schemas.openxmlformats.org/package/2006/relationships"><Relationship Id="rId1" Type="http://schemas.openxmlformats.org/officeDocument/2006/relationships/package" Target="../embeddings/Microsoft_Excel_Sheet1579.xlsx"/></Relationships>
</file>

<file path=ppt/charts/_rels/chart1580.xml.rels><?xml version='1.0' encoding='UTF-8' standalone='yes'?>
<Relationships xmlns="http://schemas.openxmlformats.org/package/2006/relationships"><Relationship Id="rId1" Type="http://schemas.openxmlformats.org/officeDocument/2006/relationships/package" Target="../embeddings/Microsoft_Excel_Sheet1580.xlsx"/></Relationships>
</file>

<file path=ppt/charts/_rels/chart1581.xml.rels><?xml version='1.0' encoding='UTF-8' standalone='yes'?>
<Relationships xmlns="http://schemas.openxmlformats.org/package/2006/relationships"><Relationship Id="rId1" Type="http://schemas.openxmlformats.org/officeDocument/2006/relationships/package" Target="../embeddings/Microsoft_Excel_Sheet1581.xlsx"/></Relationships>
</file>

<file path=ppt/charts/_rels/chart1582.xml.rels><?xml version='1.0' encoding='UTF-8' standalone='yes'?>
<Relationships xmlns="http://schemas.openxmlformats.org/package/2006/relationships"><Relationship Id="rId1" Type="http://schemas.openxmlformats.org/officeDocument/2006/relationships/package" Target="../embeddings/Microsoft_Excel_Sheet1582.xlsx"/></Relationships>
</file>

<file path=ppt/charts/_rels/chart1583.xml.rels><?xml version='1.0' encoding='UTF-8' standalone='yes'?>
<Relationships xmlns="http://schemas.openxmlformats.org/package/2006/relationships"><Relationship Id="rId1" Type="http://schemas.openxmlformats.org/officeDocument/2006/relationships/package" Target="../embeddings/Microsoft_Excel_Sheet1583.xlsx"/></Relationships>
</file>

<file path=ppt/charts/_rels/chart1584.xml.rels><?xml version='1.0' encoding='UTF-8' standalone='yes'?>
<Relationships xmlns="http://schemas.openxmlformats.org/package/2006/relationships"><Relationship Id="rId1" Type="http://schemas.openxmlformats.org/officeDocument/2006/relationships/package" Target="../embeddings/Microsoft_Excel_Sheet1584.xlsx"/></Relationships>
</file>

<file path=ppt/charts/_rels/chart1585.xml.rels><?xml version='1.0' encoding='UTF-8' standalone='yes'?>
<Relationships xmlns="http://schemas.openxmlformats.org/package/2006/relationships"><Relationship Id="rId1" Type="http://schemas.openxmlformats.org/officeDocument/2006/relationships/package" Target="../embeddings/Microsoft_Excel_Sheet1585.xlsx"/></Relationships>
</file>

<file path=ppt/charts/_rels/chart1586.xml.rels><?xml version='1.0' encoding='UTF-8' standalone='yes'?>
<Relationships xmlns="http://schemas.openxmlformats.org/package/2006/relationships"><Relationship Id="rId1" Type="http://schemas.openxmlformats.org/officeDocument/2006/relationships/package" Target="../embeddings/Microsoft_Excel_Sheet1586.xlsx"/></Relationships>
</file>

<file path=ppt/charts/_rels/chart1587.xml.rels><?xml version='1.0' encoding='UTF-8' standalone='yes'?>
<Relationships xmlns="http://schemas.openxmlformats.org/package/2006/relationships"><Relationship Id="rId1" Type="http://schemas.openxmlformats.org/officeDocument/2006/relationships/package" Target="../embeddings/Microsoft_Excel_Sheet1587.xlsx"/></Relationships>
</file>

<file path=ppt/charts/_rels/chart1588.xml.rels><?xml version='1.0' encoding='UTF-8' standalone='yes'?>
<Relationships xmlns="http://schemas.openxmlformats.org/package/2006/relationships"><Relationship Id="rId1" Type="http://schemas.openxmlformats.org/officeDocument/2006/relationships/package" Target="../embeddings/Microsoft_Excel_Sheet1588.xlsx"/></Relationships>
</file>

<file path=ppt/charts/_rels/chart1589.xml.rels><?xml version='1.0' encoding='UTF-8' standalone='yes'?>
<Relationships xmlns="http://schemas.openxmlformats.org/package/2006/relationships"><Relationship Id="rId1" Type="http://schemas.openxmlformats.org/officeDocument/2006/relationships/package" Target="../embeddings/Microsoft_Excel_Sheet1589.xlsx"/></Relationships>
</file>

<file path=ppt/charts/_rels/chart1590.xml.rels><?xml version='1.0' encoding='UTF-8' standalone='yes'?>
<Relationships xmlns="http://schemas.openxmlformats.org/package/2006/relationships"><Relationship Id="rId1" Type="http://schemas.openxmlformats.org/officeDocument/2006/relationships/package" Target="../embeddings/Microsoft_Excel_Sheet1590.xlsx"/></Relationships>
</file>

<file path=ppt/charts/_rels/chart1591.xml.rels><?xml version='1.0' encoding='UTF-8' standalone='yes'?>
<Relationships xmlns="http://schemas.openxmlformats.org/package/2006/relationships"><Relationship Id="rId1" Type="http://schemas.openxmlformats.org/officeDocument/2006/relationships/package" Target="../embeddings/Microsoft_Excel_Sheet1591.xlsx"/></Relationships>
</file>

<file path=ppt/charts/_rels/chart1592.xml.rels><?xml version='1.0' encoding='UTF-8' standalone='yes'?>
<Relationships xmlns="http://schemas.openxmlformats.org/package/2006/relationships"><Relationship Id="rId1" Type="http://schemas.openxmlformats.org/officeDocument/2006/relationships/package" Target="../embeddings/Microsoft_Excel_Sheet1592.xlsx"/></Relationships>
</file>

<file path=ppt/charts/_rels/chart1593.xml.rels><?xml version='1.0' encoding='UTF-8' standalone='yes'?>
<Relationships xmlns="http://schemas.openxmlformats.org/package/2006/relationships"><Relationship Id="rId1" Type="http://schemas.openxmlformats.org/officeDocument/2006/relationships/package" Target="../embeddings/Microsoft_Excel_Sheet1593.xlsx"/></Relationships>
</file>

<file path=ppt/charts/_rels/chart1594.xml.rels><?xml version='1.0' encoding='UTF-8' standalone='yes'?>
<Relationships xmlns="http://schemas.openxmlformats.org/package/2006/relationships"><Relationship Id="rId1" Type="http://schemas.openxmlformats.org/officeDocument/2006/relationships/package" Target="../embeddings/Microsoft_Excel_Sheet1594.xlsx"/></Relationships>
</file>

<file path=ppt/charts/_rels/chart1595.xml.rels><?xml version='1.0' encoding='UTF-8' standalone='yes'?>
<Relationships xmlns="http://schemas.openxmlformats.org/package/2006/relationships"><Relationship Id="rId1" Type="http://schemas.openxmlformats.org/officeDocument/2006/relationships/package" Target="../embeddings/Microsoft_Excel_Sheet1595.xlsx"/></Relationships>
</file>

<file path=ppt/charts/_rels/chart1596.xml.rels><?xml version='1.0' encoding='UTF-8' standalone='yes'?>
<Relationships xmlns="http://schemas.openxmlformats.org/package/2006/relationships"><Relationship Id="rId1" Type="http://schemas.openxmlformats.org/officeDocument/2006/relationships/package" Target="../embeddings/Microsoft_Excel_Sheet1596.xlsx"/></Relationships>
</file>

<file path=ppt/charts/_rels/chart1597.xml.rels><?xml version='1.0' encoding='UTF-8' standalone='yes'?>
<Relationships xmlns="http://schemas.openxmlformats.org/package/2006/relationships"><Relationship Id="rId1" Type="http://schemas.openxmlformats.org/officeDocument/2006/relationships/package" Target="../embeddings/Microsoft_Excel_Sheet1597.xlsx"/></Relationships>
</file>

<file path=ppt/charts/_rels/chart1598.xml.rels><?xml version='1.0' encoding='UTF-8' standalone='yes'?>
<Relationships xmlns="http://schemas.openxmlformats.org/package/2006/relationships"><Relationship Id="rId1" Type="http://schemas.openxmlformats.org/officeDocument/2006/relationships/package" Target="../embeddings/Microsoft_Excel_Sheet1598.xlsx"/></Relationships>
</file>

<file path=ppt/charts/_rels/chart1599.xml.rels><?xml version='1.0' encoding='UTF-8' standalone='yes'?>
<Relationships xmlns="http://schemas.openxmlformats.org/package/2006/relationships"><Relationship Id="rId1" Type="http://schemas.openxmlformats.org/officeDocument/2006/relationships/package" Target="../embeddings/Microsoft_Excel_Sheet1599.xlsx"/></Relationships>
</file>

<file path=ppt/charts/_rels/chart1600.xml.rels><?xml version='1.0' encoding='UTF-8' standalone='yes'?>
<Relationships xmlns="http://schemas.openxmlformats.org/package/2006/relationships"><Relationship Id="rId1" Type="http://schemas.openxmlformats.org/officeDocument/2006/relationships/package" Target="../embeddings/Microsoft_Excel_Sheet1600.xlsx"/></Relationships>
</file>

<file path=ppt/charts/_rels/chart1601.xml.rels><?xml version='1.0' encoding='UTF-8' standalone='yes'?>
<Relationships xmlns="http://schemas.openxmlformats.org/package/2006/relationships"><Relationship Id="rId1" Type="http://schemas.openxmlformats.org/officeDocument/2006/relationships/package" Target="../embeddings/Microsoft_Excel_Sheet1601.xlsx"/></Relationships>
</file>

<file path=ppt/charts/_rels/chart1602.xml.rels><?xml version='1.0' encoding='UTF-8' standalone='yes'?>
<Relationships xmlns="http://schemas.openxmlformats.org/package/2006/relationships"><Relationship Id="rId1" Type="http://schemas.openxmlformats.org/officeDocument/2006/relationships/package" Target="../embeddings/Microsoft_Excel_Sheet1602.xlsx"/></Relationships>
</file>

<file path=ppt/charts/_rels/chart1603.xml.rels><?xml version='1.0' encoding='UTF-8' standalone='yes'?>
<Relationships xmlns="http://schemas.openxmlformats.org/package/2006/relationships"><Relationship Id="rId1" Type="http://schemas.openxmlformats.org/officeDocument/2006/relationships/package" Target="../embeddings/Microsoft_Excel_Sheet1603.xlsx"/></Relationships>
</file>

<file path=ppt/charts/_rels/chart1604.xml.rels><?xml version='1.0' encoding='UTF-8' standalone='yes'?>
<Relationships xmlns="http://schemas.openxmlformats.org/package/2006/relationships"><Relationship Id="rId1" Type="http://schemas.openxmlformats.org/officeDocument/2006/relationships/package" Target="../embeddings/Microsoft_Excel_Sheet1604.xlsx"/></Relationships>
</file>

<file path=ppt/charts/_rels/chart1605.xml.rels><?xml version='1.0' encoding='UTF-8' standalone='yes'?>
<Relationships xmlns="http://schemas.openxmlformats.org/package/2006/relationships"><Relationship Id="rId1" Type="http://schemas.openxmlformats.org/officeDocument/2006/relationships/package" Target="../embeddings/Microsoft_Excel_Sheet1605.xlsx"/></Relationships>
</file>

<file path=ppt/charts/_rels/chart1606.xml.rels><?xml version='1.0' encoding='UTF-8' standalone='yes'?>
<Relationships xmlns="http://schemas.openxmlformats.org/package/2006/relationships"><Relationship Id="rId1" Type="http://schemas.openxmlformats.org/officeDocument/2006/relationships/package" Target="../embeddings/Microsoft_Excel_Sheet1606.xlsx"/></Relationships>
</file>

<file path=ppt/charts/chart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3.9561657063404976</c:v>
                </c:pt>
                <c:pt idx="1">
                  <c:v>5.245930274733035</c:v>
                </c:pt>
                <c:pt idx="2">
                  <c:v>4.81424050049839</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924627962647606"/>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6516.170999999999</c:v>
                </c:pt>
                <c:pt idx="2">
                  <c:v>0.0</c:v>
                </c:pt>
                <c:pt idx="3">
                  <c:v>7911.224999999999</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6516.170999999999</c:v>
                </c:pt>
                <c:pt idx="1">
                  <c:v>1395.054</c:v>
                </c:pt>
                <c:pt idx="2">
                  <c:v>7911.224999999999</c:v>
                </c:pt>
                <c:pt idx="3">
                  <c:v>5280.3560000000025</c:v>
                </c:pt>
                <c:pt idx="4">
                  <c:v>13191.581000000002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4.424178427375014</c:v>
                </c:pt>
                <c:pt idx="1">
                  <c:v>6.658666629421717</c:v>
                </c:pt>
                <c:pt idx="2">
                  <c:v>5.908574465499128</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8.789439950836666"/>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12971.563000000002</c:v>
                </c:pt>
                <c:pt idx="2">
                  <c:v>0.0</c:v>
                </c:pt>
                <c:pt idx="3">
                  <c:v>16106.368999999999</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12971.563000000002</c:v>
                </c:pt>
                <c:pt idx="1">
                  <c:v>3134.805999999997</c:v>
                </c:pt>
                <c:pt idx="2">
                  <c:v>16106.368999999999</c:v>
                </c:pt>
                <c:pt idx="3">
                  <c:v>14580.964000000004</c:v>
                </c:pt>
                <c:pt idx="4">
                  <c:v>30687.333000000002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Sheet1!$B$2:$B$6</c:f>
              <c:numCache>
                <c:formatCode>General</c:formatCode>
                <c:ptCount val="5"/>
                <c:pt idx="0">
                  <c:v>12971.563000000002</c:v>
                </c:pt>
                <c:pt idx="1">
                  <c:v>13518.921999999999</c:v>
                </c:pt>
                <c:pt idx="2">
                  <c:v>14090.616</c:v>
                </c:pt>
                <c:pt idx="3">
                  <c:v>14693.197999999999</c:v>
                </c:pt>
                <c:pt idx="4">
                  <c:v>15333.337</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Sheet1!$C$2:$C$6</c:f>
              <c:numCache>
                <c:formatCode>General</c:formatCode>
                <c:ptCount val="5"/>
                <c:pt idx="0">
                  <c:v>6516.170999999999</c:v>
                </c:pt>
                <c:pt idx="1">
                  <c:v>6771.067</c:v>
                </c:pt>
                <c:pt idx="2">
                  <c:v>7034.789</c:v>
                </c:pt>
                <c:pt idx="3">
                  <c:v>7306.778</c:v>
                </c:pt>
                <c:pt idx="4">
                  <c:v>7593.799000000001</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8093"/>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0328"/>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16106.368999999999</c:v>
                </c:pt>
                <c:pt idx="1">
                  <c:v>16980.106</c:v>
                </c:pt>
                <c:pt idx="2">
                  <c:v>17972.093</c:v>
                </c:pt>
                <c:pt idx="3">
                  <c:v>19096.247</c:v>
                </c:pt>
                <c:pt idx="4">
                  <c:v>20358.802</c:v>
                </c:pt>
                <c:pt idx="5">
                  <c:v>21755.294</c:v>
                </c:pt>
                <c:pt idx="6">
                  <c:v>23288.227</c:v>
                </c:pt>
                <c:pt idx="7">
                  <c:v>24948.037</c:v>
                </c:pt>
                <c:pt idx="8">
                  <c:v>26734.994000000002</c:v>
                </c:pt>
                <c:pt idx="9">
                  <c:v>28646.541000000005</c:v>
                </c:pt>
                <c:pt idx="10">
                  <c:v>30687.333000000002</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7911.224999999999</c:v>
                </c:pt>
                <c:pt idx="1">
                  <c:v>8265.333999999999</c:v>
                </c:pt>
                <c:pt idx="2">
                  <c:v>8662.288</c:v>
                </c:pt>
                <c:pt idx="3">
                  <c:v>9104.867</c:v>
                </c:pt>
                <c:pt idx="4">
                  <c:v>9591.561000000002</c:v>
                </c:pt>
                <c:pt idx="5">
                  <c:v>10117.371</c:v>
                </c:pt>
                <c:pt idx="6">
                  <c:v>10679.509</c:v>
                </c:pt>
                <c:pt idx="7">
                  <c:v>11272.147</c:v>
                </c:pt>
                <c:pt idx="8">
                  <c:v>11892.191</c:v>
                </c:pt>
                <c:pt idx="9">
                  <c:v>12531.947</c:v>
                </c:pt>
                <c:pt idx="10">
                  <c:v>13191.581000000002</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36211"/>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20212"/>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Sheet1!$A$2:$A$11</c:f>
              <c:strCache>
                <c:ptCount val="10"/>
                <c:pt idx="0">
                  <c:v>Canada</c:v>
                </c:pt>
                <c:pt idx="1">
                  <c:v>Spain</c:v>
                </c:pt>
                <c:pt idx="2">
                  <c:v>Brazil</c:v>
                </c:pt>
                <c:pt idx="3">
                  <c:v>China</c:v>
                </c:pt>
                <c:pt idx="4">
                  <c:v>Saudi Arabia</c:v>
                </c:pt>
                <c:pt idx="5">
                  <c:v>Mexico</c:v>
                </c:pt>
                <c:pt idx="6">
                  <c:v>Thailand</c:v>
                </c:pt>
                <c:pt idx="7">
                  <c:v>Turkey</c:v>
                </c:pt>
                <c:pt idx="8">
                  <c:v>Indonesia</c:v>
                </c:pt>
                <c:pt idx="9">
                  <c:v>India</c:v>
                </c:pt>
              </c:strCache>
            </c:strRef>
          </c:cat>
          <c:val>
            <c:numRef>
              <c:f>Sheet1!$B$2:$B$11</c:f>
              <c:numCache>
                <c:formatCode>General</c:formatCode>
                <c:ptCount val="10"/>
                <c:pt idx="0">
                  <c:v>102.43524986335622</c:v>
                </c:pt>
                <c:pt idx="1">
                  <c:v>105.86419858281344</c:v>
                </c:pt>
                <c:pt idx="2">
                  <c:v>109.14989616660715</c:v>
                </c:pt>
                <c:pt idx="3">
                  <c:v>112.22957387113284</c:v>
                </c:pt>
                <c:pt idx="4">
                  <c:v>112.88262516858877</c:v>
                </c:pt>
                <c:pt idx="5">
                  <c:v>113.40313433635284</c:v>
                </c:pt>
                <c:pt idx="6">
                  <c:v>117.72116200326109</c:v>
                </c:pt>
                <c:pt idx="7">
                  <c:v>118.10480613000063</c:v>
                </c:pt>
                <c:pt idx="8">
                  <c:v>138.81878160043848</c:v>
                </c:pt>
                <c:pt idx="9">
                  <c:v>139.16774018980396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Sheet1!$A$2:$A$11</c:f>
              <c:strCache>
                <c:ptCount val="10"/>
                <c:pt idx="0">
                  <c:v>Australia</c:v>
                </c:pt>
                <c:pt idx="1">
                  <c:v>France</c:v>
                </c:pt>
                <c:pt idx="2">
                  <c:v>U.K.</c:v>
                </c:pt>
                <c:pt idx="3">
                  <c:v>Canada</c:v>
                </c:pt>
                <c:pt idx="4">
                  <c:v>South Korea</c:v>
                </c:pt>
                <c:pt idx="5">
                  <c:v>India</c:v>
                </c:pt>
                <c:pt idx="6">
                  <c:v>Brazil</c:v>
                </c:pt>
                <c:pt idx="7">
                  <c:v>Japan</c:v>
                </c:pt>
                <c:pt idx="8">
                  <c:v>China</c:v>
                </c:pt>
                <c:pt idx="9">
                  <c:v>U.S.</c:v>
                </c:pt>
              </c:strCache>
            </c:strRef>
          </c:cat>
          <c:val>
            <c:numRef>
              <c:f>Sheet1!$B$2:$B$11</c:f>
              <c:numCache>
                <c:formatCode>General</c:formatCode>
                <c:ptCount val="10"/>
                <c:pt idx="0">
                  <c:v>2.0712690875582713</c:v>
                </c:pt>
                <c:pt idx="1">
                  <c:v>2.234221276453326</c:v>
                </c:pt>
                <c:pt idx="2">
                  <c:v>2.3964876396375434</c:v>
                </c:pt>
                <c:pt idx="3">
                  <c:v>2.8775600845047005</c:v>
                </c:pt>
                <c:pt idx="4">
                  <c:v>3.13531396140886</c:v>
                </c:pt>
                <c:pt idx="5">
                  <c:v>4.797254831710713</c:v>
                </c:pt>
                <c:pt idx="6">
                  <c:v>5.107796713578058</c:v>
                </c:pt>
                <c:pt idx="7">
                  <c:v>7.9023307375287395</c:v>
                </c:pt>
                <c:pt idx="8">
                  <c:v>14.01665898084653</c:v>
                </c:pt>
                <c:pt idx="9">
                  <c:v>24.691639043893115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Lbls>
            <c:dLbl>
              <c:idx val="0"/>
              <c:layout>
                <c:manualLayout>
                  <c:x val="0.0350"/>
                  <c:y val="0.0000"/>
                </c:manualLayout>
              </c:layout>
              <c:tx>
                <c:rich>
                  <a:bodyPr/>
                  <a:lstStyle/>
                  <a:p>
                    <a:pPr>
                      <a:defRPr sz="1100" b="1">
                        <a:solidFill>
                          <a:srgbClr val="FFFFFF"/>
                        </a:solidFill>
                        <a:latin typeface="Calibri"/>
                      </a:defRPr>
                    </a:pPr>
                    <a:r>
                      <a:t>10.9%</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6.2%</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8.5%</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12.2%</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16.8%</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10.8%</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19.6%</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15.0%</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Sheet1!$A$2:$A$9</c:f>
              <c:strCache>
                <c:ptCount val="8"/>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strCache>
            </c:strRef>
          </c:cat>
          <c:val>
            <c:numRef>
              <c:f>Sheet1!$B$2:$B$9</c:f>
              <c:numCache>
                <c:formatCode>General</c:formatCode>
                <c:ptCount val="8"/>
                <c:pt idx="0">
                  <c:v>3330.276</c:v>
                </c:pt>
                <c:pt idx="1">
                  <c:v>1897.929</c:v>
                </c:pt>
                <c:pt idx="2">
                  <c:v>2611.637</c:v>
                </c:pt>
                <c:pt idx="3">
                  <c:v>3752.96</c:v>
                </c:pt>
                <c:pt idx="4">
                  <c:v>5168.202</c:v>
                </c:pt>
                <c:pt idx="5">
                  <c:v>3308.806</c:v>
                </c:pt>
                <c:pt idx="6">
                  <c:v>6019.166</c:v>
                </c:pt>
                <c:pt idx="7">
                  <c:v>4598.357</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0.07389196904613027</c:v>
                </c:pt>
                <c:pt idx="1">
                  <c:v>0.07561134305842226</c:v>
                </c:pt>
                <c:pt idx="2">
                  <c:v>0.07733071707071425</c:v>
                </c:pt>
                <c:pt idx="3">
                  <c:v>0.0796174845070626</c:v>
                </c:pt>
                <c:pt idx="4">
                  <c:v>0.08277253581961841</c:v>
                </c:pt>
                <c:pt idx="5">
                  <c:v>0.08535159683805639</c:v>
                </c:pt>
                <c:pt idx="6">
                  <c:v>0.08621128384420239</c:v>
                </c:pt>
                <c:pt idx="7">
                  <c:v>0.08506790012602822</c:v>
                </c:pt>
                <c:pt idx="8">
                  <c:v>0.08433716617080413</c:v>
                </c:pt>
                <c:pt idx="9">
                  <c:v>0.08310781375201536</c:v>
                </c:pt>
                <c:pt idx="10">
                  <c:v>0.08191284881347241</c:v>
                </c:pt>
              </c:numCache>
            </c:numRef>
          </c:val>
          <c:smooth val="0"/>
        </c:ser>
        <c:ser>
          <c:idx val="1"/>
          <c:order val="1"/>
          <c:tx>
            <c:strRef>
              <c:f>Sheet1!$C$1</c: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0.06615629649613378</c:v>
                </c:pt>
                <c:pt idx="1">
                  <c:v>0.06499629649613377</c:v>
                </c:pt>
                <c:pt idx="2">
                  <c:v>0.06362629649613377</c:v>
                </c:pt>
                <c:pt idx="3">
                  <c:v>0.06331629649613377</c:v>
                </c:pt>
                <c:pt idx="4">
                  <c:v>0.06597629649613378</c:v>
                </c:pt>
                <c:pt idx="5">
                  <c:v>0.06679629649613376</c:v>
                </c:pt>
                <c:pt idx="6">
                  <c:v>0.06691629649613377</c:v>
                </c:pt>
                <c:pt idx="7">
                  <c:v>0.06627629649613377</c:v>
                </c:pt>
                <c:pt idx="8">
                  <c:v>0.06532629649613376</c:v>
                </c:pt>
                <c:pt idx="9">
                  <c:v>0.06397629649613377</c:v>
                </c:pt>
                <c:pt idx="10">
                  <c:v>0.06281629649613377</c:v>
                </c:pt>
              </c:numCache>
            </c:numRef>
          </c:val>
          <c:smooth val="0"/>
        </c:ser>
        <c:ser>
          <c:idx val="2"/>
          <c:order val="2"/>
          <c:tx>
            <c:strRef>
              <c:f>Sheet1!$D$1</c: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Sheet1!$D$2:$D$12</c:f>
              <c:numCache>
                <c:formatCode>General</c:formatCode>
                <c:ptCount val="11"/>
                <c:pt idx="0">
                  <c:v>0.053251361749754186</c:v>
                </c:pt>
                <c:pt idx="1">
                  <c:v>0.051371361749754194</c:v>
                </c:pt>
                <c:pt idx="2">
                  <c:v>0.049401361749754194</c:v>
                </c:pt>
                <c:pt idx="3">
                  <c:v>0.04765136174975419</c:v>
                </c:pt>
                <c:pt idx="4">
                  <c:v>0.046641361749754195</c:v>
                </c:pt>
                <c:pt idx="5">
                  <c:v>0.046711361749754196</c:v>
                </c:pt>
                <c:pt idx="6">
                  <c:v>0.048291361749754194</c:v>
                </c:pt>
                <c:pt idx="7">
                  <c:v>0.04896136174975419</c:v>
                </c:pt>
                <c:pt idx="8">
                  <c:v>0.04896136174975419</c:v>
                </c:pt>
                <c:pt idx="9">
                  <c:v>0.04826136174975419</c:v>
                </c:pt>
                <c:pt idx="10">
                  <c:v>0.04769136174975419</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East Asia</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26.752819348101042</c:v>
                </c:pt>
                <c:pt idx="1">
                  <c:v>26.04968274841355</c:v>
                </c:pt>
              </c:numCache>
            </c:numRef>
          </c:val>
        </c:ser>
        <c:ser>
          <c:idx val="1"/>
          <c:order val="1"/>
          <c:tx>
            <c:strRef>
              <c:f>Sheet1!$C$1</c:f>
              <c:strCache>
                <c:ptCount val="1"/>
                <c:pt idx="0">
                  <c:v>North America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22.241900307234303</c:v>
                </c:pt>
                <c:pt idx="1">
                  <c:v>20.3620551623039</c:v>
                </c:pt>
              </c:numCache>
            </c:numRef>
          </c:val>
        </c:ser>
        <c:ser>
          <c:idx val="2"/>
          <c:order val="2"/>
          <c:tx>
            <c:strRef>
              <c:f>Sheet1!$D$1</c:f>
              <c:strCache>
                <c:ptCount val="1"/>
                <c:pt idx="0">
                  <c:v>South Asia &amp; Pacific</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15.270085824877205</c:v>
                </c:pt>
                <c:pt idx="1">
                  <c:v>17.44151819255023</c:v>
                </c:pt>
              </c:numCache>
            </c:numRef>
          </c:val>
        </c:ser>
        <c:ser>
          <c:idx val="3"/>
          <c:order val="3"/>
          <c:tx>
            <c:strRef>
              <c:f>Sheet1!$E$1</c:f>
              <c:strCache>
                <c:ptCount val="1"/>
                <c:pt idx="0">
                  <c:v>Europe</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17.121278042113826</c:v>
                </c:pt>
                <c:pt idx="1">
                  <c:v>16.171124598332828</c:v>
                </c:pt>
              </c:numCache>
            </c:numRef>
          </c:val>
        </c:ser>
        <c:ser>
          <c:idx val="4"/>
          <c:order val="4"/>
          <c:tx>
            <c:strRef>
              <c:f>Sheet1!$F$1</c:f>
              <c:strCache>
                <c:ptCount val="1"/>
                <c:pt idx="0">
                  <c:v>Latin America</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11.265915042750645</c:v>
                </c:pt>
                <c:pt idx="1">
                  <c:v>12.053437719102812</c:v>
                </c:pt>
              </c:numCache>
            </c:numRef>
          </c:val>
        </c:ser>
        <c:ser>
          <c:idx val="5"/>
          <c:order val="5"/>
          <c:tx>
            <c:strRef>
              <c:f>Sheet1!$G$1</c:f>
              <c:strCache>
                <c:ptCount val="1"/>
                <c:pt idx="0">
                  <c:v>Middle East &amp; Africa</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7.348001434922982</c:v>
                </c:pt>
                <c:pt idx="1">
                  <c:v>7.922181579296674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North America</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31.16689622390349</c:v>
                </c:pt>
                <c:pt idx="1">
                  <c:v>29.45745533132806</c:v>
                </c:pt>
              </c:numCache>
            </c:numRef>
          </c:val>
        </c:ser>
        <c:ser>
          <c:idx val="1"/>
          <c:order val="1"/>
          <c:tx>
            <c:strRef>
              <c:f>Sheet1!$C$1</c:f>
              <c:strCache>
                <c:ptCount val="1"/>
                <c:pt idx="0">
                  <c:v>East Asia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25.633383019685134</c:v>
                </c:pt>
                <c:pt idx="1">
                  <c:v>25.358220256011155</c:v>
                </c:pt>
              </c:numCache>
            </c:numRef>
          </c:val>
        </c:ser>
        <c:ser>
          <c:idx val="2"/>
          <c:order val="2"/>
          <c:tx>
            <c:strRef>
              <c:f>Sheet1!$D$1</c:f>
              <c:strCache>
                <c:ptCount val="1"/>
                <c:pt idx="0">
                  <c:v>Europe</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17.45258769699041</c:v>
                </c:pt>
                <c:pt idx="1">
                  <c:v>16.80390623688893</c:v>
                </c:pt>
              </c:numCache>
            </c:numRef>
          </c:val>
        </c:ser>
        <c:ser>
          <c:idx val="3"/>
          <c:order val="3"/>
          <c:tx>
            <c:strRef>
              <c:f>Sheet1!$E$1</c:f>
              <c:strCache>
                <c:ptCount val="1"/>
                <c:pt idx="0">
                  <c:v>South Asia &amp; Pacific</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10.99506108391414</c:v>
                </c:pt>
                <c:pt idx="1">
                  <c:v>12.291034721653087</c:v>
                </c:pt>
              </c:numCache>
            </c:numRef>
          </c:val>
        </c:ser>
        <c:ser>
          <c:idx val="4"/>
          <c:order val="4"/>
          <c:tx>
            <c:strRef>
              <c:f>Sheet1!$F$1</c:f>
              <c:strCache>
                <c:ptCount val="1"/>
                <c:pt idx="0">
                  <c:v>Latin America</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8.384044124659267</c:v>
                </c:pt>
                <c:pt idx="1">
                  <c:v>9.174680694820845</c:v>
                </c:pt>
              </c:numCache>
            </c:numRef>
          </c:val>
        </c:ser>
        <c:ser>
          <c:idx val="5"/>
          <c:order val="5"/>
          <c:tx>
            <c:strRef>
              <c:f>Sheet1!$G$1</c:f>
              <c:strCache>
                <c:ptCount val="1"/>
                <c:pt idx="0">
                  <c:v>Middle East &amp; Africa</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6.368027850847565</c:v>
                </c:pt>
                <c:pt idx="1">
                  <c:v>6.914702759297932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East Asia</c:v>
                </c:pt>
              </c:strCache>
            </c:strRef>
          </c:tx>
          <c:spPr>
            <a:solidFill>
              <a:srgbClr val="3D85C6"/>
            </a:solidFill>
            <a:ln>
              <a:noFill/>
            </a:ln>
          </c:spPr>
          <c:dLbls>
            <c:dLbl>
              <c:idx val="0"/>
              <c:tx>
                <c:rich>
                  <a:bodyPr/>
                  <a:lstStyle/>
                  <a:p>
                    <a:r>
                      <a:rPr sz="1100">
                        <a:solidFill>
                          <a:srgbClr val="FFFFFF"/>
                        </a:solidFill>
                        <a:latin typeface="Calibri"/>
                      </a:rPr>
                      <a:t>1,757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1,823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1,891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1,961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2,035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2,116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2,207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2,308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2,420</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2,543</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2,675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2,815</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2,963</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3,116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3,274</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3,436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1756.667</c:v>
                </c:pt>
                <c:pt idx="1">
                  <c:v>1822.857</c:v>
                </c:pt>
                <c:pt idx="2">
                  <c:v>1891.146</c:v>
                </c:pt>
                <c:pt idx="3">
                  <c:v>1961.326</c:v>
                </c:pt>
                <c:pt idx="4">
                  <c:v>2035.138</c:v>
                </c:pt>
                <c:pt idx="5">
                  <c:v>2116.476</c:v>
                </c:pt>
                <c:pt idx="6">
                  <c:v>2206.877</c:v>
                </c:pt>
                <c:pt idx="7">
                  <c:v>2307.834</c:v>
                </c:pt>
                <c:pt idx="8">
                  <c:v>2419.917</c:v>
                </c:pt>
                <c:pt idx="9">
                  <c:v>2542.598</c:v>
                </c:pt>
                <c:pt idx="10">
                  <c:v>2674.564</c:v>
                </c:pt>
                <c:pt idx="11">
                  <c:v>2815.062</c:v>
                </c:pt>
                <c:pt idx="12">
                  <c:v>2962.585</c:v>
                </c:pt>
                <c:pt idx="13">
                  <c:v>3116.305</c:v>
                </c:pt>
                <c:pt idx="14">
                  <c:v>3274.227</c:v>
                </c:pt>
                <c:pt idx="15">
                  <c:v>3436.365</c:v>
                </c:pt>
              </c:numCache>
            </c:numRef>
          </c:val>
        </c:ser>
        <c:ser>
          <c:idx val="1"/>
          <c:order val="1"/>
          <c:tx>
            <c:strRef>
              <c:f>Sheet1!$C$1</c:f>
              <c:strCache>
                <c:ptCount val="1"/>
                <c:pt idx="0">
                  <c:v>North America</c:v>
                </c:pt>
              </c:strCache>
            </c:strRef>
          </c:tx>
          <c:spPr>
            <a:solidFill>
              <a:srgbClr val="9E7E0A"/>
            </a:solidFill>
            <a:ln>
              <a:noFill/>
            </a:ln>
          </c:spPr>
          <c:dLbls>
            <c:dLbl>
              <c:idx val="0"/>
              <c:tx>
                <c:rich>
                  <a:bodyPr/>
                  <a:lstStyle/>
                  <a:p>
                    <a:r>
                      <a:rPr sz="1100">
                        <a:solidFill>
                          <a:srgbClr val="FFFFFF"/>
                        </a:solidFill>
                        <a:latin typeface="Calibri"/>
                      </a:rPr>
                      <a:t>1,499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1,547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1,597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1,648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1,701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1,760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1,824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1,897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1,976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2,064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2,157</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2,256</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2,359</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2,466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2,575</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2,686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1498.678</c:v>
                </c:pt>
                <c:pt idx="1">
                  <c:v>1547.08</c:v>
                </c:pt>
                <c:pt idx="2">
                  <c:v>1596.778</c:v>
                </c:pt>
                <c:pt idx="3">
                  <c:v>1647.67</c:v>
                </c:pt>
                <c:pt idx="4">
                  <c:v>1701.011</c:v>
                </c:pt>
                <c:pt idx="5">
                  <c:v>1759.607</c:v>
                </c:pt>
                <c:pt idx="6">
                  <c:v>1824.48</c:v>
                </c:pt>
                <c:pt idx="7">
                  <c:v>1896.605</c:v>
                </c:pt>
                <c:pt idx="8">
                  <c:v>1976.421</c:v>
                </c:pt>
                <c:pt idx="9">
                  <c:v>2063.572</c:v>
                </c:pt>
                <c:pt idx="10">
                  <c:v>2156.978</c:v>
                </c:pt>
                <c:pt idx="11">
                  <c:v>2255.923</c:v>
                </c:pt>
                <c:pt idx="12">
                  <c:v>2359.096</c:v>
                </c:pt>
                <c:pt idx="13">
                  <c:v>2465.879</c:v>
                </c:pt>
                <c:pt idx="14">
                  <c:v>2574.872</c:v>
                </c:pt>
                <c:pt idx="15">
                  <c:v>2686.077</c:v>
                </c:pt>
              </c:numCache>
            </c:numRef>
          </c:val>
        </c:ser>
        <c:ser>
          <c:idx val="2"/>
          <c:order val="2"/>
          <c:tx>
            <c:strRef>
              <c:f>Sheet1!$D$1</c:f>
              <c:strCache>
                <c:ptCount val="1"/>
                <c:pt idx="0">
                  <c:v>Europe</c:v>
                </c:pt>
              </c:strCache>
            </c:strRef>
          </c:tx>
          <c:spPr>
            <a:solidFill>
              <a:srgbClr val="008189"/>
            </a:solidFill>
            <a:ln>
              <a:noFill/>
            </a:ln>
          </c:spPr>
          <c:dLbls>
            <c:dLbl>
              <c:idx val="0"/>
              <c:tx>
                <c:rich>
                  <a:bodyPr/>
                  <a:lstStyle/>
                  <a:p>
                    <a:r>
                      <a:rPr sz="1100">
                        <a:solidFill>
                          <a:srgbClr val="FFFFFF"/>
                        </a:solidFill>
                        <a:latin typeface="Calibri"/>
                      </a:rPr>
                      <a:t>1,140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1,180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1,220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1,262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1,306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1,355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1,408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1,468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1,535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1,607</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1,685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1,768</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1,855</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1,946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2,038</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2,133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1140.112</c:v>
                </c:pt>
                <c:pt idx="1">
                  <c:v>1179.652</c:v>
                </c:pt>
                <c:pt idx="2">
                  <c:v>1220.383</c:v>
                </c:pt>
                <c:pt idx="3">
                  <c:v>1262.2</c:v>
                </c:pt>
                <c:pt idx="4">
                  <c:v>1306.134</c:v>
                </c:pt>
                <c:pt idx="5">
                  <c:v>1354.503</c:v>
                </c:pt>
                <c:pt idx="6">
                  <c:v>1408.19</c:v>
                </c:pt>
                <c:pt idx="7">
                  <c:v>1468.061</c:v>
                </c:pt>
                <c:pt idx="8">
                  <c:v>1534.506</c:v>
                </c:pt>
                <c:pt idx="9">
                  <c:v>1607.25</c:v>
                </c:pt>
                <c:pt idx="10">
                  <c:v>1685.428</c:v>
                </c:pt>
                <c:pt idx="11">
                  <c:v>1768.498</c:v>
                </c:pt>
                <c:pt idx="12">
                  <c:v>1855.452</c:v>
                </c:pt>
                <c:pt idx="13">
                  <c:v>1945.798</c:v>
                </c:pt>
                <c:pt idx="14">
                  <c:v>2038.388</c:v>
                </c:pt>
                <c:pt idx="15">
                  <c:v>2133.227</c:v>
                </c:pt>
              </c:numCache>
            </c:numRef>
          </c:val>
        </c:ser>
        <c:ser>
          <c:idx val="3"/>
          <c:order val="3"/>
          <c:tx>
            <c:strRef>
              <c:f>Sheet1!$E$1</c:f>
              <c:strCache>
                <c:ptCount val="1"/>
                <c:pt idx="0">
                  <c:v>South Asia &amp; Pacific</c:v>
                </c:pt>
              </c:strCache>
            </c:strRef>
          </c:tx>
          <c:spPr>
            <a:solidFill>
              <a:srgbClr val="40315E"/>
            </a:solidFill>
            <a:ln>
              <a:noFill/>
            </a:ln>
          </c:spPr>
          <c:dLbls>
            <c:dLbl>
              <c:idx val="0"/>
              <c:tx>
                <c:rich>
                  <a:bodyPr/>
                  <a:lstStyle/>
                  <a:p>
                    <a:r>
                      <a:rPr sz="1100">
                        <a:solidFill>
                          <a:srgbClr val="FFFFFF"/>
                        </a:solidFill>
                        <a:latin typeface="Calibri"/>
                      </a:rPr>
                      <a:t>943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991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1,040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1,092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1,147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1,208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1,277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1,356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1,444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1,542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1,649</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1,765</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1,889</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2,020</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2,157</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2,301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943.408</c:v>
                </c:pt>
                <c:pt idx="1">
                  <c:v>990.676</c:v>
                </c:pt>
                <c:pt idx="2">
                  <c:v>1040.12</c:v>
                </c:pt>
                <c:pt idx="3">
                  <c:v>1091.684</c:v>
                </c:pt>
                <c:pt idx="4">
                  <c:v>1146.664</c:v>
                </c:pt>
                <c:pt idx="5">
                  <c:v>1208.051</c:v>
                </c:pt>
                <c:pt idx="6">
                  <c:v>1277.231</c:v>
                </c:pt>
                <c:pt idx="7">
                  <c:v>1355.604</c:v>
                </c:pt>
                <c:pt idx="8">
                  <c:v>1443.861</c:v>
                </c:pt>
                <c:pt idx="9">
                  <c:v>1541.897</c:v>
                </c:pt>
                <c:pt idx="10">
                  <c:v>1649.015</c:v>
                </c:pt>
                <c:pt idx="11">
                  <c:v>1764.949</c:v>
                </c:pt>
                <c:pt idx="12">
                  <c:v>1888.856</c:v>
                </c:pt>
                <c:pt idx="13">
                  <c:v>2020.211</c:v>
                </c:pt>
                <c:pt idx="14">
                  <c:v>2157.497</c:v>
                </c:pt>
                <c:pt idx="15">
                  <c:v>2300.812</c:v>
                </c:pt>
              </c:numCache>
            </c:numRef>
          </c:val>
        </c:ser>
        <c:ser>
          <c:idx val="4"/>
          <c:order val="4"/>
          <c:tx>
            <c:strRef>
              <c:f>Sheet1!$F$1</c:f>
              <c:strCache>
                <c:ptCount val="1"/>
                <c:pt idx="0">
                  <c:v>Latin America</c:v>
                </c:pt>
              </c:strCache>
            </c:strRef>
          </c:tx>
          <c:spPr>
            <a:solidFill>
              <a:srgbClr val="A35313"/>
            </a:solidFill>
            <a:ln>
              <a:noFill/>
            </a:ln>
          </c:spPr>
          <c:dLbls>
            <c:dLbl>
              <c:idx val="3"/>
              <c:tx>
                <c:rich>
                  <a:bodyPr/>
                  <a:lstStyle/>
                  <a:p>
                    <a:r>
                      <a:rPr sz="1100">
                        <a:solidFill>
                          <a:srgbClr val="FFFFFF"/>
                        </a:solidFill>
                        <a:latin typeface="Calibri"/>
                      </a:rPr>
                      <a:t>814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851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891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937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989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1,046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1,110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1,179</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1,254</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1,333</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1,415</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1,501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1,590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713.407</c:v>
                </c:pt>
                <c:pt idx="1">
                  <c:v>745.683</c:v>
                </c:pt>
                <c:pt idx="2">
                  <c:v>779.169</c:v>
                </c:pt>
                <c:pt idx="3">
                  <c:v>813.82</c:v>
                </c:pt>
                <c:pt idx="4">
                  <c:v>850.506</c:v>
                </c:pt>
                <c:pt idx="5">
                  <c:v>891.272</c:v>
                </c:pt>
                <c:pt idx="6">
                  <c:v>936.994</c:v>
                </c:pt>
                <c:pt idx="7">
                  <c:v>988.529</c:v>
                </c:pt>
                <c:pt idx="8">
                  <c:v>1046.293</c:v>
                </c:pt>
                <c:pt idx="9">
                  <c:v>1110.139</c:v>
                </c:pt>
                <c:pt idx="10">
                  <c:v>1179.419</c:v>
                </c:pt>
                <c:pt idx="11">
                  <c:v>1253.806</c:v>
                </c:pt>
                <c:pt idx="12">
                  <c:v>1332.581</c:v>
                </c:pt>
                <c:pt idx="13">
                  <c:v>1415.363</c:v>
                </c:pt>
                <c:pt idx="14">
                  <c:v>1501.175</c:v>
                </c:pt>
                <c:pt idx="15">
                  <c:v>1590.039</c:v>
                </c:pt>
              </c:numCache>
            </c:numRef>
          </c:val>
        </c:ser>
        <c:ser>
          <c:idx val="5"/>
          <c:order val="5"/>
          <c:tx>
            <c:strRef>
              <c:f>Sheet1!$G$1</c:f>
              <c:strCache>
                <c:ptCount val="1"/>
                <c:pt idx="0">
                  <c:v>Middle East &amp; Africa</c:v>
                </c:pt>
              </c:strCache>
            </c:strRef>
          </c:tx>
          <c:spPr>
            <a:solidFill>
              <a:srgbClr val="808080"/>
            </a:solidFill>
            <a:ln>
              <a:noFill/>
            </a:ln>
          </c:spPr>
          <c:dLbls>
            <c:dLbl>
              <c:idx val="11"/>
              <c:tx>
                <c:rich>
                  <a:bodyPr/>
                  <a:lstStyle/>
                  <a:p>
                    <a:r>
                      <a:rPr sz="1100">
                        <a:solidFill>
                          <a:srgbClr val="FFFFFF"/>
                        </a:solidFill>
                        <a:latin typeface="Calibri"/>
                      </a:rPr>
                      <a:t>821</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874</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929</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986</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1,045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463.896</c:v>
                </c:pt>
                <c:pt idx="1">
                  <c:v>485.118</c:v>
                </c:pt>
                <c:pt idx="2">
                  <c:v>507.193</c:v>
                </c:pt>
                <c:pt idx="3">
                  <c:v>530.079</c:v>
                </c:pt>
                <c:pt idx="4">
                  <c:v>554.347</c:v>
                </c:pt>
                <c:pt idx="5">
                  <c:v>581.317</c:v>
                </c:pt>
                <c:pt idx="6">
                  <c:v>611.562</c:v>
                </c:pt>
                <c:pt idx="7">
                  <c:v>645.657</c:v>
                </c:pt>
                <c:pt idx="8">
                  <c:v>683.87</c:v>
                </c:pt>
                <c:pt idx="9">
                  <c:v>726.104</c:v>
                </c:pt>
                <c:pt idx="10">
                  <c:v>771.968</c:v>
                </c:pt>
                <c:pt idx="11">
                  <c:v>821.271</c:v>
                </c:pt>
                <c:pt idx="12">
                  <c:v>873.578</c:v>
                </c:pt>
                <c:pt idx="13">
                  <c:v>928.635</c:v>
                </c:pt>
                <c:pt idx="14">
                  <c:v>985.79</c:v>
                </c:pt>
                <c:pt idx="15">
                  <c:v>1045.061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North America</c:v>
                </c:pt>
              </c:strCache>
            </c:strRef>
          </c:tx>
          <c:spPr>
            <a:solidFill>
              <a:srgbClr val="3D85C6"/>
            </a:solidFill>
            <a:ln>
              <a:noFill/>
            </a:ln>
          </c:spPr>
          <c:dLbls>
            <c:dLbl>
              <c:idx val="0"/>
              <c:tx>
                <c:rich>
                  <a:bodyPr/>
                  <a:lstStyle/>
                  <a:p>
                    <a:r>
                      <a:rPr sz="1100">
                        <a:solidFill>
                          <a:srgbClr val="FFFFFF"/>
                        </a:solidFill>
                        <a:latin typeface="Calibri"/>
                      </a:rPr>
                      <a:t>4,130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4,285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4,448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4,618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4,799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5,020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5,268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5,548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5,863</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6,215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6,602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7,025</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7,481</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7,968</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8,488</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9,040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4129.8</c:v>
                </c:pt>
                <c:pt idx="1">
                  <c:v>4285.47</c:v>
                </c:pt>
                <c:pt idx="2">
                  <c:v>4447.553</c:v>
                </c:pt>
                <c:pt idx="3">
                  <c:v>4618.317</c:v>
                </c:pt>
                <c:pt idx="4">
                  <c:v>4799.312</c:v>
                </c:pt>
                <c:pt idx="5">
                  <c:v>5019.855</c:v>
                </c:pt>
                <c:pt idx="6">
                  <c:v>5267.856</c:v>
                </c:pt>
                <c:pt idx="7">
                  <c:v>5547.914</c:v>
                </c:pt>
                <c:pt idx="8">
                  <c:v>5863.305</c:v>
                </c:pt>
                <c:pt idx="9">
                  <c:v>6215.41</c:v>
                </c:pt>
                <c:pt idx="10">
                  <c:v>6602.238</c:v>
                </c:pt>
                <c:pt idx="11">
                  <c:v>7025.003</c:v>
                </c:pt>
                <c:pt idx="12">
                  <c:v>7480.577</c:v>
                </c:pt>
                <c:pt idx="13">
                  <c:v>7968.06</c:v>
                </c:pt>
                <c:pt idx="14">
                  <c:v>8487.694</c:v>
                </c:pt>
                <c:pt idx="15">
                  <c:v>9039.708</c:v>
                </c:pt>
              </c:numCache>
            </c:numRef>
          </c:val>
        </c:ser>
        <c:ser>
          <c:idx val="1"/>
          <c:order val="1"/>
          <c:tx>
            <c:strRef>
              <c:f>Sheet1!$C$1</c:f>
              <c:strCache>
                <c:ptCount val="1"/>
                <c:pt idx="0">
                  <c:v>East Asia</c:v>
                </c:pt>
              </c:strCache>
            </c:strRef>
          </c:tx>
          <c:spPr>
            <a:solidFill>
              <a:srgbClr val="9E7E0A"/>
            </a:solidFill>
            <a:ln>
              <a:noFill/>
            </a:ln>
          </c:spPr>
          <c:dLbls>
            <c:dLbl>
              <c:idx val="0"/>
              <c:tx>
                <c:rich>
                  <a:bodyPr/>
                  <a:lstStyle/>
                  <a:p>
                    <a:r>
                      <a:rPr sz="1100">
                        <a:solidFill>
                          <a:srgbClr val="FFFFFF"/>
                        </a:solidFill>
                        <a:latin typeface="Calibri"/>
                      </a:rPr>
                      <a:t>3,339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3,477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3,622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3,774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3,935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4,129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4,347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4,595</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4,877</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5,192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5,542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5,925</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6,341</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6,789</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7,269</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7,782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3338.585</c:v>
                </c:pt>
                <c:pt idx="1">
                  <c:v>3477.228</c:v>
                </c:pt>
                <c:pt idx="2">
                  <c:v>3621.82</c:v>
                </c:pt>
                <c:pt idx="3">
                  <c:v>3773.846</c:v>
                </c:pt>
                <c:pt idx="4">
                  <c:v>3934.791</c:v>
                </c:pt>
                <c:pt idx="5">
                  <c:v>4128.607</c:v>
                </c:pt>
                <c:pt idx="6">
                  <c:v>4347.318</c:v>
                </c:pt>
                <c:pt idx="7">
                  <c:v>4595.446</c:v>
                </c:pt>
                <c:pt idx="8">
                  <c:v>4876.824</c:v>
                </c:pt>
                <c:pt idx="9">
                  <c:v>5192.455</c:v>
                </c:pt>
                <c:pt idx="10">
                  <c:v>5541.865</c:v>
                </c:pt>
                <c:pt idx="11">
                  <c:v>5925.438</c:v>
                </c:pt>
                <c:pt idx="12">
                  <c:v>6341.059</c:v>
                </c:pt>
                <c:pt idx="13">
                  <c:v>6788.849</c:v>
                </c:pt>
                <c:pt idx="14">
                  <c:v>7268.561</c:v>
                </c:pt>
                <c:pt idx="15">
                  <c:v>7781.762</c:v>
                </c:pt>
              </c:numCache>
            </c:numRef>
          </c:val>
        </c:ser>
        <c:ser>
          <c:idx val="2"/>
          <c:order val="2"/>
          <c:tx>
            <c:strRef>
              <c:f>Sheet1!$D$1</c:f>
              <c:strCache>
                <c:ptCount val="1"/>
                <c:pt idx="0">
                  <c:v>Europe</c:v>
                </c:pt>
              </c:strCache>
            </c:strRef>
          </c:tx>
          <c:spPr>
            <a:solidFill>
              <a:srgbClr val="008189"/>
            </a:solidFill>
            <a:ln>
              <a:noFill/>
            </a:ln>
          </c:spPr>
          <c:dLbls>
            <c:dLbl>
              <c:idx val="0"/>
              <c:tx>
                <c:rich>
                  <a:bodyPr/>
                  <a:lstStyle/>
                  <a:p>
                    <a:r>
                      <a:rPr sz="1100">
                        <a:solidFill>
                          <a:srgbClr val="FFFFFF"/>
                        </a:solidFill>
                        <a:latin typeface="Calibri"/>
                      </a:rPr>
                      <a:t>2,291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2,382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2,477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2,577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2,683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2,811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2,955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3,118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3,301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3,507</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3,733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3,980</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4,247</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4,532</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4,835</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5,157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2291.316</c:v>
                </c:pt>
                <c:pt idx="1">
                  <c:v>2382.435</c:v>
                </c:pt>
                <c:pt idx="2">
                  <c:v>2477.4</c:v>
                </c:pt>
                <c:pt idx="3">
                  <c:v>2577.32</c:v>
                </c:pt>
                <c:pt idx="4">
                  <c:v>2683.234</c:v>
                </c:pt>
                <c:pt idx="5">
                  <c:v>2810.978</c:v>
                </c:pt>
                <c:pt idx="6">
                  <c:v>2954.881</c:v>
                </c:pt>
                <c:pt idx="7">
                  <c:v>3117.55</c:v>
                </c:pt>
                <c:pt idx="8">
                  <c:v>3301.163</c:v>
                </c:pt>
                <c:pt idx="9">
                  <c:v>3506.653</c:v>
                </c:pt>
                <c:pt idx="10">
                  <c:v>3733.05</c:v>
                </c:pt>
                <c:pt idx="11">
                  <c:v>3980.396</c:v>
                </c:pt>
                <c:pt idx="12">
                  <c:v>4246.712</c:v>
                </c:pt>
                <c:pt idx="13">
                  <c:v>4532.057</c:v>
                </c:pt>
                <c:pt idx="14">
                  <c:v>4835.113</c:v>
                </c:pt>
                <c:pt idx="15">
                  <c:v>5156.671</c:v>
                </c:pt>
              </c:numCache>
            </c:numRef>
          </c:val>
        </c:ser>
        <c:ser>
          <c:idx val="3"/>
          <c:order val="3"/>
          <c:tx>
            <c:strRef>
              <c:f>Sheet1!$E$1</c:f>
              <c:strCache>
                <c:ptCount val="1"/>
                <c:pt idx="0">
                  <c:v>South Asia &amp; Pacific</c:v>
                </c:pt>
              </c:strCache>
            </c:strRef>
          </c:tx>
          <c:spPr>
            <a:solidFill>
              <a:srgbClr val="40315E"/>
            </a:solidFill>
            <a:ln>
              <a:noFill/>
            </a:ln>
          </c:spPr>
          <c:dLbls>
            <c:dLbl>
              <c:idx val="6"/>
              <c:tx>
                <c:rich>
                  <a:bodyPr/>
                  <a:lstStyle/>
                  <a:p>
                    <a:r>
                      <a:rPr sz="1100">
                        <a:solidFill>
                          <a:srgbClr val="FFFFFF"/>
                        </a:solidFill>
                        <a:latin typeface="Calibri"/>
                      </a:rPr>
                      <a:t>1,885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2,016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2,165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2,334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2,524</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2,733</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2,963</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3,213</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3,482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3,772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1368.642</c:v>
                </c:pt>
                <c:pt idx="1">
                  <c:v>1437.859</c:v>
                </c:pt>
                <c:pt idx="2">
                  <c:v>1510.732</c:v>
                </c:pt>
                <c:pt idx="3">
                  <c:v>1588.06</c:v>
                </c:pt>
                <c:pt idx="4">
                  <c:v>1670.966</c:v>
                </c:pt>
                <c:pt idx="5">
                  <c:v>1770.905</c:v>
                </c:pt>
                <c:pt idx="6">
                  <c:v>1884.875</c:v>
                </c:pt>
                <c:pt idx="7">
                  <c:v>2015.524</c:v>
                </c:pt>
                <c:pt idx="8">
                  <c:v>2164.894</c:v>
                </c:pt>
                <c:pt idx="9">
                  <c:v>2334.332</c:v>
                </c:pt>
                <c:pt idx="10">
                  <c:v>2523.634</c:v>
                </c:pt>
                <c:pt idx="11">
                  <c:v>2733.41</c:v>
                </c:pt>
                <c:pt idx="12">
                  <c:v>2962.877</c:v>
                </c:pt>
                <c:pt idx="13">
                  <c:v>3212.551</c:v>
                </c:pt>
                <c:pt idx="14">
                  <c:v>3481.781</c:v>
                </c:pt>
                <c:pt idx="15">
                  <c:v>3771.791</c:v>
                </c:pt>
              </c:numCache>
            </c:numRef>
          </c:val>
        </c:ser>
        <c:ser>
          <c:idx val="4"/>
          <c:order val="4"/>
          <c:tx>
            <c:strRef>
              <c:f>Sheet1!$F$1</c:f>
              <c:strCache>
                <c:ptCount val="1"/>
                <c:pt idx="0">
                  <c:v>Latin America</c:v>
                </c:pt>
              </c:strCache>
            </c:strRef>
          </c:tx>
          <c:spPr>
            <a:solidFill>
              <a:srgbClr val="A35313"/>
            </a:solidFill>
            <a:ln>
              <a:noFill/>
            </a:ln>
          </c:spPr>
          <c:dLbls>
            <c:dLbl>
              <c:idx val="10"/>
              <c:tx>
                <c:rich>
                  <a:bodyPr/>
                  <a:lstStyle/>
                  <a:p>
                    <a:r>
                      <a:rPr sz="1100">
                        <a:solidFill>
                          <a:srgbClr val="FFFFFF"/>
                        </a:solidFill>
                        <a:latin typeface="Calibri"/>
                      </a:rPr>
                      <a:t>1,909</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2,064</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2,231</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2,412</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2,607</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2,815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1046.527</c:v>
                </c:pt>
                <c:pt idx="1">
                  <c:v>1099.435</c:v>
                </c:pt>
                <c:pt idx="2">
                  <c:v>1154.879</c:v>
                </c:pt>
                <c:pt idx="3">
                  <c:v>1213.381</c:v>
                </c:pt>
                <c:pt idx="4">
                  <c:v>1275.725</c:v>
                </c:pt>
                <c:pt idx="5">
                  <c:v>1350.365</c:v>
                </c:pt>
                <c:pt idx="6">
                  <c:v>1435.456</c:v>
                </c:pt>
                <c:pt idx="7">
                  <c:v>1532.781</c:v>
                </c:pt>
                <c:pt idx="8">
                  <c:v>1643.804</c:v>
                </c:pt>
                <c:pt idx="9">
                  <c:v>1769.488</c:v>
                </c:pt>
                <c:pt idx="10">
                  <c:v>1909.42</c:v>
                </c:pt>
                <c:pt idx="11">
                  <c:v>2063.638</c:v>
                </c:pt>
                <c:pt idx="12">
                  <c:v>2231.181</c:v>
                </c:pt>
                <c:pt idx="13">
                  <c:v>2412.408</c:v>
                </c:pt>
                <c:pt idx="14">
                  <c:v>2607.012</c:v>
                </c:pt>
                <c:pt idx="15">
                  <c:v>2815.465</c:v>
                </c:pt>
              </c:numCache>
            </c:numRef>
          </c:val>
        </c:ser>
        <c:ser>
          <c:idx val="5"/>
          <c:order val="5"/>
          <c:tx>
            <c:strRef>
              <c:f>Sheet1!$G$1</c:f>
              <c:strCache>
                <c:ptCount val="1"/>
                <c:pt idx="0">
                  <c:v>Middle East &amp; Africa</c:v>
                </c:pt>
              </c:strCache>
            </c:strRef>
          </c:tx>
          <c:spPr>
            <a:solidFill>
              <a:srgbClr val="808080"/>
            </a:solidFill>
            <a:ln>
              <a:noFill/>
            </a:ln>
          </c:spPr>
          <c:dLbls>
            <c:dLbl>
              <c:idx val="14"/>
              <c:tx>
                <c:rich>
                  <a:bodyPr/>
                  <a:lstStyle/>
                  <a:p>
                    <a:r>
                      <a:rPr sz="1100">
                        <a:solidFill>
                          <a:srgbClr val="FFFFFF"/>
                        </a:solidFill>
                        <a:latin typeface="Calibri"/>
                      </a:rPr>
                      <a:t>1,966</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2,122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796.692</c:v>
                </c:pt>
                <c:pt idx="1">
                  <c:v>836.494</c:v>
                </c:pt>
                <c:pt idx="2">
                  <c:v>878.232</c:v>
                </c:pt>
                <c:pt idx="3">
                  <c:v>922.276</c:v>
                </c:pt>
                <c:pt idx="4">
                  <c:v>969.31</c:v>
                </c:pt>
                <c:pt idx="5">
                  <c:v>1025.658</c:v>
                </c:pt>
                <c:pt idx="6">
                  <c:v>1089.719</c:v>
                </c:pt>
                <c:pt idx="7">
                  <c:v>1162.879</c:v>
                </c:pt>
                <c:pt idx="8">
                  <c:v>1246.256</c:v>
                </c:pt>
                <c:pt idx="9">
                  <c:v>1340.463</c:v>
                </c:pt>
                <c:pt idx="10">
                  <c:v>1445.087</c:v>
                </c:pt>
                <c:pt idx="11">
                  <c:v>1560.342</c:v>
                </c:pt>
                <c:pt idx="12">
                  <c:v>1685.631</c:v>
                </c:pt>
                <c:pt idx="13">
                  <c:v>1821.067</c:v>
                </c:pt>
                <c:pt idx="14">
                  <c:v>1966.379</c:v>
                </c:pt>
                <c:pt idx="15">
                  <c:v>2121.938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Sprays and Mists</c:v>
                </c:pt>
              </c:strCache>
            </c:strRef>
          </c:tx>
          <c:spPr>
            <a:solidFill>
              <a:srgbClr val="3D85C6"/>
            </a:solidFill>
            <a:ln>
              <a:noFill/>
            </a:ln>
          </c:spPr>
          <c:dLbls>
            <c:dLbl>
              <c:idx val="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Sheet1!$B$2:$B$7</c:f>
              <c:numCache>
                <c:formatCode>General</c:formatCode>
                <c:ptCount val="6"/>
                <c:pt idx="0">
                  <c:v>9.853548834649112</c:v>
                </c:pt>
                <c:pt idx="1">
                  <c:v>9.158454876354305</c:v>
                </c:pt>
                <c:pt idx="2">
                  <c:v>8.946070698527755</c:v>
                </c:pt>
                <c:pt idx="3">
                  <c:v>12.170696105803101</c:v>
                </c:pt>
                <c:pt idx="4">
                  <c:v>11.140084836816541</c:v>
                </c:pt>
                <c:pt idx="5">
                  <c:v>11.409771200574177</c:v>
                </c:pt>
              </c:numCache>
            </c:numRef>
          </c:val>
        </c:ser>
        <c:ser>
          <c:idx val="1"/>
          <c:order val="1"/>
          <c:tx>
            <c:strRef>
              <c:f>Sheet1!$C$1</c:f>
              <c:strCache>
                <c:ptCount val="1"/>
                <c:pt idx="0">
                  <c:v>Mousses and Foams</c:v>
                </c:pt>
              </c:strCache>
            </c:strRef>
          </c:tx>
          <c:spPr>
            <a:solidFill>
              <a:srgbClr val="9E7E0A"/>
            </a:solidFill>
            <a:ln>
              <a:noFill/>
            </a:ln>
          </c:spPr>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Sheet1!$C$2:$C$7</c:f>
              <c:numCache>
                <c:formatCode>General</c:formatCode>
                <c:ptCount val="6"/>
                <c:pt idx="0">
                  <c:v>6.066205578302078</c:v>
                </c:pt>
                <c:pt idx="1">
                  <c:v>6.096082208829523</c:v>
                </c:pt>
                <c:pt idx="2">
                  <c:v>6.0572301215072955</c:v>
                </c:pt>
                <c:pt idx="3">
                  <c:v>6.403624972923434</c:v>
                </c:pt>
                <c:pt idx="4">
                  <c:v>6.11491252046612</c:v>
                </c:pt>
                <c:pt idx="5">
                  <c:v>6.228608269205157</c:v>
                </c:pt>
              </c:numCache>
            </c:numRef>
          </c:val>
        </c:ser>
        <c:ser>
          <c:idx val="2"/>
          <c:order val="2"/>
          <c:tx>
            <c:strRef>
              <c:f>Sheet1!$D$1</c:f>
              <c:strCache>
                <c:ptCount val="1"/>
                <c:pt idx="0">
                  <c:v>Gels and Jellies</c:v>
                </c:pt>
              </c:strCache>
            </c:strRef>
          </c:tx>
          <c:spPr>
            <a:solidFill>
              <a:srgbClr val="008189"/>
            </a:solidFill>
            <a:ln>
              <a:noFill/>
            </a:ln>
          </c:spPr>
          <c:dLbls>
            <c:dLbl>
              <c:idx val="0"/>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Sheet1!$D$2:$D$7</c:f>
              <c:numCache>
                <c:formatCode>General</c:formatCode>
                <c:ptCount val="6"/>
                <c:pt idx="0">
                  <c:v>8.920627200820382</c:v>
                </c:pt>
                <c:pt idx="1">
                  <c:v>9.153411302719553</c:v>
                </c:pt>
                <c:pt idx="2">
                  <c:v>9.863380516942884</c:v>
                </c:pt>
                <c:pt idx="3">
                  <c:v>8.379569540283049</c:v>
                </c:pt>
                <c:pt idx="4">
                  <c:v>8.410459172298102</c:v>
                </c:pt>
                <c:pt idx="5">
                  <c:v>7.810219091147635</c:v>
                </c:pt>
              </c:numCache>
            </c:numRef>
          </c:val>
        </c:ser>
        <c:ser>
          <c:idx val="3"/>
          <c:order val="3"/>
          <c:tx>
            <c:strRef>
              <c:f>Sheet1!$E$1</c:f>
              <c:strCache>
                <c:ptCount val="1"/>
                <c:pt idx="0">
                  <c:v>Creams and Lotions</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Sheet1!$E$2:$E$7</c:f>
              <c:numCache>
                <c:formatCode>General</c:formatCode>
                <c:ptCount val="6"/>
                <c:pt idx="0">
                  <c:v>12.915988041109628</c:v>
                </c:pt>
                <c:pt idx="1">
                  <c:v>13.663396157791396</c:v>
                </c:pt>
                <c:pt idx="2">
                  <c:v>13.211578587355074</c:v>
                </c:pt>
                <c:pt idx="3">
                  <c:v>11.365700326547756</c:v>
                </c:pt>
                <c:pt idx="4">
                  <c:v>11.180474141913601</c:v>
                </c:pt>
                <c:pt idx="5">
                  <c:v>12.608371863338949</c:v>
                </c:pt>
              </c:numCache>
            </c:numRef>
          </c:val>
        </c:ser>
        <c:ser>
          <c:idx val="4"/>
          <c:order val="4"/>
          <c:tx>
            <c:strRef>
              <c:f>Sheet1!$F$1</c:f>
              <c:strCache>
                <c:ptCount val="1"/>
                <c:pt idx="0">
                  <c:v>Waxes, Clays, Pastes and Pomades</c:v>
                </c:pt>
              </c:strCache>
            </c:strRef>
          </c:tx>
          <c:spPr>
            <a:solidFill>
              <a:srgbClr val="A35313"/>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Sheet1!$F$2:$F$7</c:f>
              <c:numCache>
                <c:formatCode>General</c:formatCode>
                <c:ptCount val="6"/>
                <c:pt idx="0">
                  <c:v>16.74353043635623</c:v>
                </c:pt>
                <c:pt idx="1">
                  <c:v>15.322270148011127</c:v>
                </c:pt>
                <c:pt idx="2">
                  <c:v>17.307220179278275</c:v>
                </c:pt>
                <c:pt idx="3">
                  <c:v>16.158131415352493</c:v>
                </c:pt>
                <c:pt idx="4">
                  <c:v>18.987432539387285</c:v>
                </c:pt>
                <c:pt idx="5">
                  <c:v>15.685805337960035</c:v>
                </c:pt>
              </c:numCache>
            </c:numRef>
          </c:val>
        </c:ser>
        <c:ser>
          <c:idx val="5"/>
          <c:order val="5"/>
          <c:tx>
            <c:strRef>
              <c:f>Sheet1!$G$1</c:f>
              <c:strCache>
                <c:ptCount val="1"/>
                <c:pt idx="0">
                  <c:v>Styling Powders</c:v>
                </c:pt>
              </c:strCache>
            </c:strRef>
          </c:tx>
          <c:spPr>
            <a:solidFill>
              <a:srgbClr val="808080"/>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Sheet1!$G$2:$G$7</c:f>
              <c:numCache>
                <c:formatCode>General</c:formatCode>
                <c:ptCount val="6"/>
                <c:pt idx="0">
                  <c:v>10.663658093363795</c:v>
                </c:pt>
                <c:pt idx="1">
                  <c:v>10.344902296743982</c:v>
                </c:pt>
                <c:pt idx="2">
                  <c:v>10.970600165968944</c:v>
                </c:pt>
                <c:pt idx="3">
                  <c:v>11.329688735353201</c:v>
                </c:pt>
                <c:pt idx="4">
                  <c:v>11.15553120803088</c:v>
                </c:pt>
                <c:pt idx="5">
                  <c:v>10.23433500285629</c:v>
                </c:pt>
              </c:numCache>
            </c:numRef>
          </c:val>
        </c:ser>
        <c:ser>
          <c:idx val="6"/>
          <c:order val="6"/>
          <c:tx>
            <c:strRef>
              <c:f>Sheet1!$H$1</c:f>
              <c:strCache>
                <c:ptCount val="1"/>
                <c:pt idx="0">
                  <c:v>Styling Serums and Oils</c:v>
                </c:pt>
              </c:strCache>
            </c:strRef>
          </c:tx>
          <c:spPr>
            <a:solidFill>
              <a:srgbClr val="0E72A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Sheet1!$H$2:$H$7</c:f>
              <c:numCache>
                <c:formatCode>General</c:formatCode>
                <c:ptCount val="6"/>
                <c:pt idx="0">
                  <c:v>20.397599173584876</c:v>
                </c:pt>
                <c:pt idx="1">
                  <c:v>21.460760997121614</c:v>
                </c:pt>
                <c:pt idx="2">
                  <c:v>18.621450292831785</c:v>
                </c:pt>
                <c:pt idx="3">
                  <c:v>19.35592968567136</c:v>
                </c:pt>
                <c:pt idx="4">
                  <c:v>17.99588345211747</c:v>
                </c:pt>
                <c:pt idx="5">
                  <c:v>20.81086026230051</c:v>
                </c:pt>
              </c:numCache>
            </c:numRef>
          </c:val>
        </c:ser>
        <c:ser>
          <c:idx val="7"/>
          <c:order val="7"/>
          <c:tx>
            <c:strRef>
              <c:f>Sheet1!$I$1</c:f>
              <c:strCache>
                <c:ptCount val="1"/>
                <c:pt idx="0">
                  <c:v>Sticks and Balms</c:v>
                </c:pt>
              </c:strCache>
            </c:strRef>
          </c:tx>
          <c:spPr>
            <a:solidFill>
              <a:srgbClr val="A86F00"/>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Sheet1!$I$2:$I$7</c:f>
              <c:numCache>
                <c:formatCode>General</c:formatCode>
                <c:ptCount val="6"/>
                <c:pt idx="0">
                  <c:v>14.43884264181389</c:v>
                </c:pt>
                <c:pt idx="1">
                  <c:v>14.800722012428501</c:v>
                </c:pt>
                <c:pt idx="2">
                  <c:v>15.022469437587988</c:v>
                </c:pt>
                <c:pt idx="3">
                  <c:v>14.8366592180656</c:v>
                </c:pt>
                <c:pt idx="4">
                  <c:v>15.015222128970004</c:v>
                </c:pt>
                <c:pt idx="5">
                  <c:v>15.212028972617258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Sprays and Mists</c:v>
                </c:pt>
              </c:strCache>
            </c:strRef>
          </c:tx>
          <c:spPr>
            <a:solidFill>
              <a:srgbClr val="3D85C6"/>
            </a:solidFill>
          </c:spPr>
          <c:invertIfNegative val="0"/>
          <c:xVal>
            <c:numRef>
              <c:f>Sheet1!$A$2:$A$2</c:f>
              <c:numCache>
                <c:formatCode>General</c:formatCode>
                <c:ptCount val="1"/>
                <c:pt idx="0">
                  <c:v>68.73575100387235</c:v>
                </c:pt>
              </c:numCache>
            </c:numRef>
          </c:xVal>
          <c:yVal>
            <c:numRef>
              <c:f>Sheet1!$B$2:$B$2</c:f>
              <c:numCache>
                <c:formatCode>General</c:formatCode>
                <c:ptCount val="1"/>
                <c:pt idx="0">
                  <c:v>105.73422228188116</c:v>
                </c:pt>
              </c:numCache>
            </c:numRef>
          </c:yVal>
          <c:bubbleSize>
            <c:numRef>
              <c:f>Sheet1!$C$2:$C$2</c:f>
              <c:numCache>
                <c:formatCode>General</c:formatCode>
                <c:ptCount val="1"/>
                <c:pt idx="0">
                  <c:v>3330.276</c:v>
                </c:pt>
              </c:numCache>
            </c:numRef>
          </c:bubbleSize>
          <c:bubble3D val="0"/>
        </c:ser>
        <c:ser>
          <c:idx val="1"/>
          <c:order val="1"/>
          <c:tx>
            <c:strRef>
              <c:f>Sheet1!$B$4</c:f>
              <c:strCache>
                <c:ptCount val="1"/>
                <c:pt idx="0">
                  <c:v>Mousses and Foams</c:v>
                </c:pt>
              </c:strCache>
            </c:strRef>
          </c:tx>
          <c:spPr>
            <a:solidFill>
              <a:srgbClr val="9E7E0A"/>
            </a:solidFill>
          </c:spPr>
          <c:invertIfNegative val="0"/>
          <c:xVal>
            <c:numRef>
              <c:f>Sheet1!$A$5:$A$5</c:f>
              <c:numCache>
                <c:formatCode>General</c:formatCode>
                <c:ptCount val="1"/>
                <c:pt idx="0">
                  <c:v>78.15742524172319</c:v>
                </c:pt>
              </c:numCache>
            </c:numRef>
          </c:xVal>
          <c:yVal>
            <c:numRef>
              <c:f>Sheet1!$B$5:$B$5</c:f>
              <c:numCache>
                <c:formatCode>General</c:formatCode>
                <c:ptCount val="1"/>
                <c:pt idx="0">
                  <c:v>56.75965824451185</c:v>
                </c:pt>
              </c:numCache>
            </c:numRef>
          </c:yVal>
          <c:bubbleSize>
            <c:numRef>
              <c:f>Sheet1!$C$5:$C$5</c:f>
              <c:numCache>
                <c:formatCode>General</c:formatCode>
                <c:ptCount val="1"/>
                <c:pt idx="0">
                  <c:v>1897.929</c:v>
                </c:pt>
              </c:numCache>
            </c:numRef>
          </c:bubbleSize>
          <c:bubble3D val="0"/>
        </c:ser>
        <c:ser>
          <c:idx val="2"/>
          <c:order val="2"/>
          <c:tx>
            <c:strRef>
              <c:f>Sheet1!$B$7</c:f>
              <c:strCache>
                <c:ptCount val="1"/>
                <c:pt idx="0">
                  <c:v>Gels and Jellies</c:v>
                </c:pt>
              </c:strCache>
            </c:strRef>
          </c:tx>
          <c:spPr>
            <a:solidFill>
              <a:srgbClr val="008189"/>
            </a:solidFill>
          </c:spPr>
          <c:invertIfNegative val="0"/>
          <c:xVal>
            <c:numRef>
              <c:f>Sheet1!$A$8:$A$8</c:f>
              <c:numCache>
                <c:formatCode>General</c:formatCode>
                <c:ptCount val="1"/>
                <c:pt idx="0">
                  <c:v>85.6470220571237</c:v>
                </c:pt>
              </c:numCache>
            </c:numRef>
          </c:xVal>
          <c:yVal>
            <c:numRef>
              <c:f>Sheet1!$B$8:$B$8</c:f>
              <c:numCache>
                <c:formatCode>General</c:formatCode>
                <c:ptCount val="1"/>
                <c:pt idx="0">
                  <c:v>74.49619464200778</c:v>
                </c:pt>
              </c:numCache>
            </c:numRef>
          </c:yVal>
          <c:bubbleSize>
            <c:numRef>
              <c:f>Sheet1!$C$8:$C$8</c:f>
              <c:numCache>
                <c:formatCode>General</c:formatCode>
                <c:ptCount val="1"/>
                <c:pt idx="0">
                  <c:v>2611.637</c:v>
                </c:pt>
              </c:numCache>
            </c:numRef>
          </c:bubbleSize>
          <c:bubble3D val="0"/>
        </c:ser>
        <c:ser>
          <c:idx val="3"/>
          <c:order val="3"/>
          <c:tx>
            <c:strRef>
              <c:f>Sheet1!$B$10</c:f>
              <c:strCache>
                <c:ptCount val="1"/>
                <c:pt idx="0">
                  <c:v>Creams and Lotions</c:v>
                </c:pt>
              </c:strCache>
            </c:strRef>
          </c:tx>
          <c:spPr>
            <a:solidFill>
              <a:srgbClr val="40315E"/>
            </a:solidFill>
          </c:spPr>
          <c:invertIfNegative val="0"/>
          <c:xVal>
            <c:numRef>
              <c:f>Sheet1!$A$11:$A$11</c:f>
              <c:numCache>
                <c:formatCode>General</c:formatCode>
                <c:ptCount val="1"/>
                <c:pt idx="0">
                  <c:v>106.28946829636976</c:v>
                </c:pt>
              </c:numCache>
            </c:numRef>
          </c:xVal>
          <c:yVal>
            <c:numRef>
              <c:f>Sheet1!$B$11:$B$11</c:f>
              <c:numCache>
                <c:formatCode>General</c:formatCode>
                <c:ptCount val="1"/>
                <c:pt idx="0">
                  <c:v>94.07746711875285</c:v>
                </c:pt>
              </c:numCache>
            </c:numRef>
          </c:yVal>
          <c:bubbleSize>
            <c:numRef>
              <c:f>Sheet1!$C$11:$C$11</c:f>
              <c:numCache>
                <c:formatCode>General</c:formatCode>
                <c:ptCount val="1"/>
                <c:pt idx="0">
                  <c:v>3752.96</c:v>
                </c:pt>
              </c:numCache>
            </c:numRef>
          </c:bubbleSize>
          <c:bubble3D val="0"/>
        </c:ser>
        <c:ser>
          <c:idx val="4"/>
          <c:order val="4"/>
          <c:tx>
            <c:strRef>
              <c:f>Sheet1!$B$13</c:f>
              <c:strCache>
                <c:ptCount val="1"/>
                <c:pt idx="0">
                  <c:v>Waxes, Clays, Pastes and Pomades</c:v>
                </c:pt>
              </c:strCache>
            </c:strRef>
          </c:tx>
          <c:spPr>
            <a:solidFill>
              <a:srgbClr val="A35313"/>
            </a:solidFill>
          </c:spPr>
          <c:invertIfNegative val="0"/>
          <c:xVal>
            <c:numRef>
              <c:f>Sheet1!$A$14:$A$14</c:f>
              <c:numCache>
                <c:formatCode>General</c:formatCode>
                <c:ptCount val="1"/>
                <c:pt idx="0">
                  <c:v>94.1176053381727</c:v>
                </c:pt>
              </c:numCache>
            </c:numRef>
          </c:xVal>
          <c:yVal>
            <c:numRef>
              <c:f>Sheet1!$B$14:$B$14</c:f>
              <c:numCache>
                <c:formatCode>General</c:formatCode>
                <c:ptCount val="1"/>
                <c:pt idx="0">
                  <c:v>139.78112633579923</c:v>
                </c:pt>
              </c:numCache>
            </c:numRef>
          </c:yVal>
          <c:bubbleSize>
            <c:numRef>
              <c:f>Sheet1!$C$14:$C$14</c:f>
              <c:numCache>
                <c:formatCode>General</c:formatCode>
                <c:ptCount val="1"/>
                <c:pt idx="0">
                  <c:v>5168.202</c:v>
                </c:pt>
              </c:numCache>
            </c:numRef>
          </c:bubbleSize>
          <c:bubble3D val="0"/>
        </c:ser>
        <c:ser>
          <c:idx val="5"/>
          <c:order val="5"/>
          <c:tx>
            <c:strRef>
              <c:f>Sheet1!$B$16</c:f>
              <c:strCache>
                <c:ptCount val="1"/>
                <c:pt idx="0">
                  <c:v>Styling Powders</c:v>
                </c:pt>
              </c:strCache>
            </c:strRef>
          </c:tx>
          <c:spPr>
            <a:solidFill>
              <a:srgbClr val="808080"/>
            </a:solidFill>
          </c:spPr>
          <c:invertIfNegative val="0"/>
          <c:xVal>
            <c:numRef>
              <c:f>Sheet1!$A$17:$A$17</c:f>
              <c:numCache>
                <c:formatCode>General</c:formatCode>
                <c:ptCount val="1"/>
                <c:pt idx="0">
                  <c:v>113.61352486069593</c:v>
                </c:pt>
              </c:numCache>
            </c:numRef>
          </c:xVal>
          <c:yVal>
            <c:numRef>
              <c:f>Sheet1!$B$17:$B$17</c:f>
              <c:numCache>
                <c:formatCode>General</c:formatCode>
                <c:ptCount val="1"/>
                <c:pt idx="0">
                  <c:v>79.2588819987919</c:v>
                </c:pt>
              </c:numCache>
            </c:numRef>
          </c:yVal>
          <c:bubbleSize>
            <c:numRef>
              <c:f>Sheet1!$C$17:$C$17</c:f>
              <c:numCache>
                <c:formatCode>General</c:formatCode>
                <c:ptCount val="1"/>
                <c:pt idx="0">
                  <c:v>3308.806</c:v>
                </c:pt>
              </c:numCache>
            </c:numRef>
          </c:bubbleSize>
          <c:bubble3D val="0"/>
        </c:ser>
        <c:ser>
          <c:idx val="6"/>
          <c:order val="6"/>
          <c:tx>
            <c:strRef>
              <c:f>Sheet1!$B$19</c:f>
              <c:strCache>
                <c:ptCount val="1"/>
                <c:pt idx="0">
                  <c:v>Styling Serums and Oils</c:v>
                </c:pt>
              </c:strCache>
            </c:strRef>
          </c:tx>
          <c:spPr>
            <a:solidFill>
              <a:srgbClr val="0E72AE"/>
            </a:solidFill>
          </c:spPr>
          <c:invertIfNegative val="0"/>
          <c:xVal>
            <c:numRef>
              <c:f>Sheet1!$A$20:$A$20</c:f>
              <c:numCache>
                <c:formatCode>General</c:formatCode>
                <c:ptCount val="1"/>
                <c:pt idx="0">
                  <c:v>110.46920058086991</c:v>
                </c:pt>
              </c:numCache>
            </c:numRef>
          </c:xVal>
          <c:yVal>
            <c:numRef>
              <c:f>Sheet1!$B$20:$B$20</c:f>
              <c:numCache>
                <c:formatCode>General</c:formatCode>
                <c:ptCount val="1"/>
                <c:pt idx="0">
                  <c:v>147.01935613172654</c:v>
                </c:pt>
              </c:numCache>
            </c:numRef>
          </c:yVal>
          <c:bubbleSize>
            <c:numRef>
              <c:f>Sheet1!$C$20:$C$20</c:f>
              <c:numCache>
                <c:formatCode>General</c:formatCode>
                <c:ptCount val="1"/>
                <c:pt idx="0">
                  <c:v>6019.166</c:v>
                </c:pt>
              </c:numCache>
            </c:numRef>
          </c:bubbleSize>
          <c:bubble3D val="0"/>
        </c:ser>
        <c:ser>
          <c:idx val="7"/>
          <c:order val="7"/>
          <c:tx>
            <c:strRef>
              <c:f>Sheet1!$B$22</c:f>
              <c:strCache>
                <c:ptCount val="1"/>
                <c:pt idx="0">
                  <c:v>Sticks and Balms</c:v>
                </c:pt>
              </c:strCache>
            </c:strRef>
          </c:tx>
          <c:spPr>
            <a:solidFill>
              <a:srgbClr val="A86F00"/>
            </a:solidFill>
          </c:spPr>
          <c:invertIfNegative val="0"/>
          <c:xVal>
            <c:numRef>
              <c:f>Sheet1!$A$23:$A$23</c:f>
              <c:numCache>
                <c:formatCode>General</c:formatCode>
                <c:ptCount val="1"/>
                <c:pt idx="0">
                  <c:v>124.69027538165618</c:v>
                </c:pt>
              </c:numCache>
            </c:numRef>
          </c:xVal>
          <c:yVal>
            <c:numRef>
              <c:f>Sheet1!$B$23:$B$23</c:f>
              <c:numCache>
                <c:formatCode>General</c:formatCode>
                <c:ptCount val="1"/>
                <c:pt idx="0">
                  <c:v>102.87309324652875</c:v>
                </c:pt>
              </c:numCache>
            </c:numRef>
          </c:yVal>
          <c:bubbleSize>
            <c:numRef>
              <c:f>Sheet1!$C$23:$C$23</c:f>
              <c:numCache>
                <c:formatCode>General</c:formatCode>
                <c:ptCount val="1"/>
                <c:pt idx="0">
                  <c:v>4598.357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2128.743</c:v>
                </c:pt>
                <c:pt idx="2">
                  <c:v>2294.924</c:v>
                </c:pt>
                <c:pt idx="3">
                  <c:v>2502.511</c:v>
                </c:pt>
                <c:pt idx="4">
                  <c:v>2745.283</c:v>
                </c:pt>
                <c:pt idx="5">
                  <c:v>3021.6530000000002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2128.743</c:v>
                </c:pt>
                <c:pt idx="1">
                  <c:v>166.18100000000004</c:v>
                </c:pt>
                <c:pt idx="2">
                  <c:v>207.587</c:v>
                </c:pt>
                <c:pt idx="3">
                  <c:v>242.77199999999993</c:v>
                </c:pt>
                <c:pt idx="4">
                  <c:v>276.37000000000035</c:v>
                </c:pt>
                <c:pt idx="5">
                  <c:v>308.6229999999996</c:v>
                </c:pt>
                <c:pt idx="6">
                  <c:v>3330.276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1142.74</c:v>
                </c:pt>
                <c:pt idx="2">
                  <c:v>1252.56</c:v>
                </c:pt>
                <c:pt idx="3">
                  <c:v>1383.625</c:v>
                </c:pt>
                <c:pt idx="4">
                  <c:v>1532.949</c:v>
                </c:pt>
                <c:pt idx="5">
                  <c:v>1704.663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1142.74</c:v>
                </c:pt>
                <c:pt idx="1">
                  <c:v>109.81999999999994</c:v>
                </c:pt>
                <c:pt idx="2">
                  <c:v>131.06500000000005</c:v>
                </c:pt>
                <c:pt idx="3">
                  <c:v>149.32400000000007</c:v>
                </c:pt>
                <c:pt idx="4">
                  <c:v>171.71399999999994</c:v>
                </c:pt>
                <c:pt idx="5">
                  <c:v>193.26600000000008</c:v>
                </c:pt>
                <c:pt idx="6">
                  <c:v>1897.929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1499.829</c:v>
                </c:pt>
                <c:pt idx="2">
                  <c:v>1663.725</c:v>
                </c:pt>
                <c:pt idx="3">
                  <c:v>1857.175</c:v>
                </c:pt>
                <c:pt idx="4">
                  <c:v>2079.082</c:v>
                </c:pt>
                <c:pt idx="5">
                  <c:v>2330.813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1499.829</c:v>
                </c:pt>
                <c:pt idx="1">
                  <c:v>163.89599999999996</c:v>
                </c:pt>
                <c:pt idx="2">
                  <c:v>193.45000000000005</c:v>
                </c:pt>
                <c:pt idx="3">
                  <c:v>221.90699999999993</c:v>
                </c:pt>
                <c:pt idx="4">
                  <c:v>251.73100000000022</c:v>
                </c:pt>
                <c:pt idx="5">
                  <c:v>280.82400000000007</c:v>
                </c:pt>
                <c:pt idx="6">
                  <c:v>2611.637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1894.058</c:v>
                </c:pt>
                <c:pt idx="2">
                  <c:v>2106.336</c:v>
                </c:pt>
                <c:pt idx="3">
                  <c:v>2398.912</c:v>
                </c:pt>
                <c:pt idx="4">
                  <c:v>2772.223</c:v>
                </c:pt>
                <c:pt idx="5">
                  <c:v>3225.005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1894.058</c:v>
                </c:pt>
                <c:pt idx="1">
                  <c:v>212.2779999999998</c:v>
                </c:pt>
                <c:pt idx="2">
                  <c:v>292.576</c:v>
                </c:pt>
                <c:pt idx="3">
                  <c:v>373.31100000000015</c:v>
                </c:pt>
                <c:pt idx="4">
                  <c:v>452.78200000000015</c:v>
                </c:pt>
                <c:pt idx="5">
                  <c:v>527.9549999999999</c:v>
                </c:pt>
                <c:pt idx="6">
                  <c:v>3752.96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2814.208</c:v>
                </c:pt>
                <c:pt idx="2">
                  <c:v>3146.926</c:v>
                </c:pt>
                <c:pt idx="3">
                  <c:v>3549.126</c:v>
                </c:pt>
                <c:pt idx="4">
                  <c:v>4011.47</c:v>
                </c:pt>
                <c:pt idx="5">
                  <c:v>4552.977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2814.208</c:v>
                </c:pt>
                <c:pt idx="1">
                  <c:v>332.71799999999985</c:v>
                </c:pt>
                <c:pt idx="2">
                  <c:v>402.2000000000003</c:v>
                </c:pt>
                <c:pt idx="3">
                  <c:v>462.3439999999996</c:v>
                </c:pt>
                <c:pt idx="4">
                  <c:v>541.5070000000001</c:v>
                </c:pt>
                <c:pt idx="5">
                  <c:v>615.2250000000004</c:v>
                </c:pt>
                <c:pt idx="6">
                  <c:v>5168.202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1595.716</c:v>
                </c:pt>
                <c:pt idx="2">
                  <c:v>1797.771</c:v>
                </c:pt>
                <c:pt idx="3">
                  <c:v>2065.972</c:v>
                </c:pt>
                <c:pt idx="4">
                  <c:v>2420.839</c:v>
                </c:pt>
                <c:pt idx="5">
                  <c:v>2835.973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1595.716</c:v>
                </c:pt>
                <c:pt idx="1">
                  <c:v>202.05500000000006</c:v>
                </c:pt>
                <c:pt idx="2">
                  <c:v>268.20100000000025</c:v>
                </c:pt>
                <c:pt idx="3">
                  <c:v>354.86699999999973</c:v>
                </c:pt>
                <c:pt idx="4">
                  <c:v>415.134</c:v>
                </c:pt>
                <c:pt idx="5">
                  <c:v>472.8330000000001</c:v>
                </c:pt>
                <c:pt idx="6">
                  <c:v>3308.806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2959.935</c:v>
                </c:pt>
                <c:pt idx="2">
                  <c:v>3335.334</c:v>
                </c:pt>
                <c:pt idx="3">
                  <c:v>3825.71</c:v>
                </c:pt>
                <c:pt idx="4">
                  <c:v>4441.681</c:v>
                </c:pt>
                <c:pt idx="5">
                  <c:v>5172.045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2959.935</c:v>
                </c:pt>
                <c:pt idx="1">
                  <c:v>375.3989999999999</c:v>
                </c:pt>
                <c:pt idx="2">
                  <c:v>490.3760000000002</c:v>
                </c:pt>
                <c:pt idx="3">
                  <c:v>615.9709999999995</c:v>
                </c:pt>
                <c:pt idx="4">
                  <c:v>730.3640000000005</c:v>
                </c:pt>
                <c:pt idx="5">
                  <c:v>847.1210000000001</c:v>
                </c:pt>
                <c:pt idx="6">
                  <c:v>6019.166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2071.14</c:v>
                </c:pt>
                <c:pt idx="2">
                  <c:v>2374.517</c:v>
                </c:pt>
                <c:pt idx="3">
                  <c:v>2775.771</c:v>
                </c:pt>
                <c:pt idx="4">
                  <c:v>3284.7</c:v>
                </c:pt>
                <c:pt idx="5">
                  <c:v>3891.865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2071.14</c:v>
                </c:pt>
                <c:pt idx="1">
                  <c:v>303.37699999999995</c:v>
                </c:pt>
                <c:pt idx="2">
                  <c:v>401.25400000000036</c:v>
                </c:pt>
                <c:pt idx="3">
                  <c:v>508.92899999999963</c:v>
                </c:pt>
                <c:pt idx="4">
                  <c:v>607.165</c:v>
                </c:pt>
                <c:pt idx="5">
                  <c:v>706.4920000000002</c:v>
                </c:pt>
                <c:pt idx="6">
                  <c:v>4598.357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Serums and Oils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17.84982272375349</c:v>
                </c:pt>
                <c:pt idx="1">
                  <c:v>18.377419516465817</c:v>
                </c:pt>
                <c:pt idx="2">
                  <c:v>19.614496965246214</c:v>
                </c:pt>
              </c:numCache>
            </c:numRef>
          </c:val>
        </c:ser>
        <c:ser>
          <c:idx val="1"/>
          <c:order val="1"/>
          <c:tx>
            <c:strRef>
              <c:f>Sheet1!$C$1</c:f>
              <c:strCache>
                <c:ptCount val="1"/>
                <c:pt idx="0">
                  <c:v>Waxes, Clays, Pastes and Pomades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17.130125336476414</c:v>
                </c:pt>
                <c:pt idx="1">
                  <c:v>17.472640791974904</c:v>
                </c:pt>
                <c:pt idx="2">
                  <c:v>16.841483096624916</c:v>
                </c:pt>
              </c:numCache>
            </c:numRef>
          </c:val>
        </c:ser>
        <c:ser>
          <c:idx val="2"/>
          <c:order val="2"/>
          <c:tx>
            <c:strRef>
              <c:f>Sheet1!$D$1</c:f>
              <c:strCache>
                <c:ptCount val="1"/>
                <c:pt idx="0">
                  <c:v>Sticks and Balms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11.99410587606135</c:v>
                </c:pt>
                <c:pt idx="1">
                  <c:v>12.859136655816094</c:v>
                </c:pt>
                <c:pt idx="2">
                  <c:v>14.984544274342774</c:v>
                </c:pt>
              </c:numCache>
            </c:numRef>
          </c:val>
        </c:ser>
        <c:ser>
          <c:idx val="3"/>
          <c:order val="3"/>
          <c:tx>
            <c:strRef>
              <c:f>Sheet1!$E$1</c:f>
              <c:strCache>
                <c:ptCount val="1"/>
                <c:pt idx="0">
                  <c:v>Creams and Lotions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12.200295369185655</c:v>
                </c:pt>
                <c:pt idx="1">
                  <c:v>11.759683389844106</c:v>
                </c:pt>
                <c:pt idx="2">
                  <c:v>12.229671441307723</c:v>
                </c:pt>
              </c:numCache>
            </c:numRef>
          </c:val>
        </c:ser>
        <c:ser>
          <c:idx val="4"/>
          <c:order val="4"/>
          <c:tx>
            <c:strRef>
              <c:f>Sheet1!$F$1</c:f>
              <c:strCache>
                <c:ptCount val="1"/>
                <c:pt idx="0">
                  <c:v>Sprays and Mists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14.20492657669704</c:v>
                </c:pt>
                <c:pt idx="1">
                  <c:v>13.216777785235145</c:v>
                </c:pt>
                <c:pt idx="2">
                  <c:v>10.852282275556497</c:v>
                </c:pt>
              </c:numCache>
            </c:numRef>
          </c:val>
        </c:ser>
        <c:ser>
          <c:idx val="5"/>
          <c:order val="5"/>
          <c:tx>
            <c:strRef>
              <c:f>Sheet1!$G$1</c:f>
              <c:strCache>
                <c:ptCount val="1"/>
                <c:pt idx="0">
                  <c:v>Powders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9.95702676693626</c:v>
                </c:pt>
                <c:pt idx="1">
                  <c:v>9.907360249848988</c:v>
                </c:pt>
                <c:pt idx="2">
                  <c:v>10.782318554694864</c:v>
                </c:pt>
              </c:numCache>
            </c:numRef>
          </c:val>
        </c:ser>
        <c:ser>
          <c:idx val="6"/>
          <c:order val="6"/>
          <c:tx>
            <c:strRef>
              <c:f>Sheet1!$H$1</c:f>
              <c:strCache>
                <c:ptCount val="1"/>
                <c:pt idx="0">
                  <c:v>Gels and Jellies</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9.355449300905374</c:v>
                </c:pt>
                <c:pt idx="1">
                  <c:v>9.312024330250972</c:v>
                </c:pt>
                <c:pt idx="2">
                  <c:v>8.51047238285582</c:v>
                </c:pt>
              </c:numCache>
            </c:numRef>
          </c:val>
        </c:ser>
        <c:ser>
          <c:idx val="7"/>
          <c:order val="7"/>
          <c:tx>
            <c:strRef>
              <c:f>Sheet1!$I$1</c:f>
              <c:strCache>
                <c:ptCount val="1"/>
                <c:pt idx="0">
                  <c:v>Mousses and Foams</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Sheet1!$I$2:$I$4</c:f>
              <c:numCache>
                <c:formatCode>General</c:formatCode>
                <c:ptCount val="3"/>
                <c:pt idx="0">
                  <c:v>7.308248049984416</c:v>
                </c:pt>
                <c:pt idx="1">
                  <c:v>7.094957280563981</c:v>
                </c:pt>
                <c:pt idx="2">
                  <c:v>6.1847310093711965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No Hold</c:v>
                </c:pt>
              </c:strCache>
            </c:strRef>
          </c:tx>
          <c:spPr>
            <a:solidFill>
              <a:srgbClr val="3D85C6"/>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Sheet1!$B$2:$B$7</c:f>
              <c:numCache>
                <c:formatCode>General</c:formatCode>
                <c:ptCount val="6"/>
                <c:pt idx="0">
                  <c:v>19.45462120005391</c:v>
                </c:pt>
                <c:pt idx="1">
                  <c:v>20.04095238264372</c:v>
                </c:pt>
                <c:pt idx="2">
                  <c:v>18.30973667416885</c:v>
                </c:pt>
                <c:pt idx="3">
                  <c:v>19.24363605900008</c:v>
                </c:pt>
                <c:pt idx="4">
                  <c:v>20.050654344177367</c:v>
                </c:pt>
                <c:pt idx="5">
                  <c:v>20.054672113892163</c:v>
                </c:pt>
              </c:numCache>
            </c:numRef>
          </c:val>
        </c:ser>
        <c:ser>
          <c:idx val="1"/>
          <c:order val="1"/>
          <c:tx>
            <c:strRef>
              <c:f>Sheet1!$C$1</c:f>
              <c:strCache>
                <c:ptCount val="1"/>
                <c:pt idx="0">
                  <c:v>Light or Flexible Hold</c:v>
                </c:pt>
              </c:strCache>
            </c:strRef>
          </c:tx>
          <c:spPr>
            <a:solidFill>
              <a:srgbClr val="9E7E0A"/>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Sheet1!$C$2:$C$7</c:f>
              <c:numCache>
                <c:formatCode>General</c:formatCode>
                <c:ptCount val="6"/>
                <c:pt idx="0">
                  <c:v>22.062378825394518</c:v>
                </c:pt>
                <c:pt idx="1">
                  <c:v>22.208303068942435</c:v>
                </c:pt>
                <c:pt idx="2">
                  <c:v>21.50975491484019</c:v>
                </c:pt>
                <c:pt idx="3">
                  <c:v>22.037124338550974</c:v>
                </c:pt>
                <c:pt idx="4">
                  <c:v>22.23113765637367</c:v>
                </c:pt>
                <c:pt idx="5">
                  <c:v>22.240616373823542</c:v>
                </c:pt>
              </c:numCache>
            </c:numRef>
          </c:val>
        </c:ser>
        <c:ser>
          <c:idx val="2"/>
          <c:order val="2"/>
          <c:tx>
            <c:strRef>
              <c:f>Sheet1!$D$1</c:f>
              <c:strCache>
                <c:ptCount val="1"/>
                <c:pt idx="0">
                  <c:v>Medium Hold</c:v>
                </c:pt>
              </c:strCache>
            </c:strRef>
          </c:tx>
          <c:spPr>
            <a:solidFill>
              <a:srgbClr val="008189"/>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Sheet1!$D$2:$D$7</c:f>
              <c:numCache>
                <c:formatCode>General</c:formatCode>
                <c:ptCount val="6"/>
                <c:pt idx="0">
                  <c:v>21.8863604874412</c:v>
                </c:pt>
                <c:pt idx="1">
                  <c:v>22.01593697666283</c:v>
                </c:pt>
                <c:pt idx="2">
                  <c:v>23.05883332347948</c:v>
                </c:pt>
                <c:pt idx="3">
                  <c:v>21.825321025909933</c:v>
                </c:pt>
                <c:pt idx="4">
                  <c:v>22.014502886942942</c:v>
                </c:pt>
                <c:pt idx="5">
                  <c:v>22.01390553611848</c:v>
                </c:pt>
              </c:numCache>
            </c:numRef>
          </c:val>
        </c:ser>
        <c:ser>
          <c:idx val="3"/>
          <c:order val="3"/>
          <c:tx>
            <c:strRef>
              <c:f>Sheet1!$E$1</c:f>
              <c:strCache>
                <c:ptCount val="1"/>
                <c:pt idx="0">
                  <c:v>Strong Hold</c:v>
                </c:pt>
              </c:strCache>
            </c:strRef>
          </c:tx>
          <c:spPr>
            <a:solidFill>
              <a:srgbClr val="40315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Sheet1!$E$2:$E$7</c:f>
              <c:numCache>
                <c:formatCode>General</c:formatCode>
                <c:ptCount val="6"/>
                <c:pt idx="0">
                  <c:v>20.24206173790186</c:v>
                </c:pt>
                <c:pt idx="1">
                  <c:v>19.76263246035735</c:v>
                </c:pt>
                <c:pt idx="2">
                  <c:v>20.484671605611233</c:v>
                </c:pt>
                <c:pt idx="3">
                  <c:v>20.387106332748395</c:v>
                </c:pt>
                <c:pt idx="4">
                  <c:v>19.75037526852855</c:v>
                </c:pt>
                <c:pt idx="5">
                  <c:v>19.745292685859688</c:v>
                </c:pt>
              </c:numCache>
            </c:numRef>
          </c:val>
        </c:ser>
        <c:ser>
          <c:idx val="4"/>
          <c:order val="4"/>
          <c:tx>
            <c:strRef>
              <c:f>Sheet1!$F$1</c:f>
              <c:strCache>
                <c:ptCount val="1"/>
                <c:pt idx="0">
                  <c:v>Extra-strong Hold</c:v>
                </c:pt>
              </c:strCache>
            </c:strRef>
          </c:tx>
          <c:spPr>
            <a:solidFill>
              <a:srgbClr val="A35313"/>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Sheet1!$F$2:$F$7</c:f>
              <c:numCache>
                <c:formatCode>General</c:formatCode>
                <c:ptCount val="6"/>
                <c:pt idx="0">
                  <c:v>16.354577749208506</c:v>
                </c:pt>
                <c:pt idx="1">
                  <c:v>15.972175111393677</c:v>
                </c:pt>
                <c:pt idx="2">
                  <c:v>16.63700348190024</c:v>
                </c:pt>
                <c:pt idx="3">
                  <c:v>16.506812243790613</c:v>
                </c:pt>
                <c:pt idx="4">
                  <c:v>15.953329843977476</c:v>
                </c:pt>
                <c:pt idx="5">
                  <c:v>15.94551329030614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No Hold</c:v>
                </c:pt>
              </c:strCache>
            </c:strRef>
          </c:tx>
          <c:spPr>
            <a:solidFill>
              <a:srgbClr val="3D85C6"/>
            </a:solidFill>
          </c:spPr>
          <c:invertIfNegative val="0"/>
          <c:xVal>
            <c:numRef>
              <c:f>Sheet1!$A$2:$A$2</c:f>
              <c:numCache>
                <c:formatCode>General</c:formatCode>
                <c:ptCount val="1"/>
                <c:pt idx="0">
                  <c:v>108.53240125339154</c:v>
                </c:pt>
              </c:numCache>
            </c:numRef>
          </c:xVal>
          <c:yVal>
            <c:numRef>
              <c:f>Sheet1!$B$2:$B$2</c:f>
              <c:numCache>
                <c:formatCode>General</c:formatCode>
                <c:ptCount val="1"/>
                <c:pt idx="0">
                  <c:v>93.21470903839344</c:v>
                </c:pt>
              </c:numCache>
            </c:numRef>
          </c:yVal>
          <c:bubbleSize>
            <c:numRef>
              <c:f>Sheet1!$C$2:$C$2</c:f>
              <c:numCache>
                <c:formatCode>General</c:formatCode>
                <c:ptCount val="1"/>
                <c:pt idx="0">
                  <c:v>6033.176</c:v>
                </c:pt>
              </c:numCache>
            </c:numRef>
          </c:bubbleSize>
          <c:bubble3D val="0"/>
        </c:ser>
        <c:ser>
          <c:idx val="1"/>
          <c:order val="1"/>
          <c:tx>
            <c:strRef>
              <c:f>Sheet1!$B$4</c:f>
              <c:strCache>
                <c:ptCount val="1"/>
                <c:pt idx="0">
                  <c:v>Light or Flexible Hold</c:v>
                </c:pt>
              </c:strCache>
            </c:strRef>
          </c:tx>
          <c:spPr>
            <a:solidFill>
              <a:srgbClr val="9E7E0A"/>
            </a:solidFill>
          </c:spPr>
          <c:invertIfNegative val="0"/>
          <c:xVal>
            <c:numRef>
              <c:f>Sheet1!$A$5:$A$5</c:f>
              <c:numCache>
                <c:formatCode>General</c:formatCode>
                <c:ptCount val="1"/>
                <c:pt idx="0">
                  <c:v>115.42794128382067</c:v>
                </c:pt>
              </c:numCache>
            </c:numRef>
          </c:xVal>
          <c:yVal>
            <c:numRef>
              <c:f>Sheet1!$B$5:$B$5</c:f>
              <c:numCache>
                <c:formatCode>General</c:formatCode>
                <c:ptCount val="1"/>
                <c:pt idx="0">
                  <c:v>100.39478792519903</c:v>
                </c:pt>
              </c:numCache>
            </c:numRef>
          </c:yVal>
          <c:bubbleSize>
            <c:numRef>
              <c:f>Sheet1!$C$5:$C$5</c:f>
              <c:numCache>
                <c:formatCode>General</c:formatCode>
                <c:ptCount val="1"/>
                <c:pt idx="0">
                  <c:v>6781.562</c:v>
                </c:pt>
              </c:numCache>
            </c:numRef>
          </c:bubbleSize>
          <c:bubble3D val="0"/>
        </c:ser>
        <c:ser>
          <c:idx val="2"/>
          <c:order val="2"/>
          <c:tx>
            <c:strRef>
              <c:f>Sheet1!$B$7</c:f>
              <c:strCache>
                <c:ptCount val="1"/>
                <c:pt idx="0">
                  <c:v>Medium Hold</c:v>
                </c:pt>
              </c:strCache>
            </c:strRef>
          </c:tx>
          <c:spPr>
            <a:solidFill>
              <a:srgbClr val="008189"/>
            </a:solidFill>
          </c:spPr>
          <c:invertIfNegative val="0"/>
          <c:xVal>
            <c:numRef>
              <c:f>Sheet1!$A$8:$A$8</c:f>
              <c:numCache>
                <c:formatCode>General</c:formatCode>
                <c:ptCount val="1"/>
                <c:pt idx="0">
                  <c:v>98.98073064692865</c:v>
                </c:pt>
              </c:numCache>
            </c:numRef>
          </c:xVal>
          <c:yVal>
            <c:numRef>
              <c:f>Sheet1!$B$8:$B$8</c:f>
              <c:numCache>
                <c:formatCode>General</c:formatCode>
                <c:ptCount val="1"/>
                <c:pt idx="0">
                  <c:v>111.21653179558967</c:v>
                </c:pt>
              </c:numCache>
            </c:numRef>
          </c:yVal>
          <c:bubbleSize>
            <c:numRef>
              <c:f>Sheet1!$C$8:$C$8</c:f>
              <c:numCache>
                <c:formatCode>General</c:formatCode>
                <c:ptCount val="1"/>
                <c:pt idx="0">
                  <c:v>6782.567</c:v>
                </c:pt>
              </c:numCache>
            </c:numRef>
          </c:bubbleSize>
          <c:bubble3D val="0"/>
        </c:ser>
        <c:ser>
          <c:idx val="3"/>
          <c:order val="3"/>
          <c:tx>
            <c:strRef>
              <c:f>Sheet1!$B$10</c:f>
              <c:strCache>
                <c:ptCount val="1"/>
                <c:pt idx="0">
                  <c:v>Strong Hold</c:v>
                </c:pt>
              </c:strCache>
            </c:strRef>
          </c:tx>
          <c:spPr>
            <a:solidFill>
              <a:srgbClr val="40315E"/>
            </a:solidFill>
          </c:spPr>
          <c:invertIfNegative val="0"/>
          <c:xVal>
            <c:numRef>
              <c:f>Sheet1!$A$11:$A$11</c:f>
              <c:numCache>
                <c:formatCode>General</c:formatCode>
                <c:ptCount val="1"/>
                <c:pt idx="0">
                  <c:v>90.99809589091281</c:v>
                </c:pt>
              </c:numCache>
            </c:numRef>
          </c:xVal>
          <c:yVal>
            <c:numRef>
              <c:f>Sheet1!$B$11:$B$11</c:f>
              <c:numCache>
                <c:formatCode>General</c:formatCode>
                <c:ptCount val="1"/>
                <c:pt idx="0">
                  <c:v>105.69834206580018</c:v>
                </c:pt>
              </c:numCache>
            </c:numRef>
          </c:yVal>
          <c:bubbleSize>
            <c:numRef>
              <c:f>Sheet1!$C$11:$C$11</c:f>
              <c:numCache>
                <c:formatCode>General</c:formatCode>
                <c:ptCount val="1"/>
                <c:pt idx="0">
                  <c:v>6131.712</c:v>
                </c:pt>
              </c:numCache>
            </c:numRef>
          </c:bubbleSize>
          <c:bubble3D val="0"/>
        </c:ser>
        <c:ser>
          <c:idx val="4"/>
          <c:order val="4"/>
          <c:tx>
            <c:strRef>
              <c:f>Sheet1!$B$13</c:f>
              <c:strCache>
                <c:ptCount val="1"/>
                <c:pt idx="0">
                  <c:v>Extra-strong Hold</c:v>
                </c:pt>
              </c:strCache>
            </c:strRef>
          </c:tx>
          <c:spPr>
            <a:solidFill>
              <a:srgbClr val="A35313"/>
            </a:solidFill>
          </c:spPr>
          <c:invertIfNegative val="0"/>
          <c:xVal>
            <c:numRef>
              <c:f>Sheet1!$A$14:$A$14</c:f>
              <c:numCache>
                <c:formatCode>General</c:formatCode>
                <c:ptCount val="1"/>
                <c:pt idx="0">
                  <c:v>83.7221761313948</c:v>
                </c:pt>
              </c:numCache>
            </c:numRef>
          </c:xVal>
          <c:yVal>
            <c:numRef>
              <c:f>Sheet1!$B$14:$B$14</c:f>
              <c:numCache>
                <c:formatCode>General</c:formatCode>
                <c:ptCount val="1"/>
                <c:pt idx="0">
                  <c:v>89.47562917501767</c:v>
                </c:pt>
              </c:numCache>
            </c:numRef>
          </c:yVal>
          <c:bubbleSize>
            <c:numRef>
              <c:f>Sheet1!$C$14:$C$14</c:f>
              <c:numCache>
                <c:formatCode>General</c:formatCode>
                <c:ptCount val="1"/>
                <c:pt idx="0">
                  <c:v>4958.317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3002.701</c:v>
                </c:pt>
                <c:pt idx="2">
                  <c:v>3340.838</c:v>
                </c:pt>
                <c:pt idx="3">
                  <c:v>3811.589</c:v>
                </c:pt>
                <c:pt idx="4">
                  <c:v>4422.671</c:v>
                </c:pt>
                <c:pt idx="5">
                  <c:v>5164.253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3002.701</c:v>
                </c:pt>
                <c:pt idx="1">
                  <c:v>338.13700000000017</c:v>
                </c:pt>
                <c:pt idx="2">
                  <c:v>470.75099999999975</c:v>
                </c:pt>
                <c:pt idx="3">
                  <c:v>611.0820000000003</c:v>
                </c:pt>
                <c:pt idx="4">
                  <c:v>741.5819999999994</c:v>
                </c:pt>
                <c:pt idx="5">
                  <c:v>868.9230000000007</c:v>
                </c:pt>
                <c:pt idx="6">
                  <c:v>6033.176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3233.991</c:v>
                </c:pt>
                <c:pt idx="2">
                  <c:v>3643.367</c:v>
                </c:pt>
                <c:pt idx="3">
                  <c:v>4190.975</c:v>
                </c:pt>
                <c:pt idx="4">
                  <c:v>4924.673</c:v>
                </c:pt>
                <c:pt idx="5">
                  <c:v>5787.337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3233.991</c:v>
                </c:pt>
                <c:pt idx="1">
                  <c:v>409.3760000000002</c:v>
                </c:pt>
                <c:pt idx="2">
                  <c:v>547.6080000000002</c:v>
                </c:pt>
                <c:pt idx="3">
                  <c:v>733.6979999999994</c:v>
                </c:pt>
                <c:pt idx="4">
                  <c:v>862.6640000000007</c:v>
                </c:pt>
                <c:pt idx="5">
                  <c:v>994.2249999999995</c:v>
                </c:pt>
                <c:pt idx="6">
                  <c:v>6781.562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3582.589</c:v>
                </c:pt>
                <c:pt idx="2">
                  <c:v>4021.476</c:v>
                </c:pt>
                <c:pt idx="3">
                  <c:v>4570.388</c:v>
                </c:pt>
                <c:pt idx="4">
                  <c:v>5197.022</c:v>
                </c:pt>
                <c:pt idx="5">
                  <c:v>5939.009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3582.589</c:v>
                </c:pt>
                <c:pt idx="1">
                  <c:v>438.88700000000017</c:v>
                </c:pt>
                <c:pt idx="2">
                  <c:v>548.9119999999998</c:v>
                </c:pt>
                <c:pt idx="3">
                  <c:v>626.634</c:v>
                </c:pt>
                <c:pt idx="4">
                  <c:v>741.9870000000001</c:v>
                </c:pt>
                <c:pt idx="5">
                  <c:v>843.558</c:v>
                </c:pt>
                <c:pt idx="6">
                  <c:v>6782.567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3404.833</c:v>
                </c:pt>
                <c:pt idx="2">
                  <c:v>3793.538</c:v>
                </c:pt>
                <c:pt idx="3">
                  <c:v>4259.599</c:v>
                </c:pt>
                <c:pt idx="4">
                  <c:v>4805.984</c:v>
                </c:pt>
                <c:pt idx="5">
                  <c:v>5428.746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3404.833</c:v>
                </c:pt>
                <c:pt idx="1">
                  <c:v>388.7049999999999</c:v>
                </c:pt>
                <c:pt idx="2">
                  <c:v>466.06100000000015</c:v>
                </c:pt>
                <c:pt idx="3">
                  <c:v>546.3850000000002</c:v>
                </c:pt>
                <c:pt idx="4">
                  <c:v>622.7619999999997</c:v>
                </c:pt>
                <c:pt idx="5">
                  <c:v>702.9660000000003</c:v>
                </c:pt>
                <c:pt idx="6">
                  <c:v>6131.712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2882.255</c:v>
                </c:pt>
                <c:pt idx="2">
                  <c:v>3172.875</c:v>
                </c:pt>
                <c:pt idx="3">
                  <c:v>3526.249</c:v>
                </c:pt>
                <c:pt idx="4">
                  <c:v>3937.877</c:v>
                </c:pt>
                <c:pt idx="5">
                  <c:v>4415.648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2882.255</c:v>
                </c:pt>
                <c:pt idx="1">
                  <c:v>290.6199999999999</c:v>
                </c:pt>
                <c:pt idx="2">
                  <c:v>353.3739999999998</c:v>
                </c:pt>
                <c:pt idx="3">
                  <c:v>411.62800000000016</c:v>
                </c:pt>
                <c:pt idx="4">
                  <c:v>477.7710000000002</c:v>
                </c:pt>
                <c:pt idx="5">
                  <c:v>542.6689999999999</c:v>
                </c:pt>
                <c:pt idx="6">
                  <c:v>4958.317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Medium Hold</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21.383598877020447</c:v>
                </c:pt>
                <c:pt idx="1">
                  <c:v>22.243306359117934</c:v>
                </c:pt>
                <c:pt idx="2">
                  <c:v>22.102170882618864</c:v>
                </c:pt>
              </c:numCache>
            </c:numRef>
          </c:val>
        </c:ser>
        <c:ser>
          <c:idx val="1"/>
          <c:order val="1"/>
          <c:tx>
            <c:strRef>
              <c:f>Sheet1!$C$1</c:f>
              <c:strCache>
                <c:ptCount val="1"/>
                <c:pt idx="0">
                  <c:v>Light or Flexible Hold</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20.174477046443826</c:v>
                </c:pt>
                <c:pt idx="1">
                  <c:v>20.078957585039806</c:v>
                </c:pt>
                <c:pt idx="2">
                  <c:v>22.09889591581986</c:v>
                </c:pt>
              </c:numCache>
            </c:numRef>
          </c:val>
        </c:ser>
        <c:ser>
          <c:idx val="2"/>
          <c:order val="2"/>
          <c:tx>
            <c:strRef>
              <c:f>Sheet1!$D$1</c:f>
              <c:strCache>
                <c:ptCount val="1"/>
                <c:pt idx="0">
                  <c:v>Strong Hold</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21.037449380618202</c:v>
                </c:pt>
                <c:pt idx="1">
                  <c:v>21.139668413160038</c:v>
                </c:pt>
                <c:pt idx="2">
                  <c:v>19.98124698613441</c:v>
                </c:pt>
              </c:numCache>
            </c:numRef>
          </c:val>
        </c:ser>
        <c:ser>
          <c:idx val="3"/>
          <c:order val="3"/>
          <c:tx>
            <c:strRef>
              <c:f>Sheet1!$E$1</c:f>
              <c:strCache>
                <c:ptCount val="1"/>
                <c:pt idx="0">
                  <c:v>No Hold</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19.257810334806994</c:v>
                </c:pt>
                <c:pt idx="1">
                  <c:v>18.64294180767869</c:v>
                </c:pt>
                <c:pt idx="2">
                  <c:v>19.66015034085398</c:v>
                </c:pt>
              </c:numCache>
            </c:numRef>
          </c:val>
        </c:ser>
        <c:ser>
          <c:idx val="4"/>
          <c:order val="4"/>
          <c:tx>
            <c:strRef>
              <c:f>Sheet1!$F$1</c:f>
              <c:strCache>
                <c:ptCount val="1"/>
                <c:pt idx="0">
                  <c:v>Extra-strong Hold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18.14666436111053</c:v>
                </c:pt>
                <c:pt idx="1">
                  <c:v>17.89512583500353</c:v>
                </c:pt>
                <c:pt idx="2">
                  <c:v>16.157535874572876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Matte</c:v>
                </c:pt>
              </c:strCache>
            </c:strRef>
          </c:tx>
          <c:spPr>
            <a:solidFill>
              <a:srgbClr val="3D85C6"/>
            </a:solidFill>
            <a:ln>
              <a:noFill/>
            </a:ln>
          </c:spPr>
          <c:dLbls>
            <c:dLbl>
              <c:idx val="0"/>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Sheet1!$B$2:$B$7</c:f>
              <c:numCache>
                <c:formatCode>General</c:formatCode>
                <c:ptCount val="6"/>
                <c:pt idx="0">
                  <c:v>32.556841905842674</c:v>
                </c:pt>
                <c:pt idx="1">
                  <c:v>31.165153891097912</c:v>
                </c:pt>
                <c:pt idx="2">
                  <c:v>32.57643384800483</c:v>
                </c:pt>
                <c:pt idx="3">
                  <c:v>33.52661048183993</c:v>
                </c:pt>
                <c:pt idx="4">
                  <c:v>34.911938967036</c:v>
                </c:pt>
                <c:pt idx="5">
                  <c:v>33.09466411968175</c:v>
                </c:pt>
              </c:numCache>
            </c:numRef>
          </c:val>
        </c:ser>
        <c:ser>
          <c:idx val="1"/>
          <c:order val="1"/>
          <c:tx>
            <c:strRef>
              <c:f>Sheet1!$C$1</c:f>
              <c:strCache>
                <c:ptCount val="1"/>
                <c:pt idx="0">
                  <c:v>Natural</c:v>
                </c:pt>
              </c:strCache>
            </c:strRef>
          </c:tx>
          <c:spPr>
            <a:solidFill>
              <a:srgbClr val="9E7E0A"/>
            </a:solidFill>
            <a:ln>
              <a:noFill/>
            </a:ln>
          </c:spPr>
          <c:dLbls>
            <c:dLbl>
              <c:idx val="0"/>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Sheet1!$C$2:$C$7</c:f>
              <c:numCache>
                <c:formatCode>General</c:formatCode>
                <c:ptCount val="6"/>
                <c:pt idx="0">
                  <c:v>31.088043100222528</c:v>
                </c:pt>
                <c:pt idx="1">
                  <c:v>30.37903152765174</c:v>
                </c:pt>
                <c:pt idx="2">
                  <c:v>32.21549126131327</c:v>
                </c:pt>
                <c:pt idx="3">
                  <c:v>31.94520263169785</c:v>
                </c:pt>
                <c:pt idx="4">
                  <c:v>31.43064514180722</c:v>
                </c:pt>
                <c:pt idx="5">
                  <c:v>32.33702902792878</c:v>
                </c:pt>
              </c:numCache>
            </c:numRef>
          </c:val>
        </c:ser>
        <c:ser>
          <c:idx val="2"/>
          <c:order val="2"/>
          <c:tx>
            <c:strRef>
              <c:f>Sheet1!$D$1</c:f>
              <c:strCache>
                <c:ptCount val="1"/>
                <c:pt idx="0">
                  <c:v>Glossy or Wet-look</c:v>
                </c:pt>
              </c:strCache>
            </c:strRef>
          </c:tx>
          <c:spPr>
            <a:solidFill>
              <a:srgbClr val="008189"/>
            </a:solidFill>
            <a:ln>
              <a:noFill/>
            </a:ln>
          </c:spPr>
          <c:dLbls>
            <c:dLbl>
              <c:idx val="0"/>
              <c:tx>
                <c:rich>
                  <a:bodyPr/>
                  <a:lstStyle/>
                  <a:p>
                    <a:r>
                      <a:rPr sz="1100">
                        <a:solidFill>
                          <a:srgbClr val="FFFFFF"/>
                        </a:solidFill>
                        <a:latin typeface="Calibri"/>
                      </a:rPr>
                      <a:t>36%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Sheet1!$D$2:$D$7</c:f>
              <c:numCache>
                <c:formatCode>General</c:formatCode>
                <c:ptCount val="6"/>
                <c:pt idx="0">
                  <c:v>36.35511499393479</c:v>
                </c:pt>
                <c:pt idx="1">
                  <c:v>38.455814581250344</c:v>
                </c:pt>
                <c:pt idx="2">
                  <c:v>35.20807489068191</c:v>
                </c:pt>
                <c:pt idx="3">
                  <c:v>34.528186886462215</c:v>
                </c:pt>
                <c:pt idx="4">
                  <c:v>33.65741589115678</c:v>
                </c:pt>
                <c:pt idx="5">
                  <c:v>34.56830685238948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Matte</c:v>
                </c:pt>
              </c:strCache>
            </c:strRef>
          </c:tx>
          <c:spPr>
            <a:solidFill>
              <a:srgbClr val="3D85C6"/>
            </a:solidFill>
          </c:spPr>
          <c:invertIfNegative val="0"/>
          <c:xVal>
            <c:numRef>
              <c:f>Sheet1!$A$2:$A$2</c:f>
              <c:numCache>
                <c:formatCode>General</c:formatCode>
                <c:ptCount val="1"/>
                <c:pt idx="0">
                  <c:v>98.78122855017124</c:v>
                </c:pt>
              </c:numCache>
            </c:numRef>
          </c:xVal>
          <c:yVal>
            <c:numRef>
              <c:f>Sheet1!$B$2:$B$2</c:f>
              <c:numCache>
                <c:formatCode>General</c:formatCode>
                <c:ptCount val="1"/>
                <c:pt idx="0">
                  <c:v>100.81494474731983</c:v>
                </c:pt>
              </c:numCache>
            </c:numRef>
          </c:yVal>
          <c:bubbleSize>
            <c:numRef>
              <c:f>Sheet1!$C$2:$C$2</c:f>
              <c:numCache>
                <c:formatCode>General</c:formatCode>
                <c:ptCount val="1"/>
                <c:pt idx="0">
                  <c:v>10234.276</c:v>
                </c:pt>
              </c:numCache>
            </c:numRef>
          </c:bubbleSize>
          <c:bubble3D val="0"/>
        </c:ser>
        <c:ser>
          <c:idx val="1"/>
          <c:order val="1"/>
          <c:tx>
            <c:strRef>
              <c:f>Sheet1!$B$4</c:f>
              <c:strCache>
                <c:ptCount val="1"/>
                <c:pt idx="0">
                  <c:v>Natural</c:v>
                </c:pt>
              </c:strCache>
            </c:strRef>
          </c:tx>
          <c:spPr>
            <a:solidFill>
              <a:srgbClr val="9E7E0A"/>
            </a:solidFill>
          </c:spPr>
          <c:invertIfNegative val="0"/>
          <c:xVal>
            <c:numRef>
              <c:f>Sheet1!$A$5:$A$5</c:f>
              <c:numCache>
                <c:formatCode>General</c:formatCode>
                <c:ptCount val="1"/>
                <c:pt idx="0">
                  <c:v>91.22831785693627</c:v>
                </c:pt>
              </c:numCache>
            </c:numRef>
          </c:xVal>
          <c:yVal>
            <c:numRef>
              <c:f>Sheet1!$B$5:$B$5</c:f>
              <c:numCache>
                <c:formatCode>General</c:formatCode>
                <c:ptCount val="1"/>
                <c:pt idx="0">
                  <c:v>100.65960246282712</c:v>
                </c:pt>
              </c:numCache>
            </c:numRef>
          </c:yVal>
          <c:bubbleSize>
            <c:numRef>
              <c:f>Sheet1!$C$5:$C$5</c:f>
              <c:numCache>
                <c:formatCode>General</c:formatCode>
                <c:ptCount val="1"/>
                <c:pt idx="0">
                  <c:v>9746.422</c:v>
                </c:pt>
              </c:numCache>
            </c:numRef>
          </c:bubbleSize>
          <c:bubble3D val="0"/>
        </c:ser>
        <c:ser>
          <c:idx val="2"/>
          <c:order val="2"/>
          <c:tx>
            <c:strRef>
              <c:f>Sheet1!$B$7</c:f>
              <c:strCache>
                <c:ptCount val="1"/>
                <c:pt idx="0">
                  <c:v>Glossy or Wet-look</c:v>
                </c:pt>
              </c:strCache>
            </c:strRef>
          </c:tx>
          <c:spPr>
            <a:solidFill>
              <a:srgbClr val="008189"/>
            </a:solidFill>
          </c:spPr>
          <c:invertIfNegative val="0"/>
          <c:xVal>
            <c:numRef>
              <c:f>Sheet1!$A$8:$A$8</c:f>
              <c:numCache>
                <c:formatCode>General</c:formatCode>
                <c:ptCount val="1"/>
                <c:pt idx="0">
                  <c:v>109.71726173431513</c:v>
                </c:pt>
              </c:numCache>
            </c:numRef>
          </c:xVal>
          <c:yVal>
            <c:numRef>
              <c:f>Sheet1!$B$8:$B$8</c:f>
              <c:numCache>
                <c:formatCode>General</c:formatCode>
                <c:ptCount val="1"/>
                <c:pt idx="0">
                  <c:v>98.52545278985305</c:v>
                </c:pt>
              </c:numCache>
            </c:numRef>
          </c:yVal>
          <c:bubbleSize>
            <c:numRef>
              <c:f>Sheet1!$C$8:$C$8</c:f>
              <c:numCache>
                <c:formatCode>General</c:formatCode>
                <c:ptCount val="1"/>
                <c:pt idx="0">
                  <c:v>10706.636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5412.542</c:v>
                </c:pt>
                <c:pt idx="2">
                  <c:v>6068.459</c:v>
                </c:pt>
                <c:pt idx="3">
                  <c:v>6888.206</c:v>
                </c:pt>
                <c:pt idx="4">
                  <c:v>7840.489</c:v>
                </c:pt>
                <c:pt idx="5">
                  <c:v>8961.869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5412.542</c:v>
                </c:pt>
                <c:pt idx="1">
                  <c:v>655.9169999999995</c:v>
                </c:pt>
                <c:pt idx="2">
                  <c:v>819.7470000000003</c:v>
                </c:pt>
                <c:pt idx="3">
                  <c:v>952.2829999999994</c:v>
                </c:pt>
                <c:pt idx="4">
                  <c:v>1121.380000000001</c:v>
                </c:pt>
                <c:pt idx="5">
                  <c:v>1272.4069999999992</c:v>
                </c:pt>
                <c:pt idx="6">
                  <c:v>10234.276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5404.202</c:v>
                </c:pt>
                <c:pt idx="2">
                  <c:v>6017.007</c:v>
                </c:pt>
                <c:pt idx="3">
                  <c:v>6751.524</c:v>
                </c:pt>
                <c:pt idx="4">
                  <c:v>7629.318</c:v>
                </c:pt>
                <c:pt idx="5">
                  <c:v>8624.673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5404.202</c:v>
                </c:pt>
                <c:pt idx="1">
                  <c:v>612.8049999999994</c:v>
                </c:pt>
                <c:pt idx="2">
                  <c:v>734.5170000000007</c:v>
                </c:pt>
                <c:pt idx="3">
                  <c:v>877.7939999999999</c:v>
                </c:pt>
                <c:pt idx="4">
                  <c:v>995.3550000000005</c:v>
                </c:pt>
                <c:pt idx="5">
                  <c:v>1121.7489999999998</c:v>
                </c:pt>
                <c:pt idx="6">
                  <c:v>9746.422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5289.624</c:v>
                </c:pt>
                <c:pt idx="2">
                  <c:v>5886.628</c:v>
                </c:pt>
                <c:pt idx="3">
                  <c:v>6719.071</c:v>
                </c:pt>
                <c:pt idx="4">
                  <c:v>7818.419</c:v>
                </c:pt>
                <c:pt idx="5">
                  <c:v>9148.451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5289.624</c:v>
                </c:pt>
                <c:pt idx="1">
                  <c:v>597.0039999999999</c:v>
                </c:pt>
                <c:pt idx="2">
                  <c:v>832.4430000000002</c:v>
                </c:pt>
                <c:pt idx="3">
                  <c:v>1099.348</c:v>
                </c:pt>
                <c:pt idx="4">
                  <c:v>1330.0319999999992</c:v>
                </c:pt>
                <c:pt idx="5">
                  <c:v>1558.1850000000013</c:v>
                </c:pt>
                <c:pt idx="6">
                  <c:v>10706.636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Glossy or Wet-look</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34.00500001426197</c:v>
                </c:pt>
                <c:pt idx="1">
                  <c:v>32.84181759661769</c:v>
                </c:pt>
                <c:pt idx="2">
                  <c:v>34.88943027765136</c:v>
                </c:pt>
              </c:numCache>
            </c:numRef>
          </c:val>
        </c:ser>
        <c:ser>
          <c:idx val="1"/>
          <c:order val="1"/>
          <c:tx>
            <c:strRef>
              <c:f>Sheet1!$C$1</c:f>
              <c:strCache>
                <c:ptCount val="1"/>
                <c:pt idx="0">
                  <c:v>Matte</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32.47085952556373</c:v>
                </c:pt>
                <c:pt idx="1">
                  <c:v>33.60498158243994</c:v>
                </c:pt>
                <c:pt idx="2">
                  <c:v>33.35016329538434</c:v>
                </c:pt>
              </c:numCache>
            </c:numRef>
          </c:val>
        </c:ser>
        <c:ser>
          <c:idx val="2"/>
          <c:order val="2"/>
          <c:tx>
            <c:strRef>
              <c:f>Sheet1!$D$1</c:f>
              <c:strCache>
                <c:ptCount val="1"/>
                <c:pt idx="0">
                  <c:v>Natural</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33.52414046017431</c:v>
                </c:pt>
                <c:pt idx="1">
                  <c:v>33.55320082094237</c:v>
                </c:pt>
                <c:pt idx="2">
                  <c:v>31.760406426964295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Mass Retail</c:v>
                </c:pt>
              </c:strCache>
            </c:strRef>
          </c:tx>
          <c:spPr>
            <a:solidFill>
              <a:srgbClr val="3D85C6"/>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Sheet1!$B$2:$B$7</c:f>
              <c:numCache>
                <c:formatCode>General</c:formatCode>
                <c:ptCount val="6"/>
                <c:pt idx="0">
                  <c:v>18.69951841171533</c:v>
                </c:pt>
                <c:pt idx="1">
                  <c:v>19.505168597431897</c:v>
                </c:pt>
                <c:pt idx="2">
                  <c:v>19.983482643519388</c:v>
                </c:pt>
                <c:pt idx="3">
                  <c:v>17.313243369608028</c:v>
                </c:pt>
                <c:pt idx="4">
                  <c:v>15.929941821651939</c:v>
                </c:pt>
                <c:pt idx="5">
                  <c:v>16.767643379631288</c:v>
                </c:pt>
              </c:numCache>
            </c:numRef>
          </c:val>
        </c:ser>
        <c:ser>
          <c:idx val="1"/>
          <c:order val="1"/>
          <c:tx>
            <c:strRef>
              <c:f>Sheet1!$C$1</c:f>
              <c:strCache>
                <c:ptCount val="1"/>
                <c:pt idx="0">
                  <c:v>Beauty Specialty Retail</c:v>
                </c:pt>
              </c:strCache>
            </c:strRef>
          </c:tx>
          <c:spPr>
            <a:solidFill>
              <a:srgbClr val="9E7E0A"/>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Sheet1!$C$2:$C$7</c:f>
              <c:numCache>
                <c:formatCode>General</c:formatCode>
                <c:ptCount val="6"/>
                <c:pt idx="0">
                  <c:v>16.21942593017606</c:v>
                </c:pt>
                <c:pt idx="1">
                  <c:v>15.858735895752888</c:v>
                </c:pt>
                <c:pt idx="2">
                  <c:v>15.368114343587527</c:v>
                </c:pt>
                <c:pt idx="3">
                  <c:v>16.29562948654277</c:v>
                </c:pt>
                <c:pt idx="4">
                  <c:v>16.209557194059286</c:v>
                </c:pt>
                <c:pt idx="5">
                  <c:v>15.738362345332394</c:v>
                </c:pt>
              </c:numCache>
            </c:numRef>
          </c:val>
        </c:ser>
        <c:ser>
          <c:idx val="2"/>
          <c:order val="2"/>
          <c:tx>
            <c:strRef>
              <c:f>Sheet1!$D$1</c:f>
              <c:strCache>
                <c:ptCount val="1"/>
                <c:pt idx="0">
                  <c:v>Salon and Professional Distribution</c:v>
                </c:pt>
              </c:strCache>
            </c:strRef>
          </c:tx>
          <c:spPr>
            <a:solidFill>
              <a:srgbClr val="008189"/>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Sheet1!$D$2:$D$7</c:f>
              <c:numCache>
                <c:formatCode>General</c:formatCode>
                <c:ptCount val="6"/>
                <c:pt idx="0">
                  <c:v>18.88581046468392</c:v>
                </c:pt>
                <c:pt idx="1">
                  <c:v>18.31321586779302</c:v>
                </c:pt>
                <c:pt idx="2">
                  <c:v>16.98193695831422</c:v>
                </c:pt>
                <c:pt idx="3">
                  <c:v>18.401833275770358</c:v>
                </c:pt>
                <c:pt idx="4">
                  <c:v>16.74948639517456</c:v>
                </c:pt>
                <c:pt idx="5">
                  <c:v>18.61910805083527</c:v>
                </c:pt>
              </c:numCache>
            </c:numRef>
          </c:val>
        </c:ser>
        <c:ser>
          <c:idx val="3"/>
          <c:order val="3"/>
          <c:tx>
            <c:strRef>
              <c:f>Sheet1!$E$1</c:f>
              <c:strCache>
                <c:ptCount val="1"/>
                <c:pt idx="0">
                  <c:v>Pharmacies and Drugstores</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Sheet1!$E$2:$E$7</c:f>
              <c:numCache>
                <c:formatCode>General</c:formatCode>
                <c:ptCount val="6"/>
                <c:pt idx="0">
                  <c:v>13.379143678629479</c:v>
                </c:pt>
                <c:pt idx="1">
                  <c:v>14.252783910573891</c:v>
                </c:pt>
                <c:pt idx="2">
                  <c:v>13.537418573144313</c:v>
                </c:pt>
                <c:pt idx="3">
                  <c:v>14.424693760761546</c:v>
                </c:pt>
                <c:pt idx="4">
                  <c:v>13.498422786307623</c:v>
                </c:pt>
                <c:pt idx="5">
                  <c:v>14.158001563767325</c:v>
                </c:pt>
              </c:numCache>
            </c:numRef>
          </c:val>
        </c:ser>
        <c:ser>
          <c:idx val="4"/>
          <c:order val="4"/>
          <c:tx>
            <c:strRef>
              <c:f>Sheet1!$F$1</c:f>
              <c:strCache>
                <c:ptCount val="1"/>
                <c:pt idx="0">
                  <c:v>Online Marketplaces</c:v>
                </c:pt>
              </c:strCache>
            </c:strRef>
          </c:tx>
          <c:spPr>
            <a:solidFill>
              <a:srgbClr val="A35313"/>
            </a:solidFill>
            <a:ln>
              <a:noFill/>
            </a:ln>
          </c:spPr>
          <c:dLbls>
            <c:dLbl>
              <c:idx val="0"/>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Sheet1!$F$2:$F$7</c:f>
              <c:numCache>
                <c:formatCode>General</c:formatCode>
                <c:ptCount val="6"/>
                <c:pt idx="0">
                  <c:v>18.375899001714004</c:v>
                </c:pt>
                <c:pt idx="1">
                  <c:v>18.62307598321272</c:v>
                </c:pt>
                <c:pt idx="2">
                  <c:v>21.08932363678784</c:v>
                </c:pt>
                <c:pt idx="3">
                  <c:v>19.837313646730614</c:v>
                </c:pt>
                <c:pt idx="4">
                  <c:v>22.77807041362489</c:v>
                </c:pt>
                <c:pt idx="5">
                  <c:v>21.37595594901959</c:v>
                </c:pt>
              </c:numCache>
            </c:numRef>
          </c:val>
        </c:ser>
        <c:ser>
          <c:idx val="5"/>
          <c:order val="5"/>
          <c:tx>
            <c:strRef>
              <c:f>Sheet1!$G$1</c:f>
              <c:strCache>
                <c:ptCount val="1"/>
                <c:pt idx="0">
                  <c:v>Brand-owned Online Stores</c:v>
                </c:pt>
              </c:strCache>
            </c:strRef>
          </c:tx>
          <c:spPr>
            <a:solidFill>
              <a:srgbClr val="808080"/>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Sheet1!$G$2:$G$7</c:f>
              <c:numCache>
                <c:formatCode>General</c:formatCode>
                <c:ptCount val="6"/>
                <c:pt idx="0">
                  <c:v>14.440202513081207</c:v>
                </c:pt>
                <c:pt idx="1">
                  <c:v>13.447019745235602</c:v>
                </c:pt>
                <c:pt idx="2">
                  <c:v>13.039723844646705</c:v>
                </c:pt>
                <c:pt idx="3">
                  <c:v>13.727286460586683</c:v>
                </c:pt>
                <c:pt idx="4">
                  <c:v>14.834521389181704</c:v>
                </c:pt>
                <c:pt idx="5">
                  <c:v>13.34092871141413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Mass Retail</c:v>
                </c:pt>
              </c:strCache>
            </c:strRef>
          </c:tx>
          <c:spPr>
            <a:solidFill>
              <a:srgbClr val="3D85C6"/>
            </a:solidFill>
          </c:spPr>
          <c:invertIfNegative val="0"/>
          <c:xVal>
            <c:numRef>
              <c:f>Sheet1!$A$2:$A$2</c:f>
              <c:numCache>
                <c:formatCode>General</c:formatCode>
                <c:ptCount val="1"/>
                <c:pt idx="0">
                  <c:v>80.45828490382216</c:v>
                </c:pt>
              </c:numCache>
            </c:numRef>
          </c:xVal>
          <c:yVal>
            <c:numRef>
              <c:f>Sheet1!$B$2:$B$2</c:f>
              <c:numCache>
                <c:formatCode>General</c:formatCode>
                <c:ptCount val="1"/>
                <c:pt idx="0">
                  <c:v>118.21715485452712</c:v>
                </c:pt>
              </c:numCache>
            </c:numRef>
          </c:yVal>
          <c:bubbleSize>
            <c:numRef>
              <c:f>Sheet1!$C$2:$C$2</c:f>
              <c:numCache>
                <c:formatCode>General</c:formatCode>
                <c:ptCount val="1"/>
                <c:pt idx="0">
                  <c:v>5347.852</c:v>
                </c:pt>
              </c:numCache>
            </c:numRef>
          </c:bubbleSize>
          <c:bubble3D val="0"/>
        </c:ser>
        <c:ser>
          <c:idx val="1"/>
          <c:order val="1"/>
          <c:tx>
            <c:strRef>
              <c:f>Sheet1!$B$4</c:f>
              <c:strCache>
                <c:ptCount val="1"/>
                <c:pt idx="0">
                  <c:v>Beauty Specialty Retail</c:v>
                </c:pt>
              </c:strCache>
            </c:strRef>
          </c:tx>
          <c:spPr>
            <a:solidFill>
              <a:srgbClr val="9E7E0A"/>
            </a:solidFill>
          </c:spPr>
          <c:invertIfNegative val="0"/>
          <c:xVal>
            <c:numRef>
              <c:f>Sheet1!$A$5:$A$5</c:f>
              <c:numCache>
                <c:formatCode>General</c:formatCode>
                <c:ptCount val="1"/>
                <c:pt idx="0">
                  <c:v>103.7141246432963</c:v>
                </c:pt>
              </c:numCache>
            </c:numRef>
          </c:xVal>
          <c:yVal>
            <c:numRef>
              <c:f>Sheet1!$B$5:$B$5</c:f>
              <c:numCache>
                <c:formatCode>General</c:formatCode>
                <c:ptCount val="1"/>
                <c:pt idx="0">
                  <c:v>93.5107281790656</c:v>
                </c:pt>
              </c:numCache>
            </c:numRef>
          </c:yVal>
          <c:bubbleSize>
            <c:numRef>
              <c:f>Sheet1!$C$5:$C$5</c:f>
              <c:numCache>
                <c:formatCode>General</c:formatCode>
                <c:ptCount val="1"/>
                <c:pt idx="0">
                  <c:v>4894.719</c:v>
                </c:pt>
              </c:numCache>
            </c:numRef>
          </c:bubbleSize>
          <c:bubble3D val="0"/>
        </c:ser>
        <c:ser>
          <c:idx val="2"/>
          <c:order val="2"/>
          <c:tx>
            <c:strRef>
              <c:f>Sheet1!$B$7</c:f>
              <c:strCache>
                <c:ptCount val="1"/>
                <c:pt idx="0">
                  <c:v>Salon and Professional Distribution</c:v>
                </c:pt>
              </c:strCache>
            </c:strRef>
          </c:tx>
          <c:spPr>
            <a:solidFill>
              <a:srgbClr val="008189"/>
            </a:solidFill>
          </c:spPr>
          <c:invertIfNegative val="0"/>
          <c:xVal>
            <c:numRef>
              <c:f>Sheet1!$A$8:$A$8</c:f>
              <c:numCache>
                <c:formatCode>General</c:formatCode>
                <c:ptCount val="1"/>
                <c:pt idx="0">
                  <c:v>95.1909131393473</c:v>
                </c:pt>
              </c:numCache>
            </c:numRef>
          </c:xVal>
          <c:yVal>
            <c:numRef>
              <c:f>Sheet1!$B$8:$B$8</c:f>
              <c:numCache>
                <c:formatCode>General</c:formatCode>
                <c:ptCount val="1"/>
                <c:pt idx="0">
                  <c:v>110.66383184588855</c:v>
                </c:pt>
              </c:numCache>
            </c:numRef>
          </c:yVal>
          <c:bubbleSize>
            <c:numRef>
              <c:f>Sheet1!$C$8:$C$8</c:f>
              <c:numCache>
                <c:formatCode>General</c:formatCode>
                <c:ptCount val="1"/>
                <c:pt idx="0">
                  <c:v>5492.312</c:v>
                </c:pt>
              </c:numCache>
            </c:numRef>
          </c:bubbleSize>
          <c:bubble3D val="0"/>
        </c:ser>
        <c:ser>
          <c:idx val="3"/>
          <c:order val="3"/>
          <c:tx>
            <c:strRef>
              <c:f>Sheet1!$B$10</c:f>
              <c:strCache>
                <c:ptCount val="1"/>
                <c:pt idx="0">
                  <c:v>Pharmacies and Drugstores</c:v>
                </c:pt>
              </c:strCache>
            </c:strRef>
          </c:tx>
          <c:spPr>
            <a:solidFill>
              <a:srgbClr val="40315E"/>
            </a:solidFill>
          </c:spPr>
          <c:invertIfNegative val="0"/>
          <c:xVal>
            <c:numRef>
              <c:f>Sheet1!$A$11:$A$11</c:f>
              <c:numCache>
                <c:formatCode>General</c:formatCode>
                <c:ptCount val="1"/>
                <c:pt idx="0">
                  <c:v>87.55033778553329</c:v>
                </c:pt>
              </c:numCache>
            </c:numRef>
          </c:xVal>
          <c:yVal>
            <c:numRef>
              <c:f>Sheet1!$B$11:$B$11</c:f>
              <c:numCache>
                <c:formatCode>General</c:formatCode>
                <c:ptCount val="1"/>
                <c:pt idx="0">
                  <c:v>90.25964140394659</c:v>
                </c:pt>
              </c:numCache>
            </c:numRef>
          </c:yVal>
          <c:bubbleSize>
            <c:numRef>
              <c:f>Sheet1!$C$11:$C$11</c:f>
              <c:numCache>
                <c:formatCode>General</c:formatCode>
                <c:ptCount val="1"/>
                <c:pt idx="0">
                  <c:v>4269.874</c:v>
                </c:pt>
              </c:numCache>
            </c:numRef>
          </c:bubbleSize>
          <c:bubble3D val="0"/>
        </c:ser>
        <c:ser>
          <c:idx val="4"/>
          <c:order val="4"/>
          <c:tx>
            <c:strRef>
              <c:f>Sheet1!$B$13</c:f>
              <c:strCache>
                <c:ptCount val="1"/>
                <c:pt idx="0">
                  <c:v>Online Marketplaces</c:v>
                </c:pt>
              </c:strCache>
            </c:strRef>
          </c:tx>
          <c:spPr>
            <a:solidFill>
              <a:srgbClr val="A35313"/>
            </a:solidFill>
          </c:spPr>
          <c:invertIfNegative val="0"/>
          <c:xVal>
            <c:numRef>
              <c:f>Sheet1!$A$14:$A$14</c:f>
              <c:numCache>
                <c:formatCode>General</c:formatCode>
                <c:ptCount val="1"/>
                <c:pt idx="0">
                  <c:v>120.36227439123348</c:v>
                </c:pt>
              </c:numCache>
            </c:numRef>
          </c:xVal>
          <c:yVal>
            <c:numRef>
              <c:f>Sheet1!$B$14:$B$14</c:f>
              <c:numCache>
                <c:formatCode>General</c:formatCode>
                <c:ptCount val="1"/>
                <c:pt idx="0">
                  <c:v>110.93007436561739</c:v>
                </c:pt>
              </c:numCache>
            </c:numRef>
          </c:yVal>
          <c:bubbleSize>
            <c:numRef>
              <c:f>Sheet1!$C$14:$C$14</c:f>
              <c:numCache>
                <c:formatCode>General</c:formatCode>
                <c:ptCount val="1"/>
                <c:pt idx="0">
                  <c:v>6437.5</c:v>
                </c:pt>
              </c:numCache>
            </c:numRef>
          </c:bubbleSize>
          <c:bubble3D val="0"/>
        </c:ser>
        <c:ser>
          <c:idx val="5"/>
          <c:order val="5"/>
          <c:tx>
            <c:strRef>
              <c:f>Sheet1!$B$16</c:f>
              <c:strCache>
                <c:ptCount val="1"/>
                <c:pt idx="0">
                  <c:v>Brand-owned Online Stores</c:v>
                </c:pt>
              </c:strCache>
            </c:strRef>
          </c:tx>
          <c:spPr>
            <a:solidFill>
              <a:srgbClr val="808080"/>
            </a:solidFill>
          </c:spPr>
          <c:invertIfNegative val="0"/>
          <c:xVal>
            <c:numRef>
              <c:f>Sheet1!$A$17:$A$17</c:f>
              <c:numCache>
                <c:formatCode>General</c:formatCode>
                <c:ptCount val="1"/>
                <c:pt idx="0">
                  <c:v>113.28795493207518</c:v>
                </c:pt>
              </c:numCache>
            </c:numRef>
          </c:xVal>
          <c:yVal>
            <c:numRef>
              <c:f>Sheet1!$B$17:$B$17</c:f>
              <c:numCache>
                <c:formatCode>General</c:formatCode>
                <c:ptCount val="1"/>
                <c:pt idx="0">
                  <c:v>76.41856935095487</c:v>
                </c:pt>
              </c:numCache>
            </c:numRef>
          </c:yVal>
          <c:bubbleSize>
            <c:numRef>
              <c:f>Sheet1!$C$17:$C$17</c:f>
              <c:numCache>
                <c:formatCode>General</c:formatCode>
                <c:ptCount val="1"/>
                <c:pt idx="0">
                  <c:v>4245.078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7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6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3173.415</c:v>
                </c:pt>
                <c:pt idx="2">
                  <c:v>3481.777</c:v>
                </c:pt>
                <c:pt idx="3">
                  <c:v>3859.542</c:v>
                </c:pt>
                <c:pt idx="4">
                  <c:v>4285.791</c:v>
                </c:pt>
                <c:pt idx="5">
                  <c:v>4786.138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3173.415</c:v>
                </c:pt>
                <c:pt idx="1">
                  <c:v>308.3620000000001</c:v>
                </c:pt>
                <c:pt idx="2">
                  <c:v>377.7649999999999</c:v>
                </c:pt>
                <c:pt idx="3">
                  <c:v>426.24900000000025</c:v>
                </c:pt>
                <c:pt idx="4">
                  <c:v>500.34699999999975</c:v>
                </c:pt>
                <c:pt idx="5">
                  <c:v>561.7139999999999</c:v>
                </c:pt>
                <c:pt idx="6">
                  <c:v>5347.852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2510.197</c:v>
                </c:pt>
                <c:pt idx="2">
                  <c:v>2825.605</c:v>
                </c:pt>
                <c:pt idx="3">
                  <c:v>3218.46</c:v>
                </c:pt>
                <c:pt idx="4">
                  <c:v>3693.135</c:v>
                </c:pt>
                <c:pt idx="5">
                  <c:v>4252.179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2510.197</c:v>
                </c:pt>
                <c:pt idx="1">
                  <c:v>315.4079999999999</c:v>
                </c:pt>
                <c:pt idx="2">
                  <c:v>392.855</c:v>
                </c:pt>
                <c:pt idx="3">
                  <c:v>474.6750000000002</c:v>
                </c:pt>
                <c:pt idx="4">
                  <c:v>559.0439999999999</c:v>
                </c:pt>
                <c:pt idx="5">
                  <c:v>642.54</c:v>
                </c:pt>
                <c:pt idx="6">
                  <c:v>4894.719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2970.654</c:v>
                </c:pt>
                <c:pt idx="2">
                  <c:v>3319.459</c:v>
                </c:pt>
                <c:pt idx="3">
                  <c:v>3744.001</c:v>
                </c:pt>
                <c:pt idx="4">
                  <c:v>4241.039</c:v>
                </c:pt>
                <c:pt idx="5">
                  <c:v>4825.174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2970.654</c:v>
                </c:pt>
                <c:pt idx="1">
                  <c:v>348.80499999999984</c:v>
                </c:pt>
                <c:pt idx="2">
                  <c:v>424.54200000000037</c:v>
                </c:pt>
                <c:pt idx="3">
                  <c:v>497.03799999999956</c:v>
                </c:pt>
                <c:pt idx="4">
                  <c:v>584.1350000000002</c:v>
                </c:pt>
                <c:pt idx="5">
                  <c:v>667.1379999999999</c:v>
                </c:pt>
                <c:pt idx="6">
                  <c:v>5492.312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2422.925</c:v>
                </c:pt>
                <c:pt idx="2">
                  <c:v>2671.029</c:v>
                </c:pt>
                <c:pt idx="3">
                  <c:v>2988.238</c:v>
                </c:pt>
                <c:pt idx="4">
                  <c:v>3365.903</c:v>
                </c:pt>
                <c:pt idx="5">
                  <c:v>3791.101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2422.925</c:v>
                </c:pt>
                <c:pt idx="1">
                  <c:v>248.10399999999981</c:v>
                </c:pt>
                <c:pt idx="2">
                  <c:v>317.20899999999983</c:v>
                </c:pt>
                <c:pt idx="3">
                  <c:v>377.66499999999996</c:v>
                </c:pt>
                <c:pt idx="4">
                  <c:v>425.1980000000003</c:v>
                </c:pt>
                <c:pt idx="5">
                  <c:v>478.7729999999997</c:v>
                </c:pt>
                <c:pt idx="6">
                  <c:v>4269.874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2977.801</c:v>
                </c:pt>
                <c:pt idx="2">
                  <c:v>3372.069</c:v>
                </c:pt>
                <c:pt idx="3">
                  <c:v>3900.499</c:v>
                </c:pt>
                <c:pt idx="4">
                  <c:v>4611.141</c:v>
                </c:pt>
                <c:pt idx="5">
                  <c:v>5456.943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2977.801</c:v>
                </c:pt>
                <c:pt idx="1">
                  <c:v>394.26800000000003</c:v>
                </c:pt>
                <c:pt idx="2">
                  <c:v>528.4299999999998</c:v>
                </c:pt>
                <c:pt idx="3">
                  <c:v>710.6419999999998</c:v>
                </c:pt>
                <c:pt idx="4">
                  <c:v>845.8020000000006</c:v>
                </c:pt>
                <c:pt idx="5">
                  <c:v>980.5569999999998</c:v>
                </c:pt>
                <c:pt idx="6">
                  <c:v>6437.5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2051.376</c:v>
                </c:pt>
                <c:pt idx="2">
                  <c:v>2302.155</c:v>
                </c:pt>
                <c:pt idx="3">
                  <c:v>2648.059</c:v>
                </c:pt>
                <c:pt idx="4">
                  <c:v>3091.218</c:v>
                </c:pt>
                <c:pt idx="5">
                  <c:v>3623.458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2051.376</c:v>
                </c:pt>
                <c:pt idx="1">
                  <c:v>250.779</c:v>
                </c:pt>
                <c:pt idx="2">
                  <c:v>345.904</c:v>
                </c:pt>
                <c:pt idx="3">
                  <c:v>443.15899999999965</c:v>
                </c:pt>
                <c:pt idx="4">
                  <c:v>532.2400000000002</c:v>
                </c:pt>
                <c:pt idx="5">
                  <c:v>621.6200000000003</c:v>
                </c:pt>
                <c:pt idx="6">
                  <c:v>4245.078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Online Marketplaces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18.424024922825414</c:v>
                </c:pt>
                <c:pt idx="1">
                  <c:v>18.488345727602894</c:v>
                </c:pt>
                <c:pt idx="2">
                  <c:v>20.977709533916844</c:v>
                </c:pt>
              </c:numCache>
            </c:numRef>
          </c:val>
        </c:ser>
        <c:ser>
          <c:idx val="1"/>
          <c:order val="1"/>
          <c:tx>
            <c:strRef>
              <c:f>Sheet1!$C$1</c:f>
              <c:strCache>
                <c:ptCount val="1"/>
                <c:pt idx="0">
                  <c:v>Salon and Professional Distribution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18.126605097627788</c:v>
                </c:pt>
                <c:pt idx="1">
                  <c:v>18.443971974314756</c:v>
                </c:pt>
                <c:pt idx="2">
                  <c:v>17.89765061058577</c:v>
                </c:pt>
              </c:numCache>
            </c:numRef>
          </c:val>
        </c:ser>
        <c:ser>
          <c:idx val="2"/>
          <c:order val="2"/>
          <c:tx>
            <c:strRef>
              <c:f>Sheet1!$D$1</c:f>
              <c:strCache>
                <c:ptCount val="1"/>
                <c:pt idx="0">
                  <c:v>Mass Retail</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20.06099804626474</c:v>
                </c:pt>
                <c:pt idx="1">
                  <c:v>19.702859142421183</c:v>
                </c:pt>
                <c:pt idx="2">
                  <c:v>17.42690266196136</c:v>
                </c:pt>
              </c:numCache>
            </c:numRef>
          </c:val>
        </c:ser>
        <c:ser>
          <c:idx val="3"/>
          <c:order val="3"/>
          <c:tx>
            <c:strRef>
              <c:f>Sheet1!$E$1</c:f>
              <c:strCache>
                <c:ptCount val="1"/>
                <c:pt idx="0">
                  <c:v>Beauty Specialty Retail</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15.301779746974209</c:v>
                </c:pt>
                <c:pt idx="1">
                  <c:v>15.585121363177596</c:v>
                </c:pt>
                <c:pt idx="2">
                  <c:v>15.950290241886433</c:v>
                </c:pt>
              </c:numCache>
            </c:numRef>
          </c:val>
        </c:ser>
        <c:ser>
          <c:idx val="4"/>
          <c:order val="4"/>
          <c:tx>
            <c:strRef>
              <c:f>Sheet1!$F$1</c:f>
              <c:strCache>
                <c:ptCount val="1"/>
                <c:pt idx="0">
                  <c:v>Pharmacies and Drugstores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15.268476127356434</c:v>
                </c:pt>
                <c:pt idx="1">
                  <c:v>15.043273567324428</c:v>
                </c:pt>
                <c:pt idx="2">
                  <c:v>13.914124507716293</c:v>
                </c:pt>
              </c:numCache>
            </c:numRef>
          </c:val>
        </c:ser>
        <c:ser>
          <c:idx val="5"/>
          <c:order val="5"/>
          <c:tx>
            <c:strRef>
              <c:f>Sheet1!$G$1</c:f>
              <c:strCache>
                <c:ptCount val="1"/>
                <c:pt idx="0">
                  <c:v>Brand-owned Online Stores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12.818116058951414</c:v>
                </c:pt>
                <c:pt idx="1">
                  <c:v>12.736428225159143</c:v>
                </c:pt>
                <c:pt idx="2">
                  <c:v>13.833322443933305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Hold and Shape</c:v>
                </c:pt>
              </c:strCache>
            </c:strRef>
          </c:tx>
          <c:spPr>
            <a:solidFill>
              <a:srgbClr val="3D85C6"/>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Sheet1!$B$2:$B$7</c:f>
              <c:numCache>
                <c:formatCode>General</c:formatCode>
                <c:ptCount val="6"/>
                <c:pt idx="0">
                  <c:v>13.040013421692814</c:v>
                </c:pt>
                <c:pt idx="1">
                  <c:v>12.222075019277465</c:v>
                </c:pt>
                <c:pt idx="2">
                  <c:v>14.373353567747108</c:v>
                </c:pt>
                <c:pt idx="3">
                  <c:v>13.480438546411328</c:v>
                </c:pt>
                <c:pt idx="4">
                  <c:v>12.682399266695546</c:v>
                </c:pt>
                <c:pt idx="5">
                  <c:v>12.805467521133702</c:v>
                </c:pt>
              </c:numCache>
            </c:numRef>
          </c:val>
        </c:ser>
        <c:ser>
          <c:idx val="1"/>
          <c:order val="1"/>
          <c:tx>
            <c:strRef>
              <c:f>Sheet1!$C$1</c:f>
              <c:strCache>
                <c:ptCount val="1"/>
                <c:pt idx="0">
                  <c:v>Curl Definition</c:v>
                </c:pt>
              </c:strCache>
            </c:strRef>
          </c:tx>
          <c:spPr>
            <a:solidFill>
              <a:srgbClr val="9E7E0A"/>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Sheet1!$C$2:$C$7</c:f>
              <c:numCache>
                <c:formatCode>General</c:formatCode>
                <c:ptCount val="6"/>
                <c:pt idx="0">
                  <c:v>17.05063955685793</c:v>
                </c:pt>
                <c:pt idx="1">
                  <c:v>19.433393370823907</c:v>
                </c:pt>
                <c:pt idx="2">
                  <c:v>16.735970594348785</c:v>
                </c:pt>
                <c:pt idx="3">
                  <c:v>16.185477765504572</c:v>
                </c:pt>
                <c:pt idx="4">
                  <c:v>15.279215077409859</c:v>
                </c:pt>
                <c:pt idx="5">
                  <c:v>18.022737236342454</c:v>
                </c:pt>
              </c:numCache>
            </c:numRef>
          </c:val>
        </c:ser>
        <c:ser>
          <c:idx val="2"/>
          <c:order val="2"/>
          <c:tx>
            <c:strRef>
              <c:f>Sheet1!$D$1</c:f>
              <c:strCache>
                <c:ptCount val="1"/>
                <c:pt idx="0">
                  <c:v>Volume and Root Lift</c:v>
                </c:pt>
              </c:strCache>
            </c:strRef>
          </c:tx>
          <c:spPr>
            <a:solidFill>
              <a:srgbClr val="008189"/>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Sheet1!$D$2:$D$7</c:f>
              <c:numCache>
                <c:formatCode>General</c:formatCode>
                <c:ptCount val="6"/>
                <c:pt idx="0">
                  <c:v>12.627136136871108</c:v>
                </c:pt>
                <c:pt idx="1">
                  <c:v>11.897794430258893</c:v>
                </c:pt>
                <c:pt idx="2">
                  <c:v>12.896548908317317</c:v>
                </c:pt>
                <c:pt idx="3">
                  <c:v>13.126411763245752</c:v>
                </c:pt>
                <c:pt idx="4">
                  <c:v>14.174375183200821</c:v>
                </c:pt>
                <c:pt idx="5">
                  <c:v>13.470699112106377</c:v>
                </c:pt>
              </c:numCache>
            </c:numRef>
          </c:val>
        </c:ser>
        <c:ser>
          <c:idx val="3"/>
          <c:order val="3"/>
          <c:tx>
            <c:strRef>
              <c:f>Sheet1!$E$1</c:f>
              <c:strCache>
                <c:ptCount val="1"/>
                <c:pt idx="0">
                  <c:v>Texture and Separation</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Sheet1!$E$2:$E$7</c:f>
              <c:numCache>
                <c:formatCode>General</c:formatCode>
                <c:ptCount val="6"/>
                <c:pt idx="0">
                  <c:v>13.303027703919721</c:v>
                </c:pt>
                <c:pt idx="1">
                  <c:v>12.52302019241595</c:v>
                </c:pt>
                <c:pt idx="2">
                  <c:v>13.585187094092143</c:v>
                </c:pt>
                <c:pt idx="3">
                  <c:v>14.30870530450647</c:v>
                </c:pt>
                <c:pt idx="4">
                  <c:v>14.341650945075285</c:v>
                </c:pt>
                <c:pt idx="5">
                  <c:v>13.039357793486495</c:v>
                </c:pt>
              </c:numCache>
            </c:numRef>
          </c:val>
        </c:ser>
        <c:ser>
          <c:idx val="4"/>
          <c:order val="4"/>
          <c:tx>
            <c:strRef>
              <c:f>Sheet1!$F$1</c:f>
              <c:strCache>
                <c:ptCount val="1"/>
                <c:pt idx="0">
                  <c:v>Smoothing and Frizz Control</c:v>
                </c:pt>
              </c:strCache>
            </c:strRef>
          </c:tx>
          <c:spPr>
            <a:solidFill>
              <a:srgbClr val="A35313"/>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Sheet1!$F$2:$F$7</c:f>
              <c:numCache>
                <c:formatCode>General</c:formatCode>
                <c:ptCount val="6"/>
                <c:pt idx="0">
                  <c:v>17.36511622865513</c:v>
                </c:pt>
                <c:pt idx="1">
                  <c:v>18.658920397817337</c:v>
                </c:pt>
                <c:pt idx="2">
                  <c:v>16.825079431739606</c:v>
                </c:pt>
                <c:pt idx="3">
                  <c:v>17.122031418713462</c:v>
                </c:pt>
                <c:pt idx="4">
                  <c:v>17.10936637606835</c:v>
                </c:pt>
                <c:pt idx="5">
                  <c:v>16.869624896111148</c:v>
                </c:pt>
              </c:numCache>
            </c:numRef>
          </c:val>
        </c:ser>
        <c:ser>
          <c:idx val="5"/>
          <c:order val="5"/>
          <c:tx>
            <c:strRef>
              <c:f>Sheet1!$G$1</c:f>
              <c:strCache>
                <c:ptCount val="1"/>
                <c:pt idx="0">
                  <c:v>Sleek Styling and Edge Control</c:v>
                </c:pt>
              </c:strCache>
            </c:strRef>
          </c:tx>
          <c:spPr>
            <a:solidFill>
              <a:srgbClr val="808080"/>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Sheet1!$G$2:$G$7</c:f>
              <c:numCache>
                <c:formatCode>General</c:formatCode>
                <c:ptCount val="6"/>
                <c:pt idx="0">
                  <c:v>10.853474512450413</c:v>
                </c:pt>
                <c:pt idx="1">
                  <c:v>10.904174553172956</c:v>
                </c:pt>
                <c:pt idx="2">
                  <c:v>10.416984817826643</c:v>
                </c:pt>
                <c:pt idx="3">
                  <c:v>10.568114473831182</c:v>
                </c:pt>
                <c:pt idx="4">
                  <c:v>10.018015202471524</c:v>
                </c:pt>
                <c:pt idx="5">
                  <c:v>10.115336677320034</c:v>
                </c:pt>
              </c:numCache>
            </c:numRef>
          </c:val>
        </c:ser>
        <c:ser>
          <c:idx val="6"/>
          <c:order val="6"/>
          <c:tx>
            <c:strRef>
              <c:f>Sheet1!$H$1</c:f>
              <c:strCache>
                <c:ptCount val="1"/>
                <c:pt idx="0">
                  <c:v>Heat Styling Support</c:v>
                </c:pt>
              </c:strCache>
            </c:strRef>
          </c:tx>
          <c:spPr>
            <a:solidFill>
              <a:srgbClr val="0E72AE"/>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Sheet1!$H$2:$H$7</c:f>
              <c:numCache>
                <c:formatCode>General</c:formatCode>
                <c:ptCount val="6"/>
                <c:pt idx="0">
                  <c:v>15.760592439552903</c:v>
                </c:pt>
                <c:pt idx="1">
                  <c:v>14.360622036233467</c:v>
                </c:pt>
                <c:pt idx="2">
                  <c:v>15.166875585928386</c:v>
                </c:pt>
                <c:pt idx="3">
                  <c:v>15.208820727787224</c:v>
                </c:pt>
                <c:pt idx="4">
                  <c:v>16.39497794907862</c:v>
                </c:pt>
                <c:pt idx="5">
                  <c:v>15.6767767634998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Hold and Shape</c:v>
                </c:pt>
              </c:strCache>
            </c:strRef>
          </c:tx>
          <c:spPr>
            <a:solidFill>
              <a:srgbClr val="3D85C6"/>
            </a:solidFill>
          </c:spPr>
          <c:invertIfNegative val="0"/>
          <c:xVal>
            <c:numRef>
              <c:f>Sheet1!$A$2:$A$2</c:f>
              <c:numCache>
                <c:formatCode>General</c:formatCode>
                <c:ptCount val="1"/>
                <c:pt idx="0">
                  <c:v>75.19371174482498</c:v>
                </c:pt>
              </c:numCache>
            </c:numRef>
          </c:xVal>
          <c:yVal>
            <c:numRef>
              <c:f>Sheet1!$B$2:$B$2</c:f>
              <c:numCache>
                <c:formatCode>General</c:formatCode>
                <c:ptCount val="1"/>
                <c:pt idx="0">
                  <c:v>106.72386805492908</c:v>
                </c:pt>
              </c:numCache>
            </c:numRef>
          </c:yVal>
          <c:bubbleSize>
            <c:numRef>
              <c:f>Sheet1!$C$2:$C$2</c:f>
              <c:numCache>
                <c:formatCode>General</c:formatCode>
                <c:ptCount val="1"/>
                <c:pt idx="0">
                  <c:v>4002.575</c:v>
                </c:pt>
              </c:numCache>
            </c:numRef>
          </c:bubbleSize>
          <c:bubble3D val="0"/>
        </c:ser>
        <c:ser>
          <c:idx val="1"/>
          <c:order val="1"/>
          <c:tx>
            <c:strRef>
              <c:f>Sheet1!$B$4</c:f>
              <c:strCache>
                <c:ptCount val="1"/>
                <c:pt idx="0">
                  <c:v>Curl Definition</c:v>
                </c:pt>
              </c:strCache>
            </c:strRef>
          </c:tx>
          <c:spPr>
            <a:solidFill>
              <a:srgbClr val="9E7E0A"/>
            </a:solidFill>
          </c:spPr>
          <c:invertIfNegative val="0"/>
          <c:xVal>
            <c:numRef>
              <c:f>Sheet1!$A$5:$A$5</c:f>
              <c:numCache>
                <c:formatCode>General</c:formatCode>
                <c:ptCount val="1"/>
                <c:pt idx="0">
                  <c:v>122.58682575713549</c:v>
                </c:pt>
              </c:numCache>
            </c:numRef>
          </c:xVal>
          <c:yVal>
            <c:numRef>
              <c:f>Sheet1!$B$5:$B$5</c:f>
              <c:numCache>
                <c:formatCode>General</c:formatCode>
                <c:ptCount val="1"/>
                <c:pt idx="0">
                  <c:v>102.97861051115869</c:v>
                </c:pt>
              </c:numCache>
            </c:numRef>
          </c:yVal>
          <c:bubbleSize>
            <c:numRef>
              <c:f>Sheet1!$C$5:$C$5</c:f>
              <c:numCache>
                <c:formatCode>General</c:formatCode>
                <c:ptCount val="1"/>
                <c:pt idx="0">
                  <c:v>5193.017</c:v>
                </c:pt>
              </c:numCache>
            </c:numRef>
          </c:bubbleSize>
          <c:bubble3D val="0"/>
        </c:ser>
        <c:ser>
          <c:idx val="2"/>
          <c:order val="2"/>
          <c:tx>
            <c:strRef>
              <c:f>Sheet1!$B$7</c:f>
              <c:strCache>
                <c:ptCount val="1"/>
                <c:pt idx="0">
                  <c:v>Volume and Root Lift</c:v>
                </c:pt>
              </c:strCache>
            </c:strRef>
          </c:tx>
          <c:spPr>
            <a:solidFill>
              <a:srgbClr val="008189"/>
            </a:solidFill>
          </c:spPr>
          <c:invertIfNegative val="0"/>
          <c:xVal>
            <c:numRef>
              <c:f>Sheet1!$A$8:$A$8</c:f>
              <c:numCache>
                <c:formatCode>General</c:formatCode>
                <c:ptCount val="1"/>
                <c:pt idx="0">
                  <c:v>89.88983800926806</c:v>
                </c:pt>
              </c:numCache>
            </c:numRef>
          </c:xVal>
          <c:yVal>
            <c:numRef>
              <c:f>Sheet1!$B$8:$B$8</c:f>
              <c:numCache>
                <c:formatCode>General</c:formatCode>
                <c:ptCount val="1"/>
                <c:pt idx="0">
                  <c:v>99.32027510359413</c:v>
                </c:pt>
              </c:numCache>
            </c:numRef>
          </c:yVal>
          <c:bubbleSize>
            <c:numRef>
              <c:f>Sheet1!$C$8:$C$8</c:f>
              <c:numCache>
                <c:formatCode>General</c:formatCode>
                <c:ptCount val="1"/>
                <c:pt idx="0">
                  <c:v>4086.962</c:v>
                </c:pt>
              </c:numCache>
            </c:numRef>
          </c:bubbleSize>
          <c:bubble3D val="0"/>
        </c:ser>
        <c:ser>
          <c:idx val="3"/>
          <c:order val="3"/>
          <c:tx>
            <c:strRef>
              <c:f>Sheet1!$B$10</c:f>
              <c:strCache>
                <c:ptCount val="1"/>
                <c:pt idx="0">
                  <c:v>Texture and Separation</c:v>
                </c:pt>
              </c:strCache>
            </c:strRef>
          </c:tx>
          <c:spPr>
            <a:solidFill>
              <a:srgbClr val="40315E"/>
            </a:solidFill>
          </c:spPr>
          <c:invertIfNegative val="0"/>
          <c:xVal>
            <c:numRef>
              <c:f>Sheet1!$A$11:$A$11</c:f>
              <c:numCache>
                <c:formatCode>General</c:formatCode>
                <c:ptCount val="1"/>
                <c:pt idx="0">
                  <c:v>97.64046597365572</c:v>
                </c:pt>
              </c:numCache>
            </c:numRef>
          </c:xVal>
          <c:yVal>
            <c:numRef>
              <c:f>Sheet1!$B$11:$B$11</c:f>
              <c:numCache>
                <c:formatCode>General</c:formatCode>
                <c:ptCount val="1"/>
                <c:pt idx="0">
                  <c:v>96.76185240757866</c:v>
                </c:pt>
              </c:numCache>
            </c:numRef>
          </c:yVal>
          <c:bubbleSize>
            <c:numRef>
              <c:f>Sheet1!$C$11:$C$11</c:f>
              <c:numCache>
                <c:formatCode>General</c:formatCode>
                <c:ptCount val="1"/>
                <c:pt idx="0">
                  <c:v>4179.874</c:v>
                </c:pt>
              </c:numCache>
            </c:numRef>
          </c:bubbleSize>
          <c:bubble3D val="0"/>
        </c:ser>
        <c:ser>
          <c:idx val="4"/>
          <c:order val="4"/>
          <c:tx>
            <c:strRef>
              <c:f>Sheet1!$B$13</c:f>
              <c:strCache>
                <c:ptCount val="1"/>
                <c:pt idx="0">
                  <c:v>Smoothing and Frizz Control</c:v>
                </c:pt>
              </c:strCache>
            </c:strRef>
          </c:tx>
          <c:spPr>
            <a:solidFill>
              <a:srgbClr val="A35313"/>
            </a:solidFill>
          </c:spPr>
          <c:invertIfNegative val="0"/>
          <c:xVal>
            <c:numRef>
              <c:f>Sheet1!$A$14:$A$14</c:f>
              <c:numCache>
                <c:formatCode>General</c:formatCode>
                <c:ptCount val="1"/>
                <c:pt idx="0">
                  <c:v>108.3617767208525</c:v>
                </c:pt>
              </c:numCache>
            </c:numRef>
          </c:xVal>
          <c:yVal>
            <c:numRef>
              <c:f>Sheet1!$B$14:$B$14</c:f>
              <c:numCache>
                <c:formatCode>General</c:formatCode>
                <c:ptCount val="1"/>
                <c:pt idx="0">
                  <c:v>114.06422515217427</c:v>
                </c:pt>
              </c:numCache>
            </c:numRef>
          </c:yVal>
          <c:bubbleSize>
            <c:numRef>
              <c:f>Sheet1!$C$14:$C$14</c:f>
              <c:numCache>
                <c:formatCode>General</c:formatCode>
                <c:ptCount val="1"/>
                <c:pt idx="0">
                  <c:v>5267.721</c:v>
                </c:pt>
              </c:numCache>
            </c:numRef>
          </c:bubbleSize>
          <c:bubble3D val="0"/>
        </c:ser>
        <c:ser>
          <c:idx val="5"/>
          <c:order val="5"/>
          <c:tx>
            <c:strRef>
              <c:f>Sheet1!$B$16</c:f>
              <c:strCache>
                <c:ptCount val="1"/>
                <c:pt idx="0">
                  <c:v>Sleek Styling and Edge Control</c:v>
                </c:pt>
              </c:strCache>
            </c:strRef>
          </c:tx>
          <c:spPr>
            <a:solidFill>
              <a:srgbClr val="808080"/>
            </a:solidFill>
          </c:spPr>
          <c:invertIfNegative val="0"/>
          <c:xVal>
            <c:numRef>
              <c:f>Sheet1!$A$17:$A$17</c:f>
              <c:numCache>
                <c:formatCode>General</c:formatCode>
                <c:ptCount val="1"/>
                <c:pt idx="0">
                  <c:v>83.18442002177446</c:v>
                </c:pt>
              </c:numCache>
            </c:numRef>
          </c:xVal>
          <c:yVal>
            <c:numRef>
              <c:f>Sheet1!$B$17:$B$17</c:f>
              <c:numCache>
                <c:formatCode>General</c:formatCode>
                <c:ptCount val="1"/>
                <c:pt idx="0">
                  <c:v>80.33682824477697</c:v>
                </c:pt>
              </c:numCache>
            </c:numRef>
          </c:yVal>
          <c:bubbleSize>
            <c:numRef>
              <c:f>Sheet1!$C$17:$C$17</c:f>
              <c:numCache>
                <c:formatCode>General</c:formatCode>
                <c:ptCount val="1"/>
                <c:pt idx="0">
                  <c:v>3169.151</c:v>
                </c:pt>
              </c:numCache>
            </c:numRef>
          </c:bubbleSize>
          <c:bubble3D val="0"/>
        </c:ser>
        <c:ser>
          <c:idx val="6"/>
          <c:order val="6"/>
          <c:tx>
            <c:strRef>
              <c:f>Sheet1!$B$19</c:f>
              <c:strCache>
                <c:ptCount val="1"/>
                <c:pt idx="0">
                  <c:v>Heat Styling Support</c:v>
                </c:pt>
              </c:strCache>
            </c:strRef>
          </c:tx>
          <c:spPr>
            <a:solidFill>
              <a:srgbClr val="0E72AE"/>
            </a:solidFill>
          </c:spPr>
          <c:invertIfNegative val="0"/>
          <c:xVal>
            <c:numRef>
              <c:f>Sheet1!$A$20:$A$20</c:f>
              <c:numCache>
                <c:formatCode>General</c:formatCode>
                <c:ptCount val="1"/>
                <c:pt idx="0">
                  <c:v>114.4874594916266</c:v>
                </c:pt>
              </c:numCache>
            </c:numRef>
          </c:xVal>
          <c:yVal>
            <c:numRef>
              <c:f>Sheet1!$B$20:$B$20</c:f>
              <c:numCache>
                <c:formatCode>General</c:formatCode>
                <c:ptCount val="1"/>
                <c:pt idx="0">
                  <c:v>99.8143405257883</c:v>
                </c:pt>
              </c:numCache>
            </c:numRef>
          </c:yVal>
          <c:bubbleSize>
            <c:numRef>
              <c:f>Sheet1!$C$20:$C$20</c:f>
              <c:numCache>
                <c:formatCode>General</c:formatCode>
                <c:ptCount val="1"/>
                <c:pt idx="0">
                  <c:v>4788.033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6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2455.62</c:v>
                </c:pt>
                <c:pt idx="2">
                  <c:v>2682.411</c:v>
                </c:pt>
                <c:pt idx="3">
                  <c:v>2957.936</c:v>
                </c:pt>
                <c:pt idx="4">
                  <c:v>3262.065</c:v>
                </c:pt>
                <c:pt idx="5">
                  <c:v>3612.414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2455.62</c:v>
                </c:pt>
                <c:pt idx="1">
                  <c:v>226.79100000000017</c:v>
                </c:pt>
                <c:pt idx="2">
                  <c:v>275.5250000000001</c:v>
                </c:pt>
                <c:pt idx="3">
                  <c:v>304.1289999999999</c:v>
                </c:pt>
                <c:pt idx="4">
                  <c:v>350.34900000000016</c:v>
                </c:pt>
                <c:pt idx="5">
                  <c:v>390.1609999999996</c:v>
                </c:pt>
                <c:pt idx="6">
                  <c:v>4002.575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2369.445</c:v>
                </c:pt>
                <c:pt idx="2">
                  <c:v>2694.65</c:v>
                </c:pt>
                <c:pt idx="3">
                  <c:v>3130.611</c:v>
                </c:pt>
                <c:pt idx="4">
                  <c:v>3712.133</c:v>
                </c:pt>
                <c:pt idx="5">
                  <c:v>4398.916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2369.445</c:v>
                </c:pt>
                <c:pt idx="1">
                  <c:v>325.2049999999999</c:v>
                </c:pt>
                <c:pt idx="2">
                  <c:v>435.9609999999998</c:v>
                </c:pt>
                <c:pt idx="3">
                  <c:v>581.5219999999999</c:v>
                </c:pt>
                <c:pt idx="4">
                  <c:v>686.7830000000004</c:v>
                </c:pt>
                <c:pt idx="5">
                  <c:v>794.1009999999997</c:v>
                </c:pt>
                <c:pt idx="6">
                  <c:v>5193.017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2285.27</c:v>
                </c:pt>
                <c:pt idx="2">
                  <c:v>2548.217</c:v>
                </c:pt>
                <c:pt idx="3">
                  <c:v>2861.189</c:v>
                </c:pt>
                <c:pt idx="4">
                  <c:v>3221.055</c:v>
                </c:pt>
                <c:pt idx="5">
                  <c:v>3628.921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2285.27</c:v>
                </c:pt>
                <c:pt idx="1">
                  <c:v>262.9470000000001</c:v>
                </c:pt>
                <c:pt idx="2">
                  <c:v>312.97199999999975</c:v>
                </c:pt>
                <c:pt idx="3">
                  <c:v>359.866</c:v>
                </c:pt>
                <c:pt idx="4">
                  <c:v>407.866</c:v>
                </c:pt>
                <c:pt idx="5">
                  <c:v>458.04100000000017</c:v>
                </c:pt>
                <c:pt idx="6">
                  <c:v>4086.962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2226.403</c:v>
                </c:pt>
                <c:pt idx="2">
                  <c:v>2498.444</c:v>
                </c:pt>
                <c:pt idx="3">
                  <c:v>2831.067</c:v>
                </c:pt>
                <c:pt idx="4">
                  <c:v>3215.163</c:v>
                </c:pt>
                <c:pt idx="5">
                  <c:v>3665.272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2226.403</c:v>
                </c:pt>
                <c:pt idx="1">
                  <c:v>272.04100000000017</c:v>
                </c:pt>
                <c:pt idx="2">
                  <c:v>332.62300000000005</c:v>
                </c:pt>
                <c:pt idx="3">
                  <c:v>384.096</c:v>
                </c:pt>
                <c:pt idx="4">
                  <c:v>450.1089999999999</c:v>
                </c:pt>
                <c:pt idx="5">
                  <c:v>514.6019999999999</c:v>
                </c:pt>
                <c:pt idx="6">
                  <c:v>4179.874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2624.515</c:v>
                </c:pt>
                <c:pt idx="2">
                  <c:v>2925.097</c:v>
                </c:pt>
                <c:pt idx="3">
                  <c:v>3340.973</c:v>
                </c:pt>
                <c:pt idx="4">
                  <c:v>3872.997</c:v>
                </c:pt>
                <c:pt idx="5">
                  <c:v>4516.447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2624.515</c:v>
                </c:pt>
                <c:pt idx="1">
                  <c:v>300.58200000000033</c:v>
                </c:pt>
                <c:pt idx="2">
                  <c:v>415.87599999999975</c:v>
                </c:pt>
                <c:pt idx="3">
                  <c:v>532.0239999999999</c:v>
                </c:pt>
                <c:pt idx="4">
                  <c:v>643.4500000000003</c:v>
                </c:pt>
                <c:pt idx="5">
                  <c:v>751.2739999999994</c:v>
                </c:pt>
                <c:pt idx="6">
                  <c:v>5267.721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1848.478</c:v>
                </c:pt>
                <c:pt idx="2">
                  <c:v>2029.235</c:v>
                </c:pt>
                <c:pt idx="3">
                  <c:v>2262.479</c:v>
                </c:pt>
                <c:pt idx="4">
                  <c:v>2536.876</c:v>
                </c:pt>
                <c:pt idx="5">
                  <c:v>2836.169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1848.478</c:v>
                </c:pt>
                <c:pt idx="1">
                  <c:v>180.75699999999983</c:v>
                </c:pt>
                <c:pt idx="2">
                  <c:v>233.24399999999991</c:v>
                </c:pt>
                <c:pt idx="3">
                  <c:v>274.3970000000004</c:v>
                </c:pt>
                <c:pt idx="4">
                  <c:v>299.29299999999967</c:v>
                </c:pt>
                <c:pt idx="5">
                  <c:v>332.98199999999997</c:v>
                </c:pt>
                <c:pt idx="6">
                  <c:v>3169.151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2296.638</c:v>
                </c:pt>
                <c:pt idx="2">
                  <c:v>2594.04</c:v>
                </c:pt>
                <c:pt idx="3">
                  <c:v>2974.545</c:v>
                </c:pt>
                <c:pt idx="4">
                  <c:v>3467.937</c:v>
                </c:pt>
                <c:pt idx="5">
                  <c:v>4076.855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2296.638</c:v>
                </c:pt>
                <c:pt idx="1">
                  <c:v>297.40200000000004</c:v>
                </c:pt>
                <c:pt idx="2">
                  <c:v>380.5050000000001</c:v>
                </c:pt>
                <c:pt idx="3">
                  <c:v>493.3919999999998</c:v>
                </c:pt>
                <c:pt idx="4">
                  <c:v>608.9180000000001</c:v>
                </c:pt>
                <c:pt idx="5">
                  <c:v>711.1780000000003</c:v>
                </c:pt>
                <c:pt idx="6">
                  <c:v>4788.033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Smoothing and Frizz Control</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16.766986119327804</c:v>
                </c:pt>
                <c:pt idx="1">
                  <c:v>16.294889307453467</c:v>
                </c:pt>
                <c:pt idx="2">
                  <c:v>17.165783028456723</c:v>
                </c:pt>
              </c:numCache>
            </c:numRef>
          </c:val>
        </c:ser>
        <c:ser>
          <c:idx val="1"/>
          <c:order val="1"/>
          <c:tx>
            <c:strRef>
              <c:f>Sheet1!$C$1</c:f>
              <c:strCache>
                <c:ptCount val="1"/>
                <c:pt idx="0">
                  <c:v>Curl Definition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14.51103575652647</c:v>
                </c:pt>
                <c:pt idx="1">
                  <c:v>14.71123007302267</c:v>
                </c:pt>
                <c:pt idx="2">
                  <c:v>16.92234708047128</c:v>
                </c:pt>
              </c:numCache>
            </c:numRef>
          </c:val>
        </c:ser>
        <c:ser>
          <c:idx val="2"/>
          <c:order val="2"/>
          <c:tx>
            <c:strRef>
              <c:f>Sheet1!$D$1</c:f>
              <c:strCache>
                <c:ptCount val="1"/>
                <c:pt idx="0">
                  <c:v>Heat Styling Support</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13.838117568262017</c:v>
                </c:pt>
                <c:pt idx="1">
                  <c:v>14.25919150368404</c:v>
                </c:pt>
                <c:pt idx="2">
                  <c:v>15.602636436343298</c:v>
                </c:pt>
              </c:numCache>
            </c:numRef>
          </c:val>
        </c:ser>
        <c:ser>
          <c:idx val="3"/>
          <c:order val="3"/>
          <c:tx>
            <c:strRef>
              <c:f>Sheet1!$E$1</c:f>
              <c:strCache>
                <c:ptCount val="1"/>
                <c:pt idx="0">
                  <c:v>Texture and Separation</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13.389281876770124</c:v>
                </c:pt>
                <c:pt idx="1">
                  <c:v>13.823121772511234</c:v>
                </c:pt>
                <c:pt idx="2">
                  <c:v>13.620844796124837</c:v>
                </c:pt>
              </c:numCache>
            </c:numRef>
          </c:val>
        </c:ser>
        <c:ser>
          <c:idx val="4"/>
          <c:order val="4"/>
          <c:tx>
            <c:strRef>
              <c:f>Sheet1!$F$1</c:f>
              <c:strCache>
                <c:ptCount val="1"/>
                <c:pt idx="0">
                  <c:v>Volume and Root Lift</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14.087193200017085</c:v>
                </c:pt>
                <c:pt idx="1">
                  <c:v>14.188610729084875</c:v>
                </c:pt>
                <c:pt idx="2">
                  <c:v>13.318074920358832</c:v>
                </c:pt>
              </c:numCache>
            </c:numRef>
          </c:val>
        </c:ser>
        <c:ser>
          <c:idx val="5"/>
          <c:order val="5"/>
          <c:tx>
            <c:strRef>
              <c:f>Sheet1!$G$1</c:f>
              <c:strCache>
                <c:ptCount val="1"/>
                <c:pt idx="0">
                  <c:v>Hold and Shape</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15.6595019165772</c:v>
                </c:pt>
                <c:pt idx="1">
                  <c:v>15.246266864989868</c:v>
                </c:pt>
                <c:pt idx="2">
                  <c:v>13.043085236504586</c:v>
                </c:pt>
              </c:numCache>
            </c:numRef>
          </c:val>
        </c:ser>
        <c:ser>
          <c:idx val="6"/>
          <c:order val="6"/>
          <c:tx>
            <c:strRef>
              <c:f>Sheet1!$H$1</c:f>
              <c:strCache>
                <c:ptCount val="1"/>
                <c:pt idx="0">
                  <c:v>Sleek Styling and Edge Control</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11.747883562519302</c:v>
                </c:pt>
                <c:pt idx="1">
                  <c:v>11.476689749253852</c:v>
                </c:pt>
                <c:pt idx="2">
                  <c:v>10.327228501740441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Straight Hair</c:v>
                </c:pt>
              </c:strCache>
            </c:strRef>
          </c:tx>
          <c:spPr>
            <a:solidFill>
              <a:srgbClr val="3D85C6"/>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Sheet1!$B$2:$B$7</c:f>
              <c:numCache>
                <c:formatCode>General</c:formatCode>
                <c:ptCount val="6"/>
                <c:pt idx="0">
                  <c:v>18.521400228093157</c:v>
                </c:pt>
                <c:pt idx="1">
                  <c:v>16.961005361816024</c:v>
                </c:pt>
                <c:pt idx="2">
                  <c:v>19.303874656926997</c:v>
                </c:pt>
                <c:pt idx="3">
                  <c:v>19.026945872637597</c:v>
                </c:pt>
                <c:pt idx="4">
                  <c:v>22.782915075392317</c:v>
                </c:pt>
                <c:pt idx="5">
                  <c:v>18.305049233891182</c:v>
                </c:pt>
              </c:numCache>
            </c:numRef>
          </c:val>
        </c:ser>
        <c:ser>
          <c:idx val="1"/>
          <c:order val="1"/>
          <c:tx>
            <c:strRef>
              <c:f>Sheet1!$C$1</c:f>
              <c:strCache>
                <c:ptCount val="1"/>
                <c:pt idx="0">
                  <c:v>Wavy Hair</c:v>
                </c:pt>
              </c:strCache>
            </c:strRef>
          </c:tx>
          <c:spPr>
            <a:solidFill>
              <a:srgbClr val="9E7E0A"/>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Sheet1!$C$2:$C$7</c:f>
              <c:numCache>
                <c:formatCode>General</c:formatCode>
                <c:ptCount val="6"/>
                <c:pt idx="0">
                  <c:v>19.562098834085788</c:v>
                </c:pt>
                <c:pt idx="1">
                  <c:v>17.950895482947036</c:v>
                </c:pt>
                <c:pt idx="2">
                  <c:v>20.180460640459494</c:v>
                </c:pt>
                <c:pt idx="3">
                  <c:v>20.14662172552796</c:v>
                </c:pt>
                <c:pt idx="4">
                  <c:v>19.282524868085773</c:v>
                </c:pt>
                <c:pt idx="5">
                  <c:v>19.35466278335539</c:v>
                </c:pt>
              </c:numCache>
            </c:numRef>
          </c:val>
        </c:ser>
        <c:ser>
          <c:idx val="2"/>
          <c:order val="2"/>
          <c:tx>
            <c:strRef>
              <c:f>Sheet1!$D$1</c:f>
              <c:strCache>
                <c:ptCount val="1"/>
                <c:pt idx="0">
                  <c:v>Curly Hair</c:v>
                </c:pt>
              </c:strCache>
            </c:strRef>
          </c:tx>
          <c:spPr>
            <a:solidFill>
              <a:srgbClr val="008189"/>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Sheet1!$D$2:$D$7</c:f>
              <c:numCache>
                <c:formatCode>General</c:formatCode>
                <c:ptCount val="6"/>
                <c:pt idx="0">
                  <c:v>20.12964551306823</c:v>
                </c:pt>
                <c:pt idx="1">
                  <c:v>22.895515623712466</c:v>
                </c:pt>
                <c:pt idx="2">
                  <c:v>20.240060957762253</c:v>
                </c:pt>
                <c:pt idx="3">
                  <c:v>20.1760011449247</c:v>
                </c:pt>
                <c:pt idx="4">
                  <c:v>19.297315864622416</c:v>
                </c:pt>
                <c:pt idx="5">
                  <c:v>19.34827983381764</c:v>
                </c:pt>
              </c:numCache>
            </c:numRef>
          </c:val>
        </c:ser>
        <c:ser>
          <c:idx val="3"/>
          <c:order val="3"/>
          <c:tx>
            <c:strRef>
              <c:f>Sheet1!$E$1</c:f>
              <c:strCache>
                <c:ptCount val="1"/>
                <c:pt idx="0">
                  <c:v>Coily Hair</c:v>
                </c:pt>
              </c:strCache>
            </c:strRef>
          </c:tx>
          <c:spPr>
            <a:solidFill>
              <a:srgbClr val="40315E"/>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Sheet1!$E$2:$E$7</c:f>
              <c:numCache>
                <c:formatCode>General</c:formatCode>
                <c:ptCount val="6"/>
                <c:pt idx="0">
                  <c:v>21.564417467034882</c:v>
                </c:pt>
                <c:pt idx="1">
                  <c:v>23.53310147101863</c:v>
                </c:pt>
                <c:pt idx="2">
                  <c:v>20.119243054760176</c:v>
                </c:pt>
                <c:pt idx="3">
                  <c:v>19.92240730502295</c:v>
                </c:pt>
                <c:pt idx="4">
                  <c:v>19.270226880522287</c:v>
                </c:pt>
                <c:pt idx="5">
                  <c:v>22.76746107285766</c:v>
                </c:pt>
              </c:numCache>
            </c:numRef>
          </c:val>
        </c:ser>
        <c:ser>
          <c:idx val="4"/>
          <c:order val="4"/>
          <c:tx>
            <c:strRef>
              <c:f>Sheet1!$F$1</c:f>
              <c:strCache>
                <c:ptCount val="1"/>
                <c:pt idx="0">
                  <c:v>All Hair Types</c:v>
                </c:pt>
              </c:strCache>
            </c:strRef>
          </c:tx>
          <c:spPr>
            <a:solidFill>
              <a:srgbClr val="A35313"/>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Sheet1!$F$2:$F$7</c:f>
              <c:numCache>
                <c:formatCode>General</c:formatCode>
                <c:ptCount val="6"/>
                <c:pt idx="0">
                  <c:v>20.222437957717936</c:v>
                </c:pt>
                <c:pt idx="1">
                  <c:v>18.659482060505834</c:v>
                </c:pt>
                <c:pt idx="2">
                  <c:v>20.156360690091077</c:v>
                </c:pt>
                <c:pt idx="3">
                  <c:v>20.728023951886787</c:v>
                </c:pt>
                <c:pt idx="4">
                  <c:v>19.367017311377204</c:v>
                </c:pt>
                <c:pt idx="5">
                  <c:v>20.22454707607812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Straight Hair</c:v>
                </c:pt>
              </c:strCache>
            </c:strRef>
          </c:tx>
          <c:spPr>
            <a:solidFill>
              <a:srgbClr val="3D85C6"/>
            </a:solidFill>
          </c:spPr>
          <c:invertIfNegative val="0"/>
          <c:xVal>
            <c:numRef>
              <c:f>Sheet1!$A$2:$A$2</c:f>
              <c:numCache>
                <c:formatCode>General</c:formatCode>
                <c:ptCount val="1"/>
                <c:pt idx="0">
                  <c:v>83.93948076818609</c:v>
                </c:pt>
              </c:numCache>
            </c:numRef>
          </c:xVal>
          <c:yVal>
            <c:numRef>
              <c:f>Sheet1!$B$2:$B$2</c:f>
              <c:numCache>
                <c:formatCode>General</c:formatCode>
                <c:ptCount val="1"/>
                <c:pt idx="0">
                  <c:v>108.25916132928532</c:v>
                </c:pt>
              </c:numCache>
            </c:numRef>
          </c:yVal>
          <c:bubbleSize>
            <c:numRef>
              <c:f>Sheet1!$C$2:$C$2</c:f>
              <c:numCache>
                <c:formatCode>General</c:formatCode>
                <c:ptCount val="1"/>
                <c:pt idx="0">
                  <c:v>6007.439</c:v>
                </c:pt>
              </c:numCache>
            </c:numRef>
          </c:bubbleSize>
          <c:bubble3D val="0"/>
        </c:ser>
        <c:ser>
          <c:idx val="1"/>
          <c:order val="1"/>
          <c:tx>
            <c:strRef>
              <c:f>Sheet1!$B$4</c:f>
              <c:strCache>
                <c:ptCount val="1"/>
                <c:pt idx="0">
                  <c:v>Wavy Hair</c:v>
                </c:pt>
              </c:strCache>
            </c:strRef>
          </c:tx>
          <c:spPr>
            <a:solidFill>
              <a:srgbClr val="9E7E0A"/>
            </a:solidFill>
          </c:spPr>
          <c:invertIfNegative val="0"/>
          <c:xVal>
            <c:numRef>
              <c:f>Sheet1!$A$5:$A$5</c:f>
              <c:numCache>
                <c:formatCode>General</c:formatCode>
                <c:ptCount val="1"/>
                <c:pt idx="0">
                  <c:v>99.25917032482698</c:v>
                </c:pt>
              </c:numCache>
            </c:numRef>
          </c:xVal>
          <c:yVal>
            <c:numRef>
              <c:f>Sheet1!$B$5:$B$5</c:f>
              <c:numCache>
                <c:formatCode>General</c:formatCode>
                <c:ptCount val="1"/>
                <c:pt idx="0">
                  <c:v>97.7335735943961</c:v>
                </c:pt>
              </c:numCache>
            </c:numRef>
          </c:yVal>
          <c:bubbleSize>
            <c:numRef>
              <c:f>Sheet1!$C$5:$C$5</c:f>
              <c:numCache>
                <c:formatCode>General</c:formatCode>
                <c:ptCount val="1"/>
                <c:pt idx="0">
                  <c:v>5970.681</c:v>
                </c:pt>
              </c:numCache>
            </c:numRef>
          </c:bubbleSize>
          <c:bubble3D val="0"/>
        </c:ser>
        <c:ser>
          <c:idx val="2"/>
          <c:order val="2"/>
          <c:tx>
            <c:strRef>
              <c:f>Sheet1!$B$7</c:f>
              <c:strCache>
                <c:ptCount val="1"/>
                <c:pt idx="0">
                  <c:v>Curly Hair</c:v>
                </c:pt>
              </c:strCache>
            </c:strRef>
          </c:tx>
          <c:spPr>
            <a:solidFill>
              <a:srgbClr val="008189"/>
            </a:solidFill>
          </c:spPr>
          <c:invertIfNegative val="0"/>
          <c:xVal>
            <c:numRef>
              <c:f>Sheet1!$A$8:$A$8</c:f>
              <c:numCache>
                <c:formatCode>General</c:formatCode>
                <c:ptCount val="1"/>
                <c:pt idx="0">
                  <c:v>109.83387790661115</c:v>
                </c:pt>
              </c:numCache>
            </c:numRef>
          </c:xVal>
          <c:yVal>
            <c:numRef>
              <c:f>Sheet1!$B$8:$B$8</c:f>
              <c:numCache>
                <c:formatCode>General</c:formatCode>
                <c:ptCount val="1"/>
                <c:pt idx="0">
                  <c:v>93.89152204323644</c:v>
                </c:pt>
              </c:numCache>
            </c:numRef>
          </c:yVal>
          <c:bubbleSize>
            <c:numRef>
              <c:f>Sheet1!$C$8:$C$8</c:f>
              <c:numCache>
                <c:formatCode>General</c:formatCode>
                <c:ptCount val="1"/>
                <c:pt idx="0">
                  <c:v>6126.275</c:v>
                </c:pt>
              </c:numCache>
            </c:numRef>
          </c:bubbleSize>
          <c:bubble3D val="0"/>
        </c:ser>
        <c:ser>
          <c:idx val="3"/>
          <c:order val="3"/>
          <c:tx>
            <c:strRef>
              <c:f>Sheet1!$B$10</c:f>
              <c:strCache>
                <c:ptCount val="1"/>
                <c:pt idx="0">
                  <c:v>Coily Hair</c:v>
                </c:pt>
              </c:strCache>
            </c:strRef>
          </c:tx>
          <c:spPr>
            <a:solidFill>
              <a:srgbClr val="40315E"/>
            </a:solidFill>
          </c:spPr>
          <c:invertIfNegative val="0"/>
          <c:xVal>
            <c:numRef>
              <c:f>Sheet1!$A$11:$A$11</c:f>
              <c:numCache>
                <c:formatCode>General</c:formatCode>
                <c:ptCount val="1"/>
                <c:pt idx="0">
                  <c:v>116.09059508936883</c:v>
                </c:pt>
              </c:numCache>
            </c:numRef>
          </c:xVal>
          <c:yVal>
            <c:numRef>
              <c:f>Sheet1!$B$11:$B$11</c:f>
              <c:numCache>
                <c:formatCode>General</c:formatCode>
                <c:ptCount val="1"/>
                <c:pt idx="0">
                  <c:v>95.30254770643836</c:v>
                </c:pt>
              </c:numCache>
            </c:numRef>
          </c:yVal>
          <c:bubbleSize>
            <c:numRef>
              <c:f>Sheet1!$C$11:$C$11</c:f>
              <c:numCache>
                <c:formatCode>General</c:formatCode>
                <c:ptCount val="1"/>
                <c:pt idx="0">
                  <c:v>6464.013</c:v>
                </c:pt>
              </c:numCache>
            </c:numRef>
          </c:bubbleSize>
          <c:bubble3D val="0"/>
        </c:ser>
        <c:ser>
          <c:idx val="4"/>
          <c:order val="4"/>
          <c:tx>
            <c:strRef>
              <c:f>Sheet1!$B$13</c:f>
              <c:strCache>
                <c:ptCount val="1"/>
                <c:pt idx="0">
                  <c:v>All Hair Types</c:v>
                </c:pt>
              </c:strCache>
            </c:strRef>
          </c:tx>
          <c:spPr>
            <a:solidFill>
              <a:srgbClr val="A35313"/>
            </a:solidFill>
          </c:spPr>
          <c:invertIfNegative val="0"/>
          <c:xVal>
            <c:numRef>
              <c:f>Sheet1!$A$14:$A$14</c:f>
              <c:numCache>
                <c:formatCode>General</c:formatCode>
                <c:ptCount val="1"/>
                <c:pt idx="0">
                  <c:v>92.00540352376241</c:v>
                </c:pt>
              </c:numCache>
            </c:numRef>
          </c:xVal>
          <c:yVal>
            <c:numRef>
              <c:f>Sheet1!$B$14:$B$14</c:f>
              <c:numCache>
                <c:formatCode>General</c:formatCode>
                <c:ptCount val="1"/>
                <c:pt idx="0">
                  <c:v>104.81319532664375</c:v>
                </c:pt>
              </c:numCache>
            </c:numRef>
          </c:yVal>
          <c:bubbleSize>
            <c:numRef>
              <c:f>Sheet1!$C$14:$C$14</c:f>
              <c:numCache>
                <c:formatCode>General</c:formatCode>
                <c:ptCount val="1"/>
                <c:pt idx="0">
                  <c:v>6118.926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3487.324</c:v>
                </c:pt>
                <c:pt idx="2">
                  <c:v>3842.461</c:v>
                </c:pt>
                <c:pt idx="3">
                  <c:v>4281.193</c:v>
                </c:pt>
                <c:pt idx="4">
                  <c:v>4777.569</c:v>
                </c:pt>
                <c:pt idx="5">
                  <c:v>5356.685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3487.324</c:v>
                </c:pt>
                <c:pt idx="1">
                  <c:v>355.1369999999997</c:v>
                </c:pt>
                <c:pt idx="2">
                  <c:v>438.7320000000004</c:v>
                </c:pt>
                <c:pt idx="3">
                  <c:v>496.3760000000002</c:v>
                </c:pt>
                <c:pt idx="4">
                  <c:v>579.116</c:v>
                </c:pt>
                <c:pt idx="5">
                  <c:v>650.7539999999999</c:v>
                </c:pt>
                <c:pt idx="6">
                  <c:v>6007.439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3148.266</c:v>
                </c:pt>
                <c:pt idx="2">
                  <c:v>3544.446</c:v>
                </c:pt>
                <c:pt idx="3">
                  <c:v>4023.372</c:v>
                </c:pt>
                <c:pt idx="4">
                  <c:v>4587.569</c:v>
                </c:pt>
                <c:pt idx="5">
                  <c:v>5235.511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3148.266</c:v>
                </c:pt>
                <c:pt idx="1">
                  <c:v>396.17999999999984</c:v>
                </c:pt>
                <c:pt idx="2">
                  <c:v>478.92599999999993</c:v>
                </c:pt>
                <c:pt idx="3">
                  <c:v>564.1970000000006</c:v>
                </c:pt>
                <c:pt idx="4">
                  <c:v>647.942</c:v>
                </c:pt>
                <c:pt idx="5">
                  <c:v>735.1699999999992</c:v>
                </c:pt>
                <c:pt idx="6">
                  <c:v>5970.681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3024.503</c:v>
                </c:pt>
                <c:pt idx="2">
                  <c:v>3369.434</c:v>
                </c:pt>
                <c:pt idx="3">
                  <c:v>3850.796</c:v>
                </c:pt>
                <c:pt idx="4">
                  <c:v>4475.873</c:v>
                </c:pt>
                <c:pt idx="5">
                  <c:v>5235.596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3024.503</c:v>
                </c:pt>
                <c:pt idx="1">
                  <c:v>344.93100000000004</c:v>
                </c:pt>
                <c:pt idx="2">
                  <c:v>481.3619999999996</c:v>
                </c:pt>
                <c:pt idx="3">
                  <c:v>625.0769999999998</c:v>
                </c:pt>
                <c:pt idx="4">
                  <c:v>759.723</c:v>
                </c:pt>
                <c:pt idx="5">
                  <c:v>890.6790000000001</c:v>
                </c:pt>
                <c:pt idx="6">
                  <c:v>6126.275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3069.956</c:v>
                </c:pt>
                <c:pt idx="2">
                  <c:v>3461.137</c:v>
                </c:pt>
                <c:pt idx="3">
                  <c:v>3985.157</c:v>
                </c:pt>
                <c:pt idx="4">
                  <c:v>4686.827</c:v>
                </c:pt>
                <c:pt idx="5">
                  <c:v>5512.514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3069.956</c:v>
                </c:pt>
                <c:pt idx="1">
                  <c:v>391.18100000000004</c:v>
                </c:pt>
                <c:pt idx="2">
                  <c:v>524.02</c:v>
                </c:pt>
                <c:pt idx="3">
                  <c:v>701.6700000000001</c:v>
                </c:pt>
                <c:pt idx="4">
                  <c:v>825.6869999999999</c:v>
                </c:pt>
                <c:pt idx="5">
                  <c:v>951.4989999999998</c:v>
                </c:pt>
                <c:pt idx="6">
                  <c:v>6464.013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3376.32</c:v>
                </c:pt>
                <c:pt idx="2">
                  <c:v>3754.616</c:v>
                </c:pt>
                <c:pt idx="3">
                  <c:v>4218.283</c:v>
                </c:pt>
                <c:pt idx="4">
                  <c:v>4760.388</c:v>
                </c:pt>
                <c:pt idx="5">
                  <c:v>5394.687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3376.32</c:v>
                </c:pt>
                <c:pt idx="1">
                  <c:v>378.2959999999998</c:v>
                </c:pt>
                <c:pt idx="2">
                  <c:v>463.66700000000037</c:v>
                </c:pt>
                <c:pt idx="3">
                  <c:v>542.1049999999996</c:v>
                </c:pt>
                <c:pt idx="4">
                  <c:v>634.299</c:v>
                </c:pt>
                <c:pt idx="5">
                  <c:v>724.2390000000005</c:v>
                </c:pt>
                <c:pt idx="6">
                  <c:v>6118.926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Coily Hair</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19.120711908095572</c:v>
                </c:pt>
                <c:pt idx="1">
                  <c:v>19.060509541287672</c:v>
                </c:pt>
                <c:pt idx="2">
                  <c:v>21.064107426210434</c:v>
                </c:pt>
              </c:numCache>
            </c:numRef>
          </c:val>
        </c:ser>
        <c:ser>
          <c:idx val="1"/>
          <c:order val="1"/>
          <c:tx>
            <c:strRef>
              <c:f>Sheet1!$C$1</c:f>
              <c:strCache>
                <c:ptCount val="1"/>
                <c:pt idx="0">
                  <c:v>Curly Hair</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19.348618154081983</c:v>
                </c:pt>
                <c:pt idx="1">
                  <c:v>18.778304408647287</c:v>
                </c:pt>
                <c:pt idx="2">
                  <c:v>19.96352957868546</c:v>
                </c:pt>
              </c:numCache>
            </c:numRef>
          </c:val>
        </c:ser>
        <c:ser>
          <c:idx val="2"/>
          <c:order val="2"/>
          <c:tx>
            <c:strRef>
              <c:f>Sheet1!$D$1</c:f>
              <c:strCache>
                <c:ptCount val="1"/>
                <c:pt idx="0">
                  <c:v>All Hair Types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20.753252383945746</c:v>
                </c:pt>
                <c:pt idx="1">
                  <c:v>20.96263906532875</c:v>
                </c:pt>
                <c:pt idx="2">
                  <c:v>19.939581587634823</c:v>
                </c:pt>
              </c:numCache>
            </c:numRef>
          </c:val>
        </c:ser>
        <c:ser>
          <c:idx val="3"/>
          <c:order val="3"/>
          <c:tx>
            <c:strRef>
              <c:f>Sheet1!$E$1</c:f>
              <c:strCache>
                <c:ptCount val="1"/>
                <c:pt idx="0">
                  <c:v>Straight Hair</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21.777739643074597</c:v>
                </c:pt>
                <c:pt idx="1">
                  <c:v>21.651832265857067</c:v>
                </c:pt>
                <c:pt idx="2">
                  <c:v>19.57628186273855</c:v>
                </c:pt>
              </c:numCache>
            </c:numRef>
          </c:val>
        </c:ser>
        <c:ser>
          <c:idx val="4"/>
          <c:order val="4"/>
          <c:tx>
            <c:strRef>
              <c:f>Sheet1!$F$1</c:f>
              <c:strCache>
                <c:ptCount val="1"/>
                <c:pt idx="0">
                  <c:v>Wavy Hair</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18.999677910802106</c:v>
                </c:pt>
                <c:pt idx="1">
                  <c:v>19.546714718879223</c:v>
                </c:pt>
                <c:pt idx="2">
                  <c:v>19.456499544730736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Film-forming and Fixative Polymers</c:v>
                </c:pt>
              </c:strCache>
            </c:strRef>
          </c:tx>
          <c:spPr>
            <a:solidFill>
              <a:srgbClr val="3D85C6"/>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Sheet1!$B$2:$B$7</c:f>
              <c:numCache>
                <c:formatCode>General</c:formatCode>
                <c:ptCount val="6"/>
                <c:pt idx="0">
                  <c:v>23.97229512469032</c:v>
                </c:pt>
                <c:pt idx="1">
                  <c:v>24.154323243710547</c:v>
                </c:pt>
                <c:pt idx="2">
                  <c:v>23.999825016769226</c:v>
                </c:pt>
                <c:pt idx="3">
                  <c:v>23.93453063032332</c:v>
                </c:pt>
                <c:pt idx="4">
                  <c:v>24.16674730392072</c:v>
                </c:pt>
                <c:pt idx="5">
                  <c:v>23.799419184778976</c:v>
                </c:pt>
              </c:numCache>
            </c:numRef>
          </c:val>
        </c:ser>
        <c:ser>
          <c:idx val="1"/>
          <c:order val="1"/>
          <c:tx>
            <c:strRef>
              <c:f>Sheet1!$C$1</c:f>
              <c:strCache>
                <c:ptCount val="1"/>
                <c:pt idx="0">
                  <c:v>Texture and Volume Additives</c:v>
                </c:pt>
              </c:strCache>
            </c:strRef>
          </c:tx>
          <c:spPr>
            <a:solidFill>
              <a:srgbClr val="9E7E0A"/>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Sheet1!$C$2:$C$7</c:f>
              <c:numCache>
                <c:formatCode>General</c:formatCode>
                <c:ptCount val="6"/>
                <c:pt idx="0">
                  <c:v>26.02391117172659</c:v>
                </c:pt>
                <c:pt idx="1">
                  <c:v>26.275108179211475</c:v>
                </c:pt>
                <c:pt idx="2">
                  <c:v>26.019370113394437</c:v>
                </c:pt>
                <c:pt idx="3">
                  <c:v>25.853714537925725</c:v>
                </c:pt>
                <c:pt idx="4">
                  <c:v>25.66999277670111</c:v>
                </c:pt>
                <c:pt idx="5">
                  <c:v>25.954721103823257</c:v>
                </c:pt>
              </c:numCache>
            </c:numRef>
          </c:val>
        </c:ser>
        <c:ser>
          <c:idx val="2"/>
          <c:order val="2"/>
          <c:tx>
            <c:strRef>
              <c:f>Sheet1!$D$1</c:f>
              <c:strCache>
                <c:ptCount val="1"/>
                <c:pt idx="0">
                  <c:v>Conditioning and Smoothing Agents</c:v>
                </c:pt>
              </c:strCache>
            </c:strRef>
          </c:tx>
          <c:spPr>
            <a:solidFill>
              <a:srgbClr val="008189"/>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Sheet1!$D$2:$D$7</c:f>
              <c:numCache>
                <c:formatCode>General</c:formatCode>
                <c:ptCount val="6"/>
                <c:pt idx="0">
                  <c:v>23.920738457362305</c:v>
                </c:pt>
                <c:pt idx="1">
                  <c:v>24.081511166708758</c:v>
                </c:pt>
                <c:pt idx="2">
                  <c:v>24.033734645884312</c:v>
                </c:pt>
                <c:pt idx="3">
                  <c:v>24.25116901970282</c:v>
                </c:pt>
                <c:pt idx="4">
                  <c:v>24.164035836095234</c:v>
                </c:pt>
                <c:pt idx="5">
                  <c:v>24.671272567653734</c:v>
                </c:pt>
              </c:numCache>
            </c:numRef>
          </c:val>
        </c:ser>
        <c:ser>
          <c:idx val="3"/>
          <c:order val="3"/>
          <c:tx>
            <c:strRef>
              <c:f>Sheet1!$E$1</c:f>
              <c:strCache>
                <c:ptCount val="1"/>
                <c:pt idx="0">
                  <c:v>Waxes and Structuring Agents</c:v>
                </c:pt>
              </c:strCache>
            </c:strRef>
          </c:tx>
          <c:spPr>
            <a:solidFill>
              <a:srgbClr val="40315E"/>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Sheet1!$E$2:$E$7</c:f>
              <c:numCache>
                <c:formatCode>General</c:formatCode>
                <c:ptCount val="6"/>
                <c:pt idx="0">
                  <c:v>26.08305524622078</c:v>
                </c:pt>
                <c:pt idx="1">
                  <c:v>25.48905741036922</c:v>
                </c:pt>
                <c:pt idx="2">
                  <c:v>25.947070223952025</c:v>
                </c:pt>
                <c:pt idx="3">
                  <c:v>25.96058581204812</c:v>
                </c:pt>
                <c:pt idx="4">
                  <c:v>25.999224083282925</c:v>
                </c:pt>
                <c:pt idx="5">
                  <c:v>25.574587143744022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Film-forming and Fixative Polymers</c:v>
                </c:pt>
              </c:strCache>
            </c:strRef>
          </c:tx>
          <c:spPr>
            <a:solidFill>
              <a:srgbClr val="3D85C6"/>
            </a:solidFill>
          </c:spPr>
          <c:invertIfNegative val="0"/>
          <c:xVal>
            <c:numRef>
              <c:f>Sheet1!$A$2:$A$2</c:f>
              <c:numCache>
                <c:formatCode>General</c:formatCode>
                <c:ptCount val="1"/>
                <c:pt idx="0">
                  <c:v>87.37199124944904</c:v>
                </c:pt>
              </c:numCache>
            </c:numRef>
          </c:xVal>
          <c:yVal>
            <c:numRef>
              <c:f>Sheet1!$B$2:$B$2</c:f>
              <c:numCache>
                <c:formatCode>General</c:formatCode>
                <c:ptCount val="1"/>
                <c:pt idx="0">
                  <c:v>103.83959934356399</c:v>
                </c:pt>
              </c:numCache>
            </c:numRef>
          </c:yVal>
          <c:bubbleSize>
            <c:numRef>
              <c:f>Sheet1!$C$2:$C$2</c:f>
              <c:numCache>
                <c:formatCode>General</c:formatCode>
                <c:ptCount val="1"/>
                <c:pt idx="0">
                  <c:v>7360.178</c:v>
                </c:pt>
              </c:numCache>
            </c:numRef>
          </c:bubbleSize>
          <c:bubble3D val="0"/>
        </c:ser>
        <c:ser>
          <c:idx val="1"/>
          <c:order val="1"/>
          <c:tx>
            <c:strRef>
              <c:f>Sheet1!$B$4</c:f>
              <c:strCache>
                <c:ptCount val="1"/>
                <c:pt idx="0">
                  <c:v>Texture and Volume Additives</c:v>
                </c:pt>
              </c:strCache>
            </c:strRef>
          </c:tx>
          <c:spPr>
            <a:solidFill>
              <a:srgbClr val="9E7E0A"/>
            </a:solidFill>
          </c:spPr>
          <c:invertIfNegative val="0"/>
          <c:xVal>
            <c:numRef>
              <c:f>Sheet1!$A$5:$A$5</c:f>
              <c:numCache>
                <c:formatCode>General</c:formatCode>
                <c:ptCount val="1"/>
                <c:pt idx="0">
                  <c:v>104.87164564237365</c:v>
                </c:pt>
              </c:numCache>
            </c:numRef>
          </c:xVal>
          <c:yVal>
            <c:numRef>
              <c:f>Sheet1!$B$5:$B$5</c:f>
              <c:numCache>
                <c:formatCode>General</c:formatCode>
                <c:ptCount val="1"/>
                <c:pt idx="0">
                  <c:v>100.53099494560162</c:v>
                </c:pt>
              </c:numCache>
            </c:numRef>
          </c:yVal>
          <c:bubbleSize>
            <c:numRef>
              <c:f>Sheet1!$C$5:$C$5</c:f>
              <c:numCache>
                <c:formatCode>General</c:formatCode>
                <c:ptCount val="1"/>
                <c:pt idx="0">
                  <c:v>7950.373</c:v>
                </c:pt>
              </c:numCache>
            </c:numRef>
          </c:bubbleSize>
          <c:bubble3D val="0"/>
        </c:ser>
        <c:ser>
          <c:idx val="2"/>
          <c:order val="2"/>
          <c:tx>
            <c:strRef>
              <c:f>Sheet1!$B$7</c:f>
              <c:strCache>
                <c:ptCount val="1"/>
                <c:pt idx="0">
                  <c:v>Conditioning and Smoothing Agents</c:v>
                </c:pt>
              </c:strCache>
            </c:strRef>
          </c:tx>
          <c:spPr>
            <a:solidFill>
              <a:srgbClr val="008189"/>
            </a:solidFill>
          </c:spPr>
          <c:invertIfNegative val="0"/>
          <c:xVal>
            <c:numRef>
              <c:f>Sheet1!$A$8:$A$8</c:f>
              <c:numCache>
                <c:formatCode>General</c:formatCode>
                <c:ptCount val="1"/>
                <c:pt idx="0">
                  <c:v>95.67813590407744</c:v>
                </c:pt>
              </c:numCache>
            </c:numRef>
          </c:xVal>
          <c:yVal>
            <c:numRef>
              <c:f>Sheet1!$B$8:$B$8</c:f>
              <c:numCache>
                <c:formatCode>General</c:formatCode>
                <c:ptCount val="1"/>
                <c:pt idx="0">
                  <c:v>99.81130444802949</c:v>
                </c:pt>
              </c:numCache>
            </c:numRef>
          </c:yVal>
          <c:bubbleSize>
            <c:numRef>
              <c:f>Sheet1!$C$8:$C$8</c:f>
              <c:numCache>
                <c:formatCode>General</c:formatCode>
                <c:ptCount val="1"/>
                <c:pt idx="0">
                  <c:v>7453.242</c:v>
                </c:pt>
              </c:numCache>
            </c:numRef>
          </c:bubbleSize>
          <c:bubble3D val="0"/>
        </c:ser>
        <c:ser>
          <c:idx val="3"/>
          <c:order val="3"/>
          <c:tx>
            <c:strRef>
              <c:f>Sheet1!$B$10</c:f>
              <c:strCache>
                <c:ptCount val="1"/>
                <c:pt idx="0">
                  <c:v>Waxes and Structuring Agents</c:v>
                </c:pt>
              </c:strCache>
            </c:strRef>
          </c:tx>
          <c:spPr>
            <a:solidFill>
              <a:srgbClr val="40315E"/>
            </a:solidFill>
          </c:spPr>
          <c:invertIfNegative val="0"/>
          <c:xVal>
            <c:numRef>
              <c:f>Sheet1!$A$11:$A$11</c:f>
              <c:numCache>
                <c:formatCode>General</c:formatCode>
                <c:ptCount val="1"/>
                <c:pt idx="0">
                  <c:v>112.05883258507703</c:v>
                </c:pt>
              </c:numCache>
            </c:numRef>
          </c:xVal>
          <c:yVal>
            <c:numRef>
              <c:f>Sheet1!$B$11:$B$11</c:f>
              <c:numCache>
                <c:formatCode>General</c:formatCode>
                <c:ptCount val="1"/>
                <c:pt idx="0">
                  <c:v>95.81810126280487</c:v>
                </c:pt>
              </c:numCache>
            </c:numRef>
          </c:yVal>
          <c:bubbleSize>
            <c:numRef>
              <c:f>Sheet1!$C$11:$C$11</c:f>
              <c:numCache>
                <c:formatCode>General</c:formatCode>
                <c:ptCount val="1"/>
                <c:pt idx="0">
                  <c:v>7923.539000000001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4181.197</c:v>
                </c:pt>
                <c:pt idx="2">
                  <c:v>4608.647</c:v>
                </c:pt>
                <c:pt idx="3">
                  <c:v>5147.04</c:v>
                </c:pt>
                <c:pt idx="4">
                  <c:v>5785.919</c:v>
                </c:pt>
                <c:pt idx="5">
                  <c:v>6524.0509999999995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4181.197</c:v>
                </c:pt>
                <c:pt idx="1">
                  <c:v>427.4499999999998</c:v>
                </c:pt>
                <c:pt idx="2">
                  <c:v>538.393</c:v>
                </c:pt>
                <c:pt idx="3">
                  <c:v>638.8789999999999</c:v>
                </c:pt>
                <c:pt idx="4">
                  <c:v>738.1319999999996</c:v>
                </c:pt>
                <c:pt idx="5">
                  <c:v>836.1270000000004</c:v>
                </c:pt>
                <c:pt idx="6">
                  <c:v>7360.178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4047.973</c:v>
                </c:pt>
                <c:pt idx="2">
                  <c:v>4536.552</c:v>
                </c:pt>
                <c:pt idx="3">
                  <c:v>5166.015</c:v>
                </c:pt>
                <c:pt idx="4">
                  <c:v>5942.2029999999995</c:v>
                </c:pt>
                <c:pt idx="5">
                  <c:v>6873.057000000001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4047.973</c:v>
                </c:pt>
                <c:pt idx="1">
                  <c:v>488.5789999999997</c:v>
                </c:pt>
                <c:pt idx="2">
                  <c:v>629.4630000000006</c:v>
                </c:pt>
                <c:pt idx="3">
                  <c:v>776.1879999999992</c:v>
                </c:pt>
                <c:pt idx="4">
                  <c:v>930.8540000000012</c:v>
                </c:pt>
                <c:pt idx="5">
                  <c:v>1077.315999999999</c:v>
                </c:pt>
                <c:pt idx="6">
                  <c:v>7950.373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4018.9939999999997</c:v>
                </c:pt>
                <c:pt idx="2">
                  <c:v>4492.444</c:v>
                </c:pt>
                <c:pt idx="3">
                  <c:v>5071.54</c:v>
                </c:pt>
                <c:pt idx="4">
                  <c:v>5750.5</c:v>
                </c:pt>
                <c:pt idx="5">
                  <c:v>6547.312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4018.9939999999997</c:v>
                </c:pt>
                <c:pt idx="1">
                  <c:v>473.4500000000007</c:v>
                </c:pt>
                <c:pt idx="2">
                  <c:v>579.0959999999995</c:v>
                </c:pt>
                <c:pt idx="3">
                  <c:v>678.96</c:v>
                </c:pt>
                <c:pt idx="4">
                  <c:v>796.8119999999999</c:v>
                </c:pt>
                <c:pt idx="5">
                  <c:v>905.9300000000003</c:v>
                </c:pt>
                <c:pt idx="6">
                  <c:v>7453.242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3858.2039999999997</c:v>
                </c:pt>
                <c:pt idx="2">
                  <c:v>4334.452</c:v>
                </c:pt>
                <c:pt idx="3">
                  <c:v>4974.206</c:v>
                </c:pt>
                <c:pt idx="4">
                  <c:v>5809.607</c:v>
                </c:pt>
                <c:pt idx="5">
                  <c:v>6790.572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3858.2039999999997</c:v>
                </c:pt>
                <c:pt idx="1">
                  <c:v>476.2480000000005</c:v>
                </c:pt>
                <c:pt idx="2">
                  <c:v>639.7539999999999</c:v>
                </c:pt>
                <c:pt idx="3">
                  <c:v>835.4009999999998</c:v>
                </c:pt>
                <c:pt idx="4">
                  <c:v>980.9650000000001</c:v>
                </c:pt>
                <c:pt idx="5">
                  <c:v>1132.9670000000006</c:v>
                </c:pt>
                <c:pt idx="6">
                  <c:v>7923.539000000001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Texture and Volume Additives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24.961319230482808</c:v>
                </c:pt>
                <c:pt idx="1">
                  <c:v>25.132748736400412</c:v>
                </c:pt>
                <c:pt idx="2">
                  <c:v>25.90767095686259</c:v>
                </c:pt>
              </c:numCache>
            </c:numRef>
          </c:val>
        </c:ser>
        <c:ser>
          <c:idx val="1"/>
          <c:order val="1"/>
          <c:tx>
            <c:strRef>
              <c:f>Sheet1!$C$1</c:f>
              <c:strCache>
                <c:ptCount val="1"/>
                <c:pt idx="0">
                  <c:v>Waxes and Structuring Agents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24.01266709437152</c:v>
                </c:pt>
                <c:pt idx="1">
                  <c:v>23.95452531570122</c:v>
                </c:pt>
                <c:pt idx="2">
                  <c:v>25.82022770829344</c:v>
                </c:pt>
              </c:numCache>
            </c:numRef>
          </c:val>
        </c:ser>
        <c:ser>
          <c:idx val="2"/>
          <c:order val="2"/>
          <c:tx>
            <c:strRef>
              <c:f>Sheet1!$D$1</c:f>
              <c:strCache>
                <c:ptCount val="1"/>
                <c:pt idx="0">
                  <c:v>Conditioning and Smoothing Agents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24.62557708932818</c:v>
                </c:pt>
                <c:pt idx="1">
                  <c:v>24.952826112007376</c:v>
                </c:pt>
                <c:pt idx="2">
                  <c:v>24.287683269435085</c:v>
                </c:pt>
              </c:numCache>
            </c:numRef>
          </c:val>
        </c:ser>
        <c:ser>
          <c:idx val="3"/>
          <c:order val="3"/>
          <c:tx>
            <c:strRef>
              <c:f>Sheet1!$E$1</c:f>
              <c:strCache>
                <c:ptCount val="1"/>
                <c:pt idx="0">
                  <c:v>Film-forming and Fixative Polymers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26.4004365858175</c:v>
                </c:pt>
                <c:pt idx="1">
                  <c:v>25.959899835890997</c:v>
                </c:pt>
                <c:pt idx="2">
                  <c:v>23.984418065408878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3.262197388097876</c:v>
                </c:pt>
                <c:pt idx="1">
                  <c:v>4.320658207951111</c:v>
                </c:pt>
                <c:pt idx="2">
                  <c:v>3.9666378980762307</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5.703268834495467"/>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1498.679</c:v>
                </c:pt>
                <c:pt idx="2">
                  <c:v>0.0</c:v>
                </c:pt>
                <c:pt idx="3">
                  <c:v>1759.606</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1498.679</c:v>
                </c:pt>
                <c:pt idx="1">
                  <c:v>260.9269999999999</c:v>
                </c:pt>
                <c:pt idx="2">
                  <c:v>1759.606</c:v>
                </c:pt>
                <c:pt idx="3">
                  <c:v>926.472</c:v>
                </c:pt>
                <c:pt idx="4">
                  <c:v>2686.078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3.9806308183281125</c:v>
                </c:pt>
                <c:pt idx="1">
                  <c:v>6.058703612735483</c:v>
                </c:pt>
                <c:pt idx="2">
                  <c:v>5.361438677044195</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7.997488768810838"/>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4129.799999999999</c:v>
                </c:pt>
                <c:pt idx="2">
                  <c:v>0.0</c:v>
                </c:pt>
                <c:pt idx="3">
                  <c:v>5019.856</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4129.799999999999</c:v>
                </c:pt>
                <c:pt idx="1">
                  <c:v>890.0560000000005</c:v>
                </c:pt>
                <c:pt idx="2">
                  <c:v>5019.856</c:v>
                </c:pt>
                <c:pt idx="3">
                  <c:v>4019.851999999999</c:v>
                </c:pt>
                <c:pt idx="4">
                  <c:v>9039.707999999999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Sheet1!$B$2:$B$6</c:f>
              <c:numCache>
                <c:formatCode>General</c:formatCode>
                <c:ptCount val="5"/>
                <c:pt idx="0">
                  <c:v>4129.799999999999</c:v>
                </c:pt>
                <c:pt idx="1">
                  <c:v>4285.469999999999</c:v>
                </c:pt>
                <c:pt idx="2">
                  <c:v>4447.554</c:v>
                </c:pt>
                <c:pt idx="3">
                  <c:v>4618.317</c:v>
                </c:pt>
                <c:pt idx="4">
                  <c:v>4799.311</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Sheet1!$C$2:$C$6</c:f>
              <c:numCache>
                <c:formatCode>General</c:formatCode>
                <c:ptCount val="5"/>
                <c:pt idx="0">
                  <c:v>1498.679</c:v>
                </c:pt>
                <c:pt idx="1">
                  <c:v>1547.079</c:v>
                </c:pt>
                <c:pt idx="2">
                  <c:v>1596.777</c:v>
                </c:pt>
                <c:pt idx="3">
                  <c:v>1647.671</c:v>
                </c:pt>
                <c:pt idx="4">
                  <c:v>1701.011</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5663"/>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2335"/>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5019.856</c:v>
                </c:pt>
                <c:pt idx="1">
                  <c:v>5267.856</c:v>
                </c:pt>
                <c:pt idx="2">
                  <c:v>5547.914000000001</c:v>
                </c:pt>
                <c:pt idx="3">
                  <c:v>5863.305</c:v>
                </c:pt>
                <c:pt idx="4">
                  <c:v>6215.409</c:v>
                </c:pt>
                <c:pt idx="5">
                  <c:v>6602.238</c:v>
                </c:pt>
                <c:pt idx="6">
                  <c:v>7025.003000000001</c:v>
                </c:pt>
                <c:pt idx="7">
                  <c:v>7480.576</c:v>
                </c:pt>
                <c:pt idx="8">
                  <c:v>7968.0599999999995</c:v>
                </c:pt>
                <c:pt idx="9">
                  <c:v>8487.695</c:v>
                </c:pt>
                <c:pt idx="10">
                  <c:v>9039.707999999999</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1759.606</c:v>
                </c:pt>
                <c:pt idx="1">
                  <c:v>1824.48</c:v>
                </c:pt>
                <c:pt idx="2">
                  <c:v>1896.605</c:v>
                </c:pt>
                <c:pt idx="3">
                  <c:v>1976.422</c:v>
                </c:pt>
                <c:pt idx="4">
                  <c:v>2063.571</c:v>
                </c:pt>
                <c:pt idx="5">
                  <c:v>2156.979</c:v>
                </c:pt>
                <c:pt idx="6">
                  <c:v>2255.922</c:v>
                </c:pt>
                <c:pt idx="7">
                  <c:v>2359.096</c:v>
                </c:pt>
                <c:pt idx="8">
                  <c:v>2465.8779999999997</c:v>
                </c:pt>
                <c:pt idx="9">
                  <c:v>2574.872</c:v>
                </c:pt>
                <c:pt idx="10">
                  <c:v>2686.078</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0667"/>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4249"/>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Sheet1!$A$2:$A$3</c:f>
              <c:strCache>
                <c:ptCount val="2"/>
                <c:pt idx="0">
                  <c:v>U.S.</c:v>
                </c:pt>
                <c:pt idx="1">
                  <c:v>Canada</c:v>
                </c:pt>
              </c:strCache>
            </c:strRef>
          </c:cat>
          <c:val>
            <c:numRef>
              <c:f>Sheet1!$B$2:$B$3</c:f>
              <c:numCache>
                <c:formatCode>General</c:formatCode>
                <c:ptCount val="2"/>
                <c:pt idx="0">
                  <c:v>98.71950523981292</c:v>
                </c:pt>
                <c:pt idx="1">
                  <c:v>112.57889864555493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Sheet1!$A$2:$A$3</c:f>
              <c:strCache>
                <c:ptCount val="2"/>
                <c:pt idx="0">
                  <c:v>Canada</c:v>
                </c:pt>
                <c:pt idx="1">
                  <c:v>U.S.</c:v>
                </c:pt>
              </c:strCache>
            </c:strRef>
          </c:cat>
          <c:val>
            <c:numRef>
              <c:f>Sheet1!$B$2:$B$3</c:f>
              <c:numCache>
                <c:formatCode>General</c:formatCode>
                <c:ptCount val="2"/>
                <c:pt idx="0">
                  <c:v>10.437598200132745</c:v>
                </c:pt>
                <c:pt idx="1">
                  <c:v>89.56247642948053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Lbls>
            <c:dLbl>
              <c:idx val="0"/>
              <c:layout>
                <c:manualLayout>
                  <c:x val="0.0350"/>
                  <c:y val="0.0000"/>
                </c:manualLayout>
              </c:layout>
              <c:tx>
                <c:rich>
                  <a:bodyPr/>
                  <a:lstStyle/>
                  <a:p>
                    <a:pPr>
                      <a:defRPr sz="1100" b="1">
                        <a:solidFill>
                          <a:srgbClr val="FFFFFF"/>
                        </a:solidFill>
                        <a:latin typeface="Calibri"/>
                      </a:defRPr>
                    </a:pPr>
                    <a:r>
                      <a:t>11.4%</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6.2%</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7.8%</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12.6%</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15.7%</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10.2%</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20.8%</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15.2%</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Sheet1!$A$2:$A$9</c:f>
              <c:strCache>
                <c:ptCount val="8"/>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strCache>
            </c:strRef>
          </c:cat>
          <c:val>
            <c:numRef>
              <c:f>Sheet1!$B$2:$B$9</c:f>
              <c:numCache>
                <c:formatCode>General</c:formatCode>
                <c:ptCount val="8"/>
                <c:pt idx="0">
                  <c:v>1031.4099999999999</c:v>
                </c:pt>
                <c:pt idx="1">
                  <c:v>563.048</c:v>
                </c:pt>
                <c:pt idx="2">
                  <c:v>706.021</c:v>
                </c:pt>
                <c:pt idx="3">
                  <c:v>1139.76</c:v>
                </c:pt>
                <c:pt idx="4">
                  <c:v>1417.951</c:v>
                </c:pt>
                <c:pt idx="5">
                  <c:v>925.154</c:v>
                </c:pt>
                <c:pt idx="6">
                  <c:v>1881.241</c:v>
                </c:pt>
                <c:pt idx="7">
                  <c:v>1375.123</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0.0808787207422052</c:v>
                </c:pt>
                <c:pt idx="1">
                  <c:v>0.07993018927828728</c:v>
                </c:pt>
                <c:pt idx="2">
                  <c:v>0.07808975509456595</c:v>
                </c:pt>
                <c:pt idx="3">
                  <c:v>0.07689347287514708</c:v>
                </c:pt>
                <c:pt idx="4">
                  <c:v>0.07516629617965474</c:v>
                </c:pt>
                <c:pt idx="5">
                  <c:v>0.07380012772789236</c:v>
                </c:pt>
                <c:pt idx="6">
                  <c:v>0.07209418681144297</c:v>
                </c:pt>
                <c:pt idx="7">
                  <c:v>0.07004847343030657</c:v>
                </c:pt>
                <c:pt idx="8">
                  <c:v>0.07062891805748021</c:v>
                </c:pt>
                <c:pt idx="9">
                  <c:v>0.06812309613041348</c:v>
                </c:pt>
                <c:pt idx="10">
                  <c:v>0.06903623462925983</c:v>
                </c:pt>
              </c:numCache>
            </c:numRef>
          </c:val>
          <c:smooth val="0"/>
        </c:ser>
        <c:ser>
          <c:idx val="1"/>
          <c:order val="1"/>
          <c:tx>
            <c:strRef>
              <c:f>Sheet1!$C$1</c: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0.05243943713817616</c:v>
                </c:pt>
                <c:pt idx="1">
                  <c:v>0.05381447914589597</c:v>
                </c:pt>
                <c:pt idx="2">
                  <c:v>0.05503826653276658</c:v>
                </c:pt>
                <c:pt idx="3">
                  <c:v>0.056871655876392986</c:v>
                </c:pt>
                <c:pt idx="4">
                  <c:v>0.05885629984086856</c:v>
                </c:pt>
                <c:pt idx="5">
                  <c:v>0.06099678189955239</c:v>
                </c:pt>
                <c:pt idx="6">
                  <c:v>0.06283017124317879</c:v>
                </c:pt>
                <c:pt idx="7">
                  <c:v>0.06355894350727029</c:v>
                </c:pt>
                <c:pt idx="8">
                  <c:v>0.06355894350727029</c:v>
                </c:pt>
                <c:pt idx="9">
                  <c:v>0.062394741274067515</c:v>
                </c:pt>
                <c:pt idx="10">
                  <c:v>0.06145054576209992</c:v>
                </c:pt>
              </c:numCache>
            </c:numRef>
          </c:val>
          <c:smooth val="0"/>
        </c:ser>
        <c:ser>
          <c:idx val="2"/>
          <c:order val="2"/>
          <c:tx>
            <c:strRef>
              <c:f>Sheet1!$D$1</c: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Sheet1!$D$2:$D$12</c:f>
              <c:numCache>
                <c:formatCode>General</c:formatCode>
                <c:ptCount val="11"/>
                <c:pt idx="0">
                  <c:v>0.042818711680594645</c:v>
                </c:pt>
                <c:pt idx="1">
                  <c:v>0.04015871168059465</c:v>
                </c:pt>
                <c:pt idx="2">
                  <c:v>0.04048871168059465</c:v>
                </c:pt>
                <c:pt idx="3">
                  <c:v>0.04248871168059465</c:v>
                </c:pt>
                <c:pt idx="4">
                  <c:v>0.04581871168059465</c:v>
                </c:pt>
                <c:pt idx="5">
                  <c:v>0.04848871168059465</c:v>
                </c:pt>
                <c:pt idx="6">
                  <c:v>0.04881871168059465</c:v>
                </c:pt>
                <c:pt idx="7">
                  <c:v>0.047488711680594646</c:v>
                </c:pt>
                <c:pt idx="8">
                  <c:v>0.04617871168059465</c:v>
                </c:pt>
                <c:pt idx="9">
                  <c:v>0.044158711680594646</c:v>
                </c:pt>
                <c:pt idx="10">
                  <c:v>0.041978711680594645</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U.S.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90.85284384524499</c:v>
                </c:pt>
                <c:pt idx="1">
                  <c:v>90.27537185270563</c:v>
                </c:pt>
              </c:numCache>
            </c:numRef>
          </c:val>
        </c:ser>
        <c:ser>
          <c:idx val="1"/>
          <c:order val="1"/>
          <c:tx>
            <c:strRef>
              <c:f>Sheet1!$C$1</c:f>
              <c:strCache>
                <c:ptCount val="1"/>
                <c:pt idx="0">
                  <c:v>Canada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9.147156154755011</c:v>
                </c:pt>
                <c:pt idx="1">
                  <c:v>9.724628147294363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U.S.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91.05540079237332</c:v>
                </c:pt>
                <c:pt idx="1">
                  <c:v>90.39148167175311</c:v>
                </c:pt>
              </c:numCache>
            </c:numRef>
          </c:val>
        </c:ser>
        <c:ser>
          <c:idx val="1"/>
          <c:order val="1"/>
          <c:tx>
            <c:strRef>
              <c:f>Sheet1!$C$1</c:f>
              <c:strCache>
                <c:ptCount val="1"/>
                <c:pt idx="0">
                  <c:v>Canada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8.944599207626672</c:v>
                </c:pt>
                <c:pt idx="1">
                  <c:v>9.608518328246886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U.S.</c:v>
                </c:pt>
              </c:strCache>
            </c:strRef>
          </c:tx>
          <c:spPr>
            <a:solidFill>
              <a:srgbClr val="3D85C6"/>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1364.994</c:v>
                </c:pt>
                <c:pt idx="1">
                  <c:v>1408.369</c:v>
                </c:pt>
                <c:pt idx="2">
                  <c:v>1452.89</c:v>
                </c:pt>
                <c:pt idx="3">
                  <c:v>1498.466</c:v>
                </c:pt>
                <c:pt idx="4">
                  <c:v>1546.219</c:v>
                </c:pt>
                <c:pt idx="5">
                  <c:v>1598.653</c:v>
                </c:pt>
                <c:pt idx="6">
                  <c:v>1656.673</c:v>
                </c:pt>
                <c:pt idx="7">
                  <c:v>1721.14</c:v>
                </c:pt>
                <c:pt idx="8">
                  <c:v>1792.437</c:v>
                </c:pt>
                <c:pt idx="9">
                  <c:v>1870.245</c:v>
                </c:pt>
                <c:pt idx="10">
                  <c:v>1953.598</c:v>
                </c:pt>
                <c:pt idx="11">
                  <c:v>2041.848</c:v>
                </c:pt>
                <c:pt idx="12">
                  <c:v>2133.81</c:v>
                </c:pt>
                <c:pt idx="13">
                  <c:v>2228.928</c:v>
                </c:pt>
                <c:pt idx="14">
                  <c:v>2325.946</c:v>
                </c:pt>
                <c:pt idx="15">
                  <c:v>2424.866</c:v>
                </c:pt>
              </c:numCache>
            </c:numRef>
          </c:val>
        </c:ser>
        <c:ser>
          <c:idx val="1"/>
          <c:order val="1"/>
          <c:tx>
            <c:strRef>
              <c:f>Sheet1!$C$1</c:f>
              <c:strCache>
                <c:ptCount val="1"/>
                <c:pt idx="0">
                  <c:v>Canada</c:v>
                </c:pt>
              </c:strCache>
            </c:strRef>
          </c:tx>
          <c:spPr>
            <a:solidFill>
              <a:srgbClr val="9E7E0A"/>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133.684</c:v>
                </c:pt>
                <c:pt idx="1">
                  <c:v>138.71</c:v>
                </c:pt>
                <c:pt idx="2">
                  <c:v>143.888</c:v>
                </c:pt>
                <c:pt idx="3">
                  <c:v>149.205</c:v>
                </c:pt>
                <c:pt idx="4">
                  <c:v>154.792</c:v>
                </c:pt>
                <c:pt idx="5">
                  <c:v>160.954</c:v>
                </c:pt>
                <c:pt idx="6">
                  <c:v>167.807</c:v>
                </c:pt>
                <c:pt idx="7">
                  <c:v>175.465</c:v>
                </c:pt>
                <c:pt idx="8">
                  <c:v>183.983</c:v>
                </c:pt>
                <c:pt idx="9">
                  <c:v>193.327</c:v>
                </c:pt>
                <c:pt idx="10">
                  <c:v>203.38</c:v>
                </c:pt>
                <c:pt idx="11">
                  <c:v>214.075</c:v>
                </c:pt>
                <c:pt idx="12">
                  <c:v>225.286</c:v>
                </c:pt>
                <c:pt idx="13">
                  <c:v>236.951</c:v>
                </c:pt>
                <c:pt idx="14">
                  <c:v>248.926</c:v>
                </c:pt>
                <c:pt idx="15">
                  <c:v>261.211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U.S.</c:v>
                </c:pt>
              </c:strCache>
            </c:strRef>
          </c:tx>
          <c:spPr>
            <a:solidFill>
              <a:srgbClr val="3D85C6"/>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3770.585</c:v>
                </c:pt>
                <c:pt idx="1">
                  <c:v>3910.556</c:v>
                </c:pt>
                <c:pt idx="2">
                  <c:v>4056.264</c:v>
                </c:pt>
                <c:pt idx="3">
                  <c:v>4209.79</c:v>
                </c:pt>
                <c:pt idx="4">
                  <c:v>4372.512</c:v>
                </c:pt>
                <c:pt idx="5">
                  <c:v>4570.85</c:v>
                </c:pt>
                <c:pt idx="6">
                  <c:v>4793.601</c:v>
                </c:pt>
                <c:pt idx="7">
                  <c:v>5045.027</c:v>
                </c:pt>
                <c:pt idx="8">
                  <c:v>5327.968</c:v>
                </c:pt>
                <c:pt idx="9">
                  <c:v>5643.621</c:v>
                </c:pt>
                <c:pt idx="10">
                  <c:v>5990.185</c:v>
                </c:pt>
                <c:pt idx="11">
                  <c:v>6368.833</c:v>
                </c:pt>
                <c:pt idx="12">
                  <c:v>6776.796</c:v>
                </c:pt>
                <c:pt idx="13">
                  <c:v>7213.034</c:v>
                </c:pt>
                <c:pt idx="14">
                  <c:v>7677.732</c:v>
                </c:pt>
                <c:pt idx="15">
                  <c:v>8171.126</c:v>
                </c:pt>
              </c:numCache>
            </c:numRef>
          </c:val>
        </c:ser>
        <c:ser>
          <c:idx val="1"/>
          <c:order val="1"/>
          <c:tx>
            <c:strRef>
              <c:f>Sheet1!$C$1</c:f>
              <c:strCache>
                <c:ptCount val="1"/>
                <c:pt idx="0">
                  <c:v>Canada</c:v>
                </c:pt>
              </c:strCache>
            </c:strRef>
          </c:tx>
          <c:spPr>
            <a:solidFill>
              <a:srgbClr val="9E7E0A"/>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359.215</c:v>
                </c:pt>
                <c:pt idx="1">
                  <c:v>374.914</c:v>
                </c:pt>
                <c:pt idx="2">
                  <c:v>391.289</c:v>
                </c:pt>
                <c:pt idx="3">
                  <c:v>408.527</c:v>
                </c:pt>
                <c:pt idx="4">
                  <c:v>426.799</c:v>
                </c:pt>
                <c:pt idx="5">
                  <c:v>449.006</c:v>
                </c:pt>
                <c:pt idx="6">
                  <c:v>474.255</c:v>
                </c:pt>
                <c:pt idx="7">
                  <c:v>502.887</c:v>
                </c:pt>
                <c:pt idx="8">
                  <c:v>535.337</c:v>
                </c:pt>
                <c:pt idx="9">
                  <c:v>571.789</c:v>
                </c:pt>
                <c:pt idx="10">
                  <c:v>612.054</c:v>
                </c:pt>
                <c:pt idx="11">
                  <c:v>656.17</c:v>
                </c:pt>
                <c:pt idx="12">
                  <c:v>703.781</c:v>
                </c:pt>
                <c:pt idx="13">
                  <c:v>755.027</c:v>
                </c:pt>
                <c:pt idx="14">
                  <c:v>809.962</c:v>
                </c:pt>
                <c:pt idx="15">
                  <c:v>868.582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Sprays and Mists</c:v>
                </c:pt>
              </c:strCache>
            </c:strRef>
          </c:tx>
          <c:spPr>
            <a:solidFill>
              <a:srgbClr val="3D85C6"/>
            </a:solidFill>
            <a:ln>
              <a:noFill/>
            </a:ln>
          </c:spPr>
          <c:dLbls>
            <c:dLbl>
              <c:idx val="0"/>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Sheet1!$B$2:$B$3</c:f>
              <c:numCache>
                <c:formatCode>General</c:formatCode>
                <c:ptCount val="2"/>
                <c:pt idx="0">
                  <c:v>11.809031051795975</c:v>
                </c:pt>
                <c:pt idx="1">
                  <c:v>11.367328966086443</c:v>
                </c:pt>
              </c:numCache>
            </c:numRef>
          </c:val>
        </c:ser>
        <c:ser>
          <c:idx val="1"/>
          <c:order val="1"/>
          <c:tx>
            <c:strRef>
              <c:f>Sheet1!$C$1</c:f>
              <c:strCache>
                <c:ptCount val="1"/>
                <c:pt idx="0">
                  <c:v>Mousses and Foams</c:v>
                </c:pt>
              </c:strCache>
            </c:strRef>
          </c:tx>
          <c:spPr>
            <a:solidFill>
              <a:srgbClr val="9E7E0A"/>
            </a:solidFill>
            <a:ln>
              <a:noFill/>
            </a:ln>
          </c:spPr>
          <c:cat>
            <c:strRef>
              <c:f>Sheet1!$A$2:$A$3</c:f>
              <c:strCache>
                <c:ptCount val="2"/>
                <c:pt idx="0">
                  <c:v>Canada  ·  869</c:v>
                </c:pt>
                <c:pt idx="1">
                  <c:v>U.S.  ·  8,171</c:v>
                </c:pt>
              </c:strCache>
            </c:strRef>
          </c:cat>
          <c:val>
            <c:numRef>
              <c:f>Sheet1!$C$2:$C$3</c:f>
              <c:numCache>
                <c:formatCode>General</c:formatCode>
                <c:ptCount val="2"/>
                <c:pt idx="0">
                  <c:v>6.089472369301194</c:v>
                </c:pt>
                <c:pt idx="1">
                  <c:v>6.243385246198566</c:v>
                </c:pt>
              </c:numCache>
            </c:numRef>
          </c:val>
        </c:ser>
        <c:ser>
          <c:idx val="2"/>
          <c:order val="2"/>
          <c:tx>
            <c:strRef>
              <c:f>Sheet1!$D$1</c:f>
              <c:strCache>
                <c:ptCount val="1"/>
                <c:pt idx="0">
                  <c:v>Gels and Jellies</c:v>
                </c:pt>
              </c:strCache>
            </c:strRef>
          </c:tx>
          <c:spPr>
            <a:solidFill>
              <a:srgbClr val="008189"/>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Sheet1!$D$2:$D$3</c:f>
              <c:numCache>
                <c:formatCode>General</c:formatCode>
                <c:ptCount val="2"/>
                <c:pt idx="0">
                  <c:v>7.9497479221857255</c:v>
                </c:pt>
                <c:pt idx="1">
                  <c:v>7.79539862794953</c:v>
                </c:pt>
              </c:numCache>
            </c:numRef>
          </c:val>
        </c:ser>
        <c:ser>
          <c:idx val="3"/>
          <c:order val="3"/>
          <c:tx>
            <c:strRef>
              <c:f>Sheet1!$E$1</c:f>
              <c:strCache>
                <c:ptCount val="1"/>
                <c:pt idx="0">
                  <c:v>Creams and Lotions</c:v>
                </c:pt>
              </c:strCache>
            </c:strRef>
          </c:tx>
          <c:spPr>
            <a:solidFill>
              <a:srgbClr val="40315E"/>
            </a:solidFill>
            <a:ln>
              <a:noFill/>
            </a:ln>
          </c:spPr>
          <c:dLbls>
            <c:dLbl>
              <c:idx val="0"/>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Sheet1!$E$2:$E$3</c:f>
              <c:numCache>
                <c:formatCode>General</c:formatCode>
                <c:ptCount val="2"/>
                <c:pt idx="0">
                  <c:v>11.69263430814167</c:v>
                </c:pt>
                <c:pt idx="1">
                  <c:v>12.70572435042016</c:v>
                </c:pt>
              </c:numCache>
            </c:numRef>
          </c:val>
        </c:ser>
        <c:ser>
          <c:idx val="4"/>
          <c:order val="4"/>
          <c:tx>
            <c:strRef>
              <c:f>Sheet1!$F$1</c:f>
              <c:strCache>
                <c:ptCount val="1"/>
                <c:pt idx="0">
                  <c:v>Waxes, Clays, Pastes and Pomades</c:v>
                </c:pt>
              </c:strCache>
            </c:strRef>
          </c:tx>
          <c:spPr>
            <a:solidFill>
              <a:srgbClr val="A35313"/>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Sheet1!$F$2:$F$3</c:f>
              <c:numCache>
                <c:formatCode>General</c:formatCode>
                <c:ptCount val="2"/>
                <c:pt idx="0">
                  <c:v>14.907878482260145</c:v>
                </c:pt>
                <c:pt idx="1">
                  <c:v>15.768496099926471</c:v>
                </c:pt>
              </c:numCache>
            </c:numRef>
          </c:val>
        </c:ser>
        <c:ser>
          <c:idx val="5"/>
          <c:order val="5"/>
          <c:tx>
            <c:strRef>
              <c:f>Sheet1!$G$1</c:f>
              <c:strCache>
                <c:ptCount val="1"/>
                <c:pt idx="0">
                  <c:v>Styling Powders</c:v>
                </c:pt>
              </c:strCache>
            </c:strRef>
          </c:tx>
          <c:spPr>
            <a:solidFill>
              <a:srgbClr val="808080"/>
            </a:solidFill>
            <a:ln>
              <a:noFill/>
            </a:ln>
          </c:spPr>
          <c:dLbls>
            <c:dLbl>
              <c:idx val="0"/>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Sheet1!$G$2:$G$3</c:f>
              <c:numCache>
                <c:formatCode>General</c:formatCode>
                <c:ptCount val="2"/>
                <c:pt idx="0">
                  <c:v>11.55988906043305</c:v>
                </c:pt>
                <c:pt idx="1">
                  <c:v>10.093416722880855</c:v>
                </c:pt>
              </c:numCache>
            </c:numRef>
          </c:val>
        </c:ser>
        <c:ser>
          <c:idx val="6"/>
          <c:order val="6"/>
          <c:tx>
            <c:strRef>
              <c:f>Sheet1!$H$1</c:f>
              <c:strCache>
                <c:ptCount val="1"/>
                <c:pt idx="0">
                  <c:v>Styling Serums and Oils</c:v>
                </c:pt>
              </c:strCache>
            </c:strRef>
          </c:tx>
          <c:spPr>
            <a:solidFill>
              <a:srgbClr val="0E72AE"/>
            </a:solidFill>
            <a:ln>
              <a:noFill/>
            </a:ln>
          </c:spPr>
          <c:dLbls>
            <c:dLbl>
              <c:idx val="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Sheet1!$H$2:$H$3</c:f>
              <c:numCache>
                <c:formatCode>General</c:formatCode>
                <c:ptCount val="2"/>
                <c:pt idx="0">
                  <c:v>21.415964659599968</c:v>
                </c:pt>
                <c:pt idx="1">
                  <c:v>20.746548089810858</c:v>
                </c:pt>
              </c:numCache>
            </c:numRef>
          </c:val>
        </c:ser>
        <c:ser>
          <c:idx val="7"/>
          <c:order val="7"/>
          <c:tx>
            <c:strRef>
              <c:f>Sheet1!$I$1</c:f>
              <c:strCache>
                <c:ptCount val="1"/>
                <c:pt idx="0">
                  <c:v>Sticks and Balms</c:v>
                </c:pt>
              </c:strCache>
            </c:strRef>
          </c:tx>
          <c:spPr>
            <a:solidFill>
              <a:srgbClr val="A86F00"/>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Sheet1!$I$2:$I$3</c:f>
              <c:numCache>
                <c:formatCode>General</c:formatCode>
                <c:ptCount val="2"/>
                <c:pt idx="0">
                  <c:v>14.575382146282271</c:v>
                </c:pt>
                <c:pt idx="1">
                  <c:v>15.279701896727108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Sprays and Mists</c:v>
                </c:pt>
              </c:strCache>
            </c:strRef>
          </c:tx>
          <c:spPr>
            <a:solidFill>
              <a:srgbClr val="3D85C6"/>
            </a:solidFill>
          </c:spPr>
          <c:invertIfNegative val="0"/>
          <c:xVal>
            <c:numRef>
              <c:f>Sheet1!$A$2:$A$2</c:f>
              <c:numCache>
                <c:formatCode>General</c:formatCode>
                <c:ptCount val="1"/>
                <c:pt idx="0">
                  <c:v>62.03744606988306</c:v>
                </c:pt>
              </c:numCache>
            </c:numRef>
          </c:xVal>
          <c:yVal>
            <c:numRef>
              <c:f>Sheet1!$B$2:$B$2</c:f>
              <c:numCache>
                <c:formatCode>General</c:formatCode>
                <c:ptCount val="1"/>
                <c:pt idx="0">
                  <c:v>113.65441558482954</c:v>
                </c:pt>
              </c:numCache>
            </c:numRef>
          </c:yVal>
          <c:bubbleSize>
            <c:numRef>
              <c:f>Sheet1!$C$2:$C$2</c:f>
              <c:numCache>
                <c:formatCode>General</c:formatCode>
                <c:ptCount val="1"/>
                <c:pt idx="0">
                  <c:v>1031.4099999999999</c:v>
                </c:pt>
              </c:numCache>
            </c:numRef>
          </c:bubbleSize>
          <c:bubble3D val="0"/>
        </c:ser>
        <c:ser>
          <c:idx val="1"/>
          <c:order val="1"/>
          <c:tx>
            <c:strRef>
              <c:f>Sheet1!$B$4</c:f>
              <c:strCache>
                <c:ptCount val="1"/>
                <c:pt idx="0">
                  <c:v>Mousses and Foams</c:v>
                </c:pt>
              </c:strCache>
            </c:strRef>
          </c:tx>
          <c:spPr>
            <a:solidFill>
              <a:srgbClr val="9E7E0A"/>
            </a:solidFill>
          </c:spPr>
          <c:invertIfNegative val="0"/>
          <c:xVal>
            <c:numRef>
              <c:f>Sheet1!$A$5:$A$5</c:f>
              <c:numCache>
                <c:formatCode>General</c:formatCode>
                <c:ptCount val="1"/>
                <c:pt idx="0">
                  <c:v>76.30114444375697</c:v>
                </c:pt>
              </c:numCache>
            </c:numRef>
          </c:xVal>
          <c:yVal>
            <c:numRef>
              <c:f>Sheet1!$B$5:$B$5</c:f>
              <c:numCache>
                <c:formatCode>General</c:formatCode>
                <c:ptCount val="1"/>
                <c:pt idx="0">
                  <c:v>57.10554246974415</c:v>
                </c:pt>
              </c:numCache>
            </c:numRef>
          </c:yVal>
          <c:bubbleSize>
            <c:numRef>
              <c:f>Sheet1!$C$5:$C$5</c:f>
              <c:numCache>
                <c:formatCode>General</c:formatCode>
                <c:ptCount val="1"/>
                <c:pt idx="0">
                  <c:v>563.048</c:v>
                </c:pt>
              </c:numCache>
            </c:numRef>
          </c:bubbleSize>
          <c:bubble3D val="0"/>
        </c:ser>
        <c:ser>
          <c:idx val="2"/>
          <c:order val="2"/>
          <c:tx>
            <c:strRef>
              <c:f>Sheet1!$B$7</c:f>
              <c:strCache>
                <c:ptCount val="1"/>
                <c:pt idx="0">
                  <c:v>Gels and Jellies</c:v>
                </c:pt>
              </c:strCache>
            </c:strRef>
          </c:tx>
          <c:spPr>
            <a:solidFill>
              <a:srgbClr val="008189"/>
            </a:solidFill>
          </c:spPr>
          <c:invertIfNegative val="0"/>
          <c:xVal>
            <c:numRef>
              <c:f>Sheet1!$A$8:$A$8</c:f>
              <c:numCache>
                <c:formatCode>General</c:formatCode>
                <c:ptCount val="1"/>
                <c:pt idx="0">
                  <c:v>82.83273988610289</c:v>
                </c:pt>
              </c:numCache>
            </c:numRef>
          </c:xVal>
          <c:yVal>
            <c:numRef>
              <c:f>Sheet1!$B$8:$B$8</c:f>
              <c:numCache>
                <c:formatCode>General</c:formatCode>
                <c:ptCount val="1"/>
                <c:pt idx="0">
                  <c:v>68.95321300053229</c:v>
                </c:pt>
              </c:numCache>
            </c:numRef>
          </c:yVal>
          <c:bubbleSize>
            <c:numRef>
              <c:f>Sheet1!$C$8:$C$8</c:f>
              <c:numCache>
                <c:formatCode>General</c:formatCode>
                <c:ptCount val="1"/>
                <c:pt idx="0">
                  <c:v>706.021</c:v>
                </c:pt>
              </c:numCache>
            </c:numRef>
          </c:bubbleSize>
          <c:bubble3D val="0"/>
        </c:ser>
        <c:ser>
          <c:idx val="3"/>
          <c:order val="3"/>
          <c:tx>
            <c:strRef>
              <c:f>Sheet1!$B$10</c:f>
              <c:strCache>
                <c:ptCount val="1"/>
                <c:pt idx="0">
                  <c:v>Creams and Lotions</c:v>
                </c:pt>
              </c:strCache>
            </c:strRef>
          </c:tx>
          <c:spPr>
            <a:solidFill>
              <a:srgbClr val="40315E"/>
            </a:solidFill>
          </c:spPr>
          <c:invertIfNegative val="0"/>
          <c:xVal>
            <c:numRef>
              <c:f>Sheet1!$A$11:$A$11</c:f>
              <c:numCache>
                <c:formatCode>General</c:formatCode>
                <c:ptCount val="1"/>
                <c:pt idx="0">
                  <c:v>112.03445746318326</c:v>
                </c:pt>
              </c:numCache>
            </c:numRef>
          </c:xVal>
          <c:yVal>
            <c:numRef>
              <c:f>Sheet1!$B$11:$B$11</c:f>
              <c:numCache>
                <c:formatCode>General</c:formatCode>
                <c:ptCount val="1"/>
                <c:pt idx="0">
                  <c:v>94.1877217195075</c:v>
                </c:pt>
              </c:numCache>
            </c:numRef>
          </c:yVal>
          <c:bubbleSize>
            <c:numRef>
              <c:f>Sheet1!$C$11:$C$11</c:f>
              <c:numCache>
                <c:formatCode>General</c:formatCode>
                <c:ptCount val="1"/>
                <c:pt idx="0">
                  <c:v>1139.76</c:v>
                </c:pt>
              </c:numCache>
            </c:numRef>
          </c:bubbleSize>
          <c:bubble3D val="0"/>
        </c:ser>
        <c:ser>
          <c:idx val="4"/>
          <c:order val="4"/>
          <c:tx>
            <c:strRef>
              <c:f>Sheet1!$B$13</c:f>
              <c:strCache>
                <c:ptCount val="1"/>
                <c:pt idx="0">
                  <c:v>Waxes, Clays, Pastes and Pomades</c:v>
                </c:pt>
              </c:strCache>
            </c:strRef>
          </c:tx>
          <c:spPr>
            <a:solidFill>
              <a:srgbClr val="A35313"/>
            </a:solidFill>
          </c:spPr>
          <c:invertIfNegative val="0"/>
          <c:xVal>
            <c:numRef>
              <c:f>Sheet1!$A$14:$A$14</c:f>
              <c:numCache>
                <c:formatCode>General</c:formatCode>
                <c:ptCount val="1"/>
                <c:pt idx="0">
                  <c:v>91.38080466201389</c:v>
                </c:pt>
              </c:numCache>
            </c:numRef>
          </c:xVal>
          <c:yVal>
            <c:numRef>
              <c:f>Sheet1!$B$14:$B$14</c:f>
              <c:numCache>
                <c:formatCode>General</c:formatCode>
                <c:ptCount val="1"/>
                <c:pt idx="0">
                  <c:v>131.83581361696432</c:v>
                </c:pt>
              </c:numCache>
            </c:numRef>
          </c:yVal>
          <c:bubbleSize>
            <c:numRef>
              <c:f>Sheet1!$C$14:$C$14</c:f>
              <c:numCache>
                <c:formatCode>General</c:formatCode>
                <c:ptCount val="1"/>
                <c:pt idx="0">
                  <c:v>1417.951</c:v>
                </c:pt>
              </c:numCache>
            </c:numRef>
          </c:bubbleSize>
          <c:bubble3D val="0"/>
        </c:ser>
        <c:ser>
          <c:idx val="5"/>
          <c:order val="5"/>
          <c:tx>
            <c:strRef>
              <c:f>Sheet1!$B$16</c:f>
              <c:strCache>
                <c:ptCount val="1"/>
                <c:pt idx="0">
                  <c:v>Styling Powders</c:v>
                </c:pt>
              </c:strCache>
            </c:strRef>
          </c:tx>
          <c:spPr>
            <a:solidFill>
              <a:srgbClr val="808080"/>
            </a:solidFill>
          </c:spPr>
          <c:invertIfNegative val="0"/>
          <c:xVal>
            <c:numRef>
              <c:f>Sheet1!$A$17:$A$17</c:f>
              <c:numCache>
                <c:formatCode>General</c:formatCode>
                <c:ptCount val="1"/>
                <c:pt idx="0">
                  <c:v>106.20119403868094</c:v>
                </c:pt>
              </c:numCache>
            </c:numRef>
          </c:xVal>
          <c:yVal>
            <c:numRef>
              <c:f>Sheet1!$B$17:$B$17</c:f>
              <c:numCache>
                <c:formatCode>General</c:formatCode>
                <c:ptCount val="1"/>
                <c:pt idx="0">
                  <c:v>79.02999607956882</c:v>
                </c:pt>
              </c:numCache>
            </c:numRef>
          </c:yVal>
          <c:bubbleSize>
            <c:numRef>
              <c:f>Sheet1!$C$17:$C$17</c:f>
              <c:numCache>
                <c:formatCode>General</c:formatCode>
                <c:ptCount val="1"/>
                <c:pt idx="0">
                  <c:v>925.154</c:v>
                </c:pt>
              </c:numCache>
            </c:numRef>
          </c:bubbleSize>
          <c:bubble3D val="0"/>
        </c:ser>
        <c:ser>
          <c:idx val="6"/>
          <c:order val="6"/>
          <c:tx>
            <c:strRef>
              <c:f>Sheet1!$B$19</c:f>
              <c:strCache>
                <c:ptCount val="1"/>
                <c:pt idx="0">
                  <c:v>Styling Serums and Oils</c:v>
                </c:pt>
              </c:strCache>
            </c:strRef>
          </c:tx>
          <c:spPr>
            <a:solidFill>
              <a:srgbClr val="0E72AE"/>
            </a:solidFill>
          </c:spPr>
          <c:invertIfNegative val="0"/>
          <c:xVal>
            <c:numRef>
              <c:f>Sheet1!$A$20:$A$20</c:f>
              <c:numCache>
                <c:formatCode>General</c:formatCode>
                <c:ptCount val="1"/>
                <c:pt idx="0">
                  <c:v>115.20872492535186</c:v>
                </c:pt>
              </c:numCache>
            </c:numRef>
          </c:xVal>
          <c:yVal>
            <c:numRef>
              <c:f>Sheet1!$B$20:$B$20</c:f>
              <c:numCache>
                <c:formatCode>General</c:formatCode>
                <c:ptCount val="1"/>
                <c:pt idx="0">
                  <c:v>152.69011700734046</c:v>
                </c:pt>
              </c:numCache>
            </c:numRef>
          </c:yVal>
          <c:bubbleSize>
            <c:numRef>
              <c:f>Sheet1!$C$20:$C$20</c:f>
              <c:numCache>
                <c:formatCode>General</c:formatCode>
                <c:ptCount val="1"/>
                <c:pt idx="0">
                  <c:v>1881.241</c:v>
                </c:pt>
              </c:numCache>
            </c:numRef>
          </c:bubbleSize>
          <c:bubble3D val="0"/>
        </c:ser>
        <c:ser>
          <c:idx val="7"/>
          <c:order val="7"/>
          <c:tx>
            <c:strRef>
              <c:f>Sheet1!$B$22</c:f>
              <c:strCache>
                <c:ptCount val="1"/>
                <c:pt idx="0">
                  <c:v>Sticks and Balms</c:v>
                </c:pt>
              </c:strCache>
            </c:strRef>
          </c:tx>
          <c:spPr>
            <a:solidFill>
              <a:srgbClr val="A86F00"/>
            </a:solidFill>
          </c:spPr>
          <c:invertIfNegative val="0"/>
          <c:xVal>
            <c:numRef>
              <c:f>Sheet1!$A$23:$A$23</c:f>
              <c:numCache>
                <c:formatCode>General</c:formatCode>
                <c:ptCount val="1"/>
                <c:pt idx="0">
                  <c:v>130.23471845520945</c:v>
                </c:pt>
              </c:numCache>
            </c:numRef>
          </c:xVal>
          <c:yVal>
            <c:numRef>
              <c:f>Sheet1!$B$23:$B$23</c:f>
              <c:numCache>
                <c:formatCode>General</c:formatCode>
                <c:ptCount val="1"/>
                <c:pt idx="0">
                  <c:v>102.543180521513</c:v>
                </c:pt>
              </c:numCache>
            </c:numRef>
          </c:yVal>
          <c:bubbleSize>
            <c:numRef>
              <c:f>Sheet1!$C$23:$C$23</c:f>
              <c:numCache>
                <c:formatCode>General</c:formatCode>
                <c:ptCount val="1"/>
                <c:pt idx="0">
                  <c:v>1375.123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50.0"/>
          <c:min val="4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713.1610000000001</c:v>
                </c:pt>
                <c:pt idx="2">
                  <c:v>758.62</c:v>
                </c:pt>
                <c:pt idx="3">
                  <c:v>814.578</c:v>
                </c:pt>
                <c:pt idx="4">
                  <c:v>879.212</c:v>
                </c:pt>
                <c:pt idx="5">
                  <c:v>951.635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713.1610000000001</c:v>
                </c:pt>
                <c:pt idx="1">
                  <c:v>45.458999999999946</c:v>
                </c:pt>
                <c:pt idx="2">
                  <c:v>55.95799999999997</c:v>
                </c:pt>
                <c:pt idx="3">
                  <c:v>64.63400000000001</c:v>
                </c:pt>
                <c:pt idx="4">
                  <c:v>72.423</c:v>
                </c:pt>
                <c:pt idx="5">
                  <c:v>79.77499999999986</c:v>
                </c:pt>
                <c:pt idx="6">
                  <c:v>1031.4099999999999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358.327</c:v>
                </c:pt>
                <c:pt idx="2">
                  <c:v>388.296</c:v>
                </c:pt>
                <c:pt idx="3">
                  <c:v>424.139</c:v>
                </c:pt>
                <c:pt idx="4">
                  <c:v>464.674</c:v>
                </c:pt>
                <c:pt idx="5">
                  <c:v>510.97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358.327</c:v>
                </c:pt>
                <c:pt idx="1">
                  <c:v>29.968999999999994</c:v>
                </c:pt>
                <c:pt idx="2">
                  <c:v>35.84300000000002</c:v>
                </c:pt>
                <c:pt idx="3">
                  <c:v>40.53499999999997</c:v>
                </c:pt>
                <c:pt idx="4">
                  <c:v>46.29600000000005</c:v>
                </c:pt>
                <c:pt idx="5">
                  <c:v>52.077999999999975</c:v>
                </c:pt>
                <c:pt idx="6">
                  <c:v>563.048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432.669</c:v>
                </c:pt>
                <c:pt idx="2">
                  <c:v>474.28</c:v>
                </c:pt>
                <c:pt idx="3">
                  <c:v>522.264</c:v>
                </c:pt>
                <c:pt idx="4">
                  <c:v>577.046</c:v>
                </c:pt>
                <c:pt idx="5">
                  <c:v>638.527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432.669</c:v>
                </c:pt>
                <c:pt idx="1">
                  <c:v>41.61099999999999</c:v>
                </c:pt>
                <c:pt idx="2">
                  <c:v>47.98400000000004</c:v>
                </c:pt>
                <c:pt idx="3">
                  <c:v>54.78200000000004</c:v>
                </c:pt>
                <c:pt idx="4">
                  <c:v>61.480999999999995</c:v>
                </c:pt>
                <c:pt idx="5">
                  <c:v>67.49399999999991</c:v>
                </c:pt>
                <c:pt idx="6">
                  <c:v>706.021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591.011</c:v>
                </c:pt>
                <c:pt idx="2">
                  <c:v>655.546</c:v>
                </c:pt>
                <c:pt idx="3">
                  <c:v>742.679</c:v>
                </c:pt>
                <c:pt idx="4">
                  <c:v>852.729</c:v>
                </c:pt>
                <c:pt idx="5">
                  <c:v>985.442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591.011</c:v>
                </c:pt>
                <c:pt idx="1">
                  <c:v>64.53500000000008</c:v>
                </c:pt>
                <c:pt idx="2">
                  <c:v>87.13299999999992</c:v>
                </c:pt>
                <c:pt idx="3">
                  <c:v>110.05000000000007</c:v>
                </c:pt>
                <c:pt idx="4">
                  <c:v>132.71299999999997</c:v>
                </c:pt>
                <c:pt idx="5">
                  <c:v>154.31799999999998</c:v>
                </c:pt>
                <c:pt idx="6">
                  <c:v>1139.76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827.246</c:v>
                </c:pt>
                <c:pt idx="2">
                  <c:v>915.388</c:v>
                </c:pt>
                <c:pt idx="3">
                  <c:v>1019.791</c:v>
                </c:pt>
                <c:pt idx="4">
                  <c:v>1136.948</c:v>
                </c:pt>
                <c:pt idx="5">
                  <c:v>1270.494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827.246</c:v>
                </c:pt>
                <c:pt idx="1">
                  <c:v>88.14200000000005</c:v>
                </c:pt>
                <c:pt idx="2">
                  <c:v>104.40300000000002</c:v>
                </c:pt>
                <c:pt idx="3">
                  <c:v>117.15700000000004</c:v>
                </c:pt>
                <c:pt idx="4">
                  <c:v>133.54599999999982</c:v>
                </c:pt>
                <c:pt idx="5">
                  <c:v>147.4570000000001</c:v>
                </c:pt>
                <c:pt idx="6">
                  <c:v>1417.951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495.899</c:v>
                </c:pt>
                <c:pt idx="2">
                  <c:v>550.0</c:v>
                </c:pt>
                <c:pt idx="3">
                  <c:v>620.526</c:v>
                </c:pt>
                <c:pt idx="4">
                  <c:v>711.244</c:v>
                </c:pt>
                <c:pt idx="5">
                  <c:v>813.447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495.899</c:v>
                </c:pt>
                <c:pt idx="1">
                  <c:v>54.101</c:v>
                </c:pt>
                <c:pt idx="2">
                  <c:v>70.52599999999995</c:v>
                </c:pt>
                <c:pt idx="3">
                  <c:v>90.71800000000007</c:v>
                </c:pt>
                <c:pt idx="4">
                  <c:v>102.20299999999997</c:v>
                </c:pt>
                <c:pt idx="5">
                  <c:v>111.707</c:v>
                </c:pt>
                <c:pt idx="6">
                  <c:v>925.154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958.103</c:v>
                </c:pt>
                <c:pt idx="2">
                  <c:v>1069.383</c:v>
                </c:pt>
                <c:pt idx="3">
                  <c:v>1211.089</c:v>
                </c:pt>
                <c:pt idx="4">
                  <c:v>1392.04</c:v>
                </c:pt>
                <c:pt idx="5">
                  <c:v>1616.064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958.103</c:v>
                </c:pt>
                <c:pt idx="1">
                  <c:v>111.28000000000009</c:v>
                </c:pt>
                <c:pt idx="2">
                  <c:v>141.7059999999999</c:v>
                </c:pt>
                <c:pt idx="3">
                  <c:v>180.95100000000002</c:v>
                </c:pt>
                <c:pt idx="4">
                  <c:v>224.02400000000011</c:v>
                </c:pt>
                <c:pt idx="5">
                  <c:v>265.1769999999999</c:v>
                </c:pt>
                <c:pt idx="6">
                  <c:v>1881.241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643.44</c:v>
                </c:pt>
                <c:pt idx="2">
                  <c:v>736.401</c:v>
                </c:pt>
                <c:pt idx="3">
                  <c:v>860.343</c:v>
                </c:pt>
                <c:pt idx="4">
                  <c:v>1011.11</c:v>
                </c:pt>
                <c:pt idx="5">
                  <c:v>1181.481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643.44</c:v>
                </c:pt>
                <c:pt idx="1">
                  <c:v>92.9609999999999</c:v>
                </c:pt>
                <c:pt idx="2">
                  <c:v>123.94200000000001</c:v>
                </c:pt>
                <c:pt idx="3">
                  <c:v>150.76700000000005</c:v>
                </c:pt>
                <c:pt idx="4">
                  <c:v>170.37099999999998</c:v>
                </c:pt>
                <c:pt idx="5">
                  <c:v>193.64200000000005</c:v>
                </c:pt>
                <c:pt idx="6">
                  <c:v>1375.123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Serums and Oils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18.672478086105862</c:v>
                </c:pt>
                <c:pt idx="1">
                  <c:v>19.086264625917558</c:v>
                </c:pt>
                <c:pt idx="2">
                  <c:v>20.81086026230051</c:v>
                </c:pt>
              </c:numCache>
            </c:numRef>
          </c:val>
        </c:ser>
        <c:ser>
          <c:idx val="1"/>
          <c:order val="1"/>
          <c:tx>
            <c:strRef>
              <c:f>Sheet1!$C$1</c:f>
              <c:strCache>
                <c:ptCount val="1"/>
                <c:pt idx="0">
                  <c:v>Waxes, Clays, Pastes and Pomades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16.226911714853017</c:v>
                </c:pt>
                <c:pt idx="1">
                  <c:v>16.47947670212054</c:v>
                </c:pt>
                <c:pt idx="2">
                  <c:v>15.685805337960032</c:v>
                </c:pt>
              </c:numCache>
            </c:numRef>
          </c:val>
        </c:ser>
        <c:ser>
          <c:idx val="2"/>
          <c:order val="2"/>
          <c:tx>
            <c:strRef>
              <c:f>Sheet1!$D$1</c:f>
              <c:strCache>
                <c:ptCount val="1"/>
                <c:pt idx="0">
                  <c:v>Sticks and Balms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11.685553779844058</c:v>
                </c:pt>
                <c:pt idx="1">
                  <c:v>12.817897565189124</c:v>
                </c:pt>
                <c:pt idx="2">
                  <c:v>15.212028972617256</c:v>
                </c:pt>
              </c:numCache>
            </c:numRef>
          </c:val>
        </c:ser>
        <c:ser>
          <c:idx val="3"/>
          <c:order val="3"/>
          <c:tx>
            <c:strRef>
              <c:f>Sheet1!$E$1</c:f>
              <c:strCache>
                <c:ptCount val="1"/>
                <c:pt idx="0">
                  <c:v>Creams and Lotions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12.031962806915589</c:v>
                </c:pt>
                <c:pt idx="1">
                  <c:v>11.773465214938437</c:v>
                </c:pt>
                <c:pt idx="2">
                  <c:v>12.608371863338947</c:v>
                </c:pt>
              </c:numCache>
            </c:numRef>
          </c:val>
        </c:ser>
        <c:ser>
          <c:idx val="4"/>
          <c:order val="4"/>
          <c:tx>
            <c:strRef>
              <c:f>Sheet1!$F$1</c:f>
              <c:strCache>
                <c:ptCount val="1"/>
                <c:pt idx="0">
                  <c:v>Sprays and Mists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15.339168967020195</c:v>
                </c:pt>
                <c:pt idx="1">
                  <c:v>14.206801948103692</c:v>
                </c:pt>
                <c:pt idx="2">
                  <c:v>11.409771200574175</c:v>
                </c:pt>
              </c:numCache>
            </c:numRef>
          </c:val>
        </c:ser>
        <c:ser>
          <c:idx val="5"/>
          <c:order val="5"/>
          <c:tx>
            <c:strRef>
              <c:f>Sheet1!$G$1</c:f>
              <c:strCache>
                <c:ptCount val="1"/>
                <c:pt idx="0">
                  <c:v>Powders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9.958859993220011</c:v>
                </c:pt>
                <c:pt idx="1">
                  <c:v>9.878749509946102</c:v>
                </c:pt>
                <c:pt idx="2">
                  <c:v>10.234335002856286</c:v>
                </c:pt>
              </c:numCache>
            </c:numRef>
          </c:val>
        </c:ser>
        <c:ser>
          <c:idx val="6"/>
          <c:order val="6"/>
          <c:tx>
            <c:strRef>
              <c:f>Sheet1!$H$1</c:f>
              <c:strCache>
                <c:ptCount val="1"/>
                <c:pt idx="0">
                  <c:v>Gels and Jellies</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8.692769625647731</c:v>
                </c:pt>
                <c:pt idx="1">
                  <c:v>8.619151625066536</c:v>
                </c:pt>
                <c:pt idx="2">
                  <c:v>7.810219091147634</c:v>
                </c:pt>
              </c:numCache>
            </c:numRef>
          </c:val>
        </c:ser>
        <c:ser>
          <c:idx val="7"/>
          <c:order val="7"/>
          <c:tx>
            <c:strRef>
              <c:f>Sheet1!$I$1</c:f>
              <c:strCache>
                <c:ptCount val="1"/>
                <c:pt idx="0">
                  <c:v>Mousses and Foams</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Sheet1!$I$2:$I$4</c:f>
              <c:numCache>
                <c:formatCode>General</c:formatCode>
                <c:ptCount val="3"/>
                <c:pt idx="0">
                  <c:v>7.392295026393529</c:v>
                </c:pt>
                <c:pt idx="1">
                  <c:v>7.138192808718019</c:v>
                </c:pt>
                <c:pt idx="2">
                  <c:v>6.228608269205155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No Hold</c:v>
                </c:pt>
              </c:strCache>
            </c:strRef>
          </c:tx>
          <c:spPr>
            <a:solidFill>
              <a:srgbClr val="3D85C6"/>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Sheet1!$B$2:$B$3</c:f>
              <c:numCache>
                <c:formatCode>General</c:formatCode>
                <c:ptCount val="2"/>
                <c:pt idx="0">
                  <c:v>20.049022486100892</c:v>
                </c:pt>
                <c:pt idx="1">
                  <c:v>20.055280025700256</c:v>
                </c:pt>
              </c:numCache>
            </c:numRef>
          </c:val>
        </c:ser>
        <c:ser>
          <c:idx val="1"/>
          <c:order val="1"/>
          <c:tx>
            <c:strRef>
              <c:f>Sheet1!$C$1</c:f>
              <c:strCache>
                <c:ptCount val="1"/>
                <c:pt idx="0">
                  <c:v>Light or Flexible Hold</c:v>
                </c:pt>
              </c:strCache>
            </c:strRef>
          </c:tx>
          <c:spPr>
            <a:solidFill>
              <a:srgbClr val="9E7E0A"/>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Sheet1!$C$2:$C$3</c:f>
              <c:numCache>
                <c:formatCode>General</c:formatCode>
                <c:ptCount val="2"/>
                <c:pt idx="0">
                  <c:v>22.22717282556261</c:v>
                </c:pt>
                <c:pt idx="1">
                  <c:v>22.24204133457755</c:v>
                </c:pt>
              </c:numCache>
            </c:numRef>
          </c:val>
        </c:ser>
        <c:ser>
          <c:idx val="2"/>
          <c:order val="2"/>
          <c:tx>
            <c:strRef>
              <c:f>Sheet1!$D$1</c:f>
              <c:strCache>
                <c:ptCount val="1"/>
                <c:pt idx="0">
                  <c:v>Medium Hold</c:v>
                </c:pt>
              </c:strCache>
            </c:strRef>
          </c:tx>
          <c:spPr>
            <a:solidFill>
              <a:srgbClr val="008189"/>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Sheet1!$D$2:$D$3</c:f>
              <c:numCache>
                <c:formatCode>General</c:formatCode>
                <c:ptCount val="2"/>
                <c:pt idx="0">
                  <c:v>22.014757403166772</c:v>
                </c:pt>
                <c:pt idx="1">
                  <c:v>22.013810827762395</c:v>
                </c:pt>
              </c:numCache>
            </c:numRef>
          </c:val>
        </c:ser>
        <c:ser>
          <c:idx val="3"/>
          <c:order val="3"/>
          <c:tx>
            <c:strRef>
              <c:f>Sheet1!$E$1</c:f>
              <c:strCache>
                <c:ptCount val="1"/>
                <c:pt idx="0">
                  <c:v>Strong Hold</c:v>
                </c:pt>
              </c:strCache>
            </c:strRef>
          </c:tx>
          <c:spPr>
            <a:solidFill>
              <a:srgbClr val="40315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Sheet1!$E$2:$E$3</c:f>
              <c:numCache>
                <c:formatCode>General</c:formatCode>
                <c:ptCount val="2"/>
                <c:pt idx="0">
                  <c:v>19.75244680691841</c:v>
                </c:pt>
                <c:pt idx="1">
                  <c:v>19.7445272223837</c:v>
                </c:pt>
              </c:numCache>
            </c:numRef>
          </c:val>
        </c:ser>
        <c:ser>
          <c:idx val="4"/>
          <c:order val="4"/>
          <c:tx>
            <c:strRef>
              <c:f>Sheet1!$F$1</c:f>
              <c:strCache>
                <c:ptCount val="1"/>
                <c:pt idx="0">
                  <c:v>Extra-strong Hold</c:v>
                </c:pt>
              </c:strCache>
            </c:strRef>
          </c:tx>
          <c:spPr>
            <a:solidFill>
              <a:srgbClr val="A35313"/>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Sheet1!$F$2:$F$3</c:f>
              <c:numCache>
                <c:formatCode>General</c:formatCode>
                <c:ptCount val="2"/>
                <c:pt idx="0">
                  <c:v>15.956600478251309</c:v>
                </c:pt>
                <c:pt idx="1">
                  <c:v>15.9443405895761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No Hold</c:v>
                </c:pt>
              </c:strCache>
            </c:strRef>
          </c:tx>
          <c:spPr>
            <a:solidFill>
              <a:srgbClr val="3D85C6"/>
            </a:solidFill>
          </c:spPr>
          <c:invertIfNegative val="0"/>
          <c:xVal>
            <c:numRef>
              <c:f>Sheet1!$A$2:$A$2</c:f>
              <c:numCache>
                <c:formatCode>General</c:formatCode>
                <c:ptCount val="1"/>
                <c:pt idx="0">
                  <c:v>109.42237690688425</c:v>
                </c:pt>
              </c:numCache>
            </c:numRef>
          </c:xVal>
          <c:yVal>
            <c:numRef>
              <c:f>Sheet1!$B$2:$B$2</c:f>
              <c:numCache>
                <c:formatCode>General</c:formatCode>
                <c:ptCount val="1"/>
                <c:pt idx="0">
                  <c:v>95.03242623541915</c:v>
                </c:pt>
              </c:numCache>
            </c:numRef>
          </c:yVal>
          <c:bubbleSize>
            <c:numRef>
              <c:f>Sheet1!$C$2:$C$2</c:f>
              <c:numCache>
                <c:formatCode>General</c:formatCode>
                <c:ptCount val="1"/>
                <c:pt idx="0">
                  <c:v>1812.884</c:v>
                </c:pt>
              </c:numCache>
            </c:numRef>
          </c:bubbleSize>
          <c:bubble3D val="0"/>
        </c:ser>
        <c:ser>
          <c:idx val="1"/>
          <c:order val="1"/>
          <c:tx>
            <c:strRef>
              <c:f>Sheet1!$B$4</c:f>
              <c:strCache>
                <c:ptCount val="1"/>
                <c:pt idx="0">
                  <c:v>Light or Flexible Hold</c:v>
                </c:pt>
              </c:strCache>
            </c:strRef>
          </c:tx>
          <c:spPr>
            <a:solidFill>
              <a:srgbClr val="9E7E0A"/>
            </a:solidFill>
          </c:spPr>
          <c:invertIfNegative val="0"/>
          <c:xVal>
            <c:numRef>
              <c:f>Sheet1!$A$5:$A$5</c:f>
              <c:numCache>
                <c:formatCode>General</c:formatCode>
                <c:ptCount val="1"/>
                <c:pt idx="0">
                  <c:v>116.91405826712382</c:v>
                </c:pt>
              </c:numCache>
            </c:numRef>
          </c:xVal>
          <c:yVal>
            <c:numRef>
              <c:f>Sheet1!$B$5:$B$5</c:f>
              <c:numCache>
                <c:formatCode>General</c:formatCode>
                <c:ptCount val="1"/>
                <c:pt idx="0">
                  <c:v>101.00789763847762</c:v>
                </c:pt>
              </c:numCache>
            </c:numRef>
          </c:yVal>
          <c:bubbleSize>
            <c:numRef>
              <c:f>Sheet1!$C$5:$C$5</c:f>
              <c:numCache>
                <c:formatCode>General</c:formatCode>
                <c:ptCount val="1"/>
                <c:pt idx="0">
                  <c:v>2010.487</c:v>
                </c:pt>
              </c:numCache>
            </c:numRef>
          </c:bubbleSize>
          <c:bubble3D val="0"/>
        </c:ser>
        <c:ser>
          <c:idx val="2"/>
          <c:order val="2"/>
          <c:tx>
            <c:strRef>
              <c:f>Sheet1!$B$7</c:f>
              <c:strCache>
                <c:ptCount val="1"/>
                <c:pt idx="0">
                  <c:v>Medium Hold</c:v>
                </c:pt>
              </c:strCache>
            </c:strRef>
          </c:tx>
          <c:spPr>
            <a:solidFill>
              <a:srgbClr val="008189"/>
            </a:solidFill>
          </c:spPr>
          <c:invertIfNegative val="0"/>
          <c:xVal>
            <c:numRef>
              <c:f>Sheet1!$A$8:$A$8</c:f>
              <c:numCache>
                <c:formatCode>General</c:formatCode>
                <c:ptCount val="1"/>
                <c:pt idx="0">
                  <c:v>98.63392862741316</c:v>
                </c:pt>
              </c:numCache>
            </c:numRef>
          </c:xVal>
          <c:yVal>
            <c:numRef>
              <c:f>Sheet1!$B$8:$B$8</c:f>
              <c:numCache>
                <c:formatCode>General</c:formatCode>
                <c:ptCount val="1"/>
                <c:pt idx="0">
                  <c:v>110.93218828033879</c:v>
                </c:pt>
              </c:numCache>
            </c:numRef>
          </c:yVal>
          <c:bubbleSize>
            <c:numRef>
              <c:f>Sheet1!$C$8:$C$8</c:f>
              <c:numCache>
                <c:formatCode>General</c:formatCode>
                <c:ptCount val="1"/>
                <c:pt idx="0">
                  <c:v>1989.993</c:v>
                </c:pt>
              </c:numCache>
            </c:numRef>
          </c:bubbleSize>
          <c:bubble3D val="0"/>
        </c:ser>
        <c:ser>
          <c:idx val="3"/>
          <c:order val="3"/>
          <c:tx>
            <c:strRef>
              <c:f>Sheet1!$B$10</c:f>
              <c:strCache>
                <c:ptCount val="1"/>
                <c:pt idx="0">
                  <c:v>Strong Hold</c:v>
                </c:pt>
              </c:strCache>
            </c:strRef>
          </c:tx>
          <c:spPr>
            <a:solidFill>
              <a:srgbClr val="40315E"/>
            </a:solidFill>
          </c:spPr>
          <c:invertIfNegative val="0"/>
          <c:xVal>
            <c:numRef>
              <c:f>Sheet1!$A$11:$A$11</c:f>
              <c:numCache>
                <c:formatCode>General</c:formatCode>
                <c:ptCount val="1"/>
                <c:pt idx="0">
                  <c:v>89.97312717829385</c:v>
                </c:pt>
              </c:numCache>
            </c:numRef>
          </c:xVal>
          <c:yVal>
            <c:numRef>
              <c:f>Sheet1!$B$11:$B$11</c:f>
              <c:numCache>
                <c:formatCode>General</c:formatCode>
                <c:ptCount val="1"/>
                <c:pt idx="0">
                  <c:v>104.56377724057766</c:v>
                </c:pt>
              </c:numCache>
            </c:numRef>
          </c:yVal>
          <c:bubbleSize>
            <c:numRef>
              <c:f>Sheet1!$C$11:$C$11</c:f>
              <c:numCache>
                <c:formatCode>General</c:formatCode>
                <c:ptCount val="1"/>
                <c:pt idx="0">
                  <c:v>1784.917</c:v>
                </c:pt>
              </c:numCache>
            </c:numRef>
          </c:bubbleSize>
          <c:bubble3D val="0"/>
        </c:ser>
        <c:ser>
          <c:idx val="4"/>
          <c:order val="4"/>
          <c:tx>
            <c:strRef>
              <c:f>Sheet1!$B$13</c:f>
              <c:strCache>
                <c:ptCount val="1"/>
                <c:pt idx="0">
                  <c:v>Extra-strong Hold</c:v>
                </c:pt>
              </c:strCache>
            </c:strRef>
          </c:tx>
          <c:spPr>
            <a:solidFill>
              <a:srgbClr val="A35313"/>
            </a:solidFill>
          </c:spPr>
          <c:invertIfNegative val="0"/>
          <c:xVal>
            <c:numRef>
              <c:f>Sheet1!$A$14:$A$14</c:f>
              <c:numCache>
                <c:formatCode>General</c:formatCode>
                <c:ptCount val="1"/>
                <c:pt idx="0">
                  <c:v>81.8929436800737</c:v>
                </c:pt>
              </c:numCache>
            </c:numRef>
          </c:xVal>
          <c:yVal>
            <c:numRef>
              <c:f>Sheet1!$B$14:$B$14</c:f>
              <c:numCache>
                <c:formatCode>General</c:formatCode>
                <c:ptCount val="1"/>
                <c:pt idx="0">
                  <c:v>88.46371060518679</c:v>
                </c:pt>
              </c:numCache>
            </c:numRef>
          </c:yVal>
          <c:bubbleSize>
            <c:numRef>
              <c:f>Sheet1!$C$14:$C$14</c:f>
              <c:numCache>
                <c:formatCode>General</c:formatCode>
                <c:ptCount val="1"/>
                <c:pt idx="0">
                  <c:v>1441.428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7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954.098</c:v>
                </c:pt>
                <c:pt idx="2">
                  <c:v>1053.115</c:v>
                </c:pt>
                <c:pt idx="3">
                  <c:v>1189.005</c:v>
                </c:pt>
                <c:pt idx="4">
                  <c:v>1362.835</c:v>
                </c:pt>
                <c:pt idx="5">
                  <c:v>1571.312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954.098</c:v>
                </c:pt>
                <c:pt idx="1">
                  <c:v>99.01700000000005</c:v>
                </c:pt>
                <c:pt idx="2">
                  <c:v>135.8900000000001</c:v>
                </c:pt>
                <c:pt idx="3">
                  <c:v>173.82999999999993</c:v>
                </c:pt>
                <c:pt idx="4">
                  <c:v>208.47699999999986</c:v>
                </c:pt>
                <c:pt idx="5">
                  <c:v>241.57200000000012</c:v>
                </c:pt>
                <c:pt idx="6">
                  <c:v>1812.884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1014.09</c:v>
                </c:pt>
                <c:pt idx="2">
                  <c:v>1132.726</c:v>
                </c:pt>
                <c:pt idx="3">
                  <c:v>1289.353</c:v>
                </c:pt>
                <c:pt idx="4">
                  <c:v>1496.018</c:v>
                </c:pt>
                <c:pt idx="5">
                  <c:v>1736.333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1014.09</c:v>
                </c:pt>
                <c:pt idx="1">
                  <c:v>118.63600000000008</c:v>
                </c:pt>
                <c:pt idx="2">
                  <c:v>156.62699999999995</c:v>
                </c:pt>
                <c:pt idx="3">
                  <c:v>206.66499999999996</c:v>
                </c:pt>
                <c:pt idx="4">
                  <c:v>240.31500000000005</c:v>
                </c:pt>
                <c:pt idx="5">
                  <c:v>274.154</c:v>
                </c:pt>
                <c:pt idx="6">
                  <c:v>2010.487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1113.727</c:v>
                </c:pt>
                <c:pt idx="2">
                  <c:v>1237.219</c:v>
                </c:pt>
                <c:pt idx="3">
                  <c:v>1389.568</c:v>
                </c:pt>
                <c:pt idx="4">
                  <c:v>1561.47</c:v>
                </c:pt>
                <c:pt idx="5">
                  <c:v>1762.93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1113.727</c:v>
                </c:pt>
                <c:pt idx="1">
                  <c:v>123.49199999999996</c:v>
                </c:pt>
                <c:pt idx="2">
                  <c:v>152.34899999999993</c:v>
                </c:pt>
                <c:pt idx="3">
                  <c:v>171.90200000000004</c:v>
                </c:pt>
                <c:pt idx="4">
                  <c:v>201.46000000000004</c:v>
                </c:pt>
                <c:pt idx="5">
                  <c:v>227.06299999999987</c:v>
                </c:pt>
                <c:pt idx="6">
                  <c:v>1989.993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1049.79</c:v>
                </c:pt>
                <c:pt idx="2">
                  <c:v>1157.239</c:v>
                </c:pt>
                <c:pt idx="3">
                  <c:v>1284.48</c:v>
                </c:pt>
                <c:pt idx="4">
                  <c:v>1431.836</c:v>
                </c:pt>
                <c:pt idx="5">
                  <c:v>1598.357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1049.79</c:v>
                </c:pt>
                <c:pt idx="1">
                  <c:v>107.44900000000007</c:v>
                </c:pt>
                <c:pt idx="2">
                  <c:v>127.24099999999999</c:v>
                </c:pt>
                <c:pt idx="3">
                  <c:v>147.356</c:v>
                </c:pt>
                <c:pt idx="4">
                  <c:v>166.52099999999996</c:v>
                </c:pt>
                <c:pt idx="5">
                  <c:v>186.55999999999995</c:v>
                </c:pt>
                <c:pt idx="6">
                  <c:v>1784.917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888.15</c:v>
                </c:pt>
                <c:pt idx="2">
                  <c:v>967.615</c:v>
                </c:pt>
                <c:pt idx="3">
                  <c:v>1063.004</c:v>
                </c:pt>
                <c:pt idx="4">
                  <c:v>1172.843</c:v>
                </c:pt>
                <c:pt idx="5">
                  <c:v>1299.129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888.15</c:v>
                </c:pt>
                <c:pt idx="1">
                  <c:v>79.46500000000003</c:v>
                </c:pt>
                <c:pt idx="2">
                  <c:v>95.3889999999999</c:v>
                </c:pt>
                <c:pt idx="3">
                  <c:v>109.83900000000017</c:v>
                </c:pt>
                <c:pt idx="4">
                  <c:v>126.28599999999983</c:v>
                </c:pt>
                <c:pt idx="5">
                  <c:v>142.2990000000002</c:v>
                </c:pt>
                <c:pt idx="6">
                  <c:v>1441.428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Light or Flexible Hold</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20.202334253474742</c:v>
                </c:pt>
                <c:pt idx="1">
                  <c:v>20.20157952769552</c:v>
                </c:pt>
                <c:pt idx="2">
                  <c:v>22.24061637382354</c:v>
                </c:pt>
              </c:numCache>
            </c:numRef>
          </c:val>
        </c:ser>
        <c:ser>
          <c:idx val="1"/>
          <c:order val="1"/>
          <c:tx>
            <c:strRef>
              <c:f>Sheet1!$C$1</c:f>
              <c:strCache>
                <c:ptCount val="1"/>
                <c:pt idx="0">
                  <c:v>Medium Hold</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21.417477843963386</c:v>
                </c:pt>
                <c:pt idx="1">
                  <c:v>22.18643765606776</c:v>
                </c:pt>
                <c:pt idx="2">
                  <c:v>22.01390553611847</c:v>
                </c:pt>
              </c:numCache>
            </c:numRef>
          </c:val>
        </c:ser>
        <c:ser>
          <c:idx val="2"/>
          <c:order val="2"/>
          <c:tx>
            <c:strRef>
              <c:f>Sheet1!$D$1</c:f>
              <c:strCache>
                <c:ptCount val="1"/>
                <c:pt idx="0">
                  <c:v>No Hold</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19.512785122766235</c:v>
                </c:pt>
                <c:pt idx="1">
                  <c:v>19.00648524708383</c:v>
                </c:pt>
                <c:pt idx="2">
                  <c:v>20.05467211389216</c:v>
                </c:pt>
              </c:numCache>
            </c:numRef>
          </c:val>
        </c:ser>
        <c:ser>
          <c:idx val="3"/>
          <c:order val="3"/>
          <c:tx>
            <c:strRef>
              <c:f>Sheet1!$E$1</c:f>
              <c:strCache>
                <c:ptCount val="1"/>
                <c:pt idx="0">
                  <c:v>Strong Hold</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20.867862850501233</c:v>
                </c:pt>
                <c:pt idx="1">
                  <c:v>20.912755448115533</c:v>
                </c:pt>
                <c:pt idx="2">
                  <c:v>19.745292685859685</c:v>
                </c:pt>
              </c:numCache>
            </c:numRef>
          </c:val>
        </c:ser>
        <c:ser>
          <c:idx val="4"/>
          <c:order val="4"/>
          <c:tx>
            <c:strRef>
              <c:f>Sheet1!$F$1</c:f>
              <c:strCache>
                <c:ptCount val="1"/>
                <c:pt idx="0">
                  <c:v>Extra-strong Hold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17.999539929294397</c:v>
                </c:pt>
                <c:pt idx="1">
                  <c:v>17.692742121037362</c:v>
                </c:pt>
                <c:pt idx="2">
                  <c:v>15.945513290306138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Matte</c:v>
                </c:pt>
              </c:strCache>
            </c:strRef>
          </c:tx>
          <c:spPr>
            <a:solidFill>
              <a:srgbClr val="3D85C6"/>
            </a:solidFill>
            <a:ln>
              <a:noFill/>
            </a:ln>
          </c:spPr>
          <c:dLbls>
            <c:dLbl>
              <c:idx val="0"/>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Sheet1!$B$2:$B$3</c:f>
              <c:numCache>
                <c:formatCode>General</c:formatCode>
                <c:ptCount val="2"/>
                <c:pt idx="0">
                  <c:v>33.09489846082288</c:v>
                </c:pt>
                <c:pt idx="1">
                  <c:v>33.094643259692724</c:v>
                </c:pt>
              </c:numCache>
            </c:numRef>
          </c:val>
        </c:ser>
        <c:ser>
          <c:idx val="1"/>
          <c:order val="1"/>
          <c:tx>
            <c:strRef>
              <c:f>Sheet1!$C$1</c:f>
              <c:strCache>
                <c:ptCount val="1"/>
                <c:pt idx="0">
                  <c:v>Natural</c:v>
                </c:pt>
              </c:strCache>
            </c:strRef>
          </c:tx>
          <c:spPr>
            <a:solidFill>
              <a:srgbClr val="9E7E0A"/>
            </a:solidFill>
            <a:ln>
              <a:noFill/>
            </a:ln>
          </c:spPr>
          <c:dLbls>
            <c:dLbl>
              <c:idx val="0"/>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Sheet1!$C$2:$C$3</c:f>
              <c:numCache>
                <c:formatCode>General</c:formatCode>
                <c:ptCount val="2"/>
                <c:pt idx="0">
                  <c:v>32.34758761704434</c:v>
                </c:pt>
                <c:pt idx="1">
                  <c:v>32.335910619907224</c:v>
                </c:pt>
              </c:numCache>
            </c:numRef>
          </c:val>
        </c:ser>
        <c:ser>
          <c:idx val="2"/>
          <c:order val="2"/>
          <c:tx>
            <c:strRef>
              <c:f>Sheet1!$D$1</c:f>
              <c:strCache>
                <c:ptCount val="1"/>
                <c:pt idx="0">
                  <c:v>Glossy or Wet-look</c:v>
                </c:pt>
              </c:strCache>
            </c:strRef>
          </c:tx>
          <c:spPr>
            <a:solidFill>
              <a:srgbClr val="008189"/>
            </a:solidFill>
            <a:ln>
              <a:noFill/>
            </a:ln>
          </c:spPr>
          <c:dLbls>
            <c:dLbl>
              <c:idx val="0"/>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Sheet1!$D$2:$D$3</c:f>
              <c:numCache>
                <c:formatCode>General</c:formatCode>
                <c:ptCount val="2"/>
                <c:pt idx="0">
                  <c:v>34.55751392213276</c:v>
                </c:pt>
                <c:pt idx="1">
                  <c:v>34.56944612040005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0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Matte</c:v>
                </c:pt>
              </c:strCache>
            </c:strRef>
          </c:tx>
          <c:spPr>
            <a:solidFill>
              <a:srgbClr val="3D85C6"/>
            </a:solidFill>
          </c:spPr>
          <c:invertIfNegative val="0"/>
          <c:xVal>
            <c:numRef>
              <c:f>Sheet1!$A$2:$A$2</c:f>
              <c:numCache>
                <c:formatCode>General</c:formatCode>
                <c:ptCount val="1"/>
                <c:pt idx="0">
                  <c:v>99.26842993351983</c:v>
                </c:pt>
              </c:numCache>
            </c:numRef>
          </c:xVal>
          <c:yVal>
            <c:numRef>
              <c:f>Sheet1!$B$2:$B$2</c:f>
              <c:numCache>
                <c:formatCode>General</c:formatCode>
                <c:ptCount val="1"/>
                <c:pt idx="0">
                  <c:v>99.69987180904629</c:v>
                </c:pt>
              </c:numCache>
            </c:numRef>
          </c:yVal>
          <c:bubbleSize>
            <c:numRef>
              <c:f>Sheet1!$C$2:$C$2</c:f>
              <c:numCache>
                <c:formatCode>General</c:formatCode>
                <c:ptCount val="1"/>
                <c:pt idx="0">
                  <c:v>2991.661</c:v>
                </c:pt>
              </c:numCache>
            </c:numRef>
          </c:bubbleSize>
          <c:bubble3D val="0"/>
        </c:ser>
        <c:ser>
          <c:idx val="1"/>
          <c:order val="1"/>
          <c:tx>
            <c:strRef>
              <c:f>Sheet1!$B$4</c:f>
              <c:strCache>
                <c:ptCount val="1"/>
                <c:pt idx="0">
                  <c:v>Natural</c:v>
                </c:pt>
              </c:strCache>
            </c:strRef>
          </c:tx>
          <c:spPr>
            <a:solidFill>
              <a:srgbClr val="9E7E0A"/>
            </a:solidFill>
          </c:spPr>
          <c:invertIfNegative val="0"/>
          <c:xVal>
            <c:numRef>
              <c:f>Sheet1!$A$5:$A$5</c:f>
              <c:numCache>
                <c:formatCode>General</c:formatCode>
                <c:ptCount val="1"/>
                <c:pt idx="0">
                  <c:v>90.60495646810394</c:v>
                </c:pt>
              </c:numCache>
            </c:numRef>
          </c:xVal>
          <c:yVal>
            <c:numRef>
              <c:f>Sheet1!$B$5:$B$5</c:f>
              <c:numCache>
                <c:formatCode>General</c:formatCode>
                <c:ptCount val="1"/>
                <c:pt idx="0">
                  <c:v>102.37472994737897</c:v>
                </c:pt>
              </c:numCache>
            </c:numRef>
          </c:yVal>
          <c:bubbleSize>
            <c:numRef>
              <c:f>Sheet1!$C$5:$C$5</c:f>
              <c:numCache>
                <c:formatCode>General</c:formatCode>
                <c:ptCount val="1"/>
                <c:pt idx="0">
                  <c:v>2923.173</c:v>
                </c:pt>
              </c:numCache>
            </c:numRef>
          </c:bubbleSize>
          <c:bubble3D val="0"/>
        </c:ser>
        <c:ser>
          <c:idx val="2"/>
          <c:order val="2"/>
          <c:tx>
            <c:strRef>
              <c:f>Sheet1!$B$7</c:f>
              <c:strCache>
                <c:ptCount val="1"/>
                <c:pt idx="0">
                  <c:v>Glossy or Wet-look</c:v>
                </c:pt>
              </c:strCache>
            </c:strRef>
          </c:tx>
          <c:spPr>
            <a:solidFill>
              <a:srgbClr val="008189"/>
            </a:solidFill>
          </c:spPr>
          <c:invertIfNegative val="0"/>
          <c:xVal>
            <c:numRef>
              <c:f>Sheet1!$A$8:$A$8</c:f>
              <c:numCache>
                <c:formatCode>General</c:formatCode>
                <c:ptCount val="1"/>
                <c:pt idx="0">
                  <c:v>110.06693693089866</c:v>
                </c:pt>
              </c:numCache>
            </c:numRef>
          </c:xVal>
          <c:yVal>
            <c:numRef>
              <c:f>Sheet1!$B$8:$B$8</c:f>
              <c:numCache>
                <c:formatCode>General</c:formatCode>
                <c:ptCount val="1"/>
                <c:pt idx="0">
                  <c:v>97.92539824357478</c:v>
                </c:pt>
              </c:numCache>
            </c:numRef>
          </c:yVal>
          <c:bubbleSize>
            <c:numRef>
              <c:f>Sheet1!$C$8:$C$8</c:f>
              <c:numCache>
                <c:formatCode>General</c:formatCode>
                <c:ptCount val="1"/>
                <c:pt idx="0">
                  <c:v>3124.874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1668.263</c:v>
                </c:pt>
                <c:pt idx="2">
                  <c:v>1852.497</c:v>
                </c:pt>
                <c:pt idx="3">
                  <c:v>2080.144</c:v>
                </c:pt>
                <c:pt idx="4">
                  <c:v>2341.991</c:v>
                </c:pt>
                <c:pt idx="5">
                  <c:v>2647.557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1668.263</c:v>
                </c:pt>
                <c:pt idx="1">
                  <c:v>184.23400000000015</c:v>
                </c:pt>
                <c:pt idx="2">
                  <c:v>227.6469999999997</c:v>
                </c:pt>
                <c:pt idx="3">
                  <c:v>261.8470000000002</c:v>
                </c:pt>
                <c:pt idx="4">
                  <c:v>305.5659999999998</c:v>
                </c:pt>
                <c:pt idx="5">
                  <c:v>344.10400000000027</c:v>
                </c:pt>
                <c:pt idx="6">
                  <c:v>2991.661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1713.021</c:v>
                </c:pt>
                <c:pt idx="2">
                  <c:v>1887.612</c:v>
                </c:pt>
                <c:pt idx="3">
                  <c:v>2094.679</c:v>
                </c:pt>
                <c:pt idx="4">
                  <c:v>2339.508</c:v>
                </c:pt>
                <c:pt idx="5">
                  <c:v>2614.939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1713.021</c:v>
                </c:pt>
                <c:pt idx="1">
                  <c:v>174.59100000000012</c:v>
                </c:pt>
                <c:pt idx="2">
                  <c:v>207.067</c:v>
                </c:pt>
                <c:pt idx="3">
                  <c:v>244.82899999999972</c:v>
                </c:pt>
                <c:pt idx="4">
                  <c:v>275.43100000000004</c:v>
                </c:pt>
                <c:pt idx="5">
                  <c:v>308.2339999999999</c:v>
                </c:pt>
                <c:pt idx="6">
                  <c:v>2923.173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1638.571</c:v>
                </c:pt>
                <c:pt idx="2">
                  <c:v>1807.805</c:v>
                </c:pt>
                <c:pt idx="3">
                  <c:v>2040.587</c:v>
                </c:pt>
                <c:pt idx="4">
                  <c:v>2343.503</c:v>
                </c:pt>
                <c:pt idx="5">
                  <c:v>2705.564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1638.571</c:v>
                </c:pt>
                <c:pt idx="1">
                  <c:v>169.23400000000015</c:v>
                </c:pt>
                <c:pt idx="2">
                  <c:v>232.78199999999993</c:v>
                </c:pt>
                <c:pt idx="3">
                  <c:v>302.91600000000017</c:v>
                </c:pt>
                <c:pt idx="4">
                  <c:v>362.0609999999997</c:v>
                </c:pt>
                <c:pt idx="5">
                  <c:v>419.30999999999995</c:v>
                </c:pt>
                <c:pt idx="6">
                  <c:v>3124.874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Glossy or Wet-look</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33.63647149983049</c:v>
                </c:pt>
                <c:pt idx="1">
                  <c:v>32.641799414524925</c:v>
                </c:pt>
                <c:pt idx="2">
                  <c:v>34.56830685238948</c:v>
                </c:pt>
              </c:numCache>
            </c:numRef>
          </c:val>
        </c:ser>
        <c:ser>
          <c:idx val="1"/>
          <c:order val="1"/>
          <c:tx>
            <c:strRef>
              <c:f>Sheet1!$C$1</c:f>
              <c:strCache>
                <c:ptCount val="1"/>
                <c:pt idx="0">
                  <c:v>Matte</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32.19262434016175</c:v>
                </c:pt>
                <c:pt idx="1">
                  <c:v>33.233290603015426</c:v>
                </c:pt>
                <c:pt idx="2">
                  <c:v>33.09466411968175</c:v>
                </c:pt>
              </c:numCache>
            </c:numRef>
          </c:val>
        </c:ser>
        <c:ser>
          <c:idx val="2"/>
          <c:order val="2"/>
          <c:tx>
            <c:strRef>
              <c:f>Sheet1!$D$1</c:f>
              <c:strCache>
                <c:ptCount val="1"/>
                <c:pt idx="0">
                  <c:v>Natural</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34.17090416000775</c:v>
                </c:pt>
                <c:pt idx="1">
                  <c:v>34.124909982459656</c:v>
                </c:pt>
                <c:pt idx="2">
                  <c:v>32.33702902792878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Mass Retail</c:v>
                </c:pt>
              </c:strCache>
            </c:strRef>
          </c:tx>
          <c:spPr>
            <a:solidFill>
              <a:srgbClr val="3D85C6"/>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Sheet1!$B$2:$B$3</c:f>
              <c:numCache>
                <c:formatCode>General</c:formatCode>
                <c:ptCount val="2"/>
                <c:pt idx="0">
                  <c:v>17.166945665463942</c:v>
                </c:pt>
                <c:pt idx="1">
                  <c:v>16.72519797149132</c:v>
                </c:pt>
              </c:numCache>
            </c:numRef>
          </c:val>
        </c:ser>
        <c:ser>
          <c:idx val="1"/>
          <c:order val="1"/>
          <c:tx>
            <c:strRef>
              <c:f>Sheet1!$C$1</c:f>
              <c:strCache>
                <c:ptCount val="1"/>
                <c:pt idx="0">
                  <c:v>Beauty Specialty Retail</c:v>
                </c:pt>
              </c:strCache>
            </c:strRef>
          </c:tx>
          <c:spPr>
            <a:solidFill>
              <a:srgbClr val="9E7E0A"/>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Sheet1!$C$2:$C$3</c:f>
              <c:numCache>
                <c:formatCode>General</c:formatCode>
                <c:ptCount val="2"/>
                <c:pt idx="0">
                  <c:v>16.00505191219712</c:v>
                </c:pt>
                <c:pt idx="1">
                  <c:v>15.710013528123296</c:v>
                </c:pt>
              </c:numCache>
            </c:numRef>
          </c:val>
        </c:ser>
        <c:ser>
          <c:idx val="2"/>
          <c:order val="2"/>
          <c:tx>
            <c:strRef>
              <c:f>Sheet1!$D$1</c:f>
              <c:strCache>
                <c:ptCount val="1"/>
                <c:pt idx="0">
                  <c:v>Salon and Professional Distribution</c:v>
                </c:pt>
              </c:strCache>
            </c:strRef>
          </c:tx>
          <c:spPr>
            <a:solidFill>
              <a:srgbClr val="008189"/>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Sheet1!$D$2:$D$3</c:f>
              <c:numCache>
                <c:formatCode>General</c:formatCode>
                <c:ptCount val="2"/>
                <c:pt idx="0">
                  <c:v>16.939218173989328</c:v>
                </c:pt>
                <c:pt idx="1">
                  <c:v>18.797690795613725</c:v>
                </c:pt>
              </c:numCache>
            </c:numRef>
          </c:val>
        </c:ser>
        <c:ser>
          <c:idx val="3"/>
          <c:order val="3"/>
          <c:tx>
            <c:strRef>
              <c:f>Sheet1!$E$1</c:f>
              <c:strCache>
                <c:ptCount val="1"/>
                <c:pt idx="0">
                  <c:v>Pharmacies and Drugstores</c:v>
                </c:pt>
              </c:strCache>
            </c:strRef>
          </c:tx>
          <c:spPr>
            <a:solidFill>
              <a:srgbClr val="40315E"/>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Sheet1!$E$2:$E$3</c:f>
              <c:numCache>
                <c:formatCode>General</c:formatCode>
                <c:ptCount val="2"/>
                <c:pt idx="0">
                  <c:v>14.40681478547794</c:v>
                </c:pt>
                <c:pt idx="1">
                  <c:v>14.131552983028289</c:v>
                </c:pt>
              </c:numCache>
            </c:numRef>
          </c:val>
        </c:ser>
        <c:ser>
          <c:idx val="4"/>
          <c:order val="4"/>
          <c:tx>
            <c:strRef>
              <c:f>Sheet1!$F$1</c:f>
              <c:strCache>
                <c:ptCount val="1"/>
                <c:pt idx="0">
                  <c:v>Online Marketplaces</c:v>
                </c:pt>
              </c:strCache>
            </c:strRef>
          </c:tx>
          <c:spPr>
            <a:solidFill>
              <a:srgbClr val="A35313"/>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Sheet1!$F$2:$F$3</c:f>
              <c:numCache>
                <c:formatCode>General</c:formatCode>
                <c:ptCount val="2"/>
                <c:pt idx="0">
                  <c:v>21.861839181562594</c:v>
                </c:pt>
                <c:pt idx="1">
                  <c:v>21.324307078363493</c:v>
                </c:pt>
              </c:numCache>
            </c:numRef>
          </c:val>
        </c:ser>
        <c:ser>
          <c:idx val="5"/>
          <c:order val="5"/>
          <c:tx>
            <c:strRef>
              <c:f>Sheet1!$G$1</c:f>
              <c:strCache>
                <c:ptCount val="1"/>
                <c:pt idx="0">
                  <c:v>Brand-owned Online Stores</c:v>
                </c:pt>
              </c:strCache>
            </c:strRef>
          </c:tx>
          <c:spPr>
            <a:solidFill>
              <a:srgbClr val="808080"/>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Sheet1!$G$2:$G$3</c:f>
              <c:numCache>
                <c:formatCode>General</c:formatCode>
                <c:ptCount val="2"/>
                <c:pt idx="0">
                  <c:v>13.620130281309075</c:v>
                </c:pt>
                <c:pt idx="1">
                  <c:v>13.311237643379872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1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Mass Retail</c:v>
                </c:pt>
              </c:strCache>
            </c:strRef>
          </c:tx>
          <c:spPr>
            <a:solidFill>
              <a:srgbClr val="3D85C6"/>
            </a:solidFill>
          </c:spPr>
          <c:invertIfNegative val="0"/>
          <c:xVal>
            <c:numRef>
              <c:f>Sheet1!$A$2:$A$2</c:f>
              <c:numCache>
                <c:formatCode>General</c:formatCode>
                <c:ptCount val="1"/>
                <c:pt idx="0">
                  <c:v>78.19273690106593</c:v>
                </c:pt>
              </c:numCache>
            </c:numRef>
          </c:xVal>
          <c:yVal>
            <c:numRef>
              <c:f>Sheet1!$B$2:$B$2</c:f>
              <c:numCache>
                <c:formatCode>General</c:formatCode>
                <c:ptCount val="1"/>
                <c:pt idx="0">
                  <c:v>114.04225819271672</c:v>
                </c:pt>
              </c:numCache>
            </c:numRef>
          </c:yVal>
          <c:bubbleSize>
            <c:numRef>
              <c:f>Sheet1!$C$2:$C$2</c:f>
              <c:numCache>
                <c:formatCode>General</c:formatCode>
                <c:ptCount val="1"/>
                <c:pt idx="0">
                  <c:v>1515.746</c:v>
                </c:pt>
              </c:numCache>
            </c:numRef>
          </c:bubbleSize>
          <c:bubble3D val="0"/>
        </c:ser>
        <c:ser>
          <c:idx val="1"/>
          <c:order val="1"/>
          <c:tx>
            <c:strRef>
              <c:f>Sheet1!$B$4</c:f>
              <c:strCache>
                <c:ptCount val="1"/>
                <c:pt idx="0">
                  <c:v>Beauty Specialty Retail</c:v>
                </c:pt>
              </c:strCache>
            </c:strRef>
          </c:tx>
          <c:spPr>
            <a:solidFill>
              <a:srgbClr val="9E7E0A"/>
            </a:solidFill>
          </c:spPr>
          <c:invertIfNegative val="0"/>
          <c:xVal>
            <c:numRef>
              <c:f>Sheet1!$A$5:$A$5</c:f>
              <c:numCache>
                <c:formatCode>General</c:formatCode>
                <c:ptCount val="1"/>
                <c:pt idx="0">
                  <c:v>103.28861857598682</c:v>
                </c:pt>
              </c:numCache>
            </c:numRef>
          </c:xVal>
          <c:yVal>
            <c:numRef>
              <c:f>Sheet1!$B$5:$B$5</c:f>
              <c:numCache>
                <c:formatCode>General</c:formatCode>
                <c:ptCount val="1"/>
                <c:pt idx="0">
                  <c:v>92.67435015553237</c:v>
                </c:pt>
              </c:numCache>
            </c:numRef>
          </c:yVal>
          <c:bubbleSize>
            <c:numRef>
              <c:f>Sheet1!$C$5:$C$5</c:f>
              <c:numCache>
                <c:formatCode>General</c:formatCode>
                <c:ptCount val="1"/>
                <c:pt idx="0">
                  <c:v>1422.702</c:v>
                </c:pt>
              </c:numCache>
            </c:numRef>
          </c:bubbleSize>
          <c:bubble3D val="0"/>
        </c:ser>
        <c:ser>
          <c:idx val="2"/>
          <c:order val="2"/>
          <c:tx>
            <c:strRef>
              <c:f>Sheet1!$B$7</c:f>
              <c:strCache>
                <c:ptCount val="1"/>
                <c:pt idx="0">
                  <c:v>Salon and Professional Distribution</c:v>
                </c:pt>
              </c:strCache>
            </c:strRef>
          </c:tx>
          <c:spPr>
            <a:solidFill>
              <a:srgbClr val="008189"/>
            </a:solidFill>
          </c:spPr>
          <c:invertIfNegative val="0"/>
          <c:xVal>
            <c:numRef>
              <c:f>Sheet1!$A$8:$A$8</c:f>
              <c:numCache>
                <c:formatCode>General</c:formatCode>
                <c:ptCount val="1"/>
                <c:pt idx="0">
                  <c:v>95.1585030071053</c:v>
                </c:pt>
              </c:numCache>
            </c:numRef>
          </c:xVal>
          <c:yVal>
            <c:numRef>
              <c:f>Sheet1!$B$8:$B$8</c:f>
              <c:numCache>
                <c:formatCode>General</c:formatCode>
                <c:ptCount val="1"/>
                <c:pt idx="0">
                  <c:v>114.85192301371254</c:v>
                </c:pt>
              </c:numCache>
            </c:numRef>
          </c:yVal>
          <c:bubbleSize>
            <c:numRef>
              <c:f>Sheet1!$C$8:$C$8</c:f>
              <c:numCache>
                <c:formatCode>General</c:formatCode>
                <c:ptCount val="1"/>
                <c:pt idx="0">
                  <c:v>1683.113</c:v>
                </c:pt>
              </c:numCache>
            </c:numRef>
          </c:bubbleSize>
          <c:bubble3D val="0"/>
        </c:ser>
        <c:ser>
          <c:idx val="3"/>
          <c:order val="3"/>
          <c:tx>
            <c:strRef>
              <c:f>Sheet1!$B$10</c:f>
              <c:strCache>
                <c:ptCount val="1"/>
                <c:pt idx="0">
                  <c:v>Pharmacies and Drugstores</c:v>
                </c:pt>
              </c:strCache>
            </c:strRef>
          </c:tx>
          <c:spPr>
            <a:solidFill>
              <a:srgbClr val="40315E"/>
            </a:solidFill>
          </c:spPr>
          <c:invertIfNegative val="0"/>
          <c:xVal>
            <c:numRef>
              <c:f>Sheet1!$A$11:$A$11</c:f>
              <c:numCache>
                <c:formatCode>General</c:formatCode>
                <c:ptCount val="1"/>
                <c:pt idx="0">
                  <c:v>87.11478116207579</c:v>
                </c:pt>
              </c:numCache>
            </c:numRef>
          </c:xVal>
          <c:yVal>
            <c:numRef>
              <c:f>Sheet1!$B$11:$B$11</c:f>
              <c:numCache>
                <c:formatCode>General</c:formatCode>
                <c:ptCount val="1"/>
                <c:pt idx="0">
                  <c:v>91.46164580451028</c:v>
                </c:pt>
              </c:numCache>
            </c:numRef>
          </c:yVal>
          <c:bubbleSize>
            <c:numRef>
              <c:f>Sheet1!$C$11:$C$11</c:f>
              <c:numCache>
                <c:formatCode>General</c:formatCode>
                <c:ptCount val="1"/>
                <c:pt idx="0">
                  <c:v>1279.842</c:v>
                </c:pt>
              </c:numCache>
            </c:numRef>
          </c:bubbleSize>
          <c:bubble3D val="0"/>
        </c:ser>
        <c:ser>
          <c:idx val="4"/>
          <c:order val="4"/>
          <c:tx>
            <c:strRef>
              <c:f>Sheet1!$B$13</c:f>
              <c:strCache>
                <c:ptCount val="1"/>
                <c:pt idx="0">
                  <c:v>Online Marketplaces</c:v>
                </c:pt>
              </c:strCache>
            </c:strRef>
          </c:tx>
          <c:spPr>
            <a:solidFill>
              <a:srgbClr val="A35313"/>
            </a:solidFill>
          </c:spPr>
          <c:invertIfNegative val="0"/>
          <c:xVal>
            <c:numRef>
              <c:f>Sheet1!$A$14:$A$14</c:f>
              <c:numCache>
                <c:formatCode>General</c:formatCode>
                <c:ptCount val="1"/>
                <c:pt idx="0">
                  <c:v>121.90881823911637</c:v>
                </c:pt>
              </c:numCache>
            </c:numRef>
          </c:xVal>
          <c:yVal>
            <c:numRef>
              <c:f>Sheet1!$B$14:$B$14</c:f>
              <c:numCache>
                <c:formatCode>General</c:formatCode>
                <c:ptCount val="1"/>
                <c:pt idx="0">
                  <c:v>113.25554224175798</c:v>
                </c:pt>
              </c:numCache>
            </c:numRef>
          </c:yVal>
          <c:bubbleSize>
            <c:numRef>
              <c:f>Sheet1!$C$14:$C$14</c:f>
              <c:numCache>
                <c:formatCode>General</c:formatCode>
                <c:ptCount val="1"/>
                <c:pt idx="0">
                  <c:v>1932.324</c:v>
                </c:pt>
              </c:numCache>
            </c:numRef>
          </c:bubbleSize>
          <c:bubble3D val="0"/>
        </c:ser>
        <c:ser>
          <c:idx val="5"/>
          <c:order val="5"/>
          <c:tx>
            <c:strRef>
              <c:f>Sheet1!$B$16</c:f>
              <c:strCache>
                <c:ptCount val="1"/>
                <c:pt idx="0">
                  <c:v>Brand-owned Online Stores</c:v>
                </c:pt>
              </c:strCache>
            </c:strRef>
          </c:tx>
          <c:spPr>
            <a:solidFill>
              <a:srgbClr val="808080"/>
            </a:solidFill>
          </c:spPr>
          <c:invertIfNegative val="0"/>
          <c:xVal>
            <c:numRef>
              <c:f>Sheet1!$A$17:$A$17</c:f>
              <c:numCache>
                <c:formatCode>General</c:formatCode>
                <c:ptCount val="1"/>
                <c:pt idx="0">
                  <c:v>114.4837816465029</c:v>
                </c:pt>
              </c:numCache>
            </c:numRef>
          </c:xVal>
          <c:yVal>
            <c:numRef>
              <c:f>Sheet1!$B$17:$B$17</c:f>
              <c:numCache>
                <c:formatCode>General</c:formatCode>
                <c:ptCount val="1"/>
                <c:pt idx="0">
                  <c:v>73.71428059177009</c:v>
                </c:pt>
              </c:numCache>
            </c:numRef>
          </c:yVal>
          <c:bubbleSize>
            <c:numRef>
              <c:f>Sheet1!$C$17:$C$17</c:f>
              <c:numCache>
                <c:formatCode>General</c:formatCode>
                <c:ptCount val="1"/>
                <c:pt idx="0">
                  <c:v>1205.981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6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6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954.126</c:v>
                </c:pt>
                <c:pt idx="2">
                  <c:v>1035.595</c:v>
                </c:pt>
                <c:pt idx="3">
                  <c:v>1134.261</c:v>
                </c:pt>
                <c:pt idx="4">
                  <c:v>1244.557</c:v>
                </c:pt>
                <c:pt idx="5">
                  <c:v>1372.783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954.126</c:v>
                </c:pt>
                <c:pt idx="1">
                  <c:v>81.46900000000005</c:v>
                </c:pt>
                <c:pt idx="2">
                  <c:v>98.66599999999994</c:v>
                </c:pt>
                <c:pt idx="3">
                  <c:v>110.29600000000005</c:v>
                </c:pt>
                <c:pt idx="4">
                  <c:v>128.22599999999989</c:v>
                </c:pt>
                <c:pt idx="5">
                  <c:v>142.9630000000002</c:v>
                </c:pt>
                <c:pt idx="6">
                  <c:v>1515.746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775.353</c:v>
                </c:pt>
                <c:pt idx="2">
                  <c:v>867.835</c:v>
                </c:pt>
                <c:pt idx="3">
                  <c:v>978.316</c:v>
                </c:pt>
                <c:pt idx="4">
                  <c:v>1107.151</c:v>
                </c:pt>
                <c:pt idx="5">
                  <c:v>1255.311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775.353</c:v>
                </c:pt>
                <c:pt idx="1">
                  <c:v>92.48200000000008</c:v>
                </c:pt>
                <c:pt idx="2">
                  <c:v>110.481</c:v>
                </c:pt>
                <c:pt idx="3">
                  <c:v>128.83500000000004</c:v>
                </c:pt>
                <c:pt idx="4">
                  <c:v>148.15999999999985</c:v>
                </c:pt>
                <c:pt idx="5">
                  <c:v>167.39100000000008</c:v>
                </c:pt>
                <c:pt idx="6">
                  <c:v>1422.702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960.9</c:v>
                </c:pt>
                <c:pt idx="2">
                  <c:v>1062.365</c:v>
                </c:pt>
                <c:pt idx="3">
                  <c:v>1185.183</c:v>
                </c:pt>
                <c:pt idx="4">
                  <c:v>1327.326</c:v>
                </c:pt>
                <c:pt idx="5">
                  <c:v>1493.872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960.9</c:v>
                </c:pt>
                <c:pt idx="1">
                  <c:v>101.46500000000003</c:v>
                </c:pt>
                <c:pt idx="2">
                  <c:v>122.81799999999998</c:v>
                </c:pt>
                <c:pt idx="3">
                  <c:v>142.14300000000003</c:v>
                </c:pt>
                <c:pt idx="4">
                  <c:v>166.54600000000005</c:v>
                </c:pt>
                <c:pt idx="5">
                  <c:v>189.24099999999999</c:v>
                </c:pt>
                <c:pt idx="6">
                  <c:v>1683.113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765.207</c:v>
                </c:pt>
                <c:pt idx="2">
                  <c:v>835.131</c:v>
                </c:pt>
                <c:pt idx="3">
                  <c:v>925.003</c:v>
                </c:pt>
                <c:pt idx="4">
                  <c:v>1031.568</c:v>
                </c:pt>
                <c:pt idx="5">
                  <c:v>1149.016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765.207</c:v>
                </c:pt>
                <c:pt idx="1">
                  <c:v>69.92399999999998</c:v>
                </c:pt>
                <c:pt idx="2">
                  <c:v>89.87200000000007</c:v>
                </c:pt>
                <c:pt idx="3">
                  <c:v>106.56499999999994</c:v>
                </c:pt>
                <c:pt idx="4">
                  <c:v>117.44800000000009</c:v>
                </c:pt>
                <c:pt idx="5">
                  <c:v>130.82600000000002</c:v>
                </c:pt>
                <c:pt idx="6">
                  <c:v>1279.842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947.544</c:v>
                </c:pt>
                <c:pt idx="2">
                  <c:v>1063.267</c:v>
                </c:pt>
                <c:pt idx="3">
                  <c:v>1216.596</c:v>
                </c:pt>
                <c:pt idx="4">
                  <c:v>1419.785</c:v>
                </c:pt>
                <c:pt idx="5">
                  <c:v>1658.611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947.544</c:v>
                </c:pt>
                <c:pt idx="1">
                  <c:v>115.72300000000007</c:v>
                </c:pt>
                <c:pt idx="2">
                  <c:v>153.32899999999995</c:v>
                </c:pt>
                <c:pt idx="3">
                  <c:v>203.18900000000008</c:v>
                </c:pt>
                <c:pt idx="4">
                  <c:v>238.82600000000002</c:v>
                </c:pt>
                <c:pt idx="5">
                  <c:v>273.71299999999997</c:v>
                </c:pt>
                <c:pt idx="6">
                  <c:v>1932.324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616.725</c:v>
                </c:pt>
                <c:pt idx="2">
                  <c:v>683.721</c:v>
                </c:pt>
                <c:pt idx="3">
                  <c:v>776.05</c:v>
                </c:pt>
                <c:pt idx="4">
                  <c:v>894.616</c:v>
                </c:pt>
                <c:pt idx="5">
                  <c:v>1038.467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616.725</c:v>
                </c:pt>
                <c:pt idx="1">
                  <c:v>66.99599999999998</c:v>
                </c:pt>
                <c:pt idx="2">
                  <c:v>92.32899999999995</c:v>
                </c:pt>
                <c:pt idx="3">
                  <c:v>118.56600000000003</c:v>
                </c:pt>
                <c:pt idx="4">
                  <c:v>143.8510000000001</c:v>
                </c:pt>
                <c:pt idx="5">
                  <c:v>167.5139999999999</c:v>
                </c:pt>
                <c:pt idx="6">
                  <c:v>1205.981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Online Marketplaces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18.744922576172556</c:v>
                </c:pt>
                <c:pt idx="1">
                  <c:v>18.875923706959664</c:v>
                </c:pt>
                <c:pt idx="2">
                  <c:v>21.37595594901959</c:v>
                </c:pt>
              </c:numCache>
            </c:numRef>
          </c:val>
        </c:ser>
        <c:ser>
          <c:idx val="1"/>
          <c:order val="1"/>
          <c:tx>
            <c:strRef>
              <c:f>Sheet1!$C$1</c:f>
              <c:strCache>
                <c:ptCount val="1"/>
                <c:pt idx="0">
                  <c:v>Salon and Professional Distribution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18.84003611796307</c:v>
                </c:pt>
                <c:pt idx="1">
                  <c:v>19.14198716895209</c:v>
                </c:pt>
                <c:pt idx="2">
                  <c:v>18.61910805083527</c:v>
                </c:pt>
              </c:numCache>
            </c:numRef>
          </c:val>
        </c:ser>
        <c:ser>
          <c:idx val="2"/>
          <c:order val="2"/>
          <c:tx>
            <c:strRef>
              <c:f>Sheet1!$D$1</c:f>
              <c:strCache>
                <c:ptCount val="1"/>
                <c:pt idx="0">
                  <c:v>Mass Retail</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19.446845017471784</c:v>
                </c:pt>
                <c:pt idx="1">
                  <c:v>19.007043032119455</c:v>
                </c:pt>
                <c:pt idx="2">
                  <c:v>16.767643379631288</c:v>
                </c:pt>
              </c:numCache>
            </c:numRef>
          </c:val>
        </c:ser>
        <c:ser>
          <c:idx val="3"/>
          <c:order val="3"/>
          <c:tx>
            <c:strRef>
              <c:f>Sheet1!$E$1</c:f>
              <c:strCache>
                <c:ptCount val="1"/>
                <c:pt idx="0">
                  <c:v>Beauty Specialty Retail</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14.91774058846903</c:v>
                </c:pt>
                <c:pt idx="1">
                  <c:v>15.445725025922064</c:v>
                </c:pt>
                <c:pt idx="2">
                  <c:v>15.738362345332394</c:v>
                </c:pt>
              </c:numCache>
            </c:numRef>
          </c:val>
        </c:ser>
        <c:ser>
          <c:idx val="4"/>
          <c:order val="4"/>
          <c:tx>
            <c:strRef>
              <c:f>Sheet1!$F$1</c:f>
              <c:strCache>
                <c:ptCount val="1"/>
                <c:pt idx="0">
                  <c:v>Pharmacies and Drugstores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15.51750314361394</c:v>
                </c:pt>
                <c:pt idx="1">
                  <c:v>15.243607634085048</c:v>
                </c:pt>
                <c:pt idx="2">
                  <c:v>14.158001563767325</c:v>
                </c:pt>
              </c:numCache>
            </c:numRef>
          </c:val>
        </c:ser>
        <c:ser>
          <c:idx val="5"/>
          <c:order val="5"/>
          <c:tx>
            <c:strRef>
              <c:f>Sheet1!$G$1</c:f>
              <c:strCache>
                <c:ptCount val="1"/>
                <c:pt idx="0">
                  <c:v>Brand-owned Online Stores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12.532952556309612</c:v>
                </c:pt>
                <c:pt idx="1">
                  <c:v>12.285713431961682</c:v>
                </c:pt>
                <c:pt idx="2">
                  <c:v>13.34092871141413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Hold and Shape</c:v>
                </c:pt>
              </c:strCache>
            </c:strRef>
          </c:tx>
          <c:spPr>
            <a:solidFill>
              <a:srgbClr val="3D85C6"/>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Sheet1!$B$2:$B$3</c:f>
              <c:numCache>
                <c:formatCode>General</c:formatCode>
                <c:ptCount val="2"/>
                <c:pt idx="0">
                  <c:v>13.38838864769089</c:v>
                </c:pt>
                <c:pt idx="1">
                  <c:v>12.743506831249451</c:v>
                </c:pt>
              </c:numCache>
            </c:numRef>
          </c:val>
        </c:ser>
        <c:ser>
          <c:idx val="1"/>
          <c:order val="1"/>
          <c:tx>
            <c:strRef>
              <c:f>Sheet1!$C$1</c:f>
              <c:strCache>
                <c:ptCount val="1"/>
                <c:pt idx="0">
                  <c:v>Curl Definition</c:v>
                </c:pt>
              </c:strCache>
            </c:strRef>
          </c:tx>
          <c:spPr>
            <a:solidFill>
              <a:srgbClr val="9E7E0A"/>
            </a:solidFill>
            <a:ln>
              <a:noFill/>
            </a:ln>
          </c:spPr>
          <c:dLbls>
            <c:dLbl>
              <c:idx val="0"/>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Sheet1!$C$2:$C$3</c:f>
              <c:numCache>
                <c:formatCode>General</c:formatCode>
                <c:ptCount val="2"/>
                <c:pt idx="0">
                  <c:v>17.530546949564865</c:v>
                </c:pt>
                <c:pt idx="1">
                  <c:v>18.075060891240692</c:v>
                </c:pt>
              </c:numCache>
            </c:numRef>
          </c:val>
        </c:ser>
        <c:ser>
          <c:idx val="2"/>
          <c:order val="2"/>
          <c:tx>
            <c:strRef>
              <c:f>Sheet1!$D$1</c:f>
              <c:strCache>
                <c:ptCount val="1"/>
                <c:pt idx="0">
                  <c:v>Volume and Root Lift</c:v>
                </c:pt>
              </c:strCache>
            </c:strRef>
          </c:tx>
          <c:spPr>
            <a:solidFill>
              <a:srgbClr val="008189"/>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Sheet1!$D$2:$D$3</c:f>
              <c:numCache>
                <c:formatCode>General</c:formatCode>
                <c:ptCount val="2"/>
                <c:pt idx="0">
                  <c:v>13.000744893107264</c:v>
                </c:pt>
                <c:pt idx="1">
                  <c:v>13.520645746987626</c:v>
                </c:pt>
              </c:numCache>
            </c:numRef>
          </c:val>
        </c:ser>
        <c:ser>
          <c:idx val="3"/>
          <c:order val="3"/>
          <c:tx>
            <c:strRef>
              <c:f>Sheet1!$E$1</c:f>
              <c:strCache>
                <c:ptCount val="1"/>
                <c:pt idx="0">
                  <c:v>Texture and Separation</c:v>
                </c:pt>
              </c:strCache>
            </c:strRef>
          </c:tx>
          <c:spPr>
            <a:solidFill>
              <a:srgbClr val="40315E"/>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Sheet1!$E$2:$E$3</c:f>
              <c:numCache>
                <c:formatCode>General</c:formatCode>
                <c:ptCount val="2"/>
                <c:pt idx="0">
                  <c:v>13.70292465527107</c:v>
                </c:pt>
                <c:pt idx="1">
                  <c:v>12.968824614869481</c:v>
                </c:pt>
              </c:numCache>
            </c:numRef>
          </c:val>
        </c:ser>
        <c:ser>
          <c:idx val="4"/>
          <c:order val="4"/>
          <c:tx>
            <c:strRef>
              <c:f>Sheet1!$F$1</c:f>
              <c:strCache>
                <c:ptCount val="1"/>
                <c:pt idx="0">
                  <c:v>Smoothing and Frizz Control</c:v>
                </c:pt>
              </c:strCache>
            </c:strRef>
          </c:tx>
          <c:spPr>
            <a:solidFill>
              <a:srgbClr val="A35313"/>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Sheet1!$F$2:$F$3</c:f>
              <c:numCache>
                <c:formatCode>General</c:formatCode>
                <c:ptCount val="2"/>
                <c:pt idx="0">
                  <c:v>16.532021768839062</c:v>
                </c:pt>
                <c:pt idx="1">
                  <c:v>16.905515837107398</c:v>
                </c:pt>
              </c:numCache>
            </c:numRef>
          </c:val>
        </c:ser>
        <c:ser>
          <c:idx val="5"/>
          <c:order val="5"/>
          <c:tx>
            <c:strRef>
              <c:f>Sheet1!$G$1</c:f>
              <c:strCache>
                <c:ptCount val="1"/>
                <c:pt idx="0">
                  <c:v>Sleek Styling and Edge Control</c:v>
                </c:pt>
              </c:strCache>
            </c:strRef>
          </c:tx>
          <c:spPr>
            <a:solidFill>
              <a:srgbClr val="808080"/>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Sheet1!$G$2:$G$3</c:f>
              <c:numCache>
                <c:formatCode>General</c:formatCode>
                <c:ptCount val="2"/>
                <c:pt idx="0">
                  <c:v>10.633665714539003</c:v>
                </c:pt>
                <c:pt idx="1">
                  <c:v>10.060229153240325</c:v>
                </c:pt>
              </c:numCache>
            </c:numRef>
          </c:val>
        </c:ser>
        <c:ser>
          <c:idx val="6"/>
          <c:order val="6"/>
          <c:tx>
            <c:strRef>
              <c:f>Sheet1!$H$1</c:f>
              <c:strCache>
                <c:ptCount val="1"/>
                <c:pt idx="0">
                  <c:v>Heat Styling Support</c:v>
                </c:pt>
              </c:strCache>
            </c:strRef>
          </c:tx>
          <c:spPr>
            <a:solidFill>
              <a:srgbClr val="0E72AE"/>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Sheet1!$H$2:$H$3</c:f>
              <c:numCache>
                <c:formatCode>General</c:formatCode>
                <c:ptCount val="2"/>
                <c:pt idx="0">
                  <c:v>15.211707370987854</c:v>
                </c:pt>
                <c:pt idx="1">
                  <c:v>15.726216925305033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Hold and Shape</c:v>
                </c:pt>
              </c:strCache>
            </c:strRef>
          </c:tx>
          <c:spPr>
            <a:solidFill>
              <a:srgbClr val="3D85C6"/>
            </a:solidFill>
          </c:spPr>
          <c:invertIfNegative val="0"/>
          <c:xVal>
            <c:numRef>
              <c:f>Sheet1!$A$2:$A$2</c:f>
              <c:numCache>
                <c:formatCode>General</c:formatCode>
                <c:ptCount val="1"/>
                <c:pt idx="0">
                  <c:v>72.26469947011256</c:v>
                </c:pt>
              </c:numCache>
            </c:numRef>
          </c:xVal>
          <c:yVal>
            <c:numRef>
              <c:f>Sheet1!$B$2:$B$2</c:f>
              <c:numCache>
                <c:formatCode>General</c:formatCode>
                <c:ptCount val="1"/>
                <c:pt idx="0">
                  <c:v>105.16090707020564</c:v>
                </c:pt>
              </c:numCache>
            </c:numRef>
          </c:yVal>
          <c:bubbleSize>
            <c:numRef>
              <c:f>Sheet1!$C$2:$C$2</c:f>
              <c:numCache>
                <c:formatCode>General</c:formatCode>
                <c:ptCount val="1"/>
                <c:pt idx="0">
                  <c:v>1157.577</c:v>
                </c:pt>
              </c:numCache>
            </c:numRef>
          </c:bubbleSize>
          <c:bubble3D val="0"/>
        </c:ser>
        <c:ser>
          <c:idx val="1"/>
          <c:order val="1"/>
          <c:tx>
            <c:strRef>
              <c:f>Sheet1!$B$4</c:f>
              <c:strCache>
                <c:ptCount val="1"/>
                <c:pt idx="0">
                  <c:v>Curl Definition</c:v>
                </c:pt>
              </c:strCache>
            </c:strRef>
          </c:tx>
          <c:spPr>
            <a:solidFill>
              <a:srgbClr val="9E7E0A"/>
            </a:solidFill>
          </c:spPr>
          <c:invertIfNegative val="0"/>
          <c:xVal>
            <c:numRef>
              <c:f>Sheet1!$A$5:$A$5</c:f>
              <c:numCache>
                <c:formatCode>General</c:formatCode>
                <c:ptCount val="1"/>
                <c:pt idx="0">
                  <c:v>124.3534428659095</c:v>
                </c:pt>
              </c:numCache>
            </c:numRef>
          </c:xVal>
          <c:yVal>
            <c:numRef>
              <c:f>Sheet1!$B$5:$B$5</c:f>
              <c:numCache>
                <c:formatCode>General</c:formatCode>
                <c:ptCount val="1"/>
                <c:pt idx="0">
                  <c:v>109.87921162647363</c:v>
                </c:pt>
              </c:numCache>
            </c:numRef>
          </c:yVal>
          <c:bubbleSize>
            <c:numRef>
              <c:f>Sheet1!$C$5:$C$5</c:f>
              <c:numCache>
                <c:formatCode>General</c:formatCode>
                <c:ptCount val="1"/>
                <c:pt idx="0">
                  <c:v>1629.203</c:v>
                </c:pt>
              </c:numCache>
            </c:numRef>
          </c:bubbleSize>
          <c:bubble3D val="0"/>
        </c:ser>
        <c:ser>
          <c:idx val="2"/>
          <c:order val="2"/>
          <c:tx>
            <c:strRef>
              <c:f>Sheet1!$B$7</c:f>
              <c:strCache>
                <c:ptCount val="1"/>
                <c:pt idx="0">
                  <c:v>Volume and Root Lift</c:v>
                </c:pt>
              </c:strCache>
            </c:strRef>
          </c:tx>
          <c:spPr>
            <a:solidFill>
              <a:srgbClr val="008189"/>
            </a:solidFill>
          </c:spPr>
          <c:invertIfNegative val="0"/>
          <c:xVal>
            <c:numRef>
              <c:f>Sheet1!$A$8:$A$8</c:f>
              <c:numCache>
                <c:formatCode>General</c:formatCode>
                <c:ptCount val="1"/>
                <c:pt idx="0">
                  <c:v>88.83795235714477</c:v>
                </c:pt>
              </c:numCache>
            </c:numRef>
          </c:xVal>
          <c:yVal>
            <c:numRef>
              <c:f>Sheet1!$B$8:$B$8</c:f>
              <c:numCache>
                <c:formatCode>General</c:formatCode>
                <c:ptCount val="1"/>
                <c:pt idx="0">
                  <c:v>100.52389969907493</c:v>
                </c:pt>
              </c:numCache>
            </c:numRef>
          </c:yVal>
          <c:bubbleSize>
            <c:numRef>
              <c:f>Sheet1!$C$8:$C$8</c:f>
              <c:numCache>
                <c:formatCode>General</c:formatCode>
                <c:ptCount val="1"/>
                <c:pt idx="0">
                  <c:v>1217.712</c:v>
                </c:pt>
              </c:numCache>
            </c:numRef>
          </c:bubbleSize>
          <c:bubble3D val="0"/>
        </c:ser>
        <c:ser>
          <c:idx val="3"/>
          <c:order val="3"/>
          <c:tx>
            <c:strRef>
              <c:f>Sheet1!$B$10</c:f>
              <c:strCache>
                <c:ptCount val="1"/>
                <c:pt idx="0">
                  <c:v>Texture and Separation</c:v>
                </c:pt>
              </c:strCache>
            </c:strRef>
          </c:tx>
          <c:spPr>
            <a:solidFill>
              <a:srgbClr val="40315E"/>
            </a:solidFill>
          </c:spPr>
          <c:invertIfNegative val="0"/>
          <c:xVal>
            <c:numRef>
              <c:f>Sheet1!$A$11:$A$11</c:f>
              <c:numCache>
                <c:formatCode>General</c:formatCode>
                <c:ptCount val="1"/>
                <c:pt idx="0">
                  <c:v>97.823518030781</c:v>
                </c:pt>
              </c:numCache>
            </c:numRef>
          </c:xVal>
          <c:yVal>
            <c:numRef>
              <c:f>Sheet1!$B$11:$B$11</c:f>
              <c:numCache>
                <c:formatCode>General</c:formatCode>
                <c:ptCount val="1"/>
                <c:pt idx="0">
                  <c:v>92.41816594665903</c:v>
                </c:pt>
              </c:numCache>
            </c:numRef>
          </c:yVal>
          <c:bubbleSize>
            <c:numRef>
              <c:f>Sheet1!$C$11:$C$11</c:f>
              <c:numCache>
                <c:formatCode>General</c:formatCode>
                <c:ptCount val="1"/>
                <c:pt idx="0">
                  <c:v>1178.72</c:v>
                </c:pt>
              </c:numCache>
            </c:numRef>
          </c:bubbleSize>
          <c:bubble3D val="0"/>
        </c:ser>
        <c:ser>
          <c:idx val="4"/>
          <c:order val="4"/>
          <c:tx>
            <c:strRef>
              <c:f>Sheet1!$B$13</c:f>
              <c:strCache>
                <c:ptCount val="1"/>
                <c:pt idx="0">
                  <c:v>Smoothing and Frizz Control</c:v>
                </c:pt>
              </c:strCache>
            </c:strRef>
          </c:tx>
          <c:spPr>
            <a:solidFill>
              <a:srgbClr val="A35313"/>
            </a:solidFill>
          </c:spPr>
          <c:invertIfNegative val="0"/>
          <c:xVal>
            <c:numRef>
              <c:f>Sheet1!$A$14:$A$14</c:f>
              <c:numCache>
                <c:formatCode>General</c:formatCode>
                <c:ptCount val="1"/>
                <c:pt idx="0">
                  <c:v>108.30783097048047</c:v>
                </c:pt>
              </c:numCache>
            </c:numRef>
          </c:xVal>
          <c:yVal>
            <c:numRef>
              <c:f>Sheet1!$B$14:$B$14</c:f>
              <c:numCache>
                <c:formatCode>General</c:formatCode>
                <c:ptCount val="1"/>
                <c:pt idx="0">
                  <c:v>112.62658236673818</c:v>
                </c:pt>
              </c:numCache>
            </c:numRef>
          </c:yVal>
          <c:bubbleSize>
            <c:numRef>
              <c:f>Sheet1!$C$14:$C$14</c:f>
              <c:numCache>
                <c:formatCode>General</c:formatCode>
                <c:ptCount val="1"/>
                <c:pt idx="0">
                  <c:v>1524.965</c:v>
                </c:pt>
              </c:numCache>
            </c:numRef>
          </c:bubbleSize>
          <c:bubble3D val="0"/>
        </c:ser>
        <c:ser>
          <c:idx val="5"/>
          <c:order val="5"/>
          <c:tx>
            <c:strRef>
              <c:f>Sheet1!$B$16</c:f>
              <c:strCache>
                <c:ptCount val="1"/>
                <c:pt idx="0">
                  <c:v>Sleek Styling and Edge Control</c:v>
                </c:pt>
              </c:strCache>
            </c:strRef>
          </c:tx>
          <c:spPr>
            <a:solidFill>
              <a:srgbClr val="808080"/>
            </a:solidFill>
          </c:spPr>
          <c:invertIfNegative val="0"/>
          <c:xVal>
            <c:numRef>
              <c:f>Sheet1!$A$17:$A$17</c:f>
              <c:numCache>
                <c:formatCode>General</c:formatCode>
                <c:ptCount val="1"/>
                <c:pt idx="0">
                  <c:v>81.15872197632618</c:v>
                </c:pt>
              </c:numCache>
            </c:numRef>
          </c:xVal>
          <c:yVal>
            <c:numRef>
              <c:f>Sheet1!$B$17:$B$17</c:f>
              <c:numCache>
                <c:formatCode>General</c:formatCode>
                <c:ptCount val="1"/>
                <c:pt idx="0">
                  <c:v>78.89982457657136</c:v>
                </c:pt>
              </c:numCache>
            </c:numRef>
          </c:yVal>
          <c:bubbleSize>
            <c:numRef>
              <c:f>Sheet1!$C$17:$C$17</c:f>
              <c:numCache>
                <c:formatCode>General</c:formatCode>
                <c:ptCount val="1"/>
                <c:pt idx="0">
                  <c:v>914.397</c:v>
                </c:pt>
              </c:numCache>
            </c:numRef>
          </c:bubbleSize>
          <c:bubble3D val="0"/>
        </c:ser>
        <c:ser>
          <c:idx val="6"/>
          <c:order val="6"/>
          <c:tx>
            <c:strRef>
              <c:f>Sheet1!$B$19</c:f>
              <c:strCache>
                <c:ptCount val="1"/>
                <c:pt idx="0">
                  <c:v>Heat Styling Support</c:v>
                </c:pt>
              </c:strCache>
            </c:strRef>
          </c:tx>
          <c:spPr>
            <a:solidFill>
              <a:srgbClr val="0E72AE"/>
            </a:solidFill>
          </c:spPr>
          <c:invertIfNegative val="0"/>
          <c:xVal>
            <c:numRef>
              <c:f>Sheet1!$A$20:$A$20</c:f>
              <c:numCache>
                <c:formatCode>General</c:formatCode>
                <c:ptCount val="1"/>
                <c:pt idx="0">
                  <c:v>115.47576461910631</c:v>
                </c:pt>
              </c:numCache>
            </c:numRef>
          </c:xVal>
          <c:yVal>
            <c:numRef>
              <c:f>Sheet1!$B$20:$B$20</c:f>
              <c:numCache>
                <c:formatCode>General</c:formatCode>
                <c:ptCount val="1"/>
                <c:pt idx="0">
                  <c:v>100.49140871427737</c:v>
                </c:pt>
              </c:numCache>
            </c:numRef>
          </c:yVal>
          <c:bubbleSize>
            <c:numRef>
              <c:f>Sheet1!$C$20:$C$20</c:f>
              <c:numCache>
                <c:formatCode>General</c:formatCode>
                <c:ptCount val="1"/>
                <c:pt idx="0">
                  <c:v>1417.135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0"/>
          <c:min val="5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6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754.132</c:v>
                </c:pt>
                <c:pt idx="2">
                  <c:v>814.793</c:v>
                </c:pt>
                <c:pt idx="3">
                  <c:v>887.478</c:v>
                </c:pt>
                <c:pt idx="4">
                  <c:v>966.788</c:v>
                </c:pt>
                <c:pt idx="5">
                  <c:v>1057.326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754.132</c:v>
                </c:pt>
                <c:pt idx="1">
                  <c:v>60.66100000000006</c:v>
                </c:pt>
                <c:pt idx="2">
                  <c:v>72.68499999999995</c:v>
                </c:pt>
                <c:pt idx="3">
                  <c:v>79.31000000000006</c:v>
                </c:pt>
                <c:pt idx="4">
                  <c:v>90.53800000000001</c:v>
                </c:pt>
                <c:pt idx="5">
                  <c:v>100.25099999999998</c:v>
                </c:pt>
                <c:pt idx="6">
                  <c:v>1157.577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787.968</c:v>
                </c:pt>
                <c:pt idx="2">
                  <c:v>887.94</c:v>
                </c:pt>
                <c:pt idx="3">
                  <c:v>1020.29</c:v>
                </c:pt>
                <c:pt idx="4">
                  <c:v>1194.124</c:v>
                </c:pt>
                <c:pt idx="5">
                  <c:v>1397.049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787.968</c:v>
                </c:pt>
                <c:pt idx="1">
                  <c:v>99.9720000000001</c:v>
                </c:pt>
                <c:pt idx="2">
                  <c:v>132.3499999999999</c:v>
                </c:pt>
                <c:pt idx="3">
                  <c:v>173.83400000000006</c:v>
                </c:pt>
                <c:pt idx="4">
                  <c:v>202.92499999999995</c:v>
                </c:pt>
                <c:pt idx="5">
                  <c:v>232.154</c:v>
                </c:pt>
                <c:pt idx="6">
                  <c:v>1629.203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720.879</c:v>
                </c:pt>
                <c:pt idx="2">
                  <c:v>795.273</c:v>
                </c:pt>
                <c:pt idx="3">
                  <c:v>882.725</c:v>
                </c:pt>
                <c:pt idx="4">
                  <c:v>981.934</c:v>
                </c:pt>
                <c:pt idx="5">
                  <c:v>1093.419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720.879</c:v>
                </c:pt>
                <c:pt idx="1">
                  <c:v>74.394</c:v>
                </c:pt>
                <c:pt idx="2">
                  <c:v>87.452</c:v>
                </c:pt>
                <c:pt idx="3">
                  <c:v>99.20899999999995</c:v>
                </c:pt>
                <c:pt idx="4">
                  <c:v>111.48500000000013</c:v>
                </c:pt>
                <c:pt idx="5">
                  <c:v>124.29299999999989</c:v>
                </c:pt>
                <c:pt idx="6">
                  <c:v>1217.712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662.751</c:v>
                </c:pt>
                <c:pt idx="2">
                  <c:v>736.494</c:v>
                </c:pt>
                <c:pt idx="3">
                  <c:v>825.575</c:v>
                </c:pt>
                <c:pt idx="4">
                  <c:v>927.125</c:v>
                </c:pt>
                <c:pt idx="5">
                  <c:v>1045.023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662.751</c:v>
                </c:pt>
                <c:pt idx="1">
                  <c:v>73.74300000000005</c:v>
                </c:pt>
                <c:pt idx="2">
                  <c:v>89.08100000000002</c:v>
                </c:pt>
                <c:pt idx="3">
                  <c:v>101.54999999999995</c:v>
                </c:pt>
                <c:pt idx="4">
                  <c:v>117.89799999999991</c:v>
                </c:pt>
                <c:pt idx="5">
                  <c:v>133.69700000000012</c:v>
                </c:pt>
                <c:pt idx="6">
                  <c:v>1178.72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807.67</c:v>
                </c:pt>
                <c:pt idx="2">
                  <c:v>892.076</c:v>
                </c:pt>
                <c:pt idx="3">
                  <c:v>1007.195</c:v>
                </c:pt>
                <c:pt idx="4">
                  <c:v>1152.118</c:v>
                </c:pt>
                <c:pt idx="5">
                  <c:v>1325.218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807.67</c:v>
                </c:pt>
                <c:pt idx="1">
                  <c:v>84.40600000000006</c:v>
                </c:pt>
                <c:pt idx="2">
                  <c:v>115.11900000000003</c:v>
                </c:pt>
                <c:pt idx="3">
                  <c:v>144.9229999999999</c:v>
                </c:pt>
                <c:pt idx="4">
                  <c:v>173.10000000000014</c:v>
                </c:pt>
                <c:pt idx="5">
                  <c:v>199.74699999999984</c:v>
                </c:pt>
                <c:pt idx="6">
                  <c:v>1524.965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565.808</c:v>
                </c:pt>
                <c:pt idx="2">
                  <c:v>614.898</c:v>
                </c:pt>
                <c:pt idx="3">
                  <c:v>677.283</c:v>
                </c:pt>
                <c:pt idx="4">
                  <c:v>749.573</c:v>
                </c:pt>
                <c:pt idx="5">
                  <c:v>827.853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565.808</c:v>
                </c:pt>
                <c:pt idx="1">
                  <c:v>49.09000000000003</c:v>
                </c:pt>
                <c:pt idx="2">
                  <c:v>62.38499999999999</c:v>
                </c:pt>
                <c:pt idx="3">
                  <c:v>72.28999999999996</c:v>
                </c:pt>
                <c:pt idx="4">
                  <c:v>78.27999999999997</c:v>
                </c:pt>
                <c:pt idx="5">
                  <c:v>86.5440000000001</c:v>
                </c:pt>
                <c:pt idx="6">
                  <c:v>914.397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720.646</c:v>
                </c:pt>
                <c:pt idx="2">
                  <c:v>806.439</c:v>
                </c:pt>
                <c:pt idx="3">
                  <c:v>914.864</c:v>
                </c:pt>
                <c:pt idx="4">
                  <c:v>1053.34</c:v>
                </c:pt>
                <c:pt idx="5">
                  <c:v>1222.173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720.646</c:v>
                </c:pt>
                <c:pt idx="1">
                  <c:v>85.793</c:v>
                </c:pt>
                <c:pt idx="2">
                  <c:v>108.42500000000007</c:v>
                </c:pt>
                <c:pt idx="3">
                  <c:v>138.47599999999989</c:v>
                </c:pt>
                <c:pt idx="4">
                  <c:v>168.83300000000008</c:v>
                </c:pt>
                <c:pt idx="5">
                  <c:v>194.962</c:v>
                </c:pt>
                <c:pt idx="6">
                  <c:v>1417.135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Curl Definition</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15.426744429878239</c:v>
                </c:pt>
                <c:pt idx="1">
                  <c:v>15.697030232353374</c:v>
                </c:pt>
                <c:pt idx="2">
                  <c:v>18.02273723634245</c:v>
                </c:pt>
              </c:numCache>
            </c:numRef>
          </c:val>
        </c:ser>
        <c:ser>
          <c:idx val="1"/>
          <c:order val="1"/>
          <c:tx>
            <c:strRef>
              <c:f>Sheet1!$C$1</c:f>
              <c:strCache>
                <c:ptCount val="1"/>
                <c:pt idx="0">
                  <c:v>Smoothing and Frizz Control</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16.484398041358887</c:v>
                </c:pt>
                <c:pt idx="1">
                  <c:v>16.089511766676882</c:v>
                </c:pt>
                <c:pt idx="2">
                  <c:v>16.869624896111144</c:v>
                </c:pt>
              </c:numCache>
            </c:numRef>
          </c:val>
        </c:ser>
        <c:ser>
          <c:idx val="2"/>
          <c:order val="2"/>
          <c:tx>
            <c:strRef>
              <c:f>Sheet1!$D$1</c:f>
              <c:strCache>
                <c:ptCount val="1"/>
                <c:pt idx="0">
                  <c:v>Heat Styling Support</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13.919214528928991</c:v>
                </c:pt>
                <c:pt idx="1">
                  <c:v>14.355915530611052</c:v>
                </c:pt>
                <c:pt idx="2">
                  <c:v>15.676776763499797</c:v>
                </c:pt>
              </c:numCache>
            </c:numRef>
          </c:val>
        </c:ser>
        <c:ser>
          <c:idx val="3"/>
          <c:order val="3"/>
          <c:tx>
            <c:strRef>
              <c:f>Sheet1!$E$1</c:f>
              <c:strCache>
                <c:ptCount val="1"/>
                <c:pt idx="0">
                  <c:v>Volume and Root Lift</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14.293663473454659</c:v>
                </c:pt>
                <c:pt idx="1">
                  <c:v>14.360557099867846</c:v>
                </c:pt>
                <c:pt idx="2">
                  <c:v>13.470699112106374</c:v>
                </c:pt>
              </c:numCache>
            </c:numRef>
          </c:val>
        </c:ser>
        <c:ser>
          <c:idx val="4"/>
          <c:order val="4"/>
          <c:tx>
            <c:strRef>
              <c:f>Sheet1!$F$1</c:f>
              <c:strCache>
                <c:ptCount val="1"/>
                <c:pt idx="0">
                  <c:v>Texture and Separation</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12.809088668173437</c:v>
                </c:pt>
                <c:pt idx="1">
                  <c:v>13.202595135237003</c:v>
                </c:pt>
                <c:pt idx="2">
                  <c:v>13.039357793486491</c:v>
                </c:pt>
              </c:numCache>
            </c:numRef>
          </c:val>
        </c:ser>
        <c:ser>
          <c:idx val="5"/>
          <c:order val="5"/>
          <c:tx>
            <c:strRef>
              <c:f>Sheet1!$G$1</c:f>
              <c:strCache>
                <c:ptCount val="1"/>
                <c:pt idx="0">
                  <c:v>Hold and Shape</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15.507159907424134</c:v>
                </c:pt>
                <c:pt idx="1">
                  <c:v>15.022986724315091</c:v>
                </c:pt>
                <c:pt idx="2">
                  <c:v>12.805467521133698</c:v>
                </c:pt>
              </c:numCache>
            </c:numRef>
          </c:val>
        </c:ser>
        <c:ser>
          <c:idx val="6"/>
          <c:order val="6"/>
          <c:tx>
            <c:strRef>
              <c:f>Sheet1!$H$1</c:f>
              <c:strCache>
                <c:ptCount val="1"/>
                <c:pt idx="0">
                  <c:v>Sleek Styling and Edge Control</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11.55973095078166</c:v>
                </c:pt>
                <c:pt idx="1">
                  <c:v>11.271403510938766</c:v>
                </c:pt>
                <c:pt idx="2">
                  <c:v>10.115336677320034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Straight Hair</c:v>
                </c:pt>
              </c:strCache>
            </c:strRef>
          </c:tx>
          <c:spPr>
            <a:solidFill>
              <a:srgbClr val="3D85C6"/>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Sheet1!$B$2:$B$3</c:f>
              <c:numCache>
                <c:formatCode>General</c:formatCode>
                <c:ptCount val="2"/>
                <c:pt idx="0">
                  <c:v>19.032630194961445</c:v>
                </c:pt>
                <c:pt idx="1">
                  <c:v>18.2277081518508</c:v>
                </c:pt>
              </c:numCache>
            </c:numRef>
          </c:val>
        </c:ser>
        <c:ser>
          <c:idx val="1"/>
          <c:order val="1"/>
          <c:tx>
            <c:strRef>
              <c:f>Sheet1!$C$1</c:f>
              <c:strCache>
                <c:ptCount val="1"/>
                <c:pt idx="0">
                  <c:v>Wavy Hair</c:v>
                </c:pt>
              </c:strCache>
            </c:strRef>
          </c:tx>
          <c:spPr>
            <a:solidFill>
              <a:srgbClr val="9E7E0A"/>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Sheet1!$C$2:$C$3</c:f>
              <c:numCache>
                <c:formatCode>General</c:formatCode>
                <c:ptCount val="2"/>
                <c:pt idx="0">
                  <c:v>20.146629794308428</c:v>
                </c:pt>
                <c:pt idx="1">
                  <c:v>19.270477532717035</c:v>
                </c:pt>
              </c:numCache>
            </c:numRef>
          </c:val>
        </c:ser>
        <c:ser>
          <c:idx val="2"/>
          <c:order val="2"/>
          <c:tx>
            <c:strRef>
              <c:f>Sheet1!$D$1</c:f>
              <c:strCache>
                <c:ptCount val="1"/>
                <c:pt idx="0">
                  <c:v>Curly Hair</c:v>
                </c:pt>
              </c:strCache>
            </c:strRef>
          </c:tx>
          <c:spPr>
            <a:solidFill>
              <a:srgbClr val="008189"/>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Sheet1!$D$2:$D$3</c:f>
              <c:numCache>
                <c:formatCode>General</c:formatCode>
                <c:ptCount val="2"/>
                <c:pt idx="0">
                  <c:v>20.172994604999875</c:v>
                </c:pt>
                <c:pt idx="1">
                  <c:v>19.26061353110942</c:v>
                </c:pt>
              </c:numCache>
            </c:numRef>
          </c:val>
        </c:ser>
        <c:ser>
          <c:idx val="3"/>
          <c:order val="3"/>
          <c:tx>
            <c:strRef>
              <c:f>Sheet1!$E$1</c:f>
              <c:strCache>
                <c:ptCount val="1"/>
                <c:pt idx="0">
                  <c:v>Coily Hair</c:v>
                </c:pt>
              </c:strCache>
            </c:strRef>
          </c:tx>
          <c:spPr>
            <a:solidFill>
              <a:srgbClr val="40315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Sheet1!$E$2:$E$3</c:f>
              <c:numCache>
                <c:formatCode>General</c:formatCode>
                <c:ptCount val="2"/>
                <c:pt idx="0">
                  <c:v>19.916599699279978</c:v>
                </c:pt>
                <c:pt idx="1">
                  <c:v>23.070504603649482</c:v>
                </c:pt>
              </c:numCache>
            </c:numRef>
          </c:val>
        </c:ser>
        <c:ser>
          <c:idx val="4"/>
          <c:order val="4"/>
          <c:tx>
            <c:strRef>
              <c:f>Sheet1!$F$1</c:f>
              <c:strCache>
                <c:ptCount val="1"/>
                <c:pt idx="0">
                  <c:v>All Hair Types</c:v>
                </c:pt>
              </c:strCache>
            </c:strRef>
          </c:tx>
          <c:spPr>
            <a:solidFill>
              <a:srgbClr val="A35313"/>
            </a:solidFill>
            <a:ln>
              <a:noFill/>
            </a:ln>
          </c:spPr>
          <c:dLbls>
            <c:dLbl>
              <c:idx val="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Sheet1!$F$2:$F$3</c:f>
              <c:numCache>
                <c:formatCode>General</c:formatCode>
                <c:ptCount val="2"/>
                <c:pt idx="0">
                  <c:v>20.731145706450288</c:v>
                </c:pt>
                <c:pt idx="1">
                  <c:v>20.17069618067326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3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Straight Hair</c:v>
                </c:pt>
              </c:strCache>
            </c:strRef>
          </c:tx>
          <c:spPr>
            <a:solidFill>
              <a:srgbClr val="3D85C6"/>
            </a:solidFill>
          </c:spPr>
          <c:invertIfNegative val="0"/>
          <c:xVal>
            <c:numRef>
              <c:f>Sheet1!$A$2:$A$2</c:f>
              <c:numCache>
                <c:formatCode>General</c:formatCode>
                <c:ptCount val="1"/>
                <c:pt idx="0">
                  <c:v>82.21252118086974</c:v>
                </c:pt>
              </c:numCache>
            </c:numRef>
          </c:xVal>
          <c:yVal>
            <c:numRef>
              <c:f>Sheet1!$B$2:$B$2</c:f>
              <c:numCache>
                <c:formatCode>General</c:formatCode>
                <c:ptCount val="1"/>
                <c:pt idx="0">
                  <c:v>101.36697175516025</c:v>
                </c:pt>
              </c:numCache>
            </c:numRef>
          </c:yVal>
          <c:bubbleSize>
            <c:numRef>
              <c:f>Sheet1!$C$2:$C$2</c:f>
              <c:numCache>
                <c:formatCode>General</c:formatCode>
                <c:ptCount val="1"/>
                <c:pt idx="0">
                  <c:v>1654.723</c:v>
                </c:pt>
              </c:numCache>
            </c:numRef>
          </c:bubbleSize>
          <c:bubble3D val="0"/>
        </c:ser>
        <c:ser>
          <c:idx val="1"/>
          <c:order val="1"/>
          <c:tx>
            <c:strRef>
              <c:f>Sheet1!$B$4</c:f>
              <c:strCache>
                <c:ptCount val="1"/>
                <c:pt idx="0">
                  <c:v>Wavy Hair</c:v>
                </c:pt>
              </c:strCache>
            </c:strRef>
          </c:tx>
          <c:spPr>
            <a:solidFill>
              <a:srgbClr val="9E7E0A"/>
            </a:solidFill>
          </c:spPr>
          <c:invertIfNegative val="0"/>
          <c:xVal>
            <c:numRef>
              <c:f>Sheet1!$A$5:$A$5</c:f>
              <c:numCache>
                <c:formatCode>General</c:formatCode>
                <c:ptCount val="1"/>
                <c:pt idx="0">
                  <c:v>98.87842317554828</c:v>
                </c:pt>
              </c:numCache>
            </c:numRef>
          </c:xVal>
          <c:yVal>
            <c:numRef>
              <c:f>Sheet1!$B$5:$B$5</c:f>
              <c:numCache>
                <c:formatCode>General</c:formatCode>
                <c:ptCount val="1"/>
                <c:pt idx="0">
                  <c:v>97.39554230152065</c:v>
                </c:pt>
              </c:numCache>
            </c:numRef>
          </c:yVal>
          <c:bubbleSize>
            <c:numRef>
              <c:f>Sheet1!$C$5:$C$5</c:f>
              <c:numCache>
                <c:formatCode>General</c:formatCode>
                <c:ptCount val="1"/>
                <c:pt idx="0">
                  <c:v>1749.605</c:v>
                </c:pt>
              </c:numCache>
            </c:numRef>
          </c:bubbleSize>
          <c:bubble3D val="0"/>
        </c:ser>
        <c:ser>
          <c:idx val="2"/>
          <c:order val="2"/>
          <c:tx>
            <c:strRef>
              <c:f>Sheet1!$B$7</c:f>
              <c:strCache>
                <c:ptCount val="1"/>
                <c:pt idx="0">
                  <c:v>Curly Hair</c:v>
                </c:pt>
              </c:strCache>
            </c:strRef>
          </c:tx>
          <c:spPr>
            <a:solidFill>
              <a:srgbClr val="008189"/>
            </a:solidFill>
          </c:spPr>
          <c:invertIfNegative val="0"/>
          <c:xVal>
            <c:numRef>
              <c:f>Sheet1!$A$8:$A$8</c:f>
              <c:numCache>
                <c:formatCode>General</c:formatCode>
                <c:ptCount val="1"/>
                <c:pt idx="0">
                  <c:v>109.92802774012095</c:v>
                </c:pt>
              </c:numCache>
            </c:numRef>
          </c:xVal>
          <c:yVal>
            <c:numRef>
              <c:f>Sheet1!$B$8:$B$8</c:f>
              <c:numCache>
                <c:formatCode>General</c:formatCode>
                <c:ptCount val="1"/>
                <c:pt idx="0">
                  <c:v>91.42206298787514</c:v>
                </c:pt>
              </c:numCache>
            </c:numRef>
          </c:yVal>
          <c:bubbleSize>
            <c:numRef>
              <c:f>Sheet1!$C$8:$C$8</c:f>
              <c:numCache>
                <c:formatCode>General</c:formatCode>
                <c:ptCount val="1"/>
                <c:pt idx="0">
                  <c:v>1749.028</c:v>
                </c:pt>
              </c:numCache>
            </c:numRef>
          </c:bubbleSize>
          <c:bubble3D val="0"/>
        </c:ser>
        <c:ser>
          <c:idx val="3"/>
          <c:order val="3"/>
          <c:tx>
            <c:strRef>
              <c:f>Sheet1!$B$10</c:f>
              <c:strCache>
                <c:ptCount val="1"/>
                <c:pt idx="0">
                  <c:v>Coily Hair</c:v>
                </c:pt>
              </c:strCache>
            </c:strRef>
          </c:tx>
          <c:spPr>
            <a:solidFill>
              <a:srgbClr val="40315E"/>
            </a:solidFill>
          </c:spPr>
          <c:invertIfNegative val="0"/>
          <c:xVal>
            <c:numRef>
              <c:f>Sheet1!$A$11:$A$11</c:f>
              <c:numCache>
                <c:formatCode>General</c:formatCode>
                <c:ptCount val="1"/>
                <c:pt idx="0">
                  <c:v>117.18263611511246</c:v>
                </c:pt>
              </c:numCache>
            </c:numRef>
          </c:xVal>
          <c:yVal>
            <c:numRef>
              <c:f>Sheet1!$B$11:$B$11</c:f>
              <c:numCache>
                <c:formatCode>General</c:formatCode>
                <c:ptCount val="1"/>
                <c:pt idx="0">
                  <c:v>103.24361958662152</c:v>
                </c:pt>
              </c:numCache>
            </c:numRef>
          </c:yVal>
          <c:bubbleSize>
            <c:numRef>
              <c:f>Sheet1!$C$11:$C$11</c:f>
              <c:numCache>
                <c:formatCode>General</c:formatCode>
                <c:ptCount val="1"/>
                <c:pt idx="0">
                  <c:v>2058.112</c:v>
                </c:pt>
              </c:numCache>
            </c:numRef>
          </c:bubbleSize>
          <c:bubble3D val="0"/>
        </c:ser>
        <c:ser>
          <c:idx val="4"/>
          <c:order val="4"/>
          <c:tx>
            <c:strRef>
              <c:f>Sheet1!$B$13</c:f>
              <c:strCache>
                <c:ptCount val="1"/>
                <c:pt idx="0">
                  <c:v>All Hair Types</c:v>
                </c:pt>
              </c:strCache>
            </c:strRef>
          </c:tx>
          <c:spPr>
            <a:solidFill>
              <a:srgbClr val="A35313"/>
            </a:solidFill>
          </c:spPr>
          <c:invertIfNegative val="0"/>
          <c:xVal>
            <c:numRef>
              <c:f>Sheet1!$A$14:$A$14</c:f>
              <c:numCache>
                <c:formatCode>General</c:formatCode>
                <c:ptCount val="1"/>
                <c:pt idx="0">
                  <c:v>90.83665353657865</c:v>
                </c:pt>
              </c:numCache>
            </c:numRef>
          </c:xVal>
          <c:yVal>
            <c:numRef>
              <c:f>Sheet1!$B$14:$B$14</c:f>
              <c:numCache>
                <c:formatCode>General</c:formatCode>
                <c:ptCount val="1"/>
                <c:pt idx="0">
                  <c:v>106.57180336882239</c:v>
                </c:pt>
              </c:numCache>
            </c:numRef>
          </c:yVal>
          <c:bubbleSize>
            <c:numRef>
              <c:f>Sheet1!$C$14:$C$14</c:f>
              <c:numCache>
                <c:formatCode>General</c:formatCode>
                <c:ptCount val="1"/>
                <c:pt idx="0">
                  <c:v>1828.24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7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1017.695</c:v>
                </c:pt>
                <c:pt idx="2">
                  <c:v>1109.81</c:v>
                </c:pt>
                <c:pt idx="3">
                  <c:v>1222.103</c:v>
                </c:pt>
                <c:pt idx="4">
                  <c:v>1347.588</c:v>
                </c:pt>
                <c:pt idx="5">
                  <c:v>1492.739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1017.695</c:v>
                </c:pt>
                <c:pt idx="1">
                  <c:v>92.1149999999999</c:v>
                </c:pt>
                <c:pt idx="2">
                  <c:v>112.29300000000012</c:v>
                </c:pt>
                <c:pt idx="3">
                  <c:v>125.4849999999999</c:v>
                </c:pt>
                <c:pt idx="4">
                  <c:v>145.15100000000007</c:v>
                </c:pt>
                <c:pt idx="5">
                  <c:v>161.98399999999992</c:v>
                </c:pt>
                <c:pt idx="6">
                  <c:v>1654.723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977.823</c:v>
                </c:pt>
                <c:pt idx="2">
                  <c:v>1089.083</c:v>
                </c:pt>
                <c:pt idx="3">
                  <c:v>1221.906</c:v>
                </c:pt>
                <c:pt idx="4">
                  <c:v>1376.187</c:v>
                </c:pt>
                <c:pt idx="5">
                  <c:v>1551.86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977.823</c:v>
                </c:pt>
                <c:pt idx="1">
                  <c:v>111.2600000000001</c:v>
                </c:pt>
                <c:pt idx="2">
                  <c:v>132.82299999999987</c:v>
                </c:pt>
                <c:pt idx="3">
                  <c:v>154.28099999999995</c:v>
                </c:pt>
                <c:pt idx="4">
                  <c:v>175.673</c:v>
                </c:pt>
                <c:pt idx="5">
                  <c:v>197.74500000000012</c:v>
                </c:pt>
                <c:pt idx="6">
                  <c:v>1749.605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917.851</c:v>
                </c:pt>
                <c:pt idx="2">
                  <c:v>1013.529</c:v>
                </c:pt>
                <c:pt idx="3">
                  <c:v>1145.13</c:v>
                </c:pt>
                <c:pt idx="4">
                  <c:v>1313.224</c:v>
                </c:pt>
                <c:pt idx="5">
                  <c:v>1515.095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917.851</c:v>
                </c:pt>
                <c:pt idx="1">
                  <c:v>95.678</c:v>
                </c:pt>
                <c:pt idx="2">
                  <c:v>131.6010000000001</c:v>
                </c:pt>
                <c:pt idx="3">
                  <c:v>168.09399999999982</c:v>
                </c:pt>
                <c:pt idx="4">
                  <c:v>201.8710000000001</c:v>
                </c:pt>
                <c:pt idx="5">
                  <c:v>233.933</c:v>
                </c:pt>
                <c:pt idx="6">
                  <c:v>1749.028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1036.536</c:v>
                </c:pt>
                <c:pt idx="2">
                  <c:v>1158.072</c:v>
                </c:pt>
                <c:pt idx="3">
                  <c:v>1318.798</c:v>
                </c:pt>
                <c:pt idx="4">
                  <c:v>1530.543</c:v>
                </c:pt>
                <c:pt idx="5">
                  <c:v>1777.01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1036.536</c:v>
                </c:pt>
                <c:pt idx="1">
                  <c:v>121.53599999999983</c:v>
                </c:pt>
                <c:pt idx="2">
                  <c:v>160.7260000000001</c:v>
                </c:pt>
                <c:pt idx="3">
                  <c:v>211.7449999999999</c:v>
                </c:pt>
                <c:pt idx="4">
                  <c:v>246.4670000000001</c:v>
                </c:pt>
                <c:pt idx="5">
                  <c:v>281.1020000000001</c:v>
                </c:pt>
                <c:pt idx="6">
                  <c:v>2058.112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1069.95</c:v>
                </c:pt>
                <c:pt idx="2">
                  <c:v>1177.42</c:v>
                </c:pt>
                <c:pt idx="3">
                  <c:v>1307.473</c:v>
                </c:pt>
                <c:pt idx="4">
                  <c:v>1457.46</c:v>
                </c:pt>
                <c:pt idx="5">
                  <c:v>1631.356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1069.95</c:v>
                </c:pt>
                <c:pt idx="1">
                  <c:v>107.47000000000003</c:v>
                </c:pt>
                <c:pt idx="2">
                  <c:v>130.05299999999988</c:v>
                </c:pt>
                <c:pt idx="3">
                  <c:v>149.98700000000008</c:v>
                </c:pt>
                <c:pt idx="4">
                  <c:v>173.89599999999996</c:v>
                </c:pt>
                <c:pt idx="5">
                  <c:v>196.88400000000001</c:v>
                </c:pt>
                <c:pt idx="6">
                  <c:v>1828.24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Coily Hair</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20.63251958145199</c:v>
                </c:pt>
                <c:pt idx="1">
                  <c:v>20.648723917324304</c:v>
                </c:pt>
                <c:pt idx="2">
                  <c:v>22.76746107285766</c:v>
                </c:pt>
              </c:numCache>
            </c:numRef>
          </c:val>
        </c:ser>
        <c:ser>
          <c:idx val="1"/>
          <c:order val="1"/>
          <c:tx>
            <c:strRef>
              <c:f>Sheet1!$C$1</c:f>
              <c:strCache>
                <c:ptCount val="1"/>
                <c:pt idx="0">
                  <c:v>All Hair Types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21.168187038552222</c:v>
                </c:pt>
                <c:pt idx="1">
                  <c:v>21.31436067376448</c:v>
                </c:pt>
                <c:pt idx="2">
                  <c:v>20.22454707607812</c:v>
                </c:pt>
              </c:numCache>
            </c:numRef>
          </c:val>
        </c:ser>
        <c:ser>
          <c:idx val="2"/>
          <c:order val="2"/>
          <c:tx>
            <c:strRef>
              <c:f>Sheet1!$D$1</c:f>
              <c:strCache>
                <c:ptCount val="1"/>
                <c:pt idx="0">
                  <c:v>Wavy Hair</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18.98425614212404</c:v>
                </c:pt>
                <c:pt idx="1">
                  <c:v>19.47910846030413</c:v>
                </c:pt>
                <c:pt idx="2">
                  <c:v>19.35466278335539</c:v>
                </c:pt>
              </c:numCache>
            </c:numRef>
          </c:val>
        </c:ser>
        <c:ser>
          <c:idx val="3"/>
          <c:order val="3"/>
          <c:tx>
            <c:strRef>
              <c:f>Sheet1!$E$1</c:f>
              <c:strCache>
                <c:ptCount val="1"/>
                <c:pt idx="0">
                  <c:v>Curly Hair</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18.750758208446367</c:v>
                </c:pt>
                <c:pt idx="1">
                  <c:v>18.284412597575027</c:v>
                </c:pt>
                <c:pt idx="2">
                  <c:v>19.34827983381764</c:v>
                </c:pt>
              </c:numCache>
            </c:numRef>
          </c:val>
        </c:ser>
        <c:ser>
          <c:idx val="4"/>
          <c:order val="4"/>
          <c:tx>
            <c:strRef>
              <c:f>Sheet1!$F$1</c:f>
              <c:strCache>
                <c:ptCount val="1"/>
                <c:pt idx="0">
                  <c:v>Straight Hair</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20.46427902942539</c:v>
                </c:pt>
                <c:pt idx="1">
                  <c:v>20.27339435103205</c:v>
                </c:pt>
                <c:pt idx="2">
                  <c:v>18.305049233891182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Film-forming and Fixative Polymers</c:v>
                </c:pt>
              </c:strCache>
            </c:strRef>
          </c:tx>
          <c:spPr>
            <a:solidFill>
              <a:srgbClr val="3D85C6"/>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Sheet1!$B$2:$B$3</c:f>
              <c:numCache>
                <c:formatCode>General</c:formatCode>
                <c:ptCount val="2"/>
                <c:pt idx="0">
                  <c:v>24.16078638607107</c:v>
                </c:pt>
                <c:pt idx="1">
                  <c:v>23.76100919261311</c:v>
                </c:pt>
              </c:numCache>
            </c:numRef>
          </c:val>
        </c:ser>
        <c:ser>
          <c:idx val="1"/>
          <c:order val="1"/>
          <c:tx>
            <c:strRef>
              <c:f>Sheet1!$C$1</c:f>
              <c:strCache>
                <c:ptCount val="1"/>
                <c:pt idx="0">
                  <c:v>Texture and Volume Additives</c:v>
                </c:pt>
              </c:strCache>
            </c:strRef>
          </c:tx>
          <c:spPr>
            <a:solidFill>
              <a:srgbClr val="9E7E0A"/>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Sheet1!$C$2:$C$3</c:f>
              <c:numCache>
                <c:formatCode>General</c:formatCode>
                <c:ptCount val="2"/>
                <c:pt idx="0">
                  <c:v>25.506544582485684</c:v>
                </c:pt>
                <c:pt idx="1">
                  <c:v>26.00236491274275</c:v>
                </c:pt>
              </c:numCache>
            </c:numRef>
          </c:val>
        </c:ser>
        <c:ser>
          <c:idx val="2"/>
          <c:order val="2"/>
          <c:tx>
            <c:strRef>
              <c:f>Sheet1!$D$1</c:f>
              <c:strCache>
                <c:ptCount val="1"/>
                <c:pt idx="0">
                  <c:v>Conditioning and Smoothing Agents</c:v>
                </c:pt>
              </c:strCache>
            </c:strRef>
          </c:tx>
          <c:spPr>
            <a:solidFill>
              <a:srgbClr val="008189"/>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Sheet1!$D$2:$D$3</c:f>
              <c:numCache>
                <c:formatCode>General</c:formatCode>
                <c:ptCount val="2"/>
                <c:pt idx="0">
                  <c:v>24.29917301898153</c:v>
                </c:pt>
                <c:pt idx="1">
                  <c:v>24.710817089346072</c:v>
                </c:pt>
              </c:numCache>
            </c:numRef>
          </c:val>
        </c:ser>
        <c:ser>
          <c:idx val="3"/>
          <c:order val="3"/>
          <c:tx>
            <c:strRef>
              <c:f>Sheet1!$E$1</c:f>
              <c:strCache>
                <c:ptCount val="1"/>
                <c:pt idx="0">
                  <c:v>Waxes and Structuring Agents</c:v>
                </c:pt>
              </c:strCache>
            </c:strRef>
          </c:tx>
          <c:spPr>
            <a:solidFill>
              <a:srgbClr val="40315E"/>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Sheet1!$E$2:$E$3</c:f>
              <c:numCache>
                <c:formatCode>General</c:formatCode>
                <c:ptCount val="2"/>
                <c:pt idx="0">
                  <c:v>26.033496012461704</c:v>
                </c:pt>
                <c:pt idx="1">
                  <c:v>25.525808805298073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4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Film-forming and Fixative Polymers</c:v>
                </c:pt>
              </c:strCache>
            </c:strRef>
          </c:tx>
          <c:spPr>
            <a:solidFill>
              <a:srgbClr val="3D85C6"/>
            </a:solidFill>
          </c:spPr>
          <c:invertIfNegative val="0"/>
          <c:xVal>
            <c:numRef>
              <c:f>Sheet1!$A$2:$A$2</c:f>
              <c:numCache>
                <c:formatCode>General</c:formatCode>
                <c:ptCount val="1"/>
                <c:pt idx="0">
                  <c:v>85.02057916293506</c:v>
                </c:pt>
              </c:numCache>
            </c:numRef>
          </c:xVal>
          <c:yVal>
            <c:numRef>
              <c:f>Sheet1!$B$2:$B$2</c:f>
              <c:numCache>
                <c:formatCode>General</c:formatCode>
                <c:ptCount val="1"/>
                <c:pt idx="0">
                  <c:v>103.74076542051516</c:v>
                </c:pt>
              </c:numCache>
            </c:numRef>
          </c:yVal>
          <c:bubbleSize>
            <c:numRef>
              <c:f>Sheet1!$C$2:$C$2</c:f>
              <c:numCache>
                <c:formatCode>General</c:formatCode>
                <c:ptCount val="1"/>
                <c:pt idx="0">
                  <c:v>2151.398</c:v>
                </c:pt>
              </c:numCache>
            </c:numRef>
          </c:bubbleSize>
          <c:bubble3D val="0"/>
        </c:ser>
        <c:ser>
          <c:idx val="1"/>
          <c:order val="1"/>
          <c:tx>
            <c:strRef>
              <c:f>Sheet1!$B$4</c:f>
              <c:strCache>
                <c:ptCount val="1"/>
                <c:pt idx="0">
                  <c:v>Texture and Volume Additives</c:v>
                </c:pt>
              </c:strCache>
            </c:strRef>
          </c:tx>
          <c:spPr>
            <a:solidFill>
              <a:srgbClr val="9E7E0A"/>
            </a:solidFill>
          </c:spPr>
          <c:invertIfNegative val="0"/>
          <c:xVal>
            <c:numRef>
              <c:f>Sheet1!$A$5:$A$5</c:f>
              <c:numCache>
                <c:formatCode>General</c:formatCode>
                <c:ptCount val="1"/>
                <c:pt idx="0">
                  <c:v>105.67102924947432</c:v>
                </c:pt>
              </c:numCache>
            </c:numRef>
          </c:xVal>
          <c:yVal>
            <c:numRef>
              <c:f>Sheet1!$B$5:$B$5</c:f>
              <c:numCache>
                <c:formatCode>General</c:formatCode>
                <c:ptCount val="1"/>
                <c:pt idx="0">
                  <c:v>100.51469614162163</c:v>
                </c:pt>
              </c:numCache>
            </c:numRef>
          </c:yVal>
          <c:bubbleSize>
            <c:numRef>
              <c:f>Sheet1!$C$5:$C$5</c:f>
              <c:numCache>
                <c:formatCode>General</c:formatCode>
                <c:ptCount val="1"/>
                <c:pt idx="0">
                  <c:v>2346.2309999999998</c:v>
                </c:pt>
              </c:numCache>
            </c:numRef>
          </c:bubbleSize>
          <c:bubble3D val="0"/>
        </c:ser>
        <c:ser>
          <c:idx val="2"/>
          <c:order val="2"/>
          <c:tx>
            <c:strRef>
              <c:f>Sheet1!$B$7</c:f>
              <c:strCache>
                <c:ptCount val="1"/>
                <c:pt idx="0">
                  <c:v>Conditioning and Smoothing Agents</c:v>
                </c:pt>
              </c:strCache>
            </c:strRef>
          </c:tx>
          <c:spPr>
            <a:solidFill>
              <a:srgbClr val="008189"/>
            </a:solidFill>
          </c:spPr>
          <c:invertIfNegative val="0"/>
          <c:xVal>
            <c:numRef>
              <c:f>Sheet1!$A$8:$A$8</c:f>
              <c:numCache>
                <c:formatCode>General</c:formatCode>
                <c:ptCount val="1"/>
                <c:pt idx="0">
                  <c:v>97.90763898860446</c:v>
                </c:pt>
              </c:numCache>
            </c:numRef>
          </c:xVal>
          <c:yVal>
            <c:numRef>
              <c:f>Sheet1!$B$8:$B$8</c:f>
              <c:numCache>
                <c:formatCode>General</c:formatCode>
                <c:ptCount val="1"/>
                <c:pt idx="0">
                  <c:v>99.87244651488936</c:v>
                </c:pt>
              </c:numCache>
            </c:numRef>
          </c:yVal>
          <c:bubbleSize>
            <c:numRef>
              <c:f>Sheet1!$C$8:$C$8</c:f>
              <c:numCache>
                <c:formatCode>General</c:formatCode>
                <c:ptCount val="1"/>
                <c:pt idx="0">
                  <c:v>2230.2110000000002</c:v>
                </c:pt>
              </c:numCache>
            </c:numRef>
          </c:bubbleSize>
          <c:bubble3D val="0"/>
        </c:ser>
        <c:ser>
          <c:idx val="3"/>
          <c:order val="3"/>
          <c:tx>
            <c:strRef>
              <c:f>Sheet1!$B$10</c:f>
              <c:strCache>
                <c:ptCount val="1"/>
                <c:pt idx="0">
                  <c:v>Waxes and Structuring Agents</c:v>
                </c:pt>
              </c:strCache>
            </c:strRef>
          </c:tx>
          <c:spPr>
            <a:solidFill>
              <a:srgbClr val="40315E"/>
            </a:solidFill>
          </c:spPr>
          <c:invertIfNegative val="0"/>
          <c:xVal>
            <c:numRef>
              <c:f>Sheet1!$A$11:$A$11</c:f>
              <c:numCache>
                <c:formatCode>General</c:formatCode>
                <c:ptCount val="1"/>
                <c:pt idx="0">
                  <c:v>111.39403459322415</c:v>
                </c:pt>
              </c:numCache>
            </c:numRef>
          </c:xVal>
          <c:yVal>
            <c:numRef>
              <c:f>Sheet1!$B$11:$B$11</c:f>
              <c:numCache>
                <c:formatCode>General</c:formatCode>
                <c:ptCount val="1"/>
                <c:pt idx="0">
                  <c:v>95.87209192297387</c:v>
                </c:pt>
              </c:numCache>
            </c:numRef>
          </c:yVal>
          <c:bubbleSize>
            <c:numRef>
              <c:f>Sheet1!$C$11:$C$11</c:f>
              <c:numCache>
                <c:formatCode>General</c:formatCode>
                <c:ptCount val="1"/>
                <c:pt idx="0">
                  <c:v>2311.868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1301.909</c:v>
                </c:pt>
                <c:pt idx="2">
                  <c:v>1418.522</c:v>
                </c:pt>
                <c:pt idx="3">
                  <c:v>1563.875</c:v>
                </c:pt>
                <c:pt idx="4">
                  <c:v>1734.877</c:v>
                </c:pt>
                <c:pt idx="5">
                  <c:v>1931.005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1301.909</c:v>
                </c:pt>
                <c:pt idx="1">
                  <c:v>116.61299999999983</c:v>
                </c:pt>
                <c:pt idx="2">
                  <c:v>145.35300000000007</c:v>
                </c:pt>
                <c:pt idx="3">
                  <c:v>171.00199999999995</c:v>
                </c:pt>
                <c:pt idx="4">
                  <c:v>196.12800000000016</c:v>
                </c:pt>
                <c:pt idx="5">
                  <c:v>220.39300000000003</c:v>
                </c:pt>
                <c:pt idx="6">
                  <c:v>2151.398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1261.423</c:v>
                </c:pt>
                <c:pt idx="2">
                  <c:v>1400.72</c:v>
                </c:pt>
                <c:pt idx="3">
                  <c:v>1578.193</c:v>
                </c:pt>
                <c:pt idx="4">
                  <c:v>1794.183</c:v>
                </c:pt>
                <c:pt idx="5">
                  <c:v>2051.218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1261.423</c:v>
                </c:pt>
                <c:pt idx="1">
                  <c:v>139.29700000000003</c:v>
                </c:pt>
                <c:pt idx="2">
                  <c:v>177.47299999999996</c:v>
                </c:pt>
                <c:pt idx="3">
                  <c:v>215.99</c:v>
                </c:pt>
                <c:pt idx="4">
                  <c:v>257.03499999999985</c:v>
                </c:pt>
                <c:pt idx="5">
                  <c:v>295.0129999999999</c:v>
                </c:pt>
                <c:pt idx="6">
                  <c:v>2346.2309999999998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1253.3629999999998</c:v>
                </c:pt>
                <c:pt idx="2">
                  <c:v>1389.999</c:v>
                </c:pt>
                <c:pt idx="3">
                  <c:v>1555.791</c:v>
                </c:pt>
                <c:pt idx="4">
                  <c:v>1749.1860000000001</c:v>
                </c:pt>
                <c:pt idx="5">
                  <c:v>1974.9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1253.3629999999998</c:v>
                </c:pt>
                <c:pt idx="1">
                  <c:v>136.6360000000002</c:v>
                </c:pt>
                <c:pt idx="2">
                  <c:v>165.79199999999992</c:v>
                </c:pt>
                <c:pt idx="3">
                  <c:v>193.3950000000002</c:v>
                </c:pt>
                <c:pt idx="4">
                  <c:v>225.71399999999994</c:v>
                </c:pt>
                <c:pt idx="5">
                  <c:v>255.31100000000015</c:v>
                </c:pt>
                <c:pt idx="6">
                  <c:v>2230.2110000000002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1203.1599999999999</c:v>
                </c:pt>
                <c:pt idx="2">
                  <c:v>1338.673</c:v>
                </c:pt>
                <c:pt idx="3">
                  <c:v>1517.5529999999999</c:v>
                </c:pt>
                <c:pt idx="4">
                  <c:v>1746.757</c:v>
                </c:pt>
                <c:pt idx="5">
                  <c:v>2010.938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1203.1599999999999</c:v>
                </c:pt>
                <c:pt idx="1">
                  <c:v>135.51300000000015</c:v>
                </c:pt>
                <c:pt idx="2">
                  <c:v>178.87999999999988</c:v>
                </c:pt>
                <c:pt idx="3">
                  <c:v>229.20400000000018</c:v>
                </c:pt>
                <c:pt idx="4">
                  <c:v>264.18100000000004</c:v>
                </c:pt>
                <c:pt idx="5">
                  <c:v>300.92999999999984</c:v>
                </c:pt>
                <c:pt idx="6">
                  <c:v>2311.868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Texture and Volume Additives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24.998565306173354</c:v>
                </c:pt>
                <c:pt idx="1">
                  <c:v>25.128674035405407</c:v>
                </c:pt>
                <c:pt idx="2">
                  <c:v>25.954721103823257</c:v>
                </c:pt>
              </c:numCache>
            </c:numRef>
          </c:val>
        </c:ser>
        <c:ser>
          <c:idx val="1"/>
          <c:order val="1"/>
          <c:tx>
            <c:strRef>
              <c:f>Sheet1!$C$1</c:f>
              <c:strCache>
                <c:ptCount val="1"/>
                <c:pt idx="0">
                  <c:v>Waxes and Structuring Agents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23.895848734600047</c:v>
                </c:pt>
                <c:pt idx="1">
                  <c:v>23.968022980743466</c:v>
                </c:pt>
                <c:pt idx="2">
                  <c:v>25.574587143744022</c:v>
                </c:pt>
              </c:numCache>
            </c:numRef>
          </c:val>
        </c:ser>
        <c:ser>
          <c:idx val="2"/>
          <c:order val="2"/>
          <c:tx>
            <c:strRef>
              <c:f>Sheet1!$D$1</c:f>
              <c:strCache>
                <c:ptCount val="1"/>
                <c:pt idx="0">
                  <c:v>Conditioning and Smoothing Agents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24.578738781844457</c:v>
                </c:pt>
                <c:pt idx="1">
                  <c:v>24.96811162872234</c:v>
                </c:pt>
                <c:pt idx="2">
                  <c:v>24.671272567653734</c:v>
                </c:pt>
              </c:numCache>
            </c:numRef>
          </c:val>
        </c:ser>
        <c:ser>
          <c:idx val="3"/>
          <c:order val="3"/>
          <c:tx>
            <c:strRef>
              <c:f>Sheet1!$E$1</c:f>
              <c:strCache>
                <c:ptCount val="1"/>
                <c:pt idx="0">
                  <c:v>Film-forming and Fixative Polymers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26.526847177382155</c:v>
                </c:pt>
                <c:pt idx="1">
                  <c:v>25.93519135512879</c:v>
                </c:pt>
                <c:pt idx="2">
                  <c:v>23.799419184778976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4.552537906344645</c:v>
                </c:pt>
                <c:pt idx="1">
                  <c:v>5.959457001807444</c:v>
                </c:pt>
                <c:pt idx="2">
                  <c:v>5.488392862750491</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7.866483242385827"/>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713.4069999999999</c:v>
                </c:pt>
                <c:pt idx="2">
                  <c:v>0.0</c:v>
                </c:pt>
                <c:pt idx="3">
                  <c:v>891.272</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713.4069999999999</c:v>
                </c:pt>
                <c:pt idx="1">
                  <c:v>177.86500000000012</c:v>
                </c:pt>
                <c:pt idx="2">
                  <c:v>891.272</c:v>
                </c:pt>
                <c:pt idx="3">
                  <c:v>698.766</c:v>
                </c:pt>
                <c:pt idx="4">
                  <c:v>1590.038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5.23015984740185</c:v>
                </c:pt>
                <c:pt idx="1">
                  <c:v>7.624186200883054</c:v>
                </c:pt>
                <c:pt idx="2">
                  <c:v>6.820186138290629</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63925785165631"/>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1046.526</c:v>
                </c:pt>
                <c:pt idx="2">
                  <c:v>0.0</c:v>
                </c:pt>
                <c:pt idx="3">
                  <c:v>1350.365</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1046.526</c:v>
                </c:pt>
                <c:pt idx="1">
                  <c:v>303.83899999999994</c:v>
                </c:pt>
                <c:pt idx="2">
                  <c:v>1350.365</c:v>
                </c:pt>
                <c:pt idx="3">
                  <c:v>1465.099</c:v>
                </c:pt>
                <c:pt idx="4">
                  <c:v>2815.464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Sheet1!$B$2:$B$6</c:f>
              <c:numCache>
                <c:formatCode>General</c:formatCode>
                <c:ptCount val="5"/>
                <c:pt idx="0">
                  <c:v>1046.526</c:v>
                </c:pt>
                <c:pt idx="1">
                  <c:v>1099.435</c:v>
                </c:pt>
                <c:pt idx="2">
                  <c:v>1154.879</c:v>
                </c:pt>
                <c:pt idx="3">
                  <c:v>1213.38</c:v>
                </c:pt>
                <c:pt idx="4">
                  <c:v>1275.7240000000002</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Sheet1!$C$2:$C$6</c:f>
              <c:numCache>
                <c:formatCode>General</c:formatCode>
                <c:ptCount val="5"/>
                <c:pt idx="0">
                  <c:v>713.4069999999999</c:v>
                </c:pt>
                <c:pt idx="1">
                  <c:v>745.682</c:v>
                </c:pt>
                <c:pt idx="2">
                  <c:v>779.1700000000001</c:v>
                </c:pt>
                <c:pt idx="3">
                  <c:v>813.8219999999999</c:v>
                </c:pt>
                <c:pt idx="4">
                  <c:v>850.505</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505"/>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166"/>
          <c:min val="0"/>
        </c:scaling>
        <c:delete val="0"/>
        <c:axPos val="r"/>
        <c:numFmt formatCode="General"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1350.365</c:v>
                </c:pt>
                <c:pt idx="1">
                  <c:v>1435.455</c:v>
                </c:pt>
                <c:pt idx="2">
                  <c:v>1532.781</c:v>
                </c:pt>
                <c:pt idx="3">
                  <c:v>1643.8029999999999</c:v>
                </c:pt>
                <c:pt idx="4">
                  <c:v>1769.49</c:v>
                </c:pt>
                <c:pt idx="5">
                  <c:v>1909.42</c:v>
                </c:pt>
                <c:pt idx="6">
                  <c:v>2063.638</c:v>
                </c:pt>
                <c:pt idx="7">
                  <c:v>2231.179</c:v>
                </c:pt>
                <c:pt idx="8">
                  <c:v>2412.4080000000004</c:v>
                </c:pt>
                <c:pt idx="9">
                  <c:v>2607.0110000000004</c:v>
                </c:pt>
                <c:pt idx="10">
                  <c:v>2815.464</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891.272</c:v>
                </c:pt>
                <c:pt idx="1">
                  <c:v>936.993</c:v>
                </c:pt>
                <c:pt idx="2">
                  <c:v>988.53</c:v>
                </c:pt>
                <c:pt idx="3">
                  <c:v>1046.2930000000001</c:v>
                </c:pt>
                <c:pt idx="4">
                  <c:v>1110.1409999999998</c:v>
                </c:pt>
                <c:pt idx="5">
                  <c:v>1179.4189999999999</c:v>
                </c:pt>
                <c:pt idx="6">
                  <c:v>1253.807</c:v>
                </c:pt>
                <c:pt idx="7">
                  <c:v>1332.582</c:v>
                </c:pt>
                <c:pt idx="8">
                  <c:v>1415.362</c:v>
                </c:pt>
                <c:pt idx="9">
                  <c:v>1501.175</c:v>
                </c:pt>
                <c:pt idx="10">
                  <c:v>1590.038</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3322"/>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2492"/>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Sheet1!$A$2:$A$4</c:f>
              <c:strCache>
                <c:ptCount val="3"/>
                <c:pt idx="0">
                  <c:v>Brazil</c:v>
                </c:pt>
                <c:pt idx="1">
                  <c:v>Mexico</c:v>
                </c:pt>
                <c:pt idx="2">
                  <c:v>Colombia</c:v>
                </c:pt>
              </c:strCache>
            </c:strRef>
          </c:cat>
          <c:val>
            <c:numRef>
              <c:f>Sheet1!$B$2:$B$4</c:f>
              <c:numCache>
                <c:formatCode>General</c:formatCode>
                <c:ptCount val="3"/>
                <c:pt idx="0">
                  <c:v>95.32725881291478</c:v>
                </c:pt>
                <c:pt idx="1">
                  <c:v>99.04187101173385</c:v>
                </c:pt>
                <c:pt idx="2">
                  <c:v>110.76901086816413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Sheet1!$A$2:$A$4</c:f>
              <c:strCache>
                <c:ptCount val="3"/>
                <c:pt idx="0">
                  <c:v>Colombia</c:v>
                </c:pt>
                <c:pt idx="1">
                  <c:v>Mexico</c:v>
                </c:pt>
                <c:pt idx="2">
                  <c:v>Brazil</c:v>
                </c:pt>
              </c:strCache>
            </c:strRef>
          </c:cat>
          <c:val>
            <c:numRef>
              <c:f>Sheet1!$B$2:$B$4</c:f>
              <c:numCache>
                <c:formatCode>General</c:formatCode>
                <c:ptCount val="3"/>
                <c:pt idx="0">
                  <c:v>6.246881610048194</c:v>
                </c:pt>
                <c:pt idx="1">
                  <c:v>19.737369283577426</c:v>
                </c:pt>
                <c:pt idx="2">
                  <c:v>50.83383443712678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Lbls>
            <c:dLbl>
              <c:idx val="0"/>
              <c:layout>
                <c:manualLayout>
                  <c:x val="0.0350"/>
                  <c:y val="0.0000"/>
                </c:manualLayout>
              </c:layout>
              <c:tx>
                <c:rich>
                  <a:bodyPr/>
                  <a:lstStyle/>
                  <a:p>
                    <a:pPr>
                      <a:defRPr sz="1100" b="1">
                        <a:solidFill>
                          <a:srgbClr val="FFFFFF"/>
                        </a:solidFill>
                        <a:latin typeface="Calibri"/>
                      </a:defRPr>
                    </a:pPr>
                    <a:r>
                      <a:t>9.2%</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6.1%</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9.2%</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13.7%</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15.3%</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10.3%</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21.5%</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14.8%</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Sheet1!$A$2:$A$9</c:f>
              <c:strCache>
                <c:ptCount val="8"/>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strCache>
            </c:strRef>
          </c:cat>
          <c:val>
            <c:numRef>
              <c:f>Sheet1!$B$2:$B$9</c:f>
              <c:numCache>
                <c:formatCode>General</c:formatCode>
                <c:ptCount val="8"/>
                <c:pt idx="0">
                  <c:v>257.85299999999995</c:v>
                </c:pt>
                <c:pt idx="1">
                  <c:v>171.633</c:v>
                </c:pt>
                <c:pt idx="2">
                  <c:v>257.711</c:v>
                </c:pt>
                <c:pt idx="3">
                  <c:v>384.688</c:v>
                </c:pt>
                <c:pt idx="4">
                  <c:v>431.393</c:v>
                </c:pt>
                <c:pt idx="5">
                  <c:v>291.257</c:v>
                </c:pt>
                <c:pt idx="6">
                  <c:v>604.22</c:v>
                </c:pt>
                <c:pt idx="7">
                  <c:v>416.709</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56.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0.08539648986220642</c:v>
                </c:pt>
                <c:pt idx="1">
                  <c:v>0.0919553882616186</c:v>
                </c:pt>
                <c:pt idx="2">
                  <c:v>0.09781347285944975</c:v>
                </c:pt>
                <c:pt idx="3">
                  <c:v>0.1018566294070326</c:v>
                </c:pt>
                <c:pt idx="4">
                  <c:v>0.10137145062132265</c:v>
                </c:pt>
                <c:pt idx="5">
                  <c:v>0.09895454148510091</c:v>
                </c:pt>
                <c:pt idx="6">
                  <c:v>0.09525280704598062</c:v>
                </c:pt>
                <c:pt idx="7">
                  <c:v>0.09129051362934942</c:v>
                </c:pt>
                <c:pt idx="8">
                  <c:v>0.08871187823122435</c:v>
                </c:pt>
                <c:pt idx="9">
                  <c:v>0.08801106442964333</c:v>
                </c:pt>
                <c:pt idx="10">
                  <c:v>0.08545938340850215</c:v>
                </c:pt>
              </c:numCache>
            </c:numRef>
          </c:val>
          <c:smooth val="0"/>
        </c:ser>
        <c:ser>
          <c:idx val="1"/>
          <c:order val="1"/>
          <c:tx>
            <c:strRef>
              <c:f>Sheet1!$C$1</c: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0.06605129458369469</c:v>
                </c:pt>
                <c:pt idx="1">
                  <c:v>0.06778773158076708</c:v>
                </c:pt>
                <c:pt idx="2">
                  <c:v>0.0698106806823564</c:v>
                </c:pt>
                <c:pt idx="3">
                  <c:v>0.07184231196893108</c:v>
                </c:pt>
                <c:pt idx="4">
                  <c:v>0.07531518596307585</c:v>
                </c:pt>
                <c:pt idx="5">
                  <c:v>0.07907457206173754</c:v>
                </c:pt>
                <c:pt idx="6">
                  <c:v>0.08081100905880993</c:v>
                </c:pt>
                <c:pt idx="7">
                  <c:v>0.07994279056027374</c:v>
                </c:pt>
                <c:pt idx="8">
                  <c:v>0.07855364096261583</c:v>
                </c:pt>
                <c:pt idx="9">
                  <c:v>0.07685193270548489</c:v>
                </c:pt>
                <c:pt idx="10">
                  <c:v>0.07487239452882238</c:v>
                </c:pt>
              </c:numCache>
            </c:numRef>
          </c:val>
          <c:smooth val="0"/>
        </c:ser>
        <c:ser>
          <c:idx val="2"/>
          <c:order val="2"/>
          <c:tx>
            <c:strRef>
              <c:f>Sheet1!$D$1</c: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Sheet1!$D$2:$D$12</c:f>
              <c:numCache>
                <c:formatCode>General</c:formatCode>
                <c:ptCount val="11"/>
                <c:pt idx="0">
                  <c:v>0.04740086727719856</c:v>
                </c:pt>
                <c:pt idx="1">
                  <c:v>0.04936955385489136</c:v>
                </c:pt>
                <c:pt idx="2">
                  <c:v>0.05133824043258418</c:v>
                </c:pt>
                <c:pt idx="3">
                  <c:v>0.05395659358091561</c:v>
                </c:pt>
                <c:pt idx="4">
                  <c:v>0.05756913345098191</c:v>
                </c:pt>
                <c:pt idx="5">
                  <c:v>0.06052216331752112</c:v>
                </c:pt>
                <c:pt idx="6">
                  <c:v>0.06150650660636752</c:v>
                </c:pt>
                <c:pt idx="7">
                  <c:v>0.06019733003220181</c:v>
                </c:pt>
                <c:pt idx="8">
                  <c:v>0.05936063823668237</c:v>
                </c:pt>
                <c:pt idx="9">
                  <c:v>0.05795302733363201</c:v>
                </c:pt>
                <c:pt idx="10">
                  <c:v>0.05658479016213551</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Brazil</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50.02013977791266</c:v>
                </c:pt>
                <c:pt idx="1">
                  <c:v>47.93894992512763</c:v>
                </c:pt>
              </c:numCache>
            </c:numRef>
          </c:val>
        </c:ser>
        <c:ser>
          <c:idx val="1"/>
          <c:order val="1"/>
          <c:tx>
            <c:strRef>
              <c:f>Sheet1!$C$1</c:f>
              <c:strCache>
                <c:ptCount val="1"/>
                <c:pt idx="0">
                  <c:v>Rest of Latin America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23.420486025013716</c:v>
                </c:pt>
                <c:pt idx="1">
                  <c:v>24.8585097598235</c:v>
                </c:pt>
              </c:numCache>
            </c:numRef>
          </c:val>
        </c:ser>
        <c:ser>
          <c:idx val="2"/>
          <c:order val="2"/>
          <c:tx>
            <c:strRef>
              <c:f>Sheet1!$D$1</c:f>
              <c:strCache>
                <c:ptCount val="1"/>
                <c:pt idx="0">
                  <c:v>Mexico</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20.310769676114223</c:v>
                </c:pt>
                <c:pt idx="1">
                  <c:v>20.34950086129963</c:v>
                </c:pt>
              </c:numCache>
            </c:numRef>
          </c:val>
        </c:ser>
        <c:ser>
          <c:idx val="3"/>
          <c:order val="3"/>
          <c:tx>
            <c:strRef>
              <c:f>Sheet1!$E$1</c:f>
              <c:strCache>
                <c:ptCount val="1"/>
                <c:pt idx="0">
                  <c:v>Colombia</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6.248604520959394</c:v>
                </c:pt>
                <c:pt idx="1">
                  <c:v>6.853039453749248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Brazil</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54.23267042614405</c:v>
                </c:pt>
                <c:pt idx="1">
                  <c:v>52.463998829322634</c:v>
                </c:pt>
              </c:numCache>
            </c:numRef>
          </c:val>
        </c:ser>
        <c:ser>
          <c:idx val="1"/>
          <c:order val="1"/>
          <c:tx>
            <c:strRef>
              <c:f>Sheet1!$C$1</c:f>
              <c:strCache>
                <c:ptCount val="1"/>
                <c:pt idx="0">
                  <c:v>Rest of Latin America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20.34612863929382</c:v>
                </c:pt>
                <c:pt idx="1">
                  <c:v>21.82180272949681</c:v>
                </c:pt>
              </c:numCache>
            </c:numRef>
          </c:val>
        </c:ser>
        <c:ser>
          <c:idx val="2"/>
          <c:order val="2"/>
          <c:tx>
            <c:strRef>
              <c:f>Sheet1!$D$1</c:f>
              <c:strCache>
                <c:ptCount val="1"/>
                <c:pt idx="0">
                  <c:v>Mexico</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19.99740810817816</c:v>
                </c:pt>
                <c:pt idx="1">
                  <c:v>19.86209022740124</c:v>
                </c:pt>
              </c:numCache>
            </c:numRef>
          </c:val>
        </c:ser>
        <c:ser>
          <c:idx val="3"/>
          <c:order val="3"/>
          <c:tx>
            <c:strRef>
              <c:f>Sheet1!$E$1</c:f>
              <c:strCache>
                <c:ptCount val="1"/>
                <c:pt idx="0">
                  <c:v>Colombia</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5.423792826383977</c:v>
                </c:pt>
                <c:pt idx="1">
                  <c:v>5.852108213779328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Brazil</c:v>
                </c:pt>
              </c:strCache>
            </c:strRef>
          </c:tx>
          <c:spPr>
            <a:solidFill>
              <a:srgbClr val="3D85C6"/>
            </a:solidFill>
            <a:ln>
              <a:noFill/>
            </a:ln>
          </c:spPr>
          <c:dLbls>
            <c:dLbl>
              <c:idx val="0"/>
              <c:tx>
                <c:rich>
                  <a:bodyPr/>
                  <a:lstStyle/>
                  <a:p>
                    <a:r>
                      <a:rPr sz="1100">
                        <a:solidFill>
                          <a:srgbClr val="FFFFFF"/>
                        </a:solidFill>
                        <a:latin typeface="Calibri"/>
                      </a:rPr>
                      <a:t>363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378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394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410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427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446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467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491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517</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546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578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612</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647</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684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723</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762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362.991</c:v>
                </c:pt>
                <c:pt idx="1">
                  <c:v>378.149</c:v>
                </c:pt>
                <c:pt idx="2">
                  <c:v>393.803</c:v>
                </c:pt>
                <c:pt idx="3">
                  <c:v>409.936</c:v>
                </c:pt>
                <c:pt idx="4">
                  <c:v>426.954</c:v>
                </c:pt>
                <c:pt idx="5">
                  <c:v>445.815</c:v>
                </c:pt>
                <c:pt idx="6">
                  <c:v>466.911</c:v>
                </c:pt>
                <c:pt idx="7">
                  <c:v>490.618</c:v>
                </c:pt>
                <c:pt idx="8">
                  <c:v>517.112</c:v>
                </c:pt>
                <c:pt idx="9">
                  <c:v>546.312</c:v>
                </c:pt>
                <c:pt idx="10">
                  <c:v>577.876</c:v>
                </c:pt>
                <c:pt idx="11">
                  <c:v>611.621</c:v>
                </c:pt>
                <c:pt idx="12">
                  <c:v>647.173</c:v>
                </c:pt>
                <c:pt idx="13">
                  <c:v>684.35</c:v>
                </c:pt>
                <c:pt idx="14">
                  <c:v>722.708</c:v>
                </c:pt>
                <c:pt idx="15">
                  <c:v>762.248</c:v>
                </c:pt>
              </c:numCache>
            </c:numRef>
          </c:val>
        </c:ser>
        <c:ser>
          <c:idx val="1"/>
          <c:order val="1"/>
          <c:tx>
            <c:strRef>
              <c:f>Sheet1!$C$1</c:f>
              <c:strCache>
                <c:ptCount val="1"/>
                <c:pt idx="0">
                  <c:v>Rest of Latin America</c:v>
                </c:pt>
              </c:strCache>
            </c:strRef>
          </c:tx>
          <c:spPr>
            <a:solidFill>
              <a:srgbClr val="9E7E0A"/>
            </a:solidFill>
            <a:ln>
              <a:noFill/>
            </a:ln>
          </c:spPr>
          <c:dLbls>
            <c:dLbl>
              <c:idx val="0"/>
              <c:tx>
                <c:rich>
                  <a:bodyPr/>
                  <a:lstStyle/>
                  <a:p>
                    <a:r>
                      <a:rPr sz="1100">
                        <a:solidFill>
                          <a:srgbClr val="FFFFFF"/>
                        </a:solidFill>
                        <a:latin typeface="Calibri"/>
                      </a:rPr>
                      <a:t>163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189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234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249</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266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285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304</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325</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348</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371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395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162.983</c:v>
                </c:pt>
                <c:pt idx="1">
                  <c:v>171.203</c:v>
                </c:pt>
                <c:pt idx="2">
                  <c:v>179.776</c:v>
                </c:pt>
                <c:pt idx="3">
                  <c:v>188.689</c:v>
                </c:pt>
                <c:pt idx="4">
                  <c:v>198.168</c:v>
                </c:pt>
                <c:pt idx="5">
                  <c:v>208.74</c:v>
                </c:pt>
                <c:pt idx="6">
                  <c:v>220.645</c:v>
                </c:pt>
                <c:pt idx="7">
                  <c:v>234.12</c:v>
                </c:pt>
                <c:pt idx="8">
                  <c:v>249.291</c:v>
                </c:pt>
                <c:pt idx="9">
                  <c:v>266.137</c:v>
                </c:pt>
                <c:pt idx="10">
                  <c:v>284.508</c:v>
                </c:pt>
                <c:pt idx="11">
                  <c:v>304.338</c:v>
                </c:pt>
                <c:pt idx="12">
                  <c:v>325.458</c:v>
                </c:pt>
                <c:pt idx="13">
                  <c:v>347.777</c:v>
                </c:pt>
                <c:pt idx="14">
                  <c:v>371.041</c:v>
                </c:pt>
                <c:pt idx="15">
                  <c:v>395.26</c:v>
                </c:pt>
              </c:numCache>
            </c:numRef>
          </c:val>
        </c:ser>
        <c:ser>
          <c:idx val="2"/>
          <c:order val="2"/>
          <c:tx>
            <c:strRef>
              <c:f>Sheet1!$D$1</c:f>
              <c:strCache>
                <c:ptCount val="1"/>
                <c:pt idx="0">
                  <c:v>Mexico</c:v>
                </c:pt>
              </c:strCache>
            </c:strRef>
          </c:tx>
          <c:spPr>
            <a:solidFill>
              <a:srgbClr val="008189"/>
            </a:solidFill>
            <a:ln>
              <a:noFill/>
            </a:ln>
          </c:spPr>
          <c:dLbls>
            <c:dLbl>
              <c:idx val="0"/>
              <c:tx>
                <c:rich>
                  <a:bodyPr/>
                  <a:lstStyle/>
                  <a:p>
                    <a:r>
                      <a:rPr sz="1100">
                        <a:solidFill>
                          <a:srgbClr val="FFFFFF"/>
                        </a:solidFill>
                        <a:latin typeface="Calibri"/>
                      </a:rPr>
                      <a:t>145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181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190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213</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226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240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255</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271</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288</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305</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144.501</c:v>
                </c:pt>
                <c:pt idx="1">
                  <c:v>151.117</c:v>
                </c:pt>
                <c:pt idx="2">
                  <c:v>157.991</c:v>
                </c:pt>
                <c:pt idx="3">
                  <c:v>165.111</c:v>
                </c:pt>
                <c:pt idx="4">
                  <c:v>172.653</c:v>
                </c:pt>
                <c:pt idx="5">
                  <c:v>181.024</c:v>
                </c:pt>
                <c:pt idx="6">
                  <c:v>190.401</c:v>
                </c:pt>
                <c:pt idx="7">
                  <c:v>200.956</c:v>
                </c:pt>
                <c:pt idx="8">
                  <c:v>212.763</c:v>
                </c:pt>
                <c:pt idx="9">
                  <c:v>225.786</c:v>
                </c:pt>
                <c:pt idx="10">
                  <c:v>239.903</c:v>
                </c:pt>
                <c:pt idx="11">
                  <c:v>255.056</c:v>
                </c:pt>
                <c:pt idx="12">
                  <c:v>271.11</c:v>
                </c:pt>
                <c:pt idx="13">
                  <c:v>287.982</c:v>
                </c:pt>
                <c:pt idx="14">
                  <c:v>305.466</c:v>
                </c:pt>
                <c:pt idx="15">
                  <c:v>323.565</c:v>
                </c:pt>
              </c:numCache>
            </c:numRef>
          </c:val>
        </c:ser>
        <c:ser>
          <c:idx val="3"/>
          <c:order val="3"/>
          <c:tx>
            <c:strRef>
              <c:f>Sheet1!$E$1</c:f>
              <c:strCache>
                <c:ptCount val="1"/>
                <c:pt idx="0">
                  <c:v>Colombia</c:v>
                </c:pt>
              </c:strCache>
            </c:strRef>
          </c:tx>
          <c:spPr>
            <a:solidFill>
              <a:srgbClr val="40315E"/>
            </a:solidFill>
            <a:ln>
              <a:noFill/>
            </a:ln>
          </c:spPr>
          <c:dLbls>
            <c:dLbl>
              <c:idx val="14"/>
              <c:tx>
                <c:rich>
                  <a:bodyPr/>
                  <a:lstStyle/>
                  <a:p>
                    <a:r>
                      <a:rPr sz="1100">
                        <a:solidFill>
                          <a:srgbClr val="FFFFFF"/>
                        </a:solidFill>
                        <a:latin typeface="Calibri"/>
                      </a:rPr>
                      <a:t>102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109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42.932</c:v>
                </c:pt>
                <c:pt idx="1">
                  <c:v>45.214</c:v>
                </c:pt>
                <c:pt idx="2">
                  <c:v>47.599</c:v>
                </c:pt>
                <c:pt idx="3">
                  <c:v>50.084</c:v>
                </c:pt>
                <c:pt idx="4">
                  <c:v>52.731</c:v>
                </c:pt>
                <c:pt idx="5">
                  <c:v>55.692</c:v>
                </c:pt>
                <c:pt idx="6">
                  <c:v>59.037</c:v>
                </c:pt>
                <c:pt idx="7">
                  <c:v>62.836</c:v>
                </c:pt>
                <c:pt idx="8">
                  <c:v>67.126</c:v>
                </c:pt>
                <c:pt idx="9">
                  <c:v>71.905</c:v>
                </c:pt>
                <c:pt idx="10">
                  <c:v>77.132</c:v>
                </c:pt>
                <c:pt idx="11">
                  <c:v>82.791</c:v>
                </c:pt>
                <c:pt idx="12">
                  <c:v>88.84</c:v>
                </c:pt>
                <c:pt idx="13">
                  <c:v>95.254</c:v>
                </c:pt>
                <c:pt idx="14">
                  <c:v>101.961</c:v>
                </c:pt>
                <c:pt idx="15">
                  <c:v>108.966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Brazil</c:v>
                </c:pt>
              </c:strCache>
            </c:strRef>
          </c:tx>
          <c:spPr>
            <a:solidFill>
              <a:srgbClr val="3D85C6"/>
            </a:solidFill>
            <a:ln>
              <a:noFill/>
            </a:ln>
          </c:spPr>
          <c:dLbls>
            <c:dLbl>
              <c:idx val="0"/>
              <c:tx>
                <c:rich>
                  <a:bodyPr/>
                  <a:lstStyle/>
                  <a:p>
                    <a:r>
                      <a:rPr sz="1100">
                        <a:solidFill>
                          <a:srgbClr val="FFFFFF"/>
                        </a:solidFill>
                        <a:latin typeface="Calibri"/>
                      </a:rPr>
                      <a:t>575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603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631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662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694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732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776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826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883</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948</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1,019</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1,098</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1,183</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1,274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1,372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1,477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575.139</c:v>
                </c:pt>
                <c:pt idx="1">
                  <c:v>602.596</c:v>
                </c:pt>
                <c:pt idx="2">
                  <c:v>631.305</c:v>
                </c:pt>
                <c:pt idx="3">
                  <c:v>661.575</c:v>
                </c:pt>
                <c:pt idx="4">
                  <c:v>693.718</c:v>
                </c:pt>
                <c:pt idx="5">
                  <c:v>732.339</c:v>
                </c:pt>
                <c:pt idx="6">
                  <c:v>776.33</c:v>
                </c:pt>
                <c:pt idx="7">
                  <c:v>826.422</c:v>
                </c:pt>
                <c:pt idx="8">
                  <c:v>883.352</c:v>
                </c:pt>
                <c:pt idx="9">
                  <c:v>947.562</c:v>
                </c:pt>
                <c:pt idx="10">
                  <c:v>1018.992</c:v>
                </c:pt>
                <c:pt idx="11">
                  <c:v>1097.558</c:v>
                </c:pt>
                <c:pt idx="12">
                  <c:v>1182.57</c:v>
                </c:pt>
                <c:pt idx="13">
                  <c:v>1274.178</c:v>
                </c:pt>
                <c:pt idx="14">
                  <c:v>1372.337</c:v>
                </c:pt>
                <c:pt idx="15">
                  <c:v>1477.105</c:v>
                </c:pt>
              </c:numCache>
            </c:numRef>
          </c:val>
        </c:ser>
        <c:ser>
          <c:idx val="1"/>
          <c:order val="1"/>
          <c:tx>
            <c:strRef>
              <c:f>Sheet1!$C$1</c:f>
              <c:strCache>
                <c:ptCount val="1"/>
                <c:pt idx="0">
                  <c:v>Mexico</c:v>
                </c:pt>
              </c:strCache>
            </c:strRef>
          </c:tx>
          <c:spPr>
            <a:solidFill>
              <a:srgbClr val="9E7E0A"/>
            </a:solidFill>
            <a:ln>
              <a:noFill/>
            </a:ln>
          </c:spPr>
          <c:dLbls>
            <c:dLbl>
              <c:idx val="0"/>
              <c:tx>
                <c:rich>
                  <a:bodyPr/>
                  <a:lstStyle/>
                  <a:p>
                    <a:r>
                      <a:rPr sz="1100">
                        <a:solidFill>
                          <a:srgbClr val="FFFFFF"/>
                        </a:solidFill>
                        <a:latin typeface="Calibri"/>
                      </a:rPr>
                      <a:t>209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231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255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270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287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306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328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353</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381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411</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444</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480</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518</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559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209.067</c:v>
                </c:pt>
                <c:pt idx="1">
                  <c:v>219.707</c:v>
                </c:pt>
                <c:pt idx="2">
                  <c:v>230.855</c:v>
                </c:pt>
                <c:pt idx="3">
                  <c:v>242.6</c:v>
                </c:pt>
                <c:pt idx="4">
                  <c:v>255.127</c:v>
                </c:pt>
                <c:pt idx="5">
                  <c:v>270.038</c:v>
                </c:pt>
                <c:pt idx="6">
                  <c:v>286.966</c:v>
                </c:pt>
                <c:pt idx="7">
                  <c:v>306.331</c:v>
                </c:pt>
                <c:pt idx="8">
                  <c:v>328.423</c:v>
                </c:pt>
                <c:pt idx="9">
                  <c:v>353.361</c:v>
                </c:pt>
                <c:pt idx="10">
                  <c:v>381.021</c:v>
                </c:pt>
                <c:pt idx="11">
                  <c:v>411.413</c:v>
                </c:pt>
                <c:pt idx="12">
                  <c:v>444.426</c:v>
                </c:pt>
                <c:pt idx="13">
                  <c:v>480.098</c:v>
                </c:pt>
                <c:pt idx="14">
                  <c:v>518.334</c:v>
                </c:pt>
                <c:pt idx="15">
                  <c:v>559.21</c:v>
                </c:pt>
              </c:numCache>
            </c:numRef>
          </c:val>
        </c:ser>
        <c:ser>
          <c:idx val="2"/>
          <c:order val="2"/>
          <c:tx>
            <c:strRef>
              <c:f>Sheet1!$D$1</c:f>
              <c:strCache>
                <c:ptCount val="1"/>
                <c:pt idx="0">
                  <c:v>Rest of Latin America</c:v>
                </c:pt>
              </c:strCache>
            </c:strRef>
          </c:tx>
          <c:spPr>
            <a:solidFill>
              <a:srgbClr val="008189"/>
            </a:solidFill>
            <a:ln>
              <a:noFill/>
            </a:ln>
          </c:spPr>
          <c:dLbls>
            <c:dLbl>
              <c:idx val="0"/>
              <c:tx>
                <c:rich>
                  <a:bodyPr/>
                  <a:lstStyle/>
                  <a:p>
                    <a:r>
                      <a:rPr sz="1100">
                        <a:solidFill>
                          <a:srgbClr val="FFFFFF"/>
                        </a:solidFill>
                        <a:latin typeface="Calibri"/>
                      </a:rPr>
                      <a:t>207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231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258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275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294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316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341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370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402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437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476</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519</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565</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614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207.479</c:v>
                </c:pt>
                <c:pt idx="1">
                  <c:v>219.101</c:v>
                </c:pt>
                <c:pt idx="2">
                  <c:v>231.331</c:v>
                </c:pt>
                <c:pt idx="3">
                  <c:v>244.275</c:v>
                </c:pt>
                <c:pt idx="4">
                  <c:v>258.148</c:v>
                </c:pt>
                <c:pt idx="5">
                  <c:v>274.747</c:v>
                </c:pt>
                <c:pt idx="6">
                  <c:v>293.757</c:v>
                </c:pt>
                <c:pt idx="7">
                  <c:v>315.685</c:v>
                </c:pt>
                <c:pt idx="8">
                  <c:v>340.86</c:v>
                </c:pt>
                <c:pt idx="9">
                  <c:v>369.626</c:v>
                </c:pt>
                <c:pt idx="10">
                  <c:v>401.792</c:v>
                </c:pt>
                <c:pt idx="11">
                  <c:v>437.44</c:v>
                </c:pt>
                <c:pt idx="12">
                  <c:v>476.444</c:v>
                </c:pt>
                <c:pt idx="13">
                  <c:v>518.954</c:v>
                </c:pt>
                <c:pt idx="14">
                  <c:v>564.837</c:v>
                </c:pt>
                <c:pt idx="15">
                  <c:v>614.385</c:v>
                </c:pt>
              </c:numCache>
            </c:numRef>
          </c:val>
        </c:ser>
        <c:ser>
          <c:idx val="3"/>
          <c:order val="3"/>
          <c:tx>
            <c:strRef>
              <c:f>Sheet1!$E$1</c:f>
              <c:strCache>
                <c:ptCount val="1"/>
                <c:pt idx="0">
                  <c:v>Colombia</c:v>
                </c:pt>
              </c:strCache>
            </c:strRef>
          </c:tx>
          <c:spPr>
            <a:solidFill>
              <a:srgbClr val="40315E"/>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54.842</c:v>
                </c:pt>
                <c:pt idx="1">
                  <c:v>58.031</c:v>
                </c:pt>
                <c:pt idx="2">
                  <c:v>61.387</c:v>
                </c:pt>
                <c:pt idx="3">
                  <c:v>64.931</c:v>
                </c:pt>
                <c:pt idx="4">
                  <c:v>68.733</c:v>
                </c:pt>
                <c:pt idx="5">
                  <c:v>73.241</c:v>
                </c:pt>
                <c:pt idx="6">
                  <c:v>78.402</c:v>
                </c:pt>
                <c:pt idx="7">
                  <c:v>84.343</c:v>
                </c:pt>
                <c:pt idx="8">
                  <c:v>91.169</c:v>
                </c:pt>
                <c:pt idx="9">
                  <c:v>98.939</c:v>
                </c:pt>
                <c:pt idx="10">
                  <c:v>107.615</c:v>
                </c:pt>
                <c:pt idx="11">
                  <c:v>117.227</c:v>
                </c:pt>
                <c:pt idx="12">
                  <c:v>127.741</c:v>
                </c:pt>
                <c:pt idx="13">
                  <c:v>139.178</c:v>
                </c:pt>
                <c:pt idx="14">
                  <c:v>151.504</c:v>
                </c:pt>
                <c:pt idx="15">
                  <c:v>164.764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Sprays and Mists</c:v>
                </c:pt>
              </c:strCache>
            </c:strRef>
          </c:tx>
          <c:spPr>
            <a:solidFill>
              <a:srgbClr val="3D85C6"/>
            </a:solidFill>
            <a:ln>
              <a:noFill/>
            </a:ln>
          </c:spPr>
          <c:dLbls>
            <c:dLbl>
              <c:idx val="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Sheet1!$B$2:$B$5</c:f>
              <c:numCache>
                <c:formatCode>General</c:formatCode>
                <c:ptCount val="4"/>
                <c:pt idx="0">
                  <c:v>9.890450034898189</c:v>
                </c:pt>
                <c:pt idx="1">
                  <c:v>9.715849144328606</c:v>
                </c:pt>
                <c:pt idx="2">
                  <c:v>9.823287276586255</c:v>
                </c:pt>
                <c:pt idx="3">
                  <c:v>8.589430954853611</c:v>
                </c:pt>
              </c:numCache>
            </c:numRef>
          </c:val>
        </c:ser>
        <c:ser>
          <c:idx val="1"/>
          <c:order val="1"/>
          <c:tx>
            <c:strRef>
              <c:f>Sheet1!$C$1</c:f>
              <c:strCache>
                <c:ptCount val="1"/>
                <c:pt idx="0">
                  <c:v>Mousses and Foams</c:v>
                </c:pt>
              </c:strCache>
            </c:strRef>
          </c:tx>
          <c:spPr>
            <a:solidFill>
              <a:srgbClr val="9E7E0A"/>
            </a:solidFill>
            <a:ln>
              <a:noFill/>
            </a:ln>
          </c:spPr>
          <c:cat>
            <c:strRef>
              <c:f>Sheet1!$A$2:$A$5</c:f>
              <c:strCache>
                <c:ptCount val="4"/>
                <c:pt idx="0">
                  <c:v>Colombia  ·  165</c:v>
                </c:pt>
                <c:pt idx="1">
                  <c:v>Mexico  ·  559</c:v>
                </c:pt>
                <c:pt idx="2">
                  <c:v>Rest of Latin America  ·  614</c:v>
                </c:pt>
                <c:pt idx="3">
                  <c:v>Brazil  ·  1,477</c:v>
                </c:pt>
              </c:strCache>
            </c:strRef>
          </c:cat>
          <c:val>
            <c:numRef>
              <c:f>Sheet1!$C$2:$C$5</c:f>
              <c:numCache>
                <c:formatCode>General</c:formatCode>
                <c:ptCount val="4"/>
                <c:pt idx="0">
                  <c:v>6.315661699996966</c:v>
                </c:pt>
                <c:pt idx="1">
                  <c:v>6.406358970690795</c:v>
                </c:pt>
                <c:pt idx="2">
                  <c:v>6.262176771318405</c:v>
                </c:pt>
                <c:pt idx="3">
                  <c:v>5.885088815562323</c:v>
                </c:pt>
              </c:numCache>
            </c:numRef>
          </c:val>
        </c:ser>
        <c:ser>
          <c:idx val="2"/>
          <c:order val="2"/>
          <c:tx>
            <c:strRef>
              <c:f>Sheet1!$D$1</c:f>
              <c:strCache>
                <c:ptCount val="1"/>
                <c:pt idx="0">
                  <c:v>Gels and Jellies</c:v>
                </c:pt>
              </c:strCache>
            </c:strRef>
          </c:tx>
          <c:spPr>
            <a:solidFill>
              <a:srgbClr val="008189"/>
            </a:solidFill>
            <a:ln>
              <a:noFill/>
            </a:ln>
          </c:spPr>
          <c:dLbls>
            <c:dLbl>
              <c:idx val="0"/>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Sheet1!$D$2:$D$5</c:f>
              <c:numCache>
                <c:formatCode>General</c:formatCode>
                <c:ptCount val="4"/>
                <c:pt idx="0">
                  <c:v>9.457105574606258</c:v>
                </c:pt>
                <c:pt idx="1">
                  <c:v>10.192593122440584</c:v>
                </c:pt>
                <c:pt idx="2">
                  <c:v>8.787946359542113</c:v>
                </c:pt>
                <c:pt idx="3">
                  <c:v>8.878103534885106</c:v>
                </c:pt>
              </c:numCache>
            </c:numRef>
          </c:val>
        </c:ser>
        <c:ser>
          <c:idx val="3"/>
          <c:order val="3"/>
          <c:tx>
            <c:strRef>
              <c:f>Sheet1!$E$1</c:f>
              <c:strCache>
                <c:ptCount val="1"/>
                <c:pt idx="0">
                  <c:v>Creams and Lotions</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Sheet1!$E$2:$E$5</c:f>
              <c:numCache>
                <c:formatCode>General</c:formatCode>
                <c:ptCount val="4"/>
                <c:pt idx="0">
                  <c:v>13.388158892968777</c:v>
                </c:pt>
                <c:pt idx="1">
                  <c:v>12.821122655174264</c:v>
                </c:pt>
                <c:pt idx="2">
                  <c:v>13.532675658827417</c:v>
                </c:pt>
                <c:pt idx="3">
                  <c:v>14.06737228066232</c:v>
                </c:pt>
              </c:numCache>
            </c:numRef>
          </c:val>
        </c:ser>
        <c:ser>
          <c:idx val="4"/>
          <c:order val="4"/>
          <c:tx>
            <c:strRef>
              <c:f>Sheet1!$F$1</c:f>
              <c:strCache>
                <c:ptCount val="1"/>
                <c:pt idx="0">
                  <c:v>Waxes, Clays, Pastes and Pomades</c:v>
                </c:pt>
              </c:strCache>
            </c:strRef>
          </c:tx>
          <c:spPr>
            <a:solidFill>
              <a:srgbClr val="A35313"/>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Sheet1!$F$2:$F$5</c:f>
              <c:numCache>
                <c:formatCode>General</c:formatCode>
                <c:ptCount val="4"/>
                <c:pt idx="0">
                  <c:v>14.292477164446332</c:v>
                </c:pt>
                <c:pt idx="1">
                  <c:v>17.770604960569372</c:v>
                </c:pt>
                <c:pt idx="2">
                  <c:v>15.732591998203088</c:v>
                </c:pt>
                <c:pt idx="3">
                  <c:v>14.339526073281133</c:v>
                </c:pt>
              </c:numCache>
            </c:numRef>
          </c:val>
        </c:ser>
        <c:ser>
          <c:idx val="5"/>
          <c:order val="5"/>
          <c:tx>
            <c:strRef>
              <c:f>Sheet1!$G$1</c:f>
              <c:strCache>
                <c:ptCount val="1"/>
                <c:pt idx="0">
                  <c:v>Styling Powders</c:v>
                </c:pt>
              </c:strCache>
            </c:strRef>
          </c:tx>
          <c:spPr>
            <a:solidFill>
              <a:srgbClr val="808080"/>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Sheet1!$G$2:$G$5</c:f>
              <c:numCache>
                <c:formatCode>General</c:formatCode>
                <c:ptCount val="4"/>
                <c:pt idx="0">
                  <c:v>10.520438199860408</c:v>
                </c:pt>
                <c:pt idx="1">
                  <c:v>11.12229752686826</c:v>
                </c:pt>
                <c:pt idx="2">
                  <c:v>10.280165433187877</c:v>
                </c:pt>
                <c:pt idx="3">
                  <c:v>10.05784283592376</c:v>
                </c:pt>
              </c:numCache>
            </c:numRef>
          </c:val>
        </c:ser>
        <c:ser>
          <c:idx val="6"/>
          <c:order val="6"/>
          <c:tx>
            <c:strRef>
              <c:f>Sheet1!$H$1</c:f>
              <c:strCache>
                <c:ptCount val="1"/>
                <c:pt idx="0">
                  <c:v>Styling Serums and Oils</c:v>
                </c:pt>
              </c:strCache>
            </c:strRef>
          </c:tx>
          <c:spPr>
            <a:solidFill>
              <a:srgbClr val="0E72A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Sheet1!$H$2:$H$5</c:f>
              <c:numCache>
                <c:formatCode>General</c:formatCode>
                <c:ptCount val="4"/>
                <c:pt idx="0">
                  <c:v>20.491002336661307</c:v>
                </c:pt>
                <c:pt idx="1">
                  <c:v>17.531338853024803</c:v>
                </c:pt>
                <c:pt idx="2">
                  <c:v>20.921992164547753</c:v>
                </c:pt>
                <c:pt idx="3">
                  <c:v>23.280590560189996</c:v>
                </c:pt>
              </c:numCache>
            </c:numRef>
          </c:val>
        </c:ser>
        <c:ser>
          <c:idx val="7"/>
          <c:order val="7"/>
          <c:tx>
            <c:strRef>
              <c:f>Sheet1!$I$1</c:f>
              <c:strCache>
                <c:ptCount val="1"/>
                <c:pt idx="0">
                  <c:v>Sticks and Balms</c:v>
                </c:pt>
              </c:strCache>
            </c:strRef>
          </c:tx>
          <c:spPr>
            <a:solidFill>
              <a:srgbClr val="A86F00"/>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Sheet1!$I$2:$I$5</c:f>
              <c:numCache>
                <c:formatCode>General</c:formatCode>
                <c:ptCount val="4"/>
                <c:pt idx="0">
                  <c:v>15.644706096561773</c:v>
                </c:pt>
                <c:pt idx="1">
                  <c:v>14.439834766903308</c:v>
                </c:pt>
                <c:pt idx="2">
                  <c:v>14.659164337787095</c:v>
                </c:pt>
                <c:pt idx="3">
                  <c:v>14.902044944641752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62.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Sprays and Mists</c:v>
                </c:pt>
              </c:strCache>
            </c:strRef>
          </c:tx>
          <c:spPr>
            <a:solidFill>
              <a:srgbClr val="3D85C6"/>
            </a:solidFill>
          </c:spPr>
          <c:invertIfNegative val="0"/>
          <c:xVal>
            <c:numRef>
              <c:f>Sheet1!$A$2:$A$2</c:f>
              <c:numCache>
                <c:formatCode>General</c:formatCode>
                <c:ptCount val="1"/>
                <c:pt idx="0">
                  <c:v>77.40650648057607</c:v>
                </c:pt>
              </c:numCache>
            </c:numRef>
          </c:xVal>
          <c:yVal>
            <c:numRef>
              <c:f>Sheet1!$B$2:$B$2</c:f>
              <c:numCache>
                <c:formatCode>General</c:formatCode>
                <c:ptCount val="1"/>
                <c:pt idx="0">
                  <c:v>86.09642578117767</c:v>
                </c:pt>
              </c:numCache>
            </c:numRef>
          </c:yVal>
          <c:bubbleSize>
            <c:numRef>
              <c:f>Sheet1!$C$2:$C$2</c:f>
              <c:numCache>
                <c:formatCode>General</c:formatCode>
                <c:ptCount val="1"/>
                <c:pt idx="0">
                  <c:v>257.85299999999995</c:v>
                </c:pt>
              </c:numCache>
            </c:numRef>
          </c:bubbleSize>
          <c:bubble3D val="0"/>
        </c:ser>
        <c:ser>
          <c:idx val="1"/>
          <c:order val="1"/>
          <c:tx>
            <c:strRef>
              <c:f>Sheet1!$B$4</c:f>
              <c:strCache>
                <c:ptCount val="1"/>
                <c:pt idx="0">
                  <c:v>Mousses and Foams</c:v>
                </c:pt>
              </c:strCache>
            </c:strRef>
          </c:tx>
          <c:spPr>
            <a:solidFill>
              <a:srgbClr val="9E7E0A"/>
            </a:solidFill>
          </c:spPr>
          <c:invertIfNegative val="0"/>
          <c:xVal>
            <c:numRef>
              <c:f>Sheet1!$A$5:$A$5</c:f>
              <c:numCache>
                <c:formatCode>General</c:formatCode>
                <c:ptCount val="1"/>
                <c:pt idx="0">
                  <c:v>81.08534549981262</c:v>
                </c:pt>
              </c:numCache>
            </c:numRef>
          </c:xVal>
          <c:yVal>
            <c:numRef>
              <c:f>Sheet1!$B$5:$B$5</c:f>
              <c:numCache>
                <c:formatCode>General</c:formatCode>
                <c:ptCount val="1"/>
                <c:pt idx="0">
                  <c:v>55.81187308616558</c:v>
                </c:pt>
              </c:numCache>
            </c:numRef>
          </c:yVal>
          <c:bubbleSize>
            <c:numRef>
              <c:f>Sheet1!$C$5:$C$5</c:f>
              <c:numCache>
                <c:formatCode>General</c:formatCode>
                <c:ptCount val="1"/>
                <c:pt idx="0">
                  <c:v>171.633</c:v>
                </c:pt>
              </c:numCache>
            </c:numRef>
          </c:bubbleSize>
          <c:bubble3D val="0"/>
        </c:ser>
        <c:ser>
          <c:idx val="2"/>
          <c:order val="2"/>
          <c:tx>
            <c:strRef>
              <c:f>Sheet1!$B$7</c:f>
              <c:strCache>
                <c:ptCount val="1"/>
                <c:pt idx="0">
                  <c:v>Gels and Jellies</c:v>
                </c:pt>
              </c:strCache>
            </c:strRef>
          </c:tx>
          <c:spPr>
            <a:solidFill>
              <a:srgbClr val="008189"/>
            </a:solidFill>
          </c:spPr>
          <c:invertIfNegative val="0"/>
          <c:xVal>
            <c:numRef>
              <c:f>Sheet1!$A$8:$A$8</c:f>
              <c:numCache>
                <c:formatCode>General</c:formatCode>
                <c:ptCount val="1"/>
                <c:pt idx="0">
                  <c:v>82.65907475981787</c:v>
                </c:pt>
              </c:numCache>
            </c:numRef>
          </c:xVal>
          <c:yVal>
            <c:numRef>
              <c:f>Sheet1!$B$8:$B$8</c:f>
              <c:numCache>
                <c:formatCode>General</c:formatCode>
                <c:ptCount val="1"/>
                <c:pt idx="0">
                  <c:v>82.86174478752041</c:v>
                </c:pt>
              </c:numCache>
            </c:numRef>
          </c:yVal>
          <c:bubbleSize>
            <c:numRef>
              <c:f>Sheet1!$C$8:$C$8</c:f>
              <c:numCache>
                <c:formatCode>General</c:formatCode>
                <c:ptCount val="1"/>
                <c:pt idx="0">
                  <c:v>257.711</c:v>
                </c:pt>
              </c:numCache>
            </c:numRef>
          </c:bubbleSize>
          <c:bubble3D val="0"/>
        </c:ser>
        <c:ser>
          <c:idx val="3"/>
          <c:order val="3"/>
          <c:tx>
            <c:strRef>
              <c:f>Sheet1!$B$10</c:f>
              <c:strCache>
                <c:ptCount val="1"/>
                <c:pt idx="0">
                  <c:v>Creams and Lotions</c:v>
                </c:pt>
              </c:strCache>
            </c:strRef>
          </c:tx>
          <c:spPr>
            <a:solidFill>
              <a:srgbClr val="40315E"/>
            </a:solidFill>
          </c:spPr>
          <c:invertIfNegative val="0"/>
          <c:xVal>
            <c:numRef>
              <c:f>Sheet1!$A$11:$A$11</c:f>
              <c:numCache>
                <c:formatCode>General</c:formatCode>
                <c:ptCount val="1"/>
                <c:pt idx="0">
                  <c:v>95.34269652315122</c:v>
                </c:pt>
              </c:numCache>
            </c:numRef>
          </c:xVal>
          <c:yVal>
            <c:numRef>
              <c:f>Sheet1!$B$11:$B$11</c:f>
              <c:numCache>
                <c:formatCode>General</c:formatCode>
                <c:ptCount val="1"/>
                <c:pt idx="0">
                  <c:v>112.97982397351826</c:v>
                </c:pt>
              </c:numCache>
            </c:numRef>
          </c:yVal>
          <c:bubbleSize>
            <c:numRef>
              <c:f>Sheet1!$C$11:$C$11</c:f>
              <c:numCache>
                <c:formatCode>General</c:formatCode>
                <c:ptCount val="1"/>
                <c:pt idx="0">
                  <c:v>384.688</c:v>
                </c:pt>
              </c:numCache>
            </c:numRef>
          </c:bubbleSize>
          <c:bubble3D val="0"/>
        </c:ser>
        <c:ser>
          <c:idx val="4"/>
          <c:order val="4"/>
          <c:tx>
            <c:strRef>
              <c:f>Sheet1!$B$13</c:f>
              <c:strCache>
                <c:ptCount val="1"/>
                <c:pt idx="0">
                  <c:v>Waxes, Clays, Pastes and Pomades</c:v>
                </c:pt>
              </c:strCache>
            </c:strRef>
          </c:tx>
          <c:spPr>
            <a:solidFill>
              <a:srgbClr val="A35313"/>
            </a:solidFill>
          </c:spPr>
          <c:invertIfNegative val="0"/>
          <c:xVal>
            <c:numRef>
              <c:f>Sheet1!$A$14:$A$14</c:f>
              <c:numCache>
                <c:formatCode>General</c:formatCode>
                <c:ptCount val="1"/>
                <c:pt idx="0">
                  <c:v>96.58057431934944</c:v>
                </c:pt>
              </c:numCache>
            </c:numRef>
          </c:xVal>
          <c:yVal>
            <c:numRef>
              <c:f>Sheet1!$B$14:$B$14</c:f>
              <c:numCache>
                <c:formatCode>General</c:formatCode>
                <c:ptCount val="1"/>
                <c:pt idx="0">
                  <c:v>125.58737822736813</c:v>
                </c:pt>
              </c:numCache>
            </c:numRef>
          </c:yVal>
          <c:bubbleSize>
            <c:numRef>
              <c:f>Sheet1!$C$14:$C$14</c:f>
              <c:numCache>
                <c:formatCode>General</c:formatCode>
                <c:ptCount val="1"/>
                <c:pt idx="0">
                  <c:v>431.393</c:v>
                </c:pt>
              </c:numCache>
            </c:numRef>
          </c:bubbleSize>
          <c:bubble3D val="0"/>
        </c:ser>
        <c:ser>
          <c:idx val="5"/>
          <c:order val="5"/>
          <c:tx>
            <c:strRef>
              <c:f>Sheet1!$B$16</c:f>
              <c:strCache>
                <c:ptCount val="1"/>
                <c:pt idx="0">
                  <c:v>Styling Powders</c:v>
                </c:pt>
              </c:strCache>
            </c:strRef>
          </c:tx>
          <c:spPr>
            <a:solidFill>
              <a:srgbClr val="808080"/>
            </a:solidFill>
          </c:spPr>
          <c:invertIfNegative val="0"/>
          <c:xVal>
            <c:numRef>
              <c:f>Sheet1!$A$17:$A$17</c:f>
              <c:numCache>
                <c:formatCode>General</c:formatCode>
                <c:ptCount val="1"/>
                <c:pt idx="0">
                  <c:v>109.57783034540472</c:v>
                </c:pt>
              </c:numCache>
            </c:numRef>
          </c:xVal>
          <c:yVal>
            <c:numRef>
              <c:f>Sheet1!$B$17:$B$17</c:f>
              <c:numCache>
                <c:formatCode>General</c:formatCode>
                <c:ptCount val="1"/>
                <c:pt idx="0">
                  <c:v>77.34797628789252</c:v>
                </c:pt>
              </c:numCache>
            </c:numRef>
          </c:yVal>
          <c:bubbleSize>
            <c:numRef>
              <c:f>Sheet1!$C$17:$C$17</c:f>
              <c:numCache>
                <c:formatCode>General</c:formatCode>
                <c:ptCount val="1"/>
                <c:pt idx="0">
                  <c:v>291.257</c:v>
                </c:pt>
              </c:numCache>
            </c:numRef>
          </c:bubbleSize>
          <c:bubble3D val="0"/>
        </c:ser>
        <c:ser>
          <c:idx val="6"/>
          <c:order val="6"/>
          <c:tx>
            <c:strRef>
              <c:f>Sheet1!$B$19</c:f>
              <c:strCache>
                <c:ptCount val="1"/>
                <c:pt idx="0">
                  <c:v>Styling Serums and Oils</c:v>
                </c:pt>
              </c:strCache>
            </c:strRef>
          </c:tx>
          <c:spPr>
            <a:solidFill>
              <a:srgbClr val="0E72AE"/>
            </a:solidFill>
          </c:spPr>
          <c:invertIfNegative val="0"/>
          <c:xVal>
            <c:numRef>
              <c:f>Sheet1!$A$20:$A$20</c:f>
              <c:numCache>
                <c:formatCode>General</c:formatCode>
                <c:ptCount val="1"/>
                <c:pt idx="0">
                  <c:v>110.61092527192582</c:v>
                </c:pt>
              </c:numCache>
            </c:numRef>
          </c:xVal>
          <c:yVal>
            <c:numRef>
              <c:f>Sheet1!$B$20:$B$20</c:f>
              <c:numCache>
                <c:formatCode>General</c:formatCode>
                <c:ptCount val="1"/>
                <c:pt idx="0">
                  <c:v>159.29856001895783</c:v>
                </c:pt>
              </c:numCache>
            </c:numRef>
          </c:yVal>
          <c:bubbleSize>
            <c:numRef>
              <c:f>Sheet1!$C$20:$C$20</c:f>
              <c:numCache>
                <c:formatCode>General</c:formatCode>
                <c:ptCount val="1"/>
                <c:pt idx="0">
                  <c:v>604.22</c:v>
                </c:pt>
              </c:numCache>
            </c:numRef>
          </c:bubbleSize>
          <c:bubble3D val="0"/>
        </c:ser>
        <c:ser>
          <c:idx val="7"/>
          <c:order val="7"/>
          <c:tx>
            <c:strRef>
              <c:f>Sheet1!$B$22</c:f>
              <c:strCache>
                <c:ptCount val="1"/>
                <c:pt idx="0">
                  <c:v>Sticks and Balms</c:v>
                </c:pt>
              </c:strCache>
            </c:strRef>
          </c:tx>
          <c:spPr>
            <a:solidFill>
              <a:srgbClr val="A86F00"/>
            </a:solidFill>
          </c:spPr>
          <c:invertIfNegative val="0"/>
          <c:xVal>
            <c:numRef>
              <c:f>Sheet1!$A$23:$A$23</c:f>
              <c:numCache>
                <c:formatCode>General</c:formatCode>
                <c:ptCount val="1"/>
                <c:pt idx="0">
                  <c:v>124.0281818730091</c:v>
                </c:pt>
              </c:numCache>
            </c:numRef>
          </c:xVal>
          <c:yVal>
            <c:numRef>
              <c:f>Sheet1!$B$23:$B$23</c:f>
              <c:numCache>
                <c:formatCode>General</c:formatCode>
                <c:ptCount val="1"/>
                <c:pt idx="0">
                  <c:v>100.01621783739951</c:v>
                </c:pt>
              </c:numCache>
            </c:numRef>
          </c:yVal>
          <c:bubbleSize>
            <c:numRef>
              <c:f>Sheet1!$C$23:$C$23</c:f>
              <c:numCache>
                <c:formatCode>General</c:formatCode>
                <c:ptCount val="1"/>
                <c:pt idx="0">
                  <c:v>416.709</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0"/>
          <c:min val="6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145.327</c:v>
                </c:pt>
                <c:pt idx="2">
                  <c:v>160.379</c:v>
                </c:pt>
                <c:pt idx="3">
                  <c:v>179.48700000000002</c:v>
                </c:pt>
                <c:pt idx="4">
                  <c:v>202.171</c:v>
                </c:pt>
                <c:pt idx="5">
                  <c:v>228.37400000000002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145.327</c:v>
                </c:pt>
                <c:pt idx="1">
                  <c:v>15.051999999999992</c:v>
                </c:pt>
                <c:pt idx="2">
                  <c:v>19.108000000000033</c:v>
                </c:pt>
                <c:pt idx="3">
                  <c:v>22.68399999999997</c:v>
                </c:pt>
                <c:pt idx="4">
                  <c:v>26.20300000000003</c:v>
                </c:pt>
                <c:pt idx="5">
                  <c:v>29.478999999999928</c:v>
                </c:pt>
                <c:pt idx="6">
                  <c:v>257.85299999999995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94.208</c:v>
                </c:pt>
                <c:pt idx="2">
                  <c:v>105.21600000000001</c:v>
                </c:pt>
                <c:pt idx="3">
                  <c:v>118.481</c:v>
                </c:pt>
                <c:pt idx="4">
                  <c:v>133.79</c:v>
                </c:pt>
                <c:pt idx="5">
                  <c:v>151.565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94.208</c:v>
                </c:pt>
                <c:pt idx="1">
                  <c:v>11.00800000000001</c:v>
                </c:pt>
                <c:pt idx="2">
                  <c:v>13.264999999999986</c:v>
                </c:pt>
                <c:pt idx="3">
                  <c:v>15.308999999999997</c:v>
                </c:pt>
                <c:pt idx="4">
                  <c:v>17.775000000000006</c:v>
                </c:pt>
                <c:pt idx="5">
                  <c:v>20.068000000000012</c:v>
                </c:pt>
                <c:pt idx="6">
                  <c:v>171.633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139.867</c:v>
                </c:pt>
                <c:pt idx="2">
                  <c:v>157.119</c:v>
                </c:pt>
                <c:pt idx="3">
                  <c:v>177.591</c:v>
                </c:pt>
                <c:pt idx="4">
                  <c:v>201.162</c:v>
                </c:pt>
                <c:pt idx="5">
                  <c:v>227.909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139.867</c:v>
                </c:pt>
                <c:pt idx="1">
                  <c:v>17.25200000000001</c:v>
                </c:pt>
                <c:pt idx="2">
                  <c:v>20.47200000000001</c:v>
                </c:pt>
                <c:pt idx="3">
                  <c:v>23.570999999999998</c:v>
                </c:pt>
                <c:pt idx="4">
                  <c:v>26.746999999999986</c:v>
                </c:pt>
                <c:pt idx="5">
                  <c:v>29.80200000000002</c:v>
                </c:pt>
                <c:pt idx="6">
                  <c:v>257.711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190.705</c:v>
                </c:pt>
                <c:pt idx="2">
                  <c:v>213.037</c:v>
                </c:pt>
                <c:pt idx="3">
                  <c:v>243.931</c:v>
                </c:pt>
                <c:pt idx="4">
                  <c:v>283.257</c:v>
                </c:pt>
                <c:pt idx="5">
                  <c:v>330.488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190.705</c:v>
                </c:pt>
                <c:pt idx="1">
                  <c:v>22.331999999999994</c:v>
                </c:pt>
                <c:pt idx="2">
                  <c:v>30.894000000000005</c:v>
                </c:pt>
                <c:pt idx="3">
                  <c:v>39.32599999999999</c:v>
                </c:pt>
                <c:pt idx="4">
                  <c:v>47.230999999999995</c:v>
                </c:pt>
                <c:pt idx="5">
                  <c:v>54.19999999999999</c:v>
                </c:pt>
                <c:pt idx="6">
                  <c:v>384.688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211.986</c:v>
                </c:pt>
                <c:pt idx="2">
                  <c:v>241.383</c:v>
                </c:pt>
                <c:pt idx="3">
                  <c:v>278.005</c:v>
                </c:pt>
                <c:pt idx="4">
                  <c:v>320.706</c:v>
                </c:pt>
                <c:pt idx="5">
                  <c:v>371.699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211.986</c:v>
                </c:pt>
                <c:pt idx="1">
                  <c:v>29.39700000000002</c:v>
                </c:pt>
                <c:pt idx="2">
                  <c:v>36.621999999999986</c:v>
                </c:pt>
                <c:pt idx="3">
                  <c:v>42.70100000000002</c:v>
                </c:pt>
                <c:pt idx="4">
                  <c:v>50.992999999999995</c:v>
                </c:pt>
                <c:pt idx="5">
                  <c:v>59.69399999999996</c:v>
                </c:pt>
                <c:pt idx="6">
                  <c:v>431.393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130.56</c:v>
                </c:pt>
                <c:pt idx="2">
                  <c:v>149.14</c:v>
                </c:pt>
                <c:pt idx="3">
                  <c:v>173.959</c:v>
                </c:pt>
                <c:pt idx="4">
                  <c:v>207.291</c:v>
                </c:pt>
                <c:pt idx="5">
                  <c:v>246.537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130.56</c:v>
                </c:pt>
                <c:pt idx="1">
                  <c:v>18.579999999999984</c:v>
                </c:pt>
                <c:pt idx="2">
                  <c:v>24.819000000000017</c:v>
                </c:pt>
                <c:pt idx="3">
                  <c:v>33.331999999999994</c:v>
                </c:pt>
                <c:pt idx="4">
                  <c:v>39.24600000000001</c:v>
                </c:pt>
                <c:pt idx="5">
                  <c:v>44.72</c:v>
                </c:pt>
                <c:pt idx="6">
                  <c:v>291.257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268.889</c:v>
                </c:pt>
                <c:pt idx="2">
                  <c:v>309.903</c:v>
                </c:pt>
                <c:pt idx="3">
                  <c:v>365.17</c:v>
                </c:pt>
                <c:pt idx="4">
                  <c:v>433.999</c:v>
                </c:pt>
                <c:pt idx="5">
                  <c:v>512.95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268.889</c:v>
                </c:pt>
                <c:pt idx="1">
                  <c:v>41.01400000000001</c:v>
                </c:pt>
                <c:pt idx="2">
                  <c:v>55.266999999999996</c:v>
                </c:pt>
                <c:pt idx="3">
                  <c:v>68.82900000000001</c:v>
                </c:pt>
                <c:pt idx="4">
                  <c:v>78.95100000000002</c:v>
                </c:pt>
                <c:pt idx="5">
                  <c:v>91.26999999999998</c:v>
                </c:pt>
                <c:pt idx="6">
                  <c:v>604.22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168.823</c:v>
                </c:pt>
                <c:pt idx="2">
                  <c:v>196.604</c:v>
                </c:pt>
                <c:pt idx="3">
                  <c:v>232.866</c:v>
                </c:pt>
                <c:pt idx="4">
                  <c:v>281.262</c:v>
                </c:pt>
                <c:pt idx="5">
                  <c:v>342.886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168.823</c:v>
                </c:pt>
                <c:pt idx="1">
                  <c:v>27.781000000000006</c:v>
                </c:pt>
                <c:pt idx="2">
                  <c:v>36.262</c:v>
                </c:pt>
                <c:pt idx="3">
                  <c:v>48.39599999999999</c:v>
                </c:pt>
                <c:pt idx="4">
                  <c:v>61.624000000000024</c:v>
                </c:pt>
                <c:pt idx="5">
                  <c:v>73.82299999999998</c:v>
                </c:pt>
                <c:pt idx="6">
                  <c:v>416.709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Serums and Oils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18.990928080143256</c:v>
                </c:pt>
                <c:pt idx="1">
                  <c:v>19.91232000236973</c:v>
                </c:pt>
                <c:pt idx="2">
                  <c:v>21.460760997121614</c:v>
                </c:pt>
              </c:numCache>
            </c:numRef>
          </c:val>
        </c:ser>
        <c:ser>
          <c:idx val="1"/>
          <c:order val="1"/>
          <c:tx>
            <c:strRef>
              <c:f>Sheet1!$C$1</c:f>
              <c:strCache>
                <c:ptCount val="1"/>
                <c:pt idx="0">
                  <c:v>Waxes, Clays, Pastes and Pomades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15.311325280021709</c:v>
                </c:pt>
                <c:pt idx="1">
                  <c:v>15.698422278421017</c:v>
                </c:pt>
                <c:pt idx="2">
                  <c:v>15.322270148011127</c:v>
                </c:pt>
              </c:numCache>
            </c:numRef>
          </c:val>
        </c:ser>
        <c:ser>
          <c:idx val="2"/>
          <c:order val="2"/>
          <c:tx>
            <c:strRef>
              <c:f>Sheet1!$D$1</c:f>
              <c:strCache>
                <c:ptCount val="1"/>
                <c:pt idx="0">
                  <c:v>Sticks and Balms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11.829233100754305</c:v>
                </c:pt>
                <c:pt idx="1">
                  <c:v>12.502027229674939</c:v>
                </c:pt>
                <c:pt idx="2">
                  <c:v>14.800722012428501</c:v>
                </c:pt>
              </c:numCache>
            </c:numRef>
          </c:val>
        </c:ser>
        <c:ser>
          <c:idx val="3"/>
          <c:order val="3"/>
          <c:tx>
            <c:strRef>
              <c:f>Sheet1!$E$1</c:f>
              <c:strCache>
                <c:ptCount val="1"/>
                <c:pt idx="0">
                  <c:v>Creams and Lotions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15.009087208535671</c:v>
                </c:pt>
                <c:pt idx="1">
                  <c:v>14.122477996689783</c:v>
                </c:pt>
                <c:pt idx="2">
                  <c:v>13.663396157791396</c:v>
                </c:pt>
              </c:numCache>
            </c:numRef>
          </c:val>
        </c:ser>
        <c:ser>
          <c:idx val="4"/>
          <c:order val="4"/>
          <c:tx>
            <c:strRef>
              <c:f>Sheet1!$F$1</c:f>
              <c:strCache>
                <c:ptCount val="1"/>
                <c:pt idx="0">
                  <c:v>Powders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9.828422800771314</c:v>
                </c:pt>
                <c:pt idx="1">
                  <c:v>9.668497035986565</c:v>
                </c:pt>
                <c:pt idx="2">
                  <c:v>10.344902296743982</c:v>
                </c:pt>
              </c:numCache>
            </c:numRef>
          </c:val>
        </c:ser>
        <c:ser>
          <c:idx val="5"/>
          <c:order val="5"/>
          <c:tx>
            <c:strRef>
              <c:f>Sheet1!$G$1</c:f>
              <c:strCache>
                <c:ptCount val="1"/>
                <c:pt idx="0">
                  <c:v>Sprays and Mists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11.420929819230482</c:v>
                </c:pt>
                <c:pt idx="1">
                  <c:v>10.762053222647209</c:v>
                </c:pt>
                <c:pt idx="2">
                  <c:v>9.158454876354305</c:v>
                </c:pt>
              </c:numCache>
            </c:numRef>
          </c:val>
        </c:ser>
        <c:ser>
          <c:idx val="6"/>
          <c:order val="6"/>
          <c:tx>
            <c:strRef>
              <c:f>Sheet1!$H$1</c:f>
              <c:strCache>
                <c:ptCount val="1"/>
                <c:pt idx="0">
                  <c:v>Gels and Jellies</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10.468349567999265</c:v>
                </c:pt>
                <c:pt idx="1">
                  <c:v>10.357718098440051</c:v>
                </c:pt>
                <c:pt idx="2">
                  <c:v>9.153411302719553</c:v>
                </c:pt>
              </c:numCache>
            </c:numRef>
          </c:val>
        </c:ser>
        <c:ser>
          <c:idx val="7"/>
          <c:order val="7"/>
          <c:tx>
            <c:strRef>
              <c:f>Sheet1!$I$1</c:f>
              <c:strCache>
                <c:ptCount val="1"/>
                <c:pt idx="0">
                  <c:v>Mousses and Foams</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Sheet1!$I$2:$I$4</c:f>
              <c:numCache>
                <c:formatCode>General</c:formatCode>
                <c:ptCount val="3"/>
                <c:pt idx="0">
                  <c:v>7.141724142543997</c:v>
                </c:pt>
                <c:pt idx="1">
                  <c:v>6.976484135770698</c:v>
                </c:pt>
                <c:pt idx="2">
                  <c:v>6.096082208829523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No Hold</c:v>
                </c:pt>
              </c:strCache>
            </c:strRef>
          </c:tx>
          <c:spPr>
            <a:solidFill>
              <a:srgbClr val="3D85C6"/>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Sheet1!$B$2:$B$5</c:f>
              <c:numCache>
                <c:formatCode>General</c:formatCode>
                <c:ptCount val="4"/>
                <c:pt idx="0">
                  <c:v>20.032410189180823</c:v>
                </c:pt>
                <c:pt idx="1">
                  <c:v>20.04027116874013</c:v>
                </c:pt>
                <c:pt idx="2">
                  <c:v>20.035124498279586</c:v>
                </c:pt>
                <c:pt idx="3">
                  <c:v>20.044614296207786</c:v>
                </c:pt>
              </c:numCache>
            </c:numRef>
          </c:val>
        </c:ser>
        <c:ser>
          <c:idx val="1"/>
          <c:order val="1"/>
          <c:tx>
            <c:strRef>
              <c:f>Sheet1!$C$1</c:f>
              <c:strCache>
                <c:ptCount val="1"/>
                <c:pt idx="0">
                  <c:v>Light or Flexible Hold</c:v>
                </c:pt>
              </c:strCache>
            </c:strRef>
          </c:tx>
          <c:spPr>
            <a:solidFill>
              <a:srgbClr val="9E7E0A"/>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Sheet1!$C$2:$C$5</c:f>
              <c:numCache>
                <c:formatCode>General</c:formatCode>
                <c:ptCount val="4"/>
                <c:pt idx="0">
                  <c:v>22.188840941230737</c:v>
                </c:pt>
                <c:pt idx="1">
                  <c:v>22.206724140705887</c:v>
                </c:pt>
                <c:pt idx="2">
                  <c:v>22.194516151084176</c:v>
                </c:pt>
                <c:pt idx="3">
                  <c:v>22.216836311568915</c:v>
                </c:pt>
              </c:numCache>
            </c:numRef>
          </c:val>
        </c:ser>
        <c:ser>
          <c:idx val="2"/>
          <c:order val="2"/>
          <c:tx>
            <c:strRef>
              <c:f>Sheet1!$D$1</c:f>
              <c:strCache>
                <c:ptCount val="1"/>
                <c:pt idx="0">
                  <c:v>Medium Hold</c:v>
                </c:pt>
              </c:strCache>
            </c:strRef>
          </c:tx>
          <c:spPr>
            <a:solidFill>
              <a:srgbClr val="008189"/>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Sheet1!$D$2:$D$5</c:f>
              <c:numCache>
                <c:formatCode>General</c:formatCode>
                <c:ptCount val="4"/>
                <c:pt idx="0">
                  <c:v>22.017079077220007</c:v>
                </c:pt>
                <c:pt idx="1">
                  <c:v>22.016097738055002</c:v>
                </c:pt>
                <c:pt idx="2">
                  <c:v>22.016777726054958</c:v>
                </c:pt>
                <c:pt idx="3">
                  <c:v>22.015428828688552</c:v>
                </c:pt>
              </c:numCache>
            </c:numRef>
          </c:val>
        </c:ser>
        <c:ser>
          <c:idx val="3"/>
          <c:order val="3"/>
          <c:tx>
            <c:strRef>
              <c:f>Sheet1!$E$1</c:f>
              <c:strCache>
                <c:ptCount val="1"/>
                <c:pt idx="0">
                  <c:v>Strong Hold</c:v>
                </c:pt>
              </c:strCache>
            </c:strRef>
          </c:tx>
          <c:spPr>
            <a:solidFill>
              <a:srgbClr val="40315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Sheet1!$E$2:$E$5</c:f>
              <c:numCache>
                <c:formatCode>General</c:formatCode>
                <c:ptCount val="4"/>
                <c:pt idx="0">
                  <c:v>19.77325006221057</c:v>
                </c:pt>
                <c:pt idx="1">
                  <c:v>19.763451589656103</c:v>
                </c:pt>
                <c:pt idx="2">
                  <c:v>19.769981737865123</c:v>
                </c:pt>
                <c:pt idx="3">
                  <c:v>19.758040220566585</c:v>
                </c:pt>
              </c:numCache>
            </c:numRef>
          </c:val>
        </c:ser>
        <c:ser>
          <c:idx val="4"/>
          <c:order val="4"/>
          <c:tx>
            <c:strRef>
              <c:f>Sheet1!$F$1</c:f>
              <c:strCache>
                <c:ptCount val="1"/>
                <c:pt idx="0">
                  <c:v>Extra-strong Hold</c:v>
                </c:pt>
              </c:strCache>
            </c:strRef>
          </c:tx>
          <c:spPr>
            <a:solidFill>
              <a:srgbClr val="A35313"/>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Sheet1!$F$2:$F$5</c:f>
              <c:numCache>
                <c:formatCode>General</c:formatCode>
                <c:ptCount val="4"/>
                <c:pt idx="0">
                  <c:v>15.988419730157863</c:v>
                </c:pt>
                <c:pt idx="1">
                  <c:v>15.973455362842873</c:v>
                </c:pt>
                <c:pt idx="2">
                  <c:v>15.983599886716169</c:v>
                </c:pt>
                <c:pt idx="3">
                  <c:v>15.965080342968175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7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No Hold</c:v>
                </c:pt>
              </c:strCache>
            </c:strRef>
          </c:tx>
          <c:spPr>
            <a:solidFill>
              <a:srgbClr val="3D85C6"/>
            </a:solidFill>
          </c:spPr>
          <c:invertIfNegative val="0"/>
          <c:xVal>
            <c:numRef>
              <c:f>Sheet1!$A$2:$A$2</c:f>
              <c:numCache>
                <c:formatCode>General</c:formatCode>
                <c:ptCount val="1"/>
                <c:pt idx="0">
                  <c:v>107.93303222345969</c:v>
                </c:pt>
              </c:numCache>
            </c:numRef>
          </c:xVal>
          <c:yVal>
            <c:numRef>
              <c:f>Sheet1!$B$2:$B$2</c:f>
              <c:numCache>
                <c:formatCode>General</c:formatCode>
                <c:ptCount val="1"/>
                <c:pt idx="0">
                  <c:v>94.74364338530692</c:v>
                </c:pt>
              </c:numCache>
            </c:numRef>
          </c:yVal>
          <c:bubbleSize>
            <c:numRef>
              <c:f>Sheet1!$C$2:$C$2</c:f>
              <c:numCache>
                <c:formatCode>General</c:formatCode>
                <c:ptCount val="1"/>
                <c:pt idx="0">
                  <c:v>564.246</c:v>
                </c:pt>
              </c:numCache>
            </c:numRef>
          </c:bubbleSize>
          <c:bubble3D val="0"/>
        </c:ser>
        <c:ser>
          <c:idx val="1"/>
          <c:order val="1"/>
          <c:tx>
            <c:strRef>
              <c:f>Sheet1!$B$4</c:f>
              <c:strCache>
                <c:ptCount val="1"/>
                <c:pt idx="0">
                  <c:v>Light or Flexible Hold</c:v>
                </c:pt>
              </c:strCache>
            </c:strRef>
          </c:tx>
          <c:spPr>
            <a:solidFill>
              <a:srgbClr val="9E7E0A"/>
            </a:solidFill>
          </c:spPr>
          <c:invertIfNegative val="0"/>
          <c:xVal>
            <c:numRef>
              <c:f>Sheet1!$A$5:$A$5</c:f>
              <c:numCache>
                <c:formatCode>General</c:formatCode>
                <c:ptCount val="1"/>
                <c:pt idx="0">
                  <c:v>113.58962900794208</c:v>
                </c:pt>
              </c:numCache>
            </c:numRef>
          </c:xVal>
          <c:yVal>
            <c:numRef>
              <c:f>Sheet1!$B$5:$B$5</c:f>
              <c:numCache>
                <c:formatCode>General</c:formatCode>
                <c:ptCount val="1"/>
                <c:pt idx="0">
                  <c:v>100.89642430009663</c:v>
                </c:pt>
              </c:numCache>
            </c:numRef>
          </c:yVal>
          <c:bubbleSize>
            <c:numRef>
              <c:f>Sheet1!$C$5:$C$5</c:f>
              <c:numCache>
                <c:formatCode>General</c:formatCode>
                <c:ptCount val="1"/>
                <c:pt idx="0">
                  <c:v>625.267</c:v>
                </c:pt>
              </c:numCache>
            </c:numRef>
          </c:bubbleSize>
          <c:bubble3D val="0"/>
        </c:ser>
        <c:ser>
          <c:idx val="2"/>
          <c:order val="2"/>
          <c:tx>
            <c:strRef>
              <c:f>Sheet1!$B$7</c:f>
              <c:strCache>
                <c:ptCount val="1"/>
                <c:pt idx="0">
                  <c:v>Medium Hold</c:v>
                </c:pt>
              </c:strCache>
            </c:strRef>
          </c:tx>
          <c:spPr>
            <a:solidFill>
              <a:srgbClr val="008189"/>
            </a:solidFill>
          </c:spPr>
          <c:invertIfNegative val="0"/>
          <c:xVal>
            <c:numRef>
              <c:f>Sheet1!$A$8:$A$8</c:f>
              <c:numCache>
                <c:formatCode>General</c:formatCode>
                <c:ptCount val="1"/>
                <c:pt idx="0">
                  <c:v>98.73916579317759</c:v>
                </c:pt>
              </c:numCache>
            </c:numRef>
          </c:xVal>
          <c:yVal>
            <c:numRef>
              <c:f>Sheet1!$B$8:$B$8</c:f>
              <c:numCache>
                <c:formatCode>General</c:formatCode>
                <c:ptCount val="1"/>
                <c:pt idx="0">
                  <c:v>111.06774834952029</c:v>
                </c:pt>
              </c:numCache>
            </c:numRef>
          </c:yVal>
          <c:bubbleSize>
            <c:numRef>
              <c:f>Sheet1!$C$8:$C$8</c:f>
              <c:numCache>
                <c:formatCode>General</c:formatCode>
                <c:ptCount val="1"/>
                <c:pt idx="0">
                  <c:v>619.851</c:v>
                </c:pt>
              </c:numCache>
            </c:numRef>
          </c:bubbleSize>
          <c:bubble3D val="0"/>
        </c:ser>
        <c:ser>
          <c:idx val="3"/>
          <c:order val="3"/>
          <c:tx>
            <c:strRef>
              <c:f>Sheet1!$B$10</c:f>
              <c:strCache>
                <c:ptCount val="1"/>
                <c:pt idx="0">
                  <c:v>Strong Hold</c:v>
                </c:pt>
              </c:strCache>
            </c:strRef>
          </c:tx>
          <c:spPr>
            <a:solidFill>
              <a:srgbClr val="40315E"/>
            </a:solidFill>
          </c:spPr>
          <c:invertIfNegative val="0"/>
          <c:xVal>
            <c:numRef>
              <c:f>Sheet1!$A$11:$A$11</c:f>
              <c:numCache>
                <c:formatCode>General</c:formatCode>
                <c:ptCount val="1"/>
                <c:pt idx="0">
                  <c:v>91.78952993976645</c:v>
                </c:pt>
              </c:numCache>
            </c:numRef>
          </c:xVal>
          <c:yVal>
            <c:numRef>
              <c:f>Sheet1!$B$11:$B$11</c:f>
              <c:numCache>
                <c:formatCode>General</c:formatCode>
                <c:ptCount val="1"/>
                <c:pt idx="0">
                  <c:v>104.74871608787252</c:v>
                </c:pt>
              </c:numCache>
            </c:numRef>
          </c:yVal>
          <c:bubbleSize>
            <c:numRef>
              <c:f>Sheet1!$C$11:$C$11</c:f>
              <c:numCache>
                <c:formatCode>General</c:formatCode>
                <c:ptCount val="1"/>
                <c:pt idx="0">
                  <c:v>556.41</c:v>
                </c:pt>
              </c:numCache>
            </c:numRef>
          </c:bubbleSize>
          <c:bubble3D val="0"/>
        </c:ser>
        <c:ser>
          <c:idx val="4"/>
          <c:order val="4"/>
          <c:tx>
            <c:strRef>
              <c:f>Sheet1!$B$13</c:f>
              <c:strCache>
                <c:ptCount val="1"/>
                <c:pt idx="0">
                  <c:v>Extra-strong Hold</c:v>
                </c:pt>
              </c:strCache>
            </c:strRef>
          </c:tx>
          <c:spPr>
            <a:solidFill>
              <a:srgbClr val="A35313"/>
            </a:solidFill>
          </c:spPr>
          <c:invertIfNegative val="0"/>
          <c:xVal>
            <c:numRef>
              <c:f>Sheet1!$A$14:$A$14</c:f>
              <c:numCache>
                <c:formatCode>General</c:formatCode>
                <c:ptCount val="1"/>
                <c:pt idx="0">
                  <c:v>85.50599631746486</c:v>
                </c:pt>
              </c:numCache>
            </c:numRef>
          </c:xVal>
          <c:yVal>
            <c:numRef>
              <c:f>Sheet1!$B$14:$B$14</c:f>
              <c:numCache>
                <c:formatCode>General</c:formatCode>
                <c:ptCount val="1"/>
                <c:pt idx="0">
                  <c:v>88.54346787720355</c:v>
                </c:pt>
              </c:numCache>
            </c:numRef>
          </c:yVal>
          <c:bubbleSize>
            <c:numRef>
              <c:f>Sheet1!$C$14:$C$14</c:f>
              <c:numCache>
                <c:formatCode>General</c:formatCode>
                <c:ptCount val="1"/>
                <c:pt idx="0">
                  <c:v>449.691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255.877</c:v>
                </c:pt>
                <c:pt idx="2">
                  <c:v>289.049</c:v>
                </c:pt>
                <c:pt idx="3">
                  <c:v>336.049</c:v>
                </c:pt>
                <c:pt idx="4">
                  <c:v>398.057</c:v>
                </c:pt>
                <c:pt idx="5">
                  <c:v>474.13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255.877</c:v>
                </c:pt>
                <c:pt idx="1">
                  <c:v>33.17199999999997</c:v>
                </c:pt>
                <c:pt idx="2">
                  <c:v>47.0</c:v>
                </c:pt>
                <c:pt idx="3">
                  <c:v>62.00800000000004</c:v>
                </c:pt>
                <c:pt idx="4">
                  <c:v>76.07299999999998</c:v>
                </c:pt>
                <c:pt idx="5">
                  <c:v>90.11599999999999</c:v>
                </c:pt>
                <c:pt idx="6">
                  <c:v>564.246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272.494</c:v>
                </c:pt>
                <c:pt idx="2">
                  <c:v>311.838</c:v>
                </c:pt>
                <c:pt idx="3">
                  <c:v>365.303</c:v>
                </c:pt>
                <c:pt idx="4">
                  <c:v>438.15</c:v>
                </c:pt>
                <c:pt idx="5">
                  <c:v>524.635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272.494</c:v>
                </c:pt>
                <c:pt idx="1">
                  <c:v>39.343999999999994</c:v>
                </c:pt>
                <c:pt idx="2">
                  <c:v>53.464999999999975</c:v>
                </c:pt>
                <c:pt idx="3">
                  <c:v>72.84699999999998</c:v>
                </c:pt>
                <c:pt idx="4">
                  <c:v>86.48500000000001</c:v>
                </c:pt>
                <c:pt idx="5">
                  <c:v>100.63200000000006</c:v>
                </c:pt>
                <c:pt idx="6">
                  <c:v>625.267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299.964</c:v>
                </c:pt>
                <c:pt idx="2">
                  <c:v>342.787</c:v>
                </c:pt>
                <c:pt idx="3">
                  <c:v>397.118</c:v>
                </c:pt>
                <c:pt idx="4">
                  <c:v>459.753</c:v>
                </c:pt>
                <c:pt idx="5">
                  <c:v>534.423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299.964</c:v>
                </c:pt>
                <c:pt idx="1">
                  <c:v>42.82299999999998</c:v>
                </c:pt>
                <c:pt idx="2">
                  <c:v>54.33100000000002</c:v>
                </c:pt>
                <c:pt idx="3">
                  <c:v>62.63499999999999</c:v>
                </c:pt>
                <c:pt idx="4">
                  <c:v>74.67000000000002</c:v>
                </c:pt>
                <c:pt idx="5">
                  <c:v>85.428</c:v>
                </c:pt>
                <c:pt idx="6">
                  <c:v>619.851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282.898</c:v>
                </c:pt>
                <c:pt idx="2">
                  <c:v>321.08</c:v>
                </c:pt>
                <c:pt idx="3">
                  <c:v>367.428</c:v>
                </c:pt>
                <c:pt idx="4">
                  <c:v>422.314</c:v>
                </c:pt>
                <c:pt idx="5">
                  <c:v>485.14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282.898</c:v>
                </c:pt>
                <c:pt idx="1">
                  <c:v>38.18199999999996</c:v>
                </c:pt>
                <c:pt idx="2">
                  <c:v>46.34800000000001</c:v>
                </c:pt>
                <c:pt idx="3">
                  <c:v>54.886000000000024</c:v>
                </c:pt>
                <c:pt idx="4">
                  <c:v>62.825999999999965</c:v>
                </c:pt>
                <c:pt idx="5">
                  <c:v>71.26999999999998</c:v>
                </c:pt>
                <c:pt idx="6">
                  <c:v>556.41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239.132</c:v>
                </c:pt>
                <c:pt idx="2">
                  <c:v>268.028</c:v>
                </c:pt>
                <c:pt idx="3">
                  <c:v>303.59</c:v>
                </c:pt>
                <c:pt idx="4">
                  <c:v>345.364</c:v>
                </c:pt>
                <c:pt idx="5">
                  <c:v>394.08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239.132</c:v>
                </c:pt>
                <c:pt idx="1">
                  <c:v>28.896000000000015</c:v>
                </c:pt>
                <c:pt idx="2">
                  <c:v>35.561999999999955</c:v>
                </c:pt>
                <c:pt idx="3">
                  <c:v>41.774</c:v>
                </c:pt>
                <c:pt idx="4">
                  <c:v>48.71600000000001</c:v>
                </c:pt>
                <c:pt idx="5">
                  <c:v>55.61099999999999</c:v>
                </c:pt>
                <c:pt idx="6">
                  <c:v>449.691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Light or Flexible Hold</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20.43385365704501</c:v>
                </c:pt>
                <c:pt idx="1">
                  <c:v>20.17928486001933</c:v>
                </c:pt>
                <c:pt idx="2">
                  <c:v>22.20830306894243</c:v>
                </c:pt>
              </c:numCache>
            </c:numRef>
          </c:val>
        </c:ser>
        <c:ser>
          <c:idx val="1"/>
          <c:order val="1"/>
          <c:tx>
            <c:strRef>
              <c:f>Sheet1!$C$1</c:f>
              <c:strCache>
                <c:ptCount val="1"/>
                <c:pt idx="0">
                  <c:v>Medium Hold</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21.203541615704502</c:v>
                </c:pt>
                <c:pt idx="1">
                  <c:v>22.21354966990406</c:v>
                </c:pt>
                <c:pt idx="2">
                  <c:v>22.01593697666282</c:v>
                </c:pt>
              </c:numCache>
            </c:numRef>
          </c:val>
        </c:ser>
        <c:ser>
          <c:idx val="2"/>
          <c:order val="2"/>
          <c:tx>
            <c:strRef>
              <c:f>Sheet1!$D$1</c:f>
              <c:strCache>
                <c:ptCount val="1"/>
                <c:pt idx="0">
                  <c:v>No Hold</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19.76363747553816</c:v>
                </c:pt>
                <c:pt idx="1">
                  <c:v>18.94872867706139</c:v>
                </c:pt>
                <c:pt idx="2">
                  <c:v>20.040952382643717</c:v>
                </c:pt>
              </c:numCache>
            </c:numRef>
          </c:val>
        </c:ser>
        <c:ser>
          <c:idx val="3"/>
          <c:order val="3"/>
          <c:tx>
            <c:strRef>
              <c:f>Sheet1!$E$1</c:f>
              <c:strCache>
                <c:ptCount val="1"/>
                <c:pt idx="0">
                  <c:v>Strong Hold</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20.74660209760274</c:v>
                </c:pt>
                <c:pt idx="1">
                  <c:v>20.94974321757451</c:v>
                </c:pt>
                <c:pt idx="2">
                  <c:v>19.762632460357345</c:v>
                </c:pt>
              </c:numCache>
            </c:numRef>
          </c:val>
        </c:ser>
        <c:ser>
          <c:idx val="4"/>
          <c:order val="4"/>
          <c:tx>
            <c:strRef>
              <c:f>Sheet1!$F$1</c:f>
              <c:strCache>
                <c:ptCount val="1"/>
                <c:pt idx="0">
                  <c:v>Extra-strong Hold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17.852365154109588</c:v>
                </c:pt>
                <c:pt idx="1">
                  <c:v>17.708693575440716</c:v>
                </c:pt>
                <c:pt idx="2">
                  <c:v>15.972175111393675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Matte</c:v>
                </c:pt>
              </c:strCache>
            </c:strRef>
          </c:tx>
          <c:spPr>
            <a:solidFill>
              <a:srgbClr val="3D85C6"/>
            </a:solidFill>
            <a:ln>
              <a:noFill/>
            </a:ln>
          </c:spPr>
          <c:dLbls>
            <c:dLbl>
              <c:idx val="0"/>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Sheet1!$B$2:$B$5</c:f>
              <c:numCache>
                <c:formatCode>General</c:formatCode>
                <c:ptCount val="4"/>
                <c:pt idx="0">
                  <c:v>30.998883251195647</c:v>
                </c:pt>
                <c:pt idx="1">
                  <c:v>31.52107437277588</c:v>
                </c:pt>
                <c:pt idx="2">
                  <c:v>31.312450662044157</c:v>
                </c:pt>
                <c:pt idx="3">
                  <c:v>30.987709066044726</c:v>
                </c:pt>
              </c:numCache>
            </c:numRef>
          </c:val>
        </c:ser>
        <c:ser>
          <c:idx val="1"/>
          <c:order val="1"/>
          <c:tx>
            <c:strRef>
              <c:f>Sheet1!$C$1</c:f>
              <c:strCache>
                <c:ptCount val="1"/>
                <c:pt idx="0">
                  <c:v>Natural</c:v>
                </c:pt>
              </c:strCache>
            </c:strRef>
          </c:tx>
          <c:spPr>
            <a:solidFill>
              <a:srgbClr val="9E7E0A"/>
            </a:solidFill>
            <a:ln>
              <a:noFill/>
            </a:ln>
          </c:spPr>
          <c:dLbls>
            <c:dLbl>
              <c:idx val="0"/>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Sheet1!$C$2:$C$5</c:f>
              <c:numCache>
                <c:formatCode>General</c:formatCode>
                <c:ptCount val="4"/>
                <c:pt idx="0">
                  <c:v>30.384671408802895</c:v>
                </c:pt>
                <c:pt idx="1">
                  <c:v>30.86747375762236</c:v>
                </c:pt>
                <c:pt idx="2">
                  <c:v>30.678157832629378</c:v>
                </c:pt>
                <c:pt idx="3">
                  <c:v>30.06902014413329</c:v>
                </c:pt>
              </c:numCache>
            </c:numRef>
          </c:val>
        </c:ser>
        <c:ser>
          <c:idx val="2"/>
          <c:order val="2"/>
          <c:tx>
            <c:strRef>
              <c:f>Sheet1!$D$1</c:f>
              <c:strCache>
                <c:ptCount val="1"/>
                <c:pt idx="0">
                  <c:v>Glossy or Wet-look</c:v>
                </c:pt>
              </c:strCache>
            </c:strRef>
          </c:tx>
          <c:spPr>
            <a:solidFill>
              <a:srgbClr val="008189"/>
            </a:solidFill>
            <a:ln>
              <a:noFill/>
            </a:ln>
          </c:spPr>
          <c:dLbls>
            <c:dLbl>
              <c:idx val="0"/>
              <c:tx>
                <c:rich>
                  <a:bodyPr/>
                  <a:lstStyle/>
                  <a:p>
                    <a:r>
                      <a:rPr sz="1100">
                        <a:solidFill>
                          <a:srgbClr val="FFFFFF"/>
                        </a:solidFill>
                        <a:latin typeface="Calibri"/>
                      </a:rPr>
                      <a:t>39%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Sheet1!$D$2:$D$5</c:f>
              <c:numCache>
                <c:formatCode>General</c:formatCode>
                <c:ptCount val="4"/>
                <c:pt idx="0">
                  <c:v>38.616445340001455</c:v>
                </c:pt>
                <c:pt idx="1">
                  <c:v>37.61145186960176</c:v>
                </c:pt>
                <c:pt idx="2">
                  <c:v>38.00939150532647</c:v>
                </c:pt>
                <c:pt idx="3">
                  <c:v>38.94327078982197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8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Matte</c:v>
                </c:pt>
              </c:strCache>
            </c:strRef>
          </c:tx>
          <c:spPr>
            <a:solidFill>
              <a:srgbClr val="3D85C6"/>
            </a:solidFill>
          </c:spPr>
          <c:invertIfNegative val="0"/>
          <c:xVal>
            <c:numRef>
              <c:f>Sheet1!$A$2:$A$2</c:f>
              <c:numCache>
                <c:formatCode>General</c:formatCode>
                <c:ptCount val="1"/>
                <c:pt idx="0">
                  <c:v>98.76898752602591</c:v>
                </c:pt>
              </c:numCache>
            </c:numRef>
          </c:xVal>
          <c:yVal>
            <c:numRef>
              <c:f>Sheet1!$B$2:$B$2</c:f>
              <c:numCache>
                <c:formatCode>General</c:formatCode>
                <c:ptCount val="1"/>
                <c:pt idx="0">
                  <c:v>94.31472231581833</c:v>
                </c:pt>
              </c:numCache>
            </c:numRef>
          </c:yVal>
          <c:bubbleSize>
            <c:numRef>
              <c:f>Sheet1!$C$2:$C$2</c:f>
              <c:numCache>
                <c:formatCode>General</c:formatCode>
                <c:ptCount val="1"/>
                <c:pt idx="0">
                  <c:v>877.444</c:v>
                </c:pt>
              </c:numCache>
            </c:numRef>
          </c:bubbleSize>
          <c:bubble3D val="0"/>
        </c:ser>
        <c:ser>
          <c:idx val="1"/>
          <c:order val="1"/>
          <c:tx>
            <c:strRef>
              <c:f>Sheet1!$B$4</c:f>
              <c:strCache>
                <c:ptCount val="1"/>
                <c:pt idx="0">
                  <c:v>Natural</c:v>
                </c:pt>
              </c:strCache>
            </c:strRef>
          </c:tx>
          <c:spPr>
            <a:solidFill>
              <a:srgbClr val="9E7E0A"/>
            </a:solidFill>
          </c:spPr>
          <c:invertIfNegative val="0"/>
          <c:xVal>
            <c:numRef>
              <c:f>Sheet1!$A$5:$A$5</c:f>
              <c:numCache>
                <c:formatCode>General</c:formatCode>
                <c:ptCount val="1"/>
                <c:pt idx="0">
                  <c:v>91.84232434101207</c:v>
                </c:pt>
              </c:numCache>
            </c:numRef>
          </c:xVal>
          <c:yVal>
            <c:numRef>
              <c:f>Sheet1!$B$5:$B$5</c:f>
              <c:numCache>
                <c:formatCode>General</c:formatCode>
                <c:ptCount val="1"/>
                <c:pt idx="0">
                  <c:v>96.57522225472374</c:v>
                </c:pt>
              </c:numCache>
            </c:numRef>
          </c:yVal>
          <c:bubbleSize>
            <c:numRef>
              <c:f>Sheet1!$C$5:$C$5</c:f>
              <c:numCache>
                <c:formatCode>General</c:formatCode>
                <c:ptCount val="1"/>
                <c:pt idx="0">
                  <c:v>855.311</c:v>
                </c:pt>
              </c:numCache>
            </c:numRef>
          </c:bubbleSize>
          <c:bubble3D val="0"/>
        </c:ser>
        <c:ser>
          <c:idx val="2"/>
          <c:order val="2"/>
          <c:tx>
            <c:strRef>
              <c:f>Sheet1!$B$7</c:f>
              <c:strCache>
                <c:ptCount val="1"/>
                <c:pt idx="0">
                  <c:v>Glossy or Wet-look</c:v>
                </c:pt>
              </c:strCache>
            </c:strRef>
          </c:tx>
          <c:spPr>
            <a:solidFill>
              <a:srgbClr val="008189"/>
            </a:solidFill>
          </c:spPr>
          <c:invertIfNegative val="0"/>
          <c:xVal>
            <c:numRef>
              <c:f>Sheet1!$A$8:$A$8</c:f>
              <c:numCache>
                <c:formatCode>General</c:formatCode>
                <c:ptCount val="1"/>
                <c:pt idx="0">
                  <c:v>107.89387933762673</c:v>
                </c:pt>
              </c:numCache>
            </c:numRef>
          </c:xVal>
          <c:yVal>
            <c:numRef>
              <c:f>Sheet1!$B$8:$B$8</c:f>
              <c:numCache>
                <c:formatCode>General</c:formatCode>
                <c:ptCount val="1"/>
                <c:pt idx="0">
                  <c:v>109.11005542945797</c:v>
                </c:pt>
              </c:numCache>
            </c:numRef>
          </c:yVal>
          <c:bubbleSize>
            <c:numRef>
              <c:f>Sheet1!$C$8:$C$8</c:f>
              <c:numCache>
                <c:formatCode>General</c:formatCode>
                <c:ptCount val="1"/>
                <c:pt idx="0">
                  <c:v>1082.71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424.531</c:v>
                </c:pt>
                <c:pt idx="2">
                  <c:v>484.977</c:v>
                </c:pt>
                <c:pt idx="3">
                  <c:v>561.372</c:v>
                </c:pt>
                <c:pt idx="4">
                  <c:v>650.723</c:v>
                </c:pt>
                <c:pt idx="5">
                  <c:v>756.601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424.531</c:v>
                </c:pt>
                <c:pt idx="1">
                  <c:v>60.44599999999997</c:v>
                </c:pt>
                <c:pt idx="2">
                  <c:v>76.39499999999998</c:v>
                </c:pt>
                <c:pt idx="3">
                  <c:v>89.351</c:v>
                </c:pt>
                <c:pt idx="4">
                  <c:v>105.87800000000004</c:v>
                </c:pt>
                <c:pt idx="5">
                  <c:v>120.84299999999996</c:v>
                </c:pt>
                <c:pt idx="6">
                  <c:v>877.444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434.706</c:v>
                </c:pt>
                <c:pt idx="2">
                  <c:v>493.231</c:v>
                </c:pt>
                <c:pt idx="3">
                  <c:v>563.975</c:v>
                </c:pt>
                <c:pt idx="4">
                  <c:v>649.047</c:v>
                </c:pt>
                <c:pt idx="5">
                  <c:v>745.818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434.706</c:v>
                </c:pt>
                <c:pt idx="1">
                  <c:v>58.52499999999998</c:v>
                </c:pt>
                <c:pt idx="2">
                  <c:v>70.74400000000003</c:v>
                </c:pt>
                <c:pt idx="3">
                  <c:v>85.072</c:v>
                </c:pt>
                <c:pt idx="4">
                  <c:v>96.77099999999996</c:v>
                </c:pt>
                <c:pt idx="5">
                  <c:v>109.49300000000005</c:v>
                </c:pt>
                <c:pt idx="6">
                  <c:v>855.311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491.128</c:v>
                </c:pt>
                <c:pt idx="2">
                  <c:v>554.573</c:v>
                </c:pt>
                <c:pt idx="3">
                  <c:v>644.141</c:v>
                </c:pt>
                <c:pt idx="4">
                  <c:v>763.868</c:v>
                </c:pt>
                <c:pt idx="5">
                  <c:v>909.988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491.128</c:v>
                </c:pt>
                <c:pt idx="1">
                  <c:v>63.44499999999999</c:v>
                </c:pt>
                <c:pt idx="2">
                  <c:v>89.56799999999998</c:v>
                </c:pt>
                <c:pt idx="3">
                  <c:v>119.72700000000009</c:v>
                </c:pt>
                <c:pt idx="4">
                  <c:v>146.12</c:v>
                </c:pt>
                <c:pt idx="5">
                  <c:v>172.72199999999998</c:v>
                </c:pt>
                <c:pt idx="6">
                  <c:v>1082.71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Glossy or Wet-look</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38.00624541340509</c:v>
                </c:pt>
                <c:pt idx="1">
                  <c:v>36.37001847648599</c:v>
                </c:pt>
                <c:pt idx="2">
                  <c:v>38.455814581250344</c:v>
                </c:pt>
              </c:numCache>
            </c:numRef>
          </c:val>
        </c:ser>
        <c:ser>
          <c:idx val="1"/>
          <c:order val="1"/>
          <c:tx>
            <c:strRef>
              <c:f>Sheet1!$C$1</c:f>
              <c:strCache>
                <c:ptCount val="1"/>
                <c:pt idx="0">
                  <c:v>Matte</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30.060925269080236</c:v>
                </c:pt>
                <c:pt idx="1">
                  <c:v>31.43824077193944</c:v>
                </c:pt>
                <c:pt idx="2">
                  <c:v>31.165153891097912</c:v>
                </c:pt>
              </c:numCache>
            </c:numRef>
          </c:val>
        </c:ser>
        <c:ser>
          <c:idx val="2"/>
          <c:order val="2"/>
          <c:tx>
            <c:strRef>
              <c:f>Sheet1!$D$1</c:f>
              <c:strCache>
                <c:ptCount val="1"/>
                <c:pt idx="0">
                  <c:v>Natural</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31.932829317514678</c:v>
                </c:pt>
                <c:pt idx="1">
                  <c:v>32.19174075157458</c:v>
                </c:pt>
                <c:pt idx="2">
                  <c:v>30.37903152765174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Mass Retail</c:v>
                </c:pt>
              </c:strCache>
            </c:strRef>
          </c:tx>
          <c:spPr>
            <a:solidFill>
              <a:srgbClr val="3D85C6"/>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Sheet1!$B$2:$B$5</c:f>
              <c:numCache>
                <c:formatCode>General</c:formatCode>
                <c:ptCount val="4"/>
                <c:pt idx="0">
                  <c:v>19.5656791876817</c:v>
                </c:pt>
                <c:pt idx="1">
                  <c:v>20.69955830546664</c:v>
                </c:pt>
                <c:pt idx="2">
                  <c:v>20.53471444568869</c:v>
                </c:pt>
                <c:pt idx="3">
                  <c:v>18.61802741306311</c:v>
                </c:pt>
              </c:numCache>
            </c:numRef>
          </c:val>
        </c:ser>
        <c:ser>
          <c:idx val="1"/>
          <c:order val="1"/>
          <c:tx>
            <c:strRef>
              <c:f>Sheet1!$C$1</c:f>
              <c:strCache>
                <c:ptCount val="1"/>
                <c:pt idx="0">
                  <c:v>Beauty Specialty Retail</c:v>
                </c:pt>
              </c:strCache>
            </c:strRef>
          </c:tx>
          <c:spPr>
            <a:solidFill>
              <a:srgbClr val="9E7E0A"/>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Sheet1!$C$2:$C$5</c:f>
              <c:numCache>
                <c:formatCode>General</c:formatCode>
                <c:ptCount val="4"/>
                <c:pt idx="0">
                  <c:v>15.857322335718576</c:v>
                </c:pt>
                <c:pt idx="1">
                  <c:v>15.933370290230862</c:v>
                </c:pt>
                <c:pt idx="2">
                  <c:v>15.928311935206645</c:v>
                </c:pt>
                <c:pt idx="3">
                  <c:v>15.801709559097315</c:v>
                </c:pt>
              </c:numCache>
            </c:numRef>
          </c:val>
        </c:ser>
        <c:ser>
          <c:idx val="2"/>
          <c:order val="2"/>
          <c:tx>
            <c:strRef>
              <c:f>Sheet1!$D$1</c:f>
              <c:strCache>
                <c:ptCount val="1"/>
                <c:pt idx="0">
                  <c:v>Salon and Professional Distribution</c:v>
                </c:pt>
              </c:strCache>
            </c:strRef>
          </c:tx>
          <c:spPr>
            <a:solidFill>
              <a:srgbClr val="008189"/>
            </a:solidFill>
            <a:ln>
              <a:noFill/>
            </a:ln>
          </c:spPr>
          <c:dLbls>
            <c:dLbl>
              <c:idx val="0"/>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Sheet1!$D$2:$D$5</c:f>
              <c:numCache>
                <c:formatCode>General</c:formatCode>
                <c:ptCount val="4"/>
                <c:pt idx="0">
                  <c:v>18.2322487451673</c:v>
                </c:pt>
                <c:pt idx="1">
                  <c:v>16.894368841758908</c:v>
                </c:pt>
                <c:pt idx="2">
                  <c:v>16.992304487096018</c:v>
                </c:pt>
                <c:pt idx="3">
                  <c:v>19.408830510471155</c:v>
                </c:pt>
              </c:numCache>
            </c:numRef>
          </c:val>
        </c:ser>
        <c:ser>
          <c:idx val="3"/>
          <c:order val="3"/>
          <c:tx>
            <c:strRef>
              <c:f>Sheet1!$E$1</c:f>
              <c:strCache>
                <c:ptCount val="1"/>
                <c:pt idx="0">
                  <c:v>Pharmacies and Drugstores</c:v>
                </c:pt>
              </c:strCache>
            </c:strRef>
          </c:tx>
          <c:spPr>
            <a:solidFill>
              <a:srgbClr val="40315E"/>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Sheet1!$E$2:$E$5</c:f>
              <c:numCache>
                <c:formatCode>General</c:formatCode>
                <c:ptCount val="4"/>
                <c:pt idx="0">
                  <c:v>14.007999368790323</c:v>
                </c:pt>
                <c:pt idx="1">
                  <c:v>14.263514600954919</c:v>
                </c:pt>
                <c:pt idx="2">
                  <c:v>14.360725539727598</c:v>
                </c:pt>
                <c:pt idx="3">
                  <c:v>14.231070755924083</c:v>
                </c:pt>
              </c:numCache>
            </c:numRef>
          </c:val>
        </c:ser>
        <c:ser>
          <c:idx val="4"/>
          <c:order val="4"/>
          <c:tx>
            <c:strRef>
              <c:f>Sheet1!$F$1</c:f>
              <c:strCache>
                <c:ptCount val="1"/>
                <c:pt idx="0">
                  <c:v>Online Marketplaces</c:v>
                </c:pt>
              </c:strCache>
            </c:strRef>
          </c:tx>
          <c:spPr>
            <a:solidFill>
              <a:srgbClr val="A35313"/>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Sheet1!$F$2:$F$5</c:f>
              <c:numCache>
                <c:formatCode>General</c:formatCode>
                <c:ptCount val="4"/>
                <c:pt idx="0">
                  <c:v>18.720222380024644</c:v>
                </c:pt>
                <c:pt idx="1">
                  <c:v>18.69852112801988</c:v>
                </c:pt>
                <c:pt idx="2">
                  <c:v>18.68147608010625</c:v>
                </c:pt>
                <c:pt idx="3">
                  <c:v>18.559399257737766</c:v>
                </c:pt>
              </c:numCache>
            </c:numRef>
          </c:val>
        </c:ser>
        <c:ser>
          <c:idx val="5"/>
          <c:order val="5"/>
          <c:tx>
            <c:strRef>
              <c:f>Sheet1!$G$1</c:f>
              <c:strCache>
                <c:ptCount val="1"/>
                <c:pt idx="0">
                  <c:v>Brand-owned Online Stores</c:v>
                </c:pt>
              </c:strCache>
            </c:strRef>
          </c:tx>
          <c:spPr>
            <a:solidFill>
              <a:srgbClr val="808080"/>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Sheet1!$G$2:$G$5</c:f>
              <c:numCache>
                <c:formatCode>General</c:formatCode>
                <c:ptCount val="4"/>
                <c:pt idx="0">
                  <c:v>13.616527982617455</c:v>
                </c:pt>
                <c:pt idx="1">
                  <c:v>13.510666833568783</c:v>
                </c:pt>
                <c:pt idx="2">
                  <c:v>13.502467512174796</c:v>
                </c:pt>
                <c:pt idx="3">
                  <c:v>13.380962503706574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8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Mass Retail</c:v>
                </c:pt>
              </c:strCache>
            </c:strRef>
          </c:tx>
          <c:spPr>
            <a:solidFill>
              <a:srgbClr val="3D85C6"/>
            </a:solidFill>
          </c:spPr>
          <c:invertIfNegative val="0"/>
          <c:xVal>
            <c:numRef>
              <c:f>Sheet1!$A$2:$A$2</c:f>
              <c:numCache>
                <c:formatCode>General</c:formatCode>
                <c:ptCount val="1"/>
                <c:pt idx="0">
                  <c:v>83.47346421581955</c:v>
                </c:pt>
              </c:numCache>
            </c:numRef>
          </c:xVal>
          <c:yVal>
            <c:numRef>
              <c:f>Sheet1!$B$2:$B$2</c:f>
              <c:numCache>
                <c:formatCode>General</c:formatCode>
                <c:ptCount val="1"/>
                <c:pt idx="0">
                  <c:v>131.65763948440645</c:v>
                </c:pt>
              </c:numCache>
            </c:numRef>
          </c:yVal>
          <c:bubbleSize>
            <c:numRef>
              <c:f>Sheet1!$C$2:$C$2</c:f>
              <c:numCache>
                <c:formatCode>General</c:formatCode>
                <c:ptCount val="1"/>
                <c:pt idx="0">
                  <c:v>549.161</c:v>
                </c:pt>
              </c:numCache>
            </c:numRef>
          </c:bubbleSize>
          <c:bubble3D val="0"/>
        </c:ser>
        <c:ser>
          <c:idx val="1"/>
          <c:order val="1"/>
          <c:tx>
            <c:strRef>
              <c:f>Sheet1!$B$4</c:f>
              <c:strCache>
                <c:ptCount val="1"/>
                <c:pt idx="0">
                  <c:v>Beauty Specialty Retail</c:v>
                </c:pt>
              </c:strCache>
            </c:strRef>
          </c:tx>
          <c:spPr>
            <a:solidFill>
              <a:srgbClr val="9E7E0A"/>
            </a:solidFill>
          </c:spPr>
          <c:invertIfNegative val="0"/>
          <c:xVal>
            <c:numRef>
              <c:f>Sheet1!$A$5:$A$5</c:f>
              <c:numCache>
                <c:formatCode>General</c:formatCode>
                <c:ptCount val="1"/>
                <c:pt idx="0">
                  <c:v>103.54875079612054</c:v>
                </c:pt>
              </c:numCache>
            </c:numRef>
          </c:xVal>
          <c:yVal>
            <c:numRef>
              <c:f>Sheet1!$B$5:$B$5</c:f>
              <c:numCache>
                <c:formatCode>General</c:formatCode>
                <c:ptCount val="1"/>
                <c:pt idx="0">
                  <c:v>92.79306499126905</c:v>
                </c:pt>
              </c:numCache>
            </c:numRef>
          </c:yVal>
          <c:bubbleSize>
            <c:numRef>
              <c:f>Sheet1!$C$5:$C$5</c:f>
              <c:numCache>
                <c:formatCode>General</c:formatCode>
                <c:ptCount val="1"/>
                <c:pt idx="0">
                  <c:v>446.497</c:v>
                </c:pt>
              </c:numCache>
            </c:numRef>
          </c:bubbleSize>
          <c:bubble3D val="0"/>
        </c:ser>
        <c:ser>
          <c:idx val="2"/>
          <c:order val="2"/>
          <c:tx>
            <c:strRef>
              <c:f>Sheet1!$B$7</c:f>
              <c:strCache>
                <c:ptCount val="1"/>
                <c:pt idx="0">
                  <c:v>Salon and Professional Distribution</c:v>
                </c:pt>
              </c:strCache>
            </c:strRef>
          </c:tx>
          <c:spPr>
            <a:solidFill>
              <a:srgbClr val="008189"/>
            </a:solidFill>
          </c:spPr>
          <c:invertIfNegative val="0"/>
          <c:xVal>
            <c:numRef>
              <c:f>Sheet1!$A$8:$A$8</c:f>
              <c:numCache>
                <c:formatCode>General</c:formatCode>
                <c:ptCount val="1"/>
                <c:pt idx="0">
                  <c:v>96.81833206856679</c:v>
                </c:pt>
              </c:numCache>
            </c:numRef>
          </c:xVal>
          <c:yVal>
            <c:numRef>
              <c:f>Sheet1!$B$8:$B$8</c:f>
              <c:numCache>
                <c:formatCode>General</c:formatCode>
                <c:ptCount val="1"/>
                <c:pt idx="0">
                  <c:v>112.38686400575845</c:v>
                </c:pt>
              </c:numCache>
            </c:numRef>
          </c:yVal>
          <c:bubbleSize>
            <c:numRef>
              <c:f>Sheet1!$C$8:$C$8</c:f>
              <c:numCache>
                <c:formatCode>General</c:formatCode>
                <c:ptCount val="1"/>
                <c:pt idx="0">
                  <c:v>515.602</c:v>
                </c:pt>
              </c:numCache>
            </c:numRef>
          </c:bubbleSize>
          <c:bubble3D val="0"/>
        </c:ser>
        <c:ser>
          <c:idx val="3"/>
          <c:order val="3"/>
          <c:tx>
            <c:strRef>
              <c:f>Sheet1!$B$10</c:f>
              <c:strCache>
                <c:ptCount val="1"/>
                <c:pt idx="0">
                  <c:v>Pharmacies and Drugstores</c:v>
                </c:pt>
              </c:strCache>
            </c:strRef>
          </c:tx>
          <c:spPr>
            <a:solidFill>
              <a:srgbClr val="40315E"/>
            </a:solidFill>
          </c:spPr>
          <c:invertIfNegative val="0"/>
          <c:xVal>
            <c:numRef>
              <c:f>Sheet1!$A$11:$A$11</c:f>
              <c:numCache>
                <c:formatCode>General</c:formatCode>
                <c:ptCount val="1"/>
                <c:pt idx="0">
                  <c:v>90.58719327714132</c:v>
                </c:pt>
              </c:numCache>
            </c:numRef>
          </c:xVal>
          <c:yVal>
            <c:numRef>
              <c:f>Sheet1!$B$11:$B$11</c:f>
              <c:numCache>
                <c:formatCode>General</c:formatCode>
                <c:ptCount val="1"/>
                <c:pt idx="0">
                  <c:v>91.43387792642885</c:v>
                </c:pt>
              </c:numCache>
            </c:numRef>
          </c:yVal>
          <c:bubbleSize>
            <c:numRef>
              <c:f>Sheet1!$C$11:$C$11</c:f>
              <c:numCache>
                <c:formatCode>General</c:formatCode>
                <c:ptCount val="1"/>
                <c:pt idx="0">
                  <c:v>401.282</c:v>
                </c:pt>
              </c:numCache>
            </c:numRef>
          </c:bubbleSize>
          <c:bubble3D val="0"/>
        </c:ser>
        <c:ser>
          <c:idx val="4"/>
          <c:order val="4"/>
          <c:tx>
            <c:strRef>
              <c:f>Sheet1!$B$13</c:f>
              <c:strCache>
                <c:ptCount val="1"/>
                <c:pt idx="0">
                  <c:v>Online Marketplaces</c:v>
                </c:pt>
              </c:strCache>
            </c:strRef>
          </c:tx>
          <c:spPr>
            <a:solidFill>
              <a:srgbClr val="A35313"/>
            </a:solidFill>
          </c:spPr>
          <c:invertIfNegative val="0"/>
          <c:xVal>
            <c:numRef>
              <c:f>Sheet1!$A$14:$A$14</c:f>
              <c:numCache>
                <c:formatCode>General</c:formatCode>
                <c:ptCount val="1"/>
                <c:pt idx="0">
                  <c:v>118.58041740540055</c:v>
                </c:pt>
              </c:numCache>
            </c:numRef>
          </c:xVal>
          <c:yVal>
            <c:numRef>
              <c:f>Sheet1!$B$14:$B$14</c:f>
              <c:numCache>
                <c:formatCode>General</c:formatCode>
                <c:ptCount val="1"/>
                <c:pt idx="0">
                  <c:v>98.04186420570423</c:v>
                </c:pt>
              </c:numCache>
            </c:numRef>
          </c:yVal>
          <c:bubbleSize>
            <c:numRef>
              <c:f>Sheet1!$C$14:$C$14</c:f>
              <c:numCache>
                <c:formatCode>General</c:formatCode>
                <c:ptCount val="1"/>
                <c:pt idx="0">
                  <c:v>524.326</c:v>
                </c:pt>
              </c:numCache>
            </c:numRef>
          </c:bubbleSize>
          <c:bubble3D val="0"/>
        </c:ser>
        <c:ser>
          <c:idx val="5"/>
          <c:order val="5"/>
          <c:tx>
            <c:strRef>
              <c:f>Sheet1!$B$16</c:f>
              <c:strCache>
                <c:ptCount val="1"/>
                <c:pt idx="0">
                  <c:v>Brand-owned Online Stores</c:v>
                </c:pt>
              </c:strCache>
            </c:strRef>
          </c:tx>
          <c:spPr>
            <a:solidFill>
              <a:srgbClr val="808080"/>
            </a:solidFill>
          </c:spPr>
          <c:invertIfNegative val="0"/>
          <c:xVal>
            <c:numRef>
              <c:f>Sheet1!$A$17:$A$17</c:f>
              <c:numCache>
                <c:formatCode>General</c:formatCode>
                <c:ptCount val="1"/>
                <c:pt idx="0">
                  <c:v>112.86086153345465</c:v>
                </c:pt>
              </c:numCache>
            </c:numRef>
          </c:xVal>
          <c:yVal>
            <c:numRef>
              <c:f>Sheet1!$B$17:$B$17</c:f>
              <c:numCache>
                <c:formatCode>General</c:formatCode>
                <c:ptCount val="1"/>
                <c:pt idx="0">
                  <c:v>73.68668938643303</c:v>
                </c:pt>
              </c:numCache>
            </c:numRef>
          </c:yVal>
          <c:bubbleSize>
            <c:numRef>
              <c:f>Sheet1!$C$17:$C$17</c:f>
              <c:numCache>
                <c:formatCode>General</c:formatCode>
                <c:ptCount val="1"/>
                <c:pt idx="0">
                  <c:v>378.596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7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50.0"/>
          <c:min val="5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296.31</c:v>
                </c:pt>
                <c:pt idx="2">
                  <c:v>331.208</c:v>
                </c:pt>
                <c:pt idx="3">
                  <c:v>374.683</c:v>
                </c:pt>
                <c:pt idx="4">
                  <c:v>424.39</c:v>
                </c:pt>
                <c:pt idx="5">
                  <c:v>483.023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296.31</c:v>
                </c:pt>
                <c:pt idx="1">
                  <c:v>34.898000000000025</c:v>
                </c:pt>
                <c:pt idx="2">
                  <c:v>43.474999999999966</c:v>
                </c:pt>
                <c:pt idx="3">
                  <c:v>49.706999999999994</c:v>
                </c:pt>
                <c:pt idx="4">
                  <c:v>58.63300000000004</c:v>
                </c:pt>
                <c:pt idx="5">
                  <c:v>66.13799999999992</c:v>
                </c:pt>
                <c:pt idx="6">
                  <c:v>549.161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208.841</c:v>
                </c:pt>
                <c:pt idx="2">
                  <c:v>240.455</c:v>
                </c:pt>
                <c:pt idx="3">
                  <c:v>279.596</c:v>
                </c:pt>
                <c:pt idx="4">
                  <c:v>326.916</c:v>
                </c:pt>
                <c:pt idx="5">
                  <c:v>382.492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208.841</c:v>
                </c:pt>
                <c:pt idx="1">
                  <c:v>31.614000000000004</c:v>
                </c:pt>
                <c:pt idx="2">
                  <c:v>39.14099999999999</c:v>
                </c:pt>
                <c:pt idx="3">
                  <c:v>47.31999999999999</c:v>
                </c:pt>
                <c:pt idx="4">
                  <c:v>55.57600000000002</c:v>
                </c:pt>
                <c:pt idx="5">
                  <c:v>64.005</c:v>
                </c:pt>
                <c:pt idx="6">
                  <c:v>446.497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252.939</c:v>
                </c:pt>
                <c:pt idx="2">
                  <c:v>287.853</c:v>
                </c:pt>
                <c:pt idx="3">
                  <c:v>331.253</c:v>
                </c:pt>
                <c:pt idx="4">
                  <c:v>382.96</c:v>
                </c:pt>
                <c:pt idx="5">
                  <c:v>444.51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252.939</c:v>
                </c:pt>
                <c:pt idx="1">
                  <c:v>34.914000000000016</c:v>
                </c:pt>
                <c:pt idx="2">
                  <c:v>43.39999999999998</c:v>
                </c:pt>
                <c:pt idx="3">
                  <c:v>51.706999999999994</c:v>
                </c:pt>
                <c:pt idx="4">
                  <c:v>61.55000000000001</c:v>
                </c:pt>
                <c:pt idx="5">
                  <c:v>71.09199999999998</c:v>
                </c:pt>
                <c:pt idx="6">
                  <c:v>515.602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205.782</c:v>
                </c:pt>
                <c:pt idx="2">
                  <c:v>230.897</c:v>
                </c:pt>
                <c:pt idx="3">
                  <c:v>264.089</c:v>
                </c:pt>
                <c:pt idx="4">
                  <c:v>304.613</c:v>
                </c:pt>
                <c:pt idx="5">
                  <c:v>349.995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205.782</c:v>
                </c:pt>
                <c:pt idx="1">
                  <c:v>25.11499999999998</c:v>
                </c:pt>
                <c:pt idx="2">
                  <c:v>33.19200000000001</c:v>
                </c:pt>
                <c:pt idx="3">
                  <c:v>40.524</c:v>
                </c:pt>
                <c:pt idx="4">
                  <c:v>45.382000000000005</c:v>
                </c:pt>
                <c:pt idx="5">
                  <c:v>51.28699999999998</c:v>
                </c:pt>
                <c:pt idx="6">
                  <c:v>401.282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220.654</c:v>
                </c:pt>
                <c:pt idx="2">
                  <c:v>253.875</c:v>
                </c:pt>
                <c:pt idx="3">
                  <c:v>299.225</c:v>
                </c:pt>
                <c:pt idx="4">
                  <c:v>361.524</c:v>
                </c:pt>
                <c:pt idx="5">
                  <c:v>436.484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220.654</c:v>
                </c:pt>
                <c:pt idx="1">
                  <c:v>33.221000000000004</c:v>
                </c:pt>
                <c:pt idx="2">
                  <c:v>45.35000000000002</c:v>
                </c:pt>
                <c:pt idx="3">
                  <c:v>62.29899999999998</c:v>
                </c:pt>
                <c:pt idx="4">
                  <c:v>74.95999999999998</c:v>
                </c:pt>
                <c:pt idx="5">
                  <c:v>87.84200000000004</c:v>
                </c:pt>
                <c:pt idx="6">
                  <c:v>524.326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165.84</c:v>
                </c:pt>
                <c:pt idx="2">
                  <c:v>188.494</c:v>
                </c:pt>
                <c:pt idx="3">
                  <c:v>220.642</c:v>
                </c:pt>
                <c:pt idx="4">
                  <c:v>263.235</c:v>
                </c:pt>
                <c:pt idx="5">
                  <c:v>315.903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165.84</c:v>
                </c:pt>
                <c:pt idx="1">
                  <c:v>22.653999999999996</c:v>
                </c:pt>
                <c:pt idx="2">
                  <c:v>32.147999999999996</c:v>
                </c:pt>
                <c:pt idx="3">
                  <c:v>42.59300000000002</c:v>
                </c:pt>
                <c:pt idx="4">
                  <c:v>52.668000000000006</c:v>
                </c:pt>
                <c:pt idx="5">
                  <c:v>62.692999999999984</c:v>
                </c:pt>
                <c:pt idx="6">
                  <c:v>378.596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Mass Retail</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22.198301809988475</c:v>
                </c:pt>
                <c:pt idx="1">
                  <c:v>21.94293991406774</c:v>
                </c:pt>
                <c:pt idx="2">
                  <c:v>19.505168597431897</c:v>
                </c:pt>
              </c:numCache>
            </c:numRef>
          </c:val>
        </c:ser>
        <c:ser>
          <c:idx val="1"/>
          <c:order val="1"/>
          <c:tx>
            <c:strRef>
              <c:f>Sheet1!$C$1</c:f>
              <c:strCache>
                <c:ptCount val="1"/>
                <c:pt idx="0">
                  <c:v>Online Marketplaces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16.44087198980245</c:v>
                </c:pt>
                <c:pt idx="1">
                  <c:v>16.340310700950706</c:v>
                </c:pt>
                <c:pt idx="2">
                  <c:v>18.623075983212715</c:v>
                </c:pt>
              </c:numCache>
            </c:numRef>
          </c:val>
        </c:ser>
        <c:ser>
          <c:idx val="2"/>
          <c:order val="2"/>
          <c:tx>
            <c:strRef>
              <c:f>Sheet1!$D$1</c:f>
              <c:strCache>
                <c:ptCount val="1"/>
                <c:pt idx="0">
                  <c:v>Salon and Professional Distribution</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18.308288566170354</c:v>
                </c:pt>
                <c:pt idx="1">
                  <c:v>18.73114400095974</c:v>
                </c:pt>
                <c:pt idx="2">
                  <c:v>18.313215867793016</c:v>
                </c:pt>
              </c:numCache>
            </c:numRef>
          </c:val>
        </c:ser>
        <c:ser>
          <c:idx val="3"/>
          <c:order val="3"/>
          <c:tx>
            <c:strRef>
              <c:f>Sheet1!$E$1</c:f>
              <c:strCache>
                <c:ptCount val="1"/>
                <c:pt idx="0">
                  <c:v>Beauty Specialty Retail</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14.927006113560484</c:v>
                </c:pt>
                <c:pt idx="1">
                  <c:v>15.465510831878174</c:v>
                </c:pt>
                <c:pt idx="2">
                  <c:v>15.858735895752885</c:v>
                </c:pt>
              </c:numCache>
            </c:numRef>
          </c:val>
        </c:ser>
        <c:ser>
          <c:idx val="4"/>
          <c:order val="4"/>
          <c:tx>
            <c:strRef>
              <c:f>Sheet1!$F$1</c:f>
              <c:strCache>
                <c:ptCount val="1"/>
                <c:pt idx="0">
                  <c:v>Pharmacies and Drugstores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15.453605548261582</c:v>
                </c:pt>
                <c:pt idx="1">
                  <c:v>15.238979654404808</c:v>
                </c:pt>
                <c:pt idx="2">
                  <c:v>14.252783910573887</c:v>
                </c:pt>
              </c:numCache>
            </c:numRef>
          </c:val>
        </c:ser>
        <c:ser>
          <c:idx val="5"/>
          <c:order val="5"/>
          <c:tx>
            <c:strRef>
              <c:f>Sheet1!$G$1</c:f>
              <c:strCache>
                <c:ptCount val="1"/>
                <c:pt idx="0">
                  <c:v>Brand-owned Online Stores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12.67192597221665</c:v>
                </c:pt>
                <c:pt idx="1">
                  <c:v>12.281114897738837</c:v>
                </c:pt>
                <c:pt idx="2">
                  <c:v>13.4470197452356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Hold and Shape</c:v>
                </c:pt>
              </c:strCache>
            </c:strRef>
          </c:tx>
          <c:spPr>
            <a:solidFill>
              <a:srgbClr val="3D85C6"/>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Sheet1!$B$2:$B$5</c:f>
              <c:numCache>
                <c:formatCode>General</c:formatCode>
                <c:ptCount val="4"/>
                <c:pt idx="0">
                  <c:v>12.593239987133032</c:v>
                </c:pt>
                <c:pt idx="1">
                  <c:v>12.880647912862944</c:v>
                </c:pt>
                <c:pt idx="2">
                  <c:v>12.769822229022147</c:v>
                </c:pt>
                <c:pt idx="3">
                  <c:v>11.703501105202404</c:v>
                </c:pt>
              </c:numCache>
            </c:numRef>
          </c:val>
        </c:ser>
        <c:ser>
          <c:idx val="1"/>
          <c:order val="1"/>
          <c:tx>
            <c:strRef>
              <c:f>Sheet1!$C$1</c:f>
              <c:strCache>
                <c:ptCount val="1"/>
                <c:pt idx="0">
                  <c:v>Curl Definition</c:v>
                </c:pt>
              </c:strCache>
            </c:strRef>
          </c:tx>
          <c:spPr>
            <a:solidFill>
              <a:srgbClr val="9E7E0A"/>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Sheet1!$C$2:$C$5</c:f>
              <c:numCache>
                <c:formatCode>General</c:formatCode>
                <c:ptCount val="4"/>
                <c:pt idx="0">
                  <c:v>19.46067988565394</c:v>
                </c:pt>
                <c:pt idx="1">
                  <c:v>15.395977546936667</c:v>
                </c:pt>
                <c:pt idx="2">
                  <c:v>19.143339854749296</c:v>
                </c:pt>
                <c:pt idx="3">
                  <c:v>21.079476408244506</c:v>
                </c:pt>
              </c:numCache>
            </c:numRef>
          </c:val>
        </c:ser>
        <c:ser>
          <c:idx val="2"/>
          <c:order val="2"/>
          <c:tx>
            <c:strRef>
              <c:f>Sheet1!$D$1</c:f>
              <c:strCache>
                <c:ptCount val="1"/>
                <c:pt idx="0">
                  <c:v>Volume and Root Lift</c:v>
                </c:pt>
              </c:strCache>
            </c:strRef>
          </c:tx>
          <c:spPr>
            <a:solidFill>
              <a:srgbClr val="008189"/>
            </a:solidFill>
            <a:ln>
              <a:noFill/>
            </a:ln>
          </c:spPr>
          <c:dLbls>
            <c:dLbl>
              <c:idx val="0"/>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Sheet1!$D$2:$D$5</c:f>
              <c:numCache>
                <c:formatCode>General</c:formatCode>
                <c:ptCount val="4"/>
                <c:pt idx="0">
                  <c:v>12.286132202011373</c:v>
                </c:pt>
                <c:pt idx="1">
                  <c:v>12.517815279027058</c:v>
                </c:pt>
                <c:pt idx="2">
                  <c:v>12.390907344893927</c:v>
                </c:pt>
                <c:pt idx="3">
                  <c:v>11.414625229756854</c:v>
                </c:pt>
              </c:numCache>
            </c:numRef>
          </c:val>
        </c:ser>
        <c:ser>
          <c:idx val="3"/>
          <c:order val="3"/>
          <c:tx>
            <c:strRef>
              <c:f>Sheet1!$E$1</c:f>
              <c:strCache>
                <c:ptCount val="1"/>
                <c:pt idx="0">
                  <c:v>Texture and Separation</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Sheet1!$E$2:$E$5</c:f>
              <c:numCache>
                <c:formatCode>General</c:formatCode>
                <c:ptCount val="4"/>
                <c:pt idx="0">
                  <c:v>12.740117623495568</c:v>
                </c:pt>
                <c:pt idx="1">
                  <c:v>13.187330006026349</c:v>
                </c:pt>
                <c:pt idx="2">
                  <c:v>13.049939288981196</c:v>
                </c:pt>
                <c:pt idx="3">
                  <c:v>12.028190277603827</c:v>
                </c:pt>
              </c:numCache>
            </c:numRef>
          </c:val>
        </c:ser>
        <c:ser>
          <c:idx val="4"/>
          <c:order val="4"/>
          <c:tx>
            <c:strRef>
              <c:f>Sheet1!$F$1</c:f>
              <c:strCache>
                <c:ptCount val="1"/>
                <c:pt idx="0">
                  <c:v>Smoothing and Frizz Control</c:v>
                </c:pt>
              </c:strCache>
            </c:strRef>
          </c:tx>
          <c:spPr>
            <a:solidFill>
              <a:srgbClr val="A35313"/>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Sheet1!$F$2:$F$5</c:f>
              <c:numCache>
                <c:formatCode>General</c:formatCode>
                <c:ptCount val="4"/>
                <c:pt idx="0">
                  <c:v>18.61097455132524</c:v>
                </c:pt>
                <c:pt idx="1">
                  <c:v>18.90180987140811</c:v>
                </c:pt>
                <c:pt idx="2">
                  <c:v>18.11239188392965</c:v>
                </c:pt>
                <c:pt idx="3">
                  <c:v>18.799543702038786</c:v>
                </c:pt>
              </c:numCache>
            </c:numRef>
          </c:val>
        </c:ser>
        <c:ser>
          <c:idx val="5"/>
          <c:order val="5"/>
          <c:tx>
            <c:strRef>
              <c:f>Sheet1!$G$1</c:f>
              <c:strCache>
                <c:ptCount val="1"/>
                <c:pt idx="0">
                  <c:v>Sleek Styling and Edge Control</c:v>
                </c:pt>
              </c:strCache>
            </c:strRef>
          </c:tx>
          <c:spPr>
            <a:solidFill>
              <a:srgbClr val="808080"/>
            </a:solidFill>
            <a:ln>
              <a:noFill/>
            </a:ln>
          </c:spPr>
          <c:dLbls>
            <c:dLbl>
              <c:idx val="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Sheet1!$G$2:$G$5</c:f>
              <c:numCache>
                <c:formatCode>General</c:formatCode>
                <c:ptCount val="4"/>
                <c:pt idx="0">
                  <c:v>9.973112895492312</c:v>
                </c:pt>
                <c:pt idx="1">
                  <c:v>10.182203139780869</c:v>
                </c:pt>
                <c:pt idx="2">
                  <c:v>10.069402623106647</c:v>
                </c:pt>
                <c:pt idx="3">
                  <c:v>11.628624911566881</c:v>
                </c:pt>
              </c:numCache>
            </c:numRef>
          </c:val>
        </c:ser>
        <c:ser>
          <c:idx val="6"/>
          <c:order val="6"/>
          <c:tx>
            <c:strRef>
              <c:f>Sheet1!$H$1</c:f>
              <c:strCache>
                <c:ptCount val="1"/>
                <c:pt idx="0">
                  <c:v>Heat Styling Support</c:v>
                </c:pt>
              </c:strCache>
            </c:strRef>
          </c:tx>
          <c:spPr>
            <a:solidFill>
              <a:srgbClr val="0E72AE"/>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Sheet1!$H$2:$H$5</c:f>
              <c:numCache>
                <c:formatCode>General</c:formatCode>
                <c:ptCount val="4"/>
                <c:pt idx="0">
                  <c:v>14.335742854888537</c:v>
                </c:pt>
                <c:pt idx="1">
                  <c:v>16.934216243958</c:v>
                </c:pt>
                <c:pt idx="2">
                  <c:v>14.464196775317149</c:v>
                </c:pt>
                <c:pt idx="3">
                  <c:v>13.346038365586738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9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Hold and Shape</c:v>
                </c:pt>
              </c:strCache>
            </c:strRef>
          </c:tx>
          <c:spPr>
            <a:solidFill>
              <a:srgbClr val="3D85C6"/>
            </a:solidFill>
          </c:spPr>
          <c:invertIfNegative val="0"/>
          <c:xVal>
            <c:numRef>
              <c:f>Sheet1!$A$2:$A$2</c:f>
              <c:numCache>
                <c:formatCode>General</c:formatCode>
                <c:ptCount val="1"/>
                <c:pt idx="0">
                  <c:v>77.52310422229097</c:v>
                </c:pt>
              </c:numCache>
            </c:numRef>
          </c:xVal>
          <c:yVal>
            <c:numRef>
              <c:f>Sheet1!$B$2:$B$2</c:f>
              <c:numCache>
                <c:formatCode>General</c:formatCode>
                <c:ptCount val="1"/>
                <c:pt idx="0">
                  <c:v>100.45032269053182</c:v>
                </c:pt>
              </c:numCache>
            </c:numRef>
          </c:yVal>
          <c:bubbleSize>
            <c:numRef>
              <c:f>Sheet1!$C$2:$C$2</c:f>
              <c:numCache>
                <c:formatCode>General</c:formatCode>
                <c:ptCount val="1"/>
                <c:pt idx="0">
                  <c:v>344.108</c:v>
                </c:pt>
              </c:numCache>
            </c:numRef>
          </c:bubbleSize>
          <c:bubble3D val="0"/>
        </c:ser>
        <c:ser>
          <c:idx val="1"/>
          <c:order val="1"/>
          <c:tx>
            <c:strRef>
              <c:f>Sheet1!$B$4</c:f>
              <c:strCache>
                <c:ptCount val="1"/>
                <c:pt idx="0">
                  <c:v>Curl Definition</c:v>
                </c:pt>
              </c:strCache>
            </c:strRef>
          </c:tx>
          <c:spPr>
            <a:solidFill>
              <a:srgbClr val="9E7E0A"/>
            </a:solidFill>
          </c:spPr>
          <c:invertIfNegative val="0"/>
          <c:xVal>
            <c:numRef>
              <c:f>Sheet1!$A$5:$A$5</c:f>
              <c:numCache>
                <c:formatCode>General</c:formatCode>
                <c:ptCount val="1"/>
                <c:pt idx="0">
                  <c:v>118.85200951778386</c:v>
                </c:pt>
              </c:numCache>
            </c:numRef>
          </c:xVal>
          <c:yVal>
            <c:numRef>
              <c:f>Sheet1!$B$5:$B$5</c:f>
              <c:numCache>
                <c:formatCode>General</c:formatCode>
                <c:ptCount val="1"/>
                <c:pt idx="0">
                  <c:v>119.13267894236003</c:v>
                </c:pt>
              </c:numCache>
            </c:numRef>
          </c:yVal>
          <c:bubbleSize>
            <c:numRef>
              <c:f>Sheet1!$C$5:$C$5</c:f>
              <c:numCache>
                <c:formatCode>General</c:formatCode>
                <c:ptCount val="1"/>
                <c:pt idx="0">
                  <c:v>547.14</c:v>
                </c:pt>
              </c:numCache>
            </c:numRef>
          </c:bubbleSize>
          <c:bubble3D val="0"/>
        </c:ser>
        <c:ser>
          <c:idx val="2"/>
          <c:order val="2"/>
          <c:tx>
            <c:strRef>
              <c:f>Sheet1!$B$7</c:f>
              <c:strCache>
                <c:ptCount val="1"/>
                <c:pt idx="0">
                  <c:v>Volume and Root Lift</c:v>
                </c:pt>
              </c:strCache>
            </c:strRef>
          </c:tx>
          <c:spPr>
            <a:solidFill>
              <a:srgbClr val="008189"/>
            </a:solidFill>
          </c:spPr>
          <c:invertIfNegative val="0"/>
          <c:xVal>
            <c:numRef>
              <c:f>Sheet1!$A$8:$A$8</c:f>
              <c:numCache>
                <c:formatCode>General</c:formatCode>
                <c:ptCount val="1"/>
                <c:pt idx="0">
                  <c:v>90.69375364883456</c:v>
                </c:pt>
              </c:numCache>
            </c:numRef>
          </c:xVal>
          <c:yVal>
            <c:numRef>
              <c:f>Sheet1!$B$8:$B$8</c:f>
              <c:numCache>
                <c:formatCode>General</c:formatCode>
                <c:ptCount val="1"/>
                <c:pt idx="0">
                  <c:v>88.97964624379337</c:v>
                </c:pt>
              </c:numCache>
            </c:numRef>
          </c:yVal>
          <c:bubbleSize>
            <c:numRef>
              <c:f>Sheet1!$C$8:$C$8</c:f>
              <c:numCache>
                <c:formatCode>General</c:formatCode>
                <c:ptCount val="1"/>
                <c:pt idx="0">
                  <c:v>334.978</c:v>
                </c:pt>
              </c:numCache>
            </c:numRef>
          </c:bubbleSize>
          <c:bubble3D val="0"/>
        </c:ser>
        <c:ser>
          <c:idx val="3"/>
          <c:order val="3"/>
          <c:tx>
            <c:strRef>
              <c:f>Sheet1!$B$10</c:f>
              <c:strCache>
                <c:ptCount val="1"/>
                <c:pt idx="0">
                  <c:v>Texture and Separation</c:v>
                </c:pt>
              </c:strCache>
            </c:strRef>
          </c:tx>
          <c:spPr>
            <a:solidFill>
              <a:srgbClr val="40315E"/>
            </a:solidFill>
          </c:spPr>
          <c:invertIfNegative val="0"/>
          <c:xVal>
            <c:numRef>
              <c:f>Sheet1!$A$11:$A$11</c:f>
              <c:numCache>
                <c:formatCode>General</c:formatCode>
                <c:ptCount val="1"/>
                <c:pt idx="0">
                  <c:v>97.8646217743751</c:v>
                </c:pt>
              </c:numCache>
            </c:numRef>
          </c:xVal>
          <c:yVal>
            <c:numRef>
              <c:f>Sheet1!$B$11:$B$11</c:f>
              <c:numCache>
                <c:formatCode>General</c:formatCode>
                <c:ptCount val="1"/>
                <c:pt idx="0">
                  <c:v>88.99830786491061</c:v>
                </c:pt>
              </c:numCache>
            </c:numRef>
          </c:yVal>
          <c:bubbleSize>
            <c:numRef>
              <c:f>Sheet1!$C$11:$C$11</c:f>
              <c:numCache>
                <c:formatCode>General</c:formatCode>
                <c:ptCount val="1"/>
                <c:pt idx="0">
                  <c:v>352.581</c:v>
                </c:pt>
              </c:numCache>
            </c:numRef>
          </c:bubbleSize>
          <c:bubble3D val="0"/>
        </c:ser>
        <c:ser>
          <c:idx val="4"/>
          <c:order val="4"/>
          <c:tx>
            <c:strRef>
              <c:f>Sheet1!$B$13</c:f>
              <c:strCache>
                <c:ptCount val="1"/>
                <c:pt idx="0">
                  <c:v>Smoothing and Frizz Control</c:v>
                </c:pt>
              </c:strCache>
            </c:strRef>
          </c:tx>
          <c:spPr>
            <a:solidFill>
              <a:srgbClr val="A35313"/>
            </a:solidFill>
          </c:spPr>
          <c:invertIfNegative val="0"/>
          <c:xVal>
            <c:numRef>
              <c:f>Sheet1!$A$14:$A$14</c:f>
              <c:numCache>
                <c:formatCode>General</c:formatCode>
                <c:ptCount val="1"/>
                <c:pt idx="0">
                  <c:v>106.53299505813337</c:v>
                </c:pt>
              </c:numCache>
            </c:numRef>
          </c:xVal>
          <c:yVal>
            <c:numRef>
              <c:f>Sheet1!$B$14:$B$14</c:f>
              <c:numCache>
                <c:formatCode>General</c:formatCode>
                <c:ptCount val="1"/>
                <c:pt idx="0">
                  <c:v>124.71872419679124</c:v>
                </c:pt>
              </c:numCache>
            </c:numRef>
          </c:yVal>
          <c:bubbleSize>
            <c:numRef>
              <c:f>Sheet1!$C$14:$C$14</c:f>
              <c:numCache>
                <c:formatCode>General</c:formatCode>
                <c:ptCount val="1"/>
                <c:pt idx="0">
                  <c:v>525.335</c:v>
                </c:pt>
              </c:numCache>
            </c:numRef>
          </c:bubbleSize>
          <c:bubble3D val="0"/>
        </c:ser>
        <c:ser>
          <c:idx val="5"/>
          <c:order val="5"/>
          <c:tx>
            <c:strRef>
              <c:f>Sheet1!$B$16</c:f>
              <c:strCache>
                <c:ptCount val="1"/>
                <c:pt idx="0">
                  <c:v>Sleek Styling and Edge Control</c:v>
                </c:pt>
              </c:strCache>
            </c:strRef>
          </c:tx>
          <c:spPr>
            <a:solidFill>
              <a:srgbClr val="808080"/>
            </a:solidFill>
          </c:spPr>
          <c:invertIfNegative val="0"/>
          <c:xVal>
            <c:numRef>
              <c:f>Sheet1!$A$17:$A$17</c:f>
              <c:numCache>
                <c:formatCode>General</c:formatCode>
                <c:ptCount val="1"/>
                <c:pt idx="0">
                  <c:v>84.14995382810608</c:v>
                </c:pt>
              </c:numCache>
            </c:numRef>
          </c:xVal>
          <c:yVal>
            <c:numRef>
              <c:f>Sheet1!$B$17:$B$17</c:f>
              <c:numCache>
                <c:formatCode>General</c:formatCode>
                <c:ptCount val="1"/>
                <c:pt idx="0">
                  <c:v>85.45363660936118</c:v>
                </c:pt>
              </c:numCache>
            </c:numRef>
          </c:yVal>
          <c:bubbleSize>
            <c:numRef>
              <c:f>Sheet1!$C$17:$C$17</c:f>
              <c:numCache>
                <c:formatCode>General</c:formatCode>
                <c:ptCount val="1"/>
                <c:pt idx="0">
                  <c:v>307.003</c:v>
                </c:pt>
              </c:numCache>
            </c:numRef>
          </c:bubbleSize>
          <c:bubble3D val="0"/>
        </c:ser>
        <c:ser>
          <c:idx val="6"/>
          <c:order val="6"/>
          <c:tx>
            <c:strRef>
              <c:f>Sheet1!$B$19</c:f>
              <c:strCache>
                <c:ptCount val="1"/>
                <c:pt idx="0">
                  <c:v>Heat Styling Support</c:v>
                </c:pt>
              </c:strCache>
            </c:strRef>
          </c:tx>
          <c:spPr>
            <a:solidFill>
              <a:srgbClr val="0E72AE"/>
            </a:solidFill>
          </c:spPr>
          <c:invertIfNegative val="0"/>
          <c:xVal>
            <c:numRef>
              <c:f>Sheet1!$A$20:$A$20</c:f>
              <c:numCache>
                <c:formatCode>General</c:formatCode>
                <c:ptCount val="1"/>
                <c:pt idx="0">
                  <c:v>112.15194385546671</c:v>
                </c:pt>
              </c:numCache>
            </c:numRef>
          </c:xVal>
          <c:yVal>
            <c:numRef>
              <c:f>Sheet1!$B$20:$B$20</c:f>
              <c:numCache>
                <c:formatCode>General</c:formatCode>
                <c:ptCount val="1"/>
                <c:pt idx="0">
                  <c:v>92.26668345225181</c:v>
                </c:pt>
              </c:numCache>
            </c:numRef>
          </c:yVal>
          <c:bubbleSize>
            <c:numRef>
              <c:f>Sheet1!$C$20:$C$20</c:f>
              <c:numCache>
                <c:formatCode>General</c:formatCode>
                <c:ptCount val="1"/>
                <c:pt idx="0">
                  <c:v>404.318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6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4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193.778</c:v>
                </c:pt>
                <c:pt idx="2">
                  <c:v>215.595</c:v>
                </c:pt>
                <c:pt idx="3">
                  <c:v>242.316</c:v>
                </c:pt>
                <c:pt idx="4">
                  <c:v>271.839</c:v>
                </c:pt>
                <c:pt idx="5">
                  <c:v>305.994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193.778</c:v>
                </c:pt>
                <c:pt idx="1">
                  <c:v>21.817000000000007</c:v>
                </c:pt>
                <c:pt idx="2">
                  <c:v>26.721000000000004</c:v>
                </c:pt>
                <c:pt idx="3">
                  <c:v>29.522999999999996</c:v>
                </c:pt>
                <c:pt idx="4">
                  <c:v>34.15500000000003</c:v>
                </c:pt>
                <c:pt idx="5">
                  <c:v>38.113999999999976</c:v>
                </c:pt>
                <c:pt idx="6">
                  <c:v>344.108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229.818</c:v>
                </c:pt>
                <c:pt idx="2">
                  <c:v>265.371</c:v>
                </c:pt>
                <c:pt idx="3">
                  <c:v>313.587</c:v>
                </c:pt>
                <c:pt idx="4">
                  <c:v>378.751</c:v>
                </c:pt>
                <c:pt idx="5">
                  <c:v>456.462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229.818</c:v>
                </c:pt>
                <c:pt idx="1">
                  <c:v>35.55299999999997</c:v>
                </c:pt>
                <c:pt idx="2">
                  <c:v>48.21600000000001</c:v>
                </c:pt>
                <c:pt idx="3">
                  <c:v>65.16399999999999</c:v>
                </c:pt>
                <c:pt idx="4">
                  <c:v>77.71100000000001</c:v>
                </c:pt>
                <c:pt idx="5">
                  <c:v>90.678</c:v>
                </c:pt>
                <c:pt idx="6">
                  <c:v>547.14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171.65</c:v>
                </c:pt>
                <c:pt idx="2">
                  <c:v>195.105</c:v>
                </c:pt>
                <c:pt idx="3">
                  <c:v>223.281</c:v>
                </c:pt>
                <c:pt idx="4">
                  <c:v>255.899</c:v>
                </c:pt>
                <c:pt idx="5">
                  <c:v>293.053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171.65</c:v>
                </c:pt>
                <c:pt idx="1">
                  <c:v>23.454999999999984</c:v>
                </c:pt>
                <c:pt idx="2">
                  <c:v>28.176000000000016</c:v>
                </c:pt>
                <c:pt idx="3">
                  <c:v>32.617999999999995</c:v>
                </c:pt>
                <c:pt idx="4">
                  <c:v>37.153999999999996</c:v>
                </c:pt>
                <c:pt idx="5">
                  <c:v>41.92500000000001</c:v>
                </c:pt>
                <c:pt idx="6">
                  <c:v>334.978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171.686</c:v>
                </c:pt>
                <c:pt idx="2">
                  <c:v>196.343</c:v>
                </c:pt>
                <c:pt idx="3">
                  <c:v>226.829</c:v>
                </c:pt>
                <c:pt idx="4">
                  <c:v>262.323</c:v>
                </c:pt>
                <c:pt idx="5">
                  <c:v>304.26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171.686</c:v>
                </c:pt>
                <c:pt idx="1">
                  <c:v>24.656999999999982</c:v>
                </c:pt>
                <c:pt idx="2">
                  <c:v>30.48600000000002</c:v>
                </c:pt>
                <c:pt idx="3">
                  <c:v>35.49399999999997</c:v>
                </c:pt>
                <c:pt idx="4">
                  <c:v>41.93700000000001</c:v>
                </c:pt>
                <c:pt idx="5">
                  <c:v>48.321000000000026</c:v>
                </c:pt>
                <c:pt idx="6">
                  <c:v>352.581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240.594</c:v>
                </c:pt>
                <c:pt idx="2">
                  <c:v>272.086</c:v>
                </c:pt>
                <c:pt idx="3">
                  <c:v>316.208</c:v>
                </c:pt>
                <c:pt idx="4">
                  <c:v>373.321</c:v>
                </c:pt>
                <c:pt idx="5">
                  <c:v>443.096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240.594</c:v>
                </c:pt>
                <c:pt idx="1">
                  <c:v>31.49200000000002</c:v>
                </c:pt>
                <c:pt idx="2">
                  <c:v>44.122000000000014</c:v>
                </c:pt>
                <c:pt idx="3">
                  <c:v>57.113</c:v>
                </c:pt>
                <c:pt idx="4">
                  <c:v>69.77499999999998</c:v>
                </c:pt>
                <c:pt idx="5">
                  <c:v>82.23900000000003</c:v>
                </c:pt>
                <c:pt idx="6">
                  <c:v>525.335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164.848</c:v>
                </c:pt>
                <c:pt idx="2">
                  <c:v>183.997</c:v>
                </c:pt>
                <c:pt idx="3">
                  <c:v>208.976</c:v>
                </c:pt>
                <c:pt idx="4">
                  <c:v>238.577</c:v>
                </c:pt>
                <c:pt idx="5">
                  <c:v>270.918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164.848</c:v>
                </c:pt>
                <c:pt idx="1">
                  <c:v>19.149</c:v>
                </c:pt>
                <c:pt idx="2">
                  <c:v>24.978999999999985</c:v>
                </c:pt>
                <c:pt idx="3">
                  <c:v>29.601</c:v>
                </c:pt>
                <c:pt idx="4">
                  <c:v>32.34100000000001</c:v>
                </c:pt>
                <c:pt idx="5">
                  <c:v>36.08499999999998</c:v>
                </c:pt>
                <c:pt idx="6">
                  <c:v>307.003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177.991</c:v>
                </c:pt>
                <c:pt idx="2">
                  <c:v>204.284</c:v>
                </c:pt>
                <c:pt idx="3">
                  <c:v>238.292</c:v>
                </c:pt>
                <c:pt idx="4">
                  <c:v>282.928</c:v>
                </c:pt>
                <c:pt idx="5">
                  <c:v>338.625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177.991</c:v>
                </c:pt>
                <c:pt idx="1">
                  <c:v>26.292999999999978</c:v>
                </c:pt>
                <c:pt idx="2">
                  <c:v>34.00800000000001</c:v>
                </c:pt>
                <c:pt idx="3">
                  <c:v>44.635999999999996</c:v>
                </c:pt>
                <c:pt idx="4">
                  <c:v>55.697</c:v>
                </c:pt>
                <c:pt idx="5">
                  <c:v>65.69299999999998</c:v>
                </c:pt>
                <c:pt idx="6">
                  <c:v>404.318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Curl Definition</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16.90744720394218</c:v>
                </c:pt>
                <c:pt idx="1">
                  <c:v>17.018954134622863</c:v>
                </c:pt>
                <c:pt idx="2">
                  <c:v>19.43339337082391</c:v>
                </c:pt>
              </c:numCache>
            </c:numRef>
          </c:val>
        </c:ser>
        <c:ser>
          <c:idx val="1"/>
          <c:order val="1"/>
          <c:tx>
            <c:strRef>
              <c:f>Sheet1!$C$1</c:f>
              <c:strCache>
                <c:ptCount val="1"/>
                <c:pt idx="0">
                  <c:v>Smoothing and Frizz Control</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18.50377486677362</c:v>
                </c:pt>
                <c:pt idx="1">
                  <c:v>17.816960599541602</c:v>
                </c:pt>
                <c:pt idx="2">
                  <c:v>18.65892039781734</c:v>
                </c:pt>
              </c:numCache>
            </c:numRef>
          </c:val>
        </c:ser>
        <c:ser>
          <c:idx val="2"/>
          <c:order val="2"/>
          <c:tx>
            <c:strRef>
              <c:f>Sheet1!$D$1</c:f>
              <c:strCache>
                <c:ptCount val="1"/>
                <c:pt idx="0">
                  <c:v>Heat Styling Support</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12.80081641467444</c:v>
                </c:pt>
                <c:pt idx="1">
                  <c:v>13.180954778893113</c:v>
                </c:pt>
                <c:pt idx="2">
                  <c:v>14.360622036233469</c:v>
                </c:pt>
              </c:numCache>
            </c:numRef>
          </c:val>
        </c:ser>
        <c:ser>
          <c:idx val="3"/>
          <c:order val="3"/>
          <c:tx>
            <c:strRef>
              <c:f>Sheet1!$E$1</c:f>
              <c:strCache>
                <c:ptCount val="1"/>
                <c:pt idx="0">
                  <c:v>Texture and Separation</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12.20312519409437</c:v>
                </c:pt>
                <c:pt idx="1">
                  <c:v>12.714043980701515</c:v>
                </c:pt>
                <c:pt idx="2">
                  <c:v>12.523020192415954</c:v>
                </c:pt>
              </c:numCache>
            </c:numRef>
          </c:val>
        </c:ser>
        <c:ser>
          <c:idx val="4"/>
          <c:order val="4"/>
          <c:tx>
            <c:strRef>
              <c:f>Sheet1!$F$1</c:f>
              <c:strCache>
                <c:ptCount val="1"/>
                <c:pt idx="0">
                  <c:v>Hold and Shape</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14.598954446469131</c:v>
                </c:pt>
                <c:pt idx="1">
                  <c:v>14.3500460986474</c:v>
                </c:pt>
                <c:pt idx="2">
                  <c:v>12.222075019277467</c:v>
                </c:pt>
              </c:numCache>
            </c:numRef>
          </c:val>
        </c:ser>
        <c:ser>
          <c:idx val="5"/>
          <c:order val="5"/>
          <c:tx>
            <c:strRef>
              <c:f>Sheet1!$G$1</c:f>
              <c:strCache>
                <c:ptCount val="1"/>
                <c:pt idx="0">
                  <c:v>Volume and Root Lift</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12.52437825302166</c:v>
                </c:pt>
                <c:pt idx="1">
                  <c:v>12.711378034827622</c:v>
                </c:pt>
                <c:pt idx="2">
                  <c:v>11.897794430258894</c:v>
                </c:pt>
              </c:numCache>
            </c:numRef>
          </c:val>
        </c:ser>
        <c:ser>
          <c:idx val="6"/>
          <c:order val="6"/>
          <c:tx>
            <c:strRef>
              <c:f>Sheet1!$H$1</c:f>
              <c:strCache>
                <c:ptCount val="1"/>
                <c:pt idx="0">
                  <c:v>Sleek Styling and Edge Control</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12.461503621024589</c:v>
                </c:pt>
                <c:pt idx="1">
                  <c:v>12.207662372765883</c:v>
                </c:pt>
                <c:pt idx="2">
                  <c:v>10.90417455317296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Straight Hair</c:v>
                </c:pt>
              </c:strCache>
            </c:strRef>
          </c:tx>
          <c:spPr>
            <a:solidFill>
              <a:srgbClr val="3D85C6"/>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Sheet1!$B$2:$B$5</c:f>
              <c:numCache>
                <c:formatCode>General</c:formatCode>
                <c:ptCount val="4"/>
                <c:pt idx="0">
                  <c:v>17.43099220703552</c:v>
                </c:pt>
                <c:pt idx="1">
                  <c:v>18.57653014693917</c:v>
                </c:pt>
                <c:pt idx="2">
                  <c:v>17.803820080242843</c:v>
                </c:pt>
                <c:pt idx="3">
                  <c:v>15.94645204880354</c:v>
                </c:pt>
              </c:numCache>
            </c:numRef>
          </c:val>
        </c:ser>
        <c:ser>
          <c:idx val="1"/>
          <c:order val="1"/>
          <c:tx>
            <c:strRef>
              <c:f>Sheet1!$C$1</c:f>
              <c:strCache>
                <c:ptCount val="1"/>
                <c:pt idx="0">
                  <c:v>Wavy Hair</c:v>
                </c:pt>
              </c:strCache>
            </c:strRef>
          </c:tx>
          <c:spPr>
            <a:solidFill>
              <a:srgbClr val="9E7E0A"/>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Sheet1!$C$2:$C$5</c:f>
              <c:numCache>
                <c:formatCode>General</c:formatCode>
                <c:ptCount val="4"/>
                <c:pt idx="0">
                  <c:v>18.535602437425652</c:v>
                </c:pt>
                <c:pt idx="1">
                  <c:v>19.620322203962367</c:v>
                </c:pt>
                <c:pt idx="2">
                  <c:v>18.754526884608186</c:v>
                </c:pt>
                <c:pt idx="3">
                  <c:v>16.919300307493167</c:v>
                </c:pt>
              </c:numCache>
            </c:numRef>
          </c:val>
        </c:ser>
        <c:ser>
          <c:idx val="2"/>
          <c:order val="2"/>
          <c:tx>
            <c:strRef>
              <c:f>Sheet1!$D$1</c:f>
              <c:strCache>
                <c:ptCount val="1"/>
                <c:pt idx="0">
                  <c:v>Curly Hair</c:v>
                </c:pt>
              </c:strCache>
            </c:strRef>
          </c:tx>
          <c:spPr>
            <a:solidFill>
              <a:srgbClr val="008189"/>
            </a:solidFill>
            <a:ln>
              <a:noFill/>
            </a:ln>
          </c:spPr>
          <c:dLbls>
            <c:dLbl>
              <c:idx val="0"/>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Sheet1!$D$2:$D$5</c:f>
              <c:numCache>
                <c:formatCode>General</c:formatCode>
                <c:ptCount val="4"/>
                <c:pt idx="0">
                  <c:v>22.975285863416765</c:v>
                </c:pt>
                <c:pt idx="1">
                  <c:v>21.92964730665169</c:v>
                </c:pt>
                <c:pt idx="2">
                  <c:v>22.162813219723787</c:v>
                </c:pt>
                <c:pt idx="3">
                  <c:v>23.557077149507215</c:v>
                </c:pt>
              </c:numCache>
            </c:numRef>
          </c:val>
        </c:ser>
        <c:ser>
          <c:idx val="3"/>
          <c:order val="3"/>
          <c:tx>
            <c:strRef>
              <c:f>Sheet1!$E$1</c:f>
              <c:strCache>
                <c:ptCount val="1"/>
                <c:pt idx="0">
                  <c:v>Coily Hair</c:v>
                </c:pt>
              </c:strCache>
            </c:strRef>
          </c:tx>
          <c:spPr>
            <a:solidFill>
              <a:srgbClr val="40315E"/>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Sheet1!$E$2:$E$5</c:f>
              <c:numCache>
                <c:formatCode>General</c:formatCode>
                <c:ptCount val="4"/>
                <c:pt idx="0">
                  <c:v>21.75232453691341</c:v>
                </c:pt>
                <c:pt idx="1">
                  <c:v>19.538599920244774</c:v>
                </c:pt>
                <c:pt idx="2">
                  <c:v>21.671264760695657</c:v>
                </c:pt>
                <c:pt idx="3">
                  <c:v>26.01837647399713</c:v>
                </c:pt>
              </c:numCache>
            </c:numRef>
          </c:val>
        </c:ser>
        <c:ser>
          <c:idx val="4"/>
          <c:order val="4"/>
          <c:tx>
            <c:strRef>
              <c:f>Sheet1!$F$1</c:f>
              <c:strCache>
                <c:ptCount val="1"/>
                <c:pt idx="0">
                  <c:v>All Hair Types</c:v>
                </c:pt>
              </c:strCache>
            </c:strRef>
          </c:tx>
          <c:spPr>
            <a:solidFill>
              <a:srgbClr val="A35313"/>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Sheet1!$F$2:$F$5</c:f>
              <c:numCache>
                <c:formatCode>General</c:formatCode>
                <c:ptCount val="4"/>
                <c:pt idx="0">
                  <c:v>19.305794955208665</c:v>
                </c:pt>
                <c:pt idx="1">
                  <c:v>20.334900422201997</c:v>
                </c:pt>
                <c:pt idx="2">
                  <c:v>19.607575054729526</c:v>
                </c:pt>
                <c:pt idx="3">
                  <c:v>17.55879402019896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0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Straight Hair</c:v>
                </c:pt>
              </c:strCache>
            </c:strRef>
          </c:tx>
          <c:spPr>
            <a:solidFill>
              <a:srgbClr val="3D85C6"/>
            </a:solidFill>
          </c:spPr>
          <c:invertIfNegative val="0"/>
          <c:xVal>
            <c:numRef>
              <c:f>Sheet1!$A$2:$A$2</c:f>
              <c:numCache>
                <c:formatCode>General</c:formatCode>
                <c:ptCount val="1"/>
                <c:pt idx="0">
                  <c:v>85.19573063923089</c:v>
                </c:pt>
              </c:numCache>
            </c:numRef>
          </c:xVal>
          <c:yVal>
            <c:numRef>
              <c:f>Sheet1!$B$2:$B$2</c:f>
              <c:numCache>
                <c:formatCode>General</c:formatCode>
                <c:ptCount val="1"/>
                <c:pt idx="0">
                  <c:v>94.23422129144437</c:v>
                </c:pt>
              </c:numCache>
            </c:numRef>
          </c:yVal>
          <c:bubbleSize>
            <c:numRef>
              <c:f>Sheet1!$C$2:$C$2</c:f>
              <c:numCache>
                <c:formatCode>General</c:formatCode>
                <c:ptCount val="1"/>
                <c:pt idx="0">
                  <c:v>477.531</c:v>
                </c:pt>
              </c:numCache>
            </c:numRef>
          </c:bubbleSize>
          <c:bubble3D val="0"/>
        </c:ser>
        <c:ser>
          <c:idx val="1"/>
          <c:order val="1"/>
          <c:tx>
            <c:strRef>
              <c:f>Sheet1!$B$4</c:f>
              <c:strCache>
                <c:ptCount val="1"/>
                <c:pt idx="0">
                  <c:v>Wavy Hair</c:v>
                </c:pt>
              </c:strCache>
            </c:strRef>
          </c:tx>
          <c:spPr>
            <a:solidFill>
              <a:srgbClr val="9E7E0A"/>
            </a:solidFill>
          </c:spPr>
          <c:invertIfNegative val="0"/>
          <c:xVal>
            <c:numRef>
              <c:f>Sheet1!$A$5:$A$5</c:f>
              <c:numCache>
                <c:formatCode>General</c:formatCode>
                <c:ptCount val="1"/>
                <c:pt idx="0">
                  <c:v>98.344890315645</c:v>
                </c:pt>
              </c:numCache>
            </c:numRef>
          </c:xVal>
          <c:yVal>
            <c:numRef>
              <c:f>Sheet1!$B$5:$B$5</c:f>
              <c:numCache>
                <c:formatCode>General</c:formatCode>
                <c:ptCount val="1"/>
                <c:pt idx="0">
                  <c:v>90.8136620940724</c:v>
                </c:pt>
              </c:numCache>
            </c:numRef>
          </c:yVal>
          <c:bubbleSize>
            <c:numRef>
              <c:f>Sheet1!$C$5:$C$5</c:f>
              <c:numCache>
                <c:formatCode>General</c:formatCode>
                <c:ptCount val="1"/>
                <c:pt idx="0">
                  <c:v>505.401</c:v>
                </c:pt>
              </c:numCache>
            </c:numRef>
          </c:bubbleSize>
          <c:bubble3D val="0"/>
        </c:ser>
        <c:ser>
          <c:idx val="2"/>
          <c:order val="2"/>
          <c:tx>
            <c:strRef>
              <c:f>Sheet1!$B$7</c:f>
              <c:strCache>
                <c:ptCount val="1"/>
                <c:pt idx="0">
                  <c:v>Curly Hair</c:v>
                </c:pt>
              </c:strCache>
            </c:strRef>
          </c:tx>
          <c:spPr>
            <a:solidFill>
              <a:srgbClr val="008189"/>
            </a:solidFill>
          </c:spPr>
          <c:invertIfNegative val="0"/>
          <c:xVal>
            <c:numRef>
              <c:f>Sheet1!$A$8:$A$8</c:f>
              <c:numCache>
                <c:formatCode>General</c:formatCode>
                <c:ptCount val="1"/>
                <c:pt idx="0">
                  <c:v>107.37046878637085</c:v>
                </c:pt>
              </c:numCache>
            </c:numRef>
          </c:xVal>
          <c:yVal>
            <c:numRef>
              <c:f>Sheet1!$B$8:$B$8</c:f>
              <c:numCache>
                <c:formatCode>General</c:formatCode>
                <c:ptCount val="1"/>
                <c:pt idx="0">
                  <c:v>108.6684775364272</c:v>
                </c:pt>
              </c:numCache>
            </c:numRef>
          </c:yVal>
          <c:bubbleSize>
            <c:numRef>
              <c:f>Sheet1!$C$8:$C$8</c:f>
              <c:numCache>
                <c:formatCode>General</c:formatCode>
                <c:ptCount val="1"/>
                <c:pt idx="0">
                  <c:v>644.615</c:v>
                </c:pt>
              </c:numCache>
            </c:numRef>
          </c:bubbleSize>
          <c:bubble3D val="0"/>
        </c:ser>
        <c:ser>
          <c:idx val="3"/>
          <c:order val="3"/>
          <c:tx>
            <c:strRef>
              <c:f>Sheet1!$B$10</c:f>
              <c:strCache>
                <c:ptCount val="1"/>
                <c:pt idx="0">
                  <c:v>Coily Hair</c:v>
                </c:pt>
              </c:strCache>
            </c:strRef>
          </c:tx>
          <c:spPr>
            <a:solidFill>
              <a:srgbClr val="40315E"/>
            </a:solidFill>
          </c:spPr>
          <c:invertIfNegative val="0"/>
          <c:xVal>
            <c:numRef>
              <c:f>Sheet1!$A$11:$A$11</c:f>
              <c:numCache>
                <c:formatCode>General</c:formatCode>
                <c:ptCount val="1"/>
                <c:pt idx="0">
                  <c:v>112.65272640336809</c:v>
                </c:pt>
              </c:numCache>
            </c:numRef>
          </c:xVal>
          <c:yVal>
            <c:numRef>
              <c:f>Sheet1!$B$11:$B$11</c:f>
              <c:numCache>
                <c:formatCode>General</c:formatCode>
                <c:ptCount val="1"/>
                <c:pt idx="0">
                  <c:v>107.62061192389606</c:v>
                </c:pt>
              </c:numCache>
            </c:numRef>
          </c:yVal>
          <c:bubbleSize>
            <c:numRef>
              <c:f>Sheet1!$C$11:$C$11</c:f>
              <c:numCache>
                <c:formatCode>General</c:formatCode>
                <c:ptCount val="1"/>
                <c:pt idx="0">
                  <c:v>662.566</c:v>
                </c:pt>
              </c:numCache>
            </c:numRef>
          </c:bubbleSize>
          <c:bubble3D val="0"/>
        </c:ser>
        <c:ser>
          <c:idx val="4"/>
          <c:order val="4"/>
          <c:tx>
            <c:strRef>
              <c:f>Sheet1!$B$13</c:f>
              <c:strCache>
                <c:ptCount val="1"/>
                <c:pt idx="0">
                  <c:v>All Hair Types</c:v>
                </c:pt>
              </c:strCache>
            </c:strRef>
          </c:tx>
          <c:spPr>
            <a:solidFill>
              <a:srgbClr val="A35313"/>
            </a:solidFill>
          </c:spPr>
          <c:invertIfNegative val="0"/>
          <c:xVal>
            <c:numRef>
              <c:f>Sheet1!$A$14:$A$14</c:f>
              <c:numCache>
                <c:formatCode>General</c:formatCode>
                <c:ptCount val="1"/>
                <c:pt idx="0">
                  <c:v>92.12857516885387</c:v>
                </c:pt>
              </c:numCache>
            </c:numRef>
          </c:xVal>
          <c:yVal>
            <c:numRef>
              <c:f>Sheet1!$B$14:$B$14</c:f>
              <c:numCache>
                <c:formatCode>General</c:formatCode>
                <c:ptCount val="1"/>
                <c:pt idx="0">
                  <c:v>98.6630271541599</c:v>
                </c:pt>
              </c:numCache>
            </c:numRef>
          </c:yVal>
          <c:bubbleSize>
            <c:numRef>
              <c:f>Sheet1!$C$14:$C$14</c:f>
              <c:numCache>
                <c:formatCode>General</c:formatCode>
                <c:ptCount val="1"/>
                <c:pt idx="0">
                  <c:v>525.351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254.501</c:v>
                </c:pt>
                <c:pt idx="2">
                  <c:v>285.645</c:v>
                </c:pt>
                <c:pt idx="3">
                  <c:v>324.421</c:v>
                </c:pt>
                <c:pt idx="4">
                  <c:v>368.265</c:v>
                </c:pt>
                <c:pt idx="5">
                  <c:v>419.63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254.501</c:v>
                </c:pt>
                <c:pt idx="1">
                  <c:v>31.143999999999977</c:v>
                </c:pt>
                <c:pt idx="2">
                  <c:v>38.77600000000001</c:v>
                </c:pt>
                <c:pt idx="3">
                  <c:v>43.843999999999994</c:v>
                </c:pt>
                <c:pt idx="4">
                  <c:v>51.36500000000001</c:v>
                </c:pt>
                <c:pt idx="5">
                  <c:v>57.90100000000001</c:v>
                </c:pt>
                <c:pt idx="6">
                  <c:v>477.531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245.263</c:v>
                </c:pt>
                <c:pt idx="2">
                  <c:v>281.269</c:v>
                </c:pt>
                <c:pt idx="3">
                  <c:v>325.164</c:v>
                </c:pt>
                <c:pt idx="4">
                  <c:v>377.129</c:v>
                </c:pt>
                <c:pt idx="5">
                  <c:v>437.057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245.263</c:v>
                </c:pt>
                <c:pt idx="1">
                  <c:v>36.006</c:v>
                </c:pt>
                <c:pt idx="2">
                  <c:v>43.89499999999998</c:v>
                </c:pt>
                <c:pt idx="3">
                  <c:v>51.96500000000003</c:v>
                </c:pt>
                <c:pt idx="4">
                  <c:v>59.928</c:v>
                </c:pt>
                <c:pt idx="5">
                  <c:v>68.344</c:v>
                </c:pt>
                <c:pt idx="6">
                  <c:v>505.401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293.484</c:v>
                </c:pt>
                <c:pt idx="2">
                  <c:v>331.6</c:v>
                </c:pt>
                <c:pt idx="3">
                  <c:v>385.397</c:v>
                </c:pt>
                <c:pt idx="4">
                  <c:v>455.919</c:v>
                </c:pt>
                <c:pt idx="5">
                  <c:v>542.37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293.484</c:v>
                </c:pt>
                <c:pt idx="1">
                  <c:v>38.11600000000004</c:v>
                </c:pt>
                <c:pt idx="2">
                  <c:v>53.79699999999997</c:v>
                </c:pt>
                <c:pt idx="3">
                  <c:v>70.52199999999999</c:v>
                </c:pt>
                <c:pt idx="4">
                  <c:v>86.45100000000002</c:v>
                </c:pt>
                <c:pt idx="5">
                  <c:v>102.245</c:v>
                </c:pt>
                <c:pt idx="6">
                  <c:v>644.615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290.654</c:v>
                </c:pt>
                <c:pt idx="2">
                  <c:v>332.564</c:v>
                </c:pt>
                <c:pt idx="3">
                  <c:v>389.263</c:v>
                </c:pt>
                <c:pt idx="4">
                  <c:v>466.005</c:v>
                </c:pt>
                <c:pt idx="5">
                  <c:v>556.963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290.654</c:v>
                </c:pt>
                <c:pt idx="1">
                  <c:v>41.910000000000025</c:v>
                </c:pt>
                <c:pt idx="2">
                  <c:v>56.698999999999955</c:v>
                </c:pt>
                <c:pt idx="3">
                  <c:v>76.74200000000002</c:v>
                </c:pt>
                <c:pt idx="4">
                  <c:v>90.95799999999997</c:v>
                </c:pt>
                <c:pt idx="5">
                  <c:v>105.60300000000007</c:v>
                </c:pt>
                <c:pt idx="6">
                  <c:v>662.566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266.462</c:v>
                </c:pt>
                <c:pt idx="2">
                  <c:v>301.703</c:v>
                </c:pt>
                <c:pt idx="3">
                  <c:v>345.243</c:v>
                </c:pt>
                <c:pt idx="4">
                  <c:v>396.321</c:v>
                </c:pt>
                <c:pt idx="5">
                  <c:v>456.388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266.462</c:v>
                </c:pt>
                <c:pt idx="1">
                  <c:v>35.240999999999985</c:v>
                </c:pt>
                <c:pt idx="2">
                  <c:v>43.54000000000002</c:v>
                </c:pt>
                <c:pt idx="3">
                  <c:v>51.07800000000003</c:v>
                </c:pt>
                <c:pt idx="4">
                  <c:v>60.06699999999995</c:v>
                </c:pt>
                <c:pt idx="5">
                  <c:v>68.96300000000002</c:v>
                </c:pt>
                <c:pt idx="6">
                  <c:v>525.351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Coily Hair</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21.7449301452707</c:v>
                </c:pt>
                <c:pt idx="1">
                  <c:v>21.524122384779215</c:v>
                </c:pt>
                <c:pt idx="2">
                  <c:v>23.533101471018632</c:v>
                </c:pt>
              </c:numCache>
            </c:numRef>
          </c:val>
        </c:ser>
        <c:ser>
          <c:idx val="1"/>
          <c:order val="1"/>
          <c:tx>
            <c:strRef>
              <c:f>Sheet1!$C$1</c:f>
              <c:strCache>
                <c:ptCount val="1"/>
                <c:pt idx="0">
                  <c:v>Curly Hair</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22.60128481867201</c:v>
                </c:pt>
                <c:pt idx="1">
                  <c:v>21.733695507285443</c:v>
                </c:pt>
                <c:pt idx="2">
                  <c:v>22.89551562371247</c:v>
                </c:pt>
              </c:numCache>
            </c:numRef>
          </c:val>
        </c:ser>
        <c:ser>
          <c:idx val="2"/>
          <c:order val="2"/>
          <c:tx>
            <c:strRef>
              <c:f>Sheet1!$D$1</c:f>
              <c:strCache>
                <c:ptCount val="1"/>
                <c:pt idx="0">
                  <c:v>All Hair Types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19.37461838133487</c:v>
                </c:pt>
                <c:pt idx="1">
                  <c:v>19.73260543083198</c:v>
                </c:pt>
                <c:pt idx="2">
                  <c:v>18.659482060505837</c:v>
                </c:pt>
              </c:numCache>
            </c:numRef>
          </c:val>
        </c:ser>
        <c:ser>
          <c:idx val="3"/>
          <c:order val="3"/>
          <c:tx>
            <c:strRef>
              <c:f>Sheet1!$E$1</c:f>
              <c:strCache>
                <c:ptCount val="1"/>
                <c:pt idx="0">
                  <c:v>Wavy Hair</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17.528229031398077</c:v>
                </c:pt>
                <c:pt idx="1">
                  <c:v>18.162732418814482</c:v>
                </c:pt>
                <c:pt idx="2">
                  <c:v>17.95089548294704</c:v>
                </c:pt>
              </c:numCache>
            </c:numRef>
          </c:val>
        </c:ser>
        <c:ser>
          <c:idx val="4"/>
          <c:order val="4"/>
          <c:tx>
            <c:strRef>
              <c:f>Sheet1!$F$1</c:f>
              <c:strCache>
                <c:ptCount val="1"/>
                <c:pt idx="0">
                  <c:v>Straight Hair</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18.750937623324344</c:v>
                </c:pt>
                <c:pt idx="1">
                  <c:v>18.846844258288876</c:v>
                </c:pt>
                <c:pt idx="2">
                  <c:v>16.961005361816028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Film-forming and Fixative Polymers</c:v>
                </c:pt>
              </c:strCache>
            </c:strRef>
          </c:tx>
          <c:spPr>
            <a:solidFill>
              <a:srgbClr val="3D85C6"/>
            </a:solidFill>
            <a:ln>
              <a:noFill/>
            </a:ln>
          </c:spPr>
          <c:dLbls>
            <c:dLbl>
              <c:idx val="0"/>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Sheet1!$B$2:$B$5</c:f>
              <c:numCache>
                <c:formatCode>General</c:formatCode>
                <c:ptCount val="4"/>
                <c:pt idx="0">
                  <c:v>23.273894782840912</c:v>
                </c:pt>
                <c:pt idx="1">
                  <c:v>24.296282785148307</c:v>
                </c:pt>
                <c:pt idx="2">
                  <c:v>23.814019199656244</c:v>
                </c:pt>
                <c:pt idx="3">
                  <c:v>24.340297852693038</c:v>
                </c:pt>
              </c:numCache>
            </c:numRef>
          </c:val>
        </c:ser>
        <c:ser>
          <c:idx val="1"/>
          <c:order val="1"/>
          <c:tx>
            <c:strRef>
              <c:f>Sheet1!$C$1</c:f>
              <c:strCache>
                <c:ptCount val="1"/>
                <c:pt idx="0">
                  <c:v>Texture and Volume Additives</c:v>
                </c:pt>
              </c:strCache>
            </c:strRef>
          </c:tx>
          <c:spPr>
            <a:solidFill>
              <a:srgbClr val="9E7E0A"/>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Sheet1!$C$2:$C$5</c:f>
              <c:numCache>
                <c:formatCode>General</c:formatCode>
                <c:ptCount val="4"/>
                <c:pt idx="0">
                  <c:v>25.876405039935907</c:v>
                </c:pt>
                <c:pt idx="1">
                  <c:v>25.894969501563814</c:v>
                </c:pt>
                <c:pt idx="2">
                  <c:v>26.20193168464125</c:v>
                </c:pt>
                <c:pt idx="3">
                  <c:v>26.493968611595918</c:v>
                </c:pt>
              </c:numCache>
            </c:numRef>
          </c:val>
        </c:ser>
        <c:ser>
          <c:idx val="2"/>
          <c:order val="2"/>
          <c:tx>
            <c:strRef>
              <c:f>Sheet1!$D$1</c:f>
              <c:strCache>
                <c:ptCount val="1"/>
                <c:pt idx="0">
                  <c:v>Conditioning and Smoothing Agents</c:v>
                </c:pt>
              </c:strCache>
            </c:strRef>
          </c:tx>
          <c:spPr>
            <a:solidFill>
              <a:srgbClr val="008189"/>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Sheet1!$D$2:$D$5</c:f>
              <c:numCache>
                <c:formatCode>General</c:formatCode>
                <c:ptCount val="4"/>
                <c:pt idx="0">
                  <c:v>24.398533660265592</c:v>
                </c:pt>
                <c:pt idx="1">
                  <c:v>24.44649495984507</c:v>
                </c:pt>
                <c:pt idx="2">
                  <c:v>23.981503484779928</c:v>
                </c:pt>
                <c:pt idx="3">
                  <c:v>23.949601450403694</c:v>
                </c:pt>
              </c:numCache>
            </c:numRef>
          </c:val>
        </c:ser>
        <c:ser>
          <c:idx val="3"/>
          <c:order val="3"/>
          <c:tx>
            <c:strRef>
              <c:f>Sheet1!$E$1</c:f>
              <c:strCache>
                <c:ptCount val="1"/>
                <c:pt idx="0">
                  <c:v>Waxes and Structuring Agents</c:v>
                </c:pt>
              </c:strCache>
            </c:strRef>
          </c:tx>
          <c:spPr>
            <a:solidFill>
              <a:srgbClr val="40315E"/>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Sheet1!$E$2:$E$5</c:f>
              <c:numCache>
                <c:formatCode>General</c:formatCode>
                <c:ptCount val="4"/>
                <c:pt idx="0">
                  <c:v>26.45116651695758</c:v>
                </c:pt>
                <c:pt idx="1">
                  <c:v>25.36225275344281</c:v>
                </c:pt>
                <c:pt idx="2">
                  <c:v>26.00254563092258</c:v>
                </c:pt>
                <c:pt idx="3">
                  <c:v>25.21613208530735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1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Film-forming and Fixative Polymers</c:v>
                </c:pt>
              </c:strCache>
            </c:strRef>
          </c:tx>
          <c:spPr>
            <a:solidFill>
              <a:srgbClr val="3D85C6"/>
            </a:solidFill>
          </c:spPr>
          <c:invertIfNegative val="0"/>
          <c:xVal>
            <c:numRef>
              <c:f>Sheet1!$A$2:$A$2</c:f>
              <c:numCache>
                <c:formatCode>General</c:formatCode>
                <c:ptCount val="1"/>
                <c:pt idx="0">
                  <c:v>89.7632748577434</c:v>
                </c:pt>
              </c:numCache>
            </c:numRef>
          </c:xVal>
          <c:yVal>
            <c:numRef>
              <c:f>Sheet1!$B$2:$B$2</c:f>
              <c:numCache>
                <c:formatCode>General</c:formatCode>
                <c:ptCount val="1"/>
                <c:pt idx="0">
                  <c:v>103.91153792607031</c:v>
                </c:pt>
              </c:numCache>
            </c:numRef>
          </c:yVal>
          <c:bubbleSize>
            <c:numRef>
              <c:f>Sheet1!$C$2:$C$2</c:f>
              <c:numCache>
                <c:formatCode>General</c:formatCode>
                <c:ptCount val="1"/>
                <c:pt idx="0">
                  <c:v>680.057</c:v>
                </c:pt>
              </c:numCache>
            </c:numRef>
          </c:bubbleSize>
          <c:bubble3D val="0"/>
        </c:ser>
        <c:ser>
          <c:idx val="1"/>
          <c:order val="1"/>
          <c:tx>
            <c:strRef>
              <c:f>Sheet1!$B$4</c:f>
              <c:strCache>
                <c:ptCount val="1"/>
                <c:pt idx="0">
                  <c:v>Texture and Volume Additives</c:v>
                </c:pt>
              </c:strCache>
            </c:strRef>
          </c:tx>
          <c:spPr>
            <a:solidFill>
              <a:srgbClr val="9E7E0A"/>
            </a:solidFill>
          </c:spPr>
          <c:invertIfNegative val="0"/>
          <c:xVal>
            <c:numRef>
              <c:f>Sheet1!$A$5:$A$5</c:f>
              <c:numCache>
                <c:formatCode>General</c:formatCode>
                <c:ptCount val="1"/>
                <c:pt idx="0">
                  <c:v>106.27968118501565</c:v>
                </c:pt>
              </c:numCache>
            </c:numRef>
          </c:xVal>
          <c:yVal>
            <c:numRef>
              <c:f>Sheet1!$B$5:$B$5</c:f>
              <c:numCache>
                <c:formatCode>General</c:formatCode>
                <c:ptCount val="1"/>
                <c:pt idx="0">
                  <c:v>100.53733659961313</c:v>
                </c:pt>
              </c:numCache>
            </c:numRef>
          </c:yVal>
          <c:bubbleSize>
            <c:numRef>
              <c:f>Sheet1!$C$5:$C$5</c:f>
              <c:numCache>
                <c:formatCode>General</c:formatCode>
                <c:ptCount val="1"/>
                <c:pt idx="0">
                  <c:v>739.7669999999999</c:v>
                </c:pt>
              </c:numCache>
            </c:numRef>
          </c:bubbleSize>
          <c:bubble3D val="0"/>
        </c:ser>
        <c:ser>
          <c:idx val="2"/>
          <c:order val="2"/>
          <c:tx>
            <c:strRef>
              <c:f>Sheet1!$B$7</c:f>
              <c:strCache>
                <c:ptCount val="1"/>
                <c:pt idx="0">
                  <c:v>Conditioning and Smoothing Agents</c:v>
                </c:pt>
              </c:strCache>
            </c:strRef>
          </c:tx>
          <c:spPr>
            <a:solidFill>
              <a:srgbClr val="008189"/>
            </a:solidFill>
          </c:spPr>
          <c:invertIfNegative val="0"/>
          <c:xVal>
            <c:numRef>
              <c:f>Sheet1!$A$8:$A$8</c:f>
              <c:numCache>
                <c:formatCode>General</c:formatCode>
                <c:ptCount val="1"/>
                <c:pt idx="0">
                  <c:v>95.01585987991402</c:v>
                </c:pt>
              </c:numCache>
            </c:numRef>
          </c:xVal>
          <c:yVal>
            <c:numRef>
              <c:f>Sheet1!$B$8:$B$8</c:f>
              <c:numCache>
                <c:formatCode>General</c:formatCode>
                <c:ptCount val="1"/>
                <c:pt idx="0">
                  <c:v>99.79412958283838</c:v>
                </c:pt>
              </c:numCache>
            </c:numRef>
          </c:yVal>
          <c:bubbleSize>
            <c:numRef>
              <c:f>Sheet1!$C$8:$C$8</c:f>
              <c:numCache>
                <c:formatCode>General</c:formatCode>
                <c:ptCount val="1"/>
                <c:pt idx="0">
                  <c:v>678.0070000000001</c:v>
                </c:pt>
              </c:numCache>
            </c:numRef>
          </c:bubbleSize>
          <c:bubble3D val="0"/>
        </c:ser>
        <c:ser>
          <c:idx val="3"/>
          <c:order val="3"/>
          <c:tx>
            <c:strRef>
              <c:f>Sheet1!$B$10</c:f>
              <c:strCache>
                <c:ptCount val="1"/>
                <c:pt idx="0">
                  <c:v>Waxes and Structuring Agents</c:v>
                </c:pt>
              </c:strCache>
            </c:strRef>
          </c:tx>
          <c:spPr>
            <a:solidFill>
              <a:srgbClr val="40315E"/>
            </a:solidFill>
          </c:spPr>
          <c:invertIfNegative val="0"/>
          <c:xVal>
            <c:numRef>
              <c:f>Sheet1!$A$11:$A$11</c:f>
              <c:numCache>
                <c:formatCode>General</c:formatCode>
                <c:ptCount val="1"/>
                <c:pt idx="0">
                  <c:v>108.8828616920698</c:v>
                </c:pt>
              </c:numCache>
            </c:numRef>
          </c:xVal>
          <c:yVal>
            <c:numRef>
              <c:f>Sheet1!$B$11:$B$11</c:f>
              <c:numCache>
                <c:formatCode>General</c:formatCode>
                <c:ptCount val="1"/>
                <c:pt idx="0">
                  <c:v>95.75699589147814</c:v>
                </c:pt>
              </c:numCache>
            </c:numRef>
          </c:yVal>
          <c:bubbleSize>
            <c:numRef>
              <c:f>Sheet1!$C$11:$C$11</c:f>
              <c:numCache>
                <c:formatCode>General</c:formatCode>
                <c:ptCount val="1"/>
                <c:pt idx="0">
                  <c:v>717.636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350.796</c:v>
                </c:pt>
                <c:pt idx="2">
                  <c:v>393.889</c:v>
                </c:pt>
                <c:pt idx="3">
                  <c:v>448.895</c:v>
                </c:pt>
                <c:pt idx="4">
                  <c:v>514.997</c:v>
                </c:pt>
                <c:pt idx="5">
                  <c:v>592.075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350.796</c:v>
                </c:pt>
                <c:pt idx="1">
                  <c:v>43.09300000000002</c:v>
                </c:pt>
                <c:pt idx="2">
                  <c:v>55.00599999999997</c:v>
                </c:pt>
                <c:pt idx="3">
                  <c:v>66.10199999999998</c:v>
                </c:pt>
                <c:pt idx="4">
                  <c:v>77.07800000000009</c:v>
                </c:pt>
                <c:pt idx="5">
                  <c:v>87.98199999999997</c:v>
                </c:pt>
                <c:pt idx="6">
                  <c:v>680.057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339.405</c:v>
                </c:pt>
                <c:pt idx="2">
                  <c:v>387.553</c:v>
                </c:pt>
                <c:pt idx="3">
                  <c:v>450.823</c:v>
                </c:pt>
                <c:pt idx="4">
                  <c:v>530.1220000000001</c:v>
                </c:pt>
                <c:pt idx="5">
                  <c:v>626.633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339.405</c:v>
                </c:pt>
                <c:pt idx="1">
                  <c:v>48.148000000000025</c:v>
                </c:pt>
                <c:pt idx="2">
                  <c:v>63.26999999999998</c:v>
                </c:pt>
                <c:pt idx="3">
                  <c:v>79.29900000000009</c:v>
                </c:pt>
                <c:pt idx="4">
                  <c:v>96.51099999999997</c:v>
                </c:pt>
                <c:pt idx="5">
                  <c:v>113.1339999999999</c:v>
                </c:pt>
                <c:pt idx="6">
                  <c:v>739.7669999999999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336.89599999999996</c:v>
                </c:pt>
                <c:pt idx="2">
                  <c:v>382.73900000000003</c:v>
                </c:pt>
                <c:pt idx="3">
                  <c:v>439.548</c:v>
                </c:pt>
                <c:pt idx="4">
                  <c:v>507.03000000000003</c:v>
                </c:pt>
                <c:pt idx="5">
                  <c:v>586.7719999999999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336.89599999999996</c:v>
                </c:pt>
                <c:pt idx="1">
                  <c:v>45.843000000000075</c:v>
                </c:pt>
                <c:pt idx="2">
                  <c:v>56.80899999999997</c:v>
                </c:pt>
                <c:pt idx="3">
                  <c:v>67.48200000000003</c:v>
                </c:pt>
                <c:pt idx="4">
                  <c:v>79.7419999999999</c:v>
                </c:pt>
                <c:pt idx="5">
                  <c:v>91.23500000000013</c:v>
                </c:pt>
                <c:pt idx="6">
                  <c:v>678.0070000000001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323.267</c:v>
                </c:pt>
                <c:pt idx="2">
                  <c:v>368.601</c:v>
                </c:pt>
                <c:pt idx="3">
                  <c:v>430.222</c:v>
                </c:pt>
                <c:pt idx="4">
                  <c:v>511.489</c:v>
                </c:pt>
                <c:pt idx="5">
                  <c:v>606.9269999999999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323.267</c:v>
                </c:pt>
                <c:pt idx="1">
                  <c:v>45.334</c:v>
                </c:pt>
                <c:pt idx="2">
                  <c:v>61.62099999999998</c:v>
                </c:pt>
                <c:pt idx="3">
                  <c:v>81.267</c:v>
                </c:pt>
                <c:pt idx="4">
                  <c:v>95.43799999999993</c:v>
                </c:pt>
                <c:pt idx="5">
                  <c:v>110.70900000000006</c:v>
                </c:pt>
                <c:pt idx="6">
                  <c:v>717.636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Texture and Volume Additives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24.99087456976702</c:v>
                </c:pt>
                <c:pt idx="1">
                  <c:v>25.13433414990328</c:v>
                </c:pt>
                <c:pt idx="2">
                  <c:v>26.275108179211475</c:v>
                </c:pt>
              </c:numCache>
            </c:numRef>
          </c:val>
        </c:ser>
        <c:ser>
          <c:idx val="1"/>
          <c:order val="1"/>
          <c:tx>
            <c:strRef>
              <c:f>Sheet1!$C$1</c:f>
              <c:strCache>
                <c:ptCount val="1"/>
                <c:pt idx="0">
                  <c:v>Waxes and Structuring Agents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24.09237802023074</c:v>
                </c:pt>
                <c:pt idx="1">
                  <c:v>23.939248972869535</c:v>
                </c:pt>
                <c:pt idx="2">
                  <c:v>25.48905741036922</c:v>
                </c:pt>
              </c:numCache>
            </c:numRef>
          </c:val>
        </c:ser>
        <c:ser>
          <c:idx val="2"/>
          <c:order val="2"/>
          <c:tx>
            <c:strRef>
              <c:f>Sheet1!$D$1</c:f>
              <c:strCache>
                <c:ptCount val="1"/>
                <c:pt idx="0">
                  <c:v>Film-forming and Fixative Polymers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26.27407250273763</c:v>
                </c:pt>
                <c:pt idx="1">
                  <c:v>25.977884481517577</c:v>
                </c:pt>
                <c:pt idx="2">
                  <c:v>24.154323243710547</c:v>
                </c:pt>
              </c:numCache>
            </c:numRef>
          </c:val>
        </c:ser>
        <c:ser>
          <c:idx val="3"/>
          <c:order val="3"/>
          <c:tx>
            <c:strRef>
              <c:f>Sheet1!$E$1</c:f>
              <c:strCache>
                <c:ptCount val="1"/>
                <c:pt idx="0">
                  <c:v>Conditioning and Smoothing Agents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24.642674907264606</c:v>
                </c:pt>
                <c:pt idx="1">
                  <c:v>24.948532395709595</c:v>
                </c:pt>
                <c:pt idx="2">
                  <c:v>24.081511166708758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3.5062147886085526</c:v>
                </c:pt>
                <c:pt idx="1">
                  <c:v>4.646744386955093</c:v>
                </c:pt>
                <c:pt idx="2">
                  <c:v>4.265178267237069</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1337025907807226"/>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1140.112</c:v>
                </c:pt>
                <c:pt idx="2">
                  <c:v>0.0</c:v>
                </c:pt>
                <c:pt idx="3">
                  <c:v>1354.502</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1140.112</c:v>
                </c:pt>
                <c:pt idx="1">
                  <c:v>214.38999999999987</c:v>
                </c:pt>
                <c:pt idx="2">
                  <c:v>1354.502</c:v>
                </c:pt>
                <c:pt idx="3">
                  <c:v>778.7240000000002</c:v>
                </c:pt>
                <c:pt idx="4">
                  <c:v>2133.226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4.172837014034947</c:v>
                </c:pt>
                <c:pt idx="1">
                  <c:v>6.255449919419975</c:v>
                </c:pt>
                <c:pt idx="2">
                  <c:v>5.556660095028998</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8.257193893634367"/>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2291.316</c:v>
                </c:pt>
                <c:pt idx="2">
                  <c:v>0.0</c:v>
                </c:pt>
                <c:pt idx="3">
                  <c:v>2810.978</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2291.316</c:v>
                </c:pt>
                <c:pt idx="1">
                  <c:v>519.6620000000003</c:v>
                </c:pt>
                <c:pt idx="2">
                  <c:v>2810.978</c:v>
                </c:pt>
                <c:pt idx="3">
                  <c:v>2345.6949999999997</c:v>
                </c:pt>
                <c:pt idx="4">
                  <c:v>5156.673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Sheet1!$B$2:$B$6</c:f>
              <c:numCache>
                <c:formatCode>General</c:formatCode>
                <c:ptCount val="5"/>
                <c:pt idx="0">
                  <c:v>2291.316</c:v>
                </c:pt>
                <c:pt idx="1">
                  <c:v>2382.434</c:v>
                </c:pt>
                <c:pt idx="2">
                  <c:v>2477.4</c:v>
                </c:pt>
                <c:pt idx="3">
                  <c:v>2577.3199999999997</c:v>
                </c:pt>
                <c:pt idx="4">
                  <c:v>2683.233</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Sheet1!$C$2:$C$6</c:f>
              <c:numCache>
                <c:formatCode>General</c:formatCode>
                <c:ptCount val="5"/>
                <c:pt idx="0">
                  <c:v>1140.112</c:v>
                </c:pt>
                <c:pt idx="1">
                  <c:v>1179.652</c:v>
                </c:pt>
                <c:pt idx="2">
                  <c:v>1220.382</c:v>
                </c:pt>
                <c:pt idx="3">
                  <c:v>1262.2</c:v>
                </c:pt>
                <c:pt idx="4">
                  <c:v>1306.133</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3166"/>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790"/>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2810.978</c:v>
                </c:pt>
                <c:pt idx="1">
                  <c:v>2954.88</c:v>
                </c:pt>
                <c:pt idx="2">
                  <c:v>3117.55</c:v>
                </c:pt>
                <c:pt idx="3">
                  <c:v>3301.1639999999998</c:v>
                </c:pt>
                <c:pt idx="4">
                  <c:v>3506.6540000000005</c:v>
                </c:pt>
                <c:pt idx="5">
                  <c:v>3733.05</c:v>
                </c:pt>
                <c:pt idx="6">
                  <c:v>3980.397</c:v>
                </c:pt>
                <c:pt idx="7">
                  <c:v>4246.713000000001</c:v>
                </c:pt>
                <c:pt idx="8">
                  <c:v>4532.054</c:v>
                </c:pt>
                <c:pt idx="9">
                  <c:v>4835.113</c:v>
                </c:pt>
                <c:pt idx="10">
                  <c:v>5156.673</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1354.502</c:v>
                </c:pt>
                <c:pt idx="1">
                  <c:v>1408.191</c:v>
                </c:pt>
                <c:pt idx="2">
                  <c:v>1468.0610000000001</c:v>
                </c:pt>
                <c:pt idx="3">
                  <c:v>1534.505</c:v>
                </c:pt>
                <c:pt idx="4">
                  <c:v>1607.2510000000002</c:v>
                </c:pt>
                <c:pt idx="5">
                  <c:v>1685.4279999999999</c:v>
                </c:pt>
                <c:pt idx="6">
                  <c:v>1768.496</c:v>
                </c:pt>
                <c:pt idx="7">
                  <c:v>1855.453</c:v>
                </c:pt>
                <c:pt idx="8">
                  <c:v>1945.798</c:v>
                </c:pt>
                <c:pt idx="9">
                  <c:v>2038.3870000000002</c:v>
                </c:pt>
                <c:pt idx="10">
                  <c:v>2133.226</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6085"/>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3332"/>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Sheet1!$A$2:$A$11</c:f>
              <c:strCache>
                <c:ptCount val="10"/>
                <c:pt idx="0">
                  <c:v>Switzerland</c:v>
                </c:pt>
                <c:pt idx="1">
                  <c:v>U.K.</c:v>
                </c:pt>
                <c:pt idx="2">
                  <c:v>Russia</c:v>
                </c:pt>
                <c:pt idx="3">
                  <c:v>France</c:v>
                </c:pt>
                <c:pt idx="4">
                  <c:v>Nordic</c:v>
                </c:pt>
                <c:pt idx="5">
                  <c:v>Italy</c:v>
                </c:pt>
                <c:pt idx="6">
                  <c:v>Spain</c:v>
                </c:pt>
                <c:pt idx="7">
                  <c:v>Belgium</c:v>
                </c:pt>
                <c:pt idx="8">
                  <c:v>Poland</c:v>
                </c:pt>
                <c:pt idx="9">
                  <c:v>Netherlands</c:v>
                </c:pt>
              </c:strCache>
            </c:strRef>
          </c:cat>
          <c:val>
            <c:numRef>
              <c:f>Sheet1!$B$2:$B$11</c:f>
              <c:numCache>
                <c:formatCode>General</c:formatCode>
                <c:ptCount val="10"/>
                <c:pt idx="0">
                  <c:v>84.61870562951506</c:v>
                </c:pt>
                <c:pt idx="1">
                  <c:v>92.20195738856788</c:v>
                </c:pt>
                <c:pt idx="2">
                  <c:v>100.01059498334706</c:v>
                </c:pt>
                <c:pt idx="3">
                  <c:v>100.14800976547858</c:v>
                </c:pt>
                <c:pt idx="4">
                  <c:v>100.66546771161016</c:v>
                </c:pt>
                <c:pt idx="5">
                  <c:v>102.9603997886444</c:v>
                </c:pt>
                <c:pt idx="6">
                  <c:v>112.68804249642454</c:v>
                </c:pt>
                <c:pt idx="7">
                  <c:v>119.97406401861257</c:v>
                </c:pt>
                <c:pt idx="8">
                  <c:v>123.60168812220206</c:v>
                </c:pt>
                <c:pt idx="9">
                  <c:v>124.09164511155133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Sheet1!$A$2:$A$11</c:f>
              <c:strCache>
                <c:ptCount val="10"/>
                <c:pt idx="0">
                  <c:v>Switzerland</c:v>
                </c:pt>
                <c:pt idx="1">
                  <c:v>Poland</c:v>
                </c:pt>
                <c:pt idx="2">
                  <c:v>Netherlands</c:v>
                </c:pt>
                <c:pt idx="3">
                  <c:v>Russia</c:v>
                </c:pt>
                <c:pt idx="4">
                  <c:v>Spain</c:v>
                </c:pt>
                <c:pt idx="5">
                  <c:v>Nordic</c:v>
                </c:pt>
                <c:pt idx="6">
                  <c:v>Italy</c:v>
                </c:pt>
                <c:pt idx="7">
                  <c:v>Germany</c:v>
                </c:pt>
                <c:pt idx="8">
                  <c:v>France</c:v>
                </c:pt>
                <c:pt idx="9">
                  <c:v>U.K.</c:v>
                </c:pt>
              </c:strCache>
            </c:strRef>
          </c:cat>
          <c:val>
            <c:numRef>
              <c:f>Sheet1!$B$2:$B$11</c:f>
              <c:numCache>
                <c:formatCode>General</c:formatCode>
                <c:ptCount val="10"/>
                <c:pt idx="0">
                  <c:v>2.990158567077135</c:v>
                </c:pt>
                <c:pt idx="1">
                  <c:v>3.6162842995359585</c:v>
                </c:pt>
                <c:pt idx="2">
                  <c:v>4.80910774844982</c:v>
                </c:pt>
                <c:pt idx="3">
                  <c:v>6.035737809050198</c:v>
                </c:pt>
                <c:pt idx="4">
                  <c:v>7.373678163614622</c:v>
                </c:pt>
                <c:pt idx="5">
                  <c:v>7.705818531394747</c:v>
                </c:pt>
                <c:pt idx="6">
                  <c:v>9.641023236183734</c:v>
                </c:pt>
                <c:pt idx="7">
                  <c:v>11.572050074711337</c:v>
                </c:pt>
                <c:pt idx="8">
                  <c:v>13.888037447323715</c:v>
                </c:pt>
                <c:pt idx="9">
                  <c:v>14.896693730429577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8.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Lbls>
            <c:dLbl>
              <c:idx val="0"/>
              <c:layout>
                <c:manualLayout>
                  <c:x val="0.0350"/>
                  <c:y val="0.0000"/>
                </c:manualLayout>
              </c:layout>
              <c:tx>
                <c:rich>
                  <a:bodyPr/>
                  <a:lstStyle/>
                  <a:p>
                    <a:pPr>
                      <a:defRPr sz="1100" b="1">
                        <a:solidFill>
                          <a:srgbClr val="FFFFFF"/>
                        </a:solidFill>
                        <a:latin typeface="Calibri"/>
                      </a:defRPr>
                    </a:pPr>
                    <a:r>
                      <a:t>12.2%</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6.4%</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8.4%</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11.4%</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16.2%</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11.3%</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19.4%</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14.8%</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Sheet1!$A$2:$A$9</c:f>
              <c:strCache>
                <c:ptCount val="8"/>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strCache>
            </c:strRef>
          </c:cat>
          <c:val>
            <c:numRef>
              <c:f>Sheet1!$B$2:$B$9</c:f>
              <c:numCache>
                <c:formatCode>General</c:formatCode>
                <c:ptCount val="8"/>
                <c:pt idx="0">
                  <c:v>627.603</c:v>
                </c:pt>
                <c:pt idx="1">
                  <c:v>330.214</c:v>
                </c:pt>
                <c:pt idx="2">
                  <c:v>432.107</c:v>
                </c:pt>
                <c:pt idx="3">
                  <c:v>586.092</c:v>
                </c:pt>
                <c:pt idx="4">
                  <c:v>833.222</c:v>
                </c:pt>
                <c:pt idx="5">
                  <c:v>584.235</c:v>
                </c:pt>
                <c:pt idx="6">
                  <c:v>998.122</c:v>
                </c:pt>
                <c:pt idx="7">
                  <c:v>765.078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229.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0.08352008737919091</c:v>
                </c:pt>
                <c:pt idx="1">
                  <c:v>0.08129783643247704</c:v>
                </c:pt>
                <c:pt idx="2">
                  <c:v>0.0790365986270489</c:v>
                </c:pt>
                <c:pt idx="3">
                  <c:v>0.07654143966933506</c:v>
                </c:pt>
                <c:pt idx="4">
                  <c:v>0.07524930378051899</c:v>
                </c:pt>
                <c:pt idx="5">
                  <c:v>0.07518803871682511</c:v>
                </c:pt>
                <c:pt idx="6">
                  <c:v>0.07573385473882502</c:v>
                </c:pt>
                <c:pt idx="7">
                  <c:v>0.0755890464064577</c:v>
                </c:pt>
                <c:pt idx="8">
                  <c:v>0.07425792365892733</c:v>
                </c:pt>
                <c:pt idx="9">
                  <c:v>0.07298249642384594</c:v>
                </c:pt>
                <c:pt idx="10">
                  <c:v>0.07191314258482573</c:v>
                </c:pt>
              </c:numCache>
            </c:numRef>
          </c:val>
          <c:smooth val="0"/>
        </c:ser>
        <c:ser>
          <c:idx val="1"/>
          <c:order val="1"/>
          <c:tx>
            <c:strRef>
              <c:f>Sheet1!$C$1</c: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0.05833733760014704</c:v>
                </c:pt>
                <c:pt idx="1">
                  <c:v>0.06100733760014704</c:v>
                </c:pt>
                <c:pt idx="2">
                  <c:v>0.06333733760014704</c:v>
                </c:pt>
                <c:pt idx="3">
                  <c:v>0.06533733760014704</c:v>
                </c:pt>
                <c:pt idx="4">
                  <c:v>0.06567733760014703</c:v>
                </c:pt>
                <c:pt idx="5">
                  <c:v>0.06500733760014704</c:v>
                </c:pt>
                <c:pt idx="6">
                  <c:v>0.06300733760014704</c:v>
                </c:pt>
                <c:pt idx="7">
                  <c:v>0.06067733760014704</c:v>
                </c:pt>
                <c:pt idx="8">
                  <c:v>0.05910733760014704</c:v>
                </c:pt>
                <c:pt idx="9">
                  <c:v>0.057277337600147034</c:v>
                </c:pt>
                <c:pt idx="10">
                  <c:v>0.05434733760014704</c:v>
                </c:pt>
              </c:numCache>
            </c:numRef>
          </c:val>
          <c:smooth val="0"/>
        </c:ser>
        <c:ser>
          <c:idx val="2"/>
          <c:order val="2"/>
          <c:tx>
            <c:strRef>
              <c:f>Sheet1!$D$1</c: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Sheet1!$D$2:$D$12</c:f>
              <c:numCache>
                <c:formatCode>General</c:formatCode>
                <c:ptCount val="11"/>
                <c:pt idx="0">
                  <c:v>0.046905851012515994</c:v>
                </c:pt>
                <c:pt idx="1">
                  <c:v>0.04751585101251599</c:v>
                </c:pt>
                <c:pt idx="2">
                  <c:v>0.04957585101251599</c:v>
                </c:pt>
                <c:pt idx="3">
                  <c:v>0.051055851012515995</c:v>
                </c:pt>
                <c:pt idx="4">
                  <c:v>0.049885851012516</c:v>
                </c:pt>
                <c:pt idx="5">
                  <c:v>0.048025851012515997</c:v>
                </c:pt>
                <c:pt idx="6">
                  <c:v>0.045375851012516</c:v>
                </c:pt>
                <c:pt idx="7">
                  <c:v>0.043555851012515995</c:v>
                </c:pt>
                <c:pt idx="8">
                  <c:v>0.042315851012516</c:v>
                </c:pt>
                <c:pt idx="9">
                  <c:v>0.040925851012515994</c:v>
                </c:pt>
                <c:pt idx="10">
                  <c:v>0.03976585101251599</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Rest of Europe</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15.472095669038755</c:v>
                </c:pt>
                <c:pt idx="1">
                  <c:v>16.324993226221697</c:v>
                </c:pt>
              </c:numCache>
            </c:numRef>
          </c:val>
        </c:ser>
        <c:ser>
          <c:idx val="1"/>
          <c:order val="1"/>
          <c:tx>
            <c:strRef>
              <c:f>Sheet1!$C$1</c:f>
              <c:strCache>
                <c:ptCount val="1"/>
                <c:pt idx="0">
                  <c:v>U.K.</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14.752865073019402</c:v>
                </c:pt>
                <c:pt idx="1">
                  <c:v>14.167978451415836</c:v>
                </c:pt>
              </c:numCache>
            </c:numRef>
          </c:val>
        </c:ser>
        <c:ser>
          <c:idx val="2"/>
          <c:order val="2"/>
          <c:tx>
            <c:strRef>
              <c:f>Sheet1!$D$1</c:f>
              <c:strCache>
                <c:ptCount val="1"/>
                <c:pt idx="0">
                  <c:v>Germany</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15.080365270508816</c:v>
                </c:pt>
                <c:pt idx="1">
                  <c:v>13.685469800199321</c:v>
                </c:pt>
              </c:numCache>
            </c:numRef>
          </c:val>
        </c:ser>
        <c:ser>
          <c:idx val="3"/>
          <c:order val="3"/>
          <c:tx>
            <c:strRef>
              <c:f>Sheet1!$E$1</c:f>
              <c:strCache>
                <c:ptCount val="1"/>
                <c:pt idx="0">
                  <c:v>France</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12.28162654493936</c:v>
                </c:pt>
                <c:pt idx="1">
                  <c:v>12.047762403045901</c:v>
                </c:pt>
              </c:numCache>
            </c:numRef>
          </c:val>
        </c:ser>
        <c:ser>
          <c:idx val="4"/>
          <c:order val="4"/>
          <c:tx>
            <c:strRef>
              <c:f>Sheet1!$F$1</c:f>
              <c:strCache>
                <c:ptCount val="1"/>
                <c:pt idx="0">
                  <c:v>Italy</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9.410831869696857</c:v>
                </c:pt>
                <c:pt idx="1">
                  <c:v>9.498759156320052</c:v>
                </c:pt>
              </c:numCache>
            </c:numRef>
          </c:val>
        </c:ser>
        <c:ser>
          <c:idx val="5"/>
          <c:order val="5"/>
          <c:tx>
            <c:strRef>
              <c:f>Sheet1!$G$1</c:f>
              <c:strCache>
                <c:ptCount val="1"/>
                <c:pt idx="0">
                  <c:v>Russia</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9.082888705303716</c:v>
                </c:pt>
                <c:pt idx="1">
                  <c:v>8.869055599359843</c:v>
                </c:pt>
              </c:numCache>
            </c:numRef>
          </c:val>
        </c:ser>
        <c:ser>
          <c:idx val="6"/>
          <c:order val="6"/>
          <c:tx>
            <c:strRef>
              <c:f>Sheet1!$H$1</c:f>
              <c:strCache>
                <c:ptCount val="1"/>
                <c:pt idx="0">
                  <c:v>Spain</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Sheet1!$H$2:$H$3</c:f>
              <c:numCache>
                <c:formatCode>General</c:formatCode>
                <c:ptCount val="2"/>
                <c:pt idx="0">
                  <c:v>6.832469178731978</c:v>
                </c:pt>
                <c:pt idx="1">
                  <c:v>7.243536315420869</c:v>
                </c:pt>
              </c:numCache>
            </c:numRef>
          </c:val>
        </c:ser>
        <c:ser>
          <c:idx val="7"/>
          <c:order val="7"/>
          <c:tx>
            <c:strRef>
              <c:f>Sheet1!$I$1</c:f>
              <c:strCache>
                <c:ptCount val="1"/>
                <c:pt idx="0">
                  <c:v>Nordic</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Sheet1!$I$2:$I$3</c:f>
              <c:numCache>
                <c:formatCode>General</c:formatCode>
                <c:ptCount val="2"/>
                <c:pt idx="0">
                  <c:v>5.797772319441154</c:v>
                </c:pt>
                <c:pt idx="1">
                  <c:v>5.7555552013710685</c:v>
                </c:pt>
              </c:numCache>
            </c:numRef>
          </c:val>
        </c:ser>
        <c:ser>
          <c:idx val="8"/>
          <c:order val="8"/>
          <c:tx>
            <c:strRef>
              <c:f>Sheet1!$J$1</c:f>
              <c:strCache>
                <c:ptCount val="1"/>
                <c:pt idx="0">
                  <c:v>Poland</c:v>
                </c:pt>
              </c:strCache>
            </c:strRef>
          </c:tx>
          <c:spPr>
            <a:solidFill>
              <a:srgbClr val="0B2E4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Sheet1!$J$2:$J$3</c:f>
              <c:numCache>
                <c:formatCode>General</c:formatCode>
                <c:ptCount val="2"/>
                <c:pt idx="0">
                  <c:v>3.646503551487151</c:v>
                </c:pt>
                <c:pt idx="1">
                  <c:v>4.231103502394964</c:v>
                </c:pt>
              </c:numCache>
            </c:numRef>
          </c:val>
        </c:ser>
        <c:ser>
          <c:idx val="9"/>
          <c:order val="9"/>
          <c:tx>
            <c:strRef>
              <c:f>Sheet1!$K$1</c:f>
              <c:strCache>
                <c:ptCount val="1"/>
                <c:pt idx="0">
                  <c:v>Netherlands</c:v>
                </c:pt>
              </c:strCache>
            </c:strRef>
          </c:tx>
          <c:spPr>
            <a:solidFill>
              <a:srgbClr val="6C7A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Sheet1!$K$2:$K$3</c:f>
              <c:numCache>
                <c:formatCode>General</c:formatCode>
                <c:ptCount val="2"/>
                <c:pt idx="0">
                  <c:v>3.3331782949170288</c:v>
                </c:pt>
                <c:pt idx="1">
                  <c:v>3.7441415021193247</c:v>
                </c:pt>
              </c:numCache>
            </c:numRef>
          </c:val>
        </c:ser>
        <c:ser>
          <c:idx val="10"/>
          <c:order val="10"/>
          <c:tx>
            <c:strRef>
              <c:f>Sheet1!$L$1</c:f>
              <c:strCache>
                <c:ptCount val="1"/>
                <c:pt idx="0">
                  <c:v>Belgium</c:v>
                </c:pt>
              </c:strCache>
            </c:strRef>
          </c:tx>
          <c:spPr>
            <a:solidFill>
              <a:srgbClr val="B2B2B2"/>
            </a:solidFill>
            <a:ln>
              <a:noFill/>
            </a:ln>
          </c:spPr>
          <c:dLbls>
            <c:numFmt formatCode="0&quot;%&quot;" sourceLinked="0"/>
            <c:txPr>
              <a:bodyPr rot="0" vert="horz"/>
              <a:lstStyle/>
              <a:p>
                <a:pPr>
                  <a:defRPr sz="1100">
                    <a:solidFill>
                      <a:srgbClr val="2E2E2E"/>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Sheet1!$L$2:$L$3</c:f>
              <c:numCache>
                <c:formatCode>General</c:formatCode>
                <c:ptCount val="2"/>
                <c:pt idx="0">
                  <c:v>2.1193751508856016</c:v>
                </c:pt>
                <c:pt idx="1">
                  <c:v>2.3611187937893128</c:v>
                </c:pt>
              </c:numCache>
            </c:numRef>
          </c:val>
        </c:ser>
        <c:ser>
          <c:idx val="11"/>
          <c:order val="11"/>
          <c:tx>
            <c:strRef>
              <c:f>Sheet1!$M$1</c:f>
              <c:strCache>
                <c:ptCount val="1"/>
                <c:pt idx="0">
                  <c:v>Switzerland</c:v>
                </c:pt>
              </c:strCache>
            </c:strRef>
          </c:tx>
          <c:spPr>
            <a:solidFill>
              <a:srgbClr val="5F5F5F"/>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Sheet1!$M$2:$M$3</c:f>
              <c:numCache>
                <c:formatCode>General</c:formatCode>
                <c:ptCount val="2"/>
                <c:pt idx="0">
                  <c:v>2.190028372030184</c:v>
                </c:pt>
                <c:pt idx="1">
                  <c:v>2.070526048341807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U.K.</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16.53100806907774</c:v>
                </c:pt>
                <c:pt idx="1">
                  <c:v>15.787607935429659</c:v>
                </c:pt>
              </c:numCache>
            </c:numRef>
          </c:val>
        </c:ser>
        <c:ser>
          <c:idx val="1"/>
          <c:order val="1"/>
          <c:tx>
            <c:strRef>
              <c:f>Sheet1!$C$1</c:f>
              <c:strCache>
                <c:ptCount val="1"/>
                <c:pt idx="0">
                  <c:v>France</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13.86147454729279</c:v>
                </c:pt>
                <c:pt idx="1">
                  <c:v>13.873563002177178</c:v>
                </c:pt>
              </c:numCache>
            </c:numRef>
          </c:val>
        </c:ser>
        <c:ser>
          <c:idx val="2"/>
          <c:order val="2"/>
          <c:tx>
            <c:strRef>
              <c:f>Sheet1!$D$1</c:f>
              <c:strCache>
                <c:ptCount val="1"/>
                <c:pt idx="0">
                  <c:v>Rest of Europe</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13.066021861430436</c:v>
                </c:pt>
                <c:pt idx="1">
                  <c:v>13.771578601776222</c:v>
                </c:pt>
              </c:numCache>
            </c:numRef>
          </c:val>
        </c:ser>
        <c:ser>
          <c:idx val="3"/>
          <c:order val="3"/>
          <c:tx>
            <c:strRef>
              <c:f>Sheet1!$E$1</c:f>
              <c:strCache>
                <c:ptCount val="1"/>
                <c:pt idx="0">
                  <c:v>Germany</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15.003639302762242</c:v>
                </c:pt>
                <c:pt idx="1">
                  <c:v>13.44268424338105</c:v>
                </c:pt>
              </c:numCache>
            </c:numRef>
          </c:val>
        </c:ser>
        <c:ser>
          <c:idx val="4"/>
          <c:order val="4"/>
          <c:tx>
            <c:strRef>
              <c:f>Sheet1!$F$1</c:f>
              <c:strCache>
                <c:ptCount val="1"/>
                <c:pt idx="0">
                  <c:v>Italy</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9.282569980981707</c:v>
                </c:pt>
                <c:pt idx="1">
                  <c:v>9.445628778721774</c:v>
                </c:pt>
              </c:numCache>
            </c:numRef>
          </c:val>
        </c:ser>
        <c:ser>
          <c:idx val="5"/>
          <c:order val="5"/>
          <c:tx>
            <c:strRef>
              <c:f>Sheet1!$G$1</c:f>
              <c:strCache>
                <c:ptCount val="1"/>
                <c:pt idx="0">
                  <c:v>Nordic</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7.6398676901775815</c:v>
                </c:pt>
                <c:pt idx="1">
                  <c:v>7.669890128728399</c:v>
                </c:pt>
              </c:numCache>
            </c:numRef>
          </c:val>
        </c:ser>
        <c:ser>
          <c:idx val="6"/>
          <c:order val="6"/>
          <c:tx>
            <c:strRef>
              <c:f>Sheet1!$H$1</c:f>
              <c:strCache>
                <c:ptCount val="1"/>
                <c:pt idx="0">
                  <c:v>Spain</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Sheet1!$H$2:$H$3</c:f>
              <c:numCache>
                <c:formatCode>General</c:formatCode>
                <c:ptCount val="2"/>
                <c:pt idx="0">
                  <c:v>6.303073165282688</c:v>
                </c:pt>
                <c:pt idx="1">
                  <c:v>6.790097720021307</c:v>
                </c:pt>
              </c:numCache>
            </c:numRef>
          </c:val>
        </c:ser>
        <c:ser>
          <c:idx val="7"/>
          <c:order val="7"/>
          <c:tx>
            <c:strRef>
              <c:f>Sheet1!$I$1</c:f>
              <c:strCache>
                <c:ptCount val="1"/>
                <c:pt idx="0">
                  <c:v>Russia</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Sheet1!$I$2:$I$3</c:f>
              <c:numCache>
                <c:formatCode>General</c:formatCode>
                <c:ptCount val="2"/>
                <c:pt idx="0">
                  <c:v>6.0349102696641514</c:v>
                </c:pt>
                <c:pt idx="1">
                  <c:v>6.035289045975592</c:v>
                </c:pt>
              </c:numCache>
            </c:numRef>
          </c:val>
        </c:ser>
        <c:ser>
          <c:idx val="8"/>
          <c:order val="8"/>
          <c:tx>
            <c:strRef>
              <c:f>Sheet1!$J$1</c:f>
              <c:strCache>
                <c:ptCount val="1"/>
                <c:pt idx="0">
                  <c:v>Netherlands</c:v>
                </c:pt>
              </c:strCache>
            </c:strRef>
          </c:tx>
          <c:spPr>
            <a:solidFill>
              <a:srgbClr val="0B2E4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Sheet1!$J$2:$J$3</c:f>
              <c:numCache>
                <c:formatCode>General</c:formatCode>
                <c:ptCount val="2"/>
                <c:pt idx="0">
                  <c:v>3.60920647546868</c:v>
                </c:pt>
                <c:pt idx="1">
                  <c:v>4.155006204584314</c:v>
                </c:pt>
              </c:numCache>
            </c:numRef>
          </c:val>
        </c:ser>
        <c:ser>
          <c:idx val="9"/>
          <c:order val="9"/>
          <c:tx>
            <c:strRef>
              <c:f>Sheet1!$K$1</c:f>
              <c:strCache>
                <c:ptCount val="1"/>
                <c:pt idx="0">
                  <c:v>Switzerland</c:v>
                </c:pt>
              </c:strCache>
            </c:strRef>
          </c:tx>
          <c:spPr>
            <a:solidFill>
              <a:srgbClr val="6C7A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Sheet1!$K$2:$K$3</c:f>
              <c:numCache>
                <c:formatCode>General</c:formatCode>
                <c:ptCount val="2"/>
                <c:pt idx="0">
                  <c:v>3.696862800064604</c:v>
                </c:pt>
                <c:pt idx="1">
                  <c:v>3.3753753148106593</c:v>
                </c:pt>
              </c:numCache>
            </c:numRef>
          </c:val>
        </c:ser>
        <c:ser>
          <c:idx val="10"/>
          <c:order val="10"/>
          <c:tx>
            <c:strRef>
              <c:f>Sheet1!$L$1</c:f>
              <c:strCache>
                <c:ptCount val="1"/>
                <c:pt idx="0">
                  <c:v>Poland</c:v>
                </c:pt>
              </c:strCache>
            </c:strRef>
          </c:tx>
          <c:spPr>
            <a:solidFill>
              <a:srgbClr val="B2B2B2"/>
            </a:solidFill>
            <a:ln>
              <a:noFill/>
            </a:ln>
          </c:spPr>
          <c:dLbls>
            <c:numFmt formatCode="0&quot;%&quot;" sourceLinked="0"/>
            <c:txPr>
              <a:bodyPr rot="0" vert="horz"/>
              <a:lstStyle/>
              <a:p>
                <a:pPr>
                  <a:defRPr sz="1100">
                    <a:solidFill>
                      <a:srgbClr val="2E2E2E"/>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Sheet1!$L$2:$L$3</c:f>
              <c:numCache>
                <c:formatCode>General</c:formatCode>
                <c:ptCount val="2"/>
                <c:pt idx="0">
                  <c:v>2.7286588511187206</c:v>
                </c:pt>
                <c:pt idx="1">
                  <c:v>3.1324666630855447</c:v>
                </c:pt>
              </c:numCache>
            </c:numRef>
          </c:val>
        </c:ser>
        <c:ser>
          <c:idx val="11"/>
          <c:order val="11"/>
          <c:tx>
            <c:strRef>
              <c:f>Sheet1!$M$1</c:f>
              <c:strCache>
                <c:ptCount val="1"/>
                <c:pt idx="0">
                  <c:v>Belgium</c:v>
                </c:pt>
              </c:strCache>
            </c:strRef>
          </c:tx>
          <c:spPr>
            <a:solidFill>
              <a:srgbClr val="5F5F5F"/>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Sheet1!$M$2:$M$3</c:f>
              <c:numCache>
                <c:formatCode>General</c:formatCode>
                <c:ptCount val="2"/>
                <c:pt idx="0">
                  <c:v>2.2427069866786575</c:v>
                </c:pt>
                <c:pt idx="1">
                  <c:v>2.520812361308294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Germany</c:v>
                </c:pt>
              </c:strCache>
            </c:strRef>
          </c:tx>
          <c:spPr>
            <a:solidFill>
              <a:srgbClr val="3D85C6"/>
            </a:solidFill>
            <a:ln>
              <a:noFill/>
            </a:ln>
          </c:spPr>
          <c:dLbls>
            <c:dLbl>
              <c:idx val="0"/>
              <c:tx>
                <c:rich>
                  <a:bodyPr/>
                  <a:lstStyle/>
                  <a:p>
                    <a:r>
                      <a:rPr sz="1100">
                        <a:solidFill>
                          <a:srgbClr val="FFFFFF"/>
                        </a:solidFill>
                        <a:latin typeface="Calibri"/>
                      </a:rPr>
                      <a:t>179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211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218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225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234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242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252</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262</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272</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282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292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178.523</c:v>
                </c:pt>
                <c:pt idx="1">
                  <c:v>183.339</c:v>
                </c:pt>
                <c:pt idx="2">
                  <c:v>188.266</c:v>
                </c:pt>
                <c:pt idx="3">
                  <c:v>193.289</c:v>
                </c:pt>
                <c:pt idx="4">
                  <c:v>198.532</c:v>
                </c:pt>
                <c:pt idx="5">
                  <c:v>204.264</c:v>
                </c:pt>
                <c:pt idx="6">
                  <c:v>210.578</c:v>
                </c:pt>
                <c:pt idx="7">
                  <c:v>217.563</c:v>
                </c:pt>
                <c:pt idx="8">
                  <c:v>225.252</c:v>
                </c:pt>
                <c:pt idx="9">
                  <c:v>233.599</c:v>
                </c:pt>
                <c:pt idx="10">
                  <c:v>242.492</c:v>
                </c:pt>
                <c:pt idx="11">
                  <c:v>251.854</c:v>
                </c:pt>
                <c:pt idx="12">
                  <c:v>261.556</c:v>
                </c:pt>
                <c:pt idx="13">
                  <c:v>271.537</c:v>
                </c:pt>
                <c:pt idx="14">
                  <c:v>281.666</c:v>
                </c:pt>
                <c:pt idx="15">
                  <c:v>291.942</c:v>
                </c:pt>
              </c:numCache>
            </c:numRef>
          </c:val>
        </c:ser>
        <c:ser>
          <c:idx val="1"/>
          <c:order val="1"/>
          <c:tx>
            <c:strRef>
              <c:f>Sheet1!$C$1</c:f>
              <c:strCache>
                <c:ptCount val="1"/>
                <c:pt idx="0">
                  <c:v>Rest of Europe</c:v>
                </c:pt>
              </c:strCache>
            </c:strRef>
          </c:tx>
          <c:spPr>
            <a:solidFill>
              <a:srgbClr val="9E7E0A"/>
            </a:solidFill>
            <a:ln>
              <a:noFill/>
            </a:ln>
          </c:spPr>
          <c:dLbls>
            <c:dLbl>
              <c:idx val="0"/>
              <c:tx>
                <c:rich>
                  <a:bodyPr/>
                  <a:lstStyle/>
                  <a:p>
                    <a:r>
                      <a:rPr sz="1100">
                        <a:solidFill>
                          <a:srgbClr val="FFFFFF"/>
                        </a:solidFill>
                        <a:latin typeface="Calibri"/>
                      </a:rPr>
                      <a:t>172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210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219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229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241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254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268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283</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298</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314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331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348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172.47</c:v>
                </c:pt>
                <c:pt idx="1">
                  <c:v>179.257</c:v>
                </c:pt>
                <c:pt idx="2">
                  <c:v>186.278</c:v>
                </c:pt>
                <c:pt idx="3">
                  <c:v>193.514</c:v>
                </c:pt>
                <c:pt idx="4">
                  <c:v>201.145</c:v>
                </c:pt>
                <c:pt idx="5">
                  <c:v>209.57</c:v>
                </c:pt>
                <c:pt idx="6">
                  <c:v>218.953</c:v>
                </c:pt>
                <c:pt idx="7">
                  <c:v>229.451</c:v>
                </c:pt>
                <c:pt idx="8">
                  <c:v>241.139</c:v>
                </c:pt>
                <c:pt idx="9">
                  <c:v>253.976</c:v>
                </c:pt>
                <c:pt idx="10">
                  <c:v>267.827</c:v>
                </c:pt>
                <c:pt idx="11">
                  <c:v>282.607</c:v>
                </c:pt>
                <c:pt idx="12">
                  <c:v>298.151</c:v>
                </c:pt>
                <c:pt idx="13">
                  <c:v>314.375</c:v>
                </c:pt>
                <c:pt idx="14">
                  <c:v>331.074</c:v>
                </c:pt>
                <c:pt idx="15">
                  <c:v>348.249</c:v>
                </c:pt>
              </c:numCache>
            </c:numRef>
          </c:val>
        </c:ser>
        <c:ser>
          <c:idx val="2"/>
          <c:order val="2"/>
          <c:tx>
            <c:strRef>
              <c:f>Sheet1!$D$1</c:f>
              <c:strCache>
                <c:ptCount val="1"/>
                <c:pt idx="0">
                  <c:v>U.K.</c:v>
                </c:pt>
              </c:strCache>
            </c:strRef>
          </c:tx>
          <c:spPr>
            <a:solidFill>
              <a:srgbClr val="008189"/>
            </a:solidFill>
            <a:ln>
              <a:noFill/>
            </a:ln>
          </c:spPr>
          <c:dLbls>
            <c:dLbl>
              <c:idx val="0"/>
              <c:tx>
                <c:rich>
                  <a:bodyPr/>
                  <a:lstStyle/>
                  <a:p>
                    <a:r>
                      <a:rPr sz="1100">
                        <a:solidFill>
                          <a:srgbClr val="FFFFFF"/>
                        </a:solidFill>
                        <a:latin typeface="Calibri"/>
                      </a:rPr>
                      <a:t>171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187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215</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224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234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244</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255</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266</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278</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290</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302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170.738</c:v>
                </c:pt>
                <c:pt idx="1">
                  <c:v>176.141</c:v>
                </c:pt>
                <c:pt idx="2">
                  <c:v>181.689</c:v>
                </c:pt>
                <c:pt idx="3">
                  <c:v>187.365</c:v>
                </c:pt>
                <c:pt idx="4">
                  <c:v>193.308</c:v>
                </c:pt>
                <c:pt idx="5">
                  <c:v>199.828</c:v>
                </c:pt>
                <c:pt idx="6">
                  <c:v>207.039</c:v>
                </c:pt>
                <c:pt idx="7">
                  <c:v>215.048</c:v>
                </c:pt>
                <c:pt idx="8">
                  <c:v>223.903</c:v>
                </c:pt>
                <c:pt idx="9">
                  <c:v>233.561</c:v>
                </c:pt>
                <c:pt idx="10">
                  <c:v>243.899</c:v>
                </c:pt>
                <c:pt idx="11">
                  <c:v>254.834</c:v>
                </c:pt>
                <c:pt idx="12">
                  <c:v>266.22</c:v>
                </c:pt>
                <c:pt idx="13">
                  <c:v>277.993</c:v>
                </c:pt>
                <c:pt idx="14">
                  <c:v>289.998</c:v>
                </c:pt>
                <c:pt idx="15">
                  <c:v>302.235</c:v>
                </c:pt>
              </c:numCache>
            </c:numRef>
          </c:val>
        </c:ser>
        <c:ser>
          <c:idx val="3"/>
          <c:order val="3"/>
          <c:tx>
            <c:strRef>
              <c:f>Sheet1!$E$1</c:f>
              <c:strCache>
                <c:ptCount val="1"/>
                <c:pt idx="0">
                  <c:v>France</c:v>
                </c:pt>
              </c:strCache>
            </c:strRef>
          </c:tx>
          <c:spPr>
            <a:solidFill>
              <a:srgbClr val="40315E"/>
            </a:solidFill>
            <a:ln>
              <a:noFill/>
            </a:ln>
          </c:spPr>
          <c:dLbls>
            <c:dLbl>
              <c:idx val="0"/>
              <c:tx>
                <c:rich>
                  <a:bodyPr/>
                  <a:lstStyle/>
                  <a:p>
                    <a:r>
                      <a:rPr sz="1100">
                        <a:solidFill>
                          <a:srgbClr val="FFFFFF"/>
                        </a:solidFill>
                        <a:latin typeface="Calibri"/>
                      </a:rPr>
                      <a:t>141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173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180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188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196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205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215</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225</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235</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246</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257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140.947</c:v>
                </c:pt>
                <c:pt idx="1">
                  <c:v>145.672</c:v>
                </c:pt>
                <c:pt idx="2">
                  <c:v>150.517</c:v>
                </c:pt>
                <c:pt idx="3">
                  <c:v>155.47</c:v>
                </c:pt>
                <c:pt idx="4">
                  <c:v>160.654</c:v>
                </c:pt>
                <c:pt idx="5">
                  <c:v>166.355</c:v>
                </c:pt>
                <c:pt idx="6">
                  <c:v>172.674</c:v>
                </c:pt>
                <c:pt idx="7">
                  <c:v>179.712</c:v>
                </c:pt>
                <c:pt idx="8">
                  <c:v>187.516</c:v>
                </c:pt>
                <c:pt idx="9">
                  <c:v>196.048</c:v>
                </c:pt>
                <c:pt idx="10">
                  <c:v>205.19</c:v>
                </c:pt>
                <c:pt idx="11">
                  <c:v>214.871</c:v>
                </c:pt>
                <c:pt idx="12">
                  <c:v>224.966</c:v>
                </c:pt>
                <c:pt idx="13">
                  <c:v>235.418</c:v>
                </c:pt>
                <c:pt idx="14">
                  <c:v>246.098</c:v>
                </c:pt>
                <c:pt idx="15">
                  <c:v>257.006</c:v>
                </c:pt>
              </c:numCache>
            </c:numRef>
          </c:val>
        </c:ser>
        <c:ser>
          <c:idx val="4"/>
          <c:order val="4"/>
          <c:tx>
            <c:strRef>
              <c:f>Sheet1!$F$1</c:f>
              <c:strCache>
                <c:ptCount val="1"/>
                <c:pt idx="0">
                  <c:v>Italy</c:v>
                </c:pt>
              </c:strCache>
            </c:strRef>
          </c:tx>
          <c:spPr>
            <a:solidFill>
              <a:srgbClr val="A35313"/>
            </a:solidFill>
            <a:ln>
              <a:noFill/>
            </a:ln>
          </c:spPr>
          <c:dLbls>
            <c:dLbl>
              <c:idx val="6"/>
              <c:tx>
                <c:rich>
                  <a:bodyPr/>
                  <a:lstStyle/>
                  <a:p>
                    <a:r>
                      <a:rPr sz="1100">
                        <a:solidFill>
                          <a:srgbClr val="FFFFFF"/>
                        </a:solidFill>
                        <a:latin typeface="Calibri"/>
                      </a:rPr>
                      <a:t>133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138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152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159</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167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176</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185</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193</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203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106.67</c:v>
                </c:pt>
                <c:pt idx="1">
                  <c:v>110.5</c:v>
                </c:pt>
                <c:pt idx="2">
                  <c:v>114.451</c:v>
                </c:pt>
                <c:pt idx="3">
                  <c:v>118.51</c:v>
                </c:pt>
                <c:pt idx="4">
                  <c:v>122.777</c:v>
                </c:pt>
                <c:pt idx="5">
                  <c:v>127.47</c:v>
                </c:pt>
                <c:pt idx="6">
                  <c:v>132.673</c:v>
                </c:pt>
                <c:pt idx="7">
                  <c:v>138.468</c:v>
                </c:pt>
                <c:pt idx="8">
                  <c:v>144.889</c:v>
                </c:pt>
                <c:pt idx="9">
                  <c:v>151.906</c:v>
                </c:pt>
                <c:pt idx="10">
                  <c:v>159.443</c:v>
                </c:pt>
                <c:pt idx="11">
                  <c:v>167.452</c:v>
                </c:pt>
                <c:pt idx="12">
                  <c:v>175.839</c:v>
                </c:pt>
                <c:pt idx="13">
                  <c:v>184.555</c:v>
                </c:pt>
                <c:pt idx="14">
                  <c:v>193.485</c:v>
                </c:pt>
                <c:pt idx="15">
                  <c:v>202.63</c:v>
                </c:pt>
              </c:numCache>
            </c:numRef>
          </c:val>
        </c:ser>
        <c:ser>
          <c:idx val="5"/>
          <c:order val="5"/>
          <c:tx>
            <c:strRef>
              <c:f>Sheet1!$G$1</c:f>
              <c:strCache>
                <c:ptCount val="1"/>
                <c:pt idx="0">
                  <c:v>Russia</c:v>
                </c:pt>
              </c:strCache>
            </c:strRef>
          </c:tx>
          <c:spPr>
            <a:solidFill>
              <a:srgbClr val="808080"/>
            </a:solidFill>
            <a:ln>
              <a:noFill/>
            </a:ln>
          </c:spPr>
          <c:dLbls>
            <c:dLbl>
              <c:idx val="7"/>
              <c:tx>
                <c:rich>
                  <a:bodyPr/>
                  <a:lstStyle/>
                  <a:p>
                    <a:r>
                      <a:rPr sz="1100">
                        <a:solidFill>
                          <a:srgbClr val="FFFFFF"/>
                        </a:solidFill>
                        <a:latin typeface="Calibri"/>
                      </a:rPr>
                      <a:t>133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138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145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151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158</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166</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173</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181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189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104.482</c:v>
                </c:pt>
                <c:pt idx="1">
                  <c:v>107.917</c:v>
                </c:pt>
                <c:pt idx="2">
                  <c:v>111.447</c:v>
                </c:pt>
                <c:pt idx="3">
                  <c:v>115.065</c:v>
                </c:pt>
                <c:pt idx="4">
                  <c:v>118.858</c:v>
                </c:pt>
                <c:pt idx="5">
                  <c:v>123.028</c:v>
                </c:pt>
                <c:pt idx="6">
                  <c:v>127.648</c:v>
                </c:pt>
                <c:pt idx="7">
                  <c:v>132.789</c:v>
                </c:pt>
                <c:pt idx="8">
                  <c:v>138.484</c:v>
                </c:pt>
                <c:pt idx="9">
                  <c:v>144.709</c:v>
                </c:pt>
                <c:pt idx="10">
                  <c:v>151.381</c:v>
                </c:pt>
                <c:pt idx="11">
                  <c:v>158.449</c:v>
                </c:pt>
                <c:pt idx="12">
                  <c:v>165.819</c:v>
                </c:pt>
                <c:pt idx="13">
                  <c:v>173.449</c:v>
                </c:pt>
                <c:pt idx="14">
                  <c:v>181.242</c:v>
                </c:pt>
                <c:pt idx="15">
                  <c:v>189.197</c:v>
                </c:pt>
              </c:numCache>
            </c:numRef>
          </c:val>
        </c:ser>
        <c:ser>
          <c:idx val="6"/>
          <c:order val="6"/>
          <c:tx>
            <c:strRef>
              <c:f>Sheet1!$H$1</c:f>
              <c:strCache>
                <c:ptCount val="1"/>
                <c:pt idx="0">
                  <c:v>Spain</c:v>
                </c:pt>
              </c:strCache>
            </c:strRef>
          </c:tx>
          <c:spPr>
            <a:solidFill>
              <a:srgbClr val="0E72AE"/>
            </a:solidFill>
            <a:ln>
              <a:noFill/>
            </a:ln>
          </c:spPr>
          <c:dLbls>
            <c:dLbl>
              <c:idx val="12"/>
              <c:tx>
                <c:rich>
                  <a:bodyPr/>
                  <a:lstStyle/>
                  <a:p>
                    <a:r>
                      <a:rPr sz="1100">
                        <a:solidFill>
                          <a:srgbClr val="FFFFFF"/>
                        </a:solidFill>
                        <a:latin typeface="Calibri"/>
                      </a:rPr>
                      <a:t>132</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139</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147</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155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Sheet1!$H$2:$H$17</c:f>
              <c:numCache>
                <c:formatCode>General</c:formatCode>
                <c:ptCount val="16"/>
                <c:pt idx="0">
                  <c:v>76.144</c:v>
                </c:pt>
                <c:pt idx="1">
                  <c:v>79.147</c:v>
                </c:pt>
                <c:pt idx="2">
                  <c:v>82.249</c:v>
                </c:pt>
                <c:pt idx="3">
                  <c:v>85.446</c:v>
                </c:pt>
                <c:pt idx="4">
                  <c:v>88.817</c:v>
                </c:pt>
                <c:pt idx="5">
                  <c:v>92.546</c:v>
                </c:pt>
                <c:pt idx="6">
                  <c:v>96.706</c:v>
                </c:pt>
                <c:pt idx="7">
                  <c:v>101.371</c:v>
                </c:pt>
                <c:pt idx="8">
                  <c:v>106.575</c:v>
                </c:pt>
                <c:pt idx="9">
                  <c:v>112.302</c:v>
                </c:pt>
                <c:pt idx="10">
                  <c:v>118.49</c:v>
                </c:pt>
                <c:pt idx="11">
                  <c:v>125.102</c:v>
                </c:pt>
                <c:pt idx="12">
                  <c:v>132.063</c:v>
                </c:pt>
                <c:pt idx="13">
                  <c:v>139.332</c:v>
                </c:pt>
                <c:pt idx="14">
                  <c:v>146.818</c:v>
                </c:pt>
                <c:pt idx="15">
                  <c:v>154.521</c:v>
                </c:pt>
              </c:numCache>
            </c:numRef>
          </c:val>
        </c:ser>
        <c:ser>
          <c:idx val="7"/>
          <c:order val="7"/>
          <c:tx>
            <c:strRef>
              <c:f>Sheet1!$I$1</c:f>
              <c:strCache>
                <c:ptCount val="1"/>
                <c:pt idx="0">
                  <c:v>Nordic</c:v>
                </c:pt>
              </c:strCache>
            </c:strRef>
          </c:tx>
          <c:spPr>
            <a:solidFill>
              <a:srgbClr val="A86F00"/>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Sheet1!$I$2:$I$17</c:f>
              <c:numCache>
                <c:formatCode>General</c:formatCode>
                <c:ptCount val="16"/>
                <c:pt idx="0">
                  <c:v>66.228</c:v>
                </c:pt>
                <c:pt idx="1">
                  <c:v>68.497</c:v>
                </c:pt>
                <c:pt idx="2">
                  <c:v>70.834</c:v>
                </c:pt>
                <c:pt idx="3">
                  <c:v>73.234</c:v>
                </c:pt>
                <c:pt idx="4">
                  <c:v>75.756</c:v>
                </c:pt>
                <c:pt idx="5">
                  <c:v>78.531</c:v>
                </c:pt>
                <c:pt idx="6">
                  <c:v>81.606</c:v>
                </c:pt>
                <c:pt idx="7">
                  <c:v>85.028</c:v>
                </c:pt>
                <c:pt idx="8">
                  <c:v>88.821</c:v>
                </c:pt>
                <c:pt idx="9">
                  <c:v>92.971</c:v>
                </c:pt>
                <c:pt idx="10">
                  <c:v>97.426</c:v>
                </c:pt>
                <c:pt idx="11">
                  <c:v>102.153</c:v>
                </c:pt>
                <c:pt idx="12">
                  <c:v>107.087</c:v>
                </c:pt>
                <c:pt idx="13">
                  <c:v>112.202</c:v>
                </c:pt>
                <c:pt idx="14">
                  <c:v>117.433</c:v>
                </c:pt>
                <c:pt idx="15">
                  <c:v>122.779</c:v>
                </c:pt>
              </c:numCache>
            </c:numRef>
          </c:val>
        </c:ser>
        <c:ser>
          <c:idx val="8"/>
          <c:order val="8"/>
          <c:tx>
            <c:strRef>
              <c:f>Sheet1!$J$1</c:f>
              <c:strCache>
                <c:ptCount val="1"/>
                <c:pt idx="0">
                  <c:v>Poland</c:v>
                </c:pt>
              </c:strCache>
            </c:strRef>
          </c:tx>
          <c:spPr>
            <a:solidFill>
              <a:srgbClr val="0B2E4A"/>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Sheet1!$J$2:$J$17</c:f>
              <c:numCache>
                <c:formatCode>General</c:formatCode>
                <c:ptCount val="16"/>
                <c:pt idx="0">
                  <c:v>39.087</c:v>
                </c:pt>
                <c:pt idx="1">
                  <c:v>40.942</c:v>
                </c:pt>
                <c:pt idx="2">
                  <c:v>42.877</c:v>
                </c:pt>
                <c:pt idx="3">
                  <c:v>44.887</c:v>
                </c:pt>
                <c:pt idx="4">
                  <c:v>47.021</c:v>
                </c:pt>
                <c:pt idx="5">
                  <c:v>49.392</c:v>
                </c:pt>
                <c:pt idx="6">
                  <c:v>52.049</c:v>
                </c:pt>
                <c:pt idx="7">
                  <c:v>55.045</c:v>
                </c:pt>
                <c:pt idx="8">
                  <c:v>58.403</c:v>
                </c:pt>
                <c:pt idx="9">
                  <c:v>62.117</c:v>
                </c:pt>
                <c:pt idx="10">
                  <c:v>66.154</c:v>
                </c:pt>
                <c:pt idx="11">
                  <c:v>70.498</c:v>
                </c:pt>
                <c:pt idx="12">
                  <c:v>75.112</c:v>
                </c:pt>
                <c:pt idx="13">
                  <c:v>79.972</c:v>
                </c:pt>
                <c:pt idx="14">
                  <c:v>85.021</c:v>
                </c:pt>
                <c:pt idx="15">
                  <c:v>90.259</c:v>
                </c:pt>
              </c:numCache>
            </c:numRef>
          </c:val>
        </c:ser>
        <c:ser>
          <c:idx val="9"/>
          <c:order val="9"/>
          <c:tx>
            <c:strRef>
              <c:f>Sheet1!$K$1</c:f>
              <c:strCache>
                <c:ptCount val="1"/>
                <c:pt idx="0">
                  <c:v>Netherlands</c:v>
                </c:pt>
              </c:strCache>
            </c:strRef>
          </c:tx>
          <c:spPr>
            <a:solidFill>
              <a:srgbClr val="6C7A89"/>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Sheet1!$K$2:$K$17</c:f>
              <c:numCache>
                <c:formatCode>General</c:formatCode>
                <c:ptCount val="16"/>
                <c:pt idx="0">
                  <c:v>36.203</c:v>
                </c:pt>
                <c:pt idx="1">
                  <c:v>37.827</c:v>
                </c:pt>
                <c:pt idx="2">
                  <c:v>39.513</c:v>
                </c:pt>
                <c:pt idx="3">
                  <c:v>41.257</c:v>
                </c:pt>
                <c:pt idx="4">
                  <c:v>43.102</c:v>
                </c:pt>
                <c:pt idx="5">
                  <c:v>45.148</c:v>
                </c:pt>
                <c:pt idx="6">
                  <c:v>47.436</c:v>
                </c:pt>
                <c:pt idx="7">
                  <c:v>50.01</c:v>
                </c:pt>
                <c:pt idx="8">
                  <c:v>52.89</c:v>
                </c:pt>
                <c:pt idx="9">
                  <c:v>56.069</c:v>
                </c:pt>
                <c:pt idx="10">
                  <c:v>59.514</c:v>
                </c:pt>
                <c:pt idx="11">
                  <c:v>63.21</c:v>
                </c:pt>
                <c:pt idx="12">
                  <c:v>67.12</c:v>
                </c:pt>
                <c:pt idx="13">
                  <c:v>71.225</c:v>
                </c:pt>
                <c:pt idx="14">
                  <c:v>75.475</c:v>
                </c:pt>
                <c:pt idx="15">
                  <c:v>79.871</c:v>
                </c:pt>
              </c:numCache>
            </c:numRef>
          </c:val>
        </c:ser>
        <c:ser>
          <c:idx val="10"/>
          <c:order val="10"/>
          <c:tx>
            <c:strRef>
              <c:f>Sheet1!$L$1</c:f>
              <c:strCache>
                <c:ptCount val="1"/>
                <c:pt idx="0">
                  <c:v>Switzerland</c:v>
                </c:pt>
              </c:strCache>
            </c:strRef>
          </c:tx>
          <c:spPr>
            <a:solidFill>
              <a:srgbClr val="B2B2B2"/>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Sheet1!$L$2:$L$17</c:f>
              <c:numCache>
                <c:formatCode>General</c:formatCode>
                <c:ptCount val="16"/>
                <c:pt idx="0">
                  <c:v>25.498</c:v>
                </c:pt>
                <c:pt idx="1">
                  <c:v>26.277</c:v>
                </c:pt>
                <c:pt idx="2">
                  <c:v>27.075</c:v>
                </c:pt>
                <c:pt idx="3">
                  <c:v>27.887</c:v>
                </c:pt>
                <c:pt idx="4">
                  <c:v>28.735</c:v>
                </c:pt>
                <c:pt idx="5">
                  <c:v>29.664</c:v>
                </c:pt>
                <c:pt idx="6">
                  <c:v>30.691</c:v>
                </c:pt>
                <c:pt idx="7">
                  <c:v>31.832</c:v>
                </c:pt>
                <c:pt idx="8">
                  <c:v>33.093</c:v>
                </c:pt>
                <c:pt idx="9">
                  <c:v>34.467</c:v>
                </c:pt>
                <c:pt idx="10">
                  <c:v>35.936</c:v>
                </c:pt>
                <c:pt idx="11">
                  <c:v>37.485</c:v>
                </c:pt>
                <c:pt idx="12">
                  <c:v>39.095</c:v>
                </c:pt>
                <c:pt idx="13">
                  <c:v>40.757</c:v>
                </c:pt>
                <c:pt idx="14">
                  <c:v>42.448</c:v>
                </c:pt>
                <c:pt idx="15">
                  <c:v>44.169</c:v>
                </c:pt>
              </c:numCache>
            </c:numRef>
          </c:val>
        </c:ser>
        <c:ser>
          <c:idx val="11"/>
          <c:order val="11"/>
          <c:tx>
            <c:strRef>
              <c:f>Sheet1!$M$1</c:f>
              <c:strCache>
                <c:ptCount val="1"/>
                <c:pt idx="0">
                  <c:v>Belgium</c:v>
                </c:pt>
              </c:strCache>
            </c:strRef>
          </c:tx>
          <c:spPr>
            <a:solidFill>
              <a:srgbClr val="5F5F5F"/>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Sheet1!$M$2:$M$17</c:f>
              <c:numCache>
                <c:formatCode>General</c:formatCode>
                <c:ptCount val="16"/>
                <c:pt idx="0">
                  <c:v>23.121</c:v>
                </c:pt>
                <c:pt idx="1">
                  <c:v>24.135</c:v>
                </c:pt>
                <c:pt idx="2">
                  <c:v>25.187</c:v>
                </c:pt>
                <c:pt idx="3">
                  <c:v>26.276</c:v>
                </c:pt>
                <c:pt idx="4">
                  <c:v>27.429</c:v>
                </c:pt>
                <c:pt idx="5">
                  <c:v>28.707</c:v>
                </c:pt>
                <c:pt idx="6">
                  <c:v>30.136</c:v>
                </c:pt>
                <c:pt idx="7">
                  <c:v>31.744</c:v>
                </c:pt>
                <c:pt idx="8">
                  <c:v>33.542</c:v>
                </c:pt>
                <c:pt idx="9">
                  <c:v>35.526</c:v>
                </c:pt>
                <c:pt idx="10">
                  <c:v>37.677</c:v>
                </c:pt>
                <c:pt idx="11">
                  <c:v>39.984</c:v>
                </c:pt>
                <c:pt idx="12">
                  <c:v>42.423</c:v>
                </c:pt>
                <c:pt idx="13">
                  <c:v>44.983</c:v>
                </c:pt>
                <c:pt idx="14">
                  <c:v>47.631</c:v>
                </c:pt>
                <c:pt idx="15">
                  <c:v>50.368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U.K.</c:v>
                </c:pt>
              </c:strCache>
            </c:strRef>
          </c:tx>
          <c:spPr>
            <a:solidFill>
              <a:srgbClr val="3D85C6"/>
            </a:solidFill>
            <a:ln>
              <a:noFill/>
            </a:ln>
          </c:spPr>
          <c:dLbls>
            <c:dLbl>
              <c:idx val="0"/>
              <c:tx>
                <c:rich>
                  <a:bodyPr/>
                  <a:lstStyle/>
                  <a:p>
                    <a:r>
                      <a:rPr sz="1100">
                        <a:solidFill>
                          <a:srgbClr val="FFFFFF"/>
                        </a:solidFill>
                        <a:latin typeface="Calibri"/>
                      </a:rPr>
                      <a:t>385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399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413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429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445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465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487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511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539</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570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604</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641</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680</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722</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767</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814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384.611</c:v>
                </c:pt>
                <c:pt idx="1">
                  <c:v>398.738</c:v>
                </c:pt>
                <c:pt idx="2">
                  <c:v>413.427</c:v>
                </c:pt>
                <c:pt idx="3">
                  <c:v>428.831</c:v>
                </c:pt>
                <c:pt idx="4">
                  <c:v>445.119</c:v>
                </c:pt>
                <c:pt idx="5">
                  <c:v>464.683</c:v>
                </c:pt>
                <c:pt idx="6">
                  <c:v>486.654</c:v>
                </c:pt>
                <c:pt idx="7">
                  <c:v>511.358</c:v>
                </c:pt>
                <c:pt idx="8">
                  <c:v>539.04</c:v>
                </c:pt>
                <c:pt idx="9">
                  <c:v>569.9</c:v>
                </c:pt>
                <c:pt idx="10">
                  <c:v>603.725</c:v>
                </c:pt>
                <c:pt idx="11">
                  <c:v>640.584</c:v>
                </c:pt>
                <c:pt idx="12">
                  <c:v>680.145</c:v>
                </c:pt>
                <c:pt idx="13">
                  <c:v>722.363</c:v>
                </c:pt>
                <c:pt idx="14">
                  <c:v>766.956</c:v>
                </c:pt>
                <c:pt idx="15">
                  <c:v>814.115</c:v>
                </c:pt>
              </c:numCache>
            </c:numRef>
          </c:val>
        </c:ser>
        <c:ser>
          <c:idx val="1"/>
          <c:order val="1"/>
          <c:tx>
            <c:strRef>
              <c:f>Sheet1!$C$1</c:f>
              <c:strCache>
                <c:ptCount val="1"/>
                <c:pt idx="0">
                  <c:v>Germany</c:v>
                </c:pt>
              </c:strCache>
            </c:strRef>
          </c:tx>
          <c:spPr>
            <a:solidFill>
              <a:srgbClr val="9E7E0A"/>
            </a:solidFill>
            <a:ln>
              <a:noFill/>
            </a:ln>
          </c:spPr>
          <c:dLbls>
            <c:dLbl>
              <c:idx val="0"/>
              <c:tx>
                <c:rich>
                  <a:bodyPr/>
                  <a:lstStyle/>
                  <a:p>
                    <a:r>
                      <a:rPr sz="1100">
                        <a:solidFill>
                          <a:srgbClr val="FFFFFF"/>
                        </a:solidFill>
                        <a:latin typeface="Calibri"/>
                      </a:rPr>
                      <a:t>358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369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381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393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406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422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439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459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481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505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532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560</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591</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624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658</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693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357.869</c:v>
                </c:pt>
                <c:pt idx="1">
                  <c:v>369.187</c:v>
                </c:pt>
                <c:pt idx="2">
                  <c:v>380.897</c:v>
                </c:pt>
                <c:pt idx="3">
                  <c:v>393.158</c:v>
                </c:pt>
                <c:pt idx="4">
                  <c:v>406.085</c:v>
                </c:pt>
                <c:pt idx="5">
                  <c:v>421.749</c:v>
                </c:pt>
                <c:pt idx="6">
                  <c:v>439.251</c:v>
                </c:pt>
                <c:pt idx="7">
                  <c:v>458.873</c:v>
                </c:pt>
                <c:pt idx="8">
                  <c:v>480.862</c:v>
                </c:pt>
                <c:pt idx="9">
                  <c:v>505.221</c:v>
                </c:pt>
                <c:pt idx="10">
                  <c:v>531.785</c:v>
                </c:pt>
                <c:pt idx="11">
                  <c:v>560.491</c:v>
                </c:pt>
                <c:pt idx="12">
                  <c:v>591.078</c:v>
                </c:pt>
                <c:pt idx="13">
                  <c:v>623.502</c:v>
                </c:pt>
                <c:pt idx="14">
                  <c:v>657.535</c:v>
                </c:pt>
                <c:pt idx="15">
                  <c:v>693.195</c:v>
                </c:pt>
              </c:numCache>
            </c:numRef>
          </c:val>
        </c:ser>
        <c:ser>
          <c:idx val="2"/>
          <c:order val="2"/>
          <c:tx>
            <c:strRef>
              <c:f>Sheet1!$D$1</c:f>
              <c:strCache>
                <c:ptCount val="1"/>
                <c:pt idx="0">
                  <c:v>France</c:v>
                </c:pt>
              </c:strCache>
            </c:strRef>
          </c:tx>
          <c:spPr>
            <a:solidFill>
              <a:srgbClr val="008189"/>
            </a:solidFill>
            <a:ln>
              <a:noFill/>
            </a:ln>
          </c:spPr>
          <c:dLbls>
            <c:dLbl>
              <c:idx val="0"/>
              <c:tx>
                <c:rich>
                  <a:bodyPr/>
                  <a:lstStyle/>
                  <a:p>
                    <a:r>
                      <a:rPr sz="1100">
                        <a:solidFill>
                          <a:srgbClr val="FFFFFF"/>
                        </a:solidFill>
                        <a:latin typeface="Calibri"/>
                      </a:rPr>
                      <a:t>317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330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343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357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372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390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410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432</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458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486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518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552</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589</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629</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671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715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317.464</c:v>
                </c:pt>
                <c:pt idx="1">
                  <c:v>330.144</c:v>
                </c:pt>
                <c:pt idx="2">
                  <c:v>343.343</c:v>
                </c:pt>
                <c:pt idx="3">
                  <c:v>357.226</c:v>
                </c:pt>
                <c:pt idx="4">
                  <c:v>371.873</c:v>
                </c:pt>
                <c:pt idx="5">
                  <c:v>389.643</c:v>
                </c:pt>
                <c:pt idx="6">
                  <c:v>409.685</c:v>
                </c:pt>
                <c:pt idx="7">
                  <c:v>432.29</c:v>
                </c:pt>
                <c:pt idx="8">
                  <c:v>457.907</c:v>
                </c:pt>
                <c:pt idx="9">
                  <c:v>486.464</c:v>
                </c:pt>
                <c:pt idx="10">
                  <c:v>517.979</c:v>
                </c:pt>
                <c:pt idx="11">
                  <c:v>552.399</c:v>
                </c:pt>
                <c:pt idx="12">
                  <c:v>589.344</c:v>
                </c:pt>
                <c:pt idx="13">
                  <c:v>628.976</c:v>
                </c:pt>
                <c:pt idx="14">
                  <c:v>670.977</c:v>
                </c:pt>
                <c:pt idx="15">
                  <c:v>715.414</c:v>
                </c:pt>
              </c:numCache>
            </c:numRef>
          </c:val>
        </c:ser>
        <c:ser>
          <c:idx val="3"/>
          <c:order val="3"/>
          <c:tx>
            <c:strRef>
              <c:f>Sheet1!$E$1</c:f>
              <c:strCache>
                <c:ptCount val="1"/>
                <c:pt idx="0">
                  <c:v>Rest of Europe</c:v>
                </c:pt>
              </c:strCache>
            </c:strRef>
          </c:tx>
          <c:spPr>
            <a:solidFill>
              <a:srgbClr val="40315E"/>
            </a:solidFill>
            <a:ln>
              <a:noFill/>
            </a:ln>
          </c:spPr>
          <c:dLbls>
            <c:dLbl>
              <c:idx val="2"/>
              <c:tx>
                <c:rich>
                  <a:bodyPr/>
                  <a:lstStyle/>
                  <a:p>
                    <a:r>
                      <a:rPr sz="1100">
                        <a:solidFill>
                          <a:srgbClr val="FFFFFF"/>
                        </a:solidFill>
                        <a:latin typeface="Calibri"/>
                      </a:rPr>
                      <a:t>320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334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349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367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388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411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438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468</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500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537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576</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618</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662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710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292.932</c:v>
                </c:pt>
                <c:pt idx="1">
                  <c:v>305.928</c:v>
                </c:pt>
                <c:pt idx="2">
                  <c:v>319.511</c:v>
                </c:pt>
                <c:pt idx="3">
                  <c:v>333.817</c:v>
                </c:pt>
                <c:pt idx="4">
                  <c:v>349.026</c:v>
                </c:pt>
                <c:pt idx="5">
                  <c:v>367.283</c:v>
                </c:pt>
                <c:pt idx="6">
                  <c:v>387.867</c:v>
                </c:pt>
                <c:pt idx="7">
                  <c:v>411.278</c:v>
                </c:pt>
                <c:pt idx="8">
                  <c:v>437.747</c:v>
                </c:pt>
                <c:pt idx="9">
                  <c:v>467.516</c:v>
                </c:pt>
                <c:pt idx="10">
                  <c:v>500.476</c:v>
                </c:pt>
                <c:pt idx="11">
                  <c:v>536.567</c:v>
                </c:pt>
                <c:pt idx="12">
                  <c:v>575.648</c:v>
                </c:pt>
                <c:pt idx="13">
                  <c:v>617.615</c:v>
                </c:pt>
                <c:pt idx="14">
                  <c:v>662.395</c:v>
                </c:pt>
                <c:pt idx="15">
                  <c:v>710.155</c:v>
                </c:pt>
              </c:numCache>
            </c:numRef>
          </c:val>
        </c:ser>
        <c:ser>
          <c:idx val="4"/>
          <c:order val="4"/>
          <c:tx>
            <c:strRef>
              <c:f>Sheet1!$F$1</c:f>
              <c:strCache>
                <c:ptCount val="1"/>
                <c:pt idx="0">
                  <c:v>Italy</c:v>
                </c:pt>
              </c:strCache>
            </c:strRef>
          </c:tx>
          <c:spPr>
            <a:solidFill>
              <a:srgbClr val="A35313"/>
            </a:solidFill>
            <a:ln>
              <a:noFill/>
            </a:ln>
          </c:spPr>
          <c:dLbls>
            <c:dLbl>
              <c:idx val="9"/>
              <c:tx>
                <c:rich>
                  <a:bodyPr/>
                  <a:lstStyle/>
                  <a:p>
                    <a:r>
                      <a:rPr sz="1100">
                        <a:solidFill>
                          <a:srgbClr val="FFFFFF"/>
                        </a:solidFill>
                        <a:latin typeface="Calibri"/>
                      </a:rPr>
                      <a:t>328</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350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374</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399</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427</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456</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487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210.797</c:v>
                </c:pt>
                <c:pt idx="1">
                  <c:v>219.54</c:v>
                </c:pt>
                <c:pt idx="2">
                  <c:v>228.678</c:v>
                </c:pt>
                <c:pt idx="3">
                  <c:v>238.324</c:v>
                </c:pt>
                <c:pt idx="4">
                  <c:v>248.572</c:v>
                </c:pt>
                <c:pt idx="5">
                  <c:v>260.931</c:v>
                </c:pt>
                <c:pt idx="6">
                  <c:v>274.86</c:v>
                </c:pt>
                <c:pt idx="7">
                  <c:v>290.577</c:v>
                </c:pt>
                <c:pt idx="8">
                  <c:v>308.242</c:v>
                </c:pt>
                <c:pt idx="9">
                  <c:v>328.011</c:v>
                </c:pt>
                <c:pt idx="10">
                  <c:v>349.81</c:v>
                </c:pt>
                <c:pt idx="11">
                  <c:v>373.671</c:v>
                </c:pt>
                <c:pt idx="12">
                  <c:v>399.35</c:v>
                </c:pt>
                <c:pt idx="13">
                  <c:v>426.863</c:v>
                </c:pt>
                <c:pt idx="14">
                  <c:v>456.09</c:v>
                </c:pt>
                <c:pt idx="15">
                  <c:v>487.08</c:v>
                </c:pt>
              </c:numCache>
            </c:numRef>
          </c:val>
        </c:ser>
        <c:ser>
          <c:idx val="5"/>
          <c:order val="5"/>
          <c:tx>
            <c:strRef>
              <c:f>Sheet1!$G$1</c:f>
              <c:strCache>
                <c:ptCount val="1"/>
                <c:pt idx="0">
                  <c:v>Nordic</c:v>
                </c:pt>
              </c:strCache>
            </c:strRef>
          </c:tx>
          <c:spPr>
            <a:solidFill>
              <a:srgbClr val="808080"/>
            </a:solidFill>
            <a:ln>
              <a:noFill/>
            </a:ln>
          </c:spPr>
          <c:dLbls>
            <c:dLbl>
              <c:idx val="12"/>
              <c:tx>
                <c:rich>
                  <a:bodyPr/>
                  <a:lstStyle/>
                  <a:p>
                    <a:r>
                      <a:rPr sz="1100">
                        <a:solidFill>
                          <a:srgbClr val="FFFFFF"/>
                        </a:solidFill>
                        <a:latin typeface="Calibri"/>
                      </a:rPr>
                      <a:t>326</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347</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371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396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174.613</c:v>
                </c:pt>
                <c:pt idx="1">
                  <c:v>181.628</c:v>
                </c:pt>
                <c:pt idx="2">
                  <c:v>188.95</c:v>
                </c:pt>
                <c:pt idx="3">
                  <c:v>196.664</c:v>
                </c:pt>
                <c:pt idx="4">
                  <c:v>204.848</c:v>
                </c:pt>
                <c:pt idx="5">
                  <c:v>214.755</c:v>
                </c:pt>
                <c:pt idx="6">
                  <c:v>225.883</c:v>
                </c:pt>
                <c:pt idx="7">
                  <c:v>238.446</c:v>
                </c:pt>
                <c:pt idx="8">
                  <c:v>252.653</c:v>
                </c:pt>
                <c:pt idx="9">
                  <c:v>268.584</c:v>
                </c:pt>
                <c:pt idx="10">
                  <c:v>286.064</c:v>
                </c:pt>
                <c:pt idx="11">
                  <c:v>305.111</c:v>
                </c:pt>
                <c:pt idx="12">
                  <c:v>325.592</c:v>
                </c:pt>
                <c:pt idx="13">
                  <c:v>347.481</c:v>
                </c:pt>
                <c:pt idx="14">
                  <c:v>370.775</c:v>
                </c:pt>
                <c:pt idx="15">
                  <c:v>395.511</c:v>
                </c:pt>
              </c:numCache>
            </c:numRef>
          </c:val>
        </c:ser>
        <c:ser>
          <c:idx val="6"/>
          <c:order val="6"/>
          <c:tx>
            <c:strRef>
              <c:f>Sheet1!$H$1</c:f>
              <c:strCache>
                <c:ptCount val="1"/>
                <c:pt idx="0">
                  <c:v>Spain</c:v>
                </c:pt>
              </c:strCache>
            </c:strRef>
          </c:tx>
          <c:spPr>
            <a:solidFill>
              <a:srgbClr val="0E72AE"/>
            </a:solidFill>
            <a:ln>
              <a:noFill/>
            </a:ln>
          </c:spPr>
          <c:dLbls>
            <c:dLbl>
              <c:idx val="14"/>
              <c:tx>
                <c:rich>
                  <a:bodyPr/>
                  <a:lstStyle/>
                  <a:p>
                    <a:r>
                      <a:rPr sz="1100">
                        <a:solidFill>
                          <a:srgbClr val="FFFFFF"/>
                        </a:solidFill>
                        <a:latin typeface="Calibri"/>
                      </a:rPr>
                      <a:t>326</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350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Sheet1!$H$2:$H$17</c:f>
              <c:numCache>
                <c:formatCode>General</c:formatCode>
                <c:ptCount val="16"/>
                <c:pt idx="0">
                  <c:v>140.741</c:v>
                </c:pt>
                <c:pt idx="1">
                  <c:v>147.059</c:v>
                </c:pt>
                <c:pt idx="2">
                  <c:v>153.664</c:v>
                </c:pt>
                <c:pt idx="3">
                  <c:v>160.655</c:v>
                </c:pt>
                <c:pt idx="4">
                  <c:v>168.119</c:v>
                </c:pt>
                <c:pt idx="5">
                  <c:v>177.178</c:v>
                </c:pt>
                <c:pt idx="6">
                  <c:v>187.421</c:v>
                </c:pt>
                <c:pt idx="7">
                  <c:v>199.079</c:v>
                </c:pt>
                <c:pt idx="8">
                  <c:v>212.309</c:v>
                </c:pt>
                <c:pt idx="9">
                  <c:v>227.233</c:v>
                </c:pt>
                <c:pt idx="10">
                  <c:v>243.802</c:v>
                </c:pt>
                <c:pt idx="11">
                  <c:v>262.027</c:v>
                </c:pt>
                <c:pt idx="12">
                  <c:v>281.795</c:v>
                </c:pt>
                <c:pt idx="13">
                  <c:v>303.122</c:v>
                </c:pt>
                <c:pt idx="14">
                  <c:v>325.857</c:v>
                </c:pt>
                <c:pt idx="15">
                  <c:v>350.143</c:v>
                </c:pt>
              </c:numCache>
            </c:numRef>
          </c:val>
        </c:ser>
        <c:ser>
          <c:idx val="7"/>
          <c:order val="7"/>
          <c:tx>
            <c:strRef>
              <c:f>Sheet1!$I$1</c:f>
              <c:strCache>
                <c:ptCount val="1"/>
                <c:pt idx="0">
                  <c:v>Russia</c:v>
                </c:pt>
              </c:strCache>
            </c:strRef>
          </c:tx>
          <c:spPr>
            <a:solidFill>
              <a:srgbClr val="A86F00"/>
            </a:solidFill>
            <a:ln>
              <a:noFill/>
            </a:ln>
          </c:spPr>
          <c:dLbls>
            <c:dLbl>
              <c:idx val="15"/>
              <c:tx>
                <c:rich>
                  <a:bodyPr/>
                  <a:lstStyle/>
                  <a:p>
                    <a:r>
                      <a:rPr sz="1100">
                        <a:solidFill>
                          <a:srgbClr val="FFFFFF"/>
                        </a:solidFill>
                        <a:latin typeface="Calibri"/>
                      </a:rPr>
                      <a:t>311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Sheet1!$I$2:$I$17</c:f>
              <c:numCache>
                <c:formatCode>General</c:formatCode>
                <c:ptCount val="16"/>
                <c:pt idx="0">
                  <c:v>138.805</c:v>
                </c:pt>
                <c:pt idx="1">
                  <c:v>144.192</c:v>
                </c:pt>
                <c:pt idx="2">
                  <c:v>149.805</c:v>
                </c:pt>
                <c:pt idx="3">
                  <c:v>155.725</c:v>
                </c:pt>
                <c:pt idx="4">
                  <c:v>161.995</c:v>
                </c:pt>
                <c:pt idx="5">
                  <c:v>169.64</c:v>
                </c:pt>
                <c:pt idx="6">
                  <c:v>178.276</c:v>
                </c:pt>
                <c:pt idx="7">
                  <c:v>188.057</c:v>
                </c:pt>
                <c:pt idx="8">
                  <c:v>199.092</c:v>
                </c:pt>
                <c:pt idx="9">
                  <c:v>211.457</c:v>
                </c:pt>
                <c:pt idx="10">
                  <c:v>225.049</c:v>
                </c:pt>
                <c:pt idx="11">
                  <c:v>239.909</c:v>
                </c:pt>
                <c:pt idx="12">
                  <c:v>255.931</c:v>
                </c:pt>
                <c:pt idx="13">
                  <c:v>273.144</c:v>
                </c:pt>
                <c:pt idx="14">
                  <c:v>291.572</c:v>
                </c:pt>
                <c:pt idx="15">
                  <c:v>311.22</c:v>
                </c:pt>
              </c:numCache>
            </c:numRef>
          </c:val>
        </c:ser>
        <c:ser>
          <c:idx val="8"/>
          <c:order val="8"/>
          <c:tx>
            <c:strRef>
              <c:f>Sheet1!$J$1</c:f>
              <c:strCache>
                <c:ptCount val="1"/>
                <c:pt idx="0">
                  <c:v>Switzerland</c:v>
                </c:pt>
              </c:strCache>
            </c:strRef>
          </c:tx>
          <c:spPr>
            <a:solidFill>
              <a:srgbClr val="0B2E4A"/>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Sheet1!$J$2:$J$17</c:f>
              <c:numCache>
                <c:formatCode>General</c:formatCode>
                <c:ptCount val="16"/>
                <c:pt idx="0">
                  <c:v>86.984</c:v>
                </c:pt>
                <c:pt idx="1">
                  <c:v>90.039</c:v>
                </c:pt>
                <c:pt idx="2">
                  <c:v>93.19</c:v>
                </c:pt>
                <c:pt idx="3">
                  <c:v>96.458</c:v>
                </c:pt>
                <c:pt idx="4">
                  <c:v>99.881</c:v>
                </c:pt>
                <c:pt idx="5">
                  <c:v>103.918</c:v>
                </c:pt>
                <c:pt idx="6">
                  <c:v>108.439</c:v>
                </c:pt>
                <c:pt idx="7">
                  <c:v>113.506</c:v>
                </c:pt>
                <c:pt idx="8">
                  <c:v>119.195</c:v>
                </c:pt>
                <c:pt idx="9">
                  <c:v>125.511</c:v>
                </c:pt>
                <c:pt idx="10">
                  <c:v>132.411</c:v>
                </c:pt>
                <c:pt idx="11">
                  <c:v>139.863</c:v>
                </c:pt>
                <c:pt idx="12">
                  <c:v>147.772</c:v>
                </c:pt>
                <c:pt idx="13">
                  <c:v>156.135</c:v>
                </c:pt>
                <c:pt idx="14">
                  <c:v>164.885</c:v>
                </c:pt>
                <c:pt idx="15">
                  <c:v>174.057</c:v>
                </c:pt>
              </c:numCache>
            </c:numRef>
          </c:val>
        </c:ser>
        <c:ser>
          <c:idx val="9"/>
          <c:order val="9"/>
          <c:tx>
            <c:strRef>
              <c:f>Sheet1!$K$1</c:f>
              <c:strCache>
                <c:ptCount val="1"/>
                <c:pt idx="0">
                  <c:v>Netherlands</c:v>
                </c:pt>
              </c:strCache>
            </c:strRef>
          </c:tx>
          <c:spPr>
            <a:solidFill>
              <a:srgbClr val="6C7A89"/>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Sheet1!$K$2:$K$17</c:f>
              <c:numCache>
                <c:formatCode>General</c:formatCode>
                <c:ptCount val="16"/>
                <c:pt idx="0">
                  <c:v>78.323</c:v>
                </c:pt>
                <c:pt idx="1">
                  <c:v>82.326</c:v>
                </c:pt>
                <c:pt idx="2">
                  <c:v>86.533</c:v>
                </c:pt>
                <c:pt idx="3">
                  <c:v>90.989</c:v>
                </c:pt>
                <c:pt idx="4">
                  <c:v>95.74</c:v>
                </c:pt>
                <c:pt idx="5">
                  <c:v>101.454</c:v>
                </c:pt>
                <c:pt idx="6">
                  <c:v>107.954</c:v>
                </c:pt>
                <c:pt idx="7">
                  <c:v>115.38</c:v>
                </c:pt>
                <c:pt idx="8">
                  <c:v>123.87</c:v>
                </c:pt>
                <c:pt idx="9">
                  <c:v>133.466</c:v>
                </c:pt>
                <c:pt idx="10">
                  <c:v>144.173</c:v>
                </c:pt>
                <c:pt idx="11">
                  <c:v>156.016</c:v>
                </c:pt>
                <c:pt idx="12">
                  <c:v>168.928</c:v>
                </c:pt>
                <c:pt idx="13">
                  <c:v>182.942</c:v>
                </c:pt>
                <c:pt idx="14">
                  <c:v>198.043</c:v>
                </c:pt>
                <c:pt idx="15">
                  <c:v>214.26</c:v>
                </c:pt>
              </c:numCache>
            </c:numRef>
          </c:val>
        </c:ser>
        <c:ser>
          <c:idx val="10"/>
          <c:order val="10"/>
          <c:tx>
            <c:strRef>
              <c:f>Sheet1!$L$1</c:f>
              <c:strCache>
                <c:ptCount val="1"/>
                <c:pt idx="0">
                  <c:v>Poland</c:v>
                </c:pt>
              </c:strCache>
            </c:strRef>
          </c:tx>
          <c:spPr>
            <a:solidFill>
              <a:srgbClr val="B2B2B2"/>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Sheet1!$L$2:$L$17</c:f>
              <c:numCache>
                <c:formatCode>General</c:formatCode>
                <c:ptCount val="16"/>
                <c:pt idx="0">
                  <c:v>59.027</c:v>
                </c:pt>
                <c:pt idx="1">
                  <c:v>62.091</c:v>
                </c:pt>
                <c:pt idx="2">
                  <c:v>65.309</c:v>
                </c:pt>
                <c:pt idx="3">
                  <c:v>68.708</c:v>
                </c:pt>
                <c:pt idx="4">
                  <c:v>72.353</c:v>
                </c:pt>
                <c:pt idx="5">
                  <c:v>76.702</c:v>
                </c:pt>
                <c:pt idx="6">
                  <c:v>81.657</c:v>
                </c:pt>
                <c:pt idx="7">
                  <c:v>87.319</c:v>
                </c:pt>
                <c:pt idx="8">
                  <c:v>93.777</c:v>
                </c:pt>
                <c:pt idx="9">
                  <c:v>101.075</c:v>
                </c:pt>
                <c:pt idx="10">
                  <c:v>109.177</c:v>
                </c:pt>
                <c:pt idx="11">
                  <c:v>118.116</c:v>
                </c:pt>
                <c:pt idx="12">
                  <c:v>127.828</c:v>
                </c:pt>
                <c:pt idx="13">
                  <c:v>138.327</c:v>
                </c:pt>
                <c:pt idx="14">
                  <c:v>149.55</c:v>
                </c:pt>
                <c:pt idx="15">
                  <c:v>161.531</c:v>
                </c:pt>
              </c:numCache>
            </c:numRef>
          </c:val>
        </c:ser>
        <c:ser>
          <c:idx val="11"/>
          <c:order val="11"/>
          <c:tx>
            <c:strRef>
              <c:f>Sheet1!$M$1</c:f>
              <c:strCache>
                <c:ptCount val="1"/>
                <c:pt idx="0">
                  <c:v>Belgium</c:v>
                </c:pt>
              </c:strCache>
            </c:strRef>
          </c:tx>
          <c:spPr>
            <a:solidFill>
              <a:srgbClr val="5F5F5F"/>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Sheet1!$M$2:$M$17</c:f>
              <c:numCache>
                <c:formatCode>General</c:formatCode>
                <c:ptCount val="16"/>
                <c:pt idx="0">
                  <c:v>49.151</c:v>
                </c:pt>
                <c:pt idx="1">
                  <c:v>51.563</c:v>
                </c:pt>
                <c:pt idx="2">
                  <c:v>54.094</c:v>
                </c:pt>
                <c:pt idx="3">
                  <c:v>56.767</c:v>
                </c:pt>
                <c:pt idx="4">
                  <c:v>59.622</c:v>
                </c:pt>
                <c:pt idx="5">
                  <c:v>63.042</c:v>
                </c:pt>
                <c:pt idx="6">
                  <c:v>66.934</c:v>
                </c:pt>
                <c:pt idx="7">
                  <c:v>71.387</c:v>
                </c:pt>
                <c:pt idx="8">
                  <c:v>76.468</c:v>
                </c:pt>
                <c:pt idx="9">
                  <c:v>82.214</c:v>
                </c:pt>
                <c:pt idx="10">
                  <c:v>88.598</c:v>
                </c:pt>
                <c:pt idx="11">
                  <c:v>95.642</c:v>
                </c:pt>
                <c:pt idx="12">
                  <c:v>103.3</c:v>
                </c:pt>
                <c:pt idx="13">
                  <c:v>111.588</c:v>
                </c:pt>
                <c:pt idx="14">
                  <c:v>120.478</c:v>
                </c:pt>
                <c:pt idx="15">
                  <c:v>129.99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Sprays and Mists</c:v>
                </c:pt>
              </c:strCache>
            </c:strRef>
          </c:tx>
          <c:spPr>
            <a:solidFill>
              <a:srgbClr val="3D85C6"/>
            </a:solidFill>
            <a:ln>
              <a:noFill/>
            </a:ln>
          </c:spPr>
          <c:dLbls>
            <c:dLbl>
              <c:idx val="0"/>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Sheet1!$B$2:$B$13</c:f>
              <c:numCache>
                <c:formatCode>General</c:formatCode>
                <c:ptCount val="12"/>
                <c:pt idx="0">
                  <c:v>11.976213737874161</c:v>
                </c:pt>
                <c:pt idx="1">
                  <c:v>12.653377081656657</c:v>
                </c:pt>
                <c:pt idx="2">
                  <c:v>11.233166337270763</c:v>
                </c:pt>
                <c:pt idx="3">
                  <c:v>11.992905815364512</c:v>
                </c:pt>
                <c:pt idx="4">
                  <c:v>14.173253646937855</c:v>
                </c:pt>
                <c:pt idx="5">
                  <c:v>11.30706223725096</c:v>
                </c:pt>
                <c:pt idx="6">
                  <c:v>12.096755842441805</c:v>
                </c:pt>
                <c:pt idx="7">
                  <c:v>10.051942186088528</c:v>
                </c:pt>
                <c:pt idx="8">
                  <c:v>13.662100851852651</c:v>
                </c:pt>
                <c:pt idx="9">
                  <c:v>12.381258149640782</c:v>
                </c:pt>
                <c:pt idx="10">
                  <c:v>11.488313060689334</c:v>
                </c:pt>
                <c:pt idx="11">
                  <c:v>12.408458766217016</c:v>
                </c:pt>
              </c:numCache>
            </c:numRef>
          </c:val>
        </c:ser>
        <c:ser>
          <c:idx val="1"/>
          <c:order val="1"/>
          <c:tx>
            <c:strRef>
              <c:f>Sheet1!$C$1</c:f>
              <c:strCache>
                <c:ptCount val="1"/>
                <c:pt idx="0">
                  <c:v>Mousses and Foams</c:v>
                </c:pt>
              </c:strCache>
            </c:strRef>
          </c:tx>
          <c:spPr>
            <a:solidFill>
              <a:srgbClr val="9E7E0A"/>
            </a:solidFill>
            <a:ln>
              <a:noFill/>
            </a:ln>
          </c:spPr>
          <c:dLbls>
            <c:dLbl>
              <c:idx val="8"/>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Sheet1!$C$2:$C$13</c:f>
              <c:numCache>
                <c:formatCode>General</c:formatCode>
                <c:ptCount val="12"/>
                <c:pt idx="0">
                  <c:v>6.8181643344539244</c:v>
                </c:pt>
                <c:pt idx="1">
                  <c:v>6.792546276233518</c:v>
                </c:pt>
                <c:pt idx="2">
                  <c:v>6.387024865560509</c:v>
                </c:pt>
                <c:pt idx="3">
                  <c:v>6.083730047605713</c:v>
                </c:pt>
                <c:pt idx="4">
                  <c:v>6.791337317653108</c:v>
                </c:pt>
                <c:pt idx="5">
                  <c:v>6.2585679034911355</c:v>
                </c:pt>
                <c:pt idx="6">
                  <c:v>6.189208391169904</c:v>
                </c:pt>
                <c:pt idx="7">
                  <c:v>6.242095754290876</c:v>
                </c:pt>
                <c:pt idx="8">
                  <c:v>7.501929471505131</c:v>
                </c:pt>
                <c:pt idx="9">
                  <c:v>6.541961321065572</c:v>
                </c:pt>
                <c:pt idx="10">
                  <c:v>5.657283754581263</c:v>
                </c:pt>
                <c:pt idx="11">
                  <c:v>6.063032941332541</c:v>
                </c:pt>
              </c:numCache>
            </c:numRef>
          </c:val>
        </c:ser>
        <c:ser>
          <c:idx val="2"/>
          <c:order val="2"/>
          <c:tx>
            <c:strRef>
              <c:f>Sheet1!$D$1</c:f>
              <c:strCache>
                <c:ptCount val="1"/>
                <c:pt idx="0">
                  <c:v>Gels and Jellies</c:v>
                </c:pt>
              </c:strCache>
            </c:strRef>
          </c:tx>
          <c:spPr>
            <a:solidFill>
              <a:srgbClr val="008189"/>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Sheet1!$D$2:$D$13</c:f>
              <c:numCache>
                <c:formatCode>General</c:formatCode>
                <c:ptCount val="12"/>
                <c:pt idx="0">
                  <c:v>8.357501673192761</c:v>
                </c:pt>
                <c:pt idx="1">
                  <c:v>9.970284157741597</c:v>
                </c:pt>
                <c:pt idx="2">
                  <c:v>7.746357494139818</c:v>
                </c:pt>
                <c:pt idx="3">
                  <c:v>8.056566788014562</c:v>
                </c:pt>
                <c:pt idx="4">
                  <c:v>8.405629458261037</c:v>
                </c:pt>
                <c:pt idx="5">
                  <c:v>8.197198866751965</c:v>
                </c:pt>
                <c:pt idx="6">
                  <c:v>7.895355628541305</c:v>
                </c:pt>
                <c:pt idx="7">
                  <c:v>9.204853412170486</c:v>
                </c:pt>
                <c:pt idx="8">
                  <c:v>8.403407410613175</c:v>
                </c:pt>
                <c:pt idx="9">
                  <c:v>8.67980747837793</c:v>
                </c:pt>
                <c:pt idx="10">
                  <c:v>8.050163961007192</c:v>
                </c:pt>
                <c:pt idx="11">
                  <c:v>8.1052530726655</c:v>
                </c:pt>
              </c:numCache>
            </c:numRef>
          </c:val>
        </c:ser>
        <c:ser>
          <c:idx val="3"/>
          <c:order val="3"/>
          <c:tx>
            <c:strRef>
              <c:f>Sheet1!$E$1</c:f>
              <c:strCache>
                <c:ptCount val="1"/>
                <c:pt idx="0">
                  <c:v>Creams and Lotions</c:v>
                </c:pt>
              </c:strCache>
            </c:strRef>
          </c:tx>
          <c:spPr>
            <a:solidFill>
              <a:srgbClr val="40315E"/>
            </a:solidFill>
            <a:ln>
              <a:noFill/>
            </a:ln>
          </c:spPr>
          <c:dLbls>
            <c:dLbl>
              <c:idx val="0"/>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Sheet1!$E$2:$E$13</c:f>
              <c:numCache>
                <c:formatCode>General</c:formatCode>
                <c:ptCount val="12"/>
                <c:pt idx="0">
                  <c:v>11.707733612327008</c:v>
                </c:pt>
                <c:pt idx="1">
                  <c:v>10.960812233021729</c:v>
                </c:pt>
                <c:pt idx="2">
                  <c:v>11.602013145194649</c:v>
                </c:pt>
                <c:pt idx="3">
                  <c:v>12.234668160179222</c:v>
                </c:pt>
                <c:pt idx="4">
                  <c:v>10.951738320159372</c:v>
                </c:pt>
                <c:pt idx="5">
                  <c:v>13.186860263205997</c:v>
                </c:pt>
                <c:pt idx="6">
                  <c:v>10.781242493887655</c:v>
                </c:pt>
                <c:pt idx="7">
                  <c:v>11.55313295557198</c:v>
                </c:pt>
                <c:pt idx="8">
                  <c:v>10.66482014440381</c:v>
                </c:pt>
                <c:pt idx="9">
                  <c:v>10.851167493247944</c:v>
                </c:pt>
                <c:pt idx="10">
                  <c:v>12.888201796442338</c:v>
                </c:pt>
                <c:pt idx="11">
                  <c:v>10.366607133644672</c:v>
                </c:pt>
              </c:numCache>
            </c:numRef>
          </c:val>
        </c:ser>
        <c:ser>
          <c:idx val="4"/>
          <c:order val="4"/>
          <c:tx>
            <c:strRef>
              <c:f>Sheet1!$F$1</c:f>
              <c:strCache>
                <c:ptCount val="1"/>
                <c:pt idx="0">
                  <c:v>Waxes, Clays, Pastes and Pomades</c:v>
                </c:pt>
              </c:strCache>
            </c:strRef>
          </c:tx>
          <c:spPr>
            <a:solidFill>
              <a:srgbClr val="A35313"/>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Sheet1!$F$2:$F$13</c:f>
              <c:numCache>
                <c:formatCode>General</c:formatCode>
                <c:ptCount val="12"/>
                <c:pt idx="0">
                  <c:v>15.70954912263157</c:v>
                </c:pt>
                <c:pt idx="1">
                  <c:v>15.249798798984706</c:v>
                </c:pt>
                <c:pt idx="2">
                  <c:v>16.362549983913222</c:v>
                </c:pt>
                <c:pt idx="3">
                  <c:v>15.13628302062914</c:v>
                </c:pt>
                <c:pt idx="4">
                  <c:v>14.072039072039072</c:v>
                </c:pt>
                <c:pt idx="5">
                  <c:v>14.454624383110948</c:v>
                </c:pt>
                <c:pt idx="6">
                  <c:v>16.43064288983113</c:v>
                </c:pt>
                <c:pt idx="7">
                  <c:v>17.21934795105527</c:v>
                </c:pt>
                <c:pt idx="8">
                  <c:v>15.546707636379372</c:v>
                </c:pt>
                <c:pt idx="9">
                  <c:v>15.98639168405726</c:v>
                </c:pt>
                <c:pt idx="10">
                  <c:v>15.41848496115536</c:v>
                </c:pt>
                <c:pt idx="11">
                  <c:v>18.718508710082368</c:v>
                </c:pt>
              </c:numCache>
            </c:numRef>
          </c:val>
        </c:ser>
        <c:ser>
          <c:idx val="5"/>
          <c:order val="5"/>
          <c:tx>
            <c:strRef>
              <c:f>Sheet1!$G$1</c:f>
              <c:strCache>
                <c:ptCount val="1"/>
                <c:pt idx="0">
                  <c:v>Styling Powders</c:v>
                </c:pt>
              </c:strCache>
            </c:strRef>
          </c:tx>
          <c:spPr>
            <a:solidFill>
              <a:srgbClr val="808080"/>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Sheet1!$G$2:$G$13</c:f>
              <c:numCache>
                <c:formatCode>General</c:formatCode>
                <c:ptCount val="12"/>
                <c:pt idx="0">
                  <c:v>11.416944249986539</c:v>
                </c:pt>
                <c:pt idx="1">
                  <c:v>11.365071503745435</c:v>
                </c:pt>
                <c:pt idx="2">
                  <c:v>10.62474146251781</c:v>
                </c:pt>
                <c:pt idx="3">
                  <c:v>11.147671053859797</c:v>
                </c:pt>
                <c:pt idx="4">
                  <c:v>11.78491099543731</c:v>
                </c:pt>
                <c:pt idx="5">
                  <c:v>11.839129044050448</c:v>
                </c:pt>
                <c:pt idx="6">
                  <c:v>11.670724708035934</c:v>
                </c:pt>
                <c:pt idx="7">
                  <c:v>10.93619118009362</c:v>
                </c:pt>
                <c:pt idx="8">
                  <c:v>11.767972936908084</c:v>
                </c:pt>
                <c:pt idx="9">
                  <c:v>10.656139372586791</c:v>
                </c:pt>
                <c:pt idx="10">
                  <c:v>10.837221524879302</c:v>
                </c:pt>
                <c:pt idx="11">
                  <c:v>11.831144041252207</c:v>
                </c:pt>
              </c:numCache>
            </c:numRef>
          </c:val>
        </c:ser>
        <c:ser>
          <c:idx val="6"/>
          <c:order val="6"/>
          <c:tx>
            <c:strRef>
              <c:f>Sheet1!$H$1</c:f>
              <c:strCache>
                <c:ptCount val="1"/>
                <c:pt idx="0">
                  <c:v>Styling Serums and Oils</c:v>
                </c:pt>
              </c:strCache>
            </c:strRef>
          </c:tx>
          <c:spPr>
            <a:solidFill>
              <a:srgbClr val="0E72AE"/>
            </a:solidFill>
            <a:ln>
              <a:noFill/>
            </a:ln>
          </c:spPr>
          <c:dLbls>
            <c:dLbl>
              <c:idx val="0"/>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Sheet1!$H$2:$H$13</c:f>
              <c:numCache>
                <c:formatCode>General</c:formatCode>
                <c:ptCount val="12"/>
                <c:pt idx="0">
                  <c:v>18.078174642859892</c:v>
                </c:pt>
                <c:pt idx="1">
                  <c:v>18.59283105305516</c:v>
                </c:pt>
                <c:pt idx="2">
                  <c:v>21.668888173921037</c:v>
                </c:pt>
                <c:pt idx="3">
                  <c:v>19.780640343507887</c:v>
                </c:pt>
                <c:pt idx="4">
                  <c:v>18.658826553563394</c:v>
                </c:pt>
                <c:pt idx="5">
                  <c:v>19.663338512154997</c:v>
                </c:pt>
                <c:pt idx="6">
                  <c:v>19.265456586542477</c:v>
                </c:pt>
                <c:pt idx="7">
                  <c:v>18.922558922558924</c:v>
                </c:pt>
                <c:pt idx="8">
                  <c:v>18.49623843218719</c:v>
                </c:pt>
                <c:pt idx="9">
                  <c:v>19.569135708592786</c:v>
                </c:pt>
                <c:pt idx="10">
                  <c:v>22.589717282580438</c:v>
                </c:pt>
                <c:pt idx="11">
                  <c:v>17.24697032602314</c:v>
                </c:pt>
              </c:numCache>
            </c:numRef>
          </c:val>
        </c:ser>
        <c:ser>
          <c:idx val="7"/>
          <c:order val="7"/>
          <c:tx>
            <c:strRef>
              <c:f>Sheet1!$I$1</c:f>
              <c:strCache>
                <c:ptCount val="1"/>
                <c:pt idx="0">
                  <c:v>Sticks and Balms</c:v>
                </c:pt>
              </c:strCache>
            </c:strRef>
          </c:tx>
          <c:spPr>
            <a:solidFill>
              <a:srgbClr val="A86F00"/>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Sheet1!$I$2:$I$13</c:f>
              <c:numCache>
                <c:formatCode>General</c:formatCode>
                <c:ptCount val="12"/>
                <c:pt idx="0">
                  <c:v>15.935718626674156</c:v>
                </c:pt>
                <c:pt idx="1">
                  <c:v>14.415278895561196</c:v>
                </c:pt>
                <c:pt idx="2">
                  <c:v>14.375258537482189</c:v>
                </c:pt>
                <c:pt idx="3">
                  <c:v>15.567534770839167</c:v>
                </c:pt>
                <c:pt idx="4">
                  <c:v>15.162264635948846</c:v>
                </c:pt>
                <c:pt idx="5">
                  <c:v>15.093218789983547</c:v>
                </c:pt>
                <c:pt idx="6">
                  <c:v>15.670613459549799</c:v>
                </c:pt>
                <c:pt idx="7">
                  <c:v>15.869877638170324</c:v>
                </c:pt>
                <c:pt idx="8">
                  <c:v>13.956823116150577</c:v>
                </c:pt>
                <c:pt idx="9">
                  <c:v>15.334138792430938</c:v>
                </c:pt>
                <c:pt idx="10">
                  <c:v>13.070613658664772</c:v>
                </c:pt>
                <c:pt idx="11">
                  <c:v>15.260025008782552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3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Sprays and Mists</c:v>
                </c:pt>
              </c:strCache>
            </c:strRef>
          </c:tx>
          <c:spPr>
            <a:solidFill>
              <a:srgbClr val="3D85C6"/>
            </a:solidFill>
          </c:spPr>
          <c:invertIfNegative val="0"/>
          <c:xVal>
            <c:numRef>
              <c:f>Sheet1!$A$2:$A$2</c:f>
              <c:numCache>
                <c:formatCode>General</c:formatCode>
                <c:ptCount val="1"/>
                <c:pt idx="0">
                  <c:v>70.95948448134718</c:v>
                </c:pt>
              </c:numCache>
            </c:numRef>
          </c:xVal>
          <c:yVal>
            <c:numRef>
              <c:f>Sheet1!$B$2:$B$2</c:f>
              <c:numCache>
                <c:formatCode>General</c:formatCode>
                <c:ptCount val="1"/>
                <c:pt idx="0">
                  <c:v>115.69041095305619</c:v>
                </c:pt>
              </c:numCache>
            </c:numRef>
          </c:yVal>
          <c:bubbleSize>
            <c:numRef>
              <c:f>Sheet1!$C$2:$C$2</c:f>
              <c:numCache>
                <c:formatCode>General</c:formatCode>
                <c:ptCount val="1"/>
                <c:pt idx="0">
                  <c:v>627.603</c:v>
                </c:pt>
              </c:numCache>
            </c:numRef>
          </c:bubbleSize>
          <c:bubble3D val="0"/>
        </c:ser>
        <c:ser>
          <c:idx val="1"/>
          <c:order val="1"/>
          <c:tx>
            <c:strRef>
              <c:f>Sheet1!$B$4</c:f>
              <c:strCache>
                <c:ptCount val="1"/>
                <c:pt idx="0">
                  <c:v>Mousses and Foams</c:v>
                </c:pt>
              </c:strCache>
            </c:strRef>
          </c:tx>
          <c:spPr>
            <a:solidFill>
              <a:srgbClr val="9E7E0A"/>
            </a:solidFill>
          </c:spPr>
          <c:invertIfNegative val="0"/>
          <c:xVal>
            <c:numRef>
              <c:f>Sheet1!$A$5:$A$5</c:f>
              <c:numCache>
                <c:formatCode>General</c:formatCode>
                <c:ptCount val="1"/>
                <c:pt idx="0">
                  <c:v>74.09969884375026</c:v>
                </c:pt>
              </c:numCache>
            </c:numRef>
          </c:xVal>
          <c:yVal>
            <c:numRef>
              <c:f>Sheet1!$B$5:$B$5</c:f>
              <c:numCache>
                <c:formatCode>General</c:formatCode>
                <c:ptCount val="1"/>
                <c:pt idx="0">
                  <c:v>59.73750061366543</c:v>
                </c:pt>
              </c:numCache>
            </c:numRef>
          </c:yVal>
          <c:bubbleSize>
            <c:numRef>
              <c:f>Sheet1!$C$5:$C$5</c:f>
              <c:numCache>
                <c:formatCode>General</c:formatCode>
                <c:ptCount val="1"/>
                <c:pt idx="0">
                  <c:v>330.214</c:v>
                </c:pt>
              </c:numCache>
            </c:numRef>
          </c:bubbleSize>
          <c:bubble3D val="0"/>
        </c:ser>
        <c:ser>
          <c:idx val="2"/>
          <c:order val="2"/>
          <c:tx>
            <c:strRef>
              <c:f>Sheet1!$B$7</c:f>
              <c:strCache>
                <c:ptCount val="1"/>
                <c:pt idx="0">
                  <c:v>Gels and Jellies</c:v>
                </c:pt>
              </c:strCache>
            </c:strRef>
          </c:tx>
          <c:spPr>
            <a:solidFill>
              <a:srgbClr val="008189"/>
            </a:solidFill>
          </c:spPr>
          <c:invertIfNegative val="0"/>
          <c:xVal>
            <c:numRef>
              <c:f>Sheet1!$A$8:$A$8</c:f>
              <c:numCache>
                <c:formatCode>General</c:formatCode>
                <c:ptCount val="1"/>
                <c:pt idx="0">
                  <c:v>88.71584424187822</c:v>
                </c:pt>
              </c:numCache>
            </c:numRef>
          </c:xVal>
          <c:yVal>
            <c:numRef>
              <c:f>Sheet1!$B$8:$B$8</c:f>
              <c:numCache>
                <c:formatCode>General</c:formatCode>
                <c:ptCount val="1"/>
                <c:pt idx="0">
                  <c:v>71.65705316797214</c:v>
                </c:pt>
              </c:numCache>
            </c:numRef>
          </c:yVal>
          <c:bubbleSize>
            <c:numRef>
              <c:f>Sheet1!$C$8:$C$8</c:f>
              <c:numCache>
                <c:formatCode>General</c:formatCode>
                <c:ptCount val="1"/>
                <c:pt idx="0">
                  <c:v>432.107</c:v>
                </c:pt>
              </c:numCache>
            </c:numRef>
          </c:bubbleSize>
          <c:bubble3D val="0"/>
        </c:ser>
        <c:ser>
          <c:idx val="3"/>
          <c:order val="3"/>
          <c:tx>
            <c:strRef>
              <c:f>Sheet1!$B$10</c:f>
              <c:strCache>
                <c:ptCount val="1"/>
                <c:pt idx="0">
                  <c:v>Creams and Lotions</c:v>
                </c:pt>
              </c:strCache>
            </c:strRef>
          </c:tx>
          <c:spPr>
            <a:solidFill>
              <a:srgbClr val="40315E"/>
            </a:solidFill>
          </c:spPr>
          <c:invertIfNegative val="0"/>
          <c:xVal>
            <c:numRef>
              <c:f>Sheet1!$A$11:$A$11</c:f>
              <c:numCache>
                <c:formatCode>General</c:formatCode>
                <c:ptCount val="1"/>
                <c:pt idx="0">
                  <c:v>100.2060707293011</c:v>
                </c:pt>
              </c:numCache>
            </c:numRef>
          </c:xVal>
          <c:yVal>
            <c:numRef>
              <c:f>Sheet1!$B$11:$B$11</c:f>
              <c:numCache>
                <c:formatCode>General</c:formatCode>
                <c:ptCount val="1"/>
                <c:pt idx="0">
                  <c:v>90.81536746285457</c:v>
                </c:pt>
              </c:numCache>
            </c:numRef>
          </c:yVal>
          <c:bubbleSize>
            <c:numRef>
              <c:f>Sheet1!$C$11:$C$11</c:f>
              <c:numCache>
                <c:formatCode>General</c:formatCode>
                <c:ptCount val="1"/>
                <c:pt idx="0">
                  <c:v>586.092</c:v>
                </c:pt>
              </c:numCache>
            </c:numRef>
          </c:bubbleSize>
          <c:bubble3D val="0"/>
        </c:ser>
        <c:ser>
          <c:idx val="4"/>
          <c:order val="4"/>
          <c:tx>
            <c:strRef>
              <c:f>Sheet1!$B$13</c:f>
              <c:strCache>
                <c:ptCount val="1"/>
                <c:pt idx="0">
                  <c:v>Waxes, Clays, Pastes and Pomades</c:v>
                </c:pt>
              </c:strCache>
            </c:strRef>
          </c:tx>
          <c:spPr>
            <a:solidFill>
              <a:srgbClr val="A35313"/>
            </a:solidFill>
          </c:spPr>
          <c:invertIfNegative val="0"/>
          <c:xVal>
            <c:numRef>
              <c:f>Sheet1!$A$14:$A$14</c:f>
              <c:numCache>
                <c:formatCode>General</c:formatCode>
                <c:ptCount val="1"/>
                <c:pt idx="0">
                  <c:v>96.34008170930309</c:v>
                </c:pt>
              </c:numCache>
            </c:numRef>
          </c:xVal>
          <c:yVal>
            <c:numRef>
              <c:f>Sheet1!$B$14:$B$14</c:f>
              <c:numCache>
                <c:formatCode>General</c:formatCode>
                <c:ptCount val="1"/>
                <c:pt idx="0">
                  <c:v>132.08356664477628</c:v>
                </c:pt>
              </c:numCache>
            </c:numRef>
          </c:yVal>
          <c:bubbleSize>
            <c:numRef>
              <c:f>Sheet1!$C$14:$C$14</c:f>
              <c:numCache>
                <c:formatCode>General</c:formatCode>
                <c:ptCount val="1"/>
                <c:pt idx="0">
                  <c:v>833.222</c:v>
                </c:pt>
              </c:numCache>
            </c:numRef>
          </c:bubbleSize>
          <c:bubble3D val="0"/>
        </c:ser>
        <c:ser>
          <c:idx val="5"/>
          <c:order val="5"/>
          <c:tx>
            <c:strRef>
              <c:f>Sheet1!$B$16</c:f>
              <c:strCache>
                <c:ptCount val="1"/>
                <c:pt idx="0">
                  <c:v>Styling Powders</c:v>
                </c:pt>
              </c:strCache>
            </c:strRef>
          </c:tx>
          <c:spPr>
            <a:solidFill>
              <a:srgbClr val="808080"/>
            </a:solidFill>
          </c:spPr>
          <c:invertIfNegative val="0"/>
          <c:xVal>
            <c:numRef>
              <c:f>Sheet1!$A$17:$A$17</c:f>
              <c:numCache>
                <c:formatCode>General</c:formatCode>
                <c:ptCount val="1"/>
                <c:pt idx="0">
                  <c:v>117.96040365598179</c:v>
                </c:pt>
              </c:numCache>
            </c:numRef>
          </c:xVal>
          <c:yVal>
            <c:numRef>
              <c:f>Sheet1!$B$17:$B$17</c:f>
              <c:numCache>
                <c:formatCode>General</c:formatCode>
                <c:ptCount val="1"/>
                <c:pt idx="0">
                  <c:v>81.58840090530768</c:v>
                </c:pt>
              </c:numCache>
            </c:numRef>
          </c:yVal>
          <c:bubbleSize>
            <c:numRef>
              <c:f>Sheet1!$C$17:$C$17</c:f>
              <c:numCache>
                <c:formatCode>General</c:formatCode>
                <c:ptCount val="1"/>
                <c:pt idx="0">
                  <c:v>584.235</c:v>
                </c:pt>
              </c:numCache>
            </c:numRef>
          </c:bubbleSize>
          <c:bubble3D val="0"/>
        </c:ser>
        <c:ser>
          <c:idx val="6"/>
          <c:order val="6"/>
          <c:tx>
            <c:strRef>
              <c:f>Sheet1!$B$19</c:f>
              <c:strCache>
                <c:ptCount val="1"/>
                <c:pt idx="0">
                  <c:v>Styling Serums and Oils</c:v>
                </c:pt>
              </c:strCache>
            </c:strRef>
          </c:tx>
          <c:spPr>
            <a:solidFill>
              <a:srgbClr val="0E72AE"/>
            </a:solidFill>
          </c:spPr>
          <c:invertIfNegative val="0"/>
          <c:xVal>
            <c:numRef>
              <c:f>Sheet1!$A$20:$A$20</c:f>
              <c:numCache>
                <c:formatCode>General</c:formatCode>
                <c:ptCount val="1"/>
                <c:pt idx="0">
                  <c:v>109.36508015015225</c:v>
                </c:pt>
              </c:numCache>
            </c:numRef>
          </c:xVal>
          <c:yVal>
            <c:numRef>
              <c:f>Sheet1!$B$20:$B$20</c:f>
              <c:numCache>
                <c:formatCode>General</c:formatCode>
                <c:ptCount val="1"/>
                <c:pt idx="0">
                  <c:v>146.56336691357953</c:v>
                </c:pt>
              </c:numCache>
            </c:numRef>
          </c:yVal>
          <c:bubbleSize>
            <c:numRef>
              <c:f>Sheet1!$C$20:$C$20</c:f>
              <c:numCache>
                <c:formatCode>General</c:formatCode>
                <c:ptCount val="1"/>
                <c:pt idx="0">
                  <c:v>998.122</c:v>
                </c:pt>
              </c:numCache>
            </c:numRef>
          </c:bubbleSize>
          <c:bubble3D val="0"/>
        </c:ser>
        <c:ser>
          <c:idx val="7"/>
          <c:order val="7"/>
          <c:tx>
            <c:strRef>
              <c:f>Sheet1!$B$22</c:f>
              <c:strCache>
                <c:ptCount val="1"/>
                <c:pt idx="0">
                  <c:v>Sticks and Balms</c:v>
                </c:pt>
              </c:strCache>
            </c:strRef>
          </c:tx>
          <c:spPr>
            <a:solidFill>
              <a:srgbClr val="A86F00"/>
            </a:solidFill>
          </c:spPr>
          <c:invertIfNegative val="0"/>
          <c:xVal>
            <c:numRef>
              <c:f>Sheet1!$A$23:$A$23</c:f>
              <c:numCache>
                <c:formatCode>General</c:formatCode>
                <c:ptCount val="1"/>
                <c:pt idx="0">
                  <c:v>126.17138871518756</c:v>
                </c:pt>
              </c:numCache>
            </c:numRef>
          </c:xVal>
          <c:yVal>
            <c:numRef>
              <c:f>Sheet1!$B$23:$B$23</c:f>
              <c:numCache>
                <c:formatCode>General</c:formatCode>
                <c:ptCount val="1"/>
                <c:pt idx="0">
                  <c:v>101.86433333878813</c:v>
                </c:pt>
              </c:numCache>
            </c:numRef>
          </c:yVal>
          <c:bubbleSize>
            <c:numRef>
              <c:f>Sheet1!$C$23:$C$23</c:f>
              <c:numCache>
                <c:formatCode>General</c:formatCode>
                <c:ptCount val="1"/>
                <c:pt idx="0">
                  <c:v>765.078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0"/>
          <c:min val="5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406.504</c:v>
                </c:pt>
                <c:pt idx="2">
                  <c:v>437.175</c:v>
                </c:pt>
                <c:pt idx="3">
                  <c:v>475.404</c:v>
                </c:pt>
                <c:pt idx="4">
                  <c:v>520.0219999999999</c:v>
                </c:pt>
                <c:pt idx="5">
                  <c:v>570.818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406.504</c:v>
                </c:pt>
                <c:pt idx="1">
                  <c:v>30.670999999999992</c:v>
                </c:pt>
                <c:pt idx="2">
                  <c:v>38.228999999999985</c:v>
                </c:pt>
                <c:pt idx="3">
                  <c:v>44.61799999999994</c:v>
                </c:pt>
                <c:pt idx="4">
                  <c:v>50.79600000000005</c:v>
                </c:pt>
                <c:pt idx="5">
                  <c:v>56.78499999999997</c:v>
                </c:pt>
                <c:pt idx="6">
                  <c:v>627.603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209.901</c:v>
                </c:pt>
                <c:pt idx="2">
                  <c:v>227.937</c:v>
                </c:pt>
                <c:pt idx="3">
                  <c:v>249.188</c:v>
                </c:pt>
                <c:pt idx="4">
                  <c:v>273.094</c:v>
                </c:pt>
                <c:pt idx="5">
                  <c:v>300.18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209.901</c:v>
                </c:pt>
                <c:pt idx="1">
                  <c:v>18.036</c:v>
                </c:pt>
                <c:pt idx="2">
                  <c:v>21.250999999999976</c:v>
                </c:pt>
                <c:pt idx="3">
                  <c:v>23.906000000000006</c:v>
                </c:pt>
                <c:pt idx="4">
                  <c:v>27.086000000000013</c:v>
                </c:pt>
                <c:pt idx="5">
                  <c:v>30.033999999999992</c:v>
                </c:pt>
                <c:pt idx="6">
                  <c:v>330.214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251.783</c:v>
                </c:pt>
                <c:pt idx="2">
                  <c:v>278.636</c:v>
                </c:pt>
                <c:pt idx="3">
                  <c:v>310.201</c:v>
                </c:pt>
                <c:pt idx="4">
                  <c:v>346.132</c:v>
                </c:pt>
                <c:pt idx="5">
                  <c:v>386.731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251.783</c:v>
                </c:pt>
                <c:pt idx="1">
                  <c:v>26.853000000000037</c:v>
                </c:pt>
                <c:pt idx="2">
                  <c:v>31.564999999999998</c:v>
                </c:pt>
                <c:pt idx="3">
                  <c:v>35.93099999999998</c:v>
                </c:pt>
                <c:pt idx="4">
                  <c:v>40.59899999999999</c:v>
                </c:pt>
                <c:pt idx="5">
                  <c:v>45.37600000000003</c:v>
                </c:pt>
                <c:pt idx="6">
                  <c:v>432.107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319.1</c:v>
                </c:pt>
                <c:pt idx="2">
                  <c:v>350.791</c:v>
                </c:pt>
                <c:pt idx="3">
                  <c:v>394.047</c:v>
                </c:pt>
                <c:pt idx="4">
                  <c:v>448.418</c:v>
                </c:pt>
                <c:pt idx="5">
                  <c:v>512.89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319.1</c:v>
                </c:pt>
                <c:pt idx="1">
                  <c:v>31.690999999999974</c:v>
                </c:pt>
                <c:pt idx="2">
                  <c:v>43.25600000000003</c:v>
                </c:pt>
                <c:pt idx="3">
                  <c:v>54.37099999999998</c:v>
                </c:pt>
                <c:pt idx="4">
                  <c:v>64.47199999999998</c:v>
                </c:pt>
                <c:pt idx="5">
                  <c:v>73.202</c:v>
                </c:pt>
                <c:pt idx="6">
                  <c:v>586.092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464.105</c:v>
                </c:pt>
                <c:pt idx="2">
                  <c:v>516.298</c:v>
                </c:pt>
                <c:pt idx="3">
                  <c:v>579.44</c:v>
                </c:pt>
                <c:pt idx="4">
                  <c:v>651.818</c:v>
                </c:pt>
                <c:pt idx="5">
                  <c:v>736.835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464.105</c:v>
                </c:pt>
                <c:pt idx="1">
                  <c:v>52.192999999999984</c:v>
                </c:pt>
                <c:pt idx="2">
                  <c:v>63.14200000000005</c:v>
                </c:pt>
                <c:pt idx="3">
                  <c:v>72.37799999999993</c:v>
                </c:pt>
                <c:pt idx="4">
                  <c:v>85.01700000000005</c:v>
                </c:pt>
                <c:pt idx="5">
                  <c:v>96.38699999999994</c:v>
                </c:pt>
                <c:pt idx="6">
                  <c:v>833.222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286.679</c:v>
                </c:pt>
                <c:pt idx="2">
                  <c:v>322.134</c:v>
                </c:pt>
                <c:pt idx="3">
                  <c:v>368.951</c:v>
                </c:pt>
                <c:pt idx="4">
                  <c:v>430.763</c:v>
                </c:pt>
                <c:pt idx="5">
                  <c:v>502.809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286.679</c:v>
                </c:pt>
                <c:pt idx="1">
                  <c:v>35.45500000000004</c:v>
                </c:pt>
                <c:pt idx="2">
                  <c:v>46.81700000000001</c:v>
                </c:pt>
                <c:pt idx="3">
                  <c:v>61.811999999999955</c:v>
                </c:pt>
                <c:pt idx="4">
                  <c:v>72.04600000000005</c:v>
                </c:pt>
                <c:pt idx="5">
                  <c:v>81.42599999999999</c:v>
                </c:pt>
                <c:pt idx="6">
                  <c:v>584.235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514.983</c:v>
                </c:pt>
                <c:pt idx="2">
                  <c:v>576.081</c:v>
                </c:pt>
                <c:pt idx="3">
                  <c:v>653.899</c:v>
                </c:pt>
                <c:pt idx="4">
                  <c:v>751.539</c:v>
                </c:pt>
                <c:pt idx="5">
                  <c:v>867.024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514.983</c:v>
                </c:pt>
                <c:pt idx="1">
                  <c:v>61.09800000000007</c:v>
                </c:pt>
                <c:pt idx="2">
                  <c:v>77.81799999999998</c:v>
                </c:pt>
                <c:pt idx="3">
                  <c:v>97.63999999999999</c:v>
                </c:pt>
                <c:pt idx="4">
                  <c:v>115.48500000000001</c:v>
                </c:pt>
                <c:pt idx="5">
                  <c:v>131.09799999999996</c:v>
                </c:pt>
                <c:pt idx="6">
                  <c:v>998.122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357.923</c:v>
                </c:pt>
                <c:pt idx="2">
                  <c:v>408.498</c:v>
                </c:pt>
                <c:pt idx="3">
                  <c:v>475.524</c:v>
                </c:pt>
                <c:pt idx="4">
                  <c:v>558.611</c:v>
                </c:pt>
                <c:pt idx="5">
                  <c:v>654.767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357.923</c:v>
                </c:pt>
                <c:pt idx="1">
                  <c:v>50.57499999999999</c:v>
                </c:pt>
                <c:pt idx="2">
                  <c:v>67.02600000000001</c:v>
                </c:pt>
                <c:pt idx="3">
                  <c:v>83.08699999999999</c:v>
                </c:pt>
                <c:pt idx="4">
                  <c:v>96.15600000000006</c:v>
                </c:pt>
                <c:pt idx="5">
                  <c:v>110.31099999999992</c:v>
                </c:pt>
                <c:pt idx="6">
                  <c:v>765.078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Serums and Oils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17.8459016565153</c:v>
                </c:pt>
                <c:pt idx="1">
                  <c:v>18.32042086419744</c:v>
                </c:pt>
                <c:pt idx="2">
                  <c:v>19.35592968567136</c:v>
                </c:pt>
              </c:numCache>
            </c:numRef>
          </c:val>
        </c:ser>
        <c:ser>
          <c:idx val="1"/>
          <c:order val="1"/>
          <c:tx>
            <c:strRef>
              <c:f>Sheet1!$C$1</c:f>
              <c:strCache>
                <c:ptCount val="1"/>
                <c:pt idx="0">
                  <c:v>Waxes, Clays, Pastes and Pomades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16.152420704957326</c:v>
                </c:pt>
                <c:pt idx="1">
                  <c:v>16.510445830597035</c:v>
                </c:pt>
                <c:pt idx="2">
                  <c:v>16.158131415352493</c:v>
                </c:pt>
              </c:numCache>
            </c:numRef>
          </c:val>
        </c:ser>
        <c:ser>
          <c:idx val="2"/>
          <c:order val="2"/>
          <c:tx>
            <c:strRef>
              <c:f>Sheet1!$D$1</c:f>
              <c:strCache>
                <c:ptCount val="1"/>
                <c:pt idx="0">
                  <c:v>Sticks and Balms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11.80845418091612</c:v>
                </c:pt>
                <c:pt idx="1">
                  <c:v>12.733041667348516</c:v>
                </c:pt>
                <c:pt idx="2">
                  <c:v>14.8366592180656</c:v>
                </c:pt>
              </c:numCache>
            </c:numRef>
          </c:val>
        </c:ser>
        <c:ser>
          <c:idx val="3"/>
          <c:order val="3"/>
          <c:tx>
            <c:strRef>
              <c:f>Sheet1!$E$1</c:f>
              <c:strCache>
                <c:ptCount val="1"/>
                <c:pt idx="0">
                  <c:v>Sprays and Mists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15.448633012644262</c:v>
                </c:pt>
                <c:pt idx="1">
                  <c:v>14.461301369132023</c:v>
                </c:pt>
                <c:pt idx="2">
                  <c:v>12.170696105803101</c:v>
                </c:pt>
              </c:numCache>
            </c:numRef>
          </c:val>
        </c:ser>
        <c:ser>
          <c:idx val="4"/>
          <c:order val="4"/>
          <c:tx>
            <c:strRef>
              <c:f>Sheet1!$F$1</c:f>
              <c:strCache>
                <c:ptCount val="1"/>
                <c:pt idx="0">
                  <c:v>Creams and Lotions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11.836734872012416</c:v>
                </c:pt>
                <c:pt idx="1">
                  <c:v>11.351920932856821</c:v>
                </c:pt>
                <c:pt idx="2">
                  <c:v>11.365700326547756</c:v>
                </c:pt>
              </c:numCache>
            </c:numRef>
          </c:val>
        </c:ser>
        <c:ser>
          <c:idx val="5"/>
          <c:order val="5"/>
          <c:tx>
            <c:strRef>
              <c:f>Sheet1!$G$1</c:f>
              <c:strCache>
                <c:ptCount val="1"/>
                <c:pt idx="0">
                  <c:v>Powders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10.186722390102457</c:v>
                </c:pt>
                <c:pt idx="1">
                  <c:v>10.19855011316346</c:v>
                </c:pt>
                <c:pt idx="2">
                  <c:v>11.329688735353201</c:v>
                </c:pt>
              </c:numCache>
            </c:numRef>
          </c:val>
        </c:ser>
        <c:ser>
          <c:idx val="6"/>
          <c:order val="6"/>
          <c:tx>
            <c:strRef>
              <c:f>Sheet1!$H$1</c:f>
              <c:strCache>
                <c:ptCount val="1"/>
                <c:pt idx="0">
                  <c:v>Gels and Jellies</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8.970172599501772</c:v>
                </c:pt>
                <c:pt idx="1">
                  <c:v>8.957131645996517</c:v>
                </c:pt>
                <c:pt idx="2">
                  <c:v>8.379569540283049</c:v>
                </c:pt>
              </c:numCache>
            </c:numRef>
          </c:val>
        </c:ser>
        <c:ser>
          <c:idx val="7"/>
          <c:order val="7"/>
          <c:tx>
            <c:strRef>
              <c:f>Sheet1!$I$1</c:f>
              <c:strCache>
                <c:ptCount val="1"/>
                <c:pt idx="0">
                  <c:v>Mousses and Foams</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Sheet1!$I$2:$I$4</c:f>
              <c:numCache>
                <c:formatCode>General</c:formatCode>
                <c:ptCount val="3"/>
                <c:pt idx="0">
                  <c:v>7.750960583350354</c:v>
                </c:pt>
                <c:pt idx="1">
                  <c:v>7.467187576708179</c:v>
                </c:pt>
                <c:pt idx="2">
                  <c:v>6.403624972923434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No Hold</c:v>
                </c:pt>
              </c:strCache>
            </c:strRef>
          </c:tx>
          <c:spPr>
            <a:solidFill>
              <a:srgbClr val="3D85C6"/>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Sheet1!$B$2:$B$13</c:f>
              <c:numCache>
                <c:formatCode>General</c:formatCode>
                <c:ptCount val="12"/>
                <c:pt idx="0">
                  <c:v>20.042156764699097</c:v>
                </c:pt>
                <c:pt idx="1">
                  <c:v>17.501903659359503</c:v>
                </c:pt>
                <c:pt idx="2">
                  <c:v>20.057222633964734</c:v>
                </c:pt>
                <c:pt idx="3">
                  <c:v>20.041165131919776</c:v>
                </c:pt>
                <c:pt idx="4">
                  <c:v>16.491870702397023</c:v>
                </c:pt>
                <c:pt idx="5">
                  <c:v>20.046381050028135</c:v>
                </c:pt>
                <c:pt idx="6">
                  <c:v>20.05253962595225</c:v>
                </c:pt>
                <c:pt idx="7">
                  <c:v>18.22349511373902</c:v>
                </c:pt>
                <c:pt idx="8">
                  <c:v>17.523063495841722</c:v>
                </c:pt>
                <c:pt idx="9">
                  <c:v>20.046440500397093</c:v>
                </c:pt>
                <c:pt idx="10">
                  <c:v>20.05342361206239</c:v>
                </c:pt>
                <c:pt idx="11">
                  <c:v>20.055151913427462</c:v>
                </c:pt>
              </c:numCache>
            </c:numRef>
          </c:val>
        </c:ser>
        <c:ser>
          <c:idx val="1"/>
          <c:order val="1"/>
          <c:tx>
            <c:strRef>
              <c:f>Sheet1!$C$1</c:f>
              <c:strCache>
                <c:ptCount val="1"/>
                <c:pt idx="0">
                  <c:v>Light or Flexible Hold</c:v>
                </c:pt>
              </c:strCache>
            </c:strRef>
          </c:tx>
          <c:spPr>
            <a:solidFill>
              <a:srgbClr val="9E7E0A"/>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Sheet1!$C$2:$C$13</c:f>
              <c:numCache>
                <c:formatCode>General</c:formatCode>
                <c:ptCount val="12"/>
                <c:pt idx="0">
                  <c:v>22.210768437814927</c:v>
                </c:pt>
                <c:pt idx="1">
                  <c:v>21.533947044220614</c:v>
                </c:pt>
                <c:pt idx="2">
                  <c:v>22.246160740447092</c:v>
                </c:pt>
                <c:pt idx="3">
                  <c:v>22.208635343206122</c:v>
                </c:pt>
                <c:pt idx="4">
                  <c:v>21.388728230833497</c:v>
                </c:pt>
                <c:pt idx="5">
                  <c:v>22.22120676409353</c:v>
                </c:pt>
                <c:pt idx="6">
                  <c:v>22.235791166364525</c:v>
                </c:pt>
                <c:pt idx="7">
                  <c:v>21.863554241603023</c:v>
                </c:pt>
                <c:pt idx="8">
                  <c:v>21.586999329193084</c:v>
                </c:pt>
                <c:pt idx="9">
                  <c:v>22.221173939247148</c:v>
                </c:pt>
                <c:pt idx="10">
                  <c:v>22.23761346576947</c:v>
                </c:pt>
                <c:pt idx="11">
                  <c:v>22.241820872972493</c:v>
                </c:pt>
              </c:numCache>
            </c:numRef>
          </c:val>
        </c:ser>
        <c:ser>
          <c:idx val="2"/>
          <c:order val="2"/>
          <c:tx>
            <c:strRef>
              <c:f>Sheet1!$D$1</c:f>
              <c:strCache>
                <c:ptCount val="1"/>
                <c:pt idx="0">
                  <c:v>Medium Hold</c:v>
                </c:pt>
              </c:strCache>
            </c:strRef>
          </c:tx>
          <c:spPr>
            <a:solidFill>
              <a:srgbClr val="008189"/>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Sheet1!$D$2:$D$13</c:f>
              <c:numCache>
                <c:formatCode>General</c:formatCode>
                <c:ptCount val="12"/>
                <c:pt idx="0">
                  <c:v>22.015370294866567</c:v>
                </c:pt>
                <c:pt idx="1">
                  <c:v>21.425608706687882</c:v>
                </c:pt>
                <c:pt idx="2">
                  <c:v>22.013478343301333</c:v>
                </c:pt>
                <c:pt idx="3">
                  <c:v>22.01587797945477</c:v>
                </c:pt>
                <c:pt idx="4">
                  <c:v>21.16316432105906</c:v>
                </c:pt>
                <c:pt idx="5">
                  <c:v>22.015290895434152</c:v>
                </c:pt>
                <c:pt idx="6">
                  <c:v>22.014305543967172</c:v>
                </c:pt>
                <c:pt idx="7">
                  <c:v>21.59029317565903</c:v>
                </c:pt>
                <c:pt idx="8">
                  <c:v>21.424707333434316</c:v>
                </c:pt>
                <c:pt idx="9">
                  <c:v>22.015162865623893</c:v>
                </c:pt>
                <c:pt idx="10">
                  <c:v>22.0141065173452</c:v>
                </c:pt>
                <c:pt idx="11">
                  <c:v>22.01384325310306</c:v>
                </c:pt>
              </c:numCache>
            </c:numRef>
          </c:val>
        </c:ser>
        <c:ser>
          <c:idx val="3"/>
          <c:order val="3"/>
          <c:tx>
            <c:strRef>
              <c:f>Sheet1!$E$1</c:f>
              <c:strCache>
                <c:ptCount val="1"/>
                <c:pt idx="0">
                  <c:v>Strong Hold</c:v>
                </c:pt>
              </c:strCache>
            </c:strRef>
          </c:tx>
          <c:spPr>
            <a:solidFill>
              <a:srgbClr val="40315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Sheet1!$E$2:$E$13</c:f>
              <c:numCache>
                <c:formatCode>General</c:formatCode>
                <c:ptCount val="12"/>
                <c:pt idx="0">
                  <c:v>19.761368094714253</c:v>
                </c:pt>
                <c:pt idx="1">
                  <c:v>21.766100624647898</c:v>
                </c:pt>
                <c:pt idx="2">
                  <c:v>19.74238324227121</c:v>
                </c:pt>
                <c:pt idx="3">
                  <c:v>19.76253039545597</c:v>
                </c:pt>
                <c:pt idx="4">
                  <c:v>22.64250369513528</c:v>
                </c:pt>
                <c:pt idx="5">
                  <c:v>19.755642694556226</c:v>
                </c:pt>
                <c:pt idx="6">
                  <c:v>19.747870476421642</c:v>
                </c:pt>
                <c:pt idx="7">
                  <c:v>21.14560236511456</c:v>
                </c:pt>
                <c:pt idx="8">
                  <c:v>21.73832759901615</c:v>
                </c:pt>
                <c:pt idx="9">
                  <c:v>19.75565931992407</c:v>
                </c:pt>
                <c:pt idx="10">
                  <c:v>19.746887816005838</c:v>
                </c:pt>
                <c:pt idx="11">
                  <c:v>19.74463067257083</c:v>
                </c:pt>
              </c:numCache>
            </c:numRef>
          </c:val>
        </c:ser>
        <c:ser>
          <c:idx val="4"/>
          <c:order val="4"/>
          <c:tx>
            <c:strRef>
              <c:f>Sheet1!$F$1</c:f>
              <c:strCache>
                <c:ptCount val="1"/>
                <c:pt idx="0">
                  <c:v>Extra-strong Hold</c:v>
                </c:pt>
              </c:strCache>
            </c:strRef>
          </c:tx>
          <c:spPr>
            <a:solidFill>
              <a:srgbClr val="A35313"/>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Sheet1!$F$2:$F$13</c:f>
              <c:numCache>
                <c:formatCode>General</c:formatCode>
                <c:ptCount val="12"/>
                <c:pt idx="0">
                  <c:v>15.970336407905167</c:v>
                </c:pt>
                <c:pt idx="1">
                  <c:v>17.7724399650841</c:v>
                </c:pt>
                <c:pt idx="2">
                  <c:v>15.940755040015626</c:v>
                </c:pt>
                <c:pt idx="3">
                  <c:v>15.97179114996336</c:v>
                </c:pt>
                <c:pt idx="4">
                  <c:v>18.31373305057516</c:v>
                </c:pt>
                <c:pt idx="5">
                  <c:v>15.961478595887964</c:v>
                </c:pt>
                <c:pt idx="6">
                  <c:v>15.949493187294411</c:v>
                </c:pt>
                <c:pt idx="7">
                  <c:v>17.177055103884374</c:v>
                </c:pt>
                <c:pt idx="8">
                  <c:v>17.726902242514736</c:v>
                </c:pt>
                <c:pt idx="9">
                  <c:v>15.961563374807788</c:v>
                </c:pt>
                <c:pt idx="10">
                  <c:v>15.947968588817105</c:v>
                </c:pt>
                <c:pt idx="11">
                  <c:v>15.944553287926153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4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No Hold</c:v>
                </c:pt>
              </c:strCache>
            </c:strRef>
          </c:tx>
          <c:spPr>
            <a:solidFill>
              <a:srgbClr val="3D85C6"/>
            </a:solidFill>
          </c:spPr>
          <c:invertIfNegative val="0"/>
          <c:xVal>
            <c:numRef>
              <c:f>Sheet1!$A$2:$A$2</c:f>
              <c:numCache>
                <c:formatCode>General</c:formatCode>
                <c:ptCount val="1"/>
                <c:pt idx="0">
                  <c:v>109.70883869363479</c:v>
                </c:pt>
              </c:numCache>
            </c:numRef>
          </c:xVal>
          <c:yVal>
            <c:numRef>
              <c:f>Sheet1!$B$2:$B$2</c:f>
              <c:numCache>
                <c:formatCode>General</c:formatCode>
                <c:ptCount val="1"/>
                <c:pt idx="0">
                  <c:v>90.88758432118641</c:v>
                </c:pt>
              </c:numCache>
            </c:numRef>
          </c:yVal>
          <c:bubbleSize>
            <c:numRef>
              <c:f>Sheet1!$C$2:$C$2</c:f>
              <c:numCache>
                <c:formatCode>General</c:formatCode>
                <c:ptCount val="1"/>
                <c:pt idx="0">
                  <c:v>992.331</c:v>
                </c:pt>
              </c:numCache>
            </c:numRef>
          </c:bubbleSize>
          <c:bubble3D val="0"/>
        </c:ser>
        <c:ser>
          <c:idx val="1"/>
          <c:order val="1"/>
          <c:tx>
            <c:strRef>
              <c:f>Sheet1!$B$4</c:f>
              <c:strCache>
                <c:ptCount val="1"/>
                <c:pt idx="0">
                  <c:v>Light or Flexible Hold</c:v>
                </c:pt>
              </c:strCache>
            </c:strRef>
          </c:tx>
          <c:spPr>
            <a:solidFill>
              <a:srgbClr val="9E7E0A"/>
            </a:solidFill>
          </c:spPr>
          <c:invertIfNegative val="0"/>
          <c:xVal>
            <c:numRef>
              <c:f>Sheet1!$A$5:$A$5</c:f>
              <c:numCache>
                <c:formatCode>General</c:formatCode>
                <c:ptCount val="1"/>
                <c:pt idx="0">
                  <c:v>116.72224848191972</c:v>
                </c:pt>
              </c:numCache>
            </c:numRef>
          </c:xVal>
          <c:yVal>
            <c:numRef>
              <c:f>Sheet1!$B$5:$B$5</c:f>
              <c:numCache>
                <c:formatCode>General</c:formatCode>
                <c:ptCount val="1"/>
                <c:pt idx="0">
                  <c:v>99.9031298003755</c:v>
                </c:pt>
              </c:numCache>
            </c:numRef>
          </c:yVal>
          <c:bubbleSize>
            <c:numRef>
              <c:f>Sheet1!$C$5:$C$5</c:f>
              <c:numCache>
                <c:formatCode>General</c:formatCode>
                <c:ptCount val="1"/>
                <c:pt idx="0">
                  <c:v>1136.382</c:v>
                </c:pt>
              </c:numCache>
            </c:numRef>
          </c:bubbleSize>
          <c:bubble3D val="0"/>
        </c:ser>
        <c:ser>
          <c:idx val="2"/>
          <c:order val="2"/>
          <c:tx>
            <c:strRef>
              <c:f>Sheet1!$B$7</c:f>
              <c:strCache>
                <c:ptCount val="1"/>
                <c:pt idx="0">
                  <c:v>Medium Hold</c:v>
                </c:pt>
              </c:strCache>
            </c:strRef>
          </c:tx>
          <c:spPr>
            <a:solidFill>
              <a:srgbClr val="008189"/>
            </a:solidFill>
          </c:spPr>
          <c:invertIfNegative val="0"/>
          <c:xVal>
            <c:numRef>
              <c:f>Sheet1!$A$8:$A$8</c:f>
              <c:numCache>
                <c:formatCode>General</c:formatCode>
                <c:ptCount val="1"/>
                <c:pt idx="0">
                  <c:v>98.95255765800688</c:v>
                </c:pt>
              </c:numCache>
            </c:numRef>
          </c:xVal>
          <c:yVal>
            <c:numRef>
              <c:f>Sheet1!$B$8:$B$8</c:f>
              <c:numCache>
                <c:formatCode>General</c:formatCode>
                <c:ptCount val="1"/>
                <c:pt idx="0">
                  <c:v>109.80181986482995</c:v>
                </c:pt>
              </c:numCache>
            </c:numRef>
          </c:yVal>
          <c:bubbleSize>
            <c:numRef>
              <c:f>Sheet1!$C$8:$C$8</c:f>
              <c:numCache>
                <c:formatCode>General</c:formatCode>
                <c:ptCount val="1"/>
                <c:pt idx="0">
                  <c:v>1125.46</c:v>
                </c:pt>
              </c:numCache>
            </c:numRef>
          </c:bubbleSize>
          <c:bubble3D val="0"/>
        </c:ser>
        <c:ser>
          <c:idx val="3"/>
          <c:order val="3"/>
          <c:tx>
            <c:strRef>
              <c:f>Sheet1!$B$10</c:f>
              <c:strCache>
                <c:ptCount val="1"/>
                <c:pt idx="0">
                  <c:v>Strong Hold</c:v>
                </c:pt>
              </c:strCache>
            </c:strRef>
          </c:tx>
          <c:spPr>
            <a:solidFill>
              <a:srgbClr val="40315E"/>
            </a:solidFill>
          </c:spPr>
          <c:invertIfNegative val="0"/>
          <c:xVal>
            <c:numRef>
              <c:f>Sheet1!$A$11:$A$11</c:f>
              <c:numCache>
                <c:formatCode>General</c:formatCode>
                <c:ptCount val="1"/>
                <c:pt idx="0">
                  <c:v>90.36423834028086</c:v>
                </c:pt>
              </c:numCache>
            </c:numRef>
          </c:xVal>
          <c:yVal>
            <c:numRef>
              <c:f>Sheet1!$B$11:$B$11</c:f>
              <c:numCache>
                <c:formatCode>General</c:formatCode>
                <c:ptCount val="1"/>
                <c:pt idx="0">
                  <c:v>107.90265878993004</c:v>
                </c:pt>
              </c:numCache>
            </c:numRef>
          </c:yVal>
          <c:bubbleSize>
            <c:numRef>
              <c:f>Sheet1!$C$11:$C$11</c:f>
              <c:numCache>
                <c:formatCode>General</c:formatCode>
                <c:ptCount val="1"/>
                <c:pt idx="0">
                  <c:v>1051.296</c:v>
                </c:pt>
              </c:numCache>
            </c:numRef>
          </c:bubbleSize>
          <c:bubble3D val="0"/>
        </c:ser>
        <c:ser>
          <c:idx val="4"/>
          <c:order val="4"/>
          <c:tx>
            <c:strRef>
              <c:f>Sheet1!$B$13</c:f>
              <c:strCache>
                <c:ptCount val="1"/>
                <c:pt idx="0">
                  <c:v>Extra-strong Hold</c:v>
                </c:pt>
              </c:strCache>
            </c:strRef>
          </c:tx>
          <c:spPr>
            <a:solidFill>
              <a:srgbClr val="A35313"/>
            </a:solidFill>
          </c:spPr>
          <c:invertIfNegative val="0"/>
          <c:xVal>
            <c:numRef>
              <c:f>Sheet1!$A$14:$A$14</c:f>
              <c:numCache>
                <c:formatCode>General</c:formatCode>
                <c:ptCount val="1"/>
                <c:pt idx="0">
                  <c:v>82.56380614000462</c:v>
                </c:pt>
              </c:numCache>
            </c:numRef>
          </c:xVal>
          <c:yVal>
            <c:numRef>
              <c:f>Sheet1!$B$14:$B$14</c:f>
              <c:numCache>
                <c:formatCode>General</c:formatCode>
                <c:ptCount val="1"/>
                <c:pt idx="0">
                  <c:v>91.50480722367801</c:v>
                </c:pt>
              </c:numCache>
            </c:numRef>
          </c:yVal>
          <c:bubbleSize>
            <c:numRef>
              <c:f>Sheet1!$C$14:$C$14</c:f>
              <c:numCache>
                <c:formatCode>General</c:formatCode>
                <c:ptCount val="1"/>
                <c:pt idx="0">
                  <c:v>851.202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7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510.966</c:v>
                </c:pt>
                <c:pt idx="2">
                  <c:v>565.746</c:v>
                </c:pt>
                <c:pt idx="3">
                  <c:v>641.539</c:v>
                </c:pt>
                <c:pt idx="4">
                  <c:v>739.188</c:v>
                </c:pt>
                <c:pt idx="5">
                  <c:v>856.531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510.966</c:v>
                </c:pt>
                <c:pt idx="1">
                  <c:v>54.77999999999997</c:v>
                </c:pt>
                <c:pt idx="2">
                  <c:v>75.793</c:v>
                </c:pt>
                <c:pt idx="3">
                  <c:v>97.649</c:v>
                </c:pt>
                <c:pt idx="4">
                  <c:v>117.34299999999996</c:v>
                </c:pt>
                <c:pt idx="5">
                  <c:v>135.80000000000007</c:v>
                </c:pt>
                <c:pt idx="6">
                  <c:v>992.331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561.651</c:v>
                </c:pt>
                <c:pt idx="2">
                  <c:v>629.351</c:v>
                </c:pt>
                <c:pt idx="3">
                  <c:v>719.293</c:v>
                </c:pt>
                <c:pt idx="4">
                  <c:v>838.853</c:v>
                </c:pt>
                <c:pt idx="5">
                  <c:v>977.997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561.651</c:v>
                </c:pt>
                <c:pt idx="1">
                  <c:v>67.70000000000005</c:v>
                </c:pt>
                <c:pt idx="2">
                  <c:v>89.94200000000001</c:v>
                </c:pt>
                <c:pt idx="3">
                  <c:v>119.55999999999995</c:v>
                </c:pt>
                <c:pt idx="4">
                  <c:v>139.144</c:v>
                </c:pt>
                <c:pt idx="5">
                  <c:v>158.3850000000001</c:v>
                </c:pt>
                <c:pt idx="6">
                  <c:v>1136.382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617.301</c:v>
                </c:pt>
                <c:pt idx="2">
                  <c:v>688.507</c:v>
                </c:pt>
                <c:pt idx="3">
                  <c:v>776.827</c:v>
                </c:pt>
                <c:pt idx="4">
                  <c:v>876.784</c:v>
                </c:pt>
                <c:pt idx="5">
                  <c:v>993.945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617.301</c:v>
                </c:pt>
                <c:pt idx="1">
                  <c:v>71.2059999999999</c:v>
                </c:pt>
                <c:pt idx="2">
                  <c:v>88.32000000000005</c:v>
                </c:pt>
                <c:pt idx="3">
                  <c:v>99.957</c:v>
                </c:pt>
                <c:pt idx="4">
                  <c:v>117.16100000000006</c:v>
                </c:pt>
                <c:pt idx="5">
                  <c:v>131.515</c:v>
                </c:pt>
                <c:pt idx="6">
                  <c:v>1125.46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606.624</c:v>
                </c:pt>
                <c:pt idx="2">
                  <c:v>671.363</c:v>
                </c:pt>
                <c:pt idx="3">
                  <c:v>748.34</c:v>
                </c:pt>
                <c:pt idx="4">
                  <c:v>837.825</c:v>
                </c:pt>
                <c:pt idx="5">
                  <c:v>938.777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606.624</c:v>
                </c:pt>
                <c:pt idx="1">
                  <c:v>64.73900000000003</c:v>
                </c:pt>
                <c:pt idx="2">
                  <c:v>76.97699999999998</c:v>
                </c:pt>
                <c:pt idx="3">
                  <c:v>89.48500000000001</c:v>
                </c:pt>
                <c:pt idx="4">
                  <c:v>100.952</c:v>
                </c:pt>
                <c:pt idx="5">
                  <c:v>112.519</c:v>
                </c:pt>
                <c:pt idx="6">
                  <c:v>1051.296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514.436</c:v>
                </c:pt>
                <c:pt idx="2">
                  <c:v>562.584</c:v>
                </c:pt>
                <c:pt idx="3">
                  <c:v>620.653</c:v>
                </c:pt>
                <c:pt idx="4">
                  <c:v>687.746</c:v>
                </c:pt>
                <c:pt idx="5">
                  <c:v>764.806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514.436</c:v>
                </c:pt>
                <c:pt idx="1">
                  <c:v>48.14799999999991</c:v>
                </c:pt>
                <c:pt idx="2">
                  <c:v>58.069000000000074</c:v>
                </c:pt>
                <c:pt idx="3">
                  <c:v>67.09299999999996</c:v>
                </c:pt>
                <c:pt idx="4">
                  <c:v>77.06000000000006</c:v>
                </c:pt>
                <c:pt idx="5">
                  <c:v>86.39599999999996</c:v>
                </c:pt>
                <c:pt idx="6">
                  <c:v>851.202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Light or Flexible Hold</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20.028490177697012</c:v>
                </c:pt>
                <c:pt idx="1">
                  <c:v>19.980625960075105</c:v>
                </c:pt>
                <c:pt idx="2">
                  <c:v>22.037124338550974</c:v>
                </c:pt>
              </c:numCache>
            </c:numRef>
          </c:val>
        </c:ser>
        <c:ser>
          <c:idx val="1"/>
          <c:order val="1"/>
          <c:tx>
            <c:strRef>
              <c:f>Sheet1!$C$1</c:f>
              <c:strCache>
                <c:ptCount val="1"/>
                <c:pt idx="0">
                  <c:v>Medium Hold</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21.15068371189308</c:v>
                </c:pt>
                <c:pt idx="1">
                  <c:v>21.960363972965993</c:v>
                </c:pt>
                <c:pt idx="2">
                  <c:v>21.825321025909933</c:v>
                </c:pt>
              </c:numCache>
            </c:numRef>
          </c:val>
        </c:ser>
        <c:ser>
          <c:idx val="2"/>
          <c:order val="2"/>
          <c:tx>
            <c:strRef>
              <c:f>Sheet1!$D$1</c:f>
              <c:strCache>
                <c:ptCount val="1"/>
                <c:pt idx="0">
                  <c:v>Strong Hold</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21.51313917416891</c:v>
                </c:pt>
                <c:pt idx="1">
                  <c:v>21.58053175798601</c:v>
                </c:pt>
                <c:pt idx="2">
                  <c:v>20.387106332748395</c:v>
                </c:pt>
              </c:numCache>
            </c:numRef>
          </c:val>
        </c:ser>
        <c:ser>
          <c:idx val="3"/>
          <c:order val="3"/>
          <c:tx>
            <c:strRef>
              <c:f>Sheet1!$E$1</c:f>
              <c:strCache>
                <c:ptCount val="1"/>
                <c:pt idx="0">
                  <c:v>No Hold</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18.711735963088465</c:v>
                </c:pt>
                <c:pt idx="1">
                  <c:v>18.177516864237287</c:v>
                </c:pt>
                <c:pt idx="2">
                  <c:v>19.24363605900008</c:v>
                </c:pt>
              </c:numCache>
            </c:numRef>
          </c:val>
        </c:ser>
        <c:ser>
          <c:idx val="4"/>
          <c:order val="4"/>
          <c:tx>
            <c:strRef>
              <c:f>Sheet1!$F$1</c:f>
              <c:strCache>
                <c:ptCount val="1"/>
                <c:pt idx="0">
                  <c:v>Extra-strong Hold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18.595950973152547</c:v>
                </c:pt>
                <c:pt idx="1">
                  <c:v>18.300961444735606</c:v>
                </c:pt>
                <c:pt idx="2">
                  <c:v>16.506812243790613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Matte</c:v>
                </c:pt>
              </c:strCache>
            </c:strRef>
          </c:tx>
          <c:spPr>
            <a:solidFill>
              <a:srgbClr val="3D85C6"/>
            </a:solidFill>
            <a:ln>
              <a:noFill/>
            </a:ln>
          </c:spPr>
          <c:dLbls>
            <c:dLbl>
              <c:idx val="0"/>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Sheet1!$B$2:$B$13</c:f>
              <c:numCache>
                <c:formatCode>General</c:formatCode>
                <c:ptCount val="12"/>
                <c:pt idx="0">
                  <c:v>32.13145525459455</c:v>
                </c:pt>
                <c:pt idx="1">
                  <c:v>33.09519534949948</c:v>
                </c:pt>
                <c:pt idx="2">
                  <c:v>31.754722618007996</c:v>
                </c:pt>
                <c:pt idx="3">
                  <c:v>35.19025860982633</c:v>
                </c:pt>
                <c:pt idx="4">
                  <c:v>33.09459546301651</c:v>
                </c:pt>
                <c:pt idx="5">
                  <c:v>31.310921537771712</c:v>
                </c:pt>
                <c:pt idx="6">
                  <c:v>36.09558267658801</c:v>
                </c:pt>
                <c:pt idx="7">
                  <c:v>30.780980537078094</c:v>
                </c:pt>
                <c:pt idx="8">
                  <c:v>33.09448725753541</c:v>
                </c:pt>
                <c:pt idx="9">
                  <c:v>33.09502855010526</c:v>
                </c:pt>
                <c:pt idx="10">
                  <c:v>31.754620401613607</c:v>
                </c:pt>
                <c:pt idx="11">
                  <c:v>37.59009772563124</c:v>
                </c:pt>
              </c:numCache>
            </c:numRef>
          </c:val>
        </c:ser>
        <c:ser>
          <c:idx val="1"/>
          <c:order val="1"/>
          <c:tx>
            <c:strRef>
              <c:f>Sheet1!$C$1</c:f>
              <c:strCache>
                <c:ptCount val="1"/>
                <c:pt idx="0">
                  <c:v>Natural</c:v>
                </c:pt>
              </c:strCache>
            </c:strRef>
          </c:tx>
          <c:spPr>
            <a:solidFill>
              <a:srgbClr val="9E7E0A"/>
            </a:solidFill>
            <a:ln>
              <a:noFill/>
            </a:ln>
          </c:spPr>
          <c:dLbls>
            <c:dLbl>
              <c:idx val="0"/>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Sheet1!$C$2:$C$13</c:f>
              <c:numCache>
                <c:formatCode>General</c:formatCode>
                <c:ptCount val="12"/>
                <c:pt idx="0">
                  <c:v>33.917732766114575</c:v>
                </c:pt>
                <c:pt idx="1">
                  <c:v>32.369018949922925</c:v>
                </c:pt>
                <c:pt idx="2">
                  <c:v>34.768695132601</c:v>
                </c:pt>
                <c:pt idx="3">
                  <c:v>31.219400637540197</c:v>
                </c:pt>
                <c:pt idx="4">
                  <c:v>32.3391812865497</c:v>
                </c:pt>
                <c:pt idx="5">
                  <c:v>30.65718863435796</c:v>
                </c:pt>
                <c:pt idx="6">
                  <c:v>30.919494021658057</c:v>
                </c:pt>
                <c:pt idx="7">
                  <c:v>29.956680627412336</c:v>
                </c:pt>
                <c:pt idx="8">
                  <c:v>32.32745811417872</c:v>
                </c:pt>
                <c:pt idx="9">
                  <c:v>32.35251459188487</c:v>
                </c:pt>
                <c:pt idx="10">
                  <c:v>34.77552857506283</c:v>
                </c:pt>
                <c:pt idx="11">
                  <c:v>30.057018901483328</c:v>
                </c:pt>
              </c:numCache>
            </c:numRef>
          </c:val>
        </c:ser>
        <c:ser>
          <c:idx val="2"/>
          <c:order val="2"/>
          <c:tx>
            <c:strRef>
              <c:f>Sheet1!$D$1</c:f>
              <c:strCache>
                <c:ptCount val="1"/>
                <c:pt idx="0">
                  <c:v>Glossy or Wet-look</c:v>
                </c:pt>
              </c:strCache>
            </c:strRef>
          </c:tx>
          <c:spPr>
            <a:solidFill>
              <a:srgbClr val="008189"/>
            </a:solidFill>
            <a:ln>
              <a:noFill/>
            </a:ln>
          </c:spPr>
          <c:dLbls>
            <c:dLbl>
              <c:idx val="0"/>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Sheet1!$D$2:$D$13</c:f>
              <c:numCache>
                <c:formatCode>General</c:formatCode>
                <c:ptCount val="12"/>
                <c:pt idx="0">
                  <c:v>33.950811979290876</c:v>
                </c:pt>
                <c:pt idx="1">
                  <c:v>34.5357857005776</c:v>
                </c:pt>
                <c:pt idx="2">
                  <c:v>33.476582249391</c:v>
                </c:pt>
                <c:pt idx="3">
                  <c:v>33.590340752633466</c:v>
                </c:pt>
                <c:pt idx="4">
                  <c:v>34.56622325043377</c:v>
                </c:pt>
                <c:pt idx="5">
                  <c:v>38.03188982787033</c:v>
                </c:pt>
                <c:pt idx="6">
                  <c:v>32.98492330175393</c:v>
                </c:pt>
                <c:pt idx="7">
                  <c:v>39.26233883550957</c:v>
                </c:pt>
                <c:pt idx="8">
                  <c:v>34.578054628285884</c:v>
                </c:pt>
                <c:pt idx="9">
                  <c:v>34.552456858009876</c:v>
                </c:pt>
                <c:pt idx="10">
                  <c:v>33.46985102332356</c:v>
                </c:pt>
                <c:pt idx="11">
                  <c:v>32.35288337288544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5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Matte</c:v>
                </c:pt>
              </c:strCache>
            </c:strRef>
          </c:tx>
          <c:spPr>
            <a:solidFill>
              <a:srgbClr val="3D85C6"/>
            </a:solidFill>
          </c:spPr>
          <c:invertIfNegative val="0"/>
          <c:xVal>
            <c:numRef>
              <c:f>Sheet1!$A$2:$A$2</c:f>
              <c:numCache>
                <c:formatCode>General</c:formatCode>
                <c:ptCount val="1"/>
                <c:pt idx="0">
                  <c:v>99.06607065677653</c:v>
                </c:pt>
              </c:numCache>
            </c:numRef>
          </c:xVal>
          <c:yVal>
            <c:numRef>
              <c:f>Sheet1!$B$2:$B$2</c:f>
              <c:numCache>
                <c:formatCode>General</c:formatCode>
                <c:ptCount val="1"/>
                <c:pt idx="0">
                  <c:v>101.13451617195155</c:v>
                </c:pt>
              </c:numCache>
            </c:numRef>
          </c:yVal>
          <c:bubbleSize>
            <c:numRef>
              <c:f>Sheet1!$C$2:$C$2</c:f>
              <c:numCache>
                <c:formatCode>General</c:formatCode>
                <c:ptCount val="1"/>
                <c:pt idx="0">
                  <c:v>1728.857</c:v>
                </c:pt>
              </c:numCache>
            </c:numRef>
          </c:bubbleSize>
          <c:bubble3D val="0"/>
        </c:ser>
        <c:ser>
          <c:idx val="1"/>
          <c:order val="1"/>
          <c:tx>
            <c:strRef>
              <c:f>Sheet1!$B$4</c:f>
              <c:strCache>
                <c:ptCount val="1"/>
                <c:pt idx="0">
                  <c:v>Natural</c:v>
                </c:pt>
              </c:strCache>
            </c:strRef>
          </c:tx>
          <c:spPr>
            <a:solidFill>
              <a:srgbClr val="9E7E0A"/>
            </a:solidFill>
          </c:spPr>
          <c:invertIfNegative val="0"/>
          <c:xVal>
            <c:numRef>
              <c:f>Sheet1!$A$5:$A$5</c:f>
              <c:numCache>
                <c:formatCode>General</c:formatCode>
                <c:ptCount val="1"/>
                <c:pt idx="0">
                  <c:v>90.81040792324082</c:v>
                </c:pt>
              </c:numCache>
            </c:numRef>
          </c:xVal>
          <c:yVal>
            <c:numRef>
              <c:f>Sheet1!$B$5:$B$5</c:f>
              <c:numCache>
                <c:formatCode>General</c:formatCode>
                <c:ptCount val="1"/>
                <c:pt idx="0">
                  <c:v>101.17805973579301</c:v>
                </c:pt>
              </c:numCache>
            </c:numRef>
          </c:yVal>
          <c:bubbleSize>
            <c:numRef>
              <c:f>Sheet1!$C$5:$C$5</c:f>
              <c:numCache>
                <c:formatCode>General</c:formatCode>
                <c:ptCount val="1"/>
                <c:pt idx="0">
                  <c:v>1647.309</c:v>
                </c:pt>
              </c:numCache>
            </c:numRef>
          </c:bubbleSize>
          <c:bubble3D val="0"/>
        </c:ser>
        <c:ser>
          <c:idx val="2"/>
          <c:order val="2"/>
          <c:tx>
            <c:strRef>
              <c:f>Sheet1!$B$7</c:f>
              <c:strCache>
                <c:ptCount val="1"/>
                <c:pt idx="0">
                  <c:v>Glossy or Wet-look</c:v>
                </c:pt>
              </c:strCache>
            </c:strRef>
          </c:tx>
          <c:spPr>
            <a:solidFill>
              <a:srgbClr val="008189"/>
            </a:solidFill>
          </c:spPr>
          <c:invertIfNegative val="0"/>
          <c:xVal>
            <c:numRef>
              <c:f>Sheet1!$A$8:$A$8</c:f>
              <c:numCache>
                <c:formatCode>General</c:formatCode>
                <c:ptCount val="1"/>
                <c:pt idx="0">
                  <c:v>109.98570068518237</c:v>
                </c:pt>
              </c:numCache>
            </c:numRef>
          </c:xVal>
          <c:yVal>
            <c:numRef>
              <c:f>Sheet1!$B$8:$B$8</c:f>
              <c:numCache>
                <c:formatCode>General</c:formatCode>
                <c:ptCount val="1"/>
                <c:pt idx="0">
                  <c:v>97.68742409225543</c:v>
                </c:pt>
              </c:numCache>
            </c:numRef>
          </c:yVal>
          <c:bubbleSize>
            <c:numRef>
              <c:f>Sheet1!$C$8:$C$8</c:f>
              <c:numCache>
                <c:formatCode>General</c:formatCode>
                <c:ptCount val="1"/>
                <c:pt idx="0">
                  <c:v>1780.505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947.623</c:v>
                </c:pt>
                <c:pt idx="2">
                  <c:v>1056.031</c:v>
                </c:pt>
                <c:pt idx="3">
                  <c:v>1190.473</c:v>
                </c:pt>
                <c:pt idx="4">
                  <c:v>1345.465</c:v>
                </c:pt>
                <c:pt idx="5">
                  <c:v>1526.216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947.623</c:v>
                </c:pt>
                <c:pt idx="1">
                  <c:v>108.4079999999999</c:v>
                </c:pt>
                <c:pt idx="2">
                  <c:v>134.442</c:v>
                </c:pt>
                <c:pt idx="3">
                  <c:v>154.99199999999996</c:v>
                </c:pt>
                <c:pt idx="4">
                  <c:v>180.75099999999998</c:v>
                </c:pt>
                <c:pt idx="5">
                  <c:v>202.64100000000008</c:v>
                </c:pt>
                <c:pt idx="6">
                  <c:v>1728.857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948.031</c:v>
                </c:pt>
                <c:pt idx="2">
                  <c:v>1048.732</c:v>
                </c:pt>
                <c:pt idx="3">
                  <c:v>1168.468</c:v>
                </c:pt>
                <c:pt idx="4">
                  <c:v>1310.491</c:v>
                </c:pt>
                <c:pt idx="5">
                  <c:v>1469.891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948.031</c:v>
                </c:pt>
                <c:pt idx="1">
                  <c:v>100.70100000000002</c:v>
                </c:pt>
                <c:pt idx="2">
                  <c:v>119.7360000000001</c:v>
                </c:pt>
                <c:pt idx="3">
                  <c:v>142.0229999999999</c:v>
                </c:pt>
                <c:pt idx="4">
                  <c:v>159.4000000000001</c:v>
                </c:pt>
                <c:pt idx="5">
                  <c:v>177.4179999999999</c:v>
                </c:pt>
                <c:pt idx="6">
                  <c:v>1647.309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915.324</c:v>
                </c:pt>
                <c:pt idx="2">
                  <c:v>1012.787</c:v>
                </c:pt>
                <c:pt idx="3">
                  <c:v>1147.711</c:v>
                </c:pt>
                <c:pt idx="4">
                  <c:v>1324.441</c:v>
                </c:pt>
                <c:pt idx="5">
                  <c:v>1535.95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915.324</c:v>
                </c:pt>
                <c:pt idx="1">
                  <c:v>97.46300000000008</c:v>
                </c:pt>
                <c:pt idx="2">
                  <c:v>134.92399999999998</c:v>
                </c:pt>
                <c:pt idx="3">
                  <c:v>176.73000000000002</c:v>
                </c:pt>
                <c:pt idx="4">
                  <c:v>211.50900000000001</c:v>
                </c:pt>
                <c:pt idx="5">
                  <c:v>244.55500000000006</c:v>
                </c:pt>
                <c:pt idx="6">
                  <c:v>1780.505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Glossy or Wet-look</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33.65333880326363</c:v>
                </c:pt>
                <c:pt idx="1">
                  <c:v>32.56247469741847</c:v>
                </c:pt>
                <c:pt idx="2">
                  <c:v>34.528186886462215</c:v>
                </c:pt>
              </c:numCache>
            </c:numRef>
          </c:val>
        </c:ser>
        <c:ser>
          <c:idx val="1"/>
          <c:order val="1"/>
          <c:tx>
            <c:strRef>
              <c:f>Sheet1!$C$1</c:f>
              <c:strCache>
                <c:ptCount val="1"/>
                <c:pt idx="0">
                  <c:v>Matte</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32.61162258353828</c:v>
                </c:pt>
                <c:pt idx="1">
                  <c:v>33.711505390650515</c:v>
                </c:pt>
                <c:pt idx="2">
                  <c:v>33.52661048183993</c:v>
                </c:pt>
              </c:numCache>
            </c:numRef>
          </c:val>
        </c:ser>
        <c:ser>
          <c:idx val="2"/>
          <c:order val="2"/>
          <c:tx>
            <c:strRef>
              <c:f>Sheet1!$D$1</c:f>
              <c:strCache>
                <c:ptCount val="1"/>
                <c:pt idx="0">
                  <c:v>Natural</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33.7350386131981</c:v>
                </c:pt>
                <c:pt idx="1">
                  <c:v>33.726019911931004</c:v>
                </c:pt>
                <c:pt idx="2">
                  <c:v>31.94520263169785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Mass Retail</c:v>
                </c:pt>
              </c:strCache>
            </c:strRef>
          </c:tx>
          <c:spPr>
            <a:solidFill>
              <a:srgbClr val="3D85C6"/>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Sheet1!$B$2:$B$13</c:f>
              <c:numCache>
                <c:formatCode>General</c:formatCode>
                <c:ptCount val="12"/>
                <c:pt idx="0">
                  <c:v>17.03515655050388</c:v>
                </c:pt>
                <c:pt idx="1">
                  <c:v>21.1137250046431</c:v>
                </c:pt>
                <c:pt idx="2">
                  <c:v>15.96267867812658</c:v>
                </c:pt>
                <c:pt idx="3">
                  <c:v>16.032315727080523</c:v>
                </c:pt>
                <c:pt idx="4">
                  <c:v>20.427029111239637</c:v>
                </c:pt>
                <c:pt idx="5">
                  <c:v>17.2390058890393</c:v>
                </c:pt>
                <c:pt idx="6">
                  <c:v>16.86876757215963</c:v>
                </c:pt>
                <c:pt idx="7">
                  <c:v>16.79231337767923</c:v>
                </c:pt>
                <c:pt idx="8">
                  <c:v>18.58014388406182</c:v>
                </c:pt>
                <c:pt idx="9">
                  <c:v>17.201995054607718</c:v>
                </c:pt>
                <c:pt idx="10">
                  <c:v>16.06300687434129</c:v>
                </c:pt>
                <c:pt idx="11">
                  <c:v>16.715574580986715</c:v>
                </c:pt>
              </c:numCache>
            </c:numRef>
          </c:val>
        </c:ser>
        <c:ser>
          <c:idx val="1"/>
          <c:order val="1"/>
          <c:tx>
            <c:strRef>
              <c:f>Sheet1!$C$1</c:f>
              <c:strCache>
                <c:ptCount val="1"/>
                <c:pt idx="0">
                  <c:v>Beauty Specialty Retail</c:v>
                </c:pt>
              </c:strCache>
            </c:strRef>
          </c:tx>
          <c:spPr>
            <a:solidFill>
              <a:srgbClr val="9E7E0A"/>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Sheet1!$C$2:$C$13</c:f>
              <c:numCache>
                <c:formatCode>General</c:formatCode>
                <c:ptCount val="12"/>
                <c:pt idx="0">
                  <c:v>15.82044772674821</c:v>
                </c:pt>
                <c:pt idx="1">
                  <c:v>15.453476134464186</c:v>
                </c:pt>
                <c:pt idx="2">
                  <c:v>17.386358413384198</c:v>
                </c:pt>
                <c:pt idx="3">
                  <c:v>15.54505953019915</c:v>
                </c:pt>
                <c:pt idx="4">
                  <c:v>15.652593021014072</c:v>
                </c:pt>
                <c:pt idx="5">
                  <c:v>16.16801183519829</c:v>
                </c:pt>
                <c:pt idx="6">
                  <c:v>15.776512469912415</c:v>
                </c:pt>
                <c:pt idx="7">
                  <c:v>17.306397306397304</c:v>
                </c:pt>
                <c:pt idx="8">
                  <c:v>16.120814140857505</c:v>
                </c:pt>
                <c:pt idx="9">
                  <c:v>16.030421484856845</c:v>
                </c:pt>
                <c:pt idx="10">
                  <c:v>17.698283790923856</c:v>
                </c:pt>
                <c:pt idx="11">
                  <c:v>15.598779042272895</c:v>
                </c:pt>
              </c:numCache>
            </c:numRef>
          </c:val>
        </c:ser>
        <c:ser>
          <c:idx val="2"/>
          <c:order val="2"/>
          <c:tx>
            <c:strRef>
              <c:f>Sheet1!$D$1</c:f>
              <c:strCache>
                <c:ptCount val="1"/>
                <c:pt idx="0">
                  <c:v>Salon and Professional Distribution</c:v>
                </c:pt>
              </c:strCache>
            </c:strRef>
          </c:tx>
          <c:spPr>
            <a:solidFill>
              <a:srgbClr val="008189"/>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Sheet1!$D$2:$D$13</c:f>
              <c:numCache>
                <c:formatCode>General</c:formatCode>
                <c:ptCount val="12"/>
                <c:pt idx="0">
                  <c:v>16.968228325255787</c:v>
                </c:pt>
                <c:pt idx="1">
                  <c:v>16.445242369838418</c:v>
                </c:pt>
                <c:pt idx="2">
                  <c:v>20.783540929356068</c:v>
                </c:pt>
                <c:pt idx="3">
                  <c:v>16.516771600991316</c:v>
                </c:pt>
                <c:pt idx="4">
                  <c:v>16.81575734207313</c:v>
                </c:pt>
                <c:pt idx="5">
                  <c:v>18.959736335543866</c:v>
                </c:pt>
                <c:pt idx="6">
                  <c:v>16.910738485810796</c:v>
                </c:pt>
                <c:pt idx="7">
                  <c:v>19.840888560400753</c:v>
                </c:pt>
                <c:pt idx="8">
                  <c:v>17.247333730526822</c:v>
                </c:pt>
                <c:pt idx="9">
                  <c:v>17.94380389660863</c:v>
                </c:pt>
                <c:pt idx="10">
                  <c:v>20.596326043381875</c:v>
                </c:pt>
                <c:pt idx="11">
                  <c:v>18.68986568236674</c:v>
                </c:pt>
              </c:numCache>
            </c:numRef>
          </c:val>
        </c:ser>
        <c:ser>
          <c:idx val="3"/>
          <c:order val="3"/>
          <c:tx>
            <c:strRef>
              <c:f>Sheet1!$E$1</c:f>
              <c:strCache>
                <c:ptCount val="1"/>
                <c:pt idx="0">
                  <c:v>Pharmacies and Drugstores</c:v>
                </c:pt>
              </c:strCache>
            </c:strRef>
          </c:tx>
          <c:spPr>
            <a:solidFill>
              <a:srgbClr val="40315E"/>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Sheet1!$E$2:$E$13</c:f>
              <c:numCache>
                <c:formatCode>General</c:formatCode>
                <c:ptCount val="12"/>
                <c:pt idx="0">
                  <c:v>15.455804292637895</c:v>
                </c:pt>
                <c:pt idx="1">
                  <c:v>15.61072246641491</c:v>
                </c:pt>
                <c:pt idx="2">
                  <c:v>13.508296180539595</c:v>
                </c:pt>
                <c:pt idx="3">
                  <c:v>13.534427637320837</c:v>
                </c:pt>
                <c:pt idx="4">
                  <c:v>15.481652850073901</c:v>
                </c:pt>
                <c:pt idx="5">
                  <c:v>14.557807975050121</c:v>
                </c:pt>
                <c:pt idx="6">
                  <c:v>14.195270939946194</c:v>
                </c:pt>
                <c:pt idx="7">
                  <c:v>14.184733514001804</c:v>
                </c:pt>
                <c:pt idx="8">
                  <c:v>15.60826143217585</c:v>
                </c:pt>
                <c:pt idx="9">
                  <c:v>14.434011681940307</c:v>
                </c:pt>
                <c:pt idx="10">
                  <c:v>13.516089984260862</c:v>
                </c:pt>
                <c:pt idx="11">
                  <c:v>14.03118724013192</c:v>
                </c:pt>
              </c:numCache>
            </c:numRef>
          </c:val>
        </c:ser>
        <c:ser>
          <c:idx val="4"/>
          <c:order val="4"/>
          <c:tx>
            <c:strRef>
              <c:f>Sheet1!$F$1</c:f>
              <c:strCache>
                <c:ptCount val="1"/>
                <c:pt idx="0">
                  <c:v>Online Marketplaces</c:v>
                </c:pt>
              </c:strCache>
            </c:strRef>
          </c:tx>
          <c:spPr>
            <a:solidFill>
              <a:srgbClr val="A35313"/>
            </a:solidFill>
            <a:ln>
              <a:noFill/>
            </a:ln>
          </c:spPr>
          <c:dLbls>
            <c:dLbl>
              <c:idx val="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Sheet1!$F$2:$F$13</c:f>
              <c:numCache>
                <c:formatCode>General</c:formatCode>
                <c:ptCount val="12"/>
                <c:pt idx="0">
                  <c:v>21.3039464574198</c:v>
                </c:pt>
                <c:pt idx="1">
                  <c:v>18.163189500402403</c:v>
                </c:pt>
                <c:pt idx="2">
                  <c:v>17.827595716321184</c:v>
                </c:pt>
                <c:pt idx="3">
                  <c:v>23.627258343795653</c:v>
                </c:pt>
                <c:pt idx="4">
                  <c:v>18.185849238480817</c:v>
                </c:pt>
                <c:pt idx="5">
                  <c:v>19.080830063231492</c:v>
                </c:pt>
                <c:pt idx="6">
                  <c:v>22.862011772082766</c:v>
                </c:pt>
                <c:pt idx="7">
                  <c:v>18.52447236593578</c:v>
                </c:pt>
                <c:pt idx="8">
                  <c:v>18.716468767175858</c:v>
                </c:pt>
                <c:pt idx="9">
                  <c:v>20.749947898771538</c:v>
                </c:pt>
                <c:pt idx="10">
                  <c:v>17.595266517009733</c:v>
                </c:pt>
                <c:pt idx="11">
                  <c:v>21.768791878297293</c:v>
                </c:pt>
              </c:numCache>
            </c:numRef>
          </c:val>
        </c:ser>
        <c:ser>
          <c:idx val="5"/>
          <c:order val="5"/>
          <c:tx>
            <c:strRef>
              <c:f>Sheet1!$G$1</c:f>
              <c:strCache>
                <c:ptCount val="1"/>
                <c:pt idx="0">
                  <c:v>Brand-owned Online Stores</c:v>
                </c:pt>
              </c:strCache>
            </c:strRef>
          </c:tx>
          <c:spPr>
            <a:solidFill>
              <a:srgbClr val="808080"/>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Sheet1!$G$2:$G$13</c:f>
              <c:numCache>
                <c:formatCode>General</c:formatCode>
                <c:ptCount val="12"/>
                <c:pt idx="0">
                  <c:v>13.416416647434417</c:v>
                </c:pt>
                <c:pt idx="1">
                  <c:v>13.213644524236983</c:v>
                </c:pt>
                <c:pt idx="2">
                  <c:v>14.53153008227237</c:v>
                </c:pt>
                <c:pt idx="3">
                  <c:v>14.744167160612525</c:v>
                </c:pt>
                <c:pt idx="4">
                  <c:v>13.437118437118437</c:v>
                </c:pt>
                <c:pt idx="5">
                  <c:v>13.994607901936929</c:v>
                </c:pt>
                <c:pt idx="6">
                  <c:v>13.386698760088187</c:v>
                </c:pt>
                <c:pt idx="7">
                  <c:v>13.35119487558512</c:v>
                </c:pt>
                <c:pt idx="8">
                  <c:v>13.72697804520216</c:v>
                </c:pt>
                <c:pt idx="9">
                  <c:v>13.639819983214954</c:v>
                </c:pt>
                <c:pt idx="10">
                  <c:v>14.531026790082386</c:v>
                </c:pt>
                <c:pt idx="11">
                  <c:v>13.19580157594443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6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Mass Retail</c:v>
                </c:pt>
              </c:strCache>
            </c:strRef>
          </c:tx>
          <c:spPr>
            <a:solidFill>
              <a:srgbClr val="3D85C6"/>
            </a:solidFill>
          </c:spPr>
          <c:invertIfNegative val="0"/>
          <c:xVal>
            <c:numRef>
              <c:f>Sheet1!$A$2:$A$2</c:f>
              <c:numCache>
                <c:formatCode>General</c:formatCode>
                <c:ptCount val="1"/>
                <c:pt idx="0">
                  <c:v>79.07584249032905</c:v>
                </c:pt>
              </c:numCache>
            </c:numRef>
          </c:xVal>
          <c:yVal>
            <c:numRef>
              <c:f>Sheet1!$B$2:$B$2</c:f>
              <c:numCache>
                <c:formatCode>General</c:formatCode>
                <c:ptCount val="1"/>
                <c:pt idx="0">
                  <c:v>117.58721783407134</c:v>
                </c:pt>
              </c:numCache>
            </c:numRef>
          </c:yVal>
          <c:bubbleSize>
            <c:numRef>
              <c:f>Sheet1!$C$2:$C$2</c:f>
              <c:numCache>
                <c:formatCode>General</c:formatCode>
                <c:ptCount val="1"/>
                <c:pt idx="0">
                  <c:v>892.787</c:v>
                </c:pt>
              </c:numCache>
            </c:numRef>
          </c:bubbleSize>
          <c:bubble3D val="0"/>
        </c:ser>
        <c:ser>
          <c:idx val="1"/>
          <c:order val="1"/>
          <c:tx>
            <c:strRef>
              <c:f>Sheet1!$B$4</c:f>
              <c:strCache>
                <c:ptCount val="1"/>
                <c:pt idx="0">
                  <c:v>Beauty Specialty Retail</c:v>
                </c:pt>
              </c:strCache>
            </c:strRef>
          </c:tx>
          <c:spPr>
            <a:solidFill>
              <a:srgbClr val="9E7E0A"/>
            </a:solidFill>
          </c:spPr>
          <c:invertIfNegative val="0"/>
          <c:xVal>
            <c:numRef>
              <c:f>Sheet1!$A$5:$A$5</c:f>
              <c:numCache>
                <c:formatCode>General</c:formatCode>
                <c:ptCount val="1"/>
                <c:pt idx="0">
                  <c:v>103.60445949737387</c:v>
                </c:pt>
              </c:numCache>
            </c:numRef>
          </c:xVal>
          <c:yVal>
            <c:numRef>
              <c:f>Sheet1!$B$5:$B$5</c:f>
              <c:numCache>
                <c:formatCode>General</c:formatCode>
                <c:ptCount val="1"/>
                <c:pt idx="0">
                  <c:v>95.72302034273469</c:v>
                </c:pt>
              </c:numCache>
            </c:numRef>
          </c:yVal>
          <c:bubbleSize>
            <c:numRef>
              <c:f>Sheet1!$C$5:$C$5</c:f>
              <c:numCache>
                <c:formatCode>General</c:formatCode>
                <c:ptCount val="1"/>
                <c:pt idx="0">
                  <c:v>840.312</c:v>
                </c:pt>
              </c:numCache>
            </c:numRef>
          </c:bubbleSize>
          <c:bubble3D val="0"/>
        </c:ser>
        <c:ser>
          <c:idx val="2"/>
          <c:order val="2"/>
          <c:tx>
            <c:strRef>
              <c:f>Sheet1!$B$7</c:f>
              <c:strCache>
                <c:ptCount val="1"/>
                <c:pt idx="0">
                  <c:v>Salon and Professional Distribution</c:v>
                </c:pt>
              </c:strCache>
            </c:strRef>
          </c:tx>
          <c:spPr>
            <a:solidFill>
              <a:srgbClr val="008189"/>
            </a:solidFill>
          </c:spPr>
          <c:invertIfNegative val="0"/>
          <c:xVal>
            <c:numRef>
              <c:f>Sheet1!$A$8:$A$8</c:f>
              <c:numCache>
                <c:formatCode>General</c:formatCode>
                <c:ptCount val="1"/>
                <c:pt idx="0">
                  <c:v>95.69824412713113</c:v>
                </c:pt>
              </c:numCache>
            </c:numRef>
          </c:xVal>
          <c:yVal>
            <c:numRef>
              <c:f>Sheet1!$B$8:$B$8</c:f>
              <c:numCache>
                <c:formatCode>General</c:formatCode>
                <c:ptCount val="1"/>
                <c:pt idx="0">
                  <c:v>113.2465237200278</c:v>
                </c:pt>
              </c:numCache>
            </c:numRef>
          </c:yVal>
          <c:bubbleSize>
            <c:numRef>
              <c:f>Sheet1!$C$8:$C$8</c:f>
              <c:numCache>
                <c:formatCode>General</c:formatCode>
                <c:ptCount val="1"/>
                <c:pt idx="0">
                  <c:v>948.922</c:v>
                </c:pt>
              </c:numCache>
            </c:numRef>
          </c:bubbleSize>
          <c:bubble3D val="0"/>
        </c:ser>
        <c:ser>
          <c:idx val="3"/>
          <c:order val="3"/>
          <c:tx>
            <c:strRef>
              <c:f>Sheet1!$B$10</c:f>
              <c:strCache>
                <c:ptCount val="1"/>
                <c:pt idx="0">
                  <c:v>Pharmacies and Drugstores</c:v>
                </c:pt>
              </c:strCache>
            </c:strRef>
          </c:tx>
          <c:spPr>
            <a:solidFill>
              <a:srgbClr val="40315E"/>
            </a:solidFill>
          </c:spPr>
          <c:invertIfNegative val="0"/>
          <c:xVal>
            <c:numRef>
              <c:f>Sheet1!$A$11:$A$11</c:f>
              <c:numCache>
                <c:formatCode>General</c:formatCode>
                <c:ptCount val="1"/>
                <c:pt idx="0">
                  <c:v>87.72572801262308</c:v>
                </c:pt>
              </c:numCache>
            </c:numRef>
          </c:xVal>
          <c:yVal>
            <c:numRef>
              <c:f>Sheet1!$B$11:$B$11</c:f>
              <c:numCache>
                <c:formatCode>General</c:formatCode>
                <c:ptCount val="1"/>
                <c:pt idx="0">
                  <c:v>93.05811249390335</c:v>
                </c:pt>
              </c:numCache>
            </c:numRef>
          </c:yVal>
          <c:bubbleSize>
            <c:numRef>
              <c:f>Sheet1!$C$11:$C$11</c:f>
              <c:numCache>
                <c:formatCode>General</c:formatCode>
                <c:ptCount val="1"/>
                <c:pt idx="0">
                  <c:v>743.834</c:v>
                </c:pt>
              </c:numCache>
            </c:numRef>
          </c:bubbleSize>
          <c:bubble3D val="0"/>
        </c:ser>
        <c:ser>
          <c:idx val="4"/>
          <c:order val="4"/>
          <c:tx>
            <c:strRef>
              <c:f>Sheet1!$B$13</c:f>
              <c:strCache>
                <c:ptCount val="1"/>
                <c:pt idx="0">
                  <c:v>Online Marketplaces</c:v>
                </c:pt>
              </c:strCache>
            </c:strRef>
          </c:tx>
          <c:spPr>
            <a:solidFill>
              <a:srgbClr val="A35313"/>
            </a:solidFill>
          </c:spPr>
          <c:invertIfNegative val="0"/>
          <c:xVal>
            <c:numRef>
              <c:f>Sheet1!$A$14:$A$14</c:f>
              <c:numCache>
                <c:formatCode>General</c:formatCode>
                <c:ptCount val="1"/>
                <c:pt idx="0">
                  <c:v>121.86798488758714</c:v>
                </c:pt>
              </c:numCache>
            </c:numRef>
          </c:xVal>
          <c:yVal>
            <c:numRef>
              <c:f>Sheet1!$B$14:$B$14</c:f>
              <c:numCache>
                <c:formatCode>General</c:formatCode>
                <c:ptCount val="1"/>
                <c:pt idx="0">
                  <c:v>104.732052427286</c:v>
                </c:pt>
              </c:numCache>
            </c:numRef>
          </c:yVal>
          <c:bubbleSize>
            <c:numRef>
              <c:f>Sheet1!$C$14:$C$14</c:f>
              <c:numCache>
                <c:formatCode>General</c:formatCode>
                <c:ptCount val="1"/>
                <c:pt idx="0">
                  <c:v>1022.945</c:v>
                </c:pt>
              </c:numCache>
            </c:numRef>
          </c:bubbleSize>
          <c:bubble3D val="0"/>
        </c:ser>
        <c:ser>
          <c:idx val="5"/>
          <c:order val="5"/>
          <c:tx>
            <c:strRef>
              <c:f>Sheet1!$B$16</c:f>
              <c:strCache>
                <c:ptCount val="1"/>
                <c:pt idx="0">
                  <c:v>Brand-owned Online Stores</c:v>
                </c:pt>
              </c:strCache>
            </c:strRef>
          </c:tx>
          <c:spPr>
            <a:solidFill>
              <a:srgbClr val="808080"/>
            </a:solidFill>
          </c:spPr>
          <c:invertIfNegative val="0"/>
          <c:xVal>
            <c:numRef>
              <c:f>Sheet1!$A$17:$A$17</c:f>
              <c:numCache>
                <c:formatCode>General</c:formatCode>
                <c:ptCount val="1"/>
                <c:pt idx="0">
                  <c:v>114.49747283845603</c:v>
                </c:pt>
              </c:numCache>
            </c:numRef>
          </c:xVal>
          <c:yVal>
            <c:numRef>
              <c:f>Sheet1!$B$17:$B$17</c:f>
              <c:numCache>
                <c:formatCode>General</c:formatCode>
                <c:ptCount val="1"/>
                <c:pt idx="0">
                  <c:v>75.65307318197682</c:v>
                </c:pt>
              </c:numCache>
            </c:numRef>
          </c:yVal>
          <c:bubbleSize>
            <c:numRef>
              <c:f>Sheet1!$C$17:$C$17</c:f>
              <c:numCache>
                <c:formatCode>General</c:formatCode>
                <c:ptCount val="1"/>
                <c:pt idx="0">
                  <c:v>707.871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6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6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550.892</c:v>
                </c:pt>
                <c:pt idx="2">
                  <c:v>600.294</c:v>
                </c:pt>
                <c:pt idx="3">
                  <c:v>660.39</c:v>
                </c:pt>
                <c:pt idx="4">
                  <c:v>727.789</c:v>
                </c:pt>
                <c:pt idx="5">
                  <c:v>806.055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550.892</c:v>
                </c:pt>
                <c:pt idx="1">
                  <c:v>49.40199999999993</c:v>
                </c:pt>
                <c:pt idx="2">
                  <c:v>60.096000000000004</c:v>
                </c:pt>
                <c:pt idx="3">
                  <c:v>67.399</c:v>
                </c:pt>
                <c:pt idx="4">
                  <c:v>78.26599999999996</c:v>
                </c:pt>
                <c:pt idx="5">
                  <c:v>86.73200000000008</c:v>
                </c:pt>
                <c:pt idx="6">
                  <c:v>892.787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448.459</c:v>
                </c:pt>
                <c:pt idx="2">
                  <c:v>503.638</c:v>
                </c:pt>
                <c:pt idx="3">
                  <c:v>570.151</c:v>
                </c:pt>
                <c:pt idx="4">
                  <c:v>648.439</c:v>
                </c:pt>
                <c:pt idx="5">
                  <c:v>738.642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448.459</c:v>
                </c:pt>
                <c:pt idx="1">
                  <c:v>55.178999999999974</c:v>
                </c:pt>
                <c:pt idx="2">
                  <c:v>66.51299999999998</c:v>
                </c:pt>
                <c:pt idx="3">
                  <c:v>78.28800000000001</c:v>
                </c:pt>
                <c:pt idx="4">
                  <c:v>90.20300000000009</c:v>
                </c:pt>
                <c:pt idx="5">
                  <c:v>101.66999999999996</c:v>
                </c:pt>
                <c:pt idx="6">
                  <c:v>840.312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530.556</c:v>
                </c:pt>
                <c:pt idx="2">
                  <c:v>589.062</c:v>
                </c:pt>
                <c:pt idx="3">
                  <c:v>660.114</c:v>
                </c:pt>
                <c:pt idx="4">
                  <c:v>742.778</c:v>
                </c:pt>
                <c:pt idx="5">
                  <c:v>839.501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530.556</c:v>
                </c:pt>
                <c:pt idx="1">
                  <c:v>58.50599999999997</c:v>
                </c:pt>
                <c:pt idx="2">
                  <c:v>71.05200000000002</c:v>
                </c:pt>
                <c:pt idx="3">
                  <c:v>82.66399999999999</c:v>
                </c:pt>
                <c:pt idx="4">
                  <c:v>96.72299999999996</c:v>
                </c:pt>
                <c:pt idx="5">
                  <c:v>109.42100000000005</c:v>
                </c:pt>
                <c:pt idx="6">
                  <c:v>948.922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435.974</c:v>
                </c:pt>
                <c:pt idx="2">
                  <c:v>477.609</c:v>
                </c:pt>
                <c:pt idx="3">
                  <c:v>531.287</c:v>
                </c:pt>
                <c:pt idx="4">
                  <c:v>595.227</c:v>
                </c:pt>
                <c:pt idx="5">
                  <c:v>665.699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435.974</c:v>
                </c:pt>
                <c:pt idx="1">
                  <c:v>41.63499999999999</c:v>
                </c:pt>
                <c:pt idx="2">
                  <c:v>53.678000000000054</c:v>
                </c:pt>
                <c:pt idx="3">
                  <c:v>63.93999999999994</c:v>
                </c:pt>
                <c:pt idx="4">
                  <c:v>70.47199999999998</c:v>
                </c:pt>
                <c:pt idx="5">
                  <c:v>78.13499999999999</c:v>
                </c:pt>
                <c:pt idx="6">
                  <c:v>743.834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490.666</c:v>
                </c:pt>
                <c:pt idx="2">
                  <c:v>552.539</c:v>
                </c:pt>
                <c:pt idx="3">
                  <c:v>634.962</c:v>
                </c:pt>
                <c:pt idx="4">
                  <c:v>745.039</c:v>
                </c:pt>
                <c:pt idx="5">
                  <c:v>874.631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490.666</c:v>
                </c:pt>
                <c:pt idx="1">
                  <c:v>61.87299999999999</c:v>
                </c:pt>
                <c:pt idx="2">
                  <c:v>82.423</c:v>
                </c:pt>
                <c:pt idx="3">
                  <c:v>110.077</c:v>
                </c:pt>
                <c:pt idx="4">
                  <c:v>129.59199999999998</c:v>
                </c:pt>
                <c:pt idx="5">
                  <c:v>148.31400000000008</c:v>
                </c:pt>
                <c:pt idx="6">
                  <c:v>1022.945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354.432</c:v>
                </c:pt>
                <c:pt idx="2">
                  <c:v>394.409</c:v>
                </c:pt>
                <c:pt idx="3">
                  <c:v>449.749</c:v>
                </c:pt>
                <c:pt idx="4">
                  <c:v>521.124</c:v>
                </c:pt>
                <c:pt idx="5">
                  <c:v>607.53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354.432</c:v>
                </c:pt>
                <c:pt idx="1">
                  <c:v>39.976999999999975</c:v>
                </c:pt>
                <c:pt idx="2">
                  <c:v>55.34000000000003</c:v>
                </c:pt>
                <c:pt idx="3">
                  <c:v>71.375</c:v>
                </c:pt>
                <c:pt idx="4">
                  <c:v>86.40599999999995</c:v>
                </c:pt>
                <c:pt idx="5">
                  <c:v>100.34100000000001</c:v>
                </c:pt>
                <c:pt idx="6">
                  <c:v>707.871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Online Marketplaces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17.363776973581995</c:v>
                </c:pt>
                <c:pt idx="1">
                  <c:v>17.455342071214332</c:v>
                </c:pt>
                <c:pt idx="2">
                  <c:v>19.837313646730614</c:v>
                </c:pt>
              </c:numCache>
            </c:numRef>
          </c:val>
        </c:ser>
        <c:ser>
          <c:idx val="1"/>
          <c:order val="1"/>
          <c:tx>
            <c:strRef>
              <c:f>Sheet1!$C$1</c:f>
              <c:strCache>
                <c:ptCount val="1"/>
                <c:pt idx="0">
                  <c:v>Salon and Professional Distribution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18.547332624570338</c:v>
                </c:pt>
                <c:pt idx="1">
                  <c:v>18.87442062000463</c:v>
                </c:pt>
                <c:pt idx="2">
                  <c:v>18.401833275770358</c:v>
                </c:pt>
              </c:numCache>
            </c:numRef>
          </c:val>
        </c:ser>
        <c:ser>
          <c:idx val="2"/>
          <c:order val="2"/>
          <c:tx>
            <c:strRef>
              <c:f>Sheet1!$D$1</c:f>
              <c:strCache>
                <c:ptCount val="1"/>
                <c:pt idx="0">
                  <c:v>Mass Retail</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20.017928561577712</c:v>
                </c:pt>
                <c:pt idx="1">
                  <c:v>19.59786963901189</c:v>
                </c:pt>
                <c:pt idx="2">
                  <c:v>17.313243369608028</c:v>
                </c:pt>
              </c:numCache>
            </c:numRef>
          </c:val>
        </c:ser>
        <c:ser>
          <c:idx val="3"/>
          <c:order val="3"/>
          <c:tx>
            <c:strRef>
              <c:f>Sheet1!$E$1</c:f>
              <c:strCache>
                <c:ptCount val="1"/>
                <c:pt idx="0">
                  <c:v>Beauty Specialty Retail</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15.437198535688662</c:v>
                </c:pt>
                <c:pt idx="1">
                  <c:v>15.953836723789113</c:v>
                </c:pt>
                <c:pt idx="2">
                  <c:v>16.29562948654277</c:v>
                </c:pt>
              </c:numCache>
            </c:numRef>
          </c:val>
        </c:ser>
        <c:ser>
          <c:idx val="4"/>
          <c:order val="4"/>
          <c:tx>
            <c:strRef>
              <c:f>Sheet1!$F$1</c:f>
              <c:strCache>
                <c:ptCount val="1"/>
                <c:pt idx="0">
                  <c:v>Pharmacies and Drugstores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15.775606681924275</c:v>
                </c:pt>
                <c:pt idx="1">
                  <c:v>15.509685415650559</c:v>
                </c:pt>
                <c:pt idx="2">
                  <c:v>14.424693760761546</c:v>
                </c:pt>
              </c:numCache>
            </c:numRef>
          </c:val>
        </c:ser>
        <c:ser>
          <c:idx val="5"/>
          <c:order val="5"/>
          <c:tx>
            <c:strRef>
              <c:f>Sheet1!$G$1</c:f>
              <c:strCache>
                <c:ptCount val="1"/>
                <c:pt idx="0">
                  <c:v>Brand-owned Online Stores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12.858156622657024</c:v>
                </c:pt>
                <c:pt idx="1">
                  <c:v>12.608845530329468</c:v>
                </c:pt>
                <c:pt idx="2">
                  <c:v>13.727286460586683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Hold and Shape</c:v>
                </c:pt>
              </c:strCache>
            </c:strRef>
          </c:tx>
          <c:spPr>
            <a:solidFill>
              <a:srgbClr val="3D85C6"/>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Sheet1!$B$2:$B$13</c:f>
              <c:numCache>
                <c:formatCode>General</c:formatCode>
                <c:ptCount val="12"/>
                <c:pt idx="0">
                  <c:v>13.690389186777342</c:v>
                </c:pt>
                <c:pt idx="1">
                  <c:v>13.701394778711206</c:v>
                </c:pt>
                <c:pt idx="2">
                  <c:v>13.653494812074134</c:v>
                </c:pt>
                <c:pt idx="3">
                  <c:v>13.692306974269458</c:v>
                </c:pt>
                <c:pt idx="4">
                  <c:v>13.66176229600378</c:v>
                </c:pt>
                <c:pt idx="5">
                  <c:v>13.325089106196305</c:v>
                </c:pt>
                <c:pt idx="6">
                  <c:v>13.664348147080613</c:v>
                </c:pt>
                <c:pt idx="7">
                  <c:v>13.314267295448992</c:v>
                </c:pt>
                <c:pt idx="8">
                  <c:v>13.64608804160445</c:v>
                </c:pt>
                <c:pt idx="9">
                  <c:v>13.679990537263748</c:v>
                </c:pt>
                <c:pt idx="10">
                  <c:v>13.217940940490399</c:v>
                </c:pt>
                <c:pt idx="11">
                  <c:v>13.233404658315667</c:v>
                </c:pt>
              </c:numCache>
            </c:numRef>
          </c:val>
        </c:ser>
        <c:ser>
          <c:idx val="1"/>
          <c:order val="1"/>
          <c:tx>
            <c:strRef>
              <c:f>Sheet1!$C$1</c:f>
              <c:strCache>
                <c:ptCount val="1"/>
                <c:pt idx="0">
                  <c:v>Curl Definition</c:v>
                </c:pt>
              </c:strCache>
            </c:strRef>
          </c:tx>
          <c:spPr>
            <a:solidFill>
              <a:srgbClr val="9E7E0A"/>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Sheet1!$C$2:$C$13</c:f>
              <c:numCache>
                <c:formatCode>General</c:formatCode>
                <c:ptCount val="12"/>
                <c:pt idx="0">
                  <c:v>16.387540484194815</c:v>
                </c:pt>
                <c:pt idx="1">
                  <c:v>16.37642310144802</c:v>
                </c:pt>
                <c:pt idx="2">
                  <c:v>16.426133817463143</c:v>
                </c:pt>
                <c:pt idx="3">
                  <c:v>16.38624281827134</c:v>
                </c:pt>
                <c:pt idx="4">
                  <c:v>16.417378116374643</c:v>
                </c:pt>
                <c:pt idx="5">
                  <c:v>15.915737525132517</c:v>
                </c:pt>
                <c:pt idx="6">
                  <c:v>16.414714129316252</c:v>
                </c:pt>
                <c:pt idx="7">
                  <c:v>16.044214593525894</c:v>
                </c:pt>
                <c:pt idx="8">
                  <c:v>16.433471101205285</c:v>
                </c:pt>
                <c:pt idx="9">
                  <c:v>16.398696620732967</c:v>
                </c:pt>
                <c:pt idx="10">
                  <c:v>15.927980162535258</c:v>
                </c:pt>
                <c:pt idx="11">
                  <c:v>15.84077905551311</c:v>
                </c:pt>
              </c:numCache>
            </c:numRef>
          </c:val>
        </c:ser>
        <c:ser>
          <c:idx val="2"/>
          <c:order val="2"/>
          <c:tx>
            <c:strRef>
              <c:f>Sheet1!$D$1</c:f>
              <c:strCache>
                <c:ptCount val="1"/>
                <c:pt idx="0">
                  <c:v>Volume and Root Lift</c:v>
                </c:pt>
              </c:strCache>
            </c:strRef>
          </c:tx>
          <c:spPr>
            <a:solidFill>
              <a:srgbClr val="008189"/>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Sheet1!$D$2:$D$13</c:f>
              <c:numCache>
                <c:formatCode>General</c:formatCode>
                <c:ptCount val="12"/>
                <c:pt idx="0">
                  <c:v>13.319588580572203</c:v>
                </c:pt>
                <c:pt idx="1">
                  <c:v>13.323139211668348</c:v>
                </c:pt>
                <c:pt idx="2">
                  <c:v>13.305909524411403</c:v>
                </c:pt>
                <c:pt idx="3">
                  <c:v>13.319860542614311</c:v>
                </c:pt>
                <c:pt idx="4">
                  <c:v>13.30895607273335</c:v>
                </c:pt>
                <c:pt idx="5">
                  <c:v>12.923254432462073</c:v>
                </c:pt>
                <c:pt idx="6">
                  <c:v>13.309870016257452</c:v>
                </c:pt>
                <c:pt idx="7">
                  <c:v>13.013905341843929</c:v>
                </c:pt>
                <c:pt idx="8">
                  <c:v>13.303327346561932</c:v>
                </c:pt>
                <c:pt idx="9">
                  <c:v>13.315421725428568</c:v>
                </c:pt>
                <c:pt idx="10">
                  <c:v>12.91224381966246</c:v>
                </c:pt>
                <c:pt idx="11">
                  <c:v>12.835917328531385</c:v>
                </c:pt>
              </c:numCache>
            </c:numRef>
          </c:val>
        </c:ser>
        <c:ser>
          <c:idx val="3"/>
          <c:order val="3"/>
          <c:tx>
            <c:strRef>
              <c:f>Sheet1!$E$1</c:f>
              <c:strCache>
                <c:ptCount val="1"/>
                <c:pt idx="0">
                  <c:v>Texture and Separation</c:v>
                </c:pt>
              </c:strCache>
            </c:strRef>
          </c:tx>
          <c:spPr>
            <a:solidFill>
              <a:srgbClr val="40315E"/>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Sheet1!$E$2:$E$13</c:f>
              <c:numCache>
                <c:formatCode>General</c:formatCode>
                <c:ptCount val="12"/>
                <c:pt idx="0">
                  <c:v>14.032725846033125</c:v>
                </c:pt>
                <c:pt idx="1">
                  <c:v>14.033838705883081</c:v>
                </c:pt>
                <c:pt idx="2">
                  <c:v>14.030380677705132</c:v>
                </c:pt>
                <c:pt idx="3">
                  <c:v>14.033016116009128</c:v>
                </c:pt>
                <c:pt idx="4">
                  <c:v>14.031277010722354</c:v>
                </c:pt>
                <c:pt idx="5">
                  <c:v>13.61896819594224</c:v>
                </c:pt>
                <c:pt idx="6">
                  <c:v>14.031468151328284</c:v>
                </c:pt>
                <c:pt idx="7">
                  <c:v>13.718308529006586</c:v>
                </c:pt>
                <c:pt idx="8">
                  <c:v>14.030251228009433</c:v>
                </c:pt>
                <c:pt idx="9">
                  <c:v>14.0323084852018</c:v>
                </c:pt>
                <c:pt idx="10">
                  <c:v>13.612956973165186</c:v>
                </c:pt>
                <c:pt idx="11">
                  <c:v>16.519430939647272</c:v>
                </c:pt>
              </c:numCache>
            </c:numRef>
          </c:val>
        </c:ser>
        <c:ser>
          <c:idx val="4"/>
          <c:order val="4"/>
          <c:tx>
            <c:strRef>
              <c:f>Sheet1!$F$1</c:f>
              <c:strCache>
                <c:ptCount val="1"/>
                <c:pt idx="0">
                  <c:v>Smoothing and Frizz Control</c:v>
                </c:pt>
              </c:strCache>
            </c:strRef>
          </c:tx>
          <c:spPr>
            <a:solidFill>
              <a:srgbClr val="A35313"/>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Sheet1!$F$2:$F$13</c:f>
              <c:numCache>
                <c:formatCode>General</c:formatCode>
                <c:ptCount val="12"/>
                <c:pt idx="0">
                  <c:v>16.668333474370908</c:v>
                </c:pt>
                <c:pt idx="1">
                  <c:v>16.66491261739233</c:v>
                </c:pt>
                <c:pt idx="2">
                  <c:v>16.67949763871813</c:v>
                </c:pt>
                <c:pt idx="3">
                  <c:v>16.667677903845345</c:v>
                </c:pt>
                <c:pt idx="4">
                  <c:v>16.677002368107345</c:v>
                </c:pt>
                <c:pt idx="5">
                  <c:v>18.43327316761104</c:v>
                </c:pt>
                <c:pt idx="6">
                  <c:v>16.676148071735046</c:v>
                </c:pt>
                <c:pt idx="7">
                  <c:v>18.1237540522174</c:v>
                </c:pt>
                <c:pt idx="8">
                  <c:v>16.681741789828255</c:v>
                </c:pt>
                <c:pt idx="9">
                  <c:v>16.671454360603473</c:v>
                </c:pt>
                <c:pt idx="10">
                  <c:v>18.642212760723158</c:v>
                </c:pt>
                <c:pt idx="11">
                  <c:v>16.154739999557805</c:v>
                </c:pt>
              </c:numCache>
            </c:numRef>
          </c:val>
        </c:ser>
        <c:ser>
          <c:idx val="5"/>
          <c:order val="5"/>
          <c:tx>
            <c:strRef>
              <c:f>Sheet1!$G$1</c:f>
              <c:strCache>
                <c:ptCount val="1"/>
                <c:pt idx="0">
                  <c:v>Sleek Styling and Edge Control</c:v>
                </c:pt>
              </c:strCache>
            </c:strRef>
          </c:tx>
          <c:spPr>
            <a:solidFill>
              <a:srgbClr val="808080"/>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Sheet1!$G$2:$G$13</c:f>
              <c:numCache>
                <c:formatCode>General</c:formatCode>
                <c:ptCount val="12"/>
                <c:pt idx="0">
                  <c:v>10.667056443237504</c:v>
                </c:pt>
                <c:pt idx="1">
                  <c:v>10.672254861295974</c:v>
                </c:pt>
                <c:pt idx="2">
                  <c:v>10.647025704075652</c:v>
                </c:pt>
                <c:pt idx="3">
                  <c:v>10.667463210413565</c:v>
                </c:pt>
                <c:pt idx="4">
                  <c:v>10.651341981048715</c:v>
                </c:pt>
                <c:pt idx="5">
                  <c:v>10.559655456040943</c:v>
                </c:pt>
                <c:pt idx="6">
                  <c:v>10.652801059894669</c:v>
                </c:pt>
                <c:pt idx="7">
                  <c:v>10.55372947714847</c:v>
                </c:pt>
                <c:pt idx="8">
                  <c:v>10.643036952084188</c:v>
                </c:pt>
                <c:pt idx="9">
                  <c:v>10.66106788105115</c:v>
                </c:pt>
                <c:pt idx="10">
                  <c:v>10.456882308705168</c:v>
                </c:pt>
                <c:pt idx="11">
                  <c:v>10.380855752388488</c:v>
                </c:pt>
              </c:numCache>
            </c:numRef>
          </c:val>
        </c:ser>
        <c:ser>
          <c:idx val="6"/>
          <c:order val="6"/>
          <c:tx>
            <c:strRef>
              <c:f>Sheet1!$H$1</c:f>
              <c:strCache>
                <c:ptCount val="1"/>
                <c:pt idx="0">
                  <c:v>Heat Styling Support</c:v>
                </c:pt>
              </c:strCache>
            </c:strRef>
          </c:tx>
          <c:spPr>
            <a:solidFill>
              <a:srgbClr val="0E72AE"/>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Sheet1!$H$2:$H$13</c:f>
              <c:numCache>
                <c:formatCode>General</c:formatCode>
                <c:ptCount val="12"/>
                <c:pt idx="0">
                  <c:v>15.234365984814099</c:v>
                </c:pt>
                <c:pt idx="1">
                  <c:v>15.22803672360104</c:v>
                </c:pt>
                <c:pt idx="2">
                  <c:v>15.257557825552398</c:v>
                </c:pt>
                <c:pt idx="3">
                  <c:v>15.233432434576844</c:v>
                </c:pt>
                <c:pt idx="4">
                  <c:v>15.252282155009816</c:v>
                </c:pt>
                <c:pt idx="5">
                  <c:v>15.224022116614877</c:v>
                </c:pt>
                <c:pt idx="6">
                  <c:v>15.25065042438769</c:v>
                </c:pt>
                <c:pt idx="7">
                  <c:v>15.231820710808716</c:v>
                </c:pt>
                <c:pt idx="8">
                  <c:v>15.262083540706437</c:v>
                </c:pt>
                <c:pt idx="9">
                  <c:v>15.241060389718283</c:v>
                </c:pt>
                <c:pt idx="10">
                  <c:v>15.22978303471836</c:v>
                </c:pt>
                <c:pt idx="11">
                  <c:v>15.034872266046278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6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Hold and Shape</c:v>
                </c:pt>
              </c:strCache>
            </c:strRef>
          </c:tx>
          <c:spPr>
            <a:solidFill>
              <a:srgbClr val="3D85C6"/>
            </a:solidFill>
          </c:spPr>
          <c:invertIfNegative val="0"/>
          <c:xVal>
            <c:numRef>
              <c:f>Sheet1!$A$2:$A$2</c:f>
              <c:numCache>
                <c:formatCode>General</c:formatCode>
                <c:ptCount val="1"/>
                <c:pt idx="0">
                  <c:v>73.79453850285805</c:v>
                </c:pt>
              </c:numCache>
            </c:numRef>
          </c:xVal>
          <c:yVal>
            <c:numRef>
              <c:f>Sheet1!$B$2:$B$2</c:f>
              <c:numCache>
                <c:formatCode>General</c:formatCode>
                <c:ptCount val="1"/>
                <c:pt idx="0">
                  <c:v>110.23654400710359</c:v>
                </c:pt>
              </c:numCache>
            </c:numRef>
          </c:yVal>
          <c:bubbleSize>
            <c:numRef>
              <c:f>Sheet1!$C$2:$C$2</c:f>
              <c:numCache>
                <c:formatCode>General</c:formatCode>
                <c:ptCount val="1"/>
                <c:pt idx="0">
                  <c:v>695.142</c:v>
                </c:pt>
              </c:numCache>
            </c:numRef>
          </c:bubbleSize>
          <c:bubble3D val="0"/>
        </c:ser>
        <c:ser>
          <c:idx val="1"/>
          <c:order val="1"/>
          <c:tx>
            <c:strRef>
              <c:f>Sheet1!$B$4</c:f>
              <c:strCache>
                <c:ptCount val="1"/>
                <c:pt idx="0">
                  <c:v>Curl Definition</c:v>
                </c:pt>
              </c:strCache>
            </c:strRef>
          </c:tx>
          <c:spPr>
            <a:solidFill>
              <a:srgbClr val="9E7E0A"/>
            </a:solidFill>
          </c:spPr>
          <c:invertIfNegative val="0"/>
          <c:xVal>
            <c:numRef>
              <c:f>Sheet1!$A$5:$A$5</c:f>
              <c:numCache>
                <c:formatCode>General</c:formatCode>
                <c:ptCount val="1"/>
                <c:pt idx="0">
                  <c:v>124.36948023146958</c:v>
                </c:pt>
              </c:numCache>
            </c:numRef>
          </c:xVal>
          <c:yVal>
            <c:numRef>
              <c:f>Sheet1!$B$5:$B$5</c:f>
              <c:numCache>
                <c:formatCode>General</c:formatCode>
                <c:ptCount val="1"/>
                <c:pt idx="0">
                  <c:v>98.25601623349597</c:v>
                </c:pt>
              </c:numCache>
            </c:numRef>
          </c:yVal>
          <c:bubbleSize>
            <c:numRef>
              <c:f>Sheet1!$C$5:$C$5</c:f>
              <c:numCache>
                <c:formatCode>General</c:formatCode>
                <c:ptCount val="1"/>
                <c:pt idx="0">
                  <c:v>834.632</c:v>
                </c:pt>
              </c:numCache>
            </c:numRef>
          </c:bubbleSize>
          <c:bubble3D val="0"/>
        </c:ser>
        <c:ser>
          <c:idx val="2"/>
          <c:order val="2"/>
          <c:tx>
            <c:strRef>
              <c:f>Sheet1!$B$7</c:f>
              <c:strCache>
                <c:ptCount val="1"/>
                <c:pt idx="0">
                  <c:v>Volume and Root Lift</c:v>
                </c:pt>
              </c:strCache>
            </c:strRef>
          </c:tx>
          <c:spPr>
            <a:solidFill>
              <a:srgbClr val="008189"/>
            </a:solidFill>
          </c:spPr>
          <c:invertIfNegative val="0"/>
          <c:xVal>
            <c:numRef>
              <c:f>Sheet1!$A$8:$A$8</c:f>
              <c:numCache>
                <c:formatCode>General</c:formatCode>
                <c:ptCount val="1"/>
                <c:pt idx="0">
                  <c:v>89.92122059142582</c:v>
                </c:pt>
              </c:numCache>
            </c:numRef>
          </c:xVal>
          <c:yVal>
            <c:numRef>
              <c:f>Sheet1!$B$8:$B$8</c:f>
              <c:numCache>
                <c:formatCode>General</c:formatCode>
                <c:ptCount val="1"/>
                <c:pt idx="0">
                  <c:v>97.5191552548615</c:v>
                </c:pt>
              </c:numCache>
            </c:numRef>
          </c:yVal>
          <c:bubbleSize>
            <c:numRef>
              <c:f>Sheet1!$C$8:$C$8</c:f>
              <c:numCache>
                <c:formatCode>General</c:formatCode>
                <c:ptCount val="1"/>
                <c:pt idx="0">
                  <c:v>676.886</c:v>
                </c:pt>
              </c:numCache>
            </c:numRef>
          </c:bubbleSize>
          <c:bubble3D val="0"/>
        </c:ser>
        <c:ser>
          <c:idx val="3"/>
          <c:order val="3"/>
          <c:tx>
            <c:strRef>
              <c:f>Sheet1!$B$10</c:f>
              <c:strCache>
                <c:ptCount val="1"/>
                <c:pt idx="0">
                  <c:v>Texture and Separation</c:v>
                </c:pt>
              </c:strCache>
            </c:strRef>
          </c:tx>
          <c:spPr>
            <a:solidFill>
              <a:srgbClr val="40315E"/>
            </a:solidFill>
          </c:spPr>
          <c:invertIfNegative val="0"/>
          <c:xVal>
            <c:numRef>
              <c:f>Sheet1!$A$11:$A$11</c:f>
              <c:numCache>
                <c:formatCode>General</c:formatCode>
                <c:ptCount val="1"/>
                <c:pt idx="0">
                  <c:v>98.27755110423432</c:v>
                </c:pt>
              </c:numCache>
            </c:numRef>
          </c:xVal>
          <c:yVal>
            <c:numRef>
              <c:f>Sheet1!$B$11:$B$11</c:f>
              <c:numCache>
                <c:formatCode>General</c:formatCode>
                <c:ptCount val="1"/>
                <c:pt idx="0">
                  <c:v>101.18229313783318</c:v>
                </c:pt>
              </c:numCache>
            </c:numRef>
          </c:yVal>
          <c:bubbleSize>
            <c:numRef>
              <c:f>Sheet1!$C$11:$C$11</c:f>
              <c:numCache>
                <c:formatCode>General</c:formatCode>
                <c:ptCount val="1"/>
                <c:pt idx="0">
                  <c:v>737.853</c:v>
                </c:pt>
              </c:numCache>
            </c:numRef>
          </c:bubbleSize>
          <c:bubble3D val="0"/>
        </c:ser>
        <c:ser>
          <c:idx val="4"/>
          <c:order val="4"/>
          <c:tx>
            <c:strRef>
              <c:f>Sheet1!$B$13</c:f>
              <c:strCache>
                <c:ptCount val="1"/>
                <c:pt idx="0">
                  <c:v>Smoothing and Frizz Control</c:v>
                </c:pt>
              </c:strCache>
            </c:strRef>
          </c:tx>
          <c:spPr>
            <a:solidFill>
              <a:srgbClr val="A35313"/>
            </a:solidFill>
          </c:spPr>
          <c:invertIfNegative val="0"/>
          <c:xVal>
            <c:numRef>
              <c:f>Sheet1!$A$14:$A$14</c:f>
              <c:numCache>
                <c:formatCode>General</c:formatCode>
                <c:ptCount val="1"/>
                <c:pt idx="0">
                  <c:v>109.03175720694576</c:v>
                </c:pt>
              </c:numCache>
            </c:numRef>
          </c:xVal>
          <c:yVal>
            <c:numRef>
              <c:f>Sheet1!$B$14:$B$14</c:f>
              <c:numCache>
                <c:formatCode>General</c:formatCode>
                <c:ptCount val="1"/>
                <c:pt idx="0">
                  <c:v>113.66385649407434</c:v>
                </c:pt>
              </c:numCache>
            </c:numRef>
          </c:yVal>
          <c:bubbleSize>
            <c:numRef>
              <c:f>Sheet1!$C$14:$C$14</c:f>
              <c:numCache>
                <c:formatCode>General</c:formatCode>
                <c:ptCount val="1"/>
                <c:pt idx="0">
                  <c:v>882.927</c:v>
                </c:pt>
              </c:numCache>
            </c:numRef>
          </c:bubbleSize>
          <c:bubble3D val="0"/>
        </c:ser>
        <c:ser>
          <c:idx val="5"/>
          <c:order val="5"/>
          <c:tx>
            <c:strRef>
              <c:f>Sheet1!$B$16</c:f>
              <c:strCache>
                <c:ptCount val="1"/>
                <c:pt idx="0">
                  <c:v>Sleek Styling and Edge Control</c:v>
                </c:pt>
              </c:strCache>
            </c:strRef>
          </c:tx>
          <c:spPr>
            <a:solidFill>
              <a:srgbClr val="808080"/>
            </a:solidFill>
          </c:spPr>
          <c:invertIfNegative val="0"/>
          <c:xVal>
            <c:numRef>
              <c:f>Sheet1!$A$17:$A$17</c:f>
              <c:numCache>
                <c:formatCode>General</c:formatCode>
                <c:ptCount val="1"/>
                <c:pt idx="0">
                  <c:v>82.44189198054993</c:v>
                </c:pt>
              </c:numCache>
            </c:numRef>
          </c:xVal>
          <c:yVal>
            <c:numRef>
              <c:f>Sheet1!$B$17:$B$17</c:f>
              <c:numCache>
                <c:formatCode>General</c:formatCode>
                <c:ptCount val="1"/>
                <c:pt idx="0">
                  <c:v>82.07694973066315</c:v>
                </c:pt>
              </c:numCache>
            </c:numRef>
          </c:yVal>
          <c:bubbleSize>
            <c:numRef>
              <c:f>Sheet1!$C$17:$C$17</c:f>
              <c:numCache>
                <c:formatCode>General</c:formatCode>
                <c:ptCount val="1"/>
                <c:pt idx="0">
                  <c:v>544.963</c:v>
                </c:pt>
              </c:numCache>
            </c:numRef>
          </c:bubbleSize>
          <c:bubble3D val="0"/>
        </c:ser>
        <c:ser>
          <c:idx val="6"/>
          <c:order val="6"/>
          <c:tx>
            <c:strRef>
              <c:f>Sheet1!$B$19</c:f>
              <c:strCache>
                <c:ptCount val="1"/>
                <c:pt idx="0">
                  <c:v>Heat Styling Support</c:v>
                </c:pt>
              </c:strCache>
            </c:strRef>
          </c:tx>
          <c:spPr>
            <a:solidFill>
              <a:srgbClr val="0E72AE"/>
            </a:solidFill>
          </c:spPr>
          <c:invertIfNegative val="0"/>
          <c:xVal>
            <c:numRef>
              <c:f>Sheet1!$A$20:$A$20</c:f>
              <c:numCache>
                <c:formatCode>General</c:formatCode>
                <c:ptCount val="1"/>
                <c:pt idx="0">
                  <c:v>115.76836657451115</c:v>
                </c:pt>
              </c:numCache>
            </c:numRef>
          </c:xVal>
          <c:yVal>
            <c:numRef>
              <c:f>Sheet1!$B$20:$B$20</c:f>
              <c:numCache>
                <c:formatCode>General</c:formatCode>
                <c:ptCount val="1"/>
                <c:pt idx="0">
                  <c:v>97.06518514196839</c:v>
                </c:pt>
              </c:numCache>
            </c:numRef>
          </c:yVal>
          <c:bubbleSize>
            <c:numRef>
              <c:f>Sheet1!$C$20:$C$20</c:f>
              <c:numCache>
                <c:formatCode>General</c:formatCode>
                <c:ptCount val="1"/>
                <c:pt idx="0">
                  <c:v>784.269</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0"/>
          <c:min val="6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442.675</c:v>
                </c:pt>
                <c:pt idx="2">
                  <c:v>480.422</c:v>
                </c:pt>
                <c:pt idx="3">
                  <c:v>525.904</c:v>
                </c:pt>
                <c:pt idx="4">
                  <c:v>575.789</c:v>
                </c:pt>
                <c:pt idx="5">
                  <c:v>632.642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442.675</c:v>
                </c:pt>
                <c:pt idx="1">
                  <c:v>37.747000000000014</c:v>
                </c:pt>
                <c:pt idx="2">
                  <c:v>45.48199999999997</c:v>
                </c:pt>
                <c:pt idx="3">
                  <c:v>49.88499999999999</c:v>
                </c:pt>
                <c:pt idx="4">
                  <c:v>56.853000000000065</c:v>
                </c:pt>
                <c:pt idx="5">
                  <c:v>62.5</c:v>
                </c:pt>
                <c:pt idx="6">
                  <c:v>695.142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394.565</c:v>
                </c:pt>
                <c:pt idx="2">
                  <c:v>446.262</c:v>
                </c:pt>
                <c:pt idx="3">
                  <c:v>515.101</c:v>
                </c:pt>
                <c:pt idx="4">
                  <c:v>606.278</c:v>
                </c:pt>
                <c:pt idx="5">
                  <c:v>712.873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394.565</c:v>
                </c:pt>
                <c:pt idx="1">
                  <c:v>51.697</c:v>
                </c:pt>
                <c:pt idx="2">
                  <c:v>68.839</c:v>
                </c:pt>
                <c:pt idx="3">
                  <c:v>91.17700000000002</c:v>
                </c:pt>
                <c:pt idx="4">
                  <c:v>106.59500000000003</c:v>
                </c:pt>
                <c:pt idx="5">
                  <c:v>121.7589999999999</c:v>
                </c:pt>
                <c:pt idx="6">
                  <c:v>834.632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391.606</c:v>
                </c:pt>
                <c:pt idx="2">
                  <c:v>434.043</c:v>
                </c:pt>
                <c:pt idx="3">
                  <c:v>484.163</c:v>
                </c:pt>
                <c:pt idx="4">
                  <c:v>541.401</c:v>
                </c:pt>
                <c:pt idx="5">
                  <c:v>605.636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391.606</c:v>
                </c:pt>
                <c:pt idx="1">
                  <c:v>42.43700000000001</c:v>
                </c:pt>
                <c:pt idx="2">
                  <c:v>50.120000000000005</c:v>
                </c:pt>
                <c:pt idx="3">
                  <c:v>57.23799999999994</c:v>
                </c:pt>
                <c:pt idx="4">
                  <c:v>64.23500000000001</c:v>
                </c:pt>
                <c:pt idx="5">
                  <c:v>71.25</c:v>
                </c:pt>
                <c:pt idx="6">
                  <c:v>676.886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406.316</c:v>
                </c:pt>
                <c:pt idx="2">
                  <c:v>453.36</c:v>
                </c:pt>
                <c:pt idx="3">
                  <c:v>510.454</c:v>
                </c:pt>
                <c:pt idx="4">
                  <c:v>575.946</c:v>
                </c:pt>
                <c:pt idx="5">
                  <c:v>651.97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406.316</c:v>
                </c:pt>
                <c:pt idx="1">
                  <c:v>47.04400000000004</c:v>
                </c:pt>
                <c:pt idx="2">
                  <c:v>57.093999999999994</c:v>
                </c:pt>
                <c:pt idx="3">
                  <c:v>65.49200000000002</c:v>
                </c:pt>
                <c:pt idx="4">
                  <c:v>76.024</c:v>
                </c:pt>
                <c:pt idx="5">
                  <c:v>85.88299999999992</c:v>
                </c:pt>
                <c:pt idx="6">
                  <c:v>737.853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456.438</c:v>
                </c:pt>
                <c:pt idx="2">
                  <c:v>505.966</c:v>
                </c:pt>
                <c:pt idx="3">
                  <c:v>574.002</c:v>
                </c:pt>
                <c:pt idx="4">
                  <c:v>660.395</c:v>
                </c:pt>
                <c:pt idx="5">
                  <c:v>763.781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456.438</c:v>
                </c:pt>
                <c:pt idx="1">
                  <c:v>49.52800000000002</c:v>
                </c:pt>
                <c:pt idx="2">
                  <c:v>68.03599999999994</c:v>
                </c:pt>
                <c:pt idx="3">
                  <c:v>86.39300000000003</c:v>
                </c:pt>
                <c:pt idx="4">
                  <c:v>103.38599999999997</c:v>
                </c:pt>
                <c:pt idx="5">
                  <c:v>119.14600000000007</c:v>
                </c:pt>
                <c:pt idx="6">
                  <c:v>882.927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329.595</c:v>
                </c:pt>
                <c:pt idx="2">
                  <c:v>359.663</c:v>
                </c:pt>
                <c:pt idx="3">
                  <c:v>398.153</c:v>
                </c:pt>
                <c:pt idx="4">
                  <c:v>443.103</c:v>
                </c:pt>
                <c:pt idx="5">
                  <c:v>491.638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329.595</c:v>
                </c:pt>
                <c:pt idx="1">
                  <c:v>30.067999999999984</c:v>
                </c:pt>
                <c:pt idx="2">
                  <c:v>38.49000000000001</c:v>
                </c:pt>
                <c:pt idx="3">
                  <c:v>44.94999999999999</c:v>
                </c:pt>
                <c:pt idx="4">
                  <c:v>48.53499999999997</c:v>
                </c:pt>
                <c:pt idx="5">
                  <c:v>53.32499999999999</c:v>
                </c:pt>
                <c:pt idx="6">
                  <c:v>544.963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389.783</c:v>
                </c:pt>
                <c:pt idx="2">
                  <c:v>437.835</c:v>
                </c:pt>
                <c:pt idx="3">
                  <c:v>498.877</c:v>
                </c:pt>
                <c:pt idx="4">
                  <c:v>577.482</c:v>
                </c:pt>
                <c:pt idx="5">
                  <c:v>673.516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389.783</c:v>
                </c:pt>
                <c:pt idx="1">
                  <c:v>48.051999999999964</c:v>
                </c:pt>
                <c:pt idx="2">
                  <c:v>61.04200000000003</c:v>
                </c:pt>
                <c:pt idx="3">
                  <c:v>78.60499999999996</c:v>
                </c:pt>
                <c:pt idx="4">
                  <c:v>96.03399999999999</c:v>
                </c:pt>
                <c:pt idx="5">
                  <c:v>110.75300000000004</c:v>
                </c:pt>
                <c:pt idx="6">
                  <c:v>784.269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Smoothing and Frizz Control</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16.66915432005014</c:v>
                </c:pt>
                <c:pt idx="1">
                  <c:v>16.23769378486776</c:v>
                </c:pt>
                <c:pt idx="2">
                  <c:v>17.122031418713465</c:v>
                </c:pt>
              </c:numCache>
            </c:numRef>
          </c:val>
        </c:ser>
        <c:ser>
          <c:idx val="1"/>
          <c:order val="1"/>
          <c:tx>
            <c:strRef>
              <c:f>Sheet1!$C$1</c:f>
              <c:strCache>
                <c:ptCount val="1"/>
                <c:pt idx="0">
                  <c:v>Curl Definition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13.817736183049393</c:v>
                </c:pt>
                <c:pt idx="1">
                  <c:v>14.036573747642278</c:v>
                </c:pt>
                <c:pt idx="2">
                  <c:v>16.185477765504576</c:v>
                </c:pt>
              </c:numCache>
            </c:numRef>
          </c:val>
        </c:ser>
        <c:ser>
          <c:idx val="2"/>
          <c:order val="2"/>
          <c:tx>
            <c:strRef>
              <c:f>Sheet1!$D$1</c:f>
              <c:strCache>
                <c:ptCount val="1"/>
                <c:pt idx="0">
                  <c:v>Heat Styling Support</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13.44611568199236</c:v>
                </c:pt>
                <c:pt idx="1">
                  <c:v>13.8664550202812</c:v>
                </c:pt>
                <c:pt idx="2">
                  <c:v>15.208820727787225</c:v>
                </c:pt>
              </c:numCache>
            </c:numRef>
          </c:val>
        </c:ser>
        <c:ser>
          <c:idx val="3"/>
          <c:order val="3"/>
          <c:tx>
            <c:strRef>
              <c:f>Sheet1!$E$1</c:f>
              <c:strCache>
                <c:ptCount val="1"/>
                <c:pt idx="0">
                  <c:v>Texture and Separation</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14.005313976771431</c:v>
                </c:pt>
                <c:pt idx="1">
                  <c:v>14.454613305404736</c:v>
                </c:pt>
                <c:pt idx="2">
                  <c:v>14.308705304506471</c:v>
                </c:pt>
              </c:numCache>
            </c:numRef>
          </c:val>
        </c:ser>
        <c:ser>
          <c:idx val="4"/>
          <c:order val="4"/>
          <c:tx>
            <c:strRef>
              <c:f>Sheet1!$F$1</c:f>
              <c:strCache>
                <c:ptCount val="1"/>
                <c:pt idx="0">
                  <c:v>Hold and Shape</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16.212866317871477</c:v>
                </c:pt>
                <c:pt idx="1">
                  <c:v>15.748077715300512</c:v>
                </c:pt>
                <c:pt idx="2">
                  <c:v>13.48043854641133</c:v>
                </c:pt>
              </c:numCache>
            </c:numRef>
          </c:val>
        </c:ser>
        <c:ser>
          <c:idx val="5"/>
          <c:order val="5"/>
          <c:tx>
            <c:strRef>
              <c:f>Sheet1!$G$1</c:f>
              <c:strCache>
                <c:ptCount val="1"/>
                <c:pt idx="0">
                  <c:v>Volume and Root Lift</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13.837811982284418</c:v>
                </c:pt>
                <c:pt idx="1">
                  <c:v>13.93130789355164</c:v>
                </c:pt>
                <c:pt idx="2">
                  <c:v>13.126411763245752</c:v>
                </c:pt>
              </c:numCache>
            </c:numRef>
          </c:val>
        </c:ser>
        <c:ser>
          <c:idx val="6"/>
          <c:order val="6"/>
          <c:tx>
            <c:strRef>
              <c:f>Sheet1!$H$1</c:f>
              <c:strCache>
                <c:ptCount val="1"/>
                <c:pt idx="0">
                  <c:v>Sleek Styling and Edge Control</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12.011001537980794</c:v>
                </c:pt>
                <c:pt idx="1">
                  <c:v>11.725278532951878</c:v>
                </c:pt>
                <c:pt idx="2">
                  <c:v>10.568114473831185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Straight Hair</c:v>
                </c:pt>
              </c:strCache>
            </c:strRef>
          </c:tx>
          <c:spPr>
            <a:solidFill>
              <a:srgbClr val="3D85C6"/>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Sheet1!$B$2:$B$13</c:f>
              <c:numCache>
                <c:formatCode>General</c:formatCode>
                <c:ptCount val="12"/>
                <c:pt idx="0">
                  <c:v>19.047619047619047</c:v>
                </c:pt>
                <c:pt idx="1">
                  <c:v>19.057642186329556</c:v>
                </c:pt>
                <c:pt idx="2">
                  <c:v>19.01514455117893</c:v>
                </c:pt>
                <c:pt idx="3">
                  <c:v>19.049663727883285</c:v>
                </c:pt>
                <c:pt idx="4">
                  <c:v>19.022938830855445</c:v>
                </c:pt>
                <c:pt idx="5">
                  <c:v>19.038452750868213</c:v>
                </c:pt>
                <c:pt idx="6">
                  <c:v>19.025056256478976</c:v>
                </c:pt>
                <c:pt idx="7">
                  <c:v>19.02894602312972</c:v>
                </c:pt>
                <c:pt idx="8">
                  <c:v>19.009225398336685</c:v>
                </c:pt>
                <c:pt idx="9">
                  <c:v>19.038264939717298</c:v>
                </c:pt>
                <c:pt idx="10">
                  <c:v>19.02294472439074</c:v>
                </c:pt>
                <c:pt idx="11">
                  <c:v>19.01905750416096</c:v>
                </c:pt>
              </c:numCache>
            </c:numRef>
          </c:val>
        </c:ser>
        <c:ser>
          <c:idx val="1"/>
          <c:order val="1"/>
          <c:tx>
            <c:strRef>
              <c:f>Sheet1!$C$1</c:f>
              <c:strCache>
                <c:ptCount val="1"/>
                <c:pt idx="0">
                  <c:v>Wavy Hair</c:v>
                </c:pt>
              </c:strCache>
            </c:strRef>
          </c:tx>
          <c:spPr>
            <a:solidFill>
              <a:srgbClr val="9E7E0A"/>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Sheet1!$C$2:$C$13</c:f>
              <c:numCache>
                <c:formatCode>General</c:formatCode>
                <c:ptCount val="12"/>
                <c:pt idx="0">
                  <c:v>20.146934379567657</c:v>
                </c:pt>
                <c:pt idx="1">
                  <c:v>20.14659724758715</c:v>
                </c:pt>
                <c:pt idx="2">
                  <c:v>20.146964195431355</c:v>
                </c:pt>
                <c:pt idx="3">
                  <c:v>20.14645689136147</c:v>
                </c:pt>
                <c:pt idx="4">
                  <c:v>20.14658488074314</c:v>
                </c:pt>
                <c:pt idx="5">
                  <c:v>20.146568269055017</c:v>
                </c:pt>
                <c:pt idx="6">
                  <c:v>20.146646102500572</c:v>
                </c:pt>
                <c:pt idx="7">
                  <c:v>20.146629191568515</c:v>
                </c:pt>
                <c:pt idx="8">
                  <c:v>20.146567704614142</c:v>
                </c:pt>
                <c:pt idx="9">
                  <c:v>20.14661608608837</c:v>
                </c:pt>
                <c:pt idx="10">
                  <c:v>20.146628180846086</c:v>
                </c:pt>
                <c:pt idx="11">
                  <c:v>20.14666232657548</c:v>
                </c:pt>
              </c:numCache>
            </c:numRef>
          </c:val>
        </c:ser>
        <c:ser>
          <c:idx val="2"/>
          <c:order val="2"/>
          <c:tx>
            <c:strRef>
              <c:f>Sheet1!$D$1</c:f>
              <c:strCache>
                <c:ptCount val="1"/>
                <c:pt idx="0">
                  <c:v>Curly Hair</c:v>
                </c:pt>
              </c:strCache>
            </c:strRef>
          </c:tx>
          <c:spPr>
            <a:solidFill>
              <a:srgbClr val="008189"/>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Sheet1!$D$2:$D$13</c:f>
              <c:numCache>
                <c:formatCode>General</c:formatCode>
                <c:ptCount val="12"/>
                <c:pt idx="0">
                  <c:v>20.16539733825679</c:v>
                </c:pt>
                <c:pt idx="1">
                  <c:v>20.160216924305548</c:v>
                </c:pt>
                <c:pt idx="2">
                  <c:v>20.182010387461506</c:v>
                </c:pt>
                <c:pt idx="3">
                  <c:v>20.16419227017516</c:v>
                </c:pt>
                <c:pt idx="4">
                  <c:v>20.17807396078003</c:v>
                </c:pt>
                <c:pt idx="5">
                  <c:v>20.169987205264118</c:v>
                </c:pt>
                <c:pt idx="6">
                  <c:v>20.176986675431724</c:v>
                </c:pt>
                <c:pt idx="7">
                  <c:v>20.17496135123871</c:v>
                </c:pt>
                <c:pt idx="8">
                  <c:v>20.185229264492673</c:v>
                </c:pt>
                <c:pt idx="9">
                  <c:v>20.170132112189748</c:v>
                </c:pt>
                <c:pt idx="10">
                  <c:v>20.17807845795797</c:v>
                </c:pt>
                <c:pt idx="11">
                  <c:v>20.180072839832206</c:v>
                </c:pt>
              </c:numCache>
            </c:numRef>
          </c:val>
        </c:ser>
        <c:ser>
          <c:idx val="3"/>
          <c:order val="3"/>
          <c:tx>
            <c:strRef>
              <c:f>Sheet1!$E$1</c:f>
              <c:strCache>
                <c:ptCount val="1"/>
                <c:pt idx="0">
                  <c:v>Coily Hair</c:v>
                </c:pt>
              </c:strCache>
            </c:strRef>
          </c:tx>
          <c:spPr>
            <a:solidFill>
              <a:srgbClr val="40315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Sheet1!$E$2:$E$13</c:f>
              <c:numCache>
                <c:formatCode>General</c:formatCode>
                <c:ptCount val="12"/>
                <c:pt idx="0">
                  <c:v>19.900761597045925</c:v>
                </c:pt>
                <c:pt idx="1">
                  <c:v>19.8909187710099</c:v>
                </c:pt>
                <c:pt idx="2">
                  <c:v>19.93438893229765</c:v>
                </c:pt>
                <c:pt idx="3">
                  <c:v>19.89909502896001</c:v>
                </c:pt>
                <c:pt idx="4">
                  <c:v>19.926482637628165</c:v>
                </c:pt>
                <c:pt idx="5">
                  <c:v>19.910665326265764</c:v>
                </c:pt>
                <c:pt idx="6">
                  <c:v>19.92440140577988</c:v>
                </c:pt>
                <c:pt idx="7">
                  <c:v>19.92038252521665</c:v>
                </c:pt>
                <c:pt idx="8">
                  <c:v>19.94056506466434</c:v>
                </c:pt>
                <c:pt idx="9">
                  <c:v>19.91075175243679</c:v>
                </c:pt>
                <c:pt idx="10">
                  <c:v>19.92647624106288</c:v>
                </c:pt>
                <c:pt idx="11">
                  <c:v>19.93047665256137</c:v>
                </c:pt>
              </c:numCache>
            </c:numRef>
          </c:val>
        </c:ser>
        <c:ser>
          <c:idx val="4"/>
          <c:order val="4"/>
          <c:tx>
            <c:strRef>
              <c:f>Sheet1!$F$1</c:f>
              <c:strCache>
                <c:ptCount val="1"/>
                <c:pt idx="0">
                  <c:v>All Hair Types</c:v>
                </c:pt>
              </c:strCache>
            </c:strRef>
          </c:tx>
          <c:spPr>
            <a:solidFill>
              <a:srgbClr val="A35313"/>
            </a:solidFill>
            <a:ln>
              <a:noFill/>
            </a:ln>
          </c:spPr>
          <c:dLbls>
            <c:dLbl>
              <c:idx val="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Sheet1!$F$2:$F$13</c:f>
              <c:numCache>
                <c:formatCode>General</c:formatCode>
                <c:ptCount val="12"/>
                <c:pt idx="0">
                  <c:v>20.739287637510575</c:v>
                </c:pt>
                <c:pt idx="1">
                  <c:v>20.74462487076784</c:v>
                </c:pt>
                <c:pt idx="2">
                  <c:v>20.721491933630553</c:v>
                </c:pt>
                <c:pt idx="3">
                  <c:v>20.74059208162008</c:v>
                </c:pt>
                <c:pt idx="4">
                  <c:v>20.725919689993223</c:v>
                </c:pt>
                <c:pt idx="5">
                  <c:v>20.73432644854688</c:v>
                </c:pt>
                <c:pt idx="6">
                  <c:v>20.726909559808856</c:v>
                </c:pt>
                <c:pt idx="7">
                  <c:v>20.72908090884641</c:v>
                </c:pt>
                <c:pt idx="8">
                  <c:v>20.71841256789215</c:v>
                </c:pt>
                <c:pt idx="9">
                  <c:v>20.73423510956778</c:v>
                </c:pt>
                <c:pt idx="10">
                  <c:v>20.725872395742336</c:v>
                </c:pt>
                <c:pt idx="11">
                  <c:v>20.723730676869977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7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Straight Hair</c:v>
                </c:pt>
              </c:strCache>
            </c:strRef>
          </c:tx>
          <c:spPr>
            <a:solidFill>
              <a:srgbClr val="3D85C6"/>
            </a:solidFill>
          </c:spPr>
          <c:invertIfNegative val="0"/>
          <c:xVal>
            <c:numRef>
              <c:f>Sheet1!$A$2:$A$2</c:f>
              <c:numCache>
                <c:formatCode>General</c:formatCode>
                <c:ptCount val="1"/>
                <c:pt idx="0">
                  <c:v>83.26374315998731</c:v>
                </c:pt>
              </c:numCache>
            </c:numRef>
          </c:xVal>
          <c:yVal>
            <c:numRef>
              <c:f>Sheet1!$B$2:$B$2</c:f>
              <c:numCache>
                <c:formatCode>General</c:formatCode>
                <c:ptCount val="1"/>
                <c:pt idx="0">
                  <c:v>105.03693020720901</c:v>
                </c:pt>
              </c:numCache>
            </c:numRef>
          </c:yVal>
          <c:bubbleSize>
            <c:numRef>
              <c:f>Sheet1!$C$2:$C$2</c:f>
              <c:numCache>
                <c:formatCode>General</c:formatCode>
                <c:ptCount val="1"/>
                <c:pt idx="0">
                  <c:v>981.157</c:v>
                </c:pt>
              </c:numCache>
            </c:numRef>
          </c:bubbleSize>
          <c:bubble3D val="0"/>
        </c:ser>
        <c:ser>
          <c:idx val="1"/>
          <c:order val="1"/>
          <c:tx>
            <c:strRef>
              <c:f>Sheet1!$B$4</c:f>
              <c:strCache>
                <c:ptCount val="1"/>
                <c:pt idx="0">
                  <c:v>Wavy Hair</c:v>
                </c:pt>
              </c:strCache>
            </c:strRef>
          </c:tx>
          <c:spPr>
            <a:solidFill>
              <a:srgbClr val="9E7E0A"/>
            </a:solidFill>
          </c:spPr>
          <c:invertIfNegative val="0"/>
          <c:xVal>
            <c:numRef>
              <c:f>Sheet1!$A$5:$A$5</c:f>
              <c:numCache>
                <c:formatCode>General</c:formatCode>
                <c:ptCount val="1"/>
                <c:pt idx="0">
                  <c:v>99.36815424903267</c:v>
                </c:pt>
              </c:numCache>
            </c:numRef>
          </c:xVal>
          <c:yVal>
            <c:numRef>
              <c:f>Sheet1!$B$5:$B$5</c:f>
              <c:numCache>
                <c:formatCode>General</c:formatCode>
                <c:ptCount val="1"/>
                <c:pt idx="0">
                  <c:v>101.10858213760477</c:v>
                </c:pt>
              </c:numCache>
            </c:numRef>
          </c:yVal>
          <c:bubbleSize>
            <c:numRef>
              <c:f>Sheet1!$C$5:$C$5</c:f>
              <c:numCache>
                <c:formatCode>General</c:formatCode>
                <c:ptCount val="1"/>
                <c:pt idx="0">
                  <c:v>1038.895</c:v>
                </c:pt>
              </c:numCache>
            </c:numRef>
          </c:bubbleSize>
          <c:bubble3D val="0"/>
        </c:ser>
        <c:ser>
          <c:idx val="2"/>
          <c:order val="2"/>
          <c:tx>
            <c:strRef>
              <c:f>Sheet1!$B$7</c:f>
              <c:strCache>
                <c:ptCount val="1"/>
                <c:pt idx="0">
                  <c:v>Curly Hair</c:v>
                </c:pt>
              </c:strCache>
            </c:strRef>
          </c:tx>
          <c:spPr>
            <a:solidFill>
              <a:srgbClr val="008189"/>
            </a:solidFill>
          </c:spPr>
          <c:invertIfNegative val="0"/>
          <c:xVal>
            <c:numRef>
              <c:f>Sheet1!$A$8:$A$8</c:f>
              <c:numCache>
                <c:formatCode>General</c:formatCode>
                <c:ptCount val="1"/>
                <c:pt idx="0">
                  <c:v>110.21943738897342</c:v>
                </c:pt>
              </c:numCache>
            </c:numRef>
          </c:xVal>
          <c:yVal>
            <c:numRef>
              <c:f>Sheet1!$B$8:$B$8</c:f>
              <c:numCache>
                <c:formatCode>General</c:formatCode>
                <c:ptCount val="1"/>
                <c:pt idx="0">
                  <c:v>95.00679123066776</c:v>
                </c:pt>
              </c:numCache>
            </c:numRef>
          </c:yVal>
          <c:bubbleSize>
            <c:numRef>
              <c:f>Sheet1!$C$8:$C$8</c:f>
              <c:numCache>
                <c:formatCode>General</c:formatCode>
                <c:ptCount val="1"/>
                <c:pt idx="0">
                  <c:v>1040.41</c:v>
                </c:pt>
              </c:numCache>
            </c:numRef>
          </c:bubbleSize>
          <c:bubble3D val="0"/>
        </c:ser>
        <c:ser>
          <c:idx val="3"/>
          <c:order val="3"/>
          <c:tx>
            <c:strRef>
              <c:f>Sheet1!$B$10</c:f>
              <c:strCache>
                <c:ptCount val="1"/>
                <c:pt idx="0">
                  <c:v>Coily Hair</c:v>
                </c:pt>
              </c:strCache>
            </c:strRef>
          </c:tx>
          <c:spPr>
            <a:solidFill>
              <a:srgbClr val="40315E"/>
            </a:solidFill>
          </c:spPr>
          <c:invertIfNegative val="0"/>
          <c:xVal>
            <c:numRef>
              <c:f>Sheet1!$A$11:$A$11</c:f>
              <c:numCache>
                <c:formatCode>General</c:formatCode>
                <c:ptCount val="1"/>
                <c:pt idx="0">
                  <c:v>117.38820354239712</c:v>
                </c:pt>
              </c:numCache>
            </c:numRef>
          </c:xVal>
          <c:yVal>
            <c:numRef>
              <c:f>Sheet1!$B$11:$B$11</c:f>
              <c:numCache>
                <c:formatCode>General</c:formatCode>
                <c:ptCount val="1"/>
                <c:pt idx="0">
                  <c:v>89.96637469236684</c:v>
                </c:pt>
              </c:numCache>
            </c:numRef>
          </c:yVal>
          <c:bubbleSize>
            <c:numRef>
              <c:f>Sheet1!$C$11:$C$11</c:f>
              <c:numCache>
                <c:formatCode>General</c:formatCode>
                <c:ptCount val="1"/>
                <c:pt idx="0">
                  <c:v>1027.333</c:v>
                </c:pt>
              </c:numCache>
            </c:numRef>
          </c:bubbleSize>
          <c:bubble3D val="0"/>
        </c:ser>
        <c:ser>
          <c:idx val="4"/>
          <c:order val="4"/>
          <c:tx>
            <c:strRef>
              <c:f>Sheet1!$B$13</c:f>
              <c:strCache>
                <c:ptCount val="1"/>
                <c:pt idx="0">
                  <c:v>All Hair Types</c:v>
                </c:pt>
              </c:strCache>
            </c:strRef>
          </c:tx>
          <c:spPr>
            <a:solidFill>
              <a:srgbClr val="A35313"/>
            </a:solidFill>
          </c:spPr>
          <c:invertIfNegative val="0"/>
          <c:xVal>
            <c:numRef>
              <c:f>Sheet1!$A$14:$A$14</c:f>
              <c:numCache>
                <c:formatCode>General</c:formatCode>
                <c:ptCount val="1"/>
                <c:pt idx="0">
                  <c:v>91.64073085506324</c:v>
                </c:pt>
              </c:numCache>
            </c:numRef>
          </c:xVal>
          <c:yVal>
            <c:numRef>
              <c:f>Sheet1!$B$14:$B$14</c:f>
              <c:numCache>
                <c:formatCode>General</c:formatCode>
                <c:ptCount val="1"/>
                <c:pt idx="0">
                  <c:v>108.88132173215158</c:v>
                </c:pt>
              </c:numCache>
            </c:numRef>
          </c:yVal>
          <c:bubbleSize>
            <c:numRef>
              <c:f>Sheet1!$C$14:$C$14</c:f>
              <c:numCache>
                <c:formatCode>General</c:formatCode>
                <c:ptCount val="1"/>
                <c:pt idx="0">
                  <c:v>1068.876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7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590.513</c:v>
                </c:pt>
                <c:pt idx="2">
                  <c:v>646.654</c:v>
                </c:pt>
                <c:pt idx="3">
                  <c:v>715.485</c:v>
                </c:pt>
                <c:pt idx="4">
                  <c:v>792.807</c:v>
                </c:pt>
                <c:pt idx="5">
                  <c:v>882.1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590.513</c:v>
                </c:pt>
                <c:pt idx="1">
                  <c:v>56.14099999999996</c:v>
                </c:pt>
                <c:pt idx="2">
                  <c:v>68.83100000000002</c:v>
                </c:pt>
                <c:pt idx="3">
                  <c:v>77.322</c:v>
                </c:pt>
                <c:pt idx="4">
                  <c:v>89.293</c:v>
                </c:pt>
                <c:pt idx="5">
                  <c:v>99.05700000000002</c:v>
                </c:pt>
                <c:pt idx="6">
                  <c:v>981.157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568.428</c:v>
                </c:pt>
                <c:pt idx="2">
                  <c:v>635.807</c:v>
                </c:pt>
                <c:pt idx="3">
                  <c:v>716.618</c:v>
                </c:pt>
                <c:pt idx="4">
                  <c:v>811.102</c:v>
                </c:pt>
                <c:pt idx="5">
                  <c:v>918.521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568.428</c:v>
                </c:pt>
                <c:pt idx="1">
                  <c:v>67.37900000000002</c:v>
                </c:pt>
                <c:pt idx="2">
                  <c:v>80.81100000000004</c:v>
                </c:pt>
                <c:pt idx="3">
                  <c:v>94.48399999999992</c:v>
                </c:pt>
                <c:pt idx="4">
                  <c:v>107.41899999999998</c:v>
                </c:pt>
                <c:pt idx="5">
                  <c:v>120.37400000000002</c:v>
                </c:pt>
                <c:pt idx="6">
                  <c:v>1038.895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534.124</c:v>
                </c:pt>
                <c:pt idx="2">
                  <c:v>591.618</c:v>
                </c:pt>
                <c:pt idx="3">
                  <c:v>671.321</c:v>
                </c:pt>
                <c:pt idx="4">
                  <c:v>774.026</c:v>
                </c:pt>
                <c:pt idx="5">
                  <c:v>897.521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534.124</c:v>
                </c:pt>
                <c:pt idx="1">
                  <c:v>57.49400000000003</c:v>
                </c:pt>
                <c:pt idx="2">
                  <c:v>79.70299999999997</c:v>
                </c:pt>
                <c:pt idx="3">
                  <c:v>102.70499999999993</c:v>
                </c:pt>
                <c:pt idx="4">
                  <c:v>123.495</c:v>
                </c:pt>
                <c:pt idx="5">
                  <c:v>142.88900000000012</c:v>
                </c:pt>
                <c:pt idx="6">
                  <c:v>1040.41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505.787</c:v>
                </c:pt>
                <c:pt idx="2">
                  <c:v>567.076</c:v>
                </c:pt>
                <c:pt idx="3">
                  <c:v>648.661</c:v>
                </c:pt>
                <c:pt idx="4">
                  <c:v>757.151</c:v>
                </c:pt>
                <c:pt idx="5">
                  <c:v>883.512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505.787</c:v>
                </c:pt>
                <c:pt idx="1">
                  <c:v>61.289000000000044</c:v>
                </c:pt>
                <c:pt idx="2">
                  <c:v>81.58499999999992</c:v>
                </c:pt>
                <c:pt idx="3">
                  <c:v>108.49000000000001</c:v>
                </c:pt>
                <c:pt idx="4">
                  <c:v>126.36099999999999</c:v>
                </c:pt>
                <c:pt idx="5">
                  <c:v>143.82100000000014</c:v>
                </c:pt>
                <c:pt idx="6">
                  <c:v>1027.333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612.126</c:v>
                </c:pt>
                <c:pt idx="2">
                  <c:v>676.394</c:v>
                </c:pt>
                <c:pt idx="3">
                  <c:v>754.568</c:v>
                </c:pt>
                <c:pt idx="4">
                  <c:v>845.311</c:v>
                </c:pt>
                <c:pt idx="5">
                  <c:v>950.404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612.126</c:v>
                </c:pt>
                <c:pt idx="1">
                  <c:v>64.26800000000003</c:v>
                </c:pt>
                <c:pt idx="2">
                  <c:v>78.17399999999998</c:v>
                </c:pt>
                <c:pt idx="3">
                  <c:v>90.74300000000005</c:v>
                </c:pt>
                <c:pt idx="4">
                  <c:v>105.09299999999996</c:v>
                </c:pt>
                <c:pt idx="5">
                  <c:v>118.47199999999998</c:v>
                </c:pt>
                <c:pt idx="6">
                  <c:v>1068.876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All Hair Types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21.592787725481777</c:v>
                </c:pt>
                <c:pt idx="1">
                  <c:v>21.776264346430317</c:v>
                </c:pt>
                <c:pt idx="2">
                  <c:v>20.728023951886787</c:v>
                </c:pt>
              </c:numCache>
            </c:numRef>
          </c:val>
        </c:ser>
        <c:ser>
          <c:idx val="1"/>
          <c:order val="1"/>
          <c:tx>
            <c:strRef>
              <c:f>Sheet1!$C$1</c:f>
              <c:strCache>
                <c:ptCount val="1"/>
                <c:pt idx="0">
                  <c:v>Curly Hair</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19.546670996056413</c:v>
                </c:pt>
                <c:pt idx="1">
                  <c:v>19.001358246133552</c:v>
                </c:pt>
                <c:pt idx="2">
                  <c:v>20.1760011449247</c:v>
                </c:pt>
              </c:numCache>
            </c:numRef>
          </c:val>
        </c:ser>
        <c:ser>
          <c:idx val="2"/>
          <c:order val="2"/>
          <c:tx>
            <c:strRef>
              <c:f>Sheet1!$D$1</c:f>
              <c:strCache>
                <c:ptCount val="1"/>
                <c:pt idx="0">
                  <c:v>Wavy Hair</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19.683186430854587</c:v>
                </c:pt>
                <c:pt idx="1">
                  <c:v>20.221716427520956</c:v>
                </c:pt>
                <c:pt idx="2">
                  <c:v>20.14662172552796</c:v>
                </c:pt>
              </c:numCache>
            </c:numRef>
          </c:val>
        </c:ser>
        <c:ser>
          <c:idx val="3"/>
          <c:order val="3"/>
          <c:tx>
            <c:strRef>
              <c:f>Sheet1!$E$1</c:f>
              <c:strCache>
                <c:ptCount val="1"/>
                <c:pt idx="0">
                  <c:v>Coily Hair</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18.017026023472976</c:v>
                </c:pt>
                <c:pt idx="1">
                  <c:v>17.99327493847337</c:v>
                </c:pt>
                <c:pt idx="2">
                  <c:v>19.92240730502295</c:v>
                </c:pt>
              </c:numCache>
            </c:numRef>
          </c:val>
        </c:ser>
        <c:ser>
          <c:idx val="4"/>
          <c:order val="4"/>
          <c:tx>
            <c:strRef>
              <c:f>Sheet1!$F$1</c:f>
              <c:strCache>
                <c:ptCount val="1"/>
                <c:pt idx="0">
                  <c:v>Straight Hair</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21.160328824134254</c:v>
                </c:pt>
                <c:pt idx="1">
                  <c:v>21.007386041441805</c:v>
                </c:pt>
                <c:pt idx="2">
                  <c:v>19.026945872637597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Film-forming and Fixative Polymers</c:v>
                </c:pt>
              </c:strCache>
            </c:strRef>
          </c:tx>
          <c:spPr>
            <a:solidFill>
              <a:srgbClr val="3D85C6"/>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Sheet1!$B$2:$B$13</c:f>
              <c:numCache>
                <c:formatCode>General</c:formatCode>
                <c:ptCount val="12"/>
                <c:pt idx="0">
                  <c:v>24.364181860143084</c:v>
                </c:pt>
                <c:pt idx="1">
                  <c:v>24.17183079408906</c:v>
                </c:pt>
                <c:pt idx="2">
                  <c:v>24.456930775550536</c:v>
                </c:pt>
                <c:pt idx="3">
                  <c:v>23.573228787454493</c:v>
                </c:pt>
                <c:pt idx="4">
                  <c:v>23.77731579809846</c:v>
                </c:pt>
                <c:pt idx="5">
                  <c:v>24.175767684152806</c:v>
                </c:pt>
                <c:pt idx="6">
                  <c:v>24.417334580668</c:v>
                </c:pt>
                <c:pt idx="7">
                  <c:v>24.2693192083436</c:v>
                </c:pt>
                <c:pt idx="8">
                  <c:v>23.78479360064628</c:v>
                </c:pt>
                <c:pt idx="9">
                  <c:v>23.967691605788026</c:v>
                </c:pt>
                <c:pt idx="10">
                  <c:v>23.403166828810093</c:v>
                </c:pt>
                <c:pt idx="11">
                  <c:v>23.889376807944824</c:v>
                </c:pt>
              </c:numCache>
            </c:numRef>
          </c:val>
        </c:ser>
        <c:ser>
          <c:idx val="1"/>
          <c:order val="1"/>
          <c:tx>
            <c:strRef>
              <c:f>Sheet1!$C$1</c:f>
              <c:strCache>
                <c:ptCount val="1"/>
                <c:pt idx="0">
                  <c:v>Texture and Volume Additives</c:v>
                </c:pt>
              </c:strCache>
            </c:strRef>
          </c:tx>
          <c:spPr>
            <a:solidFill>
              <a:srgbClr val="9E7E0A"/>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Sheet1!$C$2:$C$13</c:f>
              <c:numCache>
                <c:formatCode>General</c:formatCode>
                <c:ptCount val="12"/>
                <c:pt idx="0">
                  <c:v>26.118162935610428</c:v>
                </c:pt>
                <c:pt idx="1">
                  <c:v>25.606230383022456</c:v>
                </c:pt>
                <c:pt idx="2">
                  <c:v>25.24747640140873</c:v>
                </c:pt>
                <c:pt idx="3">
                  <c:v>26.087463828992814</c:v>
                </c:pt>
                <c:pt idx="4">
                  <c:v>26.010455592649596</c:v>
                </c:pt>
                <c:pt idx="5">
                  <c:v>25.470377901663316</c:v>
                </c:pt>
                <c:pt idx="6">
                  <c:v>25.702005006194533</c:v>
                </c:pt>
                <c:pt idx="7">
                  <c:v>25.957953518929134</c:v>
                </c:pt>
                <c:pt idx="8">
                  <c:v>25.907572905170984</c:v>
                </c:pt>
                <c:pt idx="9">
                  <c:v>25.946834216707316</c:v>
                </c:pt>
                <c:pt idx="10">
                  <c:v>26.142272468046567</c:v>
                </c:pt>
                <c:pt idx="11">
                  <c:v>25.664433157477756</c:v>
                </c:pt>
              </c:numCache>
            </c:numRef>
          </c:val>
        </c:ser>
        <c:ser>
          <c:idx val="2"/>
          <c:order val="2"/>
          <c:tx>
            <c:strRef>
              <c:f>Sheet1!$D$1</c:f>
              <c:strCache>
                <c:ptCount val="1"/>
                <c:pt idx="0">
                  <c:v>Conditioning and Smoothing Agents</c:v>
                </c:pt>
              </c:strCache>
            </c:strRef>
          </c:tx>
          <c:spPr>
            <a:solidFill>
              <a:srgbClr val="008189"/>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Sheet1!$D$2:$D$13</c:f>
              <c:numCache>
                <c:formatCode>General</c:formatCode>
                <c:ptCount val="12"/>
                <c:pt idx="0">
                  <c:v>24.071082390953148</c:v>
                </c:pt>
                <c:pt idx="1">
                  <c:v>24.338362295782233</c:v>
                </c:pt>
                <c:pt idx="2">
                  <c:v>23.94617855070465</c:v>
                </c:pt>
                <c:pt idx="3">
                  <c:v>23.85372911416037</c:v>
                </c:pt>
                <c:pt idx="4">
                  <c:v>24.68374563413137</c:v>
                </c:pt>
                <c:pt idx="5">
                  <c:v>24.305714220435018</c:v>
                </c:pt>
                <c:pt idx="6">
                  <c:v>24.387499683952367</c:v>
                </c:pt>
                <c:pt idx="7">
                  <c:v>23.835920177383592</c:v>
                </c:pt>
                <c:pt idx="8">
                  <c:v>23.932371122122923</c:v>
                </c:pt>
                <c:pt idx="9">
                  <c:v>24.660637944338994</c:v>
                </c:pt>
                <c:pt idx="10">
                  <c:v>24.565427667259332</c:v>
                </c:pt>
                <c:pt idx="11">
                  <c:v>24.063676507618705</c:v>
                </c:pt>
              </c:numCache>
            </c:numRef>
          </c:val>
        </c:ser>
        <c:ser>
          <c:idx val="3"/>
          <c:order val="3"/>
          <c:tx>
            <c:strRef>
              <c:f>Sheet1!$E$1</c:f>
              <c:strCache>
                <c:ptCount val="1"/>
                <c:pt idx="0">
                  <c:v>Waxes and Structuring Agents</c:v>
                </c:pt>
              </c:strCache>
            </c:strRef>
          </c:tx>
          <c:spPr>
            <a:solidFill>
              <a:srgbClr val="40315E"/>
            </a:solidFill>
            <a:ln>
              <a:noFill/>
            </a:ln>
          </c:spPr>
          <c:dLbls>
            <c:dLbl>
              <c:idx val="0"/>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Sheet1!$E$2:$E$13</c:f>
              <c:numCache>
                <c:formatCode>General</c:formatCode>
                <c:ptCount val="12"/>
                <c:pt idx="0">
                  <c:v>25.446572813293333</c:v>
                </c:pt>
                <c:pt idx="1">
                  <c:v>25.88357652710625</c:v>
                </c:pt>
                <c:pt idx="2">
                  <c:v>26.34941427233607</c:v>
                </c:pt>
                <c:pt idx="3">
                  <c:v>26.485578269392327</c:v>
                </c:pt>
                <c:pt idx="4">
                  <c:v>25.528482975120575</c:v>
                </c:pt>
                <c:pt idx="5">
                  <c:v>26.048140193748853</c:v>
                </c:pt>
                <c:pt idx="6">
                  <c:v>25.493160729185107</c:v>
                </c:pt>
                <c:pt idx="7">
                  <c:v>25.936807095343685</c:v>
                </c:pt>
                <c:pt idx="8">
                  <c:v>26.375262372059805</c:v>
                </c:pt>
                <c:pt idx="9">
                  <c:v>25.42483623316567</c:v>
                </c:pt>
                <c:pt idx="10">
                  <c:v>25.889133035884015</c:v>
                </c:pt>
                <c:pt idx="11">
                  <c:v>26.38251352695872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8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Film-forming and Fixative Polymers</c:v>
                </c:pt>
              </c:strCache>
            </c:strRef>
          </c:tx>
          <c:spPr>
            <a:solidFill>
              <a:srgbClr val="3D85C6"/>
            </a:solidFill>
          </c:spPr>
          <c:invertIfNegative val="0"/>
          <c:xVal>
            <c:numRef>
              <c:f>Sheet1!$A$2:$A$2</c:f>
              <c:numCache>
                <c:formatCode>General</c:formatCode>
                <c:ptCount val="1"/>
                <c:pt idx="0">
                  <c:v>86.33724931973083</c:v>
                </c:pt>
              </c:numCache>
            </c:numRef>
          </c:xVal>
          <c:yVal>
            <c:numRef>
              <c:f>Sheet1!$B$2:$B$2</c:f>
              <c:numCache>
                <c:formatCode>General</c:formatCode>
                <c:ptCount val="1"/>
                <c:pt idx="0">
                  <c:v>103.7907433673464</c:v>
                </c:pt>
              </c:numCache>
            </c:numRef>
          </c:yVal>
          <c:bubbleSize>
            <c:numRef>
              <c:f>Sheet1!$C$2:$C$2</c:f>
              <c:numCache>
                <c:formatCode>General</c:formatCode>
                <c:ptCount val="1"/>
                <c:pt idx="0">
                  <c:v>1234.225</c:v>
                </c:pt>
              </c:numCache>
            </c:numRef>
          </c:bubbleSize>
          <c:bubble3D val="0"/>
        </c:ser>
        <c:ser>
          <c:idx val="1"/>
          <c:order val="1"/>
          <c:tx>
            <c:strRef>
              <c:f>Sheet1!$B$4</c:f>
              <c:strCache>
                <c:ptCount val="1"/>
                <c:pt idx="0">
                  <c:v>Texture and Volume Additives</c:v>
                </c:pt>
              </c:strCache>
            </c:strRef>
          </c:tx>
          <c:spPr>
            <a:solidFill>
              <a:srgbClr val="9E7E0A"/>
            </a:solidFill>
          </c:spPr>
          <c:invertIfNegative val="0"/>
          <c:xVal>
            <c:numRef>
              <c:f>Sheet1!$A$5:$A$5</c:f>
              <c:numCache>
                <c:formatCode>General</c:formatCode>
                <c:ptCount val="1"/>
                <c:pt idx="0">
                  <c:v>104.90382526831132</c:v>
                </c:pt>
              </c:numCache>
            </c:numRef>
          </c:xVal>
          <c:yVal>
            <c:numRef>
              <c:f>Sheet1!$B$5:$B$5</c:f>
              <c:numCache>
                <c:formatCode>General</c:formatCode>
                <c:ptCount val="1"/>
                <c:pt idx="0">
                  <c:v>100.4761686231025</c:v>
                </c:pt>
              </c:numCache>
            </c:numRef>
          </c:yVal>
          <c:bubbleSize>
            <c:numRef>
              <c:f>Sheet1!$C$5:$C$5</c:f>
              <c:numCache>
                <c:formatCode>General</c:formatCode>
                <c:ptCount val="1"/>
                <c:pt idx="0">
                  <c:v>1333.191</c:v>
                </c:pt>
              </c:numCache>
            </c:numRef>
          </c:bubbleSize>
          <c:bubble3D val="0"/>
        </c:ser>
        <c:ser>
          <c:idx val="2"/>
          <c:order val="2"/>
          <c:tx>
            <c:strRef>
              <c:f>Sheet1!$B$7</c:f>
              <c:strCache>
                <c:ptCount val="1"/>
                <c:pt idx="0">
                  <c:v>Conditioning and Smoothing Agents</c:v>
                </c:pt>
              </c:strCache>
            </c:strRef>
          </c:tx>
          <c:spPr>
            <a:solidFill>
              <a:srgbClr val="008189"/>
            </a:solidFill>
          </c:spPr>
          <c:invertIfNegative val="0"/>
          <c:xVal>
            <c:numRef>
              <c:f>Sheet1!$A$8:$A$8</c:f>
              <c:numCache>
                <c:formatCode>General</c:formatCode>
                <c:ptCount val="1"/>
                <c:pt idx="0">
                  <c:v>95.24824770030828</c:v>
                </c:pt>
              </c:numCache>
            </c:numRef>
          </c:xVal>
          <c:yVal>
            <c:numRef>
              <c:f>Sheet1!$B$8:$B$8</c:f>
              <c:numCache>
                <c:formatCode>General</c:formatCode>
                <c:ptCount val="1"/>
                <c:pt idx="0">
                  <c:v>99.76054605886418</c:v>
                </c:pt>
              </c:numCache>
            </c:numRef>
          </c:yVal>
          <c:bubbleSize>
            <c:numRef>
              <c:f>Sheet1!$C$8:$C$8</c:f>
              <c:numCache>
                <c:formatCode>General</c:formatCode>
                <c:ptCount val="1"/>
                <c:pt idx="0">
                  <c:v>1250.5529999999999</c:v>
                </c:pt>
              </c:numCache>
            </c:numRef>
          </c:bubbleSize>
          <c:bubble3D val="0"/>
        </c:ser>
        <c:ser>
          <c:idx val="3"/>
          <c:order val="3"/>
          <c:tx>
            <c:strRef>
              <c:f>Sheet1!$B$10</c:f>
              <c:strCache>
                <c:ptCount val="1"/>
                <c:pt idx="0">
                  <c:v>Waxes and Structuring Agents</c:v>
                </c:pt>
              </c:strCache>
            </c:strRef>
          </c:tx>
          <c:spPr>
            <a:solidFill>
              <a:srgbClr val="40315E"/>
            </a:solidFill>
          </c:spPr>
          <c:invertIfNegative val="0"/>
          <c:xVal>
            <c:numRef>
              <c:f>Sheet1!$A$11:$A$11</c:f>
              <c:numCache>
                <c:formatCode>General</c:formatCode>
                <c:ptCount val="1"/>
                <c:pt idx="0">
                  <c:v>113.43990858307187</c:v>
                </c:pt>
              </c:numCache>
            </c:numRef>
          </c:xVal>
          <c:yVal>
            <c:numRef>
              <c:f>Sheet1!$B$11:$B$11</c:f>
              <c:numCache>
                <c:formatCode>General</c:formatCode>
                <c:ptCount val="1"/>
                <c:pt idx="0">
                  <c:v>95.97254195068695</c:v>
                </c:pt>
              </c:numCache>
            </c:numRef>
          </c:yVal>
          <c:bubbleSize>
            <c:numRef>
              <c:f>Sheet1!$C$11:$C$11</c:f>
              <c:numCache>
                <c:formatCode>General</c:formatCode>
                <c:ptCount val="1"/>
                <c:pt idx="0">
                  <c:v>1338.702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729.384</c:v>
                </c:pt>
                <c:pt idx="2">
                  <c:v>798.367</c:v>
                </c:pt>
                <c:pt idx="3">
                  <c:v>884.629</c:v>
                </c:pt>
                <c:pt idx="4">
                  <c:v>986.548</c:v>
                </c:pt>
                <c:pt idx="5">
                  <c:v>1103.391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729.384</c:v>
                </c:pt>
                <c:pt idx="1">
                  <c:v>68.98299999999995</c:v>
                </c:pt>
                <c:pt idx="2">
                  <c:v>86.26200000000006</c:v>
                </c:pt>
                <c:pt idx="3">
                  <c:v>101.91899999999998</c:v>
                </c:pt>
                <c:pt idx="4">
                  <c:v>116.84300000000007</c:v>
                </c:pt>
                <c:pt idx="5">
                  <c:v>130.83399999999983</c:v>
                </c:pt>
                <c:pt idx="6">
                  <c:v>1234.225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706.091</c:v>
                </c:pt>
                <c:pt idx="2">
                  <c:v>786.144</c:v>
                </c:pt>
                <c:pt idx="3">
                  <c:v>888.484</c:v>
                </c:pt>
                <c:pt idx="4">
                  <c:v>1013.6120000000001</c:v>
                </c:pt>
                <c:pt idx="5">
                  <c:v>1162.637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706.091</c:v>
                </c:pt>
                <c:pt idx="1">
                  <c:v>80.053</c:v>
                </c:pt>
                <c:pt idx="2">
                  <c:v>102.34000000000003</c:v>
                </c:pt>
                <c:pt idx="3">
                  <c:v>125.12800000000004</c:v>
                </c:pt>
                <c:pt idx="4">
                  <c:v>149.02499999999986</c:v>
                </c:pt>
                <c:pt idx="5">
                  <c:v>170.5540000000001</c:v>
                </c:pt>
                <c:pt idx="6">
                  <c:v>1333.191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701.0619999999999</c:v>
                </c:pt>
                <c:pt idx="2">
                  <c:v>778.1800000000001</c:v>
                </c:pt>
                <c:pt idx="3">
                  <c:v>871.764</c:v>
                </c:pt>
                <c:pt idx="4">
                  <c:v>980.808</c:v>
                </c:pt>
                <c:pt idx="5">
                  <c:v>1107.827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701.0619999999999</c:v>
                </c:pt>
                <c:pt idx="1">
                  <c:v>77.11800000000017</c:v>
                </c:pt>
                <c:pt idx="2">
                  <c:v>93.58399999999995</c:v>
                </c:pt>
                <c:pt idx="3">
                  <c:v>109.04399999999998</c:v>
                </c:pt>
                <c:pt idx="4">
                  <c:v>127.019</c:v>
                </c:pt>
                <c:pt idx="5">
                  <c:v>142.72599999999989</c:v>
                </c:pt>
                <c:pt idx="6">
                  <c:v>1250.5529999999999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674.442</c:v>
                </c:pt>
                <c:pt idx="2">
                  <c:v>754.858</c:v>
                </c:pt>
                <c:pt idx="3">
                  <c:v>861.7750000000001</c:v>
                </c:pt>
                <c:pt idx="4">
                  <c:v>999.429</c:v>
                </c:pt>
                <c:pt idx="5">
                  <c:v>1158.203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674.442</c:v>
                </c:pt>
                <c:pt idx="1">
                  <c:v>80.41599999999994</c:v>
                </c:pt>
                <c:pt idx="2">
                  <c:v>106.91700000000014</c:v>
                </c:pt>
                <c:pt idx="3">
                  <c:v>137.65399999999988</c:v>
                </c:pt>
                <c:pt idx="4">
                  <c:v>158.774</c:v>
                </c:pt>
                <c:pt idx="5">
                  <c:v>180.49900000000002</c:v>
                </c:pt>
                <c:pt idx="6">
                  <c:v>1338.702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Waxes and Structuring Agents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23.809854249697555</c:v>
                </c:pt>
                <c:pt idx="1">
                  <c:v>23.993135487671736</c:v>
                </c:pt>
                <c:pt idx="2">
                  <c:v>25.96058581204812</c:v>
                </c:pt>
              </c:numCache>
            </c:numRef>
          </c:val>
        </c:ser>
        <c:ser>
          <c:idx val="1"/>
          <c:order val="1"/>
          <c:tx>
            <c:strRef>
              <c:f>Sheet1!$C$1</c:f>
              <c:strCache>
                <c:ptCount val="1"/>
                <c:pt idx="0">
                  <c:v>Texture and Volume Additives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25.044559545693396</c:v>
                </c:pt>
                <c:pt idx="1">
                  <c:v>25.119042155775624</c:v>
                </c:pt>
                <c:pt idx="2">
                  <c:v>25.853714537925725</c:v>
                </c:pt>
              </c:numCache>
            </c:numRef>
          </c:val>
        </c:ser>
        <c:ser>
          <c:idx val="2"/>
          <c:order val="2"/>
          <c:tx>
            <c:strRef>
              <c:f>Sheet1!$D$1</c:f>
              <c:strCache>
                <c:ptCount val="1"/>
                <c:pt idx="0">
                  <c:v>Conditioning and Smoothing Agents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24.676517774065214</c:v>
                </c:pt>
                <c:pt idx="1">
                  <c:v>24.940136514716045</c:v>
                </c:pt>
                <c:pt idx="2">
                  <c:v>24.25116901970282</c:v>
                </c:pt>
              </c:numCache>
            </c:numRef>
          </c:val>
        </c:ser>
        <c:ser>
          <c:idx val="3"/>
          <c:order val="3"/>
          <c:tx>
            <c:strRef>
              <c:f>Sheet1!$E$1</c:f>
              <c:strCache>
                <c:ptCount val="1"/>
                <c:pt idx="0">
                  <c:v>Film-forming and Fixative Polymers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26.469068430543846</c:v>
                </c:pt>
                <c:pt idx="1">
                  <c:v>25.9476858418366</c:v>
                </c:pt>
                <c:pt idx="2">
                  <c:v>23.93453063032332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3.797006935734526</c:v>
                </c:pt>
                <c:pt idx="1">
                  <c:v>4.965990071672111</c:v>
                </c:pt>
                <c:pt idx="2">
                  <c:v>4.574873486472808</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555106894607186"/>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1756.666</c:v>
                </c:pt>
                <c:pt idx="2">
                  <c:v>0.0</c:v>
                </c:pt>
                <c:pt idx="3">
                  <c:v>2116.476</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1756.666</c:v>
                </c:pt>
                <c:pt idx="1">
                  <c:v>359.8100000000002</c:v>
                </c:pt>
                <c:pt idx="2">
                  <c:v>2116.476</c:v>
                </c:pt>
                <c:pt idx="3">
                  <c:v>1319.8899999999999</c:v>
                </c:pt>
                <c:pt idx="4">
                  <c:v>3436.366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4.3393726969571444</c:v>
                </c:pt>
                <c:pt idx="1">
                  <c:v>6.543619249267518</c:v>
                </c:pt>
                <c:pt idx="2">
                  <c:v>5.8037443503560215</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8.637577409033124"/>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3338.585</c:v>
                </c:pt>
                <c:pt idx="2">
                  <c:v>0.0</c:v>
                </c:pt>
                <c:pt idx="3">
                  <c:v>4128.607</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3338.585</c:v>
                </c:pt>
                <c:pt idx="1">
                  <c:v>790.0219999999999</c:v>
                </c:pt>
                <c:pt idx="2">
                  <c:v>4128.607</c:v>
                </c:pt>
                <c:pt idx="3">
                  <c:v>3653.156</c:v>
                </c:pt>
                <c:pt idx="4">
                  <c:v>7781.763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Sheet1!$B$2:$B$6</c:f>
              <c:numCache>
                <c:formatCode>General</c:formatCode>
                <c:ptCount val="5"/>
                <c:pt idx="0">
                  <c:v>3338.585</c:v>
                </c:pt>
                <c:pt idx="1">
                  <c:v>3477.228</c:v>
                </c:pt>
                <c:pt idx="2">
                  <c:v>3621.819</c:v>
                </c:pt>
                <c:pt idx="3">
                  <c:v>3773.847</c:v>
                </c:pt>
                <c:pt idx="4">
                  <c:v>3934.7920000000004</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Sheet1!$C$2:$C$6</c:f>
              <c:numCache>
                <c:formatCode>General</c:formatCode>
                <c:ptCount val="5"/>
                <c:pt idx="0">
                  <c:v>1756.666</c:v>
                </c:pt>
                <c:pt idx="1">
                  <c:v>1822.857</c:v>
                </c:pt>
                <c:pt idx="2">
                  <c:v>1891.1470000000002</c:v>
                </c:pt>
                <c:pt idx="3">
                  <c:v>1961.3260000000002</c:v>
                </c:pt>
                <c:pt idx="4">
                  <c:v>2035.137</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4643"/>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2776"/>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4128.607</c:v>
                </c:pt>
                <c:pt idx="1">
                  <c:v>4347.319</c:v>
                </c:pt>
                <c:pt idx="2">
                  <c:v>4595.447</c:v>
                </c:pt>
                <c:pt idx="3">
                  <c:v>4876.824</c:v>
                </c:pt>
                <c:pt idx="4">
                  <c:v>5192.4529999999995</c:v>
                </c:pt>
                <c:pt idx="5">
                  <c:v>5541.866</c:v>
                </c:pt>
                <c:pt idx="6">
                  <c:v>5925.436</c:v>
                </c:pt>
                <c:pt idx="7">
                  <c:v>6341.06</c:v>
                </c:pt>
                <c:pt idx="8">
                  <c:v>6788.848</c:v>
                </c:pt>
                <c:pt idx="9">
                  <c:v>7268.562</c:v>
                </c:pt>
                <c:pt idx="10">
                  <c:v>7781.763</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2116.476</c:v>
                </c:pt>
                <c:pt idx="1">
                  <c:v>2206.875</c:v>
                </c:pt>
                <c:pt idx="2">
                  <c:v>2307.835</c:v>
                </c:pt>
                <c:pt idx="3">
                  <c:v>2419.918</c:v>
                </c:pt>
                <c:pt idx="4">
                  <c:v>2542.5969999999998</c:v>
                </c:pt>
                <c:pt idx="5">
                  <c:v>2674.565</c:v>
                </c:pt>
                <c:pt idx="6">
                  <c:v>2815.059</c:v>
                </c:pt>
                <c:pt idx="7">
                  <c:v>2962.584</c:v>
                </c:pt>
                <c:pt idx="8">
                  <c:v>3116.3050000000003</c:v>
                </c:pt>
                <c:pt idx="9">
                  <c:v>3274.227</c:v>
                </c:pt>
                <c:pt idx="10">
                  <c:v>3436.366</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9182"/>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5349"/>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Sheet1!$A$2:$A$4</c:f>
              <c:strCache>
                <c:ptCount val="3"/>
                <c:pt idx="0">
                  <c:v>Japan</c:v>
                </c:pt>
                <c:pt idx="1">
                  <c:v>South Korea</c:v>
                </c:pt>
                <c:pt idx="2">
                  <c:v>China</c:v>
                </c:pt>
              </c:strCache>
            </c:strRef>
          </c:cat>
          <c:val>
            <c:numRef>
              <c:f>Sheet1!$B$2:$B$4</c:f>
              <c:numCache>
                <c:formatCode>General</c:formatCode>
                <c:ptCount val="3"/>
                <c:pt idx="0">
                  <c:v>84.2286916443084</c:v>
                </c:pt>
                <c:pt idx="1">
                  <c:v>92.68197250668979</c:v>
                </c:pt>
                <c:pt idx="2">
                  <c:v>114.2027507871249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Sheet1!$A$2:$A$4</c:f>
              <c:strCache>
                <c:ptCount val="3"/>
                <c:pt idx="0">
                  <c:v>South Korea</c:v>
                </c:pt>
                <c:pt idx="1">
                  <c:v>Japan</c:v>
                </c:pt>
                <c:pt idx="2">
                  <c:v>China</c:v>
                </c:pt>
              </c:strCache>
            </c:strRef>
          </c:cat>
          <c:val>
            <c:numRef>
              <c:f>Sheet1!$B$2:$B$4</c:f>
              <c:numCache>
                <c:formatCode>General</c:formatCode>
                <c:ptCount val="3"/>
                <c:pt idx="0">
                  <c:v>12.514083712822554</c:v>
                </c:pt>
                <c:pt idx="1">
                  <c:v>31.540837566203038</c:v>
                </c:pt>
                <c:pt idx="2">
                  <c:v>55.94516084174889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1.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Lbls>
            <c:dLbl>
              <c:idx val="0"/>
              <c:layout>
                <c:manualLayout>
                  <c:x val="0.0350"/>
                  <c:y val="0.0000"/>
                </c:manualLayout>
              </c:layout>
              <c:tx>
                <c:rich>
                  <a:bodyPr/>
                  <a:lstStyle/>
                  <a:p>
                    <a:pPr>
                      <a:defRPr sz="1100" b="1">
                        <a:solidFill>
                          <a:srgbClr val="FFFFFF"/>
                        </a:solidFill>
                        <a:latin typeface="Calibri"/>
                      </a:defRPr>
                    </a:pPr>
                    <a:r>
                      <a:t>11.1%</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6.1%</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8.4%</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11.2%</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19.0%</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11.2%</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18.0%</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15.0%</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Sheet1!$A$2:$A$9</c:f>
              <c:strCache>
                <c:ptCount val="8"/>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strCache>
            </c:strRef>
          </c:cat>
          <c:val>
            <c:numRef>
              <c:f>Sheet1!$B$2:$B$9</c:f>
              <c:numCache>
                <c:formatCode>General</c:formatCode>
                <c:ptCount val="8"/>
                <c:pt idx="0">
                  <c:v>866.895</c:v>
                </c:pt>
                <c:pt idx="1">
                  <c:v>475.84799999999996</c:v>
                </c:pt>
                <c:pt idx="2">
                  <c:v>654.482</c:v>
                </c:pt>
                <c:pt idx="3">
                  <c:v>870.038</c:v>
                </c:pt>
                <c:pt idx="4">
                  <c:v>1477.557</c:v>
                </c:pt>
                <c:pt idx="5">
                  <c:v>868.097</c:v>
                </c:pt>
                <c:pt idx="6">
                  <c:v>1400.397</c:v>
                </c:pt>
                <c:pt idx="7">
                  <c:v>1168.449</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302.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0.08730447549121624</c:v>
                </c:pt>
                <c:pt idx="1">
                  <c:v>0.08570981745362084</c:v>
                </c:pt>
                <c:pt idx="2">
                  <c:v>0.08258502511405529</c:v>
                </c:pt>
                <c:pt idx="3">
                  <c:v>0.07946023277448974</c:v>
                </c:pt>
                <c:pt idx="4">
                  <c:v>0.07793009847251958</c:v>
                </c:pt>
                <c:pt idx="5">
                  <c:v>0.07830802320975318</c:v>
                </c:pt>
                <c:pt idx="6">
                  <c:v>0.07941414439190027</c:v>
                </c:pt>
                <c:pt idx="7">
                  <c:v>0.07984737518824121</c:v>
                </c:pt>
                <c:pt idx="8">
                  <c:v>0.07899934894859512</c:v>
                </c:pt>
                <c:pt idx="9">
                  <c:v>0.07610499852197687</c:v>
                </c:pt>
                <c:pt idx="10">
                  <c:v>0.07370840262732482</c:v>
                </c:pt>
              </c:numCache>
            </c:numRef>
          </c:val>
          <c:smooth val="0"/>
        </c:ser>
        <c:ser>
          <c:idx val="1"/>
          <c:order val="1"/>
          <c:tx>
            <c:strRef>
              <c:f>Sheet1!$C$1</c: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0.05691185829306934</c:v>
                </c:pt>
                <c:pt idx="1">
                  <c:v>0.05899525454312436</c:v>
                </c:pt>
                <c:pt idx="2">
                  <c:v>0.0603972884975639</c:v>
                </c:pt>
                <c:pt idx="3">
                  <c:v>0.061321058532965655</c:v>
                </c:pt>
                <c:pt idx="4">
                  <c:v>0.0627951596532876</c:v>
                </c:pt>
                <c:pt idx="5">
                  <c:v>0.0637647906124327</c:v>
                </c:pt>
                <c:pt idx="6">
                  <c:v>0.06456408099767394</c:v>
                </c:pt>
                <c:pt idx="7">
                  <c:v>0.06607749148120447</c:v>
                </c:pt>
                <c:pt idx="8">
                  <c:v>0.06762365976740882</c:v>
                </c:pt>
                <c:pt idx="9">
                  <c:v>0.0698249841070896</c:v>
                </c:pt>
                <c:pt idx="10">
                  <c:v>0.07132529146955059</c:v>
                </c:pt>
              </c:numCache>
            </c:numRef>
          </c:val>
          <c:smooth val="0"/>
        </c:ser>
        <c:ser>
          <c:idx val="2"/>
          <c:order val="2"/>
          <c:tx>
            <c:strRef>
              <c:f>Sheet1!$D$1</c: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Sheet1!$D$2:$D$12</c:f>
              <c:numCache>
                <c:formatCode>General</c:formatCode>
                <c:ptCount val="11"/>
                <c:pt idx="0">
                  <c:v>0.040620236744460456</c:v>
                </c:pt>
                <c:pt idx="1">
                  <c:v>0.041993969452416395</c:v>
                </c:pt>
                <c:pt idx="2">
                  <c:v>0.043440643720086804</c:v>
                </c:pt>
                <c:pt idx="3">
                  <c:v>0.04412143161075523</c:v>
                </c:pt>
                <c:pt idx="4">
                  <c:v>0.04621242298923682</c:v>
                </c:pt>
                <c:pt idx="5">
                  <c:v>0.04821223741807532</c:v>
                </c:pt>
                <c:pt idx="6">
                  <c:v>0.05021205184691383</c:v>
                </c:pt>
                <c:pt idx="7">
                  <c:v>0.05168303996782239</c:v>
                </c:pt>
                <c:pt idx="8">
                  <c:v>0.05255226022108655</c:v>
                </c:pt>
                <c:pt idx="9">
                  <c:v>0.05400501295206649</c:v>
                </c:pt>
                <c:pt idx="10">
                  <c:v>0.05474658547583032</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China</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64.80720783037464</c:v>
                </c:pt>
                <c:pt idx="1">
                  <c:v>67.26113203923332</c:v>
                </c:pt>
              </c:numCache>
            </c:numRef>
          </c:val>
        </c:ser>
        <c:ser>
          <c:idx val="1"/>
          <c:order val="1"/>
          <c:tx>
            <c:strRef>
              <c:f>Sheet1!$C$1</c:f>
              <c:strCache>
                <c:ptCount val="1"/>
                <c:pt idx="0">
                  <c:v>Japan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24.414356694807786</c:v>
                </c:pt>
                <c:pt idx="1">
                  <c:v>22.202298067871133</c:v>
                </c:pt>
              </c:numCache>
            </c:numRef>
          </c:val>
        </c:ser>
        <c:ser>
          <c:idx val="2"/>
          <c:order val="2"/>
          <c:tx>
            <c:strRef>
              <c:f>Sheet1!$D$1</c:f>
              <c:strCache>
                <c:ptCount val="1"/>
                <c:pt idx="0">
                  <c:v>South Korea</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10.778435474817574</c:v>
                </c:pt>
                <c:pt idx="1">
                  <c:v>10.536569892895544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China</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46.88360989554104</c:v>
                </c:pt>
                <c:pt idx="1">
                  <c:v>51.13755727815885</c:v>
                </c:pt>
              </c:numCache>
            </c:numRef>
          </c:val>
        </c:ser>
        <c:ser>
          <c:idx val="1"/>
          <c:order val="1"/>
          <c:tx>
            <c:strRef>
              <c:f>Sheet1!$C$1</c:f>
              <c:strCache>
                <c:ptCount val="1"/>
                <c:pt idx="0">
                  <c:v>Japan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39.306550611380544</c:v>
                </c:pt>
                <c:pt idx="1">
                  <c:v>35.66088245824018</c:v>
                </c:pt>
              </c:numCache>
            </c:numRef>
          </c:val>
        </c:ser>
        <c:ser>
          <c:idx val="2"/>
          <c:order val="2"/>
          <c:tx>
            <c:strRef>
              <c:f>Sheet1!$D$1</c:f>
              <c:strCache>
                <c:ptCount val="1"/>
                <c:pt idx="0">
                  <c:v>South Korea</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13.809839493078416</c:v>
                </c:pt>
                <c:pt idx="1">
                  <c:v>13.20156026360097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China</c:v>
                </c:pt>
              </c:strCache>
            </c:strRef>
          </c:tx>
          <c:spPr>
            <a:solidFill>
              <a:srgbClr val="3D85C6"/>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1120.954</c:v>
                </c:pt>
                <c:pt idx="1">
                  <c:v>1166.845</c:v>
                </c:pt>
                <c:pt idx="2">
                  <c:v>1214.296</c:v>
                </c:pt>
                <c:pt idx="3">
                  <c:v>1263.174</c:v>
                </c:pt>
                <c:pt idx="4">
                  <c:v>1314.699</c:v>
                </c:pt>
                <c:pt idx="5">
                  <c:v>1371.629</c:v>
                </c:pt>
                <c:pt idx="6">
                  <c:v>1435.084</c:v>
                </c:pt>
                <c:pt idx="7">
                  <c:v>1506.159</c:v>
                </c:pt>
                <c:pt idx="8">
                  <c:v>1585.294</c:v>
                </c:pt>
                <c:pt idx="9">
                  <c:v>1672.157</c:v>
                </c:pt>
                <c:pt idx="10">
                  <c:v>1765.842</c:v>
                </c:pt>
                <c:pt idx="11">
                  <c:v>1865.852</c:v>
                </c:pt>
                <c:pt idx="12">
                  <c:v>1971.163</c:v>
                </c:pt>
                <c:pt idx="13">
                  <c:v>2081.209</c:v>
                </c:pt>
                <c:pt idx="14">
                  <c:v>2194.596</c:v>
                </c:pt>
                <c:pt idx="15">
                  <c:v>2311.338</c:v>
                </c:pt>
              </c:numCache>
            </c:numRef>
          </c:val>
        </c:ser>
        <c:ser>
          <c:idx val="1"/>
          <c:order val="1"/>
          <c:tx>
            <c:strRef>
              <c:f>Sheet1!$C$1</c:f>
              <c:strCache>
                <c:ptCount val="1"/>
                <c:pt idx="0">
                  <c:v>Japan</c:v>
                </c:pt>
              </c:strCache>
            </c:strRef>
          </c:tx>
          <c:spPr>
            <a:solidFill>
              <a:srgbClr val="9E7E0A"/>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444.491</c:v>
                </c:pt>
                <c:pt idx="1">
                  <c:v>457.995</c:v>
                </c:pt>
                <c:pt idx="2">
                  <c:v>471.822</c:v>
                </c:pt>
                <c:pt idx="3">
                  <c:v>485.923</c:v>
                </c:pt>
                <c:pt idx="4">
                  <c:v>500.644</c:v>
                </c:pt>
                <c:pt idx="5">
                  <c:v>516.724</c:v>
                </c:pt>
                <c:pt idx="6">
                  <c:v>534.429</c:v>
                </c:pt>
                <c:pt idx="7">
                  <c:v>554.005</c:v>
                </c:pt>
                <c:pt idx="8">
                  <c:v>575.522</c:v>
                </c:pt>
                <c:pt idx="9">
                  <c:v>598.836</c:v>
                </c:pt>
                <c:pt idx="10">
                  <c:v>623.677</c:v>
                </c:pt>
                <c:pt idx="11">
                  <c:v>649.88</c:v>
                </c:pt>
                <c:pt idx="12">
                  <c:v>677.135</c:v>
                </c:pt>
                <c:pt idx="13">
                  <c:v>705.263</c:v>
                </c:pt>
                <c:pt idx="14">
                  <c:v>733.868</c:v>
                </c:pt>
                <c:pt idx="15">
                  <c:v>762.952</c:v>
                </c:pt>
              </c:numCache>
            </c:numRef>
          </c:val>
        </c:ser>
        <c:ser>
          <c:idx val="2"/>
          <c:order val="2"/>
          <c:tx>
            <c:strRef>
              <c:f>Sheet1!$D$1</c:f>
              <c:strCache>
                <c:ptCount val="1"/>
                <c:pt idx="0">
                  <c:v>South Korea</c:v>
                </c:pt>
              </c:strCache>
            </c:strRef>
          </c:tx>
          <c:spPr>
            <a:solidFill>
              <a:srgbClr val="008189"/>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191.222</c:v>
                </c:pt>
                <c:pt idx="1">
                  <c:v>198.018</c:v>
                </c:pt>
                <c:pt idx="2">
                  <c:v>205.028</c:v>
                </c:pt>
                <c:pt idx="3">
                  <c:v>212.229</c:v>
                </c:pt>
                <c:pt idx="4">
                  <c:v>219.795</c:v>
                </c:pt>
                <c:pt idx="5">
                  <c:v>228.123</c:v>
                </c:pt>
                <c:pt idx="6">
                  <c:v>237.364</c:v>
                </c:pt>
                <c:pt idx="7">
                  <c:v>247.67</c:v>
                </c:pt>
                <c:pt idx="8">
                  <c:v>259.101</c:v>
                </c:pt>
                <c:pt idx="9">
                  <c:v>271.606</c:v>
                </c:pt>
                <c:pt idx="10">
                  <c:v>285.045</c:v>
                </c:pt>
                <c:pt idx="11">
                  <c:v>299.329</c:v>
                </c:pt>
                <c:pt idx="12">
                  <c:v>314.287</c:v>
                </c:pt>
                <c:pt idx="13">
                  <c:v>329.833</c:v>
                </c:pt>
                <c:pt idx="14">
                  <c:v>345.763</c:v>
                </c:pt>
                <c:pt idx="15">
                  <c:v>362.075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China</c:v>
                </c:pt>
              </c:strCache>
            </c:strRef>
          </c:tx>
          <c:spPr>
            <a:solidFill>
              <a:srgbClr val="3D85C6"/>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1520.843</c:v>
                </c:pt>
                <c:pt idx="1">
                  <c:v>1592.881</c:v>
                </c:pt>
                <c:pt idx="2">
                  <c:v>1668.336</c:v>
                </c:pt>
                <c:pt idx="3">
                  <c:v>1748.024</c:v>
                </c:pt>
                <c:pt idx="4">
                  <c:v>1832.745</c:v>
                </c:pt>
                <c:pt idx="5">
                  <c:v>1935.64</c:v>
                </c:pt>
                <c:pt idx="6">
                  <c:v>2052.516</c:v>
                </c:pt>
                <c:pt idx="7">
                  <c:v>2186.244</c:v>
                </c:pt>
                <c:pt idx="8">
                  <c:v>2339.139</c:v>
                </c:pt>
                <c:pt idx="9">
                  <c:v>2512.08</c:v>
                </c:pt>
                <c:pt idx="10">
                  <c:v>2705.202</c:v>
                </c:pt>
                <c:pt idx="11">
                  <c:v>2918.905</c:v>
                </c:pt>
                <c:pt idx="12">
                  <c:v>3152.89</c:v>
                </c:pt>
                <c:pt idx="13">
                  <c:v>3407.052</c:v>
                </c:pt>
                <c:pt idx="14">
                  <c:v>3682.204</c:v>
                </c:pt>
                <c:pt idx="15">
                  <c:v>3979.403</c:v>
                </c:pt>
              </c:numCache>
            </c:numRef>
          </c:val>
        </c:ser>
        <c:ser>
          <c:idx val="1"/>
          <c:order val="1"/>
          <c:tx>
            <c:strRef>
              <c:f>Sheet1!$C$1</c:f>
              <c:strCache>
                <c:ptCount val="1"/>
                <c:pt idx="0">
                  <c:v>Japan</c:v>
                </c:pt>
              </c:strCache>
            </c:strRef>
          </c:tx>
          <c:spPr>
            <a:solidFill>
              <a:srgbClr val="9E7E0A"/>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1352.244</c:v>
                </c:pt>
                <c:pt idx="1">
                  <c:v>1400.311</c:v>
                </c:pt>
                <c:pt idx="2">
                  <c:v>1450.143</c:v>
                </c:pt>
                <c:pt idx="3">
                  <c:v>1502.264</c:v>
                </c:pt>
                <c:pt idx="4">
                  <c:v>1557.117</c:v>
                </c:pt>
                <c:pt idx="5">
                  <c:v>1622.813</c:v>
                </c:pt>
                <c:pt idx="6">
                  <c:v>1696.254</c:v>
                </c:pt>
                <c:pt idx="7">
                  <c:v>1778.617</c:v>
                </c:pt>
                <c:pt idx="8">
                  <c:v>1870.972</c:v>
                </c:pt>
                <c:pt idx="9">
                  <c:v>1973.231</c:v>
                </c:pt>
                <c:pt idx="10">
                  <c:v>2085.128</c:v>
                </c:pt>
                <c:pt idx="11">
                  <c:v>2206.68</c:v>
                </c:pt>
                <c:pt idx="12">
                  <c:v>2336.523</c:v>
                </c:pt>
                <c:pt idx="13">
                  <c:v>2474.819</c:v>
                </c:pt>
                <c:pt idx="14">
                  <c:v>2620.918</c:v>
                </c:pt>
                <c:pt idx="15">
                  <c:v>2775.045</c:v>
                </c:pt>
              </c:numCache>
            </c:numRef>
          </c:val>
        </c:ser>
        <c:ser>
          <c:idx val="2"/>
          <c:order val="2"/>
          <c:tx>
            <c:strRef>
              <c:f>Sheet1!$D$1</c:f>
              <c:strCache>
                <c:ptCount val="1"/>
                <c:pt idx="0">
                  <c:v>South Korea</c:v>
                </c:pt>
              </c:strCache>
            </c:strRef>
          </c:tx>
          <c:spPr>
            <a:solidFill>
              <a:srgbClr val="008189"/>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465.498</c:v>
                </c:pt>
                <c:pt idx="1">
                  <c:v>484.036</c:v>
                </c:pt>
                <c:pt idx="2">
                  <c:v>503.342</c:v>
                </c:pt>
                <c:pt idx="3">
                  <c:v>523.558</c:v>
                </c:pt>
                <c:pt idx="4">
                  <c:v>544.929</c:v>
                </c:pt>
                <c:pt idx="5">
                  <c:v>570.154</c:v>
                </c:pt>
                <c:pt idx="6">
                  <c:v>598.547</c:v>
                </c:pt>
                <c:pt idx="7">
                  <c:v>630.585</c:v>
                </c:pt>
                <c:pt idx="8">
                  <c:v>666.713</c:v>
                </c:pt>
                <c:pt idx="9">
                  <c:v>707.144</c:v>
                </c:pt>
                <c:pt idx="10">
                  <c:v>751.535</c:v>
                </c:pt>
                <c:pt idx="11">
                  <c:v>799.854</c:v>
                </c:pt>
                <c:pt idx="12">
                  <c:v>851.647</c:v>
                </c:pt>
                <c:pt idx="13">
                  <c:v>906.978</c:v>
                </c:pt>
                <c:pt idx="14">
                  <c:v>965.438</c:v>
                </c:pt>
                <c:pt idx="15">
                  <c:v>1027.314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Sprays and Mists</c:v>
                </c:pt>
              </c:strCache>
            </c:strRef>
          </c:tx>
          <c:spPr>
            <a:solidFill>
              <a:srgbClr val="3D85C6"/>
            </a:solidFill>
            <a:ln>
              <a:noFill/>
            </a:ln>
          </c:spPr>
          <c:dLbls>
            <c:dLbl>
              <c:idx val="0"/>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Sheet1!$B$2:$B$4</c:f>
              <c:numCache>
                <c:formatCode>General</c:formatCode>
                <c:ptCount val="3"/>
                <c:pt idx="0">
                  <c:v>12.310962979114427</c:v>
                </c:pt>
                <c:pt idx="1">
                  <c:v>9.344090624738742</c:v>
                </c:pt>
                <c:pt idx="2">
                  <c:v>12.090277840601257</c:v>
                </c:pt>
              </c:numCache>
            </c:numRef>
          </c:val>
        </c:ser>
        <c:ser>
          <c:idx val="1"/>
          <c:order val="1"/>
          <c:tx>
            <c:strRef>
              <c:f>Sheet1!$C$1</c:f>
              <c:strCache>
                <c:ptCount val="1"/>
                <c:pt idx="0">
                  <c:v>Mousses and Foams</c:v>
                </c:pt>
              </c:strCache>
            </c:strRef>
          </c:tx>
          <c:spPr>
            <a:solidFill>
              <a:srgbClr val="9E7E0A"/>
            </a:solidFill>
            <a:ln>
              <a:noFill/>
            </a:ln>
          </c:spPr>
          <c:cat>
            <c:strRef>
              <c:f>Sheet1!$A$2:$A$4</c:f>
              <c:strCache>
                <c:ptCount val="3"/>
                <c:pt idx="0">
                  <c:v>South Korea  ·  1,027</c:v>
                </c:pt>
                <c:pt idx="1">
                  <c:v>Japan  ·  2,775</c:v>
                </c:pt>
                <c:pt idx="2">
                  <c:v>China  ·  3,979</c:v>
                </c:pt>
              </c:strCache>
            </c:strRef>
          </c:cat>
          <c:val>
            <c:numRef>
              <c:f>Sheet1!$C$2:$C$4</c:f>
              <c:numCache>
                <c:formatCode>General</c:formatCode>
                <c:ptCount val="3"/>
                <c:pt idx="0">
                  <c:v>6.083546186552868</c:v>
                </c:pt>
                <c:pt idx="1">
                  <c:v>6.0317875582692615</c:v>
                </c:pt>
                <c:pt idx="2">
                  <c:v>6.180975844623969</c:v>
                </c:pt>
              </c:numCache>
            </c:numRef>
          </c:val>
        </c:ser>
        <c:ser>
          <c:idx val="2"/>
          <c:order val="2"/>
          <c:tx>
            <c:strRef>
              <c:f>Sheet1!$D$1</c:f>
              <c:strCache>
                <c:ptCount val="1"/>
                <c:pt idx="0">
                  <c:v>Gels and Jellies</c:v>
                </c:pt>
              </c:strCache>
            </c:strRef>
          </c:tx>
          <c:spPr>
            <a:solidFill>
              <a:srgbClr val="008189"/>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Sheet1!$D$2:$D$4</c:f>
              <c:numCache>
                <c:formatCode>General</c:formatCode>
                <c:ptCount val="3"/>
                <c:pt idx="0">
                  <c:v>8.129954677838866</c:v>
                </c:pt>
                <c:pt idx="1">
                  <c:v>8.44832233532537</c:v>
                </c:pt>
                <c:pt idx="2">
                  <c:v>8.456467350387143</c:v>
                </c:pt>
              </c:numCache>
            </c:numRef>
          </c:val>
        </c:ser>
        <c:ser>
          <c:idx val="3"/>
          <c:order val="3"/>
          <c:tx>
            <c:strRef>
              <c:f>Sheet1!$E$1</c:f>
              <c:strCache>
                <c:ptCount val="1"/>
                <c:pt idx="0">
                  <c:v>Creams and Lotions</c:v>
                </c:pt>
              </c:strCache>
            </c:strRef>
          </c:tx>
          <c:spPr>
            <a:solidFill>
              <a:srgbClr val="40315E"/>
            </a:solidFill>
            <a:ln>
              <a:noFill/>
            </a:ln>
          </c:spPr>
          <c:dLbls>
            <c:dLbl>
              <c:idx val="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Sheet1!$E$2:$E$4</c:f>
              <c:numCache>
                <c:formatCode>General</c:formatCode>
                <c:ptCount val="3"/>
                <c:pt idx="0">
                  <c:v>10.455927702586946</c:v>
                </c:pt>
                <c:pt idx="1">
                  <c:v>11.040890103522532</c:v>
                </c:pt>
                <c:pt idx="2">
                  <c:v>11.464857551532843</c:v>
                </c:pt>
              </c:numCache>
            </c:numRef>
          </c:val>
        </c:ser>
        <c:ser>
          <c:idx val="4"/>
          <c:order val="4"/>
          <c:tx>
            <c:strRef>
              <c:f>Sheet1!$F$1</c:f>
              <c:strCache>
                <c:ptCount val="1"/>
                <c:pt idx="0">
                  <c:v>Waxes, Clays, Pastes and Pomades</c:v>
                </c:pt>
              </c:strCache>
            </c:strRef>
          </c:tx>
          <c:spPr>
            <a:solidFill>
              <a:srgbClr val="A35313"/>
            </a:solidFill>
            <a:ln>
              <a:noFill/>
            </a:ln>
          </c:spPr>
          <c:dLbls>
            <c:dLbl>
              <c:idx val="0"/>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Sheet1!$F$2:$F$4</c:f>
              <c:numCache>
                <c:formatCode>General</c:formatCode>
                <c:ptCount val="3"/>
                <c:pt idx="0">
                  <c:v>17.78018751849487</c:v>
                </c:pt>
                <c:pt idx="1">
                  <c:v>20.771028104739088</c:v>
                </c:pt>
                <c:pt idx="2">
                  <c:v>18.055291696947585</c:v>
                </c:pt>
              </c:numCache>
            </c:numRef>
          </c:val>
        </c:ser>
        <c:ser>
          <c:idx val="5"/>
          <c:order val="5"/>
          <c:tx>
            <c:strRef>
              <c:f>Sheet1!$G$1</c:f>
              <c:strCache>
                <c:ptCount val="1"/>
                <c:pt idx="0">
                  <c:v>Styling Powders</c:v>
                </c:pt>
              </c:strCache>
            </c:strRef>
          </c:tx>
          <c:spPr>
            <a:solidFill>
              <a:srgbClr val="808080"/>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Sheet1!$G$2:$G$4</c:f>
              <c:numCache>
                <c:formatCode>General</c:formatCode>
                <c:ptCount val="3"/>
                <c:pt idx="0">
                  <c:v>12.662852181226347</c:v>
                </c:pt>
                <c:pt idx="1">
                  <c:v>10.869505680622462</c:v>
                </c:pt>
                <c:pt idx="2">
                  <c:v>10.965863229770086</c:v>
                </c:pt>
              </c:numCache>
            </c:numRef>
          </c:val>
        </c:ser>
        <c:ser>
          <c:idx val="6"/>
          <c:order val="6"/>
          <c:tx>
            <c:strRef>
              <c:f>Sheet1!$H$1</c:f>
              <c:strCache>
                <c:ptCount val="1"/>
                <c:pt idx="0">
                  <c:v>Styling Serums and Oils</c:v>
                </c:pt>
              </c:strCache>
            </c:strRef>
          </c:tx>
          <c:spPr>
            <a:solidFill>
              <a:srgbClr val="0E72AE"/>
            </a:solidFill>
            <a:ln>
              <a:noFill/>
            </a:ln>
          </c:spPr>
          <c:dLbls>
            <c:dLbl>
              <c:idx val="0"/>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Sheet1!$H$2:$H$4</c:f>
              <c:numCache>
                <c:formatCode>General</c:formatCode>
                <c:ptCount val="3"/>
                <c:pt idx="0">
                  <c:v>18.132758110486396</c:v>
                </c:pt>
                <c:pt idx="1">
                  <c:v>16.76731357439583</c:v>
                </c:pt>
                <c:pt idx="2">
                  <c:v>18.817290227380784</c:v>
                </c:pt>
              </c:numCache>
            </c:numRef>
          </c:val>
        </c:ser>
        <c:ser>
          <c:idx val="7"/>
          <c:order val="7"/>
          <c:tx>
            <c:strRef>
              <c:f>Sheet1!$I$1</c:f>
              <c:strCache>
                <c:ptCount val="1"/>
                <c:pt idx="0">
                  <c:v>Sticks and Balms</c:v>
                </c:pt>
              </c:strCache>
            </c:strRef>
          </c:tx>
          <c:spPr>
            <a:solidFill>
              <a:srgbClr val="A86F00"/>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Sheet1!$I$2:$I$4</c:f>
              <c:numCache>
                <c:formatCode>General</c:formatCode>
                <c:ptCount val="3"/>
                <c:pt idx="0">
                  <c:v>14.443810643699287</c:v>
                </c:pt>
                <c:pt idx="1">
                  <c:v>16.72706201838671</c:v>
                </c:pt>
                <c:pt idx="2">
                  <c:v>13.968976258756335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0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Sprays and Mists</c:v>
                </c:pt>
              </c:strCache>
            </c:strRef>
          </c:tx>
          <c:spPr>
            <a:solidFill>
              <a:srgbClr val="3D85C6"/>
            </a:solidFill>
          </c:spPr>
          <c:invertIfNegative val="0"/>
          <c:xVal>
            <c:numRef>
              <c:f>Sheet1!$A$2:$A$2</c:f>
              <c:numCache>
                <c:formatCode>General</c:formatCode>
                <c:ptCount val="1"/>
                <c:pt idx="0">
                  <c:v>72.26774008085826</c:v>
                </c:pt>
              </c:numCache>
            </c:numRef>
          </c:xVal>
          <c:yVal>
            <c:numRef>
              <c:f>Sheet1!$B$2:$B$2</c:f>
              <c:numCache>
                <c:formatCode>General</c:formatCode>
                <c:ptCount val="1"/>
                <c:pt idx="0">
                  <c:v>105.82455535244696</c:v>
                </c:pt>
              </c:numCache>
            </c:numRef>
          </c:yVal>
          <c:bubbleSize>
            <c:numRef>
              <c:f>Sheet1!$C$2:$C$2</c:f>
              <c:numCache>
                <c:formatCode>General</c:formatCode>
                <c:ptCount val="1"/>
                <c:pt idx="0">
                  <c:v>866.895</c:v>
                </c:pt>
              </c:numCache>
            </c:numRef>
          </c:bubbleSize>
          <c:bubble3D val="0"/>
        </c:ser>
        <c:ser>
          <c:idx val="1"/>
          <c:order val="1"/>
          <c:tx>
            <c:strRef>
              <c:f>Sheet1!$B$4</c:f>
              <c:strCache>
                <c:ptCount val="1"/>
                <c:pt idx="0">
                  <c:v>Mousses and Foams</c:v>
                </c:pt>
              </c:strCache>
            </c:strRef>
          </c:tx>
          <c:spPr>
            <a:solidFill>
              <a:srgbClr val="9E7E0A"/>
            </a:solidFill>
          </c:spPr>
          <c:invertIfNegative val="0"/>
          <c:xVal>
            <c:numRef>
              <c:f>Sheet1!$A$5:$A$5</c:f>
              <c:numCache>
                <c:formatCode>General</c:formatCode>
                <c:ptCount val="1"/>
                <c:pt idx="0">
                  <c:v>80.52440868475753</c:v>
                </c:pt>
              </c:numCache>
            </c:numRef>
          </c:xVal>
          <c:yVal>
            <c:numRef>
              <c:f>Sheet1!$B$5:$B$5</c:f>
              <c:numCache>
                <c:formatCode>General</c:formatCode>
                <c:ptCount val="1"/>
                <c:pt idx="0">
                  <c:v>55.17483257670202</c:v>
                </c:pt>
              </c:numCache>
            </c:numRef>
          </c:yVal>
          <c:bubbleSize>
            <c:numRef>
              <c:f>Sheet1!$C$5:$C$5</c:f>
              <c:numCache>
                <c:formatCode>General</c:formatCode>
                <c:ptCount val="1"/>
                <c:pt idx="0">
                  <c:v>475.84799999999996</c:v>
                </c:pt>
              </c:numCache>
            </c:numRef>
          </c:bubbleSize>
          <c:bubble3D val="0"/>
        </c:ser>
        <c:ser>
          <c:idx val="2"/>
          <c:order val="2"/>
          <c:tx>
            <c:strRef>
              <c:f>Sheet1!$B$7</c:f>
              <c:strCache>
                <c:ptCount val="1"/>
                <c:pt idx="0">
                  <c:v>Gels and Jellies</c:v>
                </c:pt>
              </c:strCache>
            </c:strRef>
          </c:tx>
          <c:spPr>
            <a:solidFill>
              <a:srgbClr val="008189"/>
            </a:solidFill>
          </c:spPr>
          <c:invertIfNegative val="0"/>
          <c:xVal>
            <c:numRef>
              <c:f>Sheet1!$A$8:$A$8</c:f>
              <c:numCache>
                <c:formatCode>General</c:formatCode>
                <c:ptCount val="1"/>
                <c:pt idx="0">
                  <c:v>83.70493310996477</c:v>
                </c:pt>
              </c:numCache>
            </c:numRef>
          </c:xVal>
          <c:yVal>
            <c:numRef>
              <c:f>Sheet1!$B$8:$B$8</c:f>
              <c:numCache>
                <c:formatCode>General</c:formatCode>
                <c:ptCount val="1"/>
                <c:pt idx="0">
                  <c:v>74.40340046897174</c:v>
                </c:pt>
              </c:numCache>
            </c:numRef>
          </c:yVal>
          <c:bubbleSize>
            <c:numRef>
              <c:f>Sheet1!$C$8:$C$8</c:f>
              <c:numCache>
                <c:formatCode>General</c:formatCode>
                <c:ptCount val="1"/>
                <c:pt idx="0">
                  <c:v>654.482</c:v>
                </c:pt>
              </c:numCache>
            </c:numRef>
          </c:bubbleSize>
          <c:bubble3D val="0"/>
        </c:ser>
        <c:ser>
          <c:idx val="3"/>
          <c:order val="3"/>
          <c:tx>
            <c:strRef>
              <c:f>Sheet1!$B$10</c:f>
              <c:strCache>
                <c:ptCount val="1"/>
                <c:pt idx="0">
                  <c:v>Creams and Lotions</c:v>
                </c:pt>
              </c:strCache>
            </c:strRef>
          </c:tx>
          <c:spPr>
            <a:solidFill>
              <a:srgbClr val="40315E"/>
            </a:solidFill>
          </c:spPr>
          <c:invertIfNegative val="0"/>
          <c:xVal>
            <c:numRef>
              <c:f>Sheet1!$A$11:$A$11</c:f>
              <c:numCache>
                <c:formatCode>General</c:formatCode>
                <c:ptCount val="1"/>
                <c:pt idx="0">
                  <c:v>107.74997357288369</c:v>
                </c:pt>
              </c:numCache>
            </c:numRef>
          </c:xVal>
          <c:yVal>
            <c:numRef>
              <c:f>Sheet1!$B$11:$B$11</c:f>
              <c:numCache>
                <c:formatCode>General</c:formatCode>
                <c:ptCount val="1"/>
                <c:pt idx="0">
                  <c:v>85.29579105010478</c:v>
                </c:pt>
              </c:numCache>
            </c:numRef>
          </c:yVal>
          <c:bubbleSize>
            <c:numRef>
              <c:f>Sheet1!$C$11:$C$11</c:f>
              <c:numCache>
                <c:formatCode>General</c:formatCode>
                <c:ptCount val="1"/>
                <c:pt idx="0">
                  <c:v>870.038</c:v>
                </c:pt>
              </c:numCache>
            </c:numRef>
          </c:bubbleSize>
          <c:bubble3D val="0"/>
        </c:ser>
        <c:ser>
          <c:idx val="4"/>
          <c:order val="4"/>
          <c:tx>
            <c:strRef>
              <c:f>Sheet1!$B$13</c:f>
              <c:strCache>
                <c:ptCount val="1"/>
                <c:pt idx="0">
                  <c:v>Waxes, Clays, Pastes and Pomades</c:v>
                </c:pt>
              </c:strCache>
            </c:strRef>
          </c:tx>
          <c:spPr>
            <a:solidFill>
              <a:srgbClr val="A35313"/>
            </a:solidFill>
          </c:spPr>
          <c:invertIfNegative val="0"/>
          <c:xVal>
            <c:numRef>
              <c:f>Sheet1!$A$14:$A$14</c:f>
              <c:numCache>
                <c:formatCode>General</c:formatCode>
                <c:ptCount val="1"/>
                <c:pt idx="0">
                  <c:v>92.16022653476045</c:v>
                </c:pt>
              </c:numCache>
            </c:numRef>
          </c:xVal>
          <c:yVal>
            <c:numRef>
              <c:f>Sheet1!$B$14:$B$14</c:f>
              <c:numCache>
                <c:formatCode>General</c:formatCode>
                <c:ptCount val="1"/>
                <c:pt idx="0">
                  <c:v>159.41086182337045</c:v>
                </c:pt>
              </c:numCache>
            </c:numRef>
          </c:yVal>
          <c:bubbleSize>
            <c:numRef>
              <c:f>Sheet1!$C$14:$C$14</c:f>
              <c:numCache>
                <c:formatCode>General</c:formatCode>
                <c:ptCount val="1"/>
                <c:pt idx="0">
                  <c:v>1477.557</c:v>
                </c:pt>
              </c:numCache>
            </c:numRef>
          </c:bubbleSize>
          <c:bubble3D val="0"/>
        </c:ser>
        <c:ser>
          <c:idx val="5"/>
          <c:order val="5"/>
          <c:tx>
            <c:strRef>
              <c:f>Sheet1!$B$16</c:f>
              <c:strCache>
                <c:ptCount val="1"/>
                <c:pt idx="0">
                  <c:v>Styling Powders</c:v>
                </c:pt>
              </c:strCache>
            </c:strRef>
          </c:tx>
          <c:spPr>
            <a:solidFill>
              <a:srgbClr val="808080"/>
            </a:solidFill>
          </c:spPr>
          <c:invertIfNegative val="0"/>
          <c:xVal>
            <c:numRef>
              <c:f>Sheet1!$A$17:$A$17</c:f>
              <c:numCache>
                <c:formatCode>General</c:formatCode>
                <c:ptCount val="1"/>
                <c:pt idx="0">
                  <c:v>119.29484175829465</c:v>
                </c:pt>
              </c:numCache>
            </c:numRef>
          </c:xVal>
          <c:yVal>
            <c:numRef>
              <c:f>Sheet1!$B$17:$B$17</c:f>
              <c:numCache>
                <c:formatCode>General</c:formatCode>
                <c:ptCount val="1"/>
                <c:pt idx="0">
                  <c:v>79.32631999122222</c:v>
                </c:pt>
              </c:numCache>
            </c:numRef>
          </c:yVal>
          <c:bubbleSize>
            <c:numRef>
              <c:f>Sheet1!$C$17:$C$17</c:f>
              <c:numCache>
                <c:formatCode>General</c:formatCode>
                <c:ptCount val="1"/>
                <c:pt idx="0">
                  <c:v>868.097</c:v>
                </c:pt>
              </c:numCache>
            </c:numRef>
          </c:bubbleSize>
          <c:bubble3D val="0"/>
        </c:ser>
        <c:ser>
          <c:idx val="6"/>
          <c:order val="6"/>
          <c:tx>
            <c:strRef>
              <c:f>Sheet1!$B$19</c:f>
              <c:strCache>
                <c:ptCount val="1"/>
                <c:pt idx="0">
                  <c:v>Styling Serums and Oils</c:v>
                </c:pt>
              </c:strCache>
            </c:strRef>
          </c:tx>
          <c:spPr>
            <a:solidFill>
              <a:srgbClr val="0E72AE"/>
            </a:solidFill>
          </c:spPr>
          <c:invertIfNegative val="0"/>
          <c:xVal>
            <c:numRef>
              <c:f>Sheet1!$A$20:$A$20</c:f>
              <c:numCache>
                <c:formatCode>General</c:formatCode>
                <c:ptCount val="1"/>
                <c:pt idx="0">
                  <c:v>110.25193369233715</c:v>
                </c:pt>
              </c:numCache>
            </c:numRef>
          </c:xVal>
          <c:yVal>
            <c:numRef>
              <c:f>Sheet1!$B$20:$B$20</c:f>
              <c:numCache>
                <c:formatCode>General</c:formatCode>
                <c:ptCount val="1"/>
                <c:pt idx="0">
                  <c:v>135.20841291021404</c:v>
                </c:pt>
              </c:numCache>
            </c:numRef>
          </c:yVal>
          <c:bubbleSize>
            <c:numRef>
              <c:f>Sheet1!$C$20:$C$20</c:f>
              <c:numCache>
                <c:formatCode>General</c:formatCode>
                <c:ptCount val="1"/>
                <c:pt idx="0">
                  <c:v>1400.397</c:v>
                </c:pt>
              </c:numCache>
            </c:numRef>
          </c:bubbleSize>
          <c:bubble3D val="0"/>
        </c:ser>
        <c:ser>
          <c:idx val="7"/>
          <c:order val="7"/>
          <c:tx>
            <c:strRef>
              <c:f>Sheet1!$B$22</c:f>
              <c:strCache>
                <c:ptCount val="1"/>
                <c:pt idx="0">
                  <c:v>Sticks and Balms</c:v>
                </c:pt>
              </c:strCache>
            </c:strRef>
          </c:tx>
          <c:spPr>
            <a:solidFill>
              <a:srgbClr val="A86F00"/>
            </a:solidFill>
          </c:spPr>
          <c:invertIfNegative val="0"/>
          <c:xVal>
            <c:numRef>
              <c:f>Sheet1!$A$23:$A$23</c:f>
              <c:numCache>
                <c:formatCode>General</c:formatCode>
                <c:ptCount val="1"/>
                <c:pt idx="0">
                  <c:v>121.49664618859015</c:v>
                </c:pt>
              </c:numCache>
            </c:numRef>
          </c:xVal>
          <c:yVal>
            <c:numRef>
              <c:f>Sheet1!$B$23:$B$23</c:f>
              <c:numCache>
                <c:formatCode>General</c:formatCode>
                <c:ptCount val="1"/>
                <c:pt idx="0">
                  <c:v>105.35582582696779</c:v>
                </c:pt>
              </c:numCache>
            </c:numRef>
          </c:yVal>
          <c:bubbleSize>
            <c:numRef>
              <c:f>Sheet1!$C$23:$C$23</c:f>
              <c:numCache>
                <c:formatCode>General</c:formatCode>
                <c:ptCount val="1"/>
                <c:pt idx="0">
                  <c:v>1168.449</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5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546.135</c:v>
                </c:pt>
                <c:pt idx="2">
                  <c:v>590.185</c:v>
                </c:pt>
                <c:pt idx="3">
                  <c:v>645.338</c:v>
                </c:pt>
                <c:pt idx="4">
                  <c:v>710.001</c:v>
                </c:pt>
                <c:pt idx="5">
                  <c:v>783.8870000000001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546.135</c:v>
                </c:pt>
                <c:pt idx="1">
                  <c:v>44.049999999999955</c:v>
                </c:pt>
                <c:pt idx="2">
                  <c:v>55.15300000000002</c:v>
                </c:pt>
                <c:pt idx="3">
                  <c:v>64.66300000000001</c:v>
                </c:pt>
                <c:pt idx="4">
                  <c:v>73.88600000000008</c:v>
                </c:pt>
                <c:pt idx="5">
                  <c:v>83.00799999999992</c:v>
                </c:pt>
                <c:pt idx="6">
                  <c:v>866.895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284.744</c:v>
                </c:pt>
                <c:pt idx="2">
                  <c:v>312.622</c:v>
                </c:pt>
                <c:pt idx="3">
                  <c:v>345.66600000000005</c:v>
                </c:pt>
                <c:pt idx="4">
                  <c:v>383.343</c:v>
                </c:pt>
                <c:pt idx="5">
                  <c:v>426.852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284.744</c:v>
                </c:pt>
                <c:pt idx="1">
                  <c:v>27.877999999999986</c:v>
                </c:pt>
                <c:pt idx="2">
                  <c:v>33.04400000000004</c:v>
                </c:pt>
                <c:pt idx="3">
                  <c:v>37.676999999999964</c:v>
                </c:pt>
                <c:pt idx="4">
                  <c:v>43.50899999999996</c:v>
                </c:pt>
                <c:pt idx="5">
                  <c:v>48.99599999999998</c:v>
                </c:pt>
                <c:pt idx="6">
                  <c:v>475.84799999999996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383.978</c:v>
                </c:pt>
                <c:pt idx="2">
                  <c:v>423.747</c:v>
                </c:pt>
                <c:pt idx="3">
                  <c:v>471.067</c:v>
                </c:pt>
                <c:pt idx="4">
                  <c:v>525.019</c:v>
                </c:pt>
                <c:pt idx="5">
                  <c:v>586.103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383.978</c:v>
                </c:pt>
                <c:pt idx="1">
                  <c:v>39.769000000000005</c:v>
                </c:pt>
                <c:pt idx="2">
                  <c:v>47.31999999999999</c:v>
                </c:pt>
                <c:pt idx="3">
                  <c:v>53.952</c:v>
                </c:pt>
                <c:pt idx="4">
                  <c:v>61.083999999999946</c:v>
                </c:pt>
                <c:pt idx="5">
                  <c:v>68.37900000000002</c:v>
                </c:pt>
                <c:pt idx="6">
                  <c:v>654.482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440.191</c:v>
                </c:pt>
                <c:pt idx="2">
                  <c:v>488.542</c:v>
                </c:pt>
                <c:pt idx="3">
                  <c:v>555.756</c:v>
                </c:pt>
                <c:pt idx="4">
                  <c:v>641.866</c:v>
                </c:pt>
                <c:pt idx="5">
                  <c:v>746.77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440.191</c:v>
                </c:pt>
                <c:pt idx="1">
                  <c:v>48.351</c:v>
                </c:pt>
                <c:pt idx="2">
                  <c:v>67.214</c:v>
                </c:pt>
                <c:pt idx="3">
                  <c:v>86.11000000000001</c:v>
                </c:pt>
                <c:pt idx="4">
                  <c:v>104.904</c:v>
                </c:pt>
                <c:pt idx="5">
                  <c:v>123.26800000000003</c:v>
                </c:pt>
                <c:pt idx="6">
                  <c:v>870.038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822.681</c:v>
                </c:pt>
                <c:pt idx="2">
                  <c:v>915.7</c:v>
                </c:pt>
                <c:pt idx="3">
                  <c:v>1027.333</c:v>
                </c:pt>
                <c:pt idx="4">
                  <c:v>1156.138</c:v>
                </c:pt>
                <c:pt idx="5">
                  <c:v>1306.847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822.681</c:v>
                </c:pt>
                <c:pt idx="1">
                  <c:v>93.019</c:v>
                </c:pt>
                <c:pt idx="2">
                  <c:v>111.63300000000004</c:v>
                </c:pt>
                <c:pt idx="3">
                  <c:v>128.80499999999984</c:v>
                </c:pt>
                <c:pt idx="4">
                  <c:v>150.70900000000006</c:v>
                </c:pt>
                <c:pt idx="5">
                  <c:v>170.71000000000004</c:v>
                </c:pt>
                <c:pt idx="6">
                  <c:v>1477.557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409.384</c:v>
                </c:pt>
                <c:pt idx="2">
                  <c:v>462.574</c:v>
                </c:pt>
                <c:pt idx="3">
                  <c:v>533.408</c:v>
                </c:pt>
                <c:pt idx="4">
                  <c:v>627.336</c:v>
                </c:pt>
                <c:pt idx="5">
                  <c:v>738.661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409.384</c:v>
                </c:pt>
                <c:pt idx="1">
                  <c:v>53.19</c:v>
                </c:pt>
                <c:pt idx="2">
                  <c:v>70.834</c:v>
                </c:pt>
                <c:pt idx="3">
                  <c:v>93.928</c:v>
                </c:pt>
                <c:pt idx="4">
                  <c:v>111.32499999999993</c:v>
                </c:pt>
                <c:pt idx="5">
                  <c:v>129.43600000000004</c:v>
                </c:pt>
                <c:pt idx="6">
                  <c:v>868.097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697.778</c:v>
                </c:pt>
                <c:pt idx="2">
                  <c:v>785.344</c:v>
                </c:pt>
                <c:pt idx="3">
                  <c:v>902.17</c:v>
                </c:pt>
                <c:pt idx="4">
                  <c:v>1046.048</c:v>
                </c:pt>
                <c:pt idx="5">
                  <c:v>1210.88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697.778</c:v>
                </c:pt>
                <c:pt idx="1">
                  <c:v>87.56600000000003</c:v>
                </c:pt>
                <c:pt idx="2">
                  <c:v>116.82599999999991</c:v>
                </c:pt>
                <c:pt idx="3">
                  <c:v>143.87800000000004</c:v>
                </c:pt>
                <c:pt idx="4">
                  <c:v>164.8320000000001</c:v>
                </c:pt>
                <c:pt idx="5">
                  <c:v>189.51699999999983</c:v>
                </c:pt>
                <c:pt idx="6">
                  <c:v>1400.397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543.716</c:v>
                </c:pt>
                <c:pt idx="2">
                  <c:v>616.733</c:v>
                </c:pt>
                <c:pt idx="3">
                  <c:v>711.715</c:v>
                </c:pt>
                <c:pt idx="4">
                  <c:v>835.685</c:v>
                </c:pt>
                <c:pt idx="5">
                  <c:v>988.848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543.716</c:v>
                </c:pt>
                <c:pt idx="1">
                  <c:v>73.01699999999994</c:v>
                </c:pt>
                <c:pt idx="2">
                  <c:v>94.98200000000008</c:v>
                </c:pt>
                <c:pt idx="3">
                  <c:v>123.96999999999991</c:v>
                </c:pt>
                <c:pt idx="4">
                  <c:v>153.163</c:v>
                </c:pt>
                <c:pt idx="5">
                  <c:v>179.6010000000001</c:v>
                </c:pt>
                <c:pt idx="6">
                  <c:v>1168.449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Waxes, Clays, Pastes and Pomades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19.61555569200724</c:v>
                </c:pt>
                <c:pt idx="1">
                  <c:v>19.926357727921307</c:v>
                </c:pt>
                <c:pt idx="2">
                  <c:v>18.987432539387285</c:v>
                </c:pt>
              </c:numCache>
            </c:numRef>
          </c:val>
        </c:ser>
        <c:ser>
          <c:idx val="1"/>
          <c:order val="1"/>
          <c:tx>
            <c:strRef>
              <c:f>Sheet1!$C$1</c:f>
              <c:strCache>
                <c:ptCount val="1"/>
                <c:pt idx="0">
                  <c:v>Serums and Oils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16.283934660941686</c:v>
                </c:pt>
                <c:pt idx="1">
                  <c:v>16.901051613776755</c:v>
                </c:pt>
                <c:pt idx="2">
                  <c:v>17.99588345211747</c:v>
                </c:pt>
              </c:numCache>
            </c:numRef>
          </c:val>
        </c:ser>
        <c:ser>
          <c:idx val="2"/>
          <c:order val="2"/>
          <c:tx>
            <c:strRef>
              <c:f>Sheet1!$D$1</c:f>
              <c:strCache>
                <c:ptCount val="1"/>
                <c:pt idx="0">
                  <c:v>Sticks and Balms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12.566850926365511</c:v>
                </c:pt>
                <c:pt idx="1">
                  <c:v>13.169478228370973</c:v>
                </c:pt>
                <c:pt idx="2">
                  <c:v>15.015222128970004</c:v>
                </c:pt>
              </c:numCache>
            </c:numRef>
          </c:val>
        </c:ser>
        <c:ser>
          <c:idx val="3"/>
          <c:order val="3"/>
          <c:tx>
            <c:strRef>
              <c:f>Sheet1!$E$1</c:f>
              <c:strCache>
                <c:ptCount val="1"/>
                <c:pt idx="0">
                  <c:v>Creams and Lotions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11.072984512899925</c:v>
                </c:pt>
                <c:pt idx="1">
                  <c:v>10.661973881263098</c:v>
                </c:pt>
                <c:pt idx="2">
                  <c:v>11.180474141913601</c:v>
                </c:pt>
              </c:numCache>
            </c:numRef>
          </c:val>
        </c:ser>
        <c:ser>
          <c:idx val="4"/>
          <c:order val="4"/>
          <c:tx>
            <c:strRef>
              <c:f>Sheet1!$F$1</c:f>
              <c:strCache>
                <c:ptCount val="1"/>
                <c:pt idx="0">
                  <c:v>Powders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9.896318350438884</c:v>
                </c:pt>
                <c:pt idx="1">
                  <c:v>9.915789998902778</c:v>
                </c:pt>
                <c:pt idx="2">
                  <c:v>11.15553120803088</c:v>
                </c:pt>
              </c:numCache>
            </c:numRef>
          </c:val>
        </c:ser>
        <c:ser>
          <c:idx val="5"/>
          <c:order val="5"/>
          <c:tx>
            <c:strRef>
              <c:f>Sheet1!$G$1</c:f>
              <c:strCache>
                <c:ptCount val="1"/>
                <c:pt idx="0">
                  <c:v>Sprays and Mists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14.115680744986275</c:v>
                </c:pt>
                <c:pt idx="1">
                  <c:v>13.22806941905587</c:v>
                </c:pt>
                <c:pt idx="2">
                  <c:v>11.140084836816541</c:v>
                </c:pt>
              </c:numCache>
            </c:numRef>
          </c:val>
        </c:ser>
        <c:ser>
          <c:idx val="6"/>
          <c:order val="6"/>
          <c:tx>
            <c:strRef>
              <c:f>Sheet1!$H$1</c:f>
              <c:strCache>
                <c:ptCount val="1"/>
                <c:pt idx="0">
                  <c:v>Gels and Jellies</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9.407458549055962</c:v>
                </c:pt>
                <c:pt idx="1">
                  <c:v>9.300425058621467</c:v>
                </c:pt>
                <c:pt idx="2">
                  <c:v>8.410459172298102</c:v>
                </c:pt>
              </c:numCache>
            </c:numRef>
          </c:val>
        </c:ser>
        <c:ser>
          <c:idx val="7"/>
          <c:order val="7"/>
          <c:tx>
            <c:strRef>
              <c:f>Sheet1!$I$1</c:f>
              <c:strCache>
                <c:ptCount val="1"/>
                <c:pt idx="0">
                  <c:v>Mousses and Foams</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Sheet1!$I$2:$I$4</c:f>
              <c:numCache>
                <c:formatCode>General</c:formatCode>
                <c:ptCount val="3"/>
                <c:pt idx="0">
                  <c:v>7.0412165633045145</c:v>
                </c:pt>
                <c:pt idx="1">
                  <c:v>6.896854072087753</c:v>
                </c:pt>
                <c:pt idx="2">
                  <c:v>6.11491252046612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No Hold</c:v>
                </c:pt>
              </c:strCache>
            </c:strRef>
          </c:tx>
          <c:spPr>
            <a:solidFill>
              <a:srgbClr val="3D85C6"/>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Sheet1!$B$2:$B$4</c:f>
              <c:numCache>
                <c:formatCode>General</c:formatCode>
                <c:ptCount val="3"/>
                <c:pt idx="0">
                  <c:v>20.050851103801865</c:v>
                </c:pt>
                <c:pt idx="1">
                  <c:v>20.058017077200553</c:v>
                </c:pt>
                <c:pt idx="2">
                  <c:v>20.04546913192758</c:v>
                </c:pt>
              </c:numCache>
            </c:numRef>
          </c:val>
        </c:ser>
        <c:ser>
          <c:idx val="1"/>
          <c:order val="1"/>
          <c:tx>
            <c:strRef>
              <c:f>Sheet1!$C$1</c:f>
              <c:strCache>
                <c:ptCount val="1"/>
                <c:pt idx="0">
                  <c:v>Light or Flexible Hold</c:v>
                </c:pt>
              </c:strCache>
            </c:strRef>
          </c:tx>
          <c:spPr>
            <a:solidFill>
              <a:srgbClr val="9E7E0A"/>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Sheet1!$C$2:$C$4</c:f>
              <c:numCache>
                <c:formatCode>General</c:formatCode>
                <c:ptCount val="3"/>
                <c:pt idx="0">
                  <c:v>22.23149127870474</c:v>
                </c:pt>
                <c:pt idx="1">
                  <c:v>22.248540113763926</c:v>
                </c:pt>
                <c:pt idx="2">
                  <c:v>22.218910726056144</c:v>
                </c:pt>
              </c:numCache>
            </c:numRef>
          </c:val>
        </c:ser>
        <c:ser>
          <c:idx val="2"/>
          <c:order val="2"/>
          <c:tx>
            <c:strRef>
              <c:f>Sheet1!$D$1</c:f>
              <c:strCache>
                <c:ptCount val="1"/>
                <c:pt idx="0">
                  <c:v>Medium Hold</c:v>
                </c:pt>
              </c:strCache>
            </c:strRef>
          </c:tx>
          <c:spPr>
            <a:solidFill>
              <a:srgbClr val="008189"/>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Sheet1!$D$2:$D$4</c:f>
              <c:numCache>
                <c:formatCode>General</c:formatCode>
                <c:ptCount val="3"/>
                <c:pt idx="0">
                  <c:v>22.014517483960585</c:v>
                </c:pt>
                <c:pt idx="1">
                  <c:v>22.013408791569148</c:v>
                </c:pt>
                <c:pt idx="2">
                  <c:v>22.01528721770577</c:v>
                </c:pt>
              </c:numCache>
            </c:numRef>
          </c:val>
        </c:ser>
        <c:ser>
          <c:idx val="3"/>
          <c:order val="3"/>
          <c:tx>
            <c:strRef>
              <c:f>Sheet1!$E$1</c:f>
              <c:strCache>
                <c:ptCount val="1"/>
                <c:pt idx="0">
                  <c:v>Strong Hold</c:v>
                </c:pt>
              </c:strCache>
            </c:strRef>
          </c:tx>
          <c:spPr>
            <a:solidFill>
              <a:srgbClr val="40315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Sheet1!$E$2:$E$4</c:f>
              <c:numCache>
                <c:formatCode>General</c:formatCode>
                <c:ptCount val="3"/>
                <c:pt idx="0">
                  <c:v>19.750163776765213</c:v>
                </c:pt>
                <c:pt idx="1">
                  <c:v>19.741049244246494</c:v>
                </c:pt>
                <c:pt idx="2">
                  <c:v>19.756933389254616</c:v>
                </c:pt>
              </c:numCache>
            </c:numRef>
          </c:val>
        </c:ser>
        <c:ser>
          <c:idx val="4"/>
          <c:order val="4"/>
          <c:tx>
            <c:strRef>
              <c:f>Sheet1!$F$1</c:f>
              <c:strCache>
                <c:ptCount val="1"/>
                <c:pt idx="0">
                  <c:v>Extra-strong Hold</c:v>
                </c:pt>
              </c:strCache>
            </c:strRef>
          </c:tx>
          <c:spPr>
            <a:solidFill>
              <a:srgbClr val="A35313"/>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Sheet1!$F$2:$F$4</c:f>
              <c:numCache>
                <c:formatCode>General</c:formatCode>
                <c:ptCount val="3"/>
                <c:pt idx="0">
                  <c:v>15.952976356767609</c:v>
                </c:pt>
                <c:pt idx="1">
                  <c:v>15.938984773219897</c:v>
                </c:pt>
                <c:pt idx="2">
                  <c:v>15.963399535055887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1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No Hold</c:v>
                </c:pt>
              </c:strCache>
            </c:strRef>
          </c:tx>
          <c:spPr>
            <a:solidFill>
              <a:srgbClr val="3D85C6"/>
            </a:solidFill>
          </c:spPr>
          <c:invertIfNegative val="0"/>
          <c:xVal>
            <c:numRef>
              <c:f>Sheet1!$A$2:$A$2</c:f>
              <c:numCache>
                <c:formatCode>General</c:formatCode>
                <c:ptCount val="1"/>
                <c:pt idx="0">
                  <c:v>108.86209863464728</c:v>
                </c:pt>
              </c:numCache>
            </c:numRef>
          </c:xVal>
          <c:yVal>
            <c:numRef>
              <c:f>Sheet1!$B$2:$B$2</c:f>
              <c:numCache>
                <c:formatCode>General</c:formatCode>
                <c:ptCount val="1"/>
                <c:pt idx="0">
                  <c:v>94.95648290089127</c:v>
                </c:pt>
              </c:numCache>
            </c:numRef>
          </c:yVal>
          <c:bubbleSize>
            <c:numRef>
              <c:f>Sheet1!$C$2:$C$2</c:f>
              <c:numCache>
                <c:formatCode>General</c:formatCode>
                <c:ptCount val="1"/>
                <c:pt idx="0">
                  <c:v>1560.294</c:v>
                </c:pt>
              </c:numCache>
            </c:numRef>
          </c:bubbleSize>
          <c:bubble3D val="0"/>
        </c:ser>
        <c:ser>
          <c:idx val="1"/>
          <c:order val="1"/>
          <c:tx>
            <c:strRef>
              <c:f>Sheet1!$B$4</c:f>
              <c:strCache>
                <c:ptCount val="1"/>
                <c:pt idx="0">
                  <c:v>Light or Flexible Hold</c:v>
                </c:pt>
              </c:strCache>
            </c:strRef>
          </c:tx>
          <c:spPr>
            <a:solidFill>
              <a:srgbClr val="9E7E0A"/>
            </a:solidFill>
          </c:spPr>
          <c:invertIfNegative val="0"/>
          <c:xVal>
            <c:numRef>
              <c:f>Sheet1!$A$5:$A$5</c:f>
              <c:numCache>
                <c:formatCode>General</c:formatCode>
                <c:ptCount val="1"/>
                <c:pt idx="0">
                  <c:v>115.71004846039799</c:v>
                </c:pt>
              </c:numCache>
            </c:numRef>
          </c:xVal>
          <c:yVal>
            <c:numRef>
              <c:f>Sheet1!$B$5:$B$5</c:f>
              <c:numCache>
                <c:formatCode>General</c:formatCode>
                <c:ptCount val="1"/>
                <c:pt idx="0">
                  <c:v>100.97848983930899</c:v>
                </c:pt>
              </c:numCache>
            </c:numRef>
          </c:yVal>
          <c:bubbleSize>
            <c:numRef>
              <c:f>Sheet1!$C$5:$C$5</c:f>
              <c:numCache>
                <c:formatCode>General</c:formatCode>
                <c:ptCount val="1"/>
                <c:pt idx="0">
                  <c:v>1729.974</c:v>
                </c:pt>
              </c:numCache>
            </c:numRef>
          </c:bubbleSize>
          <c:bubble3D val="0"/>
        </c:ser>
        <c:ser>
          <c:idx val="2"/>
          <c:order val="2"/>
          <c:tx>
            <c:strRef>
              <c:f>Sheet1!$B$7</c:f>
              <c:strCache>
                <c:ptCount val="1"/>
                <c:pt idx="0">
                  <c:v>Medium Hold</c:v>
                </c:pt>
              </c:strCache>
            </c:strRef>
          </c:tx>
          <c:spPr>
            <a:solidFill>
              <a:srgbClr val="008189"/>
            </a:solidFill>
          </c:spPr>
          <c:invertIfNegative val="0"/>
          <c:xVal>
            <c:numRef>
              <c:f>Sheet1!$A$8:$A$8</c:f>
              <c:numCache>
                <c:formatCode>General</c:formatCode>
                <c:ptCount val="1"/>
                <c:pt idx="0">
                  <c:v>98.68137243472583</c:v>
                </c:pt>
              </c:numCache>
            </c:numRef>
          </c:xVal>
          <c:yVal>
            <c:numRef>
              <c:f>Sheet1!$B$8:$B$8</c:f>
              <c:numCache>
                <c:formatCode>General</c:formatCode>
                <c:ptCount val="1"/>
                <c:pt idx="0">
                  <c:v>110.9679366430372</c:v>
                </c:pt>
              </c:numCache>
            </c:numRef>
          </c:yVal>
          <c:bubbleSize>
            <c:numRef>
              <c:f>Sheet1!$C$8:$C$8</c:f>
              <c:numCache>
                <c:formatCode>General</c:formatCode>
                <c:ptCount val="1"/>
                <c:pt idx="0">
                  <c:v>1713.116</c:v>
                </c:pt>
              </c:numCache>
            </c:numRef>
          </c:bubbleSize>
          <c:bubble3D val="0"/>
        </c:ser>
        <c:ser>
          <c:idx val="3"/>
          <c:order val="3"/>
          <c:tx>
            <c:strRef>
              <c:f>Sheet1!$B$10</c:f>
              <c:strCache>
                <c:ptCount val="1"/>
                <c:pt idx="0">
                  <c:v>Strong Hold</c:v>
                </c:pt>
              </c:strCache>
            </c:strRef>
          </c:tx>
          <c:spPr>
            <a:solidFill>
              <a:srgbClr val="40315E"/>
            </a:solidFill>
          </c:spPr>
          <c:invertIfNegative val="0"/>
          <c:xVal>
            <c:numRef>
              <c:f>Sheet1!$A$11:$A$11</c:f>
              <c:numCache>
                <c:formatCode>General</c:formatCode>
                <c:ptCount val="1"/>
                <c:pt idx="0">
                  <c:v>90.64011414297556</c:v>
                </c:pt>
              </c:numCache>
            </c:numRef>
          </c:xVal>
          <c:yVal>
            <c:numRef>
              <c:f>Sheet1!$B$11:$B$11</c:f>
              <c:numCache>
                <c:formatCode>General</c:formatCode>
                <c:ptCount val="1"/>
                <c:pt idx="0">
                  <c:v>104.61240316649175</c:v>
                </c:pt>
              </c:numCache>
            </c:numRef>
          </c:yVal>
          <c:bubbleSize>
            <c:numRef>
              <c:f>Sheet1!$C$11:$C$11</c:f>
              <c:numCache>
                <c:formatCode>General</c:formatCode>
                <c:ptCount val="1"/>
                <c:pt idx="0">
                  <c:v>1536.927</c:v>
                </c:pt>
              </c:numCache>
            </c:numRef>
          </c:bubbleSize>
          <c:bubble3D val="0"/>
        </c:ser>
        <c:ser>
          <c:idx val="4"/>
          <c:order val="4"/>
          <c:tx>
            <c:strRef>
              <c:f>Sheet1!$B$13</c:f>
              <c:strCache>
                <c:ptCount val="1"/>
                <c:pt idx="0">
                  <c:v>Extra-strong Hold</c:v>
                </c:pt>
              </c:strCache>
            </c:strRef>
          </c:tx>
          <c:spPr>
            <a:solidFill>
              <a:srgbClr val="A35313"/>
            </a:solidFill>
          </c:spPr>
          <c:invertIfNegative val="0"/>
          <c:xVal>
            <c:numRef>
              <c:f>Sheet1!$A$14:$A$14</c:f>
              <c:numCache>
                <c:formatCode>General</c:formatCode>
                <c:ptCount val="1"/>
                <c:pt idx="0">
                  <c:v>83.19886699433802</c:v>
                </c:pt>
              </c:numCache>
            </c:numRef>
          </c:xVal>
          <c:yVal>
            <c:numRef>
              <c:f>Sheet1!$B$14:$B$14</c:f>
              <c:numCache>
                <c:formatCode>General</c:formatCode>
                <c:ptCount val="1"/>
                <c:pt idx="0">
                  <c:v>88.48468745027075</c:v>
                </c:pt>
              </c:numCache>
            </c:numRef>
          </c:yVal>
          <c:bubbleSize>
            <c:numRef>
              <c:f>Sheet1!$C$14:$C$14</c:f>
              <c:numCache>
                <c:formatCode>General</c:formatCode>
                <c:ptCount val="1"/>
                <c:pt idx="0">
                  <c:v>1241.45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784.076</c:v>
                </c:pt>
                <c:pt idx="2">
                  <c:v>870.783</c:v>
                </c:pt>
                <c:pt idx="3">
                  <c:v>991.343</c:v>
                </c:pt>
                <c:pt idx="4">
                  <c:v>1147.685</c:v>
                </c:pt>
                <c:pt idx="5">
                  <c:v>1337.48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784.076</c:v>
                </c:pt>
                <c:pt idx="1">
                  <c:v>86.707</c:v>
                </c:pt>
                <c:pt idx="2">
                  <c:v>120.55999999999995</c:v>
                </c:pt>
                <c:pt idx="3">
                  <c:v>156.34199999999998</c:v>
                </c:pt>
                <c:pt idx="4">
                  <c:v>189.79500000000007</c:v>
                </c:pt>
                <c:pt idx="5">
                  <c:v>222.81400000000008</c:v>
                </c:pt>
                <c:pt idx="6">
                  <c:v>1560.294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833.801</c:v>
                </c:pt>
                <c:pt idx="2">
                  <c:v>937.365</c:v>
                </c:pt>
                <c:pt idx="3">
                  <c:v>1075.726</c:v>
                </c:pt>
                <c:pt idx="4">
                  <c:v>1260.802</c:v>
                </c:pt>
                <c:pt idx="5">
                  <c:v>1478.517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833.801</c:v>
                </c:pt>
                <c:pt idx="1">
                  <c:v>103.56399999999996</c:v>
                </c:pt>
                <c:pt idx="2">
                  <c:v>138.3610000000001</c:v>
                </c:pt>
                <c:pt idx="3">
                  <c:v>185.0759999999998</c:v>
                </c:pt>
                <c:pt idx="4">
                  <c:v>217.71500000000015</c:v>
                </c:pt>
                <c:pt idx="5">
                  <c:v>251.45699999999988</c:v>
                </c:pt>
                <c:pt idx="6">
                  <c:v>1729.974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916.286</c:v>
                </c:pt>
                <c:pt idx="2">
                  <c:v>1025.59</c:v>
                </c:pt>
                <c:pt idx="3">
                  <c:v>1162.086</c:v>
                </c:pt>
                <c:pt idx="4">
                  <c:v>1317.921</c:v>
                </c:pt>
                <c:pt idx="5">
                  <c:v>1502.577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916.286</c:v>
                </c:pt>
                <c:pt idx="1">
                  <c:v>109.30399999999997</c:v>
                </c:pt>
                <c:pt idx="2">
                  <c:v>136.4960000000001</c:v>
                </c:pt>
                <c:pt idx="3">
                  <c:v>155.83500000000004</c:v>
                </c:pt>
                <c:pt idx="4">
                  <c:v>184.65599999999995</c:v>
                </c:pt>
                <c:pt idx="5">
                  <c:v>210.539</c:v>
                </c:pt>
                <c:pt idx="6">
                  <c:v>1713.116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863.807</c:v>
                </c:pt>
                <c:pt idx="2">
                  <c:v>959.655</c:v>
                </c:pt>
                <c:pt idx="3">
                  <c:v>1074.478</c:v>
                </c:pt>
                <c:pt idx="4">
                  <c:v>1209.092</c:v>
                </c:pt>
                <c:pt idx="5">
                  <c:v>1362.798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863.807</c:v>
                </c:pt>
                <c:pt idx="1">
                  <c:v>95.84799999999996</c:v>
                </c:pt>
                <c:pt idx="2">
                  <c:v>114.82300000000009</c:v>
                </c:pt>
                <c:pt idx="3">
                  <c:v>134.61400000000003</c:v>
                </c:pt>
                <c:pt idx="4">
                  <c:v>153.7059999999999</c:v>
                </c:pt>
                <c:pt idx="5">
                  <c:v>174.1289999999999</c:v>
                </c:pt>
                <c:pt idx="6">
                  <c:v>1536.927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730.637</c:v>
                </c:pt>
                <c:pt idx="2">
                  <c:v>802.053</c:v>
                </c:pt>
                <c:pt idx="3">
                  <c:v>888.822</c:v>
                </c:pt>
                <c:pt idx="4">
                  <c:v>989.939</c:v>
                </c:pt>
                <c:pt idx="5">
                  <c:v>1107.478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730.637</c:v>
                </c:pt>
                <c:pt idx="1">
                  <c:v>71.41600000000005</c:v>
                </c:pt>
                <c:pt idx="2">
                  <c:v>86.769</c:v>
                </c:pt>
                <c:pt idx="3">
                  <c:v>101.11699999999996</c:v>
                </c:pt>
                <c:pt idx="4">
                  <c:v>117.5390000000001</c:v>
                </c:pt>
                <c:pt idx="5">
                  <c:v>133.97199999999998</c:v>
                </c:pt>
                <c:pt idx="6">
                  <c:v>1241.45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Light or Flexible Hold</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20.2610626175273</c:v>
                </c:pt>
                <c:pt idx="1">
                  <c:v>20.1956979678618</c:v>
                </c:pt>
                <c:pt idx="2">
                  <c:v>22.231137656373665</c:v>
                </c:pt>
              </c:numCache>
            </c:numRef>
          </c:val>
        </c:ser>
        <c:ser>
          <c:idx val="1"/>
          <c:order val="1"/>
          <c:tx>
            <c:strRef>
              <c:f>Sheet1!$C$1</c:f>
              <c:strCache>
                <c:ptCount val="1"/>
                <c:pt idx="0">
                  <c:v>Medium Hold</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21.36317590740511</c:v>
                </c:pt>
                <c:pt idx="1">
                  <c:v>22.193587328607446</c:v>
                </c:pt>
                <c:pt idx="2">
                  <c:v>22.014502886942942</c:v>
                </c:pt>
              </c:numCache>
            </c:numRef>
          </c:val>
        </c:ser>
        <c:ser>
          <c:idx val="2"/>
          <c:order val="2"/>
          <c:tx>
            <c:strRef>
              <c:f>Sheet1!$D$1</c:f>
              <c:strCache>
                <c:ptCount val="1"/>
                <c:pt idx="0">
                  <c:v>No Hold</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19.576431459306427</c:v>
                </c:pt>
                <c:pt idx="1">
                  <c:v>18.991296580178254</c:v>
                </c:pt>
                <c:pt idx="2">
                  <c:v>20.050654344177367</c:v>
                </c:pt>
              </c:numCache>
            </c:numRef>
          </c:val>
        </c:ser>
        <c:ser>
          <c:idx val="3"/>
          <c:order val="3"/>
          <c:tx>
            <c:strRef>
              <c:f>Sheet1!$E$1</c:f>
              <c:strCache>
                <c:ptCount val="1"/>
                <c:pt idx="0">
                  <c:v>Strong Hold</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20.83711487438095</c:v>
                </c:pt>
                <c:pt idx="1">
                  <c:v>20.922480633298353</c:v>
                </c:pt>
                <c:pt idx="2">
                  <c:v>19.750375268528547</c:v>
                </c:pt>
              </c:numCache>
            </c:numRef>
          </c:val>
        </c:ser>
        <c:ser>
          <c:idx val="4"/>
          <c:order val="4"/>
          <c:tx>
            <c:strRef>
              <c:f>Sheet1!$F$1</c:f>
              <c:strCache>
                <c:ptCount val="1"/>
                <c:pt idx="0">
                  <c:v>Extra-strong Hold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17.962215141380213</c:v>
                </c:pt>
                <c:pt idx="1">
                  <c:v>17.69693749005415</c:v>
                </c:pt>
                <c:pt idx="2">
                  <c:v>15.953329843977473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Matte</c:v>
                </c:pt>
              </c:strCache>
            </c:strRef>
          </c:tx>
          <c:spPr>
            <a:solidFill>
              <a:srgbClr val="3D85C6"/>
            </a:solidFill>
            <a:ln>
              <a:noFill/>
            </a:ln>
          </c:spPr>
          <c:dLbls>
            <c:dLbl>
              <c:idx val="0"/>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Sheet1!$B$2:$B$4</c:f>
              <c:numCache>
                <c:formatCode>General</c:formatCode>
                <c:ptCount val="3"/>
                <c:pt idx="0">
                  <c:v>33.09478221340526</c:v>
                </c:pt>
                <c:pt idx="1">
                  <c:v>38.19011943950458</c:v>
                </c:pt>
                <c:pt idx="2">
                  <c:v>33.09498937403425</c:v>
                </c:pt>
              </c:numCache>
            </c:numRef>
          </c:val>
        </c:ser>
        <c:ser>
          <c:idx val="1"/>
          <c:order val="1"/>
          <c:tx>
            <c:strRef>
              <c:f>Sheet1!$C$1</c:f>
              <c:strCache>
                <c:ptCount val="1"/>
                <c:pt idx="0">
                  <c:v>Natural</c:v>
                </c:pt>
              </c:strCache>
            </c:strRef>
          </c:tx>
          <c:spPr>
            <a:solidFill>
              <a:srgbClr val="9E7E0A"/>
            </a:solidFill>
            <a:ln>
              <a:noFill/>
            </a:ln>
          </c:spPr>
          <c:dLbls>
            <c:dLbl>
              <c:idx val="0"/>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Sheet1!$C$2:$C$4</c:f>
              <c:numCache>
                <c:formatCode>General</c:formatCode>
                <c:ptCount val="3"/>
                <c:pt idx="0">
                  <c:v>32.34428066227138</c:v>
                </c:pt>
                <c:pt idx="1">
                  <c:v>29.76812988618202</c:v>
                </c:pt>
                <c:pt idx="2">
                  <c:v>32.35414960485279</c:v>
                </c:pt>
              </c:numCache>
            </c:numRef>
          </c:val>
        </c:ser>
        <c:ser>
          <c:idx val="2"/>
          <c:order val="2"/>
          <c:tx>
            <c:strRef>
              <c:f>Sheet1!$D$1</c:f>
              <c:strCache>
                <c:ptCount val="1"/>
                <c:pt idx="0">
                  <c:v>Glossy or Wet-look</c:v>
                </c:pt>
              </c:strCache>
            </c:strRef>
          </c:tx>
          <c:spPr>
            <a:solidFill>
              <a:srgbClr val="008189"/>
            </a:solidFill>
            <a:ln>
              <a:noFill/>
            </a:ln>
          </c:spPr>
          <c:dLbls>
            <c:dLbl>
              <c:idx val="0"/>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Sheet1!$D$2:$D$4</c:f>
              <c:numCache>
                <c:formatCode>General</c:formatCode>
                <c:ptCount val="3"/>
                <c:pt idx="0">
                  <c:v>34.560937124323345</c:v>
                </c:pt>
                <c:pt idx="1">
                  <c:v>32.04175067431339</c:v>
                </c:pt>
                <c:pt idx="2">
                  <c:v>34.550861021112965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2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Matte</c:v>
                </c:pt>
              </c:strCache>
            </c:strRef>
          </c:tx>
          <c:spPr>
            <a:solidFill>
              <a:srgbClr val="3D85C6"/>
            </a:solidFill>
          </c:spPr>
          <c:invertIfNegative val="0"/>
          <c:xVal>
            <c:numRef>
              <c:f>Sheet1!$A$2:$A$2</c:f>
              <c:numCache>
                <c:formatCode>General</c:formatCode>
                <c:ptCount val="1"/>
                <c:pt idx="0">
                  <c:v>98.42425389992555</c:v>
                </c:pt>
              </c:numCache>
            </c:numRef>
          </c:xVal>
          <c:yVal>
            <c:numRef>
              <c:f>Sheet1!$B$2:$B$2</c:f>
              <c:numCache>
                <c:formatCode>General</c:formatCode>
                <c:ptCount val="1"/>
                <c:pt idx="0">
                  <c:v>105.75484521659601</c:v>
                </c:pt>
              </c:numCache>
            </c:numRef>
          </c:yVal>
          <c:bubbleSize>
            <c:numRef>
              <c:f>Sheet1!$C$2:$C$2</c:f>
              <c:numCache>
                <c:formatCode>General</c:formatCode>
                <c:ptCount val="1"/>
                <c:pt idx="0">
                  <c:v>2716.764</c:v>
                </c:pt>
              </c:numCache>
            </c:numRef>
          </c:bubbleSize>
          <c:bubble3D val="0"/>
        </c:ser>
        <c:ser>
          <c:idx val="1"/>
          <c:order val="1"/>
          <c:tx>
            <c:strRef>
              <c:f>Sheet1!$B$4</c:f>
              <c:strCache>
                <c:ptCount val="1"/>
                <c:pt idx="0">
                  <c:v>Natural</c:v>
                </c:pt>
              </c:strCache>
            </c:strRef>
          </c:tx>
          <c:spPr>
            <a:solidFill>
              <a:srgbClr val="9E7E0A"/>
            </a:solidFill>
          </c:spPr>
          <c:invertIfNegative val="0"/>
          <c:xVal>
            <c:numRef>
              <c:f>Sheet1!$A$5:$A$5</c:f>
              <c:numCache>
                <c:formatCode>General</c:formatCode>
                <c:ptCount val="1"/>
                <c:pt idx="0">
                  <c:v>91.7161948767179</c:v>
                </c:pt>
              </c:numCache>
            </c:numRef>
          </c:xVal>
          <c:yVal>
            <c:numRef>
              <c:f>Sheet1!$B$5:$B$5</c:f>
              <c:numCache>
                <c:formatCode>General</c:formatCode>
                <c:ptCount val="1"/>
                <c:pt idx="0">
                  <c:v>99.2262283074586</c:v>
                </c:pt>
              </c:numCache>
            </c:numRef>
          </c:yVal>
          <c:bubbleSize>
            <c:numRef>
              <c:f>Sheet1!$C$5:$C$5</c:f>
              <c:numCache>
                <c:formatCode>General</c:formatCode>
                <c:ptCount val="1"/>
                <c:pt idx="0">
                  <c:v>2445.858</c:v>
                </c:pt>
              </c:numCache>
            </c:numRef>
          </c:bubbleSize>
          <c:bubble3D val="0"/>
        </c:ser>
        <c:ser>
          <c:idx val="2"/>
          <c:order val="2"/>
          <c:tx>
            <c:strRef>
              <c:f>Sheet1!$B$7</c:f>
              <c:strCache>
                <c:ptCount val="1"/>
                <c:pt idx="0">
                  <c:v>Glossy or Wet-look</c:v>
                </c:pt>
              </c:strCache>
            </c:strRef>
          </c:tx>
          <c:spPr>
            <a:solidFill>
              <a:srgbClr val="008189"/>
            </a:solidFill>
          </c:spPr>
          <c:invertIfNegative val="0"/>
          <c:xVal>
            <c:numRef>
              <c:f>Sheet1!$A$8:$A$8</c:f>
              <c:numCache>
                <c:formatCode>General</c:formatCode>
                <c:ptCount val="1"/>
                <c:pt idx="0">
                  <c:v>109.92467633985873</c:v>
                </c:pt>
              </c:numCache>
            </c:numRef>
          </c:xVal>
          <c:yVal>
            <c:numRef>
              <c:f>Sheet1!$B$8:$B$8</c:f>
              <c:numCache>
                <c:formatCode>General</c:formatCode>
                <c:ptCount val="1"/>
                <c:pt idx="0">
                  <c:v>95.0189264759454</c:v>
                </c:pt>
              </c:numCache>
            </c:numRef>
          </c:yVal>
          <c:bubbleSize>
            <c:numRef>
              <c:f>Sheet1!$C$8:$C$8</c:f>
              <c:numCache>
                <c:formatCode>General</c:formatCode>
                <c:ptCount val="1"/>
                <c:pt idx="0">
                  <c:v>2619.14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1455.401</c:v>
                </c:pt>
                <c:pt idx="2">
                  <c:v>1626.534</c:v>
                </c:pt>
                <c:pt idx="3">
                  <c:v>1840.413</c:v>
                </c:pt>
                <c:pt idx="4">
                  <c:v>2089.393</c:v>
                </c:pt>
                <c:pt idx="5">
                  <c:v>2382.82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1455.401</c:v>
                </c:pt>
                <c:pt idx="1">
                  <c:v>171.13300000000004</c:v>
                </c:pt>
                <c:pt idx="2">
                  <c:v>213.8789999999999</c:v>
                </c:pt>
                <c:pt idx="3">
                  <c:v>248.98000000000002</c:v>
                </c:pt>
                <c:pt idx="4">
                  <c:v>293.42700000000013</c:v>
                </c:pt>
                <c:pt idx="5">
                  <c:v>333.94399999999996</c:v>
                </c:pt>
                <c:pt idx="6">
                  <c:v>2716.764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1365.554</c:v>
                </c:pt>
                <c:pt idx="2">
                  <c:v>1516.986</c:v>
                </c:pt>
                <c:pt idx="3">
                  <c:v>1698.858</c:v>
                </c:pt>
                <c:pt idx="4">
                  <c:v>1916.913</c:v>
                </c:pt>
                <c:pt idx="5">
                  <c:v>2164.945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1365.554</c:v>
                </c:pt>
                <c:pt idx="1">
                  <c:v>151.43200000000002</c:v>
                </c:pt>
                <c:pt idx="2">
                  <c:v>181.87199999999984</c:v>
                </c:pt>
                <c:pt idx="3">
                  <c:v>218.05500000000006</c:v>
                </c:pt>
                <c:pt idx="4">
                  <c:v>248.03200000000015</c:v>
                </c:pt>
                <c:pt idx="5">
                  <c:v>280.913</c:v>
                </c:pt>
                <c:pt idx="6">
                  <c:v>2445.858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1307.653</c:v>
                </c:pt>
                <c:pt idx="2">
                  <c:v>1451.925</c:v>
                </c:pt>
                <c:pt idx="3">
                  <c:v>1653.183</c:v>
                </c:pt>
                <c:pt idx="4">
                  <c:v>1919.132</c:v>
                </c:pt>
                <c:pt idx="5">
                  <c:v>2241.084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1307.653</c:v>
                </c:pt>
                <c:pt idx="1">
                  <c:v>144.27199999999993</c:v>
                </c:pt>
                <c:pt idx="2">
                  <c:v>201.25800000000004</c:v>
                </c:pt>
                <c:pt idx="3">
                  <c:v>265.94900000000007</c:v>
                </c:pt>
                <c:pt idx="4">
                  <c:v>321.95199999999977</c:v>
                </c:pt>
                <c:pt idx="5">
                  <c:v>378.05600000000004</c:v>
                </c:pt>
                <c:pt idx="6">
                  <c:v>2619.14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Matte</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34.161078971756304</c:v>
                </c:pt>
                <c:pt idx="1">
                  <c:v>35.25161507219867</c:v>
                </c:pt>
                <c:pt idx="2">
                  <c:v>34.911938967036</c:v>
                </c:pt>
              </c:numCache>
            </c:numRef>
          </c:val>
        </c:ser>
        <c:ser>
          <c:idx val="1"/>
          <c:order val="1"/>
          <c:tx>
            <c:strRef>
              <c:f>Sheet1!$C$1</c:f>
              <c:strCache>
                <c:ptCount val="1"/>
                <c:pt idx="0">
                  <c:v>Glossy or Wet-look</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32.78307043760442</c:v>
                </c:pt>
                <c:pt idx="1">
                  <c:v>31.672975491981802</c:v>
                </c:pt>
                <c:pt idx="2">
                  <c:v>33.65741589115678</c:v>
                </c:pt>
              </c:numCache>
            </c:numRef>
          </c:val>
        </c:ser>
        <c:ser>
          <c:idx val="2"/>
          <c:order val="2"/>
          <c:tx>
            <c:strRef>
              <c:f>Sheet1!$D$1</c:f>
              <c:strCache>
                <c:ptCount val="1"/>
                <c:pt idx="0">
                  <c:v>Natural</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33.05585059063927</c:v>
                </c:pt>
                <c:pt idx="1">
                  <c:v>33.07540943581953</c:v>
                </c:pt>
                <c:pt idx="2">
                  <c:v>31.43064514180722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Mass Retail</c:v>
                </c:pt>
              </c:strCache>
            </c:strRef>
          </c:tx>
          <c:spPr>
            <a:solidFill>
              <a:srgbClr val="3D85C6"/>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Sheet1!$B$2:$B$4</c:f>
              <c:numCache>
                <c:formatCode>General</c:formatCode>
                <c:ptCount val="3"/>
                <c:pt idx="0">
                  <c:v>15.462166387297364</c:v>
                </c:pt>
                <c:pt idx="1">
                  <c:v>17.300620350300626</c:v>
                </c:pt>
                <c:pt idx="2">
                  <c:v>15.094877296921172</c:v>
                </c:pt>
              </c:numCache>
            </c:numRef>
          </c:val>
        </c:ser>
        <c:ser>
          <c:idx val="1"/>
          <c:order val="1"/>
          <c:tx>
            <c:strRef>
              <c:f>Sheet1!$C$1</c:f>
              <c:strCache>
                <c:ptCount val="1"/>
                <c:pt idx="0">
                  <c:v>Beauty Specialty Retail</c:v>
                </c:pt>
              </c:strCache>
            </c:strRef>
          </c:tx>
          <c:spPr>
            <a:solidFill>
              <a:srgbClr val="9E7E0A"/>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Sheet1!$C$2:$C$4</c:f>
              <c:numCache>
                <c:formatCode>General</c:formatCode>
                <c:ptCount val="3"/>
                <c:pt idx="0">
                  <c:v>16.89609992660472</c:v>
                </c:pt>
                <c:pt idx="1">
                  <c:v>16.278510798923982</c:v>
                </c:pt>
                <c:pt idx="2">
                  <c:v>15.984231805625114</c:v>
                </c:pt>
              </c:numCache>
            </c:numRef>
          </c:val>
        </c:ser>
        <c:ser>
          <c:idx val="2"/>
          <c:order val="2"/>
          <c:tx>
            <c:strRef>
              <c:f>Sheet1!$D$1</c:f>
              <c:strCache>
                <c:ptCount val="1"/>
                <c:pt idx="0">
                  <c:v>Salon and Professional Distribution</c:v>
                </c:pt>
              </c:strCache>
            </c:strRef>
          </c:tx>
          <c:spPr>
            <a:solidFill>
              <a:srgbClr val="008189"/>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Sheet1!$D$2:$D$4</c:f>
              <c:numCache>
                <c:formatCode>General</c:formatCode>
                <c:ptCount val="3"/>
                <c:pt idx="0">
                  <c:v>15.547826662539402</c:v>
                </c:pt>
                <c:pt idx="1">
                  <c:v>18.760740816815584</c:v>
                </c:pt>
                <c:pt idx="2">
                  <c:v>15.657147567109941</c:v>
                </c:pt>
              </c:numCache>
            </c:numRef>
          </c:val>
        </c:ser>
        <c:ser>
          <c:idx val="3"/>
          <c:order val="3"/>
          <c:tx>
            <c:strRef>
              <c:f>Sheet1!$E$1</c:f>
              <c:strCache>
                <c:ptCount val="1"/>
                <c:pt idx="0">
                  <c:v>Pharmacies and Drugstores</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Sheet1!$E$2:$E$4</c:f>
              <c:numCache>
                <c:formatCode>General</c:formatCode>
                <c:ptCount val="3"/>
                <c:pt idx="0">
                  <c:v>13.007415454281752</c:v>
                </c:pt>
                <c:pt idx="1">
                  <c:v>14.63810496766719</c:v>
                </c:pt>
                <c:pt idx="2">
                  <c:v>12.830417024865287</c:v>
                </c:pt>
              </c:numCache>
            </c:numRef>
          </c:val>
        </c:ser>
        <c:ser>
          <c:idx val="4"/>
          <c:order val="4"/>
          <c:tx>
            <c:strRef>
              <c:f>Sheet1!$F$1</c:f>
              <c:strCache>
                <c:ptCount val="1"/>
                <c:pt idx="0">
                  <c:v>Online Marketplaces</c:v>
                </c:pt>
              </c:strCache>
            </c:strRef>
          </c:tx>
          <c:spPr>
            <a:solidFill>
              <a:srgbClr val="A35313"/>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Sheet1!$F$2:$F$4</c:f>
              <c:numCache>
                <c:formatCode>General</c:formatCode>
                <c:ptCount val="3"/>
                <c:pt idx="0">
                  <c:v>24.178586099284153</c:v>
                </c:pt>
                <c:pt idx="1">
                  <c:v>19.228949440459523</c:v>
                </c:pt>
                <c:pt idx="2">
                  <c:v>24.891497543727034</c:v>
                </c:pt>
              </c:numCache>
            </c:numRef>
          </c:val>
        </c:ser>
        <c:ser>
          <c:idx val="5"/>
          <c:order val="5"/>
          <c:tx>
            <c:strRef>
              <c:f>Sheet1!$G$1</c:f>
              <c:strCache>
                <c:ptCount val="1"/>
                <c:pt idx="0">
                  <c:v>Brand-owned Online Stores</c:v>
                </c:pt>
              </c:strCache>
            </c:strRef>
          </c:tx>
          <c:spPr>
            <a:solidFill>
              <a:srgbClr val="808080"/>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Sheet1!$G$2:$G$4</c:f>
              <c:numCache>
                <c:formatCode>General</c:formatCode>
                <c:ptCount val="3"/>
                <c:pt idx="0">
                  <c:v>14.907905469992624</c:v>
                </c:pt>
                <c:pt idx="1">
                  <c:v>13.793073625833093</c:v>
                </c:pt>
                <c:pt idx="2">
                  <c:v>15.541828761751447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3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Mass Retail</c:v>
                </c:pt>
              </c:strCache>
            </c:strRef>
          </c:tx>
          <c:spPr>
            <a:solidFill>
              <a:srgbClr val="3D85C6"/>
            </a:solidFill>
          </c:spPr>
          <c:invertIfNegative val="0"/>
          <c:xVal>
            <c:numRef>
              <c:f>Sheet1!$A$2:$A$2</c:f>
              <c:numCache>
                <c:formatCode>General</c:formatCode>
                <c:ptCount val="1"/>
                <c:pt idx="0">
                  <c:v>76.67146040125343</c:v>
                </c:pt>
              </c:numCache>
            </c:numRef>
          </c:xVal>
          <c:yVal>
            <c:numRef>
              <c:f>Sheet1!$B$2:$B$2</c:f>
              <c:numCache>
                <c:formatCode>General</c:formatCode>
                <c:ptCount val="1"/>
                <c:pt idx="0">
                  <c:v>110.4180659481515</c:v>
                </c:pt>
              </c:numCache>
            </c:numRef>
          </c:yVal>
          <c:bubbleSize>
            <c:numRef>
              <c:f>Sheet1!$C$2:$C$2</c:f>
              <c:numCache>
                <c:formatCode>General</c:formatCode>
                <c:ptCount val="1"/>
                <c:pt idx="0">
                  <c:v>1239.63</c:v>
                </c:pt>
              </c:numCache>
            </c:numRef>
          </c:bubbleSize>
          <c:bubble3D val="0"/>
        </c:ser>
        <c:ser>
          <c:idx val="1"/>
          <c:order val="1"/>
          <c:tx>
            <c:strRef>
              <c:f>Sheet1!$B$4</c:f>
              <c:strCache>
                <c:ptCount val="1"/>
                <c:pt idx="0">
                  <c:v>Beauty Specialty Retail</c:v>
                </c:pt>
              </c:strCache>
            </c:strRef>
          </c:tx>
          <c:spPr>
            <a:solidFill>
              <a:srgbClr val="9E7E0A"/>
            </a:solidFill>
          </c:spPr>
          <c:invertIfNegative val="0"/>
          <c:xVal>
            <c:numRef>
              <c:f>Sheet1!$A$5:$A$5</c:f>
              <c:numCache>
                <c:formatCode>General</c:formatCode>
                <c:ptCount val="1"/>
                <c:pt idx="0">
                  <c:v>103.93702842610777</c:v>
                </c:pt>
              </c:numCache>
            </c:numRef>
          </c:xVal>
          <c:yVal>
            <c:numRef>
              <c:f>Sheet1!$B$5:$B$5</c:f>
              <c:numCache>
                <c:formatCode>General</c:formatCode>
                <c:ptCount val="1"/>
                <c:pt idx="0">
                  <c:v>94.9366214803201</c:v>
                </c:pt>
              </c:numCache>
            </c:numRef>
          </c:yVal>
          <c:bubbleSize>
            <c:numRef>
              <c:f>Sheet1!$C$5:$C$5</c:f>
              <c:numCache>
                <c:formatCode>General</c:formatCode>
                <c:ptCount val="1"/>
                <c:pt idx="0">
                  <c:v>1261.389</c:v>
                </c:pt>
              </c:numCache>
            </c:numRef>
          </c:bubbleSize>
          <c:bubble3D val="0"/>
        </c:ser>
        <c:ser>
          <c:idx val="2"/>
          <c:order val="2"/>
          <c:tx>
            <c:strRef>
              <c:f>Sheet1!$B$7</c:f>
              <c:strCache>
                <c:ptCount val="1"/>
                <c:pt idx="0">
                  <c:v>Salon and Professional Distribution</c:v>
                </c:pt>
              </c:strCache>
            </c:strRef>
          </c:tx>
          <c:spPr>
            <a:solidFill>
              <a:srgbClr val="008189"/>
            </a:solidFill>
          </c:spPr>
          <c:invertIfNegative val="0"/>
          <c:xVal>
            <c:numRef>
              <c:f>Sheet1!$A$8:$A$8</c:f>
              <c:numCache>
                <c:formatCode>General</c:formatCode>
                <c:ptCount val="1"/>
                <c:pt idx="0">
                  <c:v>94.16726582412552</c:v>
                </c:pt>
              </c:numCache>
            </c:numRef>
          </c:xVal>
          <c:yVal>
            <c:numRef>
              <c:f>Sheet1!$B$8:$B$8</c:f>
              <c:numCache>
                <c:formatCode>General</c:formatCode>
                <c:ptCount val="1"/>
                <c:pt idx="0">
                  <c:v>104.1689848416185</c:v>
                </c:pt>
              </c:numCache>
            </c:numRef>
          </c:yVal>
          <c:bubbleSize>
            <c:numRef>
              <c:f>Sheet1!$C$8:$C$8</c:f>
              <c:numCache>
                <c:formatCode>General</c:formatCode>
                <c:ptCount val="1"/>
                <c:pt idx="0">
                  <c:v>1303.405</c:v>
                </c:pt>
              </c:numCache>
            </c:numRef>
          </c:bubbleSize>
          <c:bubble3D val="0"/>
        </c:ser>
        <c:ser>
          <c:idx val="3"/>
          <c:order val="3"/>
          <c:tx>
            <c:strRef>
              <c:f>Sheet1!$B$10</c:f>
              <c:strCache>
                <c:ptCount val="1"/>
                <c:pt idx="0">
                  <c:v>Pharmacies and Drugstores</c:v>
                </c:pt>
              </c:strCache>
            </c:strRef>
          </c:tx>
          <c:spPr>
            <a:solidFill>
              <a:srgbClr val="40315E"/>
            </a:solidFill>
          </c:spPr>
          <c:invertIfNegative val="0"/>
          <c:xVal>
            <c:numRef>
              <c:f>Sheet1!$A$11:$A$11</c:f>
              <c:numCache>
                <c:formatCode>General</c:formatCode>
                <c:ptCount val="1"/>
                <c:pt idx="0">
                  <c:v>85.55375168906653</c:v>
                </c:pt>
              </c:numCache>
            </c:numRef>
          </c:xVal>
          <c:yVal>
            <c:numRef>
              <c:f>Sheet1!$B$11:$B$11</c:f>
              <c:numCache>
                <c:formatCode>General</c:formatCode>
                <c:ptCount val="1"/>
                <c:pt idx="0">
                  <c:v>88.53988766671179</c:v>
                </c:pt>
              </c:numCache>
            </c:numRef>
          </c:yVal>
          <c:bubbleSize>
            <c:numRef>
              <c:f>Sheet1!$C$11:$C$11</c:f>
              <c:numCache>
                <c:formatCode>General</c:formatCode>
                <c:ptCount val="1"/>
                <c:pt idx="0">
                  <c:v>1050.415</c:v>
                </c:pt>
              </c:numCache>
            </c:numRef>
          </c:bubbleSize>
          <c:bubble3D val="0"/>
        </c:ser>
        <c:ser>
          <c:idx val="4"/>
          <c:order val="4"/>
          <c:tx>
            <c:strRef>
              <c:f>Sheet1!$B$13</c:f>
              <c:strCache>
                <c:ptCount val="1"/>
                <c:pt idx="0">
                  <c:v>Online Marketplaces</c:v>
                </c:pt>
              </c:strCache>
            </c:strRef>
          </c:tx>
          <c:spPr>
            <a:solidFill>
              <a:srgbClr val="A35313"/>
            </a:solidFill>
          </c:spPr>
          <c:invertIfNegative val="0"/>
          <c:xVal>
            <c:numRef>
              <c:f>Sheet1!$A$14:$A$14</c:f>
              <c:numCache>
                <c:formatCode>General</c:formatCode>
                <c:ptCount val="1"/>
                <c:pt idx="0">
                  <c:v>121.61558516302313</c:v>
                </c:pt>
              </c:numCache>
            </c:numRef>
          </c:xVal>
          <c:yVal>
            <c:numRef>
              <c:f>Sheet1!$B$14:$B$14</c:f>
              <c:numCache>
                <c:formatCode>General</c:formatCode>
                <c:ptCount val="1"/>
                <c:pt idx="0">
                  <c:v>119.78209599508985</c:v>
                </c:pt>
              </c:numCache>
            </c:numRef>
          </c:yVal>
          <c:bubbleSize>
            <c:numRef>
              <c:f>Sheet1!$C$14:$C$14</c:f>
              <c:numCache>
                <c:formatCode>General</c:formatCode>
                <c:ptCount val="1"/>
                <c:pt idx="0">
                  <c:v>1772.535</c:v>
                </c:pt>
              </c:numCache>
            </c:numRef>
          </c:bubbleSize>
          <c:bubble3D val="0"/>
        </c:ser>
        <c:ser>
          <c:idx val="5"/>
          <c:order val="5"/>
          <c:tx>
            <c:strRef>
              <c:f>Sheet1!$B$16</c:f>
              <c:strCache>
                <c:ptCount val="1"/>
                <c:pt idx="0">
                  <c:v>Brand-owned Online Stores</c:v>
                </c:pt>
              </c:strCache>
            </c:strRef>
          </c:tx>
          <c:spPr>
            <a:solidFill>
              <a:srgbClr val="808080"/>
            </a:solidFill>
          </c:spPr>
          <c:invertIfNegative val="0"/>
          <c:xVal>
            <c:numRef>
              <c:f>Sheet1!$A$17:$A$17</c:f>
              <c:numCache>
                <c:formatCode>General</c:formatCode>
                <c:ptCount val="1"/>
                <c:pt idx="0">
                  <c:v>113.09705719970648</c:v>
                </c:pt>
              </c:numCache>
            </c:numRef>
          </c:xVal>
          <c:yVal>
            <c:numRef>
              <c:f>Sheet1!$B$17:$B$17</c:f>
              <c:numCache>
                <c:formatCode>General</c:formatCode>
                <c:ptCount val="1"/>
                <c:pt idx="0">
                  <c:v>82.15434406810817</c:v>
                </c:pt>
              </c:numCache>
            </c:numRef>
          </c:yVal>
          <c:bubbleSize>
            <c:numRef>
              <c:f>Sheet1!$C$17:$C$17</c:f>
              <c:numCache>
                <c:formatCode>General</c:formatCode>
                <c:ptCount val="1"/>
                <c:pt idx="0">
                  <c:v>1154.387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6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759.788</c:v>
                </c:pt>
                <c:pt idx="2">
                  <c:v>828.642</c:v>
                </c:pt>
                <c:pt idx="3">
                  <c:v>912.318</c:v>
                </c:pt>
                <c:pt idx="4">
                  <c:v>1006.056</c:v>
                </c:pt>
                <c:pt idx="5">
                  <c:v>1116.031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759.788</c:v>
                </c:pt>
                <c:pt idx="1">
                  <c:v>68.85400000000004</c:v>
                </c:pt>
                <c:pt idx="2">
                  <c:v>83.67599999999993</c:v>
                </c:pt>
                <c:pt idx="3">
                  <c:v>93.73800000000006</c:v>
                </c:pt>
                <c:pt idx="4">
                  <c:v>109.97499999999991</c:v>
                </c:pt>
                <c:pt idx="5">
                  <c:v>123.59900000000016</c:v>
                </c:pt>
                <c:pt idx="6">
                  <c:v>1239.63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653.26</c:v>
                </c:pt>
                <c:pt idx="2">
                  <c:v>729.673</c:v>
                </c:pt>
                <c:pt idx="3">
                  <c:v>827.863</c:v>
                </c:pt>
                <c:pt idx="4">
                  <c:v>948.886</c:v>
                </c:pt>
                <c:pt idx="5">
                  <c:v>1093.532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653.26</c:v>
                </c:pt>
                <c:pt idx="1">
                  <c:v>76.41300000000001</c:v>
                </c:pt>
                <c:pt idx="2">
                  <c:v>98.19000000000005</c:v>
                </c:pt>
                <c:pt idx="3">
                  <c:v>121.02299999999991</c:v>
                </c:pt>
                <c:pt idx="4">
                  <c:v>144.64599999999996</c:v>
                </c:pt>
                <c:pt idx="5">
                  <c:v>167.85699999999997</c:v>
                </c:pt>
                <c:pt idx="6">
                  <c:v>1261.389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716.788</c:v>
                </c:pt>
                <c:pt idx="2">
                  <c:v>799.146</c:v>
                </c:pt>
                <c:pt idx="3">
                  <c:v>898.397</c:v>
                </c:pt>
                <c:pt idx="4">
                  <c:v>1014.072</c:v>
                </c:pt>
                <c:pt idx="5">
                  <c:v>1149.232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716.788</c:v>
                </c:pt>
                <c:pt idx="1">
                  <c:v>82.35799999999995</c:v>
                </c:pt>
                <c:pt idx="2">
                  <c:v>99.25100000000009</c:v>
                </c:pt>
                <c:pt idx="3">
                  <c:v>115.67499999999995</c:v>
                </c:pt>
                <c:pt idx="4">
                  <c:v>135.15999999999997</c:v>
                </c:pt>
                <c:pt idx="5">
                  <c:v>154.173</c:v>
                </c:pt>
                <c:pt idx="6">
                  <c:v>1303.405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609.244</c:v>
                </c:pt>
                <c:pt idx="2">
                  <c:v>669.831</c:v>
                </c:pt>
                <c:pt idx="3">
                  <c:v>745.389</c:v>
                </c:pt>
                <c:pt idx="4">
                  <c:v>834.01</c:v>
                </c:pt>
                <c:pt idx="5">
                  <c:v>935.457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609.244</c:v>
                </c:pt>
                <c:pt idx="1">
                  <c:v>60.58699999999999</c:v>
                </c:pt>
                <c:pt idx="2">
                  <c:v>75.55799999999999</c:v>
                </c:pt>
                <c:pt idx="3">
                  <c:v>88.62099999999998</c:v>
                </c:pt>
                <c:pt idx="4">
                  <c:v>101.447</c:v>
                </c:pt>
                <c:pt idx="5">
                  <c:v>114.95799999999997</c:v>
                </c:pt>
                <c:pt idx="6">
                  <c:v>1050.415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824.222</c:v>
                </c:pt>
                <c:pt idx="2">
                  <c:v>932.556</c:v>
                </c:pt>
                <c:pt idx="3">
                  <c:v>1077.422</c:v>
                </c:pt>
                <c:pt idx="4">
                  <c:v>1271.621</c:v>
                </c:pt>
                <c:pt idx="5">
                  <c:v>1503.223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824.222</c:v>
                </c:pt>
                <c:pt idx="1">
                  <c:v>108.33400000000006</c:v>
                </c:pt>
                <c:pt idx="2">
                  <c:v>144.86599999999999</c:v>
                </c:pt>
                <c:pt idx="3">
                  <c:v>194.19900000000007</c:v>
                </c:pt>
                <c:pt idx="4">
                  <c:v>231.60199999999986</c:v>
                </c:pt>
                <c:pt idx="5">
                  <c:v>269.3120000000001</c:v>
                </c:pt>
                <c:pt idx="6">
                  <c:v>1772.535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565.305</c:v>
                </c:pt>
                <c:pt idx="2">
                  <c:v>635.598</c:v>
                </c:pt>
                <c:pt idx="3">
                  <c:v>731.067</c:v>
                </c:pt>
                <c:pt idx="4">
                  <c:v>850.792</c:v>
                </c:pt>
                <c:pt idx="5">
                  <c:v>991.374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565.305</c:v>
                </c:pt>
                <c:pt idx="1">
                  <c:v>70.293</c:v>
                </c:pt>
                <c:pt idx="2">
                  <c:v>95.46900000000005</c:v>
                </c:pt>
                <c:pt idx="3">
                  <c:v>119.72500000000002</c:v>
                </c:pt>
                <c:pt idx="4">
                  <c:v>140.582</c:v>
                </c:pt>
                <c:pt idx="5">
                  <c:v>163.01299999999992</c:v>
                </c:pt>
                <c:pt idx="6">
                  <c:v>1154.387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Online Marketplaces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19.7977527012933</c:v>
                </c:pt>
                <c:pt idx="1">
                  <c:v>19.96368266584831</c:v>
                </c:pt>
                <c:pt idx="2">
                  <c:v>22.778070413624885</c:v>
                </c:pt>
              </c:numCache>
            </c:numRef>
          </c:val>
        </c:ser>
        <c:ser>
          <c:idx val="1"/>
          <c:order val="1"/>
          <c:tx>
            <c:strRef>
              <c:f>Sheet1!$C$1</c:f>
              <c:strCache>
                <c:ptCount val="1"/>
                <c:pt idx="0">
                  <c:v>Salon and Professional Distribution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17.07791861584515</c:v>
                </c:pt>
                <c:pt idx="1">
                  <c:v>17.361497473603084</c:v>
                </c:pt>
                <c:pt idx="2">
                  <c:v>16.74948639517456</c:v>
                </c:pt>
              </c:numCache>
            </c:numRef>
          </c:val>
        </c:ser>
        <c:ser>
          <c:idx val="2"/>
          <c:order val="2"/>
          <c:tx>
            <c:strRef>
              <c:f>Sheet1!$D$1</c:f>
              <c:strCache>
                <c:ptCount val="1"/>
                <c:pt idx="0">
                  <c:v>Beauty Specialty Retail</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15.83071396094035</c:v>
                </c:pt>
                <c:pt idx="1">
                  <c:v>15.822770246720019</c:v>
                </c:pt>
                <c:pt idx="2">
                  <c:v>16.209557194059286</c:v>
                </c:pt>
              </c:numCache>
            </c:numRef>
          </c:val>
        </c:ser>
        <c:ser>
          <c:idx val="3"/>
          <c:order val="3"/>
          <c:tx>
            <c:strRef>
              <c:f>Sheet1!$E$1</c:f>
              <c:strCache>
                <c:ptCount val="1"/>
                <c:pt idx="0">
                  <c:v>Mass Retail</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18.87062367121889</c:v>
                </c:pt>
                <c:pt idx="1">
                  <c:v>18.403010991358588</c:v>
                </c:pt>
                <c:pt idx="2">
                  <c:v>15.929941821651939</c:v>
                </c:pt>
              </c:numCache>
            </c:numRef>
          </c:val>
        </c:ser>
        <c:ser>
          <c:idx val="4"/>
          <c:order val="4"/>
          <c:tx>
            <c:strRef>
              <c:f>Sheet1!$F$1</c:f>
              <c:strCache>
                <c:ptCount val="1"/>
                <c:pt idx="0">
                  <c:v>Brand-owned Online Stores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13.470702866423089</c:v>
                </c:pt>
                <c:pt idx="1">
                  <c:v>13.692390678018032</c:v>
                </c:pt>
                <c:pt idx="2">
                  <c:v>14.8345213891817</c:v>
                </c:pt>
              </c:numCache>
            </c:numRef>
          </c:val>
        </c:ser>
        <c:ser>
          <c:idx val="5"/>
          <c:order val="5"/>
          <c:tx>
            <c:strRef>
              <c:f>Sheet1!$G$1</c:f>
              <c:strCache>
                <c:ptCount val="1"/>
                <c:pt idx="0">
                  <c:v>Pharmacies and Drugstores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14.952288184279213</c:v>
                </c:pt>
                <c:pt idx="1">
                  <c:v>14.756647944451966</c:v>
                </c:pt>
                <c:pt idx="2">
                  <c:v>13.498422786307623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Hold and Shape</c:v>
                </c:pt>
              </c:strCache>
            </c:strRef>
          </c:tx>
          <c:spPr>
            <a:solidFill>
              <a:srgbClr val="3D85C6"/>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Sheet1!$B$2:$B$4</c:f>
              <c:numCache>
                <c:formatCode>General</c:formatCode>
                <c:ptCount val="3"/>
                <c:pt idx="0">
                  <c:v>12.571923065316998</c:v>
                </c:pt>
                <c:pt idx="1">
                  <c:v>13.054454972802246</c:v>
                </c:pt>
                <c:pt idx="2">
                  <c:v>12.451468838785328</c:v>
                </c:pt>
              </c:numCache>
            </c:numRef>
          </c:val>
        </c:ser>
        <c:ser>
          <c:idx val="1"/>
          <c:order val="1"/>
          <c:tx>
            <c:strRef>
              <c:f>Sheet1!$C$1</c:f>
              <c:strCache>
                <c:ptCount val="1"/>
                <c:pt idx="0">
                  <c:v>Curl Definition</c:v>
                </c:pt>
              </c:strCache>
            </c:strRef>
          </c:tx>
          <c:spPr>
            <a:solidFill>
              <a:srgbClr val="9E7E0A"/>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Sheet1!$C$2:$C$4</c:f>
              <c:numCache>
                <c:formatCode>General</c:formatCode>
                <c:ptCount val="3"/>
                <c:pt idx="0">
                  <c:v>15.021225274088815</c:v>
                </c:pt>
                <c:pt idx="1">
                  <c:v>15.842373727272893</c:v>
                </c:pt>
                <c:pt idx="2">
                  <c:v>14.953126122970236</c:v>
                </c:pt>
              </c:numCache>
            </c:numRef>
          </c:val>
        </c:ser>
        <c:ser>
          <c:idx val="2"/>
          <c:order val="2"/>
          <c:tx>
            <c:strRef>
              <c:f>Sheet1!$D$1</c:f>
              <c:strCache>
                <c:ptCount val="1"/>
                <c:pt idx="0">
                  <c:v>Volume and Root Lift</c:v>
                </c:pt>
              </c:strCache>
            </c:strRef>
          </c:tx>
          <c:spPr>
            <a:solidFill>
              <a:srgbClr val="008189"/>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Sheet1!$D$2:$D$4</c:f>
              <c:numCache>
                <c:formatCode>General</c:formatCode>
                <c:ptCount val="3"/>
                <c:pt idx="0">
                  <c:v>17.285676322600807</c:v>
                </c:pt>
                <c:pt idx="1">
                  <c:v>12.830278427917385</c:v>
                </c:pt>
                <c:pt idx="2">
                  <c:v>14.308456396212296</c:v>
                </c:pt>
              </c:numCache>
            </c:numRef>
          </c:val>
        </c:ser>
        <c:ser>
          <c:idx val="3"/>
          <c:order val="3"/>
          <c:tx>
            <c:strRef>
              <c:f>Sheet1!$E$1</c:f>
              <c:strCache>
                <c:ptCount val="1"/>
                <c:pt idx="0">
                  <c:v>Texture and Separation</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Sheet1!$E$2:$E$4</c:f>
              <c:numCache>
                <c:formatCode>General</c:formatCode>
                <c:ptCount val="3"/>
                <c:pt idx="0">
                  <c:v>12.844186727900844</c:v>
                </c:pt>
                <c:pt idx="1">
                  <c:v>17.111434228994487</c:v>
                </c:pt>
                <c:pt idx="2">
                  <c:v>12.7966965890855</c:v>
                </c:pt>
              </c:numCache>
            </c:numRef>
          </c:val>
        </c:ser>
        <c:ser>
          <c:idx val="4"/>
          <c:order val="4"/>
          <c:tx>
            <c:strRef>
              <c:f>Sheet1!$F$1</c:f>
              <c:strCache>
                <c:ptCount val="1"/>
                <c:pt idx="0">
                  <c:v>Smoothing and Frizz Control</c:v>
                </c:pt>
              </c:strCache>
            </c:strRef>
          </c:tx>
          <c:spPr>
            <a:solidFill>
              <a:srgbClr val="A35313"/>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Sheet1!$F$2:$F$4</c:f>
              <c:numCache>
                <c:formatCode>General</c:formatCode>
                <c:ptCount val="3"/>
                <c:pt idx="0">
                  <c:v>15.529346946840935</c:v>
                </c:pt>
                <c:pt idx="1">
                  <c:v>16.152098434439804</c:v>
                </c:pt>
                <c:pt idx="2">
                  <c:v>18.184817718843185</c:v>
                </c:pt>
              </c:numCache>
            </c:numRef>
          </c:val>
        </c:ser>
        <c:ser>
          <c:idx val="5"/>
          <c:order val="5"/>
          <c:tx>
            <c:strRef>
              <c:f>Sheet1!$G$1</c:f>
              <c:strCache>
                <c:ptCount val="1"/>
                <c:pt idx="0">
                  <c:v>Sleek Styling and Edge Control</c:v>
                </c:pt>
              </c:strCache>
            </c:strRef>
          </c:tx>
          <c:spPr>
            <a:solidFill>
              <a:srgbClr val="808080"/>
            </a:solidFill>
            <a:ln>
              <a:noFill/>
            </a:ln>
          </c:spPr>
          <c:dLbls>
            <c:dLbl>
              <c:idx val="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Sheet1!$G$2:$G$4</c:f>
              <c:numCache>
                <c:formatCode>General</c:formatCode>
                <c:ptCount val="3"/>
                <c:pt idx="0">
                  <c:v>9.944096881865605</c:v>
                </c:pt>
                <c:pt idx="1">
                  <c:v>10.195978803947323</c:v>
                </c:pt>
                <c:pt idx="2">
                  <c:v>9.912971848534026</c:v>
                </c:pt>
              </c:numCache>
            </c:numRef>
          </c:val>
        </c:ser>
        <c:ser>
          <c:idx val="6"/>
          <c:order val="6"/>
          <c:tx>
            <c:strRef>
              <c:f>Sheet1!$H$1</c:f>
              <c:strCache>
                <c:ptCount val="1"/>
                <c:pt idx="0">
                  <c:v>Heat Styling Support</c:v>
                </c:pt>
              </c:strCache>
            </c:strRef>
          </c:tx>
          <c:spPr>
            <a:solidFill>
              <a:srgbClr val="0E72AE"/>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Sheet1!$H$2:$H$4</c:f>
              <c:numCache>
                <c:formatCode>General</c:formatCode>
                <c:ptCount val="3"/>
                <c:pt idx="0">
                  <c:v>16.803544781386005</c:v>
                </c:pt>
                <c:pt idx="1">
                  <c:v>14.813381404625872</c:v>
                </c:pt>
                <c:pt idx="2">
                  <c:v>17.39246248556944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42.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Hold and Shape</c:v>
                </c:pt>
              </c:strCache>
            </c:strRef>
          </c:tx>
          <c:spPr>
            <a:solidFill>
              <a:srgbClr val="3D85C6"/>
            </a:solidFill>
          </c:spPr>
          <c:invertIfNegative val="0"/>
          <c:xVal>
            <c:numRef>
              <c:f>Sheet1!$A$2:$A$2</c:f>
              <c:numCache>
                <c:formatCode>General</c:formatCode>
                <c:ptCount val="1"/>
                <c:pt idx="0">
                  <c:v>74.42084825491514</c:v>
                </c:pt>
              </c:numCache>
            </c:numRef>
          </c:xVal>
          <c:yVal>
            <c:numRef>
              <c:f>Sheet1!$B$2:$B$2</c:f>
              <c:numCache>
                <c:formatCode>General</c:formatCode>
                <c:ptCount val="1"/>
                <c:pt idx="0">
                  <c:v>104.00849584581333</c:v>
                </c:pt>
              </c:numCache>
            </c:numRef>
          </c:yVal>
          <c:bubbleSize>
            <c:numRef>
              <c:f>Sheet1!$C$2:$C$2</c:f>
              <c:numCache>
                <c:formatCode>General</c:formatCode>
                <c:ptCount val="1"/>
                <c:pt idx="0">
                  <c:v>986.914</c:v>
                </c:pt>
              </c:numCache>
            </c:numRef>
          </c:bubbleSize>
          <c:bubble3D val="0"/>
        </c:ser>
        <c:ser>
          <c:idx val="1"/>
          <c:order val="1"/>
          <c:tx>
            <c:strRef>
              <c:f>Sheet1!$B$4</c:f>
              <c:strCache>
                <c:ptCount val="1"/>
                <c:pt idx="0">
                  <c:v>Curl Definition</c:v>
                </c:pt>
              </c:strCache>
            </c:strRef>
          </c:tx>
          <c:spPr>
            <a:solidFill>
              <a:srgbClr val="9E7E0A"/>
            </a:solidFill>
          </c:spPr>
          <c:invertIfNegative val="0"/>
          <c:xVal>
            <c:numRef>
              <c:f>Sheet1!$A$5:$A$5</c:f>
              <c:numCache>
                <c:formatCode>General</c:formatCode>
                <c:ptCount val="1"/>
                <c:pt idx="0">
                  <c:v>122.82559037272766</c:v>
                </c:pt>
              </c:numCache>
            </c:numRef>
          </c:xVal>
          <c:yVal>
            <c:numRef>
              <c:f>Sheet1!$B$5:$B$5</c:f>
              <c:numCache>
                <c:formatCode>General</c:formatCode>
                <c:ptCount val="1"/>
                <c:pt idx="0">
                  <c:v>93.05479864147851</c:v>
                </c:pt>
              </c:numCache>
            </c:numRef>
          </c:yVal>
          <c:bubbleSize>
            <c:numRef>
              <c:f>Sheet1!$C$5:$C$5</c:f>
              <c:numCache>
                <c:formatCode>General</c:formatCode>
                <c:ptCount val="1"/>
                <c:pt idx="0">
                  <c:v>1188.992</c:v>
                </c:pt>
              </c:numCache>
            </c:numRef>
          </c:bubbleSize>
          <c:bubble3D val="0"/>
        </c:ser>
        <c:ser>
          <c:idx val="2"/>
          <c:order val="2"/>
          <c:tx>
            <c:strRef>
              <c:f>Sheet1!$B$7</c:f>
              <c:strCache>
                <c:ptCount val="1"/>
                <c:pt idx="0">
                  <c:v>Volume and Root Lift</c:v>
                </c:pt>
              </c:strCache>
            </c:strRef>
          </c:tx>
          <c:spPr>
            <a:solidFill>
              <a:srgbClr val="008189"/>
            </a:solidFill>
          </c:spPr>
          <c:invertIfNegative val="0"/>
          <c:xVal>
            <c:numRef>
              <c:f>Sheet1!$A$8:$A$8</c:f>
              <c:numCache>
                <c:formatCode>General</c:formatCode>
                <c:ptCount val="1"/>
                <c:pt idx="0">
                  <c:v>90.55099797893072</c:v>
                </c:pt>
              </c:numCache>
            </c:numRef>
          </c:xVal>
          <c:yVal>
            <c:numRef>
              <c:f>Sheet1!$B$8:$B$8</c:f>
              <c:numCache>
                <c:formatCode>General</c:formatCode>
                <c:ptCount val="1"/>
                <c:pt idx="0">
                  <c:v>105.16685292808275</c:v>
                </c:pt>
              </c:numCache>
            </c:numRef>
          </c:yVal>
          <c:bubbleSize>
            <c:numRef>
              <c:f>Sheet1!$C$8:$C$8</c:f>
              <c:numCache>
                <c:formatCode>General</c:formatCode>
                <c:ptCount val="1"/>
                <c:pt idx="0">
                  <c:v>1103.016</c:v>
                </c:pt>
              </c:numCache>
            </c:numRef>
          </c:bubbleSize>
          <c:bubble3D val="0"/>
        </c:ser>
        <c:ser>
          <c:idx val="3"/>
          <c:order val="3"/>
          <c:tx>
            <c:strRef>
              <c:f>Sheet1!$B$10</c:f>
              <c:strCache>
                <c:ptCount val="1"/>
                <c:pt idx="0">
                  <c:v>Texture and Separation</c:v>
                </c:pt>
              </c:strCache>
            </c:strRef>
          </c:tx>
          <c:spPr>
            <a:solidFill>
              <a:srgbClr val="40315E"/>
            </a:solidFill>
          </c:spPr>
          <c:invertIfNegative val="0"/>
          <c:xVal>
            <c:numRef>
              <c:f>Sheet1!$A$11:$A$11</c:f>
              <c:numCache>
                <c:formatCode>General</c:formatCode>
                <c:ptCount val="1"/>
                <c:pt idx="0">
                  <c:v>96.66285197918094</c:v>
                </c:pt>
              </c:numCache>
            </c:numRef>
          </c:xVal>
          <c:yVal>
            <c:numRef>
              <c:f>Sheet1!$B$11:$B$11</c:f>
              <c:numCache>
                <c:formatCode>General</c:formatCode>
                <c:ptCount val="1"/>
                <c:pt idx="0">
                  <c:v>102.47255369003486</c:v>
                </c:pt>
              </c:numCache>
            </c:numRef>
          </c:yVal>
          <c:bubbleSize>
            <c:numRef>
              <c:f>Sheet1!$C$11:$C$11</c:f>
              <c:numCache>
                <c:formatCode>General</c:formatCode>
                <c:ptCount val="1"/>
                <c:pt idx="0">
                  <c:v>1116.033</c:v>
                </c:pt>
              </c:numCache>
            </c:numRef>
          </c:bubbleSize>
          <c:bubble3D val="0"/>
        </c:ser>
        <c:ser>
          <c:idx val="4"/>
          <c:order val="4"/>
          <c:tx>
            <c:strRef>
              <c:f>Sheet1!$B$13</c:f>
              <c:strCache>
                <c:ptCount val="1"/>
                <c:pt idx="0">
                  <c:v>Smoothing and Frizz Control</c:v>
                </c:pt>
              </c:strCache>
            </c:strRef>
          </c:tx>
          <c:spPr>
            <a:solidFill>
              <a:srgbClr val="A35313"/>
            </a:solidFill>
          </c:spPr>
          <c:invertIfNegative val="0"/>
          <c:xVal>
            <c:numRef>
              <c:f>Sheet1!$A$14:$A$14</c:f>
              <c:numCache>
                <c:formatCode>General</c:formatCode>
                <c:ptCount val="1"/>
                <c:pt idx="0">
                  <c:v>109.23386089614064</c:v>
                </c:pt>
              </c:numCache>
            </c:numRef>
          </c:xVal>
          <c:yVal>
            <c:numRef>
              <c:f>Sheet1!$B$14:$B$14</c:f>
              <c:numCache>
                <c:formatCode>General</c:formatCode>
                <c:ptCount val="1"/>
                <c:pt idx="0">
                  <c:v>113.18057475089655</c:v>
                </c:pt>
              </c:numCache>
            </c:numRef>
          </c:yVal>
          <c:bubbleSize>
            <c:numRef>
              <c:f>Sheet1!$C$14:$C$14</c:f>
              <c:numCache>
                <c:formatCode>General</c:formatCode>
                <c:ptCount val="1"/>
                <c:pt idx="0">
                  <c:v>1331.41</c:v>
                </c:pt>
              </c:numCache>
            </c:numRef>
          </c:bubbleSize>
          <c:bubble3D val="0"/>
        </c:ser>
        <c:ser>
          <c:idx val="5"/>
          <c:order val="5"/>
          <c:tx>
            <c:strRef>
              <c:f>Sheet1!$B$16</c:f>
              <c:strCache>
                <c:ptCount val="1"/>
                <c:pt idx="0">
                  <c:v>Sleek Styling and Edge Control</c:v>
                </c:pt>
              </c:strCache>
            </c:strRef>
          </c:tx>
          <c:spPr>
            <a:solidFill>
              <a:srgbClr val="808080"/>
            </a:solidFill>
          </c:spPr>
          <c:invertIfNegative val="0"/>
          <c:xVal>
            <c:numRef>
              <c:f>Sheet1!$A$17:$A$17</c:f>
              <c:numCache>
                <c:formatCode>General</c:formatCode>
                <c:ptCount val="1"/>
                <c:pt idx="0">
                  <c:v>82.82354333712459</c:v>
                </c:pt>
              </c:numCache>
            </c:numRef>
          </c:xVal>
          <c:yVal>
            <c:numRef>
              <c:f>Sheet1!$B$17:$B$17</c:f>
              <c:numCache>
                <c:formatCode>General</c:formatCode>
                <c:ptCount val="1"/>
                <c:pt idx="0">
                  <c:v>77.97191110026</c:v>
                </c:pt>
              </c:numCache>
            </c:numRef>
          </c:yVal>
          <c:bubbleSize>
            <c:numRef>
              <c:f>Sheet1!$C$17:$C$17</c:f>
              <c:numCache>
                <c:formatCode>General</c:formatCode>
                <c:ptCount val="1"/>
                <c:pt idx="0">
                  <c:v>779.578</c:v>
                </c:pt>
              </c:numCache>
            </c:numRef>
          </c:bubbleSize>
          <c:bubble3D val="0"/>
        </c:ser>
        <c:ser>
          <c:idx val="6"/>
          <c:order val="6"/>
          <c:tx>
            <c:strRef>
              <c:f>Sheet1!$B$19</c:f>
              <c:strCache>
                <c:ptCount val="1"/>
                <c:pt idx="0">
                  <c:v>Heat Styling Support</c:v>
                </c:pt>
              </c:strCache>
            </c:strRef>
          </c:tx>
          <c:spPr>
            <a:solidFill>
              <a:srgbClr val="0E72AE"/>
            </a:solidFill>
          </c:spPr>
          <c:invertIfNegative val="0"/>
          <c:xVal>
            <c:numRef>
              <c:f>Sheet1!$A$20:$A$20</c:f>
              <c:numCache>
                <c:formatCode>General</c:formatCode>
                <c:ptCount val="1"/>
                <c:pt idx="0">
                  <c:v>115.8873579899454</c:v>
                </c:pt>
              </c:numCache>
            </c:numRef>
          </c:xVal>
          <c:yVal>
            <c:numRef>
              <c:f>Sheet1!$B$20:$B$20</c:f>
              <c:numCache>
                <c:formatCode>General</c:formatCode>
                <c:ptCount val="1"/>
                <c:pt idx="0">
                  <c:v>104.14481304343404</c:v>
                </c:pt>
              </c:numCache>
            </c:numRef>
          </c:yVal>
          <c:bubbleSize>
            <c:numRef>
              <c:f>Sheet1!$C$20:$C$20</c:f>
              <c:numCache>
                <c:formatCode>General</c:formatCode>
                <c:ptCount val="1"/>
                <c:pt idx="0">
                  <c:v>1275.818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6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6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613.443</c:v>
                </c:pt>
                <c:pt idx="2">
                  <c:v>667.889</c:v>
                </c:pt>
                <c:pt idx="3">
                  <c:v>734.14</c:v>
                </c:pt>
                <c:pt idx="4">
                  <c:v>807.57</c:v>
                </c:pt>
                <c:pt idx="5">
                  <c:v>892.232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613.443</c:v>
                </c:pt>
                <c:pt idx="1">
                  <c:v>54.446000000000026</c:v>
                </c:pt>
                <c:pt idx="2">
                  <c:v>66.25099999999998</c:v>
                </c:pt>
                <c:pt idx="3">
                  <c:v>73.43000000000006</c:v>
                </c:pt>
                <c:pt idx="4">
                  <c:v>84.66199999999992</c:v>
                </c:pt>
                <c:pt idx="5">
                  <c:v>94.68200000000002</c:v>
                </c:pt>
                <c:pt idx="6">
                  <c:v>986.914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548.838</c:v>
                </c:pt>
                <c:pt idx="2">
                  <c:v>622.552</c:v>
                </c:pt>
                <c:pt idx="3">
                  <c:v>721.396</c:v>
                </c:pt>
                <c:pt idx="4">
                  <c:v>853.186</c:v>
                </c:pt>
                <c:pt idx="5">
                  <c:v>1008.791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548.838</c:v>
                </c:pt>
                <c:pt idx="1">
                  <c:v>73.71400000000006</c:v>
                </c:pt>
                <c:pt idx="2">
                  <c:v>98.84399999999994</c:v>
                </c:pt>
                <c:pt idx="3">
                  <c:v>131.79000000000008</c:v>
                </c:pt>
                <c:pt idx="4">
                  <c:v>155.60500000000002</c:v>
                </c:pt>
                <c:pt idx="5">
                  <c:v>180.2009999999999</c:v>
                </c:pt>
                <c:pt idx="6">
                  <c:v>1188.992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620.275</c:v>
                </c:pt>
                <c:pt idx="2">
                  <c:v>690.288</c:v>
                </c:pt>
                <c:pt idx="3">
                  <c:v>773.821</c:v>
                </c:pt>
                <c:pt idx="4">
                  <c:v>870.176</c:v>
                </c:pt>
                <c:pt idx="5">
                  <c:v>979.611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620.275</c:v>
                </c:pt>
                <c:pt idx="1">
                  <c:v>70.01300000000003</c:v>
                </c:pt>
                <c:pt idx="2">
                  <c:v>83.53300000000002</c:v>
                </c:pt>
                <c:pt idx="3">
                  <c:v>96.35500000000002</c:v>
                </c:pt>
                <c:pt idx="4">
                  <c:v>109.43499999999995</c:v>
                </c:pt>
                <c:pt idx="5">
                  <c:v>123.40500000000009</c:v>
                </c:pt>
                <c:pt idx="6">
                  <c:v>1103.016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604.384</c:v>
                </c:pt>
                <c:pt idx="2">
                  <c:v>675.629</c:v>
                </c:pt>
                <c:pt idx="3">
                  <c:v>762.708</c:v>
                </c:pt>
                <c:pt idx="4">
                  <c:v>863.336</c:v>
                </c:pt>
                <c:pt idx="5">
                  <c:v>981.163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604.384</c:v>
                </c:pt>
                <c:pt idx="1">
                  <c:v>71.245</c:v>
                </c:pt>
                <c:pt idx="2">
                  <c:v>87.07899999999995</c:v>
                </c:pt>
                <c:pt idx="3">
                  <c:v>100.62800000000004</c:v>
                </c:pt>
                <c:pt idx="4">
                  <c:v>117.827</c:v>
                </c:pt>
                <c:pt idx="5">
                  <c:v>134.8699999999999</c:v>
                </c:pt>
                <c:pt idx="6">
                  <c:v>1116.033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667.54</c:v>
                </c:pt>
                <c:pt idx="2">
                  <c:v>742.785</c:v>
                </c:pt>
                <c:pt idx="3">
                  <c:v>847.019</c:v>
                </c:pt>
                <c:pt idx="4">
                  <c:v>980.544</c:v>
                </c:pt>
                <c:pt idx="5">
                  <c:v>1142.166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667.54</c:v>
                </c:pt>
                <c:pt idx="1">
                  <c:v>75.245</c:v>
                </c:pt>
                <c:pt idx="2">
                  <c:v>104.23400000000004</c:v>
                </c:pt>
                <c:pt idx="3">
                  <c:v>133.52499999999998</c:v>
                </c:pt>
                <c:pt idx="4">
                  <c:v>161.62199999999996</c:v>
                </c:pt>
                <c:pt idx="5">
                  <c:v>189.24400000000014</c:v>
                </c:pt>
                <c:pt idx="6">
                  <c:v>1331.41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459.879</c:v>
                </c:pt>
                <c:pt idx="2">
                  <c:v>503.445</c:v>
                </c:pt>
                <c:pt idx="3">
                  <c:v>559.709</c:v>
                </c:pt>
                <c:pt idx="4">
                  <c:v>626.029</c:v>
                </c:pt>
                <c:pt idx="5">
                  <c:v>698.551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459.879</c:v>
                </c:pt>
                <c:pt idx="1">
                  <c:v>43.565999999999974</c:v>
                </c:pt>
                <c:pt idx="2">
                  <c:v>56.26399999999995</c:v>
                </c:pt>
                <c:pt idx="3">
                  <c:v>66.32000000000005</c:v>
                </c:pt>
                <c:pt idx="4">
                  <c:v>72.52200000000005</c:v>
                </c:pt>
                <c:pt idx="5">
                  <c:v>81.02699999999993</c:v>
                </c:pt>
                <c:pt idx="6">
                  <c:v>779.578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614.247</c:v>
                </c:pt>
                <c:pt idx="2">
                  <c:v>692.858</c:v>
                </c:pt>
                <c:pt idx="3">
                  <c:v>793.662</c:v>
                </c:pt>
                <c:pt idx="4">
                  <c:v>924.597</c:v>
                </c:pt>
                <c:pt idx="5">
                  <c:v>1086.336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614.247</c:v>
                </c:pt>
                <c:pt idx="1">
                  <c:v>78.61099999999999</c:v>
                </c:pt>
                <c:pt idx="2">
                  <c:v>100.80400000000009</c:v>
                </c:pt>
                <c:pt idx="3">
                  <c:v>130.93499999999995</c:v>
                </c:pt>
                <c:pt idx="4">
                  <c:v>161.73900000000003</c:v>
                </c:pt>
                <c:pt idx="5">
                  <c:v>189.48199999999997</c:v>
                </c:pt>
                <c:pt idx="6">
                  <c:v>1275.818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Smoothing and Frizz Control</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16.608623114283446</c:v>
                </c:pt>
                <c:pt idx="1">
                  <c:v>16.168653535842363</c:v>
                </c:pt>
                <c:pt idx="2">
                  <c:v>17.109366376068348</c:v>
                </c:pt>
              </c:numCache>
            </c:numRef>
          </c:val>
        </c:ser>
        <c:ser>
          <c:idx val="1"/>
          <c:order val="1"/>
          <c:tx>
            <c:strRef>
              <c:f>Sheet1!$C$1</c:f>
              <c:strCache>
                <c:ptCount val="1"/>
                <c:pt idx="0">
                  <c:v>Heat Styling Support</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14.41311214182056</c:v>
                </c:pt>
                <c:pt idx="1">
                  <c:v>14.87783043477629</c:v>
                </c:pt>
                <c:pt idx="2">
                  <c:v>16.39497794907862</c:v>
                </c:pt>
              </c:numCache>
            </c:numRef>
          </c:val>
        </c:ser>
        <c:ser>
          <c:idx val="2"/>
          <c:order val="2"/>
          <c:tx>
            <c:strRef>
              <c:f>Sheet1!$D$1</c:f>
              <c:strCache>
                <c:ptCount val="1"/>
                <c:pt idx="0">
                  <c:v>Curl Definition</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13.11256115989259</c:v>
                </c:pt>
                <c:pt idx="1">
                  <c:v>13.293542663068358</c:v>
                </c:pt>
                <c:pt idx="2">
                  <c:v>15.279215077409855</c:v>
                </c:pt>
              </c:numCache>
            </c:numRef>
          </c:val>
        </c:ser>
        <c:ser>
          <c:idx val="3"/>
          <c:order val="3"/>
          <c:tx>
            <c:strRef>
              <c:f>Sheet1!$E$1</c:f>
              <c:strCache>
                <c:ptCount val="1"/>
                <c:pt idx="0">
                  <c:v>Texture and Separation</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14.234144105961057</c:v>
                </c:pt>
                <c:pt idx="1">
                  <c:v>14.63893624143355</c:v>
                </c:pt>
                <c:pt idx="2">
                  <c:v>14.341650945075285</c:v>
                </c:pt>
              </c:numCache>
            </c:numRef>
          </c:val>
        </c:ser>
        <c:ser>
          <c:idx val="4"/>
          <c:order val="4"/>
          <c:tx>
            <c:strRef>
              <c:f>Sheet1!$F$1</c:f>
              <c:strCache>
                <c:ptCount val="1"/>
                <c:pt idx="0">
                  <c:v>Volume and Root Lift</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14.907692929789118</c:v>
                </c:pt>
                <c:pt idx="1">
                  <c:v>15.023836132583249</c:v>
                </c:pt>
                <c:pt idx="2">
                  <c:v>14.174375183200821</c:v>
                </c:pt>
              </c:numCache>
            </c:numRef>
          </c:val>
        </c:ser>
        <c:ser>
          <c:idx val="5"/>
          <c:order val="5"/>
          <c:tx>
            <c:strRef>
              <c:f>Sheet1!$G$1</c:f>
              <c:strCache>
                <c:ptCount val="1"/>
                <c:pt idx="0">
                  <c:v>Hold and Shape</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15.304986992992543</c:v>
                </c:pt>
                <c:pt idx="1">
                  <c:v>14.858356549401904</c:v>
                </c:pt>
                <c:pt idx="2">
                  <c:v>12.682399266695546</c:v>
                </c:pt>
              </c:numCache>
            </c:numRef>
          </c:val>
        </c:ser>
        <c:ser>
          <c:idx val="6"/>
          <c:order val="6"/>
          <c:tx>
            <c:strRef>
              <c:f>Sheet1!$H$1</c:f>
              <c:strCache>
                <c:ptCount val="1"/>
                <c:pt idx="0">
                  <c:v>Sleek Styling and Edge Control</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11.418879555260686</c:v>
                </c:pt>
                <c:pt idx="1">
                  <c:v>11.138844442894285</c:v>
                </c:pt>
                <c:pt idx="2">
                  <c:v>10.018015202471522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Straight Hair</c:v>
                </c:pt>
              </c:strCache>
            </c:strRef>
          </c:tx>
          <c:spPr>
            <a:solidFill>
              <a:srgbClr val="3D85C6"/>
            </a:solidFill>
            <a:ln>
              <a:noFill/>
            </a:ln>
          </c:spPr>
          <c:dLbls>
            <c:dLbl>
              <c:idx val="0"/>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Sheet1!$B$2:$B$4</c:f>
              <c:numCache>
                <c:formatCode>General</c:formatCode>
                <c:ptCount val="3"/>
                <c:pt idx="0">
                  <c:v>22.562354413893335</c:v>
                </c:pt>
                <c:pt idx="1">
                  <c:v>24.097879493846044</c:v>
                </c:pt>
                <c:pt idx="2">
                  <c:v>21.92289193200385</c:v>
                </c:pt>
              </c:numCache>
            </c:numRef>
          </c:val>
        </c:ser>
        <c:ser>
          <c:idx val="1"/>
          <c:order val="1"/>
          <c:tx>
            <c:strRef>
              <c:f>Sheet1!$C$1</c:f>
              <c:strCache>
                <c:ptCount val="1"/>
                <c:pt idx="0">
                  <c:v>Wavy Hair</c:v>
                </c:pt>
              </c:strCache>
            </c:strRef>
          </c:tx>
          <c:spPr>
            <a:solidFill>
              <a:srgbClr val="9E7E0A"/>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Sheet1!$C$2:$C$4</c:f>
              <c:numCache>
                <c:formatCode>General</c:formatCode>
                <c:ptCount val="3"/>
                <c:pt idx="0">
                  <c:v>19.23522821184975</c:v>
                </c:pt>
                <c:pt idx="1">
                  <c:v>19.246931130846527</c:v>
                </c:pt>
                <c:pt idx="2">
                  <c:v>19.31956107978033</c:v>
                </c:pt>
              </c:numCache>
            </c:numRef>
          </c:val>
        </c:ser>
        <c:ser>
          <c:idx val="2"/>
          <c:order val="2"/>
          <c:tx>
            <c:strRef>
              <c:f>Sheet1!$D$1</c:f>
              <c:strCache>
                <c:ptCount val="1"/>
                <c:pt idx="0">
                  <c:v>Curly Hair</c:v>
                </c:pt>
              </c:strCache>
            </c:strRef>
          </c:tx>
          <c:spPr>
            <a:solidFill>
              <a:srgbClr val="008189"/>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Sheet1!$D$2:$D$4</c:f>
              <c:numCache>
                <c:formatCode>General</c:formatCode>
                <c:ptCount val="3"/>
                <c:pt idx="0">
                  <c:v>19.209627445578906</c:v>
                </c:pt>
                <c:pt idx="1">
                  <c:v>19.33518195200438</c:v>
                </c:pt>
                <c:pt idx="2">
                  <c:v>19.29352701737598</c:v>
                </c:pt>
              </c:numCache>
            </c:numRef>
          </c:val>
        </c:ser>
        <c:ser>
          <c:idx val="3"/>
          <c:order val="3"/>
          <c:tx>
            <c:strRef>
              <c:f>Sheet1!$E$1</c:f>
              <c:strCache>
                <c:ptCount val="1"/>
                <c:pt idx="0">
                  <c:v>Coily Hair</c:v>
                </c:pt>
              </c:strCache>
            </c:strRef>
          </c:tx>
          <c:spPr>
            <a:solidFill>
              <a:srgbClr val="40315E"/>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Sheet1!$E$2:$E$4</c:f>
              <c:numCache>
                <c:formatCode>General</c:formatCode>
                <c:ptCount val="3"/>
                <c:pt idx="0">
                  <c:v>19.120754823505596</c:v>
                </c:pt>
                <c:pt idx="1">
                  <c:v>19.259471468030245</c:v>
                </c:pt>
                <c:pt idx="2">
                  <c:v>19.316294257277853</c:v>
                </c:pt>
              </c:numCache>
            </c:numRef>
          </c:val>
        </c:ser>
        <c:ser>
          <c:idx val="4"/>
          <c:order val="4"/>
          <c:tx>
            <c:strRef>
              <c:f>Sheet1!$F$1</c:f>
              <c:strCache>
                <c:ptCount val="1"/>
                <c:pt idx="0">
                  <c:v>All Hair Types</c:v>
                </c:pt>
              </c:strCache>
            </c:strRef>
          </c:tx>
          <c:spPr>
            <a:solidFill>
              <a:srgbClr val="A35313"/>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Sheet1!$F$2:$F$4</c:f>
              <c:numCache>
                <c:formatCode>General</c:formatCode>
                <c:ptCount val="3"/>
                <c:pt idx="0">
                  <c:v>19.87203510517243</c:v>
                </c:pt>
                <c:pt idx="1">
                  <c:v>18.060535955272798</c:v>
                </c:pt>
                <c:pt idx="2">
                  <c:v>20.147725713561986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52.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Straight Hair</c:v>
                </c:pt>
              </c:strCache>
            </c:strRef>
          </c:tx>
          <c:spPr>
            <a:solidFill>
              <a:srgbClr val="3D85C6"/>
            </a:solidFill>
          </c:spPr>
          <c:invertIfNegative val="0"/>
          <c:xVal>
            <c:numRef>
              <c:f>Sheet1!$A$2:$A$2</c:f>
              <c:numCache>
                <c:formatCode>General</c:formatCode>
                <c:ptCount val="1"/>
                <c:pt idx="0">
                  <c:v>84.07389013778659</c:v>
                </c:pt>
              </c:numCache>
            </c:numRef>
          </c:xVal>
          <c:yVal>
            <c:numRef>
              <c:f>Sheet1!$B$2:$B$2</c:f>
              <c:numCache>
                <c:formatCode>General</c:formatCode>
                <c:ptCount val="1"/>
                <c:pt idx="0">
                  <c:v>125.68064724978667</c:v>
                </c:pt>
              </c:numCache>
            </c:numRef>
          </c:yVal>
          <c:bubbleSize>
            <c:numRef>
              <c:f>Sheet1!$C$2:$C$2</c:f>
              <c:numCache>
                <c:formatCode>General</c:formatCode>
                <c:ptCount val="1"/>
                <c:pt idx="0">
                  <c:v>1772.912</c:v>
                </c:pt>
              </c:numCache>
            </c:numRef>
          </c:bubbleSize>
          <c:bubble3D val="0"/>
        </c:ser>
        <c:ser>
          <c:idx val="1"/>
          <c:order val="1"/>
          <c:tx>
            <c:strRef>
              <c:f>Sheet1!$B$4</c:f>
              <c:strCache>
                <c:ptCount val="1"/>
                <c:pt idx="0">
                  <c:v>Wavy Hair</c:v>
                </c:pt>
              </c:strCache>
            </c:strRef>
          </c:tx>
          <c:spPr>
            <a:solidFill>
              <a:srgbClr val="9E7E0A"/>
            </a:solidFill>
          </c:spPr>
          <c:invertIfNegative val="0"/>
          <c:xVal>
            <c:numRef>
              <c:f>Sheet1!$A$5:$A$5</c:f>
              <c:numCache>
                <c:formatCode>General</c:formatCode>
                <c:ptCount val="1"/>
                <c:pt idx="0">
                  <c:v>100.11410060809298</c:v>
                </c:pt>
              </c:numCache>
            </c:numRef>
          </c:xVal>
          <c:yVal>
            <c:numRef>
              <c:f>Sheet1!$B$5:$B$5</c:f>
              <c:numCache>
                <c:formatCode>General</c:formatCode>
                <c:ptCount val="1"/>
                <c:pt idx="0">
                  <c:v>96.34508685374995</c:v>
                </c:pt>
              </c:numCache>
            </c:numRef>
          </c:yVal>
          <c:bubbleSize>
            <c:numRef>
              <c:f>Sheet1!$C$5:$C$5</c:f>
              <c:numCache>
                <c:formatCode>General</c:formatCode>
                <c:ptCount val="1"/>
                <c:pt idx="0">
                  <c:v>1500.52</c:v>
                </c:pt>
              </c:numCache>
            </c:numRef>
          </c:bubbleSize>
          <c:bubble3D val="0"/>
        </c:ser>
        <c:ser>
          <c:idx val="2"/>
          <c:order val="2"/>
          <c:tx>
            <c:strRef>
              <c:f>Sheet1!$B$7</c:f>
              <c:strCache>
                <c:ptCount val="1"/>
                <c:pt idx="0">
                  <c:v>Curly Hair</c:v>
                </c:pt>
              </c:strCache>
            </c:strRef>
          </c:tx>
          <c:spPr>
            <a:solidFill>
              <a:srgbClr val="008189"/>
            </a:solidFill>
          </c:spPr>
          <c:invertIfNegative val="0"/>
          <c:xVal>
            <c:numRef>
              <c:f>Sheet1!$A$8:$A$8</c:f>
              <c:numCache>
                <c:formatCode>General</c:formatCode>
                <c:ptCount val="1"/>
                <c:pt idx="0">
                  <c:v>110.53230248728153</c:v>
                </c:pt>
              </c:numCache>
            </c:numRef>
          </c:xVal>
          <c:yVal>
            <c:numRef>
              <c:f>Sheet1!$B$8:$B$8</c:f>
              <c:numCache>
                <c:formatCode>General</c:formatCode>
                <c:ptCount val="1"/>
                <c:pt idx="0">
                  <c:v>90.46162543443829</c:v>
                </c:pt>
              </c:numCache>
            </c:numRef>
          </c:yVal>
          <c:bubbleSize>
            <c:numRef>
              <c:f>Sheet1!$C$8:$C$8</c:f>
              <c:numCache>
                <c:formatCode>General</c:formatCode>
                <c:ptCount val="1"/>
                <c:pt idx="0">
                  <c:v>1501.671</c:v>
                </c:pt>
              </c:numCache>
            </c:numRef>
          </c:bubbleSize>
          <c:bubble3D val="0"/>
        </c:ser>
        <c:ser>
          <c:idx val="3"/>
          <c:order val="3"/>
          <c:tx>
            <c:strRef>
              <c:f>Sheet1!$B$10</c:f>
              <c:strCache>
                <c:ptCount val="1"/>
                <c:pt idx="0">
                  <c:v>Coily Hair</c:v>
                </c:pt>
              </c:strCache>
            </c:strRef>
          </c:tx>
          <c:spPr>
            <a:solidFill>
              <a:srgbClr val="40315E"/>
            </a:solidFill>
          </c:spPr>
          <c:invertIfNegative val="0"/>
          <c:xVal>
            <c:numRef>
              <c:f>Sheet1!$A$11:$A$11</c:f>
              <c:numCache>
                <c:formatCode>General</c:formatCode>
                <c:ptCount val="1"/>
                <c:pt idx="0">
                  <c:v>117.4170333323556</c:v>
                </c:pt>
              </c:numCache>
            </c:numRef>
          </c:xVal>
          <c:yVal>
            <c:numRef>
              <c:f>Sheet1!$B$11:$B$11</c:f>
              <c:numCache>
                <c:formatCode>General</c:formatCode>
                <c:ptCount val="1"/>
                <c:pt idx="0">
                  <c:v>86.62570692730017</c:v>
                </c:pt>
              </c:numCache>
            </c:numRef>
          </c:yVal>
          <c:bubbleSize>
            <c:numRef>
              <c:f>Sheet1!$C$11:$C$11</c:f>
              <c:numCache>
                <c:formatCode>General</c:formatCode>
                <c:ptCount val="1"/>
                <c:pt idx="0">
                  <c:v>1499.563</c:v>
                </c:pt>
              </c:numCache>
            </c:numRef>
          </c:bubbleSize>
          <c:bubble3D val="0"/>
        </c:ser>
        <c:ser>
          <c:idx val="4"/>
          <c:order val="4"/>
          <c:tx>
            <c:strRef>
              <c:f>Sheet1!$B$13</c:f>
              <c:strCache>
                <c:ptCount val="1"/>
                <c:pt idx="0">
                  <c:v>All Hair Types</c:v>
                </c:pt>
              </c:strCache>
            </c:strRef>
          </c:tx>
          <c:spPr>
            <a:solidFill>
              <a:srgbClr val="A35313"/>
            </a:solidFill>
          </c:spPr>
          <c:invertIfNegative val="0"/>
          <c:xVal>
            <c:numRef>
              <c:f>Sheet1!$A$14:$A$14</c:f>
              <c:numCache>
                <c:formatCode>General</c:formatCode>
                <c:ptCount val="1"/>
                <c:pt idx="0">
                  <c:v>93.33947309402765</c:v>
                </c:pt>
              </c:numCache>
            </c:numRef>
          </c:xVal>
          <c:yVal>
            <c:numRef>
              <c:f>Sheet1!$B$14:$B$14</c:f>
              <c:numCache>
                <c:formatCode>General</c:formatCode>
                <c:ptCount val="1"/>
                <c:pt idx="0">
                  <c:v>100.88693353472489</c:v>
                </c:pt>
              </c:numCache>
            </c:numRef>
          </c:yVal>
          <c:bubbleSize>
            <c:numRef>
              <c:f>Sheet1!$C$14:$C$14</c:f>
              <c:numCache>
                <c:formatCode>General</c:formatCode>
                <c:ptCount val="1"/>
                <c:pt idx="0">
                  <c:v>1507.095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4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1037.772</c:v>
                </c:pt>
                <c:pt idx="2">
                  <c:v>1140.657</c:v>
                </c:pt>
                <c:pt idx="3">
                  <c:v>1267.948</c:v>
                </c:pt>
                <c:pt idx="4">
                  <c:v>1412.823</c:v>
                </c:pt>
                <c:pt idx="5">
                  <c:v>1582.032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1037.772</c:v>
                </c:pt>
                <c:pt idx="1">
                  <c:v>102.88499999999999</c:v>
                </c:pt>
                <c:pt idx="2">
                  <c:v>127.29100000000017</c:v>
                </c:pt>
                <c:pt idx="3">
                  <c:v>144.875</c:v>
                </c:pt>
                <c:pt idx="4">
                  <c:v>169.20899999999983</c:v>
                </c:pt>
                <c:pt idx="5">
                  <c:v>190.8800000000001</c:v>
                </c:pt>
                <c:pt idx="6">
                  <c:v>1772.912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795.542</c:v>
                </c:pt>
                <c:pt idx="2">
                  <c:v>893.766</c:v>
                </c:pt>
                <c:pt idx="3">
                  <c:v>1012.757</c:v>
                </c:pt>
                <c:pt idx="4">
                  <c:v>1153.613</c:v>
                </c:pt>
                <c:pt idx="5">
                  <c:v>1315.761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795.542</c:v>
                </c:pt>
                <c:pt idx="1">
                  <c:v>98.22399999999993</c:v>
                </c:pt>
                <c:pt idx="2">
                  <c:v>118.99099999999999</c:v>
                </c:pt>
                <c:pt idx="3">
                  <c:v>140.8560000000001</c:v>
                </c:pt>
                <c:pt idx="4">
                  <c:v>162.1479999999999</c:v>
                </c:pt>
                <c:pt idx="5">
                  <c:v>184.75900000000001</c:v>
                </c:pt>
                <c:pt idx="6">
                  <c:v>1500.52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746.961</c:v>
                </c:pt>
                <c:pt idx="2">
                  <c:v>830.656</c:v>
                </c:pt>
                <c:pt idx="3">
                  <c:v>947.491</c:v>
                </c:pt>
                <c:pt idx="4">
                  <c:v>1099.556</c:v>
                </c:pt>
                <c:pt idx="5">
                  <c:v>1284.433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746.961</c:v>
                </c:pt>
                <c:pt idx="1">
                  <c:v>83.69499999999994</c:v>
                </c:pt>
                <c:pt idx="2">
                  <c:v>116.83500000000004</c:v>
                </c:pt>
                <c:pt idx="3">
                  <c:v>152.06500000000005</c:v>
                </c:pt>
                <c:pt idx="4">
                  <c:v>184.87699999999995</c:v>
                </c:pt>
                <c:pt idx="5">
                  <c:v>217.23800000000006</c:v>
                </c:pt>
                <c:pt idx="6">
                  <c:v>1501.671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715.287</c:v>
                </c:pt>
                <c:pt idx="2">
                  <c:v>805.241</c:v>
                </c:pt>
                <c:pt idx="3">
                  <c:v>925.918</c:v>
                </c:pt>
                <c:pt idx="4">
                  <c:v>1087.895</c:v>
                </c:pt>
                <c:pt idx="5">
                  <c:v>1278.807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715.287</c:v>
                </c:pt>
                <c:pt idx="1">
                  <c:v>89.95399999999995</c:v>
                </c:pt>
                <c:pt idx="2">
                  <c:v>120.67700000000002</c:v>
                </c:pt>
                <c:pt idx="3">
                  <c:v>161.97699999999998</c:v>
                </c:pt>
                <c:pt idx="4">
                  <c:v>190.91200000000003</c:v>
                </c:pt>
                <c:pt idx="5">
                  <c:v>220.75600000000009</c:v>
                </c:pt>
                <c:pt idx="6">
                  <c:v>1499.563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833.045</c:v>
                </c:pt>
                <c:pt idx="2">
                  <c:v>925.126</c:v>
                </c:pt>
                <c:pt idx="3">
                  <c:v>1038.34</c:v>
                </c:pt>
                <c:pt idx="4">
                  <c:v>1171.55</c:v>
                </c:pt>
                <c:pt idx="5">
                  <c:v>1327.816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833.045</c:v>
                </c:pt>
                <c:pt idx="1">
                  <c:v>92.08100000000002</c:v>
                </c:pt>
                <c:pt idx="2">
                  <c:v>113.21399999999994</c:v>
                </c:pt>
                <c:pt idx="3">
                  <c:v>133.21000000000004</c:v>
                </c:pt>
                <c:pt idx="4">
                  <c:v>156.26600000000008</c:v>
                </c:pt>
                <c:pt idx="5">
                  <c:v>179.279</c:v>
                </c:pt>
                <c:pt idx="6">
                  <c:v>1507.095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Straight Hair</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25.324441342664628</c:v>
                </c:pt>
                <c:pt idx="1">
                  <c:v>25.136129449957334</c:v>
                </c:pt>
                <c:pt idx="2">
                  <c:v>22.782915075392317</c:v>
                </c:pt>
              </c:numCache>
            </c:numRef>
          </c:val>
        </c:ser>
        <c:ser>
          <c:idx val="1"/>
          <c:order val="1"/>
          <c:tx>
            <c:strRef>
              <c:f>Sheet1!$C$1</c:f>
              <c:strCache>
                <c:ptCount val="1"/>
                <c:pt idx="0">
                  <c:v>All Hair Types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19.958695075907904</c:v>
                </c:pt>
                <c:pt idx="1">
                  <c:v>20.17738670694498</c:v>
                </c:pt>
                <c:pt idx="2">
                  <c:v>19.367017311377204</c:v>
                </c:pt>
              </c:numCache>
            </c:numRef>
          </c:val>
        </c:ser>
        <c:ser>
          <c:idx val="2"/>
          <c:order val="2"/>
          <c:tx>
            <c:strRef>
              <c:f>Sheet1!$D$1</c:f>
              <c:strCache>
                <c:ptCount val="1"/>
                <c:pt idx="0">
                  <c:v>Curly Hair</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18.623878080084825</c:v>
                </c:pt>
                <c:pt idx="1">
                  <c:v>18.09232508688766</c:v>
                </c:pt>
                <c:pt idx="2">
                  <c:v>19.297315864622416</c:v>
                </c:pt>
              </c:numCache>
            </c:numRef>
          </c:val>
        </c:ser>
        <c:ser>
          <c:idx val="3"/>
          <c:order val="3"/>
          <c:tx>
            <c:strRef>
              <c:f>Sheet1!$E$1</c:f>
              <c:strCache>
                <c:ptCount val="1"/>
                <c:pt idx="0">
                  <c:v>Wavy Hair</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18.73838767022556</c:v>
                </c:pt>
                <c:pt idx="1">
                  <c:v>19.269017370749992</c:v>
                </c:pt>
                <c:pt idx="2">
                  <c:v>19.282524868085773</c:v>
                </c:pt>
              </c:numCache>
            </c:numRef>
          </c:val>
        </c:ser>
        <c:ser>
          <c:idx val="4"/>
          <c:order val="4"/>
          <c:tx>
            <c:strRef>
              <c:f>Sheet1!$F$1</c:f>
              <c:strCache>
                <c:ptCount val="1"/>
                <c:pt idx="0">
                  <c:v>Coily Hair</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17.354597831117076</c:v>
                </c:pt>
                <c:pt idx="1">
                  <c:v>17.325141385460036</c:v>
                </c:pt>
                <c:pt idx="2">
                  <c:v>19.270226880522287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Film-forming and Fixative Polymers</c:v>
                </c:pt>
              </c:strCache>
            </c:strRef>
          </c:tx>
          <c:spPr>
            <a:solidFill>
              <a:srgbClr val="3D85C6"/>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Sheet1!$B$2:$B$4</c:f>
              <c:numCache>
                <c:formatCode>General</c:formatCode>
                <c:ptCount val="3"/>
                <c:pt idx="0">
                  <c:v>24.019966670300747</c:v>
                </c:pt>
                <c:pt idx="1">
                  <c:v>24.57652068595595</c:v>
                </c:pt>
                <c:pt idx="2">
                  <c:v>23.918920481016993</c:v>
                </c:pt>
              </c:numCache>
            </c:numRef>
          </c:val>
        </c:ser>
        <c:ser>
          <c:idx val="1"/>
          <c:order val="1"/>
          <c:tx>
            <c:strRef>
              <c:f>Sheet1!$C$1</c:f>
              <c:strCache>
                <c:ptCount val="1"/>
                <c:pt idx="0">
                  <c:v>Texture and Volume Additives</c:v>
                </c:pt>
              </c:strCache>
            </c:strRef>
          </c:tx>
          <c:spPr>
            <a:solidFill>
              <a:srgbClr val="9E7E0A"/>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Sheet1!$C$2:$C$4</c:f>
              <c:numCache>
                <c:formatCode>General</c:formatCode>
                <c:ptCount val="3"/>
                <c:pt idx="0">
                  <c:v>25.735219680097188</c:v>
                </c:pt>
                <c:pt idx="1">
                  <c:v>25.73077140675455</c:v>
                </c:pt>
                <c:pt idx="2">
                  <c:v>25.61073246683798</c:v>
                </c:pt>
              </c:numCache>
            </c:numRef>
          </c:val>
        </c:ser>
        <c:ser>
          <c:idx val="2"/>
          <c:order val="2"/>
          <c:tx>
            <c:strRef>
              <c:f>Sheet1!$D$1</c:f>
              <c:strCache>
                <c:ptCount val="1"/>
                <c:pt idx="0">
                  <c:v>Conditioning and Smoothing Agents</c:v>
                </c:pt>
              </c:strCache>
            </c:strRef>
          </c:tx>
          <c:spPr>
            <a:solidFill>
              <a:srgbClr val="008189"/>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Sheet1!$D$2:$D$4</c:f>
              <c:numCache>
                <c:formatCode>General</c:formatCode>
                <c:ptCount val="3"/>
                <c:pt idx="0">
                  <c:v>24.214941517280046</c:v>
                </c:pt>
                <c:pt idx="1">
                  <c:v>23.927162314728363</c:v>
                </c:pt>
                <c:pt idx="2">
                  <c:v>24.316065579702677</c:v>
                </c:pt>
              </c:numCache>
            </c:numRef>
          </c:val>
        </c:ser>
        <c:ser>
          <c:idx val="3"/>
          <c:order val="3"/>
          <c:tx>
            <c:strRef>
              <c:f>Sheet1!$E$1</c:f>
              <c:strCache>
                <c:ptCount val="1"/>
                <c:pt idx="0">
                  <c:v>Waxes and Structuring Agents</c:v>
                </c:pt>
              </c:strCache>
            </c:strRef>
          </c:tx>
          <c:spPr>
            <a:solidFill>
              <a:srgbClr val="40315E"/>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Sheet1!$E$2:$E$4</c:f>
              <c:numCache>
                <c:formatCode>General</c:formatCode>
                <c:ptCount val="3"/>
                <c:pt idx="0">
                  <c:v>26.029872132322023</c:v>
                </c:pt>
                <c:pt idx="1">
                  <c:v>25.765545592561136</c:v>
                </c:pt>
                <c:pt idx="2">
                  <c:v>26.154281472442342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6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Film-forming and Fixative Polymers</c:v>
                </c:pt>
              </c:strCache>
            </c:strRef>
          </c:tx>
          <c:spPr>
            <a:solidFill>
              <a:srgbClr val="3D85C6"/>
            </a:solidFill>
          </c:spPr>
          <c:invertIfNegative val="0"/>
          <c:xVal>
            <c:numRef>
              <c:f>Sheet1!$A$2:$A$2</c:f>
              <c:numCache>
                <c:formatCode>General</c:formatCode>
                <c:ptCount val="1"/>
                <c:pt idx="0">
                  <c:v>88.23813903984265</c:v>
                </c:pt>
              </c:numCache>
            </c:numRef>
          </c:xVal>
          <c:yVal>
            <c:numRef>
              <c:f>Sheet1!$B$2:$B$2</c:f>
              <c:numCache>
                <c:formatCode>General</c:formatCode>
                <c:ptCount val="1"/>
                <c:pt idx="0">
                  <c:v>103.93568581364126</c:v>
                </c:pt>
              </c:numCache>
            </c:numRef>
          </c:yVal>
          <c:bubbleSize>
            <c:numRef>
              <c:f>Sheet1!$C$2:$C$2</c:f>
              <c:numCache>
                <c:formatCode>General</c:formatCode>
                <c:ptCount val="1"/>
                <c:pt idx="0">
                  <c:v>1880.5990000000002</c:v>
                </c:pt>
              </c:numCache>
            </c:numRef>
          </c:bubbleSize>
          <c:bubble3D val="0"/>
        </c:ser>
        <c:ser>
          <c:idx val="1"/>
          <c:order val="1"/>
          <c:tx>
            <c:strRef>
              <c:f>Sheet1!$B$4</c:f>
              <c:strCache>
                <c:ptCount val="1"/>
                <c:pt idx="0">
                  <c:v>Texture and Volume Additives</c:v>
                </c:pt>
              </c:strCache>
            </c:strRef>
          </c:tx>
          <c:spPr>
            <a:solidFill>
              <a:srgbClr val="9E7E0A"/>
            </a:solidFill>
          </c:spPr>
          <c:invertIfNegative val="0"/>
          <c:xVal>
            <c:numRef>
              <c:f>Sheet1!$A$5:$A$5</c:f>
              <c:numCache>
                <c:formatCode>General</c:formatCode>
                <c:ptCount val="1"/>
                <c:pt idx="0">
                  <c:v>103.46938726399968</c:v>
                </c:pt>
              </c:numCache>
            </c:numRef>
          </c:xVal>
          <c:yVal>
            <c:numRef>
              <c:f>Sheet1!$B$5:$B$5</c:f>
              <c:numCache>
                <c:formatCode>General</c:formatCode>
                <c:ptCount val="1"/>
                <c:pt idx="0">
                  <c:v>100.51748689085689</c:v>
                </c:pt>
              </c:numCache>
            </c:numRef>
          </c:yVal>
          <c:bubbleSize>
            <c:numRef>
              <c:f>Sheet1!$C$5:$C$5</c:f>
              <c:numCache>
                <c:formatCode>General</c:formatCode>
                <c:ptCount val="1"/>
                <c:pt idx="0">
                  <c:v>1997.578</c:v>
                </c:pt>
              </c:numCache>
            </c:numRef>
          </c:bubbleSize>
          <c:bubble3D val="0"/>
        </c:ser>
        <c:ser>
          <c:idx val="2"/>
          <c:order val="2"/>
          <c:tx>
            <c:strRef>
              <c:f>Sheet1!$B$7</c:f>
              <c:strCache>
                <c:ptCount val="1"/>
                <c:pt idx="0">
                  <c:v>Conditioning and Smoothing Agents</c:v>
                </c:pt>
              </c:strCache>
            </c:strRef>
          </c:tx>
          <c:spPr>
            <a:solidFill>
              <a:srgbClr val="008189"/>
            </a:solidFill>
          </c:spPr>
          <c:invertIfNegative val="0"/>
          <c:xVal>
            <c:numRef>
              <c:f>Sheet1!$A$8:$A$8</c:f>
              <c:numCache>
                <c:formatCode>General</c:formatCode>
                <c:ptCount val="1"/>
                <c:pt idx="0">
                  <c:v>94.83522133819314</c:v>
                </c:pt>
              </c:numCache>
            </c:numRef>
          </c:xVal>
          <c:yVal>
            <c:numRef>
              <c:f>Sheet1!$B$8:$B$8</c:f>
              <c:numCache>
                <c:formatCode>General</c:formatCode>
                <c:ptCount val="1"/>
                <c:pt idx="0">
                  <c:v>99.77631680612853</c:v>
                </c:pt>
              </c:numCache>
            </c:numRef>
          </c:yVal>
          <c:bubbleSize>
            <c:numRef>
              <c:f>Sheet1!$C$8:$C$8</c:f>
              <c:numCache>
                <c:formatCode>General</c:formatCode>
                <c:ptCount val="1"/>
                <c:pt idx="0">
                  <c:v>1880.388</c:v>
                </c:pt>
              </c:numCache>
            </c:numRef>
          </c:bubbleSize>
          <c:bubble3D val="0"/>
        </c:ser>
        <c:ser>
          <c:idx val="3"/>
          <c:order val="3"/>
          <c:tx>
            <c:strRef>
              <c:f>Sheet1!$B$10</c:f>
              <c:strCache>
                <c:ptCount val="1"/>
                <c:pt idx="0">
                  <c:v>Waxes and Structuring Agents</c:v>
                </c:pt>
              </c:strCache>
            </c:strRef>
          </c:tx>
          <c:spPr>
            <a:solidFill>
              <a:srgbClr val="40315E"/>
            </a:solidFill>
          </c:spPr>
          <c:invertIfNegative val="0"/>
          <c:xVal>
            <c:numRef>
              <c:f>Sheet1!$A$11:$A$11</c:f>
              <c:numCache>
                <c:formatCode>General</c:formatCode>
                <c:ptCount val="1"/>
                <c:pt idx="0">
                  <c:v>113.47287220730264</c:v>
                </c:pt>
              </c:numCache>
            </c:numRef>
          </c:xVal>
          <c:yVal>
            <c:numRef>
              <c:f>Sheet1!$B$11:$B$11</c:f>
              <c:numCache>
                <c:formatCode>General</c:formatCode>
                <c:ptCount val="1"/>
                <c:pt idx="0">
                  <c:v>95.7705104893733</c:v>
                </c:pt>
              </c:numCache>
            </c:numRef>
          </c:yVal>
          <c:bubbleSize>
            <c:numRef>
              <c:f>Sheet1!$C$11:$C$11</c:f>
              <c:numCache>
                <c:formatCode>General</c:formatCode>
                <c:ptCount val="1"/>
                <c:pt idx="0">
                  <c:v>2023.198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1072.774</c:v>
                </c:pt>
                <c:pt idx="2">
                  <c:v>1181.712</c:v>
                </c:pt>
                <c:pt idx="3">
                  <c:v>1318.775</c:v>
                </c:pt>
                <c:pt idx="4">
                  <c:v>1480.958</c:v>
                </c:pt>
                <c:pt idx="5">
                  <c:v>1668.095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1072.774</c:v>
                </c:pt>
                <c:pt idx="1">
                  <c:v>108.9380000000001</c:v>
                </c:pt>
                <c:pt idx="2">
                  <c:v>137.0630000000001</c:v>
                </c:pt>
                <c:pt idx="3">
                  <c:v>162.183</c:v>
                </c:pt>
                <c:pt idx="4">
                  <c:v>187.13699999999994</c:v>
                </c:pt>
                <c:pt idx="5">
                  <c:v>212.50400000000013</c:v>
                </c:pt>
                <c:pt idx="6">
                  <c:v>1880.5990000000002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1037.493</c:v>
                </c:pt>
                <c:pt idx="2">
                  <c:v>1158.1889999999999</c:v>
                </c:pt>
                <c:pt idx="3">
                  <c:v>1313.329</c:v>
                </c:pt>
                <c:pt idx="4">
                  <c:v>1504.667</c:v>
                </c:pt>
                <c:pt idx="5">
                  <c:v>1733.192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1037.493</c:v>
                </c:pt>
                <c:pt idx="1">
                  <c:v>120.69599999999991</c:v>
                </c:pt>
                <c:pt idx="2">
                  <c:v>155.1400000000001</c:v>
                </c:pt>
                <c:pt idx="3">
                  <c:v>191.33799999999997</c:v>
                </c:pt>
                <c:pt idx="4">
                  <c:v>228.5250000000001</c:v>
                </c:pt>
                <c:pt idx="5">
                  <c:v>264.38599999999997</c:v>
                </c:pt>
                <c:pt idx="6">
                  <c:v>1997.578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1029.8429999999998</c:v>
                </c:pt>
                <c:pt idx="2">
                  <c:v>1147.483</c:v>
                </c:pt>
                <c:pt idx="3">
                  <c:v>1291.0439999999999</c:v>
                </c:pt>
                <c:pt idx="4">
                  <c:v>1458.999</c:v>
                </c:pt>
                <c:pt idx="5">
                  <c:v>1655.898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1029.8429999999998</c:v>
                </c:pt>
                <c:pt idx="1">
                  <c:v>117.6400000000001</c:v>
                </c:pt>
                <c:pt idx="2">
                  <c:v>143.56099999999992</c:v>
                </c:pt>
                <c:pt idx="3">
                  <c:v>167.95500000000015</c:v>
                </c:pt>
                <c:pt idx="4">
                  <c:v>196.8989999999999</c:v>
                </c:pt>
                <c:pt idx="5">
                  <c:v>224.49</c:v>
                </c:pt>
                <c:pt idx="6">
                  <c:v>1880.388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988.4970000000001</c:v>
                </c:pt>
                <c:pt idx="2">
                  <c:v>1108.063</c:v>
                </c:pt>
                <c:pt idx="3">
                  <c:v>1269.305</c:v>
                </c:pt>
                <c:pt idx="4">
                  <c:v>1480.8139999999999</c:v>
                </c:pt>
                <c:pt idx="5">
                  <c:v>1731.665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988.4970000000001</c:v>
                </c:pt>
                <c:pt idx="1">
                  <c:v>119.56600000000003</c:v>
                </c:pt>
                <c:pt idx="2">
                  <c:v>161.24199999999996</c:v>
                </c:pt>
                <c:pt idx="3">
                  <c:v>211.5089999999998</c:v>
                </c:pt>
                <c:pt idx="4">
                  <c:v>250.8510000000001</c:v>
                </c:pt>
                <c:pt idx="5">
                  <c:v>291.53300000000013</c:v>
                </c:pt>
                <c:pt idx="6">
                  <c:v>2023.198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Waxes and Structuring Agents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24.096675687454415</c:v>
                </c:pt>
                <c:pt idx="1">
                  <c:v>23.942627622343323</c:v>
                </c:pt>
                <c:pt idx="2">
                  <c:v>25.99922408328293</c:v>
                </c:pt>
              </c:numCache>
            </c:numRef>
          </c:val>
        </c:ser>
        <c:ser>
          <c:idx val="1"/>
          <c:order val="1"/>
          <c:tx>
            <c:strRef>
              <c:f>Sheet1!$C$1</c:f>
              <c:strCache>
                <c:ptCount val="1"/>
                <c:pt idx="0">
                  <c:v>Texture and Volume Additives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24.938888780725964</c:v>
                </c:pt>
                <c:pt idx="1">
                  <c:v>25.12937172271422</c:v>
                </c:pt>
                <c:pt idx="2">
                  <c:v>25.66999277670112</c:v>
                </c:pt>
              </c:numCache>
            </c:numRef>
          </c:val>
        </c:ser>
        <c:ser>
          <c:idx val="2"/>
          <c:order val="2"/>
          <c:tx>
            <c:strRef>
              <c:f>Sheet1!$D$1</c:f>
              <c:strCache>
                <c:ptCount val="1"/>
                <c:pt idx="0">
                  <c:v>Film-forming and Fixative Polymers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26.29958500382647</c:v>
                </c:pt>
                <c:pt idx="1">
                  <c:v>25.983921453410314</c:v>
                </c:pt>
                <c:pt idx="2">
                  <c:v>24.166747303920722</c:v>
                </c:pt>
              </c:numCache>
            </c:numRef>
          </c:val>
        </c:ser>
        <c:ser>
          <c:idx val="3"/>
          <c:order val="3"/>
          <c:tx>
            <c:strRef>
              <c:f>Sheet1!$E$1</c:f>
              <c:strCache>
                <c:ptCount val="1"/>
                <c:pt idx="0">
                  <c:v>Conditioning and Smoothing Agents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24.664850527993146</c:v>
                </c:pt>
                <c:pt idx="1">
                  <c:v>24.944079201532134</c:v>
                </c:pt>
                <c:pt idx="2">
                  <c:v>24.164035836095238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5.069632877291386</c:v>
                </c:pt>
                <c:pt idx="1">
                  <c:v>6.654594628969646</c:v>
                </c:pt>
                <c:pt idx="2">
                  <c:v>6.1236351513377585</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8.784064910239932"/>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943.408</c:v>
                </c:pt>
                <c:pt idx="2">
                  <c:v>0.0</c:v>
                </c:pt>
                <c:pt idx="3">
                  <c:v>1208.0520000000001</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943.408</c:v>
                </c:pt>
                <c:pt idx="1">
                  <c:v>264.6440000000001</c:v>
                </c:pt>
                <c:pt idx="2">
                  <c:v>1208.0520000000001</c:v>
                </c:pt>
                <c:pt idx="3">
                  <c:v>1092.761</c:v>
                </c:pt>
                <c:pt idx="4">
                  <c:v>2300.813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5.288553224456871</c:v>
                </c:pt>
                <c:pt idx="1">
                  <c:v>7.8537496936741835</c:v>
                </c:pt>
                <c:pt idx="2">
                  <c:v>6.991814218747439</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366949595649922"/>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1368.64</c:v>
                </c:pt>
                <c:pt idx="2">
                  <c:v>0.0</c:v>
                </c:pt>
                <c:pt idx="3">
                  <c:v>1770.904</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1368.64</c:v>
                </c:pt>
                <c:pt idx="1">
                  <c:v>402.2639999999999</c:v>
                </c:pt>
                <c:pt idx="2">
                  <c:v>1770.904</c:v>
                </c:pt>
                <c:pt idx="3">
                  <c:v>2000.886</c:v>
                </c:pt>
                <c:pt idx="4">
                  <c:v>3771.79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Sheet1!$B$2:$B$6</c:f>
              <c:numCache>
                <c:formatCode>General</c:formatCode>
                <c:ptCount val="5"/>
                <c:pt idx="0">
                  <c:v>1368.64</c:v>
                </c:pt>
                <c:pt idx="1">
                  <c:v>1437.86</c:v>
                </c:pt>
                <c:pt idx="2">
                  <c:v>1510.732</c:v>
                </c:pt>
                <c:pt idx="3">
                  <c:v>1588.0600000000002</c:v>
                </c:pt>
                <c:pt idx="4">
                  <c:v>1670.9650000000001</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Sheet1!$C$2:$C$6</c:f>
              <c:numCache>
                <c:formatCode>General</c:formatCode>
                <c:ptCount val="5"/>
                <c:pt idx="0">
                  <c:v>943.408</c:v>
                </c:pt>
                <c:pt idx="1">
                  <c:v>990.677</c:v>
                </c:pt>
                <c:pt idx="2">
                  <c:v>1040.121</c:v>
                </c:pt>
                <c:pt idx="3">
                  <c:v>1091.683</c:v>
                </c:pt>
                <c:pt idx="4">
                  <c:v>1146.664</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972"/>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544"/>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1770.904</c:v>
                </c:pt>
                <c:pt idx="1">
                  <c:v>1884.875</c:v>
                </c:pt>
                <c:pt idx="2">
                  <c:v>2015.522</c:v>
                </c:pt>
                <c:pt idx="3">
                  <c:v>2164.894</c:v>
                </c:pt>
                <c:pt idx="4">
                  <c:v>2334.3320000000003</c:v>
                </c:pt>
                <c:pt idx="5">
                  <c:v>2523.634</c:v>
                </c:pt>
                <c:pt idx="6">
                  <c:v>2733.411</c:v>
                </c:pt>
                <c:pt idx="7">
                  <c:v>2962.8770000000004</c:v>
                </c:pt>
                <c:pt idx="8">
                  <c:v>3212.551</c:v>
                </c:pt>
                <c:pt idx="9">
                  <c:v>3481.78</c:v>
                </c:pt>
                <c:pt idx="10">
                  <c:v>3771.79</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1208.0520000000001</c:v>
                </c:pt>
                <c:pt idx="1">
                  <c:v>1277.232</c:v>
                </c:pt>
                <c:pt idx="2">
                  <c:v>1355.606</c:v>
                </c:pt>
                <c:pt idx="3">
                  <c:v>1443.862</c:v>
                </c:pt>
                <c:pt idx="4">
                  <c:v>1541.897</c:v>
                </c:pt>
                <c:pt idx="5">
                  <c:v>1649.0149999999999</c:v>
                </c:pt>
                <c:pt idx="6">
                  <c:v>1764.9499999999998</c:v>
                </c:pt>
                <c:pt idx="7">
                  <c:v>1888.855</c:v>
                </c:pt>
                <c:pt idx="8">
                  <c:v>2020.212</c:v>
                </c:pt>
                <c:pt idx="9">
                  <c:v>2157.4970000000003</c:v>
                </c:pt>
                <c:pt idx="10">
                  <c:v>2300.813</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4451"/>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3450"/>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Sheet1!$A$2:$A$9</c:f>
              <c:strCache>
                <c:ptCount val="8"/>
                <c:pt idx="0">
                  <c:v>New Zealand</c:v>
                </c:pt>
                <c:pt idx="1">
                  <c:v>Australia</c:v>
                </c:pt>
                <c:pt idx="2">
                  <c:v>Singapore</c:v>
                </c:pt>
                <c:pt idx="3">
                  <c:v>Malaysia</c:v>
                </c:pt>
                <c:pt idx="4">
                  <c:v>Thailand</c:v>
                </c:pt>
                <c:pt idx="5">
                  <c:v>Indonesia</c:v>
                </c:pt>
                <c:pt idx="6">
                  <c:v>India</c:v>
                </c:pt>
                <c:pt idx="7">
                  <c:v>Philippines</c:v>
                </c:pt>
              </c:strCache>
            </c:strRef>
          </c:cat>
          <c:val>
            <c:numRef>
              <c:f>Sheet1!$B$2:$B$9</c:f>
              <c:numCache>
                <c:formatCode>General</c:formatCode>
                <c:ptCount val="8"/>
                <c:pt idx="0">
                  <c:v>63.748286154941425</c:v>
                </c:pt>
                <c:pt idx="1">
                  <c:v>70.52691027699893</c:v>
                </c:pt>
                <c:pt idx="2">
                  <c:v>78.0672513791934</c:v>
                </c:pt>
                <c:pt idx="3">
                  <c:v>99.04471731662025</c:v>
                </c:pt>
                <c:pt idx="4">
                  <c:v>99.80786294210886</c:v>
                </c:pt>
                <c:pt idx="5">
                  <c:v>117.69511693558796</c:v>
                </c:pt>
                <c:pt idx="6">
                  <c:v>117.99097547509929</c:v>
                </c:pt>
                <c:pt idx="7">
                  <c:v>122.06449783778619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Sheet1!$A$2:$A$9</c:f>
              <c:strCache>
                <c:ptCount val="8"/>
                <c:pt idx="0">
                  <c:v>New Zealand</c:v>
                </c:pt>
                <c:pt idx="1">
                  <c:v>Singapore</c:v>
                </c:pt>
                <c:pt idx="2">
                  <c:v>Malaysia</c:v>
                </c:pt>
                <c:pt idx="3">
                  <c:v>Philippines</c:v>
                </c:pt>
                <c:pt idx="4">
                  <c:v>Thailand</c:v>
                </c:pt>
                <c:pt idx="5">
                  <c:v>Indonesia</c:v>
                </c:pt>
                <c:pt idx="6">
                  <c:v>Australia</c:v>
                </c:pt>
                <c:pt idx="7">
                  <c:v>India</c:v>
                </c:pt>
              </c:strCache>
            </c:strRef>
          </c:cat>
          <c:val>
            <c:numRef>
              <c:f>Sheet1!$B$2:$B$9</c:f>
              <c:numCache>
                <c:formatCode>General</c:formatCode>
                <c:ptCount val="8"/>
                <c:pt idx="0">
                  <c:v>2.35225794972827</c:v>
                </c:pt>
                <c:pt idx="1">
                  <c:v>4.060601153688916</c:v>
                </c:pt>
                <c:pt idx="2">
                  <c:v>4.986291073054637</c:v>
                </c:pt>
                <c:pt idx="3">
                  <c:v>7.168574321575541</c:v>
                </c:pt>
                <c:pt idx="4">
                  <c:v>8.06872555457932</c:v>
                </c:pt>
                <c:pt idx="5">
                  <c:v>14.812737957085012</c:v>
                </c:pt>
                <c:pt idx="6">
                  <c:v>15.093863418505608</c:v>
                </c:pt>
                <c:pt idx="7">
                  <c:v>34.95881324573213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4.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Lbls>
            <c:dLbl>
              <c:idx val="0"/>
              <c:layout>
                <c:manualLayout>
                  <c:x val="0.0350"/>
                  <c:y val="0.0000"/>
                </c:manualLayout>
              </c:layout>
              <c:tx>
                <c:rich>
                  <a:bodyPr/>
                  <a:lstStyle/>
                  <a:p>
                    <a:pPr>
                      <a:defRPr sz="1100" b="1">
                        <a:solidFill>
                          <a:srgbClr val="FFFFFF"/>
                        </a:solidFill>
                        <a:latin typeface="Calibri"/>
                      </a:defRPr>
                    </a:pPr>
                    <a:r>
                      <a:t>8.9%</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6.1%</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9.9%</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13.2%</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17.3%</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11.0%</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18.6%</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15.0%</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Sheet1!$A$2:$A$9</c:f>
              <c:strCache>
                <c:ptCount val="8"/>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strCache>
            </c:strRef>
          </c:cat>
          <c:val>
            <c:numRef>
              <c:f>Sheet1!$B$2:$B$9</c:f>
              <c:numCache>
                <c:formatCode>General</c:formatCode>
                <c:ptCount val="8"/>
                <c:pt idx="0">
                  <c:v>337.427</c:v>
                </c:pt>
                <c:pt idx="1">
                  <c:v>228.466</c:v>
                </c:pt>
                <c:pt idx="2">
                  <c:v>372.026</c:v>
                </c:pt>
                <c:pt idx="3">
                  <c:v>498.313</c:v>
                </c:pt>
                <c:pt idx="4">
                  <c:v>652.792</c:v>
                </c:pt>
                <c:pt idx="5">
                  <c:v>413.788</c:v>
                </c:pt>
                <c:pt idx="6">
                  <c:v>702.362</c:v>
                </c:pt>
                <c:pt idx="7">
                  <c:v>566.616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375.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0.09819293408473853</c:v>
                </c:pt>
                <c:pt idx="1">
                  <c:v>0.10223163305480581</c:v>
                </c:pt>
                <c:pt idx="2">
                  <c:v>0.10455030156580478</c:v>
                </c:pt>
                <c:pt idx="3">
                  <c:v>0.10393480047015777</c:v>
                </c:pt>
                <c:pt idx="4">
                  <c:v>0.10082356890449008</c:v>
                </c:pt>
                <c:pt idx="5">
                  <c:v>0.0959079916611723</c:v>
                </c:pt>
                <c:pt idx="6">
                  <c:v>0.09317617857912261</c:v>
                </c:pt>
                <c:pt idx="7">
                  <c:v>0.09114418181130171</c:v>
                </c:pt>
                <c:pt idx="8">
                  <c:v>0.09000592636044767</c:v>
                </c:pt>
                <c:pt idx="9">
                  <c:v>0.08920493178392076</c:v>
                </c:pt>
                <c:pt idx="10">
                  <c:v>0.08719822958167439</c:v>
                </c:pt>
              </c:numCache>
            </c:numRef>
          </c:val>
          <c:smooth val="0"/>
        </c:ser>
        <c:ser>
          <c:idx val="1"/>
          <c:order val="1"/>
          <c:tx>
            <c:strRef>
              <c:f>Sheet1!$C$1</c: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0.0783335902746348</c:v>
                </c:pt>
                <c:pt idx="1">
                  <c:v>0.07666359027463479</c:v>
                </c:pt>
                <c:pt idx="2">
                  <c:v>0.07599359027463479</c:v>
                </c:pt>
                <c:pt idx="3">
                  <c:v>0.07666359027463479</c:v>
                </c:pt>
                <c:pt idx="4">
                  <c:v>0.07866359027463479</c:v>
                </c:pt>
                <c:pt idx="5">
                  <c:v>0.0793335902746348</c:v>
                </c:pt>
                <c:pt idx="6">
                  <c:v>0.07866359027463479</c:v>
                </c:pt>
                <c:pt idx="7">
                  <c:v>0.07663359027463479</c:v>
                </c:pt>
                <c:pt idx="8">
                  <c:v>0.0757435902746348</c:v>
                </c:pt>
                <c:pt idx="9">
                  <c:v>0.07476359027463479</c:v>
                </c:pt>
                <c:pt idx="10">
                  <c:v>0.0735935902746348</c:v>
                </c:pt>
              </c:numCache>
            </c:numRef>
          </c:val>
          <c:smooth val="0"/>
        </c:ser>
        <c:ser>
          <c:idx val="2"/>
          <c:order val="2"/>
          <c:tx>
            <c:strRef>
              <c:f>Sheet1!$D$1</c: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Sheet1!$D$2:$D$12</c:f>
              <c:numCache>
                <c:formatCode>General</c:formatCode>
                <c:ptCount val="11"/>
                <c:pt idx="0">
                  <c:v>0.06192999773429291</c:v>
                </c:pt>
                <c:pt idx="1">
                  <c:v>0.06334999773429291</c:v>
                </c:pt>
                <c:pt idx="2">
                  <c:v>0.06339999773429292</c:v>
                </c:pt>
                <c:pt idx="3">
                  <c:v>0.06154999773429291</c:v>
                </c:pt>
                <c:pt idx="4">
                  <c:v>0.05888999773429291</c:v>
                </c:pt>
                <c:pt idx="5">
                  <c:v>0.057269997734292914</c:v>
                </c:pt>
                <c:pt idx="6">
                  <c:v>0.05655999773429291</c:v>
                </c:pt>
                <c:pt idx="7">
                  <c:v>0.05416999773429291</c:v>
                </c:pt>
                <c:pt idx="8">
                  <c:v>0.05465999773429291</c:v>
                </c:pt>
                <c:pt idx="9">
                  <c:v>0.05231999773429291</c:v>
                </c:pt>
                <c:pt idx="10">
                  <c:v>0.049839997734292915</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India</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39.974438186435684</c:v>
                </c:pt>
                <c:pt idx="1">
                  <c:v>42.9082676427854</c:v>
                </c:pt>
              </c:numCache>
            </c:numRef>
          </c:val>
        </c:ser>
        <c:ser>
          <c:idx val="1"/>
          <c:order val="1"/>
          <c:tx>
            <c:strRef>
              <c:f>Sheet1!$C$1</c:f>
              <c:strCache>
                <c:ptCount val="1"/>
                <c:pt idx="0">
                  <c:v>Indonesia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14.8793263866125</c:v>
                </c:pt>
                <c:pt idx="1">
                  <c:v>15.82462373082906</c:v>
                </c:pt>
              </c:numCache>
            </c:numRef>
          </c:val>
        </c:ser>
        <c:ser>
          <c:idx val="2"/>
          <c:order val="2"/>
          <c:tx>
            <c:strRef>
              <c:f>Sheet1!$D$1</c:f>
              <c:strCache>
                <c:ptCount val="1"/>
                <c:pt idx="0">
                  <c:v>Rest of South Asia</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9.883183836457372</c:v>
                </c:pt>
                <c:pt idx="1">
                  <c:v>9.606256571046842</c:v>
                </c:pt>
              </c:numCache>
            </c:numRef>
          </c:val>
        </c:ser>
        <c:ser>
          <c:idx val="3"/>
          <c:order val="3"/>
          <c:tx>
            <c:strRef>
              <c:f>Sheet1!$E$1</c:f>
              <c:strCache>
                <c:ptCount val="1"/>
                <c:pt idx="0">
                  <c:v>Australia</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11.459854377129462</c:v>
                </c:pt>
                <c:pt idx="1">
                  <c:v>8.89077034943735</c:v>
                </c:pt>
              </c:numCache>
            </c:numRef>
          </c:val>
        </c:ser>
        <c:ser>
          <c:idx val="4"/>
          <c:order val="4"/>
          <c:tx>
            <c:strRef>
              <c:f>Sheet1!$F$1</c:f>
              <c:strCache>
                <c:ptCount val="1"/>
                <c:pt idx="0">
                  <c:v>Thailand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8.056855168486125</c:v>
                </c:pt>
                <c:pt idx="1">
                  <c:v>7.535771051363148</c:v>
                </c:pt>
              </c:numCache>
            </c:numRef>
          </c:val>
        </c:ser>
        <c:ser>
          <c:idx val="5"/>
          <c:order val="5"/>
          <c:tx>
            <c:strRef>
              <c:f>Sheet1!$G$1</c:f>
              <c:strCache>
                <c:ptCount val="1"/>
                <c:pt idx="0">
                  <c:v>Philippines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6.454357924989984</c:v>
                </c:pt>
                <c:pt idx="1">
                  <c:v>7.102098258311301</c:v>
                </c:pt>
              </c:numCache>
            </c:numRef>
          </c:val>
        </c:ser>
        <c:ser>
          <c:idx val="6"/>
          <c:order val="6"/>
          <c:tx>
            <c:strRef>
              <c:f>Sheet1!$H$1</c:f>
              <c:strCache>
                <c:ptCount val="1"/>
                <c:pt idx="0">
                  <c:v>Malaysia</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Sheet1!$H$2:$H$3</c:f>
              <c:numCache>
                <c:formatCode>General</c:formatCode>
                <c:ptCount val="2"/>
                <c:pt idx="0">
                  <c:v>4.6898643435878595</c:v>
                </c:pt>
                <c:pt idx="1">
                  <c:v>4.559562206924247</c:v>
                </c:pt>
              </c:numCache>
            </c:numRef>
          </c:val>
        </c:ser>
        <c:ser>
          <c:idx val="7"/>
          <c:order val="7"/>
          <c:tx>
            <c:strRef>
              <c:f>Sheet1!$I$1</c:f>
              <c:strCache>
                <c:ptCount val="1"/>
                <c:pt idx="0">
                  <c:v>Singapore</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Sheet1!$I$2:$I$3</c:f>
              <c:numCache>
                <c:formatCode>General</c:formatCode>
                <c:ptCount val="2"/>
                <c:pt idx="0">
                  <c:v>2.5527046848976704</c:v>
                </c:pt>
                <c:pt idx="1">
                  <c:v>2.048145590276133</c:v>
                </c:pt>
              </c:numCache>
            </c:numRef>
          </c:val>
        </c:ser>
        <c:ser>
          <c:idx val="8"/>
          <c:order val="8"/>
          <c:tx>
            <c:strRef>
              <c:f>Sheet1!$J$1</c:f>
              <c:strCache>
                <c:ptCount val="1"/>
                <c:pt idx="0">
                  <c:v>New Zealand</c:v>
                </c:pt>
              </c:strCache>
            </c:strRef>
          </c:tx>
          <c:spPr>
            <a:solidFill>
              <a:srgbClr val="0B2E4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Sheet1!$J$2:$J$3</c:f>
              <c:numCache>
                <c:formatCode>General</c:formatCode>
                <c:ptCount val="2"/>
                <c:pt idx="0">
                  <c:v>2.0494150914033504</c:v>
                </c:pt>
                <c:pt idx="1">
                  <c:v>1.524504599026518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India</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27.70034095542056</c:v>
                </c:pt>
                <c:pt idx="1">
                  <c:v>31.550873311909385</c:v>
                </c:pt>
              </c:numCache>
            </c:numRef>
          </c:val>
        </c:ser>
        <c:ser>
          <c:idx val="1"/>
          <c:order val="1"/>
          <c:tx>
            <c:strRef>
              <c:f>Sheet1!$C$1</c:f>
              <c:strCache>
                <c:ptCount val="1"/>
                <c:pt idx="0">
                  <c:v>Australia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23.869533447850987</c:v>
                </c:pt>
                <c:pt idx="1">
                  <c:v>19.21410809877854</c:v>
                </c:pt>
              </c:numCache>
            </c:numRef>
          </c:val>
        </c:ser>
        <c:ser>
          <c:idx val="2"/>
          <c:order val="2"/>
          <c:tx>
            <c:strRef>
              <c:f>Sheet1!$D$1</c:f>
              <c:strCache>
                <c:ptCount val="1"/>
                <c:pt idx="0">
                  <c:v>Indonesia</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11.779733085776433</c:v>
                </c:pt>
                <c:pt idx="1">
                  <c:v>13.388758815109322</c:v>
                </c:pt>
              </c:numCache>
            </c:numRef>
          </c:val>
        </c:ser>
        <c:ser>
          <c:idx val="3"/>
          <c:order val="3"/>
          <c:tx>
            <c:strRef>
              <c:f>Sheet1!$E$1</c:f>
              <c:strCache>
                <c:ptCount val="1"/>
                <c:pt idx="0">
                  <c:v>Rest of South Asia</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8.239341896181955</c:v>
                </c:pt>
                <c:pt idx="1">
                  <c:v>8.376604111945756</c:v>
                </c:pt>
              </c:numCache>
            </c:numRef>
          </c:val>
        </c:ser>
        <c:ser>
          <c:idx val="4"/>
          <c:order val="4"/>
          <c:tx>
            <c:strRef>
              <c:f>Sheet1!$F$1</c:f>
              <c:strCache>
                <c:ptCount val="1"/>
                <c:pt idx="0">
                  <c:v>Thailand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8.09009625581482</c:v>
                </c:pt>
                <c:pt idx="1">
                  <c:v>8.078735009442466</c:v>
                </c:pt>
              </c:numCache>
            </c:numRef>
          </c:val>
        </c:ser>
        <c:ser>
          <c:idx val="5"/>
          <c:order val="5"/>
          <c:tx>
            <c:strRef>
              <c:f>Sheet1!$G$1</c:f>
              <c:strCache>
                <c:ptCount val="1"/>
                <c:pt idx="0">
                  <c:v>Philippines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5.407232230282127</c:v>
                </c:pt>
                <c:pt idx="1">
                  <c:v>6.341629215404566</c:v>
                </c:pt>
              </c:numCache>
            </c:numRef>
          </c:val>
        </c:ser>
        <c:ser>
          <c:idx val="6"/>
          <c:order val="6"/>
          <c:tx>
            <c:strRef>
              <c:f>Sheet1!$H$1</c:f>
              <c:strCache>
                <c:ptCount val="1"/>
                <c:pt idx="0">
                  <c:v>Malaysia</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Sheet1!$H$2:$H$3</c:f>
              <c:numCache>
                <c:formatCode>General</c:formatCode>
                <c:ptCount val="2"/>
                <c:pt idx="0">
                  <c:v>5.052272678504675</c:v>
                </c:pt>
                <c:pt idx="1">
                  <c:v>5.017324660883914</c:v>
                </c:pt>
              </c:numCache>
            </c:numRef>
          </c:val>
        </c:ser>
        <c:ser>
          <c:idx val="7"/>
          <c:order val="7"/>
          <c:tx>
            <c:strRef>
              <c:f>Sheet1!$I$1</c:f>
              <c:strCache>
                <c:ptCount val="1"/>
                <c:pt idx="0">
                  <c:v>Singapore</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Sheet1!$I$2:$I$3</c:f>
              <c:numCache>
                <c:formatCode>General</c:formatCode>
                <c:ptCount val="2"/>
                <c:pt idx="0">
                  <c:v>5.6423096426349</c:v>
                </c:pt>
                <c:pt idx="1">
                  <c:v>4.803235386054</c:v>
                </c:pt>
              </c:numCache>
            </c:numRef>
          </c:val>
        </c:ser>
        <c:ser>
          <c:idx val="8"/>
          <c:order val="8"/>
          <c:tx>
            <c:strRef>
              <c:f>Sheet1!$J$1</c:f>
              <c:strCache>
                <c:ptCount val="1"/>
                <c:pt idx="0">
                  <c:v>New Zealand</c:v>
                </c:pt>
              </c:strCache>
            </c:strRef>
          </c:tx>
          <c:spPr>
            <a:solidFill>
              <a:srgbClr val="0B2E4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Sheet1!$J$2:$J$3</c:f>
              <c:numCache>
                <c:formatCode>General</c:formatCode>
                <c:ptCount val="2"/>
                <c:pt idx="0">
                  <c:v>4.219139807533545</c:v>
                </c:pt>
                <c:pt idx="1">
                  <c:v>3.2287313904720603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India</c:v>
                </c:pt>
              </c:strCache>
            </c:strRef>
          </c:tx>
          <c:spPr>
            <a:solidFill>
              <a:srgbClr val="3D85C6"/>
            </a:solidFill>
            <a:ln>
              <a:noFill/>
            </a:ln>
          </c:spPr>
          <c:dLbls>
            <c:dLbl>
              <c:idx val="0"/>
              <c:tx>
                <c:rich>
                  <a:bodyPr/>
                  <a:lstStyle/>
                  <a:p>
                    <a:r>
                      <a:rPr sz="1100">
                        <a:solidFill>
                          <a:srgbClr val="FFFFFF"/>
                        </a:solidFill>
                        <a:latin typeface="Calibri"/>
                      </a:rPr>
                      <a:t>364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385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407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431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455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483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514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550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590</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635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684</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737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795</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856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920</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987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364.452</c:v>
                </c:pt>
                <c:pt idx="1">
                  <c:v>385.401</c:v>
                </c:pt>
                <c:pt idx="2">
                  <c:v>407.428</c:v>
                </c:pt>
                <c:pt idx="3">
                  <c:v>430.509</c:v>
                </c:pt>
                <c:pt idx="4">
                  <c:v>455.226</c:v>
                </c:pt>
                <c:pt idx="5">
                  <c:v>482.912</c:v>
                </c:pt>
                <c:pt idx="6">
                  <c:v>514.218</c:v>
                </c:pt>
                <c:pt idx="7">
                  <c:v>549.809</c:v>
                </c:pt>
                <c:pt idx="8">
                  <c:v>590.008</c:v>
                </c:pt>
                <c:pt idx="9">
                  <c:v>634.786</c:v>
                </c:pt>
                <c:pt idx="10">
                  <c:v>683.892</c:v>
                </c:pt>
                <c:pt idx="11">
                  <c:v>737.275</c:v>
                </c:pt>
                <c:pt idx="12">
                  <c:v>794.638</c:v>
                </c:pt>
                <c:pt idx="13">
                  <c:v>855.758</c:v>
                </c:pt>
                <c:pt idx="14">
                  <c:v>919.938</c:v>
                </c:pt>
                <c:pt idx="15">
                  <c:v>987.239</c:v>
                </c:pt>
              </c:numCache>
            </c:numRef>
          </c:val>
        </c:ser>
        <c:ser>
          <c:idx val="1"/>
          <c:order val="1"/>
          <c:tx>
            <c:strRef>
              <c:f>Sheet1!$C$1</c:f>
              <c:strCache>
                <c:ptCount val="1"/>
                <c:pt idx="0">
                  <c:v>Indonesia</c:v>
                </c:pt>
              </c:strCache>
            </c:strRef>
          </c:tx>
          <c:spPr>
            <a:solidFill>
              <a:srgbClr val="9E7E0A"/>
            </a:solidFill>
            <a:ln>
              <a:noFill/>
            </a:ln>
          </c:spPr>
          <c:dLbls>
            <c:dLbl>
              <c:idx val="1"/>
              <c:tx>
                <c:rich>
                  <a:bodyPr/>
                  <a:lstStyle/>
                  <a:p>
                    <a:r>
                      <a:rPr sz="1100">
                        <a:solidFill>
                          <a:srgbClr val="FFFFFF"/>
                        </a:solidFill>
                        <a:latin typeface="Calibri"/>
                      </a:rPr>
                      <a:t>144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180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191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219</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235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253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273</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294</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316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339</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364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136.776</c:v>
                </c:pt>
                <c:pt idx="1">
                  <c:v>144.393</c:v>
                </c:pt>
                <c:pt idx="2">
                  <c:v>152.385</c:v>
                </c:pt>
                <c:pt idx="3">
                  <c:v>160.753</c:v>
                </c:pt>
                <c:pt idx="4">
                  <c:v>169.706</c:v>
                </c:pt>
                <c:pt idx="5">
                  <c:v>179.75</c:v>
                </c:pt>
                <c:pt idx="6">
                  <c:v>191.126</c:v>
                </c:pt>
                <c:pt idx="7">
                  <c:v>204.082</c:v>
                </c:pt>
                <c:pt idx="8">
                  <c:v>218.743</c:v>
                </c:pt>
                <c:pt idx="9">
                  <c:v>235.111</c:v>
                </c:pt>
                <c:pt idx="10">
                  <c:v>253.088</c:v>
                </c:pt>
                <c:pt idx="11">
                  <c:v>272.644</c:v>
                </c:pt>
                <c:pt idx="12">
                  <c:v>293.646</c:v>
                </c:pt>
                <c:pt idx="13">
                  <c:v>316.012</c:v>
                </c:pt>
                <c:pt idx="14">
                  <c:v>339.489</c:v>
                </c:pt>
                <c:pt idx="15">
                  <c:v>364.095</c:v>
                </c:pt>
              </c:numCache>
            </c:numRef>
          </c:val>
        </c:ser>
        <c:ser>
          <c:idx val="2"/>
          <c:order val="2"/>
          <c:tx>
            <c:strRef>
              <c:f>Sheet1!$D$1</c:f>
              <c:strCache>
                <c:ptCount val="1"/>
                <c:pt idx="0">
                  <c:v>Australia</c:v>
                </c:pt>
              </c:strCache>
            </c:strRef>
          </c:tx>
          <c:spPr>
            <a:solidFill>
              <a:srgbClr val="008189"/>
            </a:solidFill>
            <a:ln>
              <a:noFill/>
            </a:ln>
          </c:spPr>
          <c:dLbls>
            <c:dLbl>
              <c:idx val="5"/>
              <c:tx>
                <c:rich>
                  <a:bodyPr/>
                  <a:lstStyle/>
                  <a:p>
                    <a:r>
                      <a:rPr sz="1100">
                        <a:solidFill>
                          <a:srgbClr val="FFFFFF"/>
                        </a:solidFill>
                        <a:latin typeface="Calibri"/>
                      </a:rPr>
                      <a:t>138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143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148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154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160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167</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174</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182</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189</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197</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205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119.281</c:v>
                </c:pt>
                <c:pt idx="1">
                  <c:v>122.853</c:v>
                </c:pt>
                <c:pt idx="2">
                  <c:v>126.512</c:v>
                </c:pt>
                <c:pt idx="3">
                  <c:v>130.251</c:v>
                </c:pt>
                <c:pt idx="4">
                  <c:v>134.16</c:v>
                </c:pt>
                <c:pt idx="5">
                  <c:v>138.441</c:v>
                </c:pt>
                <c:pt idx="6">
                  <c:v>143.166</c:v>
                </c:pt>
                <c:pt idx="7">
                  <c:v>148.4</c:v>
                </c:pt>
                <c:pt idx="8">
                  <c:v>154.171</c:v>
                </c:pt>
                <c:pt idx="9">
                  <c:v>160.45</c:v>
                </c:pt>
                <c:pt idx="10">
                  <c:v>167.151</c:v>
                </c:pt>
                <c:pt idx="11">
                  <c:v>174.213</c:v>
                </c:pt>
                <c:pt idx="12">
                  <c:v>181.541</c:v>
                </c:pt>
                <c:pt idx="13">
                  <c:v>189.089</c:v>
                </c:pt>
                <c:pt idx="14">
                  <c:v>196.762</c:v>
                </c:pt>
                <c:pt idx="15">
                  <c:v>204.56</c:v>
                </c:pt>
              </c:numCache>
            </c:numRef>
          </c:val>
        </c:ser>
        <c:ser>
          <c:idx val="3"/>
          <c:order val="3"/>
          <c:tx>
            <c:strRef>
              <c:f>Sheet1!$E$1</c:f>
              <c:strCache>
                <c:ptCount val="1"/>
                <c:pt idx="0">
                  <c:v>Rest of South Asia</c:v>
                </c:pt>
              </c:strCache>
            </c:strRef>
          </c:tx>
          <c:spPr>
            <a:solidFill>
              <a:srgbClr val="40315E"/>
            </a:solidFill>
            <a:ln>
              <a:noFill/>
            </a:ln>
          </c:spPr>
          <c:dLbls>
            <c:dLbl>
              <c:idx val="8"/>
              <c:tx>
                <c:rich>
                  <a:bodyPr/>
                  <a:lstStyle/>
                  <a:p>
                    <a:r>
                      <a:rPr sz="1100">
                        <a:solidFill>
                          <a:srgbClr val="FFFFFF"/>
                        </a:solidFill>
                        <a:latin typeface="Calibri"/>
                      </a:rPr>
                      <a:t>142</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151</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161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172</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183</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195</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208</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93.915</c:v>
                </c:pt>
                <c:pt idx="1">
                  <c:v>98.494</c:v>
                </c:pt>
                <c:pt idx="2">
                  <c:v>103.271</c:v>
                </c:pt>
                <c:pt idx="3">
                  <c:v>108.239</c:v>
                </c:pt>
                <c:pt idx="4">
                  <c:v>113.52</c:v>
                </c:pt>
                <c:pt idx="5">
                  <c:v>119.394</c:v>
                </c:pt>
                <c:pt idx="6">
                  <c:v>125.988</c:v>
                </c:pt>
                <c:pt idx="7">
                  <c:v>133.428</c:v>
                </c:pt>
                <c:pt idx="8">
                  <c:v>141.768</c:v>
                </c:pt>
                <c:pt idx="9">
                  <c:v>150.987</c:v>
                </c:pt>
                <c:pt idx="10">
                  <c:v>161.012</c:v>
                </c:pt>
                <c:pt idx="11">
                  <c:v>171.806</c:v>
                </c:pt>
                <c:pt idx="12">
                  <c:v>183.283</c:v>
                </c:pt>
                <c:pt idx="13">
                  <c:v>195.384</c:v>
                </c:pt>
                <c:pt idx="14">
                  <c:v>207.962</c:v>
                </c:pt>
                <c:pt idx="15">
                  <c:v>221.022</c:v>
                </c:pt>
              </c:numCache>
            </c:numRef>
          </c:val>
        </c:ser>
        <c:ser>
          <c:idx val="4"/>
          <c:order val="4"/>
          <c:tx>
            <c:strRef>
              <c:f>Sheet1!$F$1</c:f>
              <c:strCache>
                <c:ptCount val="1"/>
                <c:pt idx="0">
                  <c:v>Thailand</c:v>
                </c:pt>
              </c:strCache>
            </c:strRef>
          </c:tx>
          <c:spPr>
            <a:solidFill>
              <a:srgbClr val="A35313"/>
            </a:solidFill>
            <a:ln>
              <a:noFill/>
            </a:ln>
          </c:spPr>
          <c:dLbls>
            <c:dLbl>
              <c:idx val="12"/>
              <c:tx>
                <c:rich>
                  <a:bodyPr/>
                  <a:lstStyle/>
                  <a:p>
                    <a:r>
                      <a:rPr sz="1100">
                        <a:solidFill>
                          <a:srgbClr val="FFFFFF"/>
                        </a:solidFill>
                        <a:latin typeface="Calibri"/>
                      </a:rPr>
                      <a:t>145</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154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164</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173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77.886</c:v>
                </c:pt>
                <c:pt idx="1">
                  <c:v>81.419</c:v>
                </c:pt>
                <c:pt idx="2">
                  <c:v>85.083</c:v>
                </c:pt>
                <c:pt idx="3">
                  <c:v>88.872</c:v>
                </c:pt>
                <c:pt idx="4">
                  <c:v>92.88</c:v>
                </c:pt>
                <c:pt idx="5">
                  <c:v>97.331</c:v>
                </c:pt>
                <c:pt idx="6">
                  <c:v>102.319</c:v>
                </c:pt>
                <c:pt idx="7">
                  <c:v>107.938</c:v>
                </c:pt>
                <c:pt idx="8">
                  <c:v>114.239</c:v>
                </c:pt>
                <c:pt idx="9">
                  <c:v>121.206</c:v>
                </c:pt>
                <c:pt idx="10">
                  <c:v>128.763</c:v>
                </c:pt>
                <c:pt idx="11">
                  <c:v>136.869</c:v>
                </c:pt>
                <c:pt idx="12">
                  <c:v>145.438</c:v>
                </c:pt>
                <c:pt idx="13">
                  <c:v>154.431</c:v>
                </c:pt>
                <c:pt idx="14">
                  <c:v>163.746</c:v>
                </c:pt>
                <c:pt idx="15">
                  <c:v>173.384</c:v>
                </c:pt>
              </c:numCache>
            </c:numRef>
          </c:val>
        </c:ser>
        <c:ser>
          <c:idx val="5"/>
          <c:order val="5"/>
          <c:tx>
            <c:strRef>
              <c:f>Sheet1!$G$1</c:f>
              <c:strCache>
                <c:ptCount val="1"/>
                <c:pt idx="0">
                  <c:v>Philippines</c:v>
                </c:pt>
              </c:strCache>
            </c:strRef>
          </c:tx>
          <c:spPr>
            <a:solidFill>
              <a:srgbClr val="808080"/>
            </a:solidFill>
            <a:ln>
              <a:noFill/>
            </a:ln>
          </c:spPr>
          <c:dLbls>
            <c:dLbl>
              <c:idx val="13"/>
              <c:tx>
                <c:rich>
                  <a:bodyPr/>
                  <a:lstStyle/>
                  <a:p>
                    <a:r>
                      <a:rPr sz="1100">
                        <a:solidFill>
                          <a:srgbClr val="FFFFFF"/>
                        </a:solidFill>
                        <a:latin typeface="Calibri"/>
                      </a:rPr>
                      <a:t>141</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152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163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58.428</c:v>
                </c:pt>
                <c:pt idx="1">
                  <c:v>61.876</c:v>
                </c:pt>
                <c:pt idx="2">
                  <c:v>65.503</c:v>
                </c:pt>
                <c:pt idx="3">
                  <c:v>69.307</c:v>
                </c:pt>
                <c:pt idx="4">
                  <c:v>73.386</c:v>
                </c:pt>
                <c:pt idx="5">
                  <c:v>77.972</c:v>
                </c:pt>
                <c:pt idx="6">
                  <c:v>83.176</c:v>
                </c:pt>
                <c:pt idx="7">
                  <c:v>89.117</c:v>
                </c:pt>
                <c:pt idx="8">
                  <c:v>95.86</c:v>
                </c:pt>
                <c:pt idx="9">
                  <c:v>103.409</c:v>
                </c:pt>
                <c:pt idx="10">
                  <c:v>111.717</c:v>
                </c:pt>
                <c:pt idx="11">
                  <c:v>120.772</c:v>
                </c:pt>
                <c:pt idx="12">
                  <c:v>130.52</c:v>
                </c:pt>
                <c:pt idx="13">
                  <c:v>140.928</c:v>
                </c:pt>
                <c:pt idx="14">
                  <c:v>151.886</c:v>
                </c:pt>
                <c:pt idx="15">
                  <c:v>163.406</c:v>
                </c:pt>
              </c:numCache>
            </c:numRef>
          </c:val>
        </c:ser>
        <c:ser>
          <c:idx val="6"/>
          <c:order val="6"/>
          <c:tx>
            <c:strRef>
              <c:f>Sheet1!$H$1</c:f>
              <c:strCache>
                <c:ptCount val="1"/>
                <c:pt idx="0">
                  <c:v>Malaysia</c:v>
                </c:pt>
              </c:strCache>
            </c:strRef>
          </c:tx>
          <c:spPr>
            <a:solidFill>
              <a:srgbClr val="0E72AE"/>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Sheet1!$H$2:$H$17</c:f>
              <c:numCache>
                <c:formatCode>General</c:formatCode>
                <c:ptCount val="16"/>
                <c:pt idx="0">
                  <c:v>44.669</c:v>
                </c:pt>
                <c:pt idx="1">
                  <c:v>46.828</c:v>
                </c:pt>
                <c:pt idx="2">
                  <c:v>49.077</c:v>
                </c:pt>
                <c:pt idx="3">
                  <c:v>51.412</c:v>
                </c:pt>
                <c:pt idx="4">
                  <c:v>53.893</c:v>
                </c:pt>
                <c:pt idx="5">
                  <c:v>56.656</c:v>
                </c:pt>
                <c:pt idx="6">
                  <c:v>59.761</c:v>
                </c:pt>
                <c:pt idx="7">
                  <c:v>63.268</c:v>
                </c:pt>
                <c:pt idx="8">
                  <c:v>67.207</c:v>
                </c:pt>
                <c:pt idx="9">
                  <c:v>71.572</c:v>
                </c:pt>
                <c:pt idx="10">
                  <c:v>76.328</c:v>
                </c:pt>
                <c:pt idx="11">
                  <c:v>81.459</c:v>
                </c:pt>
                <c:pt idx="12">
                  <c:v>86.921</c:v>
                </c:pt>
                <c:pt idx="13">
                  <c:v>92.685</c:v>
                </c:pt>
                <c:pt idx="14">
                  <c:v>98.679</c:v>
                </c:pt>
                <c:pt idx="15">
                  <c:v>104.907</c:v>
                </c:pt>
              </c:numCache>
            </c:numRef>
          </c:val>
        </c:ser>
        <c:ser>
          <c:idx val="7"/>
          <c:order val="7"/>
          <c:tx>
            <c:strRef>
              <c:f>Sheet1!$I$1</c:f>
              <c:strCache>
                <c:ptCount val="1"/>
                <c:pt idx="0">
                  <c:v>Singapore</c:v>
                </c:pt>
              </c:strCache>
            </c:strRef>
          </c:tx>
          <c:spPr>
            <a:solidFill>
              <a:srgbClr val="A86F00"/>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Sheet1!$I$2:$I$17</c:f>
              <c:numCache>
                <c:formatCode>General</c:formatCode>
                <c:ptCount val="16"/>
                <c:pt idx="0">
                  <c:v>26.291</c:v>
                </c:pt>
                <c:pt idx="1">
                  <c:v>27.131</c:v>
                </c:pt>
                <c:pt idx="2">
                  <c:v>27.995</c:v>
                </c:pt>
                <c:pt idx="3">
                  <c:v>28.882</c:v>
                </c:pt>
                <c:pt idx="4">
                  <c:v>29.813</c:v>
                </c:pt>
                <c:pt idx="5">
                  <c:v>30.838</c:v>
                </c:pt>
                <c:pt idx="6">
                  <c:v>31.972</c:v>
                </c:pt>
                <c:pt idx="7">
                  <c:v>33.233</c:v>
                </c:pt>
                <c:pt idx="8">
                  <c:v>34.628</c:v>
                </c:pt>
                <c:pt idx="9">
                  <c:v>36.155</c:v>
                </c:pt>
                <c:pt idx="10">
                  <c:v>37.796</c:v>
                </c:pt>
                <c:pt idx="11">
                  <c:v>39.538</c:v>
                </c:pt>
                <c:pt idx="12">
                  <c:v>41.357</c:v>
                </c:pt>
                <c:pt idx="13">
                  <c:v>43.24</c:v>
                </c:pt>
                <c:pt idx="14">
                  <c:v>45.163</c:v>
                </c:pt>
                <c:pt idx="15">
                  <c:v>47.124</c:v>
                </c:pt>
              </c:numCache>
            </c:numRef>
          </c:val>
        </c:ser>
        <c:ser>
          <c:idx val="8"/>
          <c:order val="8"/>
          <c:tx>
            <c:strRef>
              <c:f>Sheet1!$J$1</c:f>
              <c:strCache>
                <c:ptCount val="1"/>
                <c:pt idx="0">
                  <c:v>New Zealand</c:v>
                </c:pt>
              </c:strCache>
            </c:strRef>
          </c:tx>
          <c:spPr>
            <a:solidFill>
              <a:srgbClr val="0B2E4A"/>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Sheet1!$J$2:$J$17</c:f>
              <c:numCache>
                <c:formatCode>General</c:formatCode>
                <c:ptCount val="16"/>
                <c:pt idx="0">
                  <c:v>21.709</c:v>
                </c:pt>
                <c:pt idx="1">
                  <c:v>22.281</c:v>
                </c:pt>
                <c:pt idx="2">
                  <c:v>22.865</c:v>
                </c:pt>
                <c:pt idx="3">
                  <c:v>23.46</c:v>
                </c:pt>
                <c:pt idx="4">
                  <c:v>24.08</c:v>
                </c:pt>
                <c:pt idx="5">
                  <c:v>24.758</c:v>
                </c:pt>
                <c:pt idx="6">
                  <c:v>25.504</c:v>
                </c:pt>
                <c:pt idx="7">
                  <c:v>26.328</c:v>
                </c:pt>
                <c:pt idx="8">
                  <c:v>27.235</c:v>
                </c:pt>
                <c:pt idx="9">
                  <c:v>28.22</c:v>
                </c:pt>
                <c:pt idx="10">
                  <c:v>29.269</c:v>
                </c:pt>
                <c:pt idx="11">
                  <c:v>30.372</c:v>
                </c:pt>
                <c:pt idx="12">
                  <c:v>31.513</c:v>
                </c:pt>
                <c:pt idx="13">
                  <c:v>32.685</c:v>
                </c:pt>
                <c:pt idx="14">
                  <c:v>33.873</c:v>
                </c:pt>
                <c:pt idx="15">
                  <c:v>35.076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India</c:v>
                </c:pt>
              </c:strCache>
            </c:strRef>
          </c:tx>
          <c:spPr>
            <a:solidFill>
              <a:srgbClr val="3D85C6"/>
            </a:solidFill>
            <a:ln>
              <a:noFill/>
            </a:ln>
          </c:spPr>
          <c:dLbls>
            <c:dLbl>
              <c:idx val="0"/>
              <c:tx>
                <c:rich>
                  <a:bodyPr/>
                  <a:lstStyle/>
                  <a:p>
                    <a:r>
                      <a:rPr sz="1100">
                        <a:solidFill>
                          <a:srgbClr val="FFFFFF"/>
                        </a:solidFill>
                        <a:latin typeface="Calibri"/>
                      </a:rPr>
                      <a:t>357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380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404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430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457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491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529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573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624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682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748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821</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902</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990</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1,086</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1,190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357.433</c:v>
                </c:pt>
                <c:pt idx="1">
                  <c:v>380.031</c:v>
                </c:pt>
                <c:pt idx="2">
                  <c:v>403.991</c:v>
                </c:pt>
                <c:pt idx="3">
                  <c:v>429.565</c:v>
                </c:pt>
                <c:pt idx="4">
                  <c:v>457.185</c:v>
                </c:pt>
                <c:pt idx="5">
                  <c:v>490.547</c:v>
                </c:pt>
                <c:pt idx="6">
                  <c:v>528.857</c:v>
                </c:pt>
                <c:pt idx="7">
                  <c:v>573.108</c:v>
                </c:pt>
                <c:pt idx="8">
                  <c:v>624.083</c:v>
                </c:pt>
                <c:pt idx="9">
                  <c:v>682.287</c:v>
                </c:pt>
                <c:pt idx="10">
                  <c:v>747.767</c:v>
                </c:pt>
                <c:pt idx="11">
                  <c:v>820.875</c:v>
                </c:pt>
                <c:pt idx="12">
                  <c:v>901.513</c:v>
                </c:pt>
                <c:pt idx="13">
                  <c:v>989.88</c:v>
                </c:pt>
                <c:pt idx="14">
                  <c:v>1085.863</c:v>
                </c:pt>
                <c:pt idx="15">
                  <c:v>1190.033</c:v>
                </c:pt>
              </c:numCache>
            </c:numRef>
          </c:val>
        </c:ser>
        <c:ser>
          <c:idx val="1"/>
          <c:order val="1"/>
          <c:tx>
            <c:strRef>
              <c:f>Sheet1!$C$1</c:f>
              <c:strCache>
                <c:ptCount val="1"/>
                <c:pt idx="0">
                  <c:v>Australia</c:v>
                </c:pt>
              </c:strCache>
            </c:strRef>
          </c:tx>
          <c:spPr>
            <a:solidFill>
              <a:srgbClr val="9E7E0A"/>
            </a:solidFill>
            <a:ln>
              <a:noFill/>
            </a:ln>
          </c:spPr>
          <c:dLbls>
            <c:dLbl>
              <c:idx val="0"/>
              <c:tx>
                <c:rich>
                  <a:bodyPr/>
                  <a:lstStyle/>
                  <a:p>
                    <a:r>
                      <a:rPr sz="1100">
                        <a:solidFill>
                          <a:srgbClr val="FFFFFF"/>
                        </a:solidFill>
                        <a:latin typeface="Calibri"/>
                      </a:rPr>
                      <a:t>353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365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378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392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406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423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442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463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487</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514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543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575</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609</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646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684</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725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352.92</c:v>
                </c:pt>
                <c:pt idx="1">
                  <c:v>365.277</c:v>
                </c:pt>
                <c:pt idx="2">
                  <c:v>378.103</c:v>
                </c:pt>
                <c:pt idx="3">
                  <c:v>391.545</c:v>
                </c:pt>
                <c:pt idx="4">
                  <c:v>405.722</c:v>
                </c:pt>
                <c:pt idx="5">
                  <c:v>422.707</c:v>
                </c:pt>
                <c:pt idx="6">
                  <c:v>441.692</c:v>
                </c:pt>
                <c:pt idx="7">
                  <c:v>463.059</c:v>
                </c:pt>
                <c:pt idx="8">
                  <c:v>487.051</c:v>
                </c:pt>
                <c:pt idx="9">
                  <c:v>513.813</c:v>
                </c:pt>
                <c:pt idx="10">
                  <c:v>543.19</c:v>
                </c:pt>
                <c:pt idx="11">
                  <c:v>575.082</c:v>
                </c:pt>
                <c:pt idx="12">
                  <c:v>609.279</c:v>
                </c:pt>
                <c:pt idx="13">
                  <c:v>645.683</c:v>
                </c:pt>
                <c:pt idx="14">
                  <c:v>684.13</c:v>
                </c:pt>
                <c:pt idx="15">
                  <c:v>724.716</c:v>
                </c:pt>
              </c:numCache>
            </c:numRef>
          </c:val>
        </c:ser>
        <c:ser>
          <c:idx val="2"/>
          <c:order val="2"/>
          <c:tx>
            <c:strRef>
              <c:f>Sheet1!$D$1</c:f>
              <c:strCache>
                <c:ptCount val="1"/>
                <c:pt idx="0">
                  <c:v>Indonesia</c:v>
                </c:pt>
              </c:strCache>
            </c:strRef>
          </c:tx>
          <c:spPr>
            <a:solidFill>
              <a:srgbClr val="008189"/>
            </a:solidFill>
            <a:ln>
              <a:noFill/>
            </a:ln>
          </c:spPr>
          <c:dLbls>
            <c:dLbl>
              <c:idx val="7"/>
              <c:tx>
                <c:rich>
                  <a:bodyPr/>
                  <a:lstStyle/>
                  <a:p>
                    <a:r>
                      <a:rPr sz="1100">
                        <a:solidFill>
                          <a:srgbClr val="FFFFFF"/>
                        </a:solidFill>
                        <a:latin typeface="Calibri"/>
                      </a:rPr>
                      <a:t>243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265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289</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317</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348</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382</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420</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461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505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152.94</c:v>
                </c:pt>
                <c:pt idx="1">
                  <c:v>162.366</c:v>
                </c:pt>
                <c:pt idx="2">
                  <c:v>172.364</c:v>
                </c:pt>
                <c:pt idx="3">
                  <c:v>183.066</c:v>
                </c:pt>
                <c:pt idx="4">
                  <c:v>194.626</c:v>
                </c:pt>
                <c:pt idx="5">
                  <c:v>208.608</c:v>
                </c:pt>
                <c:pt idx="6">
                  <c:v>224.698</c:v>
                </c:pt>
                <c:pt idx="7">
                  <c:v>243.287</c:v>
                </c:pt>
                <c:pt idx="8">
                  <c:v>264.736</c:v>
                </c:pt>
                <c:pt idx="9">
                  <c:v>289.253</c:v>
                </c:pt>
                <c:pt idx="10">
                  <c:v>316.922</c:v>
                </c:pt>
                <c:pt idx="11">
                  <c:v>347.923</c:v>
                </c:pt>
                <c:pt idx="12">
                  <c:v>382.161</c:v>
                </c:pt>
                <c:pt idx="13">
                  <c:v>419.786</c:v>
                </c:pt>
                <c:pt idx="14">
                  <c:v>460.657</c:v>
                </c:pt>
                <c:pt idx="15">
                  <c:v>504.996</c:v>
                </c:pt>
              </c:numCache>
            </c:numRef>
          </c:val>
        </c:ser>
        <c:ser>
          <c:idx val="3"/>
          <c:order val="3"/>
          <c:tx>
            <c:strRef>
              <c:f>Sheet1!$E$1</c:f>
              <c:strCache>
                <c:ptCount val="1"/>
                <c:pt idx="0">
                  <c:v>Rest of South Asia</c:v>
                </c:pt>
              </c:strCache>
            </c:strRef>
          </c:tx>
          <c:spPr>
            <a:solidFill>
              <a:srgbClr val="40315E"/>
            </a:solidFill>
            <a:ln>
              <a:noFill/>
            </a:ln>
          </c:spPr>
          <c:dLbls>
            <c:dLbl>
              <c:idx val="11"/>
              <c:tx>
                <c:rich>
                  <a:bodyPr/>
                  <a:lstStyle/>
                  <a:p>
                    <a:r>
                      <a:rPr sz="1100">
                        <a:solidFill>
                          <a:srgbClr val="FFFFFF"/>
                        </a:solidFill>
                        <a:latin typeface="Calibri"/>
                      </a:rPr>
                      <a:t>228</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248</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269</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291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111.24</c:v>
                </c:pt>
                <c:pt idx="1">
                  <c:v>117.211</c:v>
                </c:pt>
                <c:pt idx="2">
                  <c:v>123.498</c:v>
                </c:pt>
                <c:pt idx="3">
                  <c:v>130.163</c:v>
                </c:pt>
                <c:pt idx="4">
                  <c:v>137.316</c:v>
                </c:pt>
                <c:pt idx="5">
                  <c:v>145.911</c:v>
                </c:pt>
                <c:pt idx="6">
                  <c:v>155.734</c:v>
                </c:pt>
                <c:pt idx="7">
                  <c:v>166.983</c:v>
                </c:pt>
                <c:pt idx="8">
                  <c:v>179.783</c:v>
                </c:pt>
                <c:pt idx="9">
                  <c:v>194.277</c:v>
                </c:pt>
                <c:pt idx="10">
                  <c:v>210.397</c:v>
                </c:pt>
                <c:pt idx="11">
                  <c:v>228.192</c:v>
                </c:pt>
                <c:pt idx="12">
                  <c:v>247.624</c:v>
                </c:pt>
                <c:pt idx="13">
                  <c:v>268.743</c:v>
                </c:pt>
                <c:pt idx="14">
                  <c:v>291.492</c:v>
                </c:pt>
                <c:pt idx="15">
                  <c:v>315.948</c:v>
                </c:pt>
              </c:numCache>
            </c:numRef>
          </c:val>
        </c:ser>
        <c:ser>
          <c:idx val="4"/>
          <c:order val="4"/>
          <c:tx>
            <c:strRef>
              <c:f>Sheet1!$F$1</c:f>
              <c:strCache>
                <c:ptCount val="1"/>
                <c:pt idx="0">
                  <c:v>Thailand</c:v>
                </c:pt>
              </c:strCache>
            </c:strRef>
          </c:tx>
          <c:spPr>
            <a:solidFill>
              <a:srgbClr val="A35313"/>
            </a:solidFill>
            <a:ln>
              <a:noFill/>
            </a:ln>
          </c:spPr>
          <c:dLbls>
            <c:dLbl>
              <c:idx val="12"/>
              <c:tx>
                <c:rich>
                  <a:bodyPr/>
                  <a:lstStyle/>
                  <a:p>
                    <a:r>
                      <a:rPr sz="1100">
                        <a:solidFill>
                          <a:srgbClr val="FFFFFF"/>
                        </a:solidFill>
                        <a:latin typeface="Calibri"/>
                      </a:rPr>
                      <a:t>240</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260</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282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305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110.255</c:v>
                </c:pt>
                <c:pt idx="1">
                  <c:v>115.957</c:v>
                </c:pt>
                <c:pt idx="2">
                  <c:v>121.943</c:v>
                </c:pt>
                <c:pt idx="3">
                  <c:v>128.282</c:v>
                </c:pt>
                <c:pt idx="4">
                  <c:v>135.057</c:v>
                </c:pt>
                <c:pt idx="5">
                  <c:v>143.268</c:v>
                </c:pt>
                <c:pt idx="6">
                  <c:v>152.611</c:v>
                </c:pt>
                <c:pt idx="7">
                  <c:v>163.307</c:v>
                </c:pt>
                <c:pt idx="8">
                  <c:v>175.53</c:v>
                </c:pt>
                <c:pt idx="9">
                  <c:v>189.347</c:v>
                </c:pt>
                <c:pt idx="10">
                  <c:v>204.749</c:v>
                </c:pt>
                <c:pt idx="11">
                  <c:v>221.755</c:v>
                </c:pt>
                <c:pt idx="12">
                  <c:v>240.199</c:v>
                </c:pt>
                <c:pt idx="13">
                  <c:v>260.189</c:v>
                </c:pt>
                <c:pt idx="14">
                  <c:v>281.681</c:v>
                </c:pt>
                <c:pt idx="15">
                  <c:v>304.713</c:v>
                </c:pt>
              </c:numCache>
            </c:numRef>
          </c:val>
        </c:ser>
        <c:ser>
          <c:idx val="5"/>
          <c:order val="5"/>
          <c:tx>
            <c:strRef>
              <c:f>Sheet1!$G$1</c:f>
              <c:strCache>
                <c:ptCount val="1"/>
                <c:pt idx="0">
                  <c:v>Singapore</c:v>
                </c:pt>
              </c:strCache>
            </c:strRef>
          </c:tx>
          <c:spPr>
            <a:solidFill>
              <a:srgbClr val="808080"/>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82.141</c:v>
                </c:pt>
                <c:pt idx="1">
                  <c:v>85.223</c:v>
                </c:pt>
                <c:pt idx="2">
                  <c:v>88.44</c:v>
                </c:pt>
                <c:pt idx="3">
                  <c:v>91.844</c:v>
                </c:pt>
                <c:pt idx="4">
                  <c:v>95.467</c:v>
                </c:pt>
                <c:pt idx="5">
                  <c:v>99.92</c:v>
                </c:pt>
                <c:pt idx="6">
                  <c:v>104.944</c:v>
                </c:pt>
                <c:pt idx="7">
                  <c:v>110.605</c:v>
                </c:pt>
                <c:pt idx="8">
                  <c:v>116.969</c:v>
                </c:pt>
                <c:pt idx="9">
                  <c:v>124.094</c:v>
                </c:pt>
                <c:pt idx="10">
                  <c:v>131.933</c:v>
                </c:pt>
                <c:pt idx="11">
                  <c:v>140.484</c:v>
                </c:pt>
                <c:pt idx="12">
                  <c:v>149.678</c:v>
                </c:pt>
                <c:pt idx="13">
                  <c:v>159.538</c:v>
                </c:pt>
                <c:pt idx="14">
                  <c:v>170.024</c:v>
                </c:pt>
                <c:pt idx="15">
                  <c:v>181.168</c:v>
                </c:pt>
              </c:numCache>
            </c:numRef>
          </c:val>
        </c:ser>
        <c:ser>
          <c:idx val="6"/>
          <c:order val="6"/>
          <c:tx>
            <c:strRef>
              <c:f>Sheet1!$H$1</c:f>
              <c:strCache>
                <c:ptCount val="1"/>
                <c:pt idx="0">
                  <c:v>Philippines</c:v>
                </c:pt>
              </c:strCache>
            </c:strRef>
          </c:tx>
          <c:spPr>
            <a:solidFill>
              <a:srgbClr val="0E72AE"/>
            </a:solidFill>
            <a:ln>
              <a:noFill/>
            </a:ln>
          </c:spPr>
          <c:dLbls>
            <c:dLbl>
              <c:idx val="15"/>
              <c:tx>
                <c:rich>
                  <a:bodyPr/>
                  <a:lstStyle/>
                  <a:p>
                    <a:r>
                      <a:rPr sz="1100">
                        <a:solidFill>
                          <a:srgbClr val="FFFFFF"/>
                        </a:solidFill>
                        <a:latin typeface="Calibri"/>
                      </a:rPr>
                      <a:t>239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Sheet1!$H$2:$H$17</c:f>
              <c:numCache>
                <c:formatCode>General</c:formatCode>
                <c:ptCount val="16"/>
                <c:pt idx="0">
                  <c:v>69.332</c:v>
                </c:pt>
                <c:pt idx="1">
                  <c:v>73.819</c:v>
                </c:pt>
                <c:pt idx="2">
                  <c:v>78.578</c:v>
                </c:pt>
                <c:pt idx="3">
                  <c:v>83.651</c:v>
                </c:pt>
                <c:pt idx="4">
                  <c:v>89.137</c:v>
                </c:pt>
                <c:pt idx="5">
                  <c:v>95.757</c:v>
                </c:pt>
                <c:pt idx="6">
                  <c:v>103.389</c:v>
                </c:pt>
                <c:pt idx="7">
                  <c:v>112.252</c:v>
                </c:pt>
                <c:pt idx="8">
                  <c:v>122.51</c:v>
                </c:pt>
                <c:pt idx="9">
                  <c:v>134.303</c:v>
                </c:pt>
                <c:pt idx="10">
                  <c:v>147.627</c:v>
                </c:pt>
                <c:pt idx="11">
                  <c:v>162.582</c:v>
                </c:pt>
                <c:pt idx="12">
                  <c:v>179.167</c:v>
                </c:pt>
                <c:pt idx="13">
                  <c:v>197.432</c:v>
                </c:pt>
                <c:pt idx="14">
                  <c:v>217.395</c:v>
                </c:pt>
                <c:pt idx="15">
                  <c:v>239.193</c:v>
                </c:pt>
              </c:numCache>
            </c:numRef>
          </c:val>
        </c:ser>
        <c:ser>
          <c:idx val="7"/>
          <c:order val="7"/>
          <c:tx>
            <c:strRef>
              <c:f>Sheet1!$I$1</c:f>
              <c:strCache>
                <c:ptCount val="1"/>
                <c:pt idx="0">
                  <c:v>Malaysia</c:v>
                </c:pt>
              </c:strCache>
            </c:strRef>
          </c:tx>
          <c:spPr>
            <a:solidFill>
              <a:srgbClr val="A86F00"/>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Sheet1!$I$2:$I$17</c:f>
              <c:numCache>
                <c:formatCode>General</c:formatCode>
                <c:ptCount val="16"/>
                <c:pt idx="0">
                  <c:v>68.745</c:v>
                </c:pt>
                <c:pt idx="1">
                  <c:v>72.364</c:v>
                </c:pt>
                <c:pt idx="2">
                  <c:v>76.159</c:v>
                </c:pt>
                <c:pt idx="3">
                  <c:v>80.159</c:v>
                </c:pt>
                <c:pt idx="4">
                  <c:v>84.436</c:v>
                </c:pt>
                <c:pt idx="5">
                  <c:v>89.471</c:v>
                </c:pt>
                <c:pt idx="6">
                  <c:v>95.219</c:v>
                </c:pt>
                <c:pt idx="7">
                  <c:v>101.803</c:v>
                </c:pt>
                <c:pt idx="8">
                  <c:v>109.335</c:v>
                </c:pt>
                <c:pt idx="9">
                  <c:v>117.857</c:v>
                </c:pt>
                <c:pt idx="10">
                  <c:v>127.351</c:v>
                </c:pt>
                <c:pt idx="11">
                  <c:v>137.847</c:v>
                </c:pt>
                <c:pt idx="12">
                  <c:v>149.285</c:v>
                </c:pt>
                <c:pt idx="13">
                  <c:v>161.702</c:v>
                </c:pt>
                <c:pt idx="14">
                  <c:v>175.005</c:v>
                </c:pt>
                <c:pt idx="15">
                  <c:v>189.243</c:v>
                </c:pt>
              </c:numCache>
            </c:numRef>
          </c:val>
        </c:ser>
        <c:ser>
          <c:idx val="8"/>
          <c:order val="8"/>
          <c:tx>
            <c:strRef>
              <c:f>Sheet1!$J$1</c:f>
              <c:strCache>
                <c:ptCount val="1"/>
                <c:pt idx="0">
                  <c:v>New Zealand</c:v>
                </c:pt>
              </c:strCache>
            </c:strRef>
          </c:tx>
          <c:spPr>
            <a:solidFill>
              <a:srgbClr val="0B2E4A"/>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Sheet1!$J$2:$J$17</c:f>
              <c:numCache>
                <c:formatCode>General</c:formatCode>
                <c:ptCount val="16"/>
                <c:pt idx="0">
                  <c:v>63.635</c:v>
                </c:pt>
                <c:pt idx="1">
                  <c:v>65.612</c:v>
                </c:pt>
                <c:pt idx="2">
                  <c:v>67.655</c:v>
                </c:pt>
                <c:pt idx="3">
                  <c:v>69.785</c:v>
                </c:pt>
                <c:pt idx="4">
                  <c:v>72.022</c:v>
                </c:pt>
                <c:pt idx="5">
                  <c:v>74.717</c:v>
                </c:pt>
                <c:pt idx="6">
                  <c:v>77.731</c:v>
                </c:pt>
                <c:pt idx="7">
                  <c:v>81.119</c:v>
                </c:pt>
                <c:pt idx="8">
                  <c:v>84.897</c:v>
                </c:pt>
                <c:pt idx="9">
                  <c:v>89.101</c:v>
                </c:pt>
                <c:pt idx="10">
                  <c:v>93.698</c:v>
                </c:pt>
                <c:pt idx="11">
                  <c:v>98.671</c:v>
                </c:pt>
                <c:pt idx="12">
                  <c:v>103.971</c:v>
                </c:pt>
                <c:pt idx="13">
                  <c:v>109.598</c:v>
                </c:pt>
                <c:pt idx="14">
                  <c:v>115.533</c:v>
                </c:pt>
                <c:pt idx="15">
                  <c:v>121.781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Sprays and Mists</c:v>
                </c:pt>
              </c:strCache>
            </c:strRef>
          </c:tx>
          <c:spPr>
            <a:solidFill>
              <a:srgbClr val="3D85C6"/>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Sheet1!$B$2:$B$10</c:f>
              <c:numCache>
                <c:formatCode>General</c:formatCode>
                <c:ptCount val="9"/>
                <c:pt idx="0">
                  <c:v>11.12306315331368</c:v>
                </c:pt>
                <c:pt idx="1">
                  <c:v>9.618749551518766</c:v>
                </c:pt>
                <c:pt idx="2">
                  <c:v>9.166569788947486</c:v>
                </c:pt>
                <c:pt idx="3">
                  <c:v>8.892019799993312</c:v>
                </c:pt>
                <c:pt idx="4">
                  <c:v>9.017993981221675</c:v>
                </c:pt>
                <c:pt idx="5">
                  <c:v>7.712320659346919</c:v>
                </c:pt>
                <c:pt idx="6">
                  <c:v>7.664447498386119</c:v>
                </c:pt>
                <c:pt idx="7">
                  <c:v>12.774917657513207</c:v>
                </c:pt>
                <c:pt idx="8">
                  <c:v>7.117791790472862</c:v>
                </c:pt>
              </c:numCache>
            </c:numRef>
          </c:val>
        </c:ser>
        <c:ser>
          <c:idx val="1"/>
          <c:order val="1"/>
          <c:tx>
            <c:strRef>
              <c:f>Sheet1!$C$1</c:f>
              <c:strCache>
                <c:ptCount val="1"/>
                <c:pt idx="0">
                  <c:v>Mousses and Foams</c:v>
                </c:pt>
              </c:strCache>
            </c:strRef>
          </c:tx>
          <c:spPr>
            <a:solidFill>
              <a:srgbClr val="9E7E0A"/>
            </a:solidFill>
            <a:ln>
              <a:noFill/>
            </a:ln>
          </c:spPr>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Sheet1!$C$2:$C$10</c:f>
              <c:numCache>
                <c:formatCode>General</c:formatCode>
                <c:ptCount val="9"/>
                <c:pt idx="0">
                  <c:v>6.1962671308803365</c:v>
                </c:pt>
                <c:pt idx="1">
                  <c:v>5.650035602510392</c:v>
                </c:pt>
                <c:pt idx="2">
                  <c:v>6.179917777237612</c:v>
                </c:pt>
                <c:pt idx="3">
                  <c:v>5.775694839292284</c:v>
                </c:pt>
                <c:pt idx="4">
                  <c:v>6.187461644235724</c:v>
                </c:pt>
                <c:pt idx="5">
                  <c:v>5.824990742176744</c:v>
                </c:pt>
                <c:pt idx="6">
                  <c:v>5.802841221875903</c:v>
                </c:pt>
                <c:pt idx="7">
                  <c:v>6.687437993037282</c:v>
                </c:pt>
                <c:pt idx="8">
                  <c:v>5.894547373516006</c:v>
                </c:pt>
              </c:numCache>
            </c:numRef>
          </c:val>
        </c:ser>
        <c:ser>
          <c:idx val="2"/>
          <c:order val="2"/>
          <c:tx>
            <c:strRef>
              <c:f>Sheet1!$D$1</c:f>
              <c:strCache>
                <c:ptCount val="1"/>
                <c:pt idx="0">
                  <c:v>Gels and Jellies</c:v>
                </c:pt>
              </c:strCache>
            </c:strRef>
          </c:tx>
          <c:spPr>
            <a:solidFill>
              <a:srgbClr val="008189"/>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Sheet1!$D$2:$D$10</c:f>
              <c:numCache>
                <c:formatCode>General</c:formatCode>
                <c:ptCount val="9"/>
                <c:pt idx="0">
                  <c:v>8.022466189862296</c:v>
                </c:pt>
                <c:pt idx="1">
                  <c:v>7.323629579338401</c:v>
                </c:pt>
                <c:pt idx="2">
                  <c:v>8.204838249437229</c:v>
                </c:pt>
                <c:pt idx="3">
                  <c:v>10.553446603565337</c:v>
                </c:pt>
                <c:pt idx="4">
                  <c:v>8.003268649516103</c:v>
                </c:pt>
                <c:pt idx="5">
                  <c:v>11.385065311173637</c:v>
                </c:pt>
                <c:pt idx="6">
                  <c:v>10.604680451648928</c:v>
                </c:pt>
                <c:pt idx="7">
                  <c:v>8.172155475861612</c:v>
                </c:pt>
                <c:pt idx="8">
                  <c:v>11.351123331137314</c:v>
                </c:pt>
              </c:numCache>
            </c:numRef>
          </c:val>
        </c:ser>
        <c:ser>
          <c:idx val="3"/>
          <c:order val="3"/>
          <c:tx>
            <c:strRef>
              <c:f>Sheet1!$E$1</c:f>
              <c:strCache>
                <c:ptCount val="1"/>
                <c:pt idx="0">
                  <c:v>Creams and Lotions</c:v>
                </c:pt>
              </c:strCache>
            </c:strRef>
          </c:tx>
          <c:spPr>
            <a:solidFill>
              <a:srgbClr val="40315E"/>
            </a:solidFill>
            <a:ln>
              <a:noFill/>
            </a:ln>
          </c:spPr>
          <c:dLbls>
            <c:dLbl>
              <c:idx val="0"/>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Sheet1!$E$2:$E$10</c:f>
              <c:numCache>
                <c:formatCode>General</c:formatCode>
                <c:ptCount val="9"/>
                <c:pt idx="0">
                  <c:v>11.910529384232612</c:v>
                </c:pt>
                <c:pt idx="1">
                  <c:v>12.410096761551497</c:v>
                </c:pt>
                <c:pt idx="2">
                  <c:v>13.398188562792615</c:v>
                </c:pt>
                <c:pt idx="3">
                  <c:v>14.218284892471322</c:v>
                </c:pt>
                <c:pt idx="4">
                  <c:v>13.97413303666073</c:v>
                </c:pt>
                <c:pt idx="5">
                  <c:v>12.086760837983345</c:v>
                </c:pt>
                <c:pt idx="6">
                  <c:v>14.011849645738364</c:v>
                </c:pt>
                <c:pt idx="7">
                  <c:v>12.197036912339575</c:v>
                </c:pt>
                <c:pt idx="8">
                  <c:v>13.616356534950322</c:v>
                </c:pt>
              </c:numCache>
            </c:numRef>
          </c:val>
        </c:ser>
        <c:ser>
          <c:idx val="4"/>
          <c:order val="4"/>
          <c:tx>
            <c:strRef>
              <c:f>Sheet1!$F$1</c:f>
              <c:strCache>
                <c:ptCount val="1"/>
                <c:pt idx="0">
                  <c:v>Waxes, Clays, Pastes and Pomades</c:v>
                </c:pt>
              </c:strCache>
            </c:strRef>
          </c:tx>
          <c:spPr>
            <a:solidFill>
              <a:srgbClr val="A35313"/>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Sheet1!$F$2:$F$10</c:f>
              <c:numCache>
                <c:formatCode>General</c:formatCode>
                <c:ptCount val="9"/>
                <c:pt idx="0">
                  <c:v>15.063678838589952</c:v>
                </c:pt>
                <c:pt idx="1">
                  <c:v>14.875225620560037</c:v>
                </c:pt>
                <c:pt idx="2">
                  <c:v>17.237188361991524</c:v>
                </c:pt>
                <c:pt idx="3">
                  <c:v>15.592076658082213</c:v>
                </c:pt>
                <c:pt idx="4">
                  <c:v>13.51960697443168</c:v>
                </c:pt>
                <c:pt idx="5">
                  <c:v>18.912862518950842</c:v>
                </c:pt>
                <c:pt idx="6">
                  <c:v>17.01505364420171</c:v>
                </c:pt>
                <c:pt idx="7">
                  <c:v>16.98787250747533</c:v>
                </c:pt>
                <c:pt idx="8">
                  <c:v>19.12503193191444</c:v>
                </c:pt>
              </c:numCache>
            </c:numRef>
          </c:val>
        </c:ser>
        <c:ser>
          <c:idx val="5"/>
          <c:order val="5"/>
          <c:tx>
            <c:strRef>
              <c:f>Sheet1!$G$1</c:f>
              <c:strCache>
                <c:ptCount val="1"/>
                <c:pt idx="0">
                  <c:v>Styling Powders</c:v>
                </c:pt>
              </c:strCache>
            </c:strRef>
          </c:tx>
          <c:spPr>
            <a:solidFill>
              <a:srgbClr val="808080"/>
            </a:solidFill>
            <a:ln>
              <a:noFill/>
            </a:ln>
          </c:spPr>
          <c:dLbls>
            <c:dLbl>
              <c:idx val="0"/>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Sheet1!$G$2:$G$10</c:f>
              <c:numCache>
                <c:formatCode>General</c:formatCode>
                <c:ptCount val="9"/>
                <c:pt idx="0">
                  <c:v>12.07721931632494</c:v>
                </c:pt>
                <c:pt idx="1">
                  <c:v>11.11460696484459</c:v>
                </c:pt>
                <c:pt idx="2">
                  <c:v>10.966381670030966</c:v>
                </c:pt>
                <c:pt idx="3">
                  <c:v>10.96274122880364</c:v>
                </c:pt>
                <c:pt idx="4">
                  <c:v>10.566992547085292</c:v>
                </c:pt>
                <c:pt idx="5">
                  <c:v>11.112236468543973</c:v>
                </c:pt>
                <c:pt idx="6">
                  <c:v>11.419739640470974</c:v>
                </c:pt>
                <c:pt idx="7">
                  <c:v>11.536365229461982</c:v>
                </c:pt>
                <c:pt idx="8">
                  <c:v>10.368292617341384</c:v>
                </c:pt>
              </c:numCache>
            </c:numRef>
          </c:val>
        </c:ser>
        <c:ser>
          <c:idx val="6"/>
          <c:order val="6"/>
          <c:tx>
            <c:strRef>
              <c:f>Sheet1!$H$1</c:f>
              <c:strCache>
                <c:ptCount val="1"/>
                <c:pt idx="0">
                  <c:v>Styling Serums and Oils</c:v>
                </c:pt>
              </c:strCache>
            </c:strRef>
          </c:tx>
          <c:spPr>
            <a:solidFill>
              <a:srgbClr val="0E72AE"/>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Sheet1!$H$2:$H$10</c:f>
              <c:numCache>
                <c:formatCode>General</c:formatCode>
                <c:ptCount val="9"/>
                <c:pt idx="0">
                  <c:v>19.249813192317486</c:v>
                </c:pt>
                <c:pt idx="1">
                  <c:v>24.200875435371785</c:v>
                </c:pt>
                <c:pt idx="2">
                  <c:v>20.53613891208083</c:v>
                </c:pt>
                <c:pt idx="3">
                  <c:v>18.968443760660893</c:v>
                </c:pt>
                <c:pt idx="4">
                  <c:v>24.049515445681678</c:v>
                </c:pt>
                <c:pt idx="5">
                  <c:v>17.854463853343418</c:v>
                </c:pt>
                <c:pt idx="6">
                  <c:v>18.079818770124</c:v>
                </c:pt>
                <c:pt idx="7">
                  <c:v>17.25501126646677</c:v>
                </c:pt>
                <c:pt idx="8">
                  <c:v>17.209285128467133</c:v>
                </c:pt>
              </c:numCache>
            </c:numRef>
          </c:val>
        </c:ser>
        <c:ser>
          <c:idx val="7"/>
          <c:order val="7"/>
          <c:tx>
            <c:strRef>
              <c:f>Sheet1!$I$1</c:f>
              <c:strCache>
                <c:ptCount val="1"/>
                <c:pt idx="0">
                  <c:v>Sticks and Balms</c:v>
                </c:pt>
              </c:strCache>
            </c:strRef>
          </c:tx>
          <c:spPr>
            <a:solidFill>
              <a:srgbClr val="A86F00"/>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Sheet1!$I$2:$I$10</c:f>
              <c:numCache>
                <c:formatCode>General</c:formatCode>
                <c:ptCount val="9"/>
                <c:pt idx="0">
                  <c:v>16.356962794478708</c:v>
                </c:pt>
                <c:pt idx="1">
                  <c:v>14.806780484304536</c:v>
                </c:pt>
                <c:pt idx="2">
                  <c:v>14.310776677481742</c:v>
                </c:pt>
                <c:pt idx="3">
                  <c:v>15.037292217131009</c:v>
                </c:pt>
                <c:pt idx="4">
                  <c:v>14.681027721167133</c:v>
                </c:pt>
                <c:pt idx="5">
                  <c:v>15.111299608481115</c:v>
                </c:pt>
                <c:pt idx="6">
                  <c:v>15.40156912755399</c:v>
                </c:pt>
                <c:pt idx="7">
                  <c:v>14.389202957844233</c:v>
                </c:pt>
                <c:pt idx="8">
                  <c:v>15.317571292200546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8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Sprays and Mists</c:v>
                </c:pt>
              </c:strCache>
            </c:strRef>
          </c:tx>
          <c:spPr>
            <a:solidFill>
              <a:srgbClr val="3D85C6"/>
            </a:solidFill>
          </c:spPr>
          <c:invertIfNegative val="0"/>
          <c:xVal>
            <c:numRef>
              <c:f>Sheet1!$A$2:$A$2</c:f>
              <c:numCache>
                <c:formatCode>General</c:formatCode>
                <c:ptCount val="1"/>
                <c:pt idx="0">
                  <c:v>70.16501810012394</c:v>
                </c:pt>
              </c:numCache>
            </c:numRef>
          </c:xVal>
          <c:yVal>
            <c:numRef>
              <c:f>Sheet1!$B$2:$B$2</c:f>
              <c:numCache>
                <c:formatCode>General</c:formatCode>
                <c:ptCount val="1"/>
                <c:pt idx="0">
                  <c:v>89.1485930349697</c:v>
                </c:pt>
              </c:numCache>
            </c:numRef>
          </c:yVal>
          <c:bubbleSize>
            <c:numRef>
              <c:f>Sheet1!$C$2:$C$2</c:f>
              <c:numCache>
                <c:formatCode>General</c:formatCode>
                <c:ptCount val="1"/>
                <c:pt idx="0">
                  <c:v>337.427</c:v>
                </c:pt>
              </c:numCache>
            </c:numRef>
          </c:bubbleSize>
          <c:bubble3D val="0"/>
        </c:ser>
        <c:ser>
          <c:idx val="1"/>
          <c:order val="1"/>
          <c:tx>
            <c:strRef>
              <c:f>Sheet1!$B$4</c:f>
              <c:strCache>
                <c:ptCount val="1"/>
                <c:pt idx="0">
                  <c:v>Mousses and Foams</c:v>
                </c:pt>
              </c:strCache>
            </c:strRef>
          </c:tx>
          <c:spPr>
            <a:solidFill>
              <a:srgbClr val="9E7E0A"/>
            </a:solidFill>
          </c:spPr>
          <c:invertIfNegative val="0"/>
          <c:xVal>
            <c:numRef>
              <c:f>Sheet1!$A$5:$A$5</c:f>
              <c:numCache>
                <c:formatCode>General</c:formatCode>
                <c:ptCount val="1"/>
                <c:pt idx="0">
                  <c:v>80.27453646847249</c:v>
                </c:pt>
              </c:numCache>
            </c:numRef>
          </c:xVal>
          <c:yVal>
            <c:numRef>
              <c:f>Sheet1!$B$5:$B$5</c:f>
              <c:numCache>
                <c:formatCode>General</c:formatCode>
                <c:ptCount val="1"/>
                <c:pt idx="0">
                  <c:v>56.001228750965616</c:v>
                </c:pt>
              </c:numCache>
            </c:numRef>
          </c:yVal>
          <c:bubbleSize>
            <c:numRef>
              <c:f>Sheet1!$C$5:$C$5</c:f>
              <c:numCache>
                <c:formatCode>General</c:formatCode>
                <c:ptCount val="1"/>
                <c:pt idx="0">
                  <c:v>228.466</c:v>
                </c:pt>
              </c:numCache>
            </c:numRef>
          </c:bubbleSize>
          <c:bubble3D val="0"/>
        </c:ser>
        <c:ser>
          <c:idx val="2"/>
          <c:order val="2"/>
          <c:tx>
            <c:strRef>
              <c:f>Sheet1!$B$7</c:f>
              <c:strCache>
                <c:ptCount val="1"/>
                <c:pt idx="0">
                  <c:v>Gels and Jellies</c:v>
                </c:pt>
              </c:strCache>
            </c:strRef>
          </c:tx>
          <c:spPr>
            <a:solidFill>
              <a:srgbClr val="008189"/>
            </a:solidFill>
          </c:spPr>
          <c:invertIfNegative val="0"/>
          <c:xVal>
            <c:numRef>
              <c:f>Sheet1!$A$8:$A$8</c:f>
              <c:numCache>
                <c:formatCode>General</c:formatCode>
                <c:ptCount val="1"/>
                <c:pt idx="0">
                  <c:v>88.32957863004583</c:v>
                </c:pt>
              </c:numCache>
            </c:numRef>
          </c:xVal>
          <c:yVal>
            <c:numRef>
              <c:f>Sheet1!$B$8:$B$8</c:f>
              <c:numCache>
                <c:formatCode>General</c:formatCode>
                <c:ptCount val="1"/>
                <c:pt idx="0">
                  <c:v>85.93712589728185</c:v>
                </c:pt>
              </c:numCache>
            </c:numRef>
          </c:yVal>
          <c:bubbleSize>
            <c:numRef>
              <c:f>Sheet1!$C$8:$C$8</c:f>
              <c:numCache>
                <c:formatCode>General</c:formatCode>
                <c:ptCount val="1"/>
                <c:pt idx="0">
                  <c:v>372.026</c:v>
                </c:pt>
              </c:numCache>
            </c:numRef>
          </c:bubbleSize>
          <c:bubble3D val="0"/>
        </c:ser>
        <c:ser>
          <c:idx val="3"/>
          <c:order val="3"/>
          <c:tx>
            <c:strRef>
              <c:f>Sheet1!$B$10</c:f>
              <c:strCache>
                <c:ptCount val="1"/>
                <c:pt idx="0">
                  <c:v>Creams and Lotions</c:v>
                </c:pt>
              </c:strCache>
            </c:strRef>
          </c:tx>
          <c:spPr>
            <a:solidFill>
              <a:srgbClr val="40315E"/>
            </a:solidFill>
          </c:spPr>
          <c:invertIfNegative val="0"/>
          <c:xVal>
            <c:numRef>
              <c:f>Sheet1!$A$11:$A$11</c:f>
              <c:numCache>
                <c:formatCode>General</c:formatCode>
                <c:ptCount val="1"/>
                <c:pt idx="0">
                  <c:v>107.07087827356547</c:v>
                </c:pt>
              </c:numCache>
            </c:numRef>
          </c:xVal>
          <c:yVal>
            <c:numRef>
              <c:f>Sheet1!$B$11:$B$11</c:f>
              <c:numCache>
                <c:formatCode>General</c:formatCode>
                <c:ptCount val="1"/>
                <c:pt idx="0">
                  <c:v>100.40160279721545</c:v>
                </c:pt>
              </c:numCache>
            </c:numRef>
          </c:yVal>
          <c:bubbleSize>
            <c:numRef>
              <c:f>Sheet1!$C$11:$C$11</c:f>
              <c:numCache>
                <c:formatCode>General</c:formatCode>
                <c:ptCount val="1"/>
                <c:pt idx="0">
                  <c:v>498.313</c:v>
                </c:pt>
              </c:numCache>
            </c:numRef>
          </c:bubbleSize>
          <c:bubble3D val="0"/>
        </c:ser>
        <c:ser>
          <c:idx val="4"/>
          <c:order val="4"/>
          <c:tx>
            <c:strRef>
              <c:f>Sheet1!$B$13</c:f>
              <c:strCache>
                <c:ptCount val="1"/>
                <c:pt idx="0">
                  <c:v>Waxes, Clays, Pastes and Pomades</c:v>
                </c:pt>
              </c:strCache>
            </c:strRef>
          </c:tx>
          <c:spPr>
            <a:solidFill>
              <a:srgbClr val="A35313"/>
            </a:solidFill>
          </c:spPr>
          <c:invertIfNegative val="0"/>
          <c:xVal>
            <c:numRef>
              <c:f>Sheet1!$A$14:$A$14</c:f>
              <c:numCache>
                <c:formatCode>General</c:formatCode>
                <c:ptCount val="1"/>
                <c:pt idx="0">
                  <c:v>96.49056282217687</c:v>
                </c:pt>
              </c:numCache>
            </c:numRef>
          </c:xVal>
          <c:yVal>
            <c:numRef>
              <c:f>Sheet1!$B$14:$B$14</c:f>
              <c:numCache>
                <c:formatCode>General</c:formatCode>
                <c:ptCount val="1"/>
                <c:pt idx="0">
                  <c:v>142.04632210441673</c:v>
                </c:pt>
              </c:numCache>
            </c:numRef>
          </c:yVal>
          <c:bubbleSize>
            <c:numRef>
              <c:f>Sheet1!$C$14:$C$14</c:f>
              <c:numCache>
                <c:formatCode>General</c:formatCode>
                <c:ptCount val="1"/>
                <c:pt idx="0">
                  <c:v>652.792</c:v>
                </c:pt>
              </c:numCache>
            </c:numRef>
          </c:bubbleSize>
          <c:bubble3D val="0"/>
        </c:ser>
        <c:ser>
          <c:idx val="5"/>
          <c:order val="5"/>
          <c:tx>
            <c:strRef>
              <c:f>Sheet1!$B$16</c:f>
              <c:strCache>
                <c:ptCount val="1"/>
                <c:pt idx="0">
                  <c:v>Styling Powders</c:v>
                </c:pt>
              </c:strCache>
            </c:strRef>
          </c:tx>
          <c:spPr>
            <a:solidFill>
              <a:srgbClr val="808080"/>
            </a:solidFill>
          </c:spPr>
          <c:invertIfNegative val="0"/>
          <c:xVal>
            <c:numRef>
              <c:f>Sheet1!$A$17:$A$17</c:f>
              <c:numCache>
                <c:formatCode>General</c:formatCode>
                <c:ptCount val="1"/>
                <c:pt idx="0">
                  <c:v>115.70792255023521</c:v>
                </c:pt>
              </c:numCache>
            </c:numRef>
          </c:xVal>
          <c:yVal>
            <c:numRef>
              <c:f>Sheet1!$B$17:$B$17</c:f>
              <c:numCache>
                <c:formatCode>General</c:formatCode>
                <c:ptCount val="1"/>
                <c:pt idx="0">
                  <c:v>78.32971183079377</c:v>
                </c:pt>
              </c:numCache>
            </c:numRef>
          </c:yVal>
          <c:bubbleSize>
            <c:numRef>
              <c:f>Sheet1!$C$17:$C$17</c:f>
              <c:numCache>
                <c:formatCode>General</c:formatCode>
                <c:ptCount val="1"/>
                <c:pt idx="0">
                  <c:v>413.788</c:v>
                </c:pt>
              </c:numCache>
            </c:numRef>
          </c:bubbleSize>
          <c:bubble3D val="0"/>
        </c:ser>
        <c:ser>
          <c:idx val="6"/>
          <c:order val="6"/>
          <c:tx>
            <c:strRef>
              <c:f>Sheet1!$B$19</c:f>
              <c:strCache>
                <c:ptCount val="1"/>
                <c:pt idx="0">
                  <c:v>Styling Serums and Oils</c:v>
                </c:pt>
              </c:strCache>
            </c:strRef>
          </c:tx>
          <c:spPr>
            <a:solidFill>
              <a:srgbClr val="0E72AE"/>
            </a:solidFill>
          </c:spPr>
          <c:invertIfNegative val="0"/>
          <c:xVal>
            <c:numRef>
              <c:f>Sheet1!$A$20:$A$20</c:f>
              <c:numCache>
                <c:formatCode>General</c:formatCode>
                <c:ptCount val="1"/>
                <c:pt idx="0">
                  <c:v>104.20605192201901</c:v>
                </c:pt>
              </c:numCache>
            </c:numRef>
          </c:xVal>
          <c:yVal>
            <c:numRef>
              <c:f>Sheet1!$B$20:$B$20</c:f>
              <c:numCache>
                <c:formatCode>General</c:formatCode>
                <c:ptCount val="1"/>
                <c:pt idx="0">
                  <c:v>144.48485067513542</c:v>
                </c:pt>
              </c:numCache>
            </c:numRef>
          </c:yVal>
          <c:bubbleSize>
            <c:numRef>
              <c:f>Sheet1!$C$20:$C$20</c:f>
              <c:numCache>
                <c:formatCode>General</c:formatCode>
                <c:ptCount val="1"/>
                <c:pt idx="0">
                  <c:v>702.362</c:v>
                </c:pt>
              </c:numCache>
            </c:numRef>
          </c:bubbleSize>
          <c:bubble3D val="0"/>
        </c:ser>
        <c:ser>
          <c:idx val="7"/>
          <c:order val="7"/>
          <c:tx>
            <c:strRef>
              <c:f>Sheet1!$B$22</c:f>
              <c:strCache>
                <c:ptCount val="1"/>
                <c:pt idx="0">
                  <c:v>Sticks and Balms</c:v>
                </c:pt>
              </c:strCache>
            </c:strRef>
          </c:tx>
          <c:spPr>
            <a:solidFill>
              <a:srgbClr val="A86F00"/>
            </a:solidFill>
          </c:spPr>
          <c:invertIfNegative val="0"/>
          <c:xVal>
            <c:numRef>
              <c:f>Sheet1!$A$23:$A$23</c:f>
              <c:numCache>
                <c:formatCode>General</c:formatCode>
                <c:ptCount val="1"/>
                <c:pt idx="0">
                  <c:v>120.47053211602486</c:v>
                </c:pt>
              </c:numCache>
            </c:numRef>
          </c:xVal>
          <c:yVal>
            <c:numRef>
              <c:f>Sheet1!$B$23:$B$23</c:f>
              <c:numCache>
                <c:formatCode>General</c:formatCode>
                <c:ptCount val="1"/>
                <c:pt idx="0">
                  <c:v>103.65056490922152</c:v>
                </c:pt>
              </c:numCache>
            </c:numRef>
          </c:yVal>
          <c:bubbleSize>
            <c:numRef>
              <c:f>Sheet1!$C$23:$C$23</c:f>
              <c:numCache>
                <c:formatCode>General</c:formatCode>
                <c:ptCount val="1"/>
                <c:pt idx="0">
                  <c:v>566.616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5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197.342</c:v>
                </c:pt>
                <c:pt idx="2">
                  <c:v>216.201</c:v>
                </c:pt>
                <c:pt idx="3">
                  <c:v>240.12900000000002</c:v>
                </c:pt>
                <c:pt idx="4">
                  <c:v>268.4</c:v>
                </c:pt>
                <c:pt idx="5">
                  <c:v>300.914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197.342</c:v>
                </c:pt>
                <c:pt idx="1">
                  <c:v>18.85899999999998</c:v>
                </c:pt>
                <c:pt idx="2">
                  <c:v>23.928000000000026</c:v>
                </c:pt>
                <c:pt idx="3">
                  <c:v>28.270999999999958</c:v>
                </c:pt>
                <c:pt idx="4">
                  <c:v>32.51400000000001</c:v>
                </c:pt>
                <c:pt idx="5">
                  <c:v>36.513000000000034</c:v>
                </c:pt>
                <c:pt idx="6">
                  <c:v>337.427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123.96600000000001</c:v>
                </c:pt>
                <c:pt idx="2">
                  <c:v>138.703</c:v>
                </c:pt>
                <c:pt idx="3">
                  <c:v>156.503</c:v>
                </c:pt>
                <c:pt idx="4">
                  <c:v>177.101</c:v>
                </c:pt>
                <c:pt idx="5">
                  <c:v>201.106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123.96600000000001</c:v>
                </c:pt>
                <c:pt idx="1">
                  <c:v>14.736999999999995</c:v>
                </c:pt>
                <c:pt idx="2">
                  <c:v>17.799999999999983</c:v>
                </c:pt>
                <c:pt idx="3">
                  <c:v>20.598000000000013</c:v>
                </c:pt>
                <c:pt idx="4">
                  <c:v>24.004999999999995</c:v>
                </c:pt>
                <c:pt idx="5">
                  <c:v>27.360000000000014</c:v>
                </c:pt>
                <c:pt idx="6">
                  <c:v>228.466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190.233</c:v>
                </c:pt>
                <c:pt idx="2">
                  <c:v>215.785</c:v>
                </c:pt>
                <c:pt idx="3">
                  <c:v>246.584</c:v>
                </c:pt>
                <c:pt idx="4">
                  <c:v>282.693</c:v>
                </c:pt>
                <c:pt idx="5">
                  <c:v>324.554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190.233</c:v>
                </c:pt>
                <c:pt idx="1">
                  <c:v>25.551999999999992</c:v>
                </c:pt>
                <c:pt idx="2">
                  <c:v>30.799000000000007</c:v>
                </c:pt>
                <c:pt idx="3">
                  <c:v>36.10899999999998</c:v>
                </c:pt>
                <c:pt idx="4">
                  <c:v>41.86099999999999</c:v>
                </c:pt>
                <c:pt idx="5">
                  <c:v>47.47200000000004</c:v>
                </c:pt>
                <c:pt idx="6">
                  <c:v>372.026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222.252</c:v>
                </c:pt>
                <c:pt idx="2">
                  <c:v>251.825</c:v>
                </c:pt>
                <c:pt idx="3">
                  <c:v>293.776</c:v>
                </c:pt>
                <c:pt idx="4">
                  <c:v>348.62</c:v>
                </c:pt>
                <c:pt idx="5">
                  <c:v>416.891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222.252</c:v>
                </c:pt>
                <c:pt idx="1">
                  <c:v>29.57299999999998</c:v>
                </c:pt>
                <c:pt idx="2">
                  <c:v>41.95100000000002</c:v>
                </c:pt>
                <c:pt idx="3">
                  <c:v>54.843999999999994</c:v>
                </c:pt>
                <c:pt idx="4">
                  <c:v>68.27100000000002</c:v>
                </c:pt>
                <c:pt idx="5">
                  <c:v>81.42199999999997</c:v>
                </c:pt>
                <c:pt idx="6">
                  <c:v>498.313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314.438</c:v>
                </c:pt>
                <c:pt idx="2">
                  <c:v>359.804</c:v>
                </c:pt>
                <c:pt idx="3">
                  <c:v>415.99</c:v>
                </c:pt>
                <c:pt idx="4">
                  <c:v>481.833</c:v>
                </c:pt>
                <c:pt idx="5">
                  <c:v>560.707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314.438</c:v>
                </c:pt>
                <c:pt idx="1">
                  <c:v>45.365999999999985</c:v>
                </c:pt>
                <c:pt idx="2">
                  <c:v>56.186000000000035</c:v>
                </c:pt>
                <c:pt idx="3">
                  <c:v>65.84300000000002</c:v>
                </c:pt>
                <c:pt idx="4">
                  <c:v>78.87399999999997</c:v>
                </c:pt>
                <c:pt idx="5">
                  <c:v>92.08500000000004</c:v>
                </c:pt>
                <c:pt idx="6">
                  <c:v>652.792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173.393</c:v>
                </c:pt>
                <c:pt idx="2">
                  <c:v>199.665</c:v>
                </c:pt>
                <c:pt idx="3">
                  <c:v>235.383</c:v>
                </c:pt>
                <c:pt idx="4">
                  <c:v>284.333</c:v>
                </c:pt>
                <c:pt idx="5">
                  <c:v>343.774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173.393</c:v>
                </c:pt>
                <c:pt idx="1">
                  <c:v>26.27199999999999</c:v>
                </c:pt>
                <c:pt idx="2">
                  <c:v>35.71800000000002</c:v>
                </c:pt>
                <c:pt idx="3">
                  <c:v>48.95000000000002</c:v>
                </c:pt>
                <c:pt idx="4">
                  <c:v>59.440999999999974</c:v>
                </c:pt>
                <c:pt idx="5">
                  <c:v>70.01400000000001</c:v>
                </c:pt>
                <c:pt idx="6">
                  <c:v>413.788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319.836</c:v>
                </c:pt>
                <c:pt idx="2">
                  <c:v>365.719</c:v>
                </c:pt>
                <c:pt idx="3">
                  <c:v>426.503</c:v>
                </c:pt>
                <c:pt idx="4">
                  <c:v>503.849</c:v>
                </c:pt>
                <c:pt idx="5">
                  <c:v>595.817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319.836</c:v>
                </c:pt>
                <c:pt idx="1">
                  <c:v>45.88299999999998</c:v>
                </c:pt>
                <c:pt idx="2">
                  <c:v>60.78399999999999</c:v>
                </c:pt>
                <c:pt idx="3">
                  <c:v>77.346</c:v>
                </c:pt>
                <c:pt idx="4">
                  <c:v>91.96800000000002</c:v>
                </c:pt>
                <c:pt idx="5">
                  <c:v>106.54499999999996</c:v>
                </c:pt>
                <c:pt idx="6">
                  <c:v>702.362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229.444</c:v>
                </c:pt>
                <c:pt idx="2">
                  <c:v>267.82</c:v>
                </c:pt>
                <c:pt idx="3">
                  <c:v>319.464</c:v>
                </c:pt>
                <c:pt idx="4">
                  <c:v>386.582</c:v>
                </c:pt>
                <c:pt idx="5">
                  <c:v>468.788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229.444</c:v>
                </c:pt>
                <c:pt idx="1">
                  <c:v>38.376000000000005</c:v>
                </c:pt>
                <c:pt idx="2">
                  <c:v>51.644000000000005</c:v>
                </c:pt>
                <c:pt idx="3">
                  <c:v>67.118</c:v>
                </c:pt>
                <c:pt idx="4">
                  <c:v>82.20600000000002</c:v>
                </c:pt>
                <c:pt idx="5">
                  <c:v>97.82799999999997</c:v>
                </c:pt>
                <c:pt idx="6">
                  <c:v>566.616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Serums and Oils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17.69070025718962</c:v>
                </c:pt>
                <c:pt idx="1">
                  <c:v>18.060606334391927</c:v>
                </c:pt>
                <c:pt idx="2">
                  <c:v>18.621450292831785</c:v>
                </c:pt>
              </c:numCache>
            </c:numRef>
          </c:val>
        </c:ser>
        <c:ser>
          <c:idx val="1"/>
          <c:order val="1"/>
          <c:tx>
            <c:strRef>
              <c:f>Sheet1!$C$1</c:f>
              <c:strCache>
                <c:ptCount val="1"/>
                <c:pt idx="0">
                  <c:v>Waxes, Clays, Pastes and Pomades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17.227685877951835</c:v>
                </c:pt>
                <c:pt idx="1">
                  <c:v>17.75579026305209</c:v>
                </c:pt>
                <c:pt idx="2">
                  <c:v>17.307220179278275</c:v>
                </c:pt>
              </c:numCache>
            </c:numRef>
          </c:val>
        </c:ser>
        <c:ser>
          <c:idx val="2"/>
          <c:order val="2"/>
          <c:tx>
            <c:strRef>
              <c:f>Sheet1!$D$1</c:f>
              <c:strCache>
                <c:ptCount val="1"/>
                <c:pt idx="0">
                  <c:v>Sticks and Balms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12.117357376665886</c:v>
                </c:pt>
                <c:pt idx="1">
                  <c:v>12.95632061365269</c:v>
                </c:pt>
                <c:pt idx="2">
                  <c:v>15.022469437587988</c:v>
                </c:pt>
              </c:numCache>
            </c:numRef>
          </c:val>
        </c:ser>
        <c:ser>
          <c:idx val="3"/>
          <c:order val="3"/>
          <c:tx>
            <c:strRef>
              <c:f>Sheet1!$E$1</c:f>
              <c:strCache>
                <c:ptCount val="1"/>
                <c:pt idx="0">
                  <c:v>Creams and Lotions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13.150134440028058</c:v>
                </c:pt>
                <c:pt idx="1">
                  <c:v>12.55020034965193</c:v>
                </c:pt>
                <c:pt idx="2">
                  <c:v>13.211578587355074</c:v>
                </c:pt>
              </c:numCache>
            </c:numRef>
          </c:val>
        </c:ser>
        <c:ser>
          <c:idx val="4"/>
          <c:order val="4"/>
          <c:tx>
            <c:strRef>
              <c:f>Sheet1!$F$1</c:f>
              <c:strCache>
                <c:ptCount val="1"/>
                <c:pt idx="0">
                  <c:v>Powders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9.883972410568155</c:v>
                </c:pt>
                <c:pt idx="1">
                  <c:v>9.791213978849221</c:v>
                </c:pt>
                <c:pt idx="2">
                  <c:v>10.970600165968944</c:v>
                </c:pt>
              </c:numCache>
            </c:numRef>
          </c:val>
        </c:ser>
        <c:ser>
          <c:idx val="5"/>
          <c:order val="5"/>
          <c:tx>
            <c:strRef>
              <c:f>Sheet1!$G$1</c:f>
              <c:strCache>
                <c:ptCount val="1"/>
                <c:pt idx="0">
                  <c:v>Gels and Jellies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10.702083820434884</c:v>
                </c:pt>
                <c:pt idx="1">
                  <c:v>10.74214073716023</c:v>
                </c:pt>
                <c:pt idx="2">
                  <c:v>9.863380516942884</c:v>
                </c:pt>
              </c:numCache>
            </c:numRef>
          </c:val>
        </c:ser>
        <c:ser>
          <c:idx val="6"/>
          <c:order val="6"/>
          <c:tx>
            <c:strRef>
              <c:f>Sheet1!$H$1</c:f>
              <c:strCache>
                <c:ptCount val="1"/>
                <c:pt idx="0">
                  <c:v>Sprays and Mists</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12.05086801496376</c:v>
                </c:pt>
                <c:pt idx="1">
                  <c:v>11.143574129371213</c:v>
                </c:pt>
                <c:pt idx="2">
                  <c:v>8.946070698527755</c:v>
                </c:pt>
              </c:numCache>
            </c:numRef>
          </c:val>
        </c:ser>
        <c:ser>
          <c:idx val="7"/>
          <c:order val="7"/>
          <c:tx>
            <c:strRef>
              <c:f>Sheet1!$I$1</c:f>
              <c:strCache>
                <c:ptCount val="1"/>
                <c:pt idx="0">
                  <c:v>Mousses and Foams</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Sheet1!$I$2:$I$4</c:f>
              <c:numCache>
                <c:formatCode>General</c:formatCode>
                <c:ptCount val="3"/>
                <c:pt idx="0">
                  <c:v>7.177197802197802</c:v>
                </c:pt>
                <c:pt idx="1">
                  <c:v>7.000153593870702</c:v>
                </c:pt>
                <c:pt idx="2">
                  <c:v>6.0572301215072955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No Hold</c:v>
                </c:pt>
              </c:strCache>
            </c:strRef>
          </c:tx>
          <c:spPr>
            <a:solidFill>
              <a:srgbClr val="3D85C6"/>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Sheet1!$B$2:$B$10</c:f>
              <c:numCache>
                <c:formatCode>General</c:formatCode>
                <c:ptCount val="9"/>
                <c:pt idx="0">
                  <c:v>20.06158646740023</c:v>
                </c:pt>
                <c:pt idx="1">
                  <c:v>20.055418175395218</c:v>
                </c:pt>
                <c:pt idx="2">
                  <c:v>20.037729268718</c:v>
                </c:pt>
                <c:pt idx="3">
                  <c:v>20.026505792393593</c:v>
                </c:pt>
                <c:pt idx="4">
                  <c:v>20.04115347884731</c:v>
                </c:pt>
                <c:pt idx="5">
                  <c:v>16.759139982338812</c:v>
                </c:pt>
                <c:pt idx="6">
                  <c:v>20.029267558554924</c:v>
                </c:pt>
                <c:pt idx="7">
                  <c:v>20.057815831050828</c:v>
                </c:pt>
                <c:pt idx="8">
                  <c:v>15.41897122267095</c:v>
                </c:pt>
              </c:numCache>
            </c:numRef>
          </c:val>
        </c:ser>
        <c:ser>
          <c:idx val="1"/>
          <c:order val="1"/>
          <c:tx>
            <c:strRef>
              <c:f>Sheet1!$C$1</c:f>
              <c:strCache>
                <c:ptCount val="1"/>
                <c:pt idx="0">
                  <c:v>Light or Flexible Hold</c:v>
                </c:pt>
              </c:strCache>
            </c:strRef>
          </c:tx>
          <c:spPr>
            <a:solidFill>
              <a:srgbClr val="9E7E0A"/>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Sheet1!$C$2:$C$10</c:f>
              <c:numCache>
                <c:formatCode>General</c:formatCode>
                <c:ptCount val="9"/>
                <c:pt idx="0">
                  <c:v>22.257349318443094</c:v>
                </c:pt>
                <c:pt idx="1">
                  <c:v>22.241786628985256</c:v>
                </c:pt>
                <c:pt idx="2">
                  <c:v>22.20055695587155</c:v>
                </c:pt>
                <c:pt idx="3">
                  <c:v>22.17456196460599</c:v>
                </c:pt>
                <c:pt idx="4">
                  <c:v>22.208766938069598</c:v>
                </c:pt>
                <c:pt idx="5">
                  <c:v>20.862676334954916</c:v>
                </c:pt>
                <c:pt idx="6">
                  <c:v>22.180769748671278</c:v>
                </c:pt>
                <c:pt idx="7">
                  <c:v>22.248056132410674</c:v>
                </c:pt>
                <c:pt idx="8">
                  <c:v>20.336729874944748</c:v>
                </c:pt>
              </c:numCache>
            </c:numRef>
          </c:val>
        </c:ser>
        <c:ser>
          <c:idx val="2"/>
          <c:order val="2"/>
          <c:tx>
            <c:strRef>
              <c:f>Sheet1!$D$1</c:f>
              <c:strCache>
                <c:ptCount val="1"/>
                <c:pt idx="0">
                  <c:v>Medium Hold</c:v>
                </c:pt>
              </c:strCache>
            </c:strRef>
          </c:tx>
          <c:spPr>
            <a:solidFill>
              <a:srgbClr val="008189"/>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Sheet1!$D$2:$D$10</c:f>
              <c:numCache>
                <c:formatCode>General</c:formatCode>
                <c:ptCount val="9"/>
                <c:pt idx="0">
                  <c:v>22.01264575463951</c:v>
                </c:pt>
                <c:pt idx="1">
                  <c:v>22.013821425417294</c:v>
                </c:pt>
                <c:pt idx="2">
                  <c:v>22.0166664024561</c:v>
                </c:pt>
                <c:pt idx="3">
                  <c:v>22.01820287382992</c:v>
                </c:pt>
                <c:pt idx="4">
                  <c:v>22.01579847266116</c:v>
                </c:pt>
                <c:pt idx="5">
                  <c:v>24.422450600891924</c:v>
                </c:pt>
                <c:pt idx="6">
                  <c:v>22.017600139407044</c:v>
                </c:pt>
                <c:pt idx="7">
                  <c:v>22.013481161560065</c:v>
                </c:pt>
                <c:pt idx="8">
                  <c:v>24.683412406704345</c:v>
                </c:pt>
              </c:numCache>
            </c:numRef>
          </c:val>
        </c:ser>
        <c:ser>
          <c:idx val="3"/>
          <c:order val="3"/>
          <c:tx>
            <c:strRef>
              <c:f>Sheet1!$E$1</c:f>
              <c:strCache>
                <c:ptCount val="1"/>
                <c:pt idx="0">
                  <c:v>Strong Hold</c:v>
                </c:pt>
              </c:strCache>
            </c:strRef>
          </c:tx>
          <c:spPr>
            <a:solidFill>
              <a:srgbClr val="40315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Sheet1!$E$2:$E$10</c:f>
              <c:numCache>
                <c:formatCode>General</c:formatCode>
                <c:ptCount val="9"/>
                <c:pt idx="0">
                  <c:v>19.736409919527016</c:v>
                </c:pt>
                <c:pt idx="1">
                  <c:v>19.744656893049548</c:v>
                </c:pt>
                <c:pt idx="2">
                  <c:v>19.76664922876936</c:v>
                </c:pt>
                <c:pt idx="3">
                  <c:v>19.780679200478275</c:v>
                </c:pt>
                <c:pt idx="4">
                  <c:v>19.762530643589216</c:v>
                </c:pt>
                <c:pt idx="5">
                  <c:v>21.0000411461416</c:v>
                </c:pt>
                <c:pt idx="6">
                  <c:v>19.777384375321784</c:v>
                </c:pt>
                <c:pt idx="7">
                  <c:v>19.74127760567948</c:v>
                </c:pt>
                <c:pt idx="8">
                  <c:v>21.73047156635861</c:v>
                </c:pt>
              </c:numCache>
            </c:numRef>
          </c:val>
        </c:ser>
        <c:ser>
          <c:idx val="4"/>
          <c:order val="4"/>
          <c:tx>
            <c:strRef>
              <c:f>Sheet1!$F$1</c:f>
              <c:strCache>
                <c:ptCount val="1"/>
                <c:pt idx="0">
                  <c:v>Extra-strong Hold</c:v>
                </c:pt>
              </c:strCache>
            </c:strRef>
          </c:tx>
          <c:spPr>
            <a:solidFill>
              <a:srgbClr val="A35313"/>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Sheet1!$F$2:$F$10</c:f>
              <c:numCache>
                <c:formatCode>General</c:formatCode>
                <c:ptCount val="9"/>
                <c:pt idx="0">
                  <c:v>15.932008539990147</c:v>
                </c:pt>
                <c:pt idx="1">
                  <c:v>15.944316877152701</c:v>
                </c:pt>
                <c:pt idx="2">
                  <c:v>15.978398144184991</c:v>
                </c:pt>
                <c:pt idx="3">
                  <c:v>16.00005016869223</c:v>
                </c:pt>
                <c:pt idx="4">
                  <c:v>15.971750466832727</c:v>
                </c:pt>
                <c:pt idx="5">
                  <c:v>16.955691935672753</c:v>
                </c:pt>
                <c:pt idx="6">
                  <c:v>15.994978178044974</c:v>
                </c:pt>
                <c:pt idx="7">
                  <c:v>15.939369269298966</c:v>
                </c:pt>
                <c:pt idx="8">
                  <c:v>17.830414929321346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92.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No Hold</c:v>
                </c:pt>
              </c:strCache>
            </c:strRef>
          </c:tx>
          <c:spPr>
            <a:solidFill>
              <a:srgbClr val="3D85C6"/>
            </a:solidFill>
          </c:spPr>
          <c:invertIfNegative val="0"/>
          <c:xVal>
            <c:numRef>
              <c:f>Sheet1!$A$2:$A$2</c:f>
              <c:numCache>
                <c:formatCode>General</c:formatCode>
                <c:ptCount val="1"/>
                <c:pt idx="0">
                  <c:v>106.62667367751038</c:v>
                </c:pt>
              </c:numCache>
            </c:numRef>
          </c:xVal>
          <c:yVal>
            <c:numRef>
              <c:f>Sheet1!$B$2:$B$2</c:f>
              <c:numCache>
                <c:formatCode>General</c:formatCode>
                <c:ptCount val="1"/>
                <c:pt idx="0">
                  <c:v>87.24606910026229</c:v>
                </c:pt>
              </c:numCache>
            </c:numRef>
          </c:yVal>
          <c:bubbleSize>
            <c:numRef>
              <c:f>Sheet1!$C$2:$C$2</c:f>
              <c:numCache>
                <c:formatCode>General</c:formatCode>
                <c:ptCount val="1"/>
                <c:pt idx="0">
                  <c:v>690.605</c:v>
                </c:pt>
              </c:numCache>
            </c:numRef>
          </c:bubbleSize>
          <c:bubble3D val="0"/>
        </c:ser>
        <c:ser>
          <c:idx val="1"/>
          <c:order val="1"/>
          <c:tx>
            <c:strRef>
              <c:f>Sheet1!$B$4</c:f>
              <c:strCache>
                <c:ptCount val="1"/>
                <c:pt idx="0">
                  <c:v>Light or Flexible Hold</c:v>
                </c:pt>
              </c:strCache>
            </c:strRef>
          </c:tx>
          <c:spPr>
            <a:solidFill>
              <a:srgbClr val="9E7E0A"/>
            </a:solidFill>
          </c:spPr>
          <c:invertIfNegative val="0"/>
          <c:xVal>
            <c:numRef>
              <c:f>Sheet1!$A$5:$A$5</c:f>
              <c:numCache>
                <c:formatCode>General</c:formatCode>
                <c:ptCount val="1"/>
                <c:pt idx="0">
                  <c:v>113.05904719047943</c:v>
                </c:pt>
              </c:numCache>
            </c:numRef>
          </c:xVal>
          <c:yVal>
            <c:numRef>
              <c:f>Sheet1!$B$5:$B$5</c:f>
              <c:numCache>
                <c:formatCode>General</c:formatCode>
                <c:ptCount val="1"/>
                <c:pt idx="0">
                  <c:v>97.83669931475714</c:v>
                </c:pt>
              </c:numCache>
            </c:numRef>
          </c:yVal>
          <c:bubbleSize>
            <c:numRef>
              <c:f>Sheet1!$C$5:$C$5</c:f>
              <c:numCache>
                <c:formatCode>General</c:formatCode>
                <c:ptCount val="1"/>
                <c:pt idx="0">
                  <c:v>811.303</c:v>
                </c:pt>
              </c:numCache>
            </c:numRef>
          </c:bubbleSize>
          <c:bubble3D val="0"/>
        </c:ser>
        <c:ser>
          <c:idx val="2"/>
          <c:order val="2"/>
          <c:tx>
            <c:strRef>
              <c:f>Sheet1!$B$7</c:f>
              <c:strCache>
                <c:ptCount val="1"/>
                <c:pt idx="0">
                  <c:v>Medium Hold</c:v>
                </c:pt>
              </c:strCache>
            </c:strRef>
          </c:tx>
          <c:spPr>
            <a:solidFill>
              <a:srgbClr val="008189"/>
            </a:solidFill>
          </c:spPr>
          <c:invertIfNegative val="0"/>
          <c:xVal>
            <c:numRef>
              <c:f>Sheet1!$A$8:$A$8</c:f>
              <c:numCache>
                <c:formatCode>General</c:formatCode>
                <c:ptCount val="1"/>
                <c:pt idx="0">
                  <c:v>99.77086524872722</c:v>
                </c:pt>
              </c:numCache>
            </c:numRef>
          </c:xVal>
          <c:yVal>
            <c:numRef>
              <c:f>Sheet1!$B$8:$B$8</c:f>
              <c:numCache>
                <c:formatCode>General</c:formatCode>
                <c:ptCount val="1"/>
                <c:pt idx="0">
                  <c:v>115.48671442002816</c:v>
                </c:pt>
              </c:numCache>
            </c:numRef>
          </c:yVal>
          <c:bubbleSize>
            <c:numRef>
              <c:f>Sheet1!$C$8:$C$8</c:f>
              <c:numCache>
                <c:formatCode>General</c:formatCode>
                <c:ptCount val="1"/>
                <c:pt idx="0">
                  <c:v>869.731</c:v>
                </c:pt>
              </c:numCache>
            </c:numRef>
          </c:bubbleSize>
          <c:bubble3D val="0"/>
        </c:ser>
        <c:ser>
          <c:idx val="3"/>
          <c:order val="3"/>
          <c:tx>
            <c:strRef>
              <c:f>Sheet1!$B$10</c:f>
              <c:strCache>
                <c:ptCount val="1"/>
                <c:pt idx="0">
                  <c:v>Strong Hold</c:v>
                </c:pt>
              </c:strCache>
            </c:strRef>
          </c:tx>
          <c:spPr>
            <a:solidFill>
              <a:srgbClr val="40315E"/>
            </a:solidFill>
          </c:spPr>
          <c:invertIfNegative val="0"/>
          <c:xVal>
            <c:numRef>
              <c:f>Sheet1!$A$11:$A$11</c:f>
              <c:numCache>
                <c:formatCode>General</c:formatCode>
                <c:ptCount val="1"/>
                <c:pt idx="0">
                  <c:v>92.90032913655753</c:v>
                </c:pt>
              </c:numCache>
            </c:numRef>
          </c:xVal>
          <c:yVal>
            <c:numRef>
              <c:f>Sheet1!$B$11:$B$11</c:f>
              <c:numCache>
                <c:formatCode>General</c:formatCode>
                <c:ptCount val="1"/>
                <c:pt idx="0">
                  <c:v>107.87224611145147</c:v>
                </c:pt>
              </c:numCache>
            </c:numRef>
          </c:yVal>
          <c:bubbleSize>
            <c:numRef>
              <c:f>Sheet1!$C$11:$C$11</c:f>
              <c:numCache>
                <c:formatCode>General</c:formatCode>
                <c:ptCount val="1"/>
                <c:pt idx="0">
                  <c:v>772.639</c:v>
                </c:pt>
              </c:numCache>
            </c:numRef>
          </c:bubbleSize>
          <c:bubble3D val="0"/>
        </c:ser>
        <c:ser>
          <c:idx val="4"/>
          <c:order val="4"/>
          <c:tx>
            <c:strRef>
              <c:f>Sheet1!$B$13</c:f>
              <c:strCache>
                <c:ptCount val="1"/>
                <c:pt idx="0">
                  <c:v>Extra-strong Hold</c:v>
                </c:pt>
              </c:strCache>
            </c:strRef>
          </c:tx>
          <c:spPr>
            <a:solidFill>
              <a:srgbClr val="A35313"/>
            </a:solidFill>
          </c:spPr>
          <c:invertIfNegative val="0"/>
          <c:xVal>
            <c:numRef>
              <c:f>Sheet1!$A$14:$A$14</c:f>
              <c:numCache>
                <c:formatCode>General</c:formatCode>
                <c:ptCount val="1"/>
                <c:pt idx="0">
                  <c:v>86.89207762003572</c:v>
                </c:pt>
              </c:numCache>
            </c:numRef>
          </c:xVal>
          <c:yVal>
            <c:numRef>
              <c:f>Sheet1!$B$14:$B$14</c:f>
              <c:numCache>
                <c:formatCode>General</c:formatCode>
                <c:ptCount val="1"/>
                <c:pt idx="0">
                  <c:v>91.55827105350089</c:v>
                </c:pt>
              </c:numCache>
            </c:numRef>
          </c:yVal>
          <c:bubbleSize>
            <c:numRef>
              <c:f>Sheet1!$C$14:$C$14</c:f>
              <c:numCache>
                <c:formatCode>General</c:formatCode>
                <c:ptCount val="1"/>
                <c:pt idx="0">
                  <c:v>627.513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309.009</c:v>
                </c:pt>
                <c:pt idx="2">
                  <c:v>349.271</c:v>
                </c:pt>
                <c:pt idx="3">
                  <c:v>406.553</c:v>
                </c:pt>
                <c:pt idx="4">
                  <c:v>482.775</c:v>
                </c:pt>
                <c:pt idx="5">
                  <c:v>577.397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309.009</c:v>
                </c:pt>
                <c:pt idx="1">
                  <c:v>40.262</c:v>
                </c:pt>
                <c:pt idx="2">
                  <c:v>57.28199999999998</c:v>
                </c:pt>
                <c:pt idx="3">
                  <c:v>76.22199999999998</c:v>
                </c:pt>
                <c:pt idx="4">
                  <c:v>94.62200000000007</c:v>
                </c:pt>
                <c:pt idx="5">
                  <c:v>113.20799999999997</c:v>
                </c:pt>
                <c:pt idx="6">
                  <c:v>690.605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346.519</c:v>
                </c:pt>
                <c:pt idx="2">
                  <c:v>397.247</c:v>
                </c:pt>
                <c:pt idx="3">
                  <c:v>466.569</c:v>
                </c:pt>
                <c:pt idx="4">
                  <c:v>561.901</c:v>
                </c:pt>
                <c:pt idx="5">
                  <c:v>676.527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346.519</c:v>
                </c:pt>
                <c:pt idx="1">
                  <c:v>50.72800000000001</c:v>
                </c:pt>
                <c:pt idx="2">
                  <c:v>69.322</c:v>
                </c:pt>
                <c:pt idx="3">
                  <c:v>95.33199999999994</c:v>
                </c:pt>
                <c:pt idx="4">
                  <c:v>114.62600000000009</c:v>
                </c:pt>
                <c:pt idx="5">
                  <c:v>134.77599999999995</c:v>
                </c:pt>
                <c:pt idx="6">
                  <c:v>811.303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409.032</c:v>
                </c:pt>
                <c:pt idx="2">
                  <c:v>469.106</c:v>
                </c:pt>
                <c:pt idx="3">
                  <c:v>545.997</c:v>
                </c:pt>
                <c:pt idx="4">
                  <c:v>635.725</c:v>
                </c:pt>
                <c:pt idx="5">
                  <c:v>744.206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409.032</c:v>
                </c:pt>
                <c:pt idx="1">
                  <c:v>60.07400000000001</c:v>
                </c:pt>
                <c:pt idx="2">
                  <c:v>76.89099999999996</c:v>
                </c:pt>
                <c:pt idx="3">
                  <c:v>89.72800000000007</c:v>
                </c:pt>
                <c:pt idx="4">
                  <c:v>108.481</c:v>
                </c:pt>
                <c:pt idx="5">
                  <c:v>125.52499999999998</c:v>
                </c:pt>
                <c:pt idx="6">
                  <c:v>869.731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382.063</c:v>
                </c:pt>
                <c:pt idx="2">
                  <c:v>435.15</c:v>
                </c:pt>
                <c:pt idx="3">
                  <c:v>500.188</c:v>
                </c:pt>
                <c:pt idx="4">
                  <c:v>578.163</c:v>
                </c:pt>
                <c:pt idx="5">
                  <c:v>668.737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382.063</c:v>
                </c:pt>
                <c:pt idx="1">
                  <c:v>53.08699999999999</c:v>
                </c:pt>
                <c:pt idx="2">
                  <c:v>65.03800000000001</c:v>
                </c:pt>
                <c:pt idx="3">
                  <c:v>77.97500000000002</c:v>
                </c:pt>
                <c:pt idx="4">
                  <c:v>90.57399999999996</c:v>
                </c:pt>
                <c:pt idx="5">
                  <c:v>103.90200000000004</c:v>
                </c:pt>
                <c:pt idx="6">
                  <c:v>772.639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324.282</c:v>
                </c:pt>
                <c:pt idx="2">
                  <c:v>364.75</c:v>
                </c:pt>
                <c:pt idx="3">
                  <c:v>415.025</c:v>
                </c:pt>
                <c:pt idx="4">
                  <c:v>474.846</c:v>
                </c:pt>
                <c:pt idx="5">
                  <c:v>545.685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324.282</c:v>
                </c:pt>
                <c:pt idx="1">
                  <c:v>40.46800000000002</c:v>
                </c:pt>
                <c:pt idx="2">
                  <c:v>50.27499999999998</c:v>
                </c:pt>
                <c:pt idx="3">
                  <c:v>59.821000000000026</c:v>
                </c:pt>
                <c:pt idx="4">
                  <c:v>70.83899999999994</c:v>
                </c:pt>
                <c:pt idx="5">
                  <c:v>81.82800000000009</c:v>
                </c:pt>
                <c:pt idx="6">
                  <c:v>627.513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Medium Hold</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22.03614970167509</c:v>
                </c:pt>
                <c:pt idx="1">
                  <c:v>23.097342884005634</c:v>
                </c:pt>
                <c:pt idx="2">
                  <c:v>23.05883332347948</c:v>
                </c:pt>
              </c:numCache>
            </c:numRef>
          </c:val>
        </c:ser>
        <c:ser>
          <c:idx val="1"/>
          <c:order val="1"/>
          <c:tx>
            <c:strRef>
              <c:f>Sheet1!$C$1</c:f>
              <c:strCache>
                <c:ptCount val="1"/>
                <c:pt idx="0">
                  <c:v>Light or Flexible Hold</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19.865311746972544</c:v>
                </c:pt>
                <c:pt idx="1">
                  <c:v>19.56733986295143</c:v>
                </c:pt>
                <c:pt idx="2">
                  <c:v>21.50975491484019</c:v>
                </c:pt>
              </c:numCache>
            </c:numRef>
          </c:val>
        </c:ser>
        <c:ser>
          <c:idx val="2"/>
          <c:order val="2"/>
          <c:tx>
            <c:strRef>
              <c:f>Sheet1!$D$1</c:f>
              <c:strCache>
                <c:ptCount val="1"/>
                <c:pt idx="0">
                  <c:v>Strong Hold</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21.36329295754478</c:v>
                </c:pt>
                <c:pt idx="1">
                  <c:v>21.574449222290298</c:v>
                </c:pt>
                <c:pt idx="2">
                  <c:v>20.484671605611233</c:v>
                </c:pt>
              </c:numCache>
            </c:numRef>
          </c:val>
        </c:ser>
        <c:ser>
          <c:idx val="3"/>
          <c:order val="3"/>
          <c:tx>
            <c:strRef>
              <c:f>Sheet1!$E$1</c:f>
              <c:strCache>
                <c:ptCount val="1"/>
                <c:pt idx="0">
                  <c:v>No Hold</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18.280748362245202</c:v>
                </c:pt>
                <c:pt idx="1">
                  <c:v>17.44921382005246</c:v>
                </c:pt>
                <c:pt idx="2">
                  <c:v>18.30973667416885</c:v>
                </c:pt>
              </c:numCache>
            </c:numRef>
          </c:val>
        </c:ser>
        <c:ser>
          <c:idx val="4"/>
          <c:order val="4"/>
          <c:tx>
            <c:strRef>
              <c:f>Sheet1!$F$1</c:f>
              <c:strCache>
                <c:ptCount val="1"/>
                <c:pt idx="0">
                  <c:v>Extra-strong Hold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18.45449723156238</c:v>
                </c:pt>
                <c:pt idx="1">
                  <c:v>18.31165421070018</c:v>
                </c:pt>
                <c:pt idx="2">
                  <c:v>16.63700348190024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Matte</c:v>
                </c:pt>
              </c:strCache>
            </c:strRef>
          </c:tx>
          <c:spPr>
            <a:solidFill>
              <a:srgbClr val="3D85C6"/>
            </a:solidFill>
            <a:ln>
              <a:noFill/>
            </a:ln>
          </c:spPr>
          <c:dLbls>
            <c:dLbl>
              <c:idx val="0"/>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Sheet1!$B$2:$B$10</c:f>
              <c:numCache>
                <c:formatCode>General</c:formatCode>
                <c:ptCount val="9"/>
                <c:pt idx="0">
                  <c:v>31.754542991106987</c:v>
                </c:pt>
                <c:pt idx="1">
                  <c:v>33.09469663516736</c:v>
                </c:pt>
                <c:pt idx="2">
                  <c:v>33.09536894168375</c:v>
                </c:pt>
                <c:pt idx="3">
                  <c:v>31.209107289929054</c:v>
                </c:pt>
                <c:pt idx="4">
                  <c:v>30.78240836459226</c:v>
                </c:pt>
                <c:pt idx="5">
                  <c:v>33.09531948295289</c:v>
                </c:pt>
                <c:pt idx="6">
                  <c:v>31.313119311836136</c:v>
                </c:pt>
                <c:pt idx="7">
                  <c:v>33.45669200072856</c:v>
                </c:pt>
                <c:pt idx="8">
                  <c:v>33.095552812401</c:v>
                </c:pt>
              </c:numCache>
            </c:numRef>
          </c:val>
        </c:ser>
        <c:ser>
          <c:idx val="1"/>
          <c:order val="1"/>
          <c:tx>
            <c:strRef>
              <c:f>Sheet1!$C$1</c:f>
              <c:strCache>
                <c:ptCount val="1"/>
                <c:pt idx="0">
                  <c:v>Natural</c:v>
                </c:pt>
              </c:strCache>
            </c:strRef>
          </c:tx>
          <c:spPr>
            <a:solidFill>
              <a:srgbClr val="9E7E0A"/>
            </a:solidFill>
            <a:ln>
              <a:noFill/>
            </a:ln>
          </c:spPr>
          <c:dLbls>
            <c:dLbl>
              <c:idx val="0"/>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Sheet1!$C$2:$C$10</c:f>
              <c:numCache>
                <c:formatCode>General</c:formatCode>
                <c:ptCount val="9"/>
                <c:pt idx="0">
                  <c:v>34.75993792135062</c:v>
                </c:pt>
                <c:pt idx="1">
                  <c:v>32.335732579705024</c:v>
                </c:pt>
                <c:pt idx="2">
                  <c:v>32.36879372661749</c:v>
                </c:pt>
                <c:pt idx="3">
                  <c:v>30.59454081014077</c:v>
                </c:pt>
                <c:pt idx="4">
                  <c:v>29.97476313777227</c:v>
                </c:pt>
                <c:pt idx="5">
                  <c:v>32.36893412840088</c:v>
                </c:pt>
                <c:pt idx="6">
                  <c:v>30.689351994867287</c:v>
                </c:pt>
                <c:pt idx="7">
                  <c:v>33.9108009206365</c:v>
                </c:pt>
                <c:pt idx="8">
                  <c:v>32.38649684504548</c:v>
                </c:pt>
              </c:numCache>
            </c:numRef>
          </c:val>
        </c:ser>
        <c:ser>
          <c:idx val="2"/>
          <c:order val="2"/>
          <c:tx>
            <c:strRef>
              <c:f>Sheet1!$D$1</c:f>
              <c:strCache>
                <c:ptCount val="1"/>
                <c:pt idx="0">
                  <c:v>Glossy or Wet-look</c:v>
                </c:pt>
              </c:strCache>
            </c:strRef>
          </c:tx>
          <c:spPr>
            <a:solidFill>
              <a:srgbClr val="008189"/>
            </a:solidFill>
            <a:ln>
              <a:noFill/>
            </a:ln>
          </c:spPr>
          <c:dLbls>
            <c:dLbl>
              <c:idx val="0"/>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Sheet1!$D$2:$D$10</c:f>
              <c:numCache>
                <c:formatCode>General</c:formatCode>
                <c:ptCount val="9"/>
                <c:pt idx="0">
                  <c:v>33.48551908754239</c:v>
                </c:pt>
                <c:pt idx="1">
                  <c:v>34.56957078512761</c:v>
                </c:pt>
                <c:pt idx="2">
                  <c:v>34.53583733169876</c:v>
                </c:pt>
                <c:pt idx="3">
                  <c:v>38.19635189993018</c:v>
                </c:pt>
                <c:pt idx="4">
                  <c:v>39.242828497635486</c:v>
                </c:pt>
                <c:pt idx="5">
                  <c:v>34.53574638864623</c:v>
                </c:pt>
                <c:pt idx="6">
                  <c:v>37.99752869329659</c:v>
                </c:pt>
                <c:pt idx="7">
                  <c:v>32.632507078634944</c:v>
                </c:pt>
                <c:pt idx="8">
                  <c:v>34.517950342553526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0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Matte</c:v>
                </c:pt>
              </c:strCache>
            </c:strRef>
          </c:tx>
          <c:spPr>
            <a:solidFill>
              <a:srgbClr val="3D85C6"/>
            </a:solidFill>
          </c:spPr>
          <c:invertIfNegative val="0"/>
          <c:xVal>
            <c:numRef>
              <c:f>Sheet1!$A$2:$A$2</c:f>
              <c:numCache>
                <c:formatCode>General</c:formatCode>
                <c:ptCount val="1"/>
                <c:pt idx="0">
                  <c:v>99.00860808267569</c:v>
                </c:pt>
              </c:numCache>
            </c:numRef>
          </c:xVal>
          <c:yVal>
            <c:numRef>
              <c:f>Sheet1!$B$2:$B$2</c:f>
              <c:numCache>
                <c:formatCode>General</c:formatCode>
                <c:ptCount val="1"/>
                <c:pt idx="0">
                  <c:v>98.43763499453668</c:v>
                </c:pt>
              </c:numCache>
            </c:numRef>
          </c:yVal>
          <c:bubbleSize>
            <c:numRef>
              <c:f>Sheet1!$C$2:$C$2</c:f>
              <c:numCache>
                <c:formatCode>General</c:formatCode>
                <c:ptCount val="1"/>
                <c:pt idx="0">
                  <c:v>1228.715</c:v>
                </c:pt>
              </c:numCache>
            </c:numRef>
          </c:bubbleSize>
          <c:bubble3D val="0"/>
        </c:ser>
        <c:ser>
          <c:idx val="1"/>
          <c:order val="1"/>
          <c:tx>
            <c:strRef>
              <c:f>Sheet1!$B$4</c:f>
              <c:strCache>
                <c:ptCount val="1"/>
                <c:pt idx="0">
                  <c:v>Natural</c:v>
                </c:pt>
              </c:strCache>
            </c:strRef>
          </c:tx>
          <c:spPr>
            <a:solidFill>
              <a:srgbClr val="9E7E0A"/>
            </a:solidFill>
          </c:spPr>
          <c:invertIfNegative val="0"/>
          <c:xVal>
            <c:numRef>
              <c:f>Sheet1!$A$5:$A$5</c:f>
              <c:numCache>
                <c:formatCode>General</c:formatCode>
                <c:ptCount val="1"/>
                <c:pt idx="0">
                  <c:v>91.87761851578047</c:v>
                </c:pt>
              </c:numCache>
            </c:numRef>
          </c:xVal>
          <c:yVal>
            <c:numRef>
              <c:f>Sheet1!$B$5:$B$5</c:f>
              <c:numCache>
                <c:formatCode>General</c:formatCode>
                <c:ptCount val="1"/>
                <c:pt idx="0">
                  <c:v>102.55315784867061</c:v>
                </c:pt>
              </c:numCache>
            </c:numRef>
          </c:yVal>
          <c:bubbleSize>
            <c:numRef>
              <c:f>Sheet1!$C$5:$C$5</c:f>
              <c:numCache>
                <c:formatCode>General</c:formatCode>
                <c:ptCount val="1"/>
                <c:pt idx="0">
                  <c:v>1215.101</c:v>
                </c:pt>
              </c:numCache>
            </c:numRef>
          </c:bubbleSize>
          <c:bubble3D val="0"/>
        </c:ser>
        <c:ser>
          <c:idx val="2"/>
          <c:order val="2"/>
          <c:tx>
            <c:strRef>
              <c:f>Sheet1!$B$7</c:f>
              <c:strCache>
                <c:ptCount val="1"/>
                <c:pt idx="0">
                  <c:v>Glossy or Wet-look</c:v>
                </c:pt>
              </c:strCache>
            </c:strRef>
          </c:tx>
          <c:spPr>
            <a:solidFill>
              <a:srgbClr val="008189"/>
            </a:solidFill>
          </c:spPr>
          <c:invertIfNegative val="0"/>
          <c:xVal>
            <c:numRef>
              <c:f>Sheet1!$A$8:$A$8</c:f>
              <c:numCache>
                <c:formatCode>General</c:formatCode>
                <c:ptCount val="1"/>
                <c:pt idx="0">
                  <c:v>108.91044234671601</c:v>
                </c:pt>
              </c:numCache>
            </c:numRef>
          </c:xVal>
          <c:yVal>
            <c:numRef>
              <c:f>Sheet1!$B$8:$B$8</c:f>
              <c:numCache>
                <c:formatCode>General</c:formatCode>
                <c:ptCount val="1"/>
                <c:pt idx="0">
                  <c:v>99.00920715679273</c:v>
                </c:pt>
              </c:numCache>
            </c:numRef>
          </c:yVal>
          <c:bubbleSize>
            <c:numRef>
              <c:f>Sheet1!$C$8:$C$8</c:f>
              <c:numCache>
                <c:formatCode>General</c:formatCode>
                <c:ptCount val="1"/>
                <c:pt idx="0">
                  <c:v>1327.975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581.079</c:v>
                </c:pt>
                <c:pt idx="2">
                  <c:v>665.367</c:v>
                </c:pt>
                <c:pt idx="3">
                  <c:v>772.837</c:v>
                </c:pt>
                <c:pt idx="4">
                  <c:v>899.933</c:v>
                </c:pt>
                <c:pt idx="5">
                  <c:v>1052.611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581.079</c:v>
                </c:pt>
                <c:pt idx="1">
                  <c:v>84.28800000000001</c:v>
                </c:pt>
                <c:pt idx="2">
                  <c:v>107.47000000000003</c:v>
                </c:pt>
                <c:pt idx="3">
                  <c:v>127.096</c:v>
                </c:pt>
                <c:pt idx="4">
                  <c:v>152.6780000000001</c:v>
                </c:pt>
                <c:pt idx="5">
                  <c:v>176.10399999999981</c:v>
                </c:pt>
                <c:pt idx="6">
                  <c:v>1228.715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605.373</c:v>
                </c:pt>
                <c:pt idx="2">
                  <c:v>688.098</c:v>
                </c:pt>
                <c:pt idx="3">
                  <c:v>789.008</c:v>
                </c:pt>
                <c:pt idx="4">
                  <c:v>911.713</c:v>
                </c:pt>
                <c:pt idx="5">
                  <c:v>1053.276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605.373</c:v>
                </c:pt>
                <c:pt idx="1">
                  <c:v>82.72499999999991</c:v>
                </c:pt>
                <c:pt idx="2">
                  <c:v>100.91000000000008</c:v>
                </c:pt>
                <c:pt idx="3">
                  <c:v>122.70499999999993</c:v>
                </c:pt>
                <c:pt idx="4">
                  <c:v>141.5630000000001</c:v>
                </c:pt>
                <c:pt idx="5">
                  <c:v>161.82500000000005</c:v>
                </c:pt>
                <c:pt idx="6">
                  <c:v>1215.101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584.453</c:v>
                </c:pt>
                <c:pt idx="2">
                  <c:v>662.059</c:v>
                </c:pt>
                <c:pt idx="3">
                  <c:v>772.487</c:v>
                </c:pt>
                <c:pt idx="4">
                  <c:v>921.764</c:v>
                </c:pt>
                <c:pt idx="5">
                  <c:v>1106.664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584.453</c:v>
                </c:pt>
                <c:pt idx="1">
                  <c:v>77.606</c:v>
                </c:pt>
                <c:pt idx="2">
                  <c:v>110.428</c:v>
                </c:pt>
                <c:pt idx="3">
                  <c:v>149.27700000000004</c:v>
                </c:pt>
                <c:pt idx="4">
                  <c:v>184.89999999999998</c:v>
                </c:pt>
                <c:pt idx="5">
                  <c:v>221.31099999999992</c:v>
                </c:pt>
                <c:pt idx="6">
                  <c:v>1327.975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Glossy or Wet-look</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34.49470350902573</c:v>
                </c:pt>
                <c:pt idx="1">
                  <c:v>33.00306905226424</c:v>
                </c:pt>
                <c:pt idx="2">
                  <c:v>35.2080748906819</c:v>
                </c:pt>
              </c:numCache>
            </c:numRef>
          </c:val>
        </c:ser>
        <c:ser>
          <c:idx val="1"/>
          <c:order val="1"/>
          <c:tx>
            <c:strRef>
              <c:f>Sheet1!$C$1</c:f>
              <c:strCache>
                <c:ptCount val="1"/>
                <c:pt idx="0">
                  <c:v>Matte</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31.45994350604468</c:v>
                </c:pt>
                <c:pt idx="1">
                  <c:v>32.81254499817889</c:v>
                </c:pt>
                <c:pt idx="2">
                  <c:v>32.57643384800483</c:v>
                </c:pt>
              </c:numCache>
            </c:numRef>
          </c:val>
        </c:ser>
        <c:ser>
          <c:idx val="2"/>
          <c:order val="2"/>
          <c:tx>
            <c:strRef>
              <c:f>Sheet1!$D$1</c:f>
              <c:strCache>
                <c:ptCount val="1"/>
                <c:pt idx="0">
                  <c:v>Natural</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34.045352984929586</c:v>
                </c:pt>
                <c:pt idx="1">
                  <c:v>34.18438594955687</c:v>
                </c:pt>
                <c:pt idx="2">
                  <c:v>32.21549126131326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Mass Retail</c:v>
                </c:pt>
              </c:strCache>
            </c:strRef>
          </c:tx>
          <c:spPr>
            <a:solidFill>
              <a:srgbClr val="3D85C6"/>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Sheet1!$B$2:$B$10</c:f>
              <c:numCache>
                <c:formatCode>General</c:formatCode>
                <c:ptCount val="9"/>
                <c:pt idx="0">
                  <c:v>16.84595171620956</c:v>
                </c:pt>
                <c:pt idx="1">
                  <c:v>14.888390885807649</c:v>
                </c:pt>
                <c:pt idx="2">
                  <c:v>18.06354792515443</c:v>
                </c:pt>
                <c:pt idx="3">
                  <c:v>22.05155647716916</c:v>
                </c:pt>
                <c:pt idx="4">
                  <c:v>16.794108573941465</c:v>
                </c:pt>
                <c:pt idx="5">
                  <c:v>23.656182840792916</c:v>
                </c:pt>
                <c:pt idx="6">
                  <c:v>21.76056840054179</c:v>
                </c:pt>
                <c:pt idx="7">
                  <c:v>16.44023313960227</c:v>
                </c:pt>
                <c:pt idx="8">
                  <c:v>22.215079569155172</c:v>
                </c:pt>
              </c:numCache>
            </c:numRef>
          </c:val>
        </c:ser>
        <c:ser>
          <c:idx val="1"/>
          <c:order val="1"/>
          <c:tx>
            <c:strRef>
              <c:f>Sheet1!$C$1</c:f>
              <c:strCache>
                <c:ptCount val="1"/>
                <c:pt idx="0">
                  <c:v>Beauty Specialty Retail</c:v>
                </c:pt>
              </c:strCache>
            </c:strRef>
          </c:tx>
          <c:spPr>
            <a:solidFill>
              <a:srgbClr val="9E7E0A"/>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Sheet1!$C$2:$C$10</c:f>
              <c:numCache>
                <c:formatCode>General</c:formatCode>
                <c:ptCount val="9"/>
                <c:pt idx="0">
                  <c:v>15.779274100837576</c:v>
                </c:pt>
                <c:pt idx="1">
                  <c:v>16.64201183431953</c:v>
                </c:pt>
                <c:pt idx="2">
                  <c:v>15.479568596989058</c:v>
                </c:pt>
                <c:pt idx="3">
                  <c:v>15.087334966596153</c:v>
                </c:pt>
                <c:pt idx="4">
                  <c:v>16.136442697086448</c:v>
                </c:pt>
                <c:pt idx="5">
                  <c:v>15.283892551598843</c:v>
                </c:pt>
                <c:pt idx="6">
                  <c:v>15.076951104563205</c:v>
                </c:pt>
                <c:pt idx="7">
                  <c:v>15.49089574398799</c:v>
                </c:pt>
                <c:pt idx="8">
                  <c:v>15.04520038923258</c:v>
                </c:pt>
              </c:numCache>
            </c:numRef>
          </c:val>
        </c:ser>
        <c:ser>
          <c:idx val="2"/>
          <c:order val="2"/>
          <c:tx>
            <c:strRef>
              <c:f>Sheet1!$D$1</c:f>
              <c:strCache>
                <c:ptCount val="1"/>
                <c:pt idx="0">
                  <c:v>Salon and Professional Distribution</c:v>
                </c:pt>
              </c:strCache>
            </c:strRef>
          </c:tx>
          <c:spPr>
            <a:solidFill>
              <a:srgbClr val="008189"/>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Sheet1!$D$2:$D$10</c:f>
              <c:numCache>
                <c:formatCode>General</c:formatCode>
                <c:ptCount val="9"/>
                <c:pt idx="0">
                  <c:v>16.905074724913778</c:v>
                </c:pt>
                <c:pt idx="1">
                  <c:v>19.562505519738586</c:v>
                </c:pt>
                <c:pt idx="2">
                  <c:v>16.449749792594705</c:v>
                </c:pt>
                <c:pt idx="3">
                  <c:v>16.00332784267164</c:v>
                </c:pt>
                <c:pt idx="4">
                  <c:v>17.086513911405447</c:v>
                </c:pt>
                <c:pt idx="5">
                  <c:v>16.387558672815377</c:v>
                </c:pt>
                <c:pt idx="6">
                  <c:v>15.989829622412852</c:v>
                </c:pt>
                <c:pt idx="7">
                  <c:v>19.36192936267448</c:v>
                </c:pt>
                <c:pt idx="8">
                  <c:v>15.980887941016814</c:v>
                </c:pt>
              </c:numCache>
            </c:numRef>
          </c:val>
        </c:ser>
        <c:ser>
          <c:idx val="3"/>
          <c:order val="3"/>
          <c:tx>
            <c:strRef>
              <c:f>Sheet1!$E$1</c:f>
              <c:strCache>
                <c:ptCount val="1"/>
                <c:pt idx="0">
                  <c:v>Pharmacies and Drugstores</c:v>
                </c:pt>
              </c:strCache>
            </c:strRef>
          </c:tx>
          <c:spPr>
            <a:solidFill>
              <a:srgbClr val="40315E"/>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Sheet1!$E$2:$E$10</c:f>
              <c:numCache>
                <c:formatCode>General</c:formatCode>
                <c:ptCount val="9"/>
                <c:pt idx="0">
                  <c:v>14.183774018722287</c:v>
                </c:pt>
                <c:pt idx="1">
                  <c:v>12.490064470546676</c:v>
                </c:pt>
                <c:pt idx="2">
                  <c:v>13.766955713025053</c:v>
                </c:pt>
                <c:pt idx="3">
                  <c:v>13.428848549712788</c:v>
                </c:pt>
                <c:pt idx="4">
                  <c:v>14.237612974789474</c:v>
                </c:pt>
                <c:pt idx="5">
                  <c:v>13.775411698797585</c:v>
                </c:pt>
                <c:pt idx="6">
                  <c:v>13.415749827721408</c:v>
                </c:pt>
                <c:pt idx="7">
                  <c:v>13.745660369027316</c:v>
                </c:pt>
                <c:pt idx="8">
                  <c:v>13.29835954266853</c:v>
                </c:pt>
              </c:numCache>
            </c:numRef>
          </c:val>
        </c:ser>
        <c:ser>
          <c:idx val="4"/>
          <c:order val="4"/>
          <c:tx>
            <c:strRef>
              <c:f>Sheet1!$F$1</c:f>
              <c:strCache>
                <c:ptCount val="1"/>
                <c:pt idx="0">
                  <c:v>Online Marketplaces</c:v>
                </c:pt>
              </c:strCache>
            </c:strRef>
          </c:tx>
          <c:spPr>
            <a:solidFill>
              <a:srgbClr val="A35313"/>
            </a:solidFill>
            <a:ln>
              <a:noFill/>
            </a:ln>
          </c:spPr>
          <c:dLbls>
            <c:dLbl>
              <c:idx val="0"/>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Sheet1!$F$2:$F$10</c:f>
              <c:numCache>
                <c:formatCode>General</c:formatCode>
                <c:ptCount val="9"/>
                <c:pt idx="0">
                  <c:v>22.889637050418788</c:v>
                </c:pt>
                <c:pt idx="1">
                  <c:v>21.997262209661752</c:v>
                </c:pt>
                <c:pt idx="2">
                  <c:v>23.179721310695772</c:v>
                </c:pt>
                <c:pt idx="3">
                  <c:v>20.70620500514227</c:v>
                </c:pt>
                <c:pt idx="4">
                  <c:v>22.019992517573854</c:v>
                </c:pt>
                <c:pt idx="5">
                  <c:v>17.97864831759757</c:v>
                </c:pt>
                <c:pt idx="6">
                  <c:v>21.041156761637716</c:v>
                </c:pt>
                <c:pt idx="7">
                  <c:v>21.76783733214114</c:v>
                </c:pt>
                <c:pt idx="8">
                  <c:v>20.706299147755445</c:v>
                </c:pt>
              </c:numCache>
            </c:numRef>
          </c:val>
        </c:ser>
        <c:ser>
          <c:idx val="5"/>
          <c:order val="5"/>
          <c:tx>
            <c:strRef>
              <c:f>Sheet1!$G$1</c:f>
              <c:strCache>
                <c:ptCount val="1"/>
                <c:pt idx="0">
                  <c:v>Brand-owned Online Stores</c:v>
                </c:pt>
              </c:strCache>
            </c:strRef>
          </c:tx>
          <c:spPr>
            <a:solidFill>
              <a:srgbClr val="808080"/>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Sheet1!$G$2:$G$10</c:f>
              <c:numCache>
                <c:formatCode>General</c:formatCode>
                <c:ptCount val="9"/>
                <c:pt idx="0">
                  <c:v>13.39628838889801</c:v>
                </c:pt>
                <c:pt idx="1">
                  <c:v>14.419765079925817</c:v>
                </c:pt>
                <c:pt idx="2">
                  <c:v>13.060456661540984</c:v>
                </c:pt>
                <c:pt idx="3">
                  <c:v>12.722727158707995</c:v>
                </c:pt>
                <c:pt idx="4">
                  <c:v>13.725329325203306</c:v>
                </c:pt>
                <c:pt idx="5">
                  <c:v>12.918305918397705</c:v>
                </c:pt>
                <c:pt idx="6">
                  <c:v>12.715744283123035</c:v>
                </c:pt>
                <c:pt idx="7">
                  <c:v>13.193444052566797</c:v>
                </c:pt>
                <c:pt idx="8">
                  <c:v>12.754173410171473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0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Mass Retail</c:v>
                </c:pt>
              </c:strCache>
            </c:strRef>
          </c:tx>
          <c:spPr>
            <a:solidFill>
              <a:srgbClr val="3D85C6"/>
            </a:solidFill>
          </c:spPr>
          <c:invertIfNegative val="0"/>
          <c:xVal>
            <c:numRef>
              <c:f>Sheet1!$A$2:$A$2</c:f>
              <c:numCache>
                <c:formatCode>General</c:formatCode>
                <c:ptCount val="1"/>
                <c:pt idx="0">
                  <c:v>85.11425004013556</c:v>
                </c:pt>
              </c:numCache>
            </c:numRef>
          </c:xVal>
          <c:yVal>
            <c:numRef>
              <c:f>Sheet1!$B$2:$B$2</c:f>
              <c:numCache>
                <c:formatCode>General</c:formatCode>
                <c:ptCount val="1"/>
                <c:pt idx="0">
                  <c:v>133.7073042920452</c:v>
                </c:pt>
              </c:numCache>
            </c:numRef>
          </c:yVal>
          <c:bubbleSize>
            <c:numRef>
              <c:f>Sheet1!$C$2:$C$2</c:f>
              <c:numCache>
                <c:formatCode>General</c:formatCode>
                <c:ptCount val="1"/>
                <c:pt idx="0">
                  <c:v>753.735</c:v>
                </c:pt>
              </c:numCache>
            </c:numRef>
          </c:bubbleSize>
          <c:bubble3D val="0"/>
        </c:ser>
        <c:ser>
          <c:idx val="1"/>
          <c:order val="1"/>
          <c:tx>
            <c:strRef>
              <c:f>Sheet1!$B$4</c:f>
              <c:strCache>
                <c:ptCount val="1"/>
                <c:pt idx="0">
                  <c:v>Beauty Specialty Retail</c:v>
                </c:pt>
              </c:strCache>
            </c:strRef>
          </c:tx>
          <c:spPr>
            <a:solidFill>
              <a:srgbClr val="9E7E0A"/>
            </a:solidFill>
          </c:spPr>
          <c:invertIfNegative val="0"/>
          <c:xVal>
            <c:numRef>
              <c:f>Sheet1!$A$5:$A$5</c:f>
              <c:numCache>
                <c:formatCode>General</c:formatCode>
                <c:ptCount val="1"/>
                <c:pt idx="0">
                  <c:v>103.89528313199163</c:v>
                </c:pt>
              </c:numCache>
            </c:numRef>
          </c:xVal>
          <c:yVal>
            <c:numRef>
              <c:f>Sheet1!$B$5:$B$5</c:f>
              <c:numCache>
                <c:formatCode>General</c:formatCode>
                <c:ptCount val="1"/>
                <c:pt idx="0">
                  <c:v>89.63354309437437</c:v>
                </c:pt>
              </c:numCache>
            </c:numRef>
          </c:yVal>
          <c:bubbleSize>
            <c:numRef>
              <c:f>Sheet1!$C$5:$C$5</c:f>
              <c:numCache>
                <c:formatCode>General</c:formatCode>
                <c:ptCount val="1"/>
                <c:pt idx="0">
                  <c:v>579.653</c:v>
                </c:pt>
              </c:numCache>
            </c:numRef>
          </c:bubbleSize>
          <c:bubble3D val="0"/>
        </c:ser>
        <c:ser>
          <c:idx val="2"/>
          <c:order val="2"/>
          <c:tx>
            <c:strRef>
              <c:f>Sheet1!$B$7</c:f>
              <c:strCache>
                <c:ptCount val="1"/>
                <c:pt idx="0">
                  <c:v>Salon and Professional Distribution</c:v>
                </c:pt>
              </c:strCache>
            </c:strRef>
          </c:tx>
          <c:spPr>
            <a:solidFill>
              <a:srgbClr val="008189"/>
            </a:solidFill>
          </c:spPr>
          <c:invertIfNegative val="0"/>
          <c:xVal>
            <c:numRef>
              <c:f>Sheet1!$A$8:$A$8</c:f>
              <c:numCache>
                <c:formatCode>General</c:formatCode>
                <c:ptCount val="1"/>
                <c:pt idx="0">
                  <c:v>95.32319840235695</c:v>
                </c:pt>
              </c:numCache>
            </c:numRef>
          </c:xVal>
          <c:yVal>
            <c:numRef>
              <c:f>Sheet1!$B$8:$B$8</c:f>
              <c:numCache>
                <c:formatCode>General</c:formatCode>
                <c:ptCount val="1"/>
                <c:pt idx="0">
                  <c:v>105.42751046922928</c:v>
                </c:pt>
              </c:numCache>
            </c:numRef>
          </c:yVal>
          <c:bubbleSize>
            <c:numRef>
              <c:f>Sheet1!$C$8:$C$8</c:f>
              <c:numCache>
                <c:formatCode>General</c:formatCode>
                <c:ptCount val="1"/>
                <c:pt idx="0">
                  <c:v>640.523</c:v>
                </c:pt>
              </c:numCache>
            </c:numRef>
          </c:bubbleSize>
          <c:bubble3D val="0"/>
        </c:ser>
        <c:ser>
          <c:idx val="3"/>
          <c:order val="3"/>
          <c:tx>
            <c:strRef>
              <c:f>Sheet1!$B$10</c:f>
              <c:strCache>
                <c:ptCount val="1"/>
                <c:pt idx="0">
                  <c:v>Pharmacies and Drugstores</c:v>
                </c:pt>
              </c:strCache>
            </c:strRef>
          </c:tx>
          <c:spPr>
            <a:solidFill>
              <a:srgbClr val="40315E"/>
            </a:solidFill>
          </c:spPr>
          <c:invertIfNegative val="0"/>
          <c:xVal>
            <c:numRef>
              <c:f>Sheet1!$A$11:$A$11</c:f>
              <c:numCache>
                <c:formatCode>General</c:formatCode>
                <c:ptCount val="1"/>
                <c:pt idx="0">
                  <c:v>89.66207742949625</c:v>
                </c:pt>
              </c:numCache>
            </c:numRef>
          </c:xVal>
          <c:yVal>
            <c:numRef>
              <c:f>Sheet1!$B$11:$B$11</c:f>
              <c:numCache>
                <c:formatCode>General</c:formatCode>
                <c:ptCount val="1"/>
                <c:pt idx="0">
                  <c:v>87.60000542096014</c:v>
                </c:pt>
              </c:numCache>
            </c:numRef>
          </c:yVal>
          <c:bubbleSize>
            <c:numRef>
              <c:f>Sheet1!$C$11:$C$11</c:f>
              <c:numCache>
                <c:formatCode>General</c:formatCode>
                <c:ptCount val="1"/>
                <c:pt idx="0">
                  <c:v>510.603</c:v>
                </c:pt>
              </c:numCache>
            </c:numRef>
          </c:bubbleSize>
          <c:bubble3D val="0"/>
        </c:ser>
        <c:ser>
          <c:idx val="4"/>
          <c:order val="4"/>
          <c:tx>
            <c:strRef>
              <c:f>Sheet1!$B$13</c:f>
              <c:strCache>
                <c:ptCount val="1"/>
                <c:pt idx="0">
                  <c:v>Online Marketplaces</c:v>
                </c:pt>
              </c:strCache>
            </c:strRef>
          </c:tx>
          <c:spPr>
            <a:solidFill>
              <a:srgbClr val="A35313"/>
            </a:solidFill>
          </c:spPr>
          <c:invertIfNegative val="0"/>
          <c:xVal>
            <c:numRef>
              <c:f>Sheet1!$A$14:$A$14</c:f>
              <c:numCache>
                <c:formatCode>General</c:formatCode>
                <c:ptCount val="1"/>
                <c:pt idx="0">
                  <c:v>117.41283569225354</c:v>
                </c:pt>
              </c:numCache>
            </c:numRef>
          </c:xVal>
          <c:yVal>
            <c:numRef>
              <c:f>Sheet1!$B$14:$B$14</c:f>
              <c:numCache>
                <c:formatCode>General</c:formatCode>
                <c:ptCount val="1"/>
                <c:pt idx="0">
                  <c:v>111.55590591020179</c:v>
                </c:pt>
              </c:numCache>
            </c:numRef>
          </c:yVal>
          <c:bubbleSize>
            <c:numRef>
              <c:f>Sheet1!$C$14:$C$14</c:f>
              <c:numCache>
                <c:formatCode>General</c:formatCode>
                <c:ptCount val="1"/>
                <c:pt idx="0">
                  <c:v>795.445</c:v>
                </c:pt>
              </c:numCache>
            </c:numRef>
          </c:bubbleSize>
          <c:bubble3D val="0"/>
        </c:ser>
        <c:ser>
          <c:idx val="5"/>
          <c:order val="5"/>
          <c:tx>
            <c:strRef>
              <c:f>Sheet1!$B$16</c:f>
              <c:strCache>
                <c:ptCount val="1"/>
                <c:pt idx="0">
                  <c:v>Brand-owned Online Stores</c:v>
                </c:pt>
              </c:strCache>
            </c:strRef>
          </c:tx>
          <c:spPr>
            <a:solidFill>
              <a:srgbClr val="808080"/>
            </a:solidFill>
          </c:spPr>
          <c:invertIfNegative val="0"/>
          <c:xVal>
            <c:numRef>
              <c:f>Sheet1!$A$17:$A$17</c:f>
              <c:numCache>
                <c:formatCode>General</c:formatCode>
                <c:ptCount val="1"/>
                <c:pt idx="0">
                  <c:v>111.3130482647534</c:v>
                </c:pt>
              </c:numCache>
            </c:numRef>
          </c:xVal>
          <c:yVal>
            <c:numRef>
              <c:f>Sheet1!$B$17:$B$17</c:f>
              <c:numCache>
                <c:formatCode>General</c:formatCode>
                <c:ptCount val="1"/>
                <c:pt idx="0">
                  <c:v>72.07573081318918</c:v>
                </c:pt>
              </c:numCache>
            </c:numRef>
          </c:yVal>
          <c:bubbleSize>
            <c:numRef>
              <c:f>Sheet1!$C$17:$C$17</c:f>
              <c:numCache>
                <c:formatCode>General</c:formatCode>
                <c:ptCount val="1"/>
                <c:pt idx="0">
                  <c:v>491.831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394.638</c:v>
                </c:pt>
                <c:pt idx="2">
                  <c:v>443.4</c:v>
                </c:pt>
                <c:pt idx="3">
                  <c:v>504.356</c:v>
                </c:pt>
                <c:pt idx="4">
                  <c:v>574.379</c:v>
                </c:pt>
                <c:pt idx="5">
                  <c:v>658.17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394.638</c:v>
                </c:pt>
                <c:pt idx="1">
                  <c:v>48.762</c:v>
                </c:pt>
                <c:pt idx="2">
                  <c:v>60.95600000000002</c:v>
                </c:pt>
                <c:pt idx="3">
                  <c:v>70.02300000000002</c:v>
                </c:pt>
                <c:pt idx="4">
                  <c:v>83.79099999999994</c:v>
                </c:pt>
                <c:pt idx="5">
                  <c:v>95.56500000000005</c:v>
                </c:pt>
                <c:pt idx="6">
                  <c:v>753.735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264.554</c:v>
                </c:pt>
                <c:pt idx="2">
                  <c:v>302.833</c:v>
                </c:pt>
                <c:pt idx="3">
                  <c:v>352.51</c:v>
                </c:pt>
                <c:pt idx="4">
                  <c:v>414.873</c:v>
                </c:pt>
                <c:pt idx="5">
                  <c:v>490.533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264.554</c:v>
                </c:pt>
                <c:pt idx="1">
                  <c:v>38.27900000000005</c:v>
                </c:pt>
                <c:pt idx="2">
                  <c:v>49.676999999999964</c:v>
                </c:pt>
                <c:pt idx="3">
                  <c:v>62.363</c:v>
                </c:pt>
                <c:pt idx="4">
                  <c:v>75.66000000000003</c:v>
                </c:pt>
                <c:pt idx="5">
                  <c:v>89.12</c:v>
                </c:pt>
                <c:pt idx="6">
                  <c:v>579.653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311.17</c:v>
                </c:pt>
                <c:pt idx="2">
                  <c:v>354.939</c:v>
                </c:pt>
                <c:pt idx="3">
                  <c:v>409.078</c:v>
                </c:pt>
                <c:pt idx="4">
                  <c:v>473.816</c:v>
                </c:pt>
                <c:pt idx="5">
                  <c:v>551.011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311.17</c:v>
                </c:pt>
                <c:pt idx="1">
                  <c:v>43.769000000000005</c:v>
                </c:pt>
                <c:pt idx="2">
                  <c:v>54.13899999999995</c:v>
                </c:pt>
                <c:pt idx="3">
                  <c:v>64.738</c:v>
                </c:pt>
                <c:pt idx="4">
                  <c:v>77.195</c:v>
                </c:pt>
                <c:pt idx="5">
                  <c:v>89.51200000000006</c:v>
                </c:pt>
                <c:pt idx="6">
                  <c:v>640.523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258.552</c:v>
                </c:pt>
                <c:pt idx="2">
                  <c:v>291.166</c:v>
                </c:pt>
                <c:pt idx="3">
                  <c:v>333.203</c:v>
                </c:pt>
                <c:pt idx="4">
                  <c:v>384.061</c:v>
                </c:pt>
                <c:pt idx="5">
                  <c:v>442.969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258.552</c:v>
                </c:pt>
                <c:pt idx="1">
                  <c:v>32.613999999999976</c:v>
                </c:pt>
                <c:pt idx="2">
                  <c:v>42.03699999999998</c:v>
                </c:pt>
                <c:pt idx="3">
                  <c:v>50.858000000000004</c:v>
                </c:pt>
                <c:pt idx="4">
                  <c:v>58.908000000000015</c:v>
                </c:pt>
                <c:pt idx="5">
                  <c:v>67.63400000000001</c:v>
                </c:pt>
                <c:pt idx="6">
                  <c:v>510.603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329.258</c:v>
                </c:pt>
                <c:pt idx="2">
                  <c:v>379.603</c:v>
                </c:pt>
                <c:pt idx="3">
                  <c:v>448.42</c:v>
                </c:pt>
                <c:pt idx="4">
                  <c:v>543.326</c:v>
                </c:pt>
                <c:pt idx="5">
                  <c:v>658.814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329.258</c:v>
                </c:pt>
                <c:pt idx="1">
                  <c:v>50.34500000000003</c:v>
                </c:pt>
                <c:pt idx="2">
                  <c:v>68.81700000000001</c:v>
                </c:pt>
                <c:pt idx="3">
                  <c:v>94.906</c:v>
                </c:pt>
                <c:pt idx="4">
                  <c:v>115.48799999999994</c:v>
                </c:pt>
                <c:pt idx="5">
                  <c:v>136.63100000000009</c:v>
                </c:pt>
                <c:pt idx="6">
                  <c:v>795.445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212.732</c:v>
                </c:pt>
                <c:pt idx="2">
                  <c:v>243.583</c:v>
                </c:pt>
                <c:pt idx="3">
                  <c:v>286.765</c:v>
                </c:pt>
                <c:pt idx="4">
                  <c:v>342.955</c:v>
                </c:pt>
                <c:pt idx="5">
                  <c:v>411.054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212.732</c:v>
                </c:pt>
                <c:pt idx="1">
                  <c:v>30.851</c:v>
                </c:pt>
                <c:pt idx="2">
                  <c:v>43.18199999999999</c:v>
                </c:pt>
                <c:pt idx="3">
                  <c:v>56.19</c:v>
                </c:pt>
                <c:pt idx="4">
                  <c:v>68.09899999999999</c:v>
                </c:pt>
                <c:pt idx="5">
                  <c:v>80.77700000000004</c:v>
                </c:pt>
                <c:pt idx="6">
                  <c:v>491.831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Online Marketplaces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18.6990462078469</c:v>
                </c:pt>
                <c:pt idx="1">
                  <c:v>18.592650985033632</c:v>
                </c:pt>
                <c:pt idx="2">
                  <c:v>21.089323636787842</c:v>
                </c:pt>
              </c:numCache>
            </c:numRef>
          </c:val>
        </c:ser>
        <c:ser>
          <c:idx val="1"/>
          <c:order val="1"/>
          <c:tx>
            <c:strRef>
              <c:f>Sheet1!$C$1</c:f>
              <c:strCache>
                <c:ptCount val="1"/>
                <c:pt idx="0">
                  <c:v>Mass Retail</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22.392926711294844</c:v>
                </c:pt>
                <c:pt idx="1">
                  <c:v>22.284550715340863</c:v>
                </c:pt>
                <c:pt idx="2">
                  <c:v>19.98348264351939</c:v>
                </c:pt>
              </c:numCache>
            </c:numRef>
          </c:val>
        </c:ser>
        <c:ser>
          <c:idx val="2"/>
          <c:order val="2"/>
          <c:tx>
            <c:strRef>
              <c:f>Sheet1!$D$1</c:f>
              <c:strCache>
                <c:ptCount val="1"/>
                <c:pt idx="0">
                  <c:v>Salon and Professional Distribution</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17.24541552867733</c:v>
                </c:pt>
                <c:pt idx="1">
                  <c:v>17.571251744871546</c:v>
                </c:pt>
                <c:pt idx="2">
                  <c:v>16.981936958314222</c:v>
                </c:pt>
              </c:numCache>
            </c:numRef>
          </c:val>
        </c:ser>
        <c:ser>
          <c:idx val="3"/>
          <c:order val="3"/>
          <c:tx>
            <c:strRef>
              <c:f>Sheet1!$E$1</c:f>
              <c:strCache>
                <c:ptCount val="1"/>
                <c:pt idx="0">
                  <c:v>Beauty Specialty Retail</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14.877155603875957</c:v>
                </c:pt>
                <c:pt idx="1">
                  <c:v>14.9389238490624</c:v>
                </c:pt>
                <c:pt idx="2">
                  <c:v>15.368114343587527</c:v>
                </c:pt>
              </c:numCache>
            </c:numRef>
          </c:val>
        </c:ser>
        <c:ser>
          <c:idx val="4"/>
          <c:order val="4"/>
          <c:tx>
            <c:strRef>
              <c:f>Sheet1!$F$1</c:f>
              <c:strCache>
                <c:ptCount val="1"/>
                <c:pt idx="0">
                  <c:v>Pharmacies and Drugstores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14.733655696668668</c:v>
                </c:pt>
                <c:pt idx="1">
                  <c:v>14.600000903493356</c:v>
                </c:pt>
                <c:pt idx="2">
                  <c:v>13.537418573144317</c:v>
                </c:pt>
              </c:numCache>
            </c:numRef>
          </c:val>
        </c:ser>
        <c:ser>
          <c:idx val="5"/>
          <c:order val="5"/>
          <c:tx>
            <c:strRef>
              <c:f>Sheet1!$G$1</c:f>
              <c:strCache>
                <c:ptCount val="1"/>
                <c:pt idx="0">
                  <c:v>Brand-owned Online Stores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12.051800251636292</c:v>
                </c:pt>
                <c:pt idx="1">
                  <c:v>12.012621802198199</c:v>
                </c:pt>
                <c:pt idx="2">
                  <c:v>13.039723844646705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Hold and Shape</c:v>
                </c:pt>
              </c:strCache>
            </c:strRef>
          </c:tx>
          <c:spPr>
            <a:solidFill>
              <a:srgbClr val="3D85C6"/>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Sheet1!$B$2:$B$10</c:f>
              <c:numCache>
                <c:formatCode>General</c:formatCode>
                <c:ptCount val="9"/>
                <c:pt idx="0">
                  <c:v>13.641813105600262</c:v>
                </c:pt>
                <c:pt idx="1">
                  <c:v>12.746732314757573</c:v>
                </c:pt>
                <c:pt idx="2">
                  <c:v>13.346261968675362</c:v>
                </c:pt>
                <c:pt idx="3">
                  <c:v>12.958573202393048</c:v>
                </c:pt>
                <c:pt idx="4">
                  <c:v>12.790682410391385</c:v>
                </c:pt>
                <c:pt idx="5">
                  <c:v>15.723740223896895</c:v>
                </c:pt>
                <c:pt idx="6">
                  <c:v>13.046043929060827</c:v>
                </c:pt>
                <c:pt idx="7">
                  <c:v>13.650036704033027</c:v>
                </c:pt>
                <c:pt idx="8">
                  <c:v>16.194031920176872</c:v>
                </c:pt>
              </c:numCache>
            </c:numRef>
          </c:val>
        </c:ser>
        <c:ser>
          <c:idx val="1"/>
          <c:order val="1"/>
          <c:tx>
            <c:strRef>
              <c:f>Sheet1!$C$1</c:f>
              <c:strCache>
                <c:ptCount val="1"/>
                <c:pt idx="0">
                  <c:v>Curl Definition</c:v>
                </c:pt>
              </c:strCache>
            </c:strRef>
          </c:tx>
          <c:spPr>
            <a:solidFill>
              <a:srgbClr val="9E7E0A"/>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Sheet1!$C$2:$C$10</c:f>
              <c:numCache>
                <c:formatCode>General</c:formatCode>
                <c:ptCount val="9"/>
                <c:pt idx="0">
                  <c:v>16.437838725570703</c:v>
                </c:pt>
                <c:pt idx="1">
                  <c:v>15.298507462686567</c:v>
                </c:pt>
                <c:pt idx="2">
                  <c:v>15.779099997886329</c:v>
                </c:pt>
                <c:pt idx="3">
                  <c:v>20.38270350720966</c:v>
                </c:pt>
                <c:pt idx="4">
                  <c:v>15.278917279809919</c:v>
                </c:pt>
                <c:pt idx="5">
                  <c:v>15.977895166624991</c:v>
                </c:pt>
                <c:pt idx="6">
                  <c:v>19.82847388890209</c:v>
                </c:pt>
                <c:pt idx="7">
                  <c:v>16.429470302849662</c:v>
                </c:pt>
                <c:pt idx="8">
                  <c:v>15.853200462845084</c:v>
                </c:pt>
              </c:numCache>
            </c:numRef>
          </c:val>
        </c:ser>
        <c:ser>
          <c:idx val="2"/>
          <c:order val="2"/>
          <c:tx>
            <c:strRef>
              <c:f>Sheet1!$D$1</c:f>
              <c:strCache>
                <c:ptCount val="1"/>
                <c:pt idx="0">
                  <c:v>Volume and Root Lift</c:v>
                </c:pt>
              </c:strCache>
            </c:strRef>
          </c:tx>
          <c:spPr>
            <a:solidFill>
              <a:srgbClr val="008189"/>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Sheet1!$D$2:$D$10</c:f>
              <c:numCache>
                <c:formatCode>General</c:formatCode>
                <c:ptCount val="9"/>
                <c:pt idx="0">
                  <c:v>13.301855805550995</c:v>
                </c:pt>
                <c:pt idx="1">
                  <c:v>12.397332862315642</c:v>
                </c:pt>
                <c:pt idx="2">
                  <c:v>12.836866690621632</c:v>
                </c:pt>
                <c:pt idx="3">
                  <c:v>12.585234517732543</c:v>
                </c:pt>
                <c:pt idx="4">
                  <c:v>12.420171045636234</c:v>
                </c:pt>
                <c:pt idx="5">
                  <c:v>12.90398133876037</c:v>
                </c:pt>
                <c:pt idx="6">
                  <c:v>12.779507164413184</c:v>
                </c:pt>
                <c:pt idx="7">
                  <c:v>13.304660032343705</c:v>
                </c:pt>
                <c:pt idx="8">
                  <c:v>12.924453228529343</c:v>
                </c:pt>
              </c:numCache>
            </c:numRef>
          </c:val>
        </c:ser>
        <c:ser>
          <c:idx val="3"/>
          <c:order val="3"/>
          <c:tx>
            <c:strRef>
              <c:f>Sheet1!$E$1</c:f>
              <c:strCache>
                <c:ptCount val="1"/>
                <c:pt idx="0">
                  <c:v>Texture and Separation</c:v>
                </c:pt>
              </c:strCache>
            </c:strRef>
          </c:tx>
          <c:spPr>
            <a:solidFill>
              <a:srgbClr val="40315E"/>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Sheet1!$E$2:$E$10</c:f>
              <c:numCache>
                <c:formatCode>General</c:formatCode>
                <c:ptCount val="9"/>
                <c:pt idx="0">
                  <c:v>14.030218426671045</c:v>
                </c:pt>
                <c:pt idx="1">
                  <c:v>13.071292943566192</c:v>
                </c:pt>
                <c:pt idx="2">
                  <c:v>13.521168438629497</c:v>
                </c:pt>
                <c:pt idx="3">
                  <c:v>13.247879327572296</c:v>
                </c:pt>
                <c:pt idx="4">
                  <c:v>13.085056807366907</c:v>
                </c:pt>
                <c:pt idx="5">
                  <c:v>13.592067074116393</c:v>
                </c:pt>
                <c:pt idx="6">
                  <c:v>13.454363994962337</c:v>
                </c:pt>
                <c:pt idx="7">
                  <c:v>14.0304615877116</c:v>
                </c:pt>
                <c:pt idx="8">
                  <c:v>13.606368237466082</c:v>
                </c:pt>
              </c:numCache>
            </c:numRef>
          </c:val>
        </c:ser>
        <c:ser>
          <c:idx val="4"/>
          <c:order val="4"/>
          <c:tx>
            <c:strRef>
              <c:f>Sheet1!$F$1</c:f>
              <c:strCache>
                <c:ptCount val="1"/>
                <c:pt idx="0">
                  <c:v>Smoothing and Frizz Control</c:v>
                </c:pt>
              </c:strCache>
            </c:strRef>
          </c:tx>
          <c:spPr>
            <a:solidFill>
              <a:srgbClr val="A35313"/>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Sheet1!$F$2:$F$10</c:f>
              <c:numCache>
                <c:formatCode>General</c:formatCode>
                <c:ptCount val="9"/>
                <c:pt idx="0">
                  <c:v>16.68336344227295</c:v>
                </c:pt>
                <c:pt idx="1">
                  <c:v>18.162699814536783</c:v>
                </c:pt>
                <c:pt idx="2">
                  <c:v>19.264547356851473</c:v>
                </c:pt>
                <c:pt idx="3">
                  <c:v>15.918944116257583</c:v>
                </c:pt>
                <c:pt idx="4">
                  <c:v>19.733586248088372</c:v>
                </c:pt>
                <c:pt idx="5">
                  <c:v>16.41815609481277</c:v>
                </c:pt>
                <c:pt idx="6">
                  <c:v>16.035968601731497</c:v>
                </c:pt>
                <c:pt idx="7">
                  <c:v>16.68060316041042</c:v>
                </c:pt>
                <c:pt idx="8">
                  <c:v>16.216300247640607</c:v>
                </c:pt>
              </c:numCache>
            </c:numRef>
          </c:val>
        </c:ser>
        <c:ser>
          <c:idx val="5"/>
          <c:order val="5"/>
          <c:tx>
            <c:strRef>
              <c:f>Sheet1!$G$1</c:f>
              <c:strCache>
                <c:ptCount val="1"/>
                <c:pt idx="0">
                  <c:v>Sleek Styling and Edge Control</c:v>
                </c:pt>
              </c:strCache>
            </c:strRef>
          </c:tx>
          <c:spPr>
            <a:solidFill>
              <a:srgbClr val="808080"/>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Sheet1!$G$2:$G$10</c:f>
              <c:numCache>
                <c:formatCode>General</c:formatCode>
                <c:ptCount val="9"/>
                <c:pt idx="0">
                  <c:v>10.640499260962391</c:v>
                </c:pt>
                <c:pt idx="1">
                  <c:v>10.063035414642762</c:v>
                </c:pt>
                <c:pt idx="2">
                  <c:v>10.481706157130478</c:v>
                </c:pt>
                <c:pt idx="3">
                  <c:v>10.346874699510437</c:v>
                </c:pt>
                <c:pt idx="4">
                  <c:v>10.089460937141057</c:v>
                </c:pt>
                <c:pt idx="5">
                  <c:v>10.536510639375342</c:v>
                </c:pt>
                <c:pt idx="6">
                  <c:v>10.172357800853868</c:v>
                </c:pt>
                <c:pt idx="7">
                  <c:v>10.645135473757996</c:v>
                </c:pt>
                <c:pt idx="8">
                  <c:v>10.468718882113155</c:v>
                </c:pt>
              </c:numCache>
            </c:numRef>
          </c:val>
        </c:ser>
        <c:ser>
          <c:idx val="6"/>
          <c:order val="6"/>
          <c:tx>
            <c:strRef>
              <c:f>Sheet1!$H$1</c:f>
              <c:strCache>
                <c:ptCount val="1"/>
                <c:pt idx="0">
                  <c:v>Heat Styling Support</c:v>
                </c:pt>
              </c:strCache>
            </c:strRef>
          </c:tx>
          <c:spPr>
            <a:solidFill>
              <a:srgbClr val="0E72AE"/>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Sheet1!$H$2:$H$10</c:f>
              <c:numCache>
                <c:formatCode>General</c:formatCode>
                <c:ptCount val="9"/>
                <c:pt idx="0">
                  <c:v>15.264411233371652</c:v>
                </c:pt>
                <c:pt idx="1">
                  <c:v>18.26039918749448</c:v>
                </c:pt>
                <c:pt idx="2">
                  <c:v>14.77034939020524</c:v>
                </c:pt>
                <c:pt idx="3">
                  <c:v>14.559790629324437</c:v>
                </c:pt>
                <c:pt idx="4">
                  <c:v>16.602125271566123</c:v>
                </c:pt>
                <c:pt idx="5">
                  <c:v>14.847649462413237</c:v>
                </c:pt>
                <c:pt idx="6">
                  <c:v>14.6832846200762</c:v>
                </c:pt>
                <c:pt idx="7">
                  <c:v>15.259632738893577</c:v>
                </c:pt>
                <c:pt idx="8">
                  <c:v>14.73692702122886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1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Hold and Shape</c:v>
                </c:pt>
              </c:strCache>
            </c:strRef>
          </c:tx>
          <c:spPr>
            <a:solidFill>
              <a:srgbClr val="3D85C6"/>
            </a:solidFill>
          </c:spPr>
          <c:invertIfNegative val="0"/>
          <c:xVal>
            <c:numRef>
              <c:f>Sheet1!$A$2:$A$2</c:f>
              <c:numCache>
                <c:formatCode>General</c:formatCode>
                <c:ptCount val="1"/>
                <c:pt idx="0">
                  <c:v>79.87718973525936</c:v>
                </c:pt>
              </c:numCache>
            </c:numRef>
          </c:xVal>
          <c:yVal>
            <c:numRef>
              <c:f>Sheet1!$B$2:$B$2</c:f>
              <c:numCache>
                <c:formatCode>General</c:formatCode>
                <c:ptCount val="1"/>
                <c:pt idx="0">
                  <c:v>116.6177839114938</c:v>
                </c:pt>
              </c:numCache>
            </c:numRef>
          </c:yVal>
          <c:bubbleSize>
            <c:numRef>
              <c:f>Sheet1!$C$2:$C$2</c:f>
              <c:numCache>
                <c:formatCode>General</c:formatCode>
                <c:ptCount val="1"/>
                <c:pt idx="0">
                  <c:v>542.133</c:v>
                </c:pt>
              </c:numCache>
            </c:numRef>
          </c:bubbleSize>
          <c:bubble3D val="0"/>
        </c:ser>
        <c:ser>
          <c:idx val="1"/>
          <c:order val="1"/>
          <c:tx>
            <c:strRef>
              <c:f>Sheet1!$B$4</c:f>
              <c:strCache>
                <c:ptCount val="1"/>
                <c:pt idx="0">
                  <c:v>Curl Definition</c:v>
                </c:pt>
              </c:strCache>
            </c:strRef>
          </c:tx>
          <c:spPr>
            <a:solidFill>
              <a:srgbClr val="9E7E0A"/>
            </a:solidFill>
          </c:spPr>
          <c:invertIfNegative val="0"/>
          <c:xVal>
            <c:numRef>
              <c:f>Sheet1!$A$5:$A$5</c:f>
              <c:numCache>
                <c:formatCode>General</c:formatCode>
                <c:ptCount val="1"/>
                <c:pt idx="0">
                  <c:v>120.23299331789666</c:v>
                </c:pt>
              </c:numCache>
            </c:numRef>
          </c:xVal>
          <c:yVal>
            <c:numRef>
              <c:f>Sheet1!$B$5:$B$5</c:f>
              <c:numCache>
                <c:formatCode>General</c:formatCode>
                <c:ptCount val="1"/>
                <c:pt idx="0">
                  <c:v>101.21141518681983</c:v>
                </c:pt>
              </c:numCache>
            </c:numRef>
          </c:yVal>
          <c:bubbleSize>
            <c:numRef>
              <c:f>Sheet1!$C$5:$C$5</c:f>
              <c:numCache>
                <c:formatCode>General</c:formatCode>
                <c:ptCount val="1"/>
                <c:pt idx="0">
                  <c:v>631.246</c:v>
                </c:pt>
              </c:numCache>
            </c:numRef>
          </c:bubbleSize>
          <c:bubble3D val="0"/>
        </c:ser>
        <c:ser>
          <c:idx val="2"/>
          <c:order val="2"/>
          <c:tx>
            <c:strRef>
              <c:f>Sheet1!$B$7</c:f>
              <c:strCache>
                <c:ptCount val="1"/>
                <c:pt idx="0">
                  <c:v>Volume and Root Lift</c:v>
                </c:pt>
              </c:strCache>
            </c:strRef>
          </c:tx>
          <c:spPr>
            <a:solidFill>
              <a:srgbClr val="008189"/>
            </a:solidFill>
          </c:spPr>
          <c:invertIfNegative val="0"/>
          <c:xVal>
            <c:numRef>
              <c:f>Sheet1!$A$8:$A$8</c:f>
              <c:numCache>
                <c:formatCode>General</c:formatCode>
                <c:ptCount val="1"/>
                <c:pt idx="0">
                  <c:v>91.53987321829656</c:v>
                </c:pt>
              </c:numCache>
            </c:numRef>
          </c:xVal>
          <c:yVal>
            <c:numRef>
              <c:f>Sheet1!$B$8:$B$8</c:f>
              <c:numCache>
                <c:formatCode>General</c:formatCode>
                <c:ptCount val="1"/>
                <c:pt idx="0">
                  <c:v>96.03050193573452</c:v>
                </c:pt>
              </c:numCache>
            </c:numRef>
          </c:yVal>
          <c:bubbleSize>
            <c:numRef>
              <c:f>Sheet1!$C$8:$C$8</c:f>
              <c:numCache>
                <c:formatCode>General</c:formatCode>
                <c:ptCount val="1"/>
                <c:pt idx="0">
                  <c:v>486.431</c:v>
                </c:pt>
              </c:numCache>
            </c:numRef>
          </c:bubbleSize>
          <c:bubble3D val="0"/>
        </c:ser>
        <c:ser>
          <c:idx val="3"/>
          <c:order val="3"/>
          <c:tx>
            <c:strRef>
              <c:f>Sheet1!$B$10</c:f>
              <c:strCache>
                <c:ptCount val="1"/>
                <c:pt idx="0">
                  <c:v>Texture and Separation</c:v>
                </c:pt>
              </c:strCache>
            </c:strRef>
          </c:tx>
          <c:spPr>
            <a:solidFill>
              <a:srgbClr val="40315E"/>
            </a:solidFill>
          </c:spPr>
          <c:invertIfNegative val="0"/>
          <c:xVal>
            <c:numRef>
              <c:f>Sheet1!$A$11:$A$11</c:f>
              <c:numCache>
                <c:formatCode>General</c:formatCode>
                <c:ptCount val="1"/>
                <c:pt idx="0">
                  <c:v>98.51482709357185</c:v>
                </c:pt>
              </c:numCache>
            </c:numRef>
          </c:xVal>
          <c:yVal>
            <c:numRef>
              <c:f>Sheet1!$B$11:$B$11</c:f>
              <c:numCache>
                <c:formatCode>General</c:formatCode>
                <c:ptCount val="1"/>
                <c:pt idx="0">
                  <c:v>96.13090263503837</c:v>
                </c:pt>
              </c:numCache>
            </c:numRef>
          </c:yVal>
          <c:bubbleSize>
            <c:numRef>
              <c:f>Sheet1!$C$11:$C$11</c:f>
              <c:numCache>
                <c:formatCode>General</c:formatCode>
                <c:ptCount val="1"/>
                <c:pt idx="0">
                  <c:v>512.405</c:v>
                </c:pt>
              </c:numCache>
            </c:numRef>
          </c:bubbleSize>
          <c:bubble3D val="0"/>
        </c:ser>
        <c:ser>
          <c:idx val="4"/>
          <c:order val="4"/>
          <c:tx>
            <c:strRef>
              <c:f>Sheet1!$B$13</c:f>
              <c:strCache>
                <c:ptCount val="1"/>
                <c:pt idx="0">
                  <c:v>Smoothing and Frizz Control</c:v>
                </c:pt>
              </c:strCache>
            </c:strRef>
          </c:tx>
          <c:spPr>
            <a:solidFill>
              <a:srgbClr val="A35313"/>
            </a:solidFill>
          </c:spPr>
          <c:invertIfNegative val="0"/>
          <c:xVal>
            <c:numRef>
              <c:f>Sheet1!$A$14:$A$14</c:f>
              <c:numCache>
                <c:formatCode>General</c:formatCode>
                <c:ptCount val="1"/>
                <c:pt idx="0">
                  <c:v>107.07242333210176</c:v>
                </c:pt>
              </c:numCache>
            </c:numRef>
          </c:xVal>
          <c:yVal>
            <c:numRef>
              <c:f>Sheet1!$B$14:$B$14</c:f>
              <c:numCache>
                <c:formatCode>General</c:formatCode>
                <c:ptCount val="1"/>
                <c:pt idx="0">
                  <c:v>111.87839657033922</c:v>
                </c:pt>
              </c:numCache>
            </c:numRef>
          </c:yVal>
          <c:bubbleSize>
            <c:numRef>
              <c:f>Sheet1!$C$14:$C$14</c:f>
              <c:numCache>
                <c:formatCode>General</c:formatCode>
                <c:ptCount val="1"/>
                <c:pt idx="0">
                  <c:v>634.607</c:v>
                </c:pt>
              </c:numCache>
            </c:numRef>
          </c:bubbleSize>
          <c:bubble3D val="0"/>
        </c:ser>
        <c:ser>
          <c:idx val="5"/>
          <c:order val="5"/>
          <c:tx>
            <c:strRef>
              <c:f>Sheet1!$B$16</c:f>
              <c:strCache>
                <c:ptCount val="1"/>
                <c:pt idx="0">
                  <c:v>Sleek Styling and Edge Control</c:v>
                </c:pt>
              </c:strCache>
            </c:strRef>
          </c:tx>
          <c:spPr>
            <a:solidFill>
              <a:srgbClr val="808080"/>
            </a:solidFill>
          </c:spPr>
          <c:invertIfNegative val="0"/>
          <c:xVal>
            <c:numRef>
              <c:f>Sheet1!$A$17:$A$17</c:f>
              <c:numCache>
                <c:formatCode>General</c:formatCode>
                <c:ptCount val="1"/>
                <c:pt idx="0">
                  <c:v>85.8313312287208</c:v>
                </c:pt>
              </c:numCache>
            </c:numRef>
          </c:xVal>
          <c:yVal>
            <c:numRef>
              <c:f>Sheet1!$B$17:$B$17</c:f>
              <c:numCache>
                <c:formatCode>General</c:formatCode>
                <c:ptCount val="1"/>
                <c:pt idx="0">
                  <c:v>80.88738858797541</c:v>
                </c:pt>
              </c:numCache>
            </c:numRef>
          </c:yVal>
          <c:bubbleSize>
            <c:numRef>
              <c:f>Sheet1!$C$17:$C$17</c:f>
              <c:numCache>
                <c:formatCode>General</c:formatCode>
                <c:ptCount val="1"/>
                <c:pt idx="0">
                  <c:v>392.907</c:v>
                </c:pt>
              </c:numCache>
            </c:numRef>
          </c:bubbleSize>
          <c:bubble3D val="0"/>
        </c:ser>
        <c:ser>
          <c:idx val="6"/>
          <c:order val="6"/>
          <c:tx>
            <c:strRef>
              <c:f>Sheet1!$B$19</c:f>
              <c:strCache>
                <c:ptCount val="1"/>
                <c:pt idx="0">
                  <c:v>Heat Styling Support</c:v>
                </c:pt>
              </c:strCache>
            </c:strRef>
          </c:tx>
          <c:spPr>
            <a:solidFill>
              <a:srgbClr val="0E72AE"/>
            </a:solidFill>
          </c:spPr>
          <c:invertIfNegative val="0"/>
          <c:xVal>
            <c:numRef>
              <c:f>Sheet1!$A$20:$A$20</c:f>
              <c:numCache>
                <c:formatCode>General</c:formatCode>
                <c:ptCount val="1"/>
                <c:pt idx="0">
                  <c:v>112.11110005795035</c:v>
                </c:pt>
              </c:numCache>
            </c:numRef>
          </c:xVal>
          <c:yVal>
            <c:numRef>
              <c:f>Sheet1!$B$20:$B$20</c:f>
              <c:numCache>
                <c:formatCode>General</c:formatCode>
                <c:ptCount val="1"/>
                <c:pt idx="0">
                  <c:v>97.24361117259886</c:v>
                </c:pt>
              </c:numCache>
            </c:numRef>
          </c:yVal>
          <c:bubbleSize>
            <c:numRef>
              <c:f>Sheet1!$C$20:$C$20</c:f>
              <c:numCache>
                <c:formatCode>General</c:formatCode>
                <c:ptCount val="1"/>
                <c:pt idx="0">
                  <c:v>572.063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6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295.027</c:v>
                </c:pt>
                <c:pt idx="2">
                  <c:v>329.72</c:v>
                </c:pt>
                <c:pt idx="3">
                  <c:v>372.746</c:v>
                </c:pt>
                <c:pt idx="4">
                  <c:v>421.124</c:v>
                </c:pt>
                <c:pt idx="5">
                  <c:v>477.955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295.027</c:v>
                </c:pt>
                <c:pt idx="1">
                  <c:v>34.69300000000004</c:v>
                </c:pt>
                <c:pt idx="2">
                  <c:v>43.025999999999954</c:v>
                </c:pt>
                <c:pt idx="3">
                  <c:v>48.37800000000004</c:v>
                </c:pt>
                <c:pt idx="4">
                  <c:v>56.83099999999996</c:v>
                </c:pt>
                <c:pt idx="5">
                  <c:v>64.17800000000005</c:v>
                </c:pt>
                <c:pt idx="6">
                  <c:v>542.133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256.051</c:v>
                </c:pt>
                <c:pt idx="2">
                  <c:v>296.88</c:v>
                </c:pt>
                <c:pt idx="3">
                  <c:v>352.769</c:v>
                </c:pt>
                <c:pt idx="4">
                  <c:v>429.297</c:v>
                </c:pt>
                <c:pt idx="5">
                  <c:v>521.876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256.051</c:v>
                </c:pt>
                <c:pt idx="1">
                  <c:v>40.82900000000001</c:v>
                </c:pt>
                <c:pt idx="2">
                  <c:v>55.88900000000001</c:v>
                </c:pt>
                <c:pt idx="3">
                  <c:v>76.52800000000002</c:v>
                </c:pt>
                <c:pt idx="4">
                  <c:v>92.57899999999995</c:v>
                </c:pt>
                <c:pt idx="5">
                  <c:v>109.37</c:v>
                </c:pt>
                <c:pt idx="6">
                  <c:v>631.246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242.944</c:v>
                </c:pt>
                <c:pt idx="2">
                  <c:v>276.921</c:v>
                </c:pt>
                <c:pt idx="3">
                  <c:v>318.173</c:v>
                </c:pt>
                <c:pt idx="4">
                  <c:v>366.641</c:v>
                </c:pt>
                <c:pt idx="5">
                  <c:v>422.608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242.944</c:v>
                </c:pt>
                <c:pt idx="1">
                  <c:v>33.977000000000004</c:v>
                </c:pt>
                <c:pt idx="2">
                  <c:v>41.25200000000001</c:v>
                </c:pt>
                <c:pt idx="3">
                  <c:v>48.46800000000002</c:v>
                </c:pt>
                <c:pt idx="4">
                  <c:v>55.966999999999985</c:v>
                </c:pt>
                <c:pt idx="5">
                  <c:v>63.82299999999998</c:v>
                </c:pt>
                <c:pt idx="6">
                  <c:v>486.431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243.198</c:v>
                </c:pt>
                <c:pt idx="2">
                  <c:v>278.892</c:v>
                </c:pt>
                <c:pt idx="3">
                  <c:v>323.459</c:v>
                </c:pt>
                <c:pt idx="4">
                  <c:v>376.083</c:v>
                </c:pt>
                <c:pt idx="5">
                  <c:v>439.064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243.198</c:v>
                </c:pt>
                <c:pt idx="1">
                  <c:v>35.69399999999999</c:v>
                </c:pt>
                <c:pt idx="2">
                  <c:v>44.56700000000001</c:v>
                </c:pt>
                <c:pt idx="3">
                  <c:v>52.624000000000024</c:v>
                </c:pt>
                <c:pt idx="4">
                  <c:v>62.980999999999995</c:v>
                </c:pt>
                <c:pt idx="5">
                  <c:v>73.34099999999995</c:v>
                </c:pt>
                <c:pt idx="6">
                  <c:v>512.405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283.037</c:v>
                </c:pt>
                <c:pt idx="2">
                  <c:v>320.922</c:v>
                </c:pt>
                <c:pt idx="3">
                  <c:v>374.4</c:v>
                </c:pt>
                <c:pt idx="4">
                  <c:v>444.49</c:v>
                </c:pt>
                <c:pt idx="5">
                  <c:v>531.218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283.037</c:v>
                </c:pt>
                <c:pt idx="1">
                  <c:v>37.88500000000005</c:v>
                </c:pt>
                <c:pt idx="2">
                  <c:v>53.47799999999995</c:v>
                </c:pt>
                <c:pt idx="3">
                  <c:v>70.09000000000003</c:v>
                </c:pt>
                <c:pt idx="4">
                  <c:v>86.72799999999995</c:v>
                </c:pt>
                <c:pt idx="5">
                  <c:v>103.38900000000001</c:v>
                </c:pt>
                <c:pt idx="6">
                  <c:v>634.607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204.634</c:v>
                </c:pt>
                <c:pt idx="2">
                  <c:v>229.205</c:v>
                </c:pt>
                <c:pt idx="3">
                  <c:v>261.623</c:v>
                </c:pt>
                <c:pt idx="4">
                  <c:v>300.667</c:v>
                </c:pt>
                <c:pt idx="5">
                  <c:v>343.998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204.634</c:v>
                </c:pt>
                <c:pt idx="1">
                  <c:v>24.571000000000026</c:v>
                </c:pt>
                <c:pt idx="2">
                  <c:v>32.41799999999998</c:v>
                </c:pt>
                <c:pt idx="3">
                  <c:v>39.04399999999998</c:v>
                </c:pt>
                <c:pt idx="4">
                  <c:v>43.33100000000002</c:v>
                </c:pt>
                <c:pt idx="5">
                  <c:v>48.90899999999999</c:v>
                </c:pt>
                <c:pt idx="6">
                  <c:v>392.907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246.013</c:v>
                </c:pt>
                <c:pt idx="2">
                  <c:v>282.984</c:v>
                </c:pt>
                <c:pt idx="3">
                  <c:v>331.162</c:v>
                </c:pt>
                <c:pt idx="4">
                  <c:v>395.109</c:v>
                </c:pt>
                <c:pt idx="5">
                  <c:v>475.832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246.013</c:v>
                </c:pt>
                <c:pt idx="1">
                  <c:v>36.970999999999975</c:v>
                </c:pt>
                <c:pt idx="2">
                  <c:v>48.178</c:v>
                </c:pt>
                <c:pt idx="3">
                  <c:v>63.947</c:v>
                </c:pt>
                <c:pt idx="4">
                  <c:v>80.72300000000001</c:v>
                </c:pt>
                <c:pt idx="5">
                  <c:v>96.231</c:v>
                </c:pt>
                <c:pt idx="6">
                  <c:v>572.063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Smoothing and Frizz Control</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16.626846173067904</c:v>
                </c:pt>
                <c:pt idx="1">
                  <c:v>15.98262808147703</c:v>
                </c:pt>
                <c:pt idx="2">
                  <c:v>16.82507943173961</c:v>
                </c:pt>
              </c:numCache>
            </c:numRef>
          </c:val>
        </c:ser>
        <c:ser>
          <c:idx val="1"/>
          <c:order val="1"/>
          <c:tx>
            <c:strRef>
              <c:f>Sheet1!$C$1</c:f>
              <c:strCache>
                <c:ptCount val="1"/>
                <c:pt idx="0">
                  <c:v>Curl Definition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14.350940567365317</c:v>
                </c:pt>
                <c:pt idx="1">
                  <c:v>14.45877359811712</c:v>
                </c:pt>
                <c:pt idx="2">
                  <c:v>16.735970594348785</c:v>
                </c:pt>
              </c:numCache>
            </c:numRef>
          </c:val>
        </c:ser>
        <c:ser>
          <c:idx val="2"/>
          <c:order val="2"/>
          <c:tx>
            <c:strRef>
              <c:f>Sheet1!$D$1</c:f>
              <c:strCache>
                <c:ptCount val="1"/>
                <c:pt idx="0">
                  <c:v>Heat Styling Support</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13.531076789985985</c:v>
                </c:pt>
                <c:pt idx="1">
                  <c:v>13.891944453228408</c:v>
                </c:pt>
                <c:pt idx="2">
                  <c:v>15.166875585928386</c:v>
                </c:pt>
              </c:numCache>
            </c:numRef>
          </c:val>
        </c:ser>
        <c:ser>
          <c:idx val="3"/>
          <c:order val="3"/>
          <c:tx>
            <c:strRef>
              <c:f>Sheet1!$E$1</c:f>
              <c:strCache>
                <c:ptCount val="1"/>
                <c:pt idx="0">
                  <c:v>Hold and Shape</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16.92524414711809</c:v>
                </c:pt>
                <c:pt idx="1">
                  <c:v>16.659683415927685</c:v>
                </c:pt>
                <c:pt idx="2">
                  <c:v>14.37335356774711</c:v>
                </c:pt>
              </c:numCache>
            </c:numRef>
          </c:val>
        </c:ser>
        <c:ser>
          <c:idx val="4"/>
          <c:order val="4"/>
          <c:tx>
            <c:strRef>
              <c:f>Sheet1!$F$1</c:f>
              <c:strCache>
                <c:ptCount val="1"/>
                <c:pt idx="0">
                  <c:v>Texture and Separation</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13.214485599594342</c:v>
                </c:pt>
                <c:pt idx="1">
                  <c:v>13.732986090719768</c:v>
                </c:pt>
                <c:pt idx="2">
                  <c:v>13.585187094092143</c:v>
                </c:pt>
              </c:numCache>
            </c:numRef>
          </c:val>
        </c:ser>
        <c:ser>
          <c:idx val="5"/>
          <c:order val="5"/>
          <c:tx>
            <c:strRef>
              <c:f>Sheet1!$G$1</c:f>
              <c:strCache>
                <c:ptCount val="1"/>
                <c:pt idx="0">
                  <c:v>Volume and Root Lift</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13.550146787837871</c:v>
                </c:pt>
                <c:pt idx="1">
                  <c:v>13.718643133676359</c:v>
                </c:pt>
                <c:pt idx="2">
                  <c:v>12.896548908317321</c:v>
                </c:pt>
              </c:numCache>
            </c:numRef>
          </c:val>
        </c:ser>
        <c:ser>
          <c:idx val="6"/>
          <c:order val="6"/>
          <c:tx>
            <c:strRef>
              <c:f>Sheet1!$H$1</c:f>
              <c:strCache>
                <c:ptCount val="1"/>
                <c:pt idx="0">
                  <c:v>Sleek Styling and Edge Control</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11.801259935030489</c:v>
                </c:pt>
                <c:pt idx="1">
                  <c:v>11.555341226853628</c:v>
                </c:pt>
                <c:pt idx="2">
                  <c:v>10.416984817826645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Straight Hair</c:v>
                </c:pt>
              </c:strCache>
            </c:strRef>
          </c:tx>
          <c:spPr>
            <a:solidFill>
              <a:srgbClr val="3D85C6"/>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Sheet1!$B$2:$B$10</c:f>
              <c:numCache>
                <c:formatCode>General</c:formatCode>
                <c:ptCount val="9"/>
                <c:pt idx="0">
                  <c:v>19.00527171503178</c:v>
                </c:pt>
                <c:pt idx="1">
                  <c:v>19.01891624854416</c:v>
                </c:pt>
                <c:pt idx="2">
                  <c:v>19.05740736826531</c:v>
                </c:pt>
                <c:pt idx="3">
                  <c:v>17.732468205724228</c:v>
                </c:pt>
                <c:pt idx="4">
                  <c:v>19.049666244412794</c:v>
                </c:pt>
                <c:pt idx="5">
                  <c:v>19.056993736291215</c:v>
                </c:pt>
                <c:pt idx="6">
                  <c:v>17.610634539679523</c:v>
                </c:pt>
                <c:pt idx="7">
                  <c:v>19.01326728438076</c:v>
                </c:pt>
                <c:pt idx="8">
                  <c:v>20.758920130786287</c:v>
                </c:pt>
              </c:numCache>
            </c:numRef>
          </c:val>
        </c:ser>
        <c:ser>
          <c:idx val="1"/>
          <c:order val="1"/>
          <c:tx>
            <c:strRef>
              <c:f>Sheet1!$C$1</c:f>
              <c:strCache>
                <c:ptCount val="1"/>
                <c:pt idx="0">
                  <c:v>Wavy Hair</c:v>
                </c:pt>
              </c:strCache>
            </c:strRef>
          </c:tx>
          <c:spPr>
            <a:solidFill>
              <a:srgbClr val="9E7E0A"/>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Sheet1!$C$2:$C$10</c:f>
              <c:numCache>
                <c:formatCode>General</c:formatCode>
                <c:ptCount val="9"/>
                <c:pt idx="0">
                  <c:v>20.14665549917065</c:v>
                </c:pt>
                <c:pt idx="1">
                  <c:v>20.146605066044035</c:v>
                </c:pt>
                <c:pt idx="2">
                  <c:v>20.146477563357358</c:v>
                </c:pt>
                <c:pt idx="3">
                  <c:v>18.755905248459413</c:v>
                </c:pt>
                <c:pt idx="4">
                  <c:v>20.14676056892693</c:v>
                </c:pt>
                <c:pt idx="5">
                  <c:v>20.146733471120157</c:v>
                </c:pt>
                <c:pt idx="6">
                  <c:v>18.329056071731266</c:v>
                </c:pt>
                <c:pt idx="7">
                  <c:v>20.146678349420117</c:v>
                </c:pt>
                <c:pt idx="8">
                  <c:v>21.304703314950086</c:v>
                </c:pt>
              </c:numCache>
            </c:numRef>
          </c:val>
        </c:ser>
        <c:ser>
          <c:idx val="2"/>
          <c:order val="2"/>
          <c:tx>
            <c:strRef>
              <c:f>Sheet1!$D$1</c:f>
              <c:strCache>
                <c:ptCount val="1"/>
                <c:pt idx="0">
                  <c:v>Curly Hair</c:v>
                </c:pt>
              </c:strCache>
            </c:strRef>
          </c:tx>
          <c:spPr>
            <a:solidFill>
              <a:srgbClr val="008189"/>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Sheet1!$D$2:$D$10</c:f>
              <c:numCache>
                <c:formatCode>General</c:formatCode>
                <c:ptCount val="9"/>
                <c:pt idx="0">
                  <c:v>20.186891330410077</c:v>
                </c:pt>
                <c:pt idx="1">
                  <c:v>20.180275657266495</c:v>
                </c:pt>
                <c:pt idx="2">
                  <c:v>20.16021644015134</c:v>
                </c:pt>
                <c:pt idx="3">
                  <c:v>22.888533993327595</c:v>
                </c:pt>
                <c:pt idx="4">
                  <c:v>20.16415392794555</c:v>
                </c:pt>
                <c:pt idx="5">
                  <c:v>20.160343348726208</c:v>
                </c:pt>
                <c:pt idx="6">
                  <c:v>21.8086875935651</c:v>
                </c:pt>
                <c:pt idx="7">
                  <c:v>20.18310646254045</c:v>
                </c:pt>
                <c:pt idx="8">
                  <c:v>19.144595149882395</c:v>
                </c:pt>
              </c:numCache>
            </c:numRef>
          </c:val>
        </c:ser>
        <c:ser>
          <c:idx val="3"/>
          <c:order val="3"/>
          <c:tx>
            <c:strRef>
              <c:f>Sheet1!$E$1</c:f>
              <c:strCache>
                <c:ptCount val="1"/>
                <c:pt idx="0">
                  <c:v>Coily Hair</c:v>
                </c:pt>
              </c:strCache>
            </c:strRef>
          </c:tx>
          <c:spPr>
            <a:solidFill>
              <a:srgbClr val="40315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Sheet1!$E$2:$E$10</c:f>
              <c:numCache>
                <c:formatCode>General</c:formatCode>
                <c:ptCount val="9"/>
                <c:pt idx="0">
                  <c:v>19.944655203560462</c:v>
                </c:pt>
                <c:pt idx="1">
                  <c:v>19.930782096077095</c:v>
                </c:pt>
                <c:pt idx="2">
                  <c:v>19.891251505992262</c:v>
                </c:pt>
                <c:pt idx="3">
                  <c:v>21.099609521977982</c:v>
                </c:pt>
                <c:pt idx="4">
                  <c:v>19.898987247057896</c:v>
                </c:pt>
                <c:pt idx="5">
                  <c:v>19.891627393202025</c:v>
                </c:pt>
                <c:pt idx="6">
                  <c:v>22.94948870882146</c:v>
                </c:pt>
                <c:pt idx="7">
                  <c:v>19.936388787316396</c:v>
                </c:pt>
                <c:pt idx="8">
                  <c:v>19.032245324289327</c:v>
                </c:pt>
              </c:numCache>
            </c:numRef>
          </c:val>
        </c:ser>
        <c:ser>
          <c:idx val="4"/>
          <c:order val="4"/>
          <c:tx>
            <c:strRef>
              <c:f>Sheet1!$F$1</c:f>
              <c:strCache>
                <c:ptCount val="1"/>
                <c:pt idx="0">
                  <c:v>All Hair Types</c:v>
                </c:pt>
              </c:strCache>
            </c:strRef>
          </c:tx>
          <c:spPr>
            <a:solidFill>
              <a:srgbClr val="A35313"/>
            </a:solidFill>
            <a:ln>
              <a:noFill/>
            </a:ln>
          </c:spPr>
          <c:dLbls>
            <c:dLbl>
              <c:idx val="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Sheet1!$F$2:$F$10</c:f>
              <c:numCache>
                <c:formatCode>General</c:formatCode>
                <c:ptCount val="9"/>
                <c:pt idx="0">
                  <c:v>20.716526251827037</c:v>
                </c:pt>
                <c:pt idx="1">
                  <c:v>20.723420932068198</c:v>
                </c:pt>
                <c:pt idx="2">
                  <c:v>20.74464712223373</c:v>
                </c:pt>
                <c:pt idx="3">
                  <c:v>19.523483030510803</c:v>
                </c:pt>
                <c:pt idx="4">
                  <c:v>20.740432011656832</c:v>
                </c:pt>
                <c:pt idx="5">
                  <c:v>20.744302050660394</c:v>
                </c:pt>
                <c:pt idx="6">
                  <c:v>19.302133086202662</c:v>
                </c:pt>
                <c:pt idx="7">
                  <c:v>20.720559116342287</c:v>
                </c:pt>
                <c:pt idx="8">
                  <c:v>19.759536080091895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2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Straight Hair</c:v>
                </c:pt>
              </c:strCache>
            </c:strRef>
          </c:tx>
          <c:spPr>
            <a:solidFill>
              <a:srgbClr val="3D85C6"/>
            </a:solidFill>
          </c:spPr>
          <c:invertIfNegative val="0"/>
          <c:xVal>
            <c:numRef>
              <c:f>Sheet1!$A$2:$A$2</c:f>
              <c:numCache>
                <c:formatCode>General</c:formatCode>
                <c:ptCount val="1"/>
                <c:pt idx="0">
                  <c:v>86.70591402124333</c:v>
                </c:pt>
              </c:numCache>
            </c:numRef>
          </c:xVal>
          <c:yVal>
            <c:numRef>
              <c:f>Sheet1!$B$2:$B$2</c:f>
              <c:numCache>
                <c:formatCode>General</c:formatCode>
                <c:ptCount val="1"/>
                <c:pt idx="0">
                  <c:v>106.38035354804465</c:v>
                </c:pt>
              </c:numCache>
            </c:numRef>
          </c:yVal>
          <c:bubbleSize>
            <c:numRef>
              <c:f>Sheet1!$C$2:$C$2</c:f>
              <c:numCache>
                <c:formatCode>General</c:formatCode>
                <c:ptCount val="1"/>
                <c:pt idx="0">
                  <c:v>728.102</c:v>
                </c:pt>
              </c:numCache>
            </c:numRef>
          </c:bubbleSize>
          <c:bubble3D val="0"/>
        </c:ser>
        <c:ser>
          <c:idx val="1"/>
          <c:order val="1"/>
          <c:tx>
            <c:strRef>
              <c:f>Sheet1!$B$4</c:f>
              <c:strCache>
                <c:ptCount val="1"/>
                <c:pt idx="0">
                  <c:v>Wavy Hair</c:v>
                </c:pt>
              </c:strCache>
            </c:strRef>
          </c:tx>
          <c:spPr>
            <a:solidFill>
              <a:srgbClr val="9E7E0A"/>
            </a:solidFill>
          </c:spPr>
          <c:invertIfNegative val="0"/>
          <c:xVal>
            <c:numRef>
              <c:f>Sheet1!$A$5:$A$5</c:f>
              <c:numCache>
                <c:formatCode>General</c:formatCode>
                <c:ptCount val="1"/>
                <c:pt idx="0">
                  <c:v>99.29524622304336</c:v>
                </c:pt>
              </c:numCache>
            </c:numRef>
          </c:xVal>
          <c:yVal>
            <c:numRef>
              <c:f>Sheet1!$B$5:$B$5</c:f>
              <c:numCache>
                <c:formatCode>General</c:formatCode>
                <c:ptCount val="1"/>
                <c:pt idx="0">
                  <c:v>101.42158952625917</c:v>
                </c:pt>
              </c:numCache>
            </c:numRef>
          </c:yVal>
          <c:bubbleSize>
            <c:numRef>
              <c:f>Sheet1!$C$5:$C$5</c:f>
              <c:numCache>
                <c:formatCode>General</c:formatCode>
                <c:ptCount val="1"/>
                <c:pt idx="0">
                  <c:v>761.165</c:v>
                </c:pt>
              </c:numCache>
            </c:numRef>
          </c:bubbleSize>
          <c:bubble3D val="0"/>
        </c:ser>
        <c:ser>
          <c:idx val="2"/>
          <c:order val="2"/>
          <c:tx>
            <c:strRef>
              <c:f>Sheet1!$B$7</c:f>
              <c:strCache>
                <c:ptCount val="1"/>
                <c:pt idx="0">
                  <c:v>Curly Hair</c:v>
                </c:pt>
              </c:strCache>
            </c:strRef>
          </c:tx>
          <c:spPr>
            <a:solidFill>
              <a:srgbClr val="008189"/>
            </a:solidFill>
          </c:spPr>
          <c:invertIfNegative val="0"/>
          <c:xVal>
            <c:numRef>
              <c:f>Sheet1!$A$8:$A$8</c:f>
              <c:numCache>
                <c:formatCode>General</c:formatCode>
                <c:ptCount val="1"/>
                <c:pt idx="0">
                  <c:v>108.5548536267422</c:v>
                </c:pt>
              </c:numCache>
            </c:numRef>
          </c:xVal>
          <c:yVal>
            <c:numRef>
              <c:f>Sheet1!$B$8:$B$8</c:f>
              <c:numCache>
                <c:formatCode>General</c:formatCode>
                <c:ptCount val="1"/>
                <c:pt idx="0">
                  <c:v>95.10673920961317</c:v>
                </c:pt>
              </c:numCache>
            </c:numRef>
          </c:yVal>
          <c:bubbleSize>
            <c:numRef>
              <c:f>Sheet1!$C$8:$C$8</c:f>
              <c:numCache>
                <c:formatCode>General</c:formatCode>
                <c:ptCount val="1"/>
                <c:pt idx="0">
                  <c:v>763.413</c:v>
                </c:pt>
              </c:numCache>
            </c:numRef>
          </c:bubbleSize>
          <c:bubble3D val="0"/>
        </c:ser>
        <c:ser>
          <c:idx val="3"/>
          <c:order val="3"/>
          <c:tx>
            <c:strRef>
              <c:f>Sheet1!$B$10</c:f>
              <c:strCache>
                <c:ptCount val="1"/>
                <c:pt idx="0">
                  <c:v>Coily Hair</c:v>
                </c:pt>
              </c:strCache>
            </c:strRef>
          </c:tx>
          <c:spPr>
            <a:solidFill>
              <a:srgbClr val="40315E"/>
            </a:solidFill>
          </c:spPr>
          <c:invertIfNegative val="0"/>
          <c:xVal>
            <c:numRef>
              <c:f>Sheet1!$A$11:$A$11</c:f>
              <c:numCache>
                <c:formatCode>General</c:formatCode>
                <c:ptCount val="1"/>
                <c:pt idx="0">
                  <c:v>114.1277663916377</c:v>
                </c:pt>
              </c:numCache>
            </c:numRef>
          </c:xVal>
          <c:yVal>
            <c:numRef>
              <c:f>Sheet1!$B$11:$B$11</c:f>
              <c:numCache>
                <c:formatCode>General</c:formatCode>
                <c:ptCount val="1"/>
                <c:pt idx="0">
                  <c:v>90.80950135665097</c:v>
                </c:pt>
              </c:numCache>
            </c:numRef>
          </c:yVal>
          <c:bubbleSize>
            <c:numRef>
              <c:f>Sheet1!$C$11:$C$11</c:f>
              <c:numCache>
                <c:formatCode>General</c:formatCode>
                <c:ptCount val="1"/>
                <c:pt idx="0">
                  <c:v>758.856</c:v>
                </c:pt>
              </c:numCache>
            </c:numRef>
          </c:bubbleSize>
          <c:bubble3D val="0"/>
        </c:ser>
        <c:ser>
          <c:idx val="4"/>
          <c:order val="4"/>
          <c:tx>
            <c:strRef>
              <c:f>Sheet1!$B$13</c:f>
              <c:strCache>
                <c:ptCount val="1"/>
                <c:pt idx="0">
                  <c:v>All Hair Types</c:v>
                </c:pt>
              </c:strCache>
            </c:strRef>
          </c:tx>
          <c:spPr>
            <a:solidFill>
              <a:srgbClr val="A35313"/>
            </a:solidFill>
          </c:spPr>
          <c:invertIfNegative val="0"/>
          <c:xVal>
            <c:numRef>
              <c:f>Sheet1!$A$14:$A$14</c:f>
              <c:numCache>
                <c:formatCode>General</c:formatCode>
                <c:ptCount val="1"/>
                <c:pt idx="0">
                  <c:v>92.72225304207123</c:v>
                </c:pt>
              </c:numCache>
            </c:numRef>
          </c:xVal>
          <c:yVal>
            <c:numRef>
              <c:f>Sheet1!$B$14:$B$14</c:f>
              <c:numCache>
                <c:formatCode>General</c:formatCode>
                <c:ptCount val="1"/>
                <c:pt idx="0">
                  <c:v>106.28181635943204</c:v>
                </c:pt>
              </c:numCache>
            </c:numRef>
          </c:yVal>
          <c:bubbleSize>
            <c:numRef>
              <c:f>Sheet1!$C$14:$C$14</c:f>
              <c:numCache>
                <c:formatCode>General</c:formatCode>
                <c:ptCount val="1"/>
                <c:pt idx="0">
                  <c:v>760.256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376.779</c:v>
                </c:pt>
                <c:pt idx="2">
                  <c:v>424.215</c:v>
                </c:pt>
                <c:pt idx="3">
                  <c:v>484.02</c:v>
                </c:pt>
                <c:pt idx="4">
                  <c:v>552.877</c:v>
                </c:pt>
                <c:pt idx="5">
                  <c:v>634.747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376.779</c:v>
                </c:pt>
                <c:pt idx="1">
                  <c:v>47.43599999999998</c:v>
                </c:pt>
                <c:pt idx="2">
                  <c:v>59.80500000000001</c:v>
                </c:pt>
                <c:pt idx="3">
                  <c:v>68.85699999999997</c:v>
                </c:pt>
                <c:pt idx="4">
                  <c:v>81.87</c:v>
                </c:pt>
                <c:pt idx="5">
                  <c:v>93.35500000000002</c:v>
                </c:pt>
                <c:pt idx="6">
                  <c:v>728.102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359.216</c:v>
                </c:pt>
                <c:pt idx="2">
                  <c:v>413.154</c:v>
                </c:pt>
                <c:pt idx="3">
                  <c:v>479.669</c:v>
                </c:pt>
                <c:pt idx="4">
                  <c:v>559.687</c:v>
                </c:pt>
                <c:pt idx="5">
                  <c:v>653.275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359.216</c:v>
                </c:pt>
                <c:pt idx="1">
                  <c:v>53.93799999999999</c:v>
                </c:pt>
                <c:pt idx="2">
                  <c:v>66.51499999999999</c:v>
                </c:pt>
                <c:pt idx="3">
                  <c:v>80.01800000000003</c:v>
                </c:pt>
                <c:pt idx="4">
                  <c:v>93.58799999999997</c:v>
                </c:pt>
                <c:pt idx="5">
                  <c:v>107.88999999999999</c:v>
                </c:pt>
                <c:pt idx="6">
                  <c:v>761.165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336.85</c:v>
                </c:pt>
                <c:pt idx="2">
                  <c:v>381.724</c:v>
                </c:pt>
                <c:pt idx="3">
                  <c:v>445.678</c:v>
                </c:pt>
                <c:pt idx="4">
                  <c:v>530.782</c:v>
                </c:pt>
                <c:pt idx="5">
                  <c:v>636.636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336.85</c:v>
                </c:pt>
                <c:pt idx="1">
                  <c:v>44.87399999999997</c:v>
                </c:pt>
                <c:pt idx="2">
                  <c:v>63.95400000000001</c:v>
                </c:pt>
                <c:pt idx="3">
                  <c:v>85.10400000000004</c:v>
                </c:pt>
                <c:pt idx="4">
                  <c:v>105.85399999999993</c:v>
                </c:pt>
                <c:pt idx="5">
                  <c:v>126.77700000000004</c:v>
                </c:pt>
                <c:pt idx="6">
                  <c:v>763.413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321.63</c:v>
                </c:pt>
                <c:pt idx="2">
                  <c:v>369.33</c:v>
                </c:pt>
                <c:pt idx="3">
                  <c:v>434.561</c:v>
                </c:pt>
                <c:pt idx="4">
                  <c:v>524.187</c:v>
                </c:pt>
                <c:pt idx="5">
                  <c:v>632.044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321.63</c:v>
                </c:pt>
                <c:pt idx="1">
                  <c:v>47.69999999999999</c:v>
                </c:pt>
                <c:pt idx="2">
                  <c:v>65.231</c:v>
                </c:pt>
                <c:pt idx="3">
                  <c:v>89.62600000000003</c:v>
                </c:pt>
                <c:pt idx="4">
                  <c:v>107.85699999999997</c:v>
                </c:pt>
                <c:pt idx="5">
                  <c:v>126.81200000000001</c:v>
                </c:pt>
                <c:pt idx="6">
                  <c:v>758.856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376.43</c:v>
                </c:pt>
                <c:pt idx="2">
                  <c:v>427.101</c:v>
                </c:pt>
                <c:pt idx="3">
                  <c:v>490.405</c:v>
                </c:pt>
                <c:pt idx="4">
                  <c:v>565.876</c:v>
                </c:pt>
                <c:pt idx="5">
                  <c:v>655.849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376.43</c:v>
                </c:pt>
                <c:pt idx="1">
                  <c:v>50.67099999999999</c:v>
                </c:pt>
                <c:pt idx="2">
                  <c:v>63.303999999999974</c:v>
                </c:pt>
                <c:pt idx="3">
                  <c:v>75.471</c:v>
                </c:pt>
                <c:pt idx="4">
                  <c:v>89.97300000000007</c:v>
                </c:pt>
                <c:pt idx="5">
                  <c:v>104.40699999999993</c:v>
                </c:pt>
                <c:pt idx="6">
                  <c:v>760.256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Curly Hair</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19.817965545409248</c:v>
                </c:pt>
                <c:pt idx="1">
                  <c:v>19.021347841922633</c:v>
                </c:pt>
                <c:pt idx="2">
                  <c:v>20.240060957762253</c:v>
                </c:pt>
              </c:numCache>
            </c:numRef>
          </c:val>
        </c:ser>
        <c:ser>
          <c:idx val="1"/>
          <c:order val="1"/>
          <c:tx>
            <c:strRef>
              <c:f>Sheet1!$C$1</c:f>
              <c:strCache>
                <c:ptCount val="1"/>
                <c:pt idx="0">
                  <c:v>Wavy Hair</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19.631357213939072</c:v>
                </c:pt>
                <c:pt idx="1">
                  <c:v>20.284317905251836</c:v>
                </c:pt>
                <c:pt idx="2">
                  <c:v>20.180460640459494</c:v>
                </c:pt>
              </c:numCache>
            </c:numRef>
          </c:val>
        </c:ser>
        <c:ser>
          <c:idx val="2"/>
          <c:order val="2"/>
          <c:tx>
            <c:strRef>
              <c:f>Sheet1!$D$1</c:f>
              <c:strCache>
                <c:ptCount val="1"/>
                <c:pt idx="0">
                  <c:v>All Hair Types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20.96859514759886</c:v>
                </c:pt>
                <c:pt idx="1">
                  <c:v>21.256363271886407</c:v>
                </c:pt>
                <c:pt idx="2">
                  <c:v>20.156360690091077</c:v>
                </c:pt>
              </c:numCache>
            </c:numRef>
          </c:val>
        </c:ser>
        <c:ser>
          <c:idx val="3"/>
          <c:order val="3"/>
          <c:tx>
            <c:strRef>
              <c:f>Sheet1!$E$1</c:f>
              <c:strCache>
                <c:ptCount val="1"/>
                <c:pt idx="0">
                  <c:v>Coily Hair</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18.364042605736195</c:v>
                </c:pt>
                <c:pt idx="1">
                  <c:v>18.161900271330193</c:v>
                </c:pt>
                <c:pt idx="2">
                  <c:v>20.119243054760176</c:v>
                </c:pt>
              </c:numCache>
            </c:numRef>
          </c:val>
        </c:ser>
        <c:ser>
          <c:idx val="4"/>
          <c:order val="4"/>
          <c:tx>
            <c:strRef>
              <c:f>Sheet1!$F$1</c:f>
              <c:strCache>
                <c:ptCount val="1"/>
                <c:pt idx="0">
                  <c:v>Straight Hair</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21.218039487316624</c:v>
                </c:pt>
                <c:pt idx="1">
                  <c:v>21.27607070960893</c:v>
                </c:pt>
                <c:pt idx="2">
                  <c:v>19.303874656926997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Film-forming and Fixative Polymers</c:v>
                </c:pt>
              </c:strCache>
            </c:strRef>
          </c:tx>
          <c:spPr>
            <a:solidFill>
              <a:srgbClr val="3D85C6"/>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Sheet1!$B$2:$B$10</c:f>
              <c:numCache>
                <c:formatCode>General</c:formatCode>
                <c:ptCount val="9"/>
                <c:pt idx="0">
                  <c:v>24.419043865267444</c:v>
                </c:pt>
                <c:pt idx="1">
                  <c:v>24.15437604875033</c:v>
                </c:pt>
                <c:pt idx="2">
                  <c:v>24.444632326520257</c:v>
                </c:pt>
                <c:pt idx="3">
                  <c:v>24.38323863992675</c:v>
                </c:pt>
                <c:pt idx="4">
                  <c:v>24.255282839918223</c:v>
                </c:pt>
                <c:pt idx="5">
                  <c:v>23.795054882449016</c:v>
                </c:pt>
                <c:pt idx="6">
                  <c:v>24.79866137288488</c:v>
                </c:pt>
                <c:pt idx="7">
                  <c:v>23.688005110960553</c:v>
                </c:pt>
                <c:pt idx="8">
                  <c:v>23.625647355997696</c:v>
                </c:pt>
              </c:numCache>
            </c:numRef>
          </c:val>
        </c:ser>
        <c:ser>
          <c:idx val="1"/>
          <c:order val="1"/>
          <c:tx>
            <c:strRef>
              <c:f>Sheet1!$C$1</c:f>
              <c:strCache>
                <c:ptCount val="1"/>
                <c:pt idx="0">
                  <c:v>Texture and Volume Additives</c:v>
                </c:pt>
              </c:strCache>
            </c:strRef>
          </c:tx>
          <c:spPr>
            <a:solidFill>
              <a:srgbClr val="9E7E0A"/>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Sheet1!$C$2:$C$10</c:f>
              <c:numCache>
                <c:formatCode>General</c:formatCode>
                <c:ptCount val="9"/>
                <c:pt idx="0">
                  <c:v>25.5004844722537</c:v>
                </c:pt>
                <c:pt idx="1">
                  <c:v>26.13761812240572</c:v>
                </c:pt>
                <c:pt idx="2">
                  <c:v>25.729745725095643</c:v>
                </c:pt>
                <c:pt idx="3">
                  <c:v>25.715635491005166</c:v>
                </c:pt>
                <c:pt idx="4">
                  <c:v>26.21647254957944</c:v>
                </c:pt>
                <c:pt idx="5">
                  <c:v>25.8767265499386</c:v>
                </c:pt>
                <c:pt idx="6">
                  <c:v>25.440449905444606</c:v>
                </c:pt>
                <c:pt idx="7">
                  <c:v>26.390025347825425</c:v>
                </c:pt>
                <c:pt idx="8">
                  <c:v>26.168938172302784</c:v>
                </c:pt>
              </c:numCache>
            </c:numRef>
          </c:val>
        </c:ser>
        <c:ser>
          <c:idx val="2"/>
          <c:order val="2"/>
          <c:tx>
            <c:strRef>
              <c:f>Sheet1!$D$1</c:f>
              <c:strCache>
                <c:ptCount val="1"/>
                <c:pt idx="0">
                  <c:v>Conditioning and Smoothing Agents</c:v>
                </c:pt>
              </c:strCache>
            </c:strRef>
          </c:tx>
          <c:spPr>
            <a:solidFill>
              <a:srgbClr val="008189"/>
            </a:solidFill>
            <a:ln>
              <a:noFill/>
            </a:ln>
          </c:spPr>
          <c:dLbls>
            <c:dLbl>
              <c:idx val="0"/>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Sheet1!$D$2:$D$10</c:f>
              <c:numCache>
                <c:formatCode>General</c:formatCode>
                <c:ptCount val="9"/>
                <c:pt idx="0">
                  <c:v>24.584092887290403</c:v>
                </c:pt>
                <c:pt idx="1">
                  <c:v>23.517950189879006</c:v>
                </c:pt>
                <c:pt idx="2">
                  <c:v>23.702732979645322</c:v>
                </c:pt>
                <c:pt idx="3">
                  <c:v>23.68756610770382</c:v>
                </c:pt>
                <c:pt idx="4">
                  <c:v>23.355747867665645</c:v>
                </c:pt>
                <c:pt idx="5">
                  <c:v>24.769898844113587</c:v>
                </c:pt>
                <c:pt idx="6">
                  <c:v>23.8738997415816</c:v>
                </c:pt>
                <c:pt idx="7">
                  <c:v>24.31500847917187</c:v>
                </c:pt>
                <c:pt idx="8">
                  <c:v>24.052610305764635</c:v>
                </c:pt>
              </c:numCache>
            </c:numRef>
          </c:val>
        </c:ser>
        <c:ser>
          <c:idx val="3"/>
          <c:order val="3"/>
          <c:tx>
            <c:strRef>
              <c:f>Sheet1!$E$1</c:f>
              <c:strCache>
                <c:ptCount val="1"/>
                <c:pt idx="0">
                  <c:v>Waxes and Structuring Agents</c:v>
                </c:pt>
              </c:strCache>
            </c:strRef>
          </c:tx>
          <c:spPr>
            <a:solidFill>
              <a:srgbClr val="40315E"/>
            </a:solidFill>
            <a:ln>
              <a:noFill/>
            </a:ln>
          </c:spPr>
          <c:dLbls>
            <c:dLbl>
              <c:idx val="0"/>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Sheet1!$E$2:$E$10</c:f>
              <c:numCache>
                <c:formatCode>General</c:formatCode>
                <c:ptCount val="9"/>
                <c:pt idx="0">
                  <c:v>25.496378775188454</c:v>
                </c:pt>
                <c:pt idx="1">
                  <c:v>26.19005563896494</c:v>
                </c:pt>
                <c:pt idx="2">
                  <c:v>26.12288896873877</c:v>
                </c:pt>
                <c:pt idx="3">
                  <c:v>26.21355976136425</c:v>
                </c:pt>
                <c:pt idx="4">
                  <c:v>26.172496742836703</c:v>
                </c:pt>
                <c:pt idx="5">
                  <c:v>25.55831972349881</c:v>
                </c:pt>
                <c:pt idx="6">
                  <c:v>25.88698898008891</c:v>
                </c:pt>
                <c:pt idx="7">
                  <c:v>25.60696106204215</c:v>
                </c:pt>
                <c:pt idx="8">
                  <c:v>26.152804165934896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3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Film-forming and Fixative Polymers</c:v>
                </c:pt>
              </c:strCache>
            </c:strRef>
          </c:tx>
          <c:spPr>
            <a:solidFill>
              <a:srgbClr val="3D85C6"/>
            </a:solidFill>
          </c:spPr>
          <c:invertIfNegative val="0"/>
          <c:xVal>
            <c:numRef>
              <c:f>Sheet1!$A$2:$A$2</c:f>
              <c:numCache>
                <c:formatCode>General</c:formatCode>
                <c:ptCount val="1"/>
                <c:pt idx="0">
                  <c:v>89.20490189415275</c:v>
                </c:pt>
              </c:numCache>
            </c:numRef>
          </c:xVal>
          <c:yVal>
            <c:numRef>
              <c:f>Sheet1!$B$2:$B$2</c:f>
              <c:numCache>
                <c:formatCode>General</c:formatCode>
                <c:ptCount val="1"/>
                <c:pt idx="0">
                  <c:v>103.88241950730304</c:v>
                </c:pt>
              </c:numCache>
            </c:numRef>
          </c:yVal>
          <c:bubbleSize>
            <c:numRef>
              <c:f>Sheet1!$C$2:$C$2</c:f>
              <c:numCache>
                <c:formatCode>General</c:formatCode>
                <c:ptCount val="1"/>
                <c:pt idx="0">
                  <c:v>905.223</c:v>
                </c:pt>
              </c:numCache>
            </c:numRef>
          </c:bubbleSize>
          <c:bubble3D val="0"/>
        </c:ser>
        <c:ser>
          <c:idx val="1"/>
          <c:order val="1"/>
          <c:tx>
            <c:strRef>
              <c:f>Sheet1!$B$4</c:f>
              <c:strCache>
                <c:ptCount val="1"/>
                <c:pt idx="0">
                  <c:v>Texture and Volume Additives</c:v>
                </c:pt>
              </c:strCache>
            </c:strRef>
          </c:tx>
          <c:spPr>
            <a:solidFill>
              <a:srgbClr val="9E7E0A"/>
            </a:solidFill>
          </c:spPr>
          <c:invertIfNegative val="0"/>
          <c:xVal>
            <c:numRef>
              <c:f>Sheet1!$A$5:$A$5</c:f>
              <c:numCache>
                <c:formatCode>General</c:formatCode>
                <c:ptCount val="1"/>
                <c:pt idx="0">
                  <c:v>104.66114793783608</c:v>
                </c:pt>
              </c:numCache>
            </c:numRef>
          </c:xVal>
          <c:yVal>
            <c:numRef>
              <c:f>Sheet1!$B$5:$B$5</c:f>
              <c:numCache>
                <c:formatCode>General</c:formatCode>
                <c:ptCount val="1"/>
                <c:pt idx="0">
                  <c:v>100.60997026380846</c:v>
                </c:pt>
              </c:numCache>
            </c:numRef>
          </c:yVal>
          <c:bubbleSize>
            <c:numRef>
              <c:f>Sheet1!$C$5:$C$5</c:f>
              <c:numCache>
                <c:formatCode>General</c:formatCode>
                <c:ptCount val="1"/>
                <c:pt idx="0">
                  <c:v>981.396</c:v>
                </c:pt>
              </c:numCache>
            </c:numRef>
          </c:bubbleSize>
          <c:bubble3D val="0"/>
        </c:ser>
        <c:ser>
          <c:idx val="2"/>
          <c:order val="2"/>
          <c:tx>
            <c:strRef>
              <c:f>Sheet1!$B$7</c:f>
              <c:strCache>
                <c:ptCount val="1"/>
                <c:pt idx="0">
                  <c:v>Conditioning and Smoothing Agents</c:v>
                </c:pt>
              </c:strCache>
            </c:strRef>
          </c:tx>
          <c:spPr>
            <a:solidFill>
              <a:srgbClr val="008189"/>
            </a:solidFill>
          </c:spPr>
          <c:invertIfNegative val="0"/>
          <c:xVal>
            <c:numRef>
              <c:f>Sheet1!$A$8:$A$8</c:f>
              <c:numCache>
                <c:formatCode>General</c:formatCode>
                <c:ptCount val="1"/>
                <c:pt idx="0">
                  <c:v>94.8513149929827</c:v>
                </c:pt>
              </c:numCache>
            </c:numRef>
          </c:xVal>
          <c:yVal>
            <c:numRef>
              <c:f>Sheet1!$B$8:$B$8</c:f>
              <c:numCache>
                <c:formatCode>General</c:formatCode>
                <c:ptCount val="1"/>
                <c:pt idx="0">
                  <c:v>99.81467113443627</c:v>
                </c:pt>
              </c:numCache>
            </c:numRef>
          </c:yVal>
          <c:bubbleSize>
            <c:numRef>
              <c:f>Sheet1!$C$8:$C$8</c:f>
              <c:numCache>
                <c:formatCode>General</c:formatCode>
                <c:ptCount val="1"/>
                <c:pt idx="0">
                  <c:v>906.502</c:v>
                </c:pt>
              </c:numCache>
            </c:numRef>
          </c:bubbleSize>
          <c:bubble3D val="0"/>
        </c:ser>
        <c:ser>
          <c:idx val="3"/>
          <c:order val="3"/>
          <c:tx>
            <c:strRef>
              <c:f>Sheet1!$B$10</c:f>
              <c:strCache>
                <c:ptCount val="1"/>
                <c:pt idx="0">
                  <c:v>Waxes and Structuring Agents</c:v>
                </c:pt>
              </c:strCache>
            </c:strRef>
          </c:tx>
          <c:spPr>
            <a:solidFill>
              <a:srgbClr val="40315E"/>
            </a:solidFill>
          </c:spPr>
          <c:invertIfNegative val="0"/>
          <c:xVal>
            <c:numRef>
              <c:f>Sheet1!$A$11:$A$11</c:f>
              <c:numCache>
                <c:formatCode>General</c:formatCode>
                <c:ptCount val="1"/>
                <c:pt idx="0">
                  <c:v>111.19760607614413</c:v>
                </c:pt>
              </c:numCache>
            </c:numRef>
          </c:xVal>
          <c:yVal>
            <c:numRef>
              <c:f>Sheet1!$B$11:$B$11</c:f>
              <c:numCache>
                <c:formatCode>General</c:formatCode>
                <c:ptCount val="1"/>
                <c:pt idx="0">
                  <c:v>95.69293909445223</c:v>
                </c:pt>
              </c:numCache>
            </c:numRef>
          </c:yVal>
          <c:bubbleSize>
            <c:numRef>
              <c:f>Sheet1!$C$11:$C$11</c:f>
              <c:numCache>
                <c:formatCode>General</c:formatCode>
                <c:ptCount val="1"/>
                <c:pt idx="0">
                  <c:v>978.6690000000001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459.91499999999996</c:v>
                </c:pt>
                <c:pt idx="2">
                  <c:v>517.483</c:v>
                </c:pt>
                <c:pt idx="3">
                  <c:v>591.2439999999999</c:v>
                </c:pt>
                <c:pt idx="4">
                  <c:v>680.253</c:v>
                </c:pt>
                <c:pt idx="5">
                  <c:v>784.863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459.91499999999996</c:v>
                </c:pt>
                <c:pt idx="1">
                  <c:v>57.567999999999984</c:v>
                </c:pt>
                <c:pt idx="2">
                  <c:v>73.76099999999997</c:v>
                </c:pt>
                <c:pt idx="3">
                  <c:v>89.00900000000013</c:v>
                </c:pt>
                <c:pt idx="4">
                  <c:v>104.61000000000001</c:v>
                </c:pt>
                <c:pt idx="5">
                  <c:v>120.3599999999999</c:v>
                </c:pt>
                <c:pt idx="6">
                  <c:v>905.223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445.427</c:v>
                </c:pt>
                <c:pt idx="2">
                  <c:v>509.673</c:v>
                </c:pt>
                <c:pt idx="3">
                  <c:v>593.845</c:v>
                </c:pt>
                <c:pt idx="4">
                  <c:v>699.705</c:v>
                </c:pt>
                <c:pt idx="5">
                  <c:v>829.0430000000001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445.427</c:v>
                </c:pt>
                <c:pt idx="1">
                  <c:v>64.24599999999998</c:v>
                </c:pt>
                <c:pt idx="2">
                  <c:v>84.17200000000003</c:v>
                </c:pt>
                <c:pt idx="3">
                  <c:v>105.86000000000001</c:v>
                </c:pt>
                <c:pt idx="4">
                  <c:v>129.33800000000008</c:v>
                </c:pt>
                <c:pt idx="5">
                  <c:v>152.35299999999984</c:v>
                </c:pt>
                <c:pt idx="6">
                  <c:v>981.396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441.906</c:v>
                </c:pt>
                <c:pt idx="2">
                  <c:v>503.602</c:v>
                </c:pt>
                <c:pt idx="3">
                  <c:v>580.471</c:v>
                </c:pt>
                <c:pt idx="4">
                  <c:v>671.819</c:v>
                </c:pt>
                <c:pt idx="5">
                  <c:v>780.836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441.906</c:v>
                </c:pt>
                <c:pt idx="1">
                  <c:v>61.69599999999997</c:v>
                </c:pt>
                <c:pt idx="2">
                  <c:v>76.86900000000003</c:v>
                </c:pt>
                <c:pt idx="3">
                  <c:v>91.34799999999996</c:v>
                </c:pt>
                <c:pt idx="4">
                  <c:v>109.01700000000005</c:v>
                </c:pt>
                <c:pt idx="5">
                  <c:v>125.66599999999994</c:v>
                </c:pt>
                <c:pt idx="6">
                  <c:v>906.502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423.658</c:v>
                </c:pt>
                <c:pt idx="2">
                  <c:v>484.767</c:v>
                </c:pt>
                <c:pt idx="3">
                  <c:v>568.7719999999999</c:v>
                </c:pt>
                <c:pt idx="4">
                  <c:v>681.633</c:v>
                </c:pt>
                <c:pt idx="5">
                  <c:v>817.809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423.658</c:v>
                </c:pt>
                <c:pt idx="1">
                  <c:v>61.10899999999998</c:v>
                </c:pt>
                <c:pt idx="2">
                  <c:v>84.00499999999994</c:v>
                </c:pt>
                <c:pt idx="3">
                  <c:v>112.8610000000001</c:v>
                </c:pt>
                <c:pt idx="4">
                  <c:v>136.17599999999993</c:v>
                </c:pt>
                <c:pt idx="5">
                  <c:v>160.86000000000013</c:v>
                </c:pt>
                <c:pt idx="6">
                  <c:v>978.6690000000001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Texture and Volume Additives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24.866765742977343</c:v>
                </c:pt>
                <c:pt idx="1">
                  <c:v>25.152492565952116</c:v>
                </c:pt>
                <c:pt idx="2">
                  <c:v>26.019370113394437</c:v>
                </c:pt>
              </c:numCache>
            </c:numRef>
          </c:val>
        </c:ser>
        <c:ser>
          <c:idx val="1"/>
          <c:order val="1"/>
          <c:tx>
            <c:strRef>
              <c:f>Sheet1!$C$1</c:f>
              <c:strCache>
                <c:ptCount val="1"/>
                <c:pt idx="0">
                  <c:v>Waxes and Structuring Agents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24.23153753866972</c:v>
                </c:pt>
                <c:pt idx="1">
                  <c:v>23.923234773613057</c:v>
                </c:pt>
                <c:pt idx="2">
                  <c:v>25.947070223952025</c:v>
                </c:pt>
              </c:numCache>
            </c:numRef>
          </c:val>
        </c:ser>
        <c:ser>
          <c:idx val="2"/>
          <c:order val="2"/>
          <c:tx>
            <c:strRef>
              <c:f>Sheet1!$D$1</c:f>
              <c:strCache>
                <c:ptCount val="1"/>
                <c:pt idx="0">
                  <c:v>Conditioning and Smoothing Agents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24.590506502065548</c:v>
                </c:pt>
                <c:pt idx="1">
                  <c:v>24.953667783609067</c:v>
                </c:pt>
                <c:pt idx="2">
                  <c:v>24.033734645884312</c:v>
                </c:pt>
              </c:numCache>
            </c:numRef>
          </c:val>
        </c:ser>
        <c:ser>
          <c:idx val="3"/>
          <c:order val="3"/>
          <c:tx>
            <c:strRef>
              <c:f>Sheet1!$E$1</c:f>
              <c:strCache>
                <c:ptCount val="1"/>
                <c:pt idx="0">
                  <c:v>Film-forming and Fixative Polymers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26.311190216287383</c:v>
                </c:pt>
                <c:pt idx="1">
                  <c:v>25.97060487682576</c:v>
                </c:pt>
                <c:pt idx="2">
                  <c:v>23.999825016769226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4.616052759733136</c:v>
                </c:pt>
                <c:pt idx="1">
                  <c:v>6.040785576190855</c:v>
                </c:pt>
                <c:pt idx="2">
                  <c:v>5.5637316965684525</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7.973836960571928"/>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463.89599999999996</c:v>
                </c:pt>
                <c:pt idx="2">
                  <c:v>0.0</c:v>
                </c:pt>
                <c:pt idx="3">
                  <c:v>581.316</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463.89599999999996</c:v>
                </c:pt>
                <c:pt idx="1">
                  <c:v>117.42000000000007</c:v>
                </c:pt>
                <c:pt idx="2">
                  <c:v>581.316</c:v>
                </c:pt>
                <c:pt idx="3">
                  <c:v>463.7450000000001</c:v>
                </c:pt>
                <c:pt idx="4">
                  <c:v>1045.0610000000001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5.182247747029312</c:v>
                </c:pt>
                <c:pt idx="1">
                  <c:v>7.540738186272966</c:v>
                </c:pt>
                <c:pt idx="2">
                  <c:v>6.7487564904358255</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9.953774405880315"/>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796.691</c:v>
                </c:pt>
                <c:pt idx="2">
                  <c:v>0.0</c:v>
                </c:pt>
                <c:pt idx="3">
                  <c:v>1025.657</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796.691</c:v>
                </c:pt>
                <c:pt idx="1">
                  <c:v>228.9659999999999</c:v>
                </c:pt>
                <c:pt idx="2">
                  <c:v>1025.657</c:v>
                </c:pt>
                <c:pt idx="3">
                  <c:v>1096.2790000000002</c:v>
                </c:pt>
                <c:pt idx="4">
                  <c:v>2121.936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Sheet1!$B$2:$B$6</c:f>
              <c:numCache>
                <c:formatCode>General</c:formatCode>
                <c:ptCount val="5"/>
                <c:pt idx="0">
                  <c:v>796.691</c:v>
                </c:pt>
                <c:pt idx="1">
                  <c:v>836.4949999999999</c:v>
                </c:pt>
                <c:pt idx="2">
                  <c:v>878.2320000000001</c:v>
                </c:pt>
                <c:pt idx="3">
                  <c:v>922.2750000000001</c:v>
                </c:pt>
                <c:pt idx="4">
                  <c:v>969.3100000000001</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Sheet1!$C$2:$C$6</c:f>
              <c:numCache>
                <c:formatCode>General</c:formatCode>
                <c:ptCount val="5"/>
                <c:pt idx="0">
                  <c:v>463.89599999999996</c:v>
                </c:pt>
                <c:pt idx="1">
                  <c:v>485.119</c:v>
                </c:pt>
                <c:pt idx="2">
                  <c:v>507.194</c:v>
                </c:pt>
                <c:pt idx="3">
                  <c:v>530.077</c:v>
                </c:pt>
                <c:pt idx="4">
                  <c:v>554.347</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144"/>
          <c:min val="0"/>
        </c:scaling>
        <c:delete val="0"/>
        <c:axPos val="l"/>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757"/>
          <c:min val="0"/>
        </c:scaling>
        <c:delete val="0"/>
        <c:axPos val="r"/>
        <c:numFmt formatCode="General"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1025.657</c:v>
                </c:pt>
                <c:pt idx="1">
                  <c:v>1089.719</c:v>
                </c:pt>
                <c:pt idx="2">
                  <c:v>1162.879</c:v>
                </c:pt>
                <c:pt idx="3">
                  <c:v>1246.255</c:v>
                </c:pt>
                <c:pt idx="4">
                  <c:v>1340.4630000000002</c:v>
                </c:pt>
                <c:pt idx="5">
                  <c:v>1445.087</c:v>
                </c:pt>
                <c:pt idx="6">
                  <c:v>1560.342</c:v>
                </c:pt>
                <c:pt idx="7">
                  <c:v>1685.632</c:v>
                </c:pt>
                <c:pt idx="8">
                  <c:v>1821.0659999999998</c:v>
                </c:pt>
                <c:pt idx="9">
                  <c:v>1966.379</c:v>
                </c:pt>
                <c:pt idx="10">
                  <c:v>2121.936</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581.316</c:v>
                </c:pt>
                <c:pt idx="1">
                  <c:v>611.5609999999999</c:v>
                </c:pt>
                <c:pt idx="2">
                  <c:v>645.656</c:v>
                </c:pt>
                <c:pt idx="3">
                  <c:v>683.869</c:v>
                </c:pt>
                <c:pt idx="4">
                  <c:v>726.105</c:v>
                </c:pt>
                <c:pt idx="5">
                  <c:v>771.967</c:v>
                </c:pt>
                <c:pt idx="6">
                  <c:v>821.271</c:v>
                </c:pt>
                <c:pt idx="7">
                  <c:v>873.577</c:v>
                </c:pt>
                <c:pt idx="8">
                  <c:v>928.636</c:v>
                </c:pt>
                <c:pt idx="9">
                  <c:v>985.789</c:v>
                </c:pt>
                <c:pt idx="10">
                  <c:v>1045.0610000000001</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2504"/>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613"/>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Sheet1!$A$2:$A$6</c:f>
              <c:strCache>
                <c:ptCount val="5"/>
                <c:pt idx="0">
                  <c:v>South Africa</c:v>
                </c:pt>
                <c:pt idx="1">
                  <c:v>Israel</c:v>
                </c:pt>
                <c:pt idx="2">
                  <c:v>UAE</c:v>
                </c:pt>
                <c:pt idx="3">
                  <c:v>Saudi Arabia</c:v>
                </c:pt>
                <c:pt idx="4">
                  <c:v>Turkey</c:v>
                </c:pt>
              </c:strCache>
            </c:strRef>
          </c:cat>
          <c:val>
            <c:numRef>
              <c:f>Sheet1!$B$2:$B$6</c:f>
              <c:numCache>
                <c:formatCode>General</c:formatCode>
                <c:ptCount val="5"/>
                <c:pt idx="0">
                  <c:v>81.21063454947063</c:v>
                </c:pt>
                <c:pt idx="1">
                  <c:v>85.23397073567793</c:v>
                </c:pt>
                <c:pt idx="2">
                  <c:v>90.41540375401577</c:v>
                </c:pt>
                <c:pt idx="3">
                  <c:v>99.67827428618185</c:v>
                </c:pt>
                <c:pt idx="4">
                  <c:v>104.2895949873639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Sheet1!$A$2:$A$6</c:f>
              <c:strCache>
                <c:ptCount val="5"/>
                <c:pt idx="0">
                  <c:v>Israel</c:v>
                </c:pt>
                <c:pt idx="1">
                  <c:v>South Africa</c:v>
                </c:pt>
                <c:pt idx="2">
                  <c:v>UAE</c:v>
                </c:pt>
                <c:pt idx="3">
                  <c:v>Turkey</c:v>
                </c:pt>
                <c:pt idx="4">
                  <c:v>Saudi Arabia</c:v>
                </c:pt>
              </c:strCache>
            </c:strRef>
          </c:cat>
          <c:val>
            <c:numRef>
              <c:f>Sheet1!$B$2:$B$6</c:f>
              <c:numCache>
                <c:formatCode>General</c:formatCode>
                <c:ptCount val="5"/>
                <c:pt idx="0">
                  <c:v>9.151502491610254</c:v>
                </c:pt>
                <c:pt idx="1">
                  <c:v>9.833263247768132</c:v>
                </c:pt>
                <c:pt idx="2">
                  <c:v>10.131909851415559</c:v>
                </c:pt>
                <c:pt idx="3">
                  <c:v>19.765680086912173</c:v>
                </c:pt>
                <c:pt idx="4">
                  <c:v>20.27722869816899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47.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Lbls>
            <c:dLbl>
              <c:idx val="0"/>
              <c:layout>
                <c:manualLayout>
                  <c:x val="0.0350"/>
                  <c:y val="0.0000"/>
                </c:manualLayout>
              </c:layout>
              <c:tx>
                <c:rich>
                  <a:bodyPr/>
                  <a:lstStyle/>
                  <a:p>
                    <a:pPr>
                      <a:defRPr sz="1100" b="1">
                        <a:solidFill>
                          <a:srgbClr val="FFFFFF"/>
                        </a:solidFill>
                        <a:latin typeface="Calibri"/>
                      </a:defRPr>
                    </a:pPr>
                    <a:r>
                      <a:t>9.9%</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6.1%</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8.9%</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12.9%</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16.7%</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10.7%</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20.4%</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14.4%</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Sheet1!$A$2:$A$9</c:f>
              <c:strCache>
                <c:ptCount val="8"/>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strCache>
            </c:strRef>
          </c:cat>
          <c:val>
            <c:numRef>
              <c:f>Sheet1!$B$2:$B$9</c:f>
              <c:numCache>
                <c:formatCode>General</c:formatCode>
                <c:ptCount val="8"/>
                <c:pt idx="0">
                  <c:v>209.086</c:v>
                </c:pt>
                <c:pt idx="1">
                  <c:v>128.721</c:v>
                </c:pt>
                <c:pt idx="2">
                  <c:v>189.29</c:v>
                </c:pt>
                <c:pt idx="3">
                  <c:v>274.069</c:v>
                </c:pt>
                <c:pt idx="4">
                  <c:v>355.287</c:v>
                </c:pt>
                <c:pt idx="5">
                  <c:v>226.276</c:v>
                </c:pt>
                <c:pt idx="6">
                  <c:v>432.824</c:v>
                </c:pt>
                <c:pt idx="7">
                  <c:v>306.383</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448.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0.10042575575414674</c:v>
                </c:pt>
                <c:pt idx="1">
                  <c:v>0.09866615903014826</c:v>
                </c:pt>
                <c:pt idx="2">
                  <c:v>0.09871449959948889</c:v>
                </c:pt>
                <c:pt idx="3">
                  <c:v>0.09708058835577602</c:v>
                </c:pt>
                <c:pt idx="4">
                  <c:v>0.09518563803762381</c:v>
                </c:pt>
                <c:pt idx="5">
                  <c:v>0.09330035583333973</c:v>
                </c:pt>
                <c:pt idx="6">
                  <c:v>0.08969414936052966</c:v>
                </c:pt>
                <c:pt idx="7">
                  <c:v>0.0865810166949939</c:v>
                </c:pt>
                <c:pt idx="8">
                  <c:v>0.08735446580444378</c:v>
                </c:pt>
                <c:pt idx="9">
                  <c:v>0.08437668673306174</c:v>
                </c:pt>
                <c:pt idx="10">
                  <c:v>0.08380626801484246</c:v>
                </c:pt>
              </c:numCache>
            </c:numRef>
          </c:val>
          <c:smooth val="0"/>
        </c:ser>
        <c:ser>
          <c:idx val="1"/>
          <c:order val="1"/>
          <c:tx>
            <c:strRef>
              <c:f>Sheet1!$C$1</c: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0.06535286796446003</c:v>
                </c:pt>
                <c:pt idx="1">
                  <c:v>0.06706426242078345</c:v>
                </c:pt>
                <c:pt idx="2">
                  <c:v>0.06858740348691128</c:v>
                </c:pt>
                <c:pt idx="3">
                  <c:v>0.07086926276200917</c:v>
                </c:pt>
                <c:pt idx="4">
                  <c:v>0.07333937542730262</c:v>
                </c:pt>
                <c:pt idx="5">
                  <c:v>0.07600344613097941</c:v>
                </c:pt>
                <c:pt idx="6">
                  <c:v>0.07828530540607728</c:v>
                </c:pt>
                <c:pt idx="7">
                  <c:v>0.07919234446792871</c:v>
                </c:pt>
                <c:pt idx="8">
                  <c:v>0.07919234446792871</c:v>
                </c:pt>
                <c:pt idx="9">
                  <c:v>0.07774336382824154</c:v>
                </c:pt>
                <c:pt idx="10">
                  <c:v>0.07656820630156613</c:v>
                </c:pt>
              </c:numCache>
            </c:numRef>
          </c:val>
          <c:smooth val="0"/>
        </c:ser>
        <c:ser>
          <c:idx val="2"/>
          <c:order val="2"/>
          <c:tx>
            <c:strRef>
              <c:f>Sheet1!$D$1</c: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Sheet1!$D$2:$D$12</c:f>
              <c:numCache>
                <c:formatCode>General</c:formatCode>
                <c:ptCount val="11"/>
                <c:pt idx="0">
                  <c:v>0.06336794971020322</c:v>
                </c:pt>
                <c:pt idx="1">
                  <c:v>0.06163794971020323</c:v>
                </c:pt>
                <c:pt idx="2">
                  <c:v>0.05824794971020322</c:v>
                </c:pt>
                <c:pt idx="3">
                  <c:v>0.05485794971020323</c:v>
                </c:pt>
                <c:pt idx="4">
                  <c:v>0.053197949710203224</c:v>
                </c:pt>
                <c:pt idx="5">
                  <c:v>0.05360794971020323</c:v>
                </c:pt>
                <c:pt idx="6">
                  <c:v>0.054807949710203224</c:v>
                </c:pt>
                <c:pt idx="7">
                  <c:v>0.05527794971020322</c:v>
                </c:pt>
                <c:pt idx="8">
                  <c:v>0.05435794971020323</c:v>
                </c:pt>
                <c:pt idx="9">
                  <c:v>0.05121794971020323</c:v>
                </c:pt>
                <c:pt idx="10">
                  <c:v>0.04861794971020322</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MEA</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25.583375622511028</c:v>
                </c:pt>
                <c:pt idx="1">
                  <c:v>27.754812633126075</c:v>
                </c:pt>
              </c:numCache>
            </c:numRef>
          </c:val>
        </c:ser>
        <c:ser>
          <c:idx val="1"/>
          <c:order val="1"/>
          <c:tx>
            <c:strRef>
              <c:f>Sheet1!$C$1</c:f>
              <c:strCache>
                <c:ptCount val="1"/>
                <c:pt idx="0">
                  <c:v>Turkey</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24.686271642741023</c:v>
                </c:pt>
                <c:pt idx="1">
                  <c:v>25.502697447615553</c:v>
                </c:pt>
              </c:numCache>
            </c:numRef>
          </c:val>
        </c:ser>
        <c:ser>
          <c:idx val="2"/>
          <c:order val="2"/>
          <c:tx>
            <c:strRef>
              <c:f>Sheet1!$D$1</c:f>
              <c:strCache>
                <c:ptCount val="1"/>
                <c:pt idx="0">
                  <c:v>Saudi Arabia</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15.585525919682098</c:v>
                </c:pt>
                <c:pt idx="1">
                  <c:v>15.415831787970474</c:v>
                </c:pt>
              </c:numCache>
            </c:numRef>
          </c:val>
        </c:ser>
        <c:ser>
          <c:idx val="3"/>
          <c:order val="3"/>
          <c:tx>
            <c:strRef>
              <c:f>Sheet1!$E$1</c:f>
              <c:strCache>
                <c:ptCount val="1"/>
                <c:pt idx="0">
                  <c:v>South Africa</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14.114894678444562</c:v>
                </c:pt>
                <c:pt idx="1">
                  <c:v>12.069331771703498</c:v>
                </c:pt>
              </c:numCache>
            </c:numRef>
          </c:val>
        </c:ser>
        <c:ser>
          <c:idx val="4"/>
          <c:order val="4"/>
          <c:tx>
            <c:strRef>
              <c:f>Sheet1!$F$1</c:f>
              <c:strCache>
                <c:ptCount val="1"/>
                <c:pt idx="0">
                  <c:v>UAE</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7.660906737311096</c:v>
                </c:pt>
                <c:pt idx="1">
                  <c:v>7.193640185941122</c:v>
                </c:pt>
              </c:numCache>
            </c:numRef>
          </c:val>
        </c:ser>
        <c:ser>
          <c:idx val="5"/>
          <c:order val="5"/>
          <c:tx>
            <c:strRef>
              <c:f>Sheet1!$G$1</c:f>
              <c:strCache>
                <c:ptCount val="1"/>
                <c:pt idx="0">
                  <c:v>Israel</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7.032331868264194</c:v>
                </c:pt>
                <c:pt idx="1">
                  <c:v>6.262499258417205</c:v>
                </c:pt>
              </c:numCache>
            </c:numRef>
          </c:val>
        </c:ser>
        <c:ser>
          <c:idx val="6"/>
          <c:order val="6"/>
          <c:tx>
            <c:strRef>
              <c:f>Sheet1!$H$1</c:f>
              <c:strCache>
                <c:ptCount val="1"/>
                <c:pt idx="0">
                  <c:v>GCC</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Sheet1!$H$2:$H$3</c:f>
              <c:numCache>
                <c:formatCode>General</c:formatCode>
                <c:ptCount val="2"/>
                <c:pt idx="0">
                  <c:v>5.33669353104599</c:v>
                </c:pt>
                <c:pt idx="1">
                  <c:v>5.801186915226083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MEA</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18.281550264854626</c:v>
                </c:pt>
                <c:pt idx="1">
                  <c:v>20.439579497412034</c:v>
                </c:pt>
              </c:numCache>
            </c:numRef>
          </c:val>
        </c:ser>
        <c:ser>
          <c:idx val="1"/>
          <c:order val="1"/>
          <c:tx>
            <c:strRef>
              <c:f>Sheet1!$C$1</c:f>
              <c:strCache>
                <c:ptCount val="1"/>
                <c:pt idx="0">
                  <c:v>Saudi Arabia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20.36606779849404</c:v>
                </c:pt>
                <c:pt idx="1">
                  <c:v>20.320160306361593</c:v>
                </c:pt>
              </c:numCache>
            </c:numRef>
          </c:val>
        </c:ser>
        <c:ser>
          <c:idx val="2"/>
          <c:order val="2"/>
          <c:tx>
            <c:strRef>
              <c:f>Sheet1!$D$1</c:f>
              <c:strCache>
                <c:ptCount val="1"/>
                <c:pt idx="0">
                  <c:v>Turkey</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18.664134306108185</c:v>
                </c:pt>
                <c:pt idx="1">
                  <c:v>19.23337026499844</c:v>
                </c:pt>
              </c:numCache>
            </c:numRef>
          </c:val>
        </c:ser>
        <c:ser>
          <c:idx val="3"/>
          <c:order val="3"/>
          <c:tx>
            <c:strRef>
              <c:f>Sheet1!$E$1</c:f>
              <c:strCache>
                <c:ptCount val="1"/>
                <c:pt idx="0">
                  <c:v>South Africa</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12.94565337144874</c:v>
                </c:pt>
                <c:pt idx="1">
                  <c:v>11.337612756646404</c:v>
                </c:pt>
              </c:numCache>
            </c:numRef>
          </c:val>
        </c:ser>
        <c:ser>
          <c:idx val="4"/>
          <c:order val="4"/>
          <c:tx>
            <c:strRef>
              <c:f>Sheet1!$F$1</c:f>
              <c:strCache>
                <c:ptCount val="1"/>
                <c:pt idx="0">
                  <c:v>UAE</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11.595396901693258</c:v>
                </c:pt>
                <c:pt idx="1">
                  <c:v>10.839341601564985</c:v>
                </c:pt>
              </c:numCache>
            </c:numRef>
          </c:val>
        </c:ser>
        <c:ser>
          <c:idx val="5"/>
          <c:order val="5"/>
          <c:tx>
            <c:strRef>
              <c:f>Sheet1!$G$1</c:f>
              <c:strCache>
                <c:ptCount val="1"/>
                <c:pt idx="0">
                  <c:v>Israel</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11.316746241677286</c:v>
                </c:pt>
                <c:pt idx="1">
                  <c:v>10.19804075238803</c:v>
                </c:pt>
              </c:numCache>
            </c:numRef>
          </c:val>
        </c:ser>
        <c:ser>
          <c:idx val="6"/>
          <c:order val="6"/>
          <c:tx>
            <c:strRef>
              <c:f>Sheet1!$H$1</c:f>
              <c:strCache>
                <c:ptCount val="1"/>
                <c:pt idx="0">
                  <c:v>GCC</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Sheet1!$H$2:$H$3</c:f>
              <c:numCache>
                <c:formatCode>General</c:formatCode>
                <c:ptCount val="2"/>
                <c:pt idx="0">
                  <c:v>6.830451115723873</c:v>
                </c:pt>
                <c:pt idx="1">
                  <c:v>7.631894820628511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Rest of MEA</c:v>
                </c:pt>
              </c:strCache>
            </c:strRef>
          </c:tx>
          <c:spPr>
            <a:solidFill>
              <a:srgbClr val="3D85C6"/>
            </a:solidFill>
            <a:ln>
              <a:noFill/>
            </a:ln>
          </c:spPr>
          <c:dLbls>
            <c:dLbl>
              <c:idx val="0"/>
              <c:tx>
                <c:rich>
                  <a:bodyPr/>
                  <a:lstStyle/>
                  <a:p>
                    <a:r>
                      <a:rPr sz="1100">
                        <a:solidFill>
                          <a:srgbClr val="FFFFFF"/>
                        </a:solidFill>
                        <a:latin typeface="Calibri"/>
                      </a:rPr>
                      <a:t>115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121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127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158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168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179</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192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206</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221</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237</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254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272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290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114.67</c:v>
                </c:pt>
                <c:pt idx="1">
                  <c:v>120.736</c:v>
                </c:pt>
                <c:pt idx="2">
                  <c:v>127.089</c:v>
                </c:pt>
                <c:pt idx="3">
                  <c:v>133.723</c:v>
                </c:pt>
                <c:pt idx="4">
                  <c:v>140.804</c:v>
                </c:pt>
                <c:pt idx="5">
                  <c:v>148.72</c:v>
                </c:pt>
                <c:pt idx="6">
                  <c:v>157.651</c:v>
                </c:pt>
                <c:pt idx="7">
                  <c:v>167.78</c:v>
                </c:pt>
                <c:pt idx="8">
                  <c:v>179.188</c:v>
                </c:pt>
                <c:pt idx="9">
                  <c:v>191.862</c:v>
                </c:pt>
                <c:pt idx="10">
                  <c:v>205.716</c:v>
                </c:pt>
                <c:pt idx="11">
                  <c:v>220.715</c:v>
                </c:pt>
                <c:pt idx="12">
                  <c:v>236.75</c:v>
                </c:pt>
                <c:pt idx="13">
                  <c:v>253.749</c:v>
                </c:pt>
                <c:pt idx="14">
                  <c:v>271.515</c:v>
                </c:pt>
                <c:pt idx="15">
                  <c:v>290.055</c:v>
                </c:pt>
              </c:numCache>
            </c:numRef>
          </c:val>
        </c:ser>
        <c:ser>
          <c:idx val="1"/>
          <c:order val="1"/>
          <c:tx>
            <c:strRef>
              <c:f>Sheet1!$C$1</c:f>
              <c:strCache>
                <c:ptCount val="1"/>
                <c:pt idx="0">
                  <c:v>Turkey</c:v>
                </c:pt>
              </c:strCache>
            </c:strRef>
          </c:tx>
          <c:spPr>
            <a:solidFill>
              <a:srgbClr val="9E7E0A"/>
            </a:solidFill>
            <a:ln>
              <a:noFill/>
            </a:ln>
          </c:spPr>
          <c:dLbls>
            <c:dLbl>
              <c:idx val="0"/>
              <c:tx>
                <c:rich>
                  <a:bodyPr/>
                  <a:lstStyle/>
                  <a:p>
                    <a:r>
                      <a:rPr sz="1100">
                        <a:solidFill>
                          <a:srgbClr val="FFFFFF"/>
                        </a:solidFill>
                        <a:latin typeface="Calibri"/>
                      </a:rPr>
                      <a:t>113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124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152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161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171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182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194</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207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221</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235</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251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267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112.503</c:v>
                </c:pt>
                <c:pt idx="1">
                  <c:v>118.08</c:v>
                </c:pt>
                <c:pt idx="2">
                  <c:v>123.9</c:v>
                </c:pt>
                <c:pt idx="3">
                  <c:v>129.947</c:v>
                </c:pt>
                <c:pt idx="4">
                  <c:v>136.369</c:v>
                </c:pt>
                <c:pt idx="5">
                  <c:v>143.505</c:v>
                </c:pt>
                <c:pt idx="6">
                  <c:v>151.507</c:v>
                </c:pt>
                <c:pt idx="7">
                  <c:v>160.53</c:v>
                </c:pt>
                <c:pt idx="8">
                  <c:v>170.641</c:v>
                </c:pt>
                <c:pt idx="9">
                  <c:v>181.809</c:v>
                </c:pt>
                <c:pt idx="10">
                  <c:v>193.938</c:v>
                </c:pt>
                <c:pt idx="11">
                  <c:v>206.988</c:v>
                </c:pt>
                <c:pt idx="12">
                  <c:v>220.865</c:v>
                </c:pt>
                <c:pt idx="13">
                  <c:v>235.499</c:v>
                </c:pt>
                <c:pt idx="14">
                  <c:v>250.716</c:v>
                </c:pt>
                <c:pt idx="15">
                  <c:v>266.519</c:v>
                </c:pt>
              </c:numCache>
            </c:numRef>
          </c:val>
        </c:ser>
        <c:ser>
          <c:idx val="2"/>
          <c:order val="2"/>
          <c:tx>
            <c:strRef>
              <c:f>Sheet1!$D$1</c:f>
              <c:strCache>
                <c:ptCount val="1"/>
                <c:pt idx="0">
                  <c:v>Saudi Arabia</c:v>
                </c:pt>
              </c:strCache>
            </c:strRef>
          </c:tx>
          <c:spPr>
            <a:solidFill>
              <a:srgbClr val="008189"/>
            </a:solidFill>
            <a:ln>
              <a:noFill/>
            </a:ln>
          </c:spPr>
          <c:dLbls>
            <c:dLbl>
              <c:idx val="0"/>
              <c:tx>
                <c:rich>
                  <a:bodyPr/>
                  <a:lstStyle/>
                  <a:p>
                    <a:r>
                      <a:rPr sz="1100">
                        <a:solidFill>
                          <a:srgbClr val="FFFFFF"/>
                        </a:solidFill>
                        <a:latin typeface="Calibri"/>
                      </a:rPr>
                      <a:t>72.6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75.8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79.3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82.8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86.5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90.6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95.2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100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106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113</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120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127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135</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144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152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161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72.567</c:v>
                </c:pt>
                <c:pt idx="1">
                  <c:v>75.85</c:v>
                </c:pt>
                <c:pt idx="2">
                  <c:v>79.252</c:v>
                </c:pt>
                <c:pt idx="3">
                  <c:v>82.765</c:v>
                </c:pt>
                <c:pt idx="4">
                  <c:v>86.478</c:v>
                </c:pt>
                <c:pt idx="5">
                  <c:v>90.601</c:v>
                </c:pt>
                <c:pt idx="6">
                  <c:v>95.223</c:v>
                </c:pt>
                <c:pt idx="7">
                  <c:v>100.43</c:v>
                </c:pt>
                <c:pt idx="8">
                  <c:v>106.271</c:v>
                </c:pt>
                <c:pt idx="9">
                  <c:v>112.732</c:v>
                </c:pt>
                <c:pt idx="10">
                  <c:v>119.738</c:v>
                </c:pt>
                <c:pt idx="11">
                  <c:v>127.253</c:v>
                </c:pt>
                <c:pt idx="12">
                  <c:v>135.197</c:v>
                </c:pt>
                <c:pt idx="13">
                  <c:v>143.534</c:v>
                </c:pt>
                <c:pt idx="14">
                  <c:v>152.169</c:v>
                </c:pt>
                <c:pt idx="15">
                  <c:v>161.105</c:v>
                </c:pt>
              </c:numCache>
            </c:numRef>
          </c:val>
        </c:ser>
        <c:ser>
          <c:idx val="3"/>
          <c:order val="3"/>
          <c:tx>
            <c:strRef>
              <c:f>Sheet1!$E$1</c:f>
              <c:strCache>
                <c:ptCount val="1"/>
                <c:pt idx="0">
                  <c:v>South Africa</c:v>
                </c:pt>
              </c:strCache>
            </c:strRef>
          </c:tx>
          <c:spPr>
            <a:solidFill>
              <a:srgbClr val="40315E"/>
            </a:solidFill>
            <a:ln>
              <a:noFill/>
            </a:ln>
          </c:spPr>
          <c:dLbls>
            <c:dLbl>
              <c:idx val="0"/>
              <c:tx>
                <c:rich>
                  <a:bodyPr/>
                  <a:lstStyle/>
                  <a:p>
                    <a:r>
                      <a:rPr sz="1100">
                        <a:solidFill>
                          <a:srgbClr val="FFFFFF"/>
                        </a:solidFill>
                        <a:latin typeface="Calibri"/>
                      </a:rPr>
                      <a:t>69.7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72.0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74.3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76.7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79.3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82.1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85.1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88.6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92.4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96.5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101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106</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111</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116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121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69.684</c:v>
                </c:pt>
                <c:pt idx="1">
                  <c:v>71.98</c:v>
                </c:pt>
                <c:pt idx="2">
                  <c:v>74.333</c:v>
                </c:pt>
                <c:pt idx="3">
                  <c:v>76.744</c:v>
                </c:pt>
                <c:pt idx="4">
                  <c:v>79.272</c:v>
                </c:pt>
                <c:pt idx="5">
                  <c:v>82.052</c:v>
                </c:pt>
                <c:pt idx="6">
                  <c:v>85.137</c:v>
                </c:pt>
                <c:pt idx="7">
                  <c:v>88.572</c:v>
                </c:pt>
                <c:pt idx="8">
                  <c:v>92.371</c:v>
                </c:pt>
                <c:pt idx="9">
                  <c:v>96.517</c:v>
                </c:pt>
                <c:pt idx="10">
                  <c:v>100.957</c:v>
                </c:pt>
                <c:pt idx="11">
                  <c:v>105.661</c:v>
                </c:pt>
                <c:pt idx="12">
                  <c:v>110.568</c:v>
                </c:pt>
                <c:pt idx="13">
                  <c:v>115.649</c:v>
                </c:pt>
                <c:pt idx="14">
                  <c:v>120.837</c:v>
                </c:pt>
                <c:pt idx="15">
                  <c:v>126.132</c:v>
                </c:pt>
              </c:numCache>
            </c:numRef>
          </c:val>
        </c:ser>
        <c:ser>
          <c:idx val="4"/>
          <c:order val="4"/>
          <c:tx>
            <c:strRef>
              <c:f>Sheet1!$F$1</c:f>
              <c:strCache>
                <c:ptCount val="1"/>
                <c:pt idx="0">
                  <c:v>UAE</c:v>
                </c:pt>
              </c:strCache>
            </c:strRef>
          </c:tx>
          <c:spPr>
            <a:solidFill>
              <a:srgbClr val="A35313"/>
            </a:solidFill>
            <a:ln>
              <a:noFill/>
            </a:ln>
          </c:spPr>
          <c:dLbls>
            <c:dLbl>
              <c:idx val="12"/>
              <c:tx>
                <c:rich>
                  <a:bodyPr/>
                  <a:lstStyle/>
                  <a:p>
                    <a:r>
                      <a:rPr sz="1100">
                        <a:solidFill>
                          <a:srgbClr val="FFFFFF"/>
                        </a:solidFill>
                        <a:latin typeface="Calibri"/>
                      </a:rPr>
                      <a:t>64.1</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67.7</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71.4</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75.2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36.386</c:v>
                </c:pt>
                <c:pt idx="1">
                  <c:v>37.88</c:v>
                </c:pt>
                <c:pt idx="2">
                  <c:v>39.423</c:v>
                </c:pt>
                <c:pt idx="3">
                  <c:v>41.011</c:v>
                </c:pt>
                <c:pt idx="4">
                  <c:v>42.685</c:v>
                </c:pt>
                <c:pt idx="5">
                  <c:v>44.534</c:v>
                </c:pt>
                <c:pt idx="6">
                  <c:v>46.597</c:v>
                </c:pt>
                <c:pt idx="7">
                  <c:v>48.907</c:v>
                </c:pt>
                <c:pt idx="8">
                  <c:v>51.487</c:v>
                </c:pt>
                <c:pt idx="9">
                  <c:v>54.326</c:v>
                </c:pt>
                <c:pt idx="10">
                  <c:v>57.39</c:v>
                </c:pt>
                <c:pt idx="11">
                  <c:v>60.658</c:v>
                </c:pt>
                <c:pt idx="12">
                  <c:v>64.093</c:v>
                </c:pt>
                <c:pt idx="13">
                  <c:v>67.679</c:v>
                </c:pt>
                <c:pt idx="14">
                  <c:v>71.373</c:v>
                </c:pt>
                <c:pt idx="15">
                  <c:v>75.178</c:v>
                </c:pt>
              </c:numCache>
            </c:numRef>
          </c:val>
        </c:ser>
        <c:ser>
          <c:idx val="5"/>
          <c:order val="5"/>
          <c:tx>
            <c:strRef>
              <c:f>Sheet1!$G$1</c:f>
              <c:strCache>
                <c:ptCount val="1"/>
                <c:pt idx="0">
                  <c:v>Israel</c:v>
                </c:pt>
              </c:strCache>
            </c:strRef>
          </c:tx>
          <c:spPr>
            <a:solidFill>
              <a:srgbClr val="808080"/>
            </a:solidFill>
            <a:ln>
              <a:noFill/>
            </a:ln>
          </c:spPr>
          <c:dLbls>
            <c:dLbl>
              <c:idx val="15"/>
              <c:tx>
                <c:rich>
                  <a:bodyPr/>
                  <a:lstStyle/>
                  <a:p>
                    <a:r>
                      <a:rPr sz="1100">
                        <a:solidFill>
                          <a:srgbClr val="FFFFFF"/>
                        </a:solidFill>
                        <a:latin typeface="Calibri"/>
                      </a:rPr>
                      <a:t>65.4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34.151</c:v>
                </c:pt>
                <c:pt idx="1">
                  <c:v>35.389</c:v>
                </c:pt>
                <c:pt idx="2">
                  <c:v>36.665</c:v>
                </c:pt>
                <c:pt idx="3">
                  <c:v>37.978</c:v>
                </c:pt>
                <c:pt idx="4">
                  <c:v>39.359</c:v>
                </c:pt>
                <c:pt idx="5">
                  <c:v>40.88</c:v>
                </c:pt>
                <c:pt idx="6">
                  <c:v>42.568</c:v>
                </c:pt>
                <c:pt idx="7">
                  <c:v>44.451</c:v>
                </c:pt>
                <c:pt idx="8">
                  <c:v>46.542</c:v>
                </c:pt>
                <c:pt idx="9">
                  <c:v>48.831</c:v>
                </c:pt>
                <c:pt idx="10">
                  <c:v>51.295</c:v>
                </c:pt>
                <c:pt idx="11">
                  <c:v>53.917</c:v>
                </c:pt>
                <c:pt idx="12">
                  <c:v>56.664</c:v>
                </c:pt>
                <c:pt idx="13">
                  <c:v>59.52</c:v>
                </c:pt>
                <c:pt idx="14">
                  <c:v>62.447</c:v>
                </c:pt>
                <c:pt idx="15">
                  <c:v>65.447</c:v>
                </c:pt>
              </c:numCache>
            </c:numRef>
          </c:val>
        </c:ser>
        <c:ser>
          <c:idx val="6"/>
          <c:order val="6"/>
          <c:tx>
            <c:strRef>
              <c:f>Sheet1!$H$1</c:f>
              <c:strCache>
                <c:ptCount val="1"/>
                <c:pt idx="0">
                  <c:v>Rest of GCC</c:v>
                </c:pt>
              </c:strCache>
            </c:strRef>
          </c:tx>
          <c:spPr>
            <a:solidFill>
              <a:srgbClr val="0E72AE"/>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Sheet1!$H$2:$H$17</c:f>
              <c:numCache>
                <c:formatCode>General</c:formatCode>
                <c:ptCount val="16"/>
                <c:pt idx="0">
                  <c:v>23.933</c:v>
                </c:pt>
                <c:pt idx="1">
                  <c:v>25.204</c:v>
                </c:pt>
                <c:pt idx="2">
                  <c:v>26.531</c:v>
                </c:pt>
                <c:pt idx="3">
                  <c:v>27.911</c:v>
                </c:pt>
                <c:pt idx="4">
                  <c:v>29.38</c:v>
                </c:pt>
                <c:pt idx="5">
                  <c:v>31.023</c:v>
                </c:pt>
                <c:pt idx="6">
                  <c:v>32.879</c:v>
                </c:pt>
                <c:pt idx="7">
                  <c:v>34.986</c:v>
                </c:pt>
                <c:pt idx="8">
                  <c:v>37.369</c:v>
                </c:pt>
                <c:pt idx="9">
                  <c:v>40.026</c:v>
                </c:pt>
                <c:pt idx="10">
                  <c:v>42.933</c:v>
                </c:pt>
                <c:pt idx="11">
                  <c:v>46.08</c:v>
                </c:pt>
                <c:pt idx="12">
                  <c:v>49.442</c:v>
                </c:pt>
                <c:pt idx="13">
                  <c:v>53.006</c:v>
                </c:pt>
                <c:pt idx="14">
                  <c:v>56.733</c:v>
                </c:pt>
                <c:pt idx="15">
                  <c:v>60.626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Saudi Arabia</c:v>
                </c:pt>
              </c:strCache>
            </c:strRef>
          </c:tx>
          <c:spPr>
            <a:solidFill>
              <a:srgbClr val="3D85C6"/>
            </a:solidFill>
            <a:ln>
              <a:noFill/>
            </a:ln>
          </c:spPr>
          <c:dLbls>
            <c:dLbl>
              <c:idx val="0"/>
              <c:tx>
                <c:rich>
                  <a:bodyPr/>
                  <a:lstStyle/>
                  <a:p>
                    <a:r>
                      <a:rPr sz="1100">
                        <a:solidFill>
                          <a:srgbClr val="FFFFFF"/>
                        </a:solidFill>
                        <a:latin typeface="Calibri"/>
                      </a:rPr>
                      <a:t>162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188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237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254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273</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295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318</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343</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371</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400</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431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161.908</c:v>
                </c:pt>
                <c:pt idx="1">
                  <c:v>170.103</c:v>
                </c:pt>
                <c:pt idx="2">
                  <c:v>178.673</c:v>
                </c:pt>
                <c:pt idx="3">
                  <c:v>187.692</c:v>
                </c:pt>
                <c:pt idx="4">
                  <c:v>197.318</c:v>
                </c:pt>
                <c:pt idx="5">
                  <c:v>208.886</c:v>
                </c:pt>
                <c:pt idx="6">
                  <c:v>221.998</c:v>
                </c:pt>
                <c:pt idx="7">
                  <c:v>236.965</c:v>
                </c:pt>
                <c:pt idx="8">
                  <c:v>253.986</c:v>
                </c:pt>
                <c:pt idx="9">
                  <c:v>273.2</c:v>
                </c:pt>
                <c:pt idx="10">
                  <c:v>294.511</c:v>
                </c:pt>
                <c:pt idx="11">
                  <c:v>317.928</c:v>
                </c:pt>
                <c:pt idx="12">
                  <c:v>343.318</c:v>
                </c:pt>
                <c:pt idx="13">
                  <c:v>370.683</c:v>
                </c:pt>
                <c:pt idx="14">
                  <c:v>399.953</c:v>
                </c:pt>
                <c:pt idx="15">
                  <c:v>431.181</c:v>
                </c:pt>
              </c:numCache>
            </c:numRef>
          </c:val>
        </c:ser>
        <c:ser>
          <c:idx val="1"/>
          <c:order val="1"/>
          <c:tx>
            <c:strRef>
              <c:f>Sheet1!$C$1</c:f>
              <c:strCache>
                <c:ptCount val="1"/>
                <c:pt idx="0">
                  <c:v>Turkey</c:v>
                </c:pt>
              </c:strCache>
            </c:strRef>
          </c:tx>
          <c:spPr>
            <a:solidFill>
              <a:srgbClr val="9E7E0A"/>
            </a:solidFill>
            <a:ln>
              <a:noFill/>
            </a:ln>
          </c:spPr>
          <c:dLbls>
            <c:dLbl>
              <c:idx val="0"/>
              <c:tx>
                <c:rich>
                  <a:bodyPr/>
                  <a:lstStyle/>
                  <a:p>
                    <a:r>
                      <a:rPr sz="1100">
                        <a:solidFill>
                          <a:srgbClr val="FFFFFF"/>
                        </a:solidFill>
                        <a:latin typeface="Calibri"/>
                      </a:rPr>
                      <a:t>146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180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191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219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235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254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275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297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322</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349</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378</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408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145.544</c:v>
                </c:pt>
                <c:pt idx="1">
                  <c:v>153.521</c:v>
                </c:pt>
                <c:pt idx="2">
                  <c:v>161.91</c:v>
                </c:pt>
                <c:pt idx="3">
                  <c:v>170.767</c:v>
                </c:pt>
                <c:pt idx="4">
                  <c:v>180.227</c:v>
                </c:pt>
                <c:pt idx="5">
                  <c:v>191.43</c:v>
                </c:pt>
                <c:pt idx="6">
                  <c:v>204.179</c:v>
                </c:pt>
                <c:pt idx="7">
                  <c:v>218.747</c:v>
                </c:pt>
                <c:pt idx="8">
                  <c:v>235.306</c:v>
                </c:pt>
                <c:pt idx="9">
                  <c:v>253.961</c:v>
                </c:pt>
                <c:pt idx="10">
                  <c:v>274.675</c:v>
                </c:pt>
                <c:pt idx="11">
                  <c:v>297.483</c:v>
                </c:pt>
                <c:pt idx="12">
                  <c:v>322.24</c:v>
                </c:pt>
                <c:pt idx="13">
                  <c:v>348.978</c:v>
                </c:pt>
                <c:pt idx="14">
                  <c:v>377.582</c:v>
                </c:pt>
                <c:pt idx="15">
                  <c:v>408.12</c:v>
                </c:pt>
              </c:numCache>
            </c:numRef>
          </c:val>
        </c:ser>
        <c:ser>
          <c:idx val="2"/>
          <c:order val="2"/>
          <c:tx>
            <c:strRef>
              <c:f>Sheet1!$D$1</c:f>
              <c:strCache>
                <c:ptCount val="1"/>
                <c:pt idx="0">
                  <c:v>Rest of MEA</c:v>
                </c:pt>
              </c:strCache>
            </c:strRef>
          </c:tx>
          <c:spPr>
            <a:solidFill>
              <a:srgbClr val="008189"/>
            </a:solidFill>
            <a:ln>
              <a:noFill/>
            </a:ln>
          </c:spPr>
          <c:dLbls>
            <c:dLbl>
              <c:idx val="0"/>
              <c:tx>
                <c:rich>
                  <a:bodyPr/>
                  <a:lstStyle/>
                  <a:p>
                    <a:r>
                      <a:rPr sz="1100">
                        <a:solidFill>
                          <a:srgbClr val="FFFFFF"/>
                        </a:solidFill>
                        <a:latin typeface="Calibri"/>
                      </a:rPr>
                      <a:t>140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188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217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235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255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278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304</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333</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364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397</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434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139.752</c:v>
                </c:pt>
                <c:pt idx="1">
                  <c:v>147.915</c:v>
                </c:pt>
                <c:pt idx="2">
                  <c:v>156.552</c:v>
                </c:pt>
                <c:pt idx="3">
                  <c:v>165.745</c:v>
                </c:pt>
                <c:pt idx="4">
                  <c:v>175.636</c:v>
                </c:pt>
                <c:pt idx="5">
                  <c:v>187.506</c:v>
                </c:pt>
                <c:pt idx="6">
                  <c:v>201.141</c:v>
                </c:pt>
                <c:pt idx="7">
                  <c:v>216.813</c:v>
                </c:pt>
                <c:pt idx="8">
                  <c:v>234.843</c:v>
                </c:pt>
                <c:pt idx="9">
                  <c:v>255.397</c:v>
                </c:pt>
                <c:pt idx="10">
                  <c:v>278.459</c:v>
                </c:pt>
                <c:pt idx="11">
                  <c:v>304.201</c:v>
                </c:pt>
                <c:pt idx="12">
                  <c:v>332.574</c:v>
                </c:pt>
                <c:pt idx="13">
                  <c:v>363.586</c:v>
                </c:pt>
                <c:pt idx="14">
                  <c:v>397.243</c:v>
                </c:pt>
                <c:pt idx="15">
                  <c:v>433.715</c:v>
                </c:pt>
              </c:numCache>
            </c:numRef>
          </c:val>
        </c:ser>
        <c:ser>
          <c:idx val="3"/>
          <c:order val="3"/>
          <c:tx>
            <c:strRef>
              <c:f>Sheet1!$E$1</c:f>
              <c:strCache>
                <c:ptCount val="1"/>
                <c:pt idx="0">
                  <c:v>South Africa</c:v>
                </c:pt>
              </c:strCache>
            </c:strRef>
          </c:tx>
          <c:spPr>
            <a:solidFill>
              <a:srgbClr val="40315E"/>
            </a:solidFill>
            <a:ln>
              <a:noFill/>
            </a:ln>
          </c:spPr>
          <c:dLbls>
            <c:dLbl>
              <c:idx val="5"/>
              <c:tx>
                <c:rich>
                  <a:bodyPr/>
                  <a:lstStyle/>
                  <a:p>
                    <a:r>
                      <a:rPr sz="1100">
                        <a:solidFill>
                          <a:srgbClr val="FFFFFF"/>
                        </a:solidFill>
                        <a:latin typeface="Calibri"/>
                      </a:rPr>
                      <a:t>133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147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155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165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175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187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199</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212</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226</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241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108.917</c:v>
                </c:pt>
                <c:pt idx="1">
                  <c:v>113.112</c:v>
                </c:pt>
                <c:pt idx="2">
                  <c:v>117.468</c:v>
                </c:pt>
                <c:pt idx="3">
                  <c:v>122.039</c:v>
                </c:pt>
                <c:pt idx="4">
                  <c:v>126.883</c:v>
                </c:pt>
                <c:pt idx="5">
                  <c:v>132.778</c:v>
                </c:pt>
                <c:pt idx="6">
                  <c:v>139.41</c:v>
                </c:pt>
                <c:pt idx="7">
                  <c:v>146.916</c:v>
                </c:pt>
                <c:pt idx="8">
                  <c:v>155.396</c:v>
                </c:pt>
                <c:pt idx="9">
                  <c:v>164.879</c:v>
                </c:pt>
                <c:pt idx="10">
                  <c:v>175.306</c:v>
                </c:pt>
                <c:pt idx="11">
                  <c:v>186.661</c:v>
                </c:pt>
                <c:pt idx="12">
                  <c:v>198.873</c:v>
                </c:pt>
                <c:pt idx="13">
                  <c:v>211.938</c:v>
                </c:pt>
                <c:pt idx="14">
                  <c:v>225.841</c:v>
                </c:pt>
                <c:pt idx="15">
                  <c:v>240.577</c:v>
                </c:pt>
              </c:numCache>
            </c:numRef>
          </c:val>
        </c:ser>
        <c:ser>
          <c:idx val="4"/>
          <c:order val="4"/>
          <c:tx>
            <c:strRef>
              <c:f>Sheet1!$F$1</c:f>
              <c:strCache>
                <c:ptCount val="1"/>
                <c:pt idx="0">
                  <c:v>UAE</c:v>
                </c:pt>
              </c:strCache>
            </c:strRef>
          </c:tx>
          <c:spPr>
            <a:solidFill>
              <a:srgbClr val="A35313"/>
            </a:solidFill>
            <a:ln>
              <a:noFill/>
            </a:ln>
          </c:spPr>
          <c:dLbls>
            <c:dLbl>
              <c:idx val="7"/>
              <c:tx>
                <c:rich>
                  <a:bodyPr/>
                  <a:lstStyle/>
                  <a:p>
                    <a:r>
                      <a:rPr sz="1100">
                        <a:solidFill>
                          <a:srgbClr val="FFFFFF"/>
                        </a:solidFill>
                        <a:latin typeface="Calibri"/>
                      </a:rPr>
                      <a:t>133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142</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152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162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174</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187</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200</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215</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230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94.383</c:v>
                </c:pt>
                <c:pt idx="1">
                  <c:v>98.72</c:v>
                </c:pt>
                <c:pt idx="2">
                  <c:v>103.238</c:v>
                </c:pt>
                <c:pt idx="3">
                  <c:v>107.965</c:v>
                </c:pt>
                <c:pt idx="4">
                  <c:v>112.983</c:v>
                </c:pt>
                <c:pt idx="5">
                  <c:v>118.929</c:v>
                </c:pt>
                <c:pt idx="6">
                  <c:v>125.649</c:v>
                </c:pt>
                <c:pt idx="7">
                  <c:v>133.284</c:v>
                </c:pt>
                <c:pt idx="8">
                  <c:v>141.948</c:v>
                </c:pt>
                <c:pt idx="9">
                  <c:v>151.7</c:v>
                </c:pt>
                <c:pt idx="10">
                  <c:v>162.439</c:v>
                </c:pt>
                <c:pt idx="11">
                  <c:v>174.164</c:v>
                </c:pt>
                <c:pt idx="12">
                  <c:v>186.789</c:v>
                </c:pt>
                <c:pt idx="13">
                  <c:v>200.314</c:v>
                </c:pt>
                <c:pt idx="14">
                  <c:v>214.716</c:v>
                </c:pt>
                <c:pt idx="15">
                  <c:v>230.004</c:v>
                </c:pt>
              </c:numCache>
            </c:numRef>
          </c:val>
        </c:ser>
        <c:ser>
          <c:idx val="5"/>
          <c:order val="5"/>
          <c:tx>
            <c:strRef>
              <c:f>Sheet1!$G$1</c:f>
              <c:strCache>
                <c:ptCount val="1"/>
                <c:pt idx="0">
                  <c:v>Israel</c:v>
                </c:pt>
              </c:strCache>
            </c:strRef>
          </c:tx>
          <c:spPr>
            <a:solidFill>
              <a:srgbClr val="808080"/>
            </a:solidFill>
            <a:ln>
              <a:noFill/>
            </a:ln>
          </c:spPr>
          <c:dLbls>
            <c:dLbl>
              <c:idx val="7"/>
              <c:tx>
                <c:rich>
                  <a:bodyPr/>
                  <a:lstStyle/>
                  <a:p>
                    <a:r>
                      <a:rPr sz="1100">
                        <a:solidFill>
                          <a:srgbClr val="FFFFFF"/>
                        </a:solidFill>
                        <a:latin typeface="Calibri"/>
                      </a:rPr>
                      <a:t>129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137</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146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155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166</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177</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190</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203</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93.998</c:v>
                </c:pt>
                <c:pt idx="1">
                  <c:v>97.864</c:v>
                </c:pt>
                <c:pt idx="2">
                  <c:v>101.896</c:v>
                </c:pt>
                <c:pt idx="3">
                  <c:v>106.141</c:v>
                </c:pt>
                <c:pt idx="4">
                  <c:v>110.653</c:v>
                </c:pt>
                <c:pt idx="5">
                  <c:v>116.071</c:v>
                </c:pt>
                <c:pt idx="6">
                  <c:v>122.183</c:v>
                </c:pt>
                <c:pt idx="7">
                  <c:v>129.113</c:v>
                </c:pt>
                <c:pt idx="8">
                  <c:v>136.957</c:v>
                </c:pt>
                <c:pt idx="9">
                  <c:v>145.764</c:v>
                </c:pt>
                <c:pt idx="10">
                  <c:v>155.453</c:v>
                </c:pt>
                <c:pt idx="11">
                  <c:v>166.011</c:v>
                </c:pt>
                <c:pt idx="12">
                  <c:v>177.38</c:v>
                </c:pt>
                <c:pt idx="13">
                  <c:v>189.584</c:v>
                </c:pt>
                <c:pt idx="14">
                  <c:v>202.583</c:v>
                </c:pt>
                <c:pt idx="15">
                  <c:v>216.396</c:v>
                </c:pt>
              </c:numCache>
            </c:numRef>
          </c:val>
        </c:ser>
        <c:ser>
          <c:idx val="6"/>
          <c:order val="6"/>
          <c:tx>
            <c:strRef>
              <c:f>Sheet1!$H$1</c:f>
              <c:strCache>
                <c:ptCount val="1"/>
                <c:pt idx="0">
                  <c:v>Rest of GCC</c:v>
                </c:pt>
              </c:strCache>
            </c:strRef>
          </c:tx>
          <c:spPr>
            <a:solidFill>
              <a:srgbClr val="0E72AE"/>
            </a:solidFill>
            <a:ln>
              <a:noFill/>
            </a:ln>
          </c:spPr>
          <c:dLbls>
            <c:dLbl>
              <c:idx val="13"/>
              <c:tx>
                <c:rich>
                  <a:bodyPr/>
                  <a:lstStyle/>
                  <a:p>
                    <a:r>
                      <a:rPr sz="1100">
                        <a:solidFill>
                          <a:srgbClr val="FFFFFF"/>
                        </a:solidFill>
                        <a:latin typeface="Calibri"/>
                      </a:rPr>
                      <a:t>136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148</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162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Sheet1!$H$2:$H$17</c:f>
              <c:numCache>
                <c:formatCode>General</c:formatCode>
                <c:ptCount val="16"/>
                <c:pt idx="0">
                  <c:v>52.19</c:v>
                </c:pt>
                <c:pt idx="1">
                  <c:v>55.26</c:v>
                </c:pt>
                <c:pt idx="2">
                  <c:v>58.496</c:v>
                </c:pt>
                <c:pt idx="3">
                  <c:v>61.926</c:v>
                </c:pt>
                <c:pt idx="4">
                  <c:v>65.609</c:v>
                </c:pt>
                <c:pt idx="5">
                  <c:v>70.057</c:v>
                </c:pt>
                <c:pt idx="6">
                  <c:v>75.158</c:v>
                </c:pt>
                <c:pt idx="7">
                  <c:v>81.041</c:v>
                </c:pt>
                <c:pt idx="8">
                  <c:v>87.821</c:v>
                </c:pt>
                <c:pt idx="9">
                  <c:v>95.562</c:v>
                </c:pt>
                <c:pt idx="10">
                  <c:v>104.244</c:v>
                </c:pt>
                <c:pt idx="11">
                  <c:v>113.894</c:v>
                </c:pt>
                <c:pt idx="12">
                  <c:v>124.458</c:v>
                </c:pt>
                <c:pt idx="13">
                  <c:v>135.983</c:v>
                </c:pt>
                <c:pt idx="14">
                  <c:v>148.461</c:v>
                </c:pt>
                <c:pt idx="15">
                  <c:v>161.944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Sprays and Mists</c:v>
                </c:pt>
              </c:strCache>
            </c:strRef>
          </c:tx>
          <c:spPr>
            <a:solidFill>
              <a:srgbClr val="3D85C6"/>
            </a:solidFill>
            <a:ln>
              <a:noFill/>
            </a:ln>
          </c:spPr>
          <c:dLbls>
            <c:dLbl>
              <c:idx val="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Sheet1!$B$2:$B$8</c:f>
              <c:numCache>
                <c:formatCode>General</c:formatCode>
                <c:ptCount val="7"/>
                <c:pt idx="0">
                  <c:v>9.935410568955085</c:v>
                </c:pt>
                <c:pt idx="1">
                  <c:v>11.623135362945712</c:v>
                </c:pt>
                <c:pt idx="2">
                  <c:v>10.934157666823188</c:v>
                </c:pt>
                <c:pt idx="3">
                  <c:v>9.3724670271888</c:v>
                </c:pt>
                <c:pt idx="4">
                  <c:v>11.357254519526217</c:v>
                </c:pt>
                <c:pt idx="5">
                  <c:v>9.757387268919548</c:v>
                </c:pt>
                <c:pt idx="6">
                  <c:v>7.314267005445984</c:v>
                </c:pt>
              </c:numCache>
            </c:numRef>
          </c:val>
        </c:ser>
        <c:ser>
          <c:idx val="1"/>
          <c:order val="1"/>
          <c:tx>
            <c:strRef>
              <c:f>Sheet1!$C$1</c:f>
              <c:strCache>
                <c:ptCount val="1"/>
                <c:pt idx="0">
                  <c:v>Mousses and Foams</c:v>
                </c:pt>
              </c:strCache>
            </c:strRef>
          </c:tx>
          <c:spPr>
            <a:solidFill>
              <a:srgbClr val="9E7E0A"/>
            </a:solidFill>
            <a:ln>
              <a:noFill/>
            </a:ln>
          </c:spPr>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Sheet1!$C$2:$C$8</c:f>
              <c:numCache>
                <c:formatCode>General</c:formatCode>
                <c:ptCount val="7"/>
                <c:pt idx="0">
                  <c:v>6.0353451150383455</c:v>
                </c:pt>
                <c:pt idx="1">
                  <c:v>5.8392946265180505</c:v>
                </c:pt>
                <c:pt idx="2">
                  <c:v>6.021634406358151</c:v>
                </c:pt>
                <c:pt idx="3">
                  <c:v>5.866313072321959</c:v>
                </c:pt>
                <c:pt idx="4">
                  <c:v>6.035019283638556</c:v>
                </c:pt>
                <c:pt idx="5">
                  <c:v>6.197397380682358</c:v>
                </c:pt>
                <c:pt idx="6">
                  <c:v>6.224608843615839</c:v>
                </c:pt>
              </c:numCache>
            </c:numRef>
          </c:val>
        </c:ser>
        <c:ser>
          <c:idx val="2"/>
          <c:order val="2"/>
          <c:tx>
            <c:strRef>
              <c:f>Sheet1!$D$1</c:f>
              <c:strCache>
                <c:ptCount val="1"/>
                <c:pt idx="0">
                  <c:v>Gels and Jellies</c:v>
                </c:pt>
              </c:strCache>
            </c:strRef>
          </c:tx>
          <c:spPr>
            <a:solidFill>
              <a:srgbClr val="008189"/>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Sheet1!$D$2:$D$8</c:f>
              <c:numCache>
                <c:formatCode>General</c:formatCode>
                <c:ptCount val="7"/>
                <c:pt idx="0">
                  <c:v>7.834710335543947</c:v>
                </c:pt>
                <c:pt idx="1">
                  <c:v>7.44237416588107</c:v>
                </c:pt>
                <c:pt idx="2">
                  <c:v>7.50508686805447</c:v>
                </c:pt>
                <c:pt idx="3">
                  <c:v>9.97144365421466</c:v>
                </c:pt>
                <c:pt idx="4">
                  <c:v>9.384050691221658</c:v>
                </c:pt>
                <c:pt idx="5">
                  <c:v>7.14201228718334</c:v>
                </c:pt>
                <c:pt idx="6">
                  <c:v>11.563841609908835</c:v>
                </c:pt>
              </c:numCache>
            </c:numRef>
          </c:val>
        </c:ser>
        <c:ser>
          <c:idx val="3"/>
          <c:order val="3"/>
          <c:tx>
            <c:strRef>
              <c:f>Sheet1!$E$1</c:f>
              <c:strCache>
                <c:ptCount val="1"/>
                <c:pt idx="0">
                  <c:v>Creams and Lotions</c:v>
                </c:pt>
              </c:strCache>
            </c:strRef>
          </c:tx>
          <c:spPr>
            <a:solidFill>
              <a:srgbClr val="40315E"/>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Sheet1!$E$2:$E$8</c:f>
              <c:numCache>
                <c:formatCode>General</c:formatCode>
                <c:ptCount val="7"/>
                <c:pt idx="0">
                  <c:v>13.915132204562013</c:v>
                </c:pt>
                <c:pt idx="1">
                  <c:v>12.944786410100004</c:v>
                </c:pt>
                <c:pt idx="2">
                  <c:v>11.448931322933515</c:v>
                </c:pt>
                <c:pt idx="3">
                  <c:v>14.535886639204913</c:v>
                </c:pt>
                <c:pt idx="4">
                  <c:v>10.71356813470614</c:v>
                </c:pt>
                <c:pt idx="5">
                  <c:v>13.711411217099084</c:v>
                </c:pt>
                <c:pt idx="6">
                  <c:v>13.689435895544067</c:v>
                </c:pt>
              </c:numCache>
            </c:numRef>
          </c:val>
        </c:ser>
        <c:ser>
          <c:idx val="4"/>
          <c:order val="4"/>
          <c:tx>
            <c:strRef>
              <c:f>Sheet1!$F$1</c:f>
              <c:strCache>
                <c:ptCount val="1"/>
                <c:pt idx="0">
                  <c:v>Waxes, Clays, Pastes and Pomades</c:v>
                </c:pt>
              </c:strCache>
            </c:strRef>
          </c:tx>
          <c:spPr>
            <a:solidFill>
              <a:srgbClr val="A35313"/>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Sheet1!$F$2:$F$8</c:f>
              <c:numCache>
                <c:formatCode>General</c:formatCode>
                <c:ptCount val="7"/>
                <c:pt idx="0">
                  <c:v>13.753967371839998</c:v>
                </c:pt>
                <c:pt idx="1">
                  <c:v>14.192498937133774</c:v>
                </c:pt>
                <c:pt idx="2">
                  <c:v>15.240604511225895</c:v>
                </c:pt>
                <c:pt idx="3">
                  <c:v>16.826213644695876</c:v>
                </c:pt>
                <c:pt idx="4">
                  <c:v>19.228507441475262</c:v>
                </c:pt>
                <c:pt idx="5">
                  <c:v>15.69758407722047</c:v>
                </c:pt>
                <c:pt idx="6">
                  <c:v>18.585288923115233</c:v>
                </c:pt>
              </c:numCache>
            </c:numRef>
          </c:val>
        </c:ser>
        <c:ser>
          <c:idx val="5"/>
          <c:order val="5"/>
          <c:tx>
            <c:strRef>
              <c:f>Sheet1!$G$1</c:f>
              <c:strCache>
                <c:ptCount val="1"/>
                <c:pt idx="0">
                  <c:v>Styling Powders</c:v>
                </c:pt>
              </c:strCache>
            </c:strRef>
          </c:tx>
          <c:spPr>
            <a:solidFill>
              <a:srgbClr val="808080"/>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Sheet1!$G$2:$G$8</c:f>
              <c:numCache>
                <c:formatCode>General</c:formatCode>
                <c:ptCount val="7"/>
                <c:pt idx="0">
                  <c:v>10.933891544094946</c:v>
                </c:pt>
                <c:pt idx="1">
                  <c:v>11.888389803878075</c:v>
                </c:pt>
                <c:pt idx="2">
                  <c:v>10.132432479435142</c:v>
                </c:pt>
                <c:pt idx="3">
                  <c:v>10.397502670662615</c:v>
                </c:pt>
                <c:pt idx="4">
                  <c:v>11.049255362419693</c:v>
                </c:pt>
                <c:pt idx="5">
                  <c:v>10.915137726384048</c:v>
                </c:pt>
                <c:pt idx="6">
                  <c:v>9.768188253088441</c:v>
                </c:pt>
              </c:numCache>
            </c:numRef>
          </c:val>
        </c:ser>
        <c:ser>
          <c:idx val="6"/>
          <c:order val="6"/>
          <c:tx>
            <c:strRef>
              <c:f>Sheet1!$H$1</c:f>
              <c:strCache>
                <c:ptCount val="1"/>
                <c:pt idx="0">
                  <c:v>Styling Serums and Oils</c:v>
                </c:pt>
              </c:strCache>
            </c:strRef>
          </c:tx>
          <c:spPr>
            <a:solidFill>
              <a:srgbClr val="0E72AE"/>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Sheet1!$H$2:$H$8</c:f>
              <c:numCache>
                <c:formatCode>General</c:formatCode>
                <c:ptCount val="7"/>
                <c:pt idx="0">
                  <c:v>23.98392056611463</c:v>
                </c:pt>
                <c:pt idx="1">
                  <c:v>21.139947133958117</c:v>
                </c:pt>
                <c:pt idx="2">
                  <c:v>23.26046503539069</c:v>
                </c:pt>
                <c:pt idx="3">
                  <c:v>17.68331968558923</c:v>
                </c:pt>
                <c:pt idx="4">
                  <c:v>18.245458421338927</c:v>
                </c:pt>
                <c:pt idx="5">
                  <c:v>22.307105368743056</c:v>
                </c:pt>
                <c:pt idx="6">
                  <c:v>18.802252175396692</c:v>
                </c:pt>
              </c:numCache>
            </c:numRef>
          </c:val>
        </c:ser>
        <c:ser>
          <c:idx val="7"/>
          <c:order val="7"/>
          <c:tx>
            <c:strRef>
              <c:f>Sheet1!$I$1</c:f>
              <c:strCache>
                <c:ptCount val="1"/>
                <c:pt idx="0">
                  <c:v>Sticks and Balms</c:v>
                </c:pt>
              </c:strCache>
            </c:strRef>
          </c:tx>
          <c:spPr>
            <a:solidFill>
              <a:srgbClr val="A86F00"/>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Sheet1!$I$2:$I$8</c:f>
              <c:numCache>
                <c:formatCode>General</c:formatCode>
                <c:ptCount val="7"/>
                <c:pt idx="0">
                  <c:v>13.607622293851037</c:v>
                </c:pt>
                <c:pt idx="1">
                  <c:v>14.929573559585208</c:v>
                </c:pt>
                <c:pt idx="2">
                  <c:v>15.456687709778963</c:v>
                </c:pt>
                <c:pt idx="3">
                  <c:v>15.346853606121948</c:v>
                </c:pt>
                <c:pt idx="4">
                  <c:v>13.986886145673557</c:v>
                </c:pt>
                <c:pt idx="5">
                  <c:v>14.271964673768089</c:v>
                </c:pt>
                <c:pt idx="6">
                  <c:v>14.05211729388491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5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Sprays and Mists</c:v>
                </c:pt>
              </c:strCache>
            </c:strRef>
          </c:tx>
          <c:spPr>
            <a:solidFill>
              <a:srgbClr val="3D85C6"/>
            </a:solidFill>
          </c:spPr>
          <c:invertIfNegative val="0"/>
          <c:xVal>
            <c:numRef>
              <c:f>Sheet1!$A$2:$A$2</c:f>
              <c:numCache>
                <c:formatCode>General</c:formatCode>
                <c:ptCount val="1"/>
                <c:pt idx="0">
                  <c:v>75.3980140166231</c:v>
                </c:pt>
              </c:numCache>
            </c:numRef>
          </c:xVal>
          <c:yVal>
            <c:numRef>
              <c:f>Sheet1!$B$2:$B$2</c:f>
              <c:numCache>
                <c:formatCode>General</c:formatCode>
                <c:ptCount val="1"/>
                <c:pt idx="0">
                  <c:v>93.81147888621635</c:v>
                </c:pt>
              </c:numCache>
            </c:numRef>
          </c:yVal>
          <c:bubbleSize>
            <c:numRef>
              <c:f>Sheet1!$C$2:$C$2</c:f>
              <c:numCache>
                <c:formatCode>General</c:formatCode>
                <c:ptCount val="1"/>
                <c:pt idx="0">
                  <c:v>209.086</c:v>
                </c:pt>
              </c:numCache>
            </c:numRef>
          </c:bubbleSize>
          <c:bubble3D val="0"/>
        </c:ser>
        <c:ser>
          <c:idx val="1"/>
          <c:order val="1"/>
          <c:tx>
            <c:strRef>
              <c:f>Sheet1!$B$4</c:f>
              <c:strCache>
                <c:ptCount val="1"/>
                <c:pt idx="0">
                  <c:v>Mousses and Foams</c:v>
                </c:pt>
              </c:strCache>
            </c:strRef>
          </c:tx>
          <c:spPr>
            <a:solidFill>
              <a:srgbClr val="9E7E0A"/>
            </a:solidFill>
          </c:spPr>
          <c:invertIfNegative val="0"/>
          <c:xVal>
            <c:numRef>
              <c:f>Sheet1!$A$5:$A$5</c:f>
              <c:numCache>
                <c:formatCode>General</c:formatCode>
                <c:ptCount val="1"/>
                <c:pt idx="0">
                  <c:v>80.12666242368569</c:v>
                </c:pt>
              </c:numCache>
            </c:numRef>
          </c:xVal>
          <c:yVal>
            <c:numRef>
              <c:f>Sheet1!$B$5:$B$5</c:f>
              <c:numCache>
                <c:formatCode>General</c:formatCode>
                <c:ptCount val="1"/>
                <c:pt idx="0">
                  <c:v>55.84089027813393</c:v>
                </c:pt>
              </c:numCache>
            </c:numRef>
          </c:yVal>
          <c:bubbleSize>
            <c:numRef>
              <c:f>Sheet1!$C$5:$C$5</c:f>
              <c:numCache>
                <c:formatCode>General</c:formatCode>
                <c:ptCount val="1"/>
                <c:pt idx="0">
                  <c:v>128.721</c:v>
                </c:pt>
              </c:numCache>
            </c:numRef>
          </c:bubbleSize>
          <c:bubble3D val="0"/>
        </c:ser>
        <c:ser>
          <c:idx val="2"/>
          <c:order val="2"/>
          <c:tx>
            <c:strRef>
              <c:f>Sheet1!$B$7</c:f>
              <c:strCache>
                <c:ptCount val="1"/>
                <c:pt idx="0">
                  <c:v>Gels and Jellies</c:v>
                </c:pt>
              </c:strCache>
            </c:strRef>
          </c:tx>
          <c:spPr>
            <a:solidFill>
              <a:srgbClr val="008189"/>
            </a:solidFill>
          </c:spPr>
          <c:invertIfNegative val="0"/>
          <c:xVal>
            <c:numRef>
              <c:f>Sheet1!$A$8:$A$8</c:f>
              <c:numCache>
                <c:formatCode>General</c:formatCode>
                <c:ptCount val="1"/>
                <c:pt idx="0">
                  <c:v>85.5567987478864</c:v>
                </c:pt>
              </c:numCache>
            </c:numRef>
          </c:xVal>
          <c:yVal>
            <c:numRef>
              <c:f>Sheet1!$B$8:$B$8</c:f>
              <c:numCache>
                <c:formatCode>General</c:formatCode>
                <c:ptCount val="1"/>
                <c:pt idx="0">
                  <c:v>79.01198938826529</c:v>
                </c:pt>
              </c:numCache>
            </c:numRef>
          </c:yVal>
          <c:bubbleSize>
            <c:numRef>
              <c:f>Sheet1!$C$8:$C$8</c:f>
              <c:numCache>
                <c:formatCode>General</c:formatCode>
                <c:ptCount val="1"/>
                <c:pt idx="0">
                  <c:v>189.29</c:v>
                </c:pt>
              </c:numCache>
            </c:numRef>
          </c:bubbleSize>
          <c:bubble3D val="0"/>
        </c:ser>
        <c:ser>
          <c:idx val="3"/>
          <c:order val="3"/>
          <c:tx>
            <c:strRef>
              <c:f>Sheet1!$B$10</c:f>
              <c:strCache>
                <c:ptCount val="1"/>
                <c:pt idx="0">
                  <c:v>Creams and Lotions</c:v>
                </c:pt>
              </c:strCache>
            </c:strRef>
          </c:tx>
          <c:spPr>
            <a:solidFill>
              <a:srgbClr val="40315E"/>
            </a:solidFill>
          </c:spPr>
          <c:invertIfNegative val="0"/>
          <c:xVal>
            <c:numRef>
              <c:f>Sheet1!$A$11:$A$11</c:f>
              <c:numCache>
                <c:formatCode>General</c:formatCode>
                <c:ptCount val="1"/>
                <c:pt idx="0">
                  <c:v>101.81556429208966</c:v>
                </c:pt>
              </c:numCache>
            </c:numRef>
          </c:xVal>
          <c:yVal>
            <c:numRef>
              <c:f>Sheet1!$B$11:$B$11</c:f>
              <c:numCache>
                <c:formatCode>General</c:formatCode>
                <c:ptCount val="1"/>
                <c:pt idx="0">
                  <c:v>102.02163101309698</c:v>
                </c:pt>
              </c:numCache>
            </c:numRef>
          </c:yVal>
          <c:bubbleSize>
            <c:numRef>
              <c:f>Sheet1!$C$11:$C$11</c:f>
              <c:numCache>
                <c:formatCode>General</c:formatCode>
                <c:ptCount val="1"/>
                <c:pt idx="0">
                  <c:v>274.069</c:v>
                </c:pt>
              </c:numCache>
            </c:numRef>
          </c:bubbleSize>
          <c:bubble3D val="0"/>
        </c:ser>
        <c:ser>
          <c:idx val="4"/>
          <c:order val="4"/>
          <c:tx>
            <c:strRef>
              <c:f>Sheet1!$B$13</c:f>
              <c:strCache>
                <c:ptCount val="1"/>
                <c:pt idx="0">
                  <c:v>Waxes, Clays, Pastes and Pomades</c:v>
                </c:pt>
              </c:strCache>
            </c:strRef>
          </c:tx>
          <c:spPr>
            <a:solidFill>
              <a:srgbClr val="A35313"/>
            </a:solidFill>
          </c:spPr>
          <c:invertIfNegative val="0"/>
          <c:xVal>
            <c:numRef>
              <c:f>Sheet1!$A$14:$A$14</c:f>
              <c:numCache>
                <c:formatCode>General</c:formatCode>
                <c:ptCount val="1"/>
                <c:pt idx="0">
                  <c:v>98.33260602112499</c:v>
                </c:pt>
              </c:numCache>
            </c:numRef>
          </c:xVal>
          <c:yVal>
            <c:numRef>
              <c:f>Sheet1!$B$14:$B$14</c:f>
              <c:numCache>
                <c:formatCode>General</c:formatCode>
                <c:ptCount val="1"/>
                <c:pt idx="0">
                  <c:v>135.52444920670362</c:v>
                </c:pt>
              </c:numCache>
            </c:numRef>
          </c:yVal>
          <c:bubbleSize>
            <c:numRef>
              <c:f>Sheet1!$C$14:$C$14</c:f>
              <c:numCache>
                <c:formatCode>General</c:formatCode>
                <c:ptCount val="1"/>
                <c:pt idx="0">
                  <c:v>355.287</c:v>
                </c:pt>
              </c:numCache>
            </c:numRef>
          </c:bubbleSize>
          <c:bubble3D val="0"/>
        </c:ser>
        <c:ser>
          <c:idx val="5"/>
          <c:order val="5"/>
          <c:tx>
            <c:strRef>
              <c:f>Sheet1!$B$16</c:f>
              <c:strCache>
                <c:ptCount val="1"/>
                <c:pt idx="0">
                  <c:v>Styling Powders</c:v>
                </c:pt>
              </c:strCache>
            </c:strRef>
          </c:tx>
          <c:spPr>
            <a:solidFill>
              <a:srgbClr val="808080"/>
            </a:solidFill>
          </c:spPr>
          <c:invertIfNegative val="0"/>
          <c:xVal>
            <c:numRef>
              <c:f>Sheet1!$A$17:$A$17</c:f>
              <c:numCache>
                <c:formatCode>General</c:formatCode>
                <c:ptCount val="1"/>
                <c:pt idx="0">
                  <c:v>113.1193025700233</c:v>
                </c:pt>
              </c:numCache>
            </c:numRef>
          </c:xVal>
          <c:yVal>
            <c:numRef>
              <c:f>Sheet1!$B$17:$B$17</c:f>
              <c:numCache>
                <c:formatCode>General</c:formatCode>
                <c:ptCount val="1"/>
                <c:pt idx="0">
                  <c:v>77.84434757428654</c:v>
                </c:pt>
              </c:numCache>
            </c:numRef>
          </c:yVal>
          <c:bubbleSize>
            <c:numRef>
              <c:f>Sheet1!$C$17:$C$17</c:f>
              <c:numCache>
                <c:formatCode>General</c:formatCode>
                <c:ptCount val="1"/>
                <c:pt idx="0">
                  <c:v>226.276</c:v>
                </c:pt>
              </c:numCache>
            </c:numRef>
          </c:bubbleSize>
          <c:bubble3D val="0"/>
        </c:ser>
        <c:ser>
          <c:idx val="6"/>
          <c:order val="6"/>
          <c:tx>
            <c:strRef>
              <c:f>Sheet1!$B$19</c:f>
              <c:strCache>
                <c:ptCount val="1"/>
                <c:pt idx="0">
                  <c:v>Styling Serums and Oils</c:v>
                </c:pt>
              </c:strCache>
            </c:strRef>
          </c:tx>
          <c:spPr>
            <a:solidFill>
              <a:srgbClr val="0E72AE"/>
            </a:solidFill>
          </c:spPr>
          <c:invertIfNegative val="0"/>
          <c:xVal>
            <c:numRef>
              <c:f>Sheet1!$A$20:$A$20</c:f>
              <c:numCache>
                <c:formatCode>General</c:formatCode>
                <c:ptCount val="1"/>
                <c:pt idx="0">
                  <c:v>106.18707242553221</c:v>
                </c:pt>
              </c:numCache>
            </c:numRef>
          </c:xVal>
          <c:yVal>
            <c:numRef>
              <c:f>Sheet1!$B$20:$B$20</c:f>
              <c:numCache>
                <c:formatCode>General</c:formatCode>
                <c:ptCount val="1"/>
                <c:pt idx="0">
                  <c:v>156.26744613452647</c:v>
                </c:pt>
              </c:numCache>
            </c:numRef>
          </c:yVal>
          <c:bubbleSize>
            <c:numRef>
              <c:f>Sheet1!$C$20:$C$20</c:f>
              <c:numCache>
                <c:formatCode>General</c:formatCode>
                <c:ptCount val="1"/>
                <c:pt idx="0">
                  <c:v>432.824</c:v>
                </c:pt>
              </c:numCache>
            </c:numRef>
          </c:bubbleSize>
          <c:bubble3D val="0"/>
        </c:ser>
        <c:ser>
          <c:idx val="7"/>
          <c:order val="7"/>
          <c:tx>
            <c:strRef>
              <c:f>Sheet1!$B$22</c:f>
              <c:strCache>
                <c:ptCount val="1"/>
                <c:pt idx="0">
                  <c:v>Sticks and Balms</c:v>
                </c:pt>
              </c:strCache>
            </c:strRef>
          </c:tx>
          <c:spPr>
            <a:solidFill>
              <a:srgbClr val="A86F00"/>
            </a:solidFill>
          </c:spPr>
          <c:invertIfNegative val="0"/>
          <c:xVal>
            <c:numRef>
              <c:f>Sheet1!$A$23:$A$23</c:f>
              <c:numCache>
                <c:formatCode>General</c:formatCode>
                <c:ptCount val="1"/>
                <c:pt idx="0">
                  <c:v>121.1798675369631</c:v>
                </c:pt>
              </c:numCache>
            </c:numRef>
          </c:xVal>
          <c:yVal>
            <c:numRef>
              <c:f>Sheet1!$B$23:$B$23</c:f>
              <c:numCache>
                <c:formatCode>General</c:formatCode>
                <c:ptCount val="1"/>
                <c:pt idx="0">
                  <c:v>99.67776751877089</c:v>
                </c:pt>
              </c:numCache>
            </c:numRef>
          </c:yVal>
          <c:bubbleSize>
            <c:numRef>
              <c:f>Sheet1!$C$23:$C$23</c:f>
              <c:numCache>
                <c:formatCode>General</c:formatCode>
                <c:ptCount val="1"/>
                <c:pt idx="0">
                  <c:v>306.383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6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120.273</c:v>
                </c:pt>
                <c:pt idx="2">
                  <c:v>132.363</c:v>
                </c:pt>
                <c:pt idx="3">
                  <c:v>147.572</c:v>
                </c:pt>
                <c:pt idx="4">
                  <c:v>165.478</c:v>
                </c:pt>
                <c:pt idx="5">
                  <c:v>186.022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120.273</c:v>
                </c:pt>
                <c:pt idx="1">
                  <c:v>12.090000000000003</c:v>
                </c:pt>
                <c:pt idx="2">
                  <c:v>15.209000000000003</c:v>
                </c:pt>
                <c:pt idx="3">
                  <c:v>17.906000000000006</c:v>
                </c:pt>
                <c:pt idx="4">
                  <c:v>20.543999999999983</c:v>
                </c:pt>
                <c:pt idx="5">
                  <c:v>23.06400000000002</c:v>
                </c:pt>
                <c:pt idx="6">
                  <c:v>209.086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71.592</c:v>
                </c:pt>
                <c:pt idx="2">
                  <c:v>79.787</c:v>
                </c:pt>
                <c:pt idx="3">
                  <c:v>89.649</c:v>
                </c:pt>
                <c:pt idx="4">
                  <c:v>100.945</c:v>
                </c:pt>
                <c:pt idx="5">
                  <c:v>113.988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71.592</c:v>
                </c:pt>
                <c:pt idx="1">
                  <c:v>8.195000000000007</c:v>
                </c:pt>
                <c:pt idx="2">
                  <c:v>9.861999999999995</c:v>
                </c:pt>
                <c:pt idx="3">
                  <c:v>11.295999999999992</c:v>
                </c:pt>
                <c:pt idx="4">
                  <c:v>13.043000000000006</c:v>
                </c:pt>
                <c:pt idx="5">
                  <c:v>14.733000000000004</c:v>
                </c:pt>
                <c:pt idx="6">
                  <c:v>128.721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101.299</c:v>
                </c:pt>
                <c:pt idx="2">
                  <c:v>114.158</c:v>
                </c:pt>
                <c:pt idx="3">
                  <c:v>129.468</c:v>
                </c:pt>
                <c:pt idx="4">
                  <c:v>147.029</c:v>
                </c:pt>
                <c:pt idx="5">
                  <c:v>166.988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101.299</c:v>
                </c:pt>
                <c:pt idx="1">
                  <c:v>12.858999999999995</c:v>
                </c:pt>
                <c:pt idx="2">
                  <c:v>15.309999999999988</c:v>
                </c:pt>
                <c:pt idx="3">
                  <c:v>17.561000000000007</c:v>
                </c:pt>
                <c:pt idx="4">
                  <c:v>19.959000000000003</c:v>
                </c:pt>
                <c:pt idx="5">
                  <c:v>22.301999999999992</c:v>
                </c:pt>
                <c:pt idx="6">
                  <c:v>189.29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130.799</c:v>
                </c:pt>
                <c:pt idx="2">
                  <c:v>146.596</c:v>
                </c:pt>
                <c:pt idx="3">
                  <c:v>168.723</c:v>
                </c:pt>
                <c:pt idx="4">
                  <c:v>197.334</c:v>
                </c:pt>
                <c:pt idx="5">
                  <c:v>232.524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130.799</c:v>
                </c:pt>
                <c:pt idx="1">
                  <c:v>15.796999999999997</c:v>
                </c:pt>
                <c:pt idx="2">
                  <c:v>22.12700000000001</c:v>
                </c:pt>
                <c:pt idx="3">
                  <c:v>28.61099999999999</c:v>
                </c:pt>
                <c:pt idx="4">
                  <c:v>35.19</c:v>
                </c:pt>
                <c:pt idx="5">
                  <c:v>41.545000000000016</c:v>
                </c:pt>
                <c:pt idx="6">
                  <c:v>274.069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173.752</c:v>
                </c:pt>
                <c:pt idx="2">
                  <c:v>198.352</c:v>
                </c:pt>
                <c:pt idx="3">
                  <c:v>228.568</c:v>
                </c:pt>
                <c:pt idx="4">
                  <c:v>264.027</c:v>
                </c:pt>
                <c:pt idx="5">
                  <c:v>306.395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173.752</c:v>
                </c:pt>
                <c:pt idx="1">
                  <c:v>24.599999999999994</c:v>
                </c:pt>
                <c:pt idx="2">
                  <c:v>30.216000000000008</c:v>
                </c:pt>
                <c:pt idx="3">
                  <c:v>35.458999999999975</c:v>
                </c:pt>
                <c:pt idx="4">
                  <c:v>42.367999999999995</c:v>
                </c:pt>
                <c:pt idx="5">
                  <c:v>48.891999999999996</c:v>
                </c:pt>
                <c:pt idx="6">
                  <c:v>355.287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99.802</c:v>
                </c:pt>
                <c:pt idx="2">
                  <c:v>114.258</c:v>
                </c:pt>
                <c:pt idx="3">
                  <c:v>133.745</c:v>
                </c:pt>
                <c:pt idx="4">
                  <c:v>159.872</c:v>
                </c:pt>
                <c:pt idx="5">
                  <c:v>190.744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99.802</c:v>
                </c:pt>
                <c:pt idx="1">
                  <c:v>14.455999999999989</c:v>
                </c:pt>
                <c:pt idx="2">
                  <c:v>19.48700000000001</c:v>
                </c:pt>
                <c:pt idx="3">
                  <c:v>26.12700000000001</c:v>
                </c:pt>
                <c:pt idx="4">
                  <c:v>30.871999999999986</c:v>
                </c:pt>
                <c:pt idx="5">
                  <c:v>35.53200000000001</c:v>
                </c:pt>
                <c:pt idx="6">
                  <c:v>226.276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200.346</c:v>
                </c:pt>
                <c:pt idx="2">
                  <c:v>228.905</c:v>
                </c:pt>
                <c:pt idx="3">
                  <c:v>266.879</c:v>
                </c:pt>
                <c:pt idx="4">
                  <c:v>314.206</c:v>
                </c:pt>
                <c:pt idx="5">
                  <c:v>369.311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200.346</c:v>
                </c:pt>
                <c:pt idx="1">
                  <c:v>28.558999999999997</c:v>
                </c:pt>
                <c:pt idx="2">
                  <c:v>37.97400000000002</c:v>
                </c:pt>
                <c:pt idx="3">
                  <c:v>47.327</c:v>
                </c:pt>
                <c:pt idx="4">
                  <c:v>55.10499999999996</c:v>
                </c:pt>
                <c:pt idx="5">
                  <c:v>63.513000000000034</c:v>
                </c:pt>
                <c:pt idx="6">
                  <c:v>432.824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127.794</c:v>
                </c:pt>
                <c:pt idx="2">
                  <c:v>148.46</c:v>
                </c:pt>
                <c:pt idx="3">
                  <c:v>175.859</c:v>
                </c:pt>
                <c:pt idx="4">
                  <c:v>211.451</c:v>
                </c:pt>
                <c:pt idx="5">
                  <c:v>255.094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127.794</c:v>
                </c:pt>
                <c:pt idx="1">
                  <c:v>20.66600000000001</c:v>
                </c:pt>
                <c:pt idx="2">
                  <c:v>27.399</c:v>
                </c:pt>
                <c:pt idx="3">
                  <c:v>35.591999999999985</c:v>
                </c:pt>
                <c:pt idx="4">
                  <c:v>43.643</c:v>
                </c:pt>
                <c:pt idx="5">
                  <c:v>51.28899999999999</c:v>
                </c:pt>
                <c:pt idx="6">
                  <c:v>306.383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Serums and Oils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18.93318739636823</c:v>
                </c:pt>
                <c:pt idx="1">
                  <c:v>19.53343076681581</c:v>
                </c:pt>
                <c:pt idx="2">
                  <c:v>20.397599173584876</c:v>
                </c:pt>
              </c:numCache>
            </c:numRef>
          </c:val>
        </c:ser>
        <c:ser>
          <c:idx val="1"/>
          <c:order val="1"/>
          <c:tx>
            <c:strRef>
              <c:f>Sheet1!$C$1</c:f>
              <c:strCache>
                <c:ptCount val="1"/>
                <c:pt idx="0">
                  <c:v>Waxes, Clays, Pastes and Pomades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16.4302094538535</c:v>
                </c:pt>
                <c:pt idx="1">
                  <c:v>16.940556150837953</c:v>
                </c:pt>
                <c:pt idx="2">
                  <c:v>16.74353043635623</c:v>
                </c:pt>
              </c:numCache>
            </c:numRef>
          </c:val>
        </c:ser>
        <c:ser>
          <c:idx val="2"/>
          <c:order val="2"/>
          <c:tx>
            <c:strRef>
              <c:f>Sheet1!$D$1</c:f>
              <c:strCache>
                <c:ptCount val="1"/>
                <c:pt idx="0">
                  <c:v>Sticks and Balms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11.73227763336099</c:v>
                </c:pt>
                <c:pt idx="1">
                  <c:v>12.459720939846362</c:v>
                </c:pt>
                <c:pt idx="2">
                  <c:v>14.43884264181389</c:v>
                </c:pt>
              </c:numCache>
            </c:numRef>
          </c:val>
        </c:ser>
        <c:ser>
          <c:idx val="3"/>
          <c:order val="3"/>
          <c:tx>
            <c:strRef>
              <c:f>Sheet1!$E$1</c:f>
              <c:strCache>
                <c:ptCount val="1"/>
                <c:pt idx="0">
                  <c:v>Creams and Lotions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13.52105144905616</c:v>
                </c:pt>
                <c:pt idx="1">
                  <c:v>12.752703876637122</c:v>
                </c:pt>
                <c:pt idx="2">
                  <c:v>12.915988041109628</c:v>
                </c:pt>
              </c:numCache>
            </c:numRef>
          </c:val>
        </c:ser>
        <c:ser>
          <c:idx val="4"/>
          <c:order val="4"/>
          <c:tx>
            <c:strRef>
              <c:f>Sheet1!$F$1</c:f>
              <c:strCache>
                <c:ptCount val="1"/>
                <c:pt idx="0">
                  <c:v>Powders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9.835557323981318</c:v>
                </c:pt>
                <c:pt idx="1">
                  <c:v>9.730543446785818</c:v>
                </c:pt>
                <c:pt idx="2">
                  <c:v>10.663658093363795</c:v>
                </c:pt>
              </c:numCache>
            </c:numRef>
          </c:val>
        </c:ser>
        <c:ser>
          <c:idx val="5"/>
          <c:order val="5"/>
          <c:tx>
            <c:strRef>
              <c:f>Sheet1!$G$1</c:f>
              <c:strCache>
                <c:ptCount val="1"/>
                <c:pt idx="0">
                  <c:v>Sprays and Mists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12.479869861715521</c:v>
                </c:pt>
                <c:pt idx="1">
                  <c:v>11.726434860777044</c:v>
                </c:pt>
                <c:pt idx="2">
                  <c:v>9.853548834649112</c:v>
                </c:pt>
              </c:numCache>
            </c:numRef>
          </c:val>
        </c:ser>
        <c:ser>
          <c:idx val="6"/>
          <c:order val="6"/>
          <c:tx>
            <c:strRef>
              <c:f>Sheet1!$H$1</c:f>
              <c:strCache>
                <c:ptCount val="1"/>
                <c:pt idx="0">
                  <c:v>Gels and Jellies</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9.905471506518838</c:v>
                </c:pt>
                <c:pt idx="1">
                  <c:v>9.876498673533161</c:v>
                </c:pt>
                <c:pt idx="2">
                  <c:v>8.920627200820382</c:v>
                </c:pt>
              </c:numCache>
            </c:numRef>
          </c:val>
        </c:ser>
        <c:ser>
          <c:idx val="7"/>
          <c:order val="7"/>
          <c:tx>
            <c:strRef>
              <c:f>Sheet1!$I$1</c:f>
              <c:strCache>
                <c:ptCount val="1"/>
                <c:pt idx="0">
                  <c:v>Mousses and Foams</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Sheet1!$I$2:$I$4</c:f>
              <c:numCache>
                <c:formatCode>General</c:formatCode>
                <c:ptCount val="3"/>
                <c:pt idx="0">
                  <c:v>7.162375375145445</c:v>
                </c:pt>
                <c:pt idx="1">
                  <c:v>6.980111284766741</c:v>
                </c:pt>
                <c:pt idx="2">
                  <c:v>6.066205578302078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No Hold</c:v>
                </c:pt>
              </c:strCache>
            </c:strRef>
          </c:tx>
          <c:spPr>
            <a:solidFill>
              <a:srgbClr val="3D85C6"/>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Sheet1!$B$2:$B$8</c:f>
              <c:numCache>
                <c:formatCode>General</c:formatCode>
                <c:ptCount val="7"/>
                <c:pt idx="0">
                  <c:v>20.03285086202638</c:v>
                </c:pt>
                <c:pt idx="1">
                  <c:v>20.050647652231778</c:v>
                </c:pt>
                <c:pt idx="2">
                  <c:v>20.045738334985476</c:v>
                </c:pt>
                <c:pt idx="3">
                  <c:v>20.05420279493553</c:v>
                </c:pt>
                <c:pt idx="4">
                  <c:v>16.987895716945996</c:v>
                </c:pt>
                <c:pt idx="5">
                  <c:v>20.041189103441233</c:v>
                </c:pt>
                <c:pt idx="6">
                  <c:v>20.033432092503144</c:v>
                </c:pt>
              </c:numCache>
            </c:numRef>
          </c:val>
        </c:ser>
        <c:ser>
          <c:idx val="1"/>
          <c:order val="1"/>
          <c:tx>
            <c:strRef>
              <c:f>Sheet1!$C$1</c:f>
              <c:strCache>
                <c:ptCount val="1"/>
                <c:pt idx="0">
                  <c:v>Light or Flexible Hold</c:v>
                </c:pt>
              </c:strCache>
            </c:strRef>
          </c:tx>
          <c:spPr>
            <a:solidFill>
              <a:srgbClr val="9E7E0A"/>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Sheet1!$C$2:$C$8</c:f>
              <c:numCache>
                <c:formatCode>General</c:formatCode>
                <c:ptCount val="7"/>
                <c:pt idx="0">
                  <c:v>22.1885343081559</c:v>
                </c:pt>
                <c:pt idx="1">
                  <c:v>22.23136180261279</c:v>
                </c:pt>
                <c:pt idx="2">
                  <c:v>22.219178796890485</c:v>
                </c:pt>
                <c:pt idx="3">
                  <c:v>22.23977254778076</c:v>
                </c:pt>
                <c:pt idx="4">
                  <c:v>21.438792512006273</c:v>
                </c:pt>
                <c:pt idx="5">
                  <c:v>22.208951208538387</c:v>
                </c:pt>
                <c:pt idx="6">
                  <c:v>22.190609040498945</c:v>
                </c:pt>
              </c:numCache>
            </c:numRef>
          </c:val>
        </c:ser>
        <c:ser>
          <c:idx val="2"/>
          <c:order val="2"/>
          <c:tx>
            <c:strRef>
              <c:f>Sheet1!$D$1</c:f>
              <c:strCache>
                <c:ptCount val="1"/>
                <c:pt idx="0">
                  <c:v>Medium Hold</c:v>
                </c:pt>
              </c:strCache>
            </c:strRef>
          </c:tx>
          <c:spPr>
            <a:solidFill>
              <a:srgbClr val="008189"/>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Sheet1!$D$2:$D$8</c:f>
              <c:numCache>
                <c:formatCode>General</c:formatCode>
                <c:ptCount val="7"/>
                <c:pt idx="0">
                  <c:v>22.017487526552383</c:v>
                </c:pt>
                <c:pt idx="1">
                  <c:v>22.014630517058926</c:v>
                </c:pt>
                <c:pt idx="2">
                  <c:v>22.015269299664354</c:v>
                </c:pt>
                <c:pt idx="3">
                  <c:v>22.014066124084493</c:v>
                </c:pt>
                <c:pt idx="4">
                  <c:v>21.34298735665981</c:v>
                </c:pt>
                <c:pt idx="5">
                  <c:v>22.015993246471325</c:v>
                </c:pt>
                <c:pt idx="6">
                  <c:v>22.016992725637806</c:v>
                </c:pt>
              </c:numCache>
            </c:numRef>
          </c:val>
        </c:ser>
        <c:ser>
          <c:idx val="3"/>
          <c:order val="3"/>
          <c:tx>
            <c:strRef>
              <c:f>Sheet1!$E$1</c:f>
              <c:strCache>
                <c:ptCount val="1"/>
                <c:pt idx="0">
                  <c:v>Strong Hold</c:v>
                </c:pt>
              </c:strCache>
            </c:strRef>
          </c:tx>
          <c:spPr>
            <a:solidFill>
              <a:srgbClr val="40315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Sheet1!$E$2:$E$8</c:f>
              <c:numCache>
                <c:formatCode>General</c:formatCode>
                <c:ptCount val="7"/>
                <c:pt idx="0">
                  <c:v>19.772884453885293</c:v>
                </c:pt>
                <c:pt idx="1">
                  <c:v>19.750273802317036</c:v>
                </c:pt>
                <c:pt idx="2">
                  <c:v>19.75661292847081</c:v>
                </c:pt>
                <c:pt idx="3">
                  <c:v>19.745778915777834</c:v>
                </c:pt>
                <c:pt idx="4">
                  <c:v>22.261099676565717</c:v>
                </c:pt>
                <c:pt idx="5">
                  <c:v>19.76218858857744</c:v>
                </c:pt>
                <c:pt idx="6">
                  <c:v>19.77220063866825</c:v>
                </c:pt>
              </c:numCache>
            </c:numRef>
          </c:val>
        </c:ser>
        <c:ser>
          <c:idx val="4"/>
          <c:order val="4"/>
          <c:tx>
            <c:strRef>
              <c:f>Sheet1!$F$1</c:f>
              <c:strCache>
                <c:ptCount val="1"/>
                <c:pt idx="0">
                  <c:v>Extra-strong Hold</c:v>
                </c:pt>
              </c:strCache>
            </c:strRef>
          </c:tx>
          <c:spPr>
            <a:solidFill>
              <a:srgbClr val="A35313"/>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Sheet1!$F$2:$F$8</c:f>
              <c:numCache>
                <c:formatCode>General</c:formatCode>
                <c:ptCount val="7"/>
                <c:pt idx="0">
                  <c:v>15.988242849380029</c:v>
                </c:pt>
                <c:pt idx="1">
                  <c:v>15.95308622577947</c:v>
                </c:pt>
                <c:pt idx="2">
                  <c:v>15.96320063998887</c:v>
                </c:pt>
                <c:pt idx="3">
                  <c:v>15.946179617421377</c:v>
                </c:pt>
                <c:pt idx="4">
                  <c:v>17.96922473782221</c:v>
                </c:pt>
                <c:pt idx="5">
                  <c:v>15.971677852971597</c:v>
                </c:pt>
                <c:pt idx="6">
                  <c:v>15.98676550269186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6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No Hold</c:v>
                </c:pt>
              </c:strCache>
            </c:strRef>
          </c:tx>
          <c:spPr>
            <a:solidFill>
              <a:srgbClr val="3D85C6"/>
            </a:solidFill>
          </c:spPr>
          <c:invertIfNegative val="0"/>
          <c:xVal>
            <c:numRef>
              <c:f>Sheet1!$A$2:$A$2</c:f>
              <c:numCache>
                <c:formatCode>General</c:formatCode>
                <c:ptCount val="1"/>
                <c:pt idx="0">
                  <c:v>108.00635592645693</c:v>
                </c:pt>
              </c:numCache>
            </c:numRef>
          </c:xVal>
          <c:yVal>
            <c:numRef>
              <c:f>Sheet1!$B$2:$B$2</c:f>
              <c:numCache>
                <c:formatCode>General</c:formatCode>
                <c:ptCount val="1"/>
                <c:pt idx="0">
                  <c:v>91.9770527797765</c:v>
                </c:pt>
              </c:numCache>
            </c:numRef>
          </c:yVal>
          <c:bubbleSize>
            <c:numRef>
              <c:f>Sheet1!$C$2:$C$2</c:f>
              <c:numCache>
                <c:formatCode>General</c:formatCode>
                <c:ptCount val="1"/>
                <c:pt idx="0">
                  <c:v>412.815</c:v>
                </c:pt>
              </c:numCache>
            </c:numRef>
          </c:bubbleSize>
          <c:bubble3D val="0"/>
        </c:ser>
        <c:ser>
          <c:idx val="1"/>
          <c:order val="1"/>
          <c:tx>
            <c:strRef>
              <c:f>Sheet1!$B$4</c:f>
              <c:strCache>
                <c:ptCount val="1"/>
                <c:pt idx="0">
                  <c:v>Light or Flexible Hold</c:v>
                </c:pt>
              </c:strCache>
            </c:strRef>
          </c:tx>
          <c:spPr>
            <a:solidFill>
              <a:srgbClr val="9E7E0A"/>
            </a:solidFill>
          </c:spPr>
          <c:invertIfNegative val="0"/>
          <c:xVal>
            <c:numRef>
              <c:f>Sheet1!$A$5:$A$5</c:f>
              <c:numCache>
                <c:formatCode>General</c:formatCode>
                <c:ptCount val="1"/>
                <c:pt idx="0">
                  <c:v>113.85163128071942</c:v>
                </c:pt>
              </c:numCache>
            </c:numRef>
          </c:xVal>
          <c:yVal>
            <c:numRef>
              <c:f>Sheet1!$B$5:$B$5</c:f>
              <c:numCache>
                <c:formatCode>General</c:formatCode>
                <c:ptCount val="1"/>
                <c:pt idx="0">
                  <c:v>100.14839254410339</c:v>
                </c:pt>
              </c:numCache>
            </c:numRef>
          </c:yVal>
          <c:bubbleSize>
            <c:numRef>
              <c:f>Sheet1!$C$5:$C$5</c:f>
              <c:numCache>
                <c:formatCode>General</c:formatCode>
                <c:ptCount val="1"/>
                <c:pt idx="0">
                  <c:v>468.15</c:v>
                </c:pt>
              </c:numCache>
            </c:numRef>
          </c:bubbleSize>
          <c:bubble3D val="0"/>
        </c:ser>
        <c:ser>
          <c:idx val="2"/>
          <c:order val="2"/>
          <c:tx>
            <c:strRef>
              <c:f>Sheet1!$B$7</c:f>
              <c:strCache>
                <c:ptCount val="1"/>
                <c:pt idx="0">
                  <c:v>Medium Hold</c:v>
                </c:pt>
              </c:strCache>
            </c:strRef>
          </c:tx>
          <c:spPr>
            <a:solidFill>
              <a:srgbClr val="008189"/>
            </a:solidFill>
          </c:spPr>
          <c:invertIfNegative val="0"/>
          <c:xVal>
            <c:numRef>
              <c:f>Sheet1!$A$8:$A$8</c:f>
              <c:numCache>
                <c:formatCode>General</c:formatCode>
                <c:ptCount val="1"/>
                <c:pt idx="0">
                  <c:v>98.86222438677068</c:v>
                </c:pt>
              </c:numCache>
            </c:numRef>
          </c:xVal>
          <c:yVal>
            <c:numRef>
              <c:f>Sheet1!$B$8:$B$8</c:f>
              <c:numCache>
                <c:formatCode>General</c:formatCode>
                <c:ptCount val="1"/>
                <c:pt idx="0">
                  <c:v>110.30869939102507</c:v>
                </c:pt>
              </c:numCache>
            </c:numRef>
          </c:yVal>
          <c:bubbleSize>
            <c:numRef>
              <c:f>Sheet1!$C$8:$C$8</c:f>
              <c:numCache>
                <c:formatCode>General</c:formatCode>
                <c:ptCount val="1"/>
                <c:pt idx="0">
                  <c:v>464.415</c:v>
                </c:pt>
              </c:numCache>
            </c:numRef>
          </c:bubbleSize>
          <c:bubble3D val="0"/>
        </c:ser>
        <c:ser>
          <c:idx val="3"/>
          <c:order val="3"/>
          <c:tx>
            <c:strRef>
              <c:f>Sheet1!$B$10</c:f>
              <c:strCache>
                <c:ptCount val="1"/>
                <c:pt idx="0">
                  <c:v>Strong Hold</c:v>
                </c:pt>
              </c:strCache>
            </c:strRef>
          </c:tx>
          <c:spPr>
            <a:solidFill>
              <a:srgbClr val="40315E"/>
            </a:solidFill>
          </c:spPr>
          <c:invertIfNegative val="0"/>
          <c:xVal>
            <c:numRef>
              <c:f>Sheet1!$A$11:$A$11</c:f>
              <c:numCache>
                <c:formatCode>General</c:formatCode>
                <c:ptCount val="1"/>
                <c:pt idx="0">
                  <c:v>91.98525443580573</c:v>
                </c:pt>
              </c:numCache>
            </c:numRef>
          </c:xVal>
          <c:yVal>
            <c:numRef>
              <c:f>Sheet1!$B$11:$B$11</c:f>
              <c:numCache>
                <c:formatCode>General</c:formatCode>
                <c:ptCount val="1"/>
                <c:pt idx="0">
                  <c:v>107.07809035760458</c:v>
                </c:pt>
              </c:numCache>
            </c:numRef>
          </c:yVal>
          <c:bubbleSize>
            <c:numRef>
              <c:f>Sheet1!$C$11:$C$11</c:f>
              <c:numCache>
                <c:formatCode>General</c:formatCode>
                <c:ptCount val="1"/>
                <c:pt idx="0">
                  <c:v>429.524</c:v>
                </c:pt>
              </c:numCache>
            </c:numRef>
          </c:bubbleSize>
          <c:bubble3D val="0"/>
        </c:ser>
        <c:ser>
          <c:idx val="4"/>
          <c:order val="4"/>
          <c:tx>
            <c:strRef>
              <c:f>Sheet1!$B$13</c:f>
              <c:strCache>
                <c:ptCount val="1"/>
                <c:pt idx="0">
                  <c:v>Extra-strong Hold</c:v>
                </c:pt>
              </c:strCache>
            </c:strRef>
          </c:tx>
          <c:spPr>
            <a:solidFill>
              <a:srgbClr val="A35313"/>
            </a:solidFill>
          </c:spPr>
          <c:invertIfNegative val="0"/>
          <c:xVal>
            <c:numRef>
              <c:f>Sheet1!$A$14:$A$14</c:f>
              <c:numCache>
                <c:formatCode>General</c:formatCode>
                <c:ptCount val="1"/>
                <c:pt idx="0">
                  <c:v>85.63061906316966</c:v>
                </c:pt>
              </c:numCache>
            </c:numRef>
          </c:xVal>
          <c:yVal>
            <c:numRef>
              <c:f>Sheet1!$B$14:$B$14</c:f>
              <c:numCache>
                <c:formatCode>General</c:formatCode>
                <c:ptCount val="1"/>
                <c:pt idx="0">
                  <c:v>90.48776492749046</c:v>
                </c:pt>
              </c:numCache>
            </c:numRef>
          </c:yVal>
          <c:bubbleSize>
            <c:numRef>
              <c:f>Sheet1!$C$14:$C$14</c:f>
              <c:numCache>
                <c:formatCode>General</c:formatCode>
                <c:ptCount val="1"/>
                <c:pt idx="0">
                  <c:v>347.034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188.674</c:v>
                </c:pt>
                <c:pt idx="2">
                  <c:v>212.874</c:v>
                </c:pt>
                <c:pt idx="3">
                  <c:v>247.099</c:v>
                </c:pt>
                <c:pt idx="4">
                  <c:v>292.131</c:v>
                </c:pt>
                <c:pt idx="5">
                  <c:v>347.403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188.674</c:v>
                </c:pt>
                <c:pt idx="1">
                  <c:v>24.19999999999999</c:v>
                </c:pt>
                <c:pt idx="2">
                  <c:v>34.224999999999994</c:v>
                </c:pt>
                <c:pt idx="3">
                  <c:v>45.03199999999998</c:v>
                </c:pt>
                <c:pt idx="4">
                  <c:v>55.27200000000005</c:v>
                </c:pt>
                <c:pt idx="5">
                  <c:v>65.41199999999998</c:v>
                </c:pt>
                <c:pt idx="6">
                  <c:v>412.815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205.436</c:v>
                </c:pt>
                <c:pt idx="2">
                  <c:v>234.84</c:v>
                </c:pt>
                <c:pt idx="3">
                  <c:v>274.731</c:v>
                </c:pt>
                <c:pt idx="4">
                  <c:v>328.948</c:v>
                </c:pt>
                <c:pt idx="5">
                  <c:v>393.328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205.436</c:v>
                </c:pt>
                <c:pt idx="1">
                  <c:v>29.403999999999996</c:v>
                </c:pt>
                <c:pt idx="2">
                  <c:v>39.89099999999999</c:v>
                </c:pt>
                <c:pt idx="3">
                  <c:v>54.216999999999985</c:v>
                </c:pt>
                <c:pt idx="4">
                  <c:v>64.38</c:v>
                </c:pt>
                <c:pt idx="5">
                  <c:v>74.822</c:v>
                </c:pt>
                <c:pt idx="6">
                  <c:v>468.15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226.278</c:v>
                </c:pt>
                <c:pt idx="2">
                  <c:v>258.268</c:v>
                </c:pt>
                <c:pt idx="3">
                  <c:v>298.792</c:v>
                </c:pt>
                <c:pt idx="4">
                  <c:v>345.369</c:v>
                </c:pt>
                <c:pt idx="5">
                  <c:v>400.928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226.278</c:v>
                </c:pt>
                <c:pt idx="1">
                  <c:v>31.98999999999998</c:v>
                </c:pt>
                <c:pt idx="2">
                  <c:v>40.524</c:v>
                </c:pt>
                <c:pt idx="3">
                  <c:v>46.577000000000055</c:v>
                </c:pt>
                <c:pt idx="4">
                  <c:v>55.55899999999997</c:v>
                </c:pt>
                <c:pt idx="5">
                  <c:v>63.48700000000002</c:v>
                </c:pt>
                <c:pt idx="6">
                  <c:v>464.415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219.651</c:v>
                </c:pt>
                <c:pt idx="2">
                  <c:v>249.051</c:v>
                </c:pt>
                <c:pt idx="3">
                  <c:v>284.684</c:v>
                </c:pt>
                <c:pt idx="4">
                  <c:v>326.754</c:v>
                </c:pt>
                <c:pt idx="5">
                  <c:v>374.938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219.651</c:v>
                </c:pt>
                <c:pt idx="1">
                  <c:v>29.399999999999977</c:v>
                </c:pt>
                <c:pt idx="2">
                  <c:v>35.63300000000004</c:v>
                </c:pt>
                <c:pt idx="3">
                  <c:v>42.06999999999999</c:v>
                </c:pt>
                <c:pt idx="4">
                  <c:v>48.18399999999997</c:v>
                </c:pt>
                <c:pt idx="5">
                  <c:v>54.58600000000001</c:v>
                </c:pt>
                <c:pt idx="6">
                  <c:v>429.524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185.619</c:v>
                </c:pt>
                <c:pt idx="2">
                  <c:v>207.846</c:v>
                </c:pt>
                <c:pt idx="3">
                  <c:v>235.156</c:v>
                </c:pt>
                <c:pt idx="4">
                  <c:v>267.139</c:v>
                </c:pt>
                <c:pt idx="5">
                  <c:v>304.47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185.619</c:v>
                </c:pt>
                <c:pt idx="1">
                  <c:v>22.227000000000004</c:v>
                </c:pt>
                <c:pt idx="2">
                  <c:v>27.310000000000002</c:v>
                </c:pt>
                <c:pt idx="3">
                  <c:v>31.983000000000004</c:v>
                </c:pt>
                <c:pt idx="4">
                  <c:v>37.33100000000002</c:v>
                </c:pt>
                <c:pt idx="5">
                  <c:v>42.563999999999965</c:v>
                </c:pt>
                <c:pt idx="6">
                  <c:v>347.034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Light or Flexible Hold</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20.27747234815964</c:v>
                </c:pt>
                <c:pt idx="1">
                  <c:v>20.02967850882068</c:v>
                </c:pt>
                <c:pt idx="2">
                  <c:v>22.062378825394518</c:v>
                </c:pt>
              </c:numCache>
            </c:numRef>
          </c:val>
        </c:ser>
        <c:ser>
          <c:idx val="1"/>
          <c:order val="1"/>
          <c:tx>
            <c:strRef>
              <c:f>Sheet1!$C$1</c:f>
              <c:strCache>
                <c:ptCount val="1"/>
                <c:pt idx="0">
                  <c:v>Medium Hold</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21.079036817239285</c:v>
                </c:pt>
                <c:pt idx="1">
                  <c:v>22.061739878205017</c:v>
                </c:pt>
                <c:pt idx="2">
                  <c:v>21.8863604874412</c:v>
                </c:pt>
              </c:numCache>
            </c:numRef>
          </c:val>
        </c:ser>
        <c:ser>
          <c:idx val="2"/>
          <c:order val="2"/>
          <c:tx>
            <c:strRef>
              <c:f>Sheet1!$D$1</c:f>
              <c:strCache>
                <c:ptCount val="1"/>
                <c:pt idx="0">
                  <c:v>Strong Hold</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21.21020419434361</c:v>
                </c:pt>
                <c:pt idx="1">
                  <c:v>21.41561807152092</c:v>
                </c:pt>
                <c:pt idx="2">
                  <c:v>20.24206173790186</c:v>
                </c:pt>
              </c:numCache>
            </c:numRef>
          </c:val>
        </c:ser>
        <c:ser>
          <c:idx val="3"/>
          <c:order val="3"/>
          <c:tx>
            <c:strRef>
              <c:f>Sheet1!$E$1</c:f>
              <c:strCache>
                <c:ptCount val="1"/>
                <c:pt idx="0">
                  <c:v>No Hold</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19.185456864133187</c:v>
                </c:pt>
                <c:pt idx="1">
                  <c:v>18.3954105559553</c:v>
                </c:pt>
                <c:pt idx="2">
                  <c:v>19.45462120005391</c:v>
                </c:pt>
              </c:numCache>
            </c:numRef>
          </c:val>
        </c:ser>
        <c:ser>
          <c:idx val="4"/>
          <c:order val="4"/>
          <c:tx>
            <c:strRef>
              <c:f>Sheet1!$F$1</c:f>
              <c:strCache>
                <c:ptCount val="1"/>
                <c:pt idx="0">
                  <c:v>Extra-strong Hold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18.247829776124274</c:v>
                </c:pt>
                <c:pt idx="1">
                  <c:v>18.09755298549809</c:v>
                </c:pt>
                <c:pt idx="2">
                  <c:v>16.354577749208506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Matte</c:v>
                </c:pt>
              </c:strCache>
            </c:strRef>
          </c:tx>
          <c:spPr>
            <a:solidFill>
              <a:srgbClr val="3D85C6"/>
            </a:solidFill>
            <a:ln>
              <a:noFill/>
            </a:ln>
          </c:spPr>
          <c:dLbls>
            <c:dLbl>
              <c:idx val="0"/>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Sheet1!$B$2:$B$8</c:f>
              <c:numCache>
                <c:formatCode>General</c:formatCode>
                <c:ptCount val="7"/>
                <c:pt idx="0">
                  <c:v>30.989533483590108</c:v>
                </c:pt>
                <c:pt idx="1">
                  <c:v>31.754745928760236</c:v>
                </c:pt>
                <c:pt idx="2">
                  <c:v>30.7817724116642</c:v>
                </c:pt>
                <c:pt idx="3">
                  <c:v>31.624386371099483</c:v>
                </c:pt>
                <c:pt idx="4">
                  <c:v>36.79064980887974</c:v>
                </c:pt>
                <c:pt idx="5">
                  <c:v>30.466091966018915</c:v>
                </c:pt>
                <c:pt idx="6">
                  <c:v>33.09546591655811</c:v>
                </c:pt>
              </c:numCache>
            </c:numRef>
          </c:val>
        </c:ser>
        <c:ser>
          <c:idx val="1"/>
          <c:order val="1"/>
          <c:tx>
            <c:strRef>
              <c:f>Sheet1!$C$1</c:f>
              <c:strCache>
                <c:ptCount val="1"/>
                <c:pt idx="0">
                  <c:v>Natural</c:v>
                </c:pt>
              </c:strCache>
            </c:strRef>
          </c:tx>
          <c:spPr>
            <a:solidFill>
              <a:srgbClr val="9E7E0A"/>
            </a:solidFill>
            <a:ln>
              <a:noFill/>
            </a:ln>
          </c:spPr>
          <c:dLbls>
            <c:dLbl>
              <c:idx val="0"/>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Sheet1!$C$2:$C$8</c:f>
              <c:numCache>
                <c:formatCode>General</c:formatCode>
                <c:ptCount val="7"/>
                <c:pt idx="0">
                  <c:v>30.09169779863534</c:v>
                </c:pt>
                <c:pt idx="1">
                  <c:v>34.78067986469251</c:v>
                </c:pt>
                <c:pt idx="2">
                  <c:v>29.96656565349148</c:v>
                </c:pt>
                <c:pt idx="3">
                  <c:v>30.940613608117157</c:v>
                </c:pt>
                <c:pt idx="4">
                  <c:v>30.46848965990395</c:v>
                </c:pt>
                <c:pt idx="5">
                  <c:v>29.579457350857297</c:v>
                </c:pt>
                <c:pt idx="6">
                  <c:v>32.37679121081817</c:v>
                </c:pt>
              </c:numCache>
            </c:numRef>
          </c:val>
        </c:ser>
        <c:ser>
          <c:idx val="2"/>
          <c:order val="2"/>
          <c:tx>
            <c:strRef>
              <c:f>Sheet1!$D$1</c:f>
              <c:strCache>
                <c:ptCount val="1"/>
                <c:pt idx="0">
                  <c:v>Glossy or Wet-look</c:v>
                </c:pt>
              </c:strCache>
            </c:strRef>
          </c:tx>
          <c:spPr>
            <a:solidFill>
              <a:srgbClr val="008189"/>
            </a:solidFill>
            <a:ln>
              <a:noFill/>
            </a:ln>
          </c:spPr>
          <c:dLbls>
            <c:dLbl>
              <c:idx val="0"/>
              <c:tx>
                <c:rich>
                  <a:bodyPr/>
                  <a:lstStyle/>
                  <a:p>
                    <a:r>
                      <a:rPr sz="1100">
                        <a:solidFill>
                          <a:srgbClr val="FFFFFF"/>
                        </a:solidFill>
                        <a:latin typeface="Calibri"/>
                      </a:rPr>
                      <a:t>39%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Sheet1!$D$2:$D$8</c:f>
              <c:numCache>
                <c:formatCode>General</c:formatCode>
                <c:ptCount val="7"/>
                <c:pt idx="0">
                  <c:v>38.918768717774554</c:v>
                </c:pt>
                <c:pt idx="1">
                  <c:v>33.464574206547255</c:v>
                </c:pt>
                <c:pt idx="2">
                  <c:v>39.25166193484433</c:v>
                </c:pt>
                <c:pt idx="3">
                  <c:v>37.43500002078336</c:v>
                </c:pt>
                <c:pt idx="4">
                  <c:v>32.74086053121631</c:v>
                </c:pt>
                <c:pt idx="5">
                  <c:v>39.954450683123795</c:v>
                </c:pt>
                <c:pt idx="6">
                  <c:v>34.527742872623726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7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Matte</c:v>
                </c:pt>
              </c:strCache>
            </c:strRef>
          </c:tx>
          <c:spPr>
            <a:solidFill>
              <a:srgbClr val="3D85C6"/>
            </a:solidFill>
          </c:spPr>
          <c:invertIfNegative val="0"/>
          <c:xVal>
            <c:numRef>
              <c:f>Sheet1!$A$2:$A$2</c:f>
              <c:numCache>
                <c:formatCode>General</c:formatCode>
                <c:ptCount val="1"/>
                <c:pt idx="0">
                  <c:v>99.26615117324617</c:v>
                </c:pt>
              </c:numCache>
            </c:numRef>
          </c:xVal>
          <c:yVal>
            <c:numRef>
              <c:f>Sheet1!$B$2:$B$2</c:f>
              <c:numCache>
                <c:formatCode>General</c:formatCode>
                <c:ptCount val="1"/>
                <c:pt idx="0">
                  <c:v>98.17453771140087</c:v>
                </c:pt>
              </c:numCache>
            </c:numRef>
          </c:yVal>
          <c:bubbleSize>
            <c:numRef>
              <c:f>Sheet1!$C$2:$C$2</c:f>
              <c:numCache>
                <c:formatCode>General</c:formatCode>
                <c:ptCount val="1"/>
                <c:pt idx="0">
                  <c:v>690.836</c:v>
                </c:pt>
              </c:numCache>
            </c:numRef>
          </c:bubbleSize>
          <c:bubble3D val="0"/>
        </c:ser>
        <c:ser>
          <c:idx val="1"/>
          <c:order val="1"/>
          <c:tx>
            <c:strRef>
              <c:f>Sheet1!$B$4</c:f>
              <c:strCache>
                <c:ptCount val="1"/>
                <c:pt idx="0">
                  <c:v>Natural</c:v>
                </c:pt>
              </c:strCache>
            </c:strRef>
          </c:tx>
          <c:spPr>
            <a:solidFill>
              <a:srgbClr val="9E7E0A"/>
            </a:solidFill>
          </c:spPr>
          <c:invertIfNegative val="0"/>
          <c:xVal>
            <c:numRef>
              <c:f>Sheet1!$A$5:$A$5</c:f>
              <c:numCache>
                <c:formatCode>General</c:formatCode>
                <c:ptCount val="1"/>
                <c:pt idx="0">
                  <c:v>91.91216934007934</c:v>
                </c:pt>
              </c:numCache>
            </c:numRef>
          </c:xVal>
          <c:yVal>
            <c:numRef>
              <c:f>Sheet1!$B$5:$B$5</c:f>
              <c:numCache>
                <c:formatCode>General</c:formatCode>
                <c:ptCount val="1"/>
                <c:pt idx="0">
                  <c:v>98.72208864943286</c:v>
                </c:pt>
              </c:numCache>
            </c:numRef>
          </c:yVal>
          <c:bubbleSize>
            <c:numRef>
              <c:f>Sheet1!$C$5:$C$5</c:f>
              <c:numCache>
                <c:formatCode>General</c:formatCode>
                <c:ptCount val="1"/>
                <c:pt idx="0">
                  <c:v>659.669</c:v>
                </c:pt>
              </c:numCache>
            </c:numRef>
          </c:bubbleSize>
          <c:bubble3D val="0"/>
        </c:ser>
        <c:ser>
          <c:idx val="2"/>
          <c:order val="2"/>
          <c:tx>
            <c:strRef>
              <c:f>Sheet1!$B$7</c:f>
              <c:strCache>
                <c:ptCount val="1"/>
                <c:pt idx="0">
                  <c:v>Glossy or Wet-look</c:v>
                </c:pt>
              </c:strCache>
            </c:strRef>
          </c:tx>
          <c:spPr>
            <a:solidFill>
              <a:srgbClr val="008189"/>
            </a:solidFill>
          </c:spPr>
          <c:invertIfNegative val="0"/>
          <c:xVal>
            <c:numRef>
              <c:f>Sheet1!$A$8:$A$8</c:f>
              <c:numCache>
                <c:formatCode>General</c:formatCode>
                <c:ptCount val="1"/>
                <c:pt idx="0">
                  <c:v>108.03957906962705</c:v>
                </c:pt>
              </c:numCache>
            </c:numRef>
          </c:xVal>
          <c:yVal>
            <c:numRef>
              <c:f>Sheet1!$B$8:$B$8</c:f>
              <c:numCache>
                <c:formatCode>General</c:formatCode>
                <c:ptCount val="1"/>
                <c:pt idx="0">
                  <c:v>103.10337363916628</c:v>
                </c:pt>
              </c:numCache>
            </c:numRef>
          </c:yVal>
          <c:bubbleSize>
            <c:numRef>
              <c:f>Sheet1!$C$8:$C$8</c:f>
              <c:numCache>
                <c:formatCode>General</c:formatCode>
                <c:ptCount val="1"/>
                <c:pt idx="0">
                  <c:v>771.433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335.645</c:v>
                </c:pt>
                <c:pt idx="2">
                  <c:v>383.052</c:v>
                </c:pt>
                <c:pt idx="3">
                  <c:v>442.966</c:v>
                </c:pt>
                <c:pt idx="4">
                  <c:v>512.985</c:v>
                </c:pt>
                <c:pt idx="5">
                  <c:v>596.064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335.645</c:v>
                </c:pt>
                <c:pt idx="1">
                  <c:v>47.40700000000004</c:v>
                </c:pt>
                <c:pt idx="2">
                  <c:v>59.91399999999999</c:v>
                </c:pt>
                <c:pt idx="3">
                  <c:v>70.019</c:v>
                </c:pt>
                <c:pt idx="4">
                  <c:v>83.07899999999995</c:v>
                </c:pt>
                <c:pt idx="5">
                  <c:v>94.77200000000005</c:v>
                </c:pt>
                <c:pt idx="6">
                  <c:v>690.836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337.517</c:v>
                </c:pt>
                <c:pt idx="2">
                  <c:v>382.348</c:v>
                </c:pt>
                <c:pt idx="3">
                  <c:v>436.536</c:v>
                </c:pt>
                <c:pt idx="4">
                  <c:v>501.646</c:v>
                </c:pt>
                <c:pt idx="5">
                  <c:v>575.803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337.517</c:v>
                </c:pt>
                <c:pt idx="1">
                  <c:v>44.83100000000002</c:v>
                </c:pt>
                <c:pt idx="2">
                  <c:v>54.18799999999999</c:v>
                </c:pt>
                <c:pt idx="3">
                  <c:v>65.11000000000001</c:v>
                </c:pt>
                <c:pt idx="4">
                  <c:v>74.15699999999998</c:v>
                </c:pt>
                <c:pt idx="5">
                  <c:v>83.86599999999999</c:v>
                </c:pt>
                <c:pt idx="6">
                  <c:v>659.669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352.496</c:v>
                </c:pt>
                <c:pt idx="2">
                  <c:v>397.479</c:v>
                </c:pt>
                <c:pt idx="3">
                  <c:v>460.961</c:v>
                </c:pt>
                <c:pt idx="4">
                  <c:v>545.711</c:v>
                </c:pt>
                <c:pt idx="5">
                  <c:v>649.2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352.496</c:v>
                </c:pt>
                <c:pt idx="1">
                  <c:v>44.983000000000004</c:v>
                </c:pt>
                <c:pt idx="2">
                  <c:v>63.48200000000003</c:v>
                </c:pt>
                <c:pt idx="3">
                  <c:v>84.75</c:v>
                </c:pt>
                <c:pt idx="4">
                  <c:v>103.48900000000003</c:v>
                </c:pt>
                <c:pt idx="5">
                  <c:v>122.23299999999995</c:v>
                </c:pt>
                <c:pt idx="6">
                  <c:v>771.433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Glossy or Wet-look</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35.95015388631993</c:v>
                </c:pt>
                <c:pt idx="1">
                  <c:v>34.367791213055426</c:v>
                </c:pt>
                <c:pt idx="2">
                  <c:v>36.35511499393479</c:v>
                </c:pt>
              </c:numCache>
            </c:numRef>
          </c:val>
        </c:ser>
        <c:ser>
          <c:idx val="1"/>
          <c:order val="1"/>
          <c:tx>
            <c:strRef>
              <c:f>Sheet1!$C$1</c:f>
              <c:strCache>
                <c:ptCount val="1"/>
                <c:pt idx="0">
                  <c:v>Matte</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31.327539375316938</c:v>
                </c:pt>
                <c:pt idx="1">
                  <c:v>32.72484590380029</c:v>
                </c:pt>
                <c:pt idx="2">
                  <c:v>32.556841905842674</c:v>
                </c:pt>
              </c:numCache>
            </c:numRef>
          </c:val>
        </c:ser>
        <c:ser>
          <c:idx val="2"/>
          <c:order val="2"/>
          <c:tx>
            <c:strRef>
              <c:f>Sheet1!$D$1</c:f>
              <c:strCache>
                <c:ptCount val="1"/>
                <c:pt idx="0">
                  <c:v>Natural</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32.72230673836313</c:v>
                </c:pt>
                <c:pt idx="1">
                  <c:v>32.90736288314429</c:v>
                </c:pt>
                <c:pt idx="2">
                  <c:v>31.088043100222528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Mass Retail</c:v>
                </c:pt>
              </c:strCache>
            </c:strRef>
          </c:tx>
          <c:spPr>
            <a:solidFill>
              <a:srgbClr val="3D85C6"/>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Sheet1!$B$2:$B$8</c:f>
              <c:numCache>
                <c:formatCode>General</c:formatCode>
                <c:ptCount val="7"/>
                <c:pt idx="0">
                  <c:v>15.81163859111792</c:v>
                </c:pt>
                <c:pt idx="1">
                  <c:v>15.424499528641933</c:v>
                </c:pt>
                <c:pt idx="2">
                  <c:v>14.762786734143752</c:v>
                </c:pt>
                <c:pt idx="3">
                  <c:v>20.58093666476845</c:v>
                </c:pt>
                <c:pt idx="4">
                  <c:v>20.27393903753798</c:v>
                </c:pt>
                <c:pt idx="5">
                  <c:v>15.522715518540936</c:v>
                </c:pt>
                <c:pt idx="6">
                  <c:v>24.13243719954348</c:v>
                </c:pt>
              </c:numCache>
            </c:numRef>
          </c:val>
        </c:ser>
        <c:ser>
          <c:idx val="1"/>
          <c:order val="1"/>
          <c:tx>
            <c:strRef>
              <c:f>Sheet1!$C$1</c:f>
              <c:strCache>
                <c:ptCount val="1"/>
                <c:pt idx="0">
                  <c:v>Beauty Specialty Retail</c:v>
                </c:pt>
              </c:strCache>
            </c:strRef>
          </c:tx>
          <c:spPr>
            <a:solidFill>
              <a:srgbClr val="9E7E0A"/>
            </a:solidFill>
            <a:ln>
              <a:noFill/>
            </a:ln>
          </c:spPr>
          <c:dLbls>
            <c:dLbl>
              <c:idx val="0"/>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Sheet1!$C$2:$C$8</c:f>
              <c:numCache>
                <c:formatCode>General</c:formatCode>
                <c:ptCount val="7"/>
                <c:pt idx="0">
                  <c:v>17.500493997925208</c:v>
                </c:pt>
                <c:pt idx="1">
                  <c:v>14.499343795633928</c:v>
                </c:pt>
                <c:pt idx="2">
                  <c:v>18.02751256499887</c:v>
                </c:pt>
                <c:pt idx="3">
                  <c:v>15.492337172713935</c:v>
                </c:pt>
                <c:pt idx="4">
                  <c:v>15.779182593354896</c:v>
                </c:pt>
                <c:pt idx="5">
                  <c:v>17.496596556898375</c:v>
                </c:pt>
                <c:pt idx="6">
                  <c:v>15.188314907254764</c:v>
                </c:pt>
              </c:numCache>
            </c:numRef>
          </c:val>
        </c:ser>
        <c:ser>
          <c:idx val="2"/>
          <c:order val="2"/>
          <c:tx>
            <c:strRef>
              <c:f>Sheet1!$D$1</c:f>
              <c:strCache>
                <c:ptCount val="1"/>
                <c:pt idx="0">
                  <c:v>Salon and Professional Distribution</c:v>
                </c:pt>
              </c:strCache>
            </c:strRef>
          </c:tx>
          <c:spPr>
            <a:solidFill>
              <a:srgbClr val="008189"/>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Sheet1!$D$2:$D$8</c:f>
              <c:numCache>
                <c:formatCode>General</c:formatCode>
                <c:ptCount val="7"/>
                <c:pt idx="0">
                  <c:v>19.86797905448797</c:v>
                </c:pt>
                <c:pt idx="1">
                  <c:v>19.27900700567478</c:v>
                </c:pt>
                <c:pt idx="2">
                  <c:v>21.240065390167125</c:v>
                </c:pt>
                <c:pt idx="3">
                  <c:v>18.56910677246786</c:v>
                </c:pt>
                <c:pt idx="4">
                  <c:v>18.4568264236009</c:v>
                </c:pt>
                <c:pt idx="5">
                  <c:v>20.345284230984202</c:v>
                </c:pt>
                <c:pt idx="6">
                  <c:v>16.203036556263907</c:v>
                </c:pt>
              </c:numCache>
            </c:numRef>
          </c:val>
        </c:ser>
        <c:ser>
          <c:idx val="3"/>
          <c:order val="3"/>
          <c:tx>
            <c:strRef>
              <c:f>Sheet1!$E$1</c:f>
              <c:strCache>
                <c:ptCount val="1"/>
                <c:pt idx="0">
                  <c:v>Pharmacies and Drugstores</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Sheet1!$E$2:$E$8</c:f>
              <c:numCache>
                <c:formatCode>General</c:formatCode>
                <c:ptCount val="7"/>
                <c:pt idx="0">
                  <c:v>13.447241021587711</c:v>
                </c:pt>
                <c:pt idx="1">
                  <c:v>13.04876245401948</c:v>
                </c:pt>
                <c:pt idx="2">
                  <c:v>12.699344359228535</c:v>
                </c:pt>
                <c:pt idx="3">
                  <c:v>13.644695876995725</c:v>
                </c:pt>
                <c:pt idx="4">
                  <c:v>13.654317357639908</c:v>
                </c:pt>
                <c:pt idx="5">
                  <c:v>13.154336577910437</c:v>
                </c:pt>
                <c:pt idx="6">
                  <c:v>13.696090750838685</c:v>
                </c:pt>
              </c:numCache>
            </c:numRef>
          </c:val>
        </c:ser>
        <c:ser>
          <c:idx val="4"/>
          <c:order val="4"/>
          <c:tx>
            <c:strRef>
              <c:f>Sheet1!$F$1</c:f>
              <c:strCache>
                <c:ptCount val="1"/>
                <c:pt idx="0">
                  <c:v>Online Marketplaces</c:v>
                </c:pt>
              </c:strCache>
            </c:strRef>
          </c:tx>
          <c:spPr>
            <a:solidFill>
              <a:srgbClr val="A35313"/>
            </a:solidFill>
            <a:ln>
              <a:noFill/>
            </a:ln>
          </c:spPr>
          <c:dLbls>
            <c:dLbl>
              <c:idx val="0"/>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Sheet1!$F$2:$F$8</c:f>
              <c:numCache>
                <c:formatCode>General</c:formatCode>
                <c:ptCount val="7"/>
                <c:pt idx="0">
                  <c:v>17.89445734327916</c:v>
                </c:pt>
                <c:pt idx="1">
                  <c:v>23.0082811142535</c:v>
                </c:pt>
                <c:pt idx="2">
                  <c:v>17.009269404010364</c:v>
                </c:pt>
                <c:pt idx="3">
                  <c:v>18.364598444572838</c:v>
                </c:pt>
                <c:pt idx="4">
                  <c:v>18.413211800450846</c:v>
                </c:pt>
                <c:pt idx="5">
                  <c:v>17.562926010190612</c:v>
                </c:pt>
                <c:pt idx="6">
                  <c:v>17.748521494529818</c:v>
                </c:pt>
              </c:numCache>
            </c:numRef>
          </c:val>
        </c:ser>
        <c:ser>
          <c:idx val="5"/>
          <c:order val="5"/>
          <c:tx>
            <c:strRef>
              <c:f>Sheet1!$G$1</c:f>
              <c:strCache>
                <c:ptCount val="1"/>
                <c:pt idx="0">
                  <c:v>Brand-owned Online Stores</c:v>
                </c:pt>
              </c:strCache>
            </c:strRef>
          </c:tx>
          <c:spPr>
            <a:solidFill>
              <a:srgbClr val="808080"/>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Sheet1!$G$2:$G$8</c:f>
              <c:numCache>
                <c:formatCode>General</c:formatCode>
                <c:ptCount val="7"/>
                <c:pt idx="0">
                  <c:v>15.478189991602035</c:v>
                </c:pt>
                <c:pt idx="1">
                  <c:v>14.740106101776371</c:v>
                </c:pt>
                <c:pt idx="2">
                  <c:v>16.26102154745135</c:v>
                </c:pt>
                <c:pt idx="3">
                  <c:v>13.348325068481193</c:v>
                </c:pt>
                <c:pt idx="4">
                  <c:v>13.422522787415467</c:v>
                </c:pt>
                <c:pt idx="5">
                  <c:v>15.918141105475424</c:v>
                </c:pt>
                <c:pt idx="6">
                  <c:v>13.031599091569351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7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Mass Retail</c:v>
                </c:pt>
              </c:strCache>
            </c:strRef>
          </c:tx>
          <c:spPr>
            <a:solidFill>
              <a:srgbClr val="3D85C6"/>
            </a:solidFill>
          </c:spPr>
          <c:invertIfNegative val="0"/>
          <c:xVal>
            <c:numRef>
              <c:f>Sheet1!$A$2:$A$2</c:f>
              <c:numCache>
                <c:formatCode>General</c:formatCode>
                <c:ptCount val="1"/>
                <c:pt idx="0">
                  <c:v>82.07056205638997</c:v>
                </c:pt>
              </c:numCache>
            </c:numRef>
          </c:xVal>
          <c:yVal>
            <c:numRef>
              <c:f>Sheet1!$B$2:$B$2</c:f>
              <c:numCache>
                <c:formatCode>General</c:formatCode>
                <c:ptCount val="1"/>
                <c:pt idx="0">
                  <c:v>127.3291168490051</c:v>
                </c:pt>
              </c:numCache>
            </c:numRef>
          </c:yVal>
          <c:bubbleSize>
            <c:numRef>
              <c:f>Sheet1!$C$2:$C$2</c:f>
              <c:numCache>
                <c:formatCode>General</c:formatCode>
                <c:ptCount val="1"/>
                <c:pt idx="0">
                  <c:v>396.792</c:v>
                </c:pt>
              </c:numCache>
            </c:numRef>
          </c:bubbleSize>
          <c:bubble3D val="0"/>
        </c:ser>
        <c:ser>
          <c:idx val="1"/>
          <c:order val="1"/>
          <c:tx>
            <c:strRef>
              <c:f>Sheet1!$B$4</c:f>
              <c:strCache>
                <c:ptCount val="1"/>
                <c:pt idx="0">
                  <c:v>Beauty Specialty Retail</c:v>
                </c:pt>
              </c:strCache>
            </c:strRef>
          </c:tx>
          <c:spPr>
            <a:solidFill>
              <a:srgbClr val="9E7E0A"/>
            </a:solidFill>
          </c:spPr>
          <c:invertIfNegative val="0"/>
          <c:xVal>
            <c:numRef>
              <c:f>Sheet1!$A$5:$A$5</c:f>
              <c:numCache>
                <c:formatCode>General</c:formatCode>
                <c:ptCount val="1"/>
                <c:pt idx="0">
                  <c:v>105.8080463283346</c:v>
                </c:pt>
              </c:numCache>
            </c:numRef>
          </c:xVal>
          <c:yVal>
            <c:numRef>
              <c:f>Sheet1!$B$5:$B$5</c:f>
              <c:numCache>
                <c:formatCode>General</c:formatCode>
                <c:ptCount val="1"/>
                <c:pt idx="0">
                  <c:v>93.44059466273814</c:v>
                </c:pt>
              </c:numCache>
            </c:numRef>
          </c:yVal>
          <c:bubbleSize>
            <c:numRef>
              <c:f>Sheet1!$C$5:$C$5</c:f>
              <c:numCache>
                <c:formatCode>General</c:formatCode>
                <c:ptCount val="1"/>
                <c:pt idx="0">
                  <c:v>344.166</c:v>
                </c:pt>
              </c:numCache>
            </c:numRef>
          </c:bubbleSize>
          <c:bubble3D val="0"/>
        </c:ser>
        <c:ser>
          <c:idx val="2"/>
          <c:order val="2"/>
          <c:tx>
            <c:strRef>
              <c:f>Sheet1!$B$7</c:f>
              <c:strCache>
                <c:ptCount val="1"/>
                <c:pt idx="0">
                  <c:v>Salon and Professional Distribution</c:v>
                </c:pt>
              </c:strCache>
            </c:strRef>
          </c:tx>
          <c:spPr>
            <a:solidFill>
              <a:srgbClr val="008189"/>
            </a:solidFill>
          </c:spPr>
          <c:invertIfNegative val="0"/>
          <c:xVal>
            <c:numRef>
              <c:f>Sheet1!$A$8:$A$8</c:f>
              <c:numCache>
                <c:formatCode>General</c:formatCode>
                <c:ptCount val="1"/>
                <c:pt idx="0">
                  <c:v>96.65796983144202</c:v>
                </c:pt>
              </c:numCache>
            </c:numRef>
          </c:xVal>
          <c:yVal>
            <c:numRef>
              <c:f>Sheet1!$B$8:$B$8</c:f>
              <c:numCache>
                <c:formatCode>General</c:formatCode>
                <c:ptCount val="1"/>
                <c:pt idx="0">
                  <c:v>116.00486322425529</c:v>
                </c:pt>
              </c:numCache>
            </c:numRef>
          </c:yVal>
          <c:bubbleSize>
            <c:numRef>
              <c:f>Sheet1!$C$8:$C$8</c:f>
              <c:numCache>
                <c:formatCode>General</c:formatCode>
                <c:ptCount val="1"/>
                <c:pt idx="0">
                  <c:v>400.745</c:v>
                </c:pt>
              </c:numCache>
            </c:numRef>
          </c:bubbleSize>
          <c:bubble3D val="0"/>
        </c:ser>
        <c:ser>
          <c:idx val="3"/>
          <c:order val="3"/>
          <c:tx>
            <c:strRef>
              <c:f>Sheet1!$B$10</c:f>
              <c:strCache>
                <c:ptCount val="1"/>
                <c:pt idx="0">
                  <c:v>Pharmacies and Drugstores</c:v>
                </c:pt>
              </c:strCache>
            </c:strRef>
          </c:tx>
          <c:spPr>
            <a:solidFill>
              <a:srgbClr val="40315E"/>
            </a:solidFill>
          </c:spPr>
          <c:invertIfNegative val="0"/>
          <c:xVal>
            <c:numRef>
              <c:f>Sheet1!$A$11:$A$11</c:f>
              <c:numCache>
                <c:formatCode>General</c:formatCode>
                <c:ptCount val="1"/>
                <c:pt idx="0">
                  <c:v>89.1009202165988</c:v>
                </c:pt>
              </c:numCache>
            </c:numRef>
          </c:xVal>
          <c:yVal>
            <c:numRef>
              <c:f>Sheet1!$B$11:$B$11</c:f>
              <c:numCache>
                <c:formatCode>General</c:formatCode>
                <c:ptCount val="1"/>
                <c:pt idx="0">
                  <c:v>86.67576002503762</c:v>
                </c:pt>
              </c:numCache>
            </c:numRef>
          </c:yVal>
          <c:bubbleSize>
            <c:numRef>
              <c:f>Sheet1!$C$11:$C$11</c:f>
              <c:numCache>
                <c:formatCode>General</c:formatCode>
                <c:ptCount val="1"/>
                <c:pt idx="0">
                  <c:v>283.897</c:v>
                </c:pt>
              </c:numCache>
            </c:numRef>
          </c:bubbleSize>
          <c:bubble3D val="0"/>
        </c:ser>
        <c:ser>
          <c:idx val="4"/>
          <c:order val="4"/>
          <c:tx>
            <c:strRef>
              <c:f>Sheet1!$B$13</c:f>
              <c:strCache>
                <c:ptCount val="1"/>
                <c:pt idx="0">
                  <c:v>Online Marketplaces</c:v>
                </c:pt>
              </c:strCache>
            </c:strRef>
          </c:tx>
          <c:spPr>
            <a:solidFill>
              <a:srgbClr val="A35313"/>
            </a:solidFill>
          </c:spPr>
          <c:invertIfNegative val="0"/>
          <c:xVal>
            <c:numRef>
              <c:f>Sheet1!$A$14:$A$14</c:f>
              <c:numCache>
                <c:formatCode>General</c:formatCode>
                <c:ptCount val="1"/>
                <c:pt idx="0">
                  <c:v>118.69728655960381</c:v>
                </c:pt>
              </c:numCache>
            </c:numRef>
          </c:xVal>
          <c:yVal>
            <c:numRef>
              <c:f>Sheet1!$B$14:$B$14</c:f>
              <c:numCache>
                <c:formatCode>General</c:formatCode>
                <c:ptCount val="1"/>
                <c:pt idx="0">
                  <c:v>96.79025249181744</c:v>
                </c:pt>
              </c:numCache>
            </c:numRef>
          </c:yVal>
          <c:bubbleSize>
            <c:numRef>
              <c:f>Sheet1!$C$14:$C$14</c:f>
              <c:numCache>
                <c:formatCode>General</c:formatCode>
                <c:ptCount val="1"/>
                <c:pt idx="0">
                  <c:v>389.925</c:v>
                </c:pt>
              </c:numCache>
            </c:numRef>
          </c:bubbleSize>
          <c:bubble3D val="0"/>
        </c:ser>
        <c:ser>
          <c:idx val="5"/>
          <c:order val="5"/>
          <c:tx>
            <c:strRef>
              <c:f>Sheet1!$B$16</c:f>
              <c:strCache>
                <c:ptCount val="1"/>
                <c:pt idx="0">
                  <c:v>Brand-owned Online Stores</c:v>
                </c:pt>
              </c:strCache>
            </c:strRef>
          </c:tx>
          <c:spPr>
            <a:solidFill>
              <a:srgbClr val="808080"/>
            </a:solidFill>
          </c:spPr>
          <c:invertIfNegative val="0"/>
          <c:xVal>
            <c:numRef>
              <c:f>Sheet1!$A$17:$A$17</c:f>
              <c:numCache>
                <c:formatCode>General</c:formatCode>
                <c:ptCount val="1"/>
                <c:pt idx="0">
                  <c:v>111.85174408094107</c:v>
                </c:pt>
              </c:numCache>
            </c:numRef>
          </c:xVal>
          <c:yVal>
            <c:numRef>
              <c:f>Sheet1!$B$17:$B$17</c:f>
              <c:numCache>
                <c:formatCode>General</c:formatCode>
                <c:ptCount val="1"/>
                <c:pt idx="0">
                  <c:v>79.75941274714646</c:v>
                </c:pt>
              </c:numCache>
            </c:numRef>
          </c:yVal>
          <c:bubbleSize>
            <c:numRef>
              <c:f>Sheet1!$C$17:$C$17</c:f>
              <c:numCache>
                <c:formatCode>General</c:formatCode>
                <c:ptCount val="1"/>
                <c:pt idx="0">
                  <c:v>306.412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7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40.0"/>
          <c:min val="6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217.66</c:v>
                </c:pt>
                <c:pt idx="2">
                  <c:v>242.638</c:v>
                </c:pt>
                <c:pt idx="3">
                  <c:v>273.534</c:v>
                </c:pt>
                <c:pt idx="4">
                  <c:v>308.62</c:v>
                </c:pt>
                <c:pt idx="5">
                  <c:v>350.077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217.66</c:v>
                </c:pt>
                <c:pt idx="1">
                  <c:v>24.97800000000001</c:v>
                </c:pt>
                <c:pt idx="2">
                  <c:v>30.895999999999987</c:v>
                </c:pt>
                <c:pt idx="3">
                  <c:v>35.08600000000001</c:v>
                </c:pt>
                <c:pt idx="4">
                  <c:v>41.456999999999994</c:v>
                </c:pt>
                <c:pt idx="5">
                  <c:v>46.714999999999975</c:v>
                </c:pt>
                <c:pt idx="6">
                  <c:v>396.792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159.73</c:v>
                </c:pt>
                <c:pt idx="2">
                  <c:v>181.172</c:v>
                </c:pt>
                <c:pt idx="3">
                  <c:v>210.024</c:v>
                </c:pt>
                <c:pt idx="4">
                  <c:v>246.869</c:v>
                </c:pt>
                <c:pt idx="5">
                  <c:v>291.669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159.73</c:v>
                </c:pt>
                <c:pt idx="1">
                  <c:v>21.442000000000007</c:v>
                </c:pt>
                <c:pt idx="2">
                  <c:v>28.852000000000004</c:v>
                </c:pt>
                <c:pt idx="3">
                  <c:v>36.845</c:v>
                </c:pt>
                <c:pt idx="4">
                  <c:v>44.79999999999998</c:v>
                </c:pt>
                <c:pt idx="5">
                  <c:v>52.497000000000014</c:v>
                </c:pt>
                <c:pt idx="6">
                  <c:v>344.166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198.302</c:v>
                </c:pt>
                <c:pt idx="2">
                  <c:v>226.094</c:v>
                </c:pt>
                <c:pt idx="3">
                  <c:v>259.976</c:v>
                </c:pt>
                <c:pt idx="4">
                  <c:v>300.087</c:v>
                </c:pt>
                <c:pt idx="5">
                  <c:v>347.048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198.302</c:v>
                </c:pt>
                <c:pt idx="1">
                  <c:v>27.792</c:v>
                </c:pt>
                <c:pt idx="2">
                  <c:v>33.882000000000005</c:v>
                </c:pt>
                <c:pt idx="3">
                  <c:v>40.11099999999999</c:v>
                </c:pt>
                <c:pt idx="4">
                  <c:v>46.96100000000001</c:v>
                </c:pt>
                <c:pt idx="5">
                  <c:v>53.697</c:v>
                </c:pt>
                <c:pt idx="6">
                  <c:v>400.745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148.166</c:v>
                </c:pt>
                <c:pt idx="2">
                  <c:v>166.397</c:v>
                </c:pt>
                <c:pt idx="3">
                  <c:v>189.268</c:v>
                </c:pt>
                <c:pt idx="4">
                  <c:v>216.425</c:v>
                </c:pt>
                <c:pt idx="5">
                  <c:v>247.965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148.166</c:v>
                </c:pt>
                <c:pt idx="1">
                  <c:v>18.230999999999995</c:v>
                </c:pt>
                <c:pt idx="2">
                  <c:v>22.87100000000001</c:v>
                </c:pt>
                <c:pt idx="3">
                  <c:v>27.15700000000001</c:v>
                </c:pt>
                <c:pt idx="4">
                  <c:v>31.539999999999992</c:v>
                </c:pt>
                <c:pt idx="5">
                  <c:v>35.93199999999999</c:v>
                </c:pt>
                <c:pt idx="6">
                  <c:v>283.897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165.456</c:v>
                </c:pt>
                <c:pt idx="2">
                  <c:v>190.229</c:v>
                </c:pt>
                <c:pt idx="3">
                  <c:v>223.875</c:v>
                </c:pt>
                <c:pt idx="4">
                  <c:v>269.846</c:v>
                </c:pt>
                <c:pt idx="5">
                  <c:v>325.179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165.456</c:v>
                </c:pt>
                <c:pt idx="1">
                  <c:v>24.773000000000025</c:v>
                </c:pt>
                <c:pt idx="2">
                  <c:v>33.64599999999999</c:v>
                </c:pt>
                <c:pt idx="3">
                  <c:v>45.971000000000004</c:v>
                </c:pt>
                <c:pt idx="4">
                  <c:v>55.33299999999997</c:v>
                </c:pt>
                <c:pt idx="5">
                  <c:v>64.74600000000004</c:v>
                </c:pt>
                <c:pt idx="6">
                  <c:v>389.925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136.343</c:v>
                </c:pt>
                <c:pt idx="2">
                  <c:v>156.35</c:v>
                </c:pt>
                <c:pt idx="3">
                  <c:v>183.787</c:v>
                </c:pt>
                <c:pt idx="4">
                  <c:v>218.496</c:v>
                </c:pt>
                <c:pt idx="5">
                  <c:v>259.129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136.343</c:v>
                </c:pt>
                <c:pt idx="1">
                  <c:v>20.007000000000005</c:v>
                </c:pt>
                <c:pt idx="2">
                  <c:v>27.437000000000012</c:v>
                </c:pt>
                <c:pt idx="3">
                  <c:v>34.709</c:v>
                </c:pt>
                <c:pt idx="4">
                  <c:v>40.63300000000001</c:v>
                </c:pt>
                <c:pt idx="5">
                  <c:v>47.28299999999996</c:v>
                </c:pt>
                <c:pt idx="6">
                  <c:v>306.412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Salon and Professional Distribution</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18.887953076028033</c:v>
                </c:pt>
                <c:pt idx="1">
                  <c:v>19.334143870709212</c:v>
                </c:pt>
                <c:pt idx="2">
                  <c:v>18.88581046468392</c:v>
                </c:pt>
              </c:numCache>
            </c:numRef>
          </c:val>
        </c:ser>
        <c:ser>
          <c:idx val="1"/>
          <c:order val="1"/>
          <c:tx>
            <c:strRef>
              <c:f>Sheet1!$C$1</c:f>
              <c:strCache>
                <c:ptCount val="1"/>
                <c:pt idx="0">
                  <c:v>Mass Retail</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21.54330463553715</c:v>
                </c:pt>
                <c:pt idx="1">
                  <c:v>21.22151947483418</c:v>
                </c:pt>
                <c:pt idx="2">
                  <c:v>18.69951841171533</c:v>
                </c:pt>
              </c:numCache>
            </c:numRef>
          </c:val>
        </c:ser>
        <c:ser>
          <c:idx val="2"/>
          <c:order val="2"/>
          <c:tx>
            <c:strRef>
              <c:f>Sheet1!$D$1</c:f>
              <c:strCache>
                <c:ptCount val="1"/>
                <c:pt idx="0">
                  <c:v>Online Marketplaces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16.185782980395206</c:v>
                </c:pt>
                <c:pt idx="1">
                  <c:v>16.13170874863624</c:v>
                </c:pt>
                <c:pt idx="2">
                  <c:v>18.375899001714004</c:v>
                </c:pt>
              </c:numCache>
            </c:numRef>
          </c:val>
        </c:ser>
        <c:ser>
          <c:idx val="3"/>
          <c:order val="3"/>
          <c:tx>
            <c:strRef>
              <c:f>Sheet1!$E$1</c:f>
              <c:strCache>
                <c:ptCount val="1"/>
                <c:pt idx="0">
                  <c:v>Beauty Specialty Retail</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15.908386291833867</c:v>
                </c:pt>
                <c:pt idx="1">
                  <c:v>15.57343244378969</c:v>
                </c:pt>
                <c:pt idx="2">
                  <c:v>16.21942593017606</c:v>
                </c:pt>
              </c:numCache>
            </c:numRef>
          </c:val>
        </c:ser>
        <c:ser>
          <c:idx val="4"/>
          <c:order val="4"/>
          <c:tx>
            <c:strRef>
              <c:f>Sheet1!$F$1</c:f>
              <c:strCache>
                <c:ptCount val="1"/>
                <c:pt idx="0">
                  <c:v>Brand-owned Online Stores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12.95492743126901</c:v>
                </c:pt>
                <c:pt idx="1">
                  <c:v>13.293235457857744</c:v>
                </c:pt>
                <c:pt idx="2">
                  <c:v>14.440202513081207</c:v>
                </c:pt>
              </c:numCache>
            </c:numRef>
          </c:val>
        </c:ser>
        <c:ser>
          <c:idx val="5"/>
          <c:order val="5"/>
          <c:tx>
            <c:strRef>
              <c:f>Sheet1!$G$1</c:f>
              <c:strCache>
                <c:ptCount val="1"/>
                <c:pt idx="0">
                  <c:v>Pharmacies and Drugstores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14.519645584936733</c:v>
                </c:pt>
                <c:pt idx="1">
                  <c:v>14.445960004172937</c:v>
                </c:pt>
                <c:pt idx="2">
                  <c:v>13.379143678629479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Hold and Shape</c:v>
                </c:pt>
              </c:strCache>
            </c:strRef>
          </c:tx>
          <c:spPr>
            <a:solidFill>
              <a:srgbClr val="3D85C6"/>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Sheet1!$B$2:$B$8</c:f>
              <c:numCache>
                <c:formatCode>General</c:formatCode>
                <c:ptCount val="7"/>
                <c:pt idx="0">
                  <c:v>12.89952082201255</c:v>
                </c:pt>
                <c:pt idx="1">
                  <c:v>13.667997560028835</c:v>
                </c:pt>
                <c:pt idx="2">
                  <c:v>12.770702990830557</c:v>
                </c:pt>
                <c:pt idx="3">
                  <c:v>12.576483107209366</c:v>
                </c:pt>
                <c:pt idx="4">
                  <c:v>13.703567578163284</c:v>
                </c:pt>
                <c:pt idx="5">
                  <c:v>12.785088431335263</c:v>
                </c:pt>
                <c:pt idx="6">
                  <c:v>12.808180487186288</c:v>
                </c:pt>
              </c:numCache>
            </c:numRef>
          </c:val>
        </c:ser>
        <c:ser>
          <c:idx val="1"/>
          <c:order val="1"/>
          <c:tx>
            <c:strRef>
              <c:f>Sheet1!$C$1</c:f>
              <c:strCache>
                <c:ptCount val="1"/>
                <c:pt idx="0">
                  <c:v>Curl Definition</c:v>
                </c:pt>
              </c:strCache>
            </c:strRef>
          </c:tx>
          <c:spPr>
            <a:solidFill>
              <a:srgbClr val="9E7E0A"/>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Sheet1!$C$2:$C$8</c:f>
              <c:numCache>
                <c:formatCode>General</c:formatCode>
                <c:ptCount val="7"/>
                <c:pt idx="0">
                  <c:v>15.377537914340762</c:v>
                </c:pt>
                <c:pt idx="1">
                  <c:v>16.41111665650012</c:v>
                </c:pt>
                <c:pt idx="2">
                  <c:v>15.160671817324122</c:v>
                </c:pt>
                <c:pt idx="3">
                  <c:v>20.622173450385745</c:v>
                </c:pt>
                <c:pt idx="4">
                  <c:v>16.374595707144955</c:v>
                </c:pt>
                <c:pt idx="5">
                  <c:v>15.155781085481307</c:v>
                </c:pt>
                <c:pt idx="6">
                  <c:v>19.53587032959432</c:v>
                </c:pt>
              </c:numCache>
            </c:numRef>
          </c:val>
        </c:ser>
        <c:ser>
          <c:idx val="2"/>
          <c:order val="2"/>
          <c:tx>
            <c:strRef>
              <c:f>Sheet1!$D$1</c:f>
              <c:strCache>
                <c:ptCount val="1"/>
                <c:pt idx="0">
                  <c:v>Volume and Root Lift</c:v>
                </c:pt>
              </c:strCache>
            </c:strRef>
          </c:tx>
          <c:spPr>
            <a:solidFill>
              <a:srgbClr val="008189"/>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Sheet1!$D$2:$D$8</c:f>
              <c:numCache>
                <c:formatCode>General</c:formatCode>
                <c:ptCount val="7"/>
                <c:pt idx="0">
                  <c:v>12.524699896260438</c:v>
                </c:pt>
                <c:pt idx="1">
                  <c:v>13.311244200447328</c:v>
                </c:pt>
                <c:pt idx="2">
                  <c:v>12.312448098503063</c:v>
                </c:pt>
                <c:pt idx="3">
                  <c:v>12.113012104283055</c:v>
                </c:pt>
                <c:pt idx="4">
                  <c:v>13.323777320395964</c:v>
                </c:pt>
                <c:pt idx="5">
                  <c:v>12.320319493856422</c:v>
                </c:pt>
                <c:pt idx="6">
                  <c:v>12.42567123571931</c:v>
                </c:pt>
              </c:numCache>
            </c:numRef>
          </c:val>
        </c:ser>
        <c:ser>
          <c:idx val="3"/>
          <c:order val="3"/>
          <c:tx>
            <c:strRef>
              <c:f>Sheet1!$E$1</c:f>
              <c:strCache>
                <c:ptCount val="1"/>
                <c:pt idx="0">
                  <c:v>Texture and Separation</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Sheet1!$E$2:$E$8</c:f>
              <c:numCache>
                <c:formatCode>General</c:formatCode>
                <c:ptCount val="7"/>
                <c:pt idx="0">
                  <c:v>13.189127105666158</c:v>
                </c:pt>
                <c:pt idx="1">
                  <c:v>14.031682655871641</c:v>
                </c:pt>
                <c:pt idx="2">
                  <c:v>12.974613374608158</c:v>
                </c:pt>
                <c:pt idx="3">
                  <c:v>12.77101622772014</c:v>
                </c:pt>
                <c:pt idx="4">
                  <c:v>14.033617563461728</c:v>
                </c:pt>
                <c:pt idx="5">
                  <c:v>12.9799017584222</c:v>
                </c:pt>
                <c:pt idx="6">
                  <c:v>13.085090439574376</c:v>
                </c:pt>
              </c:numCache>
            </c:numRef>
          </c:val>
        </c:ser>
        <c:ser>
          <c:idx val="4"/>
          <c:order val="4"/>
          <c:tx>
            <c:strRef>
              <c:f>Sheet1!$F$1</c:f>
              <c:strCache>
                <c:ptCount val="1"/>
                <c:pt idx="0">
                  <c:v>Smoothing and Frizz Control</c:v>
                </c:pt>
              </c:strCache>
            </c:strRef>
          </c:tx>
          <c:spPr>
            <a:solidFill>
              <a:srgbClr val="A35313"/>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Sheet1!$F$2:$F$8</c:f>
              <c:numCache>
                <c:formatCode>General</c:formatCode>
                <c:ptCount val="7"/>
                <c:pt idx="0">
                  <c:v>18.89542063923332</c:v>
                </c:pt>
                <c:pt idx="1">
                  <c:v>16.674984750180226</c:v>
                </c:pt>
                <c:pt idx="2">
                  <c:v>18.99062186145398</c:v>
                </c:pt>
                <c:pt idx="3">
                  <c:v>15.444183958499606</c:v>
                </c:pt>
                <c:pt idx="4">
                  <c:v>16.664216406939136</c:v>
                </c:pt>
                <c:pt idx="5">
                  <c:v>19.619789323301994</c:v>
                </c:pt>
                <c:pt idx="6">
                  <c:v>15.758966141360112</c:v>
                </c:pt>
              </c:numCache>
            </c:numRef>
          </c:val>
        </c:ser>
        <c:ser>
          <c:idx val="5"/>
          <c:order val="5"/>
          <c:tx>
            <c:strRef>
              <c:f>Sheet1!$G$1</c:f>
              <c:strCache>
                <c:ptCount val="1"/>
                <c:pt idx="0">
                  <c:v>Sleek Styling and Edge Control</c:v>
                </c:pt>
              </c:strCache>
            </c:strRef>
          </c:tx>
          <c:spPr>
            <a:solidFill>
              <a:srgbClr val="808080"/>
            </a:solidFill>
            <a:ln>
              <a:noFill/>
            </a:ln>
          </c:spPr>
          <c:dLbls>
            <c:dLbl>
              <c:idx val="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Sheet1!$G$2:$G$8</c:f>
              <c:numCache>
                <c:formatCode>General</c:formatCode>
                <c:ptCount val="7"/>
                <c:pt idx="0">
                  <c:v>10.192412191868796</c:v>
                </c:pt>
                <c:pt idx="1">
                  <c:v>10.654540749366902</c:v>
                </c:pt>
                <c:pt idx="2">
                  <c:v>9.986826258787929</c:v>
                </c:pt>
                <c:pt idx="3">
                  <c:v>12.287177440808728</c:v>
                </c:pt>
                <c:pt idx="4">
                  <c:v>10.673576399098303</c:v>
                </c:pt>
                <c:pt idx="5">
                  <c:v>9.9955471239523</c:v>
                </c:pt>
                <c:pt idx="6">
                  <c:v>11.885915866409972</c:v>
                </c:pt>
              </c:numCache>
            </c:numRef>
          </c:val>
        </c:ser>
        <c:ser>
          <c:idx val="6"/>
          <c:order val="6"/>
          <c:tx>
            <c:strRef>
              <c:f>Sheet1!$H$1</c:f>
              <c:strCache>
                <c:ptCount val="1"/>
                <c:pt idx="0">
                  <c:v>Heat Styling Support</c:v>
                </c:pt>
              </c:strCache>
            </c:strRef>
          </c:tx>
          <c:spPr>
            <a:solidFill>
              <a:srgbClr val="0E72AE"/>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Sheet1!$H$2:$H$8</c:f>
              <c:numCache>
                <c:formatCode>General</c:formatCode>
                <c:ptCount val="7"/>
                <c:pt idx="0">
                  <c:v>16.92128143061799</c:v>
                </c:pt>
                <c:pt idx="1">
                  <c:v>15.248433427604946</c:v>
                </c:pt>
                <c:pt idx="2">
                  <c:v>17.804115598492196</c:v>
                </c:pt>
                <c:pt idx="3">
                  <c:v>14.185953711093378</c:v>
                </c:pt>
                <c:pt idx="4">
                  <c:v>15.226649024796629</c:v>
                </c:pt>
                <c:pt idx="5">
                  <c:v>17.143572783650527</c:v>
                </c:pt>
                <c:pt idx="6">
                  <c:v>14.500305500155633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8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Hold and Shape</c:v>
                </c:pt>
              </c:strCache>
            </c:strRef>
          </c:tx>
          <c:spPr>
            <a:solidFill>
              <a:srgbClr val="3D85C6"/>
            </a:solidFill>
          </c:spPr>
          <c:invertIfNegative val="0"/>
          <c:xVal>
            <c:numRef>
              <c:f>Sheet1!$A$2:$A$2</c:f>
              <c:numCache>
                <c:formatCode>General</c:formatCode>
                <c:ptCount val="1"/>
                <c:pt idx="0">
                  <c:v>77.71041508617931</c:v>
                </c:pt>
              </c:numCache>
            </c:numRef>
          </c:xVal>
          <c:yVal>
            <c:numRef>
              <c:f>Sheet1!$B$2:$B$2</c:f>
              <c:numCache>
                <c:formatCode>General</c:formatCode>
                <c:ptCount val="1"/>
                <c:pt idx="0">
                  <c:v>106.85373988820845</c:v>
                </c:pt>
              </c:numCache>
            </c:numRef>
          </c:yVal>
          <c:bubbleSize>
            <c:numRef>
              <c:f>Sheet1!$C$2:$C$2</c:f>
              <c:numCache>
                <c:formatCode>General</c:formatCode>
                <c:ptCount val="1"/>
                <c:pt idx="0">
                  <c:v>276.701</c:v>
                </c:pt>
              </c:numCache>
            </c:numRef>
          </c:bubbleSize>
          <c:bubble3D val="0"/>
        </c:ser>
        <c:ser>
          <c:idx val="1"/>
          <c:order val="1"/>
          <c:tx>
            <c:strRef>
              <c:f>Sheet1!$B$4</c:f>
              <c:strCache>
                <c:ptCount val="1"/>
                <c:pt idx="0">
                  <c:v>Curl Definition</c:v>
                </c:pt>
              </c:strCache>
            </c:strRef>
          </c:tx>
          <c:spPr>
            <a:solidFill>
              <a:srgbClr val="9E7E0A"/>
            </a:solidFill>
          </c:spPr>
          <c:invertIfNegative val="0"/>
          <c:xVal>
            <c:numRef>
              <c:f>Sheet1!$A$5:$A$5</c:f>
              <c:numCache>
                <c:formatCode>General</c:formatCode>
                <c:ptCount val="1"/>
                <c:pt idx="0">
                  <c:v>119.94427142870873</c:v>
                </c:pt>
              </c:numCache>
            </c:numRef>
          </c:xVal>
          <c:yVal>
            <c:numRef>
              <c:f>Sheet1!$B$5:$B$5</c:f>
              <c:numCache>
                <c:formatCode>General</c:formatCode>
                <c:ptCount val="1"/>
                <c:pt idx="0">
                  <c:v>103.87809203643708</c:v>
                </c:pt>
              </c:numCache>
            </c:numRef>
          </c:yVal>
          <c:bubbleSize>
            <c:numRef>
              <c:f>Sheet1!$C$5:$C$5</c:f>
              <c:numCache>
                <c:formatCode>General</c:formatCode>
                <c:ptCount val="1"/>
                <c:pt idx="0">
                  <c:v>361.804</c:v>
                </c:pt>
              </c:numCache>
            </c:numRef>
          </c:bubbleSize>
          <c:bubble3D val="0"/>
        </c:ser>
        <c:ser>
          <c:idx val="2"/>
          <c:order val="2"/>
          <c:tx>
            <c:strRef>
              <c:f>Sheet1!$B$7</c:f>
              <c:strCache>
                <c:ptCount val="1"/>
                <c:pt idx="0">
                  <c:v>Volume and Root Lift</c:v>
                </c:pt>
              </c:strCache>
            </c:strRef>
          </c:tx>
          <c:spPr>
            <a:solidFill>
              <a:srgbClr val="008189"/>
            </a:solidFill>
          </c:spPr>
          <c:invertIfNegative val="0"/>
          <c:xVal>
            <c:numRef>
              <c:f>Sheet1!$A$8:$A$8</c:f>
              <c:numCache>
                <c:formatCode>General</c:formatCode>
                <c:ptCount val="1"/>
                <c:pt idx="0">
                  <c:v>91.06218021716991</c:v>
                </c:pt>
              </c:numCache>
            </c:numRef>
          </c:xVal>
          <c:yVal>
            <c:numRef>
              <c:f>Sheet1!$B$8:$B$8</c:f>
              <c:numCache>
                <c:formatCode>General</c:formatCode>
                <c:ptCount val="1"/>
                <c:pt idx="0">
                  <c:v>94.12533795345236</c:v>
                </c:pt>
              </c:numCache>
            </c:numRef>
          </c:yVal>
          <c:bubbleSize>
            <c:numRef>
              <c:f>Sheet1!$C$8:$C$8</c:f>
              <c:numCache>
                <c:formatCode>General</c:formatCode>
                <c:ptCount val="1"/>
                <c:pt idx="0">
                  <c:v>267.94</c:v>
                </c:pt>
              </c:numCache>
            </c:numRef>
          </c:bubbleSize>
          <c:bubble3D val="0"/>
        </c:ser>
        <c:ser>
          <c:idx val="3"/>
          <c:order val="3"/>
          <c:tx>
            <c:strRef>
              <c:f>Sheet1!$B$10</c:f>
              <c:strCache>
                <c:ptCount val="1"/>
                <c:pt idx="0">
                  <c:v>Texture and Separation</c:v>
                </c:pt>
              </c:strCache>
            </c:strRef>
          </c:tx>
          <c:spPr>
            <a:solidFill>
              <a:srgbClr val="40315E"/>
            </a:solidFill>
          </c:spPr>
          <c:invertIfNegative val="0"/>
          <c:xVal>
            <c:numRef>
              <c:f>Sheet1!$A$11:$A$11</c:f>
              <c:numCache>
                <c:formatCode>General</c:formatCode>
                <c:ptCount val="1"/>
                <c:pt idx="0">
                  <c:v>98.31431175266934</c:v>
                </c:pt>
              </c:numCache>
            </c:numRef>
          </c:xVal>
          <c:yVal>
            <c:numRef>
              <c:f>Sheet1!$B$11:$B$11</c:f>
              <c:numCache>
                <c:formatCode>General</c:formatCode>
                <c:ptCount val="1"/>
                <c:pt idx="0">
                  <c:v>94.22907613544074</c:v>
                </c:pt>
              </c:numCache>
            </c:numRef>
          </c:yVal>
          <c:bubbleSize>
            <c:numRef>
              <c:f>Sheet1!$C$11:$C$11</c:f>
              <c:numCache>
                <c:formatCode>General</c:formatCode>
                <c:ptCount val="1"/>
                <c:pt idx="0">
                  <c:v>282.282</c:v>
                </c:pt>
              </c:numCache>
            </c:numRef>
          </c:bubbleSize>
          <c:bubble3D val="0"/>
        </c:ser>
        <c:ser>
          <c:idx val="4"/>
          <c:order val="4"/>
          <c:tx>
            <c:strRef>
              <c:f>Sheet1!$B$13</c:f>
              <c:strCache>
                <c:ptCount val="1"/>
                <c:pt idx="0">
                  <c:v>Smoothing and Frizz Control</c:v>
                </c:pt>
              </c:strCache>
            </c:strRef>
          </c:tx>
          <c:spPr>
            <a:solidFill>
              <a:srgbClr val="A35313"/>
            </a:solidFill>
          </c:spPr>
          <c:invertIfNegative val="0"/>
          <c:xVal>
            <c:numRef>
              <c:f>Sheet1!$A$14:$A$14</c:f>
              <c:numCache>
                <c:formatCode>General</c:formatCode>
                <c:ptCount val="1"/>
                <c:pt idx="0">
                  <c:v>107.3055443817623</c:v>
                </c:pt>
              </c:numCache>
            </c:numRef>
          </c:xVal>
          <c:yVal>
            <c:numRef>
              <c:f>Sheet1!$B$14:$B$14</c:f>
              <c:numCache>
                <c:formatCode>General</c:formatCode>
                <c:ptCount val="1"/>
                <c:pt idx="0">
                  <c:v>115.50086334736984</c:v>
                </c:pt>
              </c:numCache>
            </c:numRef>
          </c:yVal>
          <c:bubbleSize>
            <c:numRef>
              <c:f>Sheet1!$C$14:$C$14</c:f>
              <c:numCache>
                <c:formatCode>General</c:formatCode>
                <c:ptCount val="1"/>
                <c:pt idx="0">
                  <c:v>368.477</c:v>
                </c:pt>
              </c:numCache>
            </c:numRef>
          </c:bubbleSize>
          <c:bubble3D val="0"/>
        </c:ser>
        <c:ser>
          <c:idx val="5"/>
          <c:order val="5"/>
          <c:tx>
            <c:strRef>
              <c:f>Sheet1!$B$16</c:f>
              <c:strCache>
                <c:ptCount val="1"/>
                <c:pt idx="0">
                  <c:v>Sleek Styling and Edge Control</c:v>
                </c:pt>
              </c:strCache>
            </c:strRef>
          </c:tx>
          <c:spPr>
            <a:solidFill>
              <a:srgbClr val="808080"/>
            </a:solidFill>
          </c:spPr>
          <c:invertIfNegative val="0"/>
          <c:xVal>
            <c:numRef>
              <c:f>Sheet1!$A$17:$A$17</c:f>
              <c:numCache>
                <c:formatCode>General</c:formatCode>
                <c:ptCount val="1"/>
                <c:pt idx="0">
                  <c:v>85.02397338084205</c:v>
                </c:pt>
              </c:numCache>
            </c:numRef>
          </c:xVal>
          <c:yVal>
            <c:numRef>
              <c:f>Sheet1!$B$17:$B$17</c:f>
              <c:numCache>
                <c:formatCode>General</c:formatCode>
                <c:ptCount val="1"/>
                <c:pt idx="0">
                  <c:v>84.43332530597402</c:v>
                </c:pt>
              </c:numCache>
            </c:numRef>
          </c:yVal>
          <c:bubbleSize>
            <c:numRef>
              <c:f>Sheet1!$C$17:$C$17</c:f>
              <c:numCache>
                <c:formatCode>General</c:formatCode>
                <c:ptCount val="1"/>
                <c:pt idx="0">
                  <c:v>230.304</c:v>
                </c:pt>
              </c:numCache>
            </c:numRef>
          </c:bubbleSize>
          <c:bubble3D val="0"/>
        </c:ser>
        <c:ser>
          <c:idx val="6"/>
          <c:order val="6"/>
          <c:tx>
            <c:strRef>
              <c:f>Sheet1!$B$19</c:f>
              <c:strCache>
                <c:ptCount val="1"/>
                <c:pt idx="0">
                  <c:v>Heat Styling Support</c:v>
                </c:pt>
              </c:strCache>
            </c:strRef>
          </c:tx>
          <c:spPr>
            <a:solidFill>
              <a:srgbClr val="0E72AE"/>
            </a:solidFill>
          </c:spPr>
          <c:invertIfNegative val="0"/>
          <c:xVal>
            <c:numRef>
              <c:f>Sheet1!$A$20:$A$20</c:f>
              <c:numCache>
                <c:formatCode>General</c:formatCode>
                <c:ptCount val="1"/>
                <c:pt idx="0">
                  <c:v>112.67795183125745</c:v>
                </c:pt>
              </c:numCache>
            </c:numRef>
          </c:xVal>
          <c:yVal>
            <c:numRef>
              <c:f>Sheet1!$B$20:$B$20</c:f>
              <c:numCache>
                <c:formatCode>General</c:formatCode>
                <c:ptCount val="1"/>
                <c:pt idx="0">
                  <c:v>100.97956533311753</c:v>
                </c:pt>
              </c:numCache>
            </c:numRef>
          </c:yVal>
          <c:bubbleSize>
            <c:numRef>
              <c:f>Sheet1!$C$20:$C$20</c:f>
              <c:numCache>
                <c:formatCode>General</c:formatCode>
                <c:ptCount val="1"/>
                <c:pt idx="0">
                  <c:v>334.43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6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156.565</c:v>
                </c:pt>
                <c:pt idx="2">
                  <c:v>173.991</c:v>
                </c:pt>
                <c:pt idx="3">
                  <c:v>195.352</c:v>
                </c:pt>
                <c:pt idx="4">
                  <c:v>218.955</c:v>
                </c:pt>
                <c:pt idx="5">
                  <c:v>246.265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156.565</c:v>
                </c:pt>
                <c:pt idx="1">
                  <c:v>17.426000000000016</c:v>
                </c:pt>
                <c:pt idx="2">
                  <c:v>21.36099999999999</c:v>
                </c:pt>
                <c:pt idx="3">
                  <c:v>23.60300000000001</c:v>
                </c:pt>
                <c:pt idx="4">
                  <c:v>27.309999999999974</c:v>
                </c:pt>
                <c:pt idx="5">
                  <c:v>30.436000000000035</c:v>
                </c:pt>
                <c:pt idx="6">
                  <c:v>276.701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152.205</c:v>
                </c:pt>
                <c:pt idx="2">
                  <c:v>175.645</c:v>
                </c:pt>
                <c:pt idx="3">
                  <c:v>207.469</c:v>
                </c:pt>
                <c:pt idx="4">
                  <c:v>250.496</c:v>
                </c:pt>
                <c:pt idx="5">
                  <c:v>301.864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152.205</c:v>
                </c:pt>
                <c:pt idx="1">
                  <c:v>23.439999999999998</c:v>
                </c:pt>
                <c:pt idx="2">
                  <c:v>31.823999999999984</c:v>
                </c:pt>
                <c:pt idx="3">
                  <c:v>43.027000000000015</c:v>
                </c:pt>
                <c:pt idx="4">
                  <c:v>51.36799999999997</c:v>
                </c:pt>
                <c:pt idx="5">
                  <c:v>59.94</c:v>
                </c:pt>
                <c:pt idx="6">
                  <c:v>361.804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137.915</c:v>
                </c:pt>
                <c:pt idx="2">
                  <c:v>156.586</c:v>
                </c:pt>
                <c:pt idx="3">
                  <c:v>179.027</c:v>
                </c:pt>
                <c:pt idx="4">
                  <c:v>205.004</c:v>
                </c:pt>
                <c:pt idx="5">
                  <c:v>234.594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137.915</c:v>
                </c:pt>
                <c:pt idx="1">
                  <c:v>18.67100000000002</c:v>
                </c:pt>
                <c:pt idx="2">
                  <c:v>22.440999999999974</c:v>
                </c:pt>
                <c:pt idx="3">
                  <c:v>25.977000000000004</c:v>
                </c:pt>
                <c:pt idx="4">
                  <c:v>29.590000000000003</c:v>
                </c:pt>
                <c:pt idx="5">
                  <c:v>33.346000000000004</c:v>
                </c:pt>
                <c:pt idx="6">
                  <c:v>267.94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138.067</c:v>
                </c:pt>
                <c:pt idx="2">
                  <c:v>157.726</c:v>
                </c:pt>
                <c:pt idx="3">
                  <c:v>182.043</c:v>
                </c:pt>
                <c:pt idx="4">
                  <c:v>210.35</c:v>
                </c:pt>
                <c:pt idx="5">
                  <c:v>243.793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138.067</c:v>
                </c:pt>
                <c:pt idx="1">
                  <c:v>19.658999999999992</c:v>
                </c:pt>
                <c:pt idx="2">
                  <c:v>24.317000000000007</c:v>
                </c:pt>
                <c:pt idx="3">
                  <c:v>28.306999999999988</c:v>
                </c:pt>
                <c:pt idx="4">
                  <c:v>33.44300000000001</c:v>
                </c:pt>
                <c:pt idx="5">
                  <c:v>38.488999999999976</c:v>
                </c:pt>
                <c:pt idx="6">
                  <c:v>282.282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169.235</c:v>
                </c:pt>
                <c:pt idx="2">
                  <c:v>191.263</c:v>
                </c:pt>
                <c:pt idx="3">
                  <c:v>222.15</c:v>
                </c:pt>
                <c:pt idx="4">
                  <c:v>262.128</c:v>
                </c:pt>
                <c:pt idx="5">
                  <c:v>310.967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169.235</c:v>
                </c:pt>
                <c:pt idx="1">
                  <c:v>22.02799999999999</c:v>
                </c:pt>
                <c:pt idx="2">
                  <c:v>30.887</c:v>
                </c:pt>
                <c:pt idx="3">
                  <c:v>39.97799999999998</c:v>
                </c:pt>
                <c:pt idx="4">
                  <c:v>48.839</c:v>
                </c:pt>
                <c:pt idx="5">
                  <c:v>57.50999999999999</c:v>
                </c:pt>
                <c:pt idx="6">
                  <c:v>368.477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123.714</c:v>
                </c:pt>
                <c:pt idx="2">
                  <c:v>138.027</c:v>
                </c:pt>
                <c:pt idx="3">
                  <c:v>156.735</c:v>
                </c:pt>
                <c:pt idx="4">
                  <c:v>178.927</c:v>
                </c:pt>
                <c:pt idx="5">
                  <c:v>203.211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123.714</c:v>
                </c:pt>
                <c:pt idx="1">
                  <c:v>14.312999999999988</c:v>
                </c:pt>
                <c:pt idx="2">
                  <c:v>18.708000000000027</c:v>
                </c:pt>
                <c:pt idx="3">
                  <c:v>22.19199999999998</c:v>
                </c:pt>
                <c:pt idx="4">
                  <c:v>24.28400000000002</c:v>
                </c:pt>
                <c:pt idx="5">
                  <c:v>27.09299999999999</c:v>
                </c:pt>
                <c:pt idx="6">
                  <c:v>230.304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147.958</c:v>
                </c:pt>
                <c:pt idx="2">
                  <c:v>169.641</c:v>
                </c:pt>
                <c:pt idx="3">
                  <c:v>197.687</c:v>
                </c:pt>
                <c:pt idx="4">
                  <c:v>234.481</c:v>
                </c:pt>
                <c:pt idx="5">
                  <c:v>280.372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147.958</c:v>
                </c:pt>
                <c:pt idx="1">
                  <c:v>21.682999999999993</c:v>
                </c:pt>
                <c:pt idx="2">
                  <c:v>28.04600000000002</c:v>
                </c:pt>
                <c:pt idx="3">
                  <c:v>36.79399999999998</c:v>
                </c:pt>
                <c:pt idx="4">
                  <c:v>45.89100000000002</c:v>
                </c:pt>
                <c:pt idx="5">
                  <c:v>54.05799999999999</c:v>
                </c:pt>
                <c:pt idx="6">
                  <c:v>334.43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Smoothing and Frizz Control</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17.136233324798038</c:v>
                </c:pt>
                <c:pt idx="1">
                  <c:v>16.50012333533855</c:v>
                </c:pt>
                <c:pt idx="2">
                  <c:v>17.365116228655122</c:v>
                </c:pt>
              </c:numCache>
            </c:numRef>
          </c:val>
        </c:ser>
        <c:ser>
          <c:idx val="1"/>
          <c:order val="1"/>
          <c:tx>
            <c:strRef>
              <c:f>Sheet1!$C$1</c:f>
              <c:strCache>
                <c:ptCount val="1"/>
                <c:pt idx="0">
                  <c:v>Curl Definition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14.745723566949334</c:v>
                </c:pt>
                <c:pt idx="1">
                  <c:v>14.839727433776723</c:v>
                </c:pt>
                <c:pt idx="2">
                  <c:v>17.050639556857927</c:v>
                </c:pt>
              </c:numCache>
            </c:numRef>
          </c:val>
        </c:ser>
        <c:ser>
          <c:idx val="2"/>
          <c:order val="2"/>
          <c:tx>
            <c:strRef>
              <c:f>Sheet1!$D$1</c:f>
              <c:strCache>
                <c:ptCount val="1"/>
                <c:pt idx="0">
                  <c:v>Heat Styling Support</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14.025746461618793</c:v>
                </c:pt>
                <c:pt idx="1">
                  <c:v>14.425652190445362</c:v>
                </c:pt>
                <c:pt idx="2">
                  <c:v>15.760592439552898</c:v>
                </c:pt>
              </c:numCache>
            </c:numRef>
          </c:val>
        </c:ser>
        <c:ser>
          <c:idx val="3"/>
          <c:order val="3"/>
          <c:tx>
            <c:strRef>
              <c:f>Sheet1!$E$1</c:f>
              <c:strCache>
                <c:ptCount val="1"/>
                <c:pt idx="0">
                  <c:v>Texture and Separation</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12.942893866136473</c:v>
                </c:pt>
                <c:pt idx="1">
                  <c:v>13.461296590777247</c:v>
                </c:pt>
                <c:pt idx="2">
                  <c:v>13.303027703919717</c:v>
                </c:pt>
              </c:numCache>
            </c:numRef>
          </c:val>
        </c:ser>
        <c:ser>
          <c:idx val="4"/>
          <c:order val="4"/>
          <c:tx>
            <c:strRef>
              <c:f>Sheet1!$F$1</c:f>
              <c:strCache>
                <c:ptCount val="1"/>
                <c:pt idx="0">
                  <c:v>Hold and Shape</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15.561973761503817</c:v>
                </c:pt>
                <c:pt idx="1">
                  <c:v>15.26481998402978</c:v>
                </c:pt>
                <c:pt idx="2">
                  <c:v>13.040013421692812</c:v>
                </c:pt>
              </c:numCache>
            </c:numRef>
          </c:val>
        </c:ser>
        <c:ser>
          <c:idx val="5"/>
          <c:order val="5"/>
          <c:tx>
            <c:strRef>
              <c:f>Sheet1!$G$1</c:f>
              <c:strCache>
                <c:ptCount val="1"/>
                <c:pt idx="0">
                  <c:v>Volume and Root Lift</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13.271251625471322</c:v>
                </c:pt>
                <c:pt idx="1">
                  <c:v>13.446476850493195</c:v>
                </c:pt>
                <c:pt idx="2">
                  <c:v>12.627136136871107</c:v>
                </c:pt>
              </c:numCache>
            </c:numRef>
          </c:val>
        </c:ser>
        <c:ser>
          <c:idx val="6"/>
          <c:order val="6"/>
          <c:tx>
            <c:strRef>
              <c:f>Sheet1!$H$1</c:f>
              <c:strCache>
                <c:ptCount val="1"/>
                <c:pt idx="0">
                  <c:v>Sleek Styling and Edge Control</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12.316177393522214</c:v>
                </c:pt>
                <c:pt idx="1">
                  <c:v>12.061903615139144</c:v>
                </c:pt>
                <c:pt idx="2">
                  <c:v>10.85347451245041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Straight Hair</c:v>
                </c:pt>
              </c:strCache>
            </c:strRef>
          </c:tx>
          <c:spPr>
            <a:solidFill>
              <a:srgbClr val="3D85C6"/>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Sheet1!$B$2:$B$8</c:f>
              <c:numCache>
                <c:formatCode>General</c:formatCode>
                <c:ptCount val="7"/>
                <c:pt idx="0">
                  <c:v>19.06831991305636</c:v>
                </c:pt>
                <c:pt idx="1">
                  <c:v>19.02891444890641</c:v>
                </c:pt>
                <c:pt idx="2">
                  <c:v>19.040538425418685</c:v>
                </c:pt>
                <c:pt idx="3">
                  <c:v>16.690221050968916</c:v>
                </c:pt>
                <c:pt idx="4">
                  <c:v>19.059298590369032</c:v>
                </c:pt>
                <c:pt idx="5">
                  <c:v>19.04954068013201</c:v>
                </c:pt>
                <c:pt idx="6">
                  <c:v>17.773422639290775</c:v>
                </c:pt>
              </c:numCache>
            </c:numRef>
          </c:val>
        </c:ser>
        <c:ser>
          <c:idx val="1"/>
          <c:order val="1"/>
          <c:tx>
            <c:strRef>
              <c:f>Sheet1!$C$1</c:f>
              <c:strCache>
                <c:ptCount val="1"/>
                <c:pt idx="0">
                  <c:v>Wavy Hair</c:v>
                </c:pt>
              </c:strCache>
            </c:strRef>
          </c:tx>
          <c:spPr>
            <a:solidFill>
              <a:srgbClr val="9E7E0A"/>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Sheet1!$C$2:$C$8</c:f>
              <c:numCache>
                <c:formatCode>General</c:formatCode>
                <c:ptCount val="7"/>
                <c:pt idx="0">
                  <c:v>20.14647038482438</c:v>
                </c:pt>
                <c:pt idx="1">
                  <c:v>20.146767284204493</c:v>
                </c:pt>
                <c:pt idx="2">
                  <c:v>20.14660614598007</c:v>
                </c:pt>
                <c:pt idx="3">
                  <c:v>17.564781484591276</c:v>
                </c:pt>
                <c:pt idx="4">
                  <c:v>20.146721192979534</c:v>
                </c:pt>
                <c:pt idx="5">
                  <c:v>20.146759713438207</c:v>
                </c:pt>
                <c:pt idx="6">
                  <c:v>18.7187438755865</c:v>
                </c:pt>
              </c:numCache>
            </c:numRef>
          </c:val>
        </c:ser>
        <c:ser>
          <c:idx val="2"/>
          <c:order val="2"/>
          <c:tx>
            <c:strRef>
              <c:f>Sheet1!$D$1</c:f>
              <c:strCache>
                <c:ptCount val="1"/>
                <c:pt idx="0">
                  <c:v>Curly Hair</c:v>
                </c:pt>
              </c:strCache>
            </c:strRef>
          </c:tx>
          <c:spPr>
            <a:solidFill>
              <a:srgbClr val="008189"/>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Sheet1!$D$2:$D$8</c:f>
              <c:numCache>
                <c:formatCode>General</c:formatCode>
                <c:ptCount val="7"/>
                <c:pt idx="0">
                  <c:v>20.154497851109024</c:v>
                </c:pt>
                <c:pt idx="1">
                  <c:v>20.17495621473496</c:v>
                </c:pt>
                <c:pt idx="2">
                  <c:v>20.168779673396983</c:v>
                </c:pt>
                <c:pt idx="3">
                  <c:v>22.384839844042265</c:v>
                </c:pt>
                <c:pt idx="4">
                  <c:v>20.159217486970775</c:v>
                </c:pt>
                <c:pt idx="5">
                  <c:v>20.16415380084002</c:v>
                </c:pt>
                <c:pt idx="6">
                  <c:v>18.763704275849346</c:v>
                </c:pt>
              </c:numCache>
            </c:numRef>
          </c:val>
        </c:ser>
        <c:ser>
          <c:idx val="3"/>
          <c:order val="3"/>
          <c:tx>
            <c:strRef>
              <c:f>Sheet1!$E$1</c:f>
              <c:strCache>
                <c:ptCount val="1"/>
                <c:pt idx="0">
                  <c:v>Coily Hair</c:v>
                </c:pt>
              </c:strCache>
            </c:strRef>
          </c:tx>
          <c:spPr>
            <a:solidFill>
              <a:srgbClr val="40315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Sheet1!$E$2:$E$8</c:f>
              <c:numCache>
                <c:formatCode>General</c:formatCode>
                <c:ptCount val="7"/>
                <c:pt idx="0">
                  <c:v>19.88032900261819</c:v>
                </c:pt>
                <c:pt idx="1">
                  <c:v>19.92033161273031</c:v>
                </c:pt>
                <c:pt idx="2">
                  <c:v>19.908784195057475</c:v>
                </c:pt>
                <c:pt idx="3">
                  <c:v>24.911671058866563</c:v>
                </c:pt>
                <c:pt idx="4">
                  <c:v>19.88919952661098</c:v>
                </c:pt>
                <c:pt idx="5">
                  <c:v>19.899299830001784</c:v>
                </c:pt>
                <c:pt idx="6">
                  <c:v>25.266592116943148</c:v>
                </c:pt>
              </c:numCache>
            </c:numRef>
          </c:val>
        </c:ser>
        <c:ser>
          <c:idx val="4"/>
          <c:order val="4"/>
          <c:tx>
            <c:strRef>
              <c:f>Sheet1!$F$1</c:f>
              <c:strCache>
                <c:ptCount val="1"/>
                <c:pt idx="0">
                  <c:v>All Hair Types</c:v>
                </c:pt>
              </c:strCache>
            </c:strRef>
          </c:tx>
          <c:spPr>
            <a:solidFill>
              <a:srgbClr val="A35313"/>
            </a:solidFill>
            <a:ln>
              <a:noFill/>
            </a:ln>
          </c:spPr>
          <c:dLbls>
            <c:dLbl>
              <c:idx val="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Sheet1!$F$2:$F$8</c:f>
              <c:numCache>
                <c:formatCode>General</c:formatCode>
                <c:ptCount val="7"/>
                <c:pt idx="0">
                  <c:v>20.750382848392036</c:v>
                </c:pt>
                <c:pt idx="1">
                  <c:v>20.729030439423838</c:v>
                </c:pt>
                <c:pt idx="2">
                  <c:v>20.73529156014678</c:v>
                </c:pt>
                <c:pt idx="3">
                  <c:v>18.44848656153098</c:v>
                </c:pt>
                <c:pt idx="4">
                  <c:v>20.74556320306968</c:v>
                </c:pt>
                <c:pt idx="5">
                  <c:v>20.740245975587975</c:v>
                </c:pt>
                <c:pt idx="6">
                  <c:v>19.477537092330216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9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Straight Hair</c:v>
                </c:pt>
              </c:strCache>
            </c:strRef>
          </c:tx>
          <c:spPr>
            <a:solidFill>
              <a:srgbClr val="3D85C6"/>
            </a:solidFill>
          </c:spPr>
          <c:invertIfNegative val="0"/>
          <c:xVal>
            <c:numRef>
              <c:f>Sheet1!$A$2:$A$2</c:f>
              <c:numCache>
                <c:formatCode>General</c:formatCode>
                <c:ptCount val="1"/>
                <c:pt idx="0">
                  <c:v>85.73054931818298</c:v>
                </c:pt>
              </c:numCache>
            </c:numRef>
          </c:xVal>
          <c:yVal>
            <c:numRef>
              <c:f>Sheet1!$B$2:$B$2</c:f>
              <c:numCache>
                <c:formatCode>General</c:formatCode>
                <c:ptCount val="1"/>
                <c:pt idx="0">
                  <c:v>102.40401771350682</c:v>
                </c:pt>
              </c:numCache>
            </c:numRef>
          </c:yVal>
          <c:bubbleSize>
            <c:numRef>
              <c:f>Sheet1!$C$2:$C$2</c:f>
              <c:numCache>
                <c:formatCode>General</c:formatCode>
                <c:ptCount val="1"/>
                <c:pt idx="0">
                  <c:v>393.013</c:v>
                </c:pt>
              </c:numCache>
            </c:numRef>
          </c:bubbleSize>
          <c:bubble3D val="0"/>
        </c:ser>
        <c:ser>
          <c:idx val="1"/>
          <c:order val="1"/>
          <c:tx>
            <c:strRef>
              <c:f>Sheet1!$B$4</c:f>
              <c:strCache>
                <c:ptCount val="1"/>
                <c:pt idx="0">
                  <c:v>Wavy Hair</c:v>
                </c:pt>
              </c:strCache>
            </c:strRef>
          </c:tx>
          <c:spPr>
            <a:solidFill>
              <a:srgbClr val="9E7E0A"/>
            </a:solidFill>
          </c:spPr>
          <c:invertIfNegative val="0"/>
          <c:xVal>
            <c:numRef>
              <c:f>Sheet1!$A$5:$A$5</c:f>
              <c:numCache>
                <c:formatCode>General</c:formatCode>
                <c:ptCount val="1"/>
                <c:pt idx="0">
                  <c:v>99.0413106508008</c:v>
                </c:pt>
              </c:numCache>
            </c:numRef>
          </c:xVal>
          <c:yVal>
            <c:numRef>
              <c:f>Sheet1!$B$5:$B$5</c:f>
              <c:numCache>
                <c:formatCode>General</c:formatCode>
                <c:ptCount val="1"/>
                <c:pt idx="0">
                  <c:v>98.47044531413005</c:v>
                </c:pt>
              </c:numCache>
            </c:numRef>
          </c:yVal>
          <c:bubbleSize>
            <c:numRef>
              <c:f>Sheet1!$C$5:$C$5</c:f>
              <c:numCache>
                <c:formatCode>General</c:formatCode>
                <c:ptCount val="1"/>
                <c:pt idx="0">
                  <c:v>415.096</c:v>
                </c:pt>
              </c:numCache>
            </c:numRef>
          </c:bubbleSize>
          <c:bubble3D val="0"/>
        </c:ser>
        <c:ser>
          <c:idx val="2"/>
          <c:order val="2"/>
          <c:tx>
            <c:strRef>
              <c:f>Sheet1!$B$7</c:f>
              <c:strCache>
                <c:ptCount val="1"/>
                <c:pt idx="0">
                  <c:v>Curly Hair</c:v>
                </c:pt>
              </c:strCache>
            </c:strRef>
          </c:tx>
          <c:spPr>
            <a:solidFill>
              <a:srgbClr val="008189"/>
            </a:solidFill>
          </c:spPr>
          <c:invertIfNegative val="0"/>
          <c:xVal>
            <c:numRef>
              <c:f>Sheet1!$A$8:$A$8</c:f>
              <c:numCache>
                <c:formatCode>General</c:formatCode>
                <c:ptCount val="1"/>
                <c:pt idx="0">
                  <c:v>107.99642358193266</c:v>
                </c:pt>
              </c:numCache>
            </c:numRef>
          </c:xVal>
          <c:yVal>
            <c:numRef>
              <c:f>Sheet1!$B$8:$B$8</c:f>
              <c:numCache>
                <c:formatCode>General</c:formatCode>
                <c:ptCount val="1"/>
                <c:pt idx="0">
                  <c:v>95.17499985375241</c:v>
                </c:pt>
              </c:numCache>
            </c:numRef>
          </c:yVal>
          <c:bubbleSize>
            <c:numRef>
              <c:f>Sheet1!$C$8:$C$8</c:f>
              <c:numCache>
                <c:formatCode>General</c:formatCode>
                <c:ptCount val="1"/>
                <c:pt idx="0">
                  <c:v>427.139</c:v>
                </c:pt>
              </c:numCache>
            </c:numRef>
          </c:bubbleSize>
          <c:bubble3D val="0"/>
        </c:ser>
        <c:ser>
          <c:idx val="3"/>
          <c:order val="3"/>
          <c:tx>
            <c:strRef>
              <c:f>Sheet1!$B$10</c:f>
              <c:strCache>
                <c:ptCount val="1"/>
                <c:pt idx="0">
                  <c:v>Coily Hair</c:v>
                </c:pt>
              </c:strCache>
            </c:strRef>
          </c:tx>
          <c:spPr>
            <a:solidFill>
              <a:srgbClr val="40315E"/>
            </a:solidFill>
          </c:spPr>
          <c:invertIfNegative val="0"/>
          <c:xVal>
            <c:numRef>
              <c:f>Sheet1!$A$11:$A$11</c:f>
              <c:numCache>
                <c:formatCode>General</c:formatCode>
                <c:ptCount val="1"/>
                <c:pt idx="0">
                  <c:v>114.38277694517673</c:v>
                </c:pt>
              </c:numCache>
            </c:numRef>
          </c:xVal>
          <c:yVal>
            <c:numRef>
              <c:f>Sheet1!$B$11:$B$11</c:f>
              <c:numCache>
                <c:formatCode>General</c:formatCode>
                <c:ptCount val="1"/>
                <c:pt idx="0">
                  <c:v>97.52763591762555</c:v>
                </c:pt>
              </c:numCache>
            </c:numRef>
          </c:yVal>
          <c:bubbleSize>
            <c:numRef>
              <c:f>Sheet1!$C$11:$C$11</c:f>
              <c:numCache>
                <c:formatCode>General</c:formatCode>
                <c:ptCount val="1"/>
                <c:pt idx="0">
                  <c:v>457.584</c:v>
                </c:pt>
              </c:numCache>
            </c:numRef>
          </c:bubbleSize>
          <c:bubble3D val="0"/>
        </c:ser>
        <c:ser>
          <c:idx val="4"/>
          <c:order val="4"/>
          <c:tx>
            <c:strRef>
              <c:f>Sheet1!$B$13</c:f>
              <c:strCache>
                <c:ptCount val="1"/>
                <c:pt idx="0">
                  <c:v>All Hair Types</c:v>
                </c:pt>
              </c:strCache>
            </c:strRef>
          </c:tx>
          <c:spPr>
            <a:solidFill>
              <a:srgbClr val="A35313"/>
            </a:solidFill>
          </c:spPr>
          <c:invertIfNegative val="0"/>
          <c:xVal>
            <c:numRef>
              <c:f>Sheet1!$A$14:$A$14</c:f>
              <c:numCache>
                <c:formatCode>General</c:formatCode>
                <c:ptCount val="1"/>
                <c:pt idx="0">
                  <c:v>92.71828793447176</c:v>
                </c:pt>
              </c:numCache>
            </c:numRef>
          </c:xVal>
          <c:yVal>
            <c:numRef>
              <c:f>Sheet1!$B$14:$B$14</c:f>
              <c:numCache>
                <c:formatCode>General</c:formatCode>
                <c:ptCount val="1"/>
                <c:pt idx="0">
                  <c:v>106.4229012009851</c:v>
                </c:pt>
              </c:numCache>
            </c:numRef>
          </c:yVal>
          <c:bubbleSize>
            <c:numRef>
              <c:f>Sheet1!$C$14:$C$14</c:f>
              <c:numCache>
                <c:formatCode>General</c:formatCode>
                <c:ptCount val="1"/>
                <c:pt idx="0">
                  <c:v>429.108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210.063</c:v>
                </c:pt>
                <c:pt idx="2">
                  <c:v>235.48</c:v>
                </c:pt>
                <c:pt idx="3">
                  <c:v>267.217</c:v>
                </c:pt>
                <c:pt idx="4">
                  <c:v>303.209</c:v>
                </c:pt>
                <c:pt idx="5">
                  <c:v>345.437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210.063</c:v>
                </c:pt>
                <c:pt idx="1">
                  <c:v>25.417</c:v>
                </c:pt>
                <c:pt idx="2">
                  <c:v>31.736999999999995</c:v>
                </c:pt>
                <c:pt idx="3">
                  <c:v>35.99200000000002</c:v>
                </c:pt>
                <c:pt idx="4">
                  <c:v>42.22800000000001</c:v>
                </c:pt>
                <c:pt idx="5">
                  <c:v>47.575999999999965</c:v>
                </c:pt>
                <c:pt idx="6">
                  <c:v>393.013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201.994</c:v>
                </c:pt>
                <c:pt idx="2">
                  <c:v>231.367</c:v>
                </c:pt>
                <c:pt idx="3">
                  <c:v>267.258</c:v>
                </c:pt>
                <c:pt idx="4">
                  <c:v>309.851</c:v>
                </c:pt>
                <c:pt idx="5">
                  <c:v>359.036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201.994</c:v>
                </c:pt>
                <c:pt idx="1">
                  <c:v>29.37299999999999</c:v>
                </c:pt>
                <c:pt idx="2">
                  <c:v>35.89099999999999</c:v>
                </c:pt>
                <c:pt idx="3">
                  <c:v>42.59300000000002</c:v>
                </c:pt>
                <c:pt idx="4">
                  <c:v>49.185</c:v>
                </c:pt>
                <c:pt idx="5">
                  <c:v>56.06</c:v>
                </c:pt>
                <c:pt idx="6">
                  <c:v>415.096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195.234</c:v>
                </c:pt>
                <c:pt idx="2">
                  <c:v>220.307</c:v>
                </c:pt>
                <c:pt idx="3">
                  <c:v>255.779</c:v>
                </c:pt>
                <c:pt idx="4">
                  <c:v>302.366</c:v>
                </c:pt>
                <c:pt idx="5">
                  <c:v>359.541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195.234</c:v>
                </c:pt>
                <c:pt idx="1">
                  <c:v>25.07299999999998</c:v>
                </c:pt>
                <c:pt idx="2">
                  <c:v>35.47200000000001</c:v>
                </c:pt>
                <c:pt idx="3">
                  <c:v>46.58699999999999</c:v>
                </c:pt>
                <c:pt idx="4">
                  <c:v>57.17500000000001</c:v>
                </c:pt>
                <c:pt idx="5">
                  <c:v>67.59800000000001</c:v>
                </c:pt>
                <c:pt idx="6">
                  <c:v>427.139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200.06</c:v>
                </c:pt>
                <c:pt idx="2">
                  <c:v>228.854</c:v>
                </c:pt>
                <c:pt idx="3">
                  <c:v>267.955</c:v>
                </c:pt>
                <c:pt idx="4">
                  <c:v>321.046</c:v>
                </c:pt>
                <c:pt idx="5">
                  <c:v>384.178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200.06</c:v>
                </c:pt>
                <c:pt idx="1">
                  <c:v>28.79400000000001</c:v>
                </c:pt>
                <c:pt idx="2">
                  <c:v>39.10099999999997</c:v>
                </c:pt>
                <c:pt idx="3">
                  <c:v>53.09100000000001</c:v>
                </c:pt>
                <c:pt idx="4">
                  <c:v>63.132000000000005</c:v>
                </c:pt>
                <c:pt idx="5">
                  <c:v>73.406</c:v>
                </c:pt>
                <c:pt idx="6">
                  <c:v>457.584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218.307</c:v>
                </c:pt>
                <c:pt idx="2">
                  <c:v>246.872</c:v>
                </c:pt>
                <c:pt idx="3">
                  <c:v>282.254</c:v>
                </c:pt>
                <c:pt idx="4">
                  <c:v>323.869</c:v>
                </c:pt>
                <c:pt idx="5">
                  <c:v>372.875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218.307</c:v>
                </c:pt>
                <c:pt idx="1">
                  <c:v>28.565000000000026</c:v>
                </c:pt>
                <c:pt idx="2">
                  <c:v>35.382000000000005</c:v>
                </c:pt>
                <c:pt idx="3">
                  <c:v>41.61500000000001</c:v>
                </c:pt>
                <c:pt idx="4">
                  <c:v>49.00599999999997</c:v>
                </c:pt>
                <c:pt idx="5">
                  <c:v>56.233000000000004</c:v>
                </c:pt>
                <c:pt idx="6">
                  <c:v>429.108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Coily Hair</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19.712134676888933</c:v>
                </c:pt>
                <c:pt idx="1">
                  <c:v>19.505527183525114</c:v>
                </c:pt>
                <c:pt idx="2">
                  <c:v>21.564417467034882</c:v>
                </c:pt>
              </c:numCache>
            </c:numRef>
          </c:val>
        </c:ser>
        <c:ser>
          <c:idx val="1"/>
          <c:order val="1"/>
          <c:tx>
            <c:strRef>
              <c:f>Sheet1!$C$1</c:f>
              <c:strCache>
                <c:ptCount val="1"/>
                <c:pt idx="0">
                  <c:v>All Hair Types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20.958287518890614</c:v>
                </c:pt>
                <c:pt idx="1">
                  <c:v>21.284580240197027</c:v>
                </c:pt>
                <c:pt idx="2">
                  <c:v>20.222437957717936</c:v>
                </c:pt>
              </c:numCache>
            </c:numRef>
          </c:val>
        </c:ser>
        <c:ser>
          <c:idx val="2"/>
          <c:order val="2"/>
          <c:tx>
            <c:strRef>
              <c:f>Sheet1!$D$1</c:f>
              <c:strCache>
                <c:ptCount val="1"/>
                <c:pt idx="0">
                  <c:v>Curly Hair</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19.836272988808723</c:v>
                </c:pt>
                <c:pt idx="1">
                  <c:v>19.034999970750487</c:v>
                </c:pt>
                <c:pt idx="2">
                  <c:v>20.12964551306823</c:v>
                </c:pt>
              </c:numCache>
            </c:numRef>
          </c:val>
        </c:ser>
        <c:ser>
          <c:idx val="3"/>
          <c:order val="3"/>
          <c:tx>
            <c:strRef>
              <c:f>Sheet1!$E$1</c:f>
              <c:strCache>
                <c:ptCount val="1"/>
                <c:pt idx="0">
                  <c:v>Wavy Hair</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19.056423310388457</c:v>
                </c:pt>
                <c:pt idx="1">
                  <c:v>19.694089062826013</c:v>
                </c:pt>
                <c:pt idx="2">
                  <c:v>19.562098834085788</c:v>
                </c:pt>
              </c:numCache>
            </c:numRef>
          </c:val>
        </c:ser>
        <c:ser>
          <c:idx val="4"/>
          <c:order val="4"/>
          <c:tx>
            <c:strRef>
              <c:f>Sheet1!$F$1</c:f>
              <c:strCache>
                <c:ptCount val="1"/>
                <c:pt idx="0">
                  <c:v>Straight Hair</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20.43688150502327</c:v>
                </c:pt>
                <c:pt idx="1">
                  <c:v>20.48080354270137</c:v>
                </c:pt>
                <c:pt idx="2">
                  <c:v>18.521400228093157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Film-forming and Fixative Polymers</c:v>
                </c:pt>
              </c:strCache>
            </c:strRef>
          </c:tx>
          <c:spPr>
            <a:solidFill>
              <a:srgbClr val="3D85C6"/>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Sheet1!$B$2:$B$8</c:f>
              <c:numCache>
                <c:formatCode>General</c:formatCode>
                <c:ptCount val="7"/>
                <c:pt idx="0">
                  <c:v>23.810552965512986</c:v>
                </c:pt>
                <c:pt idx="1">
                  <c:v>24.37475738923085</c:v>
                </c:pt>
                <c:pt idx="2">
                  <c:v>23.464911327243556</c:v>
                </c:pt>
                <c:pt idx="3">
                  <c:v>23.1997372971535</c:v>
                </c:pt>
                <c:pt idx="4">
                  <c:v>23.501666176614723</c:v>
                </c:pt>
                <c:pt idx="5">
                  <c:v>24.36372575849641</c:v>
                </c:pt>
                <c:pt idx="6">
                  <c:v>24.5832507136039</c:v>
                </c:pt>
              </c:numCache>
            </c:numRef>
          </c:val>
        </c:ser>
        <c:ser>
          <c:idx val="1"/>
          <c:order val="1"/>
          <c:tx>
            <c:strRef>
              <c:f>Sheet1!$C$1</c:f>
              <c:strCache>
                <c:ptCount val="1"/>
                <c:pt idx="0">
                  <c:v>Texture and Volume Additives</c:v>
                </c:pt>
              </c:strCache>
            </c:strRef>
          </c:tx>
          <c:spPr>
            <a:solidFill>
              <a:srgbClr val="9E7E0A"/>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Sheet1!$C$2:$C$8</c:f>
              <c:numCache>
                <c:formatCode>General</c:formatCode>
                <c:ptCount val="7"/>
                <c:pt idx="0">
                  <c:v>26.220630460958972</c:v>
                </c:pt>
                <c:pt idx="1">
                  <c:v>25.855838370395013</c:v>
                </c:pt>
                <c:pt idx="2">
                  <c:v>26.34096077007691</c:v>
                </c:pt>
                <c:pt idx="3">
                  <c:v>26.437799281723862</c:v>
                </c:pt>
                <c:pt idx="4">
                  <c:v>25.908066255023034</c:v>
                </c:pt>
                <c:pt idx="5">
                  <c:v>25.936147612840976</c:v>
                </c:pt>
                <c:pt idx="6">
                  <c:v>25.833152722762005</c:v>
                </c:pt>
              </c:numCache>
            </c:numRef>
          </c:val>
        </c:ser>
        <c:ser>
          <c:idx val="2"/>
          <c:order val="2"/>
          <c:tx>
            <c:strRef>
              <c:f>Sheet1!$D$1</c:f>
              <c:strCache>
                <c:ptCount val="1"/>
                <c:pt idx="0">
                  <c:v>Conditioning and Smoothing Agents</c:v>
                </c:pt>
              </c:strCache>
            </c:strRef>
          </c:tx>
          <c:spPr>
            <a:solidFill>
              <a:srgbClr val="008189"/>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Sheet1!$D$2:$D$8</c:f>
              <c:numCache>
                <c:formatCode>General</c:formatCode>
                <c:ptCount val="7"/>
                <c:pt idx="0">
                  <c:v>24.038408101515948</c:v>
                </c:pt>
                <c:pt idx="1">
                  <c:v>24.481506127654857</c:v>
                </c:pt>
                <c:pt idx="2">
                  <c:v>24.046208092937917</c:v>
                </c:pt>
                <c:pt idx="3">
                  <c:v>24.077214684756584</c:v>
                </c:pt>
                <c:pt idx="4">
                  <c:v>23.843477408605313</c:v>
                </c:pt>
                <c:pt idx="5">
                  <c:v>23.671210764827848</c:v>
                </c:pt>
                <c:pt idx="6">
                  <c:v>23.764047275393462</c:v>
                </c:pt>
              </c:numCache>
            </c:numRef>
          </c:val>
        </c:ser>
        <c:ser>
          <c:idx val="3"/>
          <c:order val="3"/>
          <c:tx>
            <c:strRef>
              <c:f>Sheet1!$E$1</c:f>
              <c:strCache>
                <c:ptCount val="1"/>
                <c:pt idx="0">
                  <c:v>Waxes and Structuring Agents</c:v>
                </c:pt>
              </c:strCache>
            </c:strRef>
          </c:tx>
          <c:spPr>
            <a:solidFill>
              <a:srgbClr val="40315E"/>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Sheet1!$E$2:$E$8</c:f>
              <c:numCache>
                <c:formatCode>General</c:formatCode>
                <c:ptCount val="7"/>
                <c:pt idx="0">
                  <c:v>25.9304084720121</c:v>
                </c:pt>
                <c:pt idx="1">
                  <c:v>25.28789811271927</c:v>
                </c:pt>
                <c:pt idx="2">
                  <c:v>26.14791980974161</c:v>
                </c:pt>
                <c:pt idx="3">
                  <c:v>26.285248736366057</c:v>
                </c:pt>
                <c:pt idx="4">
                  <c:v>26.746790159756934</c:v>
                </c:pt>
                <c:pt idx="5">
                  <c:v>26.02891586383476</c:v>
                </c:pt>
                <c:pt idx="6">
                  <c:v>25.81954928824064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0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Film-forming and Fixative Polymers</c:v>
                </c:pt>
              </c:strCache>
            </c:strRef>
          </c:tx>
          <c:spPr>
            <a:solidFill>
              <a:srgbClr val="3D85C6"/>
            </a:solidFill>
          </c:spPr>
          <c:invertIfNegative val="0"/>
          <c:xVal>
            <c:numRef>
              <c:f>Sheet1!$A$2:$A$2</c:f>
              <c:numCache>
                <c:formatCode>General</c:formatCode>
                <c:ptCount val="1"/>
                <c:pt idx="0">
                  <c:v>88.60081268587008</c:v>
                </c:pt>
              </c:numCache>
            </c:numRef>
          </c:xVal>
          <c:yVal>
            <c:numRef>
              <c:f>Sheet1!$B$2:$B$2</c:f>
              <c:numCache>
                <c:formatCode>General</c:formatCode>
                <c:ptCount val="1"/>
                <c:pt idx="0">
                  <c:v>103.90169042702344</c:v>
                </c:pt>
              </c:numCache>
            </c:numRef>
          </c:yVal>
          <c:bubbleSize>
            <c:numRef>
              <c:f>Sheet1!$C$2:$C$2</c:f>
              <c:numCache>
                <c:formatCode>General</c:formatCode>
                <c:ptCount val="1"/>
                <c:pt idx="0">
                  <c:v>508.677</c:v>
                </c:pt>
              </c:numCache>
            </c:numRef>
          </c:bubbleSize>
          <c:bubble3D val="0"/>
        </c:ser>
        <c:ser>
          <c:idx val="1"/>
          <c:order val="1"/>
          <c:tx>
            <c:strRef>
              <c:f>Sheet1!$B$4</c:f>
              <c:strCache>
                <c:ptCount val="1"/>
                <c:pt idx="0">
                  <c:v>Texture and Volume Additives</c:v>
                </c:pt>
              </c:strCache>
            </c:strRef>
          </c:tx>
          <c:spPr>
            <a:solidFill>
              <a:srgbClr val="9E7E0A"/>
            </a:solidFill>
          </c:spPr>
          <c:invertIfNegative val="0"/>
          <c:xVal>
            <c:numRef>
              <c:f>Sheet1!$A$5:$A$5</c:f>
              <c:numCache>
                <c:formatCode>General</c:formatCode>
                <c:ptCount val="1"/>
                <c:pt idx="0">
                  <c:v>104.77875682359968</c:v>
                </c:pt>
              </c:numCache>
            </c:numRef>
          </c:xVal>
          <c:yVal>
            <c:numRef>
              <c:f>Sheet1!$B$5:$B$5</c:f>
              <c:numCache>
                <c:formatCode>General</c:formatCode>
                <c:ptCount val="1"/>
                <c:pt idx="0">
                  <c:v>100.67098389521654</c:v>
                </c:pt>
              </c:numCache>
            </c:numRef>
          </c:yVal>
          <c:bubbleSize>
            <c:numRef>
              <c:f>Sheet1!$C$5:$C$5</c:f>
              <c:numCache>
                <c:formatCode>General</c:formatCode>
                <c:ptCount val="1"/>
                <c:pt idx="0">
                  <c:v>552.211</c:v>
                </c:pt>
              </c:numCache>
            </c:numRef>
          </c:bubbleSize>
          <c:bubble3D val="0"/>
        </c:ser>
        <c:ser>
          <c:idx val="2"/>
          <c:order val="2"/>
          <c:tx>
            <c:strRef>
              <c:f>Sheet1!$B$7</c:f>
              <c:strCache>
                <c:ptCount val="1"/>
                <c:pt idx="0">
                  <c:v>Conditioning and Smoothing Agents</c:v>
                </c:pt>
              </c:strCache>
            </c:strRef>
          </c:tx>
          <c:spPr>
            <a:solidFill>
              <a:srgbClr val="008189"/>
            </a:solidFill>
          </c:spPr>
          <c:invertIfNegative val="0"/>
          <c:xVal>
            <c:numRef>
              <c:f>Sheet1!$A$8:$A$8</c:f>
              <c:numCache>
                <c:formatCode>General</c:formatCode>
                <c:ptCount val="1"/>
                <c:pt idx="0">
                  <c:v>93.99279341055532</c:v>
                </c:pt>
              </c:numCache>
            </c:numRef>
          </c:xVal>
          <c:yVal>
            <c:numRef>
              <c:f>Sheet1!$B$8:$B$8</c:f>
              <c:numCache>
                <c:formatCode>General</c:formatCode>
                <c:ptCount val="1"/>
                <c:pt idx="0">
                  <c:v>99.80831817233425</c:v>
                </c:pt>
              </c:numCache>
            </c:numRef>
          </c:yVal>
          <c:bubbleSize>
            <c:numRef>
              <c:f>Sheet1!$C$8:$C$8</c:f>
              <c:numCache>
                <c:formatCode>General</c:formatCode>
                <c:ptCount val="1"/>
                <c:pt idx="0">
                  <c:v>507.58299999999997</c:v>
                </c:pt>
              </c:numCache>
            </c:numRef>
          </c:bubbleSize>
          <c:bubble3D val="0"/>
        </c:ser>
        <c:ser>
          <c:idx val="3"/>
          <c:order val="3"/>
          <c:tx>
            <c:strRef>
              <c:f>Sheet1!$B$10</c:f>
              <c:strCache>
                <c:ptCount val="1"/>
                <c:pt idx="0">
                  <c:v>Waxes and Structuring Agents</c:v>
                </c:pt>
              </c:strCache>
            </c:strRef>
          </c:tx>
          <c:spPr>
            <a:solidFill>
              <a:srgbClr val="40315E"/>
            </a:solidFill>
          </c:spPr>
          <c:invertIfNegative val="0"/>
          <c:xVal>
            <c:numRef>
              <c:f>Sheet1!$A$11:$A$11</c:f>
              <c:numCache>
                <c:formatCode>General</c:formatCode>
                <c:ptCount val="1"/>
                <c:pt idx="0">
                  <c:v>112.49148084432545</c:v>
                </c:pt>
              </c:numCache>
            </c:numRef>
          </c:xVal>
          <c:yVal>
            <c:numRef>
              <c:f>Sheet1!$B$11:$B$11</c:f>
              <c:numCache>
                <c:formatCode>General</c:formatCode>
                <c:ptCount val="1"/>
                <c:pt idx="0">
                  <c:v>95.61900750542578</c:v>
                </c:pt>
              </c:numCache>
            </c:numRef>
          </c:yVal>
          <c:bubbleSize>
            <c:numRef>
              <c:f>Sheet1!$C$11:$C$11</c:f>
              <c:numCache>
                <c:formatCode>General</c:formatCode>
                <c:ptCount val="1"/>
                <c:pt idx="0">
                  <c:v>553.4659999999999</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5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266.419</c:v>
                </c:pt>
                <c:pt idx="2">
                  <c:v>298.672</c:v>
                </c:pt>
                <c:pt idx="3">
                  <c:v>339.623</c:v>
                </c:pt>
                <c:pt idx="4">
                  <c:v>388.284</c:v>
                </c:pt>
                <c:pt idx="5">
                  <c:v>444.622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266.419</c:v>
                </c:pt>
                <c:pt idx="1">
                  <c:v>32.25300000000004</c:v>
                </c:pt>
                <c:pt idx="2">
                  <c:v>40.950999999999965</c:v>
                </c:pt>
                <c:pt idx="3">
                  <c:v>48.661</c:v>
                </c:pt>
                <c:pt idx="4">
                  <c:v>56.33800000000002</c:v>
                </c:pt>
                <c:pt idx="5">
                  <c:v>64.055</c:v>
                </c:pt>
                <c:pt idx="6">
                  <c:v>508.677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258.135</c:v>
                </c:pt>
                <c:pt idx="2">
                  <c:v>294.27299999999997</c:v>
                </c:pt>
                <c:pt idx="3">
                  <c:v>341.34000000000003</c:v>
                </c:pt>
                <c:pt idx="4">
                  <c:v>399.913</c:v>
                </c:pt>
                <c:pt idx="5">
                  <c:v>470.33500000000004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258.135</c:v>
                </c:pt>
                <c:pt idx="1">
                  <c:v>36.13799999999998</c:v>
                </c:pt>
                <c:pt idx="2">
                  <c:v>47.067000000000064</c:v>
                </c:pt>
                <c:pt idx="3">
                  <c:v>58.57299999999998</c:v>
                </c:pt>
                <c:pt idx="4">
                  <c:v>70.42200000000003</c:v>
                </c:pt>
                <c:pt idx="5">
                  <c:v>81.87599999999998</c:v>
                </c:pt>
                <c:pt idx="6">
                  <c:v>552.211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255.923</c:v>
                </c:pt>
                <c:pt idx="2">
                  <c:v>290.442</c:v>
                </c:pt>
                <c:pt idx="3">
                  <c:v>332.921</c:v>
                </c:pt>
                <c:pt idx="4">
                  <c:v>382.659</c:v>
                </c:pt>
                <c:pt idx="5">
                  <c:v>441.078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255.923</c:v>
                </c:pt>
                <c:pt idx="1">
                  <c:v>34.519000000000005</c:v>
                </c:pt>
                <c:pt idx="2">
                  <c:v>42.478999999999985</c:v>
                </c:pt>
                <c:pt idx="3">
                  <c:v>49.738</c:v>
                </c:pt>
                <c:pt idx="4">
                  <c:v>58.41899999999998</c:v>
                </c:pt>
                <c:pt idx="5">
                  <c:v>66.505</c:v>
                </c:pt>
                <c:pt idx="6">
                  <c:v>507.58299999999997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245.18099999999998</c:v>
                </c:pt>
                <c:pt idx="2">
                  <c:v>279.491</c:v>
                </c:pt>
                <c:pt idx="3">
                  <c:v>326.579</c:v>
                </c:pt>
                <c:pt idx="4">
                  <c:v>389.485</c:v>
                </c:pt>
                <c:pt idx="5">
                  <c:v>465.03099999999995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245.18099999999998</c:v>
                </c:pt>
                <c:pt idx="1">
                  <c:v>34.31</c:v>
                </c:pt>
                <c:pt idx="2">
                  <c:v>47.08800000000002</c:v>
                </c:pt>
                <c:pt idx="3">
                  <c:v>62.906000000000006</c:v>
                </c:pt>
                <c:pt idx="4">
                  <c:v>75.54599999999994</c:v>
                </c:pt>
                <c:pt idx="5">
                  <c:v>88.43499999999995</c:v>
                </c:pt>
                <c:pt idx="6">
                  <c:v>553.4659999999999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Waxes and Structuring Agents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24.368764842624252</c:v>
                </c:pt>
                <c:pt idx="1">
                  <c:v>23.904751876356446</c:v>
                </c:pt>
                <c:pt idx="2">
                  <c:v>26.08305524622078</c:v>
                </c:pt>
              </c:numCache>
            </c:numRef>
          </c:val>
        </c:ser>
        <c:ser>
          <c:idx val="1"/>
          <c:order val="1"/>
          <c:tx>
            <c:strRef>
              <c:f>Sheet1!$C$1</c:f>
              <c:strCache>
                <c:ptCount val="1"/>
                <c:pt idx="0">
                  <c:v>Texture and Volume Additives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24.746451577272023</c:v>
                </c:pt>
                <c:pt idx="1">
                  <c:v>25.167745973804134</c:v>
                </c:pt>
                <c:pt idx="2">
                  <c:v>26.02391117172659</c:v>
                </c:pt>
              </c:numCache>
            </c:numRef>
          </c:val>
        </c:ser>
        <c:ser>
          <c:idx val="2"/>
          <c:order val="2"/>
          <c:tx>
            <c:strRef>
              <c:f>Sheet1!$D$1</c:f>
              <c:strCache>
                <c:ptCount val="1"/>
                <c:pt idx="0">
                  <c:v>Film-forming and Fixative Polymers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26.28983346136274</c:v>
                </c:pt>
                <c:pt idx="1">
                  <c:v>25.97542260675586</c:v>
                </c:pt>
                <c:pt idx="2">
                  <c:v>23.97229512469032</c:v>
                </c:pt>
              </c:numCache>
            </c:numRef>
          </c:val>
        </c:ser>
        <c:ser>
          <c:idx val="3"/>
          <c:order val="3"/>
          <c:tx>
            <c:strRef>
              <c:f>Sheet1!$E$1</c:f>
              <c:strCache>
                <c:ptCount val="1"/>
                <c:pt idx="0">
                  <c:v>Conditioning and Smoothing Agents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24.594950118740993</c:v>
                </c:pt>
                <c:pt idx="1">
                  <c:v>24.952079543083563</c:v>
                </c:pt>
                <c:pt idx="2">
                  <c:v>23.920738457362305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1364.9940000000001</c:v>
                </c:pt>
                <c:pt idx="1">
                  <c:v>1408.3690000000001</c:v>
                </c:pt>
                <c:pt idx="2">
                  <c:v>1452.8899999999999</c:v>
                </c:pt>
                <c:pt idx="3">
                  <c:v>1498.466</c:v>
                </c:pt>
                <c:pt idx="4">
                  <c:v>1546.218</c:v>
                </c:pt>
                <c:pt idx="5">
                  <c:v>1598.6529999999998</c:v>
                </c:pt>
                <c:pt idx="6">
                  <c:v>1656.673</c:v>
                </c:pt>
                <c:pt idx="7">
                  <c:v>1721.141</c:v>
                </c:pt>
                <c:pt idx="8">
                  <c:v>1792.4379999999999</c:v>
                </c:pt>
                <c:pt idx="9">
                  <c:v>1870.245</c:v>
                </c:pt>
                <c:pt idx="10">
                  <c:v>1953.596</c:v>
                </c:pt>
                <c:pt idx="11">
                  <c:v>2041.849</c:v>
                </c:pt>
                <c:pt idx="12">
                  <c:v>2133.8100000000004</c:v>
                </c:pt>
                <c:pt idx="13">
                  <c:v>2228.9269999999997</c:v>
                </c:pt>
                <c:pt idx="14">
                  <c:v>2325.947</c:v>
                </c:pt>
                <c:pt idx="15">
                  <c:v>2424.865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North America</c:v>
                </c:pt>
                <c:pt idx="2">
                  <c:v>U.S.</c:v>
                </c:pt>
              </c:strCache>
            </c:strRef>
          </c:cat>
          <c:val>
            <c:numRef>
              <c:f>Sheet1!$B$2:$B$4</c:f>
              <c:numCache>
                <c:formatCode>General</c:formatCode>
                <c:ptCount val="3"/>
                <c:pt idx="0">
                  <c:v>0.05245930274733035</c:v>
                </c:pt>
                <c:pt idx="1">
                  <c:v>0.04320658207951111</c:v>
                </c:pt>
                <c:pt idx="2">
                  <c:v>0.04254146169150319</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1598.6529999999998</c:v>
                </c:pt>
                <c:pt idx="2">
                  <c:v>1656.673</c:v>
                </c:pt>
                <c:pt idx="3">
                  <c:v>1721.141</c:v>
                </c:pt>
                <c:pt idx="4">
                  <c:v>1792.4379999999999</c:v>
                </c:pt>
                <c:pt idx="5">
                  <c:v>1870.245</c:v>
                </c:pt>
                <c:pt idx="6">
                  <c:v>1953.596</c:v>
                </c:pt>
                <c:pt idx="7">
                  <c:v>2041.849</c:v>
                </c:pt>
                <c:pt idx="8">
                  <c:v>2133.8100000000004</c:v>
                </c:pt>
                <c:pt idx="9">
                  <c:v>2228.9269999999997</c:v>
                </c:pt>
                <c:pt idx="10">
                  <c:v>2325.947</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1598.6529999999998</c:v>
                </c:pt>
                <c:pt idx="1">
                  <c:v>58.02000000000021</c:v>
                </c:pt>
                <c:pt idx="2">
                  <c:v>64.46800000000007</c:v>
                </c:pt>
                <c:pt idx="3">
                  <c:v>71.2969999999998</c:v>
                </c:pt>
                <c:pt idx="4">
                  <c:v>77.80700000000002</c:v>
                </c:pt>
                <c:pt idx="5">
                  <c:v>83.35100000000011</c:v>
                </c:pt>
                <c:pt idx="6">
                  <c:v>88.25299999999993</c:v>
                </c:pt>
                <c:pt idx="7">
                  <c:v>91.96100000000047</c:v>
                </c:pt>
                <c:pt idx="8">
                  <c:v>95.11699999999928</c:v>
                </c:pt>
                <c:pt idx="9">
                  <c:v>97.02000000000044</c:v>
                </c:pt>
                <c:pt idx="10">
                  <c:v>98.91799999999967</c:v>
                </c:pt>
                <c:pt idx="11">
                  <c:v>2424.865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U.S.</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North America</c:v>
                </c:pt>
                <c:pt idx="1">
                  <c:v>Share of Global</c:v>
                </c:pt>
              </c:strCache>
            </c:strRef>
          </c:cat>
          <c:val>
            <c:numRef>
              <c:f>Sheet1!$B$2:$B$3</c:f>
              <c:numCache>
                <c:formatCode>General</c:formatCode>
                <c:ptCount val="2"/>
                <c:pt idx="0">
                  <c:v>90.85284384524498</c:v>
                </c:pt>
                <c:pt idx="1">
                  <c:v>20.207398954346644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North America</c:v>
                </c:pt>
                <c:pt idx="1">
                  <c:v>Share of Global</c:v>
                </c:pt>
              </c:strCache>
            </c:strRef>
          </c:cat>
          <c:val>
            <c:numRef>
              <c:f>Sheet1!$C$2:$C$3</c:f>
              <c:numCache>
                <c:formatCode>General</c:formatCode>
                <c:ptCount val="2"/>
                <c:pt idx="0">
                  <c:v>9.147156154755024</c:v>
                </c:pt>
                <c:pt idx="1">
                  <c:v>79.79260104565336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3770.584</c:v>
                </c:pt>
                <c:pt idx="1">
                  <c:v>3910.5550000000003</c:v>
                </c:pt>
                <c:pt idx="2">
                  <c:v>4056.263</c:v>
                </c:pt>
                <c:pt idx="3">
                  <c:v>4209.790999999999</c:v>
                </c:pt>
                <c:pt idx="4">
                  <c:v>4372.511</c:v>
                </c:pt>
                <c:pt idx="5">
                  <c:v>4570.849</c:v>
                </c:pt>
                <c:pt idx="6">
                  <c:v>4793.6</c:v>
                </c:pt>
                <c:pt idx="7">
                  <c:v>5045.027</c:v>
                </c:pt>
                <c:pt idx="8">
                  <c:v>5327.967</c:v>
                </c:pt>
                <c:pt idx="9">
                  <c:v>5643.62</c:v>
                </c:pt>
                <c:pt idx="10">
                  <c:v>5990.1849999999995</c:v>
                </c:pt>
                <c:pt idx="11">
                  <c:v>6368.832</c:v>
                </c:pt>
                <c:pt idx="12">
                  <c:v>6776.795999999999</c:v>
                </c:pt>
                <c:pt idx="13">
                  <c:v>7213.032999999999</c:v>
                </c:pt>
                <c:pt idx="14">
                  <c:v>7677.732</c:v>
                </c:pt>
                <c:pt idx="15">
                  <c:v>8171.128000000001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North America</c:v>
                </c:pt>
                <c:pt idx="2">
                  <c:v>U.S.</c:v>
                </c:pt>
              </c:strCache>
            </c:strRef>
          </c:cat>
          <c:val>
            <c:numRef>
              <c:f>Sheet1!$B$2:$B$4</c:f>
              <c:numCache>
                <c:formatCode>General</c:formatCode>
                <c:ptCount val="3"/>
                <c:pt idx="0">
                  <c:v>0.06658666629421717</c:v>
                </c:pt>
                <c:pt idx="1">
                  <c:v>0.06058703612735483</c:v>
                </c:pt>
                <c:pt idx="2">
                  <c:v>0.0598112223043914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91999497193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4570.849</c:v>
                </c:pt>
                <c:pt idx="2">
                  <c:v>4793.6</c:v>
                </c:pt>
                <c:pt idx="3">
                  <c:v>5045.027</c:v>
                </c:pt>
                <c:pt idx="4">
                  <c:v>5327.967</c:v>
                </c:pt>
                <c:pt idx="5">
                  <c:v>5643.62</c:v>
                </c:pt>
                <c:pt idx="6">
                  <c:v>5990.1849999999995</c:v>
                </c:pt>
                <c:pt idx="7">
                  <c:v>6368.832</c:v>
                </c:pt>
                <c:pt idx="8">
                  <c:v>6776.795999999999</c:v>
                </c:pt>
                <c:pt idx="9">
                  <c:v>7213.032999999999</c:v>
                </c:pt>
                <c:pt idx="10">
                  <c:v>7677.732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4570.849</c:v>
                </c:pt>
                <c:pt idx="1">
                  <c:v>222.7510000000002</c:v>
                </c:pt>
                <c:pt idx="2">
                  <c:v>251.42699999999968</c:v>
                </c:pt>
                <c:pt idx="3">
                  <c:v>282.9399999999996</c:v>
                </c:pt>
                <c:pt idx="4">
                  <c:v>315.65300000000025</c:v>
                </c:pt>
                <c:pt idx="5">
                  <c:v>346.5649999999996</c:v>
                </c:pt>
                <c:pt idx="6">
                  <c:v>378.64700000000084</c:v>
                </c:pt>
                <c:pt idx="7">
                  <c:v>407.96399999999903</c:v>
                </c:pt>
                <c:pt idx="8">
                  <c:v>436.2370000000001</c:v>
                </c:pt>
                <c:pt idx="9">
                  <c:v>464.6990000000005</c:v>
                </c:pt>
                <c:pt idx="10">
                  <c:v>493.39600000000064</c:v>
                </c:pt>
                <c:pt idx="11">
                  <c:v>8171.128000000001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U.S.</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North America</c:v>
                </c:pt>
                <c:pt idx="1">
                  <c:v>Share of Global</c:v>
                </c:pt>
              </c:strCache>
            </c:strRef>
          </c:cat>
          <c:val>
            <c:numRef>
              <c:f>Sheet1!$B$2:$B$3</c:f>
              <c:numCache>
                <c:formatCode>General</c:formatCode>
                <c:ptCount val="2"/>
                <c:pt idx="0">
                  <c:v>91.05538087148317</c:v>
                </c:pt>
                <c:pt idx="1">
                  <c:v>28.37914171587288</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North America</c:v>
                </c:pt>
                <c:pt idx="1">
                  <c:v>Share of Global</c:v>
                </c:pt>
              </c:strCache>
            </c:strRef>
          </c:cat>
          <c:val>
            <c:numRef>
              <c:f>Sheet1!$C$2:$C$3</c:f>
              <c:numCache>
                <c:formatCode>General</c:formatCode>
                <c:ptCount val="2"/>
                <c:pt idx="0">
                  <c:v>8.944619128516834</c:v>
                </c:pt>
                <c:pt idx="1">
                  <c:v>71.62085828412712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Waxes, Clays, Pastes…</c:v>
                </c:pt>
                <c:pt idx="7">
                  <c:v>Serums and Oils</c:v>
                </c:pt>
              </c:strCache>
            </c:strRef>
          </c:cat>
          <c:val>
            <c:numRef>
              <c:f>Sheet1!$B$2:$B$9</c:f>
              <c:numCache>
                <c:formatCode>General</c:formatCode>
                <c:ptCount val="8"/>
                <c:pt idx="0">
                  <c:v>326.22299999999996</c:v>
                </c:pt>
                <c:pt idx="1">
                  <c:v>393.334</c:v>
                </c:pt>
                <c:pt idx="2">
                  <c:v>450.62</c:v>
                </c:pt>
                <c:pt idx="3">
                  <c:v>536.381</c:v>
                </c:pt>
                <c:pt idx="4">
                  <c:v>586.104</c:v>
                </c:pt>
                <c:pt idx="5">
                  <c:v>652.38</c:v>
                </c:pt>
                <c:pt idx="6">
                  <c:v>755.71</c:v>
                </c:pt>
                <c:pt idx="7">
                  <c:v>870.097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165.92998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808.678</c:v>
                </c:pt>
                <c:pt idx="4">
                  <c:v>868.868</c:v>
                </c:pt>
                <c:pt idx="5">
                  <c:v>923.426</c:v>
                </c:pt>
                <c:pt idx="6">
                  <c:v>955.821</c:v>
                </c:pt>
                <c:pt idx="7">
                  <c:v>1014.058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58.8377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1492.194</c:v>
                </c:pt>
                <c:pt idx="6">
                  <c:v>1518.969</c:v>
                </c:pt>
                <c:pt idx="7">
                  <c:v>1559.687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089.98058"/>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Online Marketplaces</c:v>
                </c:pt>
                <c:pt idx="6">
                  <c:v>Mass Retail</c:v>
                </c:pt>
                <c:pt idx="7">
                  <c:v>Salon and Professiona…</c:v>
                </c:pt>
              </c:strCache>
            </c:strRef>
          </c:cat>
          <c:val>
            <c:numRef>
              <c:f>Sheet1!$B$2:$B$9</c:f>
              <c:numCache>
                <c:formatCode>General</c:formatCode>
                <c:ptCount val="8"/>
                <c:pt idx="2">
                  <c:v>560.41</c:v>
                </c:pt>
                <c:pt idx="3">
                  <c:v>695.54</c:v>
                </c:pt>
                <c:pt idx="4">
                  <c:v>704.719</c:v>
                </c:pt>
                <c:pt idx="5">
                  <c:v>860.773</c:v>
                </c:pt>
                <c:pt idx="6">
                  <c:v>866.707</c:v>
                </c:pt>
                <c:pt idx="7">
                  <c:v>882.7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182.818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Texture and Separation</c:v>
                </c:pt>
                <c:pt idx="3">
                  <c:v>Heat Styling Support</c:v>
                </c:pt>
                <c:pt idx="4">
                  <c:v>Volume and Root Lift</c:v>
                </c:pt>
                <c:pt idx="5">
                  <c:v>Hold and Shape</c:v>
                </c:pt>
                <c:pt idx="6">
                  <c:v>Curl Definition</c:v>
                </c:pt>
                <c:pt idx="7">
                  <c:v>Smoothing and Frizz C…</c:v>
                </c:pt>
              </c:strCache>
            </c:strRef>
          </c:cat>
          <c:val>
            <c:numRef>
              <c:f>Sheet1!$B$2:$B$9</c:f>
              <c:numCache>
                <c:formatCode>General</c:formatCode>
                <c:ptCount val="8"/>
                <c:pt idx="1">
                  <c:v>512.75</c:v>
                </c:pt>
                <c:pt idx="2">
                  <c:v>600.568</c:v>
                </c:pt>
                <c:pt idx="3">
                  <c:v>658.249</c:v>
                </c:pt>
                <c:pt idx="4">
                  <c:v>658.798</c:v>
                </c:pt>
                <c:pt idx="5">
                  <c:v>683.789</c:v>
                </c:pt>
                <c:pt idx="6">
                  <c:v>719.568</c:v>
                </c:pt>
                <c:pt idx="7">
                  <c:v>737.128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87.75152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Curly Hair</c:v>
                </c:pt>
                <c:pt idx="4">
                  <c:v>Wavy Hair</c:v>
                </c:pt>
                <c:pt idx="5">
                  <c:v>Straight Hair</c:v>
                </c:pt>
                <c:pt idx="6">
                  <c:v>Coily Hair</c:v>
                </c:pt>
                <c:pt idx="7">
                  <c:v>All Hair Types</c:v>
                </c:pt>
              </c:strCache>
            </c:strRef>
          </c:cat>
          <c:val>
            <c:numRef>
              <c:f>Sheet1!$B$2:$B$9</c:f>
              <c:numCache>
                <c:formatCode>General</c:formatCode>
                <c:ptCount val="8"/>
                <c:pt idx="3">
                  <c:v>832.591</c:v>
                </c:pt>
                <c:pt idx="4">
                  <c:v>886.994</c:v>
                </c:pt>
                <c:pt idx="5">
                  <c:v>923.344</c:v>
                </c:pt>
                <c:pt idx="6">
                  <c:v>955.765</c:v>
                </c:pt>
                <c:pt idx="7">
                  <c:v>972.156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02.689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1095.37</c:v>
                </c:pt>
                <c:pt idx="5">
                  <c:v>1141.3000000000002</c:v>
                </c:pt>
                <c:pt idx="6">
                  <c:v>1148.852</c:v>
                </c:pt>
                <c:pt idx="7">
                  <c:v>1185.328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588.3395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4570.849</c:v>
                </c:pt>
                <c:pt idx="2">
                  <c:v>4847.308</c:v>
                </c:pt>
                <c:pt idx="3">
                  <c:v>5031.24</c:v>
                </c:pt>
                <c:pt idx="4">
                  <c:v>5274.878</c:v>
                </c:pt>
                <c:pt idx="5">
                  <c:v>5776.697999999999</c:v>
                </c:pt>
                <c:pt idx="6">
                  <c:v>6309.451999999999</c:v>
                </c:pt>
                <c:pt idx="7">
                  <c:v>6683.5779999999995</c:v>
                </c:pt>
                <c:pt idx="8">
                  <c:v>7508.708</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4570.849</c:v>
                </c:pt>
                <c:pt idx="1">
                  <c:v>276.45899999999995</c:v>
                </c:pt>
                <c:pt idx="2">
                  <c:v>183.93200000000007</c:v>
                </c:pt>
                <c:pt idx="3">
                  <c:v>243.63799999999998</c:v>
                </c:pt>
                <c:pt idx="4">
                  <c:v>501.82000000000005</c:v>
                </c:pt>
                <c:pt idx="5">
                  <c:v>532.7539999999999</c:v>
                </c:pt>
                <c:pt idx="6">
                  <c:v>374.126</c:v>
                </c:pt>
                <c:pt idx="7">
                  <c:v>825.1300000000001</c:v>
                </c:pt>
                <c:pt idx="8">
                  <c:v>662.4199999999998</c:v>
                </c:pt>
                <c:pt idx="9">
                  <c:v>8171.128000000001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276.45899999999995</c:v>
                </c:pt>
                <c:pt idx="2">
                  <c:v>460.391</c:v>
                </c:pt>
                <c:pt idx="3">
                  <c:v>704.029</c:v>
                </c:pt>
                <c:pt idx="4">
                  <c:v>1205.8490000000002</c:v>
                </c:pt>
                <c:pt idx="5">
                  <c:v>1738.603</c:v>
                </c:pt>
                <c:pt idx="6">
                  <c:v>2112.7290000000003</c:v>
                </c:pt>
                <c:pt idx="7">
                  <c:v>2937.8590000000004</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276.45899999999995</c:v>
                </c:pt>
                <c:pt idx="1">
                  <c:v>183.93200000000007</c:v>
                </c:pt>
                <c:pt idx="2">
                  <c:v>243.63799999999998</c:v>
                </c:pt>
                <c:pt idx="3">
                  <c:v>501.82000000000005</c:v>
                </c:pt>
                <c:pt idx="4">
                  <c:v>532.7539999999999</c:v>
                </c:pt>
                <c:pt idx="5">
                  <c:v>374.126</c:v>
                </c:pt>
                <c:pt idx="6">
                  <c:v>825.1300000000001</c:v>
                </c:pt>
                <c:pt idx="7">
                  <c:v>662.4199999999998</c:v>
                </c:pt>
                <c:pt idx="8">
                  <c:v>3600.279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4570.851</c:v>
                </c:pt>
                <c:pt idx="2">
                  <c:v>5340.724999999999</c:v>
                </c:pt>
                <c:pt idx="3">
                  <c:v>6234.723999999999</c:v>
                </c:pt>
                <c:pt idx="4">
                  <c:v>7019.441999999999</c:v>
                </c:pt>
                <c:pt idx="5">
                  <c:v>7676.970999999999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4570.851</c:v>
                </c:pt>
                <c:pt idx="1">
                  <c:v>769.8739999999999</c:v>
                </c:pt>
                <c:pt idx="2">
                  <c:v>893.9989999999999</c:v>
                </c:pt>
                <c:pt idx="3">
                  <c:v>784.7180000000001</c:v>
                </c:pt>
                <c:pt idx="4">
                  <c:v>657.5289999999999</c:v>
                </c:pt>
                <c:pt idx="5">
                  <c:v>494.1540000000001</c:v>
                </c:pt>
                <c:pt idx="6">
                  <c:v>8171.125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769.8739999999999</c:v>
                </c:pt>
                <c:pt idx="2">
                  <c:v>1663.8729999999998</c:v>
                </c:pt>
                <c:pt idx="3">
                  <c:v>2448.591</c:v>
                </c:pt>
                <c:pt idx="4">
                  <c:v>3106.12</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769.8739999999999</c:v>
                </c:pt>
                <c:pt idx="1">
                  <c:v>893.9989999999999</c:v>
                </c:pt>
                <c:pt idx="2">
                  <c:v>784.7180000000001</c:v>
                </c:pt>
                <c:pt idx="3">
                  <c:v>657.5289999999999</c:v>
                </c:pt>
                <c:pt idx="4">
                  <c:v>494.1540000000001</c:v>
                </c:pt>
                <c:pt idx="5">
                  <c:v>3600.274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4570.85</c:v>
                </c:pt>
                <c:pt idx="2">
                  <c:v>5756.086</c:v>
                </c:pt>
                <c:pt idx="3">
                  <c:v>6838.607</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4570.85</c:v>
                </c:pt>
                <c:pt idx="1">
                  <c:v>1185.2359999999999</c:v>
                </c:pt>
                <c:pt idx="2">
                  <c:v>1082.5210000000002</c:v>
                </c:pt>
                <c:pt idx="3">
                  <c:v>1332.5190000000002</c:v>
                </c:pt>
                <c:pt idx="4">
                  <c:v>8171.126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1185.2359999999999</c:v>
                </c:pt>
                <c:pt idx="2">
                  <c:v>2267.757</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1185.2359999999999</c:v>
                </c:pt>
                <c:pt idx="1">
                  <c:v>1082.5210000000002</c:v>
                </c:pt>
                <c:pt idx="2">
                  <c:v>1332.5190000000002</c:v>
                </c:pt>
                <c:pt idx="3">
                  <c:v>3600.2760000000003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4570.849</c:v>
                </c:pt>
                <c:pt idx="2">
                  <c:v>5070.779</c:v>
                </c:pt>
                <c:pt idx="3">
                  <c:v>5649.745000000001</c:v>
                </c:pt>
                <c:pt idx="4">
                  <c:v>6303.028</c:v>
                </c:pt>
                <c:pt idx="5">
                  <c:v>6762.195000000001</c:v>
                </c:pt>
                <c:pt idx="6">
                  <c:v>7643.858</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4570.849</c:v>
                </c:pt>
                <c:pt idx="1">
                  <c:v>499.92999999999995</c:v>
                </c:pt>
                <c:pt idx="2">
                  <c:v>578.9659999999999</c:v>
                </c:pt>
                <c:pt idx="3">
                  <c:v>653.2829999999999</c:v>
                </c:pt>
                <c:pt idx="4">
                  <c:v>459.16700000000014</c:v>
                </c:pt>
                <c:pt idx="5">
                  <c:v>881.6629999999999</c:v>
                </c:pt>
                <c:pt idx="6">
                  <c:v>527.2680000000001</c:v>
                </c:pt>
                <c:pt idx="7">
                  <c:v>8171.126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499.92999999999995</c:v>
                </c:pt>
                <c:pt idx="2">
                  <c:v>1078.8959999999997</c:v>
                </c:pt>
                <c:pt idx="3">
                  <c:v>1732.1789999999996</c:v>
                </c:pt>
                <c:pt idx="4">
                  <c:v>2191.3459999999995</c:v>
                </c:pt>
                <c:pt idx="5">
                  <c:v>3073.0089999999996</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499.92999999999995</c:v>
                </c:pt>
                <c:pt idx="1">
                  <c:v>578.9659999999999</c:v>
                </c:pt>
                <c:pt idx="2">
                  <c:v>653.2829999999999</c:v>
                </c:pt>
                <c:pt idx="3">
                  <c:v>459.16700000000014</c:v>
                </c:pt>
                <c:pt idx="4">
                  <c:v>881.6629999999999</c:v>
                </c:pt>
                <c:pt idx="5">
                  <c:v>527.2680000000001</c:v>
                </c:pt>
                <c:pt idx="6">
                  <c:v>3600.2769999999996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4570.85</c:v>
                </c:pt>
                <c:pt idx="2">
                  <c:v>4928.349</c:v>
                </c:pt>
                <c:pt idx="3">
                  <c:v>5685.717000000001</c:v>
                </c:pt>
                <c:pt idx="4">
                  <c:v>6131.7080000000005</c:v>
                </c:pt>
                <c:pt idx="5">
                  <c:v>6590.839000000001</c:v>
                </c:pt>
                <c:pt idx="6">
                  <c:v>7235.082000000001</c:v>
                </c:pt>
                <c:pt idx="7">
                  <c:v>7544.366000000001</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4570.85</c:v>
                </c:pt>
                <c:pt idx="1">
                  <c:v>357.499</c:v>
                </c:pt>
                <c:pt idx="2">
                  <c:v>757.3679999999999</c:v>
                </c:pt>
                <c:pt idx="3">
                  <c:v>445.991</c:v>
                </c:pt>
                <c:pt idx="4">
                  <c:v>459.1310000000001</c:v>
                </c:pt>
                <c:pt idx="5">
                  <c:v>644.243</c:v>
                </c:pt>
                <c:pt idx="6">
                  <c:v>309.284</c:v>
                </c:pt>
                <c:pt idx="7">
                  <c:v>626.76</c:v>
                </c:pt>
                <c:pt idx="8">
                  <c:v>8171.125999999999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357.499</c:v>
                </c:pt>
                <c:pt idx="2">
                  <c:v>1114.867</c:v>
                </c:pt>
                <c:pt idx="3">
                  <c:v>1560.858</c:v>
                </c:pt>
                <c:pt idx="4">
                  <c:v>2019.989</c:v>
                </c:pt>
                <c:pt idx="5">
                  <c:v>2664.232</c:v>
                </c:pt>
                <c:pt idx="6">
                  <c:v>2973.516</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357.499</c:v>
                </c:pt>
                <c:pt idx="1">
                  <c:v>757.3679999999999</c:v>
                </c:pt>
                <c:pt idx="2">
                  <c:v>445.991</c:v>
                </c:pt>
                <c:pt idx="3">
                  <c:v>459.1310000000001</c:v>
                </c:pt>
                <c:pt idx="4">
                  <c:v>644.243</c:v>
                </c:pt>
                <c:pt idx="5">
                  <c:v>309.284</c:v>
                </c:pt>
                <c:pt idx="6">
                  <c:v>626.76</c:v>
                </c:pt>
                <c:pt idx="7">
                  <c:v>3600.276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4570.85</c:v>
                </c:pt>
                <c:pt idx="2">
                  <c:v>5136.915000000001</c:v>
                </c:pt>
                <c:pt idx="3">
                  <c:v>5824.536000000001</c:v>
                </c:pt>
                <c:pt idx="4">
                  <c:v>6565.754000000001</c:v>
                </c:pt>
                <c:pt idx="5">
                  <c:v>7495.109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4570.85</c:v>
                </c:pt>
                <c:pt idx="1">
                  <c:v>566.065</c:v>
                </c:pt>
                <c:pt idx="2">
                  <c:v>687.621</c:v>
                </c:pt>
                <c:pt idx="3">
                  <c:v>741.218</c:v>
                </c:pt>
                <c:pt idx="4">
                  <c:v>929.3549999999999</c:v>
                </c:pt>
                <c:pt idx="5">
                  <c:v>676.017</c:v>
                </c:pt>
                <c:pt idx="6">
                  <c:v>8171.126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566.065</c:v>
                </c:pt>
                <c:pt idx="2">
                  <c:v>1253.6860000000001</c:v>
                </c:pt>
                <c:pt idx="3">
                  <c:v>1994.904</c:v>
                </c:pt>
                <c:pt idx="4">
                  <c:v>2924.259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566.065</c:v>
                </c:pt>
                <c:pt idx="1">
                  <c:v>687.621</c:v>
                </c:pt>
                <c:pt idx="2">
                  <c:v>741.218</c:v>
                </c:pt>
                <c:pt idx="3">
                  <c:v>929.3549999999999</c:v>
                </c:pt>
                <c:pt idx="4">
                  <c:v>676.017</c:v>
                </c:pt>
                <c:pt idx="5">
                  <c:v>3600.276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4570.85</c:v>
                </c:pt>
                <c:pt idx="2">
                  <c:v>5327.064</c:v>
                </c:pt>
                <c:pt idx="3">
                  <c:v>6302.898</c:v>
                </c:pt>
                <c:pt idx="4">
                  <c:v>7180.75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4570.85</c:v>
                </c:pt>
                <c:pt idx="1">
                  <c:v>756.2139999999999</c:v>
                </c:pt>
                <c:pt idx="2">
                  <c:v>975.8340000000001</c:v>
                </c:pt>
                <c:pt idx="3">
                  <c:v>877.8519999999999</c:v>
                </c:pt>
                <c:pt idx="4">
                  <c:v>990.3760000000002</c:v>
                </c:pt>
                <c:pt idx="5">
                  <c:v>8171.126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756.2139999999999</c:v>
                </c:pt>
                <c:pt idx="2">
                  <c:v>1732.048</c:v>
                </c:pt>
                <c:pt idx="3">
                  <c:v>2609.8999999999996</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756.2139999999999</c:v>
                </c:pt>
                <c:pt idx="1">
                  <c:v>975.8340000000001</c:v>
                </c:pt>
                <c:pt idx="2">
                  <c:v>877.8519999999999</c:v>
                </c:pt>
                <c:pt idx="3">
                  <c:v>990.3760000000002</c:v>
                </c:pt>
                <c:pt idx="4">
                  <c:v>3600.276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133.683</c:v>
                </c:pt>
                <c:pt idx="1">
                  <c:v>138.71</c:v>
                </c:pt>
                <c:pt idx="2">
                  <c:v>143.889</c:v>
                </c:pt>
                <c:pt idx="3">
                  <c:v>149.204</c:v>
                </c:pt>
                <c:pt idx="4">
                  <c:v>154.79200000000003</c:v>
                </c:pt>
                <c:pt idx="5">
                  <c:v>160.954</c:v>
                </c:pt>
                <c:pt idx="6">
                  <c:v>167.80599999999998</c:v>
                </c:pt>
                <c:pt idx="7">
                  <c:v>175.46499999999997</c:v>
                </c:pt>
                <c:pt idx="8">
                  <c:v>183.982</c:v>
                </c:pt>
                <c:pt idx="9">
                  <c:v>193.326</c:v>
                </c:pt>
                <c:pt idx="10">
                  <c:v>203.38000000000002</c:v>
                </c:pt>
                <c:pt idx="11">
                  <c:v>214.076</c:v>
                </c:pt>
                <c:pt idx="12">
                  <c:v>225.286</c:v>
                </c:pt>
                <c:pt idx="13">
                  <c:v>236.95100000000002</c:v>
                </c:pt>
                <c:pt idx="14">
                  <c:v>248.924</c:v>
                </c:pt>
                <c:pt idx="15">
                  <c:v>261.211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North America</c:v>
                </c:pt>
                <c:pt idx="2">
                  <c:v>Canada</c:v>
                </c:pt>
              </c:strCache>
            </c:strRef>
          </c:cat>
          <c:val>
            <c:numRef>
              <c:f>Sheet1!$B$2:$B$4</c:f>
              <c:numCache>
                <c:formatCode>General</c:formatCode>
                <c:ptCount val="3"/>
                <c:pt idx="0">
                  <c:v>0.05245930274733035</c:v>
                </c:pt>
                <c:pt idx="1">
                  <c:v>0.04320658207951111</c:v>
                </c:pt>
                <c:pt idx="2">
                  <c:v>0.04961243866153775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160.954</c:v>
                </c:pt>
                <c:pt idx="2">
                  <c:v>167.80599999999998</c:v>
                </c:pt>
                <c:pt idx="3">
                  <c:v>175.46499999999997</c:v>
                </c:pt>
                <c:pt idx="4">
                  <c:v>183.982</c:v>
                </c:pt>
                <c:pt idx="5">
                  <c:v>193.326</c:v>
                </c:pt>
                <c:pt idx="6">
                  <c:v>203.38000000000002</c:v>
                </c:pt>
                <c:pt idx="7">
                  <c:v>214.076</c:v>
                </c:pt>
                <c:pt idx="8">
                  <c:v>225.286</c:v>
                </c:pt>
                <c:pt idx="9">
                  <c:v>236.95100000000002</c:v>
                </c:pt>
                <c:pt idx="10">
                  <c:v>248.924</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160.954</c:v>
                </c:pt>
                <c:pt idx="1">
                  <c:v>6.851999999999975</c:v>
                </c:pt>
                <c:pt idx="2">
                  <c:v>7.658999999999992</c:v>
                </c:pt>
                <c:pt idx="3">
                  <c:v>8.517000000000024</c:v>
                </c:pt>
                <c:pt idx="4">
                  <c:v>9.343999999999994</c:v>
                </c:pt>
                <c:pt idx="5">
                  <c:v>10.05400000000003</c:v>
                </c:pt>
                <c:pt idx="6">
                  <c:v>10.69599999999997</c:v>
                </c:pt>
                <c:pt idx="7">
                  <c:v>11.210000000000008</c:v>
                </c:pt>
                <c:pt idx="8">
                  <c:v>11.66500000000002</c:v>
                </c:pt>
                <c:pt idx="9">
                  <c:v>11.972999999999985</c:v>
                </c:pt>
                <c:pt idx="10">
                  <c:v>12.287000000000006</c:v>
                </c:pt>
                <c:pt idx="11">
                  <c:v>261.211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Canada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North America</c:v>
                </c:pt>
                <c:pt idx="1">
                  <c:v>Share of Global</c:v>
                </c:pt>
              </c:strCache>
            </c:strRef>
          </c:cat>
          <c:val>
            <c:numRef>
              <c:f>Sheet1!$B$2:$B$3</c:f>
              <c:numCache>
                <c:formatCode>General</c:formatCode>
                <c:ptCount val="2"/>
                <c:pt idx="0">
                  <c:v>9.147156154755011</c:v>
                </c:pt>
                <c:pt idx="1">
                  <c:v>2.034501352887656</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North America</c:v>
                </c:pt>
                <c:pt idx="1">
                  <c:v>Share of Global</c:v>
                </c:pt>
              </c:strCache>
            </c:strRef>
          </c:cat>
          <c:val>
            <c:numRef>
              <c:f>Sheet1!$C$2:$C$3</c:f>
              <c:numCache>
                <c:formatCode>General</c:formatCode>
                <c:ptCount val="2"/>
                <c:pt idx="0">
                  <c:v>90.85284384524499</c:v>
                </c:pt>
                <c:pt idx="1">
                  <c:v>97.96549864711234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359.216</c:v>
                </c:pt>
                <c:pt idx="1">
                  <c:v>374.914</c:v>
                </c:pt>
                <c:pt idx="2">
                  <c:v>391.289</c:v>
                </c:pt>
                <c:pt idx="3">
                  <c:v>408.52599999999995</c:v>
                </c:pt>
                <c:pt idx="4">
                  <c:v>426.799</c:v>
                </c:pt>
                <c:pt idx="5">
                  <c:v>449.00499999999994</c:v>
                </c:pt>
                <c:pt idx="6">
                  <c:v>474.25600000000003</c:v>
                </c:pt>
                <c:pt idx="7">
                  <c:v>502.886</c:v>
                </c:pt>
                <c:pt idx="8">
                  <c:v>535.336</c:v>
                </c:pt>
                <c:pt idx="9">
                  <c:v>571.789</c:v>
                </c:pt>
                <c:pt idx="10">
                  <c:v>612.053</c:v>
                </c:pt>
                <c:pt idx="11">
                  <c:v>656.1700000000001</c:v>
                </c:pt>
                <c:pt idx="12">
                  <c:v>703.78</c:v>
                </c:pt>
                <c:pt idx="13">
                  <c:v>755.029</c:v>
                </c:pt>
                <c:pt idx="14">
                  <c:v>809.963</c:v>
                </c:pt>
                <c:pt idx="15">
                  <c:v>868.581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North America</c:v>
                </c:pt>
                <c:pt idx="2">
                  <c:v>Canada</c:v>
                </c:pt>
              </c:strCache>
            </c:strRef>
          </c:cat>
          <c:val>
            <c:numRef>
              <c:f>Sheet1!$B$2:$B$4</c:f>
              <c:numCache>
                <c:formatCode>General</c:formatCode>
                <c:ptCount val="3"/>
                <c:pt idx="0">
                  <c:v>0.06658666629421717</c:v>
                </c:pt>
                <c:pt idx="1">
                  <c:v>0.06058703612735483</c:v>
                </c:pt>
                <c:pt idx="2">
                  <c:v>0.06820821799416055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20810942921167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449.00499999999994</c:v>
                </c:pt>
                <c:pt idx="2">
                  <c:v>474.25600000000003</c:v>
                </c:pt>
                <c:pt idx="3">
                  <c:v>502.886</c:v>
                </c:pt>
                <c:pt idx="4">
                  <c:v>535.336</c:v>
                </c:pt>
                <c:pt idx="5">
                  <c:v>571.789</c:v>
                </c:pt>
                <c:pt idx="6">
                  <c:v>612.053</c:v>
                </c:pt>
                <c:pt idx="7">
                  <c:v>656.1700000000001</c:v>
                </c:pt>
                <c:pt idx="8">
                  <c:v>703.78</c:v>
                </c:pt>
                <c:pt idx="9">
                  <c:v>755.029</c:v>
                </c:pt>
                <c:pt idx="10">
                  <c:v>809.963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449.00499999999994</c:v>
                </c:pt>
                <c:pt idx="1">
                  <c:v>25.25100000000009</c:v>
                </c:pt>
                <c:pt idx="2">
                  <c:v>28.629999999999995</c:v>
                </c:pt>
                <c:pt idx="3">
                  <c:v>32.44999999999999</c:v>
                </c:pt>
                <c:pt idx="4">
                  <c:v>36.452999999999975</c:v>
                </c:pt>
                <c:pt idx="5">
                  <c:v>40.26400000000001</c:v>
                </c:pt>
                <c:pt idx="6">
                  <c:v>44.117000000000075</c:v>
                </c:pt>
                <c:pt idx="7">
                  <c:v>47.6099999999999</c:v>
                </c:pt>
                <c:pt idx="8">
                  <c:v>51.249000000000024</c:v>
                </c:pt>
                <c:pt idx="9">
                  <c:v>54.93399999999997</c:v>
                </c:pt>
                <c:pt idx="10">
                  <c:v>58.61800000000005</c:v>
                </c:pt>
                <c:pt idx="11">
                  <c:v>868.581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Canada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North America</c:v>
                </c:pt>
                <c:pt idx="1">
                  <c:v>Share of Global</c:v>
                </c:pt>
              </c:strCache>
            </c:strRef>
          </c:cat>
          <c:val>
            <c:numRef>
              <c:f>Sheet1!$B$2:$B$3</c:f>
              <c:numCache>
                <c:formatCode>General</c:formatCode>
                <c:ptCount val="2"/>
                <c:pt idx="0">
                  <c:v>8.94457928673651</c:v>
                </c:pt>
                <c:pt idx="1">
                  <c:v>2.787748299306212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North America</c:v>
                </c:pt>
                <c:pt idx="1">
                  <c:v>Share of Global</c:v>
                </c:pt>
              </c:strCache>
            </c:strRef>
          </c:cat>
          <c:val>
            <c:numRef>
              <c:f>Sheet1!$C$2:$C$3</c:f>
              <c:numCache>
                <c:formatCode>General</c:formatCode>
                <c:ptCount val="2"/>
                <c:pt idx="0">
                  <c:v>91.05542071326349</c:v>
                </c:pt>
                <c:pt idx="1">
                  <c:v>97.21225170069378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Waxes, Clays, Pastes…</c:v>
                </c:pt>
                <c:pt idx="7">
                  <c:v>Serums and Oils</c:v>
                </c:pt>
              </c:strCache>
            </c:strRef>
          </c:cat>
          <c:val>
            <c:numRef>
              <c:f>Sheet1!$B$2:$B$9</c:f>
              <c:numCache>
                <c:formatCode>General</c:formatCode>
                <c:ptCount val="8"/>
                <c:pt idx="0">
                  <c:v>32.104</c:v>
                </c:pt>
                <c:pt idx="1">
                  <c:v>39.335</c:v>
                </c:pt>
                <c:pt idx="2">
                  <c:v>45.279</c:v>
                </c:pt>
                <c:pt idx="3">
                  <c:v>54.63</c:v>
                </c:pt>
                <c:pt idx="4">
                  <c:v>57.336</c:v>
                </c:pt>
                <c:pt idx="5">
                  <c:v>60.78</c:v>
                </c:pt>
                <c:pt idx="6">
                  <c:v>71.535</c:v>
                </c:pt>
                <c:pt idx="7">
                  <c:v>88.006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17.92804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79.472</c:v>
                </c:pt>
                <c:pt idx="4">
                  <c:v>85.231</c:v>
                </c:pt>
                <c:pt idx="5">
                  <c:v>90.664</c:v>
                </c:pt>
                <c:pt idx="6">
                  <c:v>93.97</c:v>
                </c:pt>
                <c:pt idx="7">
                  <c:v>99.67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3.55780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146.378</c:v>
                </c:pt>
                <c:pt idx="6">
                  <c:v>149.294</c:v>
                </c:pt>
                <c:pt idx="7">
                  <c:v>153.334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05.46756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Salon and Professiona…</c:v>
                </c:pt>
                <c:pt idx="6">
                  <c:v>Online Marketplaces</c:v>
                </c:pt>
                <c:pt idx="7">
                  <c:v>Mass Retail</c:v>
                </c:pt>
              </c:strCache>
            </c:strRef>
          </c:cat>
          <c:val>
            <c:numRef>
              <c:f>Sheet1!$B$2:$B$9</c:f>
              <c:numCache>
                <c:formatCode>General</c:formatCode>
                <c:ptCount val="8"/>
                <c:pt idx="2">
                  <c:v>56.315</c:v>
                </c:pt>
                <c:pt idx="3">
                  <c:v>69.667</c:v>
                </c:pt>
                <c:pt idx="4">
                  <c:v>70.634</c:v>
                </c:pt>
                <c:pt idx="5">
                  <c:v>78.2</c:v>
                </c:pt>
                <c:pt idx="6">
                  <c:v>86.771</c:v>
                </c:pt>
                <c:pt idx="7">
                  <c:v>87.419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17.14146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Heat Styling Support</c:v>
                </c:pt>
                <c:pt idx="5">
                  <c:v>Curl Definition</c:v>
                </c:pt>
                <c:pt idx="6">
                  <c:v>Hold and Shape</c:v>
                </c:pt>
                <c:pt idx="7">
                  <c:v>Smoothing and Frizz C…</c:v>
                </c:pt>
              </c:strCache>
            </c:strRef>
          </c:cat>
          <c:val>
            <c:numRef>
              <c:f>Sheet1!$B$2:$B$9</c:f>
              <c:numCache>
                <c:formatCode>General</c:formatCode>
                <c:ptCount val="8"/>
                <c:pt idx="1">
                  <c:v>53.059</c:v>
                </c:pt>
                <c:pt idx="2">
                  <c:v>62.081</c:v>
                </c:pt>
                <c:pt idx="3">
                  <c:v>62.183</c:v>
                </c:pt>
                <c:pt idx="4">
                  <c:v>62.397</c:v>
                </c:pt>
                <c:pt idx="5">
                  <c:v>68.4</c:v>
                </c:pt>
                <c:pt idx="6">
                  <c:v>70.344</c:v>
                </c:pt>
                <c:pt idx="7">
                  <c:v>70.542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4.52628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80.771</c:v>
                </c:pt>
                <c:pt idx="4">
                  <c:v>85.26</c:v>
                </c:pt>
                <c:pt idx="5">
                  <c:v>90.83</c:v>
                </c:pt>
                <c:pt idx="6">
                  <c:v>94.351</c:v>
                </c:pt>
                <c:pt idx="7">
                  <c:v>97.794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1.0439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107.791</c:v>
                </c:pt>
                <c:pt idx="5">
                  <c:v>112.063</c:v>
                </c:pt>
                <c:pt idx="6">
                  <c:v>112.57000000000001</c:v>
                </c:pt>
                <c:pt idx="7">
                  <c:v>116.583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56.22122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449.00499999999994</c:v>
                </c:pt>
                <c:pt idx="2">
                  <c:v>490.79599999999994</c:v>
                </c:pt>
                <c:pt idx="3">
                  <c:v>511.58399999999995</c:v>
                </c:pt>
                <c:pt idx="4">
                  <c:v>541.299</c:v>
                </c:pt>
                <c:pt idx="5">
                  <c:v>588.2289999999999</c:v>
                </c:pt>
                <c:pt idx="6">
                  <c:v>646.1809999999999</c:v>
                </c:pt>
                <c:pt idx="7">
                  <c:v>701.309</c:v>
                </c:pt>
                <c:pt idx="8">
                  <c:v>799.318</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449.00499999999994</c:v>
                </c:pt>
                <c:pt idx="1">
                  <c:v>41.791</c:v>
                </c:pt>
                <c:pt idx="2">
                  <c:v>20.788000000000004</c:v>
                </c:pt>
                <c:pt idx="3">
                  <c:v>29.714999999999996</c:v>
                </c:pt>
                <c:pt idx="4">
                  <c:v>46.93</c:v>
                </c:pt>
                <c:pt idx="5">
                  <c:v>57.952</c:v>
                </c:pt>
                <c:pt idx="6">
                  <c:v>55.12799999999999</c:v>
                </c:pt>
                <c:pt idx="7">
                  <c:v>98.00899999999999</c:v>
                </c:pt>
                <c:pt idx="8">
                  <c:v>69.263</c:v>
                </c:pt>
                <c:pt idx="9">
                  <c:v>868.581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41.791</c:v>
                </c:pt>
                <c:pt idx="2">
                  <c:v>62.579</c:v>
                </c:pt>
                <c:pt idx="3">
                  <c:v>92.294</c:v>
                </c:pt>
                <c:pt idx="4">
                  <c:v>139.224</c:v>
                </c:pt>
                <c:pt idx="5">
                  <c:v>197.176</c:v>
                </c:pt>
                <c:pt idx="6">
                  <c:v>252.30399999999997</c:v>
                </c:pt>
                <c:pt idx="7">
                  <c:v>350.313</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41.791</c:v>
                </c:pt>
                <c:pt idx="1">
                  <c:v>20.788000000000004</c:v>
                </c:pt>
                <c:pt idx="2">
                  <c:v>29.714999999999996</c:v>
                </c:pt>
                <c:pt idx="3">
                  <c:v>46.93</c:v>
                </c:pt>
                <c:pt idx="4">
                  <c:v>57.952</c:v>
                </c:pt>
                <c:pt idx="5">
                  <c:v>55.12799999999999</c:v>
                </c:pt>
                <c:pt idx="6">
                  <c:v>98.00899999999999</c:v>
                </c:pt>
                <c:pt idx="7">
                  <c:v>69.263</c:v>
                </c:pt>
                <c:pt idx="8">
                  <c:v>419.57599999999996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449.00699999999995</c:v>
                </c:pt>
                <c:pt idx="2">
                  <c:v>537.9179999999999</c:v>
                </c:pt>
                <c:pt idx="3">
                  <c:v>640.3149999999999</c:v>
                </c:pt>
                <c:pt idx="4">
                  <c:v>731.861</c:v>
                </c:pt>
                <c:pt idx="5">
                  <c:v>809.457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449.00699999999995</c:v>
                </c:pt>
                <c:pt idx="1">
                  <c:v>88.911</c:v>
                </c:pt>
                <c:pt idx="2">
                  <c:v>102.397</c:v>
                </c:pt>
                <c:pt idx="3">
                  <c:v>91.546</c:v>
                </c:pt>
                <c:pt idx="4">
                  <c:v>77.596</c:v>
                </c:pt>
                <c:pt idx="5">
                  <c:v>59.12400000000001</c:v>
                </c:pt>
                <c:pt idx="6">
                  <c:v>868.581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88.911</c:v>
                </c:pt>
                <c:pt idx="2">
                  <c:v>191.308</c:v>
                </c:pt>
                <c:pt idx="3">
                  <c:v>282.854</c:v>
                </c:pt>
                <c:pt idx="4">
                  <c:v>360.45</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88.911</c:v>
                </c:pt>
                <c:pt idx="1">
                  <c:v>102.397</c:v>
                </c:pt>
                <c:pt idx="2">
                  <c:v>91.546</c:v>
                </c:pt>
                <c:pt idx="3">
                  <c:v>77.596</c:v>
                </c:pt>
                <c:pt idx="4">
                  <c:v>59.12400000000001</c:v>
                </c:pt>
                <c:pt idx="5">
                  <c:v>419.574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449.00600000000003</c:v>
                </c:pt>
                <c:pt idx="2">
                  <c:v>587.168</c:v>
                </c:pt>
                <c:pt idx="3">
                  <c:v>714.799</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449.00600000000003</c:v>
                </c:pt>
                <c:pt idx="1">
                  <c:v>138.162</c:v>
                </c:pt>
                <c:pt idx="2">
                  <c:v>127.63099999999997</c:v>
                </c:pt>
                <c:pt idx="3">
                  <c:v>153.78200000000004</c:v>
                </c:pt>
                <c:pt idx="4">
                  <c:v>868.5810000000001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138.162</c:v>
                </c:pt>
                <c:pt idx="2">
                  <c:v>265.793</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138.162</c:v>
                </c:pt>
                <c:pt idx="1">
                  <c:v>127.63099999999997</c:v>
                </c:pt>
                <c:pt idx="2">
                  <c:v>153.78200000000004</c:v>
                </c:pt>
                <c:pt idx="3">
                  <c:v>419.57500000000005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449.006</c:v>
                </c:pt>
                <c:pt idx="2">
                  <c:v>510.69599999999997</c:v>
                </c:pt>
                <c:pt idx="3">
                  <c:v>579.079</c:v>
                </c:pt>
                <c:pt idx="4">
                  <c:v>648.01</c:v>
                </c:pt>
                <c:pt idx="5">
                  <c:v>703.478</c:v>
                </c:pt>
                <c:pt idx="6">
                  <c:v>806.5949999999999</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449.006</c:v>
                </c:pt>
                <c:pt idx="1">
                  <c:v>61.69000000000001</c:v>
                </c:pt>
                <c:pt idx="2">
                  <c:v>68.383</c:v>
                </c:pt>
                <c:pt idx="3">
                  <c:v>68.931</c:v>
                </c:pt>
                <c:pt idx="4">
                  <c:v>55.468</c:v>
                </c:pt>
                <c:pt idx="5">
                  <c:v>103.117</c:v>
                </c:pt>
                <c:pt idx="6">
                  <c:v>61.98700000000001</c:v>
                </c:pt>
                <c:pt idx="7">
                  <c:v>868.582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61.69000000000001</c:v>
                </c:pt>
                <c:pt idx="2">
                  <c:v>130.073</c:v>
                </c:pt>
                <c:pt idx="3">
                  <c:v>199.00400000000002</c:v>
                </c:pt>
                <c:pt idx="4">
                  <c:v>254.47200000000004</c:v>
                </c:pt>
                <c:pt idx="5">
                  <c:v>357.58900000000006</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61.69000000000001</c:v>
                </c:pt>
                <c:pt idx="1">
                  <c:v>68.383</c:v>
                </c:pt>
                <c:pt idx="2">
                  <c:v>68.931</c:v>
                </c:pt>
                <c:pt idx="3">
                  <c:v>55.468</c:v>
                </c:pt>
                <c:pt idx="4">
                  <c:v>103.117</c:v>
                </c:pt>
                <c:pt idx="5">
                  <c:v>61.98700000000001</c:v>
                </c:pt>
                <c:pt idx="6">
                  <c:v>419.5760000000001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449.0059999999999</c:v>
                </c:pt>
                <c:pt idx="2">
                  <c:v>494.9509999999999</c:v>
                </c:pt>
                <c:pt idx="3">
                  <c:v>578.8179999999999</c:v>
                </c:pt>
                <c:pt idx="4">
                  <c:v>629.6589999999999</c:v>
                </c:pt>
                <c:pt idx="5">
                  <c:v>686.4969999999998</c:v>
                </c:pt>
                <c:pt idx="6">
                  <c:v>759.5489999999999</c:v>
                </c:pt>
                <c:pt idx="7">
                  <c:v>798.8519999999999</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449.0059999999999</c:v>
                </c:pt>
                <c:pt idx="1">
                  <c:v>45.94500000000001</c:v>
                </c:pt>
                <c:pt idx="2">
                  <c:v>83.86699999999999</c:v>
                </c:pt>
                <c:pt idx="3">
                  <c:v>50.840999999999994</c:v>
                </c:pt>
                <c:pt idx="4">
                  <c:v>56.838</c:v>
                </c:pt>
                <c:pt idx="5">
                  <c:v>73.05199999999999</c:v>
                </c:pt>
                <c:pt idx="6">
                  <c:v>39.303</c:v>
                </c:pt>
                <c:pt idx="7">
                  <c:v>69.72900000000001</c:v>
                </c:pt>
                <c:pt idx="8">
                  <c:v>868.5809999999999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45.94500000000001</c:v>
                </c:pt>
                <c:pt idx="2">
                  <c:v>129.812</c:v>
                </c:pt>
                <c:pt idx="3">
                  <c:v>180.65300000000002</c:v>
                </c:pt>
                <c:pt idx="4">
                  <c:v>237.491</c:v>
                </c:pt>
                <c:pt idx="5">
                  <c:v>310.543</c:v>
                </c:pt>
                <c:pt idx="6">
                  <c:v>349.846</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45.94500000000001</c:v>
                </c:pt>
                <c:pt idx="1">
                  <c:v>83.86699999999999</c:v>
                </c:pt>
                <c:pt idx="2">
                  <c:v>50.840999999999994</c:v>
                </c:pt>
                <c:pt idx="3">
                  <c:v>56.838</c:v>
                </c:pt>
                <c:pt idx="4">
                  <c:v>73.05199999999999</c:v>
                </c:pt>
                <c:pt idx="5">
                  <c:v>39.303</c:v>
                </c:pt>
                <c:pt idx="6">
                  <c:v>69.72900000000001</c:v>
                </c:pt>
                <c:pt idx="7">
                  <c:v>419.57500000000005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449.006</c:v>
                </c:pt>
                <c:pt idx="2">
                  <c:v>519.9689999999999</c:v>
                </c:pt>
                <c:pt idx="3">
                  <c:v>604.1289999999999</c:v>
                </c:pt>
                <c:pt idx="4">
                  <c:v>694.0879999999999</c:v>
                </c:pt>
                <c:pt idx="5">
                  <c:v>786.3089999999999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449.006</c:v>
                </c:pt>
                <c:pt idx="1">
                  <c:v>70.963</c:v>
                </c:pt>
                <c:pt idx="2">
                  <c:v>84.16000000000001</c:v>
                </c:pt>
                <c:pt idx="3">
                  <c:v>89.95899999999999</c:v>
                </c:pt>
                <c:pt idx="4">
                  <c:v>92.22099999999999</c:v>
                </c:pt>
                <c:pt idx="5">
                  <c:v>82.27300000000001</c:v>
                </c:pt>
                <c:pt idx="6">
                  <c:v>868.5819999999999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70.963</c:v>
                </c:pt>
                <c:pt idx="2">
                  <c:v>155.123</c:v>
                </c:pt>
                <c:pt idx="3">
                  <c:v>245.082</c:v>
                </c:pt>
                <c:pt idx="4">
                  <c:v>337.303</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70.963</c:v>
                </c:pt>
                <c:pt idx="1">
                  <c:v>84.16000000000001</c:v>
                </c:pt>
                <c:pt idx="2">
                  <c:v>89.95899999999999</c:v>
                </c:pt>
                <c:pt idx="3">
                  <c:v>92.22099999999999</c:v>
                </c:pt>
                <c:pt idx="4">
                  <c:v>82.27300000000001</c:v>
                </c:pt>
                <c:pt idx="5">
                  <c:v>419.576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449.007</c:v>
                </c:pt>
                <c:pt idx="2">
                  <c:v>542.28</c:v>
                </c:pt>
                <c:pt idx="3">
                  <c:v>651.255</c:v>
                </c:pt>
                <c:pt idx="4">
                  <c:v>750.25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449.007</c:v>
                </c:pt>
                <c:pt idx="1">
                  <c:v>93.273</c:v>
                </c:pt>
                <c:pt idx="2">
                  <c:v>108.97500000000001</c:v>
                </c:pt>
                <c:pt idx="3">
                  <c:v>98.99499999999999</c:v>
                </c:pt>
                <c:pt idx="4">
                  <c:v>118.33100000000002</c:v>
                </c:pt>
                <c:pt idx="5">
                  <c:v>868.5810000000001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93.273</c:v>
                </c:pt>
                <c:pt idx="2">
                  <c:v>202.248</c:v>
                </c:pt>
                <c:pt idx="3">
                  <c:v>301.243</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93.273</c:v>
                </c:pt>
                <c:pt idx="1">
                  <c:v>108.97500000000001</c:v>
                </c:pt>
                <c:pt idx="2">
                  <c:v>98.99499999999999</c:v>
                </c:pt>
                <c:pt idx="3">
                  <c:v>118.33100000000002</c:v>
                </c:pt>
                <c:pt idx="4">
                  <c:v>419.574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362.99199999999996</c:v>
                </c:pt>
                <c:pt idx="1">
                  <c:v>378.149</c:v>
                </c:pt>
                <c:pt idx="2">
                  <c:v>393.802</c:v>
                </c:pt>
                <c:pt idx="3">
                  <c:v>409.93600000000004</c:v>
                </c:pt>
                <c:pt idx="4">
                  <c:v>426.954</c:v>
                </c:pt>
                <c:pt idx="5">
                  <c:v>445.81600000000003</c:v>
                </c:pt>
                <c:pt idx="6">
                  <c:v>466.911</c:v>
                </c:pt>
                <c:pt idx="7">
                  <c:v>490.617</c:v>
                </c:pt>
                <c:pt idx="8">
                  <c:v>517.114</c:v>
                </c:pt>
                <c:pt idx="9">
                  <c:v>546.3119999999999</c:v>
                </c:pt>
                <c:pt idx="10">
                  <c:v>577.876</c:v>
                </c:pt>
                <c:pt idx="11">
                  <c:v>611.6200000000001</c:v>
                </c:pt>
                <c:pt idx="12">
                  <c:v>647.172</c:v>
                </c:pt>
                <c:pt idx="13">
                  <c:v>684.351</c:v>
                </c:pt>
                <c:pt idx="14">
                  <c:v>722.7090000000001</c:v>
                </c:pt>
                <c:pt idx="15">
                  <c:v>762.248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Latin America</c:v>
                </c:pt>
                <c:pt idx="2">
                  <c:v>Brazil</c:v>
                </c:pt>
              </c:strCache>
            </c:strRef>
          </c:cat>
          <c:val>
            <c:numRef>
              <c:f>Sheet1!$B$2:$B$4</c:f>
              <c:numCache>
                <c:formatCode>General</c:formatCode>
                <c:ptCount val="3"/>
                <c:pt idx="0">
                  <c:v>0.05245930274733035</c:v>
                </c:pt>
                <c:pt idx="1">
                  <c:v>0.059594570018074444</c:v>
                </c:pt>
                <c:pt idx="2">
                  <c:v>0.05510107193499758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0452669524400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445.81600000000003</c:v>
                </c:pt>
                <c:pt idx="2">
                  <c:v>466.911</c:v>
                </c:pt>
                <c:pt idx="3">
                  <c:v>490.617</c:v>
                </c:pt>
                <c:pt idx="4">
                  <c:v>517.114</c:v>
                </c:pt>
                <c:pt idx="5">
                  <c:v>546.3119999999999</c:v>
                </c:pt>
                <c:pt idx="6">
                  <c:v>577.876</c:v>
                </c:pt>
                <c:pt idx="7">
                  <c:v>611.6200000000001</c:v>
                </c:pt>
                <c:pt idx="8">
                  <c:v>647.172</c:v>
                </c:pt>
                <c:pt idx="9">
                  <c:v>684.351</c:v>
                </c:pt>
                <c:pt idx="10">
                  <c:v>722.7090000000001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445.81600000000003</c:v>
                </c:pt>
                <c:pt idx="1">
                  <c:v>21.09499999999997</c:v>
                </c:pt>
                <c:pt idx="2">
                  <c:v>23.706000000000017</c:v>
                </c:pt>
                <c:pt idx="3">
                  <c:v>26.497000000000014</c:v>
                </c:pt>
                <c:pt idx="4">
                  <c:v>29.197999999999865</c:v>
                </c:pt>
                <c:pt idx="5">
                  <c:v>31.564000000000078</c:v>
                </c:pt>
                <c:pt idx="6">
                  <c:v>33.74400000000014</c:v>
                </c:pt>
                <c:pt idx="7">
                  <c:v>35.55199999999991</c:v>
                </c:pt>
                <c:pt idx="8">
                  <c:v>37.178999999999974</c:v>
                </c:pt>
                <c:pt idx="9">
                  <c:v>38.35800000000006</c:v>
                </c:pt>
                <c:pt idx="10">
                  <c:v>39.53899999999999</c:v>
                </c:pt>
                <c:pt idx="11">
                  <c:v>762.248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Brazil</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Sheet1!$B$2:$B$3</c:f>
              <c:numCache>
                <c:formatCode>General</c:formatCode>
                <c:ptCount val="2"/>
                <c:pt idx="0">
                  <c:v>50.02025197723252</c:v>
                </c:pt>
                <c:pt idx="1">
                  <c:v>5.635232769231976</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Sheet1!$C$2:$C$3</c:f>
              <c:numCache>
                <c:formatCode>General</c:formatCode>
                <c:ptCount val="2"/>
                <c:pt idx="0">
                  <c:v>49.97974802276748</c:v>
                </c:pt>
                <c:pt idx="1">
                  <c:v>94.36476723076802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575.14</c:v>
                </c:pt>
                <c:pt idx="1">
                  <c:v>602.595</c:v>
                </c:pt>
                <c:pt idx="2">
                  <c:v>631.306</c:v>
                </c:pt>
                <c:pt idx="3">
                  <c:v>661.5740000000001</c:v>
                </c:pt>
                <c:pt idx="4">
                  <c:v>693.7160000000001</c:v>
                </c:pt>
                <c:pt idx="5">
                  <c:v>732.34</c:v>
                </c:pt>
                <c:pt idx="6">
                  <c:v>776.329</c:v>
                </c:pt>
                <c:pt idx="7">
                  <c:v>826.421</c:v>
                </c:pt>
                <c:pt idx="8">
                  <c:v>883.352</c:v>
                </c:pt>
                <c:pt idx="9">
                  <c:v>947.56</c:v>
                </c:pt>
                <c:pt idx="10">
                  <c:v>1018.991</c:v>
                </c:pt>
                <c:pt idx="11">
                  <c:v>1097.558</c:v>
                </c:pt>
                <c:pt idx="12">
                  <c:v>1182.57</c:v>
                </c:pt>
                <c:pt idx="13">
                  <c:v>1274.1770000000001</c:v>
                </c:pt>
                <c:pt idx="14">
                  <c:v>1372.336</c:v>
                </c:pt>
                <c:pt idx="15">
                  <c:v>1477.106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Latin America</c:v>
                </c:pt>
                <c:pt idx="2">
                  <c:v>Brazil</c:v>
                </c:pt>
              </c:strCache>
            </c:strRef>
          </c:cat>
          <c:val>
            <c:numRef>
              <c:f>Sheet1!$B$2:$B$4</c:f>
              <c:numCache>
                <c:formatCode>General</c:formatCode>
                <c:ptCount val="3"/>
                <c:pt idx="0">
                  <c:v>0.06658666629421717</c:v>
                </c:pt>
                <c:pt idx="1">
                  <c:v>0.07624186200883054</c:v>
                </c:pt>
                <c:pt idx="2">
                  <c:v>0.07267927712094324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292651371192124"/>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732.34</c:v>
                </c:pt>
                <c:pt idx="2">
                  <c:v>776.329</c:v>
                </c:pt>
                <c:pt idx="3">
                  <c:v>826.421</c:v>
                </c:pt>
                <c:pt idx="4">
                  <c:v>883.352</c:v>
                </c:pt>
                <c:pt idx="5">
                  <c:v>947.56</c:v>
                </c:pt>
                <c:pt idx="6">
                  <c:v>1018.991</c:v>
                </c:pt>
                <c:pt idx="7">
                  <c:v>1097.558</c:v>
                </c:pt>
                <c:pt idx="8">
                  <c:v>1182.57</c:v>
                </c:pt>
                <c:pt idx="9">
                  <c:v>1274.1770000000001</c:v>
                </c:pt>
                <c:pt idx="10">
                  <c:v>1372.336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732.34</c:v>
                </c:pt>
                <c:pt idx="1">
                  <c:v>43.98899999999992</c:v>
                </c:pt>
                <c:pt idx="2">
                  <c:v>50.0920000000001</c:v>
                </c:pt>
                <c:pt idx="3">
                  <c:v>56.930999999999926</c:v>
                </c:pt>
                <c:pt idx="4">
                  <c:v>64.20799999999997</c:v>
                </c:pt>
                <c:pt idx="5">
                  <c:v>71.43100000000004</c:v>
                </c:pt>
                <c:pt idx="6">
                  <c:v>78.56700000000001</c:v>
                </c:pt>
                <c:pt idx="7">
                  <c:v>85.01199999999994</c:v>
                </c:pt>
                <c:pt idx="8">
                  <c:v>91.6070000000002</c:v>
                </c:pt>
                <c:pt idx="9">
                  <c:v>98.15899999999988</c:v>
                </c:pt>
                <c:pt idx="10">
                  <c:v>104.76999999999998</c:v>
                </c:pt>
                <c:pt idx="11">
                  <c:v>1477.106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Brazil</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Sheet1!$B$2:$B$3</c:f>
              <c:numCache>
                <c:formatCode>General</c:formatCode>
                <c:ptCount val="2"/>
                <c:pt idx="0">
                  <c:v>54.2327444801961</c:v>
                </c:pt>
                <c:pt idx="1">
                  <c:v>4.5468972272333525</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Sheet1!$C$2:$C$3</c:f>
              <c:numCache>
                <c:formatCode>General</c:formatCode>
                <c:ptCount val="2"/>
                <c:pt idx="0">
                  <c:v>45.7672555198039</c:v>
                </c:pt>
                <c:pt idx="1">
                  <c:v>95.45310277276664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Powders</c:v>
                </c:pt>
                <c:pt idx="2">
                  <c:v>Gels and Jellies</c:v>
                </c:pt>
                <c:pt idx="3">
                  <c:v>Sprays and Mists</c:v>
                </c:pt>
                <c:pt idx="4">
                  <c:v>Sticks and Balms</c:v>
                </c:pt>
                <c:pt idx="5">
                  <c:v>Creams and Lotions</c:v>
                </c:pt>
                <c:pt idx="6">
                  <c:v>Waxes, Clays, Pastes…</c:v>
                </c:pt>
                <c:pt idx="7">
                  <c:v>Serums and Oils</c:v>
                </c:pt>
              </c:strCache>
            </c:strRef>
          </c:cat>
          <c:val>
            <c:numRef>
              <c:f>Sheet1!$B$2:$B$9</c:f>
              <c:numCache>
                <c:formatCode>General</c:formatCode>
                <c:ptCount val="8"/>
                <c:pt idx="0">
                  <c:v>50.361000000000004</c:v>
                </c:pt>
                <c:pt idx="1">
                  <c:v>69.818</c:v>
                </c:pt>
                <c:pt idx="2">
                  <c:v>73.593</c:v>
                </c:pt>
                <c:pt idx="3">
                  <c:v>74.114</c:v>
                </c:pt>
                <c:pt idx="4">
                  <c:v>90.527</c:v>
                </c:pt>
                <c:pt idx="5">
                  <c:v>108.314</c:v>
                </c:pt>
                <c:pt idx="6">
                  <c:v>111.179</c:v>
                </c:pt>
                <c:pt idx="7">
                  <c:v>154.434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06.9415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129.658</c:v>
                </c:pt>
                <c:pt idx="4">
                  <c:v>138.877</c:v>
                </c:pt>
                <c:pt idx="5">
                  <c:v>147.822</c:v>
                </c:pt>
                <c:pt idx="6">
                  <c:v>153.354</c:v>
                </c:pt>
                <c:pt idx="7">
                  <c:v>162.628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17.9215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228.98</c:v>
                </c:pt>
                <c:pt idx="6">
                  <c:v>233.458</c:v>
                </c:pt>
                <c:pt idx="7">
                  <c:v>269.901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61.6673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Online Marketplaces</c:v>
                </c:pt>
                <c:pt idx="6">
                  <c:v>Salon and Professiona…</c:v>
                </c:pt>
                <c:pt idx="7">
                  <c:v>Mass Retail</c:v>
                </c:pt>
              </c:strCache>
            </c:strRef>
          </c:cat>
          <c:val>
            <c:numRef>
              <c:f>Sheet1!$B$2:$B$9</c:f>
              <c:numCache>
                <c:formatCode>General</c:formatCode>
                <c:ptCount val="8"/>
                <c:pt idx="2">
                  <c:v>89.593</c:v>
                </c:pt>
                <c:pt idx="3">
                  <c:v>111.471</c:v>
                </c:pt>
                <c:pt idx="4">
                  <c:v>113.076</c:v>
                </c:pt>
                <c:pt idx="5">
                  <c:v>119.393</c:v>
                </c:pt>
                <c:pt idx="6">
                  <c:v>145.208</c:v>
                </c:pt>
                <c:pt idx="7">
                  <c:v>153.596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05.81864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Volume and Root Lift</c:v>
                </c:pt>
                <c:pt idx="2">
                  <c:v>Texture and Separation</c:v>
                </c:pt>
                <c:pt idx="3">
                  <c:v>Heat Styling Support</c:v>
                </c:pt>
                <c:pt idx="4">
                  <c:v>Sleek Styling and Edg…</c:v>
                </c:pt>
                <c:pt idx="5">
                  <c:v>Hold and Shape</c:v>
                </c:pt>
                <c:pt idx="6">
                  <c:v>Smoothing and Frizz C…</c:v>
                </c:pt>
                <c:pt idx="7">
                  <c:v>Curl Definition</c:v>
                </c:pt>
              </c:strCache>
            </c:strRef>
          </c:cat>
          <c:val>
            <c:numRef>
              <c:f>Sheet1!$B$2:$B$9</c:f>
              <c:numCache>
                <c:formatCode>General</c:formatCode>
                <c:ptCount val="8"/>
                <c:pt idx="1">
                  <c:v>89.573</c:v>
                </c:pt>
                <c:pt idx="2">
                  <c:v>89.692</c:v>
                </c:pt>
                <c:pt idx="3">
                  <c:v>89.959</c:v>
                </c:pt>
                <c:pt idx="4">
                  <c:v>95.278</c:v>
                </c:pt>
                <c:pt idx="5">
                  <c:v>100.987</c:v>
                </c:pt>
                <c:pt idx="6">
                  <c:v>131.687</c:v>
                </c:pt>
                <c:pt idx="7">
                  <c:v>135.164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81.11975999999999"/>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Wavy Hair</c:v>
                </c:pt>
                <c:pt idx="4">
                  <c:v>Straight Hair</c:v>
                </c:pt>
                <c:pt idx="5">
                  <c:v>All Hair Types</c:v>
                </c:pt>
                <c:pt idx="6">
                  <c:v>Curly Hair</c:v>
                </c:pt>
                <c:pt idx="7">
                  <c:v>Coily Hair</c:v>
                </c:pt>
              </c:strCache>
            </c:strRef>
          </c:cat>
          <c:val>
            <c:numRef>
              <c:f>Sheet1!$B$2:$B$9</c:f>
              <c:numCache>
                <c:formatCode>General</c:formatCode>
                <c:ptCount val="8"/>
                <c:pt idx="3">
                  <c:v>126.106</c:v>
                </c:pt>
                <c:pt idx="4">
                  <c:v>130.61</c:v>
                </c:pt>
                <c:pt idx="5">
                  <c:v>136.863</c:v>
                </c:pt>
                <c:pt idx="6">
                  <c:v>164.39</c:v>
                </c:pt>
                <c:pt idx="7">
                  <c:v>174.37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33.65580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175.304</c:v>
                </c:pt>
                <c:pt idx="5">
                  <c:v>182.586</c:v>
                </c:pt>
                <c:pt idx="6">
                  <c:v>184.094</c:v>
                </c:pt>
                <c:pt idx="7">
                  <c:v>190.355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55.0757"/>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732.34</c:v>
                </c:pt>
                <c:pt idx="2">
                  <c:v>785.101</c:v>
                </c:pt>
                <c:pt idx="3">
                  <c:v>821.669</c:v>
                </c:pt>
                <c:pt idx="4">
                  <c:v>879.215</c:v>
                </c:pt>
                <c:pt idx="5">
                  <c:v>978.691</c:v>
                </c:pt>
                <c:pt idx="6">
                  <c:v>1079.3220000000001</c:v>
                </c:pt>
                <c:pt idx="7">
                  <c:v>1158.0690000000002</c:v>
                </c:pt>
                <c:pt idx="8">
                  <c:v>1347.5140000000001</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732.34</c:v>
                </c:pt>
                <c:pt idx="1">
                  <c:v>52.760999999999996</c:v>
                </c:pt>
                <c:pt idx="2">
                  <c:v>36.568</c:v>
                </c:pt>
                <c:pt idx="3">
                  <c:v>57.54600000000001</c:v>
                </c:pt>
                <c:pt idx="4">
                  <c:v>99.476</c:v>
                </c:pt>
                <c:pt idx="5">
                  <c:v>100.631</c:v>
                </c:pt>
                <c:pt idx="6">
                  <c:v>78.747</c:v>
                </c:pt>
                <c:pt idx="7">
                  <c:v>189.44500000000002</c:v>
                </c:pt>
                <c:pt idx="8">
                  <c:v>129.59199999999998</c:v>
                </c:pt>
                <c:pt idx="9">
                  <c:v>1477.106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52.760999999999996</c:v>
                </c:pt>
                <c:pt idx="2">
                  <c:v>89.329</c:v>
                </c:pt>
                <c:pt idx="3">
                  <c:v>146.875</c:v>
                </c:pt>
                <c:pt idx="4">
                  <c:v>246.351</c:v>
                </c:pt>
                <c:pt idx="5">
                  <c:v>346.98199999999997</c:v>
                </c:pt>
                <c:pt idx="6">
                  <c:v>425.729</c:v>
                </c:pt>
                <c:pt idx="7">
                  <c:v>615.174</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52.760999999999996</c:v>
                </c:pt>
                <c:pt idx="1">
                  <c:v>36.568</c:v>
                </c:pt>
                <c:pt idx="2">
                  <c:v>57.54600000000001</c:v>
                </c:pt>
                <c:pt idx="3">
                  <c:v>99.476</c:v>
                </c:pt>
                <c:pt idx="4">
                  <c:v>100.631</c:v>
                </c:pt>
                <c:pt idx="5">
                  <c:v>78.747</c:v>
                </c:pt>
                <c:pt idx="6">
                  <c:v>189.44500000000002</c:v>
                </c:pt>
                <c:pt idx="7">
                  <c:v>129.59199999999998</c:v>
                </c:pt>
                <c:pt idx="8">
                  <c:v>744.7660000000001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732.339</c:v>
                </c:pt>
                <c:pt idx="2">
                  <c:v>889.542</c:v>
                </c:pt>
                <c:pt idx="3">
                  <c:v>1069.886</c:v>
                </c:pt>
                <c:pt idx="4">
                  <c:v>1232.449</c:v>
                </c:pt>
                <c:pt idx="5">
                  <c:v>1370.942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732.339</c:v>
                </c:pt>
                <c:pt idx="1">
                  <c:v>157.20299999999997</c:v>
                </c:pt>
                <c:pt idx="2">
                  <c:v>180.344</c:v>
                </c:pt>
                <c:pt idx="3">
                  <c:v>162.563</c:v>
                </c:pt>
                <c:pt idx="4">
                  <c:v>138.49299999999997</c:v>
                </c:pt>
                <c:pt idx="5">
                  <c:v>106.16300000000001</c:v>
                </c:pt>
                <c:pt idx="6">
                  <c:v>1477.1049999999998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157.20299999999997</c:v>
                </c:pt>
                <c:pt idx="2">
                  <c:v>337.54699999999997</c:v>
                </c:pt>
                <c:pt idx="3">
                  <c:v>500.10999999999996</c:v>
                </c:pt>
                <c:pt idx="4">
                  <c:v>638.603</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157.20299999999997</c:v>
                </c:pt>
                <c:pt idx="1">
                  <c:v>180.344</c:v>
                </c:pt>
                <c:pt idx="2">
                  <c:v>162.563</c:v>
                </c:pt>
                <c:pt idx="3">
                  <c:v>138.49299999999997</c:v>
                </c:pt>
                <c:pt idx="4">
                  <c:v>106.16300000000001</c:v>
                </c:pt>
                <c:pt idx="5">
                  <c:v>744.766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732.3389999999999</c:v>
                </c:pt>
                <c:pt idx="2">
                  <c:v>961.0799999999999</c:v>
                </c:pt>
                <c:pt idx="3">
                  <c:v>1171.773</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732.3389999999999</c:v>
                </c:pt>
                <c:pt idx="1">
                  <c:v>228.741</c:v>
                </c:pt>
                <c:pt idx="2">
                  <c:v>210.693</c:v>
                </c:pt>
                <c:pt idx="3">
                  <c:v>305.33199999999994</c:v>
                </c:pt>
                <c:pt idx="4">
                  <c:v>1477.105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228.741</c:v>
                </c:pt>
                <c:pt idx="2">
                  <c:v>439.434</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228.741</c:v>
                </c:pt>
                <c:pt idx="1">
                  <c:v>210.693</c:v>
                </c:pt>
                <c:pt idx="2">
                  <c:v>305.33199999999994</c:v>
                </c:pt>
                <c:pt idx="3">
                  <c:v>744.766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732.337</c:v>
                </c:pt>
                <c:pt idx="2">
                  <c:v>853.749</c:v>
                </c:pt>
                <c:pt idx="3">
                  <c:v>974.081</c:v>
                </c:pt>
                <c:pt idx="4">
                  <c:v>1115.5620000000001</c:v>
                </c:pt>
                <c:pt idx="5">
                  <c:v>1214.2990000000002</c:v>
                </c:pt>
                <c:pt idx="6">
                  <c:v>1369.0480000000002</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732.337</c:v>
                </c:pt>
                <c:pt idx="1">
                  <c:v>121.41199999999998</c:v>
                </c:pt>
                <c:pt idx="2">
                  <c:v>120.332</c:v>
                </c:pt>
                <c:pt idx="3">
                  <c:v>141.48100000000002</c:v>
                </c:pt>
                <c:pt idx="4">
                  <c:v>98.737</c:v>
                </c:pt>
                <c:pt idx="5">
                  <c:v>154.749</c:v>
                </c:pt>
                <c:pt idx="6">
                  <c:v>108.058</c:v>
                </c:pt>
                <c:pt idx="7">
                  <c:v>1477.106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121.41199999999998</c:v>
                </c:pt>
                <c:pt idx="2">
                  <c:v>241.74399999999997</c:v>
                </c:pt>
                <c:pt idx="3">
                  <c:v>383.225</c:v>
                </c:pt>
                <c:pt idx="4">
                  <c:v>481.962</c:v>
                </c:pt>
                <c:pt idx="5">
                  <c:v>636.711</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121.41199999999998</c:v>
                </c:pt>
                <c:pt idx="1">
                  <c:v>120.332</c:v>
                </c:pt>
                <c:pt idx="2">
                  <c:v>141.48100000000002</c:v>
                </c:pt>
                <c:pt idx="3">
                  <c:v>98.737</c:v>
                </c:pt>
                <c:pt idx="4">
                  <c:v>154.749</c:v>
                </c:pt>
                <c:pt idx="5">
                  <c:v>108.058</c:v>
                </c:pt>
                <c:pt idx="6">
                  <c:v>744.769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732.3400000000001</c:v>
                </c:pt>
                <c:pt idx="2">
                  <c:v>804.2260000000001</c:v>
                </c:pt>
                <c:pt idx="3">
                  <c:v>980.4280000000001</c:v>
                </c:pt>
                <c:pt idx="4">
                  <c:v>1059.461</c:v>
                </c:pt>
                <c:pt idx="5">
                  <c:v>1147.438</c:v>
                </c:pt>
                <c:pt idx="6">
                  <c:v>1293.44</c:v>
                </c:pt>
                <c:pt idx="7">
                  <c:v>1369.929</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732.3400000000001</c:v>
                </c:pt>
                <c:pt idx="1">
                  <c:v>71.886</c:v>
                </c:pt>
                <c:pt idx="2">
                  <c:v>176.202</c:v>
                </c:pt>
                <c:pt idx="3">
                  <c:v>79.033</c:v>
                </c:pt>
                <c:pt idx="4">
                  <c:v>87.97700000000002</c:v>
                </c:pt>
                <c:pt idx="5">
                  <c:v>146.002</c:v>
                </c:pt>
                <c:pt idx="6">
                  <c:v>76.48899999999999</c:v>
                </c:pt>
                <c:pt idx="7">
                  <c:v>107.17599999999999</c:v>
                </c:pt>
                <c:pt idx="8">
                  <c:v>1477.105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71.886</c:v>
                </c:pt>
                <c:pt idx="2">
                  <c:v>248.088</c:v>
                </c:pt>
                <c:pt idx="3">
                  <c:v>327.121</c:v>
                </c:pt>
                <c:pt idx="4">
                  <c:v>415.098</c:v>
                </c:pt>
                <c:pt idx="5">
                  <c:v>561.1</c:v>
                </c:pt>
                <c:pt idx="6">
                  <c:v>637.589</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71.886</c:v>
                </c:pt>
                <c:pt idx="1">
                  <c:v>176.202</c:v>
                </c:pt>
                <c:pt idx="2">
                  <c:v>79.033</c:v>
                </c:pt>
                <c:pt idx="3">
                  <c:v>87.97700000000002</c:v>
                </c:pt>
                <c:pt idx="4">
                  <c:v>146.002</c:v>
                </c:pt>
                <c:pt idx="5">
                  <c:v>76.48899999999999</c:v>
                </c:pt>
                <c:pt idx="6">
                  <c:v>107.17599999999999</c:v>
                </c:pt>
                <c:pt idx="7">
                  <c:v>744.7650000000001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732.3389999999999</c:v>
                </c:pt>
                <c:pt idx="2">
                  <c:v>837.2749999999999</c:v>
                </c:pt>
                <c:pt idx="3">
                  <c:v>961.0849999999998</c:v>
                </c:pt>
                <c:pt idx="4">
                  <c:v>1144.658</c:v>
                </c:pt>
                <c:pt idx="5">
                  <c:v>1354.607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732.3389999999999</c:v>
                </c:pt>
                <c:pt idx="1">
                  <c:v>104.93599999999998</c:v>
                </c:pt>
                <c:pt idx="2">
                  <c:v>123.81</c:v>
                </c:pt>
                <c:pt idx="3">
                  <c:v>183.57300000000004</c:v>
                </c:pt>
                <c:pt idx="4">
                  <c:v>209.949</c:v>
                </c:pt>
                <c:pt idx="5">
                  <c:v>122.49900000000002</c:v>
                </c:pt>
                <c:pt idx="6">
                  <c:v>1477.106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104.93599999999998</c:v>
                </c:pt>
                <c:pt idx="2">
                  <c:v>228.74599999999998</c:v>
                </c:pt>
                <c:pt idx="3">
                  <c:v>412.319</c:v>
                </c:pt>
                <c:pt idx="4">
                  <c:v>622.268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104.93599999999998</c:v>
                </c:pt>
                <c:pt idx="1">
                  <c:v>123.81</c:v>
                </c:pt>
                <c:pt idx="2">
                  <c:v>183.57300000000004</c:v>
                </c:pt>
                <c:pt idx="3">
                  <c:v>209.949</c:v>
                </c:pt>
                <c:pt idx="4">
                  <c:v>122.49900000000002</c:v>
                </c:pt>
                <c:pt idx="5">
                  <c:v>744.767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732.3389999999999</c:v>
                </c:pt>
                <c:pt idx="2">
                  <c:v>901.516</c:v>
                </c:pt>
                <c:pt idx="3">
                  <c:v>1108.766</c:v>
                </c:pt>
                <c:pt idx="4">
                  <c:v>1279.941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732.3389999999999</c:v>
                </c:pt>
                <c:pt idx="1">
                  <c:v>169.17700000000005</c:v>
                </c:pt>
                <c:pt idx="2">
                  <c:v>207.25</c:v>
                </c:pt>
                <c:pt idx="3">
                  <c:v>171.175</c:v>
                </c:pt>
                <c:pt idx="4">
                  <c:v>197.16500000000005</c:v>
                </c:pt>
                <c:pt idx="5">
                  <c:v>1477.106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169.17700000000005</c:v>
                </c:pt>
                <c:pt idx="2">
                  <c:v>376.427</c:v>
                </c:pt>
                <c:pt idx="3">
                  <c:v>547.6020000000001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169.17700000000005</c:v>
                </c:pt>
                <c:pt idx="1">
                  <c:v>207.25</c:v>
                </c:pt>
                <c:pt idx="2">
                  <c:v>171.175</c:v>
                </c:pt>
                <c:pt idx="3">
                  <c:v>197.16500000000005</c:v>
                </c:pt>
                <c:pt idx="4">
                  <c:v>744.7670000000002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144.5</c:v>
                </c:pt>
                <c:pt idx="1">
                  <c:v>151.118</c:v>
                </c:pt>
                <c:pt idx="2">
                  <c:v>157.99200000000002</c:v>
                </c:pt>
                <c:pt idx="3">
                  <c:v>165.111</c:v>
                </c:pt>
                <c:pt idx="4">
                  <c:v>172.652</c:v>
                </c:pt>
                <c:pt idx="5">
                  <c:v>181.026</c:v>
                </c:pt>
                <c:pt idx="6">
                  <c:v>190.404</c:v>
                </c:pt>
                <c:pt idx="7">
                  <c:v>200.95600000000002</c:v>
                </c:pt>
                <c:pt idx="8">
                  <c:v>212.764</c:v>
                </c:pt>
                <c:pt idx="9">
                  <c:v>225.785</c:v>
                </c:pt>
                <c:pt idx="10">
                  <c:v>239.90300000000002</c:v>
                </c:pt>
                <c:pt idx="11">
                  <c:v>255.056</c:v>
                </c:pt>
                <c:pt idx="12">
                  <c:v>271.10699999999997</c:v>
                </c:pt>
                <c:pt idx="13">
                  <c:v>287.98199999999997</c:v>
                </c:pt>
                <c:pt idx="14">
                  <c:v>305.46500000000003</c:v>
                </c:pt>
                <c:pt idx="15">
                  <c:v>323.565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Latin America</c:v>
                </c:pt>
                <c:pt idx="2">
                  <c:v>Mexico</c:v>
                </c:pt>
              </c:strCache>
            </c:strRef>
          </c:cat>
          <c:val>
            <c:numRef>
              <c:f>Sheet1!$B$2:$B$4</c:f>
              <c:numCache>
                <c:formatCode>General</c:formatCode>
                <c:ptCount val="3"/>
                <c:pt idx="0">
                  <c:v>0.05245930274733035</c:v>
                </c:pt>
                <c:pt idx="1">
                  <c:v>0.059594570018074444</c:v>
                </c:pt>
                <c:pt idx="2">
                  <c:v>0.059795468621877346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07238826395344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181.026</c:v>
                </c:pt>
                <c:pt idx="2">
                  <c:v>190.404</c:v>
                </c:pt>
                <c:pt idx="3">
                  <c:v>200.95600000000002</c:v>
                </c:pt>
                <c:pt idx="4">
                  <c:v>212.764</c:v>
                </c:pt>
                <c:pt idx="5">
                  <c:v>225.785</c:v>
                </c:pt>
                <c:pt idx="6">
                  <c:v>239.90300000000002</c:v>
                </c:pt>
                <c:pt idx="7">
                  <c:v>255.056</c:v>
                </c:pt>
                <c:pt idx="8">
                  <c:v>271.10699999999997</c:v>
                </c:pt>
                <c:pt idx="9">
                  <c:v>287.98199999999997</c:v>
                </c:pt>
                <c:pt idx="10">
                  <c:v>305.46500000000003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181.026</c:v>
                </c:pt>
                <c:pt idx="1">
                  <c:v>9.377999999999986</c:v>
                </c:pt>
                <c:pt idx="2">
                  <c:v>10.552000000000021</c:v>
                </c:pt>
                <c:pt idx="3">
                  <c:v>11.807999999999993</c:v>
                </c:pt>
                <c:pt idx="4">
                  <c:v>13.020999999999987</c:v>
                </c:pt>
                <c:pt idx="5">
                  <c:v>14.118000000000023</c:v>
                </c:pt>
                <c:pt idx="6">
                  <c:v>15.152999999999992</c:v>
                </c:pt>
                <c:pt idx="7">
                  <c:v>16.05099999999996</c:v>
                </c:pt>
                <c:pt idx="8">
                  <c:v>16.875</c:v>
                </c:pt>
                <c:pt idx="9">
                  <c:v>17.48300000000006</c:v>
                </c:pt>
                <c:pt idx="10">
                  <c:v>18.099999999999966</c:v>
                </c:pt>
                <c:pt idx="11">
                  <c:v>323.565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Mexico</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Sheet1!$B$2:$B$3</c:f>
              <c:numCache>
                <c:formatCode>General</c:formatCode>
                <c:ptCount val="2"/>
                <c:pt idx="0">
                  <c:v>20.31099407475392</c:v>
                </c:pt>
                <c:pt idx="1">
                  <c:v>2.288216769436242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Sheet1!$C$2:$C$3</c:f>
              <c:numCache>
                <c:formatCode>General</c:formatCode>
                <c:ptCount val="2"/>
                <c:pt idx="0">
                  <c:v>79.68900592524608</c:v>
                </c:pt>
                <c:pt idx="1">
                  <c:v>97.71178323056375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209.068</c:v>
                </c:pt>
                <c:pt idx="1">
                  <c:v>219.707</c:v>
                </c:pt>
                <c:pt idx="2">
                  <c:v>230.855</c:v>
                </c:pt>
                <c:pt idx="3">
                  <c:v>242.599</c:v>
                </c:pt>
                <c:pt idx="4">
                  <c:v>255.126</c:v>
                </c:pt>
                <c:pt idx="5">
                  <c:v>270.038</c:v>
                </c:pt>
                <c:pt idx="6">
                  <c:v>286.968</c:v>
                </c:pt>
                <c:pt idx="7">
                  <c:v>306.332</c:v>
                </c:pt>
                <c:pt idx="8">
                  <c:v>328.42499999999995</c:v>
                </c:pt>
                <c:pt idx="9">
                  <c:v>353.36199999999997</c:v>
                </c:pt>
                <c:pt idx="10">
                  <c:v>381.02</c:v>
                </c:pt>
                <c:pt idx="11">
                  <c:v>411.4150000000001</c:v>
                </c:pt>
                <c:pt idx="12">
                  <c:v>444.426</c:v>
                </c:pt>
                <c:pt idx="13">
                  <c:v>480.099</c:v>
                </c:pt>
                <c:pt idx="14">
                  <c:v>518.334</c:v>
                </c:pt>
                <c:pt idx="15">
                  <c:v>559.21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Latin America</c:v>
                </c:pt>
                <c:pt idx="2">
                  <c:v>Mexico</c:v>
                </c:pt>
              </c:strCache>
            </c:strRef>
          </c:cat>
          <c:val>
            <c:numRef>
              <c:f>Sheet1!$B$2:$B$4</c:f>
              <c:numCache>
                <c:formatCode>General</c:formatCode>
                <c:ptCount val="3"/>
                <c:pt idx="0">
                  <c:v>0.06658666629421717</c:v>
                </c:pt>
                <c:pt idx="1">
                  <c:v>0.07624186200883054</c:v>
                </c:pt>
                <c:pt idx="2">
                  <c:v>0.07551136662773006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292651371192124"/>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270.038</c:v>
                </c:pt>
                <c:pt idx="2">
                  <c:v>286.968</c:v>
                </c:pt>
                <c:pt idx="3">
                  <c:v>306.332</c:v>
                </c:pt>
                <c:pt idx="4">
                  <c:v>328.42499999999995</c:v>
                </c:pt>
                <c:pt idx="5">
                  <c:v>353.36199999999997</c:v>
                </c:pt>
                <c:pt idx="6">
                  <c:v>381.02</c:v>
                </c:pt>
                <c:pt idx="7">
                  <c:v>411.4150000000001</c:v>
                </c:pt>
                <c:pt idx="8">
                  <c:v>444.426</c:v>
                </c:pt>
                <c:pt idx="9">
                  <c:v>480.099</c:v>
                </c:pt>
                <c:pt idx="10">
                  <c:v>518.334</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270.038</c:v>
                </c:pt>
                <c:pt idx="1">
                  <c:v>16.930000000000007</c:v>
                </c:pt>
                <c:pt idx="2">
                  <c:v>19.363999999999976</c:v>
                </c:pt>
                <c:pt idx="3">
                  <c:v>22.09299999999996</c:v>
                </c:pt>
                <c:pt idx="4">
                  <c:v>24.937000000000012</c:v>
                </c:pt>
                <c:pt idx="5">
                  <c:v>27.658000000000015</c:v>
                </c:pt>
                <c:pt idx="6">
                  <c:v>30.395000000000095</c:v>
                </c:pt>
                <c:pt idx="7">
                  <c:v>33.01099999999991</c:v>
                </c:pt>
                <c:pt idx="8">
                  <c:v>35.673</c:v>
                </c:pt>
                <c:pt idx="9">
                  <c:v>38.23499999999996</c:v>
                </c:pt>
                <c:pt idx="10">
                  <c:v>40.87600000000009</c:v>
                </c:pt>
                <c:pt idx="11">
                  <c:v>559.21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Mexico</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Sheet1!$B$2:$B$3</c:f>
              <c:numCache>
                <c:formatCode>General</c:formatCode>
                <c:ptCount val="2"/>
                <c:pt idx="0">
                  <c:v>19.997408108178156</c:v>
                </c:pt>
                <c:pt idx="1">
                  <c:v>1.6765915195778465</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Sheet1!$C$2:$C$3</c:f>
              <c:numCache>
                <c:formatCode>General</c:formatCode>
                <c:ptCount val="2"/>
                <c:pt idx="0">
                  <c:v>80.00259189182185</c:v>
                </c:pt>
                <c:pt idx="1">
                  <c:v>98.32340848042216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Powders</c:v>
                </c:pt>
                <c:pt idx="2">
                  <c:v>Gels and Jellies</c:v>
                </c:pt>
                <c:pt idx="3">
                  <c:v>Sprays and Mists</c:v>
                </c:pt>
                <c:pt idx="4">
                  <c:v>Sticks and Balms</c:v>
                </c:pt>
                <c:pt idx="5">
                  <c:v>Creams and Lotions</c:v>
                </c:pt>
                <c:pt idx="6">
                  <c:v>Waxes, Clays, Pastes…</c:v>
                </c:pt>
                <c:pt idx="7">
                  <c:v>Serums and Oils</c:v>
                </c:pt>
              </c:strCache>
            </c:strRef>
          </c:cat>
          <c:val>
            <c:numRef>
              <c:f>Sheet1!$B$2:$B$9</c:f>
              <c:numCache>
                <c:formatCode>General</c:formatCode>
                <c:ptCount val="8"/>
                <c:pt idx="0">
                  <c:v>19.241</c:v>
                </c:pt>
                <c:pt idx="1">
                  <c:v>26.818</c:v>
                </c:pt>
                <c:pt idx="2">
                  <c:v>29.811</c:v>
                </c:pt>
                <c:pt idx="3">
                  <c:v>31.576999999999998</c:v>
                </c:pt>
                <c:pt idx="4">
                  <c:v>34.389</c:v>
                </c:pt>
                <c:pt idx="5">
                  <c:v>35.079</c:v>
                </c:pt>
                <c:pt idx="6">
                  <c:v>46.51</c:v>
                </c:pt>
                <c:pt idx="7">
                  <c:v>46.613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2.461420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47.823</c:v>
                </c:pt>
                <c:pt idx="4">
                  <c:v>51.159</c:v>
                </c:pt>
                <c:pt idx="5">
                  <c:v>54.488</c:v>
                </c:pt>
                <c:pt idx="6">
                  <c:v>56.579</c:v>
                </c:pt>
                <c:pt idx="7">
                  <c:v>59.99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80.386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85.815</c:v>
                </c:pt>
                <c:pt idx="6">
                  <c:v>88.291</c:v>
                </c:pt>
                <c:pt idx="7">
                  <c:v>95.932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28.5488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Online Marketplaces</c:v>
                </c:pt>
                <c:pt idx="6">
                  <c:v>Salon and Professiona…</c:v>
                </c:pt>
                <c:pt idx="7">
                  <c:v>Mass Retail</c:v>
                </c:pt>
              </c:strCache>
            </c:strRef>
          </c:cat>
          <c:val>
            <c:numRef>
              <c:f>Sheet1!$B$2:$B$9</c:f>
              <c:numCache>
                <c:formatCode>General</c:formatCode>
                <c:ptCount val="8"/>
                <c:pt idx="2">
                  <c:v>33.276</c:v>
                </c:pt>
                <c:pt idx="3">
                  <c:v>41.11</c:v>
                </c:pt>
                <c:pt idx="4">
                  <c:v>41.994</c:v>
                </c:pt>
                <c:pt idx="5">
                  <c:v>44.285</c:v>
                </c:pt>
                <c:pt idx="6">
                  <c:v>46.529</c:v>
                </c:pt>
                <c:pt idx="7">
                  <c:v>62.844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84.2109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Curl Definition</c:v>
                </c:pt>
                <c:pt idx="5">
                  <c:v>Hold and Shape</c:v>
                </c:pt>
                <c:pt idx="6">
                  <c:v>Heat Styling Support</c:v>
                </c:pt>
                <c:pt idx="7">
                  <c:v>Smoothing and Frizz C…</c:v>
                </c:pt>
              </c:strCache>
            </c:strRef>
          </c:cat>
          <c:val>
            <c:numRef>
              <c:f>Sheet1!$B$2:$B$9</c:f>
              <c:numCache>
                <c:formatCode>General</c:formatCode>
                <c:ptCount val="8"/>
                <c:pt idx="1">
                  <c:v>30.581</c:v>
                </c:pt>
                <c:pt idx="2">
                  <c:v>36.034</c:v>
                </c:pt>
                <c:pt idx="3">
                  <c:v>36.07</c:v>
                </c:pt>
                <c:pt idx="4">
                  <c:v>36.216</c:v>
                </c:pt>
                <c:pt idx="5">
                  <c:v>40.746</c:v>
                </c:pt>
                <c:pt idx="6">
                  <c:v>41.871</c:v>
                </c:pt>
                <c:pt idx="7">
                  <c:v>48.519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5.0154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Wavy Hair</c:v>
                </c:pt>
                <c:pt idx="5">
                  <c:v>Straight Hair</c:v>
                </c:pt>
                <c:pt idx="6">
                  <c:v>Curly Hair</c:v>
                </c:pt>
                <c:pt idx="7">
                  <c:v>All Hair Types</c:v>
                </c:pt>
              </c:strCache>
            </c:strRef>
          </c:cat>
          <c:val>
            <c:numRef>
              <c:f>Sheet1!$B$2:$B$9</c:f>
              <c:numCache>
                <c:formatCode>General</c:formatCode>
                <c:ptCount val="8"/>
                <c:pt idx="3">
                  <c:v>47.735</c:v>
                </c:pt>
                <c:pt idx="4">
                  <c:v>53.333</c:v>
                </c:pt>
                <c:pt idx="5">
                  <c:v>55.455</c:v>
                </c:pt>
                <c:pt idx="6">
                  <c:v>55.739</c:v>
                </c:pt>
                <c:pt idx="7">
                  <c:v>57.775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7.41850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64.64099999999999</c:v>
                </c:pt>
                <c:pt idx="5">
                  <c:v>67.439</c:v>
                </c:pt>
                <c:pt idx="6">
                  <c:v>67.806</c:v>
                </c:pt>
                <c:pt idx="7">
                  <c:v>70.151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4.0023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270.038</c:v>
                </c:pt>
                <c:pt idx="2">
                  <c:v>292.793</c:v>
                </c:pt>
                <c:pt idx="3">
                  <c:v>309.377</c:v>
                </c:pt>
                <c:pt idx="4">
                  <c:v>336.564</c:v>
                </c:pt>
                <c:pt idx="5">
                  <c:v>373.182</c:v>
                </c:pt>
                <c:pt idx="6">
                  <c:v>426.047</c:v>
                </c:pt>
                <c:pt idx="7">
                  <c:v>461.42600000000004</c:v>
                </c:pt>
                <c:pt idx="8">
                  <c:v>512.85</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270.038</c:v>
                </c:pt>
                <c:pt idx="1">
                  <c:v>22.755000000000003</c:v>
                </c:pt>
                <c:pt idx="2">
                  <c:v>16.583999999999996</c:v>
                </c:pt>
                <c:pt idx="3">
                  <c:v>27.186999999999998</c:v>
                </c:pt>
                <c:pt idx="4">
                  <c:v>36.618</c:v>
                </c:pt>
                <c:pt idx="5">
                  <c:v>52.865</c:v>
                </c:pt>
                <c:pt idx="6">
                  <c:v>35.379000000000005</c:v>
                </c:pt>
                <c:pt idx="7">
                  <c:v>51.42400000000001</c:v>
                </c:pt>
                <c:pt idx="8">
                  <c:v>46.35999999999999</c:v>
                </c:pt>
                <c:pt idx="9">
                  <c:v>559.21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22.755000000000003</c:v>
                </c:pt>
                <c:pt idx="2">
                  <c:v>39.339</c:v>
                </c:pt>
                <c:pt idx="3">
                  <c:v>66.526</c:v>
                </c:pt>
                <c:pt idx="4">
                  <c:v>103.144</c:v>
                </c:pt>
                <c:pt idx="5">
                  <c:v>156.00900000000001</c:v>
                </c:pt>
                <c:pt idx="6">
                  <c:v>191.38800000000003</c:v>
                </c:pt>
                <c:pt idx="7">
                  <c:v>242.81200000000004</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22.755000000000003</c:v>
                </c:pt>
                <c:pt idx="1">
                  <c:v>16.583999999999996</c:v>
                </c:pt>
                <c:pt idx="2">
                  <c:v>27.186999999999998</c:v>
                </c:pt>
                <c:pt idx="3">
                  <c:v>36.618</c:v>
                </c:pt>
                <c:pt idx="4">
                  <c:v>52.865</c:v>
                </c:pt>
                <c:pt idx="5">
                  <c:v>35.379000000000005</c:v>
                </c:pt>
                <c:pt idx="6">
                  <c:v>51.42400000000001</c:v>
                </c:pt>
                <c:pt idx="7">
                  <c:v>46.35999999999999</c:v>
                </c:pt>
                <c:pt idx="8">
                  <c:v>289.172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270.039</c:v>
                </c:pt>
                <c:pt idx="2">
                  <c:v>330.947</c:v>
                </c:pt>
                <c:pt idx="3">
                  <c:v>400.641</c:v>
                </c:pt>
                <c:pt idx="4">
                  <c:v>463.767</c:v>
                </c:pt>
                <c:pt idx="5">
                  <c:v>517.707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270.039</c:v>
                </c:pt>
                <c:pt idx="1">
                  <c:v>60.907999999999994</c:v>
                </c:pt>
                <c:pt idx="2">
                  <c:v>69.694</c:v>
                </c:pt>
                <c:pt idx="3">
                  <c:v>63.126</c:v>
                </c:pt>
                <c:pt idx="4">
                  <c:v>53.940000000000005</c:v>
                </c:pt>
                <c:pt idx="5">
                  <c:v>41.502</c:v>
                </c:pt>
                <c:pt idx="6">
                  <c:v>559.2090000000001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60.907999999999994</c:v>
                </c:pt>
                <c:pt idx="2">
                  <c:v>130.602</c:v>
                </c:pt>
                <c:pt idx="3">
                  <c:v>193.728</c:v>
                </c:pt>
                <c:pt idx="4">
                  <c:v>247.668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60.907999999999994</c:v>
                </c:pt>
                <c:pt idx="1">
                  <c:v>69.694</c:v>
                </c:pt>
                <c:pt idx="2">
                  <c:v>63.126</c:v>
                </c:pt>
                <c:pt idx="3">
                  <c:v>53.940000000000005</c:v>
                </c:pt>
                <c:pt idx="4">
                  <c:v>41.502</c:v>
                </c:pt>
                <c:pt idx="5">
                  <c:v>289.17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270.038</c:v>
                </c:pt>
                <c:pt idx="2">
                  <c:v>360.492</c:v>
                </c:pt>
                <c:pt idx="3">
                  <c:v>444.81500000000005</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270.038</c:v>
                </c:pt>
                <c:pt idx="1">
                  <c:v>90.45400000000001</c:v>
                </c:pt>
                <c:pt idx="2">
                  <c:v>84.32300000000001</c:v>
                </c:pt>
                <c:pt idx="3">
                  <c:v>114.395</c:v>
                </c:pt>
                <c:pt idx="4">
                  <c:v>559.21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90.45400000000001</c:v>
                </c:pt>
                <c:pt idx="2">
                  <c:v>174.77700000000002</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90.45400000000001</c:v>
                </c:pt>
                <c:pt idx="1">
                  <c:v>84.32300000000001</c:v>
                </c:pt>
                <c:pt idx="2">
                  <c:v>114.395</c:v>
                </c:pt>
                <c:pt idx="3">
                  <c:v>289.172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270.03799999999995</c:v>
                </c:pt>
                <c:pt idx="2">
                  <c:v>322.948</c:v>
                </c:pt>
                <c:pt idx="3">
                  <c:v>370.05499999999995</c:v>
                </c:pt>
                <c:pt idx="4">
                  <c:v>418.0009999999999</c:v>
                </c:pt>
                <c:pt idx="5">
                  <c:v>456.65399999999994</c:v>
                </c:pt>
                <c:pt idx="6">
                  <c:v>516.933</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270.03799999999995</c:v>
                </c:pt>
                <c:pt idx="1">
                  <c:v>52.910000000000004</c:v>
                </c:pt>
                <c:pt idx="2">
                  <c:v>47.107</c:v>
                </c:pt>
                <c:pt idx="3">
                  <c:v>47.94599999999999</c:v>
                </c:pt>
                <c:pt idx="4">
                  <c:v>38.653000000000006</c:v>
                </c:pt>
                <c:pt idx="5">
                  <c:v>60.278999999999996</c:v>
                </c:pt>
                <c:pt idx="6">
                  <c:v>42.276999999999994</c:v>
                </c:pt>
                <c:pt idx="7">
                  <c:v>559.21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52.910000000000004</c:v>
                </c:pt>
                <c:pt idx="2">
                  <c:v>100.017</c:v>
                </c:pt>
                <c:pt idx="3">
                  <c:v>147.963</c:v>
                </c:pt>
                <c:pt idx="4">
                  <c:v>186.61599999999999</c:v>
                </c:pt>
                <c:pt idx="5">
                  <c:v>246.89499999999998</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52.910000000000004</c:v>
                </c:pt>
                <c:pt idx="1">
                  <c:v>47.107</c:v>
                </c:pt>
                <c:pt idx="2">
                  <c:v>47.94599999999999</c:v>
                </c:pt>
                <c:pt idx="3">
                  <c:v>38.653000000000006</c:v>
                </c:pt>
                <c:pt idx="4">
                  <c:v>60.278999999999996</c:v>
                </c:pt>
                <c:pt idx="5">
                  <c:v>42.276999999999994</c:v>
                </c:pt>
                <c:pt idx="6">
                  <c:v>289.17199999999997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270.037</c:v>
                </c:pt>
                <c:pt idx="2">
                  <c:v>301.32099999999997</c:v>
                </c:pt>
                <c:pt idx="3">
                  <c:v>351.20099999999996</c:v>
                </c:pt>
                <c:pt idx="4">
                  <c:v>385.16799999999995</c:v>
                </c:pt>
                <c:pt idx="5">
                  <c:v>422.84299999999996</c:v>
                </c:pt>
                <c:pt idx="6">
                  <c:v>480.025</c:v>
                </c:pt>
                <c:pt idx="7">
                  <c:v>506.38399999999996</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270.037</c:v>
                </c:pt>
                <c:pt idx="1">
                  <c:v>31.284</c:v>
                </c:pt>
                <c:pt idx="2">
                  <c:v>49.88</c:v>
                </c:pt>
                <c:pt idx="3">
                  <c:v>33.967000000000006</c:v>
                </c:pt>
                <c:pt idx="4">
                  <c:v>37.675000000000004</c:v>
                </c:pt>
                <c:pt idx="5">
                  <c:v>57.181999999999995</c:v>
                </c:pt>
                <c:pt idx="6">
                  <c:v>26.358999999999998</c:v>
                </c:pt>
                <c:pt idx="7">
                  <c:v>52.82699999999999</c:v>
                </c:pt>
                <c:pt idx="8">
                  <c:v>559.211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31.284</c:v>
                </c:pt>
                <c:pt idx="2">
                  <c:v>81.164</c:v>
                </c:pt>
                <c:pt idx="3">
                  <c:v>115.131</c:v>
                </c:pt>
                <c:pt idx="4">
                  <c:v>152.806</c:v>
                </c:pt>
                <c:pt idx="5">
                  <c:v>209.988</c:v>
                </c:pt>
                <c:pt idx="6">
                  <c:v>236.347</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31.284</c:v>
                </c:pt>
                <c:pt idx="1">
                  <c:v>49.88</c:v>
                </c:pt>
                <c:pt idx="2">
                  <c:v>33.967000000000006</c:v>
                </c:pt>
                <c:pt idx="3">
                  <c:v>37.675000000000004</c:v>
                </c:pt>
                <c:pt idx="4">
                  <c:v>57.181999999999995</c:v>
                </c:pt>
                <c:pt idx="5">
                  <c:v>26.358999999999998</c:v>
                </c:pt>
                <c:pt idx="6">
                  <c:v>52.82699999999999</c:v>
                </c:pt>
                <c:pt idx="7">
                  <c:v>289.174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270.037</c:v>
                </c:pt>
                <c:pt idx="2">
                  <c:v>318.464</c:v>
                </c:pt>
                <c:pt idx="3">
                  <c:v>374.85</c:v>
                </c:pt>
                <c:pt idx="4">
                  <c:v>441.744</c:v>
                </c:pt>
                <c:pt idx="5">
                  <c:v>503.271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270.037</c:v>
                </c:pt>
                <c:pt idx="1">
                  <c:v>48.42700000000001</c:v>
                </c:pt>
                <c:pt idx="2">
                  <c:v>56.385999999999996</c:v>
                </c:pt>
                <c:pt idx="3">
                  <c:v>66.894</c:v>
                </c:pt>
                <c:pt idx="4">
                  <c:v>61.527</c:v>
                </c:pt>
                <c:pt idx="5">
                  <c:v>55.940000000000005</c:v>
                </c:pt>
                <c:pt idx="6">
                  <c:v>559.211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48.42700000000001</c:v>
                </c:pt>
                <c:pt idx="2">
                  <c:v>104.813</c:v>
                </c:pt>
                <c:pt idx="3">
                  <c:v>171.707</c:v>
                </c:pt>
                <c:pt idx="4">
                  <c:v>233.23399999999998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48.42700000000001</c:v>
                </c:pt>
                <c:pt idx="1">
                  <c:v>56.385999999999996</c:v>
                </c:pt>
                <c:pt idx="2">
                  <c:v>66.894</c:v>
                </c:pt>
                <c:pt idx="3">
                  <c:v>61.527</c:v>
                </c:pt>
                <c:pt idx="4">
                  <c:v>55.940000000000005</c:v>
                </c:pt>
                <c:pt idx="5">
                  <c:v>289.174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270.037</c:v>
                </c:pt>
                <c:pt idx="2">
                  <c:v>335.753</c:v>
                </c:pt>
                <c:pt idx="3">
                  <c:v>412.75399999999996</c:v>
                </c:pt>
                <c:pt idx="4">
                  <c:v>482.02199999999993</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270.037</c:v>
                </c:pt>
                <c:pt idx="1">
                  <c:v>65.716</c:v>
                </c:pt>
                <c:pt idx="2">
                  <c:v>77.00099999999999</c:v>
                </c:pt>
                <c:pt idx="3">
                  <c:v>69.268</c:v>
                </c:pt>
                <c:pt idx="4">
                  <c:v>77.18699999999998</c:v>
                </c:pt>
                <c:pt idx="5">
                  <c:v>559.209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65.716</c:v>
                </c:pt>
                <c:pt idx="2">
                  <c:v>142.71699999999998</c:v>
                </c:pt>
                <c:pt idx="3">
                  <c:v>211.98499999999999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65.716</c:v>
                </c:pt>
                <c:pt idx="1">
                  <c:v>77.00099999999999</c:v>
                </c:pt>
                <c:pt idx="2">
                  <c:v>69.268</c:v>
                </c:pt>
                <c:pt idx="3">
                  <c:v>77.18699999999998</c:v>
                </c:pt>
                <c:pt idx="4">
                  <c:v>289.17199999999997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42.934</c:v>
                </c:pt>
                <c:pt idx="1">
                  <c:v>45.211999999999996</c:v>
                </c:pt>
                <c:pt idx="2">
                  <c:v>47.599000000000004</c:v>
                </c:pt>
                <c:pt idx="3">
                  <c:v>50.083999999999996</c:v>
                </c:pt>
                <c:pt idx="4">
                  <c:v>52.733000000000004</c:v>
                </c:pt>
                <c:pt idx="5">
                  <c:v>55.69</c:v>
                </c:pt>
                <c:pt idx="6">
                  <c:v>59.036</c:v>
                </c:pt>
                <c:pt idx="7">
                  <c:v>62.83500000000001</c:v>
                </c:pt>
                <c:pt idx="8">
                  <c:v>67.125</c:v>
                </c:pt>
                <c:pt idx="9">
                  <c:v>71.904</c:v>
                </c:pt>
                <c:pt idx="10">
                  <c:v>77.132</c:v>
                </c:pt>
                <c:pt idx="11">
                  <c:v>82.791</c:v>
                </c:pt>
                <c:pt idx="12">
                  <c:v>88.84100000000001</c:v>
                </c:pt>
                <c:pt idx="13">
                  <c:v>95.255</c:v>
                </c:pt>
                <c:pt idx="14">
                  <c:v>101.96099999999998</c:v>
                </c:pt>
                <c:pt idx="15">
                  <c:v>108.966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Latin America</c:v>
                </c:pt>
                <c:pt idx="2">
                  <c:v>Colombia</c:v>
                </c:pt>
              </c:strCache>
            </c:strRef>
          </c:cat>
          <c:val>
            <c:numRef>
              <c:f>Sheet1!$B$2:$B$4</c:f>
              <c:numCache>
                <c:formatCode>General</c:formatCode>
                <c:ptCount val="3"/>
                <c:pt idx="0">
                  <c:v>0.05245930274733035</c:v>
                </c:pt>
                <c:pt idx="1">
                  <c:v>0.059594570018074444</c:v>
                </c:pt>
                <c:pt idx="2">
                  <c:v>0.06942757740518601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372722949700113"/>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55.69</c:v>
                </c:pt>
                <c:pt idx="2">
                  <c:v>59.036</c:v>
                </c:pt>
                <c:pt idx="3">
                  <c:v>62.83500000000001</c:v>
                </c:pt>
                <c:pt idx="4">
                  <c:v>67.125</c:v>
                </c:pt>
                <c:pt idx="5">
                  <c:v>71.904</c:v>
                </c:pt>
                <c:pt idx="6">
                  <c:v>77.132</c:v>
                </c:pt>
                <c:pt idx="7">
                  <c:v>82.791</c:v>
                </c:pt>
                <c:pt idx="8">
                  <c:v>88.84100000000001</c:v>
                </c:pt>
                <c:pt idx="9">
                  <c:v>95.255</c:v>
                </c:pt>
                <c:pt idx="10">
                  <c:v>101.96099999999998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55.69</c:v>
                </c:pt>
                <c:pt idx="1">
                  <c:v>3.3460000000000036</c:v>
                </c:pt>
                <c:pt idx="2">
                  <c:v>3.7990000000000066</c:v>
                </c:pt>
                <c:pt idx="3">
                  <c:v>4.289999999999992</c:v>
                </c:pt>
                <c:pt idx="4">
                  <c:v>4.778999999999996</c:v>
                </c:pt>
                <c:pt idx="5">
                  <c:v>5.228000000000009</c:v>
                </c:pt>
                <c:pt idx="6">
                  <c:v>5.658999999999992</c:v>
                </c:pt>
                <c:pt idx="7">
                  <c:v>6.050000000000011</c:v>
                </c:pt>
                <c:pt idx="8">
                  <c:v>6.413999999999987</c:v>
                </c:pt>
                <c:pt idx="9">
                  <c:v>6.705999999999989</c:v>
                </c:pt>
                <c:pt idx="10">
                  <c:v>7.00500000000001</c:v>
                </c:pt>
                <c:pt idx="11">
                  <c:v>108.966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Colombia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Sheet1!$B$2:$B$3</c:f>
              <c:numCache>
                <c:formatCode>General</c:formatCode>
                <c:ptCount val="2"/>
                <c:pt idx="0">
                  <c:v>6.248380122319698</c:v>
                </c:pt>
                <c:pt idx="1">
                  <c:v>0.7039364063167959</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Sheet1!$C$2:$C$3</c:f>
              <c:numCache>
                <c:formatCode>General</c:formatCode>
                <c:ptCount val="2"/>
                <c:pt idx="0">
                  <c:v>93.7516198776803</c:v>
                </c:pt>
                <c:pt idx="1">
                  <c:v>99.2960635936832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54.843</c:v>
                </c:pt>
                <c:pt idx="1">
                  <c:v>58.032000000000004</c:v>
                </c:pt>
                <c:pt idx="2">
                  <c:v>61.386</c:v>
                </c:pt>
                <c:pt idx="3">
                  <c:v>64.93</c:v>
                </c:pt>
                <c:pt idx="4">
                  <c:v>68.733</c:v>
                </c:pt>
                <c:pt idx="5">
                  <c:v>73.24199999999999</c:v>
                </c:pt>
                <c:pt idx="6">
                  <c:v>78.40100000000001</c:v>
                </c:pt>
                <c:pt idx="7">
                  <c:v>84.344</c:v>
                </c:pt>
                <c:pt idx="8">
                  <c:v>91.16999999999999</c:v>
                </c:pt>
                <c:pt idx="9">
                  <c:v>98.93900000000001</c:v>
                </c:pt>
                <c:pt idx="10">
                  <c:v>107.61399999999999</c:v>
                </c:pt>
                <c:pt idx="11">
                  <c:v>117.227</c:v>
                </c:pt>
                <c:pt idx="12">
                  <c:v>127.74000000000001</c:v>
                </c:pt>
                <c:pt idx="13">
                  <c:v>139.178</c:v>
                </c:pt>
                <c:pt idx="14">
                  <c:v>151.503</c:v>
                </c:pt>
                <c:pt idx="15">
                  <c:v>164.765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Latin America</c:v>
                </c:pt>
                <c:pt idx="2">
                  <c:v>Colombia</c:v>
                </c:pt>
              </c:strCache>
            </c:strRef>
          </c:cat>
          <c:val>
            <c:numRef>
              <c:f>Sheet1!$B$2:$B$4</c:f>
              <c:numCache>
                <c:formatCode>General</c:formatCode>
                <c:ptCount val="3"/>
                <c:pt idx="0">
                  <c:v>0.06658666629421717</c:v>
                </c:pt>
                <c:pt idx="1">
                  <c:v>0.07624186200883054</c:v>
                </c:pt>
                <c:pt idx="2">
                  <c:v>0.08445235641465221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140106811597804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73.24199999999999</c:v>
                </c:pt>
                <c:pt idx="2">
                  <c:v>78.40100000000001</c:v>
                </c:pt>
                <c:pt idx="3">
                  <c:v>84.344</c:v>
                </c:pt>
                <c:pt idx="4">
                  <c:v>91.16999999999999</c:v>
                </c:pt>
                <c:pt idx="5">
                  <c:v>98.93900000000001</c:v>
                </c:pt>
                <c:pt idx="6">
                  <c:v>107.61399999999999</c:v>
                </c:pt>
                <c:pt idx="7">
                  <c:v>117.227</c:v>
                </c:pt>
                <c:pt idx="8">
                  <c:v>127.74000000000001</c:v>
                </c:pt>
                <c:pt idx="9">
                  <c:v>139.178</c:v>
                </c:pt>
                <c:pt idx="10">
                  <c:v>151.503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73.24199999999999</c:v>
                </c:pt>
                <c:pt idx="1">
                  <c:v>5.15900000000002</c:v>
                </c:pt>
                <c:pt idx="2">
                  <c:v>5.942999999999984</c:v>
                </c:pt>
                <c:pt idx="3">
                  <c:v>6.825999999999993</c:v>
                </c:pt>
                <c:pt idx="4">
                  <c:v>7.76900000000002</c:v>
                </c:pt>
                <c:pt idx="5">
                  <c:v>8.674999999999983</c:v>
                </c:pt>
                <c:pt idx="6">
                  <c:v>9.613000000000014</c:v>
                </c:pt>
                <c:pt idx="7">
                  <c:v>10.513000000000005</c:v>
                </c:pt>
                <c:pt idx="8">
                  <c:v>11.437999999999988</c:v>
                </c:pt>
                <c:pt idx="9">
                  <c:v>12.324999999999989</c:v>
                </c:pt>
                <c:pt idx="10">
                  <c:v>13.262</c:v>
                </c:pt>
                <c:pt idx="11">
                  <c:v>164.765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Colombia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Sheet1!$B$2:$B$3</c:f>
              <c:numCache>
                <c:formatCode>General</c:formatCode>
                <c:ptCount val="2"/>
                <c:pt idx="0">
                  <c:v>5.423866880436028</c:v>
                </c:pt>
                <c:pt idx="1">
                  <c:v>0.4547393925185367</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Sheet1!$C$2:$C$3</c:f>
              <c:numCache>
                <c:formatCode>General</c:formatCode>
                <c:ptCount val="2"/>
                <c:pt idx="0">
                  <c:v>94.57613311956398</c:v>
                </c:pt>
                <c:pt idx="1">
                  <c:v>99.54526060748147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Powders</c:v>
                </c:pt>
                <c:pt idx="2">
                  <c:v>Gels and Jellies</c:v>
                </c:pt>
                <c:pt idx="3">
                  <c:v>Sprays and Mists</c:v>
                </c:pt>
                <c:pt idx="4">
                  <c:v>Sticks and Balms</c:v>
                </c:pt>
                <c:pt idx="5">
                  <c:v>Creams and Lotions</c:v>
                </c:pt>
                <c:pt idx="6">
                  <c:v>Waxes, Clays, Pastes…</c:v>
                </c:pt>
                <c:pt idx="7">
                  <c:v>Serums and Oils</c:v>
                </c:pt>
              </c:strCache>
            </c:strRef>
          </c:cat>
          <c:val>
            <c:numRef>
              <c:f>Sheet1!$B$2:$B$9</c:f>
              <c:numCache>
                <c:formatCode>General</c:formatCode>
                <c:ptCount val="8"/>
                <c:pt idx="0">
                  <c:v>5.149</c:v>
                </c:pt>
                <c:pt idx="1">
                  <c:v>7.077</c:v>
                </c:pt>
                <c:pt idx="2">
                  <c:v>7.701</c:v>
                </c:pt>
                <c:pt idx="3">
                  <c:v>8.137</c:v>
                </c:pt>
                <c:pt idx="4">
                  <c:v>9.185</c:v>
                </c:pt>
                <c:pt idx="5">
                  <c:v>10.223</c:v>
                </c:pt>
                <c:pt idx="6">
                  <c:v>11.327</c:v>
                </c:pt>
                <c:pt idx="7">
                  <c:v>14.443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9.3536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12.977</c:v>
                </c:pt>
                <c:pt idx="4">
                  <c:v>13.851</c:v>
                </c:pt>
                <c:pt idx="5">
                  <c:v>14.769</c:v>
                </c:pt>
                <c:pt idx="6">
                  <c:v>15.361</c:v>
                </c:pt>
                <c:pt idx="7">
                  <c:v>16.282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1.81788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22.928</c:v>
                </c:pt>
                <c:pt idx="6">
                  <c:v>23.608</c:v>
                </c:pt>
                <c:pt idx="7">
                  <c:v>26.705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5.7847"/>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Beauty Specialty Reta…</c:v>
                </c:pt>
                <c:pt idx="4">
                  <c:v>Pharmacies and Drugst…</c:v>
                </c:pt>
                <c:pt idx="5">
                  <c:v>Online Marketplaces</c:v>
                </c:pt>
                <c:pt idx="6">
                  <c:v>Salon and Professiona…</c:v>
                </c:pt>
                <c:pt idx="7">
                  <c:v>Mass Retail</c:v>
                </c:pt>
              </c:strCache>
            </c:strRef>
          </c:cat>
          <c:val>
            <c:numRef>
              <c:f>Sheet1!$B$2:$B$9</c:f>
              <c:numCache>
                <c:formatCode>General</c:formatCode>
                <c:ptCount val="8"/>
                <c:pt idx="2">
                  <c:v>9.156</c:v>
                </c:pt>
                <c:pt idx="3">
                  <c:v>11.019</c:v>
                </c:pt>
                <c:pt idx="4">
                  <c:v>11.102</c:v>
                </c:pt>
                <c:pt idx="5">
                  <c:v>11.941</c:v>
                </c:pt>
                <c:pt idx="6">
                  <c:v>13.575</c:v>
                </c:pt>
                <c:pt idx="7">
                  <c:v>16.448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2.0403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Texture and Separation</c:v>
                </c:pt>
                <c:pt idx="3">
                  <c:v>Volume and Root Lift</c:v>
                </c:pt>
                <c:pt idx="4">
                  <c:v>Heat Styling Support</c:v>
                </c:pt>
                <c:pt idx="5">
                  <c:v>Hold and Shape</c:v>
                </c:pt>
                <c:pt idx="6">
                  <c:v>Curl Definition</c:v>
                </c:pt>
                <c:pt idx="7">
                  <c:v>Smoothing and Frizz C…</c:v>
                </c:pt>
              </c:strCache>
            </c:strRef>
          </c:cat>
          <c:val>
            <c:numRef>
              <c:f>Sheet1!$B$2:$B$9</c:f>
              <c:numCache>
                <c:formatCode>General</c:formatCode>
                <c:ptCount val="8"/>
                <c:pt idx="1">
                  <c:v>8.149</c:v>
                </c:pt>
                <c:pt idx="2">
                  <c:v>9.493</c:v>
                </c:pt>
                <c:pt idx="3">
                  <c:v>9.636</c:v>
                </c:pt>
                <c:pt idx="4">
                  <c:v>9.657</c:v>
                </c:pt>
                <c:pt idx="5">
                  <c:v>10.842</c:v>
                </c:pt>
                <c:pt idx="6">
                  <c:v>12.473</c:v>
                </c:pt>
                <c:pt idx="7">
                  <c:v>12.991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7.4079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Wavy Hair</c:v>
                </c:pt>
                <c:pt idx="4">
                  <c:v>Straight Hair</c:v>
                </c:pt>
                <c:pt idx="5">
                  <c:v>Coily Hair</c:v>
                </c:pt>
                <c:pt idx="6">
                  <c:v>All Hair Types</c:v>
                </c:pt>
                <c:pt idx="7">
                  <c:v>Curly Hair</c:v>
                </c:pt>
              </c:strCache>
            </c:strRef>
          </c:cat>
          <c:val>
            <c:numRef>
              <c:f>Sheet1!$B$2:$B$9</c:f>
              <c:numCache>
                <c:formatCode>General</c:formatCode>
                <c:ptCount val="8"/>
                <c:pt idx="3">
                  <c:v>13.742</c:v>
                </c:pt>
                <c:pt idx="4">
                  <c:v>14.177</c:v>
                </c:pt>
                <c:pt idx="5">
                  <c:v>14.484</c:v>
                </c:pt>
                <c:pt idx="6">
                  <c:v>14.946</c:v>
                </c:pt>
                <c:pt idx="7">
                  <c:v>15.892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1.2952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17.472</c:v>
                </c:pt>
                <c:pt idx="5">
                  <c:v>18.329</c:v>
                </c:pt>
                <c:pt idx="6">
                  <c:v>18.445</c:v>
                </c:pt>
                <c:pt idx="7">
                  <c:v>18.997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5.4559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73.24199999999999</c:v>
                </c:pt>
                <c:pt idx="2">
                  <c:v>81.40099999999998</c:v>
                </c:pt>
                <c:pt idx="3">
                  <c:v>86.65799999999999</c:v>
                </c:pt>
                <c:pt idx="4">
                  <c:v>94.53899999999999</c:v>
                </c:pt>
                <c:pt idx="5">
                  <c:v>106.37499999999999</c:v>
                </c:pt>
                <c:pt idx="6">
                  <c:v>118.59699999999998</c:v>
                </c:pt>
                <c:pt idx="7">
                  <c:v>128.85399999999998</c:v>
                </c:pt>
                <c:pt idx="8">
                  <c:v>148.173</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73.24199999999999</c:v>
                </c:pt>
                <c:pt idx="1">
                  <c:v>8.158999999999999</c:v>
                </c:pt>
                <c:pt idx="2">
                  <c:v>5.257000000000001</c:v>
                </c:pt>
                <c:pt idx="3">
                  <c:v>7.881000000000001</c:v>
                </c:pt>
                <c:pt idx="4">
                  <c:v>11.836</c:v>
                </c:pt>
                <c:pt idx="5">
                  <c:v>12.222</c:v>
                </c:pt>
                <c:pt idx="6">
                  <c:v>10.257</c:v>
                </c:pt>
                <c:pt idx="7">
                  <c:v>19.319000000000003</c:v>
                </c:pt>
                <c:pt idx="8">
                  <c:v>16.592</c:v>
                </c:pt>
                <c:pt idx="9">
                  <c:v>164.765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8.158999999999999</c:v>
                </c:pt>
                <c:pt idx="2">
                  <c:v>13.416</c:v>
                </c:pt>
                <c:pt idx="3">
                  <c:v>21.297</c:v>
                </c:pt>
                <c:pt idx="4">
                  <c:v>33.133</c:v>
                </c:pt>
                <c:pt idx="5">
                  <c:v>45.355000000000004</c:v>
                </c:pt>
                <c:pt idx="6">
                  <c:v>55.612</c:v>
                </c:pt>
                <c:pt idx="7">
                  <c:v>74.93100000000001</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8.158999999999999</c:v>
                </c:pt>
                <c:pt idx="1">
                  <c:v>5.257000000000001</c:v>
                </c:pt>
                <c:pt idx="2">
                  <c:v>7.881000000000001</c:v>
                </c:pt>
                <c:pt idx="3">
                  <c:v>11.836</c:v>
                </c:pt>
                <c:pt idx="4">
                  <c:v>12.222</c:v>
                </c:pt>
                <c:pt idx="5">
                  <c:v>10.257</c:v>
                </c:pt>
                <c:pt idx="6">
                  <c:v>19.319000000000003</c:v>
                </c:pt>
                <c:pt idx="7">
                  <c:v>16.592</c:v>
                </c:pt>
                <c:pt idx="8">
                  <c:v>91.523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73.24000000000001</c:v>
                </c:pt>
                <c:pt idx="2">
                  <c:v>92.39500000000001</c:v>
                </c:pt>
                <c:pt idx="3">
                  <c:v>114.185</c:v>
                </c:pt>
                <c:pt idx="4">
                  <c:v>134.179</c:v>
                </c:pt>
                <c:pt idx="5">
                  <c:v>151.397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73.24000000000001</c:v>
                </c:pt>
                <c:pt idx="1">
                  <c:v>19.155</c:v>
                </c:pt>
                <c:pt idx="2">
                  <c:v>21.79</c:v>
                </c:pt>
                <c:pt idx="3">
                  <c:v>19.994000000000003</c:v>
                </c:pt>
                <c:pt idx="4">
                  <c:v>17.218</c:v>
                </c:pt>
                <c:pt idx="5">
                  <c:v>13.366</c:v>
                </c:pt>
                <c:pt idx="6">
                  <c:v>164.763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19.155</c:v>
                </c:pt>
                <c:pt idx="2">
                  <c:v>40.945</c:v>
                </c:pt>
                <c:pt idx="3">
                  <c:v>60.93900000000001</c:v>
                </c:pt>
                <c:pt idx="4">
                  <c:v>78.15700000000001</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19.155</c:v>
                </c:pt>
                <c:pt idx="1">
                  <c:v>21.79</c:v>
                </c:pt>
                <c:pt idx="2">
                  <c:v>19.994000000000003</c:v>
                </c:pt>
                <c:pt idx="3">
                  <c:v>17.218</c:v>
                </c:pt>
                <c:pt idx="4">
                  <c:v>13.366</c:v>
                </c:pt>
                <c:pt idx="5">
                  <c:v>91.52300000000001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73.241</c:v>
                </c:pt>
                <c:pt idx="2">
                  <c:v>101.388</c:v>
                </c:pt>
                <c:pt idx="3">
                  <c:v>127.843</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73.241</c:v>
                </c:pt>
                <c:pt idx="1">
                  <c:v>28.147000000000002</c:v>
                </c:pt>
                <c:pt idx="2">
                  <c:v>26.455000000000002</c:v>
                </c:pt>
                <c:pt idx="3">
                  <c:v>36.921</c:v>
                </c:pt>
                <c:pt idx="4">
                  <c:v>164.764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28.147000000000002</c:v>
                </c:pt>
                <c:pt idx="2">
                  <c:v>54.602000000000004</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28.147000000000002</c:v>
                </c:pt>
                <c:pt idx="1">
                  <c:v>26.455000000000002</c:v>
                </c:pt>
                <c:pt idx="2">
                  <c:v>36.921</c:v>
                </c:pt>
                <c:pt idx="3">
                  <c:v>91.523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73.24100000000001</c:v>
                </c:pt>
                <c:pt idx="2">
                  <c:v>89.03000000000002</c:v>
                </c:pt>
                <c:pt idx="3">
                  <c:v>104.13800000000002</c:v>
                </c:pt>
                <c:pt idx="4">
                  <c:v>120.60300000000002</c:v>
                </c:pt>
                <c:pt idx="5">
                  <c:v>132.58100000000002</c:v>
                </c:pt>
                <c:pt idx="6">
                  <c:v>151.484</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73.24100000000001</c:v>
                </c:pt>
                <c:pt idx="1">
                  <c:v>15.789000000000001</c:v>
                </c:pt>
                <c:pt idx="2">
                  <c:v>15.107999999999999</c:v>
                </c:pt>
                <c:pt idx="3">
                  <c:v>16.465</c:v>
                </c:pt>
                <c:pt idx="4">
                  <c:v>11.977999999999998</c:v>
                </c:pt>
                <c:pt idx="5">
                  <c:v>18.903</c:v>
                </c:pt>
                <c:pt idx="6">
                  <c:v>13.278999999999998</c:v>
                </c:pt>
                <c:pt idx="7">
                  <c:v>164.763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15.789000000000001</c:v>
                </c:pt>
                <c:pt idx="2">
                  <c:v>30.897</c:v>
                </c:pt>
                <c:pt idx="3">
                  <c:v>47.361999999999995</c:v>
                </c:pt>
                <c:pt idx="4">
                  <c:v>59.33999999999999</c:v>
                </c:pt>
                <c:pt idx="5">
                  <c:v>78.243</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15.789000000000001</c:v>
                </c:pt>
                <c:pt idx="1">
                  <c:v>15.107999999999999</c:v>
                </c:pt>
                <c:pt idx="2">
                  <c:v>16.465</c:v>
                </c:pt>
                <c:pt idx="3">
                  <c:v>11.977999999999998</c:v>
                </c:pt>
                <c:pt idx="4">
                  <c:v>18.903</c:v>
                </c:pt>
                <c:pt idx="5">
                  <c:v>13.278999999999998</c:v>
                </c:pt>
                <c:pt idx="6">
                  <c:v>91.52199999999999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73.241</c:v>
                </c:pt>
                <c:pt idx="2">
                  <c:v>83.148</c:v>
                </c:pt>
                <c:pt idx="3">
                  <c:v>102.739</c:v>
                </c:pt>
                <c:pt idx="4">
                  <c:v>113.346</c:v>
                </c:pt>
                <c:pt idx="5">
                  <c:v>124.84400000000001</c:v>
                </c:pt>
                <c:pt idx="6">
                  <c:v>142.517</c:v>
                </c:pt>
                <c:pt idx="7">
                  <c:v>150.79999999999998</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73.241</c:v>
                </c:pt>
                <c:pt idx="1">
                  <c:v>9.906999999999998</c:v>
                </c:pt>
                <c:pt idx="2">
                  <c:v>19.591</c:v>
                </c:pt>
                <c:pt idx="3">
                  <c:v>10.607</c:v>
                </c:pt>
                <c:pt idx="4">
                  <c:v>11.498</c:v>
                </c:pt>
                <c:pt idx="5">
                  <c:v>17.673000000000002</c:v>
                </c:pt>
                <c:pt idx="6">
                  <c:v>8.283</c:v>
                </c:pt>
                <c:pt idx="7">
                  <c:v>13.963000000000001</c:v>
                </c:pt>
                <c:pt idx="8">
                  <c:v>164.763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9.906999999999998</c:v>
                </c:pt>
                <c:pt idx="2">
                  <c:v>29.497999999999998</c:v>
                </c:pt>
                <c:pt idx="3">
                  <c:v>40.105</c:v>
                </c:pt>
                <c:pt idx="4">
                  <c:v>51.602999999999994</c:v>
                </c:pt>
                <c:pt idx="5">
                  <c:v>69.276</c:v>
                </c:pt>
                <c:pt idx="6">
                  <c:v>77.559</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9.906999999999998</c:v>
                </c:pt>
                <c:pt idx="1">
                  <c:v>19.591</c:v>
                </c:pt>
                <c:pt idx="2">
                  <c:v>10.607</c:v>
                </c:pt>
                <c:pt idx="3">
                  <c:v>11.498</c:v>
                </c:pt>
                <c:pt idx="4">
                  <c:v>17.673000000000002</c:v>
                </c:pt>
                <c:pt idx="5">
                  <c:v>8.283</c:v>
                </c:pt>
                <c:pt idx="6">
                  <c:v>13.963000000000001</c:v>
                </c:pt>
                <c:pt idx="7">
                  <c:v>91.52199999999999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73.241</c:v>
                </c:pt>
                <c:pt idx="2">
                  <c:v>87.78399999999999</c:v>
                </c:pt>
                <c:pt idx="3">
                  <c:v>104.582</c:v>
                </c:pt>
                <c:pt idx="4">
                  <c:v>126.54499999999999</c:v>
                </c:pt>
                <c:pt idx="5">
                  <c:v>147.90099999999998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73.241</c:v>
                </c:pt>
                <c:pt idx="1">
                  <c:v>14.543</c:v>
                </c:pt>
                <c:pt idx="2">
                  <c:v>16.798</c:v>
                </c:pt>
                <c:pt idx="3">
                  <c:v>21.962999999999997</c:v>
                </c:pt>
                <c:pt idx="4">
                  <c:v>21.356</c:v>
                </c:pt>
                <c:pt idx="5">
                  <c:v>16.863</c:v>
                </c:pt>
                <c:pt idx="6">
                  <c:v>164.76399999999998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14.543</c:v>
                </c:pt>
                <c:pt idx="2">
                  <c:v>31.340999999999998</c:v>
                </c:pt>
                <c:pt idx="3">
                  <c:v>53.303999999999995</c:v>
                </c:pt>
                <c:pt idx="4">
                  <c:v>74.66</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14.543</c:v>
                </c:pt>
                <c:pt idx="1">
                  <c:v>16.798</c:v>
                </c:pt>
                <c:pt idx="2">
                  <c:v>21.962999999999997</c:v>
                </c:pt>
                <c:pt idx="3">
                  <c:v>21.356</c:v>
                </c:pt>
                <c:pt idx="4">
                  <c:v>16.863</c:v>
                </c:pt>
                <c:pt idx="5">
                  <c:v>91.523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73.243</c:v>
                </c:pt>
                <c:pt idx="2">
                  <c:v>92.59299999999999</c:v>
                </c:pt>
                <c:pt idx="3">
                  <c:v>116.78299999999999</c:v>
                </c:pt>
                <c:pt idx="4">
                  <c:v>138.654</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73.243</c:v>
                </c:pt>
                <c:pt idx="1">
                  <c:v>19.35</c:v>
                </c:pt>
                <c:pt idx="2">
                  <c:v>24.189999999999998</c:v>
                </c:pt>
                <c:pt idx="3">
                  <c:v>21.871000000000002</c:v>
                </c:pt>
                <c:pt idx="4">
                  <c:v>26.109999999999992</c:v>
                </c:pt>
                <c:pt idx="5">
                  <c:v>164.764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19.35</c:v>
                </c:pt>
                <c:pt idx="2">
                  <c:v>43.54</c:v>
                </c:pt>
                <c:pt idx="3">
                  <c:v>65.411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19.35</c:v>
                </c:pt>
                <c:pt idx="1">
                  <c:v>24.189999999999998</c:v>
                </c:pt>
                <c:pt idx="2">
                  <c:v>21.871000000000002</c:v>
                </c:pt>
                <c:pt idx="3">
                  <c:v>26.109999999999992</c:v>
                </c:pt>
                <c:pt idx="4">
                  <c:v>91.52099999999999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162.98399999999998</c:v>
                </c:pt>
                <c:pt idx="1">
                  <c:v>171.20299999999997</c:v>
                </c:pt>
                <c:pt idx="2">
                  <c:v>179.776</c:v>
                </c:pt>
                <c:pt idx="3">
                  <c:v>188.69</c:v>
                </c:pt>
                <c:pt idx="4">
                  <c:v>198.16899999999998</c:v>
                </c:pt>
                <c:pt idx="5">
                  <c:v>208.73999999999998</c:v>
                </c:pt>
                <c:pt idx="6">
                  <c:v>220.647</c:v>
                </c:pt>
                <c:pt idx="7">
                  <c:v>234.12</c:v>
                </c:pt>
                <c:pt idx="8">
                  <c:v>249.292</c:v>
                </c:pt>
                <c:pt idx="9">
                  <c:v>266.13800000000003</c:v>
                </c:pt>
                <c:pt idx="10">
                  <c:v>284.507</c:v>
                </c:pt>
                <c:pt idx="11">
                  <c:v>304.33799999999997</c:v>
                </c:pt>
                <c:pt idx="12">
                  <c:v>325.45799999999997</c:v>
                </c:pt>
                <c:pt idx="13">
                  <c:v>347.77700000000004</c:v>
                </c:pt>
                <c:pt idx="14">
                  <c:v>371.03999999999996</c:v>
                </c:pt>
                <c:pt idx="15">
                  <c:v>395.26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Latin America</c:v>
                </c:pt>
                <c:pt idx="2">
                  <c:v>Rest of Latin America</c:v>
                </c:pt>
              </c:strCache>
            </c:strRef>
          </c:cat>
          <c:val>
            <c:numRef>
              <c:f>Sheet1!$B$2:$B$4</c:f>
              <c:numCache>
                <c:formatCode>General</c:formatCode>
                <c:ptCount val="3"/>
                <c:pt idx="0">
                  <c:v>0.05245930274733035</c:v>
                </c:pt>
                <c:pt idx="1">
                  <c:v>0.059594570018074444</c:v>
                </c:pt>
                <c:pt idx="2">
                  <c:v>0.06592762749377479</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00229711659596"/>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208.73999999999998</c:v>
                </c:pt>
                <c:pt idx="2">
                  <c:v>220.647</c:v>
                </c:pt>
                <c:pt idx="3">
                  <c:v>234.12</c:v>
                </c:pt>
                <c:pt idx="4">
                  <c:v>249.292</c:v>
                </c:pt>
                <c:pt idx="5">
                  <c:v>266.13800000000003</c:v>
                </c:pt>
                <c:pt idx="6">
                  <c:v>284.507</c:v>
                </c:pt>
                <c:pt idx="7">
                  <c:v>304.33799999999997</c:v>
                </c:pt>
                <c:pt idx="8">
                  <c:v>325.45799999999997</c:v>
                </c:pt>
                <c:pt idx="9">
                  <c:v>347.77700000000004</c:v>
                </c:pt>
                <c:pt idx="10">
                  <c:v>371.03999999999996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208.73999999999998</c:v>
                </c:pt>
                <c:pt idx="1">
                  <c:v>11.90700000000001</c:v>
                </c:pt>
                <c:pt idx="2">
                  <c:v>13.473000000000013</c:v>
                </c:pt>
                <c:pt idx="3">
                  <c:v>15.171999999999997</c:v>
                </c:pt>
                <c:pt idx="4">
                  <c:v>16.846000000000032</c:v>
                </c:pt>
                <c:pt idx="5">
                  <c:v>18.36899999999997</c:v>
                </c:pt>
                <c:pt idx="6">
                  <c:v>19.83099999999996</c:v>
                </c:pt>
                <c:pt idx="7">
                  <c:v>21.120000000000005</c:v>
                </c:pt>
                <c:pt idx="8">
                  <c:v>22.319000000000074</c:v>
                </c:pt>
                <c:pt idx="9">
                  <c:v>23.26299999999992</c:v>
                </c:pt>
                <c:pt idx="10">
                  <c:v>24.220000000000027</c:v>
                </c:pt>
                <c:pt idx="11">
                  <c:v>395.26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Latin America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Sheet1!$B$2:$B$3</c:f>
              <c:numCache>
                <c:formatCode>General</c:formatCode>
                <c:ptCount val="2"/>
                <c:pt idx="0">
                  <c:v>23.420486025013716</c:v>
                </c:pt>
                <c:pt idx="1">
                  <c:v>2.6385290977656304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Sheet1!$C$2:$C$3</c:f>
              <c:numCache>
                <c:formatCode>General</c:formatCode>
                <c:ptCount val="2"/>
                <c:pt idx="0">
                  <c:v>76.57951397498628</c:v>
                </c:pt>
                <c:pt idx="1">
                  <c:v>97.36147090223437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207.48000000000002</c:v>
                </c:pt>
                <c:pt idx="1">
                  <c:v>219.10199999999998</c:v>
                </c:pt>
                <c:pt idx="2">
                  <c:v>231.331</c:v>
                </c:pt>
                <c:pt idx="3">
                  <c:v>244.27499999999998</c:v>
                </c:pt>
                <c:pt idx="4">
                  <c:v>258.14599999999996</c:v>
                </c:pt>
                <c:pt idx="5">
                  <c:v>274.746</c:v>
                </c:pt>
                <c:pt idx="6">
                  <c:v>293.75800000000004</c:v>
                </c:pt>
                <c:pt idx="7">
                  <c:v>315.68600000000004</c:v>
                </c:pt>
                <c:pt idx="8">
                  <c:v>340.85900000000004</c:v>
                </c:pt>
                <c:pt idx="9">
                  <c:v>369.626</c:v>
                </c:pt>
                <c:pt idx="10">
                  <c:v>401.79200000000003</c:v>
                </c:pt>
                <c:pt idx="11">
                  <c:v>437.44100000000003</c:v>
                </c:pt>
                <c:pt idx="12">
                  <c:v>476.443</c:v>
                </c:pt>
                <c:pt idx="13">
                  <c:v>518.953</c:v>
                </c:pt>
                <c:pt idx="14">
                  <c:v>564.835</c:v>
                </c:pt>
                <c:pt idx="15">
                  <c:v>614.387</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Latin America</c:v>
                </c:pt>
                <c:pt idx="2">
                  <c:v>Rest of Latin America</c:v>
                </c:pt>
              </c:strCache>
            </c:strRef>
          </c:cat>
          <c:val>
            <c:numRef>
              <c:f>Sheet1!$B$2:$B$4</c:f>
              <c:numCache>
                <c:formatCode>General</c:formatCode>
                <c:ptCount val="3"/>
                <c:pt idx="0">
                  <c:v>0.06658666629421717</c:v>
                </c:pt>
                <c:pt idx="1">
                  <c:v>0.07624186200883054</c:v>
                </c:pt>
                <c:pt idx="2">
                  <c:v>0.08380478463734665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131364592604179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274.746</c:v>
                </c:pt>
                <c:pt idx="2">
                  <c:v>293.75800000000004</c:v>
                </c:pt>
                <c:pt idx="3">
                  <c:v>315.68600000000004</c:v>
                </c:pt>
                <c:pt idx="4">
                  <c:v>340.85900000000004</c:v>
                </c:pt>
                <c:pt idx="5">
                  <c:v>369.626</c:v>
                </c:pt>
                <c:pt idx="6">
                  <c:v>401.79200000000003</c:v>
                </c:pt>
                <c:pt idx="7">
                  <c:v>437.44100000000003</c:v>
                </c:pt>
                <c:pt idx="8">
                  <c:v>476.443</c:v>
                </c:pt>
                <c:pt idx="9">
                  <c:v>518.953</c:v>
                </c:pt>
                <c:pt idx="10">
                  <c:v>564.835</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274.746</c:v>
                </c:pt>
                <c:pt idx="1">
                  <c:v>19.012000000000057</c:v>
                </c:pt>
                <c:pt idx="2">
                  <c:v>21.927999999999997</c:v>
                </c:pt>
                <c:pt idx="3">
                  <c:v>25.173000000000002</c:v>
                </c:pt>
                <c:pt idx="4">
                  <c:v>28.76699999999994</c:v>
                </c:pt>
                <c:pt idx="5">
                  <c:v>32.166000000000054</c:v>
                </c:pt>
                <c:pt idx="6">
                  <c:v>35.649</c:v>
                </c:pt>
                <c:pt idx="7">
                  <c:v>39.00199999999995</c:v>
                </c:pt>
                <c:pt idx="8">
                  <c:v>42.50999999999999</c:v>
                </c:pt>
                <c:pt idx="9">
                  <c:v>45.88200000000006</c:v>
                </c:pt>
                <c:pt idx="10">
                  <c:v>49.55199999999991</c:v>
                </c:pt>
                <c:pt idx="11">
                  <c:v>614.387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Latin America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Sheet1!$B$2:$B$3</c:f>
              <c:numCache>
                <c:formatCode>General</c:formatCode>
                <c:ptCount val="2"/>
                <c:pt idx="0">
                  <c:v>20.346054585241763</c:v>
                </c:pt>
                <c:pt idx="1">
                  <c:v>1.7058221940539293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Sheet1!$C$2:$C$3</c:f>
              <c:numCache>
                <c:formatCode>General</c:formatCode>
                <c:ptCount val="2"/>
                <c:pt idx="0">
                  <c:v>79.65394541475824</c:v>
                </c:pt>
                <c:pt idx="1">
                  <c:v>98.29417780594608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Powders</c:v>
                </c:pt>
                <c:pt idx="2">
                  <c:v>Gels and Jellies</c:v>
                </c:pt>
                <c:pt idx="3">
                  <c:v>Sprays and Mists</c:v>
                </c:pt>
                <c:pt idx="4">
                  <c:v>Sticks and Balms</c:v>
                </c:pt>
                <c:pt idx="5">
                  <c:v>Creams and Lotions</c:v>
                </c:pt>
                <c:pt idx="6">
                  <c:v>Waxes, Clays, Pastes…</c:v>
                </c:pt>
                <c:pt idx="7">
                  <c:v>Serums and Oils</c:v>
                </c:pt>
              </c:strCache>
            </c:strRef>
          </c:cat>
          <c:val>
            <c:numRef>
              <c:f>Sheet1!$B$2:$B$9</c:f>
              <c:numCache>
                <c:formatCode>General</c:formatCode>
                <c:ptCount val="8"/>
                <c:pt idx="0">
                  <c:v>19.457</c:v>
                </c:pt>
                <c:pt idx="1">
                  <c:v>26.847</c:v>
                </c:pt>
                <c:pt idx="2">
                  <c:v>28.762</c:v>
                </c:pt>
                <c:pt idx="3">
                  <c:v>31.5</c:v>
                </c:pt>
                <c:pt idx="4">
                  <c:v>34.722</c:v>
                </c:pt>
                <c:pt idx="5">
                  <c:v>37.089</c:v>
                </c:pt>
                <c:pt idx="6">
                  <c:v>42.97</c:v>
                </c:pt>
                <c:pt idx="7">
                  <c:v>53.399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1.55466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48.674</c:v>
                </c:pt>
                <c:pt idx="4">
                  <c:v>51.99</c:v>
                </c:pt>
                <c:pt idx="5">
                  <c:v>55.415</c:v>
                </c:pt>
                <c:pt idx="6">
                  <c:v>57.604</c:v>
                </c:pt>
                <c:pt idx="7">
                  <c:v>61.064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81.8257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86.808</c:v>
                </c:pt>
                <c:pt idx="6">
                  <c:v>89.348</c:v>
                </c:pt>
                <c:pt idx="7">
                  <c:v>98.59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2.11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Online Marketplaces</c:v>
                </c:pt>
                <c:pt idx="6">
                  <c:v>Salon and Professiona…</c:v>
                </c:pt>
                <c:pt idx="7">
                  <c:v>Mass Retail</c:v>
                </c:pt>
              </c:strCache>
            </c:strRef>
          </c:cat>
          <c:val>
            <c:numRef>
              <c:f>Sheet1!$B$2:$B$9</c:f>
              <c:numCache>
                <c:formatCode>General</c:formatCode>
                <c:ptCount val="8"/>
                <c:pt idx="2">
                  <c:v>33.814</c:v>
                </c:pt>
                <c:pt idx="3">
                  <c:v>42.099</c:v>
                </c:pt>
                <c:pt idx="4">
                  <c:v>42.751</c:v>
                </c:pt>
                <c:pt idx="5">
                  <c:v>45.035</c:v>
                </c:pt>
                <c:pt idx="6">
                  <c:v>47.627</c:v>
                </c:pt>
                <c:pt idx="7">
                  <c:v>63.422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84.9854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Heat Styling Support</c:v>
                </c:pt>
                <c:pt idx="5">
                  <c:v>Hold and Shape</c:v>
                </c:pt>
                <c:pt idx="6">
                  <c:v>Curl Definition</c:v>
                </c:pt>
                <c:pt idx="7">
                  <c:v>Smoothing and Frizz C…</c:v>
                </c:pt>
              </c:strCache>
            </c:strRef>
          </c:cat>
          <c:val>
            <c:numRef>
              <c:f>Sheet1!$B$2:$B$9</c:f>
              <c:numCache>
                <c:formatCode>General</c:formatCode>
                <c:ptCount val="8"/>
                <c:pt idx="1">
                  <c:v>30.84</c:v>
                </c:pt>
                <c:pt idx="2">
                  <c:v>36.408</c:v>
                </c:pt>
                <c:pt idx="3">
                  <c:v>36.431</c:v>
                </c:pt>
                <c:pt idx="4">
                  <c:v>36.503</c:v>
                </c:pt>
                <c:pt idx="5">
                  <c:v>41.202</c:v>
                </c:pt>
                <c:pt idx="6">
                  <c:v>45.966</c:v>
                </c:pt>
                <c:pt idx="7">
                  <c:v>47.397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3.5119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Wavy Hair</c:v>
                </c:pt>
                <c:pt idx="4">
                  <c:v>Coily Hair</c:v>
                </c:pt>
                <c:pt idx="5">
                  <c:v>Straight Hair</c:v>
                </c:pt>
                <c:pt idx="6">
                  <c:v>All Hair Types</c:v>
                </c:pt>
                <c:pt idx="7">
                  <c:v>Curly Hair</c:v>
                </c:pt>
              </c:strCache>
            </c:strRef>
          </c:cat>
          <c:val>
            <c:numRef>
              <c:f>Sheet1!$B$2:$B$9</c:f>
              <c:numCache>
                <c:formatCode>General</c:formatCode>
                <c:ptCount val="8"/>
                <c:pt idx="3">
                  <c:v>52.082</c:v>
                </c:pt>
                <c:pt idx="4">
                  <c:v>54.065</c:v>
                </c:pt>
                <c:pt idx="5">
                  <c:v>54.259</c:v>
                </c:pt>
                <c:pt idx="6">
                  <c:v>56.878</c:v>
                </c:pt>
                <c:pt idx="7">
                  <c:v>57.463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7.0004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65.85</c:v>
                </c:pt>
                <c:pt idx="5">
                  <c:v>68.543</c:v>
                </c:pt>
                <c:pt idx="6">
                  <c:v>69.059</c:v>
                </c:pt>
                <c:pt idx="7">
                  <c:v>71.295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5.535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274.746</c:v>
                </c:pt>
                <c:pt idx="2">
                  <c:v>303.599</c:v>
                </c:pt>
                <c:pt idx="3">
                  <c:v>322.616</c:v>
                </c:pt>
                <c:pt idx="4">
                  <c:v>347.846</c:v>
                </c:pt>
                <c:pt idx="5">
                  <c:v>393.9</c:v>
                </c:pt>
                <c:pt idx="6">
                  <c:v>447.589</c:v>
                </c:pt>
                <c:pt idx="7">
                  <c:v>483.902</c:v>
                </c:pt>
                <c:pt idx="8">
                  <c:v>559.045</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274.746</c:v>
                </c:pt>
                <c:pt idx="1">
                  <c:v>28.852999999999994</c:v>
                </c:pt>
                <c:pt idx="2">
                  <c:v>19.017000000000003</c:v>
                </c:pt>
                <c:pt idx="3">
                  <c:v>25.229999999999997</c:v>
                </c:pt>
                <c:pt idx="4">
                  <c:v>46.054</c:v>
                </c:pt>
                <c:pt idx="5">
                  <c:v>53.68900000000001</c:v>
                </c:pt>
                <c:pt idx="6">
                  <c:v>36.312999999999995</c:v>
                </c:pt>
                <c:pt idx="7">
                  <c:v>75.143</c:v>
                </c:pt>
                <c:pt idx="8">
                  <c:v>55.34199999999999</c:v>
                </c:pt>
                <c:pt idx="9">
                  <c:v>614.387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28.852999999999994</c:v>
                </c:pt>
                <c:pt idx="2">
                  <c:v>47.87</c:v>
                </c:pt>
                <c:pt idx="3">
                  <c:v>73.1</c:v>
                </c:pt>
                <c:pt idx="4">
                  <c:v>119.154</c:v>
                </c:pt>
                <c:pt idx="5">
                  <c:v>172.84300000000002</c:v>
                </c:pt>
                <c:pt idx="6">
                  <c:v>209.156</c:v>
                </c:pt>
                <c:pt idx="7">
                  <c:v>284.299</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28.852999999999994</c:v>
                </c:pt>
                <c:pt idx="1">
                  <c:v>19.017000000000003</c:v>
                </c:pt>
                <c:pt idx="2">
                  <c:v>25.229999999999997</c:v>
                </c:pt>
                <c:pt idx="3">
                  <c:v>46.054</c:v>
                </c:pt>
                <c:pt idx="4">
                  <c:v>53.68900000000001</c:v>
                </c:pt>
                <c:pt idx="5">
                  <c:v>36.312999999999995</c:v>
                </c:pt>
                <c:pt idx="6">
                  <c:v>75.143</c:v>
                </c:pt>
                <c:pt idx="7">
                  <c:v>55.34199999999999</c:v>
                </c:pt>
                <c:pt idx="8">
                  <c:v>339.64099999999996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274.74699999999996</c:v>
                </c:pt>
                <c:pt idx="2">
                  <c:v>345.84999999999997</c:v>
                </c:pt>
                <c:pt idx="3">
                  <c:v>426.79499999999996</c:v>
                </c:pt>
                <c:pt idx="4">
                  <c:v>500.99899999999997</c:v>
                </c:pt>
                <c:pt idx="5">
                  <c:v>564.8589999999999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274.74699999999996</c:v>
                </c:pt>
                <c:pt idx="1">
                  <c:v>71.10300000000001</c:v>
                </c:pt>
                <c:pt idx="2">
                  <c:v>80.94500000000002</c:v>
                </c:pt>
                <c:pt idx="3">
                  <c:v>74.20400000000001</c:v>
                </c:pt>
                <c:pt idx="4">
                  <c:v>63.86</c:v>
                </c:pt>
                <c:pt idx="5">
                  <c:v>49.526999999999994</c:v>
                </c:pt>
                <c:pt idx="6">
                  <c:v>614.386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71.10300000000001</c:v>
                </c:pt>
                <c:pt idx="2">
                  <c:v>152.04800000000003</c:v>
                </c:pt>
                <c:pt idx="3">
                  <c:v>226.25200000000004</c:v>
                </c:pt>
                <c:pt idx="4">
                  <c:v>290.112</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71.10300000000001</c:v>
                </c:pt>
                <c:pt idx="1">
                  <c:v>80.94500000000002</c:v>
                </c:pt>
                <c:pt idx="2">
                  <c:v>74.20400000000001</c:v>
                </c:pt>
                <c:pt idx="3">
                  <c:v>63.86</c:v>
                </c:pt>
                <c:pt idx="4">
                  <c:v>49.526999999999994</c:v>
                </c:pt>
                <c:pt idx="5">
                  <c:v>339.639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274.746</c:v>
                </c:pt>
                <c:pt idx="2">
                  <c:v>380.31699999999995</c:v>
                </c:pt>
                <c:pt idx="3">
                  <c:v>479.45099999999996</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274.746</c:v>
                </c:pt>
                <c:pt idx="1">
                  <c:v>105.57099999999998</c:v>
                </c:pt>
                <c:pt idx="2">
                  <c:v>99.134</c:v>
                </c:pt>
                <c:pt idx="3">
                  <c:v>134.934</c:v>
                </c:pt>
                <c:pt idx="4">
                  <c:v>614.385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105.57099999999998</c:v>
                </c:pt>
                <c:pt idx="2">
                  <c:v>204.70499999999998</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105.57099999999998</c:v>
                </c:pt>
                <c:pt idx="1">
                  <c:v>99.134</c:v>
                </c:pt>
                <c:pt idx="2">
                  <c:v>134.934</c:v>
                </c:pt>
                <c:pt idx="3">
                  <c:v>339.639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274.748</c:v>
                </c:pt>
                <c:pt idx="2">
                  <c:v>337.488</c:v>
                </c:pt>
                <c:pt idx="3">
                  <c:v>392.598</c:v>
                </c:pt>
                <c:pt idx="4">
                  <c:v>449.369</c:v>
                </c:pt>
                <c:pt idx="5">
                  <c:v>495.50000000000006</c:v>
                </c:pt>
                <c:pt idx="6">
                  <c:v>565.2410000000001</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274.748</c:v>
                </c:pt>
                <c:pt idx="1">
                  <c:v>62.74000000000001</c:v>
                </c:pt>
                <c:pt idx="2">
                  <c:v>55.11000000000001</c:v>
                </c:pt>
                <c:pt idx="3">
                  <c:v>56.770999999999994</c:v>
                </c:pt>
                <c:pt idx="4">
                  <c:v>46.13100000000001</c:v>
                </c:pt>
                <c:pt idx="5">
                  <c:v>69.741</c:v>
                </c:pt>
                <c:pt idx="6">
                  <c:v>49.142999999999994</c:v>
                </c:pt>
                <c:pt idx="7">
                  <c:v>614.384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62.74000000000001</c:v>
                </c:pt>
                <c:pt idx="2">
                  <c:v>117.85000000000002</c:v>
                </c:pt>
                <c:pt idx="3">
                  <c:v>174.621</c:v>
                </c:pt>
                <c:pt idx="4">
                  <c:v>220.752</c:v>
                </c:pt>
                <c:pt idx="5">
                  <c:v>290.493</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62.74000000000001</c:v>
                </c:pt>
                <c:pt idx="1">
                  <c:v>55.11000000000001</c:v>
                </c:pt>
                <c:pt idx="2">
                  <c:v>56.770999999999994</c:v>
                </c:pt>
                <c:pt idx="3">
                  <c:v>46.13100000000001</c:v>
                </c:pt>
                <c:pt idx="4">
                  <c:v>69.741</c:v>
                </c:pt>
                <c:pt idx="5">
                  <c:v>49.142999999999994</c:v>
                </c:pt>
                <c:pt idx="6">
                  <c:v>339.63599999999997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274.747</c:v>
                </c:pt>
                <c:pt idx="2">
                  <c:v>312.00100000000003</c:v>
                </c:pt>
                <c:pt idx="3">
                  <c:v>383.649</c:v>
                </c:pt>
                <c:pt idx="4">
                  <c:v>423.369</c:v>
                </c:pt>
                <c:pt idx="5">
                  <c:v>467.115</c:v>
                </c:pt>
                <c:pt idx="6">
                  <c:v>530.998</c:v>
                </c:pt>
                <c:pt idx="7">
                  <c:v>562.023</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274.747</c:v>
                </c:pt>
                <c:pt idx="1">
                  <c:v>37.254000000000005</c:v>
                </c:pt>
                <c:pt idx="2">
                  <c:v>71.648</c:v>
                </c:pt>
                <c:pt idx="3">
                  <c:v>39.72</c:v>
                </c:pt>
                <c:pt idx="4">
                  <c:v>43.74600000000001</c:v>
                </c:pt>
                <c:pt idx="5">
                  <c:v>63.883</c:v>
                </c:pt>
                <c:pt idx="6">
                  <c:v>31.025000000000002</c:v>
                </c:pt>
                <c:pt idx="7">
                  <c:v>52.363</c:v>
                </c:pt>
                <c:pt idx="8">
                  <c:v>614.386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37.254000000000005</c:v>
                </c:pt>
                <c:pt idx="2">
                  <c:v>108.902</c:v>
                </c:pt>
                <c:pt idx="3">
                  <c:v>148.622</c:v>
                </c:pt>
                <c:pt idx="4">
                  <c:v>192.36800000000002</c:v>
                </c:pt>
                <c:pt idx="5">
                  <c:v>256.25100000000003</c:v>
                </c:pt>
                <c:pt idx="6">
                  <c:v>287.276</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37.254000000000005</c:v>
                </c:pt>
                <c:pt idx="1">
                  <c:v>71.648</c:v>
                </c:pt>
                <c:pt idx="2">
                  <c:v>39.72</c:v>
                </c:pt>
                <c:pt idx="3">
                  <c:v>43.74600000000001</c:v>
                </c:pt>
                <c:pt idx="4">
                  <c:v>63.883</c:v>
                </c:pt>
                <c:pt idx="5">
                  <c:v>31.025000000000002</c:v>
                </c:pt>
                <c:pt idx="6">
                  <c:v>52.363</c:v>
                </c:pt>
                <c:pt idx="7">
                  <c:v>339.639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274.747</c:v>
                </c:pt>
                <c:pt idx="2">
                  <c:v>329.872</c:v>
                </c:pt>
                <c:pt idx="3">
                  <c:v>393.015</c:v>
                </c:pt>
                <c:pt idx="4">
                  <c:v>471.717</c:v>
                </c:pt>
                <c:pt idx="5">
                  <c:v>550.797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274.747</c:v>
                </c:pt>
                <c:pt idx="1">
                  <c:v>55.125</c:v>
                </c:pt>
                <c:pt idx="2">
                  <c:v>63.142999999999994</c:v>
                </c:pt>
                <c:pt idx="3">
                  <c:v>78.702</c:v>
                </c:pt>
                <c:pt idx="4">
                  <c:v>79.08000000000001</c:v>
                </c:pt>
                <c:pt idx="5">
                  <c:v>63.587999999999994</c:v>
                </c:pt>
                <c:pt idx="6">
                  <c:v>614.385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55.125</c:v>
                </c:pt>
                <c:pt idx="2">
                  <c:v>118.268</c:v>
                </c:pt>
                <c:pt idx="3">
                  <c:v>196.97</c:v>
                </c:pt>
                <c:pt idx="4">
                  <c:v>276.05</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55.125</c:v>
                </c:pt>
                <c:pt idx="1">
                  <c:v>63.142999999999994</c:v>
                </c:pt>
                <c:pt idx="2">
                  <c:v>78.702</c:v>
                </c:pt>
                <c:pt idx="3">
                  <c:v>79.08000000000001</c:v>
                </c:pt>
                <c:pt idx="4">
                  <c:v>63.587999999999994</c:v>
                </c:pt>
                <c:pt idx="5">
                  <c:v>339.63800000000003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274.74699999999996</c:v>
                </c:pt>
                <c:pt idx="2">
                  <c:v>349.76199999999994</c:v>
                </c:pt>
                <c:pt idx="3">
                  <c:v>441.68399999999997</c:v>
                </c:pt>
                <c:pt idx="4">
                  <c:v>520.48</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274.74699999999996</c:v>
                </c:pt>
                <c:pt idx="1">
                  <c:v>75.015</c:v>
                </c:pt>
                <c:pt idx="2">
                  <c:v>91.922</c:v>
                </c:pt>
                <c:pt idx="3">
                  <c:v>78.79599999999999</c:v>
                </c:pt>
                <c:pt idx="4">
                  <c:v>93.906</c:v>
                </c:pt>
                <c:pt idx="5">
                  <c:v>614.386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75.015</c:v>
                </c:pt>
                <c:pt idx="2">
                  <c:v>166.937</c:v>
                </c:pt>
                <c:pt idx="3">
                  <c:v>245.733</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75.015</c:v>
                </c:pt>
                <c:pt idx="1">
                  <c:v>91.922</c:v>
                </c:pt>
                <c:pt idx="2">
                  <c:v>78.79599999999999</c:v>
                </c:pt>
                <c:pt idx="3">
                  <c:v>93.906</c:v>
                </c:pt>
                <c:pt idx="4">
                  <c:v>339.639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178.522</c:v>
                </c:pt>
                <c:pt idx="1">
                  <c:v>183.339</c:v>
                </c:pt>
                <c:pt idx="2">
                  <c:v>188.26600000000002</c:v>
                </c:pt>
                <c:pt idx="3">
                  <c:v>193.29000000000002</c:v>
                </c:pt>
                <c:pt idx="4">
                  <c:v>198.53099999999998</c:v>
                </c:pt>
                <c:pt idx="5">
                  <c:v>204.264</c:v>
                </c:pt>
                <c:pt idx="6">
                  <c:v>210.57799999999997</c:v>
                </c:pt>
                <c:pt idx="7">
                  <c:v>217.562</c:v>
                </c:pt>
                <c:pt idx="8">
                  <c:v>225.253</c:v>
                </c:pt>
                <c:pt idx="9">
                  <c:v>233.60000000000002</c:v>
                </c:pt>
                <c:pt idx="10">
                  <c:v>242.492</c:v>
                </c:pt>
                <c:pt idx="11">
                  <c:v>251.853</c:v>
                </c:pt>
                <c:pt idx="12">
                  <c:v>261.554</c:v>
                </c:pt>
                <c:pt idx="13">
                  <c:v>271.53700000000003</c:v>
                </c:pt>
                <c:pt idx="14">
                  <c:v>281.66700000000003</c:v>
                </c:pt>
                <c:pt idx="15">
                  <c:v>291.943</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Germany</c:v>
                </c:pt>
              </c:strCache>
            </c:strRef>
          </c:cat>
          <c:val>
            <c:numRef>
              <c:f>Sheet1!$B$2:$B$4</c:f>
              <c:numCache>
                <c:formatCode>General</c:formatCode>
                <c:ptCount val="3"/>
                <c:pt idx="0">
                  <c:v>0.05245930274733035</c:v>
                </c:pt>
                <c:pt idx="1">
                  <c:v>0.04646744386955093</c:v>
                </c:pt>
                <c:pt idx="2">
                  <c:v>0.03635995488217758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204.264</c:v>
                </c:pt>
                <c:pt idx="2">
                  <c:v>210.57799999999997</c:v>
                </c:pt>
                <c:pt idx="3">
                  <c:v>217.562</c:v>
                </c:pt>
                <c:pt idx="4">
                  <c:v>225.253</c:v>
                </c:pt>
                <c:pt idx="5">
                  <c:v>233.60000000000002</c:v>
                </c:pt>
                <c:pt idx="6">
                  <c:v>242.492</c:v>
                </c:pt>
                <c:pt idx="7">
                  <c:v>251.853</c:v>
                </c:pt>
                <c:pt idx="8">
                  <c:v>261.554</c:v>
                </c:pt>
                <c:pt idx="9">
                  <c:v>271.53700000000003</c:v>
                </c:pt>
                <c:pt idx="10">
                  <c:v>281.66700000000003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204.264</c:v>
                </c:pt>
                <c:pt idx="1">
                  <c:v>6.3139999999999645</c:v>
                </c:pt>
                <c:pt idx="2">
                  <c:v>6.984000000000037</c:v>
                </c:pt>
                <c:pt idx="3">
                  <c:v>7.690999999999974</c:v>
                </c:pt>
                <c:pt idx="4">
                  <c:v>8.347000000000037</c:v>
                </c:pt>
                <c:pt idx="5">
                  <c:v>8.891999999999967</c:v>
                </c:pt>
                <c:pt idx="6">
                  <c:v>9.361000000000018</c:v>
                </c:pt>
                <c:pt idx="7">
                  <c:v>9.700999999999965</c:v>
                </c:pt>
                <c:pt idx="8">
                  <c:v>9.983000000000061</c:v>
                </c:pt>
                <c:pt idx="9">
                  <c:v>10.129999999999995</c:v>
                </c:pt>
                <c:pt idx="10">
                  <c:v>10.275999999999954</c:v>
                </c:pt>
                <c:pt idx="11">
                  <c:v>291.943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Germany</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15.080365270508816</c:v>
                </c:pt>
                <c:pt idx="1">
                  <c:v>2.5819512677301852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84.91963472949118</c:v>
                </c:pt>
                <c:pt idx="1">
                  <c:v>97.41804873226981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357.868</c:v>
                </c:pt>
                <c:pt idx="1">
                  <c:v>369.187</c:v>
                </c:pt>
                <c:pt idx="2">
                  <c:v>380.895</c:v>
                </c:pt>
                <c:pt idx="3">
                  <c:v>393.159</c:v>
                </c:pt>
                <c:pt idx="4">
                  <c:v>406.087</c:v>
                </c:pt>
                <c:pt idx="5">
                  <c:v>421.75</c:v>
                </c:pt>
                <c:pt idx="6">
                  <c:v>439.25</c:v>
                </c:pt>
                <c:pt idx="7">
                  <c:v>458.87200000000007</c:v>
                </c:pt>
                <c:pt idx="8">
                  <c:v>480.863</c:v>
                </c:pt>
                <c:pt idx="9">
                  <c:v>505.219</c:v>
                </c:pt>
                <c:pt idx="10">
                  <c:v>531.787</c:v>
                </c:pt>
                <c:pt idx="11">
                  <c:v>560.491</c:v>
                </c:pt>
                <c:pt idx="12">
                  <c:v>591.077</c:v>
                </c:pt>
                <c:pt idx="13">
                  <c:v>623.501</c:v>
                </c:pt>
                <c:pt idx="14">
                  <c:v>657.535</c:v>
                </c:pt>
                <c:pt idx="15">
                  <c:v>693.195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Germany</c:v>
                </c:pt>
              </c:strCache>
            </c:strRef>
          </c:cat>
          <c:val>
            <c:numRef>
              <c:f>Sheet1!$B$2:$B$4</c:f>
              <c:numCache>
                <c:formatCode>General</c:formatCode>
                <c:ptCount val="3"/>
                <c:pt idx="0">
                  <c:v>0.06658666629421717</c:v>
                </c:pt>
                <c:pt idx="1">
                  <c:v>0.06255449919419975</c:v>
                </c:pt>
                <c:pt idx="2">
                  <c:v>0.05094510817809561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91999497193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421.75</c:v>
                </c:pt>
                <c:pt idx="2">
                  <c:v>439.25</c:v>
                </c:pt>
                <c:pt idx="3">
                  <c:v>458.87200000000007</c:v>
                </c:pt>
                <c:pt idx="4">
                  <c:v>480.863</c:v>
                </c:pt>
                <c:pt idx="5">
                  <c:v>505.219</c:v>
                </c:pt>
                <c:pt idx="6">
                  <c:v>531.787</c:v>
                </c:pt>
                <c:pt idx="7">
                  <c:v>560.491</c:v>
                </c:pt>
                <c:pt idx="8">
                  <c:v>591.077</c:v>
                </c:pt>
                <c:pt idx="9">
                  <c:v>623.501</c:v>
                </c:pt>
                <c:pt idx="10">
                  <c:v>657.535</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421.75</c:v>
                </c:pt>
                <c:pt idx="1">
                  <c:v>17.5</c:v>
                </c:pt>
                <c:pt idx="2">
                  <c:v>19.62200000000007</c:v>
                </c:pt>
                <c:pt idx="3">
                  <c:v>21.99099999999993</c:v>
                </c:pt>
                <c:pt idx="4">
                  <c:v>24.355999999999995</c:v>
                </c:pt>
                <c:pt idx="5">
                  <c:v>26.56800000000004</c:v>
                </c:pt>
                <c:pt idx="6">
                  <c:v>28.70399999999995</c:v>
                </c:pt>
                <c:pt idx="7">
                  <c:v>30.586000000000013</c:v>
                </c:pt>
                <c:pt idx="8">
                  <c:v>32.42399999999998</c:v>
                </c:pt>
                <c:pt idx="9">
                  <c:v>34.03399999999999</c:v>
                </c:pt>
                <c:pt idx="10">
                  <c:v>35.66000000000008</c:v>
                </c:pt>
                <c:pt idx="11">
                  <c:v>693.195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Germany</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15.003674877569303</c:v>
                </c:pt>
                <c:pt idx="1">
                  <c:v>2.6185295157791004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84.9963251224307</c:v>
                </c:pt>
                <c:pt idx="1">
                  <c:v>97.3814704842209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Waxes, Clays, Pastes…</c:v>
                </c:pt>
                <c:pt idx="6">
                  <c:v>Sprays and Mists</c:v>
                </c:pt>
                <c:pt idx="7">
                  <c:v>Serums and Oils</c:v>
                </c:pt>
              </c:strCache>
            </c:strRef>
          </c:cat>
          <c:val>
            <c:numRef>
              <c:f>Sheet1!$B$2:$B$9</c:f>
              <c:numCache>
                <c:formatCode>General</c:formatCode>
                <c:ptCount val="8"/>
                <c:pt idx="0">
                  <c:v>35.465</c:v>
                </c:pt>
                <c:pt idx="1">
                  <c:v>38.331</c:v>
                </c:pt>
                <c:pt idx="2">
                  <c:v>41.663</c:v>
                </c:pt>
                <c:pt idx="3">
                  <c:v>45.759</c:v>
                </c:pt>
                <c:pt idx="4">
                  <c:v>52.232</c:v>
                </c:pt>
                <c:pt idx="5">
                  <c:v>66.381</c:v>
                </c:pt>
                <c:pt idx="6">
                  <c:v>69.325</c:v>
                </c:pt>
                <c:pt idx="7">
                  <c:v>72.594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7.2759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No Hold</c:v>
                </c:pt>
                <c:pt idx="4">
                  <c:v>Light or Flexible Hold</c:v>
                </c:pt>
                <c:pt idx="5">
                  <c:v>Extra-strong Hold</c:v>
                </c:pt>
                <c:pt idx="6">
                  <c:v>Medium Hold</c:v>
                </c:pt>
                <c:pt idx="7">
                  <c:v>Strong Hold</c:v>
                </c:pt>
              </c:strCache>
            </c:strRef>
          </c:cat>
          <c:val>
            <c:numRef>
              <c:f>Sheet1!$B$2:$B$9</c:f>
              <c:numCache>
                <c:formatCode>General</c:formatCode>
                <c:ptCount val="8"/>
                <c:pt idx="3">
                  <c:v>69.751</c:v>
                </c:pt>
                <c:pt idx="4">
                  <c:v>82.273</c:v>
                </c:pt>
                <c:pt idx="5">
                  <c:v>82.564</c:v>
                </c:pt>
                <c:pt idx="6">
                  <c:v>90.575</c:v>
                </c:pt>
                <c:pt idx="7">
                  <c:v>96.586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29.4252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137.822</c:v>
                </c:pt>
                <c:pt idx="6">
                  <c:v>140.099</c:v>
                </c:pt>
                <c:pt idx="7">
                  <c:v>143.829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92.73086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Beauty Specialty Reta…</c:v>
                </c:pt>
                <c:pt idx="4">
                  <c:v>Online Marketplaces</c:v>
                </c:pt>
                <c:pt idx="5">
                  <c:v>Pharmacies and Drugst…</c:v>
                </c:pt>
                <c:pt idx="6">
                  <c:v>Salon and Professiona…</c:v>
                </c:pt>
                <c:pt idx="7">
                  <c:v>Mass Retail</c:v>
                </c:pt>
              </c:strCache>
            </c:strRef>
          </c:cat>
          <c:val>
            <c:numRef>
              <c:f>Sheet1!$B$2:$B$9</c:f>
              <c:numCache>
                <c:formatCode>General</c:formatCode>
                <c:ptCount val="8"/>
                <c:pt idx="2">
                  <c:v>53.048</c:v>
                </c:pt>
                <c:pt idx="3">
                  <c:v>66.291</c:v>
                </c:pt>
                <c:pt idx="4">
                  <c:v>69.287</c:v>
                </c:pt>
                <c:pt idx="5">
                  <c:v>70.497</c:v>
                </c:pt>
                <c:pt idx="6">
                  <c:v>74.284</c:v>
                </c:pt>
                <c:pt idx="7">
                  <c:v>88.342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18.3782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49.832</c:v>
                </c:pt>
                <c:pt idx="2">
                  <c:v>58.638</c:v>
                </c:pt>
                <c:pt idx="3">
                  <c:v>59.498</c:v>
                </c:pt>
                <c:pt idx="4">
                  <c:v>59.642</c:v>
                </c:pt>
                <c:pt idx="5">
                  <c:v>60.047</c:v>
                </c:pt>
                <c:pt idx="6">
                  <c:v>66.839</c:v>
                </c:pt>
                <c:pt idx="7">
                  <c:v>67.254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0.1203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75.936</c:v>
                </c:pt>
                <c:pt idx="4">
                  <c:v>80.278</c:v>
                </c:pt>
                <c:pt idx="5">
                  <c:v>85.204</c:v>
                </c:pt>
                <c:pt idx="6">
                  <c:v>88.533</c:v>
                </c:pt>
                <c:pt idx="7">
                  <c:v>91.799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23.01066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101.392</c:v>
                </c:pt>
                <c:pt idx="5">
                  <c:v>105.024</c:v>
                </c:pt>
                <c:pt idx="6">
                  <c:v>105.967</c:v>
                </c:pt>
                <c:pt idx="7">
                  <c:v>109.367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46.5517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421.75</c:v>
                </c:pt>
                <c:pt idx="2">
                  <c:v>447.13</c:v>
                </c:pt>
                <c:pt idx="3">
                  <c:v>463.668</c:v>
                </c:pt>
                <c:pt idx="4">
                  <c:v>483.589</c:v>
                </c:pt>
                <c:pt idx="5">
                  <c:v>511.758</c:v>
                </c:pt>
                <c:pt idx="6">
                  <c:v>553.146</c:v>
                </c:pt>
                <c:pt idx="7">
                  <c:v>593.058</c:v>
                </c:pt>
                <c:pt idx="8">
                  <c:v>648.679</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421.75</c:v>
                </c:pt>
                <c:pt idx="1">
                  <c:v>25.379999999999995</c:v>
                </c:pt>
                <c:pt idx="2">
                  <c:v>16.537999999999997</c:v>
                </c:pt>
                <c:pt idx="3">
                  <c:v>19.921</c:v>
                </c:pt>
                <c:pt idx="4">
                  <c:v>28.168999999999997</c:v>
                </c:pt>
                <c:pt idx="5">
                  <c:v>41.388000000000005</c:v>
                </c:pt>
                <c:pt idx="6">
                  <c:v>39.912000000000006</c:v>
                </c:pt>
                <c:pt idx="7">
                  <c:v>55.62100000000001</c:v>
                </c:pt>
                <c:pt idx="8">
                  <c:v>44.516000000000005</c:v>
                </c:pt>
                <c:pt idx="9">
                  <c:v>693.195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25.379999999999995</c:v>
                </c:pt>
                <c:pt idx="2">
                  <c:v>41.91799999999999</c:v>
                </c:pt>
                <c:pt idx="3">
                  <c:v>61.83899999999999</c:v>
                </c:pt>
                <c:pt idx="4">
                  <c:v>90.00799999999998</c:v>
                </c:pt>
                <c:pt idx="5">
                  <c:v>131.396</c:v>
                </c:pt>
                <c:pt idx="6">
                  <c:v>171.308</c:v>
                </c:pt>
                <c:pt idx="7">
                  <c:v>226.929</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25.379999999999995</c:v>
                </c:pt>
                <c:pt idx="1">
                  <c:v>16.537999999999997</c:v>
                </c:pt>
                <c:pt idx="2">
                  <c:v>19.921</c:v>
                </c:pt>
                <c:pt idx="3">
                  <c:v>28.168999999999997</c:v>
                </c:pt>
                <c:pt idx="4">
                  <c:v>41.388000000000005</c:v>
                </c:pt>
                <c:pt idx="5">
                  <c:v>39.912000000000006</c:v>
                </c:pt>
                <c:pt idx="6">
                  <c:v>55.62100000000001</c:v>
                </c:pt>
                <c:pt idx="7">
                  <c:v>44.516000000000005</c:v>
                </c:pt>
                <c:pt idx="8">
                  <c:v>271.445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421.749</c:v>
                </c:pt>
                <c:pt idx="2">
                  <c:v>473.467</c:v>
                </c:pt>
                <c:pt idx="3">
                  <c:v>540.834</c:v>
                </c:pt>
                <c:pt idx="4">
                  <c:v>598.7739999999999</c:v>
                </c:pt>
                <c:pt idx="5">
                  <c:v>652.8769999999998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421.749</c:v>
                </c:pt>
                <c:pt idx="1">
                  <c:v>51.71799999999999</c:v>
                </c:pt>
                <c:pt idx="2">
                  <c:v>67.36699999999999</c:v>
                </c:pt>
                <c:pt idx="3">
                  <c:v>57.93999999999998</c:v>
                </c:pt>
                <c:pt idx="4">
                  <c:v>54.102999999999994</c:v>
                </c:pt>
                <c:pt idx="5">
                  <c:v>40.31800000000001</c:v>
                </c:pt>
                <c:pt idx="6">
                  <c:v>693.1949999999999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51.71799999999999</c:v>
                </c:pt>
                <c:pt idx="2">
                  <c:v>119.08499999999998</c:v>
                </c:pt>
                <c:pt idx="3">
                  <c:v>177.02499999999998</c:v>
                </c:pt>
                <c:pt idx="4">
                  <c:v>231.128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51.71799999999999</c:v>
                </c:pt>
                <c:pt idx="1">
                  <c:v>67.36699999999999</c:v>
                </c:pt>
                <c:pt idx="2">
                  <c:v>57.93999999999998</c:v>
                </c:pt>
                <c:pt idx="3">
                  <c:v>54.102999999999994</c:v>
                </c:pt>
                <c:pt idx="4">
                  <c:v>40.31800000000001</c:v>
                </c:pt>
                <c:pt idx="5">
                  <c:v>271.446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421.75</c:v>
                </c:pt>
                <c:pt idx="2">
                  <c:v>511.06</c:v>
                </c:pt>
                <c:pt idx="3">
                  <c:v>591.323</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421.75</c:v>
                </c:pt>
                <c:pt idx="1">
                  <c:v>89.31</c:v>
                </c:pt>
                <c:pt idx="2">
                  <c:v>80.263</c:v>
                </c:pt>
                <c:pt idx="3">
                  <c:v>101.87100000000001</c:v>
                </c:pt>
                <c:pt idx="4">
                  <c:v>693.194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89.31</c:v>
                </c:pt>
                <c:pt idx="2">
                  <c:v>169.573</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89.31</c:v>
                </c:pt>
                <c:pt idx="1">
                  <c:v>80.263</c:v>
                </c:pt>
                <c:pt idx="2">
                  <c:v>101.87100000000001</c:v>
                </c:pt>
                <c:pt idx="3">
                  <c:v>271.444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421.749</c:v>
                </c:pt>
                <c:pt idx="2">
                  <c:v>462.204</c:v>
                </c:pt>
                <c:pt idx="3">
                  <c:v>507.66200000000003</c:v>
                </c:pt>
                <c:pt idx="4">
                  <c:v>552.936</c:v>
                </c:pt>
                <c:pt idx="5">
                  <c:v>590.635</c:v>
                </c:pt>
                <c:pt idx="6">
                  <c:v>651.0899999999999</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421.749</c:v>
                </c:pt>
                <c:pt idx="1">
                  <c:v>40.455</c:v>
                </c:pt>
                <c:pt idx="2">
                  <c:v>45.458</c:v>
                </c:pt>
                <c:pt idx="3">
                  <c:v>45.274</c:v>
                </c:pt>
                <c:pt idx="4">
                  <c:v>37.699</c:v>
                </c:pt>
                <c:pt idx="5">
                  <c:v>60.454999999999984</c:v>
                </c:pt>
                <c:pt idx="6">
                  <c:v>42.107</c:v>
                </c:pt>
                <c:pt idx="7">
                  <c:v>693.1969999999999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40.455</c:v>
                </c:pt>
                <c:pt idx="2">
                  <c:v>85.913</c:v>
                </c:pt>
                <c:pt idx="3">
                  <c:v>131.187</c:v>
                </c:pt>
                <c:pt idx="4">
                  <c:v>168.88600000000002</c:v>
                </c:pt>
                <c:pt idx="5">
                  <c:v>229.341</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40.455</c:v>
                </c:pt>
                <c:pt idx="1">
                  <c:v>45.458</c:v>
                </c:pt>
                <c:pt idx="2">
                  <c:v>45.274</c:v>
                </c:pt>
                <c:pt idx="3">
                  <c:v>37.699</c:v>
                </c:pt>
                <c:pt idx="4">
                  <c:v>60.454999999999984</c:v>
                </c:pt>
                <c:pt idx="5">
                  <c:v>42.107</c:v>
                </c:pt>
                <c:pt idx="6">
                  <c:v>271.448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421.74999999999994</c:v>
                </c:pt>
                <c:pt idx="2">
                  <c:v>449.0899999999999</c:v>
                </c:pt>
                <c:pt idx="3">
                  <c:v>502.95899999999995</c:v>
                </c:pt>
                <c:pt idx="4">
                  <c:v>535.679</c:v>
                </c:pt>
                <c:pt idx="5">
                  <c:v>573.294</c:v>
                </c:pt>
                <c:pt idx="6">
                  <c:v>622.092</c:v>
                </c:pt>
                <c:pt idx="7">
                  <c:v>646.037</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421.74999999999994</c:v>
                </c:pt>
                <c:pt idx="1">
                  <c:v>27.33999999999999</c:v>
                </c:pt>
                <c:pt idx="2">
                  <c:v>53.869</c:v>
                </c:pt>
                <c:pt idx="3">
                  <c:v>32.720000000000006</c:v>
                </c:pt>
                <c:pt idx="4">
                  <c:v>37.615</c:v>
                </c:pt>
                <c:pt idx="5">
                  <c:v>48.798</c:v>
                </c:pt>
                <c:pt idx="6">
                  <c:v>23.945</c:v>
                </c:pt>
                <c:pt idx="7">
                  <c:v>47.15800000000001</c:v>
                </c:pt>
                <c:pt idx="8">
                  <c:v>693.1950000000002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27.33999999999999</c:v>
                </c:pt>
                <c:pt idx="2">
                  <c:v>81.20899999999999</c:v>
                </c:pt>
                <c:pt idx="3">
                  <c:v>113.929</c:v>
                </c:pt>
                <c:pt idx="4">
                  <c:v>151.544</c:v>
                </c:pt>
                <c:pt idx="5">
                  <c:v>200.342</c:v>
                </c:pt>
                <c:pt idx="6">
                  <c:v>224.287</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27.33999999999999</c:v>
                </c:pt>
                <c:pt idx="1">
                  <c:v>53.869</c:v>
                </c:pt>
                <c:pt idx="2">
                  <c:v>32.720000000000006</c:v>
                </c:pt>
                <c:pt idx="3">
                  <c:v>37.615</c:v>
                </c:pt>
                <c:pt idx="4">
                  <c:v>48.798</c:v>
                </c:pt>
                <c:pt idx="5">
                  <c:v>23.945</c:v>
                </c:pt>
                <c:pt idx="6">
                  <c:v>47.15800000000001</c:v>
                </c:pt>
                <c:pt idx="7">
                  <c:v>271.445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421.75</c:v>
                </c:pt>
                <c:pt idx="2">
                  <c:v>464.988</c:v>
                </c:pt>
                <c:pt idx="3">
                  <c:v>519.439</c:v>
                </c:pt>
                <c:pt idx="4">
                  <c:v>579.084</c:v>
                </c:pt>
                <c:pt idx="5">
                  <c:v>641.375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421.75</c:v>
                </c:pt>
                <c:pt idx="1">
                  <c:v>43.237999999999985</c:v>
                </c:pt>
                <c:pt idx="2">
                  <c:v>54.45100000000001</c:v>
                </c:pt>
                <c:pt idx="3">
                  <c:v>59.644999999999996</c:v>
                </c:pt>
                <c:pt idx="4">
                  <c:v>62.291</c:v>
                </c:pt>
                <c:pt idx="5">
                  <c:v>51.81999999999999</c:v>
                </c:pt>
                <c:pt idx="6">
                  <c:v>693.195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43.237999999999985</c:v>
                </c:pt>
                <c:pt idx="2">
                  <c:v>97.689</c:v>
                </c:pt>
                <c:pt idx="3">
                  <c:v>157.334</c:v>
                </c:pt>
                <c:pt idx="4">
                  <c:v>219.625</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43.237999999999985</c:v>
                </c:pt>
                <c:pt idx="1">
                  <c:v>54.45100000000001</c:v>
                </c:pt>
                <c:pt idx="2">
                  <c:v>59.644999999999996</c:v>
                </c:pt>
                <c:pt idx="3">
                  <c:v>62.291</c:v>
                </c:pt>
                <c:pt idx="4">
                  <c:v>51.81999999999999</c:v>
                </c:pt>
                <c:pt idx="5">
                  <c:v>271.445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421.75</c:v>
                </c:pt>
                <c:pt idx="2">
                  <c:v>477.258</c:v>
                </c:pt>
                <c:pt idx="3">
                  <c:v>550.881</c:v>
                </c:pt>
                <c:pt idx="4">
                  <c:v>611.755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421.75</c:v>
                </c:pt>
                <c:pt idx="1">
                  <c:v>55.507999999999996</c:v>
                </c:pt>
                <c:pt idx="2">
                  <c:v>73.623</c:v>
                </c:pt>
                <c:pt idx="3">
                  <c:v>60.873999999999995</c:v>
                </c:pt>
                <c:pt idx="4">
                  <c:v>81.44</c:v>
                </c:pt>
                <c:pt idx="5">
                  <c:v>693.195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55.507999999999996</c:v>
                </c:pt>
                <c:pt idx="2">
                  <c:v>129.131</c:v>
                </c:pt>
                <c:pt idx="3">
                  <c:v>190.005</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55.507999999999996</c:v>
                </c:pt>
                <c:pt idx="1">
                  <c:v>73.623</c:v>
                </c:pt>
                <c:pt idx="2">
                  <c:v>60.873999999999995</c:v>
                </c:pt>
                <c:pt idx="3">
                  <c:v>81.44</c:v>
                </c:pt>
                <c:pt idx="4">
                  <c:v>271.445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170.73699999999997</c:v>
                </c:pt>
                <c:pt idx="1">
                  <c:v>176.139</c:v>
                </c:pt>
                <c:pt idx="2">
                  <c:v>181.691</c:v>
                </c:pt>
                <c:pt idx="3">
                  <c:v>187.365</c:v>
                </c:pt>
                <c:pt idx="4">
                  <c:v>193.31</c:v>
                </c:pt>
                <c:pt idx="5">
                  <c:v>199.827</c:v>
                </c:pt>
                <c:pt idx="6">
                  <c:v>207.04</c:v>
                </c:pt>
                <c:pt idx="7">
                  <c:v>215.048</c:v>
                </c:pt>
                <c:pt idx="8">
                  <c:v>223.904</c:v>
                </c:pt>
                <c:pt idx="9">
                  <c:v>233.562</c:v>
                </c:pt>
                <c:pt idx="10">
                  <c:v>243.901</c:v>
                </c:pt>
                <c:pt idx="11">
                  <c:v>254.834</c:v>
                </c:pt>
                <c:pt idx="12">
                  <c:v>266.22</c:v>
                </c:pt>
                <c:pt idx="13">
                  <c:v>277.99199999999996</c:v>
                </c:pt>
                <c:pt idx="14">
                  <c:v>289.997</c:v>
                </c:pt>
                <c:pt idx="15">
                  <c:v>302.235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U.K.</c:v>
                </c:pt>
              </c:strCache>
            </c:strRef>
          </c:cat>
          <c:val>
            <c:numRef>
              <c:f>Sheet1!$B$2:$B$4</c:f>
              <c:numCache>
                <c:formatCode>General</c:formatCode>
                <c:ptCount val="3"/>
                <c:pt idx="0">
                  <c:v>0.05245930274733035</c:v>
                </c:pt>
                <c:pt idx="1">
                  <c:v>0.04646744386955093</c:v>
                </c:pt>
                <c:pt idx="2">
                  <c:v>0.042243172291025255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199.827</c:v>
                </c:pt>
                <c:pt idx="2">
                  <c:v>207.04</c:v>
                </c:pt>
                <c:pt idx="3">
                  <c:v>215.048</c:v>
                </c:pt>
                <c:pt idx="4">
                  <c:v>223.904</c:v>
                </c:pt>
                <c:pt idx="5">
                  <c:v>233.562</c:v>
                </c:pt>
                <c:pt idx="6">
                  <c:v>243.901</c:v>
                </c:pt>
                <c:pt idx="7">
                  <c:v>254.834</c:v>
                </c:pt>
                <c:pt idx="8">
                  <c:v>266.22</c:v>
                </c:pt>
                <c:pt idx="9">
                  <c:v>277.99199999999996</c:v>
                </c:pt>
                <c:pt idx="10">
                  <c:v>289.997</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199.827</c:v>
                </c:pt>
                <c:pt idx="1">
                  <c:v>7.212999999999994</c:v>
                </c:pt>
                <c:pt idx="2">
                  <c:v>8.00800000000001</c:v>
                </c:pt>
                <c:pt idx="3">
                  <c:v>8.855999999999995</c:v>
                </c:pt>
                <c:pt idx="4">
                  <c:v>9.658000000000015</c:v>
                </c:pt>
                <c:pt idx="5">
                  <c:v>10.338999999999999</c:v>
                </c:pt>
                <c:pt idx="6">
                  <c:v>10.932999999999993</c:v>
                </c:pt>
                <c:pt idx="7">
                  <c:v>11.386000000000024</c:v>
                </c:pt>
                <c:pt idx="8">
                  <c:v>11.771999999999935</c:v>
                </c:pt>
                <c:pt idx="9">
                  <c:v>12.005000000000052</c:v>
                </c:pt>
                <c:pt idx="10">
                  <c:v>12.238</c:v>
                </c:pt>
                <c:pt idx="11">
                  <c:v>302.235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U.K.</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14.752791245202115</c:v>
                </c:pt>
                <c:pt idx="1">
                  <c:v>2.525866408063681</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85.24720875479788</c:v>
                </c:pt>
                <c:pt idx="1">
                  <c:v>97.47413359193632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384.611</c:v>
                </c:pt>
                <c:pt idx="1">
                  <c:v>398.736</c:v>
                </c:pt>
                <c:pt idx="2">
                  <c:v>413.428</c:v>
                </c:pt>
                <c:pt idx="3">
                  <c:v>428.83</c:v>
                </c:pt>
                <c:pt idx="4">
                  <c:v>445.11800000000005</c:v>
                </c:pt>
                <c:pt idx="5">
                  <c:v>464.683</c:v>
                </c:pt>
                <c:pt idx="6">
                  <c:v>486.657</c:v>
                </c:pt>
                <c:pt idx="7">
                  <c:v>511.356</c:v>
                </c:pt>
                <c:pt idx="8">
                  <c:v>539.0409999999999</c:v>
                </c:pt>
                <c:pt idx="9">
                  <c:v>569.9019999999999</c:v>
                </c:pt>
                <c:pt idx="10">
                  <c:v>603.725</c:v>
                </c:pt>
                <c:pt idx="11">
                  <c:v>640.585</c:v>
                </c:pt>
                <c:pt idx="12">
                  <c:v>680.146</c:v>
                </c:pt>
                <c:pt idx="13">
                  <c:v>722.363</c:v>
                </c:pt>
                <c:pt idx="14">
                  <c:v>766.9549999999999</c:v>
                </c:pt>
                <c:pt idx="15">
                  <c:v>814.114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U.K.</c:v>
                </c:pt>
              </c:strCache>
            </c:strRef>
          </c:cat>
          <c:val>
            <c:numRef>
              <c:f>Sheet1!$B$2:$B$4</c:f>
              <c:numCache>
                <c:formatCode>General</c:formatCode>
                <c:ptCount val="3"/>
                <c:pt idx="0">
                  <c:v>0.06658666629421717</c:v>
                </c:pt>
                <c:pt idx="1">
                  <c:v>0.06255449919419975</c:v>
                </c:pt>
                <c:pt idx="2">
                  <c:v>0.05767647269166809</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91999497193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464.683</c:v>
                </c:pt>
                <c:pt idx="2">
                  <c:v>486.657</c:v>
                </c:pt>
                <c:pt idx="3">
                  <c:v>511.356</c:v>
                </c:pt>
                <c:pt idx="4">
                  <c:v>539.0409999999999</c:v>
                </c:pt>
                <c:pt idx="5">
                  <c:v>569.9019999999999</c:v>
                </c:pt>
                <c:pt idx="6">
                  <c:v>603.725</c:v>
                </c:pt>
                <c:pt idx="7">
                  <c:v>640.585</c:v>
                </c:pt>
                <c:pt idx="8">
                  <c:v>680.146</c:v>
                </c:pt>
                <c:pt idx="9">
                  <c:v>722.363</c:v>
                </c:pt>
                <c:pt idx="10">
                  <c:v>766.9549999999999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464.683</c:v>
                </c:pt>
                <c:pt idx="1">
                  <c:v>21.97399999999999</c:v>
                </c:pt>
                <c:pt idx="2">
                  <c:v>24.699000000000012</c:v>
                </c:pt>
                <c:pt idx="3">
                  <c:v>27.684999999999945</c:v>
                </c:pt>
                <c:pt idx="4">
                  <c:v>30.86099999999999</c:v>
                </c:pt>
                <c:pt idx="5">
                  <c:v>33.82300000000009</c:v>
                </c:pt>
                <c:pt idx="6">
                  <c:v>36.860000000000014</c:v>
                </c:pt>
                <c:pt idx="7">
                  <c:v>39.56099999999992</c:v>
                </c:pt>
                <c:pt idx="8">
                  <c:v>42.2170000000001</c:v>
                </c:pt>
                <c:pt idx="9">
                  <c:v>44.59199999999987</c:v>
                </c:pt>
                <c:pt idx="10">
                  <c:v>47.159000000000106</c:v>
                </c:pt>
                <c:pt idx="11">
                  <c:v>814.114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U.K.</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16.53100806907774</c:v>
                </c:pt>
                <c:pt idx="1">
                  <c:v>2.885088680452353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83.46899193092226</c:v>
                </c:pt>
                <c:pt idx="1">
                  <c:v>97.11491131954764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Serums and Oils</c:v>
                </c:pt>
                <c:pt idx="7">
                  <c:v>Waxes, Clays, Pastes…</c:v>
                </c:pt>
              </c:strCache>
            </c:strRef>
          </c:cat>
          <c:val>
            <c:numRef>
              <c:f>Sheet1!$B$2:$B$9</c:f>
              <c:numCache>
                <c:formatCode>General</c:formatCode>
                <c:ptCount val="8"/>
                <c:pt idx="0">
                  <c:v>32.706</c:v>
                </c:pt>
                <c:pt idx="1">
                  <c:v>39.697</c:v>
                </c:pt>
                <c:pt idx="2">
                  <c:v>50.066</c:v>
                </c:pt>
                <c:pt idx="3">
                  <c:v>50.076</c:v>
                </c:pt>
                <c:pt idx="4">
                  <c:v>58.431</c:v>
                </c:pt>
                <c:pt idx="5">
                  <c:v>68.95400000000001</c:v>
                </c:pt>
                <c:pt idx="6">
                  <c:v>79.283</c:v>
                </c:pt>
                <c:pt idx="7">
                  <c:v>85.47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14.52980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82.213</c:v>
                </c:pt>
                <c:pt idx="4">
                  <c:v>88.329</c:v>
                </c:pt>
                <c:pt idx="5">
                  <c:v>93.877</c:v>
                </c:pt>
                <c:pt idx="6">
                  <c:v>97.172</c:v>
                </c:pt>
                <c:pt idx="7">
                  <c:v>103.092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8.1432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Natural</c:v>
                </c:pt>
                <c:pt idx="7">
                  <c:v>Matte</c:v>
                </c:pt>
              </c:strCache>
            </c:strRef>
          </c:cat>
          <c:val>
            <c:numRef>
              <c:f>Sheet1!$B$2:$B$9</c:f>
              <c:numCache>
                <c:formatCode>General</c:formatCode>
                <c:ptCount val="8"/>
                <c:pt idx="5">
                  <c:v>141.95</c:v>
                </c:pt>
                <c:pt idx="6">
                  <c:v>147.363</c:v>
                </c:pt>
                <c:pt idx="7">
                  <c:v>175.37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34.99580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Mass Retail</c:v>
                </c:pt>
                <c:pt idx="6">
                  <c:v>Salon and Professiona…</c:v>
                </c:pt>
                <c:pt idx="7">
                  <c:v>Online Marketplaces</c:v>
                </c:pt>
              </c:strCache>
            </c:strRef>
          </c:cat>
          <c:val>
            <c:numRef>
              <c:f>Sheet1!$B$2:$B$9</c:f>
              <c:numCache>
                <c:formatCode>General</c:formatCode>
                <c:ptCount val="8"/>
                <c:pt idx="2">
                  <c:v>56.51</c:v>
                </c:pt>
                <c:pt idx="3">
                  <c:v>70.246</c:v>
                </c:pt>
                <c:pt idx="4">
                  <c:v>71.172</c:v>
                </c:pt>
                <c:pt idx="5">
                  <c:v>88.108</c:v>
                </c:pt>
                <c:pt idx="6">
                  <c:v>89.269</c:v>
                </c:pt>
                <c:pt idx="7">
                  <c:v>89.379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19.76786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Heat Styling Support</c:v>
                </c:pt>
                <c:pt idx="4">
                  <c:v>Curl Definition</c:v>
                </c:pt>
                <c:pt idx="5">
                  <c:v>Smoothing and Frizz C…</c:v>
                </c:pt>
                <c:pt idx="6">
                  <c:v>Hold and Shape</c:v>
                </c:pt>
                <c:pt idx="7">
                  <c:v>Texture and Separation</c:v>
                </c:pt>
              </c:strCache>
            </c:strRef>
          </c:cat>
          <c:val>
            <c:numRef>
              <c:f>Sheet1!$B$2:$B$9</c:f>
              <c:numCache>
                <c:formatCode>General</c:formatCode>
                <c:ptCount val="8"/>
                <c:pt idx="1">
                  <c:v>53.52</c:v>
                </c:pt>
                <c:pt idx="2">
                  <c:v>63.262</c:v>
                </c:pt>
                <c:pt idx="3">
                  <c:v>63.655</c:v>
                </c:pt>
                <c:pt idx="4">
                  <c:v>63.786</c:v>
                </c:pt>
                <c:pt idx="5">
                  <c:v>71.254</c:v>
                </c:pt>
                <c:pt idx="6">
                  <c:v>71.827</c:v>
                </c:pt>
                <c:pt idx="7">
                  <c:v>77.379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03.68786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83.634</c:v>
                </c:pt>
                <c:pt idx="4">
                  <c:v>88.36</c:v>
                </c:pt>
                <c:pt idx="5">
                  <c:v>93.93</c:v>
                </c:pt>
                <c:pt idx="6">
                  <c:v>97.587</c:v>
                </c:pt>
                <c:pt idx="7">
                  <c:v>101.171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5.5691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111.7</c:v>
                </c:pt>
                <c:pt idx="5">
                  <c:v>115.792</c:v>
                </c:pt>
                <c:pt idx="6">
                  <c:v>116.625</c:v>
                </c:pt>
                <c:pt idx="7">
                  <c:v>120.56700000000001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61.55978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464.683</c:v>
                </c:pt>
                <c:pt idx="2">
                  <c:v>496.748</c:v>
                </c:pt>
                <c:pt idx="3">
                  <c:v>513.402</c:v>
                </c:pt>
                <c:pt idx="4">
                  <c:v>539.691</c:v>
                </c:pt>
                <c:pt idx="5">
                  <c:v>574.0110000000001</c:v>
                </c:pt>
                <c:pt idx="6">
                  <c:v>640.931</c:v>
                </c:pt>
                <c:pt idx="7">
                  <c:v>687.1840000000001</c:v>
                </c:pt>
                <c:pt idx="8">
                  <c:v>748.311</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464.683</c:v>
                </c:pt>
                <c:pt idx="1">
                  <c:v>32.065</c:v>
                </c:pt>
                <c:pt idx="2">
                  <c:v>16.653999999999996</c:v>
                </c:pt>
                <c:pt idx="3">
                  <c:v>26.289</c:v>
                </c:pt>
                <c:pt idx="4">
                  <c:v>34.32</c:v>
                </c:pt>
                <c:pt idx="5">
                  <c:v>66.91999999999999</c:v>
                </c:pt>
                <c:pt idx="6">
                  <c:v>46.253</c:v>
                </c:pt>
                <c:pt idx="7">
                  <c:v>61.126999999999995</c:v>
                </c:pt>
                <c:pt idx="8">
                  <c:v>65.803</c:v>
                </c:pt>
                <c:pt idx="9">
                  <c:v>814.114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32.065</c:v>
                </c:pt>
                <c:pt idx="2">
                  <c:v>48.718999999999994</c:v>
                </c:pt>
                <c:pt idx="3">
                  <c:v>75.008</c:v>
                </c:pt>
                <c:pt idx="4">
                  <c:v>109.328</c:v>
                </c:pt>
                <c:pt idx="5">
                  <c:v>176.248</c:v>
                </c:pt>
                <c:pt idx="6">
                  <c:v>222.50099999999998</c:v>
                </c:pt>
                <c:pt idx="7">
                  <c:v>283.628</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32.065</c:v>
                </c:pt>
                <c:pt idx="1">
                  <c:v>16.653999999999996</c:v>
                </c:pt>
                <c:pt idx="2">
                  <c:v>26.289</c:v>
                </c:pt>
                <c:pt idx="3">
                  <c:v>34.32</c:v>
                </c:pt>
                <c:pt idx="4">
                  <c:v>66.91999999999999</c:v>
                </c:pt>
                <c:pt idx="5">
                  <c:v>46.253</c:v>
                </c:pt>
                <c:pt idx="6">
                  <c:v>61.126999999999995</c:v>
                </c:pt>
                <c:pt idx="7">
                  <c:v>65.803</c:v>
                </c:pt>
                <c:pt idx="8">
                  <c:v>349.431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464.683</c:v>
                </c:pt>
                <c:pt idx="2">
                  <c:v>539.626</c:v>
                </c:pt>
                <c:pt idx="3">
                  <c:v>626.823</c:v>
                </c:pt>
                <c:pt idx="4">
                  <c:v>702.949</c:v>
                </c:pt>
                <c:pt idx="5">
                  <c:v>766.521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464.683</c:v>
                </c:pt>
                <c:pt idx="1">
                  <c:v>74.943</c:v>
                </c:pt>
                <c:pt idx="2">
                  <c:v>87.19700000000002</c:v>
                </c:pt>
                <c:pt idx="3">
                  <c:v>76.12599999999999</c:v>
                </c:pt>
                <c:pt idx="4">
                  <c:v>63.572</c:v>
                </c:pt>
                <c:pt idx="5">
                  <c:v>47.593999999999994</c:v>
                </c:pt>
                <c:pt idx="6">
                  <c:v>814.115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74.943</c:v>
                </c:pt>
                <c:pt idx="2">
                  <c:v>162.14000000000001</c:v>
                </c:pt>
                <c:pt idx="3">
                  <c:v>238.26600000000002</c:v>
                </c:pt>
                <c:pt idx="4">
                  <c:v>301.838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74.943</c:v>
                </c:pt>
                <c:pt idx="1">
                  <c:v>87.19700000000002</c:v>
                </c:pt>
                <c:pt idx="2">
                  <c:v>76.12599999999999</c:v>
                </c:pt>
                <c:pt idx="3">
                  <c:v>63.572</c:v>
                </c:pt>
                <c:pt idx="4">
                  <c:v>47.593999999999994</c:v>
                </c:pt>
                <c:pt idx="5">
                  <c:v>349.432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464.683</c:v>
                </c:pt>
                <c:pt idx="2">
                  <c:v>595.3399999999999</c:v>
                </c:pt>
                <c:pt idx="3">
                  <c:v>692.6759999999999</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464.683</c:v>
                </c:pt>
                <c:pt idx="1">
                  <c:v>130.65699999999998</c:v>
                </c:pt>
                <c:pt idx="2">
                  <c:v>97.33600000000001</c:v>
                </c:pt>
                <c:pt idx="3">
                  <c:v>121.44</c:v>
                </c:pt>
                <c:pt idx="4">
                  <c:v>814.116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130.65699999999998</c:v>
                </c:pt>
                <c:pt idx="2">
                  <c:v>227.993</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130.65699999999998</c:v>
                </c:pt>
                <c:pt idx="1">
                  <c:v>97.33600000000001</c:v>
                </c:pt>
                <c:pt idx="2">
                  <c:v>121.44</c:v>
                </c:pt>
                <c:pt idx="3">
                  <c:v>349.433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464.684</c:v>
                </c:pt>
                <c:pt idx="2">
                  <c:v>512.6600000000001</c:v>
                </c:pt>
                <c:pt idx="3">
                  <c:v>568.4800000000001</c:v>
                </c:pt>
                <c:pt idx="4">
                  <c:v>631.3680000000002</c:v>
                </c:pt>
                <c:pt idx="5">
                  <c:v>675.3520000000002</c:v>
                </c:pt>
                <c:pt idx="6">
                  <c:v>763.1960000000003</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464.684</c:v>
                </c:pt>
                <c:pt idx="1">
                  <c:v>47.976</c:v>
                </c:pt>
                <c:pt idx="2">
                  <c:v>55.82000000000001</c:v>
                </c:pt>
                <c:pt idx="3">
                  <c:v>62.888000000000005</c:v>
                </c:pt>
                <c:pt idx="4">
                  <c:v>43.98400000000001</c:v>
                </c:pt>
                <c:pt idx="5">
                  <c:v>87.84400000000001</c:v>
                </c:pt>
                <c:pt idx="6">
                  <c:v>50.919000000000004</c:v>
                </c:pt>
                <c:pt idx="7">
                  <c:v>814.1150000000001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47.976</c:v>
                </c:pt>
                <c:pt idx="2">
                  <c:v>103.796</c:v>
                </c:pt>
                <c:pt idx="3">
                  <c:v>166.68400000000003</c:v>
                </c:pt>
                <c:pt idx="4">
                  <c:v>210.66800000000003</c:v>
                </c:pt>
                <c:pt idx="5">
                  <c:v>298.51200000000006</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47.976</c:v>
                </c:pt>
                <c:pt idx="1">
                  <c:v>55.82000000000001</c:v>
                </c:pt>
                <c:pt idx="2">
                  <c:v>62.888000000000005</c:v>
                </c:pt>
                <c:pt idx="3">
                  <c:v>43.98400000000001</c:v>
                </c:pt>
                <c:pt idx="4">
                  <c:v>87.84400000000001</c:v>
                </c:pt>
                <c:pt idx="5">
                  <c:v>50.919000000000004</c:v>
                </c:pt>
                <c:pt idx="6">
                  <c:v>349.43100000000004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464.683</c:v>
                </c:pt>
                <c:pt idx="2">
                  <c:v>500.591</c:v>
                </c:pt>
                <c:pt idx="3">
                  <c:v>565.767</c:v>
                </c:pt>
                <c:pt idx="4">
                  <c:v>607.004</c:v>
                </c:pt>
                <c:pt idx="5">
                  <c:v>664.112</c:v>
                </c:pt>
                <c:pt idx="6">
                  <c:v>724.376</c:v>
                </c:pt>
                <c:pt idx="7">
                  <c:v>755.3679999999999</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464.683</c:v>
                </c:pt>
                <c:pt idx="1">
                  <c:v>35.908</c:v>
                </c:pt>
                <c:pt idx="2">
                  <c:v>65.17599999999999</c:v>
                </c:pt>
                <c:pt idx="3">
                  <c:v>41.236999999999995</c:v>
                </c:pt>
                <c:pt idx="4">
                  <c:v>57.10799999999999</c:v>
                </c:pt>
                <c:pt idx="5">
                  <c:v>60.263999999999996</c:v>
                </c:pt>
                <c:pt idx="6">
                  <c:v>30.991999999999997</c:v>
                </c:pt>
                <c:pt idx="7">
                  <c:v>58.745999999999995</c:v>
                </c:pt>
                <c:pt idx="8">
                  <c:v>814.1139999999999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35.908</c:v>
                </c:pt>
                <c:pt idx="2">
                  <c:v>101.08399999999999</c:v>
                </c:pt>
                <c:pt idx="3">
                  <c:v>142.32099999999997</c:v>
                </c:pt>
                <c:pt idx="4">
                  <c:v>199.42899999999997</c:v>
                </c:pt>
                <c:pt idx="5">
                  <c:v>259.693</c:v>
                </c:pt>
                <c:pt idx="6">
                  <c:v>290.685</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35.908</c:v>
                </c:pt>
                <c:pt idx="1">
                  <c:v>65.17599999999999</c:v>
                </c:pt>
                <c:pt idx="2">
                  <c:v>41.236999999999995</c:v>
                </c:pt>
                <c:pt idx="3">
                  <c:v>57.10799999999999</c:v>
                </c:pt>
                <c:pt idx="4">
                  <c:v>60.263999999999996</c:v>
                </c:pt>
                <c:pt idx="5">
                  <c:v>30.991999999999997</c:v>
                </c:pt>
                <c:pt idx="6">
                  <c:v>58.745999999999995</c:v>
                </c:pt>
                <c:pt idx="7">
                  <c:v>349.431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464.682</c:v>
                </c:pt>
                <c:pt idx="2">
                  <c:v>521.932</c:v>
                </c:pt>
                <c:pt idx="3">
                  <c:v>592.019</c:v>
                </c:pt>
                <c:pt idx="4">
                  <c:v>667.948</c:v>
                </c:pt>
                <c:pt idx="5">
                  <c:v>746.571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464.682</c:v>
                </c:pt>
                <c:pt idx="1">
                  <c:v>57.249999999999986</c:v>
                </c:pt>
                <c:pt idx="2">
                  <c:v>70.08699999999999</c:v>
                </c:pt>
                <c:pt idx="3">
                  <c:v>75.92899999999999</c:v>
                </c:pt>
                <c:pt idx="4">
                  <c:v>78.623</c:v>
                </c:pt>
                <c:pt idx="5">
                  <c:v>67.544</c:v>
                </c:pt>
                <c:pt idx="6">
                  <c:v>814.115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57.249999999999986</c:v>
                </c:pt>
                <c:pt idx="2">
                  <c:v>127.33699999999997</c:v>
                </c:pt>
                <c:pt idx="3">
                  <c:v>203.26599999999996</c:v>
                </c:pt>
                <c:pt idx="4">
                  <c:v>281.88899999999995</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57.249999999999986</c:v>
                </c:pt>
                <c:pt idx="1">
                  <c:v>70.08699999999999</c:v>
                </c:pt>
                <c:pt idx="2">
                  <c:v>75.92899999999999</c:v>
                </c:pt>
                <c:pt idx="3">
                  <c:v>78.623</c:v>
                </c:pt>
                <c:pt idx="4">
                  <c:v>67.544</c:v>
                </c:pt>
                <c:pt idx="5">
                  <c:v>349.43299999999994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464.684</c:v>
                </c:pt>
                <c:pt idx="2">
                  <c:v>538.604</c:v>
                </c:pt>
                <c:pt idx="3">
                  <c:v>630.917</c:v>
                </c:pt>
                <c:pt idx="4">
                  <c:v>711.0310000000001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464.684</c:v>
                </c:pt>
                <c:pt idx="1">
                  <c:v>73.91999999999999</c:v>
                </c:pt>
                <c:pt idx="2">
                  <c:v>92.31299999999999</c:v>
                </c:pt>
                <c:pt idx="3">
                  <c:v>80.114</c:v>
                </c:pt>
                <c:pt idx="4">
                  <c:v>103.08399999999999</c:v>
                </c:pt>
                <c:pt idx="5">
                  <c:v>814.1149999999999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73.91999999999999</c:v>
                </c:pt>
                <c:pt idx="2">
                  <c:v>166.23299999999998</c:v>
                </c:pt>
                <c:pt idx="3">
                  <c:v>246.34699999999998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73.91999999999999</c:v>
                </c:pt>
                <c:pt idx="1">
                  <c:v>92.31299999999999</c:v>
                </c:pt>
                <c:pt idx="2">
                  <c:v>80.114</c:v>
                </c:pt>
                <c:pt idx="3">
                  <c:v>103.08399999999999</c:v>
                </c:pt>
                <c:pt idx="4">
                  <c:v>349.431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140.948</c:v>
                </c:pt>
                <c:pt idx="1">
                  <c:v>145.673</c:v>
                </c:pt>
                <c:pt idx="2">
                  <c:v>150.517</c:v>
                </c:pt>
                <c:pt idx="3">
                  <c:v>155.46999999999997</c:v>
                </c:pt>
                <c:pt idx="4">
                  <c:v>160.656</c:v>
                </c:pt>
                <c:pt idx="5">
                  <c:v>166.354</c:v>
                </c:pt>
                <c:pt idx="6">
                  <c:v>172.673</c:v>
                </c:pt>
                <c:pt idx="7">
                  <c:v>179.712</c:v>
                </c:pt>
                <c:pt idx="8">
                  <c:v>187.515</c:v>
                </c:pt>
                <c:pt idx="9">
                  <c:v>196.047</c:v>
                </c:pt>
                <c:pt idx="10">
                  <c:v>205.191</c:v>
                </c:pt>
                <c:pt idx="11">
                  <c:v>214.872</c:v>
                </c:pt>
                <c:pt idx="12">
                  <c:v>224.966</c:v>
                </c:pt>
                <c:pt idx="13">
                  <c:v>235.41899999999998</c:v>
                </c:pt>
                <c:pt idx="14">
                  <c:v>246.09799999999998</c:v>
                </c:pt>
                <c:pt idx="15">
                  <c:v>257.005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France</c:v>
                </c:pt>
              </c:strCache>
            </c:strRef>
          </c:cat>
          <c:val>
            <c:numRef>
              <c:f>Sheet1!$B$2:$B$4</c:f>
              <c:numCache>
                <c:formatCode>General</c:formatCode>
                <c:ptCount val="3"/>
                <c:pt idx="0">
                  <c:v>0.05245930274733035</c:v>
                </c:pt>
                <c:pt idx="1">
                  <c:v>0.04646744386955093</c:v>
                </c:pt>
                <c:pt idx="2">
                  <c:v>0.044457643454215434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166.354</c:v>
                </c:pt>
                <c:pt idx="2">
                  <c:v>172.673</c:v>
                </c:pt>
                <c:pt idx="3">
                  <c:v>179.712</c:v>
                </c:pt>
                <c:pt idx="4">
                  <c:v>187.515</c:v>
                </c:pt>
                <c:pt idx="5">
                  <c:v>196.047</c:v>
                </c:pt>
                <c:pt idx="6">
                  <c:v>205.191</c:v>
                </c:pt>
                <c:pt idx="7">
                  <c:v>214.872</c:v>
                </c:pt>
                <c:pt idx="8">
                  <c:v>224.966</c:v>
                </c:pt>
                <c:pt idx="9">
                  <c:v>235.41899999999998</c:v>
                </c:pt>
                <c:pt idx="10">
                  <c:v>246.09799999999998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166.354</c:v>
                </c:pt>
                <c:pt idx="1">
                  <c:v>6.318999999999988</c:v>
                </c:pt>
                <c:pt idx="2">
                  <c:v>7.038999999999987</c:v>
                </c:pt>
                <c:pt idx="3">
                  <c:v>7.802999999999997</c:v>
                </c:pt>
                <c:pt idx="4">
                  <c:v>8.53200000000001</c:v>
                </c:pt>
                <c:pt idx="5">
                  <c:v>9.144000000000005</c:v>
                </c:pt>
                <c:pt idx="6">
                  <c:v>9.681000000000012</c:v>
                </c:pt>
                <c:pt idx="7">
                  <c:v>10.093999999999994</c:v>
                </c:pt>
                <c:pt idx="8">
                  <c:v>10.452999999999975</c:v>
                </c:pt>
                <c:pt idx="9">
                  <c:v>10.679000000000002</c:v>
                </c:pt>
                <c:pt idx="10">
                  <c:v>10.90700000000001</c:v>
                </c:pt>
                <c:pt idx="11">
                  <c:v>257.005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France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12.281552717122075</c:v>
                </c:pt>
                <c:pt idx="1">
                  <c:v>2.102758788587256</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87.71844728287792</c:v>
                </c:pt>
                <c:pt idx="1">
                  <c:v>97.89724121141275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317.465</c:v>
                </c:pt>
                <c:pt idx="1">
                  <c:v>330.145</c:v>
                </c:pt>
                <c:pt idx="2">
                  <c:v>343.342</c:v>
                </c:pt>
                <c:pt idx="3">
                  <c:v>357.226</c:v>
                </c:pt>
                <c:pt idx="4">
                  <c:v>371.872</c:v>
                </c:pt>
                <c:pt idx="5">
                  <c:v>389.64300000000003</c:v>
                </c:pt>
                <c:pt idx="6">
                  <c:v>409.683</c:v>
                </c:pt>
                <c:pt idx="7">
                  <c:v>432.289</c:v>
                </c:pt>
                <c:pt idx="8">
                  <c:v>457.90500000000003</c:v>
                </c:pt>
                <c:pt idx="9">
                  <c:v>486.46399999999994</c:v>
                </c:pt>
                <c:pt idx="10">
                  <c:v>517.979</c:v>
                </c:pt>
                <c:pt idx="11">
                  <c:v>552.399</c:v>
                </c:pt>
                <c:pt idx="12">
                  <c:v>589.3439999999999</c:v>
                </c:pt>
                <c:pt idx="13">
                  <c:v>628.976</c:v>
                </c:pt>
                <c:pt idx="14">
                  <c:v>670.979</c:v>
                </c:pt>
                <c:pt idx="15">
                  <c:v>715.414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France</c:v>
                </c:pt>
              </c:strCache>
            </c:strRef>
          </c:cat>
          <c:val>
            <c:numRef>
              <c:f>Sheet1!$B$2:$B$4</c:f>
              <c:numCache>
                <c:formatCode>General</c:formatCode>
                <c:ptCount val="3"/>
                <c:pt idx="0">
                  <c:v>0.06658666629421717</c:v>
                </c:pt>
                <c:pt idx="1">
                  <c:v>0.06255449919419975</c:v>
                </c:pt>
                <c:pt idx="2">
                  <c:v>0.06264708596175339</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91999497193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389.64300000000003</c:v>
                </c:pt>
                <c:pt idx="2">
                  <c:v>409.683</c:v>
                </c:pt>
                <c:pt idx="3">
                  <c:v>432.289</c:v>
                </c:pt>
                <c:pt idx="4">
                  <c:v>457.90500000000003</c:v>
                </c:pt>
                <c:pt idx="5">
                  <c:v>486.46399999999994</c:v>
                </c:pt>
                <c:pt idx="6">
                  <c:v>517.979</c:v>
                </c:pt>
                <c:pt idx="7">
                  <c:v>552.399</c:v>
                </c:pt>
                <c:pt idx="8">
                  <c:v>589.3439999999999</c:v>
                </c:pt>
                <c:pt idx="9">
                  <c:v>628.976</c:v>
                </c:pt>
                <c:pt idx="10">
                  <c:v>670.979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389.64300000000003</c:v>
                </c:pt>
                <c:pt idx="1">
                  <c:v>20.039999999999964</c:v>
                </c:pt>
                <c:pt idx="2">
                  <c:v>22.605999999999995</c:v>
                </c:pt>
                <c:pt idx="3">
                  <c:v>25.616000000000042</c:v>
                </c:pt>
                <c:pt idx="4">
                  <c:v>28.558999999999912</c:v>
                </c:pt>
                <c:pt idx="5">
                  <c:v>31.5150000000001</c:v>
                </c:pt>
                <c:pt idx="6">
                  <c:v>34.41999999999996</c:v>
                </c:pt>
                <c:pt idx="7">
                  <c:v>36.944999999999936</c:v>
                </c:pt>
                <c:pt idx="8">
                  <c:v>39.63200000000006</c:v>
                </c:pt>
                <c:pt idx="9">
                  <c:v>42.00300000000004</c:v>
                </c:pt>
                <c:pt idx="10">
                  <c:v>44.434999999999945</c:v>
                </c:pt>
                <c:pt idx="11">
                  <c:v>715.414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France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13.861474547292795</c:v>
                </c:pt>
                <c:pt idx="1">
                  <c:v>2.419186001462279</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86.1385254527072</c:v>
                </c:pt>
                <c:pt idx="1">
                  <c:v>97.58081399853772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Sticks and Balms</c:v>
                </c:pt>
                <c:pt idx="4">
                  <c:v>Creams and Lotions</c:v>
                </c:pt>
                <c:pt idx="5">
                  <c:v>Sprays and Mists</c:v>
                </c:pt>
                <c:pt idx="6">
                  <c:v>Waxes, Clays, Pastes…</c:v>
                </c:pt>
                <c:pt idx="7">
                  <c:v>Serums and Oils</c:v>
                </c:pt>
              </c:strCache>
            </c:strRef>
          </c:cat>
          <c:val>
            <c:numRef>
              <c:f>Sheet1!$B$2:$B$9</c:f>
              <c:numCache>
                <c:formatCode>General</c:formatCode>
                <c:ptCount val="8"/>
                <c:pt idx="0">
                  <c:v>27.179000000000002</c:v>
                </c:pt>
                <c:pt idx="1">
                  <c:v>33.403</c:v>
                </c:pt>
                <c:pt idx="2">
                  <c:v>37.711</c:v>
                </c:pt>
                <c:pt idx="3">
                  <c:v>48.198</c:v>
                </c:pt>
                <c:pt idx="4">
                  <c:v>48.54</c:v>
                </c:pt>
                <c:pt idx="5">
                  <c:v>52.211</c:v>
                </c:pt>
                <c:pt idx="6">
                  <c:v>60.529</c:v>
                </c:pt>
                <c:pt idx="7">
                  <c:v>81.872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09.70848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68.944</c:v>
                </c:pt>
                <c:pt idx="4">
                  <c:v>74.036</c:v>
                </c:pt>
                <c:pt idx="5">
                  <c:v>78.706</c:v>
                </c:pt>
                <c:pt idx="6">
                  <c:v>81.499</c:v>
                </c:pt>
                <c:pt idx="7">
                  <c:v>86.458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15.85372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122.886</c:v>
                </c:pt>
                <c:pt idx="6">
                  <c:v>124.025</c:v>
                </c:pt>
                <c:pt idx="7">
                  <c:v>142.732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91.26088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Online Marketplaces</c:v>
                </c:pt>
                <c:pt idx="5">
                  <c:v>Beauty Specialty Reta…</c:v>
                </c:pt>
                <c:pt idx="6">
                  <c:v>Mass Retail</c:v>
                </c:pt>
                <c:pt idx="7">
                  <c:v>Salon and Professiona…</c:v>
                </c:pt>
              </c:strCache>
            </c:strRef>
          </c:cat>
          <c:val>
            <c:numRef>
              <c:f>Sheet1!$B$2:$B$9</c:f>
              <c:numCache>
                <c:formatCode>General</c:formatCode>
                <c:ptCount val="8"/>
                <c:pt idx="2">
                  <c:v>52.026</c:v>
                </c:pt>
                <c:pt idx="3">
                  <c:v>56.58</c:v>
                </c:pt>
                <c:pt idx="4">
                  <c:v>60.42</c:v>
                </c:pt>
                <c:pt idx="5">
                  <c:v>67.547</c:v>
                </c:pt>
                <c:pt idx="6">
                  <c:v>70.799</c:v>
                </c:pt>
                <c:pt idx="7">
                  <c:v>82.271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10.24314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Curl Definition</c:v>
                </c:pt>
                <c:pt idx="5">
                  <c:v>Heat Styling Support</c:v>
                </c:pt>
                <c:pt idx="6">
                  <c:v>Hold and Shape</c:v>
                </c:pt>
                <c:pt idx="7">
                  <c:v>Smoothing and Frizz C…</c:v>
                </c:pt>
              </c:strCache>
            </c:strRef>
          </c:cat>
          <c:val>
            <c:numRef>
              <c:f>Sheet1!$B$2:$B$9</c:f>
              <c:numCache>
                <c:formatCode>General</c:formatCode>
                <c:ptCount val="8"/>
                <c:pt idx="1">
                  <c:v>45.274</c:v>
                </c:pt>
                <c:pt idx="2">
                  <c:v>53.46</c:v>
                </c:pt>
                <c:pt idx="3">
                  <c:v>53.565</c:v>
                </c:pt>
                <c:pt idx="4">
                  <c:v>53.881</c:v>
                </c:pt>
                <c:pt idx="5">
                  <c:v>54.166</c:v>
                </c:pt>
                <c:pt idx="6">
                  <c:v>60.252</c:v>
                </c:pt>
                <c:pt idx="7">
                  <c:v>69.043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2.51762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70.118</c:v>
                </c:pt>
                <c:pt idx="4">
                  <c:v>74.062</c:v>
                </c:pt>
                <c:pt idx="5">
                  <c:v>78.778</c:v>
                </c:pt>
                <c:pt idx="6">
                  <c:v>81.842</c:v>
                </c:pt>
                <c:pt idx="7">
                  <c:v>84.842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13.6882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93.50999999999999</c:v>
                </c:pt>
                <c:pt idx="5">
                  <c:v>97.281</c:v>
                </c:pt>
                <c:pt idx="6">
                  <c:v>97.93</c:v>
                </c:pt>
                <c:pt idx="7">
                  <c:v>100.921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5.23414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389.64300000000003</c:v>
                </c:pt>
                <c:pt idx="2">
                  <c:v>419.62100000000004</c:v>
                </c:pt>
                <c:pt idx="3">
                  <c:v>432.915</c:v>
                </c:pt>
                <c:pt idx="4">
                  <c:v>457.10400000000004</c:v>
                </c:pt>
                <c:pt idx="5">
                  <c:v>500.76800000000003</c:v>
                </c:pt>
                <c:pt idx="6">
                  <c:v>550.5450000000001</c:v>
                </c:pt>
                <c:pt idx="7">
                  <c:v>590.3650000000001</c:v>
                </c:pt>
                <c:pt idx="8">
                  <c:v>670.1030000000002</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389.64300000000003</c:v>
                </c:pt>
                <c:pt idx="1">
                  <c:v>29.977999999999994</c:v>
                </c:pt>
                <c:pt idx="2">
                  <c:v>13.293999999999997</c:v>
                </c:pt>
                <c:pt idx="3">
                  <c:v>24.189</c:v>
                </c:pt>
                <c:pt idx="4">
                  <c:v>43.663999999999994</c:v>
                </c:pt>
                <c:pt idx="5">
                  <c:v>49.776999999999994</c:v>
                </c:pt>
                <c:pt idx="6">
                  <c:v>39.82000000000001</c:v>
                </c:pt>
                <c:pt idx="7">
                  <c:v>79.73800000000001</c:v>
                </c:pt>
                <c:pt idx="8">
                  <c:v>45.311</c:v>
                </c:pt>
                <c:pt idx="9">
                  <c:v>715.414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29.977999999999994</c:v>
                </c:pt>
                <c:pt idx="2">
                  <c:v>43.27199999999999</c:v>
                </c:pt>
                <c:pt idx="3">
                  <c:v>67.46099999999998</c:v>
                </c:pt>
                <c:pt idx="4">
                  <c:v>111.12499999999997</c:v>
                </c:pt>
                <c:pt idx="5">
                  <c:v>160.90199999999996</c:v>
                </c:pt>
                <c:pt idx="6">
                  <c:v>200.72199999999998</c:v>
                </c:pt>
                <c:pt idx="7">
                  <c:v>280.46</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29.977999999999994</c:v>
                </c:pt>
                <c:pt idx="1">
                  <c:v>13.293999999999997</c:v>
                </c:pt>
                <c:pt idx="2">
                  <c:v>24.189</c:v>
                </c:pt>
                <c:pt idx="3">
                  <c:v>43.663999999999994</c:v>
                </c:pt>
                <c:pt idx="4">
                  <c:v>49.776999999999994</c:v>
                </c:pt>
                <c:pt idx="5">
                  <c:v>39.82000000000001</c:v>
                </c:pt>
                <c:pt idx="6">
                  <c:v>79.73800000000001</c:v>
                </c:pt>
                <c:pt idx="7">
                  <c:v>45.311</c:v>
                </c:pt>
                <c:pt idx="8">
                  <c:v>325.771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389.64300000000003</c:v>
                </c:pt>
                <c:pt idx="2">
                  <c:v>459.072</c:v>
                </c:pt>
                <c:pt idx="3">
                  <c:v>539.457</c:v>
                </c:pt>
                <c:pt idx="4">
                  <c:v>610.491</c:v>
                </c:pt>
                <c:pt idx="5">
                  <c:v>670.264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389.64300000000003</c:v>
                </c:pt>
                <c:pt idx="1">
                  <c:v>69.429</c:v>
                </c:pt>
                <c:pt idx="2">
                  <c:v>80.385</c:v>
                </c:pt>
                <c:pt idx="3">
                  <c:v>71.03399999999999</c:v>
                </c:pt>
                <c:pt idx="4">
                  <c:v>59.772999999999996</c:v>
                </c:pt>
                <c:pt idx="5">
                  <c:v>45.14999999999999</c:v>
                </c:pt>
                <c:pt idx="6">
                  <c:v>715.414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69.429</c:v>
                </c:pt>
                <c:pt idx="2">
                  <c:v>149.81400000000002</c:v>
                </c:pt>
                <c:pt idx="3">
                  <c:v>220.848</c:v>
                </c:pt>
                <c:pt idx="4">
                  <c:v>280.621</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69.429</c:v>
                </c:pt>
                <c:pt idx="1">
                  <c:v>80.385</c:v>
                </c:pt>
                <c:pt idx="2">
                  <c:v>71.03399999999999</c:v>
                </c:pt>
                <c:pt idx="3">
                  <c:v>59.772999999999996</c:v>
                </c:pt>
                <c:pt idx="4">
                  <c:v>45.14999999999999</c:v>
                </c:pt>
                <c:pt idx="5">
                  <c:v>325.77099999999996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389.64300000000003</c:v>
                </c:pt>
                <c:pt idx="2">
                  <c:v>492.795</c:v>
                </c:pt>
                <c:pt idx="3">
                  <c:v>598.852</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389.64300000000003</c:v>
                </c:pt>
                <c:pt idx="1">
                  <c:v>103.15199999999999</c:v>
                </c:pt>
                <c:pt idx="2">
                  <c:v>106.05699999999999</c:v>
                </c:pt>
                <c:pt idx="3">
                  <c:v>116.56200000000001</c:v>
                </c:pt>
                <c:pt idx="4">
                  <c:v>715.414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103.15199999999999</c:v>
                </c:pt>
                <c:pt idx="2">
                  <c:v>209.20899999999997</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103.15199999999999</c:v>
                </c:pt>
                <c:pt idx="1">
                  <c:v>106.05699999999999</c:v>
                </c:pt>
                <c:pt idx="2">
                  <c:v>116.56200000000001</c:v>
                </c:pt>
                <c:pt idx="3">
                  <c:v>325.77099999999996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389.64300000000003</c:v>
                </c:pt>
                <c:pt idx="2">
                  <c:v>433.761</c:v>
                </c:pt>
                <c:pt idx="3">
                  <c:v>492.83000000000004</c:v>
                </c:pt>
                <c:pt idx="4">
                  <c:v>557.908</c:v>
                </c:pt>
                <c:pt idx="5">
                  <c:v>598.024</c:v>
                </c:pt>
                <c:pt idx="6">
                  <c:v>663.483</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389.64300000000003</c:v>
                </c:pt>
                <c:pt idx="1">
                  <c:v>44.117999999999995</c:v>
                </c:pt>
                <c:pt idx="2">
                  <c:v>59.069</c:v>
                </c:pt>
                <c:pt idx="3">
                  <c:v>65.07799999999999</c:v>
                </c:pt>
                <c:pt idx="4">
                  <c:v>40.116</c:v>
                </c:pt>
                <c:pt idx="5">
                  <c:v>65.459</c:v>
                </c:pt>
                <c:pt idx="6">
                  <c:v>51.93099999999999</c:v>
                </c:pt>
                <c:pt idx="7">
                  <c:v>715.414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44.117999999999995</c:v>
                </c:pt>
                <c:pt idx="2">
                  <c:v>103.187</c:v>
                </c:pt>
                <c:pt idx="3">
                  <c:v>168.265</c:v>
                </c:pt>
                <c:pt idx="4">
                  <c:v>208.38099999999997</c:v>
                </c:pt>
                <c:pt idx="5">
                  <c:v>273.84</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44.117999999999995</c:v>
                </c:pt>
                <c:pt idx="1">
                  <c:v>59.069</c:v>
                </c:pt>
                <c:pt idx="2">
                  <c:v>65.07799999999999</c:v>
                </c:pt>
                <c:pt idx="3">
                  <c:v>40.116</c:v>
                </c:pt>
                <c:pt idx="4">
                  <c:v>65.459</c:v>
                </c:pt>
                <c:pt idx="5">
                  <c:v>51.93099999999999</c:v>
                </c:pt>
                <c:pt idx="6">
                  <c:v>325.77099999999996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389.641</c:v>
                </c:pt>
                <c:pt idx="2">
                  <c:v>423.952</c:v>
                </c:pt>
                <c:pt idx="3">
                  <c:v>484.022</c:v>
                </c:pt>
                <c:pt idx="4">
                  <c:v>522.938</c:v>
                </c:pt>
                <c:pt idx="5">
                  <c:v>566.762</c:v>
                </c:pt>
                <c:pt idx="6">
                  <c:v>631.088</c:v>
                </c:pt>
                <c:pt idx="7">
                  <c:v>660.624</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389.641</c:v>
                </c:pt>
                <c:pt idx="1">
                  <c:v>34.311</c:v>
                </c:pt>
                <c:pt idx="2">
                  <c:v>60.06999999999999</c:v>
                </c:pt>
                <c:pt idx="3">
                  <c:v>38.916000000000004</c:v>
                </c:pt>
                <c:pt idx="4">
                  <c:v>43.824</c:v>
                </c:pt>
                <c:pt idx="5">
                  <c:v>64.326</c:v>
                </c:pt>
                <c:pt idx="6">
                  <c:v>29.536</c:v>
                </c:pt>
                <c:pt idx="7">
                  <c:v>54.790000000000006</c:v>
                </c:pt>
                <c:pt idx="8">
                  <c:v>715.4140000000001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34.311</c:v>
                </c:pt>
                <c:pt idx="2">
                  <c:v>94.381</c:v>
                </c:pt>
                <c:pt idx="3">
                  <c:v>133.297</c:v>
                </c:pt>
                <c:pt idx="4">
                  <c:v>177.12099999999998</c:v>
                </c:pt>
                <c:pt idx="5">
                  <c:v>241.44699999999997</c:v>
                </c:pt>
                <c:pt idx="6">
                  <c:v>270.98299999999995</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34.311</c:v>
                </c:pt>
                <c:pt idx="1">
                  <c:v>60.06999999999999</c:v>
                </c:pt>
                <c:pt idx="2">
                  <c:v>38.916000000000004</c:v>
                </c:pt>
                <c:pt idx="3">
                  <c:v>43.824</c:v>
                </c:pt>
                <c:pt idx="4">
                  <c:v>64.326</c:v>
                </c:pt>
                <c:pt idx="5">
                  <c:v>29.536</c:v>
                </c:pt>
                <c:pt idx="6">
                  <c:v>54.790000000000006</c:v>
                </c:pt>
                <c:pt idx="7">
                  <c:v>325.77299999999997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389.642</c:v>
                </c:pt>
                <c:pt idx="2">
                  <c:v>443.893</c:v>
                </c:pt>
                <c:pt idx="3">
                  <c:v>509.24699999999996</c:v>
                </c:pt>
                <c:pt idx="4">
                  <c:v>579.5419999999999</c:v>
                </c:pt>
                <c:pt idx="5">
                  <c:v>651.9809999999999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389.642</c:v>
                </c:pt>
                <c:pt idx="1">
                  <c:v>54.25099999999999</c:v>
                </c:pt>
                <c:pt idx="2">
                  <c:v>65.354</c:v>
                </c:pt>
                <c:pt idx="3">
                  <c:v>70.295</c:v>
                </c:pt>
                <c:pt idx="4">
                  <c:v>72.439</c:v>
                </c:pt>
                <c:pt idx="5">
                  <c:v>63.43400000000001</c:v>
                </c:pt>
                <c:pt idx="6">
                  <c:v>715.415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54.25099999999999</c:v>
                </c:pt>
                <c:pt idx="2">
                  <c:v>119.60499999999999</c:v>
                </c:pt>
                <c:pt idx="3">
                  <c:v>189.89999999999998</c:v>
                </c:pt>
                <c:pt idx="4">
                  <c:v>262.33899999999994</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54.25099999999999</c:v>
                </c:pt>
                <c:pt idx="1">
                  <c:v>65.354</c:v>
                </c:pt>
                <c:pt idx="2">
                  <c:v>70.295</c:v>
                </c:pt>
                <c:pt idx="3">
                  <c:v>72.439</c:v>
                </c:pt>
                <c:pt idx="4">
                  <c:v>63.43400000000001</c:v>
                </c:pt>
                <c:pt idx="5">
                  <c:v>325.77299999999997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389.642</c:v>
                </c:pt>
                <c:pt idx="2">
                  <c:v>456.151</c:v>
                </c:pt>
                <c:pt idx="3">
                  <c:v>545.2470000000001</c:v>
                </c:pt>
                <c:pt idx="4">
                  <c:v>623.711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389.642</c:v>
                </c:pt>
                <c:pt idx="1">
                  <c:v>66.509</c:v>
                </c:pt>
                <c:pt idx="2">
                  <c:v>89.096</c:v>
                </c:pt>
                <c:pt idx="3">
                  <c:v>78.464</c:v>
                </c:pt>
                <c:pt idx="4">
                  <c:v>91.70499999999998</c:v>
                </c:pt>
                <c:pt idx="5">
                  <c:v>715.4159999999999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66.509</c:v>
                </c:pt>
                <c:pt idx="2">
                  <c:v>155.60500000000002</c:v>
                </c:pt>
                <c:pt idx="3">
                  <c:v>234.06900000000002</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66.509</c:v>
                </c:pt>
                <c:pt idx="1">
                  <c:v>89.096</c:v>
                </c:pt>
                <c:pt idx="2">
                  <c:v>78.464</c:v>
                </c:pt>
                <c:pt idx="3">
                  <c:v>91.70499999999998</c:v>
                </c:pt>
                <c:pt idx="4">
                  <c:v>325.774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106.672</c:v>
                </c:pt>
                <c:pt idx="1">
                  <c:v>110.501</c:v>
                </c:pt>
                <c:pt idx="2">
                  <c:v>114.452</c:v>
                </c:pt>
                <c:pt idx="3">
                  <c:v>118.51</c:v>
                </c:pt>
                <c:pt idx="4">
                  <c:v>122.778</c:v>
                </c:pt>
                <c:pt idx="5">
                  <c:v>127.471</c:v>
                </c:pt>
                <c:pt idx="6">
                  <c:v>132.672</c:v>
                </c:pt>
                <c:pt idx="7">
                  <c:v>138.468</c:v>
                </c:pt>
                <c:pt idx="8">
                  <c:v>144.88899999999998</c:v>
                </c:pt>
                <c:pt idx="9">
                  <c:v>151.908</c:v>
                </c:pt>
                <c:pt idx="10">
                  <c:v>159.443</c:v>
                </c:pt>
                <c:pt idx="11">
                  <c:v>167.451</c:v>
                </c:pt>
                <c:pt idx="12">
                  <c:v>175.841</c:v>
                </c:pt>
                <c:pt idx="13">
                  <c:v>184.555</c:v>
                </c:pt>
                <c:pt idx="14">
                  <c:v>193.486</c:v>
                </c:pt>
                <c:pt idx="15">
                  <c:v>202.631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Italy</c:v>
                </c:pt>
              </c:strCache>
            </c:strRef>
          </c:cat>
          <c:val>
            <c:numRef>
              <c:f>Sheet1!$B$2:$B$4</c:f>
              <c:numCache>
                <c:formatCode>General</c:formatCode>
                <c:ptCount val="3"/>
                <c:pt idx="0">
                  <c:v>0.05245930274733035</c:v>
                </c:pt>
                <c:pt idx="1">
                  <c:v>0.04646744386955093</c:v>
                </c:pt>
                <c:pt idx="2">
                  <c:v>0.04744071056757937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127.471</c:v>
                </c:pt>
                <c:pt idx="2">
                  <c:v>132.672</c:v>
                </c:pt>
                <c:pt idx="3">
                  <c:v>138.468</c:v>
                </c:pt>
                <c:pt idx="4">
                  <c:v>144.88899999999998</c:v>
                </c:pt>
                <c:pt idx="5">
                  <c:v>151.908</c:v>
                </c:pt>
                <c:pt idx="6">
                  <c:v>159.443</c:v>
                </c:pt>
                <c:pt idx="7">
                  <c:v>167.451</c:v>
                </c:pt>
                <c:pt idx="8">
                  <c:v>175.841</c:v>
                </c:pt>
                <c:pt idx="9">
                  <c:v>184.555</c:v>
                </c:pt>
                <c:pt idx="10">
                  <c:v>193.486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127.471</c:v>
                </c:pt>
                <c:pt idx="1">
                  <c:v>5.200999999999993</c:v>
                </c:pt>
                <c:pt idx="2">
                  <c:v>5.795999999999992</c:v>
                </c:pt>
                <c:pt idx="3">
                  <c:v>6.420999999999992</c:v>
                </c:pt>
                <c:pt idx="4">
                  <c:v>7.0190000000000055</c:v>
                </c:pt>
                <c:pt idx="5">
                  <c:v>7.535000000000025</c:v>
                </c:pt>
                <c:pt idx="6">
                  <c:v>8.007999999999981</c:v>
                </c:pt>
                <c:pt idx="7">
                  <c:v>8.390000000000015</c:v>
                </c:pt>
                <c:pt idx="8">
                  <c:v>8.713999999999999</c:v>
                </c:pt>
                <c:pt idx="9">
                  <c:v>8.930999999999983</c:v>
                </c:pt>
                <c:pt idx="10">
                  <c:v>9.14500000000001</c:v>
                </c:pt>
                <c:pt idx="11">
                  <c:v>202.631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Italy</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9.410905697514146</c:v>
                </c:pt>
                <c:pt idx="1">
                  <c:v>1.6112673307525285</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90.58909430248585</c:v>
                </c:pt>
                <c:pt idx="1">
                  <c:v>98.38873266924747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210.796</c:v>
                </c:pt>
                <c:pt idx="1">
                  <c:v>219.539</c:v>
                </c:pt>
                <c:pt idx="2">
                  <c:v>228.677</c:v>
                </c:pt>
                <c:pt idx="3">
                  <c:v>238.32299999999998</c:v>
                </c:pt>
                <c:pt idx="4">
                  <c:v>248.573</c:v>
                </c:pt>
                <c:pt idx="5">
                  <c:v>260.931</c:v>
                </c:pt>
                <c:pt idx="6">
                  <c:v>274.85900000000004</c:v>
                </c:pt>
                <c:pt idx="7">
                  <c:v>290.57800000000003</c:v>
                </c:pt>
                <c:pt idx="8">
                  <c:v>308.242</c:v>
                </c:pt>
                <c:pt idx="9">
                  <c:v>328.01</c:v>
                </c:pt>
                <c:pt idx="10">
                  <c:v>349.812</c:v>
                </c:pt>
                <c:pt idx="11">
                  <c:v>373.672</c:v>
                </c:pt>
                <c:pt idx="12">
                  <c:v>399.34999999999997</c:v>
                </c:pt>
                <c:pt idx="13">
                  <c:v>426.863</c:v>
                </c:pt>
                <c:pt idx="14">
                  <c:v>456.09000000000003</c:v>
                </c:pt>
                <c:pt idx="15">
                  <c:v>487.08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Italy</c:v>
                </c:pt>
              </c:strCache>
            </c:strRef>
          </c:cat>
          <c:val>
            <c:numRef>
              <c:f>Sheet1!$B$2:$B$4</c:f>
              <c:numCache>
                <c:formatCode>General</c:formatCode>
                <c:ptCount val="3"/>
                <c:pt idx="0">
                  <c:v>0.06658666629421717</c:v>
                </c:pt>
                <c:pt idx="1">
                  <c:v>0.06255449919419975</c:v>
                </c:pt>
                <c:pt idx="2">
                  <c:v>0.0644063624561324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91999497193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260.931</c:v>
                </c:pt>
                <c:pt idx="2">
                  <c:v>274.85900000000004</c:v>
                </c:pt>
                <c:pt idx="3">
                  <c:v>290.57800000000003</c:v>
                </c:pt>
                <c:pt idx="4">
                  <c:v>308.242</c:v>
                </c:pt>
                <c:pt idx="5">
                  <c:v>328.01</c:v>
                </c:pt>
                <c:pt idx="6">
                  <c:v>349.812</c:v>
                </c:pt>
                <c:pt idx="7">
                  <c:v>373.672</c:v>
                </c:pt>
                <c:pt idx="8">
                  <c:v>399.34999999999997</c:v>
                </c:pt>
                <c:pt idx="9">
                  <c:v>426.863</c:v>
                </c:pt>
                <c:pt idx="10">
                  <c:v>456.09000000000003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260.931</c:v>
                </c:pt>
                <c:pt idx="1">
                  <c:v>13.928000000000054</c:v>
                </c:pt>
                <c:pt idx="2">
                  <c:v>15.718999999999994</c:v>
                </c:pt>
                <c:pt idx="3">
                  <c:v>17.663999999999987</c:v>
                </c:pt>
                <c:pt idx="4">
                  <c:v>19.767999999999972</c:v>
                </c:pt>
                <c:pt idx="5">
                  <c:v>21.80200000000002</c:v>
                </c:pt>
                <c:pt idx="6">
                  <c:v>23.860000000000014</c:v>
                </c:pt>
                <c:pt idx="7">
                  <c:v>25.67799999999994</c:v>
                </c:pt>
                <c:pt idx="8">
                  <c:v>27.513000000000034</c:v>
                </c:pt>
                <c:pt idx="9">
                  <c:v>29.227000000000032</c:v>
                </c:pt>
                <c:pt idx="10">
                  <c:v>30.989999999999952</c:v>
                </c:pt>
                <c:pt idx="11">
                  <c:v>487.08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Italy</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9.282569980981709</c:v>
                </c:pt>
                <c:pt idx="1">
                  <c:v>1.6200486664653384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90.7174300190183</c:v>
                </c:pt>
                <c:pt idx="1">
                  <c:v>98.37995133353466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Sprays and Mists</c:v>
                </c:pt>
                <c:pt idx="5">
                  <c:v>Sticks and Balms</c:v>
                </c:pt>
                <c:pt idx="6">
                  <c:v>Waxes, Clays, Pastes…</c:v>
                </c:pt>
                <c:pt idx="7">
                  <c:v>Serums and Oils</c:v>
                </c:pt>
              </c:strCache>
            </c:strRef>
          </c:cat>
          <c:val>
            <c:numRef>
              <c:f>Sheet1!$B$2:$B$9</c:f>
              <c:numCache>
                <c:formatCode>General</c:formatCode>
                <c:ptCount val="8"/>
                <c:pt idx="0">
                  <c:v>18.695999999999998</c:v>
                </c:pt>
                <c:pt idx="1">
                  <c:v>24.906</c:v>
                </c:pt>
                <c:pt idx="2">
                  <c:v>25.957</c:v>
                </c:pt>
                <c:pt idx="3">
                  <c:v>28.5</c:v>
                </c:pt>
                <c:pt idx="4">
                  <c:v>33.379000000000005</c:v>
                </c:pt>
                <c:pt idx="5">
                  <c:v>33.658</c:v>
                </c:pt>
                <c:pt idx="6">
                  <c:v>47.221</c:v>
                </c:pt>
                <c:pt idx="7">
                  <c:v>48.614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5.1427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No Hold</c:v>
                </c:pt>
                <c:pt idx="4">
                  <c:v>Extra-strong Hold</c:v>
                </c:pt>
                <c:pt idx="5">
                  <c:v>Light or Flexible Hold</c:v>
                </c:pt>
                <c:pt idx="6">
                  <c:v>Medium Hold</c:v>
                </c:pt>
                <c:pt idx="7">
                  <c:v>Strong Hold</c:v>
                </c:pt>
              </c:strCache>
            </c:strRef>
          </c:cat>
          <c:val>
            <c:numRef>
              <c:f>Sheet1!$B$2:$B$9</c:f>
              <c:numCache>
                <c:formatCode>General</c:formatCode>
                <c:ptCount val="8"/>
                <c:pt idx="3">
                  <c:v>44.88</c:v>
                </c:pt>
                <c:pt idx="4">
                  <c:v>49.55</c:v>
                </c:pt>
                <c:pt idx="5">
                  <c:v>51.646</c:v>
                </c:pt>
                <c:pt idx="6">
                  <c:v>56.602</c:v>
                </c:pt>
                <c:pt idx="7">
                  <c:v>58.253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8.059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81.011</c:v>
                </c:pt>
                <c:pt idx="6">
                  <c:v>82.849</c:v>
                </c:pt>
                <c:pt idx="7">
                  <c:v>97.071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0.0751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Online Marketplaces</c:v>
                </c:pt>
                <c:pt idx="5">
                  <c:v>Beauty Specialty Reta…</c:v>
                </c:pt>
                <c:pt idx="6">
                  <c:v>Mass Retail</c:v>
                </c:pt>
                <c:pt idx="7">
                  <c:v>Salon and Professiona…</c:v>
                </c:pt>
              </c:strCache>
            </c:strRef>
          </c:cat>
          <c:val>
            <c:numRef>
              <c:f>Sheet1!$B$2:$B$9</c:f>
              <c:numCache>
                <c:formatCode>General</c:formatCode>
                <c:ptCount val="8"/>
                <c:pt idx="2">
                  <c:v>31.96</c:v>
                </c:pt>
                <c:pt idx="3">
                  <c:v>39.707</c:v>
                </c:pt>
                <c:pt idx="4">
                  <c:v>42.553</c:v>
                </c:pt>
                <c:pt idx="5">
                  <c:v>44.197</c:v>
                </c:pt>
                <c:pt idx="6">
                  <c:v>49.499</c:v>
                </c:pt>
                <c:pt idx="7">
                  <c:v>53.014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1.03876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Heat Styling Support</c:v>
                </c:pt>
                <c:pt idx="5">
                  <c:v>Curl Definition</c:v>
                </c:pt>
                <c:pt idx="6">
                  <c:v>Hold and Shape</c:v>
                </c:pt>
                <c:pt idx="7">
                  <c:v>Smoothing and Frizz C…</c:v>
                </c:pt>
              </c:strCache>
            </c:strRef>
          </c:cat>
          <c:val>
            <c:numRef>
              <c:f>Sheet1!$B$2:$B$9</c:f>
              <c:numCache>
                <c:formatCode>General</c:formatCode>
                <c:ptCount val="8"/>
                <c:pt idx="1">
                  <c:v>30.579</c:v>
                </c:pt>
                <c:pt idx="2">
                  <c:v>36.074</c:v>
                </c:pt>
                <c:pt idx="3">
                  <c:v>36.138</c:v>
                </c:pt>
                <c:pt idx="4">
                  <c:v>36.27</c:v>
                </c:pt>
                <c:pt idx="5">
                  <c:v>36.339</c:v>
                </c:pt>
                <c:pt idx="6">
                  <c:v>40.619</c:v>
                </c:pt>
                <c:pt idx="7">
                  <c:v>44.912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0.1820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46.945</c:v>
                </c:pt>
                <c:pt idx="4">
                  <c:v>49.566</c:v>
                </c:pt>
                <c:pt idx="5">
                  <c:v>52.773</c:v>
                </c:pt>
                <c:pt idx="6">
                  <c:v>54.821</c:v>
                </c:pt>
                <c:pt idx="7">
                  <c:v>56.825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6.14550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62.629000000000005</c:v>
                </c:pt>
                <c:pt idx="5">
                  <c:v>64.998</c:v>
                </c:pt>
                <c:pt idx="6">
                  <c:v>65.517</c:v>
                </c:pt>
                <c:pt idx="7">
                  <c:v>67.788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0.8359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260.931</c:v>
                </c:pt>
                <c:pt idx="2">
                  <c:v>276.513</c:v>
                </c:pt>
                <c:pt idx="3">
                  <c:v>288.221</c:v>
                </c:pt>
                <c:pt idx="4">
                  <c:v>308.15</c:v>
                </c:pt>
                <c:pt idx="5">
                  <c:v>335.923</c:v>
                </c:pt>
                <c:pt idx="6">
                  <c:v>372.574</c:v>
                </c:pt>
                <c:pt idx="7">
                  <c:v>399.885</c:v>
                </c:pt>
                <c:pt idx="8">
                  <c:v>443.439</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260.931</c:v>
                </c:pt>
                <c:pt idx="1">
                  <c:v>15.581999999999994</c:v>
                </c:pt>
                <c:pt idx="2">
                  <c:v>11.707999999999998</c:v>
                </c:pt>
                <c:pt idx="3">
                  <c:v>19.929000000000002</c:v>
                </c:pt>
                <c:pt idx="4">
                  <c:v>27.773000000000003</c:v>
                </c:pt>
                <c:pt idx="5">
                  <c:v>36.651</c:v>
                </c:pt>
                <c:pt idx="6">
                  <c:v>27.311</c:v>
                </c:pt>
                <c:pt idx="7">
                  <c:v>43.55400000000001</c:v>
                </c:pt>
                <c:pt idx="8">
                  <c:v>43.641000000000005</c:v>
                </c:pt>
                <c:pt idx="9">
                  <c:v>487.08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15.581999999999994</c:v>
                </c:pt>
                <c:pt idx="2">
                  <c:v>27.289999999999992</c:v>
                </c:pt>
                <c:pt idx="3">
                  <c:v>47.218999999999994</c:v>
                </c:pt>
                <c:pt idx="4">
                  <c:v>74.99199999999999</c:v>
                </c:pt>
                <c:pt idx="5">
                  <c:v>111.643</c:v>
                </c:pt>
                <c:pt idx="6">
                  <c:v>138.954</c:v>
                </c:pt>
                <c:pt idx="7">
                  <c:v>182.508</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15.581999999999994</c:v>
                </c:pt>
                <c:pt idx="1">
                  <c:v>11.707999999999998</c:v>
                </c:pt>
                <c:pt idx="2">
                  <c:v>19.929000000000002</c:v>
                </c:pt>
                <c:pt idx="3">
                  <c:v>27.773000000000003</c:v>
                </c:pt>
                <c:pt idx="4">
                  <c:v>36.651</c:v>
                </c:pt>
                <c:pt idx="5">
                  <c:v>27.311</c:v>
                </c:pt>
                <c:pt idx="6">
                  <c:v>43.55400000000001</c:v>
                </c:pt>
                <c:pt idx="7">
                  <c:v>43.641000000000005</c:v>
                </c:pt>
                <c:pt idx="8">
                  <c:v>226.14900000000003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260.93100000000004</c:v>
                </c:pt>
                <c:pt idx="2">
                  <c:v>304.814</c:v>
                </c:pt>
                <c:pt idx="3">
                  <c:v>359.661</c:v>
                </c:pt>
                <c:pt idx="4">
                  <c:v>408.221</c:v>
                </c:pt>
                <c:pt idx="5">
                  <c:v>452.964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260.93100000000004</c:v>
                </c:pt>
                <c:pt idx="1">
                  <c:v>43.883</c:v>
                </c:pt>
                <c:pt idx="2">
                  <c:v>54.846999999999994</c:v>
                </c:pt>
                <c:pt idx="3">
                  <c:v>48.56000000000001</c:v>
                </c:pt>
                <c:pt idx="4">
                  <c:v>44.742999999999995</c:v>
                </c:pt>
                <c:pt idx="5">
                  <c:v>34.116</c:v>
                </c:pt>
                <c:pt idx="6">
                  <c:v>487.08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43.883</c:v>
                </c:pt>
                <c:pt idx="2">
                  <c:v>98.72999999999999</c:v>
                </c:pt>
                <c:pt idx="3">
                  <c:v>147.29</c:v>
                </c:pt>
                <c:pt idx="4">
                  <c:v>192.033</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43.883</c:v>
                </c:pt>
                <c:pt idx="1">
                  <c:v>54.846999999999994</c:v>
                </c:pt>
                <c:pt idx="2">
                  <c:v>48.56000000000001</c:v>
                </c:pt>
                <c:pt idx="3">
                  <c:v>44.742999999999995</c:v>
                </c:pt>
                <c:pt idx="4">
                  <c:v>34.116</c:v>
                </c:pt>
                <c:pt idx="5">
                  <c:v>226.149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260.93100000000004</c:v>
                </c:pt>
                <c:pt idx="2">
                  <c:v>329.84800000000007</c:v>
                </c:pt>
                <c:pt idx="3">
                  <c:v>392.9120000000001</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260.93100000000004</c:v>
                </c:pt>
                <c:pt idx="1">
                  <c:v>68.917</c:v>
                </c:pt>
                <c:pt idx="2">
                  <c:v>63.06400000000001</c:v>
                </c:pt>
                <c:pt idx="3">
                  <c:v>94.168</c:v>
                </c:pt>
                <c:pt idx="4">
                  <c:v>487.08000000000004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68.917</c:v>
                </c:pt>
                <c:pt idx="2">
                  <c:v>131.981</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68.917</c:v>
                </c:pt>
                <c:pt idx="1">
                  <c:v>63.06400000000001</c:v>
                </c:pt>
                <c:pt idx="2">
                  <c:v>94.168</c:v>
                </c:pt>
                <c:pt idx="3">
                  <c:v>226.149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260.93</c:v>
                </c:pt>
                <c:pt idx="2">
                  <c:v>293.223</c:v>
                </c:pt>
                <c:pt idx="3">
                  <c:v>333.322</c:v>
                </c:pt>
                <c:pt idx="4">
                  <c:v>376.949</c:v>
                </c:pt>
                <c:pt idx="5">
                  <c:v>406.333</c:v>
                </c:pt>
                <c:pt idx="6">
                  <c:v>454.009</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260.93</c:v>
                </c:pt>
                <c:pt idx="1">
                  <c:v>32.293</c:v>
                </c:pt>
                <c:pt idx="2">
                  <c:v>40.099000000000004</c:v>
                </c:pt>
                <c:pt idx="3">
                  <c:v>43.627</c:v>
                </c:pt>
                <c:pt idx="4">
                  <c:v>29.383999999999993</c:v>
                </c:pt>
                <c:pt idx="5">
                  <c:v>47.676</c:v>
                </c:pt>
                <c:pt idx="6">
                  <c:v>33.071000000000005</c:v>
                </c:pt>
                <c:pt idx="7">
                  <c:v>487.08000000000004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32.293</c:v>
                </c:pt>
                <c:pt idx="2">
                  <c:v>72.392</c:v>
                </c:pt>
                <c:pt idx="3">
                  <c:v>116.019</c:v>
                </c:pt>
                <c:pt idx="4">
                  <c:v>145.403</c:v>
                </c:pt>
                <c:pt idx="5">
                  <c:v>193.079</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32.293</c:v>
                </c:pt>
                <c:pt idx="1">
                  <c:v>40.099000000000004</c:v>
                </c:pt>
                <c:pt idx="2">
                  <c:v>43.627</c:v>
                </c:pt>
                <c:pt idx="3">
                  <c:v>29.383999999999993</c:v>
                </c:pt>
                <c:pt idx="4">
                  <c:v>47.676</c:v>
                </c:pt>
                <c:pt idx="5">
                  <c:v>33.071000000000005</c:v>
                </c:pt>
                <c:pt idx="6">
                  <c:v>226.15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260.931</c:v>
                </c:pt>
                <c:pt idx="2">
                  <c:v>285.163</c:v>
                </c:pt>
                <c:pt idx="3">
                  <c:v>326.972</c:v>
                </c:pt>
                <c:pt idx="4">
                  <c:v>354.286</c:v>
                </c:pt>
                <c:pt idx="5">
                  <c:v>384.967</c:v>
                </c:pt>
                <c:pt idx="6">
                  <c:v>428.332</c:v>
                </c:pt>
                <c:pt idx="7">
                  <c:v>449.158</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260.931</c:v>
                </c:pt>
                <c:pt idx="1">
                  <c:v>24.232</c:v>
                </c:pt>
                <c:pt idx="2">
                  <c:v>41.809</c:v>
                </c:pt>
                <c:pt idx="3">
                  <c:v>27.314</c:v>
                </c:pt>
                <c:pt idx="4">
                  <c:v>30.681000000000004</c:v>
                </c:pt>
                <c:pt idx="5">
                  <c:v>43.365</c:v>
                </c:pt>
                <c:pt idx="6">
                  <c:v>20.826</c:v>
                </c:pt>
                <c:pt idx="7">
                  <c:v>37.921</c:v>
                </c:pt>
                <c:pt idx="8">
                  <c:v>487.07900000000006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24.232</c:v>
                </c:pt>
                <c:pt idx="2">
                  <c:v>66.041</c:v>
                </c:pt>
                <c:pt idx="3">
                  <c:v>93.35499999999999</c:v>
                </c:pt>
                <c:pt idx="4">
                  <c:v>124.036</c:v>
                </c:pt>
                <c:pt idx="5">
                  <c:v>167.401</c:v>
                </c:pt>
                <c:pt idx="6">
                  <c:v>188.227</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24.232</c:v>
                </c:pt>
                <c:pt idx="1">
                  <c:v>41.809</c:v>
                </c:pt>
                <c:pt idx="2">
                  <c:v>27.314</c:v>
                </c:pt>
                <c:pt idx="3">
                  <c:v>30.681000000000004</c:v>
                </c:pt>
                <c:pt idx="4">
                  <c:v>43.365</c:v>
                </c:pt>
                <c:pt idx="5">
                  <c:v>20.826</c:v>
                </c:pt>
                <c:pt idx="6">
                  <c:v>37.921</c:v>
                </c:pt>
                <c:pt idx="7">
                  <c:v>226.148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260.93</c:v>
                </c:pt>
                <c:pt idx="2">
                  <c:v>298.795</c:v>
                </c:pt>
                <c:pt idx="3">
                  <c:v>344.152</c:v>
                </c:pt>
                <c:pt idx="4">
                  <c:v>392.854</c:v>
                </c:pt>
                <c:pt idx="5">
                  <c:v>442.937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260.93</c:v>
                </c:pt>
                <c:pt idx="1">
                  <c:v>37.86500000000001</c:v>
                </c:pt>
                <c:pt idx="2">
                  <c:v>45.35699999999999</c:v>
                </c:pt>
                <c:pt idx="3">
                  <c:v>48.702</c:v>
                </c:pt>
                <c:pt idx="4">
                  <c:v>50.083000000000006</c:v>
                </c:pt>
                <c:pt idx="5">
                  <c:v>44.141999999999996</c:v>
                </c:pt>
                <c:pt idx="6">
                  <c:v>487.079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37.86500000000001</c:v>
                </c:pt>
                <c:pt idx="2">
                  <c:v>83.22200000000001</c:v>
                </c:pt>
                <c:pt idx="3">
                  <c:v>131.924</c:v>
                </c:pt>
                <c:pt idx="4">
                  <c:v>182.007</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37.86500000000001</c:v>
                </c:pt>
                <c:pt idx="1">
                  <c:v>45.35699999999999</c:v>
                </c:pt>
                <c:pt idx="2">
                  <c:v>48.702</c:v>
                </c:pt>
                <c:pt idx="3">
                  <c:v>50.083000000000006</c:v>
                </c:pt>
                <c:pt idx="4">
                  <c:v>44.141999999999996</c:v>
                </c:pt>
                <c:pt idx="5">
                  <c:v>226.149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260.932</c:v>
                </c:pt>
                <c:pt idx="2">
                  <c:v>311.355</c:v>
                </c:pt>
                <c:pt idx="3">
                  <c:v>372.274</c:v>
                </c:pt>
                <c:pt idx="4">
                  <c:v>423.376</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260.932</c:v>
                </c:pt>
                <c:pt idx="1">
                  <c:v>50.423</c:v>
                </c:pt>
                <c:pt idx="2">
                  <c:v>60.91900000000001</c:v>
                </c:pt>
                <c:pt idx="3">
                  <c:v>51.10199999999999</c:v>
                </c:pt>
                <c:pt idx="4">
                  <c:v>63.70399999999999</c:v>
                </c:pt>
                <c:pt idx="5">
                  <c:v>487.0799999999999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50.423</c:v>
                </c:pt>
                <c:pt idx="2">
                  <c:v>111.34200000000001</c:v>
                </c:pt>
                <c:pt idx="3">
                  <c:v>162.44400000000002</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50.423</c:v>
                </c:pt>
                <c:pt idx="1">
                  <c:v>60.91900000000001</c:v>
                </c:pt>
                <c:pt idx="2">
                  <c:v>51.10199999999999</c:v>
                </c:pt>
                <c:pt idx="3">
                  <c:v>63.70399999999999</c:v>
                </c:pt>
                <c:pt idx="4">
                  <c:v>226.14800000000002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76.144</c:v>
                </c:pt>
                <c:pt idx="1">
                  <c:v>79.149</c:v>
                </c:pt>
                <c:pt idx="2">
                  <c:v>82.249</c:v>
                </c:pt>
                <c:pt idx="3">
                  <c:v>85.445</c:v>
                </c:pt>
                <c:pt idx="4">
                  <c:v>88.81700000000001</c:v>
                </c:pt>
                <c:pt idx="5">
                  <c:v>92.54499999999999</c:v>
                </c:pt>
                <c:pt idx="6">
                  <c:v>96.706</c:v>
                </c:pt>
                <c:pt idx="7">
                  <c:v>101.37100000000001</c:v>
                </c:pt>
                <c:pt idx="8">
                  <c:v>106.576</c:v>
                </c:pt>
                <c:pt idx="9">
                  <c:v>112.30099999999999</c:v>
                </c:pt>
                <c:pt idx="10">
                  <c:v>118.49</c:v>
                </c:pt>
                <c:pt idx="11">
                  <c:v>125.10300000000001</c:v>
                </c:pt>
                <c:pt idx="12">
                  <c:v>132.062</c:v>
                </c:pt>
                <c:pt idx="13">
                  <c:v>139.33299999999997</c:v>
                </c:pt>
                <c:pt idx="14">
                  <c:v>146.817</c:v>
                </c:pt>
                <c:pt idx="15">
                  <c:v>154.522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Spain</c:v>
                </c:pt>
              </c:strCache>
            </c:strRef>
          </c:cat>
          <c:val>
            <c:numRef>
              <c:f>Sheet1!$B$2:$B$4</c:f>
              <c:numCache>
                <c:formatCode>General</c:formatCode>
                <c:ptCount val="3"/>
                <c:pt idx="0">
                  <c:v>0.05245930274733035</c:v>
                </c:pt>
                <c:pt idx="1">
                  <c:v>0.04646744386955093</c:v>
                </c:pt>
                <c:pt idx="2">
                  <c:v>0.052600897756452714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10112119712111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92.54499999999999</c:v>
                </c:pt>
                <c:pt idx="2">
                  <c:v>96.706</c:v>
                </c:pt>
                <c:pt idx="3">
                  <c:v>101.37100000000001</c:v>
                </c:pt>
                <c:pt idx="4">
                  <c:v>106.576</c:v>
                </c:pt>
                <c:pt idx="5">
                  <c:v>112.30099999999999</c:v>
                </c:pt>
                <c:pt idx="6">
                  <c:v>118.49</c:v>
                </c:pt>
                <c:pt idx="7">
                  <c:v>125.10300000000001</c:v>
                </c:pt>
                <c:pt idx="8">
                  <c:v>132.062</c:v>
                </c:pt>
                <c:pt idx="9">
                  <c:v>139.33299999999997</c:v>
                </c:pt>
                <c:pt idx="10">
                  <c:v>146.817</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92.54499999999999</c:v>
                </c:pt>
                <c:pt idx="1">
                  <c:v>4.161000000000016</c:v>
                </c:pt>
                <c:pt idx="2">
                  <c:v>4.665000000000006</c:v>
                </c:pt>
                <c:pt idx="3">
                  <c:v>5.204999999999984</c:v>
                </c:pt>
                <c:pt idx="4">
                  <c:v>5.724999999999994</c:v>
                </c:pt>
                <c:pt idx="5">
                  <c:v>6.189000000000007</c:v>
                </c:pt>
                <c:pt idx="6">
                  <c:v>6.613000000000014</c:v>
                </c:pt>
                <c:pt idx="7">
                  <c:v>6.959000000000003</c:v>
                </c:pt>
                <c:pt idx="8">
                  <c:v>7.270999999999958</c:v>
                </c:pt>
                <c:pt idx="9">
                  <c:v>7.484000000000037</c:v>
                </c:pt>
                <c:pt idx="10">
                  <c:v>7.704999999999984</c:v>
                </c:pt>
                <c:pt idx="11">
                  <c:v>154.522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Spain</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6.83239535091469</c:v>
                </c:pt>
                <c:pt idx="1">
                  <c:v>1.1697934049665626</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93.1676046490853</c:v>
                </c:pt>
                <c:pt idx="1">
                  <c:v>98.83020659503343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140.74</c:v>
                </c:pt>
                <c:pt idx="1">
                  <c:v>147.059</c:v>
                </c:pt>
                <c:pt idx="2">
                  <c:v>153.66500000000002</c:v>
                </c:pt>
                <c:pt idx="3">
                  <c:v>160.656</c:v>
                </c:pt>
                <c:pt idx="4">
                  <c:v>168.117</c:v>
                </c:pt>
                <c:pt idx="5">
                  <c:v>177.18</c:v>
                </c:pt>
                <c:pt idx="6">
                  <c:v>187.421</c:v>
                </c:pt>
                <c:pt idx="7">
                  <c:v>199.07899999999998</c:v>
                </c:pt>
                <c:pt idx="8">
                  <c:v>212.308</c:v>
                </c:pt>
                <c:pt idx="9">
                  <c:v>227.233</c:v>
                </c:pt>
                <c:pt idx="10">
                  <c:v>243.80100000000002</c:v>
                </c:pt>
                <c:pt idx="11">
                  <c:v>262.02700000000004</c:v>
                </c:pt>
                <c:pt idx="12">
                  <c:v>281.795</c:v>
                </c:pt>
                <c:pt idx="13">
                  <c:v>303.123</c:v>
                </c:pt>
                <c:pt idx="14">
                  <c:v>325.85699999999997</c:v>
                </c:pt>
                <c:pt idx="15">
                  <c:v>350.144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Spain</c:v>
                </c:pt>
              </c:strCache>
            </c:strRef>
          </c:cat>
          <c:val>
            <c:numRef>
              <c:f>Sheet1!$B$2:$B$4</c:f>
              <c:numCache>
                <c:formatCode>General</c:formatCode>
                <c:ptCount val="3"/>
                <c:pt idx="0">
                  <c:v>0.06658666629421717</c:v>
                </c:pt>
                <c:pt idx="1">
                  <c:v>0.06255449919419975</c:v>
                </c:pt>
                <c:pt idx="2">
                  <c:v>0.07049144063538537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516344485777026"/>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177.18</c:v>
                </c:pt>
                <c:pt idx="2">
                  <c:v>187.421</c:v>
                </c:pt>
                <c:pt idx="3">
                  <c:v>199.07899999999998</c:v>
                </c:pt>
                <c:pt idx="4">
                  <c:v>212.308</c:v>
                </c:pt>
                <c:pt idx="5">
                  <c:v>227.233</c:v>
                </c:pt>
                <c:pt idx="6">
                  <c:v>243.80100000000002</c:v>
                </c:pt>
                <c:pt idx="7">
                  <c:v>262.02700000000004</c:v>
                </c:pt>
                <c:pt idx="8">
                  <c:v>281.795</c:v>
                </c:pt>
                <c:pt idx="9">
                  <c:v>303.123</c:v>
                </c:pt>
                <c:pt idx="10">
                  <c:v>325.85699999999997</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177.18</c:v>
                </c:pt>
                <c:pt idx="1">
                  <c:v>10.240999999999985</c:v>
                </c:pt>
                <c:pt idx="2">
                  <c:v>11.657999999999987</c:v>
                </c:pt>
                <c:pt idx="3">
                  <c:v>13.229000000000013</c:v>
                </c:pt>
                <c:pt idx="4">
                  <c:v>14.925000000000011</c:v>
                </c:pt>
                <c:pt idx="5">
                  <c:v>16.568000000000012</c:v>
                </c:pt>
                <c:pt idx="6">
                  <c:v>18.226000000000028</c:v>
                </c:pt>
                <c:pt idx="7">
                  <c:v>19.767999999999972</c:v>
                </c:pt>
                <c:pt idx="8">
                  <c:v>21.327999999999975</c:v>
                </c:pt>
                <c:pt idx="9">
                  <c:v>22.73399999999998</c:v>
                </c:pt>
                <c:pt idx="10">
                  <c:v>24.287000000000035</c:v>
                </c:pt>
                <c:pt idx="11">
                  <c:v>350.144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Spain</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6.30314431489681</c:v>
                </c:pt>
                <c:pt idx="1">
                  <c:v>1.1000617892252307</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93.69685568510319</c:v>
                </c:pt>
                <c:pt idx="1">
                  <c:v>98.89993821077476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Sticks and Balms</c:v>
                </c:pt>
                <c:pt idx="4">
                  <c:v>Creams and Lotions</c:v>
                </c:pt>
                <c:pt idx="5">
                  <c:v>Sprays and Mists</c:v>
                </c:pt>
                <c:pt idx="6">
                  <c:v>Waxes, Clays, Pastes…</c:v>
                </c:pt>
                <c:pt idx="7">
                  <c:v>Serums and Oils</c:v>
                </c:pt>
              </c:strCache>
            </c:strRef>
          </c:cat>
          <c:val>
            <c:numRef>
              <c:f>Sheet1!$B$2:$B$9</c:f>
              <c:numCache>
                <c:formatCode>General</c:formatCode>
                <c:ptCount val="8"/>
                <c:pt idx="0">
                  <c:v>12.762</c:v>
                </c:pt>
                <c:pt idx="1">
                  <c:v>15.69</c:v>
                </c:pt>
                <c:pt idx="2">
                  <c:v>17.808</c:v>
                </c:pt>
                <c:pt idx="3">
                  <c:v>22.826</c:v>
                </c:pt>
                <c:pt idx="4">
                  <c:v>23.1</c:v>
                </c:pt>
                <c:pt idx="5">
                  <c:v>23.926000000000002</c:v>
                </c:pt>
                <c:pt idx="6">
                  <c:v>27.939</c:v>
                </c:pt>
                <c:pt idx="7">
                  <c:v>33.129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4.3928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31.365</c:v>
                </c:pt>
                <c:pt idx="4">
                  <c:v>33.613</c:v>
                </c:pt>
                <c:pt idx="5">
                  <c:v>35.769</c:v>
                </c:pt>
                <c:pt idx="6">
                  <c:v>37.093</c:v>
                </c:pt>
                <c:pt idx="7">
                  <c:v>39.339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2.7142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55.918</c:v>
                </c:pt>
                <c:pt idx="6">
                  <c:v>57.528</c:v>
                </c:pt>
                <c:pt idx="7">
                  <c:v>63.732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85.4008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Online Marketplaces</c:v>
                </c:pt>
                <c:pt idx="6">
                  <c:v>Salon and Professiona…</c:v>
                </c:pt>
                <c:pt idx="7">
                  <c:v>Mass Retail</c:v>
                </c:pt>
              </c:strCache>
            </c:strRef>
          </c:cat>
          <c:val>
            <c:numRef>
              <c:f>Sheet1!$B$2:$B$9</c:f>
              <c:numCache>
                <c:formatCode>General</c:formatCode>
                <c:ptCount val="8"/>
                <c:pt idx="2">
                  <c:v>22.741</c:v>
                </c:pt>
                <c:pt idx="3">
                  <c:v>27.671</c:v>
                </c:pt>
                <c:pt idx="4">
                  <c:v>28.064</c:v>
                </c:pt>
                <c:pt idx="5">
                  <c:v>29.779</c:v>
                </c:pt>
                <c:pt idx="6">
                  <c:v>34.415</c:v>
                </c:pt>
                <c:pt idx="7">
                  <c:v>34.509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6.242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Curl Definition</c:v>
                </c:pt>
                <c:pt idx="5">
                  <c:v>Heat Styling Support</c:v>
                </c:pt>
                <c:pt idx="6">
                  <c:v>Hold and Shape</c:v>
                </c:pt>
                <c:pt idx="7">
                  <c:v>Smoothing and Frizz C…</c:v>
                </c:pt>
              </c:strCache>
            </c:strRef>
          </c:cat>
          <c:val>
            <c:numRef>
              <c:f>Sheet1!$B$2:$B$9</c:f>
              <c:numCache>
                <c:formatCode>General</c:formatCode>
                <c:ptCount val="8"/>
                <c:pt idx="1">
                  <c:v>20.767</c:v>
                </c:pt>
                <c:pt idx="2">
                  <c:v>24.335</c:v>
                </c:pt>
                <c:pt idx="3">
                  <c:v>24.37</c:v>
                </c:pt>
                <c:pt idx="4">
                  <c:v>24.489</c:v>
                </c:pt>
                <c:pt idx="5">
                  <c:v>24.625</c:v>
                </c:pt>
                <c:pt idx="6">
                  <c:v>27.597</c:v>
                </c:pt>
                <c:pt idx="7">
                  <c:v>30.996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1.5346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31.865</c:v>
                </c:pt>
                <c:pt idx="4">
                  <c:v>33.623</c:v>
                </c:pt>
                <c:pt idx="5">
                  <c:v>35.853</c:v>
                </c:pt>
                <c:pt idx="6">
                  <c:v>37.241</c:v>
                </c:pt>
                <c:pt idx="7">
                  <c:v>38.596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1.7186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42.501999999999995</c:v>
                </c:pt>
                <c:pt idx="5">
                  <c:v>44.202</c:v>
                </c:pt>
                <c:pt idx="6">
                  <c:v>44.478</c:v>
                </c:pt>
                <c:pt idx="7">
                  <c:v>45.995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1.633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177.18</c:v>
                </c:pt>
                <c:pt idx="2">
                  <c:v>192.845</c:v>
                </c:pt>
                <c:pt idx="3">
                  <c:v>201.997</c:v>
                </c:pt>
                <c:pt idx="4">
                  <c:v>215.00900000000001</c:v>
                </c:pt>
                <c:pt idx="5">
                  <c:v>238.08200000000002</c:v>
                </c:pt>
                <c:pt idx="6">
                  <c:v>260.755</c:v>
                </c:pt>
                <c:pt idx="7">
                  <c:v>284.401</c:v>
                </c:pt>
                <c:pt idx="8">
                  <c:v>320.122</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177.18</c:v>
                </c:pt>
                <c:pt idx="1">
                  <c:v>15.665</c:v>
                </c:pt>
                <c:pt idx="2">
                  <c:v>9.152000000000001</c:v>
                </c:pt>
                <c:pt idx="3">
                  <c:v>13.012000000000002</c:v>
                </c:pt>
                <c:pt idx="4">
                  <c:v>23.073</c:v>
                </c:pt>
                <c:pt idx="5">
                  <c:v>22.673000000000002</c:v>
                </c:pt>
                <c:pt idx="6">
                  <c:v>23.646</c:v>
                </c:pt>
                <c:pt idx="7">
                  <c:v>35.721</c:v>
                </c:pt>
                <c:pt idx="8">
                  <c:v>30.022</c:v>
                </c:pt>
                <c:pt idx="9">
                  <c:v>350.144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15.665</c:v>
                </c:pt>
                <c:pt idx="2">
                  <c:v>24.817</c:v>
                </c:pt>
                <c:pt idx="3">
                  <c:v>37.829</c:v>
                </c:pt>
                <c:pt idx="4">
                  <c:v>60.902</c:v>
                </c:pt>
                <c:pt idx="5">
                  <c:v>83.575</c:v>
                </c:pt>
                <c:pt idx="6">
                  <c:v>107.221</c:v>
                </c:pt>
                <c:pt idx="7">
                  <c:v>142.942</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15.665</c:v>
                </c:pt>
                <c:pt idx="1">
                  <c:v>9.152000000000001</c:v>
                </c:pt>
                <c:pt idx="2">
                  <c:v>13.012000000000002</c:v>
                </c:pt>
                <c:pt idx="3">
                  <c:v>23.073</c:v>
                </c:pt>
                <c:pt idx="4">
                  <c:v>22.673000000000002</c:v>
                </c:pt>
                <c:pt idx="5">
                  <c:v>23.646</c:v>
                </c:pt>
                <c:pt idx="6">
                  <c:v>35.721</c:v>
                </c:pt>
                <c:pt idx="7">
                  <c:v>30.022</c:v>
                </c:pt>
                <c:pt idx="8">
                  <c:v>172.964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177.17900000000003</c:v>
                </c:pt>
                <c:pt idx="2">
                  <c:v>213.75700000000003</c:v>
                </c:pt>
                <c:pt idx="3">
                  <c:v>255.79400000000004</c:v>
                </c:pt>
                <c:pt idx="4">
                  <c:v>293.54</c:v>
                </c:pt>
                <c:pt idx="5">
                  <c:v>325.62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177.17900000000003</c:v>
                </c:pt>
                <c:pt idx="1">
                  <c:v>36.578</c:v>
                </c:pt>
                <c:pt idx="2">
                  <c:v>42.037</c:v>
                </c:pt>
                <c:pt idx="3">
                  <c:v>37.745999999999995</c:v>
                </c:pt>
                <c:pt idx="4">
                  <c:v>32.08</c:v>
                </c:pt>
                <c:pt idx="5">
                  <c:v>24.523</c:v>
                </c:pt>
                <c:pt idx="6">
                  <c:v>350.143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36.578</c:v>
                </c:pt>
                <c:pt idx="2">
                  <c:v>78.61500000000001</c:v>
                </c:pt>
                <c:pt idx="3">
                  <c:v>116.361</c:v>
                </c:pt>
                <c:pt idx="4">
                  <c:v>148.441</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36.578</c:v>
                </c:pt>
                <c:pt idx="1">
                  <c:v>42.037</c:v>
                </c:pt>
                <c:pt idx="2">
                  <c:v>37.745999999999995</c:v>
                </c:pt>
                <c:pt idx="3">
                  <c:v>32.08</c:v>
                </c:pt>
                <c:pt idx="4">
                  <c:v>24.523</c:v>
                </c:pt>
                <c:pt idx="5">
                  <c:v>172.964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177.178</c:v>
                </c:pt>
                <c:pt idx="2">
                  <c:v>230.893</c:v>
                </c:pt>
                <c:pt idx="3">
                  <c:v>280.709</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177.178</c:v>
                </c:pt>
                <c:pt idx="1">
                  <c:v>53.714999999999996</c:v>
                </c:pt>
                <c:pt idx="2">
                  <c:v>49.815999999999995</c:v>
                </c:pt>
                <c:pt idx="3">
                  <c:v>69.434</c:v>
                </c:pt>
                <c:pt idx="4">
                  <c:v>350.143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53.714999999999996</c:v>
                </c:pt>
                <c:pt idx="2">
                  <c:v>103.53099999999999</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53.714999999999996</c:v>
                </c:pt>
                <c:pt idx="1">
                  <c:v>49.815999999999995</c:v>
                </c:pt>
                <c:pt idx="2">
                  <c:v>69.434</c:v>
                </c:pt>
                <c:pt idx="3">
                  <c:v>172.96499999999997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177.17899999999997</c:v>
                </c:pt>
                <c:pt idx="2">
                  <c:v>203.03099999999998</c:v>
                </c:pt>
                <c:pt idx="3">
                  <c:v>231.57799999999997</c:v>
                </c:pt>
                <c:pt idx="4">
                  <c:v>263.549</c:v>
                </c:pt>
                <c:pt idx="5">
                  <c:v>286.851</c:v>
                </c:pt>
                <c:pt idx="6">
                  <c:v>323.882</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177.17899999999997</c:v>
                </c:pt>
                <c:pt idx="1">
                  <c:v>25.851999999999997</c:v>
                </c:pt>
                <c:pt idx="2">
                  <c:v>28.546999999999997</c:v>
                </c:pt>
                <c:pt idx="3">
                  <c:v>31.970999999999997</c:v>
                </c:pt>
                <c:pt idx="4">
                  <c:v>23.302</c:v>
                </c:pt>
                <c:pt idx="5">
                  <c:v>37.031000000000006</c:v>
                </c:pt>
                <c:pt idx="6">
                  <c:v>26.259999999999998</c:v>
                </c:pt>
                <c:pt idx="7">
                  <c:v>350.142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25.851999999999997</c:v>
                </c:pt>
                <c:pt idx="2">
                  <c:v>54.398999999999994</c:v>
                </c:pt>
                <c:pt idx="3">
                  <c:v>86.36999999999999</c:v>
                </c:pt>
                <c:pt idx="4">
                  <c:v>109.672</c:v>
                </c:pt>
                <c:pt idx="5">
                  <c:v>146.703</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25.851999999999997</c:v>
                </c:pt>
                <c:pt idx="1">
                  <c:v>28.546999999999997</c:v>
                </c:pt>
                <c:pt idx="2">
                  <c:v>31.970999999999997</c:v>
                </c:pt>
                <c:pt idx="3">
                  <c:v>23.302</c:v>
                </c:pt>
                <c:pt idx="4">
                  <c:v>37.031000000000006</c:v>
                </c:pt>
                <c:pt idx="5">
                  <c:v>26.259999999999998</c:v>
                </c:pt>
                <c:pt idx="6">
                  <c:v>172.963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177.179</c:v>
                </c:pt>
                <c:pt idx="2">
                  <c:v>196.239</c:v>
                </c:pt>
                <c:pt idx="3">
                  <c:v>227.478</c:v>
                </c:pt>
                <c:pt idx="4">
                  <c:v>248.393</c:v>
                </c:pt>
                <c:pt idx="5">
                  <c:v>271.709</c:v>
                </c:pt>
                <c:pt idx="6">
                  <c:v>305.25600000000003</c:v>
                </c:pt>
                <c:pt idx="7">
                  <c:v>321.463</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177.179</c:v>
                </c:pt>
                <c:pt idx="1">
                  <c:v>19.059999999999995</c:v>
                </c:pt>
                <c:pt idx="2">
                  <c:v>31.239</c:v>
                </c:pt>
                <c:pt idx="3">
                  <c:v>20.915</c:v>
                </c:pt>
                <c:pt idx="4">
                  <c:v>23.316</c:v>
                </c:pt>
                <c:pt idx="5">
                  <c:v>33.54700000000001</c:v>
                </c:pt>
                <c:pt idx="6">
                  <c:v>16.206999999999997</c:v>
                </c:pt>
                <c:pt idx="7">
                  <c:v>28.680999999999997</c:v>
                </c:pt>
                <c:pt idx="8">
                  <c:v>350.144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19.059999999999995</c:v>
                </c:pt>
                <c:pt idx="2">
                  <c:v>50.29899999999999</c:v>
                </c:pt>
                <c:pt idx="3">
                  <c:v>71.214</c:v>
                </c:pt>
                <c:pt idx="4">
                  <c:v>94.53</c:v>
                </c:pt>
                <c:pt idx="5">
                  <c:v>128.077</c:v>
                </c:pt>
                <c:pt idx="6">
                  <c:v>144.284</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19.059999999999995</c:v>
                </c:pt>
                <c:pt idx="1">
                  <c:v>31.239</c:v>
                </c:pt>
                <c:pt idx="2">
                  <c:v>20.915</c:v>
                </c:pt>
                <c:pt idx="3">
                  <c:v>23.316</c:v>
                </c:pt>
                <c:pt idx="4">
                  <c:v>33.54700000000001</c:v>
                </c:pt>
                <c:pt idx="5">
                  <c:v>16.206999999999997</c:v>
                </c:pt>
                <c:pt idx="6">
                  <c:v>28.680999999999997</c:v>
                </c:pt>
                <c:pt idx="7">
                  <c:v>172.96499999999997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177.178</c:v>
                </c:pt>
                <c:pt idx="2">
                  <c:v>206.599</c:v>
                </c:pt>
                <c:pt idx="3">
                  <c:v>241.28799999999998</c:v>
                </c:pt>
                <c:pt idx="4">
                  <c:v>278.289</c:v>
                </c:pt>
                <c:pt idx="5">
                  <c:v>316.14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177.178</c:v>
                </c:pt>
                <c:pt idx="1">
                  <c:v>29.421000000000006</c:v>
                </c:pt>
                <c:pt idx="2">
                  <c:v>34.689</c:v>
                </c:pt>
                <c:pt idx="3">
                  <c:v>37.001</c:v>
                </c:pt>
                <c:pt idx="4">
                  <c:v>37.851</c:v>
                </c:pt>
                <c:pt idx="5">
                  <c:v>34.004</c:v>
                </c:pt>
                <c:pt idx="6">
                  <c:v>350.144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29.421000000000006</c:v>
                </c:pt>
                <c:pt idx="2">
                  <c:v>64.11000000000001</c:v>
                </c:pt>
                <c:pt idx="3">
                  <c:v>101.11100000000002</c:v>
                </c:pt>
                <c:pt idx="4">
                  <c:v>138.96200000000002</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29.421000000000006</c:v>
                </c:pt>
                <c:pt idx="1">
                  <c:v>34.689</c:v>
                </c:pt>
                <c:pt idx="2">
                  <c:v>37.001</c:v>
                </c:pt>
                <c:pt idx="3">
                  <c:v>37.851</c:v>
                </c:pt>
                <c:pt idx="4">
                  <c:v>34.004</c:v>
                </c:pt>
                <c:pt idx="5">
                  <c:v>172.966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177.17700000000002</c:v>
                </c:pt>
                <c:pt idx="2">
                  <c:v>215.83200000000002</c:v>
                </c:pt>
                <c:pt idx="3">
                  <c:v>260.53700000000003</c:v>
                </c:pt>
                <c:pt idx="4">
                  <c:v>301.44000000000005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177.17700000000002</c:v>
                </c:pt>
                <c:pt idx="1">
                  <c:v>38.65500000000001</c:v>
                </c:pt>
                <c:pt idx="2">
                  <c:v>44.70499999999999</c:v>
                </c:pt>
                <c:pt idx="3">
                  <c:v>40.90299999999999</c:v>
                </c:pt>
                <c:pt idx="4">
                  <c:v>48.70399999999999</c:v>
                </c:pt>
                <c:pt idx="5">
                  <c:v>350.144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38.65500000000001</c:v>
                </c:pt>
                <c:pt idx="2">
                  <c:v>83.36</c:v>
                </c:pt>
                <c:pt idx="3">
                  <c:v>124.26299999999999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38.65500000000001</c:v>
                </c:pt>
                <c:pt idx="1">
                  <c:v>44.70499999999999</c:v>
                </c:pt>
                <c:pt idx="2">
                  <c:v>40.90299999999999</c:v>
                </c:pt>
                <c:pt idx="3">
                  <c:v>48.70399999999999</c:v>
                </c:pt>
                <c:pt idx="4">
                  <c:v>172.96699999999998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23.119999999999997</c:v>
                </c:pt>
                <c:pt idx="1">
                  <c:v>24.134999999999998</c:v>
                </c:pt>
                <c:pt idx="2">
                  <c:v>25.185000000000002</c:v>
                </c:pt>
                <c:pt idx="3">
                  <c:v>26.277</c:v>
                </c:pt>
                <c:pt idx="4">
                  <c:v>27.429000000000002</c:v>
                </c:pt>
                <c:pt idx="5">
                  <c:v>28.707</c:v>
                </c:pt>
                <c:pt idx="6">
                  <c:v>30.137</c:v>
                </c:pt>
                <c:pt idx="7">
                  <c:v>31.743</c:v>
                </c:pt>
                <c:pt idx="8">
                  <c:v>33.541</c:v>
                </c:pt>
                <c:pt idx="9">
                  <c:v>35.528</c:v>
                </c:pt>
                <c:pt idx="10">
                  <c:v>37.678</c:v>
                </c:pt>
                <c:pt idx="11">
                  <c:v>39.983</c:v>
                </c:pt>
                <c:pt idx="12">
                  <c:v>42.42400000000001</c:v>
                </c:pt>
                <c:pt idx="13">
                  <c:v>44.983000000000004</c:v>
                </c:pt>
                <c:pt idx="14">
                  <c:v>47.631</c:v>
                </c:pt>
                <c:pt idx="15">
                  <c:v>50.368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Belgium</c:v>
                </c:pt>
              </c:strCache>
            </c:strRef>
          </c:cat>
          <c:val>
            <c:numRef>
              <c:f>Sheet1!$B$2:$B$4</c:f>
              <c:numCache>
                <c:formatCode>General</c:formatCode>
                <c:ptCount val="3"/>
                <c:pt idx="0">
                  <c:v>0.05245930274733035</c:v>
                </c:pt>
                <c:pt idx="1">
                  <c:v>0.04646744386955093</c:v>
                </c:pt>
                <c:pt idx="2">
                  <c:v>0.05783197363405468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80731644059738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28.707</c:v>
                </c:pt>
                <c:pt idx="2">
                  <c:v>30.137</c:v>
                </c:pt>
                <c:pt idx="3">
                  <c:v>31.743</c:v>
                </c:pt>
                <c:pt idx="4">
                  <c:v>33.541</c:v>
                </c:pt>
                <c:pt idx="5">
                  <c:v>35.528</c:v>
                </c:pt>
                <c:pt idx="6">
                  <c:v>37.678</c:v>
                </c:pt>
                <c:pt idx="7">
                  <c:v>39.983</c:v>
                </c:pt>
                <c:pt idx="8">
                  <c:v>42.42400000000001</c:v>
                </c:pt>
                <c:pt idx="9">
                  <c:v>44.983000000000004</c:v>
                </c:pt>
                <c:pt idx="10">
                  <c:v>47.631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28.707</c:v>
                </c:pt>
                <c:pt idx="1">
                  <c:v>1.4299999999999997</c:v>
                </c:pt>
                <c:pt idx="2">
                  <c:v>1.605999999999998</c:v>
                </c:pt>
                <c:pt idx="3">
                  <c:v>1.7979999999999983</c:v>
                </c:pt>
                <c:pt idx="4">
                  <c:v>1.9870000000000019</c:v>
                </c:pt>
                <c:pt idx="5">
                  <c:v>2.1499999999999986</c:v>
                </c:pt>
                <c:pt idx="6">
                  <c:v>2.3049999999999997</c:v>
                </c:pt>
                <c:pt idx="7">
                  <c:v>2.4410000000000096</c:v>
                </c:pt>
                <c:pt idx="8">
                  <c:v>2.5589999999999975</c:v>
                </c:pt>
                <c:pt idx="9">
                  <c:v>2.647999999999996</c:v>
                </c:pt>
                <c:pt idx="10">
                  <c:v>2.737000000000002</c:v>
                </c:pt>
                <c:pt idx="11">
                  <c:v>50.368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Belgium</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2.1193751508856016</c:v>
                </c:pt>
                <c:pt idx="1">
                  <c:v>0.36286411233859334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97.8806248491144</c:v>
                </c:pt>
                <c:pt idx="1">
                  <c:v>99.6371358876614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49.150999999999996</c:v>
                </c:pt>
                <c:pt idx="1">
                  <c:v>51.565</c:v>
                </c:pt>
                <c:pt idx="2">
                  <c:v>54.095</c:v>
                </c:pt>
                <c:pt idx="3">
                  <c:v>56.766999999999996</c:v>
                </c:pt>
                <c:pt idx="4">
                  <c:v>59.620000000000005</c:v>
                </c:pt>
                <c:pt idx="5">
                  <c:v>63.042</c:v>
                </c:pt>
                <c:pt idx="6">
                  <c:v>66.935</c:v>
                </c:pt>
                <c:pt idx="7">
                  <c:v>71.386</c:v>
                </c:pt>
                <c:pt idx="8">
                  <c:v>76.46699999999998</c:v>
                </c:pt>
                <c:pt idx="9">
                  <c:v>82.214</c:v>
                </c:pt>
                <c:pt idx="10">
                  <c:v>88.597</c:v>
                </c:pt>
                <c:pt idx="11">
                  <c:v>95.64099999999999</c:v>
                </c:pt>
                <c:pt idx="12">
                  <c:v>103.29899999999999</c:v>
                </c:pt>
                <c:pt idx="13">
                  <c:v>111.58800000000001</c:v>
                </c:pt>
                <c:pt idx="14">
                  <c:v>120.47699999999999</c:v>
                </c:pt>
                <c:pt idx="15">
                  <c:v>129.99099999999999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Belgium</c:v>
                </c:pt>
              </c:strCache>
            </c:strRef>
          </c:cat>
          <c:val>
            <c:numRef>
              <c:f>Sheet1!$B$2:$B$4</c:f>
              <c:numCache>
                <c:formatCode>General</c:formatCode>
                <c:ptCount val="3"/>
                <c:pt idx="0">
                  <c:v>0.06658666629421717</c:v>
                </c:pt>
                <c:pt idx="1">
                  <c:v>0.06255449919419975</c:v>
                </c:pt>
                <c:pt idx="2">
                  <c:v>0.0750491749097717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131638612819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63.042</c:v>
                </c:pt>
                <c:pt idx="2">
                  <c:v>66.935</c:v>
                </c:pt>
                <c:pt idx="3">
                  <c:v>71.386</c:v>
                </c:pt>
                <c:pt idx="4">
                  <c:v>76.46699999999998</c:v>
                </c:pt>
                <c:pt idx="5">
                  <c:v>82.214</c:v>
                </c:pt>
                <c:pt idx="6">
                  <c:v>88.597</c:v>
                </c:pt>
                <c:pt idx="7">
                  <c:v>95.64099999999999</c:v>
                </c:pt>
                <c:pt idx="8">
                  <c:v>103.29899999999999</c:v>
                </c:pt>
                <c:pt idx="9">
                  <c:v>111.58800000000001</c:v>
                </c:pt>
                <c:pt idx="10">
                  <c:v>120.47699999999999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63.042</c:v>
                </c:pt>
                <c:pt idx="1">
                  <c:v>3.8930000000000007</c:v>
                </c:pt>
                <c:pt idx="2">
                  <c:v>4.450999999999993</c:v>
                </c:pt>
                <c:pt idx="3">
                  <c:v>5.080999999999989</c:v>
                </c:pt>
                <c:pt idx="4">
                  <c:v>5.747000000000014</c:v>
                </c:pt>
                <c:pt idx="5">
                  <c:v>6.382999999999996</c:v>
                </c:pt>
                <c:pt idx="6">
                  <c:v>7.043999999999997</c:v>
                </c:pt>
                <c:pt idx="7">
                  <c:v>7.658000000000001</c:v>
                </c:pt>
                <c:pt idx="8">
                  <c:v>8.289000000000016</c:v>
                </c:pt>
                <c:pt idx="9">
                  <c:v>8.888999999999982</c:v>
                </c:pt>
                <c:pt idx="10">
                  <c:v>9.513999999999996</c:v>
                </c:pt>
                <c:pt idx="11">
                  <c:v>129.99099999999999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Belgium</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2.242706986678658</c:v>
                </c:pt>
                <c:pt idx="1">
                  <c:v>0.3914104036366237</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97.75729301332134</c:v>
                </c:pt>
                <c:pt idx="1">
                  <c:v>99.60858959636337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Waxes, Clays, Pastes…</c:v>
                </c:pt>
                <c:pt idx="7">
                  <c:v>Serums and Oils</c:v>
                </c:pt>
              </c:strCache>
            </c:strRef>
          </c:cat>
          <c:val>
            <c:numRef>
              <c:f>Sheet1!$B$2:$B$9</c:f>
              <c:numCache>
                <c:formatCode>General</c:formatCode>
                <c:ptCount val="8"/>
                <c:pt idx="0">
                  <c:v>4.994999999999999</c:v>
                </c:pt>
                <c:pt idx="1">
                  <c:v>5.649</c:v>
                </c:pt>
                <c:pt idx="2">
                  <c:v>6.471</c:v>
                </c:pt>
                <c:pt idx="3">
                  <c:v>7.083</c:v>
                </c:pt>
                <c:pt idx="4">
                  <c:v>8.364</c:v>
                </c:pt>
                <c:pt idx="5">
                  <c:v>9.017</c:v>
                </c:pt>
                <c:pt idx="6">
                  <c:v>10.214</c:v>
                </c:pt>
                <c:pt idx="7">
                  <c:v>11.249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5.07366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11.163</c:v>
                </c:pt>
                <c:pt idx="4">
                  <c:v>11.948</c:v>
                </c:pt>
                <c:pt idx="5">
                  <c:v>12.722</c:v>
                </c:pt>
                <c:pt idx="6">
                  <c:v>13.206</c:v>
                </c:pt>
                <c:pt idx="7">
                  <c:v>14.003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8.76402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20.144</c:v>
                </c:pt>
                <c:pt idx="6">
                  <c:v>20.34</c:v>
                </c:pt>
                <c:pt idx="7">
                  <c:v>22.558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0.2277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Beauty Specialty Reta…</c:v>
                </c:pt>
                <c:pt idx="4">
                  <c:v>Pharmacies and Drugst…</c:v>
                </c:pt>
                <c:pt idx="5">
                  <c:v>Salon and Professiona…</c:v>
                </c:pt>
                <c:pt idx="6">
                  <c:v>Online Marketplaces</c:v>
                </c:pt>
                <c:pt idx="7">
                  <c:v>Mass Retail</c:v>
                </c:pt>
              </c:strCache>
            </c:strRef>
          </c:cat>
          <c:val>
            <c:numRef>
              <c:f>Sheet1!$B$2:$B$9</c:f>
              <c:numCache>
                <c:formatCode>General</c:formatCode>
                <c:ptCount val="8"/>
                <c:pt idx="2">
                  <c:v>7.769</c:v>
                </c:pt>
                <c:pt idx="3">
                  <c:v>9.799</c:v>
                </c:pt>
                <c:pt idx="4">
                  <c:v>10.472</c:v>
                </c:pt>
                <c:pt idx="5">
                  <c:v>10.985</c:v>
                </c:pt>
                <c:pt idx="6">
                  <c:v>11.859</c:v>
                </c:pt>
                <c:pt idx="7">
                  <c:v>12.158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6.2917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7.451</c:v>
                </c:pt>
                <c:pt idx="2">
                  <c:v>8.759</c:v>
                </c:pt>
                <c:pt idx="3">
                  <c:v>8.916</c:v>
                </c:pt>
                <c:pt idx="4">
                  <c:v>8.926</c:v>
                </c:pt>
                <c:pt idx="5">
                  <c:v>8.964</c:v>
                </c:pt>
                <c:pt idx="6">
                  <c:v>9.953</c:v>
                </c:pt>
                <c:pt idx="7">
                  <c:v>10.073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4978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11.334</c:v>
                </c:pt>
                <c:pt idx="4">
                  <c:v>11.952</c:v>
                </c:pt>
                <c:pt idx="5">
                  <c:v>12.764</c:v>
                </c:pt>
                <c:pt idx="6">
                  <c:v>13.256</c:v>
                </c:pt>
                <c:pt idx="7">
                  <c:v>13.736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8.4062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15.088000000000001</c:v>
                </c:pt>
                <c:pt idx="5">
                  <c:v>15.728</c:v>
                </c:pt>
                <c:pt idx="6">
                  <c:v>15.847</c:v>
                </c:pt>
                <c:pt idx="7">
                  <c:v>16.38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1.949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63.042</c:v>
                </c:pt>
                <c:pt idx="2">
                  <c:v>69.593</c:v>
                </c:pt>
                <c:pt idx="3">
                  <c:v>73.461</c:v>
                </c:pt>
                <c:pt idx="4">
                  <c:v>78.676</c:v>
                </c:pt>
                <c:pt idx="5">
                  <c:v>86.812</c:v>
                </c:pt>
                <c:pt idx="6">
                  <c:v>97.01899999999999</c:v>
                </c:pt>
                <c:pt idx="7">
                  <c:v>105.389</c:v>
                </c:pt>
                <c:pt idx="8">
                  <c:v>117.64</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63.042</c:v>
                </c:pt>
                <c:pt idx="1">
                  <c:v>6.551</c:v>
                </c:pt>
                <c:pt idx="2">
                  <c:v>3.8680000000000003</c:v>
                </c:pt>
                <c:pt idx="3">
                  <c:v>5.215000000000001</c:v>
                </c:pt>
                <c:pt idx="4">
                  <c:v>8.136</c:v>
                </c:pt>
                <c:pt idx="5">
                  <c:v>10.206999999999999</c:v>
                </c:pt>
                <c:pt idx="6">
                  <c:v>8.37</c:v>
                </c:pt>
                <c:pt idx="7">
                  <c:v>12.251</c:v>
                </c:pt>
                <c:pt idx="8">
                  <c:v>12.350999999999999</c:v>
                </c:pt>
                <c:pt idx="9">
                  <c:v>129.99099999999999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6.551</c:v>
                </c:pt>
                <c:pt idx="2">
                  <c:v>10.419</c:v>
                </c:pt>
                <c:pt idx="3">
                  <c:v>15.634</c:v>
                </c:pt>
                <c:pt idx="4">
                  <c:v>23.77</c:v>
                </c:pt>
                <c:pt idx="5">
                  <c:v>33.977</c:v>
                </c:pt>
                <c:pt idx="6">
                  <c:v>42.346999999999994</c:v>
                </c:pt>
                <c:pt idx="7">
                  <c:v>54.59799999999999</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6.551</c:v>
                </c:pt>
                <c:pt idx="1">
                  <c:v>3.8680000000000003</c:v>
                </c:pt>
                <c:pt idx="2">
                  <c:v>5.215000000000001</c:v>
                </c:pt>
                <c:pt idx="3">
                  <c:v>8.136</c:v>
                </c:pt>
                <c:pt idx="4">
                  <c:v>10.206999999999999</c:v>
                </c:pt>
                <c:pt idx="5">
                  <c:v>8.37</c:v>
                </c:pt>
                <c:pt idx="6">
                  <c:v>12.251</c:v>
                </c:pt>
                <c:pt idx="7">
                  <c:v>12.350999999999999</c:v>
                </c:pt>
                <c:pt idx="8">
                  <c:v>66.949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63.042</c:v>
                </c:pt>
                <c:pt idx="2">
                  <c:v>77.147</c:v>
                </c:pt>
                <c:pt idx="3">
                  <c:v>93.297</c:v>
                </c:pt>
                <c:pt idx="4">
                  <c:v>107.91199999999999</c:v>
                </c:pt>
                <c:pt idx="5">
                  <c:v>120.39399999999999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63.042</c:v>
                </c:pt>
                <c:pt idx="1">
                  <c:v>14.105</c:v>
                </c:pt>
                <c:pt idx="2">
                  <c:v>16.15</c:v>
                </c:pt>
                <c:pt idx="3">
                  <c:v>14.614999999999998</c:v>
                </c:pt>
                <c:pt idx="4">
                  <c:v>12.482</c:v>
                </c:pt>
                <c:pt idx="5">
                  <c:v>9.597000000000001</c:v>
                </c:pt>
                <c:pt idx="6">
                  <c:v>129.99099999999999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14.105</c:v>
                </c:pt>
                <c:pt idx="2">
                  <c:v>30.255</c:v>
                </c:pt>
                <c:pt idx="3">
                  <c:v>44.87</c:v>
                </c:pt>
                <c:pt idx="4">
                  <c:v>57.352</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14.105</c:v>
                </c:pt>
                <c:pt idx="1">
                  <c:v>16.15</c:v>
                </c:pt>
                <c:pt idx="2">
                  <c:v>14.614999999999998</c:v>
                </c:pt>
                <c:pt idx="3">
                  <c:v>12.482</c:v>
                </c:pt>
                <c:pt idx="4">
                  <c:v>9.597000000000001</c:v>
                </c:pt>
                <c:pt idx="5">
                  <c:v>66.949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63.041999999999994</c:v>
                </c:pt>
                <c:pt idx="2">
                  <c:v>84.47</c:v>
                </c:pt>
                <c:pt idx="3">
                  <c:v>106.00200000000001</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63.041999999999994</c:v>
                </c:pt>
                <c:pt idx="1">
                  <c:v>21.428</c:v>
                </c:pt>
                <c:pt idx="2">
                  <c:v>21.532000000000004</c:v>
                </c:pt>
                <c:pt idx="3">
                  <c:v>23.989000000000004</c:v>
                </c:pt>
                <c:pt idx="4">
                  <c:v>129.991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21.428</c:v>
                </c:pt>
                <c:pt idx="2">
                  <c:v>42.96000000000001</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21.428</c:v>
                </c:pt>
                <c:pt idx="1">
                  <c:v>21.532000000000004</c:v>
                </c:pt>
                <c:pt idx="2">
                  <c:v>23.989000000000004</c:v>
                </c:pt>
                <c:pt idx="3">
                  <c:v>66.94900000000001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63.042</c:v>
                </c:pt>
                <c:pt idx="2">
                  <c:v>73.028</c:v>
                </c:pt>
                <c:pt idx="3">
                  <c:v>83.79400000000001</c:v>
                </c:pt>
                <c:pt idx="4">
                  <c:v>94.86600000000001</c:v>
                </c:pt>
                <c:pt idx="5">
                  <c:v>104.48500000000001</c:v>
                </c:pt>
                <c:pt idx="6">
                  <c:v>120.31900000000002</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63.042</c:v>
                </c:pt>
                <c:pt idx="1">
                  <c:v>9.985999999999999</c:v>
                </c:pt>
                <c:pt idx="2">
                  <c:v>10.766000000000002</c:v>
                </c:pt>
                <c:pt idx="3">
                  <c:v>11.072</c:v>
                </c:pt>
                <c:pt idx="4">
                  <c:v>9.619000000000002</c:v>
                </c:pt>
                <c:pt idx="5">
                  <c:v>15.834000000000001</c:v>
                </c:pt>
                <c:pt idx="6">
                  <c:v>9.671000000000001</c:v>
                </c:pt>
                <c:pt idx="7">
                  <c:v>129.99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9.985999999999999</c:v>
                </c:pt>
                <c:pt idx="2">
                  <c:v>20.752000000000002</c:v>
                </c:pt>
                <c:pt idx="3">
                  <c:v>31.824</c:v>
                </c:pt>
                <c:pt idx="4">
                  <c:v>41.443000000000005</c:v>
                </c:pt>
                <c:pt idx="5">
                  <c:v>57.27700000000001</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9.985999999999999</c:v>
                </c:pt>
                <c:pt idx="1">
                  <c:v>10.766000000000002</c:v>
                </c:pt>
                <c:pt idx="2">
                  <c:v>11.072</c:v>
                </c:pt>
                <c:pt idx="3">
                  <c:v>9.619000000000002</c:v>
                </c:pt>
                <c:pt idx="4">
                  <c:v>15.834000000000001</c:v>
                </c:pt>
                <c:pt idx="5">
                  <c:v>9.671000000000001</c:v>
                </c:pt>
                <c:pt idx="6">
                  <c:v>66.94800000000001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63.041999999999994</c:v>
                </c:pt>
                <c:pt idx="2">
                  <c:v>70.76499999999999</c:v>
                </c:pt>
                <c:pt idx="3">
                  <c:v>83.10299999999998</c:v>
                </c:pt>
                <c:pt idx="4">
                  <c:v>91.50099999999998</c:v>
                </c:pt>
                <c:pt idx="5">
                  <c:v>100.81599999999997</c:v>
                </c:pt>
                <c:pt idx="6">
                  <c:v>112.52999999999997</c:v>
                </c:pt>
                <c:pt idx="7">
                  <c:v>118.94499999999998</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63.041999999999994</c:v>
                </c:pt>
                <c:pt idx="1">
                  <c:v>7.722999999999999</c:v>
                </c:pt>
                <c:pt idx="2">
                  <c:v>12.338</c:v>
                </c:pt>
                <c:pt idx="3">
                  <c:v>8.398</c:v>
                </c:pt>
                <c:pt idx="4">
                  <c:v>9.315</c:v>
                </c:pt>
                <c:pt idx="5">
                  <c:v>11.714000000000002</c:v>
                </c:pt>
                <c:pt idx="6">
                  <c:v>6.415</c:v>
                </c:pt>
                <c:pt idx="7">
                  <c:v>11.044</c:v>
                </c:pt>
                <c:pt idx="8">
                  <c:v>129.989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7.722999999999999</c:v>
                </c:pt>
                <c:pt idx="2">
                  <c:v>20.061</c:v>
                </c:pt>
                <c:pt idx="3">
                  <c:v>28.459</c:v>
                </c:pt>
                <c:pt idx="4">
                  <c:v>37.774</c:v>
                </c:pt>
                <c:pt idx="5">
                  <c:v>49.488</c:v>
                </c:pt>
                <c:pt idx="6">
                  <c:v>55.903</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7.722999999999999</c:v>
                </c:pt>
                <c:pt idx="1">
                  <c:v>12.338</c:v>
                </c:pt>
                <c:pt idx="2">
                  <c:v>8.398</c:v>
                </c:pt>
                <c:pt idx="3">
                  <c:v>9.315</c:v>
                </c:pt>
                <c:pt idx="4">
                  <c:v>11.714000000000002</c:v>
                </c:pt>
                <c:pt idx="5">
                  <c:v>6.415</c:v>
                </c:pt>
                <c:pt idx="6">
                  <c:v>11.044</c:v>
                </c:pt>
                <c:pt idx="7">
                  <c:v>66.947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63.042</c:v>
                </c:pt>
                <c:pt idx="2">
                  <c:v>74.546</c:v>
                </c:pt>
                <c:pt idx="3">
                  <c:v>87.971</c:v>
                </c:pt>
                <c:pt idx="4">
                  <c:v>102.232</c:v>
                </c:pt>
                <c:pt idx="5">
                  <c:v>116.767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63.042</c:v>
                </c:pt>
                <c:pt idx="1">
                  <c:v>11.504000000000001</c:v>
                </c:pt>
                <c:pt idx="2">
                  <c:v>13.425</c:v>
                </c:pt>
                <c:pt idx="3">
                  <c:v>14.261000000000001</c:v>
                </c:pt>
                <c:pt idx="4">
                  <c:v>14.535</c:v>
                </c:pt>
                <c:pt idx="5">
                  <c:v>13.222999999999999</c:v>
                </c:pt>
                <c:pt idx="6">
                  <c:v>129.99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11.504000000000001</c:v>
                </c:pt>
                <c:pt idx="2">
                  <c:v>24.929000000000002</c:v>
                </c:pt>
                <c:pt idx="3">
                  <c:v>39.190000000000005</c:v>
                </c:pt>
                <c:pt idx="4">
                  <c:v>53.72500000000001</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11.504000000000001</c:v>
                </c:pt>
                <c:pt idx="1">
                  <c:v>13.425</c:v>
                </c:pt>
                <c:pt idx="2">
                  <c:v>14.261000000000001</c:v>
                </c:pt>
                <c:pt idx="3">
                  <c:v>14.535</c:v>
                </c:pt>
                <c:pt idx="4">
                  <c:v>13.222999999999999</c:v>
                </c:pt>
                <c:pt idx="5">
                  <c:v>66.94800000000001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63.043</c:v>
                </c:pt>
                <c:pt idx="2">
                  <c:v>78.334</c:v>
                </c:pt>
                <c:pt idx="3">
                  <c:v>96.438</c:v>
                </c:pt>
                <c:pt idx="4">
                  <c:v>112.0</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63.043</c:v>
                </c:pt>
                <c:pt idx="1">
                  <c:v>15.291</c:v>
                </c:pt>
                <c:pt idx="2">
                  <c:v>18.104</c:v>
                </c:pt>
                <c:pt idx="3">
                  <c:v>15.562</c:v>
                </c:pt>
                <c:pt idx="4">
                  <c:v>17.990000000000002</c:v>
                </c:pt>
                <c:pt idx="5">
                  <c:v>129.99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15.291</c:v>
                </c:pt>
                <c:pt idx="2">
                  <c:v>33.394999999999996</c:v>
                </c:pt>
                <c:pt idx="3">
                  <c:v>48.956999999999994</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15.291</c:v>
                </c:pt>
                <c:pt idx="1">
                  <c:v>18.104</c:v>
                </c:pt>
                <c:pt idx="2">
                  <c:v>15.562</c:v>
                </c:pt>
                <c:pt idx="3">
                  <c:v>17.990000000000002</c:v>
                </c:pt>
                <c:pt idx="4">
                  <c:v>66.947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36.203</c:v>
                </c:pt>
                <c:pt idx="1">
                  <c:v>37.827</c:v>
                </c:pt>
                <c:pt idx="2">
                  <c:v>39.515</c:v>
                </c:pt>
                <c:pt idx="3">
                  <c:v>41.257999999999996</c:v>
                </c:pt>
                <c:pt idx="4">
                  <c:v>43.101</c:v>
                </c:pt>
                <c:pt idx="5">
                  <c:v>45.147999999999996</c:v>
                </c:pt>
                <c:pt idx="6">
                  <c:v>47.436</c:v>
                </c:pt>
                <c:pt idx="7">
                  <c:v>50.009</c:v>
                </c:pt>
                <c:pt idx="8">
                  <c:v>52.889</c:v>
                </c:pt>
                <c:pt idx="9">
                  <c:v>56.071</c:v>
                </c:pt>
                <c:pt idx="10">
                  <c:v>59.514</c:v>
                </c:pt>
                <c:pt idx="11">
                  <c:v>63.209</c:v>
                </c:pt>
                <c:pt idx="12">
                  <c:v>67.119</c:v>
                </c:pt>
                <c:pt idx="13">
                  <c:v>71.22399999999999</c:v>
                </c:pt>
                <c:pt idx="14">
                  <c:v>75.476</c:v>
                </c:pt>
                <c:pt idx="15">
                  <c:v>79.871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Netherlands</c:v>
                </c:pt>
              </c:strCache>
            </c:strRef>
          </c:cat>
          <c:val>
            <c:numRef>
              <c:f>Sheet1!$B$2:$B$4</c:f>
              <c:numCache>
                <c:formatCode>General</c:formatCode>
                <c:ptCount val="3"/>
                <c:pt idx="0">
                  <c:v>0.05245930274733035</c:v>
                </c:pt>
                <c:pt idx="1">
                  <c:v>0.04646744386955093</c:v>
                </c:pt>
                <c:pt idx="2">
                  <c:v>0.0587052350124766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92520672668434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45.147999999999996</c:v>
                </c:pt>
                <c:pt idx="2">
                  <c:v>47.436</c:v>
                </c:pt>
                <c:pt idx="3">
                  <c:v>50.009</c:v>
                </c:pt>
                <c:pt idx="4">
                  <c:v>52.889</c:v>
                </c:pt>
                <c:pt idx="5">
                  <c:v>56.071</c:v>
                </c:pt>
                <c:pt idx="6">
                  <c:v>59.514</c:v>
                </c:pt>
                <c:pt idx="7">
                  <c:v>63.209</c:v>
                </c:pt>
                <c:pt idx="8">
                  <c:v>67.119</c:v>
                </c:pt>
                <c:pt idx="9">
                  <c:v>71.22399999999999</c:v>
                </c:pt>
                <c:pt idx="10">
                  <c:v>75.476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45.147999999999996</c:v>
                </c:pt>
                <c:pt idx="1">
                  <c:v>2.288000000000004</c:v>
                </c:pt>
                <c:pt idx="2">
                  <c:v>2.5730000000000004</c:v>
                </c:pt>
                <c:pt idx="3">
                  <c:v>2.8800000000000026</c:v>
                </c:pt>
                <c:pt idx="4">
                  <c:v>3.181999999999995</c:v>
                </c:pt>
                <c:pt idx="5">
                  <c:v>3.443000000000005</c:v>
                </c:pt>
                <c:pt idx="6">
                  <c:v>3.6950000000000003</c:v>
                </c:pt>
                <c:pt idx="7">
                  <c:v>3.9099999999999966</c:v>
                </c:pt>
                <c:pt idx="8">
                  <c:v>4.10499999999999</c:v>
                </c:pt>
                <c:pt idx="9">
                  <c:v>4.2520000000000095</c:v>
                </c:pt>
                <c:pt idx="10">
                  <c:v>4.394999999999996</c:v>
                </c:pt>
                <c:pt idx="11">
                  <c:v>79.871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Netherlands</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3.3331782949170288</c:v>
                </c:pt>
                <c:pt idx="1">
                  <c:v>0.5706827235121332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96.66682170508297</c:v>
                </c:pt>
                <c:pt idx="1">
                  <c:v>99.42931727648786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78.32300000000001</c:v>
                </c:pt>
                <c:pt idx="1">
                  <c:v>82.328</c:v>
                </c:pt>
                <c:pt idx="2">
                  <c:v>86.533</c:v>
                </c:pt>
                <c:pt idx="3">
                  <c:v>90.988</c:v>
                </c:pt>
                <c:pt idx="4">
                  <c:v>95.739</c:v>
                </c:pt>
                <c:pt idx="5">
                  <c:v>101.453</c:v>
                </c:pt>
                <c:pt idx="6">
                  <c:v>107.951</c:v>
                </c:pt>
                <c:pt idx="7">
                  <c:v>115.379</c:v>
                </c:pt>
                <c:pt idx="8">
                  <c:v>123.869</c:v>
                </c:pt>
                <c:pt idx="9">
                  <c:v>133.46499999999997</c:v>
                </c:pt>
                <c:pt idx="10">
                  <c:v>144.172</c:v>
                </c:pt>
                <c:pt idx="11">
                  <c:v>156.014</c:v>
                </c:pt>
                <c:pt idx="12">
                  <c:v>168.93</c:v>
                </c:pt>
                <c:pt idx="13">
                  <c:v>182.94299999999998</c:v>
                </c:pt>
                <c:pt idx="14">
                  <c:v>198.043</c:v>
                </c:pt>
                <c:pt idx="15">
                  <c:v>214.26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Netherlands</c:v>
                </c:pt>
              </c:strCache>
            </c:strRef>
          </c:cat>
          <c:val>
            <c:numRef>
              <c:f>Sheet1!$B$2:$B$4</c:f>
              <c:numCache>
                <c:formatCode>General</c:formatCode>
                <c:ptCount val="3"/>
                <c:pt idx="0">
                  <c:v>0.06658666629421717</c:v>
                </c:pt>
                <c:pt idx="1">
                  <c:v>0.06255449919419975</c:v>
                </c:pt>
                <c:pt idx="2">
                  <c:v>0.0776249071413746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47936246408557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101.453</c:v>
                </c:pt>
                <c:pt idx="2">
                  <c:v>107.951</c:v>
                </c:pt>
                <c:pt idx="3">
                  <c:v>115.379</c:v>
                </c:pt>
                <c:pt idx="4">
                  <c:v>123.869</c:v>
                </c:pt>
                <c:pt idx="5">
                  <c:v>133.46499999999997</c:v>
                </c:pt>
                <c:pt idx="6">
                  <c:v>144.172</c:v>
                </c:pt>
                <c:pt idx="7">
                  <c:v>156.014</c:v>
                </c:pt>
                <c:pt idx="8">
                  <c:v>168.93</c:v>
                </c:pt>
                <c:pt idx="9">
                  <c:v>182.94299999999998</c:v>
                </c:pt>
                <c:pt idx="10">
                  <c:v>198.043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101.453</c:v>
                </c:pt>
                <c:pt idx="1">
                  <c:v>6.4979999999999905</c:v>
                </c:pt>
                <c:pt idx="2">
                  <c:v>7.4280000000000115</c:v>
                </c:pt>
                <c:pt idx="3">
                  <c:v>8.489999999999995</c:v>
                </c:pt>
                <c:pt idx="4">
                  <c:v>9.595999999999975</c:v>
                </c:pt>
                <c:pt idx="5">
                  <c:v>10.707000000000022</c:v>
                </c:pt>
                <c:pt idx="6">
                  <c:v>11.842000000000013</c:v>
                </c:pt>
                <c:pt idx="7">
                  <c:v>12.915999999999997</c:v>
                </c:pt>
                <c:pt idx="8">
                  <c:v>14.012999999999977</c:v>
                </c:pt>
                <c:pt idx="9">
                  <c:v>15.100000000000023</c:v>
                </c:pt>
                <c:pt idx="10">
                  <c:v>16.216999999999985</c:v>
                </c:pt>
                <c:pt idx="11">
                  <c:v>214.26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Netherlands</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3.6091709006616206</c:v>
                </c:pt>
                <c:pt idx="1">
                  <c:v>0.6298937165722278</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96.39082909933838</c:v>
                </c:pt>
                <c:pt idx="1">
                  <c:v>99.37010628342777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Waxes, Clays, Pastes…</c:v>
                </c:pt>
                <c:pt idx="7">
                  <c:v>Serums and Oils</c:v>
                </c:pt>
              </c:strCache>
            </c:strRef>
          </c:cat>
          <c:val>
            <c:numRef>
              <c:f>Sheet1!$B$2:$B$9</c:f>
              <c:numCache>
                <c:formatCode>General</c:formatCode>
                <c:ptCount val="8"/>
                <c:pt idx="0">
                  <c:v>7.48</c:v>
                </c:pt>
                <c:pt idx="1">
                  <c:v>9.141</c:v>
                </c:pt>
                <c:pt idx="2">
                  <c:v>10.447</c:v>
                </c:pt>
                <c:pt idx="3">
                  <c:v>11.567</c:v>
                </c:pt>
                <c:pt idx="4">
                  <c:v>13.352</c:v>
                </c:pt>
                <c:pt idx="5">
                  <c:v>14.374</c:v>
                </c:pt>
                <c:pt idx="6">
                  <c:v>16.624</c:v>
                </c:pt>
                <c:pt idx="7">
                  <c:v>18.468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4.74712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17.966</c:v>
                </c:pt>
                <c:pt idx="4">
                  <c:v>19.224</c:v>
                </c:pt>
                <c:pt idx="5">
                  <c:v>20.473</c:v>
                </c:pt>
                <c:pt idx="6">
                  <c:v>21.254</c:v>
                </c:pt>
                <c:pt idx="7">
                  <c:v>22.536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0.19824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Natural</c:v>
                </c:pt>
                <c:pt idx="7">
                  <c:v>Matte</c:v>
                </c:pt>
              </c:strCache>
            </c:strRef>
          </c:cat>
          <c:val>
            <c:numRef>
              <c:f>Sheet1!$B$2:$B$9</c:f>
              <c:numCache>
                <c:formatCode>General</c:formatCode>
                <c:ptCount val="8"/>
                <c:pt idx="5">
                  <c:v>32.105</c:v>
                </c:pt>
                <c:pt idx="6">
                  <c:v>33.456</c:v>
                </c:pt>
                <c:pt idx="7">
                  <c:v>35.893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8.0966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Salon and Professiona…</c:v>
                </c:pt>
                <c:pt idx="6">
                  <c:v>Mass Retail</c:v>
                </c:pt>
                <c:pt idx="7">
                  <c:v>Online Marketplaces</c:v>
                </c:pt>
              </c:strCache>
            </c:strRef>
          </c:cat>
          <c:val>
            <c:numRef>
              <c:f>Sheet1!$B$2:$B$9</c:f>
              <c:numCache>
                <c:formatCode>General</c:formatCode>
                <c:ptCount val="8"/>
                <c:pt idx="2">
                  <c:v>13.902</c:v>
                </c:pt>
                <c:pt idx="3">
                  <c:v>15.059</c:v>
                </c:pt>
                <c:pt idx="4">
                  <c:v>15.184</c:v>
                </c:pt>
                <c:pt idx="5">
                  <c:v>17.243</c:v>
                </c:pt>
                <c:pt idx="6">
                  <c:v>18.926</c:v>
                </c:pt>
                <c:pt idx="7">
                  <c:v>21.138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8.32492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11.992</c:v>
                </c:pt>
                <c:pt idx="2">
                  <c:v>14.096</c:v>
                </c:pt>
                <c:pt idx="3">
                  <c:v>14.349</c:v>
                </c:pt>
                <c:pt idx="4">
                  <c:v>14.365</c:v>
                </c:pt>
                <c:pt idx="5">
                  <c:v>14.425</c:v>
                </c:pt>
                <c:pt idx="6">
                  <c:v>16.015</c:v>
                </c:pt>
                <c:pt idx="7">
                  <c:v>16.212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1.7240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18.238</c:v>
                </c:pt>
                <c:pt idx="4">
                  <c:v>19.23</c:v>
                </c:pt>
                <c:pt idx="5">
                  <c:v>20.543</c:v>
                </c:pt>
                <c:pt idx="6">
                  <c:v>21.335</c:v>
                </c:pt>
                <c:pt idx="7">
                  <c:v>22.107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9.6233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24.239</c:v>
                </c:pt>
                <c:pt idx="5">
                  <c:v>25.323999999999998</c:v>
                </c:pt>
                <c:pt idx="6">
                  <c:v>25.559</c:v>
                </c:pt>
                <c:pt idx="7">
                  <c:v>26.33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5.282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101.453</c:v>
                </c:pt>
                <c:pt idx="2">
                  <c:v>112.775</c:v>
                </c:pt>
                <c:pt idx="3">
                  <c:v>118.33000000000001</c:v>
                </c:pt>
                <c:pt idx="4">
                  <c:v>126.45100000000001</c:v>
                </c:pt>
                <c:pt idx="5">
                  <c:v>141.098</c:v>
                </c:pt>
                <c:pt idx="6">
                  <c:v>156.905</c:v>
                </c:pt>
                <c:pt idx="7">
                  <c:v>170.34300000000002</c:v>
                </c:pt>
                <c:pt idx="8">
                  <c:v>194.257</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101.453</c:v>
                </c:pt>
                <c:pt idx="1">
                  <c:v>11.322000000000001</c:v>
                </c:pt>
                <c:pt idx="2">
                  <c:v>5.555</c:v>
                </c:pt>
                <c:pt idx="3">
                  <c:v>8.121</c:v>
                </c:pt>
                <c:pt idx="4">
                  <c:v>14.646999999999998</c:v>
                </c:pt>
                <c:pt idx="5">
                  <c:v>15.806999999999999</c:v>
                </c:pt>
                <c:pt idx="6">
                  <c:v>13.438000000000002</c:v>
                </c:pt>
                <c:pt idx="7">
                  <c:v>23.913999999999998</c:v>
                </c:pt>
                <c:pt idx="8">
                  <c:v>20.002999999999997</c:v>
                </c:pt>
                <c:pt idx="9">
                  <c:v>214.26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11.322000000000001</c:v>
                </c:pt>
                <c:pt idx="2">
                  <c:v>16.877000000000002</c:v>
                </c:pt>
                <c:pt idx="3">
                  <c:v>24.998000000000005</c:v>
                </c:pt>
                <c:pt idx="4">
                  <c:v>39.645</c:v>
                </c:pt>
                <c:pt idx="5">
                  <c:v>55.452</c:v>
                </c:pt>
                <c:pt idx="6">
                  <c:v>68.89</c:v>
                </c:pt>
                <c:pt idx="7">
                  <c:v>92.804</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11.322000000000001</c:v>
                </c:pt>
                <c:pt idx="1">
                  <c:v>5.555</c:v>
                </c:pt>
                <c:pt idx="2">
                  <c:v>8.121</c:v>
                </c:pt>
                <c:pt idx="3">
                  <c:v>14.646999999999998</c:v>
                </c:pt>
                <c:pt idx="4">
                  <c:v>15.806999999999999</c:v>
                </c:pt>
                <c:pt idx="5">
                  <c:v>13.438000000000002</c:v>
                </c:pt>
                <c:pt idx="6">
                  <c:v>23.913999999999998</c:v>
                </c:pt>
                <c:pt idx="7">
                  <c:v>20.002999999999997</c:v>
                </c:pt>
                <c:pt idx="8">
                  <c:v>112.80699999999999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101.453</c:v>
                </c:pt>
                <c:pt idx="2">
                  <c:v>125.169</c:v>
                </c:pt>
                <c:pt idx="3">
                  <c:v>152.28</c:v>
                </c:pt>
                <c:pt idx="4">
                  <c:v>176.915</c:v>
                </c:pt>
                <c:pt idx="5">
                  <c:v>198.004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101.453</c:v>
                </c:pt>
                <c:pt idx="1">
                  <c:v>23.715999999999998</c:v>
                </c:pt>
                <c:pt idx="2">
                  <c:v>27.111000000000004</c:v>
                </c:pt>
                <c:pt idx="3">
                  <c:v>24.634999999999998</c:v>
                </c:pt>
                <c:pt idx="4">
                  <c:v>21.089000000000002</c:v>
                </c:pt>
                <c:pt idx="5">
                  <c:v>16.254999999999995</c:v>
                </c:pt>
                <c:pt idx="6">
                  <c:v>214.25900000000001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23.715999999999998</c:v>
                </c:pt>
                <c:pt idx="2">
                  <c:v>50.827</c:v>
                </c:pt>
                <c:pt idx="3">
                  <c:v>75.46199999999999</c:v>
                </c:pt>
                <c:pt idx="4">
                  <c:v>96.55099999999999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23.715999999999998</c:v>
                </c:pt>
                <c:pt idx="1">
                  <c:v>27.111000000000004</c:v>
                </c:pt>
                <c:pt idx="2">
                  <c:v>24.634999999999998</c:v>
                </c:pt>
                <c:pt idx="3">
                  <c:v>21.089000000000002</c:v>
                </c:pt>
                <c:pt idx="4">
                  <c:v>16.254999999999995</c:v>
                </c:pt>
                <c:pt idx="5">
                  <c:v>112.80599999999998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101.45400000000001</c:v>
                </c:pt>
                <c:pt idx="2">
                  <c:v>140.96</c:v>
                </c:pt>
                <c:pt idx="3">
                  <c:v>174.395</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101.45400000000001</c:v>
                </c:pt>
                <c:pt idx="1">
                  <c:v>39.506</c:v>
                </c:pt>
                <c:pt idx="2">
                  <c:v>33.435</c:v>
                </c:pt>
                <c:pt idx="3">
                  <c:v>39.86600000000001</c:v>
                </c:pt>
                <c:pt idx="4">
                  <c:v>214.26100000000002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39.506</c:v>
                </c:pt>
                <c:pt idx="2">
                  <c:v>72.941</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39.506</c:v>
                </c:pt>
                <c:pt idx="1">
                  <c:v>33.435</c:v>
                </c:pt>
                <c:pt idx="2">
                  <c:v>39.86600000000001</c:v>
                </c:pt>
                <c:pt idx="3">
                  <c:v>112.80700000000002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101.452</c:v>
                </c:pt>
                <c:pt idx="2">
                  <c:v>116.877</c:v>
                </c:pt>
                <c:pt idx="3">
                  <c:v>135.0</c:v>
                </c:pt>
                <c:pt idx="4">
                  <c:v>153.14600000000002</c:v>
                </c:pt>
                <c:pt idx="5">
                  <c:v>167.086</c:v>
                </c:pt>
                <c:pt idx="6">
                  <c:v>196.572</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101.452</c:v>
                </c:pt>
                <c:pt idx="1">
                  <c:v>15.425</c:v>
                </c:pt>
                <c:pt idx="2">
                  <c:v>18.123000000000005</c:v>
                </c:pt>
                <c:pt idx="3">
                  <c:v>18.146000000000004</c:v>
                </c:pt>
                <c:pt idx="4">
                  <c:v>13.94</c:v>
                </c:pt>
                <c:pt idx="5">
                  <c:v>29.486</c:v>
                </c:pt>
                <c:pt idx="6">
                  <c:v>17.689</c:v>
                </c:pt>
                <c:pt idx="7">
                  <c:v>214.261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15.425</c:v>
                </c:pt>
                <c:pt idx="2">
                  <c:v>33.548</c:v>
                </c:pt>
                <c:pt idx="3">
                  <c:v>51.694</c:v>
                </c:pt>
                <c:pt idx="4">
                  <c:v>65.634</c:v>
                </c:pt>
                <c:pt idx="5">
                  <c:v>95.12</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15.425</c:v>
                </c:pt>
                <c:pt idx="1">
                  <c:v>18.123000000000005</c:v>
                </c:pt>
                <c:pt idx="2">
                  <c:v>18.146000000000004</c:v>
                </c:pt>
                <c:pt idx="3">
                  <c:v>13.94</c:v>
                </c:pt>
                <c:pt idx="4">
                  <c:v>29.486</c:v>
                </c:pt>
                <c:pt idx="5">
                  <c:v>17.689</c:v>
                </c:pt>
                <c:pt idx="6">
                  <c:v>112.809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101.45400000000002</c:v>
                </c:pt>
                <c:pt idx="2">
                  <c:v>114.57900000000002</c:v>
                </c:pt>
                <c:pt idx="3">
                  <c:v>135.26300000000003</c:v>
                </c:pt>
                <c:pt idx="4">
                  <c:v>149.45300000000003</c:v>
                </c:pt>
                <c:pt idx="5">
                  <c:v>165.15500000000003</c:v>
                </c:pt>
                <c:pt idx="6">
                  <c:v>184.85200000000003</c:v>
                </c:pt>
                <c:pt idx="7">
                  <c:v>195.71600000000004</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101.45400000000002</c:v>
                </c:pt>
                <c:pt idx="1">
                  <c:v>13.125</c:v>
                </c:pt>
                <c:pt idx="2">
                  <c:v>20.684</c:v>
                </c:pt>
                <c:pt idx="3">
                  <c:v>14.190000000000001</c:v>
                </c:pt>
                <c:pt idx="4">
                  <c:v>15.702</c:v>
                </c:pt>
                <c:pt idx="5">
                  <c:v>19.697000000000003</c:v>
                </c:pt>
                <c:pt idx="6">
                  <c:v>10.864</c:v>
                </c:pt>
                <c:pt idx="7">
                  <c:v>18.543000000000003</c:v>
                </c:pt>
                <c:pt idx="8">
                  <c:v>214.25900000000001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13.125</c:v>
                </c:pt>
                <c:pt idx="2">
                  <c:v>33.809</c:v>
                </c:pt>
                <c:pt idx="3">
                  <c:v>47.998999999999995</c:v>
                </c:pt>
                <c:pt idx="4">
                  <c:v>63.70099999999999</c:v>
                </c:pt>
                <c:pt idx="5">
                  <c:v>83.398</c:v>
                </c:pt>
                <c:pt idx="6">
                  <c:v>94.262</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13.125</c:v>
                </c:pt>
                <c:pt idx="1">
                  <c:v>20.684</c:v>
                </c:pt>
                <c:pt idx="2">
                  <c:v>14.190000000000001</c:v>
                </c:pt>
                <c:pt idx="3">
                  <c:v>15.702</c:v>
                </c:pt>
                <c:pt idx="4">
                  <c:v>19.697000000000003</c:v>
                </c:pt>
                <c:pt idx="5">
                  <c:v>10.864</c:v>
                </c:pt>
                <c:pt idx="6">
                  <c:v>18.543000000000003</c:v>
                </c:pt>
                <c:pt idx="7">
                  <c:v>112.805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101.453</c:v>
                </c:pt>
                <c:pt idx="2">
                  <c:v>120.934</c:v>
                </c:pt>
                <c:pt idx="3">
                  <c:v>143.557</c:v>
                </c:pt>
                <c:pt idx="4">
                  <c:v>167.53099999999998</c:v>
                </c:pt>
                <c:pt idx="5">
                  <c:v>191.92899999999997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101.453</c:v>
                </c:pt>
                <c:pt idx="1">
                  <c:v>19.481</c:v>
                </c:pt>
                <c:pt idx="2">
                  <c:v>22.622999999999998</c:v>
                </c:pt>
                <c:pt idx="3">
                  <c:v>23.974</c:v>
                </c:pt>
                <c:pt idx="4">
                  <c:v>24.398000000000003</c:v>
                </c:pt>
                <c:pt idx="5">
                  <c:v>22.332</c:v>
                </c:pt>
                <c:pt idx="6">
                  <c:v>214.261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19.481</c:v>
                </c:pt>
                <c:pt idx="2">
                  <c:v>42.104</c:v>
                </c:pt>
                <c:pt idx="3">
                  <c:v>66.078</c:v>
                </c:pt>
                <c:pt idx="4">
                  <c:v>90.476</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19.481</c:v>
                </c:pt>
                <c:pt idx="1">
                  <c:v>22.622999999999998</c:v>
                </c:pt>
                <c:pt idx="2">
                  <c:v>23.974</c:v>
                </c:pt>
                <c:pt idx="3">
                  <c:v>24.398000000000003</c:v>
                </c:pt>
                <c:pt idx="4">
                  <c:v>22.332</c:v>
                </c:pt>
                <c:pt idx="5">
                  <c:v>112.80799999999999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101.452</c:v>
                </c:pt>
                <c:pt idx="2">
                  <c:v>125.63</c:v>
                </c:pt>
                <c:pt idx="3">
                  <c:v>155.96599999999998</c:v>
                </c:pt>
                <c:pt idx="4">
                  <c:v>181.75099999999998</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101.452</c:v>
                </c:pt>
                <c:pt idx="1">
                  <c:v>24.177999999999997</c:v>
                </c:pt>
                <c:pt idx="2">
                  <c:v>30.335999999999995</c:v>
                </c:pt>
                <c:pt idx="3">
                  <c:v>25.785000000000004</c:v>
                </c:pt>
                <c:pt idx="4">
                  <c:v>32.509</c:v>
                </c:pt>
                <c:pt idx="5">
                  <c:v>214.26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24.177999999999997</c:v>
                </c:pt>
                <c:pt idx="2">
                  <c:v>54.513999999999996</c:v>
                </c:pt>
                <c:pt idx="3">
                  <c:v>80.299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24.177999999999997</c:v>
                </c:pt>
                <c:pt idx="1">
                  <c:v>30.335999999999995</c:v>
                </c:pt>
                <c:pt idx="2">
                  <c:v>25.785000000000004</c:v>
                </c:pt>
                <c:pt idx="3">
                  <c:v>32.509</c:v>
                </c:pt>
                <c:pt idx="4">
                  <c:v>112.808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66.229</c:v>
                </c:pt>
                <c:pt idx="1">
                  <c:v>68.5</c:v>
                </c:pt>
                <c:pt idx="2">
                  <c:v>70.834</c:v>
                </c:pt>
                <c:pt idx="3">
                  <c:v>73.23400000000001</c:v>
                </c:pt>
                <c:pt idx="4">
                  <c:v>75.757</c:v>
                </c:pt>
                <c:pt idx="5">
                  <c:v>78.53</c:v>
                </c:pt>
                <c:pt idx="6">
                  <c:v>81.606</c:v>
                </c:pt>
                <c:pt idx="7">
                  <c:v>85.02799999999999</c:v>
                </c:pt>
                <c:pt idx="8">
                  <c:v>88.821</c:v>
                </c:pt>
                <c:pt idx="9">
                  <c:v>92.97</c:v>
                </c:pt>
                <c:pt idx="10">
                  <c:v>97.42500000000001</c:v>
                </c:pt>
                <c:pt idx="11">
                  <c:v>102.15299999999999</c:v>
                </c:pt>
                <c:pt idx="12">
                  <c:v>107.087</c:v>
                </c:pt>
                <c:pt idx="13">
                  <c:v>112.201</c:v>
                </c:pt>
                <c:pt idx="14">
                  <c:v>117.434</c:v>
                </c:pt>
                <c:pt idx="15">
                  <c:v>122.781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Nordic</c:v>
                </c:pt>
              </c:strCache>
            </c:strRef>
          </c:cat>
          <c:val>
            <c:numRef>
              <c:f>Sheet1!$B$2:$B$4</c:f>
              <c:numCache>
                <c:formatCode>General</c:formatCode>
                <c:ptCount val="3"/>
                <c:pt idx="0">
                  <c:v>0.05245930274733035</c:v>
                </c:pt>
                <c:pt idx="1">
                  <c:v>0.04646744386955093</c:v>
                </c:pt>
                <c:pt idx="2">
                  <c:v>0.04570589640566425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78.53</c:v>
                </c:pt>
                <c:pt idx="2">
                  <c:v>81.606</c:v>
                </c:pt>
                <c:pt idx="3">
                  <c:v>85.02799999999999</c:v>
                </c:pt>
                <c:pt idx="4">
                  <c:v>88.821</c:v>
                </c:pt>
                <c:pt idx="5">
                  <c:v>92.97</c:v>
                </c:pt>
                <c:pt idx="6">
                  <c:v>97.42500000000001</c:v>
                </c:pt>
                <c:pt idx="7">
                  <c:v>102.15299999999999</c:v>
                </c:pt>
                <c:pt idx="8">
                  <c:v>107.087</c:v>
                </c:pt>
                <c:pt idx="9">
                  <c:v>112.201</c:v>
                </c:pt>
                <c:pt idx="10">
                  <c:v>117.434</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78.53</c:v>
                </c:pt>
                <c:pt idx="1">
                  <c:v>3.0759999999999934</c:v>
                </c:pt>
                <c:pt idx="2">
                  <c:v>3.421999999999997</c:v>
                </c:pt>
                <c:pt idx="3">
                  <c:v>3.7930000000000064</c:v>
                </c:pt>
                <c:pt idx="4">
                  <c:v>4.149000000000001</c:v>
                </c:pt>
                <c:pt idx="5">
                  <c:v>4.4550000000000125</c:v>
                </c:pt>
                <c:pt idx="6">
                  <c:v>4.72799999999998</c:v>
                </c:pt>
                <c:pt idx="7">
                  <c:v>4.934000000000012</c:v>
                </c:pt>
                <c:pt idx="8">
                  <c:v>5.11399999999999</c:v>
                </c:pt>
                <c:pt idx="9">
                  <c:v>5.233000000000004</c:v>
                </c:pt>
                <c:pt idx="10">
                  <c:v>5.347000000000008</c:v>
                </c:pt>
                <c:pt idx="11">
                  <c:v>122.781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Nordic</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5.797698491623866</c:v>
                </c:pt>
                <c:pt idx="1">
                  <c:v>0.9926400787943613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94.20230150837614</c:v>
                </c:pt>
                <c:pt idx="1">
                  <c:v>99.00735992120563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174.61499999999998</c:v>
                </c:pt>
                <c:pt idx="1">
                  <c:v>181.63</c:v>
                </c:pt>
                <c:pt idx="2">
                  <c:v>188.95100000000002</c:v>
                </c:pt>
                <c:pt idx="3">
                  <c:v>196.66500000000002</c:v>
                </c:pt>
                <c:pt idx="4">
                  <c:v>204.849</c:v>
                </c:pt>
                <c:pt idx="5">
                  <c:v>214.756</c:v>
                </c:pt>
                <c:pt idx="6">
                  <c:v>225.88400000000001</c:v>
                </c:pt>
                <c:pt idx="7">
                  <c:v>238.447</c:v>
                </c:pt>
                <c:pt idx="8">
                  <c:v>252.653</c:v>
                </c:pt>
                <c:pt idx="9">
                  <c:v>268.58500000000004</c:v>
                </c:pt>
                <c:pt idx="10">
                  <c:v>286.062</c:v>
                </c:pt>
                <c:pt idx="11">
                  <c:v>305.111</c:v>
                </c:pt>
                <c:pt idx="12">
                  <c:v>325.592</c:v>
                </c:pt>
                <c:pt idx="13">
                  <c:v>347.481</c:v>
                </c:pt>
                <c:pt idx="14">
                  <c:v>370.776</c:v>
                </c:pt>
                <c:pt idx="15">
                  <c:v>395.51099999999997</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Nordic</c:v>
                </c:pt>
              </c:strCache>
            </c:strRef>
          </c:cat>
          <c:val>
            <c:numRef>
              <c:f>Sheet1!$B$2:$B$4</c:f>
              <c:numCache>
                <c:formatCode>General</c:formatCode>
                <c:ptCount val="3"/>
                <c:pt idx="0">
                  <c:v>0.06658666629421717</c:v>
                </c:pt>
                <c:pt idx="1">
                  <c:v>0.06255449919419975</c:v>
                </c:pt>
                <c:pt idx="2">
                  <c:v>0.06297077918849658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91999497193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214.756</c:v>
                </c:pt>
                <c:pt idx="2">
                  <c:v>225.88400000000001</c:v>
                </c:pt>
                <c:pt idx="3">
                  <c:v>238.447</c:v>
                </c:pt>
                <c:pt idx="4">
                  <c:v>252.653</c:v>
                </c:pt>
                <c:pt idx="5">
                  <c:v>268.58500000000004</c:v>
                </c:pt>
                <c:pt idx="6">
                  <c:v>286.062</c:v>
                </c:pt>
                <c:pt idx="7">
                  <c:v>305.111</c:v>
                </c:pt>
                <c:pt idx="8">
                  <c:v>325.592</c:v>
                </c:pt>
                <c:pt idx="9">
                  <c:v>347.481</c:v>
                </c:pt>
                <c:pt idx="10">
                  <c:v>370.776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214.756</c:v>
                </c:pt>
                <c:pt idx="1">
                  <c:v>11.128000000000014</c:v>
                </c:pt>
                <c:pt idx="2">
                  <c:v>12.562999999999988</c:v>
                </c:pt>
                <c:pt idx="3">
                  <c:v>14.205999999999989</c:v>
                </c:pt>
                <c:pt idx="4">
                  <c:v>15.932000000000045</c:v>
                </c:pt>
                <c:pt idx="5">
                  <c:v>17.476999999999975</c:v>
                </c:pt>
                <c:pt idx="6">
                  <c:v>19.048999999999978</c:v>
                </c:pt>
                <c:pt idx="7">
                  <c:v>20.480999999999995</c:v>
                </c:pt>
                <c:pt idx="8">
                  <c:v>21.88900000000001</c:v>
                </c:pt>
                <c:pt idx="9">
                  <c:v>23.295000000000016</c:v>
                </c:pt>
                <c:pt idx="10">
                  <c:v>24.734999999999957</c:v>
                </c:pt>
                <c:pt idx="11">
                  <c:v>395.51099999999997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Nordic</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7.6399032649846434</c:v>
                </c:pt>
                <c:pt idx="1">
                  <c:v>1.3333608172866782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92.36009673501536</c:v>
                </c:pt>
                <c:pt idx="1">
                  <c:v>98.66663918271333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Creams and Lotions</c:v>
                </c:pt>
                <c:pt idx="3">
                  <c:v>Powders</c:v>
                </c:pt>
                <c:pt idx="4">
                  <c:v>Sticks and Balms</c:v>
                </c:pt>
                <c:pt idx="5">
                  <c:v>Sprays and Mists</c:v>
                </c:pt>
                <c:pt idx="6">
                  <c:v>Waxes, Clays, Pastes…</c:v>
                </c:pt>
                <c:pt idx="7">
                  <c:v>Serums and Oils</c:v>
                </c:pt>
              </c:strCache>
            </c:strRef>
          </c:cat>
          <c:val>
            <c:numRef>
              <c:f>Sheet1!$B$2:$B$9</c:f>
              <c:numCache>
                <c:formatCode>General</c:formatCode>
                <c:ptCount val="8"/>
                <c:pt idx="0">
                  <c:v>15.55</c:v>
                </c:pt>
                <c:pt idx="1">
                  <c:v>19.107</c:v>
                </c:pt>
                <c:pt idx="2">
                  <c:v>24.046</c:v>
                </c:pt>
                <c:pt idx="3">
                  <c:v>24.2</c:v>
                </c:pt>
                <c:pt idx="4">
                  <c:v>28.205</c:v>
                </c:pt>
                <c:pt idx="5">
                  <c:v>30.464</c:v>
                </c:pt>
                <c:pt idx="6">
                  <c:v>34.83</c:v>
                </c:pt>
                <c:pt idx="7">
                  <c:v>38.354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1.3943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38.001</c:v>
                </c:pt>
                <c:pt idx="4">
                  <c:v>40.798</c:v>
                </c:pt>
                <c:pt idx="5">
                  <c:v>43.376</c:v>
                </c:pt>
                <c:pt idx="6">
                  <c:v>44.924</c:v>
                </c:pt>
                <c:pt idx="7">
                  <c:v>47.656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3.859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Natural</c:v>
                </c:pt>
                <c:pt idx="7">
                  <c:v>Matte</c:v>
                </c:pt>
              </c:strCache>
            </c:strRef>
          </c:cat>
          <c:val>
            <c:numRef>
              <c:f>Sheet1!$B$2:$B$9</c:f>
              <c:numCache>
                <c:formatCode>General</c:formatCode>
                <c:ptCount val="8"/>
                <c:pt idx="5">
                  <c:v>66.85</c:v>
                </c:pt>
                <c:pt idx="6">
                  <c:v>70.067</c:v>
                </c:pt>
                <c:pt idx="7">
                  <c:v>77.839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04.3042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Salon and Professiona…</c:v>
                </c:pt>
                <c:pt idx="6">
                  <c:v>Mass Retail</c:v>
                </c:pt>
                <c:pt idx="7">
                  <c:v>Online Marketplaces</c:v>
                </c:pt>
              </c:strCache>
            </c:strRef>
          </c:cat>
          <c:val>
            <c:numRef>
              <c:f>Sheet1!$B$2:$B$9</c:f>
              <c:numCache>
                <c:formatCode>General</c:formatCode>
                <c:ptCount val="8"/>
                <c:pt idx="2">
                  <c:v>26.527</c:v>
                </c:pt>
                <c:pt idx="3">
                  <c:v>32.891</c:v>
                </c:pt>
                <c:pt idx="4">
                  <c:v>33.334</c:v>
                </c:pt>
                <c:pt idx="5">
                  <c:v>37.392</c:v>
                </c:pt>
                <c:pt idx="6">
                  <c:v>41.154</c:v>
                </c:pt>
                <c:pt idx="7">
                  <c:v>43.457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8.2323800000000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25.378</c:v>
                </c:pt>
                <c:pt idx="2">
                  <c:v>29.851</c:v>
                </c:pt>
                <c:pt idx="3">
                  <c:v>30.327</c:v>
                </c:pt>
                <c:pt idx="4">
                  <c:v>30.384</c:v>
                </c:pt>
                <c:pt idx="5">
                  <c:v>30.559</c:v>
                </c:pt>
                <c:pt idx="6">
                  <c:v>33.981</c:v>
                </c:pt>
                <c:pt idx="7">
                  <c:v>34.274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5.9271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38.643</c:v>
                </c:pt>
                <c:pt idx="4">
                  <c:v>40.811</c:v>
                </c:pt>
                <c:pt idx="5">
                  <c:v>43.424</c:v>
                </c:pt>
                <c:pt idx="6">
                  <c:v>45.112</c:v>
                </c:pt>
                <c:pt idx="7">
                  <c:v>46.764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2.66376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51.453</c:v>
                </c:pt>
                <c:pt idx="5">
                  <c:v>53.587</c:v>
                </c:pt>
                <c:pt idx="6">
                  <c:v>53.91799999999999</c:v>
                </c:pt>
                <c:pt idx="7">
                  <c:v>55.796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4.76664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214.756</c:v>
                </c:pt>
                <c:pt idx="2">
                  <c:v>232.136</c:v>
                </c:pt>
                <c:pt idx="3">
                  <c:v>241.065</c:v>
                </c:pt>
                <c:pt idx="4">
                  <c:v>253.185</c:v>
                </c:pt>
                <c:pt idx="5">
                  <c:v>271.78</c:v>
                </c:pt>
                <c:pt idx="6">
                  <c:v>301.93499999999995</c:v>
                </c:pt>
                <c:pt idx="7">
                  <c:v>323.89399999999995</c:v>
                </c:pt>
                <c:pt idx="8">
                  <c:v>361.73699999999997</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214.756</c:v>
                </c:pt>
                <c:pt idx="1">
                  <c:v>17.380000000000003</c:v>
                </c:pt>
                <c:pt idx="2">
                  <c:v>8.928999999999998</c:v>
                </c:pt>
                <c:pt idx="3">
                  <c:v>12.120000000000001</c:v>
                </c:pt>
                <c:pt idx="4">
                  <c:v>18.595</c:v>
                </c:pt>
                <c:pt idx="5">
                  <c:v>30.155</c:v>
                </c:pt>
                <c:pt idx="6">
                  <c:v>21.959</c:v>
                </c:pt>
                <c:pt idx="7">
                  <c:v>37.843</c:v>
                </c:pt>
                <c:pt idx="8">
                  <c:v>33.774</c:v>
                </c:pt>
                <c:pt idx="9">
                  <c:v>395.51099999999997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17.380000000000003</c:v>
                </c:pt>
                <c:pt idx="2">
                  <c:v>26.309</c:v>
                </c:pt>
                <c:pt idx="3">
                  <c:v>38.429</c:v>
                </c:pt>
                <c:pt idx="4">
                  <c:v>57.024</c:v>
                </c:pt>
                <c:pt idx="5">
                  <c:v>87.179</c:v>
                </c:pt>
                <c:pt idx="6">
                  <c:v>109.138</c:v>
                </c:pt>
                <c:pt idx="7">
                  <c:v>146.981</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17.380000000000003</c:v>
                </c:pt>
                <c:pt idx="1">
                  <c:v>8.928999999999998</c:v>
                </c:pt>
                <c:pt idx="2">
                  <c:v>12.120000000000001</c:v>
                </c:pt>
                <c:pt idx="3">
                  <c:v>18.595</c:v>
                </c:pt>
                <c:pt idx="4">
                  <c:v>30.155</c:v>
                </c:pt>
                <c:pt idx="5">
                  <c:v>21.959</c:v>
                </c:pt>
                <c:pt idx="6">
                  <c:v>37.843</c:v>
                </c:pt>
                <c:pt idx="7">
                  <c:v>33.774</c:v>
                </c:pt>
                <c:pt idx="8">
                  <c:v>180.755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214.75500000000002</c:v>
                </c:pt>
                <c:pt idx="2">
                  <c:v>253.26700000000002</c:v>
                </c:pt>
                <c:pt idx="3">
                  <c:v>297.836</c:v>
                </c:pt>
                <c:pt idx="4">
                  <c:v>337.249</c:v>
                </c:pt>
                <c:pt idx="5">
                  <c:v>370.43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214.75500000000002</c:v>
                </c:pt>
                <c:pt idx="1">
                  <c:v>38.512</c:v>
                </c:pt>
                <c:pt idx="2">
                  <c:v>44.568999999999996</c:v>
                </c:pt>
                <c:pt idx="3">
                  <c:v>39.413000000000004</c:v>
                </c:pt>
                <c:pt idx="4">
                  <c:v>33.181000000000004</c:v>
                </c:pt>
                <c:pt idx="5">
                  <c:v>25.081000000000003</c:v>
                </c:pt>
                <c:pt idx="6">
                  <c:v>395.511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38.512</c:v>
                </c:pt>
                <c:pt idx="2">
                  <c:v>83.08099999999999</c:v>
                </c:pt>
                <c:pt idx="3">
                  <c:v>122.494</c:v>
                </c:pt>
                <c:pt idx="4">
                  <c:v>155.675</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38.512</c:v>
                </c:pt>
                <c:pt idx="1">
                  <c:v>44.568999999999996</c:v>
                </c:pt>
                <c:pt idx="2">
                  <c:v>39.413000000000004</c:v>
                </c:pt>
                <c:pt idx="3">
                  <c:v>33.181000000000004</c:v>
                </c:pt>
                <c:pt idx="4">
                  <c:v>25.081000000000003</c:v>
                </c:pt>
                <c:pt idx="5">
                  <c:v>180.75600000000003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214.756</c:v>
                </c:pt>
                <c:pt idx="2">
                  <c:v>279.679</c:v>
                </c:pt>
                <c:pt idx="3">
                  <c:v>331.902</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214.756</c:v>
                </c:pt>
                <c:pt idx="1">
                  <c:v>64.923</c:v>
                </c:pt>
                <c:pt idx="2">
                  <c:v>52.22300000000001</c:v>
                </c:pt>
                <c:pt idx="3">
                  <c:v>63.60900000000001</c:v>
                </c:pt>
                <c:pt idx="4">
                  <c:v>395.511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64.923</c:v>
                </c:pt>
                <c:pt idx="2">
                  <c:v>117.14600000000002</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64.923</c:v>
                </c:pt>
                <c:pt idx="1">
                  <c:v>52.22300000000001</c:v>
                </c:pt>
                <c:pt idx="2">
                  <c:v>63.60900000000001</c:v>
                </c:pt>
                <c:pt idx="3">
                  <c:v>180.75500000000002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214.755</c:v>
                </c:pt>
                <c:pt idx="2">
                  <c:v>240.319</c:v>
                </c:pt>
                <c:pt idx="3">
                  <c:v>269.383</c:v>
                </c:pt>
                <c:pt idx="4">
                  <c:v>298.875</c:v>
                </c:pt>
                <c:pt idx="5">
                  <c:v>322.128</c:v>
                </c:pt>
                <c:pt idx="6">
                  <c:v>369.09299999999996</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214.755</c:v>
                </c:pt>
                <c:pt idx="1">
                  <c:v>25.564</c:v>
                </c:pt>
                <c:pt idx="2">
                  <c:v>29.064</c:v>
                </c:pt>
                <c:pt idx="3">
                  <c:v>29.491999999999997</c:v>
                </c:pt>
                <c:pt idx="4">
                  <c:v>23.253</c:v>
                </c:pt>
                <c:pt idx="5">
                  <c:v>46.964999999999996</c:v>
                </c:pt>
                <c:pt idx="6">
                  <c:v>26.418999999999997</c:v>
                </c:pt>
                <c:pt idx="7">
                  <c:v>395.51200000000006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25.564</c:v>
                </c:pt>
                <c:pt idx="2">
                  <c:v>54.628</c:v>
                </c:pt>
                <c:pt idx="3">
                  <c:v>84.12</c:v>
                </c:pt>
                <c:pt idx="4">
                  <c:v>107.373</c:v>
                </c:pt>
                <c:pt idx="5">
                  <c:v>154.338</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25.564</c:v>
                </c:pt>
                <c:pt idx="1">
                  <c:v>29.064</c:v>
                </c:pt>
                <c:pt idx="2">
                  <c:v>29.491999999999997</c:v>
                </c:pt>
                <c:pt idx="3">
                  <c:v>23.253</c:v>
                </c:pt>
                <c:pt idx="4">
                  <c:v>46.964999999999996</c:v>
                </c:pt>
                <c:pt idx="5">
                  <c:v>26.418999999999997</c:v>
                </c:pt>
                <c:pt idx="6">
                  <c:v>180.757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214.75400000000002</c:v>
                </c:pt>
                <c:pt idx="2">
                  <c:v>234.524</c:v>
                </c:pt>
                <c:pt idx="3">
                  <c:v>268.887</c:v>
                </c:pt>
                <c:pt idx="4">
                  <c:v>291.202</c:v>
                </c:pt>
                <c:pt idx="5">
                  <c:v>316.314</c:v>
                </c:pt>
                <c:pt idx="6">
                  <c:v>348.28900000000004</c:v>
                </c:pt>
                <c:pt idx="7">
                  <c:v>365.04400000000004</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214.75400000000002</c:v>
                </c:pt>
                <c:pt idx="1">
                  <c:v>19.769999999999996</c:v>
                </c:pt>
                <c:pt idx="2">
                  <c:v>34.363</c:v>
                </c:pt>
                <c:pt idx="3">
                  <c:v>22.315</c:v>
                </c:pt>
                <c:pt idx="4">
                  <c:v>25.112000000000002</c:v>
                </c:pt>
                <c:pt idx="5">
                  <c:v>31.975</c:v>
                </c:pt>
                <c:pt idx="6">
                  <c:v>16.755000000000003</c:v>
                </c:pt>
                <c:pt idx="7">
                  <c:v>30.467</c:v>
                </c:pt>
                <c:pt idx="8">
                  <c:v>395.51099999999997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19.769999999999996</c:v>
                </c:pt>
                <c:pt idx="2">
                  <c:v>54.132999999999996</c:v>
                </c:pt>
                <c:pt idx="3">
                  <c:v>76.448</c:v>
                </c:pt>
                <c:pt idx="4">
                  <c:v>101.56</c:v>
                </c:pt>
                <c:pt idx="5">
                  <c:v>133.535</c:v>
                </c:pt>
                <c:pt idx="6">
                  <c:v>150.29</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19.769999999999996</c:v>
                </c:pt>
                <c:pt idx="1">
                  <c:v>34.363</c:v>
                </c:pt>
                <c:pt idx="2">
                  <c:v>22.315</c:v>
                </c:pt>
                <c:pt idx="3">
                  <c:v>25.112000000000002</c:v>
                </c:pt>
                <c:pt idx="4">
                  <c:v>31.975</c:v>
                </c:pt>
                <c:pt idx="5">
                  <c:v>16.755000000000003</c:v>
                </c:pt>
                <c:pt idx="6">
                  <c:v>30.467</c:v>
                </c:pt>
                <c:pt idx="7">
                  <c:v>180.757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214.75400000000002</c:v>
                </c:pt>
                <c:pt idx="2">
                  <c:v>244.888</c:v>
                </c:pt>
                <c:pt idx="3">
                  <c:v>281.146</c:v>
                </c:pt>
                <c:pt idx="4">
                  <c:v>320.137</c:v>
                </c:pt>
                <c:pt idx="5">
                  <c:v>360.297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214.75400000000002</c:v>
                </c:pt>
                <c:pt idx="1">
                  <c:v>30.133999999999993</c:v>
                </c:pt>
                <c:pt idx="2">
                  <c:v>36.258</c:v>
                </c:pt>
                <c:pt idx="3">
                  <c:v>38.99100000000001</c:v>
                </c:pt>
                <c:pt idx="4">
                  <c:v>40.16</c:v>
                </c:pt>
                <c:pt idx="5">
                  <c:v>35.213</c:v>
                </c:pt>
                <c:pt idx="6">
                  <c:v>395.51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30.133999999999993</c:v>
                </c:pt>
                <c:pt idx="2">
                  <c:v>66.392</c:v>
                </c:pt>
                <c:pt idx="3">
                  <c:v>105.38300000000001</c:v>
                </c:pt>
                <c:pt idx="4">
                  <c:v>145.543</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30.133999999999993</c:v>
                </c:pt>
                <c:pt idx="1">
                  <c:v>36.258</c:v>
                </c:pt>
                <c:pt idx="2">
                  <c:v>38.99100000000001</c:v>
                </c:pt>
                <c:pt idx="3">
                  <c:v>40.16</c:v>
                </c:pt>
                <c:pt idx="4">
                  <c:v>35.213</c:v>
                </c:pt>
                <c:pt idx="5">
                  <c:v>180.756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214.754</c:v>
                </c:pt>
                <c:pt idx="2">
                  <c:v>255.531</c:v>
                </c:pt>
                <c:pt idx="3">
                  <c:v>303.267</c:v>
                </c:pt>
                <c:pt idx="4">
                  <c:v>346.135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214.754</c:v>
                </c:pt>
                <c:pt idx="1">
                  <c:v>40.77700000000001</c:v>
                </c:pt>
                <c:pt idx="2">
                  <c:v>47.736000000000004</c:v>
                </c:pt>
                <c:pt idx="3">
                  <c:v>42.867999999999995</c:v>
                </c:pt>
                <c:pt idx="4">
                  <c:v>49.375</c:v>
                </c:pt>
                <c:pt idx="5">
                  <c:v>395.51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40.77700000000001</c:v>
                </c:pt>
                <c:pt idx="2">
                  <c:v>88.513</c:v>
                </c:pt>
                <c:pt idx="3">
                  <c:v>131.381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40.77700000000001</c:v>
                </c:pt>
                <c:pt idx="1">
                  <c:v>47.736000000000004</c:v>
                </c:pt>
                <c:pt idx="2">
                  <c:v>42.867999999999995</c:v>
                </c:pt>
                <c:pt idx="3">
                  <c:v>49.375</c:v>
                </c:pt>
                <c:pt idx="4">
                  <c:v>180.756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25.497</c:v>
                </c:pt>
                <c:pt idx="1">
                  <c:v>26.278</c:v>
                </c:pt>
                <c:pt idx="2">
                  <c:v>27.073</c:v>
                </c:pt>
                <c:pt idx="3">
                  <c:v>27.886000000000003</c:v>
                </c:pt>
                <c:pt idx="4">
                  <c:v>28.736</c:v>
                </c:pt>
                <c:pt idx="5">
                  <c:v>29.665</c:v>
                </c:pt>
                <c:pt idx="6">
                  <c:v>30.693</c:v>
                </c:pt>
                <c:pt idx="7">
                  <c:v>31.83</c:v>
                </c:pt>
                <c:pt idx="8">
                  <c:v>33.093</c:v>
                </c:pt>
                <c:pt idx="9">
                  <c:v>34.468</c:v>
                </c:pt>
                <c:pt idx="10">
                  <c:v>35.935</c:v>
                </c:pt>
                <c:pt idx="11">
                  <c:v>37.485</c:v>
                </c:pt>
                <c:pt idx="12">
                  <c:v>39.095</c:v>
                </c:pt>
                <c:pt idx="13">
                  <c:v>40.757000000000005</c:v>
                </c:pt>
                <c:pt idx="14">
                  <c:v>42.447</c:v>
                </c:pt>
                <c:pt idx="15">
                  <c:v>44.169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Switzerland</c:v>
                </c:pt>
              </c:strCache>
            </c:strRef>
          </c:cat>
          <c:val>
            <c:numRef>
              <c:f>Sheet1!$B$2:$B$4</c:f>
              <c:numCache>
                <c:formatCode>General</c:formatCode>
                <c:ptCount val="3"/>
                <c:pt idx="0">
                  <c:v>0.05245930274733035</c:v>
                </c:pt>
                <c:pt idx="1">
                  <c:v>0.04646744386955093</c:v>
                </c:pt>
                <c:pt idx="2">
                  <c:v>0.04060838592742777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29.665</c:v>
                </c:pt>
                <c:pt idx="2">
                  <c:v>30.693</c:v>
                </c:pt>
                <c:pt idx="3">
                  <c:v>31.83</c:v>
                </c:pt>
                <c:pt idx="4">
                  <c:v>33.093</c:v>
                </c:pt>
                <c:pt idx="5">
                  <c:v>34.468</c:v>
                </c:pt>
                <c:pt idx="6">
                  <c:v>35.935</c:v>
                </c:pt>
                <c:pt idx="7">
                  <c:v>37.485</c:v>
                </c:pt>
                <c:pt idx="8">
                  <c:v>39.095</c:v>
                </c:pt>
                <c:pt idx="9">
                  <c:v>40.757000000000005</c:v>
                </c:pt>
                <c:pt idx="10">
                  <c:v>42.447</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29.665</c:v>
                </c:pt>
                <c:pt idx="1">
                  <c:v>1.0280000000000022</c:v>
                </c:pt>
                <c:pt idx="2">
                  <c:v>1.136999999999997</c:v>
                </c:pt>
                <c:pt idx="3">
                  <c:v>1.2630000000000052</c:v>
                </c:pt>
                <c:pt idx="4">
                  <c:v>1.375</c:v>
                </c:pt>
                <c:pt idx="5">
                  <c:v>1.4669999999999987</c:v>
                </c:pt>
                <c:pt idx="6">
                  <c:v>1.5499999999999972</c:v>
                </c:pt>
                <c:pt idx="7">
                  <c:v>1.6099999999999994</c:v>
                </c:pt>
                <c:pt idx="8">
                  <c:v>1.6620000000000061</c:v>
                </c:pt>
                <c:pt idx="9">
                  <c:v>1.6899999999999977</c:v>
                </c:pt>
                <c:pt idx="10">
                  <c:v>1.7219999999999942</c:v>
                </c:pt>
                <c:pt idx="11">
                  <c:v>44.169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Switzerland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2.190102199847472</c:v>
                </c:pt>
                <c:pt idx="1">
                  <c:v>0.3749734870423371</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97.80989780015253</c:v>
                </c:pt>
                <c:pt idx="1">
                  <c:v>99.62502651295766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86.98500000000001</c:v>
                </c:pt>
                <c:pt idx="1">
                  <c:v>90.038</c:v>
                </c:pt>
                <c:pt idx="2">
                  <c:v>93.191</c:v>
                </c:pt>
                <c:pt idx="3">
                  <c:v>96.456</c:v>
                </c:pt>
                <c:pt idx="4">
                  <c:v>99.881</c:v>
                </c:pt>
                <c:pt idx="5">
                  <c:v>103.91600000000001</c:v>
                </c:pt>
                <c:pt idx="6">
                  <c:v>108.439</c:v>
                </c:pt>
                <c:pt idx="7">
                  <c:v>113.50399999999999</c:v>
                </c:pt>
                <c:pt idx="8">
                  <c:v>119.19500000000001</c:v>
                </c:pt>
                <c:pt idx="9">
                  <c:v>125.514</c:v>
                </c:pt>
                <c:pt idx="10">
                  <c:v>132.413</c:v>
                </c:pt>
                <c:pt idx="11">
                  <c:v>139.864</c:v>
                </c:pt>
                <c:pt idx="12">
                  <c:v>147.773</c:v>
                </c:pt>
                <c:pt idx="13">
                  <c:v>156.13600000000002</c:v>
                </c:pt>
                <c:pt idx="14">
                  <c:v>164.88400000000001</c:v>
                </c:pt>
                <c:pt idx="15">
                  <c:v>174.056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Switzerland</c:v>
                </c:pt>
              </c:strCache>
            </c:strRef>
          </c:cat>
          <c:val>
            <c:numRef>
              <c:f>Sheet1!$B$2:$B$4</c:f>
              <c:numCache>
                <c:formatCode>General</c:formatCode>
                <c:ptCount val="3"/>
                <c:pt idx="0">
                  <c:v>0.06658666629421717</c:v>
                </c:pt>
                <c:pt idx="1">
                  <c:v>0.06255449919419975</c:v>
                </c:pt>
                <c:pt idx="2">
                  <c:v>0.052932807531157255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91999497193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103.91600000000001</c:v>
                </c:pt>
                <c:pt idx="2">
                  <c:v>108.439</c:v>
                </c:pt>
                <c:pt idx="3">
                  <c:v>113.50399999999999</c:v>
                </c:pt>
                <c:pt idx="4">
                  <c:v>119.19500000000001</c:v>
                </c:pt>
                <c:pt idx="5">
                  <c:v>125.514</c:v>
                </c:pt>
                <c:pt idx="6">
                  <c:v>132.413</c:v>
                </c:pt>
                <c:pt idx="7">
                  <c:v>139.864</c:v>
                </c:pt>
                <c:pt idx="8">
                  <c:v>147.773</c:v>
                </c:pt>
                <c:pt idx="9">
                  <c:v>156.13600000000002</c:v>
                </c:pt>
                <c:pt idx="10">
                  <c:v>164.88400000000001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103.91600000000001</c:v>
                </c:pt>
                <c:pt idx="1">
                  <c:v>4.522999999999982</c:v>
                </c:pt>
                <c:pt idx="2">
                  <c:v>5.064999999999998</c:v>
                </c:pt>
                <c:pt idx="3">
                  <c:v>5.691000000000017</c:v>
                </c:pt>
                <c:pt idx="4">
                  <c:v>6.318999999999988</c:v>
                </c:pt>
                <c:pt idx="5">
                  <c:v>6.899000000000015</c:v>
                </c:pt>
                <c:pt idx="6">
                  <c:v>7.450999999999993</c:v>
                </c:pt>
                <c:pt idx="7">
                  <c:v>7.908999999999992</c:v>
                </c:pt>
                <c:pt idx="8">
                  <c:v>8.363000000000028</c:v>
                </c:pt>
                <c:pt idx="9">
                  <c:v>8.74799999999999</c:v>
                </c:pt>
                <c:pt idx="10">
                  <c:v>9.171999999999997</c:v>
                </c:pt>
                <c:pt idx="11">
                  <c:v>174.056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Switzerland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3.6967916504504843</c:v>
                </c:pt>
                <c:pt idx="1">
                  <c:v>0.6451858047698898</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96.30320834954952</c:v>
                </c:pt>
                <c:pt idx="1">
                  <c:v>99.3548141952301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Waxes, Clays, Pastes…</c:v>
                </c:pt>
                <c:pt idx="7">
                  <c:v>Serums and Oils</c:v>
                </c:pt>
              </c:strCache>
            </c:strRef>
          </c:cat>
          <c:val>
            <c:numRef>
              <c:f>Sheet1!$B$2:$B$9</c:f>
              <c:numCache>
                <c:formatCode>General</c:formatCode>
                <c:ptCount val="8"/>
                <c:pt idx="0">
                  <c:v>7.393000000000001</c:v>
                </c:pt>
                <c:pt idx="1">
                  <c:v>8.903</c:v>
                </c:pt>
                <c:pt idx="2">
                  <c:v>10.244</c:v>
                </c:pt>
                <c:pt idx="3">
                  <c:v>12.371</c:v>
                </c:pt>
                <c:pt idx="4">
                  <c:v>13.162</c:v>
                </c:pt>
                <c:pt idx="5">
                  <c:v>13.280000000000001</c:v>
                </c:pt>
                <c:pt idx="6">
                  <c:v>16.263</c:v>
                </c:pt>
                <c:pt idx="7">
                  <c:v>22.3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9.88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18.383</c:v>
                </c:pt>
                <c:pt idx="4">
                  <c:v>19.761</c:v>
                </c:pt>
                <c:pt idx="5">
                  <c:v>20.997</c:v>
                </c:pt>
                <c:pt idx="6">
                  <c:v>21.726</c:v>
                </c:pt>
                <c:pt idx="7">
                  <c:v>23.051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0.8883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32.8</c:v>
                </c:pt>
                <c:pt idx="6">
                  <c:v>33.068</c:v>
                </c:pt>
                <c:pt idx="7">
                  <c:v>38.05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0.987"/>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Online Marketplaces</c:v>
                </c:pt>
                <c:pt idx="5">
                  <c:v>Beauty Specialty Reta…</c:v>
                </c:pt>
                <c:pt idx="6">
                  <c:v>Mass Retail</c:v>
                </c:pt>
                <c:pt idx="7">
                  <c:v>Salon and Professiona…</c:v>
                </c:pt>
              </c:strCache>
            </c:strRef>
          </c:cat>
          <c:val>
            <c:numRef>
              <c:f>Sheet1!$B$2:$B$9</c:f>
              <c:numCache>
                <c:formatCode>General</c:formatCode>
                <c:ptCount val="8"/>
                <c:pt idx="2">
                  <c:v>13.887</c:v>
                </c:pt>
                <c:pt idx="3">
                  <c:v>15.09</c:v>
                </c:pt>
                <c:pt idx="4">
                  <c:v>16.329</c:v>
                </c:pt>
                <c:pt idx="5">
                  <c:v>17.694</c:v>
                </c:pt>
                <c:pt idx="6">
                  <c:v>18.773</c:v>
                </c:pt>
                <c:pt idx="7">
                  <c:v>22.146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9.6756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12.279</c:v>
                </c:pt>
                <c:pt idx="2">
                  <c:v>14.447</c:v>
                </c:pt>
                <c:pt idx="3">
                  <c:v>14.666</c:v>
                </c:pt>
                <c:pt idx="4">
                  <c:v>14.698</c:v>
                </c:pt>
                <c:pt idx="5">
                  <c:v>14.792</c:v>
                </c:pt>
                <c:pt idx="6">
                  <c:v>16.459</c:v>
                </c:pt>
                <c:pt idx="7">
                  <c:v>16.577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2.213180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18.706</c:v>
                </c:pt>
                <c:pt idx="4">
                  <c:v>19.768</c:v>
                </c:pt>
                <c:pt idx="5">
                  <c:v>21.001</c:v>
                </c:pt>
                <c:pt idx="6">
                  <c:v>21.82</c:v>
                </c:pt>
                <c:pt idx="7">
                  <c:v>22.623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0.314820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24.968</c:v>
                </c:pt>
                <c:pt idx="5">
                  <c:v>25.877</c:v>
                </c:pt>
                <c:pt idx="6">
                  <c:v>26.075000000000003</c:v>
                </c:pt>
                <c:pt idx="7">
                  <c:v>26.999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6.1786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103.91600000000001</c:v>
                </c:pt>
                <c:pt idx="2">
                  <c:v>110.18800000000002</c:v>
                </c:pt>
                <c:pt idx="3">
                  <c:v>113.91200000000002</c:v>
                </c:pt>
                <c:pt idx="4">
                  <c:v>118.49200000000002</c:v>
                </c:pt>
                <c:pt idx="5">
                  <c:v>126.31500000000001</c:v>
                </c:pt>
                <c:pt idx="6">
                  <c:v>138.532</c:v>
                </c:pt>
                <c:pt idx="7">
                  <c:v>146.781</c:v>
                </c:pt>
                <c:pt idx="8">
                  <c:v>162.197</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103.91600000000001</c:v>
                </c:pt>
                <c:pt idx="1">
                  <c:v>6.2719999999999985</c:v>
                </c:pt>
                <c:pt idx="2">
                  <c:v>3.724</c:v>
                </c:pt>
                <c:pt idx="3">
                  <c:v>4.58</c:v>
                </c:pt>
                <c:pt idx="4">
                  <c:v>7.822999999999999</c:v>
                </c:pt>
                <c:pt idx="5">
                  <c:v>12.216999999999999</c:v>
                </c:pt>
                <c:pt idx="6">
                  <c:v>8.248999999999999</c:v>
                </c:pt>
                <c:pt idx="7">
                  <c:v>15.416</c:v>
                </c:pt>
                <c:pt idx="8">
                  <c:v>11.859</c:v>
                </c:pt>
                <c:pt idx="9">
                  <c:v>174.056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6.2719999999999985</c:v>
                </c:pt>
                <c:pt idx="2">
                  <c:v>9.995999999999999</c:v>
                </c:pt>
                <c:pt idx="3">
                  <c:v>14.575999999999999</c:v>
                </c:pt>
                <c:pt idx="4">
                  <c:v>22.398999999999997</c:v>
                </c:pt>
                <c:pt idx="5">
                  <c:v>34.616</c:v>
                </c:pt>
                <c:pt idx="6">
                  <c:v>42.864999999999995</c:v>
                </c:pt>
                <c:pt idx="7">
                  <c:v>58.28099999999999</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6.2719999999999985</c:v>
                </c:pt>
                <c:pt idx="1">
                  <c:v>3.724</c:v>
                </c:pt>
                <c:pt idx="2">
                  <c:v>4.58</c:v>
                </c:pt>
                <c:pt idx="3">
                  <c:v>7.822999999999999</c:v>
                </c:pt>
                <c:pt idx="4">
                  <c:v>12.216999999999999</c:v>
                </c:pt>
                <c:pt idx="5">
                  <c:v>8.248999999999999</c:v>
                </c:pt>
                <c:pt idx="6">
                  <c:v>15.416</c:v>
                </c:pt>
                <c:pt idx="7">
                  <c:v>11.859</c:v>
                </c:pt>
                <c:pt idx="8">
                  <c:v>70.14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103.91799999999999</c:v>
                </c:pt>
                <c:pt idx="2">
                  <c:v>119.068</c:v>
                </c:pt>
                <c:pt idx="3">
                  <c:v>136.792</c:v>
                </c:pt>
                <c:pt idx="4">
                  <c:v>152.05700000000002</c:v>
                </c:pt>
                <c:pt idx="5">
                  <c:v>164.69400000000002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103.91799999999999</c:v>
                </c:pt>
                <c:pt idx="1">
                  <c:v>15.150000000000002</c:v>
                </c:pt>
                <c:pt idx="2">
                  <c:v>17.723999999999997</c:v>
                </c:pt>
                <c:pt idx="3">
                  <c:v>15.265000000000004</c:v>
                </c:pt>
                <c:pt idx="4">
                  <c:v>12.637</c:v>
                </c:pt>
                <c:pt idx="5">
                  <c:v>9.363</c:v>
                </c:pt>
                <c:pt idx="6">
                  <c:v>174.05700000000002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15.150000000000002</c:v>
                </c:pt>
                <c:pt idx="2">
                  <c:v>32.873999999999995</c:v>
                </c:pt>
                <c:pt idx="3">
                  <c:v>48.138999999999996</c:v>
                </c:pt>
                <c:pt idx="4">
                  <c:v>60.775999999999996</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15.150000000000002</c:v>
                </c:pt>
                <c:pt idx="1">
                  <c:v>17.723999999999997</c:v>
                </c:pt>
                <c:pt idx="2">
                  <c:v>15.265000000000004</c:v>
                </c:pt>
                <c:pt idx="3">
                  <c:v>12.637</c:v>
                </c:pt>
                <c:pt idx="4">
                  <c:v>9.363</c:v>
                </c:pt>
                <c:pt idx="5">
                  <c:v>70.139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103.91799999999999</c:v>
                </c:pt>
                <c:pt idx="2">
                  <c:v>126.121</c:v>
                </c:pt>
                <c:pt idx="3">
                  <c:v>148.588</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103.91799999999999</c:v>
                </c:pt>
                <c:pt idx="1">
                  <c:v>22.203000000000003</c:v>
                </c:pt>
                <c:pt idx="2">
                  <c:v>22.467000000000006</c:v>
                </c:pt>
                <c:pt idx="3">
                  <c:v>25.468000000000004</c:v>
                </c:pt>
                <c:pt idx="4">
                  <c:v>174.056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22.203000000000003</c:v>
                </c:pt>
                <c:pt idx="2">
                  <c:v>44.67000000000001</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22.203000000000003</c:v>
                </c:pt>
                <c:pt idx="1">
                  <c:v>22.467000000000006</c:v>
                </c:pt>
                <c:pt idx="2">
                  <c:v>25.468000000000004</c:v>
                </c:pt>
                <c:pt idx="3">
                  <c:v>70.138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103.91900000000001</c:v>
                </c:pt>
                <c:pt idx="2">
                  <c:v>112.93</c:v>
                </c:pt>
                <c:pt idx="3">
                  <c:v>125.498</c:v>
                </c:pt>
                <c:pt idx="4">
                  <c:v>139.527</c:v>
                </c:pt>
                <c:pt idx="5">
                  <c:v>147.94899999999998</c:v>
                </c:pt>
                <c:pt idx="6">
                  <c:v>162.64999999999998</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103.91900000000001</c:v>
                </c:pt>
                <c:pt idx="1">
                  <c:v>9.011</c:v>
                </c:pt>
                <c:pt idx="2">
                  <c:v>12.568000000000001</c:v>
                </c:pt>
                <c:pt idx="3">
                  <c:v>14.028999999999996</c:v>
                </c:pt>
                <c:pt idx="4">
                  <c:v>8.422</c:v>
                </c:pt>
                <c:pt idx="5">
                  <c:v>14.701</c:v>
                </c:pt>
                <c:pt idx="6">
                  <c:v>11.405999999999999</c:v>
                </c:pt>
                <c:pt idx="7">
                  <c:v>174.056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9.011</c:v>
                </c:pt>
                <c:pt idx="2">
                  <c:v>21.579</c:v>
                </c:pt>
                <c:pt idx="3">
                  <c:v>35.608</c:v>
                </c:pt>
                <c:pt idx="4">
                  <c:v>44.03</c:v>
                </c:pt>
                <c:pt idx="5">
                  <c:v>58.731</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9.011</c:v>
                </c:pt>
                <c:pt idx="1">
                  <c:v>12.568000000000001</c:v>
                </c:pt>
                <c:pt idx="2">
                  <c:v>14.028999999999996</c:v>
                </c:pt>
                <c:pt idx="3">
                  <c:v>8.422</c:v>
                </c:pt>
                <c:pt idx="4">
                  <c:v>14.701</c:v>
                </c:pt>
                <c:pt idx="5">
                  <c:v>11.405999999999999</c:v>
                </c:pt>
                <c:pt idx="6">
                  <c:v>70.137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103.91799999999999</c:v>
                </c:pt>
                <c:pt idx="2">
                  <c:v>111.106</c:v>
                </c:pt>
                <c:pt idx="3">
                  <c:v>124.905</c:v>
                </c:pt>
                <c:pt idx="4">
                  <c:v>133.399</c:v>
                </c:pt>
                <c:pt idx="5">
                  <c:v>143.122</c:v>
                </c:pt>
                <c:pt idx="6">
                  <c:v>155.69500000000002</c:v>
                </c:pt>
                <c:pt idx="7">
                  <c:v>161.94800000000004</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103.91799999999999</c:v>
                </c:pt>
                <c:pt idx="1">
                  <c:v>7.187999999999999</c:v>
                </c:pt>
                <c:pt idx="2">
                  <c:v>13.799000000000001</c:v>
                </c:pt>
                <c:pt idx="3">
                  <c:v>8.494</c:v>
                </c:pt>
                <c:pt idx="4">
                  <c:v>9.722999999999999</c:v>
                </c:pt>
                <c:pt idx="5">
                  <c:v>12.573</c:v>
                </c:pt>
                <c:pt idx="6">
                  <c:v>6.253</c:v>
                </c:pt>
                <c:pt idx="7">
                  <c:v>12.11</c:v>
                </c:pt>
                <c:pt idx="8">
                  <c:v>174.05800000000002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7.187999999999999</c:v>
                </c:pt>
                <c:pt idx="2">
                  <c:v>20.987000000000002</c:v>
                </c:pt>
                <c:pt idx="3">
                  <c:v>29.481</c:v>
                </c:pt>
                <c:pt idx="4">
                  <c:v>39.204</c:v>
                </c:pt>
                <c:pt idx="5">
                  <c:v>51.777</c:v>
                </c:pt>
                <c:pt idx="6">
                  <c:v>58.03</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7.187999999999999</c:v>
                </c:pt>
                <c:pt idx="1">
                  <c:v>13.799000000000001</c:v>
                </c:pt>
                <c:pt idx="2">
                  <c:v>8.494</c:v>
                </c:pt>
                <c:pt idx="3">
                  <c:v>9.722999999999999</c:v>
                </c:pt>
                <c:pt idx="4">
                  <c:v>12.573</c:v>
                </c:pt>
                <c:pt idx="5">
                  <c:v>6.253</c:v>
                </c:pt>
                <c:pt idx="6">
                  <c:v>12.11</c:v>
                </c:pt>
                <c:pt idx="7">
                  <c:v>70.14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103.918</c:v>
                </c:pt>
                <c:pt idx="2">
                  <c:v>115.19500000000001</c:v>
                </c:pt>
                <c:pt idx="3">
                  <c:v>129.261</c:v>
                </c:pt>
                <c:pt idx="4">
                  <c:v>144.62099999999998</c:v>
                </c:pt>
                <c:pt idx="5">
                  <c:v>160.612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103.918</c:v>
                </c:pt>
                <c:pt idx="1">
                  <c:v>11.277000000000001</c:v>
                </c:pt>
                <c:pt idx="2">
                  <c:v>14.065999999999999</c:v>
                </c:pt>
                <c:pt idx="3">
                  <c:v>15.36</c:v>
                </c:pt>
                <c:pt idx="4">
                  <c:v>15.991000000000003</c:v>
                </c:pt>
                <c:pt idx="5">
                  <c:v>13.443999999999999</c:v>
                </c:pt>
                <c:pt idx="6">
                  <c:v>174.056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11.277000000000001</c:v>
                </c:pt>
                <c:pt idx="2">
                  <c:v>25.343</c:v>
                </c:pt>
                <c:pt idx="3">
                  <c:v>40.703</c:v>
                </c:pt>
                <c:pt idx="4">
                  <c:v>56.694</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11.277000000000001</c:v>
                </c:pt>
                <c:pt idx="1">
                  <c:v>14.065999999999999</c:v>
                </c:pt>
                <c:pt idx="2">
                  <c:v>15.36</c:v>
                </c:pt>
                <c:pt idx="3">
                  <c:v>15.991000000000003</c:v>
                </c:pt>
                <c:pt idx="4">
                  <c:v>13.443999999999999</c:v>
                </c:pt>
                <c:pt idx="5">
                  <c:v>70.138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103.919</c:v>
                </c:pt>
                <c:pt idx="2">
                  <c:v>119.489</c:v>
                </c:pt>
                <c:pt idx="3">
                  <c:v>137.359</c:v>
                </c:pt>
                <c:pt idx="4">
                  <c:v>153.162</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103.919</c:v>
                </c:pt>
                <c:pt idx="1">
                  <c:v>15.570000000000004</c:v>
                </c:pt>
                <c:pt idx="2">
                  <c:v>17.869999999999997</c:v>
                </c:pt>
                <c:pt idx="3">
                  <c:v>15.803</c:v>
                </c:pt>
                <c:pt idx="4">
                  <c:v>20.895</c:v>
                </c:pt>
                <c:pt idx="5">
                  <c:v>174.05700000000002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15.570000000000004</c:v>
                </c:pt>
                <c:pt idx="2">
                  <c:v>33.44</c:v>
                </c:pt>
                <c:pt idx="3">
                  <c:v>49.242999999999995</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15.570000000000004</c:v>
                </c:pt>
                <c:pt idx="1">
                  <c:v>17.869999999999997</c:v>
                </c:pt>
                <c:pt idx="2">
                  <c:v>15.803</c:v>
                </c:pt>
                <c:pt idx="3">
                  <c:v>20.895</c:v>
                </c:pt>
                <c:pt idx="4">
                  <c:v>70.13799999999999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104.48100000000001</c:v>
                </c:pt>
                <c:pt idx="1">
                  <c:v>107.917</c:v>
                </c:pt>
                <c:pt idx="2">
                  <c:v>111.44800000000001</c:v>
                </c:pt>
                <c:pt idx="3">
                  <c:v>115.065</c:v>
                </c:pt>
                <c:pt idx="4">
                  <c:v>118.857</c:v>
                </c:pt>
                <c:pt idx="5">
                  <c:v>123.026</c:v>
                </c:pt>
                <c:pt idx="6">
                  <c:v>127.64699999999999</c:v>
                </c:pt>
                <c:pt idx="7">
                  <c:v>132.788</c:v>
                </c:pt>
                <c:pt idx="8">
                  <c:v>138.48399999999998</c:v>
                </c:pt>
                <c:pt idx="9">
                  <c:v>144.709</c:v>
                </c:pt>
                <c:pt idx="10">
                  <c:v>151.382</c:v>
                </c:pt>
                <c:pt idx="11">
                  <c:v>158.45</c:v>
                </c:pt>
                <c:pt idx="12">
                  <c:v>165.818</c:v>
                </c:pt>
                <c:pt idx="13">
                  <c:v>173.45</c:v>
                </c:pt>
                <c:pt idx="14">
                  <c:v>181.241</c:v>
                </c:pt>
                <c:pt idx="15">
                  <c:v>189.196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Russia</c:v>
                </c:pt>
              </c:strCache>
            </c:strRef>
          </c:cat>
          <c:val>
            <c:numRef>
              <c:f>Sheet1!$B$2:$B$4</c:f>
              <c:numCache>
                <c:formatCode>General</c:formatCode>
                <c:ptCount val="3"/>
                <c:pt idx="0">
                  <c:v>0.05245930274733035</c:v>
                </c:pt>
                <c:pt idx="1">
                  <c:v>0.04646744386955093</c:v>
                </c:pt>
                <c:pt idx="2">
                  <c:v>0.04397837950510142</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123.026</c:v>
                </c:pt>
                <c:pt idx="2">
                  <c:v>127.64699999999999</c:v>
                </c:pt>
                <c:pt idx="3">
                  <c:v>132.788</c:v>
                </c:pt>
                <c:pt idx="4">
                  <c:v>138.48399999999998</c:v>
                </c:pt>
                <c:pt idx="5">
                  <c:v>144.709</c:v>
                </c:pt>
                <c:pt idx="6">
                  <c:v>151.382</c:v>
                </c:pt>
                <c:pt idx="7">
                  <c:v>158.45</c:v>
                </c:pt>
                <c:pt idx="8">
                  <c:v>165.818</c:v>
                </c:pt>
                <c:pt idx="9">
                  <c:v>173.45</c:v>
                </c:pt>
                <c:pt idx="10">
                  <c:v>181.241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123.026</c:v>
                </c:pt>
                <c:pt idx="1">
                  <c:v>4.620999999999995</c:v>
                </c:pt>
                <c:pt idx="2">
                  <c:v>5.1410000000000196</c:v>
                </c:pt>
                <c:pt idx="3">
                  <c:v>5.6959999999999695</c:v>
                </c:pt>
                <c:pt idx="4">
                  <c:v>6.225000000000023</c:v>
                </c:pt>
                <c:pt idx="5">
                  <c:v>6.673000000000002</c:v>
                </c:pt>
                <c:pt idx="6">
                  <c:v>7.067999999999984</c:v>
                </c:pt>
                <c:pt idx="7">
                  <c:v>7.368000000000023</c:v>
                </c:pt>
                <c:pt idx="8">
                  <c:v>7.631999999999977</c:v>
                </c:pt>
                <c:pt idx="9">
                  <c:v>7.791000000000025</c:v>
                </c:pt>
                <c:pt idx="10">
                  <c:v>7.954999999999984</c:v>
                </c:pt>
                <c:pt idx="11">
                  <c:v>189.196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Russia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9.08274104966914</c:v>
                </c:pt>
                <c:pt idx="1">
                  <c:v>1.5550813489590616</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90.91725895033086</c:v>
                </c:pt>
                <c:pt idx="1">
                  <c:v>98.44491865104094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138.805</c:v>
                </c:pt>
                <c:pt idx="1">
                  <c:v>144.19299999999998</c:v>
                </c:pt>
                <c:pt idx="2">
                  <c:v>149.80700000000002</c:v>
                </c:pt>
                <c:pt idx="3">
                  <c:v>155.726</c:v>
                </c:pt>
                <c:pt idx="4">
                  <c:v>161.997</c:v>
                </c:pt>
                <c:pt idx="5">
                  <c:v>169.64000000000001</c:v>
                </c:pt>
                <c:pt idx="6">
                  <c:v>178.275</c:v>
                </c:pt>
                <c:pt idx="7">
                  <c:v>188.055</c:v>
                </c:pt>
                <c:pt idx="8">
                  <c:v>199.091</c:v>
                </c:pt>
                <c:pt idx="9">
                  <c:v>211.45600000000002</c:v>
                </c:pt>
                <c:pt idx="10">
                  <c:v>225.04999999999998</c:v>
                </c:pt>
                <c:pt idx="11">
                  <c:v>239.911</c:v>
                </c:pt>
                <c:pt idx="12">
                  <c:v>255.933</c:v>
                </c:pt>
                <c:pt idx="13">
                  <c:v>273.142</c:v>
                </c:pt>
                <c:pt idx="14">
                  <c:v>291.572</c:v>
                </c:pt>
                <c:pt idx="15">
                  <c:v>311.22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Russia</c:v>
                </c:pt>
              </c:strCache>
            </c:strRef>
          </c:cat>
          <c:val>
            <c:numRef>
              <c:f>Sheet1!$B$2:$B$4</c:f>
              <c:numCache>
                <c:formatCode>General</c:formatCode>
                <c:ptCount val="3"/>
                <c:pt idx="0">
                  <c:v>0.06658666629421717</c:v>
                </c:pt>
                <c:pt idx="1">
                  <c:v>0.06255449919419975</c:v>
                </c:pt>
                <c:pt idx="2">
                  <c:v>0.06256112683297221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91999497193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169.64000000000001</c:v>
                </c:pt>
                <c:pt idx="2">
                  <c:v>178.275</c:v>
                </c:pt>
                <c:pt idx="3">
                  <c:v>188.055</c:v>
                </c:pt>
                <c:pt idx="4">
                  <c:v>199.091</c:v>
                </c:pt>
                <c:pt idx="5">
                  <c:v>211.45600000000002</c:v>
                </c:pt>
                <c:pt idx="6">
                  <c:v>225.04999999999998</c:v>
                </c:pt>
                <c:pt idx="7">
                  <c:v>239.911</c:v>
                </c:pt>
                <c:pt idx="8">
                  <c:v>255.933</c:v>
                </c:pt>
                <c:pt idx="9">
                  <c:v>273.142</c:v>
                </c:pt>
                <c:pt idx="10">
                  <c:v>291.572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169.64000000000001</c:v>
                </c:pt>
                <c:pt idx="1">
                  <c:v>8.634999999999991</c:v>
                </c:pt>
                <c:pt idx="2">
                  <c:v>9.780000000000001</c:v>
                </c:pt>
                <c:pt idx="3">
                  <c:v>11.036000000000001</c:v>
                </c:pt>
                <c:pt idx="4">
                  <c:v>12.365000000000009</c:v>
                </c:pt>
                <c:pt idx="5">
                  <c:v>13.593999999999966</c:v>
                </c:pt>
                <c:pt idx="6">
                  <c:v>14.861000000000018</c:v>
                </c:pt>
                <c:pt idx="7">
                  <c:v>16.02199999999999</c:v>
                </c:pt>
                <c:pt idx="8">
                  <c:v>17.209000000000003</c:v>
                </c:pt>
                <c:pt idx="9">
                  <c:v>18.430000000000007</c:v>
                </c:pt>
                <c:pt idx="10">
                  <c:v>19.648000000000025</c:v>
                </c:pt>
                <c:pt idx="11">
                  <c:v>311.22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Russia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6.034910269664154</c:v>
                </c:pt>
                <c:pt idx="1">
                  <c:v>1.0532480072478165</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93.96508973033585</c:v>
                </c:pt>
                <c:pt idx="1">
                  <c:v>98.94675199275218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Waxes, Clays, Pastes…</c:v>
                </c:pt>
                <c:pt idx="6">
                  <c:v>Sprays and Mists</c:v>
                </c:pt>
                <c:pt idx="7">
                  <c:v>Serums and Oils</c:v>
                </c:pt>
              </c:strCache>
            </c:strRef>
          </c:cat>
          <c:val>
            <c:numRef>
              <c:f>Sheet1!$B$2:$B$9</c:f>
              <c:numCache>
                <c:formatCode>General</c:formatCode>
                <c:ptCount val="8"/>
                <c:pt idx="0">
                  <c:v>13.318000000000001</c:v>
                </c:pt>
                <c:pt idx="1">
                  <c:v>14.894</c:v>
                </c:pt>
                <c:pt idx="2">
                  <c:v>17.114</c:v>
                </c:pt>
                <c:pt idx="3">
                  <c:v>18.697</c:v>
                </c:pt>
                <c:pt idx="4">
                  <c:v>22.044</c:v>
                </c:pt>
                <c:pt idx="5">
                  <c:v>26.89</c:v>
                </c:pt>
                <c:pt idx="6">
                  <c:v>26.987000000000002</c:v>
                </c:pt>
                <c:pt idx="7">
                  <c:v>29.696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9.7926400000000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No Hold</c:v>
                </c:pt>
                <c:pt idx="4">
                  <c:v>Light or Flexible Hold</c:v>
                </c:pt>
                <c:pt idx="5">
                  <c:v>Extra-strong Hold</c:v>
                </c:pt>
                <c:pt idx="6">
                  <c:v>Medium Hold</c:v>
                </c:pt>
                <c:pt idx="7">
                  <c:v>Strong Hold</c:v>
                </c:pt>
              </c:strCache>
            </c:strRef>
          </c:cat>
          <c:val>
            <c:numRef>
              <c:f>Sheet1!$B$2:$B$9</c:f>
              <c:numCache>
                <c:formatCode>General</c:formatCode>
                <c:ptCount val="8"/>
                <c:pt idx="3">
                  <c:v>26.327</c:v>
                </c:pt>
                <c:pt idx="4">
                  <c:v>32.733</c:v>
                </c:pt>
                <c:pt idx="5">
                  <c:v>34.233</c:v>
                </c:pt>
                <c:pt idx="6">
                  <c:v>35.939</c:v>
                </c:pt>
                <c:pt idx="7">
                  <c:v>40.407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4.14537999999999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55.359</c:v>
                </c:pt>
                <c:pt idx="6">
                  <c:v>56.383</c:v>
                </c:pt>
                <c:pt idx="7">
                  <c:v>57.898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7.58332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Beauty Specialty Reta…</c:v>
                </c:pt>
                <c:pt idx="4">
                  <c:v>Online Marketplaces</c:v>
                </c:pt>
                <c:pt idx="5">
                  <c:v>Pharmacies and Drugst…</c:v>
                </c:pt>
                <c:pt idx="6">
                  <c:v>Salon and Professiona…</c:v>
                </c:pt>
                <c:pt idx="7">
                  <c:v>Mass Retail</c:v>
                </c:pt>
              </c:strCache>
            </c:strRef>
          </c:cat>
          <c:val>
            <c:numRef>
              <c:f>Sheet1!$B$2:$B$9</c:f>
              <c:numCache>
                <c:formatCode>General</c:formatCode>
                <c:ptCount val="8"/>
                <c:pt idx="2">
                  <c:v>20.803</c:v>
                </c:pt>
                <c:pt idx="3">
                  <c:v>25.833</c:v>
                </c:pt>
                <c:pt idx="4">
                  <c:v>27.004</c:v>
                </c:pt>
                <c:pt idx="5">
                  <c:v>28.024</c:v>
                </c:pt>
                <c:pt idx="6">
                  <c:v>29.045</c:v>
                </c:pt>
                <c:pt idx="7">
                  <c:v>38.932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2.16888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20.046</c:v>
                </c:pt>
                <c:pt idx="2">
                  <c:v>23.581</c:v>
                </c:pt>
                <c:pt idx="3">
                  <c:v>23.953</c:v>
                </c:pt>
                <c:pt idx="4">
                  <c:v>24.0</c:v>
                </c:pt>
                <c:pt idx="5">
                  <c:v>24.141</c:v>
                </c:pt>
                <c:pt idx="6">
                  <c:v>26.849</c:v>
                </c:pt>
                <c:pt idx="7">
                  <c:v>27.071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6.27514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30.528</c:v>
                </c:pt>
                <c:pt idx="4">
                  <c:v>32.244</c:v>
                </c:pt>
                <c:pt idx="5">
                  <c:v>34.298</c:v>
                </c:pt>
                <c:pt idx="6">
                  <c:v>35.632</c:v>
                </c:pt>
                <c:pt idx="7">
                  <c:v>36.938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9.4969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40.647</c:v>
                </c:pt>
                <c:pt idx="5">
                  <c:v>42.366</c:v>
                </c:pt>
                <c:pt idx="6">
                  <c:v>42.622</c:v>
                </c:pt>
                <c:pt idx="7">
                  <c:v>44.004999999999995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8.96669999999999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169.64000000000001</c:v>
                </c:pt>
                <c:pt idx="2">
                  <c:v>186.763</c:v>
                </c:pt>
                <c:pt idx="3">
                  <c:v>194.58100000000002</c:v>
                </c:pt>
                <c:pt idx="4">
                  <c:v>205.847</c:v>
                </c:pt>
                <c:pt idx="5">
                  <c:v>221.234</c:v>
                </c:pt>
                <c:pt idx="6">
                  <c:v>238.139</c:v>
                </c:pt>
                <c:pt idx="7">
                  <c:v>257.702</c:v>
                </c:pt>
                <c:pt idx="8">
                  <c:v>286.076</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169.64000000000001</c:v>
                </c:pt>
                <c:pt idx="1">
                  <c:v>17.122999999999998</c:v>
                </c:pt>
                <c:pt idx="2">
                  <c:v>7.818000000000001</c:v>
                </c:pt>
                <c:pt idx="3">
                  <c:v>11.266</c:v>
                </c:pt>
                <c:pt idx="4">
                  <c:v>15.387000000000004</c:v>
                </c:pt>
                <c:pt idx="5">
                  <c:v>16.905</c:v>
                </c:pt>
                <c:pt idx="6">
                  <c:v>19.563</c:v>
                </c:pt>
                <c:pt idx="7">
                  <c:v>28.374</c:v>
                </c:pt>
                <c:pt idx="8">
                  <c:v>25.144000000000002</c:v>
                </c:pt>
                <c:pt idx="9">
                  <c:v>311.22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17.122999999999998</c:v>
                </c:pt>
                <c:pt idx="2">
                  <c:v>24.941</c:v>
                </c:pt>
                <c:pt idx="3">
                  <c:v>36.207</c:v>
                </c:pt>
                <c:pt idx="4">
                  <c:v>51.59400000000001</c:v>
                </c:pt>
                <c:pt idx="5">
                  <c:v>68.49900000000001</c:v>
                </c:pt>
                <c:pt idx="6">
                  <c:v>88.06200000000001</c:v>
                </c:pt>
                <c:pt idx="7">
                  <c:v>116.436</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17.122999999999998</c:v>
                </c:pt>
                <c:pt idx="1">
                  <c:v>7.818000000000001</c:v>
                </c:pt>
                <c:pt idx="2">
                  <c:v>11.266</c:v>
                </c:pt>
                <c:pt idx="3">
                  <c:v>15.387000000000004</c:v>
                </c:pt>
                <c:pt idx="4">
                  <c:v>16.905</c:v>
                </c:pt>
                <c:pt idx="5">
                  <c:v>19.563</c:v>
                </c:pt>
                <c:pt idx="6">
                  <c:v>28.374</c:v>
                </c:pt>
                <c:pt idx="7">
                  <c:v>25.144000000000002</c:v>
                </c:pt>
                <c:pt idx="8">
                  <c:v>141.58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169.639</c:v>
                </c:pt>
                <c:pt idx="2">
                  <c:v>194.638</c:v>
                </c:pt>
                <c:pt idx="3">
                  <c:v>228.471</c:v>
                </c:pt>
                <c:pt idx="4">
                  <c:v>258.396</c:v>
                </c:pt>
                <c:pt idx="5">
                  <c:v>288.457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169.639</c:v>
                </c:pt>
                <c:pt idx="1">
                  <c:v>24.999</c:v>
                </c:pt>
                <c:pt idx="2">
                  <c:v>33.833000000000006</c:v>
                </c:pt>
                <c:pt idx="3">
                  <c:v>29.925000000000004</c:v>
                </c:pt>
                <c:pt idx="4">
                  <c:v>30.061000000000007</c:v>
                </c:pt>
                <c:pt idx="5">
                  <c:v>22.763000000000005</c:v>
                </c:pt>
                <c:pt idx="6">
                  <c:v>311.21999999999997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24.999</c:v>
                </c:pt>
                <c:pt idx="2">
                  <c:v>58.83200000000001</c:v>
                </c:pt>
                <c:pt idx="3">
                  <c:v>88.757</c:v>
                </c:pt>
                <c:pt idx="4">
                  <c:v>118.81800000000001</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24.999</c:v>
                </c:pt>
                <c:pt idx="1">
                  <c:v>33.833000000000006</c:v>
                </c:pt>
                <c:pt idx="2">
                  <c:v>29.925000000000004</c:v>
                </c:pt>
                <c:pt idx="3">
                  <c:v>30.061000000000007</c:v>
                </c:pt>
                <c:pt idx="4">
                  <c:v>22.763000000000005</c:v>
                </c:pt>
                <c:pt idx="5">
                  <c:v>141.58100000000002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169.64000000000001</c:v>
                </c:pt>
                <c:pt idx="2">
                  <c:v>216.25400000000002</c:v>
                </c:pt>
                <c:pt idx="3">
                  <c:v>259.002</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169.64000000000001</c:v>
                </c:pt>
                <c:pt idx="1">
                  <c:v>46.614</c:v>
                </c:pt>
                <c:pt idx="2">
                  <c:v>42.748</c:v>
                </c:pt>
                <c:pt idx="3">
                  <c:v>52.217999999999996</c:v>
                </c:pt>
                <c:pt idx="4">
                  <c:v>311.22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46.614</c:v>
                </c:pt>
                <c:pt idx="2">
                  <c:v>89.362</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46.614</c:v>
                </c:pt>
                <c:pt idx="1">
                  <c:v>42.748</c:v>
                </c:pt>
                <c:pt idx="2">
                  <c:v>52.217999999999996</c:v>
                </c:pt>
                <c:pt idx="3">
                  <c:v>141.57999999999998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169.641</c:v>
                </c:pt>
                <c:pt idx="2">
                  <c:v>194.28199999999998</c:v>
                </c:pt>
                <c:pt idx="3">
                  <c:v>217.16299999999998</c:v>
                </c:pt>
                <c:pt idx="4">
                  <c:v>240.452</c:v>
                </c:pt>
                <c:pt idx="5">
                  <c:v>260.61</c:v>
                </c:pt>
                <c:pt idx="6">
                  <c:v>290.204</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169.641</c:v>
                </c:pt>
                <c:pt idx="1">
                  <c:v>24.641</c:v>
                </c:pt>
                <c:pt idx="2">
                  <c:v>22.881</c:v>
                </c:pt>
                <c:pt idx="3">
                  <c:v>23.289</c:v>
                </c:pt>
                <c:pt idx="4">
                  <c:v>20.158</c:v>
                </c:pt>
                <c:pt idx="5">
                  <c:v>29.593999999999998</c:v>
                </c:pt>
                <c:pt idx="6">
                  <c:v>21.016000000000002</c:v>
                </c:pt>
                <c:pt idx="7">
                  <c:v>311.22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24.641</c:v>
                </c:pt>
                <c:pt idx="2">
                  <c:v>47.522</c:v>
                </c:pt>
                <c:pt idx="3">
                  <c:v>70.811</c:v>
                </c:pt>
                <c:pt idx="4">
                  <c:v>90.96900000000001</c:v>
                </c:pt>
                <c:pt idx="5">
                  <c:v>120.563</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24.641</c:v>
                </c:pt>
                <c:pt idx="1">
                  <c:v>22.881</c:v>
                </c:pt>
                <c:pt idx="2">
                  <c:v>23.289</c:v>
                </c:pt>
                <c:pt idx="3">
                  <c:v>20.158</c:v>
                </c:pt>
                <c:pt idx="4">
                  <c:v>29.593999999999998</c:v>
                </c:pt>
                <c:pt idx="5">
                  <c:v>21.016000000000002</c:v>
                </c:pt>
                <c:pt idx="6">
                  <c:v>141.579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169.641</c:v>
                </c:pt>
                <c:pt idx="2">
                  <c:v>185.088</c:v>
                </c:pt>
                <c:pt idx="3">
                  <c:v>212.041</c:v>
                </c:pt>
                <c:pt idx="4">
                  <c:v>229.508</c:v>
                </c:pt>
                <c:pt idx="5">
                  <c:v>249.17600000000002</c:v>
                </c:pt>
                <c:pt idx="6">
                  <c:v>274.22900000000004</c:v>
                </c:pt>
                <c:pt idx="7">
                  <c:v>287.33200000000005</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169.641</c:v>
                </c:pt>
                <c:pt idx="1">
                  <c:v>15.447</c:v>
                </c:pt>
                <c:pt idx="2">
                  <c:v>26.953000000000003</c:v>
                </c:pt>
                <c:pt idx="3">
                  <c:v>17.467000000000002</c:v>
                </c:pt>
                <c:pt idx="4">
                  <c:v>19.668</c:v>
                </c:pt>
                <c:pt idx="5">
                  <c:v>25.053</c:v>
                </c:pt>
                <c:pt idx="6">
                  <c:v>13.103000000000002</c:v>
                </c:pt>
                <c:pt idx="7">
                  <c:v>23.887000000000004</c:v>
                </c:pt>
                <c:pt idx="8">
                  <c:v>311.219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15.447</c:v>
                </c:pt>
                <c:pt idx="2">
                  <c:v>42.400000000000006</c:v>
                </c:pt>
                <c:pt idx="3">
                  <c:v>59.867000000000004</c:v>
                </c:pt>
                <c:pt idx="4">
                  <c:v>79.535</c:v>
                </c:pt>
                <c:pt idx="5">
                  <c:v>104.588</c:v>
                </c:pt>
                <c:pt idx="6">
                  <c:v>117.691</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15.447</c:v>
                </c:pt>
                <c:pt idx="1">
                  <c:v>26.953000000000003</c:v>
                </c:pt>
                <c:pt idx="2">
                  <c:v>17.467000000000002</c:v>
                </c:pt>
                <c:pt idx="3">
                  <c:v>19.668</c:v>
                </c:pt>
                <c:pt idx="4">
                  <c:v>25.053</c:v>
                </c:pt>
                <c:pt idx="5">
                  <c:v>13.103000000000002</c:v>
                </c:pt>
                <c:pt idx="6">
                  <c:v>23.887000000000004</c:v>
                </c:pt>
                <c:pt idx="7">
                  <c:v>141.578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169.64</c:v>
                </c:pt>
                <c:pt idx="2">
                  <c:v>193.21099999999998</c:v>
                </c:pt>
                <c:pt idx="3">
                  <c:v>221.613</c:v>
                </c:pt>
                <c:pt idx="4">
                  <c:v>252.167</c:v>
                </c:pt>
                <c:pt idx="5">
                  <c:v>283.654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169.64</c:v>
                </c:pt>
                <c:pt idx="1">
                  <c:v>23.571000000000005</c:v>
                </c:pt>
                <c:pt idx="2">
                  <c:v>28.402</c:v>
                </c:pt>
                <c:pt idx="3">
                  <c:v>30.554000000000002</c:v>
                </c:pt>
                <c:pt idx="4">
                  <c:v>31.487000000000002</c:v>
                </c:pt>
                <c:pt idx="5">
                  <c:v>27.564999999999998</c:v>
                </c:pt>
                <c:pt idx="6">
                  <c:v>311.219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23.571000000000005</c:v>
                </c:pt>
                <c:pt idx="2">
                  <c:v>51.973000000000006</c:v>
                </c:pt>
                <c:pt idx="3">
                  <c:v>82.52700000000002</c:v>
                </c:pt>
                <c:pt idx="4">
                  <c:v>114.01400000000001</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23.571000000000005</c:v>
                </c:pt>
                <c:pt idx="1">
                  <c:v>28.402</c:v>
                </c:pt>
                <c:pt idx="2">
                  <c:v>30.554000000000002</c:v>
                </c:pt>
                <c:pt idx="3">
                  <c:v>31.487000000000002</c:v>
                </c:pt>
                <c:pt idx="4">
                  <c:v>27.564999999999998</c:v>
                </c:pt>
                <c:pt idx="5">
                  <c:v>141.579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169.64</c:v>
                </c:pt>
                <c:pt idx="2">
                  <c:v>199.635</c:v>
                </c:pt>
                <c:pt idx="3">
                  <c:v>237.963</c:v>
                </c:pt>
                <c:pt idx="4">
                  <c:v>272.418</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169.64</c:v>
                </c:pt>
                <c:pt idx="1">
                  <c:v>29.995000000000005</c:v>
                </c:pt>
                <c:pt idx="2">
                  <c:v>38.328</c:v>
                </c:pt>
                <c:pt idx="3">
                  <c:v>34.455</c:v>
                </c:pt>
                <c:pt idx="4">
                  <c:v>38.803000000000004</c:v>
                </c:pt>
                <c:pt idx="5">
                  <c:v>311.221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29.995000000000005</c:v>
                </c:pt>
                <c:pt idx="2">
                  <c:v>68.32300000000001</c:v>
                </c:pt>
                <c:pt idx="3">
                  <c:v>102.778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29.995000000000005</c:v>
                </c:pt>
                <c:pt idx="1">
                  <c:v>38.328</c:v>
                </c:pt>
                <c:pt idx="2">
                  <c:v>34.455</c:v>
                </c:pt>
                <c:pt idx="3">
                  <c:v>38.803000000000004</c:v>
                </c:pt>
                <c:pt idx="4">
                  <c:v>141.58100000000002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39.087</c:v>
                </c:pt>
                <c:pt idx="1">
                  <c:v>40.942</c:v>
                </c:pt>
                <c:pt idx="2">
                  <c:v>42.876999999999995</c:v>
                </c:pt>
                <c:pt idx="3">
                  <c:v>44.887</c:v>
                </c:pt>
                <c:pt idx="4">
                  <c:v>47.021</c:v>
                </c:pt>
                <c:pt idx="5">
                  <c:v>49.391</c:v>
                </c:pt>
                <c:pt idx="6">
                  <c:v>52.05</c:v>
                </c:pt>
                <c:pt idx="7">
                  <c:v>55.04600000000001</c:v>
                </c:pt>
                <c:pt idx="8">
                  <c:v>58.402</c:v>
                </c:pt>
                <c:pt idx="9">
                  <c:v>62.117</c:v>
                </c:pt>
                <c:pt idx="10">
                  <c:v>66.154</c:v>
                </c:pt>
                <c:pt idx="11">
                  <c:v>70.497</c:v>
                </c:pt>
                <c:pt idx="12">
                  <c:v>75.11200000000001</c:v>
                </c:pt>
                <c:pt idx="13">
                  <c:v>79.97200000000001</c:v>
                </c:pt>
                <c:pt idx="14">
                  <c:v>85.02199999999999</c:v>
                </c:pt>
                <c:pt idx="15">
                  <c:v>90.261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Poland</c:v>
                </c:pt>
              </c:strCache>
            </c:strRef>
          </c:cat>
          <c:val>
            <c:numRef>
              <c:f>Sheet1!$B$2:$B$4</c:f>
              <c:numCache>
                <c:formatCode>General</c:formatCode>
                <c:ptCount val="3"/>
                <c:pt idx="0">
                  <c:v>0.05245930274733035</c:v>
                </c:pt>
                <c:pt idx="1">
                  <c:v>0.04646744386955093</c:v>
                </c:pt>
                <c:pt idx="2">
                  <c:v>0.0621484805151713</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390044869548126"/>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49.391</c:v>
                </c:pt>
                <c:pt idx="2">
                  <c:v>52.05</c:v>
                </c:pt>
                <c:pt idx="3">
                  <c:v>55.04600000000001</c:v>
                </c:pt>
                <c:pt idx="4">
                  <c:v>58.402</c:v>
                </c:pt>
                <c:pt idx="5">
                  <c:v>62.117</c:v>
                </c:pt>
                <c:pt idx="6">
                  <c:v>66.154</c:v>
                </c:pt>
                <c:pt idx="7">
                  <c:v>70.497</c:v>
                </c:pt>
                <c:pt idx="8">
                  <c:v>75.11200000000001</c:v>
                </c:pt>
                <c:pt idx="9">
                  <c:v>79.97200000000001</c:v>
                </c:pt>
                <c:pt idx="10">
                  <c:v>85.02199999999999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49.391</c:v>
                </c:pt>
                <c:pt idx="1">
                  <c:v>2.658999999999999</c:v>
                </c:pt>
                <c:pt idx="2">
                  <c:v>2.9960000000000093</c:v>
                </c:pt>
                <c:pt idx="3">
                  <c:v>3.3559999999999945</c:v>
                </c:pt>
                <c:pt idx="4">
                  <c:v>3.7149999999999963</c:v>
                </c:pt>
                <c:pt idx="5">
                  <c:v>4.036999999999999</c:v>
                </c:pt>
                <c:pt idx="6">
                  <c:v>4.3430000000000035</c:v>
                </c:pt>
                <c:pt idx="7">
                  <c:v>4.615000000000009</c:v>
                </c:pt>
                <c:pt idx="8">
                  <c:v>4.859999999999999</c:v>
                </c:pt>
                <c:pt idx="9">
                  <c:v>5.049999999999983</c:v>
                </c:pt>
                <c:pt idx="10">
                  <c:v>5.239000000000004</c:v>
                </c:pt>
                <c:pt idx="11">
                  <c:v>90.261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Poland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3.6464297236698626</c:v>
                </c:pt>
                <c:pt idx="1">
                  <c:v>0.6243153715998001</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96.35357027633013</c:v>
                </c:pt>
                <c:pt idx="1">
                  <c:v>99.3756846284002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59.026</c:v>
                </c:pt>
                <c:pt idx="1">
                  <c:v>62.09100000000001</c:v>
                </c:pt>
                <c:pt idx="2">
                  <c:v>65.309</c:v>
                </c:pt>
                <c:pt idx="3">
                  <c:v>68.70700000000001</c:v>
                </c:pt>
                <c:pt idx="4">
                  <c:v>72.355</c:v>
                </c:pt>
                <c:pt idx="5">
                  <c:v>76.703</c:v>
                </c:pt>
                <c:pt idx="6">
                  <c:v>81.65700000000001</c:v>
                </c:pt>
                <c:pt idx="7">
                  <c:v>87.32</c:v>
                </c:pt>
                <c:pt idx="8">
                  <c:v>93.77600000000001</c:v>
                </c:pt>
                <c:pt idx="9">
                  <c:v>101.076</c:v>
                </c:pt>
                <c:pt idx="10">
                  <c:v>109.176</c:v>
                </c:pt>
                <c:pt idx="11">
                  <c:v>118.11500000000001</c:v>
                </c:pt>
                <c:pt idx="12">
                  <c:v>127.82700000000001</c:v>
                </c:pt>
                <c:pt idx="13">
                  <c:v>138.326</c:v>
                </c:pt>
                <c:pt idx="14">
                  <c:v>149.552</c:v>
                </c:pt>
                <c:pt idx="15">
                  <c:v>161.53</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Poland</c:v>
                </c:pt>
              </c:strCache>
            </c:strRef>
          </c:cat>
          <c:val>
            <c:numRef>
              <c:f>Sheet1!$B$2:$B$4</c:f>
              <c:numCache>
                <c:formatCode>General</c:formatCode>
                <c:ptCount val="3"/>
                <c:pt idx="0">
                  <c:v>0.06658666629421717</c:v>
                </c:pt>
                <c:pt idx="1">
                  <c:v>0.06255449919419975</c:v>
                </c:pt>
                <c:pt idx="2">
                  <c:v>0.07731841700042019</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43798629505672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76.703</c:v>
                </c:pt>
                <c:pt idx="2">
                  <c:v>81.65700000000001</c:v>
                </c:pt>
                <c:pt idx="3">
                  <c:v>87.32</c:v>
                </c:pt>
                <c:pt idx="4">
                  <c:v>93.77600000000001</c:v>
                </c:pt>
                <c:pt idx="5">
                  <c:v>101.076</c:v>
                </c:pt>
                <c:pt idx="6">
                  <c:v>109.176</c:v>
                </c:pt>
                <c:pt idx="7">
                  <c:v>118.11500000000001</c:v>
                </c:pt>
                <c:pt idx="8">
                  <c:v>127.82700000000001</c:v>
                </c:pt>
                <c:pt idx="9">
                  <c:v>138.326</c:v>
                </c:pt>
                <c:pt idx="10">
                  <c:v>149.552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76.703</c:v>
                </c:pt>
                <c:pt idx="1">
                  <c:v>4.954000000000008</c:v>
                </c:pt>
                <c:pt idx="2">
                  <c:v>5.6629999999999825</c:v>
                </c:pt>
                <c:pt idx="3">
                  <c:v>6.456000000000017</c:v>
                </c:pt>
                <c:pt idx="4">
                  <c:v>7.299999999999983</c:v>
                </c:pt>
                <c:pt idx="5">
                  <c:v>8.100000000000009</c:v>
                </c:pt>
                <c:pt idx="6">
                  <c:v>8.939000000000007</c:v>
                </c:pt>
                <c:pt idx="7">
                  <c:v>9.712000000000003</c:v>
                </c:pt>
                <c:pt idx="8">
                  <c:v>10.498999999999981</c:v>
                </c:pt>
                <c:pt idx="9">
                  <c:v>11.225999999999999</c:v>
                </c:pt>
                <c:pt idx="10">
                  <c:v>11.978000000000009</c:v>
                </c:pt>
                <c:pt idx="11">
                  <c:v>161.53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Poland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2.7286944259257813</c:v>
                </c:pt>
                <c:pt idx="1">
                  <c:v>0.4762277876675859</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97.27130557407422</c:v>
                </c:pt>
                <c:pt idx="1">
                  <c:v>99.52377221233242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Powders</c:v>
                </c:pt>
                <c:pt idx="2">
                  <c:v>Gels and Jellies</c:v>
                </c:pt>
                <c:pt idx="3">
                  <c:v>Creams and Lotions</c:v>
                </c:pt>
                <c:pt idx="4">
                  <c:v>Sticks and Balms</c:v>
                </c:pt>
                <c:pt idx="5">
                  <c:v>Sprays and Mists</c:v>
                </c:pt>
                <c:pt idx="6">
                  <c:v>Waxes, Clays, Pastes…</c:v>
                </c:pt>
                <c:pt idx="7">
                  <c:v>Serums and Oils</c:v>
                </c:pt>
              </c:strCache>
            </c:strRef>
          </c:cat>
          <c:val>
            <c:numRef>
              <c:f>Sheet1!$B$2:$B$9</c:f>
              <c:numCache>
                <c:formatCode>General</c:formatCode>
                <c:ptCount val="8"/>
                <c:pt idx="0">
                  <c:v>5.992</c:v>
                </c:pt>
                <c:pt idx="1">
                  <c:v>7.76</c:v>
                </c:pt>
                <c:pt idx="2">
                  <c:v>7.79</c:v>
                </c:pt>
                <c:pt idx="3">
                  <c:v>8.475</c:v>
                </c:pt>
                <c:pt idx="4">
                  <c:v>9.689</c:v>
                </c:pt>
                <c:pt idx="5">
                  <c:v>11.227</c:v>
                </c:pt>
                <c:pt idx="6">
                  <c:v>12.313</c:v>
                </c:pt>
                <c:pt idx="7">
                  <c:v>13.457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8.032380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No Hold</c:v>
                </c:pt>
                <c:pt idx="4">
                  <c:v>Light or Flexible Hold</c:v>
                </c:pt>
                <c:pt idx="5">
                  <c:v>Extra-strong Hold</c:v>
                </c:pt>
                <c:pt idx="6">
                  <c:v>Medium Hold</c:v>
                </c:pt>
                <c:pt idx="7">
                  <c:v>Strong Hold</c:v>
                </c:pt>
              </c:strCache>
            </c:strRef>
          </c:cat>
          <c:val>
            <c:numRef>
              <c:f>Sheet1!$B$2:$B$9</c:f>
              <c:numCache>
                <c:formatCode>General</c:formatCode>
                <c:ptCount val="8"/>
                <c:pt idx="3">
                  <c:v>12.62</c:v>
                </c:pt>
                <c:pt idx="4">
                  <c:v>14.933</c:v>
                </c:pt>
                <c:pt idx="5">
                  <c:v>15.034</c:v>
                </c:pt>
                <c:pt idx="6">
                  <c:v>16.502</c:v>
                </c:pt>
                <c:pt idx="7">
                  <c:v>17.612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3.6000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24.942</c:v>
                </c:pt>
                <c:pt idx="6">
                  <c:v>25.529</c:v>
                </c:pt>
                <c:pt idx="7">
                  <c:v>26.232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5.1508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Beauty Specialty Reta…</c:v>
                </c:pt>
                <c:pt idx="4">
                  <c:v>Online Marketplaces</c:v>
                </c:pt>
                <c:pt idx="5">
                  <c:v>Pharmacies and Drugst…</c:v>
                </c:pt>
                <c:pt idx="6">
                  <c:v>Salon and Professiona…</c:v>
                </c:pt>
                <c:pt idx="7">
                  <c:v>Mass Retail</c:v>
                </c:pt>
              </c:strCache>
            </c:strRef>
          </c:cat>
          <c:val>
            <c:numRef>
              <c:f>Sheet1!$B$2:$B$9</c:f>
              <c:numCache>
                <c:formatCode>General</c:formatCode>
                <c:ptCount val="8"/>
                <c:pt idx="2">
                  <c:v>9.219</c:v>
                </c:pt>
                <c:pt idx="3">
                  <c:v>11.546</c:v>
                </c:pt>
                <c:pt idx="4">
                  <c:v>12.192</c:v>
                </c:pt>
                <c:pt idx="5">
                  <c:v>12.747</c:v>
                </c:pt>
                <c:pt idx="6">
                  <c:v>12.836</c:v>
                </c:pt>
                <c:pt idx="7">
                  <c:v>18.162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4.3370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9.067</c:v>
                </c:pt>
                <c:pt idx="2">
                  <c:v>10.656</c:v>
                </c:pt>
                <c:pt idx="3">
                  <c:v>10.854</c:v>
                </c:pt>
                <c:pt idx="4">
                  <c:v>10.863</c:v>
                </c:pt>
                <c:pt idx="5">
                  <c:v>10.902</c:v>
                </c:pt>
                <c:pt idx="6">
                  <c:v>12.098</c:v>
                </c:pt>
                <c:pt idx="7">
                  <c:v>12.262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6.4310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13.785</c:v>
                </c:pt>
                <c:pt idx="4">
                  <c:v>14.527</c:v>
                </c:pt>
                <c:pt idx="5">
                  <c:v>15.538</c:v>
                </c:pt>
                <c:pt idx="6">
                  <c:v>16.135</c:v>
                </c:pt>
                <c:pt idx="7">
                  <c:v>16.717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2.4007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18.384999999999998</c:v>
                </c:pt>
                <c:pt idx="5">
                  <c:v>19.156</c:v>
                </c:pt>
                <c:pt idx="6">
                  <c:v>19.237000000000002</c:v>
                </c:pt>
                <c:pt idx="7">
                  <c:v>19.923000000000002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6.69682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76.703</c:v>
                </c:pt>
                <c:pt idx="2">
                  <c:v>85.915</c:v>
                </c:pt>
                <c:pt idx="3">
                  <c:v>90.89500000000001</c:v>
                </c:pt>
                <c:pt idx="4">
                  <c:v>99.21000000000001</c:v>
                </c:pt>
                <c:pt idx="5">
                  <c:v>108.44000000000001</c:v>
                </c:pt>
                <c:pt idx="6">
                  <c:v>120.76</c:v>
                </c:pt>
                <c:pt idx="7">
                  <c:v>131.358</c:v>
                </c:pt>
                <c:pt idx="8">
                  <c:v>147.934</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76.703</c:v>
                </c:pt>
                <c:pt idx="1">
                  <c:v>9.212</c:v>
                </c:pt>
                <c:pt idx="2">
                  <c:v>4.9799999999999995</c:v>
                </c:pt>
                <c:pt idx="3">
                  <c:v>8.315000000000001</c:v>
                </c:pt>
                <c:pt idx="4">
                  <c:v>9.229999999999999</c:v>
                </c:pt>
                <c:pt idx="5">
                  <c:v>12.319999999999999</c:v>
                </c:pt>
                <c:pt idx="6">
                  <c:v>10.598</c:v>
                </c:pt>
                <c:pt idx="7">
                  <c:v>16.576</c:v>
                </c:pt>
                <c:pt idx="8">
                  <c:v>13.596</c:v>
                </c:pt>
                <c:pt idx="9">
                  <c:v>161.53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9.212</c:v>
                </c:pt>
                <c:pt idx="2">
                  <c:v>14.192</c:v>
                </c:pt>
                <c:pt idx="3">
                  <c:v>22.507</c:v>
                </c:pt>
                <c:pt idx="4">
                  <c:v>31.737000000000002</c:v>
                </c:pt>
                <c:pt idx="5">
                  <c:v>44.057</c:v>
                </c:pt>
                <c:pt idx="6">
                  <c:v>54.655</c:v>
                </c:pt>
                <c:pt idx="7">
                  <c:v>71.231</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9.212</c:v>
                </c:pt>
                <c:pt idx="1">
                  <c:v>4.9799999999999995</c:v>
                </c:pt>
                <c:pt idx="2">
                  <c:v>8.315000000000001</c:v>
                </c:pt>
                <c:pt idx="3">
                  <c:v>9.229999999999999</c:v>
                </c:pt>
                <c:pt idx="4">
                  <c:v>12.319999999999999</c:v>
                </c:pt>
                <c:pt idx="5">
                  <c:v>10.598</c:v>
                </c:pt>
                <c:pt idx="6">
                  <c:v>16.576</c:v>
                </c:pt>
                <c:pt idx="7">
                  <c:v>13.596</c:v>
                </c:pt>
                <c:pt idx="8">
                  <c:v>84.827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76.701</c:v>
                </c:pt>
                <c:pt idx="2">
                  <c:v>92.35199999999999</c:v>
                </c:pt>
                <c:pt idx="3">
                  <c:v>112.20299999999999</c:v>
                </c:pt>
                <c:pt idx="4">
                  <c:v>130.31</c:v>
                </c:pt>
                <c:pt idx="5">
                  <c:v>147.857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76.701</c:v>
                </c:pt>
                <c:pt idx="1">
                  <c:v>15.651000000000002</c:v>
                </c:pt>
                <c:pt idx="2">
                  <c:v>19.851</c:v>
                </c:pt>
                <c:pt idx="3">
                  <c:v>18.107000000000003</c:v>
                </c:pt>
                <c:pt idx="4">
                  <c:v>17.547</c:v>
                </c:pt>
                <c:pt idx="5">
                  <c:v>13.673999999999998</c:v>
                </c:pt>
                <c:pt idx="6">
                  <c:v>161.531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15.651000000000002</c:v>
                </c:pt>
                <c:pt idx="2">
                  <c:v>35.502</c:v>
                </c:pt>
                <c:pt idx="3">
                  <c:v>53.60900000000001</c:v>
                </c:pt>
                <c:pt idx="4">
                  <c:v>71.156</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15.651000000000002</c:v>
                </c:pt>
                <c:pt idx="1">
                  <c:v>19.851</c:v>
                </c:pt>
                <c:pt idx="2">
                  <c:v>18.107000000000003</c:v>
                </c:pt>
                <c:pt idx="3">
                  <c:v>17.547</c:v>
                </c:pt>
                <c:pt idx="4">
                  <c:v>13.673999999999998</c:v>
                </c:pt>
                <c:pt idx="5">
                  <c:v>84.83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76.703</c:v>
                </c:pt>
                <c:pt idx="2">
                  <c:v>104.63300000000001</c:v>
                </c:pt>
                <c:pt idx="3">
                  <c:v>130.687</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76.703</c:v>
                </c:pt>
                <c:pt idx="1">
                  <c:v>27.930000000000003</c:v>
                </c:pt>
                <c:pt idx="2">
                  <c:v>26.054000000000002</c:v>
                </c:pt>
                <c:pt idx="3">
                  <c:v>30.844</c:v>
                </c:pt>
                <c:pt idx="4">
                  <c:v>161.531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27.930000000000003</c:v>
                </c:pt>
                <c:pt idx="2">
                  <c:v>53.98400000000001</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27.930000000000003</c:v>
                </c:pt>
                <c:pt idx="1">
                  <c:v>26.054000000000002</c:v>
                </c:pt>
                <c:pt idx="2">
                  <c:v>30.844</c:v>
                </c:pt>
                <c:pt idx="3">
                  <c:v>84.828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76.702</c:v>
                </c:pt>
                <c:pt idx="2">
                  <c:v>92.645</c:v>
                </c:pt>
                <c:pt idx="3">
                  <c:v>106.06099999999999</c:v>
                </c:pt>
                <c:pt idx="4">
                  <c:v>119.78899999999999</c:v>
                </c:pt>
                <c:pt idx="5">
                  <c:v>132.25799999999998</c:v>
                </c:pt>
                <c:pt idx="6">
                  <c:v>149.40499999999997</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76.702</c:v>
                </c:pt>
                <c:pt idx="1">
                  <c:v>15.942999999999998</c:v>
                </c:pt>
                <c:pt idx="2">
                  <c:v>13.416</c:v>
                </c:pt>
                <c:pt idx="3">
                  <c:v>13.728</c:v>
                </c:pt>
                <c:pt idx="4">
                  <c:v>12.469000000000001</c:v>
                </c:pt>
                <c:pt idx="5">
                  <c:v>17.147</c:v>
                </c:pt>
                <c:pt idx="6">
                  <c:v>12.125000000000002</c:v>
                </c:pt>
                <c:pt idx="7">
                  <c:v>161.53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15.942999999999998</c:v>
                </c:pt>
                <c:pt idx="2">
                  <c:v>29.358999999999998</c:v>
                </c:pt>
                <c:pt idx="3">
                  <c:v>43.086999999999996</c:v>
                </c:pt>
                <c:pt idx="4">
                  <c:v>55.556</c:v>
                </c:pt>
                <c:pt idx="5">
                  <c:v>72.703</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15.942999999999998</c:v>
                </c:pt>
                <c:pt idx="1">
                  <c:v>13.416</c:v>
                </c:pt>
                <c:pt idx="2">
                  <c:v>13.728</c:v>
                </c:pt>
                <c:pt idx="3">
                  <c:v>12.469000000000001</c:v>
                </c:pt>
                <c:pt idx="4">
                  <c:v>17.147</c:v>
                </c:pt>
                <c:pt idx="5">
                  <c:v>12.125000000000002</c:v>
                </c:pt>
                <c:pt idx="6">
                  <c:v>84.828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76.702</c:v>
                </c:pt>
                <c:pt idx="2">
                  <c:v>86.572</c:v>
                </c:pt>
                <c:pt idx="3">
                  <c:v>102.123</c:v>
                </c:pt>
                <c:pt idx="4">
                  <c:v>112.79</c:v>
                </c:pt>
                <c:pt idx="5">
                  <c:v>124.596</c:v>
                </c:pt>
                <c:pt idx="6">
                  <c:v>139.417</c:v>
                </c:pt>
                <c:pt idx="7">
                  <c:v>147.589</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76.702</c:v>
                </c:pt>
                <c:pt idx="1">
                  <c:v>9.870000000000001</c:v>
                </c:pt>
                <c:pt idx="2">
                  <c:v>15.551</c:v>
                </c:pt>
                <c:pt idx="3">
                  <c:v>10.667000000000002</c:v>
                </c:pt>
                <c:pt idx="4">
                  <c:v>11.806000000000001</c:v>
                </c:pt>
                <c:pt idx="5">
                  <c:v>14.821</c:v>
                </c:pt>
                <c:pt idx="6">
                  <c:v>8.172</c:v>
                </c:pt>
                <c:pt idx="7">
                  <c:v>13.941999999999998</c:v>
                </c:pt>
                <c:pt idx="8">
                  <c:v>161.531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9.870000000000001</c:v>
                </c:pt>
                <c:pt idx="2">
                  <c:v>25.421</c:v>
                </c:pt>
                <c:pt idx="3">
                  <c:v>36.088</c:v>
                </c:pt>
                <c:pt idx="4">
                  <c:v>47.894000000000005</c:v>
                </c:pt>
                <c:pt idx="5">
                  <c:v>62.715</c:v>
                </c:pt>
                <c:pt idx="6">
                  <c:v>70.887</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9.870000000000001</c:v>
                </c:pt>
                <c:pt idx="1">
                  <c:v>15.551</c:v>
                </c:pt>
                <c:pt idx="2">
                  <c:v>10.667000000000002</c:v>
                </c:pt>
                <c:pt idx="3">
                  <c:v>11.806000000000001</c:v>
                </c:pt>
                <c:pt idx="4">
                  <c:v>14.821</c:v>
                </c:pt>
                <c:pt idx="5">
                  <c:v>8.172</c:v>
                </c:pt>
                <c:pt idx="6">
                  <c:v>13.941999999999998</c:v>
                </c:pt>
                <c:pt idx="7">
                  <c:v>84.829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76.702</c:v>
                </c:pt>
                <c:pt idx="2">
                  <c:v>91.351</c:v>
                </c:pt>
                <c:pt idx="3">
                  <c:v>108.356</c:v>
                </c:pt>
                <c:pt idx="4">
                  <c:v>126.39399999999999</c:v>
                </c:pt>
                <c:pt idx="5">
                  <c:v>144.739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76.702</c:v>
                </c:pt>
                <c:pt idx="1">
                  <c:v>14.648999999999997</c:v>
                </c:pt>
                <c:pt idx="2">
                  <c:v>17.005</c:v>
                </c:pt>
                <c:pt idx="3">
                  <c:v>18.037999999999997</c:v>
                </c:pt>
                <c:pt idx="4">
                  <c:v>18.345000000000002</c:v>
                </c:pt>
                <c:pt idx="5">
                  <c:v>16.792</c:v>
                </c:pt>
                <c:pt idx="6">
                  <c:v>161.531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14.648999999999997</c:v>
                </c:pt>
                <c:pt idx="2">
                  <c:v>31.653999999999996</c:v>
                </c:pt>
                <c:pt idx="3">
                  <c:v>49.69199999999999</c:v>
                </c:pt>
                <c:pt idx="4">
                  <c:v>68.03699999999999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14.648999999999997</c:v>
                </c:pt>
                <c:pt idx="1">
                  <c:v>17.005</c:v>
                </c:pt>
                <c:pt idx="2">
                  <c:v>18.037999999999997</c:v>
                </c:pt>
                <c:pt idx="3">
                  <c:v>18.345000000000002</c:v>
                </c:pt>
                <c:pt idx="4">
                  <c:v>16.792</c:v>
                </c:pt>
                <c:pt idx="5">
                  <c:v>84.829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76.701</c:v>
                </c:pt>
                <c:pt idx="2">
                  <c:v>95.823</c:v>
                </c:pt>
                <c:pt idx="3">
                  <c:v>117.948</c:v>
                </c:pt>
                <c:pt idx="4">
                  <c:v>138.106</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76.701</c:v>
                </c:pt>
                <c:pt idx="1">
                  <c:v>19.122</c:v>
                </c:pt>
                <c:pt idx="2">
                  <c:v>22.125</c:v>
                </c:pt>
                <c:pt idx="3">
                  <c:v>20.158</c:v>
                </c:pt>
                <c:pt idx="4">
                  <c:v>23.425000000000004</c:v>
                </c:pt>
                <c:pt idx="5">
                  <c:v>161.531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19.122</c:v>
                </c:pt>
                <c:pt idx="2">
                  <c:v>41.247</c:v>
                </c:pt>
                <c:pt idx="3">
                  <c:v>61.405</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19.122</c:v>
                </c:pt>
                <c:pt idx="1">
                  <c:v>22.125</c:v>
                </c:pt>
                <c:pt idx="2">
                  <c:v>20.158</c:v>
                </c:pt>
                <c:pt idx="3">
                  <c:v>23.425000000000004</c:v>
                </c:pt>
                <c:pt idx="4">
                  <c:v>84.83000000000001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172.472</c:v>
                </c:pt>
                <c:pt idx="1">
                  <c:v>179.257</c:v>
                </c:pt>
                <c:pt idx="2">
                  <c:v>186.279</c:v>
                </c:pt>
                <c:pt idx="3">
                  <c:v>193.51500000000001</c:v>
                </c:pt>
                <c:pt idx="4">
                  <c:v>201.14499999999998</c:v>
                </c:pt>
                <c:pt idx="5">
                  <c:v>209.57100000000003</c:v>
                </c:pt>
                <c:pt idx="6">
                  <c:v>218.953</c:v>
                </c:pt>
                <c:pt idx="7">
                  <c:v>229.451</c:v>
                </c:pt>
                <c:pt idx="8">
                  <c:v>241.14000000000001</c:v>
                </c:pt>
                <c:pt idx="9">
                  <c:v>253.976</c:v>
                </c:pt>
                <c:pt idx="10">
                  <c:v>267.826</c:v>
                </c:pt>
                <c:pt idx="11">
                  <c:v>282.605</c:v>
                </c:pt>
                <c:pt idx="12">
                  <c:v>298.152</c:v>
                </c:pt>
                <c:pt idx="13">
                  <c:v>314.375</c:v>
                </c:pt>
                <c:pt idx="14">
                  <c:v>331.073</c:v>
                </c:pt>
                <c:pt idx="15">
                  <c:v>348.249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Rest of Europe</c:v>
                </c:pt>
              </c:strCache>
            </c:strRef>
          </c:cat>
          <c:val>
            <c:numRef>
              <c:f>Sheet1!$B$2:$B$4</c:f>
              <c:numCache>
                <c:formatCode>General</c:formatCode>
                <c:ptCount val="3"/>
                <c:pt idx="0">
                  <c:v>0.05245930274733035</c:v>
                </c:pt>
                <c:pt idx="1">
                  <c:v>0.04646744386955093</c:v>
                </c:pt>
                <c:pt idx="2">
                  <c:v>0.052097210753883294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209.57100000000003</c:v>
                </c:pt>
                <c:pt idx="2">
                  <c:v>218.953</c:v>
                </c:pt>
                <c:pt idx="3">
                  <c:v>229.451</c:v>
                </c:pt>
                <c:pt idx="4">
                  <c:v>241.14000000000001</c:v>
                </c:pt>
                <c:pt idx="5">
                  <c:v>253.976</c:v>
                </c:pt>
                <c:pt idx="6">
                  <c:v>267.826</c:v>
                </c:pt>
                <c:pt idx="7">
                  <c:v>282.605</c:v>
                </c:pt>
                <c:pt idx="8">
                  <c:v>298.152</c:v>
                </c:pt>
                <c:pt idx="9">
                  <c:v>314.375</c:v>
                </c:pt>
                <c:pt idx="10">
                  <c:v>331.073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209.57100000000003</c:v>
                </c:pt>
                <c:pt idx="1">
                  <c:v>9.381999999999977</c:v>
                </c:pt>
                <c:pt idx="2">
                  <c:v>10.49799999999999</c:v>
                </c:pt>
                <c:pt idx="3">
                  <c:v>11.689000000000021</c:v>
                </c:pt>
                <c:pt idx="4">
                  <c:v>12.835999999999984</c:v>
                </c:pt>
                <c:pt idx="5">
                  <c:v>13.850000000000023</c:v>
                </c:pt>
                <c:pt idx="6">
                  <c:v>14.778999999999996</c:v>
                </c:pt>
                <c:pt idx="7">
                  <c:v>15.546999999999969</c:v>
                </c:pt>
                <c:pt idx="8">
                  <c:v>16.223000000000013</c:v>
                </c:pt>
                <c:pt idx="9">
                  <c:v>16.69799999999998</c:v>
                </c:pt>
                <c:pt idx="10">
                  <c:v>17.176000000000045</c:v>
                </c:pt>
                <c:pt idx="11">
                  <c:v>348.249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Europe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15.472169496856045</c:v>
                </c:pt>
                <c:pt idx="1">
                  <c:v>2.649033158703847</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84.52783050314396</c:v>
                </c:pt>
                <c:pt idx="1">
                  <c:v>97.35096684129616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0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292.931</c:v>
                </c:pt>
                <c:pt idx="1">
                  <c:v>305.928</c:v>
                </c:pt>
                <c:pt idx="2">
                  <c:v>319.51300000000003</c:v>
                </c:pt>
                <c:pt idx="3">
                  <c:v>333.81800000000004</c:v>
                </c:pt>
                <c:pt idx="4">
                  <c:v>349.028</c:v>
                </c:pt>
                <c:pt idx="5">
                  <c:v>367.284</c:v>
                </c:pt>
                <c:pt idx="6">
                  <c:v>387.86699999999996</c:v>
                </c:pt>
                <c:pt idx="7">
                  <c:v>411.279</c:v>
                </c:pt>
                <c:pt idx="8">
                  <c:v>437.749</c:v>
                </c:pt>
                <c:pt idx="9">
                  <c:v>467.51500000000004</c:v>
                </c:pt>
                <c:pt idx="10">
                  <c:v>500.476</c:v>
                </c:pt>
                <c:pt idx="11">
                  <c:v>536.566</c:v>
                </c:pt>
                <c:pt idx="12">
                  <c:v>575.6500000000001</c:v>
                </c:pt>
                <c:pt idx="13">
                  <c:v>617.616</c:v>
                </c:pt>
                <c:pt idx="14">
                  <c:v>662.393</c:v>
                </c:pt>
                <c:pt idx="15">
                  <c:v>710.154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Rest of Europe</c:v>
                </c:pt>
              </c:strCache>
            </c:strRef>
          </c:cat>
          <c:val>
            <c:numRef>
              <c:f>Sheet1!$B$2:$B$4</c:f>
              <c:numCache>
                <c:formatCode>General</c:formatCode>
                <c:ptCount val="3"/>
                <c:pt idx="0">
                  <c:v>0.06658666629421717</c:v>
                </c:pt>
                <c:pt idx="1">
                  <c:v>0.06255449919419975</c:v>
                </c:pt>
                <c:pt idx="2">
                  <c:v>0.06815690625594972</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201182344553213"/>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367.284</c:v>
                </c:pt>
                <c:pt idx="2">
                  <c:v>387.86699999999996</c:v>
                </c:pt>
                <c:pt idx="3">
                  <c:v>411.279</c:v>
                </c:pt>
                <c:pt idx="4">
                  <c:v>437.749</c:v>
                </c:pt>
                <c:pt idx="5">
                  <c:v>467.51500000000004</c:v>
                </c:pt>
                <c:pt idx="6">
                  <c:v>500.476</c:v>
                </c:pt>
                <c:pt idx="7">
                  <c:v>536.566</c:v>
                </c:pt>
                <c:pt idx="8">
                  <c:v>575.6500000000001</c:v>
                </c:pt>
                <c:pt idx="9">
                  <c:v>617.616</c:v>
                </c:pt>
                <c:pt idx="10">
                  <c:v>662.393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367.284</c:v>
                </c:pt>
                <c:pt idx="1">
                  <c:v>20.58299999999997</c:v>
                </c:pt>
                <c:pt idx="2">
                  <c:v>23.412000000000035</c:v>
                </c:pt>
                <c:pt idx="3">
                  <c:v>26.470000000000027</c:v>
                </c:pt>
                <c:pt idx="4">
                  <c:v>29.76600000000002</c:v>
                </c:pt>
                <c:pt idx="5">
                  <c:v>32.960999999999956</c:v>
                </c:pt>
                <c:pt idx="6">
                  <c:v>36.09000000000003</c:v>
                </c:pt>
                <c:pt idx="7">
                  <c:v>39.08400000000006</c:v>
                </c:pt>
                <c:pt idx="8">
                  <c:v>41.965999999999894</c:v>
                </c:pt>
                <c:pt idx="9">
                  <c:v>44.777000000000044</c:v>
                </c:pt>
                <c:pt idx="10">
                  <c:v>47.76099999999997</c:v>
                </c:pt>
                <c:pt idx="11">
                  <c:v>710.154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Europe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13.066057436237497</c:v>
                </c:pt>
                <c:pt idx="1">
                  <c:v>2.2803651325984853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86.9339425637625</c:v>
                </c:pt>
                <c:pt idx="1">
                  <c:v>97.71963486740151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0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Waxes, Clays, Pastes…</c:v>
                </c:pt>
                <c:pt idx="7">
                  <c:v>Serums and Oils</c:v>
                </c:pt>
              </c:strCache>
            </c:strRef>
          </c:cat>
          <c:val>
            <c:numRef>
              <c:f>Sheet1!$B$2:$B$9</c:f>
              <c:numCache>
                <c:formatCode>General</c:formatCode>
                <c:ptCount val="8"/>
                <c:pt idx="0">
                  <c:v>28.365000000000002</c:v>
                </c:pt>
                <c:pt idx="1">
                  <c:v>34.272</c:v>
                </c:pt>
                <c:pt idx="2">
                  <c:v>37.237</c:v>
                </c:pt>
                <c:pt idx="3">
                  <c:v>40.887</c:v>
                </c:pt>
                <c:pt idx="4">
                  <c:v>47.762</c:v>
                </c:pt>
                <c:pt idx="5">
                  <c:v>53.361000000000004</c:v>
                </c:pt>
                <c:pt idx="6">
                  <c:v>59.432</c:v>
                </c:pt>
                <c:pt idx="7">
                  <c:v>65.968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88.39712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65.018</c:v>
                </c:pt>
                <c:pt idx="4">
                  <c:v>69.678</c:v>
                </c:pt>
                <c:pt idx="5">
                  <c:v>74.147</c:v>
                </c:pt>
                <c:pt idx="6">
                  <c:v>76.892</c:v>
                </c:pt>
                <c:pt idx="7">
                  <c:v>81.548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09.2743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119.665</c:v>
                </c:pt>
                <c:pt idx="6">
                  <c:v>122.15</c:v>
                </c:pt>
                <c:pt idx="7">
                  <c:v>125.469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68.1284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Online Marketplaces</c:v>
                </c:pt>
                <c:pt idx="6">
                  <c:v>Salon and Professiona…</c:v>
                </c:pt>
                <c:pt idx="7">
                  <c:v>Mass Retail</c:v>
                </c:pt>
              </c:strCache>
            </c:strRef>
          </c:cat>
          <c:val>
            <c:numRef>
              <c:f>Sheet1!$B$2:$B$9</c:f>
              <c:numCache>
                <c:formatCode>General</c:formatCode>
                <c:ptCount val="8"/>
                <c:pt idx="2">
                  <c:v>46.04</c:v>
                </c:pt>
                <c:pt idx="3">
                  <c:v>56.99</c:v>
                </c:pt>
                <c:pt idx="4">
                  <c:v>57.799</c:v>
                </c:pt>
                <c:pt idx="5">
                  <c:v>67.269</c:v>
                </c:pt>
                <c:pt idx="6">
                  <c:v>67.656</c:v>
                </c:pt>
                <c:pt idx="7">
                  <c:v>71.529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5.8488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43.409</c:v>
                </c:pt>
                <c:pt idx="2">
                  <c:v>51.04</c:v>
                </c:pt>
                <c:pt idx="3">
                  <c:v>51.912</c:v>
                </c:pt>
                <c:pt idx="4">
                  <c:v>51.986</c:v>
                </c:pt>
                <c:pt idx="5">
                  <c:v>52.239</c:v>
                </c:pt>
                <c:pt idx="6">
                  <c:v>58.039</c:v>
                </c:pt>
                <c:pt idx="7">
                  <c:v>58.658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8.6017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66.055</c:v>
                </c:pt>
                <c:pt idx="4">
                  <c:v>69.701</c:v>
                </c:pt>
                <c:pt idx="5">
                  <c:v>74.322</c:v>
                </c:pt>
                <c:pt idx="6">
                  <c:v>77.198</c:v>
                </c:pt>
                <c:pt idx="7">
                  <c:v>80.007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07.20938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87.928</c:v>
                </c:pt>
                <c:pt idx="5">
                  <c:v>91.727</c:v>
                </c:pt>
                <c:pt idx="6">
                  <c:v>92.315</c:v>
                </c:pt>
                <c:pt idx="7">
                  <c:v>95.312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27.7180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367.284</c:v>
                </c:pt>
                <c:pt idx="2">
                  <c:v>401.849</c:v>
                </c:pt>
                <c:pt idx="3">
                  <c:v>419.942</c:v>
                </c:pt>
                <c:pt idx="4">
                  <c:v>447.31</c:v>
                </c:pt>
                <c:pt idx="5">
                  <c:v>483.483</c:v>
                </c:pt>
                <c:pt idx="6">
                  <c:v>537.579</c:v>
                </c:pt>
                <c:pt idx="7">
                  <c:v>576.0169999999999</c:v>
                </c:pt>
                <c:pt idx="8">
                  <c:v>649.02</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367.284</c:v>
                </c:pt>
                <c:pt idx="1">
                  <c:v>34.565</c:v>
                </c:pt>
                <c:pt idx="2">
                  <c:v>18.092999999999996</c:v>
                </c:pt>
                <c:pt idx="3">
                  <c:v>27.368000000000002</c:v>
                </c:pt>
                <c:pt idx="4">
                  <c:v>36.173</c:v>
                </c:pt>
                <c:pt idx="5">
                  <c:v>54.096000000000004</c:v>
                </c:pt>
                <c:pt idx="6">
                  <c:v>38.437999999999995</c:v>
                </c:pt>
                <c:pt idx="7">
                  <c:v>73.003</c:v>
                </c:pt>
                <c:pt idx="8">
                  <c:v>61.134</c:v>
                </c:pt>
                <c:pt idx="9">
                  <c:v>710.154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34.565</c:v>
                </c:pt>
                <c:pt idx="2">
                  <c:v>52.657999999999994</c:v>
                </c:pt>
                <c:pt idx="3">
                  <c:v>80.026</c:v>
                </c:pt>
                <c:pt idx="4">
                  <c:v>116.199</c:v>
                </c:pt>
                <c:pt idx="5">
                  <c:v>170.29500000000002</c:v>
                </c:pt>
                <c:pt idx="6">
                  <c:v>208.733</c:v>
                </c:pt>
                <c:pt idx="7">
                  <c:v>281.736</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34.565</c:v>
                </c:pt>
                <c:pt idx="1">
                  <c:v>18.092999999999996</c:v>
                </c:pt>
                <c:pt idx="2">
                  <c:v>27.368000000000002</c:v>
                </c:pt>
                <c:pt idx="3">
                  <c:v>36.173</c:v>
                </c:pt>
                <c:pt idx="4">
                  <c:v>54.096000000000004</c:v>
                </c:pt>
                <c:pt idx="5">
                  <c:v>38.437999999999995</c:v>
                </c:pt>
                <c:pt idx="6">
                  <c:v>73.003</c:v>
                </c:pt>
                <c:pt idx="7">
                  <c:v>61.134</c:v>
                </c:pt>
                <c:pt idx="8">
                  <c:v>342.87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367.283</c:v>
                </c:pt>
                <c:pt idx="2">
                  <c:v>439.966</c:v>
                </c:pt>
                <c:pt idx="3">
                  <c:v>523.624</c:v>
                </c:pt>
                <c:pt idx="4">
                  <c:v>598.418</c:v>
                </c:pt>
                <c:pt idx="5">
                  <c:v>661.822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367.283</c:v>
                </c:pt>
                <c:pt idx="1">
                  <c:v>72.68299999999999</c:v>
                </c:pt>
                <c:pt idx="2">
                  <c:v>83.658</c:v>
                </c:pt>
                <c:pt idx="3">
                  <c:v>74.79400000000001</c:v>
                </c:pt>
                <c:pt idx="4">
                  <c:v>63.403999999999996</c:v>
                </c:pt>
                <c:pt idx="5">
                  <c:v>48.334</c:v>
                </c:pt>
                <c:pt idx="6">
                  <c:v>710.1560000000001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72.68299999999999</c:v>
                </c:pt>
                <c:pt idx="2">
                  <c:v>156.341</c:v>
                </c:pt>
                <c:pt idx="3">
                  <c:v>231.13500000000002</c:v>
                </c:pt>
                <c:pt idx="4">
                  <c:v>294.539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72.68299999999999</c:v>
                </c:pt>
                <c:pt idx="1">
                  <c:v>83.658</c:v>
                </c:pt>
                <c:pt idx="2">
                  <c:v>74.79400000000001</c:v>
                </c:pt>
                <c:pt idx="3">
                  <c:v>63.403999999999996</c:v>
                </c:pt>
                <c:pt idx="4">
                  <c:v>48.334</c:v>
                </c:pt>
                <c:pt idx="5">
                  <c:v>342.873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367.284</c:v>
                </c:pt>
                <c:pt idx="2">
                  <c:v>480.15999999999997</c:v>
                </c:pt>
                <c:pt idx="3">
                  <c:v>584.444</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367.284</c:v>
                </c:pt>
                <c:pt idx="1">
                  <c:v>112.876</c:v>
                </c:pt>
                <c:pt idx="2">
                  <c:v>104.28399999999999</c:v>
                </c:pt>
                <c:pt idx="3">
                  <c:v>125.711</c:v>
                </c:pt>
                <c:pt idx="4">
                  <c:v>710.155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112.876</c:v>
                </c:pt>
                <c:pt idx="2">
                  <c:v>217.16</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112.876</c:v>
                </c:pt>
                <c:pt idx="1">
                  <c:v>104.28399999999999</c:v>
                </c:pt>
                <c:pt idx="2">
                  <c:v>125.711</c:v>
                </c:pt>
                <c:pt idx="3">
                  <c:v>342.871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367.2830000000001</c:v>
                </c:pt>
                <c:pt idx="2">
                  <c:v>417.9150000000001</c:v>
                </c:pt>
                <c:pt idx="3">
                  <c:v>473.95700000000005</c:v>
                </c:pt>
                <c:pt idx="4">
                  <c:v>533.73</c:v>
                </c:pt>
                <c:pt idx="5">
                  <c:v>579.244</c:v>
                </c:pt>
                <c:pt idx="6">
                  <c:v>659.332</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367.2830000000001</c:v>
                </c:pt>
                <c:pt idx="1">
                  <c:v>50.632000000000005</c:v>
                </c:pt>
                <c:pt idx="2">
                  <c:v>56.041999999999994</c:v>
                </c:pt>
                <c:pt idx="3">
                  <c:v>59.772999999999996</c:v>
                </c:pt>
                <c:pt idx="4">
                  <c:v>45.514</c:v>
                </c:pt>
                <c:pt idx="5">
                  <c:v>80.088</c:v>
                </c:pt>
                <c:pt idx="6">
                  <c:v>50.824000000000005</c:v>
                </c:pt>
                <c:pt idx="7">
                  <c:v>710.1560000000001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50.632000000000005</c:v>
                </c:pt>
                <c:pt idx="2">
                  <c:v>106.674</c:v>
                </c:pt>
                <c:pt idx="3">
                  <c:v>166.447</c:v>
                </c:pt>
                <c:pt idx="4">
                  <c:v>211.961</c:v>
                </c:pt>
                <c:pt idx="5">
                  <c:v>292.049</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50.632000000000005</c:v>
                </c:pt>
                <c:pt idx="1">
                  <c:v>56.041999999999994</c:v>
                </c:pt>
                <c:pt idx="2">
                  <c:v>59.772999999999996</c:v>
                </c:pt>
                <c:pt idx="3">
                  <c:v>45.514</c:v>
                </c:pt>
                <c:pt idx="4">
                  <c:v>80.088</c:v>
                </c:pt>
                <c:pt idx="5">
                  <c:v>50.824000000000005</c:v>
                </c:pt>
                <c:pt idx="6">
                  <c:v>342.873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367.283</c:v>
                </c:pt>
                <c:pt idx="2">
                  <c:v>405.774</c:v>
                </c:pt>
                <c:pt idx="3">
                  <c:v>469.991</c:v>
                </c:pt>
                <c:pt idx="4">
                  <c:v>512.639</c:v>
                </c:pt>
                <c:pt idx="5">
                  <c:v>560.304</c:v>
                </c:pt>
                <c:pt idx="6">
                  <c:v>620.658</c:v>
                </c:pt>
                <c:pt idx="7">
                  <c:v>652.9590000000001</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367.283</c:v>
                </c:pt>
                <c:pt idx="1">
                  <c:v>38.491</c:v>
                </c:pt>
                <c:pt idx="2">
                  <c:v>64.21700000000001</c:v>
                </c:pt>
                <c:pt idx="3">
                  <c:v>42.648</c:v>
                </c:pt>
                <c:pt idx="4">
                  <c:v>47.665</c:v>
                </c:pt>
                <c:pt idx="5">
                  <c:v>60.354</c:v>
                </c:pt>
                <c:pt idx="6">
                  <c:v>32.300999999999995</c:v>
                </c:pt>
                <c:pt idx="7">
                  <c:v>57.195</c:v>
                </c:pt>
                <c:pt idx="8">
                  <c:v>710.1540000000001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38.491</c:v>
                </c:pt>
                <c:pt idx="2">
                  <c:v>102.70800000000001</c:v>
                </c:pt>
                <c:pt idx="3">
                  <c:v>145.35600000000002</c:v>
                </c:pt>
                <c:pt idx="4">
                  <c:v>193.02100000000002</c:v>
                </c:pt>
                <c:pt idx="5">
                  <c:v>253.375</c:v>
                </c:pt>
                <c:pt idx="6">
                  <c:v>285.676</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38.491</c:v>
                </c:pt>
                <c:pt idx="1">
                  <c:v>64.21700000000001</c:v>
                </c:pt>
                <c:pt idx="2">
                  <c:v>42.648</c:v>
                </c:pt>
                <c:pt idx="3">
                  <c:v>47.665</c:v>
                </c:pt>
                <c:pt idx="4">
                  <c:v>60.354</c:v>
                </c:pt>
                <c:pt idx="5">
                  <c:v>32.300999999999995</c:v>
                </c:pt>
                <c:pt idx="6">
                  <c:v>57.195</c:v>
                </c:pt>
                <c:pt idx="7">
                  <c:v>342.871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367.28299999999996</c:v>
                </c:pt>
                <c:pt idx="2">
                  <c:v>425.28599999999994</c:v>
                </c:pt>
                <c:pt idx="3">
                  <c:v>494.03599999999994</c:v>
                </c:pt>
                <c:pt idx="4">
                  <c:v>567.574</c:v>
                </c:pt>
                <c:pt idx="5">
                  <c:v>642.9159999999999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367.28299999999996</c:v>
                </c:pt>
                <c:pt idx="1">
                  <c:v>58.003</c:v>
                </c:pt>
                <c:pt idx="2">
                  <c:v>68.75</c:v>
                </c:pt>
                <c:pt idx="3">
                  <c:v>73.53800000000001</c:v>
                </c:pt>
                <c:pt idx="4">
                  <c:v>75.34199999999998</c:v>
                </c:pt>
                <c:pt idx="5">
                  <c:v>67.238</c:v>
                </c:pt>
                <c:pt idx="6">
                  <c:v>710.1540000000001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58.003</c:v>
                </c:pt>
                <c:pt idx="2">
                  <c:v>126.753</c:v>
                </c:pt>
                <c:pt idx="3">
                  <c:v>200.291</c:v>
                </c:pt>
                <c:pt idx="4">
                  <c:v>275.633</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58.003</c:v>
                </c:pt>
                <c:pt idx="1">
                  <c:v>68.75</c:v>
                </c:pt>
                <c:pt idx="2">
                  <c:v>73.53800000000001</c:v>
                </c:pt>
                <c:pt idx="3">
                  <c:v>75.34199999999998</c:v>
                </c:pt>
                <c:pt idx="4">
                  <c:v>67.238</c:v>
                </c:pt>
                <c:pt idx="5">
                  <c:v>342.871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367.28200000000004</c:v>
                </c:pt>
                <c:pt idx="2">
                  <c:v>442.17800000000005</c:v>
                </c:pt>
                <c:pt idx="3">
                  <c:v>534.1260000000001</c:v>
                </c:pt>
                <c:pt idx="4">
                  <c:v>617.5280000000001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367.28200000000004</c:v>
                </c:pt>
                <c:pt idx="1">
                  <c:v>74.896</c:v>
                </c:pt>
                <c:pt idx="2">
                  <c:v>91.94800000000001</c:v>
                </c:pt>
                <c:pt idx="3">
                  <c:v>83.40200000000002</c:v>
                </c:pt>
                <c:pt idx="4">
                  <c:v>92.62799999999999</c:v>
                </c:pt>
                <c:pt idx="5">
                  <c:v>710.156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74.896</c:v>
                </c:pt>
                <c:pt idx="2">
                  <c:v>166.844</c:v>
                </c:pt>
                <c:pt idx="3">
                  <c:v>250.246</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74.896</c:v>
                </c:pt>
                <c:pt idx="1">
                  <c:v>91.94800000000001</c:v>
                </c:pt>
                <c:pt idx="2">
                  <c:v>83.40200000000002</c:v>
                </c:pt>
                <c:pt idx="3">
                  <c:v>92.62799999999999</c:v>
                </c:pt>
                <c:pt idx="4">
                  <c:v>342.874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1120.955</c:v>
                </c:pt>
                <c:pt idx="1">
                  <c:v>1166.8449999999998</c:v>
                </c:pt>
                <c:pt idx="2">
                  <c:v>1214.294</c:v>
                </c:pt>
                <c:pt idx="3">
                  <c:v>1263.174</c:v>
                </c:pt>
                <c:pt idx="4">
                  <c:v>1314.701</c:v>
                </c:pt>
                <c:pt idx="5">
                  <c:v>1371.629</c:v>
                </c:pt>
                <c:pt idx="6">
                  <c:v>1435.082</c:v>
                </c:pt>
                <c:pt idx="7">
                  <c:v>1506.161</c:v>
                </c:pt>
                <c:pt idx="8">
                  <c:v>1585.2939999999999</c:v>
                </c:pt>
                <c:pt idx="9">
                  <c:v>1672.157</c:v>
                </c:pt>
                <c:pt idx="10">
                  <c:v>1765.8400000000001</c:v>
                </c:pt>
                <c:pt idx="11">
                  <c:v>1865.8519999999999</c:v>
                </c:pt>
                <c:pt idx="12">
                  <c:v>1971.163</c:v>
                </c:pt>
                <c:pt idx="13">
                  <c:v>2081.209</c:v>
                </c:pt>
                <c:pt idx="14">
                  <c:v>2194.5959999999995</c:v>
                </c:pt>
                <c:pt idx="15">
                  <c:v>2311.3369999999995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East Asia</c:v>
                </c:pt>
                <c:pt idx="2">
                  <c:v>China</c:v>
                </c:pt>
              </c:strCache>
            </c:strRef>
          </c:cat>
          <c:val>
            <c:numRef>
              <c:f>Sheet1!$B$2:$B$4</c:f>
              <c:numCache>
                <c:formatCode>General</c:formatCode>
                <c:ptCount val="3"/>
                <c:pt idx="0">
                  <c:v>0.05245930274733035</c:v>
                </c:pt>
                <c:pt idx="1">
                  <c:v>0.049659900716721106</c:v>
                </c:pt>
                <c:pt idx="2">
                  <c:v>0.053568218207227014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23170945797564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1371.629</c:v>
                </c:pt>
                <c:pt idx="2">
                  <c:v>1435.082</c:v>
                </c:pt>
                <c:pt idx="3">
                  <c:v>1506.161</c:v>
                </c:pt>
                <c:pt idx="4">
                  <c:v>1585.2939999999999</c:v>
                </c:pt>
                <c:pt idx="5">
                  <c:v>1672.157</c:v>
                </c:pt>
                <c:pt idx="6">
                  <c:v>1765.8400000000001</c:v>
                </c:pt>
                <c:pt idx="7">
                  <c:v>1865.8519999999999</c:v>
                </c:pt>
                <c:pt idx="8">
                  <c:v>1971.163</c:v>
                </c:pt>
                <c:pt idx="9">
                  <c:v>2081.209</c:v>
                </c:pt>
                <c:pt idx="10">
                  <c:v>2194.5959999999995</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1371.629</c:v>
                </c:pt>
                <c:pt idx="1">
                  <c:v>63.4530000000002</c:v>
                </c:pt>
                <c:pt idx="2">
                  <c:v>71.07899999999995</c:v>
                </c:pt>
                <c:pt idx="3">
                  <c:v>79.13299999999981</c:v>
                </c:pt>
                <c:pt idx="4">
                  <c:v>86.86300000000006</c:v>
                </c:pt>
                <c:pt idx="5">
                  <c:v>93.68300000000022</c:v>
                </c:pt>
                <c:pt idx="6">
                  <c:v>100.01199999999972</c:v>
                </c:pt>
                <c:pt idx="7">
                  <c:v>105.31100000000015</c:v>
                </c:pt>
                <c:pt idx="8">
                  <c:v>110.04599999999982</c:v>
                </c:pt>
                <c:pt idx="9">
                  <c:v>113.38699999999972</c:v>
                </c:pt>
                <c:pt idx="10">
                  <c:v>116.74099999999999</c:v>
                </c:pt>
                <c:pt idx="11">
                  <c:v>2311.3369999999995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China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Sheet1!$B$2:$B$3</c:f>
              <c:numCache>
                <c:formatCode>General</c:formatCode>
                <c:ptCount val="2"/>
                <c:pt idx="0">
                  <c:v>64.80720783037464</c:v>
                </c:pt>
                <c:pt idx="1">
                  <c:v>17.33775523540852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Sheet1!$C$2:$C$3</c:f>
              <c:numCache>
                <c:formatCode>General</c:formatCode>
                <c:ptCount val="2"/>
                <c:pt idx="0">
                  <c:v>35.19279216962536</c:v>
                </c:pt>
                <c:pt idx="1">
                  <c:v>82.66224476459148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0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1520.8419999999999</c:v>
                </c:pt>
                <c:pt idx="1">
                  <c:v>1592.88</c:v>
                </c:pt>
                <c:pt idx="2">
                  <c:v>1668.336</c:v>
                </c:pt>
                <c:pt idx="3">
                  <c:v>1748.022</c:v>
                </c:pt>
                <c:pt idx="4">
                  <c:v>1832.7459999999999</c:v>
                </c:pt>
                <c:pt idx="5">
                  <c:v>1935.6399999999999</c:v>
                </c:pt>
                <c:pt idx="6">
                  <c:v>2052.5170000000003</c:v>
                </c:pt>
                <c:pt idx="7">
                  <c:v>2186.243</c:v>
                </c:pt>
                <c:pt idx="8">
                  <c:v>2339.139</c:v>
                </c:pt>
                <c:pt idx="9">
                  <c:v>2512.081</c:v>
                </c:pt>
                <c:pt idx="10">
                  <c:v>2705.2019999999998</c:v>
                </c:pt>
                <c:pt idx="11">
                  <c:v>2918.9049999999997</c:v>
                </c:pt>
                <c:pt idx="12">
                  <c:v>3152.891</c:v>
                </c:pt>
                <c:pt idx="13">
                  <c:v>3407.053</c:v>
                </c:pt>
                <c:pt idx="14">
                  <c:v>3682.205</c:v>
                </c:pt>
                <c:pt idx="15">
                  <c:v>3979.404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East Asia</c:v>
                </c:pt>
                <c:pt idx="2">
                  <c:v>China</c:v>
                </c:pt>
              </c:strCache>
            </c:strRef>
          </c:cat>
          <c:val>
            <c:numRef>
              <c:f>Sheet1!$B$2:$B$4</c:f>
              <c:numCache>
                <c:formatCode>General</c:formatCode>
                <c:ptCount val="3"/>
                <c:pt idx="0">
                  <c:v>0.06658666629421717</c:v>
                </c:pt>
                <c:pt idx="1">
                  <c:v>0.06543619249267518</c:v>
                </c:pt>
                <c:pt idx="2">
                  <c:v>0.07472993183699317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08854079799407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1935.6399999999999</c:v>
                </c:pt>
                <c:pt idx="2">
                  <c:v>2052.5170000000003</c:v>
                </c:pt>
                <c:pt idx="3">
                  <c:v>2186.243</c:v>
                </c:pt>
                <c:pt idx="4">
                  <c:v>2339.139</c:v>
                </c:pt>
                <c:pt idx="5">
                  <c:v>2512.081</c:v>
                </c:pt>
                <c:pt idx="6">
                  <c:v>2705.2019999999998</c:v>
                </c:pt>
                <c:pt idx="7">
                  <c:v>2918.9049999999997</c:v>
                </c:pt>
                <c:pt idx="8">
                  <c:v>3152.891</c:v>
                </c:pt>
                <c:pt idx="9">
                  <c:v>3407.053</c:v>
                </c:pt>
                <c:pt idx="10">
                  <c:v>3682.205</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1935.6399999999999</c:v>
                </c:pt>
                <c:pt idx="1">
                  <c:v>116.87700000000041</c:v>
                </c:pt>
                <c:pt idx="2">
                  <c:v>133.72599999999966</c:v>
                </c:pt>
                <c:pt idx="3">
                  <c:v>152.89600000000019</c:v>
                </c:pt>
                <c:pt idx="4">
                  <c:v>172.942</c:v>
                </c:pt>
                <c:pt idx="5">
                  <c:v>193.12099999999964</c:v>
                </c:pt>
                <c:pt idx="6">
                  <c:v>213.70299999999997</c:v>
                </c:pt>
                <c:pt idx="7">
                  <c:v>233.98600000000033</c:v>
                </c:pt>
                <c:pt idx="8">
                  <c:v>254.1619999999998</c:v>
                </c:pt>
                <c:pt idx="9">
                  <c:v>275.15200000000004</c:v>
                </c:pt>
                <c:pt idx="10">
                  <c:v>297.19900000000007</c:v>
                </c:pt>
                <c:pt idx="11">
                  <c:v>3979.404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China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Sheet1!$B$2:$B$3</c:f>
              <c:numCache>
                <c:formatCode>General</c:formatCode>
                <c:ptCount val="2"/>
                <c:pt idx="0">
                  <c:v>46.883609895541035</c:v>
                </c:pt>
                <c:pt idx="1">
                  <c:v>12.017855297979034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Sheet1!$C$2:$C$3</c:f>
              <c:numCache>
                <c:formatCode>General</c:formatCode>
                <c:ptCount val="2"/>
                <c:pt idx="0">
                  <c:v>53.116390104458965</c:v>
                </c:pt>
                <c:pt idx="1">
                  <c:v>87.98214470202096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0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Serums and Oils</c:v>
                </c:pt>
                <c:pt idx="7">
                  <c:v>Waxes, Clays, Pastes…</c:v>
                </c:pt>
              </c:strCache>
            </c:strRef>
          </c:cat>
          <c:val>
            <c:numRef>
              <c:f>Sheet1!$B$2:$B$9</c:f>
              <c:numCache>
                <c:formatCode>General</c:formatCode>
                <c:ptCount val="8"/>
                <c:pt idx="0">
                  <c:v>136.978</c:v>
                </c:pt>
                <c:pt idx="1">
                  <c:v>179.957</c:v>
                </c:pt>
                <c:pt idx="2">
                  <c:v>192.848</c:v>
                </c:pt>
                <c:pt idx="3">
                  <c:v>211.719</c:v>
                </c:pt>
                <c:pt idx="4">
                  <c:v>242.256</c:v>
                </c:pt>
                <c:pt idx="5">
                  <c:v>277.10699999999997</c:v>
                </c:pt>
                <c:pt idx="6">
                  <c:v>336.317</c:v>
                </c:pt>
                <c:pt idx="7">
                  <c:v>358.458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80.33372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342.678</c:v>
                </c:pt>
                <c:pt idx="4">
                  <c:v>367.136</c:v>
                </c:pt>
                <c:pt idx="5">
                  <c:v>390.736</c:v>
                </c:pt>
                <c:pt idx="6">
                  <c:v>405.283</c:v>
                </c:pt>
                <c:pt idx="7">
                  <c:v>429.807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75.94138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630.532</c:v>
                </c:pt>
                <c:pt idx="6">
                  <c:v>643.797</c:v>
                </c:pt>
                <c:pt idx="7">
                  <c:v>661.311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886.15674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Pharmacies and Drugst…</c:v>
                </c:pt>
                <c:pt idx="3">
                  <c:v>Brand-owned Online St…</c:v>
                </c:pt>
                <c:pt idx="4">
                  <c:v>Beauty Specialty Reta…</c:v>
                </c:pt>
                <c:pt idx="5">
                  <c:v>Salon and Professiona…</c:v>
                </c:pt>
                <c:pt idx="6">
                  <c:v>Mass Retail</c:v>
                </c:pt>
                <c:pt idx="7">
                  <c:v>Online Marketplaces</c:v>
                </c:pt>
              </c:strCache>
            </c:strRef>
          </c:cat>
          <c:val>
            <c:numRef>
              <c:f>Sheet1!$B$2:$B$9</c:f>
              <c:numCache>
                <c:formatCode>General</c:formatCode>
                <c:ptCount val="8"/>
                <c:pt idx="2">
                  <c:v>273.691</c:v>
                </c:pt>
                <c:pt idx="3">
                  <c:v>280.802</c:v>
                </c:pt>
                <c:pt idx="4">
                  <c:v>299.534</c:v>
                </c:pt>
                <c:pt idx="5">
                  <c:v>313.173</c:v>
                </c:pt>
                <c:pt idx="6">
                  <c:v>341.679</c:v>
                </c:pt>
                <c:pt idx="7">
                  <c:v>426.762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71.8610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Texture and Separation</c:v>
                </c:pt>
                <c:pt idx="3">
                  <c:v>Curl Definition</c:v>
                </c:pt>
                <c:pt idx="4">
                  <c:v>Hold and Shape</c:v>
                </c:pt>
                <c:pt idx="5">
                  <c:v>Volume and Root Lift</c:v>
                </c:pt>
                <c:pt idx="6">
                  <c:v>Heat Styling Support</c:v>
                </c:pt>
                <c:pt idx="7">
                  <c:v>Smoothing and Frizz C…</c:v>
                </c:pt>
              </c:strCache>
            </c:strRef>
          </c:cat>
          <c:val>
            <c:numRef>
              <c:f>Sheet1!$B$2:$B$9</c:f>
              <c:numCache>
                <c:formatCode>General</c:formatCode>
                <c:ptCount val="8"/>
                <c:pt idx="1">
                  <c:v>213.375</c:v>
                </c:pt>
                <c:pt idx="2">
                  <c:v>250.647</c:v>
                </c:pt>
                <c:pt idx="3">
                  <c:v>251.846</c:v>
                </c:pt>
                <c:pt idx="4">
                  <c:v>282.249</c:v>
                </c:pt>
                <c:pt idx="5">
                  <c:v>294.926</c:v>
                </c:pt>
                <c:pt idx="6">
                  <c:v>307.939</c:v>
                </c:pt>
                <c:pt idx="7">
                  <c:v>334.658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48.44172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All Hair Types</c:v>
                </c:pt>
                <c:pt idx="7">
                  <c:v>Straight Hair</c:v>
                </c:pt>
              </c:strCache>
            </c:strRef>
          </c:cat>
          <c:val>
            <c:numRef>
              <c:f>Sheet1!$B$2:$B$9</c:f>
              <c:numCache>
                <c:formatCode>General</c:formatCode>
                <c:ptCount val="8"/>
                <c:pt idx="3">
                  <c:v>336.475</c:v>
                </c:pt>
                <c:pt idx="4">
                  <c:v>350.001</c:v>
                </c:pt>
                <c:pt idx="5">
                  <c:v>374.245</c:v>
                </c:pt>
                <c:pt idx="6">
                  <c:v>408.191</c:v>
                </c:pt>
                <c:pt idx="7">
                  <c:v>466.728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25.4155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462.369</c:v>
                </c:pt>
                <c:pt idx="5">
                  <c:v>483.602</c:v>
                </c:pt>
                <c:pt idx="6">
                  <c:v>486.797</c:v>
                </c:pt>
                <c:pt idx="7">
                  <c:v>502.871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73.8471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1935.6399999999999</c:v>
                </c:pt>
                <c:pt idx="2">
                  <c:v>2139.654</c:v>
                </c:pt>
                <c:pt idx="3">
                  <c:v>2248.642</c:v>
                </c:pt>
                <c:pt idx="4">
                  <c:v>2405.2019999999998</c:v>
                </c:pt>
                <c:pt idx="5">
                  <c:v>2649.716</c:v>
                </c:pt>
                <c:pt idx="6">
                  <c:v>3009.7509999999997</c:v>
                </c:pt>
                <c:pt idx="7">
                  <c:v>3253.2789999999995</c:v>
                </c:pt>
                <c:pt idx="8">
                  <c:v>3665.7779999999993</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1935.6399999999999</c:v>
                </c:pt>
                <c:pt idx="1">
                  <c:v>204.01400000000007</c:v>
                </c:pt>
                <c:pt idx="2">
                  <c:v>108.988</c:v>
                </c:pt>
                <c:pt idx="3">
                  <c:v>156.56</c:v>
                </c:pt>
                <c:pt idx="4">
                  <c:v>244.514</c:v>
                </c:pt>
                <c:pt idx="5">
                  <c:v>360.035</c:v>
                </c:pt>
                <c:pt idx="6">
                  <c:v>243.52799999999996</c:v>
                </c:pt>
                <c:pt idx="7">
                  <c:v>412.499</c:v>
                </c:pt>
                <c:pt idx="8">
                  <c:v>313.626</c:v>
                </c:pt>
                <c:pt idx="9">
                  <c:v>3979.404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204.01400000000007</c:v>
                </c:pt>
                <c:pt idx="2">
                  <c:v>313.00200000000007</c:v>
                </c:pt>
                <c:pt idx="3">
                  <c:v>469.56200000000007</c:v>
                </c:pt>
                <c:pt idx="4">
                  <c:v>714.076</c:v>
                </c:pt>
                <c:pt idx="5">
                  <c:v>1074.111</c:v>
                </c:pt>
                <c:pt idx="6">
                  <c:v>1317.6390000000001</c:v>
                </c:pt>
                <c:pt idx="7">
                  <c:v>1730.1380000000001</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204.01400000000007</c:v>
                </c:pt>
                <c:pt idx="1">
                  <c:v>108.988</c:v>
                </c:pt>
                <c:pt idx="2">
                  <c:v>156.56</c:v>
                </c:pt>
                <c:pt idx="3">
                  <c:v>244.514</c:v>
                </c:pt>
                <c:pt idx="4">
                  <c:v>360.035</c:v>
                </c:pt>
                <c:pt idx="5">
                  <c:v>243.52799999999996</c:v>
                </c:pt>
                <c:pt idx="6">
                  <c:v>412.499</c:v>
                </c:pt>
                <c:pt idx="7">
                  <c:v>313.626</c:v>
                </c:pt>
                <c:pt idx="8">
                  <c:v>2043.7640000000001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1935.6399999999999</c:v>
                </c:pt>
                <c:pt idx="2">
                  <c:v>2366.194</c:v>
                </c:pt>
                <c:pt idx="3">
                  <c:v>2859.638</c:v>
                </c:pt>
                <c:pt idx="4">
                  <c:v>3305.908</c:v>
                </c:pt>
                <c:pt idx="5">
                  <c:v>3686.8329999999996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1935.6399999999999</c:v>
                </c:pt>
                <c:pt idx="1">
                  <c:v>430.55400000000003</c:v>
                </c:pt>
                <c:pt idx="2">
                  <c:v>493.44399999999996</c:v>
                </c:pt>
                <c:pt idx="3">
                  <c:v>446.27</c:v>
                </c:pt>
                <c:pt idx="4">
                  <c:v>380.92499999999995</c:v>
                </c:pt>
                <c:pt idx="5">
                  <c:v>292.57000000000005</c:v>
                </c:pt>
                <c:pt idx="6">
                  <c:v>3979.4030000000002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430.55400000000003</c:v>
                </c:pt>
                <c:pt idx="2">
                  <c:v>923.998</c:v>
                </c:pt>
                <c:pt idx="3">
                  <c:v>1370.268</c:v>
                </c:pt>
                <c:pt idx="4">
                  <c:v>1751.193</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430.55400000000003</c:v>
                </c:pt>
                <c:pt idx="1">
                  <c:v>493.44399999999996</c:v>
                </c:pt>
                <c:pt idx="2">
                  <c:v>446.27</c:v>
                </c:pt>
                <c:pt idx="3">
                  <c:v>380.92499999999995</c:v>
                </c:pt>
                <c:pt idx="4">
                  <c:v>292.57000000000005</c:v>
                </c:pt>
                <c:pt idx="5">
                  <c:v>2043.763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1935.6400000000003</c:v>
                </c:pt>
                <c:pt idx="2">
                  <c:v>2608.826</c:v>
                </c:pt>
                <c:pt idx="3">
                  <c:v>3235.017</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1935.6400000000003</c:v>
                </c:pt>
                <c:pt idx="1">
                  <c:v>673.1859999999999</c:v>
                </c:pt>
                <c:pt idx="2">
                  <c:v>626.1909999999999</c:v>
                </c:pt>
                <c:pt idx="3">
                  <c:v>744.3859999999999</c:v>
                </c:pt>
                <c:pt idx="4">
                  <c:v>3979.4029999999993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673.1859999999999</c:v>
                </c:pt>
                <c:pt idx="2">
                  <c:v>1299.377</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673.1859999999999</c:v>
                </c:pt>
                <c:pt idx="1">
                  <c:v>626.1909999999999</c:v>
                </c:pt>
                <c:pt idx="2">
                  <c:v>744.3859999999999</c:v>
                </c:pt>
                <c:pt idx="3">
                  <c:v>2043.763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1935.641</c:v>
                </c:pt>
                <c:pt idx="2">
                  <c:v>2194.648</c:v>
                </c:pt>
                <c:pt idx="3">
                  <c:v>2531.1910000000003</c:v>
                </c:pt>
                <c:pt idx="4">
                  <c:v>2841.079</c:v>
                </c:pt>
                <c:pt idx="5">
                  <c:v>3077.9620000000004</c:v>
                </c:pt>
                <c:pt idx="6">
                  <c:v>3641.733</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1935.641</c:v>
                </c:pt>
                <c:pt idx="1">
                  <c:v>259.00700000000006</c:v>
                </c:pt>
                <c:pt idx="2">
                  <c:v>336.543</c:v>
                </c:pt>
                <c:pt idx="3">
                  <c:v>309.88800000000003</c:v>
                </c:pt>
                <c:pt idx="4">
                  <c:v>236.88300000000004</c:v>
                </c:pt>
                <c:pt idx="5">
                  <c:v>563.771</c:v>
                </c:pt>
                <c:pt idx="6">
                  <c:v>337.66999999999996</c:v>
                </c:pt>
                <c:pt idx="7">
                  <c:v>3979.4030000000002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259.00700000000006</c:v>
                </c:pt>
                <c:pt idx="2">
                  <c:v>595.5500000000001</c:v>
                </c:pt>
                <c:pt idx="3">
                  <c:v>905.4380000000001</c:v>
                </c:pt>
                <c:pt idx="4">
                  <c:v>1142.3210000000001</c:v>
                </c:pt>
                <c:pt idx="5">
                  <c:v>1706.092</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259.00700000000006</c:v>
                </c:pt>
                <c:pt idx="1">
                  <c:v>336.543</c:v>
                </c:pt>
                <c:pt idx="2">
                  <c:v>309.88800000000003</c:v>
                </c:pt>
                <c:pt idx="3">
                  <c:v>236.88300000000004</c:v>
                </c:pt>
                <c:pt idx="4">
                  <c:v>563.771</c:v>
                </c:pt>
                <c:pt idx="5">
                  <c:v>337.66999999999996</c:v>
                </c:pt>
                <c:pt idx="6">
                  <c:v>2043.7620000000002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1935.64</c:v>
                </c:pt>
                <c:pt idx="2">
                  <c:v>2148.885</c:v>
                </c:pt>
                <c:pt idx="3">
                  <c:v>2492.0840000000003</c:v>
                </c:pt>
                <c:pt idx="4">
                  <c:v>2766.5490000000004</c:v>
                </c:pt>
                <c:pt idx="5">
                  <c:v>3025.1340000000005</c:v>
                </c:pt>
                <c:pt idx="6">
                  <c:v>3414.1230000000005</c:v>
                </c:pt>
                <c:pt idx="7">
                  <c:v>3595.2250000000004</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1935.64</c:v>
                </c:pt>
                <c:pt idx="1">
                  <c:v>213.245</c:v>
                </c:pt>
                <c:pt idx="2">
                  <c:v>343.19899999999996</c:v>
                </c:pt>
                <c:pt idx="3">
                  <c:v>274.465</c:v>
                </c:pt>
                <c:pt idx="4">
                  <c:v>258.58500000000004</c:v>
                </c:pt>
                <c:pt idx="5">
                  <c:v>388.98900000000003</c:v>
                </c:pt>
                <c:pt idx="6">
                  <c:v>181.10199999999998</c:v>
                </c:pt>
                <c:pt idx="7">
                  <c:v>384.17699999999996</c:v>
                </c:pt>
                <c:pt idx="8">
                  <c:v>3979.4019999999996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213.245</c:v>
                </c:pt>
                <c:pt idx="2">
                  <c:v>556.444</c:v>
                </c:pt>
                <c:pt idx="3">
                  <c:v>830.9089999999999</c:v>
                </c:pt>
                <c:pt idx="4">
                  <c:v>1089.494</c:v>
                </c:pt>
                <c:pt idx="5">
                  <c:v>1478.483</c:v>
                </c:pt>
                <c:pt idx="6">
                  <c:v>1659.585</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213.245</c:v>
                </c:pt>
                <c:pt idx="1">
                  <c:v>343.19899999999996</c:v>
                </c:pt>
                <c:pt idx="2">
                  <c:v>274.465</c:v>
                </c:pt>
                <c:pt idx="3">
                  <c:v>258.58500000000004</c:v>
                </c:pt>
                <c:pt idx="4">
                  <c:v>388.98900000000003</c:v>
                </c:pt>
                <c:pt idx="5">
                  <c:v>181.10199999999998</c:v>
                </c:pt>
                <c:pt idx="6">
                  <c:v>384.17699999999996</c:v>
                </c:pt>
                <c:pt idx="7">
                  <c:v>2043.762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1935.64</c:v>
                </c:pt>
                <c:pt idx="2">
                  <c:v>2341.312</c:v>
                </c:pt>
                <c:pt idx="3">
                  <c:v>2735.87</c:v>
                </c:pt>
                <c:pt idx="4">
                  <c:v>3153.636</c:v>
                </c:pt>
                <c:pt idx="5">
                  <c:v>3585.834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1935.64</c:v>
                </c:pt>
                <c:pt idx="1">
                  <c:v>405.67199999999997</c:v>
                </c:pt>
                <c:pt idx="2">
                  <c:v>394.558</c:v>
                </c:pt>
                <c:pt idx="3">
                  <c:v>417.7660000000001</c:v>
                </c:pt>
                <c:pt idx="4">
                  <c:v>432.198</c:v>
                </c:pt>
                <c:pt idx="5">
                  <c:v>393.56800000000004</c:v>
                </c:pt>
                <c:pt idx="6">
                  <c:v>3979.402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405.67199999999997</c:v>
                </c:pt>
                <c:pt idx="2">
                  <c:v>800.23</c:v>
                </c:pt>
                <c:pt idx="3">
                  <c:v>1217.996</c:v>
                </c:pt>
                <c:pt idx="4">
                  <c:v>1650.194</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405.67199999999997</c:v>
                </c:pt>
                <c:pt idx="1">
                  <c:v>394.558</c:v>
                </c:pt>
                <c:pt idx="2">
                  <c:v>417.7660000000001</c:v>
                </c:pt>
                <c:pt idx="3">
                  <c:v>432.198</c:v>
                </c:pt>
                <c:pt idx="4">
                  <c:v>393.56800000000004</c:v>
                </c:pt>
                <c:pt idx="5">
                  <c:v>2043.762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1935.6390000000001</c:v>
                </c:pt>
                <c:pt idx="2">
                  <c:v>2384.598</c:v>
                </c:pt>
                <c:pt idx="3">
                  <c:v>2916.955</c:v>
                </c:pt>
                <c:pt idx="4">
                  <c:v>3400.987</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1935.6390000000001</c:v>
                </c:pt>
                <c:pt idx="1">
                  <c:v>448.95899999999995</c:v>
                </c:pt>
                <c:pt idx="2">
                  <c:v>532.357</c:v>
                </c:pt>
                <c:pt idx="3">
                  <c:v>484.03200000000004</c:v>
                </c:pt>
                <c:pt idx="4">
                  <c:v>578.4150000000001</c:v>
                </c:pt>
                <c:pt idx="5">
                  <c:v>3979.402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448.95899999999995</c:v>
                </c:pt>
                <c:pt idx="2">
                  <c:v>981.3159999999999</c:v>
                </c:pt>
                <c:pt idx="3">
                  <c:v>1465.348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448.95899999999995</c:v>
                </c:pt>
                <c:pt idx="1">
                  <c:v>532.357</c:v>
                </c:pt>
                <c:pt idx="2">
                  <c:v>484.03200000000004</c:v>
                </c:pt>
                <c:pt idx="3">
                  <c:v>578.4150000000001</c:v>
                </c:pt>
                <c:pt idx="4">
                  <c:v>2043.763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444.49199999999996</c:v>
                </c:pt>
                <c:pt idx="1">
                  <c:v>457.994</c:v>
                </c:pt>
                <c:pt idx="2">
                  <c:v>471.822</c:v>
                </c:pt>
                <c:pt idx="3">
                  <c:v>485.923</c:v>
                </c:pt>
                <c:pt idx="4">
                  <c:v>500.645</c:v>
                </c:pt>
                <c:pt idx="5">
                  <c:v>516.723</c:v>
                </c:pt>
                <c:pt idx="6">
                  <c:v>534.4300000000001</c:v>
                </c:pt>
                <c:pt idx="7">
                  <c:v>554.0029999999999</c:v>
                </c:pt>
                <c:pt idx="8">
                  <c:v>575.524</c:v>
                </c:pt>
                <c:pt idx="9">
                  <c:v>598.8340000000001</c:v>
                </c:pt>
                <c:pt idx="10">
                  <c:v>623.6790000000001</c:v>
                </c:pt>
                <c:pt idx="11">
                  <c:v>649.88</c:v>
                </c:pt>
                <c:pt idx="12">
                  <c:v>677.137</c:v>
                </c:pt>
                <c:pt idx="13">
                  <c:v>705.263</c:v>
                </c:pt>
                <c:pt idx="14">
                  <c:v>733.868</c:v>
                </c:pt>
                <c:pt idx="15">
                  <c:v>762.954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East Asia</c:v>
                </c:pt>
                <c:pt idx="2">
                  <c:v>Japan</c:v>
                </c:pt>
              </c:strCache>
            </c:strRef>
          </c:cat>
          <c:val>
            <c:numRef>
              <c:f>Sheet1!$B$2:$B$4</c:f>
              <c:numCache>
                <c:formatCode>General</c:formatCode>
                <c:ptCount val="3"/>
                <c:pt idx="0">
                  <c:v>0.05245930274733035</c:v>
                </c:pt>
                <c:pt idx="1">
                  <c:v>0.049659900716721106</c:v>
                </c:pt>
                <c:pt idx="2">
                  <c:v>0.03973833377547442</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516.723</c:v>
                </c:pt>
                <c:pt idx="2">
                  <c:v>534.4300000000001</c:v>
                </c:pt>
                <c:pt idx="3">
                  <c:v>554.0029999999999</c:v>
                </c:pt>
                <c:pt idx="4">
                  <c:v>575.524</c:v>
                </c:pt>
                <c:pt idx="5">
                  <c:v>598.8340000000001</c:v>
                </c:pt>
                <c:pt idx="6">
                  <c:v>623.6790000000001</c:v>
                </c:pt>
                <c:pt idx="7">
                  <c:v>649.88</c:v>
                </c:pt>
                <c:pt idx="8">
                  <c:v>677.137</c:v>
                </c:pt>
                <c:pt idx="9">
                  <c:v>705.263</c:v>
                </c:pt>
                <c:pt idx="10">
                  <c:v>733.868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516.723</c:v>
                </c:pt>
                <c:pt idx="1">
                  <c:v>17.707000000000107</c:v>
                </c:pt>
                <c:pt idx="2">
                  <c:v>19.572999999999865</c:v>
                </c:pt>
                <c:pt idx="3">
                  <c:v>21.521000000000072</c:v>
                </c:pt>
                <c:pt idx="4">
                  <c:v>23.31000000000006</c:v>
                </c:pt>
                <c:pt idx="5">
                  <c:v>24.845000000000027</c:v>
                </c:pt>
                <c:pt idx="6">
                  <c:v>26.200999999999908</c:v>
                </c:pt>
                <c:pt idx="7">
                  <c:v>27.256999999999948</c:v>
                </c:pt>
                <c:pt idx="8">
                  <c:v>28.12600000000009</c:v>
                </c:pt>
                <c:pt idx="9">
                  <c:v>28.605000000000018</c:v>
                </c:pt>
                <c:pt idx="10">
                  <c:v>29.0859999999999</c:v>
                </c:pt>
                <c:pt idx="11">
                  <c:v>762.954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Japan</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Sheet1!$B$2:$B$3</c:f>
              <c:numCache>
                <c:formatCode>General</c:formatCode>
                <c:ptCount val="2"/>
                <c:pt idx="0">
                  <c:v>24.41430944645722</c:v>
                </c:pt>
                <c:pt idx="1">
                  <c:v>6.5315161012970675</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Sheet1!$C$2:$C$3</c:f>
              <c:numCache>
                <c:formatCode>General</c:formatCode>
                <c:ptCount val="2"/>
                <c:pt idx="0">
                  <c:v>75.58569055354278</c:v>
                </c:pt>
                <c:pt idx="1">
                  <c:v>93.46848389870293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0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1352.2440000000001</c:v>
                </c:pt>
                <c:pt idx="1">
                  <c:v>1400.3110000000001</c:v>
                </c:pt>
                <c:pt idx="2">
                  <c:v>1450.143</c:v>
                </c:pt>
                <c:pt idx="3">
                  <c:v>1502.2620000000002</c:v>
                </c:pt>
                <c:pt idx="4">
                  <c:v>1557.1170000000002</c:v>
                </c:pt>
                <c:pt idx="5">
                  <c:v>1622.812</c:v>
                </c:pt>
                <c:pt idx="6">
                  <c:v>1696.2549999999999</c:v>
                </c:pt>
                <c:pt idx="7">
                  <c:v>1778.617</c:v>
                </c:pt>
                <c:pt idx="8">
                  <c:v>1870.972</c:v>
                </c:pt>
                <c:pt idx="9">
                  <c:v>1973.233</c:v>
                </c:pt>
                <c:pt idx="10">
                  <c:v>2085.127</c:v>
                </c:pt>
                <c:pt idx="11">
                  <c:v>2206.678</c:v>
                </c:pt>
                <c:pt idx="12">
                  <c:v>2336.523</c:v>
                </c:pt>
                <c:pt idx="13">
                  <c:v>2474.819</c:v>
                </c:pt>
                <c:pt idx="14">
                  <c:v>2620.918</c:v>
                </c:pt>
                <c:pt idx="15">
                  <c:v>2775.0480000000002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East Asia</c:v>
                </c:pt>
                <c:pt idx="2">
                  <c:v>Japan</c:v>
                </c:pt>
              </c:strCache>
            </c:strRef>
          </c:cat>
          <c:val>
            <c:numRef>
              <c:f>Sheet1!$B$2:$B$4</c:f>
              <c:numCache>
                <c:formatCode>General</c:formatCode>
                <c:ptCount val="3"/>
                <c:pt idx="0">
                  <c:v>0.06658666629421717</c:v>
                </c:pt>
                <c:pt idx="1">
                  <c:v>0.06543619249267518</c:v>
                </c:pt>
                <c:pt idx="2">
                  <c:v>0.05511604879843146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91999497193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1622.812</c:v>
                </c:pt>
                <c:pt idx="2">
                  <c:v>1696.2549999999999</c:v>
                </c:pt>
                <c:pt idx="3">
                  <c:v>1778.617</c:v>
                </c:pt>
                <c:pt idx="4">
                  <c:v>1870.972</c:v>
                </c:pt>
                <c:pt idx="5">
                  <c:v>1973.233</c:v>
                </c:pt>
                <c:pt idx="6">
                  <c:v>2085.127</c:v>
                </c:pt>
                <c:pt idx="7">
                  <c:v>2206.678</c:v>
                </c:pt>
                <c:pt idx="8">
                  <c:v>2336.523</c:v>
                </c:pt>
                <c:pt idx="9">
                  <c:v>2474.819</c:v>
                </c:pt>
                <c:pt idx="10">
                  <c:v>2620.918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1622.812</c:v>
                </c:pt>
                <c:pt idx="1">
                  <c:v>73.44299999999998</c:v>
                </c:pt>
                <c:pt idx="2">
                  <c:v>82.36200000000008</c:v>
                </c:pt>
                <c:pt idx="3">
                  <c:v>92.35500000000002</c:v>
                </c:pt>
                <c:pt idx="4">
                  <c:v>102.26099999999997</c:v>
                </c:pt>
                <c:pt idx="5">
                  <c:v>111.894</c:v>
                </c:pt>
                <c:pt idx="6">
                  <c:v>121.55099999999993</c:v>
                </c:pt>
                <c:pt idx="7">
                  <c:v>129.84500000000025</c:v>
                </c:pt>
                <c:pt idx="8">
                  <c:v>138.29599999999982</c:v>
                </c:pt>
                <c:pt idx="9">
                  <c:v>146.09900000000016</c:v>
                </c:pt>
                <c:pt idx="10">
                  <c:v>154.1300000000001</c:v>
                </c:pt>
                <c:pt idx="11">
                  <c:v>2775.0480000000002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Japan</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Sheet1!$B$2:$B$3</c:f>
              <c:numCache>
                <c:formatCode>General</c:formatCode>
                <c:ptCount val="2"/>
                <c:pt idx="0">
                  <c:v>39.30652639013594</c:v>
                </c:pt>
                <c:pt idx="1">
                  <c:v>10.075592461317163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Sheet1!$C$2:$C$3</c:f>
              <c:numCache>
                <c:formatCode>General</c:formatCode>
                <c:ptCount val="2"/>
                <c:pt idx="0">
                  <c:v>60.69347360986406</c:v>
                </c:pt>
                <c:pt idx="1">
                  <c:v>89.92440753868284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0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Powders</c:v>
                </c:pt>
                <c:pt idx="2">
                  <c:v>Gels and Jellies</c:v>
                </c:pt>
                <c:pt idx="3">
                  <c:v>Creams and Lotions</c:v>
                </c:pt>
                <c:pt idx="4">
                  <c:v>Sprays and Mists</c:v>
                </c:pt>
                <c:pt idx="5">
                  <c:v>Sticks and Balms</c:v>
                </c:pt>
                <c:pt idx="6">
                  <c:v>Serums and Oils</c:v>
                </c:pt>
                <c:pt idx="7">
                  <c:v>Waxes, Clays, Pastes…</c:v>
                </c:pt>
              </c:strCache>
            </c:strRef>
          </c:cat>
          <c:val>
            <c:numRef>
              <c:f>Sheet1!$B$2:$B$9</c:f>
              <c:numCache>
                <c:formatCode>General</c:formatCode>
                <c:ptCount val="8"/>
                <c:pt idx="0">
                  <c:v>108.89099999999999</c:v>
                </c:pt>
                <c:pt idx="1">
                  <c:v>152.494</c:v>
                </c:pt>
                <c:pt idx="2">
                  <c:v>156.603</c:v>
                </c:pt>
                <c:pt idx="3">
                  <c:v>168.319</c:v>
                </c:pt>
                <c:pt idx="4">
                  <c:v>182.701</c:v>
                </c:pt>
                <c:pt idx="5">
                  <c:v>231.829</c:v>
                </c:pt>
                <c:pt idx="6">
                  <c:v>266.009</c:v>
                </c:pt>
                <c:pt idx="7">
                  <c:v>355.966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76.99444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287.057</c:v>
                </c:pt>
                <c:pt idx="4">
                  <c:v>308.668</c:v>
                </c:pt>
                <c:pt idx="5">
                  <c:v>327.922</c:v>
                </c:pt>
                <c:pt idx="6">
                  <c:v>339.229</c:v>
                </c:pt>
                <c:pt idx="7">
                  <c:v>359.937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82.31558000000007"/>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Natural</c:v>
                </c:pt>
                <c:pt idx="7">
                  <c:v>Matte</c:v>
                </c:pt>
              </c:strCache>
            </c:strRef>
          </c:cat>
          <c:val>
            <c:numRef>
              <c:f>Sheet1!$B$2:$B$9</c:f>
              <c:numCache>
                <c:formatCode>General</c:formatCode>
                <c:ptCount val="8"/>
                <c:pt idx="5">
                  <c:v>491.175</c:v>
                </c:pt>
                <c:pt idx="6">
                  <c:v>509.58</c:v>
                </c:pt>
                <c:pt idx="7">
                  <c:v>622.058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833.5577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Online Marketplaces</c:v>
                </c:pt>
                <c:pt idx="6">
                  <c:v>Salon and Professiona…</c:v>
                </c:pt>
                <c:pt idx="7">
                  <c:v>Mass Retail</c:v>
                </c:pt>
              </c:strCache>
            </c:strRef>
          </c:cat>
          <c:val>
            <c:numRef>
              <c:f>Sheet1!$B$2:$B$9</c:f>
              <c:numCache>
                <c:formatCode>General</c:formatCode>
                <c:ptCount val="8"/>
                <c:pt idx="2">
                  <c:v>205.611</c:v>
                </c:pt>
                <c:pt idx="3">
                  <c:v>255.057</c:v>
                </c:pt>
                <c:pt idx="4">
                  <c:v>258.339</c:v>
                </c:pt>
                <c:pt idx="5">
                  <c:v>274.677</c:v>
                </c:pt>
                <c:pt idx="6">
                  <c:v>311.777</c:v>
                </c:pt>
                <c:pt idx="7">
                  <c:v>317.351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25.25034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Curl Definition</c:v>
                </c:pt>
                <c:pt idx="5">
                  <c:v>Hold and Shape</c:v>
                </c:pt>
                <c:pt idx="6">
                  <c:v>Smoothing and Frizz C…</c:v>
                </c:pt>
                <c:pt idx="7">
                  <c:v>Texture and Separation</c:v>
                </c:pt>
              </c:strCache>
            </c:strRef>
          </c:cat>
          <c:val>
            <c:numRef>
              <c:f>Sheet1!$B$2:$B$9</c:f>
              <c:numCache>
                <c:formatCode>General</c:formatCode>
                <c:ptCount val="8"/>
                <c:pt idx="1">
                  <c:v>183.67</c:v>
                </c:pt>
                <c:pt idx="2">
                  <c:v>219.045</c:v>
                </c:pt>
                <c:pt idx="3">
                  <c:v>220.849</c:v>
                </c:pt>
                <c:pt idx="4">
                  <c:v>222.794</c:v>
                </c:pt>
                <c:pt idx="5">
                  <c:v>247.551</c:v>
                </c:pt>
                <c:pt idx="6">
                  <c:v>248.96</c:v>
                </c:pt>
                <c:pt idx="7">
                  <c:v>279.944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75.12496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All Hair Types</c:v>
                </c:pt>
                <c:pt idx="6">
                  <c:v>Wavy Hair</c:v>
                </c:pt>
                <c:pt idx="7">
                  <c:v>Straight Hair</c:v>
                </c:pt>
              </c:strCache>
            </c:strRef>
          </c:cat>
          <c:val>
            <c:numRef>
              <c:f>Sheet1!$B$2:$B$9</c:f>
              <c:numCache>
                <c:formatCode>General</c:formatCode>
                <c:ptCount val="8"/>
                <c:pt idx="3">
                  <c:v>280.798</c:v>
                </c:pt>
                <c:pt idx="4">
                  <c:v>294.301</c:v>
                </c:pt>
                <c:pt idx="5">
                  <c:v>306.359</c:v>
                </c:pt>
                <c:pt idx="6">
                  <c:v>311.7</c:v>
                </c:pt>
                <c:pt idx="7">
                  <c:v>429.654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75.7363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389.321</c:v>
                </c:pt>
                <c:pt idx="5">
                  <c:v>404.05899999999997</c:v>
                </c:pt>
                <c:pt idx="6">
                  <c:v>407.541</c:v>
                </c:pt>
                <c:pt idx="7">
                  <c:v>421.892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65.3352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1622.812</c:v>
                </c:pt>
                <c:pt idx="2">
                  <c:v>1699.414</c:v>
                </c:pt>
                <c:pt idx="3">
                  <c:v>1757.908</c:v>
                </c:pt>
                <c:pt idx="4">
                  <c:v>1835.75</c:v>
                </c:pt>
                <c:pt idx="5">
                  <c:v>1973.821</c:v>
                </c:pt>
                <c:pt idx="6">
                  <c:v>2194.261</c:v>
                </c:pt>
                <c:pt idx="7">
                  <c:v>2343.401</c:v>
                </c:pt>
                <c:pt idx="8">
                  <c:v>2542.6929999999998</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1622.812</c:v>
                </c:pt>
                <c:pt idx="1">
                  <c:v>76.602</c:v>
                </c:pt>
                <c:pt idx="2">
                  <c:v>58.494</c:v>
                </c:pt>
                <c:pt idx="3">
                  <c:v>77.84199999999998</c:v>
                </c:pt>
                <c:pt idx="4">
                  <c:v>138.071</c:v>
                </c:pt>
                <c:pt idx="5">
                  <c:v>220.43999999999994</c:v>
                </c:pt>
                <c:pt idx="6">
                  <c:v>149.14000000000001</c:v>
                </c:pt>
                <c:pt idx="7">
                  <c:v>199.29199999999997</c:v>
                </c:pt>
                <c:pt idx="8">
                  <c:v>232.35500000000002</c:v>
                </c:pt>
                <c:pt idx="9">
                  <c:v>2775.0480000000002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76.602</c:v>
                </c:pt>
                <c:pt idx="2">
                  <c:v>135.096</c:v>
                </c:pt>
                <c:pt idx="3">
                  <c:v>212.938</c:v>
                </c:pt>
                <c:pt idx="4">
                  <c:v>351.009</c:v>
                </c:pt>
                <c:pt idx="5">
                  <c:v>571.449</c:v>
                </c:pt>
                <c:pt idx="6">
                  <c:v>720.5889999999999</c:v>
                </c:pt>
                <c:pt idx="7">
                  <c:v>919.8809999999999</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76.602</c:v>
                </c:pt>
                <c:pt idx="1">
                  <c:v>58.494</c:v>
                </c:pt>
                <c:pt idx="2">
                  <c:v>77.84199999999998</c:v>
                </c:pt>
                <c:pt idx="3">
                  <c:v>138.071</c:v>
                </c:pt>
                <c:pt idx="4">
                  <c:v>220.43999999999994</c:v>
                </c:pt>
                <c:pt idx="5">
                  <c:v>149.14000000000001</c:v>
                </c:pt>
                <c:pt idx="6">
                  <c:v>199.29199999999997</c:v>
                </c:pt>
                <c:pt idx="7">
                  <c:v>232.35500000000002</c:v>
                </c:pt>
                <c:pt idx="8">
                  <c:v>1152.2359999999999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1622.813</c:v>
                </c:pt>
                <c:pt idx="2">
                  <c:v>1870.7640000000001</c:v>
                </c:pt>
                <c:pt idx="3">
                  <c:v>2160.2490000000003</c:v>
                </c:pt>
                <c:pt idx="4">
                  <c:v>2411.1940000000004</c:v>
                </c:pt>
                <c:pt idx="5">
                  <c:v>2619.7880000000005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1622.813</c:v>
                </c:pt>
                <c:pt idx="1">
                  <c:v>247.95100000000002</c:v>
                </c:pt>
                <c:pt idx="2">
                  <c:v>289.485</c:v>
                </c:pt>
                <c:pt idx="3">
                  <c:v>250.94499999999994</c:v>
                </c:pt>
                <c:pt idx="4">
                  <c:v>208.594</c:v>
                </c:pt>
                <c:pt idx="5">
                  <c:v>155.257</c:v>
                </c:pt>
                <c:pt idx="6">
                  <c:v>2775.0449999999996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247.95100000000002</c:v>
                </c:pt>
                <c:pt idx="2">
                  <c:v>537.436</c:v>
                </c:pt>
                <c:pt idx="3">
                  <c:v>788.381</c:v>
                </c:pt>
                <c:pt idx="4">
                  <c:v>996.9749999999999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247.95100000000002</c:v>
                </c:pt>
                <c:pt idx="1">
                  <c:v>289.485</c:v>
                </c:pt>
                <c:pt idx="2">
                  <c:v>250.94499999999994</c:v>
                </c:pt>
                <c:pt idx="3">
                  <c:v>208.594</c:v>
                </c:pt>
                <c:pt idx="4">
                  <c:v>155.257</c:v>
                </c:pt>
                <c:pt idx="5">
                  <c:v>1152.232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1622.8129999999999</c:v>
                </c:pt>
                <c:pt idx="2">
                  <c:v>2060.548</c:v>
                </c:pt>
                <c:pt idx="3">
                  <c:v>2377.0469999999996</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1622.8129999999999</c:v>
                </c:pt>
                <c:pt idx="1">
                  <c:v>437.7349999999999</c:v>
                </c:pt>
                <c:pt idx="2">
                  <c:v>316.49899999999997</c:v>
                </c:pt>
                <c:pt idx="3">
                  <c:v>397.998</c:v>
                </c:pt>
                <c:pt idx="4">
                  <c:v>2775.045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437.7349999999999</c:v>
                </c:pt>
                <c:pt idx="2">
                  <c:v>754.2339999999999</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437.7349999999999</c:v>
                </c:pt>
                <c:pt idx="1">
                  <c:v>316.49899999999997</c:v>
                </c:pt>
                <c:pt idx="2">
                  <c:v>397.998</c:v>
                </c:pt>
                <c:pt idx="3">
                  <c:v>1152.232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1622.812</c:v>
                </c:pt>
                <c:pt idx="2">
                  <c:v>1785.561</c:v>
                </c:pt>
                <c:pt idx="3">
                  <c:v>1978.9579999999999</c:v>
                </c:pt>
                <c:pt idx="4">
                  <c:v>2187.7999999999997</c:v>
                </c:pt>
                <c:pt idx="5">
                  <c:v>2338.957</c:v>
                </c:pt>
                <c:pt idx="6">
                  <c:v>2597.892</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1622.812</c:v>
                </c:pt>
                <c:pt idx="1">
                  <c:v>162.74900000000002</c:v>
                </c:pt>
                <c:pt idx="2">
                  <c:v>193.397</c:v>
                </c:pt>
                <c:pt idx="3">
                  <c:v>208.84200000000004</c:v>
                </c:pt>
                <c:pt idx="4">
                  <c:v>151.157</c:v>
                </c:pt>
                <c:pt idx="5">
                  <c:v>258.93499999999995</c:v>
                </c:pt>
                <c:pt idx="6">
                  <c:v>177.15300000000002</c:v>
                </c:pt>
                <c:pt idx="7">
                  <c:v>2775.045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162.74900000000002</c:v>
                </c:pt>
                <c:pt idx="2">
                  <c:v>356.146</c:v>
                </c:pt>
                <c:pt idx="3">
                  <c:v>564.988</c:v>
                </c:pt>
                <c:pt idx="4">
                  <c:v>716.1450000000001</c:v>
                </c:pt>
                <c:pt idx="5">
                  <c:v>975.08</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162.74900000000002</c:v>
                </c:pt>
                <c:pt idx="1">
                  <c:v>193.397</c:v>
                </c:pt>
                <c:pt idx="2">
                  <c:v>208.84200000000004</c:v>
                </c:pt>
                <c:pt idx="3">
                  <c:v>151.157</c:v>
                </c:pt>
                <c:pt idx="4">
                  <c:v>258.93499999999995</c:v>
                </c:pt>
                <c:pt idx="5">
                  <c:v>177.15300000000002</c:v>
                </c:pt>
                <c:pt idx="6">
                  <c:v>1152.2330000000002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1622.813</c:v>
                </c:pt>
                <c:pt idx="2">
                  <c:v>1737.529</c:v>
                </c:pt>
                <c:pt idx="3">
                  <c:v>1954.368</c:v>
                </c:pt>
                <c:pt idx="4">
                  <c:v>2089.565</c:v>
                </c:pt>
                <c:pt idx="5">
                  <c:v>2284.471</c:v>
                </c:pt>
                <c:pt idx="6">
                  <c:v>2483.739</c:v>
                </c:pt>
                <c:pt idx="7">
                  <c:v>2583.012</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1622.813</c:v>
                </c:pt>
                <c:pt idx="1">
                  <c:v>114.71600000000001</c:v>
                </c:pt>
                <c:pt idx="2">
                  <c:v>216.83899999999997</c:v>
                </c:pt>
                <c:pt idx="3">
                  <c:v>135.197</c:v>
                </c:pt>
                <c:pt idx="4">
                  <c:v>194.906</c:v>
                </c:pt>
                <c:pt idx="5">
                  <c:v>199.268</c:v>
                </c:pt>
                <c:pt idx="6">
                  <c:v>99.273</c:v>
                </c:pt>
                <c:pt idx="7">
                  <c:v>192.033</c:v>
                </c:pt>
                <c:pt idx="8">
                  <c:v>2775.0449999999996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114.71600000000001</c:v>
                </c:pt>
                <c:pt idx="2">
                  <c:v>331.55499999999995</c:v>
                </c:pt>
                <c:pt idx="3">
                  <c:v>466.75199999999995</c:v>
                </c:pt>
                <c:pt idx="4">
                  <c:v>661.6579999999999</c:v>
                </c:pt>
                <c:pt idx="5">
                  <c:v>860.9259999999999</c:v>
                </c:pt>
                <c:pt idx="6">
                  <c:v>960.199</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114.71600000000001</c:v>
                </c:pt>
                <c:pt idx="1">
                  <c:v>216.83899999999997</c:v>
                </c:pt>
                <c:pt idx="2">
                  <c:v>135.197</c:v>
                </c:pt>
                <c:pt idx="3">
                  <c:v>194.906</c:v>
                </c:pt>
                <c:pt idx="4">
                  <c:v>199.268</c:v>
                </c:pt>
                <c:pt idx="5">
                  <c:v>99.273</c:v>
                </c:pt>
                <c:pt idx="6">
                  <c:v>192.033</c:v>
                </c:pt>
                <c:pt idx="7">
                  <c:v>1152.232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1622.812</c:v>
                </c:pt>
                <c:pt idx="2">
                  <c:v>1861.8849999999998</c:v>
                </c:pt>
                <c:pt idx="3">
                  <c:v>2084.296</c:v>
                </c:pt>
                <c:pt idx="4">
                  <c:v>2326.555</c:v>
                </c:pt>
                <c:pt idx="5">
                  <c:v>2580.216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1622.812</c:v>
                </c:pt>
                <c:pt idx="1">
                  <c:v>239.07299999999998</c:v>
                </c:pt>
                <c:pt idx="2">
                  <c:v>222.411</c:v>
                </c:pt>
                <c:pt idx="3">
                  <c:v>242.25899999999996</c:v>
                </c:pt>
                <c:pt idx="4">
                  <c:v>253.66099999999994</c:v>
                </c:pt>
                <c:pt idx="5">
                  <c:v>194.829</c:v>
                </c:pt>
                <c:pt idx="6">
                  <c:v>2775.045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239.07299999999998</c:v>
                </c:pt>
                <c:pt idx="2">
                  <c:v>461.484</c:v>
                </c:pt>
                <c:pt idx="3">
                  <c:v>703.7429999999999</c:v>
                </c:pt>
                <c:pt idx="4">
                  <c:v>957.4039999999999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239.07299999999998</c:v>
                </c:pt>
                <c:pt idx="1">
                  <c:v>222.411</c:v>
                </c:pt>
                <c:pt idx="2">
                  <c:v>242.25899999999996</c:v>
                </c:pt>
                <c:pt idx="3">
                  <c:v>253.66099999999994</c:v>
                </c:pt>
                <c:pt idx="4">
                  <c:v>194.829</c:v>
                </c:pt>
                <c:pt idx="5">
                  <c:v>1152.233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1622.813</c:v>
                </c:pt>
                <c:pt idx="2">
                  <c:v>1882.931</c:v>
                </c:pt>
                <c:pt idx="3">
                  <c:v>2189.431</c:v>
                </c:pt>
                <c:pt idx="4">
                  <c:v>2449.362</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1622.813</c:v>
                </c:pt>
                <c:pt idx="1">
                  <c:v>260.118</c:v>
                </c:pt>
                <c:pt idx="2">
                  <c:v>306.49999999999994</c:v>
                </c:pt>
                <c:pt idx="3">
                  <c:v>259.93100000000004</c:v>
                </c:pt>
                <c:pt idx="4">
                  <c:v>325.68499999999995</c:v>
                </c:pt>
                <c:pt idx="5">
                  <c:v>2775.047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260.118</c:v>
                </c:pt>
                <c:pt idx="2">
                  <c:v>566.6179999999999</c:v>
                </c:pt>
                <c:pt idx="3">
                  <c:v>826.549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260.118</c:v>
                </c:pt>
                <c:pt idx="1">
                  <c:v>306.49999999999994</c:v>
                </c:pt>
                <c:pt idx="2">
                  <c:v>259.93100000000004</c:v>
                </c:pt>
                <c:pt idx="3">
                  <c:v>325.68499999999995</c:v>
                </c:pt>
                <c:pt idx="4">
                  <c:v>1152.234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191.222</c:v>
                </c:pt>
                <c:pt idx="1">
                  <c:v>198.01800000000003</c:v>
                </c:pt>
                <c:pt idx="2">
                  <c:v>205.029</c:v>
                </c:pt>
                <c:pt idx="3">
                  <c:v>212.22899999999998</c:v>
                </c:pt>
                <c:pt idx="4">
                  <c:v>219.795</c:v>
                </c:pt>
                <c:pt idx="5">
                  <c:v>228.122</c:v>
                </c:pt>
                <c:pt idx="6">
                  <c:v>237.36399999999998</c:v>
                </c:pt>
                <c:pt idx="7">
                  <c:v>247.67000000000002</c:v>
                </c:pt>
                <c:pt idx="8">
                  <c:v>259.1</c:v>
                </c:pt>
                <c:pt idx="9">
                  <c:v>271.606</c:v>
                </c:pt>
                <c:pt idx="10">
                  <c:v>285.044</c:v>
                </c:pt>
                <c:pt idx="11">
                  <c:v>299.329</c:v>
                </c:pt>
                <c:pt idx="12">
                  <c:v>314.28700000000003</c:v>
                </c:pt>
                <c:pt idx="13">
                  <c:v>329.832</c:v>
                </c:pt>
                <c:pt idx="14">
                  <c:v>345.764</c:v>
                </c:pt>
                <c:pt idx="15">
                  <c:v>362.07500000000005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East Asia</c:v>
                </c:pt>
                <c:pt idx="2">
                  <c:v>South Korea</c:v>
                </c:pt>
              </c:strCache>
            </c:strRef>
          </c:cat>
          <c:val>
            <c:numRef>
              <c:f>Sheet1!$B$2:$B$4</c:f>
              <c:numCache>
                <c:formatCode>General</c:formatCode>
                <c:ptCount val="3"/>
                <c:pt idx="0">
                  <c:v>0.05245930274733035</c:v>
                </c:pt>
                <c:pt idx="1">
                  <c:v>0.049659900716721106</c:v>
                </c:pt>
                <c:pt idx="2">
                  <c:v>0.04728078862564855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228.122</c:v>
                </c:pt>
                <c:pt idx="2">
                  <c:v>237.36399999999998</c:v>
                </c:pt>
                <c:pt idx="3">
                  <c:v>247.67000000000002</c:v>
                </c:pt>
                <c:pt idx="4">
                  <c:v>259.1</c:v>
                </c:pt>
                <c:pt idx="5">
                  <c:v>271.606</c:v>
                </c:pt>
                <c:pt idx="6">
                  <c:v>285.044</c:v>
                </c:pt>
                <c:pt idx="7">
                  <c:v>299.329</c:v>
                </c:pt>
                <c:pt idx="8">
                  <c:v>314.28700000000003</c:v>
                </c:pt>
                <c:pt idx="9">
                  <c:v>329.832</c:v>
                </c:pt>
                <c:pt idx="10">
                  <c:v>345.764</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228.122</c:v>
                </c:pt>
                <c:pt idx="1">
                  <c:v>9.241999999999962</c:v>
                </c:pt>
                <c:pt idx="2">
                  <c:v>10.30600000000004</c:v>
                </c:pt>
                <c:pt idx="3">
                  <c:v>11.430000000000007</c:v>
                </c:pt>
                <c:pt idx="4">
                  <c:v>12.505999999999972</c:v>
                </c:pt>
                <c:pt idx="5">
                  <c:v>13.437999999999988</c:v>
                </c:pt>
                <c:pt idx="6">
                  <c:v>14.285000000000025</c:v>
                </c:pt>
                <c:pt idx="7">
                  <c:v>14.958000000000027</c:v>
                </c:pt>
                <c:pt idx="8">
                  <c:v>15.544999999999959</c:v>
                </c:pt>
                <c:pt idx="9">
                  <c:v>15.932000000000016</c:v>
                </c:pt>
                <c:pt idx="10">
                  <c:v>16.311000000000035</c:v>
                </c:pt>
                <c:pt idx="11">
                  <c:v>362.07500000000005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South Korea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Sheet1!$B$2:$B$3</c:f>
              <c:numCache>
                <c:formatCode>General</c:formatCode>
                <c:ptCount val="2"/>
                <c:pt idx="0">
                  <c:v>10.778388226467014</c:v>
                </c:pt>
                <c:pt idx="1">
                  <c:v>2.883522730863712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Sheet1!$C$2:$C$3</c:f>
              <c:numCache>
                <c:formatCode>General</c:formatCode>
                <c:ptCount val="2"/>
                <c:pt idx="0">
                  <c:v>89.22161177353298</c:v>
                </c:pt>
                <c:pt idx="1">
                  <c:v>97.11647726913628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0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465.49699999999996</c:v>
                </c:pt>
                <c:pt idx="1">
                  <c:v>484.036</c:v>
                </c:pt>
                <c:pt idx="2">
                  <c:v>503.34</c:v>
                </c:pt>
                <c:pt idx="3">
                  <c:v>523.559</c:v>
                </c:pt>
                <c:pt idx="4">
                  <c:v>544.929</c:v>
                </c:pt>
                <c:pt idx="5">
                  <c:v>570.153</c:v>
                </c:pt>
                <c:pt idx="6">
                  <c:v>598.548</c:v>
                </c:pt>
                <c:pt idx="7">
                  <c:v>630.585</c:v>
                </c:pt>
                <c:pt idx="8">
                  <c:v>666.712</c:v>
                </c:pt>
                <c:pt idx="9">
                  <c:v>707.144</c:v>
                </c:pt>
                <c:pt idx="10">
                  <c:v>751.5350000000001</c:v>
                </c:pt>
                <c:pt idx="11">
                  <c:v>799.8539999999999</c:v>
                </c:pt>
                <c:pt idx="12">
                  <c:v>851.646</c:v>
                </c:pt>
                <c:pt idx="13">
                  <c:v>906.978</c:v>
                </c:pt>
                <c:pt idx="14">
                  <c:v>965.4380000000001</c:v>
                </c:pt>
                <c:pt idx="15">
                  <c:v>1027.312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East Asia</c:v>
                </c:pt>
                <c:pt idx="2">
                  <c:v>South Korea</c:v>
                </c:pt>
              </c:strCache>
            </c:strRef>
          </c:cat>
          <c:val>
            <c:numRef>
              <c:f>Sheet1!$B$2:$B$4</c:f>
              <c:numCache>
                <c:formatCode>General</c:formatCode>
                <c:ptCount val="3"/>
                <c:pt idx="0">
                  <c:v>0.06658666629421717</c:v>
                </c:pt>
                <c:pt idx="1">
                  <c:v>0.06543619249267518</c:v>
                </c:pt>
                <c:pt idx="2">
                  <c:v>0.06064755393548582</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91999497193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570.153</c:v>
                </c:pt>
                <c:pt idx="2">
                  <c:v>598.548</c:v>
                </c:pt>
                <c:pt idx="3">
                  <c:v>630.585</c:v>
                </c:pt>
                <c:pt idx="4">
                  <c:v>666.712</c:v>
                </c:pt>
                <c:pt idx="5">
                  <c:v>707.144</c:v>
                </c:pt>
                <c:pt idx="6">
                  <c:v>751.5350000000001</c:v>
                </c:pt>
                <c:pt idx="7">
                  <c:v>799.8539999999999</c:v>
                </c:pt>
                <c:pt idx="8">
                  <c:v>851.646</c:v>
                </c:pt>
                <c:pt idx="9">
                  <c:v>906.978</c:v>
                </c:pt>
                <c:pt idx="10">
                  <c:v>965.4380000000001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570.153</c:v>
                </c:pt>
                <c:pt idx="1">
                  <c:v>28.394999999999982</c:v>
                </c:pt>
                <c:pt idx="2">
                  <c:v>32.037000000000035</c:v>
                </c:pt>
                <c:pt idx="3">
                  <c:v>36.12699999999995</c:v>
                </c:pt>
                <c:pt idx="4">
                  <c:v>40.432000000000016</c:v>
                </c:pt>
                <c:pt idx="5">
                  <c:v>44.391000000000076</c:v>
                </c:pt>
                <c:pt idx="6">
                  <c:v>48.318999999999846</c:v>
                </c:pt>
                <c:pt idx="7">
                  <c:v>51.79200000000003</c:v>
                </c:pt>
                <c:pt idx="8">
                  <c:v>55.331999999999994</c:v>
                </c:pt>
                <c:pt idx="9">
                  <c:v>58.46000000000015</c:v>
                </c:pt>
                <c:pt idx="10">
                  <c:v>61.873999999999796</c:v>
                </c:pt>
                <c:pt idx="11">
                  <c:v>1027.312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South Korea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Sheet1!$B$2:$B$3</c:f>
              <c:numCache>
                <c:formatCode>General</c:formatCode>
                <c:ptCount val="2"/>
                <c:pt idx="0">
                  <c:v>13.809815271833816</c:v>
                </c:pt>
                <c:pt idx="1">
                  <c:v>3.539922842940134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Sheet1!$C$2:$C$3</c:f>
              <c:numCache>
                <c:formatCode>General</c:formatCode>
                <c:ptCount val="2"/>
                <c:pt idx="0">
                  <c:v>86.19018472816619</c:v>
                </c:pt>
                <c:pt idx="1">
                  <c:v>96.46007715705987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1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Creams and Lotions</c:v>
                </c:pt>
                <c:pt idx="3">
                  <c:v>Powders</c:v>
                </c:pt>
                <c:pt idx="4">
                  <c:v>Sticks and Balms</c:v>
                </c:pt>
                <c:pt idx="5">
                  <c:v>Sprays and Mists</c:v>
                </c:pt>
                <c:pt idx="6">
                  <c:v>Serums and Oils</c:v>
                </c:pt>
                <c:pt idx="7">
                  <c:v>Waxes, Clays, Pastes…</c:v>
                </c:pt>
              </c:strCache>
            </c:strRef>
          </c:cat>
          <c:val>
            <c:numRef>
              <c:f>Sheet1!$B$2:$B$9</c:f>
              <c:numCache>
                <c:formatCode>General</c:formatCode>
                <c:ptCount val="8"/>
                <c:pt idx="0">
                  <c:v>38.875</c:v>
                </c:pt>
                <c:pt idx="1">
                  <c:v>47.419</c:v>
                </c:pt>
                <c:pt idx="2">
                  <c:v>60.153</c:v>
                </c:pt>
                <c:pt idx="3">
                  <c:v>64.041</c:v>
                </c:pt>
                <c:pt idx="4">
                  <c:v>69.63</c:v>
                </c:pt>
                <c:pt idx="5">
                  <c:v>86.326</c:v>
                </c:pt>
                <c:pt idx="6">
                  <c:v>95.452</c:v>
                </c:pt>
                <c:pt idx="7">
                  <c:v>108.257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45.06438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100.902</c:v>
                </c:pt>
                <c:pt idx="4">
                  <c:v>108.272</c:v>
                </c:pt>
                <c:pt idx="5">
                  <c:v>115.144</c:v>
                </c:pt>
                <c:pt idx="6">
                  <c:v>119.295</c:v>
                </c:pt>
                <c:pt idx="7">
                  <c:v>126.541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69.5649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185.946</c:v>
                </c:pt>
                <c:pt idx="6">
                  <c:v>189.546</c:v>
                </c:pt>
                <c:pt idx="7">
                  <c:v>194.662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60.8470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Salon and Professiona…</c:v>
                </c:pt>
                <c:pt idx="5">
                  <c:v>Beauty Specialty Reta…</c:v>
                </c:pt>
                <c:pt idx="6">
                  <c:v>Mass Retail</c:v>
                </c:pt>
                <c:pt idx="7">
                  <c:v>Online Marketplaces</c:v>
                </c:pt>
              </c:strCache>
            </c:strRef>
          </c:cat>
          <c:val>
            <c:numRef>
              <c:f>Sheet1!$B$2:$B$9</c:f>
              <c:numCache>
                <c:formatCode>General</c:formatCode>
                <c:ptCount val="8"/>
                <c:pt idx="2">
                  <c:v>78.892</c:v>
                </c:pt>
                <c:pt idx="3">
                  <c:v>80.495</c:v>
                </c:pt>
                <c:pt idx="4">
                  <c:v>91.838</c:v>
                </c:pt>
                <c:pt idx="5">
                  <c:v>95.388</c:v>
                </c:pt>
                <c:pt idx="6">
                  <c:v>100.758</c:v>
                </c:pt>
                <c:pt idx="7">
                  <c:v>122.783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64.5292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Texture and Separation</c:v>
                </c:pt>
                <c:pt idx="3">
                  <c:v>Curl Definition</c:v>
                </c:pt>
                <c:pt idx="4">
                  <c:v>Hold and Shape</c:v>
                </c:pt>
                <c:pt idx="5">
                  <c:v>Smoothing and Frizz C…</c:v>
                </c:pt>
                <c:pt idx="6">
                  <c:v>Heat Styling Support</c:v>
                </c:pt>
                <c:pt idx="7">
                  <c:v>Volume and Root Lift</c:v>
                </c:pt>
              </c:strCache>
            </c:strRef>
          </c:cat>
          <c:val>
            <c:numRef>
              <c:f>Sheet1!$B$2:$B$9</c:f>
              <c:numCache>
                <c:formatCode>General</c:formatCode>
                <c:ptCount val="8"/>
                <c:pt idx="1">
                  <c:v>62.834</c:v>
                </c:pt>
                <c:pt idx="2">
                  <c:v>73.793</c:v>
                </c:pt>
                <c:pt idx="3">
                  <c:v>74.198</c:v>
                </c:pt>
                <c:pt idx="4">
                  <c:v>83.643</c:v>
                </c:pt>
                <c:pt idx="5">
                  <c:v>83.922</c:v>
                </c:pt>
                <c:pt idx="6">
                  <c:v>87.263</c:v>
                </c:pt>
                <c:pt idx="7">
                  <c:v>104.5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4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All Hair Types</c:v>
                </c:pt>
                <c:pt idx="7">
                  <c:v>Straight Hair</c:v>
                </c:pt>
              </c:strCache>
            </c:strRef>
          </c:cat>
          <c:val>
            <c:numRef>
              <c:f>Sheet1!$B$2:$B$9</c:f>
              <c:numCache>
                <c:formatCode>General</c:formatCode>
                <c:ptCount val="8"/>
                <c:pt idx="3">
                  <c:v>98.015</c:v>
                </c:pt>
                <c:pt idx="4">
                  <c:v>102.659</c:v>
                </c:pt>
                <c:pt idx="5">
                  <c:v>109.596</c:v>
                </c:pt>
                <c:pt idx="6">
                  <c:v>118.495</c:v>
                </c:pt>
                <c:pt idx="7">
                  <c:v>141.389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89.46126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136.80700000000002</c:v>
                </c:pt>
                <c:pt idx="5">
                  <c:v>142.18099999999998</c:v>
                </c:pt>
                <c:pt idx="6">
                  <c:v>143.154</c:v>
                </c:pt>
                <c:pt idx="7">
                  <c:v>148.01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98.333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570.153</c:v>
                </c:pt>
                <c:pt idx="2">
                  <c:v>610.299</c:v>
                </c:pt>
                <c:pt idx="3">
                  <c:v>633.9209999999999</c:v>
                </c:pt>
                <c:pt idx="4">
                  <c:v>670.0219999999999</c:v>
                </c:pt>
                <c:pt idx="5">
                  <c:v>717.284</c:v>
                </c:pt>
                <c:pt idx="6">
                  <c:v>791.685</c:v>
                </c:pt>
                <c:pt idx="7">
                  <c:v>857.731</c:v>
                </c:pt>
                <c:pt idx="8">
                  <c:v>948.559</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570.153</c:v>
                </c:pt>
                <c:pt idx="1">
                  <c:v>40.146</c:v>
                </c:pt>
                <c:pt idx="2">
                  <c:v>23.622</c:v>
                </c:pt>
                <c:pt idx="3">
                  <c:v>36.101</c:v>
                </c:pt>
                <c:pt idx="4">
                  <c:v>47.26200000000001</c:v>
                </c:pt>
                <c:pt idx="5">
                  <c:v>74.40099999999998</c:v>
                </c:pt>
                <c:pt idx="6">
                  <c:v>66.04599999999999</c:v>
                </c:pt>
                <c:pt idx="7">
                  <c:v>90.828</c:v>
                </c:pt>
                <c:pt idx="8">
                  <c:v>78.75300000000001</c:v>
                </c:pt>
                <c:pt idx="9">
                  <c:v>1027.312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40.146</c:v>
                </c:pt>
                <c:pt idx="2">
                  <c:v>63.768</c:v>
                </c:pt>
                <c:pt idx="3">
                  <c:v>99.869</c:v>
                </c:pt>
                <c:pt idx="4">
                  <c:v>147.131</c:v>
                </c:pt>
                <c:pt idx="5">
                  <c:v>221.53199999999998</c:v>
                </c:pt>
                <c:pt idx="6">
                  <c:v>287.578</c:v>
                </c:pt>
                <c:pt idx="7">
                  <c:v>378.40599999999995</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40.146</c:v>
                </c:pt>
                <c:pt idx="1">
                  <c:v>23.622</c:v>
                </c:pt>
                <c:pt idx="2">
                  <c:v>36.101</c:v>
                </c:pt>
                <c:pt idx="3">
                  <c:v>47.26200000000001</c:v>
                </c:pt>
                <c:pt idx="4">
                  <c:v>74.40099999999998</c:v>
                </c:pt>
                <c:pt idx="5">
                  <c:v>66.04599999999999</c:v>
                </c:pt>
                <c:pt idx="6">
                  <c:v>90.828</c:v>
                </c:pt>
                <c:pt idx="7">
                  <c:v>78.75300000000001</c:v>
                </c:pt>
                <c:pt idx="8">
                  <c:v>457.159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570.154</c:v>
                </c:pt>
                <c:pt idx="2">
                  <c:v>667.867</c:v>
                </c:pt>
                <c:pt idx="3">
                  <c:v>781.1099999999999</c:v>
                </c:pt>
                <c:pt idx="4">
                  <c:v>880.7269999999999</c:v>
                </c:pt>
                <c:pt idx="5">
                  <c:v>964.3279999999999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570.154</c:v>
                </c:pt>
                <c:pt idx="1">
                  <c:v>97.71300000000001</c:v>
                </c:pt>
                <c:pt idx="2">
                  <c:v>113.243</c:v>
                </c:pt>
                <c:pt idx="3">
                  <c:v>99.61699999999999</c:v>
                </c:pt>
                <c:pt idx="4">
                  <c:v>83.60099999999998</c:v>
                </c:pt>
                <c:pt idx="5">
                  <c:v>62.985</c:v>
                </c:pt>
                <c:pt idx="6">
                  <c:v>1027.3129999999999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97.71300000000001</c:v>
                </c:pt>
                <c:pt idx="2">
                  <c:v>210.95600000000002</c:v>
                </c:pt>
                <c:pt idx="3">
                  <c:v>310.573</c:v>
                </c:pt>
                <c:pt idx="4">
                  <c:v>394.174</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97.71300000000001</c:v>
                </c:pt>
                <c:pt idx="1">
                  <c:v>113.243</c:v>
                </c:pt>
                <c:pt idx="2">
                  <c:v>99.61699999999999</c:v>
                </c:pt>
                <c:pt idx="3">
                  <c:v>83.60099999999998</c:v>
                </c:pt>
                <c:pt idx="4">
                  <c:v>62.985</c:v>
                </c:pt>
                <c:pt idx="5">
                  <c:v>457.159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570.154</c:v>
                </c:pt>
                <c:pt idx="2">
                  <c:v>720.595</c:v>
                </c:pt>
                <c:pt idx="3">
                  <c:v>858.21</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570.154</c:v>
                </c:pt>
                <c:pt idx="1">
                  <c:v>150.44100000000003</c:v>
                </c:pt>
                <c:pt idx="2">
                  <c:v>137.61499999999998</c:v>
                </c:pt>
                <c:pt idx="3">
                  <c:v>169.10299999999998</c:v>
                </c:pt>
                <c:pt idx="4">
                  <c:v>1027.313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150.44100000000003</c:v>
                </c:pt>
                <c:pt idx="2">
                  <c:v>288.05600000000004</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150.44100000000003</c:v>
                </c:pt>
                <c:pt idx="1">
                  <c:v>137.61499999999998</c:v>
                </c:pt>
                <c:pt idx="2">
                  <c:v>169.10299999999998</c:v>
                </c:pt>
                <c:pt idx="3">
                  <c:v>457.159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570.154</c:v>
                </c:pt>
                <c:pt idx="2">
                  <c:v>628.241</c:v>
                </c:pt>
                <c:pt idx="3">
                  <c:v>706.429</c:v>
                </c:pt>
                <c:pt idx="4">
                  <c:v>774.316</c:v>
                </c:pt>
                <c:pt idx="5">
                  <c:v>827.4480000000001</c:v>
                </c:pt>
                <c:pt idx="6">
                  <c:v>953.0550000000001</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570.154</c:v>
                </c:pt>
                <c:pt idx="1">
                  <c:v>58.087</c:v>
                </c:pt>
                <c:pt idx="2">
                  <c:v>78.18799999999999</c:v>
                </c:pt>
                <c:pt idx="3">
                  <c:v>67.887</c:v>
                </c:pt>
                <c:pt idx="4">
                  <c:v>53.132000000000005</c:v>
                </c:pt>
                <c:pt idx="5">
                  <c:v>125.60699999999999</c:v>
                </c:pt>
                <c:pt idx="6">
                  <c:v>74.25900000000001</c:v>
                </c:pt>
                <c:pt idx="7">
                  <c:v>1027.3139999999999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58.087</c:v>
                </c:pt>
                <c:pt idx="2">
                  <c:v>136.27499999999998</c:v>
                </c:pt>
                <c:pt idx="3">
                  <c:v>204.16199999999998</c:v>
                </c:pt>
                <c:pt idx="4">
                  <c:v>257.294</c:v>
                </c:pt>
                <c:pt idx="5">
                  <c:v>382.90099999999995</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58.087</c:v>
                </c:pt>
                <c:pt idx="1">
                  <c:v>78.18799999999999</c:v>
                </c:pt>
                <c:pt idx="2">
                  <c:v>67.887</c:v>
                </c:pt>
                <c:pt idx="3">
                  <c:v>53.132000000000005</c:v>
                </c:pt>
                <c:pt idx="4">
                  <c:v>125.60699999999999</c:v>
                </c:pt>
                <c:pt idx="5">
                  <c:v>74.25900000000001</c:v>
                </c:pt>
                <c:pt idx="6">
                  <c:v>457.15999999999997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570.153</c:v>
                </c:pt>
                <c:pt idx="2">
                  <c:v>615.663</c:v>
                </c:pt>
                <c:pt idx="3">
                  <c:v>695.78</c:v>
                </c:pt>
                <c:pt idx="4">
                  <c:v>768.858</c:v>
                </c:pt>
                <c:pt idx="5">
                  <c:v>827.0149999999999</c:v>
                </c:pt>
                <c:pt idx="6">
                  <c:v>902.6279999999999</c:v>
                </c:pt>
                <c:pt idx="7">
                  <c:v>941.9509999999999</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570.153</c:v>
                </c:pt>
                <c:pt idx="1">
                  <c:v>45.50999999999999</c:v>
                </c:pt>
                <c:pt idx="2">
                  <c:v>80.117</c:v>
                </c:pt>
                <c:pt idx="3">
                  <c:v>73.078</c:v>
                </c:pt>
                <c:pt idx="4">
                  <c:v>58.15699999999998</c:v>
                </c:pt>
                <c:pt idx="5">
                  <c:v>75.613</c:v>
                </c:pt>
                <c:pt idx="6">
                  <c:v>39.32299999999999</c:v>
                </c:pt>
                <c:pt idx="7">
                  <c:v>85.362</c:v>
                </c:pt>
                <c:pt idx="8">
                  <c:v>1027.3129999999999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45.50999999999999</c:v>
                </c:pt>
                <c:pt idx="2">
                  <c:v>125.627</c:v>
                </c:pt>
                <c:pt idx="3">
                  <c:v>198.70499999999998</c:v>
                </c:pt>
                <c:pt idx="4">
                  <c:v>256.86199999999997</c:v>
                </c:pt>
                <c:pt idx="5">
                  <c:v>332.47499999999997</c:v>
                </c:pt>
                <c:pt idx="6">
                  <c:v>371.79799999999994</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45.50999999999999</c:v>
                </c:pt>
                <c:pt idx="1">
                  <c:v>80.117</c:v>
                </c:pt>
                <c:pt idx="2">
                  <c:v>73.078</c:v>
                </c:pt>
                <c:pt idx="3">
                  <c:v>58.15699999999998</c:v>
                </c:pt>
                <c:pt idx="4">
                  <c:v>75.613</c:v>
                </c:pt>
                <c:pt idx="5">
                  <c:v>39.32299999999999</c:v>
                </c:pt>
                <c:pt idx="6">
                  <c:v>85.362</c:v>
                </c:pt>
                <c:pt idx="7">
                  <c:v>457.15999999999997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570.154</c:v>
                </c:pt>
                <c:pt idx="2">
                  <c:v>660.5509999999999</c:v>
                </c:pt>
                <c:pt idx="3">
                  <c:v>748.5609999999999</c:v>
                </c:pt>
                <c:pt idx="4">
                  <c:v>843.2449999999999</c:v>
                </c:pt>
                <c:pt idx="5">
                  <c:v>941.6599999999999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570.154</c:v>
                </c:pt>
                <c:pt idx="1">
                  <c:v>90.39699999999999</c:v>
                </c:pt>
                <c:pt idx="2">
                  <c:v>88.00999999999999</c:v>
                </c:pt>
                <c:pt idx="3">
                  <c:v>94.68399999999998</c:v>
                </c:pt>
                <c:pt idx="4">
                  <c:v>98.415</c:v>
                </c:pt>
                <c:pt idx="5">
                  <c:v>85.65299999999999</c:v>
                </c:pt>
                <c:pt idx="6">
                  <c:v>1027.3129999999999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90.39699999999999</c:v>
                </c:pt>
                <c:pt idx="2">
                  <c:v>178.40699999999998</c:v>
                </c:pt>
                <c:pt idx="3">
                  <c:v>273.09099999999995</c:v>
                </c:pt>
                <c:pt idx="4">
                  <c:v>371.506</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90.39699999999999</c:v>
                </c:pt>
                <c:pt idx="1">
                  <c:v>88.00999999999999</c:v>
                </c:pt>
                <c:pt idx="2">
                  <c:v>94.68399999999998</c:v>
                </c:pt>
                <c:pt idx="3">
                  <c:v>98.415</c:v>
                </c:pt>
                <c:pt idx="4">
                  <c:v>85.65299999999999</c:v>
                </c:pt>
                <c:pt idx="5">
                  <c:v>457.159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570.152</c:v>
                </c:pt>
                <c:pt idx="2">
                  <c:v>668.902</c:v>
                </c:pt>
                <c:pt idx="3">
                  <c:v>790.129</c:v>
                </c:pt>
                <c:pt idx="4">
                  <c:v>896.711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570.152</c:v>
                </c:pt>
                <c:pt idx="1">
                  <c:v>98.75</c:v>
                </c:pt>
                <c:pt idx="2">
                  <c:v>121.22699999999998</c:v>
                </c:pt>
                <c:pt idx="3">
                  <c:v>106.582</c:v>
                </c:pt>
                <c:pt idx="4">
                  <c:v>130.601</c:v>
                </c:pt>
                <c:pt idx="5">
                  <c:v>1027.312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98.75</c:v>
                </c:pt>
                <c:pt idx="2">
                  <c:v>219.97699999999998</c:v>
                </c:pt>
                <c:pt idx="3">
                  <c:v>326.55899999999997</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98.75</c:v>
                </c:pt>
                <c:pt idx="1">
                  <c:v>121.22699999999998</c:v>
                </c:pt>
                <c:pt idx="2">
                  <c:v>106.582</c:v>
                </c:pt>
                <c:pt idx="3">
                  <c:v>130.601</c:v>
                </c:pt>
                <c:pt idx="4">
                  <c:v>457.15999999999997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364.452</c:v>
                </c:pt>
                <c:pt idx="1">
                  <c:v>385.4</c:v>
                </c:pt>
                <c:pt idx="2">
                  <c:v>407.428</c:v>
                </c:pt>
                <c:pt idx="3">
                  <c:v>430.508</c:v>
                </c:pt>
                <c:pt idx="4">
                  <c:v>455.226</c:v>
                </c:pt>
                <c:pt idx="5">
                  <c:v>482.912</c:v>
                </c:pt>
                <c:pt idx="6">
                  <c:v>514.219</c:v>
                </c:pt>
                <c:pt idx="7">
                  <c:v>549.809</c:v>
                </c:pt>
                <c:pt idx="8">
                  <c:v>590.006</c:v>
                </c:pt>
                <c:pt idx="9">
                  <c:v>634.7860000000001</c:v>
                </c:pt>
                <c:pt idx="10">
                  <c:v>683.892</c:v>
                </c:pt>
                <c:pt idx="11">
                  <c:v>737.2729999999999</c:v>
                </c:pt>
                <c:pt idx="12">
                  <c:v>794.639</c:v>
                </c:pt>
                <c:pt idx="13">
                  <c:v>855.757</c:v>
                </c:pt>
                <c:pt idx="14">
                  <c:v>919.938</c:v>
                </c:pt>
                <c:pt idx="15">
                  <c:v>987.238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India</c:v>
                </c:pt>
              </c:strCache>
            </c:strRef>
          </c:cat>
          <c:val>
            <c:numRef>
              <c:f>Sheet1!$B$2:$B$4</c:f>
              <c:numCache>
                <c:formatCode>General</c:formatCode>
                <c:ptCount val="3"/>
                <c:pt idx="0">
                  <c:v>0.05245930274733035</c:v>
                </c:pt>
                <c:pt idx="1">
                  <c:v>0.06654594628969646</c:v>
                </c:pt>
                <c:pt idx="2">
                  <c:v>0.0741263895070765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00706258345532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482.912</c:v>
                </c:pt>
                <c:pt idx="2">
                  <c:v>514.219</c:v>
                </c:pt>
                <c:pt idx="3">
                  <c:v>549.809</c:v>
                </c:pt>
                <c:pt idx="4">
                  <c:v>590.006</c:v>
                </c:pt>
                <c:pt idx="5">
                  <c:v>634.7860000000001</c:v>
                </c:pt>
                <c:pt idx="6">
                  <c:v>683.892</c:v>
                </c:pt>
                <c:pt idx="7">
                  <c:v>737.2729999999999</c:v>
                </c:pt>
                <c:pt idx="8">
                  <c:v>794.639</c:v>
                </c:pt>
                <c:pt idx="9">
                  <c:v>855.757</c:v>
                </c:pt>
                <c:pt idx="10">
                  <c:v>919.938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482.912</c:v>
                </c:pt>
                <c:pt idx="1">
                  <c:v>31.307000000000073</c:v>
                </c:pt>
                <c:pt idx="2">
                  <c:v>35.58999999999992</c:v>
                </c:pt>
                <c:pt idx="3">
                  <c:v>40.197</c:v>
                </c:pt>
                <c:pt idx="4">
                  <c:v>44.780000000000086</c:v>
                </c:pt>
                <c:pt idx="5">
                  <c:v>49.105999999999995</c:v>
                </c:pt>
                <c:pt idx="6">
                  <c:v>53.38099999999986</c:v>
                </c:pt>
                <c:pt idx="7">
                  <c:v>57.3660000000001</c:v>
                </c:pt>
                <c:pt idx="8">
                  <c:v>61.11799999999994</c:v>
                </c:pt>
                <c:pt idx="9">
                  <c:v>64.18100000000004</c:v>
                </c:pt>
                <c:pt idx="10">
                  <c:v>67.30000000000007</c:v>
                </c:pt>
                <c:pt idx="11">
                  <c:v>987.238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India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39.974438186435684</c:v>
                </c:pt>
                <c:pt idx="1">
                  <c:v>6.104136071956483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60.025561813564316</c:v>
                </c:pt>
                <c:pt idx="1">
                  <c:v>93.89586392804351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1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357.432</c:v>
                </c:pt>
                <c:pt idx="1">
                  <c:v>380.032</c:v>
                </c:pt>
                <c:pt idx="2">
                  <c:v>403.993</c:v>
                </c:pt>
                <c:pt idx="3">
                  <c:v>429.563</c:v>
                </c:pt>
                <c:pt idx="4">
                  <c:v>457.186</c:v>
                </c:pt>
                <c:pt idx="5">
                  <c:v>490.546</c:v>
                </c:pt>
                <c:pt idx="6">
                  <c:v>528.857</c:v>
                </c:pt>
                <c:pt idx="7">
                  <c:v>573.109</c:v>
                </c:pt>
                <c:pt idx="8">
                  <c:v>624.085</c:v>
                </c:pt>
                <c:pt idx="9">
                  <c:v>682.2860000000001</c:v>
                </c:pt>
                <c:pt idx="10">
                  <c:v>747.768</c:v>
                </c:pt>
                <c:pt idx="11">
                  <c:v>820.874</c:v>
                </c:pt>
                <c:pt idx="12">
                  <c:v>901.5140000000001</c:v>
                </c:pt>
                <c:pt idx="13">
                  <c:v>989.8799999999999</c:v>
                </c:pt>
                <c:pt idx="14">
                  <c:v>1085.863</c:v>
                </c:pt>
                <c:pt idx="15">
                  <c:v>1190.032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India</c:v>
                </c:pt>
              </c:strCache>
            </c:strRef>
          </c:cat>
          <c:val>
            <c:numRef>
              <c:f>Sheet1!$B$2:$B$4</c:f>
              <c:numCache>
                <c:formatCode>General</c:formatCode>
                <c:ptCount val="3"/>
                <c:pt idx="0">
                  <c:v>0.06658666629421717</c:v>
                </c:pt>
                <c:pt idx="1">
                  <c:v>0.07853749693674184</c:v>
                </c:pt>
                <c:pt idx="2">
                  <c:v>0.09266715874938791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25100664311673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490.546</c:v>
                </c:pt>
                <c:pt idx="2">
                  <c:v>528.857</c:v>
                </c:pt>
                <c:pt idx="3">
                  <c:v>573.109</c:v>
                </c:pt>
                <c:pt idx="4">
                  <c:v>624.085</c:v>
                </c:pt>
                <c:pt idx="5">
                  <c:v>682.2860000000001</c:v>
                </c:pt>
                <c:pt idx="6">
                  <c:v>747.768</c:v>
                </c:pt>
                <c:pt idx="7">
                  <c:v>820.874</c:v>
                </c:pt>
                <c:pt idx="8">
                  <c:v>901.5140000000001</c:v>
                </c:pt>
                <c:pt idx="9">
                  <c:v>989.8799999999999</c:v>
                </c:pt>
                <c:pt idx="10">
                  <c:v>1085.863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490.546</c:v>
                </c:pt>
                <c:pt idx="1">
                  <c:v>38.31099999999998</c:v>
                </c:pt>
                <c:pt idx="2">
                  <c:v>44.252000000000066</c:v>
                </c:pt>
                <c:pt idx="3">
                  <c:v>50.976</c:v>
                </c:pt>
                <c:pt idx="4">
                  <c:v>58.20100000000002</c:v>
                </c:pt>
                <c:pt idx="5">
                  <c:v>65.48199999999997</c:v>
                </c:pt>
                <c:pt idx="6">
                  <c:v>73.106</c:v>
                </c:pt>
                <c:pt idx="7">
                  <c:v>80.6400000000001</c:v>
                </c:pt>
                <c:pt idx="8">
                  <c:v>88.36599999999976</c:v>
                </c:pt>
                <c:pt idx="9">
                  <c:v>95.98300000000017</c:v>
                </c:pt>
                <c:pt idx="10">
                  <c:v>104.16899999999987</c:v>
                </c:pt>
                <c:pt idx="11">
                  <c:v>1190.032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India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27.700284487149517</c:v>
                </c:pt>
                <c:pt idx="1">
                  <c:v>3.045664919614403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72.29971551285048</c:v>
                </c:pt>
                <c:pt idx="1">
                  <c:v>96.95433508038559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1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Sprays and Mists</c:v>
                </c:pt>
                <c:pt idx="2">
                  <c:v>Powders</c:v>
                </c:pt>
                <c:pt idx="3">
                  <c:v>Creams and Lotions</c:v>
                </c:pt>
                <c:pt idx="4">
                  <c:v>Gels and Jellies</c:v>
                </c:pt>
                <c:pt idx="5">
                  <c:v>Sticks and Balms</c:v>
                </c:pt>
                <c:pt idx="6">
                  <c:v>Serums and Oils</c:v>
                </c:pt>
                <c:pt idx="7">
                  <c:v>Waxes, Clays, Pastes…</c:v>
                </c:pt>
              </c:strCache>
            </c:strRef>
          </c:cat>
          <c:val>
            <c:numRef>
              <c:f>Sheet1!$B$2:$B$9</c:f>
              <c:numCache>
                <c:formatCode>General</c:formatCode>
                <c:ptCount val="8"/>
                <c:pt idx="0">
                  <c:v>33.275999999999996</c:v>
                </c:pt>
                <c:pt idx="1">
                  <c:v>43.097</c:v>
                </c:pt>
                <c:pt idx="2">
                  <c:v>45.393</c:v>
                </c:pt>
                <c:pt idx="3">
                  <c:v>62.114</c:v>
                </c:pt>
                <c:pt idx="4">
                  <c:v>63.054</c:v>
                </c:pt>
                <c:pt idx="5">
                  <c:v>67.106</c:v>
                </c:pt>
                <c:pt idx="6">
                  <c:v>81.688</c:v>
                </c:pt>
                <c:pt idx="7">
                  <c:v>94.818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27.0561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No Hold</c:v>
                </c:pt>
                <c:pt idx="4">
                  <c:v>Light or Flexible Hold</c:v>
                </c:pt>
                <c:pt idx="5">
                  <c:v>Extra-strong Hold</c:v>
                </c:pt>
                <c:pt idx="6">
                  <c:v>Strong Hold</c:v>
                </c:pt>
                <c:pt idx="7">
                  <c:v>Medium Hold</c:v>
                </c:pt>
              </c:strCache>
            </c:strRef>
          </c:cat>
          <c:val>
            <c:numRef>
              <c:f>Sheet1!$B$2:$B$9</c:f>
              <c:numCache>
                <c:formatCode>General</c:formatCode>
                <c:ptCount val="8"/>
                <c:pt idx="3">
                  <c:v>70.808</c:v>
                </c:pt>
                <c:pt idx="4">
                  <c:v>89.978</c:v>
                </c:pt>
                <c:pt idx="5">
                  <c:v>96.167</c:v>
                </c:pt>
                <c:pt idx="6">
                  <c:v>112.231</c:v>
                </c:pt>
                <c:pt idx="7">
                  <c:v>121.363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62.6264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159.175</c:v>
                </c:pt>
                <c:pt idx="6">
                  <c:v>163.406</c:v>
                </c:pt>
                <c:pt idx="7">
                  <c:v>167.967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25.07578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Beauty Specialty Reta…</c:v>
                </c:pt>
                <c:pt idx="4">
                  <c:v>Pharmacies and Drugst…</c:v>
                </c:pt>
                <c:pt idx="5">
                  <c:v>Salon and Professiona…</c:v>
                </c:pt>
                <c:pt idx="6">
                  <c:v>Online Marketplaces</c:v>
                </c:pt>
                <c:pt idx="7">
                  <c:v>Mass Retail</c:v>
                </c:pt>
              </c:strCache>
            </c:strRef>
          </c:cat>
          <c:val>
            <c:numRef>
              <c:f>Sheet1!$B$2:$B$9</c:f>
              <c:numCache>
                <c:formatCode>General</c:formatCode>
                <c:ptCount val="8"/>
                <c:pt idx="2">
                  <c:v>57.375</c:v>
                </c:pt>
                <c:pt idx="3">
                  <c:v>69.866</c:v>
                </c:pt>
                <c:pt idx="4">
                  <c:v>70.479</c:v>
                </c:pt>
                <c:pt idx="5">
                  <c:v>79.609</c:v>
                </c:pt>
                <c:pt idx="6">
                  <c:v>88.352</c:v>
                </c:pt>
                <c:pt idx="7">
                  <c:v>124.866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67.32044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56.549</c:v>
                </c:pt>
                <c:pt idx="2">
                  <c:v>65.67</c:v>
                </c:pt>
                <c:pt idx="3">
                  <c:v>67.057</c:v>
                </c:pt>
                <c:pt idx="4">
                  <c:v>67.066</c:v>
                </c:pt>
                <c:pt idx="5">
                  <c:v>67.222</c:v>
                </c:pt>
                <c:pt idx="6">
                  <c:v>74.808</c:v>
                </c:pt>
                <c:pt idx="7">
                  <c:v>92.175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23.514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All Hair Types</c:v>
                </c:pt>
                <c:pt idx="6">
                  <c:v>Wavy Hair</c:v>
                </c:pt>
                <c:pt idx="7">
                  <c:v>Straight Hair</c:v>
                </c:pt>
              </c:strCache>
            </c:strRef>
          </c:cat>
          <c:val>
            <c:numRef>
              <c:f>Sheet1!$B$2:$B$9</c:f>
              <c:numCache>
                <c:formatCode>General</c:formatCode>
                <c:ptCount val="8"/>
                <c:pt idx="3">
                  <c:v>84.143</c:v>
                </c:pt>
                <c:pt idx="4">
                  <c:v>87.849</c:v>
                </c:pt>
                <c:pt idx="5">
                  <c:v>101.561</c:v>
                </c:pt>
                <c:pt idx="6">
                  <c:v>104.913</c:v>
                </c:pt>
                <c:pt idx="7">
                  <c:v>112.081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50.18854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116.881</c:v>
                </c:pt>
                <c:pt idx="5">
                  <c:v>122.634</c:v>
                </c:pt>
                <c:pt idx="6">
                  <c:v>123.645</c:v>
                </c:pt>
                <c:pt idx="7">
                  <c:v>127.387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70.69858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490.546</c:v>
                </c:pt>
                <c:pt idx="2">
                  <c:v>532.153</c:v>
                </c:pt>
                <c:pt idx="3">
                  <c:v>569.024</c:v>
                </c:pt>
                <c:pt idx="4">
                  <c:v>641.052</c:v>
                </c:pt>
                <c:pt idx="5">
                  <c:v>740.977</c:v>
                </c:pt>
                <c:pt idx="6">
                  <c:v>873.7529999999999</c:v>
                </c:pt>
                <c:pt idx="7">
                  <c:v>951.7459999999999</c:v>
                </c:pt>
                <c:pt idx="8">
                  <c:v>1074.8539999999998</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490.546</c:v>
                </c:pt>
                <c:pt idx="1">
                  <c:v>41.607000000000006</c:v>
                </c:pt>
                <c:pt idx="2">
                  <c:v>36.870999999999995</c:v>
                </c:pt>
                <c:pt idx="3">
                  <c:v>72.02799999999999</c:v>
                </c:pt>
                <c:pt idx="4">
                  <c:v>99.92499999999998</c:v>
                </c:pt>
                <c:pt idx="5">
                  <c:v>132.776</c:v>
                </c:pt>
                <c:pt idx="6">
                  <c:v>77.993</c:v>
                </c:pt>
                <c:pt idx="7">
                  <c:v>123.10799999999999</c:v>
                </c:pt>
                <c:pt idx="8">
                  <c:v>115.178</c:v>
                </c:pt>
                <c:pt idx="9">
                  <c:v>1190.032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41.607000000000006</c:v>
                </c:pt>
                <c:pt idx="2">
                  <c:v>78.47800000000001</c:v>
                </c:pt>
                <c:pt idx="3">
                  <c:v>150.506</c:v>
                </c:pt>
                <c:pt idx="4">
                  <c:v>250.43099999999998</c:v>
                </c:pt>
                <c:pt idx="5">
                  <c:v>383.207</c:v>
                </c:pt>
                <c:pt idx="6">
                  <c:v>461.2</c:v>
                </c:pt>
                <c:pt idx="7">
                  <c:v>584.308</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41.607000000000006</c:v>
                </c:pt>
                <c:pt idx="1">
                  <c:v>36.870999999999995</c:v>
                </c:pt>
                <c:pt idx="2">
                  <c:v>72.02799999999999</c:v>
                </c:pt>
                <c:pt idx="3">
                  <c:v>99.92499999999998</c:v>
                </c:pt>
                <c:pt idx="4">
                  <c:v>132.776</c:v>
                </c:pt>
                <c:pt idx="5">
                  <c:v>77.993</c:v>
                </c:pt>
                <c:pt idx="6">
                  <c:v>123.10799999999999</c:v>
                </c:pt>
                <c:pt idx="7">
                  <c:v>115.178</c:v>
                </c:pt>
                <c:pt idx="8">
                  <c:v>699.486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490.547</c:v>
                </c:pt>
                <c:pt idx="2">
                  <c:v>603.23</c:v>
                </c:pt>
                <c:pt idx="3">
                  <c:v>755.2660000000001</c:v>
                </c:pt>
                <c:pt idx="4">
                  <c:v>927.644</c:v>
                </c:pt>
                <c:pt idx="5">
                  <c:v>1074.013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490.547</c:v>
                </c:pt>
                <c:pt idx="1">
                  <c:v>112.683</c:v>
                </c:pt>
                <c:pt idx="2">
                  <c:v>152.036</c:v>
                </c:pt>
                <c:pt idx="3">
                  <c:v>172.378</c:v>
                </c:pt>
                <c:pt idx="4">
                  <c:v>146.36900000000003</c:v>
                </c:pt>
                <c:pt idx="5">
                  <c:v>116.02099999999999</c:v>
                </c:pt>
                <c:pt idx="6">
                  <c:v>1190.034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112.683</c:v>
                </c:pt>
                <c:pt idx="2">
                  <c:v>264.719</c:v>
                </c:pt>
                <c:pt idx="3">
                  <c:v>437.097</c:v>
                </c:pt>
                <c:pt idx="4">
                  <c:v>583.466</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112.683</c:v>
                </c:pt>
                <c:pt idx="1">
                  <c:v>152.036</c:v>
                </c:pt>
                <c:pt idx="2">
                  <c:v>172.378</c:v>
                </c:pt>
                <c:pt idx="3">
                  <c:v>146.36900000000003</c:v>
                </c:pt>
                <c:pt idx="4">
                  <c:v>116.02099999999999</c:v>
                </c:pt>
                <c:pt idx="5">
                  <c:v>699.487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490.54800000000006</c:v>
                </c:pt>
                <c:pt idx="2">
                  <c:v>720.99</c:v>
                </c:pt>
                <c:pt idx="3">
                  <c:v>938.433</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490.54800000000006</c:v>
                </c:pt>
                <c:pt idx="1">
                  <c:v>230.442</c:v>
                </c:pt>
                <c:pt idx="2">
                  <c:v>217.443</c:v>
                </c:pt>
                <c:pt idx="3">
                  <c:v>251.59999999999997</c:v>
                </c:pt>
                <c:pt idx="4">
                  <c:v>1190.033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230.442</c:v>
                </c:pt>
                <c:pt idx="2">
                  <c:v>447.885</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230.442</c:v>
                </c:pt>
                <c:pt idx="1">
                  <c:v>217.443</c:v>
                </c:pt>
                <c:pt idx="2">
                  <c:v>251.59999999999997</c:v>
                </c:pt>
                <c:pt idx="3">
                  <c:v>699.4849999999999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490.547</c:v>
                </c:pt>
                <c:pt idx="2">
                  <c:v>630.048</c:v>
                </c:pt>
                <c:pt idx="3">
                  <c:v>739.225</c:v>
                </c:pt>
                <c:pt idx="4">
                  <c:v>849.794</c:v>
                </c:pt>
                <c:pt idx="5">
                  <c:v>937.5699999999999</c:v>
                </c:pt>
                <c:pt idx="6">
                  <c:v>1095.6299999999999</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490.547</c:v>
                </c:pt>
                <c:pt idx="1">
                  <c:v>139.50100000000003</c:v>
                </c:pt>
                <c:pt idx="2">
                  <c:v>109.177</c:v>
                </c:pt>
                <c:pt idx="3">
                  <c:v>110.569</c:v>
                </c:pt>
                <c:pt idx="4">
                  <c:v>87.776</c:v>
                </c:pt>
                <c:pt idx="5">
                  <c:v>158.06</c:v>
                </c:pt>
                <c:pt idx="6">
                  <c:v>94.404</c:v>
                </c:pt>
                <c:pt idx="7">
                  <c:v>1190.0339999999999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139.50100000000003</c:v>
                </c:pt>
                <c:pt idx="2">
                  <c:v>248.67800000000005</c:v>
                </c:pt>
                <c:pt idx="3">
                  <c:v>359.24700000000007</c:v>
                </c:pt>
                <c:pt idx="4">
                  <c:v>447.0230000000001</c:v>
                </c:pt>
                <c:pt idx="5">
                  <c:v>605.0830000000001</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139.50100000000003</c:v>
                </c:pt>
                <c:pt idx="1">
                  <c:v>109.177</c:v>
                </c:pt>
                <c:pt idx="2">
                  <c:v>110.569</c:v>
                </c:pt>
                <c:pt idx="3">
                  <c:v>87.776</c:v>
                </c:pt>
                <c:pt idx="4">
                  <c:v>158.06</c:v>
                </c:pt>
                <c:pt idx="5">
                  <c:v>94.404</c:v>
                </c:pt>
                <c:pt idx="6">
                  <c:v>699.4870000000001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490.54699999999997</c:v>
                </c:pt>
                <c:pt idx="2">
                  <c:v>591.086</c:v>
                </c:pt>
                <c:pt idx="3">
                  <c:v>712.522</c:v>
                </c:pt>
                <c:pt idx="4">
                  <c:v>799.2700000000001</c:v>
                </c:pt>
                <c:pt idx="5">
                  <c:v>894.124</c:v>
                </c:pt>
                <c:pt idx="6">
                  <c:v>1012.2950000000001</c:v>
                </c:pt>
                <c:pt idx="7">
                  <c:v>1080.327</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490.54699999999997</c:v>
                </c:pt>
                <c:pt idx="1">
                  <c:v>100.539</c:v>
                </c:pt>
                <c:pt idx="2">
                  <c:v>121.43599999999999</c:v>
                </c:pt>
                <c:pt idx="3">
                  <c:v>86.748</c:v>
                </c:pt>
                <c:pt idx="4">
                  <c:v>94.85399999999998</c:v>
                </c:pt>
                <c:pt idx="5">
                  <c:v>118.171</c:v>
                </c:pt>
                <c:pt idx="6">
                  <c:v>68.03200000000001</c:v>
                </c:pt>
                <c:pt idx="7">
                  <c:v>109.704</c:v>
                </c:pt>
                <c:pt idx="8">
                  <c:v>1190.031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100.539</c:v>
                </c:pt>
                <c:pt idx="2">
                  <c:v>221.975</c:v>
                </c:pt>
                <c:pt idx="3">
                  <c:v>308.723</c:v>
                </c:pt>
                <c:pt idx="4">
                  <c:v>403.577</c:v>
                </c:pt>
                <c:pt idx="5">
                  <c:v>521.748</c:v>
                </c:pt>
                <c:pt idx="6">
                  <c:v>589.7800000000001</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100.539</c:v>
                </c:pt>
                <c:pt idx="1">
                  <c:v>121.43599999999999</c:v>
                </c:pt>
                <c:pt idx="2">
                  <c:v>86.748</c:v>
                </c:pt>
                <c:pt idx="3">
                  <c:v>94.85399999999998</c:v>
                </c:pt>
                <c:pt idx="4">
                  <c:v>118.171</c:v>
                </c:pt>
                <c:pt idx="5">
                  <c:v>68.03200000000001</c:v>
                </c:pt>
                <c:pt idx="6">
                  <c:v>109.704</c:v>
                </c:pt>
                <c:pt idx="7">
                  <c:v>699.484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490.547</c:v>
                </c:pt>
                <c:pt idx="2">
                  <c:v>625.504</c:v>
                </c:pt>
                <c:pt idx="3">
                  <c:v>774.124</c:v>
                </c:pt>
                <c:pt idx="4">
                  <c:v>914.1020000000001</c:v>
                </c:pt>
                <c:pt idx="5">
                  <c:v>1056.449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490.547</c:v>
                </c:pt>
                <c:pt idx="1">
                  <c:v>134.957</c:v>
                </c:pt>
                <c:pt idx="2">
                  <c:v>148.62</c:v>
                </c:pt>
                <c:pt idx="3">
                  <c:v>139.978</c:v>
                </c:pt>
                <c:pt idx="4">
                  <c:v>142.347</c:v>
                </c:pt>
                <c:pt idx="5">
                  <c:v>133.584</c:v>
                </c:pt>
                <c:pt idx="6">
                  <c:v>1190.0330000000001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134.957</c:v>
                </c:pt>
                <c:pt idx="2">
                  <c:v>283.577</c:v>
                </c:pt>
                <c:pt idx="3">
                  <c:v>423.555</c:v>
                </c:pt>
                <c:pt idx="4">
                  <c:v>565.902</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134.957</c:v>
                </c:pt>
                <c:pt idx="1">
                  <c:v>148.62</c:v>
                </c:pt>
                <c:pt idx="2">
                  <c:v>139.978</c:v>
                </c:pt>
                <c:pt idx="3">
                  <c:v>142.347</c:v>
                </c:pt>
                <c:pt idx="4">
                  <c:v>133.584</c:v>
                </c:pt>
                <c:pt idx="5">
                  <c:v>699.4860000000001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490.547</c:v>
                </c:pt>
                <c:pt idx="2">
                  <c:v>644.3130000000001</c:v>
                </c:pt>
                <c:pt idx="3">
                  <c:v>832.0870000000001</c:v>
                </c:pt>
                <c:pt idx="4">
                  <c:v>995.6870000000001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490.547</c:v>
                </c:pt>
                <c:pt idx="1">
                  <c:v>153.76600000000002</c:v>
                </c:pt>
                <c:pt idx="2">
                  <c:v>187.774</c:v>
                </c:pt>
                <c:pt idx="3">
                  <c:v>163.60000000000002</c:v>
                </c:pt>
                <c:pt idx="4">
                  <c:v>194.34599999999998</c:v>
                </c:pt>
                <c:pt idx="5">
                  <c:v>1190.033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153.76600000000002</c:v>
                </c:pt>
                <c:pt idx="2">
                  <c:v>341.54</c:v>
                </c:pt>
                <c:pt idx="3">
                  <c:v>505.14000000000004</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153.76600000000002</c:v>
                </c:pt>
                <c:pt idx="1">
                  <c:v>187.774</c:v>
                </c:pt>
                <c:pt idx="2">
                  <c:v>163.60000000000002</c:v>
                </c:pt>
                <c:pt idx="3">
                  <c:v>194.34599999999998</c:v>
                </c:pt>
                <c:pt idx="4">
                  <c:v>699.486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77.885</c:v>
                </c:pt>
                <c:pt idx="1">
                  <c:v>81.42</c:v>
                </c:pt>
                <c:pt idx="2">
                  <c:v>85.083</c:v>
                </c:pt>
                <c:pt idx="3">
                  <c:v>88.872</c:v>
                </c:pt>
                <c:pt idx="4">
                  <c:v>92.879</c:v>
                </c:pt>
                <c:pt idx="5">
                  <c:v>97.33</c:v>
                </c:pt>
                <c:pt idx="6">
                  <c:v>102.319</c:v>
                </c:pt>
                <c:pt idx="7">
                  <c:v>107.93799999999999</c:v>
                </c:pt>
                <c:pt idx="8">
                  <c:v>114.238</c:v>
                </c:pt>
                <c:pt idx="9">
                  <c:v>121.205</c:v>
                </c:pt>
                <c:pt idx="10">
                  <c:v>128.76299999999998</c:v>
                </c:pt>
                <c:pt idx="11">
                  <c:v>136.87</c:v>
                </c:pt>
                <c:pt idx="12">
                  <c:v>145.438</c:v>
                </c:pt>
                <c:pt idx="13">
                  <c:v>154.43200000000002</c:v>
                </c:pt>
                <c:pt idx="14">
                  <c:v>163.746</c:v>
                </c:pt>
                <c:pt idx="15">
                  <c:v>173.384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Thailand</c:v>
                </c:pt>
              </c:strCache>
            </c:strRef>
          </c:cat>
          <c:val>
            <c:numRef>
              <c:f>Sheet1!$B$2:$B$4</c:f>
              <c:numCache>
                <c:formatCode>General</c:formatCode>
                <c:ptCount val="3"/>
                <c:pt idx="0">
                  <c:v>0.05245930274733035</c:v>
                </c:pt>
                <c:pt idx="1">
                  <c:v>0.06654594628969646</c:v>
                </c:pt>
                <c:pt idx="2">
                  <c:v>0.059439666814857794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370274910902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97.33</c:v>
                </c:pt>
                <c:pt idx="2">
                  <c:v>102.319</c:v>
                </c:pt>
                <c:pt idx="3">
                  <c:v>107.93799999999999</c:v>
                </c:pt>
                <c:pt idx="4">
                  <c:v>114.238</c:v>
                </c:pt>
                <c:pt idx="5">
                  <c:v>121.205</c:v>
                </c:pt>
                <c:pt idx="6">
                  <c:v>128.76299999999998</c:v>
                </c:pt>
                <c:pt idx="7">
                  <c:v>136.87</c:v>
                </c:pt>
                <c:pt idx="8">
                  <c:v>145.438</c:v>
                </c:pt>
                <c:pt idx="9">
                  <c:v>154.43200000000002</c:v>
                </c:pt>
                <c:pt idx="10">
                  <c:v>163.746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97.33</c:v>
                </c:pt>
                <c:pt idx="1">
                  <c:v>4.989000000000004</c:v>
                </c:pt>
                <c:pt idx="2">
                  <c:v>5.618999999999986</c:v>
                </c:pt>
                <c:pt idx="3">
                  <c:v>6.300000000000011</c:v>
                </c:pt>
                <c:pt idx="4">
                  <c:v>6.966999999999999</c:v>
                </c:pt>
                <c:pt idx="5">
                  <c:v>7.5579999999999785</c:v>
                </c:pt>
                <c:pt idx="6">
                  <c:v>8.107000000000028</c:v>
                </c:pt>
                <c:pt idx="7">
                  <c:v>8.567999999999984</c:v>
                </c:pt>
                <c:pt idx="8">
                  <c:v>8.994000000000028</c:v>
                </c:pt>
                <c:pt idx="9">
                  <c:v>9.313999999999993</c:v>
                </c:pt>
                <c:pt idx="10">
                  <c:v>9.637999999999977</c:v>
                </c:pt>
                <c:pt idx="11">
                  <c:v>173.384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Thailand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8.056772390592458</c:v>
                </c:pt>
                <c:pt idx="1">
                  <c:v>1.23027707715593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91.94322760940754</c:v>
                </c:pt>
                <c:pt idx="1">
                  <c:v>98.76972292284407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1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110.255</c:v>
                </c:pt>
                <c:pt idx="1">
                  <c:v>115.95700000000001</c:v>
                </c:pt>
                <c:pt idx="2">
                  <c:v>121.942</c:v>
                </c:pt>
                <c:pt idx="3">
                  <c:v>128.28199999999998</c:v>
                </c:pt>
                <c:pt idx="4">
                  <c:v>135.05700000000002</c:v>
                </c:pt>
                <c:pt idx="5">
                  <c:v>143.267</c:v>
                </c:pt>
                <c:pt idx="6">
                  <c:v>152.611</c:v>
                </c:pt>
                <c:pt idx="7">
                  <c:v>163.308</c:v>
                </c:pt>
                <c:pt idx="8">
                  <c:v>175.532</c:v>
                </c:pt>
                <c:pt idx="9">
                  <c:v>189.34699999999998</c:v>
                </c:pt>
                <c:pt idx="10">
                  <c:v>204.749</c:v>
                </c:pt>
                <c:pt idx="11">
                  <c:v>221.75600000000003</c:v>
                </c:pt>
                <c:pt idx="12">
                  <c:v>240.197</c:v>
                </c:pt>
                <c:pt idx="13">
                  <c:v>260.188</c:v>
                </c:pt>
                <c:pt idx="14">
                  <c:v>281.682</c:v>
                </c:pt>
                <c:pt idx="15">
                  <c:v>304.71299999999997</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Thailand</c:v>
                </c:pt>
              </c:strCache>
            </c:strRef>
          </c:cat>
          <c:val>
            <c:numRef>
              <c:f>Sheet1!$B$2:$B$4</c:f>
              <c:numCache>
                <c:formatCode>General</c:formatCode>
                <c:ptCount val="3"/>
                <c:pt idx="0">
                  <c:v>0.06658666629421717</c:v>
                </c:pt>
                <c:pt idx="1">
                  <c:v>0.07853749693674184</c:v>
                </c:pt>
                <c:pt idx="2">
                  <c:v>0.07838659730078623</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60256208646014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143.267</c:v>
                </c:pt>
                <c:pt idx="2">
                  <c:v>152.611</c:v>
                </c:pt>
                <c:pt idx="3">
                  <c:v>163.308</c:v>
                </c:pt>
                <c:pt idx="4">
                  <c:v>175.532</c:v>
                </c:pt>
                <c:pt idx="5">
                  <c:v>189.34699999999998</c:v>
                </c:pt>
                <c:pt idx="6">
                  <c:v>204.749</c:v>
                </c:pt>
                <c:pt idx="7">
                  <c:v>221.75600000000003</c:v>
                </c:pt>
                <c:pt idx="8">
                  <c:v>240.197</c:v>
                </c:pt>
                <c:pt idx="9">
                  <c:v>260.188</c:v>
                </c:pt>
                <c:pt idx="10">
                  <c:v>281.682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143.267</c:v>
                </c:pt>
                <c:pt idx="1">
                  <c:v>9.343999999999994</c:v>
                </c:pt>
                <c:pt idx="2">
                  <c:v>10.697000000000003</c:v>
                </c:pt>
                <c:pt idx="3">
                  <c:v>12.224000000000018</c:v>
                </c:pt>
                <c:pt idx="4">
                  <c:v>13.81499999999997</c:v>
                </c:pt>
                <c:pt idx="5">
                  <c:v>15.402000000000015</c:v>
                </c:pt>
                <c:pt idx="6">
                  <c:v>17.007000000000033</c:v>
                </c:pt>
                <c:pt idx="7">
                  <c:v>18.440999999999974</c:v>
                </c:pt>
                <c:pt idx="8">
                  <c:v>19.990999999999985</c:v>
                </c:pt>
                <c:pt idx="9">
                  <c:v>21.494000000000028</c:v>
                </c:pt>
                <c:pt idx="10">
                  <c:v>23.03099999999995</c:v>
                </c:pt>
                <c:pt idx="11">
                  <c:v>304.71299999999997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Thailand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8.090039787543777</c:v>
                </c:pt>
                <c:pt idx="1">
                  <c:v>0.8895053186416702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91.90996021245623</c:v>
                </c:pt>
                <c:pt idx="1">
                  <c:v>99.11049468135833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1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Sprays and Mists</c:v>
                </c:pt>
                <c:pt idx="4">
                  <c:v>Sticks and Balms</c:v>
                </c:pt>
                <c:pt idx="5">
                  <c:v>Creams and Lotions</c:v>
                </c:pt>
                <c:pt idx="6">
                  <c:v>Waxes, Clays, Pastes…</c:v>
                </c:pt>
                <c:pt idx="7">
                  <c:v>Serums and Oils</c:v>
                </c:pt>
              </c:strCache>
            </c:strRef>
          </c:cat>
          <c:val>
            <c:numRef>
              <c:f>Sheet1!$B$2:$B$9</c:f>
              <c:numCache>
                <c:formatCode>General</c:formatCode>
                <c:ptCount val="8"/>
                <c:pt idx="0">
                  <c:v>10.178</c:v>
                </c:pt>
                <c:pt idx="1">
                  <c:v>12.307</c:v>
                </c:pt>
                <c:pt idx="2">
                  <c:v>14.022</c:v>
                </c:pt>
                <c:pt idx="3">
                  <c:v>16.27</c:v>
                </c:pt>
                <c:pt idx="4">
                  <c:v>17.651</c:v>
                </c:pt>
                <c:pt idx="5">
                  <c:v>18.921</c:v>
                </c:pt>
                <c:pt idx="6">
                  <c:v>22.201</c:v>
                </c:pt>
                <c:pt idx="7">
                  <c:v>31.717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2.5007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25.371</c:v>
                </c:pt>
                <c:pt idx="4">
                  <c:v>27.147</c:v>
                </c:pt>
                <c:pt idx="5">
                  <c:v>28.91</c:v>
                </c:pt>
                <c:pt idx="6">
                  <c:v>30.014</c:v>
                </c:pt>
                <c:pt idx="7">
                  <c:v>31.825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2.645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44.525</c:v>
                </c:pt>
                <c:pt idx="6">
                  <c:v>45.552</c:v>
                </c:pt>
                <c:pt idx="7">
                  <c:v>53.191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1.2759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Beauty Specialty Reta…</c:v>
                </c:pt>
                <c:pt idx="4">
                  <c:v>Pharmacies and Drugst…</c:v>
                </c:pt>
                <c:pt idx="5">
                  <c:v>Salon and Professiona…</c:v>
                </c:pt>
                <c:pt idx="6">
                  <c:v>Online Marketplaces</c:v>
                </c:pt>
                <c:pt idx="7">
                  <c:v>Mass Retail</c:v>
                </c:pt>
              </c:strCache>
            </c:strRef>
          </c:cat>
          <c:val>
            <c:numRef>
              <c:f>Sheet1!$B$2:$B$9</c:f>
              <c:numCache>
                <c:formatCode>General</c:formatCode>
                <c:ptCount val="8"/>
                <c:pt idx="2">
                  <c:v>18.194</c:v>
                </c:pt>
                <c:pt idx="3">
                  <c:v>22.159</c:v>
                </c:pt>
                <c:pt idx="4">
                  <c:v>22.271</c:v>
                </c:pt>
                <c:pt idx="5">
                  <c:v>25.076</c:v>
                </c:pt>
                <c:pt idx="6">
                  <c:v>27.696</c:v>
                </c:pt>
                <c:pt idx="7">
                  <c:v>27.872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7.3484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Curl Definition</c:v>
                </c:pt>
                <c:pt idx="5">
                  <c:v>Hold and Shape</c:v>
                </c:pt>
                <c:pt idx="6">
                  <c:v>Heat Styling Support</c:v>
                </c:pt>
                <c:pt idx="7">
                  <c:v>Smoothing and Frizz C…</c:v>
                </c:pt>
              </c:strCache>
            </c:strRef>
          </c:cat>
          <c:val>
            <c:numRef>
              <c:f>Sheet1!$B$2:$B$9</c:f>
              <c:numCache>
                <c:formatCode>General</c:formatCode>
                <c:ptCount val="8"/>
                <c:pt idx="1">
                  <c:v>16.083</c:v>
                </c:pt>
                <c:pt idx="2">
                  <c:v>18.973</c:v>
                </c:pt>
                <c:pt idx="3">
                  <c:v>18.993</c:v>
                </c:pt>
                <c:pt idx="4">
                  <c:v>19.072</c:v>
                </c:pt>
                <c:pt idx="5">
                  <c:v>21.475</c:v>
                </c:pt>
                <c:pt idx="6">
                  <c:v>21.784</c:v>
                </c:pt>
                <c:pt idx="7">
                  <c:v>26.887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6.028580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25.755</c:v>
                </c:pt>
                <c:pt idx="4">
                  <c:v>27.156</c:v>
                </c:pt>
                <c:pt idx="5">
                  <c:v>29.01</c:v>
                </c:pt>
                <c:pt idx="6">
                  <c:v>30.128</c:v>
                </c:pt>
                <c:pt idx="7">
                  <c:v>31.218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1.8321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34.195</c:v>
                </c:pt>
                <c:pt idx="5">
                  <c:v>35.688</c:v>
                </c:pt>
                <c:pt idx="6">
                  <c:v>36.111999999999995</c:v>
                </c:pt>
                <c:pt idx="7">
                  <c:v>37.272999999999996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9.9458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143.267</c:v>
                </c:pt>
                <c:pt idx="2">
                  <c:v>154.476</c:v>
                </c:pt>
                <c:pt idx="3">
                  <c:v>163.152</c:v>
                </c:pt>
                <c:pt idx="4">
                  <c:v>175.232</c:v>
                </c:pt>
                <c:pt idx="5">
                  <c:v>198.892</c:v>
                </c:pt>
                <c:pt idx="6">
                  <c:v>217.887</c:v>
                </c:pt>
                <c:pt idx="7">
                  <c:v>236.064</c:v>
                </c:pt>
                <c:pt idx="8">
                  <c:v>277.629</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143.267</c:v>
                </c:pt>
                <c:pt idx="1">
                  <c:v>11.209</c:v>
                </c:pt>
                <c:pt idx="2">
                  <c:v>8.675999999999998</c:v>
                </c:pt>
                <c:pt idx="3">
                  <c:v>12.08</c:v>
                </c:pt>
                <c:pt idx="4">
                  <c:v>23.660000000000004</c:v>
                </c:pt>
                <c:pt idx="5">
                  <c:v>18.994999999999997</c:v>
                </c:pt>
                <c:pt idx="6">
                  <c:v>18.177</c:v>
                </c:pt>
                <c:pt idx="7">
                  <c:v>41.565</c:v>
                </c:pt>
                <c:pt idx="8">
                  <c:v>27.084</c:v>
                </c:pt>
                <c:pt idx="9">
                  <c:v>304.71299999999997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11.209</c:v>
                </c:pt>
                <c:pt idx="2">
                  <c:v>19.884999999999998</c:v>
                </c:pt>
                <c:pt idx="3">
                  <c:v>31.964999999999996</c:v>
                </c:pt>
                <c:pt idx="4">
                  <c:v>55.625</c:v>
                </c:pt>
                <c:pt idx="5">
                  <c:v>74.62</c:v>
                </c:pt>
                <c:pt idx="6">
                  <c:v>92.797</c:v>
                </c:pt>
                <c:pt idx="7">
                  <c:v>134.362</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11.209</c:v>
                </c:pt>
                <c:pt idx="1">
                  <c:v>8.675999999999998</c:v>
                </c:pt>
                <c:pt idx="2">
                  <c:v>12.08</c:v>
                </c:pt>
                <c:pt idx="3">
                  <c:v>23.660000000000004</c:v>
                </c:pt>
                <c:pt idx="4">
                  <c:v>18.994999999999997</c:v>
                </c:pt>
                <c:pt idx="5">
                  <c:v>18.177</c:v>
                </c:pt>
                <c:pt idx="6">
                  <c:v>41.565</c:v>
                </c:pt>
                <c:pt idx="7">
                  <c:v>27.084</c:v>
                </c:pt>
                <c:pt idx="8">
                  <c:v>161.446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143.267</c:v>
                </c:pt>
                <c:pt idx="2">
                  <c:v>177.188</c:v>
                </c:pt>
                <c:pt idx="3">
                  <c:v>215.951</c:v>
                </c:pt>
                <c:pt idx="4">
                  <c:v>251.21099999999998</c:v>
                </c:pt>
                <c:pt idx="5">
                  <c:v>281.416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143.267</c:v>
                </c:pt>
                <c:pt idx="1">
                  <c:v>33.921</c:v>
                </c:pt>
                <c:pt idx="2">
                  <c:v>38.763000000000005</c:v>
                </c:pt>
                <c:pt idx="3">
                  <c:v>35.25999999999999</c:v>
                </c:pt>
                <c:pt idx="4">
                  <c:v>30.205000000000002</c:v>
                </c:pt>
                <c:pt idx="5">
                  <c:v>23.297</c:v>
                </c:pt>
                <c:pt idx="6">
                  <c:v>304.71299999999997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33.921</c:v>
                </c:pt>
                <c:pt idx="2">
                  <c:v>72.684</c:v>
                </c:pt>
                <c:pt idx="3">
                  <c:v>107.94399999999999</c:v>
                </c:pt>
                <c:pt idx="4">
                  <c:v>138.149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33.921</c:v>
                </c:pt>
                <c:pt idx="1">
                  <c:v>38.763000000000005</c:v>
                </c:pt>
                <c:pt idx="2">
                  <c:v>35.25999999999999</c:v>
                </c:pt>
                <c:pt idx="3">
                  <c:v>30.205000000000002</c:v>
                </c:pt>
                <c:pt idx="4">
                  <c:v>23.297</c:v>
                </c:pt>
                <c:pt idx="5">
                  <c:v>161.446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143.268</c:v>
                </c:pt>
                <c:pt idx="2">
                  <c:v>192.541</c:v>
                </c:pt>
                <c:pt idx="3">
                  <c:v>238.326</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143.268</c:v>
                </c:pt>
                <c:pt idx="1">
                  <c:v>49.273</c:v>
                </c:pt>
                <c:pt idx="2">
                  <c:v>45.785000000000004</c:v>
                </c:pt>
                <c:pt idx="3">
                  <c:v>66.387</c:v>
                </c:pt>
                <c:pt idx="4">
                  <c:v>304.71299999999997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49.273</c:v>
                </c:pt>
                <c:pt idx="2">
                  <c:v>95.058</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49.273</c:v>
                </c:pt>
                <c:pt idx="1">
                  <c:v>45.785000000000004</c:v>
                </c:pt>
                <c:pt idx="2">
                  <c:v>66.387</c:v>
                </c:pt>
                <c:pt idx="3">
                  <c:v>161.445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143.268</c:v>
                </c:pt>
                <c:pt idx="2">
                  <c:v>166.57</c:v>
                </c:pt>
                <c:pt idx="3">
                  <c:v>193.581</c:v>
                </c:pt>
                <c:pt idx="4">
                  <c:v>220.57</c:v>
                </c:pt>
                <c:pt idx="5">
                  <c:v>241.683</c:v>
                </c:pt>
                <c:pt idx="6">
                  <c:v>281.085</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143.268</c:v>
                </c:pt>
                <c:pt idx="1">
                  <c:v>23.302</c:v>
                </c:pt>
                <c:pt idx="2">
                  <c:v>27.011000000000003</c:v>
                </c:pt>
                <c:pt idx="3">
                  <c:v>26.988999999999997</c:v>
                </c:pt>
                <c:pt idx="4">
                  <c:v>21.113</c:v>
                </c:pt>
                <c:pt idx="5">
                  <c:v>39.402</c:v>
                </c:pt>
                <c:pt idx="6">
                  <c:v>23.629</c:v>
                </c:pt>
                <c:pt idx="7">
                  <c:v>304.714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23.302</c:v>
                </c:pt>
                <c:pt idx="2">
                  <c:v>50.313</c:v>
                </c:pt>
                <c:pt idx="3">
                  <c:v>77.30199999999999</c:v>
                </c:pt>
                <c:pt idx="4">
                  <c:v>98.41499999999999</c:v>
                </c:pt>
                <c:pt idx="5">
                  <c:v>137.817</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23.302</c:v>
                </c:pt>
                <c:pt idx="1">
                  <c:v>27.011000000000003</c:v>
                </c:pt>
                <c:pt idx="2">
                  <c:v>26.988999999999997</c:v>
                </c:pt>
                <c:pt idx="3">
                  <c:v>21.113</c:v>
                </c:pt>
                <c:pt idx="4">
                  <c:v>39.402</c:v>
                </c:pt>
                <c:pt idx="5">
                  <c:v>23.629</c:v>
                </c:pt>
                <c:pt idx="6">
                  <c:v>161.446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143.267</c:v>
                </c:pt>
                <c:pt idx="2">
                  <c:v>160.767</c:v>
                </c:pt>
                <c:pt idx="3">
                  <c:v>188.252</c:v>
                </c:pt>
                <c:pt idx="4">
                  <c:v>207.125</c:v>
                </c:pt>
                <c:pt idx="5">
                  <c:v>228.004</c:v>
                </c:pt>
                <c:pt idx="6">
                  <c:v>261.248</c:v>
                </c:pt>
                <c:pt idx="7">
                  <c:v>275.909</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143.267</c:v>
                </c:pt>
                <c:pt idx="1">
                  <c:v>17.5</c:v>
                </c:pt>
                <c:pt idx="2">
                  <c:v>27.485000000000003</c:v>
                </c:pt>
                <c:pt idx="3">
                  <c:v>18.872999999999998</c:v>
                </c:pt>
                <c:pt idx="4">
                  <c:v>20.879</c:v>
                </c:pt>
                <c:pt idx="5">
                  <c:v>33.244</c:v>
                </c:pt>
                <c:pt idx="6">
                  <c:v>14.661000000000001</c:v>
                </c:pt>
                <c:pt idx="7">
                  <c:v>28.805</c:v>
                </c:pt>
                <c:pt idx="8">
                  <c:v>304.714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17.5</c:v>
                </c:pt>
                <c:pt idx="2">
                  <c:v>44.985</c:v>
                </c:pt>
                <c:pt idx="3">
                  <c:v>63.858</c:v>
                </c:pt>
                <c:pt idx="4">
                  <c:v>84.737</c:v>
                </c:pt>
                <c:pt idx="5">
                  <c:v>117.981</c:v>
                </c:pt>
                <c:pt idx="6">
                  <c:v>132.642</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17.5</c:v>
                </c:pt>
                <c:pt idx="1">
                  <c:v>27.485000000000003</c:v>
                </c:pt>
                <c:pt idx="2">
                  <c:v>18.872999999999998</c:v>
                </c:pt>
                <c:pt idx="3">
                  <c:v>20.879</c:v>
                </c:pt>
                <c:pt idx="4">
                  <c:v>33.244</c:v>
                </c:pt>
                <c:pt idx="5">
                  <c:v>14.661000000000001</c:v>
                </c:pt>
                <c:pt idx="6">
                  <c:v>28.805</c:v>
                </c:pt>
                <c:pt idx="7">
                  <c:v>161.447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143.267</c:v>
                </c:pt>
                <c:pt idx="2">
                  <c:v>171.18599999999998</c:v>
                </c:pt>
                <c:pt idx="3">
                  <c:v>203.56599999999997</c:v>
                </c:pt>
                <c:pt idx="4">
                  <c:v>237.85299999999998</c:v>
                </c:pt>
                <c:pt idx="5">
                  <c:v>272.73299999999995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143.267</c:v>
                </c:pt>
                <c:pt idx="1">
                  <c:v>27.918999999999997</c:v>
                </c:pt>
                <c:pt idx="2">
                  <c:v>32.379999999999995</c:v>
                </c:pt>
                <c:pt idx="3">
                  <c:v>34.287</c:v>
                </c:pt>
                <c:pt idx="4">
                  <c:v>34.879999999999995</c:v>
                </c:pt>
                <c:pt idx="5">
                  <c:v>31.980999999999998</c:v>
                </c:pt>
                <c:pt idx="6">
                  <c:v>304.714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27.918999999999997</c:v>
                </c:pt>
                <c:pt idx="2">
                  <c:v>60.29899999999999</c:v>
                </c:pt>
                <c:pt idx="3">
                  <c:v>94.58599999999998</c:v>
                </c:pt>
                <c:pt idx="4">
                  <c:v>129.46599999999998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27.918999999999997</c:v>
                </c:pt>
                <c:pt idx="1">
                  <c:v>32.379999999999995</c:v>
                </c:pt>
                <c:pt idx="2">
                  <c:v>34.287</c:v>
                </c:pt>
                <c:pt idx="3">
                  <c:v>34.879999999999995</c:v>
                </c:pt>
                <c:pt idx="4">
                  <c:v>31.980999999999998</c:v>
                </c:pt>
                <c:pt idx="5">
                  <c:v>161.44699999999997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143.268</c:v>
                </c:pt>
                <c:pt idx="2">
                  <c:v>179.904</c:v>
                </c:pt>
                <c:pt idx="3">
                  <c:v>223.677</c:v>
                </c:pt>
                <c:pt idx="4">
                  <c:v>259.157</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143.268</c:v>
                </c:pt>
                <c:pt idx="1">
                  <c:v>36.63600000000001</c:v>
                </c:pt>
                <c:pt idx="2">
                  <c:v>43.772999999999996</c:v>
                </c:pt>
                <c:pt idx="3">
                  <c:v>35.480000000000004</c:v>
                </c:pt>
                <c:pt idx="4">
                  <c:v>45.556000000000004</c:v>
                </c:pt>
                <c:pt idx="5">
                  <c:v>304.71299999999997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36.63600000000001</c:v>
                </c:pt>
                <c:pt idx="2">
                  <c:v>80.409</c:v>
                </c:pt>
                <c:pt idx="3">
                  <c:v>115.88900000000001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36.63600000000001</c:v>
                </c:pt>
                <c:pt idx="1">
                  <c:v>43.772999999999996</c:v>
                </c:pt>
                <c:pt idx="2">
                  <c:v>35.480000000000004</c:v>
                </c:pt>
                <c:pt idx="3">
                  <c:v>45.556000000000004</c:v>
                </c:pt>
                <c:pt idx="4">
                  <c:v>161.44500000000002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44.67</c:v>
                </c:pt>
                <c:pt idx="1">
                  <c:v>46.829</c:v>
                </c:pt>
                <c:pt idx="2">
                  <c:v>49.075</c:v>
                </c:pt>
                <c:pt idx="3">
                  <c:v>51.41</c:v>
                </c:pt>
                <c:pt idx="4">
                  <c:v>53.891999999999996</c:v>
                </c:pt>
                <c:pt idx="5">
                  <c:v>56.656000000000006</c:v>
                </c:pt>
                <c:pt idx="6">
                  <c:v>59.760999999999996</c:v>
                </c:pt>
                <c:pt idx="7">
                  <c:v>63.268</c:v>
                </c:pt>
                <c:pt idx="8">
                  <c:v>67.206</c:v>
                </c:pt>
                <c:pt idx="9">
                  <c:v>71.571</c:v>
                </c:pt>
                <c:pt idx="10">
                  <c:v>76.32900000000001</c:v>
                </c:pt>
                <c:pt idx="11">
                  <c:v>81.458</c:v>
                </c:pt>
                <c:pt idx="12">
                  <c:v>86.921</c:v>
                </c:pt>
                <c:pt idx="13">
                  <c:v>92.687</c:v>
                </c:pt>
                <c:pt idx="14">
                  <c:v>98.681</c:v>
                </c:pt>
                <c:pt idx="15">
                  <c:v>104.90700000000001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Malaysia</c:v>
                </c:pt>
              </c:strCache>
            </c:strRef>
          </c:cat>
          <c:val>
            <c:numRef>
              <c:f>Sheet1!$B$2:$B$4</c:f>
              <c:numCache>
                <c:formatCode>General</c:formatCode>
                <c:ptCount val="3"/>
                <c:pt idx="0">
                  <c:v>0.05245930274733035</c:v>
                </c:pt>
                <c:pt idx="1">
                  <c:v>0.06654594628969646</c:v>
                </c:pt>
                <c:pt idx="2">
                  <c:v>0.06354496482060501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370274910902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56.656000000000006</c:v>
                </c:pt>
                <c:pt idx="2">
                  <c:v>59.760999999999996</c:v>
                </c:pt>
                <c:pt idx="3">
                  <c:v>63.268</c:v>
                </c:pt>
                <c:pt idx="4">
                  <c:v>67.206</c:v>
                </c:pt>
                <c:pt idx="5">
                  <c:v>71.571</c:v>
                </c:pt>
                <c:pt idx="6">
                  <c:v>76.32900000000001</c:v>
                </c:pt>
                <c:pt idx="7">
                  <c:v>81.458</c:v>
                </c:pt>
                <c:pt idx="8">
                  <c:v>86.921</c:v>
                </c:pt>
                <c:pt idx="9">
                  <c:v>92.687</c:v>
                </c:pt>
                <c:pt idx="10">
                  <c:v>98.681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56.656000000000006</c:v>
                </c:pt>
                <c:pt idx="1">
                  <c:v>3.1049999999999898</c:v>
                </c:pt>
                <c:pt idx="2">
                  <c:v>3.507000000000005</c:v>
                </c:pt>
                <c:pt idx="3">
                  <c:v>3.9380000000000024</c:v>
                </c:pt>
                <c:pt idx="4">
                  <c:v>4.364999999999995</c:v>
                </c:pt>
                <c:pt idx="5">
                  <c:v>4.75800000000001</c:v>
                </c:pt>
                <c:pt idx="6">
                  <c:v>5.128999999999991</c:v>
                </c:pt>
                <c:pt idx="7">
                  <c:v>5.463000000000008</c:v>
                </c:pt>
                <c:pt idx="8">
                  <c:v>5.765999999999991</c:v>
                </c:pt>
                <c:pt idx="9">
                  <c:v>5.994</c:v>
                </c:pt>
                <c:pt idx="10">
                  <c:v>6.226000000000013</c:v>
                </c:pt>
                <c:pt idx="11">
                  <c:v>104.90700000000001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Malaysia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4.6898643435878595</c:v>
                </c:pt>
                <c:pt idx="1">
                  <c:v>0.7161469031475022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95.31013565641214</c:v>
                </c:pt>
                <c:pt idx="1">
                  <c:v>99.2838530968525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1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68.747</c:v>
                </c:pt>
                <c:pt idx="1">
                  <c:v>72.364</c:v>
                </c:pt>
                <c:pt idx="2">
                  <c:v>76.16</c:v>
                </c:pt>
                <c:pt idx="3">
                  <c:v>80.15899999999999</c:v>
                </c:pt>
                <c:pt idx="4">
                  <c:v>84.43700000000001</c:v>
                </c:pt>
                <c:pt idx="5">
                  <c:v>89.47200000000001</c:v>
                </c:pt>
                <c:pt idx="6">
                  <c:v>95.22</c:v>
                </c:pt>
                <c:pt idx="7">
                  <c:v>101.80499999999999</c:v>
                </c:pt>
                <c:pt idx="8">
                  <c:v>109.33599999999998</c:v>
                </c:pt>
                <c:pt idx="9">
                  <c:v>117.858</c:v>
                </c:pt>
                <c:pt idx="10">
                  <c:v>127.35000000000001</c:v>
                </c:pt>
                <c:pt idx="11">
                  <c:v>137.845</c:v>
                </c:pt>
                <c:pt idx="12">
                  <c:v>149.285</c:v>
                </c:pt>
                <c:pt idx="13">
                  <c:v>161.703</c:v>
                </c:pt>
                <c:pt idx="14">
                  <c:v>175.005</c:v>
                </c:pt>
                <c:pt idx="15">
                  <c:v>189.242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Malaysia</c:v>
                </c:pt>
              </c:strCache>
            </c:strRef>
          </c:cat>
          <c:val>
            <c:numRef>
              <c:f>Sheet1!$B$2:$B$4</c:f>
              <c:numCache>
                <c:formatCode>General</c:formatCode>
                <c:ptCount val="3"/>
                <c:pt idx="0">
                  <c:v>0.06658666629421717</c:v>
                </c:pt>
                <c:pt idx="1">
                  <c:v>0.07853749693674184</c:v>
                </c:pt>
                <c:pt idx="2">
                  <c:v>0.07778724182854524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60256208646014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89.47200000000001</c:v>
                </c:pt>
                <c:pt idx="2">
                  <c:v>95.22</c:v>
                </c:pt>
                <c:pt idx="3">
                  <c:v>101.80499999999999</c:v>
                </c:pt>
                <c:pt idx="4">
                  <c:v>109.33599999999998</c:v>
                </c:pt>
                <c:pt idx="5">
                  <c:v>117.858</c:v>
                </c:pt>
                <c:pt idx="6">
                  <c:v>127.35000000000001</c:v>
                </c:pt>
                <c:pt idx="7">
                  <c:v>137.845</c:v>
                </c:pt>
                <c:pt idx="8">
                  <c:v>149.285</c:v>
                </c:pt>
                <c:pt idx="9">
                  <c:v>161.703</c:v>
                </c:pt>
                <c:pt idx="10">
                  <c:v>175.005</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89.47200000000001</c:v>
                </c:pt>
                <c:pt idx="1">
                  <c:v>5.7479999999999905</c:v>
                </c:pt>
                <c:pt idx="2">
                  <c:v>6.584999999999994</c:v>
                </c:pt>
                <c:pt idx="3">
                  <c:v>7.530999999999992</c:v>
                </c:pt>
                <c:pt idx="4">
                  <c:v>8.52200000000002</c:v>
                </c:pt>
                <c:pt idx="5">
                  <c:v>9.492000000000004</c:v>
                </c:pt>
                <c:pt idx="6">
                  <c:v>10.49499999999999</c:v>
                </c:pt>
                <c:pt idx="7">
                  <c:v>11.439999999999998</c:v>
                </c:pt>
                <c:pt idx="8">
                  <c:v>12.418000000000006</c:v>
                </c:pt>
                <c:pt idx="9">
                  <c:v>13.301999999999992</c:v>
                </c:pt>
                <c:pt idx="10">
                  <c:v>14.236999999999995</c:v>
                </c:pt>
                <c:pt idx="11">
                  <c:v>189.242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Malaysia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5.052329146775718</c:v>
                </c:pt>
                <c:pt idx="1">
                  <c:v>0.5555069895335808</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94.94767085322428</c:v>
                </c:pt>
                <c:pt idx="1">
                  <c:v>99.44449301046642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1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Sprays and Mists</c:v>
                </c:pt>
                <c:pt idx="4">
                  <c:v>Sticks and Balms</c:v>
                </c:pt>
                <c:pt idx="5">
                  <c:v>Creams and Lotions</c:v>
                </c:pt>
                <c:pt idx="6">
                  <c:v>Waxes, Clays, Pastes…</c:v>
                </c:pt>
                <c:pt idx="7">
                  <c:v>Serums and Oils</c:v>
                </c:pt>
              </c:strCache>
            </c:strRef>
          </c:cat>
          <c:val>
            <c:numRef>
              <c:f>Sheet1!$B$2:$B$9</c:f>
              <c:numCache>
                <c:formatCode>General</c:formatCode>
                <c:ptCount val="8"/>
                <c:pt idx="0">
                  <c:v>6.257</c:v>
                </c:pt>
                <c:pt idx="1">
                  <c:v>8.469</c:v>
                </c:pt>
                <c:pt idx="2">
                  <c:v>8.71</c:v>
                </c:pt>
                <c:pt idx="3">
                  <c:v>9.893</c:v>
                </c:pt>
                <c:pt idx="4">
                  <c:v>11.1</c:v>
                </c:pt>
                <c:pt idx="5">
                  <c:v>11.702</c:v>
                </c:pt>
                <c:pt idx="6">
                  <c:v>15.908</c:v>
                </c:pt>
                <c:pt idx="7">
                  <c:v>17.433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3.3602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15.848</c:v>
                </c:pt>
                <c:pt idx="4">
                  <c:v>16.94</c:v>
                </c:pt>
                <c:pt idx="5">
                  <c:v>18.05</c:v>
                </c:pt>
                <c:pt idx="6">
                  <c:v>18.752</c:v>
                </c:pt>
                <c:pt idx="7">
                  <c:v>19.881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6.6405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29.094</c:v>
                </c:pt>
                <c:pt idx="6">
                  <c:v>29.779</c:v>
                </c:pt>
                <c:pt idx="7">
                  <c:v>30.599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1.0026600000000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Salon and Professiona…</c:v>
                </c:pt>
                <c:pt idx="6">
                  <c:v>Mass Retail</c:v>
                </c:pt>
                <c:pt idx="7">
                  <c:v>Online Marketplaces</c:v>
                </c:pt>
              </c:strCache>
            </c:strRef>
          </c:cat>
          <c:val>
            <c:numRef>
              <c:f>Sheet1!$B$2:$B$9</c:f>
              <c:numCache>
                <c:formatCode>General</c:formatCode>
                <c:ptCount val="8"/>
                <c:pt idx="2">
                  <c:v>10.747</c:v>
                </c:pt>
                <c:pt idx="3">
                  <c:v>13.259</c:v>
                </c:pt>
                <c:pt idx="4">
                  <c:v>13.642</c:v>
                </c:pt>
                <c:pt idx="5">
                  <c:v>15.144</c:v>
                </c:pt>
                <c:pt idx="6">
                  <c:v>18.328</c:v>
                </c:pt>
                <c:pt idx="7">
                  <c:v>18.352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4.5916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Hold and Shape</c:v>
                </c:pt>
                <c:pt idx="7">
                  <c:v>Smoothing and Frizz C…</c:v>
                </c:pt>
              </c:strCache>
            </c:strRef>
          </c:cat>
          <c:val>
            <c:numRef>
              <c:f>Sheet1!$B$2:$B$9</c:f>
              <c:numCache>
                <c:formatCode>General</c:formatCode>
                <c:ptCount val="8"/>
                <c:pt idx="1">
                  <c:v>10.401</c:v>
                </c:pt>
                <c:pt idx="2">
                  <c:v>12.073</c:v>
                </c:pt>
                <c:pt idx="3">
                  <c:v>12.215</c:v>
                </c:pt>
                <c:pt idx="4">
                  <c:v>12.225</c:v>
                </c:pt>
                <c:pt idx="5">
                  <c:v>12.27</c:v>
                </c:pt>
                <c:pt idx="6">
                  <c:v>13.951</c:v>
                </c:pt>
                <c:pt idx="7">
                  <c:v>16.336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1.8902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16.08</c:v>
                </c:pt>
                <c:pt idx="4">
                  <c:v>16.946</c:v>
                </c:pt>
                <c:pt idx="5">
                  <c:v>18.124</c:v>
                </c:pt>
                <c:pt idx="6">
                  <c:v>18.822</c:v>
                </c:pt>
                <c:pt idx="7">
                  <c:v>19.5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6.130000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21.448999999999998</c:v>
                </c:pt>
                <c:pt idx="5">
                  <c:v>22.298000000000002</c:v>
                </c:pt>
                <c:pt idx="6">
                  <c:v>22.458</c:v>
                </c:pt>
                <c:pt idx="7">
                  <c:v>23.265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1.175100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89.47200000000001</c:v>
                </c:pt>
                <c:pt idx="2">
                  <c:v>96.92600000000002</c:v>
                </c:pt>
                <c:pt idx="3">
                  <c:v>102.36400000000002</c:v>
                </c:pt>
                <c:pt idx="4">
                  <c:v>109.42200000000003</c:v>
                </c:pt>
                <c:pt idx="5">
                  <c:v>123.07500000000003</c:v>
                </c:pt>
                <c:pt idx="6">
                  <c:v>139.78700000000003</c:v>
                </c:pt>
                <c:pt idx="7">
                  <c:v>151.83000000000004</c:v>
                </c:pt>
                <c:pt idx="8">
                  <c:v>173.26000000000005</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89.47200000000001</c:v>
                </c:pt>
                <c:pt idx="1">
                  <c:v>7.454000000000001</c:v>
                </c:pt>
                <c:pt idx="2">
                  <c:v>5.438000000000001</c:v>
                </c:pt>
                <c:pt idx="3">
                  <c:v>7.058</c:v>
                </c:pt>
                <c:pt idx="4">
                  <c:v>13.653</c:v>
                </c:pt>
                <c:pt idx="5">
                  <c:v>16.711999999999996</c:v>
                </c:pt>
                <c:pt idx="6">
                  <c:v>12.043</c:v>
                </c:pt>
                <c:pt idx="7">
                  <c:v>21.43</c:v>
                </c:pt>
                <c:pt idx="8">
                  <c:v>15.982000000000001</c:v>
                </c:pt>
                <c:pt idx="9">
                  <c:v>189.242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7.454000000000001</c:v>
                </c:pt>
                <c:pt idx="2">
                  <c:v>12.892000000000001</c:v>
                </c:pt>
                <c:pt idx="3">
                  <c:v>19.950000000000003</c:v>
                </c:pt>
                <c:pt idx="4">
                  <c:v>33.603</c:v>
                </c:pt>
                <c:pt idx="5">
                  <c:v>50.315</c:v>
                </c:pt>
                <c:pt idx="6">
                  <c:v>62.358</c:v>
                </c:pt>
                <c:pt idx="7">
                  <c:v>83.788</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7.454000000000001</c:v>
                </c:pt>
                <c:pt idx="1">
                  <c:v>5.438000000000001</c:v>
                </c:pt>
                <c:pt idx="2">
                  <c:v>7.058</c:v>
                </c:pt>
                <c:pt idx="3">
                  <c:v>13.653</c:v>
                </c:pt>
                <c:pt idx="4">
                  <c:v>16.711999999999996</c:v>
                </c:pt>
                <c:pt idx="5">
                  <c:v>12.043</c:v>
                </c:pt>
                <c:pt idx="6">
                  <c:v>21.43</c:v>
                </c:pt>
                <c:pt idx="7">
                  <c:v>15.982000000000001</c:v>
                </c:pt>
                <c:pt idx="8">
                  <c:v>99.77000000000001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89.471</c:v>
                </c:pt>
                <c:pt idx="2">
                  <c:v>110.45100000000001</c:v>
                </c:pt>
                <c:pt idx="3">
                  <c:v>134.41400000000002</c:v>
                </c:pt>
                <c:pt idx="4">
                  <c:v>156.198</c:v>
                </c:pt>
                <c:pt idx="5">
                  <c:v>174.853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89.471</c:v>
                </c:pt>
                <c:pt idx="1">
                  <c:v>20.98</c:v>
                </c:pt>
                <c:pt idx="2">
                  <c:v>23.962999999999997</c:v>
                </c:pt>
                <c:pt idx="3">
                  <c:v>21.784</c:v>
                </c:pt>
                <c:pt idx="4">
                  <c:v>18.654999999999998</c:v>
                </c:pt>
                <c:pt idx="5">
                  <c:v>14.389999999999999</c:v>
                </c:pt>
                <c:pt idx="6">
                  <c:v>189.243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20.98</c:v>
                </c:pt>
                <c:pt idx="2">
                  <c:v>44.943</c:v>
                </c:pt>
                <c:pt idx="3">
                  <c:v>66.727</c:v>
                </c:pt>
                <c:pt idx="4">
                  <c:v>85.382</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20.98</c:v>
                </c:pt>
                <c:pt idx="1">
                  <c:v>23.962999999999997</c:v>
                </c:pt>
                <c:pt idx="2">
                  <c:v>21.784</c:v>
                </c:pt>
                <c:pt idx="3">
                  <c:v>18.654999999999998</c:v>
                </c:pt>
                <c:pt idx="4">
                  <c:v>14.389999999999999</c:v>
                </c:pt>
                <c:pt idx="5">
                  <c:v>99.772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89.47200000000001</c:v>
                </c:pt>
                <c:pt idx="2">
                  <c:v>122.32400000000001</c:v>
                </c:pt>
                <c:pt idx="3">
                  <c:v>152.98100000000002</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89.47200000000001</c:v>
                </c:pt>
                <c:pt idx="1">
                  <c:v>32.852000000000004</c:v>
                </c:pt>
                <c:pt idx="2">
                  <c:v>30.657</c:v>
                </c:pt>
                <c:pt idx="3">
                  <c:v>36.263</c:v>
                </c:pt>
                <c:pt idx="4">
                  <c:v>189.244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32.852000000000004</c:v>
                </c:pt>
                <c:pt idx="2">
                  <c:v>63.509</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32.852000000000004</c:v>
                </c:pt>
                <c:pt idx="1">
                  <c:v>30.657</c:v>
                </c:pt>
                <c:pt idx="2">
                  <c:v>36.263</c:v>
                </c:pt>
                <c:pt idx="3">
                  <c:v>99.77199999999999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89.472</c:v>
                </c:pt>
                <c:pt idx="2">
                  <c:v>105.32799999999999</c:v>
                </c:pt>
                <c:pt idx="3">
                  <c:v>120.97999999999999</c:v>
                </c:pt>
                <c:pt idx="4">
                  <c:v>136.96599999999998</c:v>
                </c:pt>
                <c:pt idx="5">
                  <c:v>149.76</c:v>
                </c:pt>
                <c:pt idx="6">
                  <c:v>175.274</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89.472</c:v>
                </c:pt>
                <c:pt idx="1">
                  <c:v>15.855999999999998</c:v>
                </c:pt>
                <c:pt idx="2">
                  <c:v>15.652000000000001</c:v>
                </c:pt>
                <c:pt idx="3">
                  <c:v>15.985999999999999</c:v>
                </c:pt>
                <c:pt idx="4">
                  <c:v>12.794</c:v>
                </c:pt>
                <c:pt idx="5">
                  <c:v>25.514</c:v>
                </c:pt>
                <c:pt idx="6">
                  <c:v>13.969000000000001</c:v>
                </c:pt>
                <c:pt idx="7">
                  <c:v>189.243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15.855999999999998</c:v>
                </c:pt>
                <c:pt idx="2">
                  <c:v>31.508</c:v>
                </c:pt>
                <c:pt idx="3">
                  <c:v>47.494</c:v>
                </c:pt>
                <c:pt idx="4">
                  <c:v>60.288</c:v>
                </c:pt>
                <c:pt idx="5">
                  <c:v>85.80199999999999</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15.855999999999998</c:v>
                </c:pt>
                <c:pt idx="1">
                  <c:v>15.652000000000001</c:v>
                </c:pt>
                <c:pt idx="2">
                  <c:v>15.985999999999999</c:v>
                </c:pt>
                <c:pt idx="3">
                  <c:v>12.794</c:v>
                </c:pt>
                <c:pt idx="4">
                  <c:v>25.514</c:v>
                </c:pt>
                <c:pt idx="5">
                  <c:v>13.969000000000001</c:v>
                </c:pt>
                <c:pt idx="6">
                  <c:v>99.77099999999999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89.471</c:v>
                </c:pt>
                <c:pt idx="2">
                  <c:v>100.777</c:v>
                </c:pt>
                <c:pt idx="3">
                  <c:v>118.368</c:v>
                </c:pt>
                <c:pt idx="4">
                  <c:v>130.446</c:v>
                </c:pt>
                <c:pt idx="5">
                  <c:v>143.809</c:v>
                </c:pt>
                <c:pt idx="6">
                  <c:v>163.93</c:v>
                </c:pt>
                <c:pt idx="7">
                  <c:v>173.365</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89.471</c:v>
                </c:pt>
                <c:pt idx="1">
                  <c:v>11.306000000000001</c:v>
                </c:pt>
                <c:pt idx="2">
                  <c:v>17.591</c:v>
                </c:pt>
                <c:pt idx="3">
                  <c:v>12.078</c:v>
                </c:pt>
                <c:pt idx="4">
                  <c:v>13.363000000000001</c:v>
                </c:pt>
                <c:pt idx="5">
                  <c:v>20.121000000000002</c:v>
                </c:pt>
                <c:pt idx="6">
                  <c:v>9.434999999999999</c:v>
                </c:pt>
                <c:pt idx="7">
                  <c:v>15.879000000000001</c:v>
                </c:pt>
                <c:pt idx="8">
                  <c:v>189.24399999999997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11.306000000000001</c:v>
                </c:pt>
                <c:pt idx="2">
                  <c:v>28.897000000000002</c:v>
                </c:pt>
                <c:pt idx="3">
                  <c:v>40.975</c:v>
                </c:pt>
                <c:pt idx="4">
                  <c:v>54.338</c:v>
                </c:pt>
                <c:pt idx="5">
                  <c:v>74.459</c:v>
                </c:pt>
                <c:pt idx="6">
                  <c:v>83.894</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11.306000000000001</c:v>
                </c:pt>
                <c:pt idx="1">
                  <c:v>17.591</c:v>
                </c:pt>
                <c:pt idx="2">
                  <c:v>12.078</c:v>
                </c:pt>
                <c:pt idx="3">
                  <c:v>13.363000000000001</c:v>
                </c:pt>
                <c:pt idx="4">
                  <c:v>20.121000000000002</c:v>
                </c:pt>
                <c:pt idx="5">
                  <c:v>9.434999999999999</c:v>
                </c:pt>
                <c:pt idx="6">
                  <c:v>15.879000000000001</c:v>
                </c:pt>
                <c:pt idx="7">
                  <c:v>99.77300000000001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89.472</c:v>
                </c:pt>
                <c:pt idx="2">
                  <c:v>106.71499999999999</c:v>
                </c:pt>
                <c:pt idx="3">
                  <c:v>126.71699999999998</c:v>
                </c:pt>
                <c:pt idx="4">
                  <c:v>147.92299999999997</c:v>
                </c:pt>
                <c:pt idx="5">
                  <c:v>169.486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89.472</c:v>
                </c:pt>
                <c:pt idx="1">
                  <c:v>17.243</c:v>
                </c:pt>
                <c:pt idx="2">
                  <c:v>20.002</c:v>
                </c:pt>
                <c:pt idx="3">
                  <c:v>21.206</c:v>
                </c:pt>
                <c:pt idx="4">
                  <c:v>21.563000000000002</c:v>
                </c:pt>
                <c:pt idx="5">
                  <c:v>19.758000000000003</c:v>
                </c:pt>
                <c:pt idx="6">
                  <c:v>189.244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17.243</c:v>
                </c:pt>
                <c:pt idx="2">
                  <c:v>37.245</c:v>
                </c:pt>
                <c:pt idx="3">
                  <c:v>58.45099999999999</c:v>
                </c:pt>
                <c:pt idx="4">
                  <c:v>80.014</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17.243</c:v>
                </c:pt>
                <c:pt idx="1">
                  <c:v>20.002</c:v>
                </c:pt>
                <c:pt idx="2">
                  <c:v>21.206</c:v>
                </c:pt>
                <c:pt idx="3">
                  <c:v>21.563000000000002</c:v>
                </c:pt>
                <c:pt idx="4">
                  <c:v>19.758000000000003</c:v>
                </c:pt>
                <c:pt idx="5">
                  <c:v>99.77199999999999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89.47</c:v>
                </c:pt>
                <c:pt idx="2">
                  <c:v>112.465</c:v>
                </c:pt>
                <c:pt idx="3">
                  <c:v>138.699</c:v>
                </c:pt>
                <c:pt idx="4">
                  <c:v>161.257</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89.47</c:v>
                </c:pt>
                <c:pt idx="1">
                  <c:v>22.994999999999997</c:v>
                </c:pt>
                <c:pt idx="2">
                  <c:v>26.234</c:v>
                </c:pt>
                <c:pt idx="3">
                  <c:v>22.557999999999993</c:v>
                </c:pt>
                <c:pt idx="4">
                  <c:v>27.987000000000002</c:v>
                </c:pt>
                <c:pt idx="5">
                  <c:v>189.244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22.994999999999997</c:v>
                </c:pt>
                <c:pt idx="2">
                  <c:v>49.229</c:v>
                </c:pt>
                <c:pt idx="3">
                  <c:v>71.78699999999999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22.994999999999997</c:v>
                </c:pt>
                <c:pt idx="1">
                  <c:v>26.234</c:v>
                </c:pt>
                <c:pt idx="2">
                  <c:v>22.557999999999993</c:v>
                </c:pt>
                <c:pt idx="3">
                  <c:v>27.987000000000002</c:v>
                </c:pt>
                <c:pt idx="4">
                  <c:v>99.774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136.776</c:v>
                </c:pt>
                <c:pt idx="1">
                  <c:v>144.394</c:v>
                </c:pt>
                <c:pt idx="2">
                  <c:v>152.385</c:v>
                </c:pt>
                <c:pt idx="3">
                  <c:v>160.752</c:v>
                </c:pt>
                <c:pt idx="4">
                  <c:v>169.70600000000002</c:v>
                </c:pt>
                <c:pt idx="5">
                  <c:v>179.748</c:v>
                </c:pt>
                <c:pt idx="6">
                  <c:v>191.125</c:v>
                </c:pt>
                <c:pt idx="7">
                  <c:v>204.082</c:v>
                </c:pt>
                <c:pt idx="8">
                  <c:v>218.74200000000002</c:v>
                </c:pt>
                <c:pt idx="9">
                  <c:v>235.10899999999998</c:v>
                </c:pt>
                <c:pt idx="10">
                  <c:v>253.08799999999997</c:v>
                </c:pt>
                <c:pt idx="11">
                  <c:v>272.644</c:v>
                </c:pt>
                <c:pt idx="12">
                  <c:v>293.647</c:v>
                </c:pt>
                <c:pt idx="13">
                  <c:v>316.01</c:v>
                </c:pt>
                <c:pt idx="14">
                  <c:v>339.489</c:v>
                </c:pt>
                <c:pt idx="15">
                  <c:v>364.09400000000005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Indonesia</c:v>
                </c:pt>
              </c:strCache>
            </c:strRef>
          </c:cat>
          <c:val>
            <c:numRef>
              <c:f>Sheet1!$B$2:$B$4</c:f>
              <c:numCache>
                <c:formatCode>General</c:formatCode>
                <c:ptCount val="3"/>
                <c:pt idx="0">
                  <c:v>0.05245930274733035</c:v>
                </c:pt>
                <c:pt idx="1">
                  <c:v>0.06654594628969646</c:v>
                </c:pt>
                <c:pt idx="2">
                  <c:v>0.07313644809264241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873420492506726"/>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179.748</c:v>
                </c:pt>
                <c:pt idx="2">
                  <c:v>191.125</c:v>
                </c:pt>
                <c:pt idx="3">
                  <c:v>204.082</c:v>
                </c:pt>
                <c:pt idx="4">
                  <c:v>218.74200000000002</c:v>
                </c:pt>
                <c:pt idx="5">
                  <c:v>235.10899999999998</c:v>
                </c:pt>
                <c:pt idx="6">
                  <c:v>253.08799999999997</c:v>
                </c:pt>
                <c:pt idx="7">
                  <c:v>272.644</c:v>
                </c:pt>
                <c:pt idx="8">
                  <c:v>293.647</c:v>
                </c:pt>
                <c:pt idx="9">
                  <c:v>316.01</c:v>
                </c:pt>
                <c:pt idx="10">
                  <c:v>339.489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179.748</c:v>
                </c:pt>
                <c:pt idx="1">
                  <c:v>11.37700000000001</c:v>
                </c:pt>
                <c:pt idx="2">
                  <c:v>12.956999999999994</c:v>
                </c:pt>
                <c:pt idx="3">
                  <c:v>14.660000000000025</c:v>
                </c:pt>
                <c:pt idx="4">
                  <c:v>16.366999999999962</c:v>
                </c:pt>
                <c:pt idx="5">
                  <c:v>17.978999999999985</c:v>
                </c:pt>
                <c:pt idx="6">
                  <c:v>19.55600000000004</c:v>
                </c:pt>
                <c:pt idx="7">
                  <c:v>21.002999999999986</c:v>
                </c:pt>
                <c:pt idx="8">
                  <c:v>22.363</c:v>
                </c:pt>
                <c:pt idx="9">
                  <c:v>23.478999999999985</c:v>
                </c:pt>
                <c:pt idx="10">
                  <c:v>24.605000000000075</c:v>
                </c:pt>
                <c:pt idx="11">
                  <c:v>364.09400000000005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Indonesia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14.879160830825164</c:v>
                </c:pt>
                <c:pt idx="1">
                  <c:v>2.272062509654003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85.12083916917484</c:v>
                </c:pt>
                <c:pt idx="1">
                  <c:v>97.727937490346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152.939</c:v>
                </c:pt>
                <c:pt idx="1">
                  <c:v>162.367</c:v>
                </c:pt>
                <c:pt idx="2">
                  <c:v>172.36599999999999</c:v>
                </c:pt>
                <c:pt idx="3">
                  <c:v>183.067</c:v>
                </c:pt>
                <c:pt idx="4">
                  <c:v>194.627</c:v>
                </c:pt>
                <c:pt idx="5">
                  <c:v>208.608</c:v>
                </c:pt>
                <c:pt idx="6">
                  <c:v>224.699</c:v>
                </c:pt>
                <c:pt idx="7">
                  <c:v>243.286</c:v>
                </c:pt>
                <c:pt idx="8">
                  <c:v>264.73699999999997</c:v>
                </c:pt>
                <c:pt idx="9">
                  <c:v>289.252</c:v>
                </c:pt>
                <c:pt idx="10">
                  <c:v>316.921</c:v>
                </c:pt>
                <c:pt idx="11">
                  <c:v>347.924</c:v>
                </c:pt>
                <c:pt idx="12">
                  <c:v>382.16100000000006</c:v>
                </c:pt>
                <c:pt idx="13">
                  <c:v>419.78499999999997</c:v>
                </c:pt>
                <c:pt idx="14">
                  <c:v>460.65600000000006</c:v>
                </c:pt>
                <c:pt idx="15">
                  <c:v>504.994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Indonesia</c:v>
                </c:pt>
              </c:strCache>
            </c:strRef>
          </c:cat>
          <c:val>
            <c:numRef>
              <c:f>Sheet1!$B$2:$B$4</c:f>
              <c:numCache>
                <c:formatCode>General</c:formatCode>
                <c:ptCount val="3"/>
                <c:pt idx="0">
                  <c:v>0.06658666629421717</c:v>
                </c:pt>
                <c:pt idx="1">
                  <c:v>0.07853749693674184</c:v>
                </c:pt>
                <c:pt idx="2">
                  <c:v>0.09243479885798213</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247869784582758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208.608</c:v>
                </c:pt>
                <c:pt idx="2">
                  <c:v>224.699</c:v>
                </c:pt>
                <c:pt idx="3">
                  <c:v>243.286</c:v>
                </c:pt>
                <c:pt idx="4">
                  <c:v>264.73699999999997</c:v>
                </c:pt>
                <c:pt idx="5">
                  <c:v>289.252</c:v>
                </c:pt>
                <c:pt idx="6">
                  <c:v>316.921</c:v>
                </c:pt>
                <c:pt idx="7">
                  <c:v>347.924</c:v>
                </c:pt>
                <c:pt idx="8">
                  <c:v>382.16100000000006</c:v>
                </c:pt>
                <c:pt idx="9">
                  <c:v>419.78499999999997</c:v>
                </c:pt>
                <c:pt idx="10">
                  <c:v>460.65600000000006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208.608</c:v>
                </c:pt>
                <c:pt idx="1">
                  <c:v>16.091000000000008</c:v>
                </c:pt>
                <c:pt idx="2">
                  <c:v>18.58699999999999</c:v>
                </c:pt>
                <c:pt idx="3">
                  <c:v>21.450999999999965</c:v>
                </c:pt>
                <c:pt idx="4">
                  <c:v>24.515000000000043</c:v>
                </c:pt>
                <c:pt idx="5">
                  <c:v>27.668999999999983</c:v>
                </c:pt>
                <c:pt idx="6">
                  <c:v>31.002999999999986</c:v>
                </c:pt>
                <c:pt idx="7">
                  <c:v>34.23700000000008</c:v>
                </c:pt>
                <c:pt idx="8">
                  <c:v>37.62399999999991</c:v>
                </c:pt>
                <c:pt idx="9">
                  <c:v>40.871000000000095</c:v>
                </c:pt>
                <c:pt idx="10">
                  <c:v>44.337999999999965</c:v>
                </c:pt>
                <c:pt idx="11">
                  <c:v>504.994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Indonesia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11.779733085776433</c:v>
                </c:pt>
                <c:pt idx="1">
                  <c:v>1.2951895796743251</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88.22026691422357</c:v>
                </c:pt>
                <c:pt idx="1">
                  <c:v>98.70481042032567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Sprays and Mists</c:v>
                </c:pt>
                <c:pt idx="2">
                  <c:v>Powders</c:v>
                </c:pt>
                <c:pt idx="3">
                  <c:v>Gels and Jellies</c:v>
                </c:pt>
                <c:pt idx="4">
                  <c:v>Sticks and Balms</c:v>
                </c:pt>
                <c:pt idx="5">
                  <c:v>Creams and Lotions</c:v>
                </c:pt>
                <c:pt idx="6">
                  <c:v>Serums and Oils</c:v>
                </c:pt>
                <c:pt idx="7">
                  <c:v>Waxes, Clays, Pastes…</c:v>
                </c:pt>
              </c:strCache>
            </c:strRef>
          </c:cat>
          <c:val>
            <c:numRef>
              <c:f>Sheet1!$B$2:$B$9</c:f>
              <c:numCache>
                <c:formatCode>General</c:formatCode>
                <c:ptCount val="8"/>
                <c:pt idx="0">
                  <c:v>14.618</c:v>
                </c:pt>
                <c:pt idx="1">
                  <c:v>20.374000000000002</c:v>
                </c:pt>
                <c:pt idx="2">
                  <c:v>20.479</c:v>
                </c:pt>
                <c:pt idx="3">
                  <c:v>24.789</c:v>
                </c:pt>
                <c:pt idx="4">
                  <c:v>26.542</c:v>
                </c:pt>
                <c:pt idx="5">
                  <c:v>29.616</c:v>
                </c:pt>
                <c:pt idx="6">
                  <c:v>35.653</c:v>
                </c:pt>
                <c:pt idx="7">
                  <c:v>36.537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8.9595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36.971</c:v>
                </c:pt>
                <c:pt idx="4">
                  <c:v>39.423</c:v>
                </c:pt>
                <c:pt idx="5">
                  <c:v>42.055</c:v>
                </c:pt>
                <c:pt idx="6">
                  <c:v>43.77</c:v>
                </c:pt>
                <c:pt idx="7">
                  <c:v>46.389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2.1612600000000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65.95</c:v>
                </c:pt>
                <c:pt idx="6">
                  <c:v>67.896</c:v>
                </c:pt>
                <c:pt idx="7">
                  <c:v>74.761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00.1797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Salon and Professiona…</c:v>
                </c:pt>
                <c:pt idx="6">
                  <c:v>Online Marketplaces</c:v>
                </c:pt>
                <c:pt idx="7">
                  <c:v>Mass Retail</c:v>
                </c:pt>
              </c:strCache>
            </c:strRef>
          </c:cat>
          <c:val>
            <c:numRef>
              <c:f>Sheet1!$B$2:$B$9</c:f>
              <c:numCache>
                <c:formatCode>General</c:formatCode>
                <c:ptCount val="8"/>
                <c:pt idx="2">
                  <c:v>24.19</c:v>
                </c:pt>
                <c:pt idx="3">
                  <c:v>29.887</c:v>
                </c:pt>
                <c:pt idx="4">
                  <c:v>30.791</c:v>
                </c:pt>
                <c:pt idx="5">
                  <c:v>34.079</c:v>
                </c:pt>
                <c:pt idx="6">
                  <c:v>38.576</c:v>
                </c:pt>
                <c:pt idx="7">
                  <c:v>51.084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8.4525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Smoothing and Frizz C…</c:v>
                </c:pt>
                <c:pt idx="6">
                  <c:v>Hold and Shape</c:v>
                </c:pt>
                <c:pt idx="7">
                  <c:v>Curl Definition</c:v>
                </c:pt>
              </c:strCache>
            </c:strRef>
          </c:cat>
          <c:val>
            <c:numRef>
              <c:f>Sheet1!$B$2:$B$9</c:f>
              <c:numCache>
                <c:formatCode>General</c:formatCode>
                <c:ptCount val="8"/>
                <c:pt idx="1">
                  <c:v>23.621</c:v>
                </c:pt>
                <c:pt idx="2">
                  <c:v>28.124</c:v>
                </c:pt>
                <c:pt idx="3">
                  <c:v>28.499</c:v>
                </c:pt>
                <c:pt idx="4">
                  <c:v>28.505</c:v>
                </c:pt>
                <c:pt idx="5">
                  <c:v>31.802</c:v>
                </c:pt>
                <c:pt idx="6">
                  <c:v>31.92</c:v>
                </c:pt>
                <c:pt idx="7">
                  <c:v>36.137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8.4235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Wavy Hair</c:v>
                </c:pt>
                <c:pt idx="4">
                  <c:v>Straight Hair</c:v>
                </c:pt>
                <c:pt idx="5">
                  <c:v>All Hair Types</c:v>
                </c:pt>
                <c:pt idx="6">
                  <c:v>Curly Hair</c:v>
                </c:pt>
                <c:pt idx="7">
                  <c:v>Coily Hair</c:v>
                </c:pt>
              </c:strCache>
            </c:strRef>
          </c:cat>
          <c:val>
            <c:numRef>
              <c:f>Sheet1!$B$2:$B$9</c:f>
              <c:numCache>
                <c:formatCode>General</c:formatCode>
                <c:ptCount val="8"/>
                <c:pt idx="3">
                  <c:v>38.732</c:v>
                </c:pt>
                <c:pt idx="4">
                  <c:v>40.806</c:v>
                </c:pt>
                <c:pt idx="5">
                  <c:v>42.576</c:v>
                </c:pt>
                <c:pt idx="6">
                  <c:v>42.952</c:v>
                </c:pt>
                <c:pt idx="7">
                  <c:v>43.542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8.34628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49.980000000000004</c:v>
                </c:pt>
                <c:pt idx="5">
                  <c:v>52.046</c:v>
                </c:pt>
                <c:pt idx="6">
                  <c:v>52.26</c:v>
                </c:pt>
                <c:pt idx="7">
                  <c:v>54.321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2.79014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208.608</c:v>
                </c:pt>
                <c:pt idx="2">
                  <c:v>226.939</c:v>
                </c:pt>
                <c:pt idx="3">
                  <c:v>241.625</c:v>
                </c:pt>
                <c:pt idx="4">
                  <c:v>270.389</c:v>
                </c:pt>
                <c:pt idx="5">
                  <c:v>311.53200000000004</c:v>
                </c:pt>
                <c:pt idx="6">
                  <c:v>360.92</c:v>
                </c:pt>
                <c:pt idx="7">
                  <c:v>398.11</c:v>
                </c:pt>
                <c:pt idx="8">
                  <c:v>453.759</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208.608</c:v>
                </c:pt>
                <c:pt idx="1">
                  <c:v>18.330999999999996</c:v>
                </c:pt>
                <c:pt idx="2">
                  <c:v>14.686000000000002</c:v>
                </c:pt>
                <c:pt idx="3">
                  <c:v>28.763999999999996</c:v>
                </c:pt>
                <c:pt idx="4">
                  <c:v>41.143</c:v>
                </c:pt>
                <c:pt idx="5">
                  <c:v>49.388</c:v>
                </c:pt>
                <c:pt idx="6">
                  <c:v>37.19</c:v>
                </c:pt>
                <c:pt idx="7">
                  <c:v>55.64900000000001</c:v>
                </c:pt>
                <c:pt idx="8">
                  <c:v>51.235</c:v>
                </c:pt>
                <c:pt idx="9">
                  <c:v>504.994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18.330999999999996</c:v>
                </c:pt>
                <c:pt idx="2">
                  <c:v>33.016999999999996</c:v>
                </c:pt>
                <c:pt idx="3">
                  <c:v>61.78099999999999</c:v>
                </c:pt>
                <c:pt idx="4">
                  <c:v>102.92399999999999</c:v>
                </c:pt>
                <c:pt idx="5">
                  <c:v>152.31199999999998</c:v>
                </c:pt>
                <c:pt idx="6">
                  <c:v>189.50199999999998</c:v>
                </c:pt>
                <c:pt idx="7">
                  <c:v>245.15099999999998</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18.330999999999996</c:v>
                </c:pt>
                <c:pt idx="1">
                  <c:v>14.686000000000002</c:v>
                </c:pt>
                <c:pt idx="2">
                  <c:v>28.763999999999996</c:v>
                </c:pt>
                <c:pt idx="3">
                  <c:v>41.143</c:v>
                </c:pt>
                <c:pt idx="4">
                  <c:v>49.388</c:v>
                </c:pt>
                <c:pt idx="5">
                  <c:v>37.19</c:v>
                </c:pt>
                <c:pt idx="6">
                  <c:v>55.64900000000001</c:v>
                </c:pt>
                <c:pt idx="7">
                  <c:v>51.235</c:v>
                </c:pt>
                <c:pt idx="8">
                  <c:v>296.386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208.60800000000003</c:v>
                </c:pt>
                <c:pt idx="2">
                  <c:v>270.33200000000005</c:v>
                </c:pt>
                <c:pt idx="3">
                  <c:v>340.28900000000004</c:v>
                </c:pt>
                <c:pt idx="4">
                  <c:v>405.0880000000001</c:v>
                </c:pt>
                <c:pt idx="5">
                  <c:v>461.1930000000001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208.60800000000003</c:v>
                </c:pt>
                <c:pt idx="1">
                  <c:v>61.724000000000004</c:v>
                </c:pt>
                <c:pt idx="2">
                  <c:v>69.957</c:v>
                </c:pt>
                <c:pt idx="3">
                  <c:v>64.799</c:v>
                </c:pt>
                <c:pt idx="4">
                  <c:v>56.105</c:v>
                </c:pt>
                <c:pt idx="5">
                  <c:v>43.803000000000004</c:v>
                </c:pt>
                <c:pt idx="6">
                  <c:v>504.996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61.724000000000004</c:v>
                </c:pt>
                <c:pt idx="2">
                  <c:v>131.68099999999998</c:v>
                </c:pt>
                <c:pt idx="3">
                  <c:v>196.48</c:v>
                </c:pt>
                <c:pt idx="4">
                  <c:v>252.58499999999998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61.724000000000004</c:v>
                </c:pt>
                <c:pt idx="1">
                  <c:v>69.957</c:v>
                </c:pt>
                <c:pt idx="2">
                  <c:v>64.799</c:v>
                </c:pt>
                <c:pt idx="3">
                  <c:v>56.105</c:v>
                </c:pt>
                <c:pt idx="4">
                  <c:v>43.803000000000004</c:v>
                </c:pt>
                <c:pt idx="5">
                  <c:v>296.388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208.607</c:v>
                </c:pt>
                <c:pt idx="2">
                  <c:v>300.787</c:v>
                </c:pt>
                <c:pt idx="3">
                  <c:v>387.871</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208.607</c:v>
                </c:pt>
                <c:pt idx="1">
                  <c:v>92.17999999999999</c:v>
                </c:pt>
                <c:pt idx="2">
                  <c:v>87.08399999999999</c:v>
                </c:pt>
                <c:pt idx="3">
                  <c:v>117.125</c:v>
                </c:pt>
                <c:pt idx="4">
                  <c:v>504.996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92.17999999999999</c:v>
                </c:pt>
                <c:pt idx="2">
                  <c:v>179.26399999999998</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92.17999999999999</c:v>
                </c:pt>
                <c:pt idx="1">
                  <c:v>87.08399999999999</c:v>
                </c:pt>
                <c:pt idx="2">
                  <c:v>117.125</c:v>
                </c:pt>
                <c:pt idx="3">
                  <c:v>296.389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208.607</c:v>
                </c:pt>
                <c:pt idx="2">
                  <c:v>267.413</c:v>
                </c:pt>
                <c:pt idx="3">
                  <c:v>312.76</c:v>
                </c:pt>
                <c:pt idx="4">
                  <c:v>359.429</c:v>
                </c:pt>
                <c:pt idx="5">
                  <c:v>397.29099999999994</c:v>
                </c:pt>
                <c:pt idx="6">
                  <c:v>464.972</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208.607</c:v>
                </c:pt>
                <c:pt idx="1">
                  <c:v>58.806</c:v>
                </c:pt>
                <c:pt idx="2">
                  <c:v>45.34700000000001</c:v>
                </c:pt>
                <c:pt idx="3">
                  <c:v>46.669000000000004</c:v>
                </c:pt>
                <c:pt idx="4">
                  <c:v>37.861999999999995</c:v>
                </c:pt>
                <c:pt idx="5">
                  <c:v>67.68100000000001</c:v>
                </c:pt>
                <c:pt idx="6">
                  <c:v>40.024</c:v>
                </c:pt>
                <c:pt idx="7">
                  <c:v>504.996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58.806</c:v>
                </c:pt>
                <c:pt idx="2">
                  <c:v>104.153</c:v>
                </c:pt>
                <c:pt idx="3">
                  <c:v>150.822</c:v>
                </c:pt>
                <c:pt idx="4">
                  <c:v>188.684</c:v>
                </c:pt>
                <c:pt idx="5">
                  <c:v>256.365</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58.806</c:v>
                </c:pt>
                <c:pt idx="1">
                  <c:v>45.34700000000001</c:v>
                </c:pt>
                <c:pt idx="2">
                  <c:v>46.669000000000004</c:v>
                </c:pt>
                <c:pt idx="3">
                  <c:v>37.861999999999995</c:v>
                </c:pt>
                <c:pt idx="4">
                  <c:v>67.68100000000001</c:v>
                </c:pt>
                <c:pt idx="5">
                  <c:v>40.024</c:v>
                </c:pt>
                <c:pt idx="6">
                  <c:v>296.389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208.608</c:v>
                </c:pt>
                <c:pt idx="2">
                  <c:v>242.57</c:v>
                </c:pt>
                <c:pt idx="3">
                  <c:v>306.566</c:v>
                </c:pt>
                <c:pt idx="4">
                  <c:v>342.60299999999995</c:v>
                </c:pt>
                <c:pt idx="5">
                  <c:v>382.042</c:v>
                </c:pt>
                <c:pt idx="6">
                  <c:v>431.22099999999995</c:v>
                </c:pt>
                <c:pt idx="7">
                  <c:v>458.96999999999997</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208.608</c:v>
                </c:pt>
                <c:pt idx="1">
                  <c:v>33.962</c:v>
                </c:pt>
                <c:pt idx="2">
                  <c:v>63.995999999999995</c:v>
                </c:pt>
                <c:pt idx="3">
                  <c:v>36.037000000000006</c:v>
                </c:pt>
                <c:pt idx="4">
                  <c:v>39.43900000000001</c:v>
                </c:pt>
                <c:pt idx="5">
                  <c:v>49.178999999999995</c:v>
                </c:pt>
                <c:pt idx="6">
                  <c:v>27.749</c:v>
                </c:pt>
                <c:pt idx="7">
                  <c:v>46.02600000000001</c:v>
                </c:pt>
                <c:pt idx="8">
                  <c:v>504.996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33.962</c:v>
                </c:pt>
                <c:pt idx="2">
                  <c:v>97.958</c:v>
                </c:pt>
                <c:pt idx="3">
                  <c:v>133.995</c:v>
                </c:pt>
                <c:pt idx="4">
                  <c:v>173.43400000000003</c:v>
                </c:pt>
                <c:pt idx="5">
                  <c:v>222.61300000000003</c:v>
                </c:pt>
                <c:pt idx="6">
                  <c:v>250.36200000000002</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33.962</c:v>
                </c:pt>
                <c:pt idx="1">
                  <c:v>63.995999999999995</c:v>
                </c:pt>
                <c:pt idx="2">
                  <c:v>36.037000000000006</c:v>
                </c:pt>
                <c:pt idx="3">
                  <c:v>39.43900000000001</c:v>
                </c:pt>
                <c:pt idx="4">
                  <c:v>49.178999999999995</c:v>
                </c:pt>
                <c:pt idx="5">
                  <c:v>27.749</c:v>
                </c:pt>
                <c:pt idx="6">
                  <c:v>46.02600000000001</c:v>
                </c:pt>
                <c:pt idx="7">
                  <c:v>296.38800000000003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208.60799999999998</c:v>
                </c:pt>
                <c:pt idx="2">
                  <c:v>256.735</c:v>
                </c:pt>
                <c:pt idx="3">
                  <c:v>310.564</c:v>
                </c:pt>
                <c:pt idx="4">
                  <c:v>377.745</c:v>
                </c:pt>
                <c:pt idx="5">
                  <c:v>450.097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208.60799999999998</c:v>
                </c:pt>
                <c:pt idx="1">
                  <c:v>48.12700000000001</c:v>
                </c:pt>
                <c:pt idx="2">
                  <c:v>53.82900000000001</c:v>
                </c:pt>
                <c:pt idx="3">
                  <c:v>67.181</c:v>
                </c:pt>
                <c:pt idx="4">
                  <c:v>72.352</c:v>
                </c:pt>
                <c:pt idx="5">
                  <c:v>54.898999999999994</c:v>
                </c:pt>
                <c:pt idx="6">
                  <c:v>504.996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48.12700000000001</c:v>
                </c:pt>
                <c:pt idx="2">
                  <c:v>101.95600000000002</c:v>
                </c:pt>
                <c:pt idx="3">
                  <c:v>169.137</c:v>
                </c:pt>
                <c:pt idx="4">
                  <c:v>241.489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48.12700000000001</c:v>
                </c:pt>
                <c:pt idx="1">
                  <c:v>53.82900000000001</c:v>
                </c:pt>
                <c:pt idx="2">
                  <c:v>67.181</c:v>
                </c:pt>
                <c:pt idx="3">
                  <c:v>72.352</c:v>
                </c:pt>
                <c:pt idx="4">
                  <c:v>54.898999999999994</c:v>
                </c:pt>
                <c:pt idx="5">
                  <c:v>296.388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208.60699999999997</c:v>
                </c:pt>
                <c:pt idx="2">
                  <c:v>279.518</c:v>
                </c:pt>
                <c:pt idx="3">
                  <c:v>355.731</c:v>
                </c:pt>
                <c:pt idx="4">
                  <c:v>424.247</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208.60699999999997</c:v>
                </c:pt>
                <c:pt idx="1">
                  <c:v>70.911</c:v>
                </c:pt>
                <c:pt idx="2">
                  <c:v>76.21300000000002</c:v>
                </c:pt>
                <c:pt idx="3">
                  <c:v>68.51600000000002</c:v>
                </c:pt>
                <c:pt idx="4">
                  <c:v>80.748</c:v>
                </c:pt>
                <c:pt idx="5">
                  <c:v>504.99500000000006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70.911</c:v>
                </c:pt>
                <c:pt idx="2">
                  <c:v>147.12400000000002</c:v>
                </c:pt>
                <c:pt idx="3">
                  <c:v>215.64000000000004</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70.911</c:v>
                </c:pt>
                <c:pt idx="1">
                  <c:v>76.21300000000002</c:v>
                </c:pt>
                <c:pt idx="2">
                  <c:v>68.51600000000002</c:v>
                </c:pt>
                <c:pt idx="3">
                  <c:v>80.748</c:v>
                </c:pt>
                <c:pt idx="4">
                  <c:v>296.38800000000003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26.29</c:v>
                </c:pt>
                <c:pt idx="1">
                  <c:v>27.130000000000003</c:v>
                </c:pt>
                <c:pt idx="2">
                  <c:v>27.996000000000002</c:v>
                </c:pt>
                <c:pt idx="3">
                  <c:v>28.881999999999998</c:v>
                </c:pt>
                <c:pt idx="4">
                  <c:v>29.814</c:v>
                </c:pt>
                <c:pt idx="5">
                  <c:v>30.839</c:v>
                </c:pt>
                <c:pt idx="6">
                  <c:v>31.97</c:v>
                </c:pt>
                <c:pt idx="7">
                  <c:v>33.234</c:v>
                </c:pt>
                <c:pt idx="8">
                  <c:v>34.627</c:v>
                </c:pt>
                <c:pt idx="9">
                  <c:v>36.157</c:v>
                </c:pt>
                <c:pt idx="10">
                  <c:v>37.798</c:v>
                </c:pt>
                <c:pt idx="11">
                  <c:v>39.537</c:v>
                </c:pt>
                <c:pt idx="12">
                  <c:v>41.356</c:v>
                </c:pt>
                <c:pt idx="13">
                  <c:v>43.241</c:v>
                </c:pt>
                <c:pt idx="14">
                  <c:v>45.162</c:v>
                </c:pt>
                <c:pt idx="15">
                  <c:v>47.123</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Singapore</c:v>
                </c:pt>
              </c:strCache>
            </c:strRef>
          </c:cat>
          <c:val>
            <c:numRef>
              <c:f>Sheet1!$B$2:$B$4</c:f>
              <c:numCache>
                <c:formatCode>General</c:formatCode>
                <c:ptCount val="3"/>
                <c:pt idx="0">
                  <c:v>0.05245930274733035</c:v>
                </c:pt>
                <c:pt idx="1">
                  <c:v>0.06654594628969646</c:v>
                </c:pt>
                <c:pt idx="2">
                  <c:v>0.04330974622897932</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370274910902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30.839</c:v>
                </c:pt>
                <c:pt idx="2">
                  <c:v>31.97</c:v>
                </c:pt>
                <c:pt idx="3">
                  <c:v>33.234</c:v>
                </c:pt>
                <c:pt idx="4">
                  <c:v>34.627</c:v>
                </c:pt>
                <c:pt idx="5">
                  <c:v>36.157</c:v>
                </c:pt>
                <c:pt idx="6">
                  <c:v>37.798</c:v>
                </c:pt>
                <c:pt idx="7">
                  <c:v>39.537</c:v>
                </c:pt>
                <c:pt idx="8">
                  <c:v>41.356</c:v>
                </c:pt>
                <c:pt idx="9">
                  <c:v>43.241</c:v>
                </c:pt>
                <c:pt idx="10">
                  <c:v>45.162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30.839</c:v>
                </c:pt>
                <c:pt idx="1">
                  <c:v>1.1310000000000002</c:v>
                </c:pt>
                <c:pt idx="2">
                  <c:v>1.264000000000003</c:v>
                </c:pt>
                <c:pt idx="3">
                  <c:v>1.3930000000000007</c:v>
                </c:pt>
                <c:pt idx="4">
                  <c:v>1.529999999999994</c:v>
                </c:pt>
                <c:pt idx="5">
                  <c:v>1.6410000000000053</c:v>
                </c:pt>
                <c:pt idx="6">
                  <c:v>1.7389999999999972</c:v>
                </c:pt>
                <c:pt idx="7">
                  <c:v>1.8190000000000026</c:v>
                </c:pt>
                <c:pt idx="8">
                  <c:v>1.884999999999998</c:v>
                </c:pt>
                <c:pt idx="9">
                  <c:v>1.9209999999999994</c:v>
                </c:pt>
                <c:pt idx="10">
                  <c:v>1.9609999999999985</c:v>
                </c:pt>
                <c:pt idx="11">
                  <c:v>47.123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Singapore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2.552787462791337</c:v>
                </c:pt>
                <c:pt idx="1">
                  <c:v>0.38981315917406484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97.44721253720866</c:v>
                </c:pt>
                <c:pt idx="1">
                  <c:v>99.61018684082593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82.14099999999999</c:v>
                </c:pt>
                <c:pt idx="1">
                  <c:v>85.225</c:v>
                </c:pt>
                <c:pt idx="2">
                  <c:v>88.43900000000001</c:v>
                </c:pt>
                <c:pt idx="3">
                  <c:v>91.844</c:v>
                </c:pt>
                <c:pt idx="4">
                  <c:v>95.465</c:v>
                </c:pt>
                <c:pt idx="5">
                  <c:v>99.919</c:v>
                </c:pt>
                <c:pt idx="6">
                  <c:v>104.94300000000001</c:v>
                </c:pt>
                <c:pt idx="7">
                  <c:v>110.605</c:v>
                </c:pt>
                <c:pt idx="8">
                  <c:v>116.971</c:v>
                </c:pt>
                <c:pt idx="9">
                  <c:v>124.09400000000001</c:v>
                </c:pt>
                <c:pt idx="10">
                  <c:v>131.934</c:v>
                </c:pt>
                <c:pt idx="11">
                  <c:v>140.486</c:v>
                </c:pt>
                <c:pt idx="12">
                  <c:v>149.678</c:v>
                </c:pt>
                <c:pt idx="13">
                  <c:v>159.537</c:v>
                </c:pt>
                <c:pt idx="14">
                  <c:v>170.023</c:v>
                </c:pt>
                <c:pt idx="15">
                  <c:v>181.167</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Singapore</c:v>
                </c:pt>
              </c:strCache>
            </c:strRef>
          </c:cat>
          <c:val>
            <c:numRef>
              <c:f>Sheet1!$B$2:$B$4</c:f>
              <c:numCache>
                <c:formatCode>General</c:formatCode>
                <c:ptCount val="3"/>
                <c:pt idx="0">
                  <c:v>0.06658666629421717</c:v>
                </c:pt>
                <c:pt idx="1">
                  <c:v>0.07853749693674184</c:v>
                </c:pt>
                <c:pt idx="2">
                  <c:v>0.06131206516053256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60256208646014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99.919</c:v>
                </c:pt>
                <c:pt idx="2">
                  <c:v>104.94300000000001</c:v>
                </c:pt>
                <c:pt idx="3">
                  <c:v>110.605</c:v>
                </c:pt>
                <c:pt idx="4">
                  <c:v>116.971</c:v>
                </c:pt>
                <c:pt idx="5">
                  <c:v>124.09400000000001</c:v>
                </c:pt>
                <c:pt idx="6">
                  <c:v>131.934</c:v>
                </c:pt>
                <c:pt idx="7">
                  <c:v>140.486</c:v>
                </c:pt>
                <c:pt idx="8">
                  <c:v>149.678</c:v>
                </c:pt>
                <c:pt idx="9">
                  <c:v>159.537</c:v>
                </c:pt>
                <c:pt idx="10">
                  <c:v>170.023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99.919</c:v>
                </c:pt>
                <c:pt idx="1">
                  <c:v>5.024000000000015</c:v>
                </c:pt>
                <c:pt idx="2">
                  <c:v>5.661999999999992</c:v>
                </c:pt>
                <c:pt idx="3">
                  <c:v>6.366</c:v>
                </c:pt>
                <c:pt idx="4">
                  <c:v>7.123000000000005</c:v>
                </c:pt>
                <c:pt idx="5">
                  <c:v>7.839999999999989</c:v>
                </c:pt>
                <c:pt idx="6">
                  <c:v>8.551999999999992</c:v>
                </c:pt>
                <c:pt idx="7">
                  <c:v>9.192000000000007</c:v>
                </c:pt>
                <c:pt idx="8">
                  <c:v>9.859000000000009</c:v>
                </c:pt>
                <c:pt idx="9">
                  <c:v>10.48599999999999</c:v>
                </c:pt>
                <c:pt idx="10">
                  <c:v>11.144000000000005</c:v>
                </c:pt>
                <c:pt idx="11">
                  <c:v>181.167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Singapore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5.642253174363857</c:v>
                </c:pt>
                <c:pt idx="1">
                  <c:v>0.6203695333423401</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94.35774682563614</c:v>
                </c:pt>
                <c:pt idx="1">
                  <c:v>99.37963046665766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Waxes, Clays, Pastes…</c:v>
                </c:pt>
                <c:pt idx="7">
                  <c:v>Serums and Oils</c:v>
                </c:pt>
              </c:strCache>
            </c:strRef>
          </c:cat>
          <c:val>
            <c:numRef>
              <c:f>Sheet1!$B$2:$B$9</c:f>
              <c:numCache>
                <c:formatCode>General</c:formatCode>
                <c:ptCount val="8"/>
                <c:pt idx="0">
                  <c:v>6.7829999999999995</c:v>
                </c:pt>
                <c:pt idx="1">
                  <c:v>8.316</c:v>
                </c:pt>
                <c:pt idx="2">
                  <c:v>10.768</c:v>
                </c:pt>
                <c:pt idx="3">
                  <c:v>11.636</c:v>
                </c:pt>
                <c:pt idx="4">
                  <c:v>12.272</c:v>
                </c:pt>
                <c:pt idx="5">
                  <c:v>12.312000000000001</c:v>
                </c:pt>
                <c:pt idx="6">
                  <c:v>15.179</c:v>
                </c:pt>
                <c:pt idx="7">
                  <c:v>22.653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0.355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17.678</c:v>
                </c:pt>
                <c:pt idx="4">
                  <c:v>18.993</c:v>
                </c:pt>
                <c:pt idx="5">
                  <c:v>20.186</c:v>
                </c:pt>
                <c:pt idx="6">
                  <c:v>20.894</c:v>
                </c:pt>
                <c:pt idx="7">
                  <c:v>22.168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9.7051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32.62</c:v>
                </c:pt>
                <c:pt idx="6">
                  <c:v>33.205</c:v>
                </c:pt>
                <c:pt idx="7">
                  <c:v>34.095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5.687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Mass Retail</c:v>
                </c:pt>
                <c:pt idx="6">
                  <c:v>Online Marketplaces</c:v>
                </c:pt>
                <c:pt idx="7">
                  <c:v>Salon and Professiona…</c:v>
                </c:pt>
              </c:strCache>
            </c:strRef>
          </c:cat>
          <c:val>
            <c:numRef>
              <c:f>Sheet1!$B$2:$B$9</c:f>
              <c:numCache>
                <c:formatCode>General</c:formatCode>
                <c:ptCount val="8"/>
                <c:pt idx="2">
                  <c:v>13.342</c:v>
                </c:pt>
                <c:pt idx="3">
                  <c:v>13.511</c:v>
                </c:pt>
                <c:pt idx="4">
                  <c:v>16.406</c:v>
                </c:pt>
                <c:pt idx="5">
                  <c:v>16.957</c:v>
                </c:pt>
                <c:pt idx="6">
                  <c:v>19.515</c:v>
                </c:pt>
                <c:pt idx="7">
                  <c:v>20.189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7.0532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Curl Definition</c:v>
                </c:pt>
                <c:pt idx="5">
                  <c:v>Hold and Shape</c:v>
                </c:pt>
                <c:pt idx="6">
                  <c:v>Heat Styling Support</c:v>
                </c:pt>
                <c:pt idx="7">
                  <c:v>Smoothing and Frizz C…</c:v>
                </c:pt>
              </c:strCache>
            </c:strRef>
          </c:cat>
          <c:val>
            <c:numRef>
              <c:f>Sheet1!$B$2:$B$9</c:f>
              <c:numCache>
                <c:formatCode>General</c:formatCode>
                <c:ptCount val="8"/>
                <c:pt idx="1">
                  <c:v>11.21</c:v>
                </c:pt>
                <c:pt idx="2">
                  <c:v>13.203</c:v>
                </c:pt>
                <c:pt idx="3">
                  <c:v>13.23</c:v>
                </c:pt>
                <c:pt idx="4">
                  <c:v>13.311</c:v>
                </c:pt>
                <c:pt idx="5">
                  <c:v>14.95</c:v>
                </c:pt>
                <c:pt idx="6">
                  <c:v>16.706</c:v>
                </c:pt>
                <c:pt idx="7">
                  <c:v>17.309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3.194060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17.984</c:v>
                </c:pt>
                <c:pt idx="4">
                  <c:v>19.0</c:v>
                </c:pt>
                <c:pt idx="5">
                  <c:v>20.197</c:v>
                </c:pt>
                <c:pt idx="6">
                  <c:v>20.984</c:v>
                </c:pt>
                <c:pt idx="7">
                  <c:v>21.754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9.150360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23.991999999999997</c:v>
                </c:pt>
                <c:pt idx="5">
                  <c:v>24.849</c:v>
                </c:pt>
                <c:pt idx="6">
                  <c:v>25.128999999999998</c:v>
                </c:pt>
                <c:pt idx="7">
                  <c:v>25.95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4.77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99.919</c:v>
                </c:pt>
                <c:pt idx="2">
                  <c:v>105.033</c:v>
                </c:pt>
                <c:pt idx="3">
                  <c:v>108.486</c:v>
                </c:pt>
                <c:pt idx="4">
                  <c:v>113.438</c:v>
                </c:pt>
                <c:pt idx="5">
                  <c:v>124.285</c:v>
                </c:pt>
                <c:pt idx="6">
                  <c:v>136.055</c:v>
                </c:pt>
                <c:pt idx="7">
                  <c:v>145.423</c:v>
                </c:pt>
                <c:pt idx="8">
                  <c:v>166.614</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99.919</c:v>
                </c:pt>
                <c:pt idx="1">
                  <c:v>5.114000000000001</c:v>
                </c:pt>
                <c:pt idx="2">
                  <c:v>3.453000000000001</c:v>
                </c:pt>
                <c:pt idx="3">
                  <c:v>4.952</c:v>
                </c:pt>
                <c:pt idx="4">
                  <c:v>10.847000000000001</c:v>
                </c:pt>
                <c:pt idx="5">
                  <c:v>11.770000000000001</c:v>
                </c:pt>
                <c:pt idx="6">
                  <c:v>9.367999999999999</c:v>
                </c:pt>
                <c:pt idx="7">
                  <c:v>21.191000000000003</c:v>
                </c:pt>
                <c:pt idx="8">
                  <c:v>14.552999999999999</c:v>
                </c:pt>
                <c:pt idx="9">
                  <c:v>181.167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5.114000000000001</c:v>
                </c:pt>
                <c:pt idx="2">
                  <c:v>8.567000000000002</c:v>
                </c:pt>
                <c:pt idx="3">
                  <c:v>13.519000000000002</c:v>
                </c:pt>
                <c:pt idx="4">
                  <c:v>24.366000000000003</c:v>
                </c:pt>
                <c:pt idx="5">
                  <c:v>36.136</c:v>
                </c:pt>
                <c:pt idx="6">
                  <c:v>45.504000000000005</c:v>
                </c:pt>
                <c:pt idx="7">
                  <c:v>66.69500000000001</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5.114000000000001</c:v>
                </c:pt>
                <c:pt idx="1">
                  <c:v>3.453000000000001</c:v>
                </c:pt>
                <c:pt idx="2">
                  <c:v>4.952</c:v>
                </c:pt>
                <c:pt idx="3">
                  <c:v>10.847000000000001</c:v>
                </c:pt>
                <c:pt idx="4">
                  <c:v>11.770000000000001</c:v>
                </c:pt>
                <c:pt idx="5">
                  <c:v>9.367999999999999</c:v>
                </c:pt>
                <c:pt idx="6">
                  <c:v>21.191000000000003</c:v>
                </c:pt>
                <c:pt idx="7">
                  <c:v>14.552999999999999</c:v>
                </c:pt>
                <c:pt idx="8">
                  <c:v>81.248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99.919</c:v>
                </c:pt>
                <c:pt idx="2">
                  <c:v>117.26</c:v>
                </c:pt>
                <c:pt idx="3">
                  <c:v>137.369</c:v>
                </c:pt>
                <c:pt idx="4">
                  <c:v>155.083</c:v>
                </c:pt>
                <c:pt idx="5">
                  <c:v>169.96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99.919</c:v>
                </c:pt>
                <c:pt idx="1">
                  <c:v>17.341000000000005</c:v>
                </c:pt>
                <c:pt idx="2">
                  <c:v>20.109</c:v>
                </c:pt>
                <c:pt idx="3">
                  <c:v>17.714</c:v>
                </c:pt>
                <c:pt idx="4">
                  <c:v>14.877000000000002</c:v>
                </c:pt>
                <c:pt idx="5">
                  <c:v>11.207999999999998</c:v>
                </c:pt>
                <c:pt idx="6">
                  <c:v>181.16799999999998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17.341000000000005</c:v>
                </c:pt>
                <c:pt idx="2">
                  <c:v>37.45</c:v>
                </c:pt>
                <c:pt idx="3">
                  <c:v>55.164</c:v>
                </c:pt>
                <c:pt idx="4">
                  <c:v>70.041</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17.341000000000005</c:v>
                </c:pt>
                <c:pt idx="1">
                  <c:v>20.109</c:v>
                </c:pt>
                <c:pt idx="2">
                  <c:v>17.714</c:v>
                </c:pt>
                <c:pt idx="3">
                  <c:v>14.877000000000002</c:v>
                </c:pt>
                <c:pt idx="4">
                  <c:v>11.207999999999998</c:v>
                </c:pt>
                <c:pt idx="5">
                  <c:v>81.249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99.91999999999999</c:v>
                </c:pt>
                <c:pt idx="2">
                  <c:v>126.672</c:v>
                </c:pt>
                <c:pt idx="3">
                  <c:v>151.159</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99.91999999999999</c:v>
                </c:pt>
                <c:pt idx="1">
                  <c:v>26.752000000000002</c:v>
                </c:pt>
                <c:pt idx="2">
                  <c:v>24.487000000000002</c:v>
                </c:pt>
                <c:pt idx="3">
                  <c:v>30.009</c:v>
                </c:pt>
                <c:pt idx="4">
                  <c:v>181.168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26.752000000000002</c:v>
                </c:pt>
                <c:pt idx="2">
                  <c:v>51.239000000000004</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26.752000000000002</c:v>
                </c:pt>
                <c:pt idx="1">
                  <c:v>24.487000000000002</c:v>
                </c:pt>
                <c:pt idx="2">
                  <c:v>30.009</c:v>
                </c:pt>
                <c:pt idx="3">
                  <c:v>81.248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99.92</c:v>
                </c:pt>
                <c:pt idx="2">
                  <c:v>109.936</c:v>
                </c:pt>
                <c:pt idx="3">
                  <c:v>123.68</c:v>
                </c:pt>
                <c:pt idx="4">
                  <c:v>138.93200000000002</c:v>
                </c:pt>
                <c:pt idx="5">
                  <c:v>148.049</c:v>
                </c:pt>
                <c:pt idx="6">
                  <c:v>168.386</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99.92</c:v>
                </c:pt>
                <c:pt idx="1">
                  <c:v>10.015999999999998</c:v>
                </c:pt>
                <c:pt idx="2">
                  <c:v>13.744</c:v>
                </c:pt>
                <c:pt idx="3">
                  <c:v>15.252000000000002</c:v>
                </c:pt>
                <c:pt idx="4">
                  <c:v>9.117</c:v>
                </c:pt>
                <c:pt idx="5">
                  <c:v>20.336999999999996</c:v>
                </c:pt>
                <c:pt idx="6">
                  <c:v>12.781999999999998</c:v>
                </c:pt>
                <c:pt idx="7">
                  <c:v>181.16799999999998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10.015999999999998</c:v>
                </c:pt>
                <c:pt idx="2">
                  <c:v>23.759999999999998</c:v>
                </c:pt>
                <c:pt idx="3">
                  <c:v>39.012</c:v>
                </c:pt>
                <c:pt idx="4">
                  <c:v>48.129000000000005</c:v>
                </c:pt>
                <c:pt idx="5">
                  <c:v>68.46600000000001</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10.015999999999998</c:v>
                </c:pt>
                <c:pt idx="1">
                  <c:v>13.744</c:v>
                </c:pt>
                <c:pt idx="2">
                  <c:v>15.252000000000002</c:v>
                </c:pt>
                <c:pt idx="3">
                  <c:v>9.117</c:v>
                </c:pt>
                <c:pt idx="4">
                  <c:v>20.336999999999996</c:v>
                </c:pt>
                <c:pt idx="5">
                  <c:v>12.781999999999998</c:v>
                </c:pt>
                <c:pt idx="6">
                  <c:v>81.248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99.919</c:v>
                </c:pt>
                <c:pt idx="2">
                  <c:v>108.062</c:v>
                </c:pt>
                <c:pt idx="3">
                  <c:v>122.467</c:v>
                </c:pt>
                <c:pt idx="4">
                  <c:v>131.724</c:v>
                </c:pt>
                <c:pt idx="5">
                  <c:v>142.17499999999998</c:v>
                </c:pt>
                <c:pt idx="6">
                  <c:v>157.771</c:v>
                </c:pt>
                <c:pt idx="7">
                  <c:v>164.79199999999997</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99.919</c:v>
                </c:pt>
                <c:pt idx="1">
                  <c:v>8.143</c:v>
                </c:pt>
                <c:pt idx="2">
                  <c:v>14.405000000000001</c:v>
                </c:pt>
                <c:pt idx="3">
                  <c:v>9.257000000000001</c:v>
                </c:pt>
                <c:pt idx="4">
                  <c:v>10.451</c:v>
                </c:pt>
                <c:pt idx="5">
                  <c:v>15.596</c:v>
                </c:pt>
                <c:pt idx="6">
                  <c:v>7.021000000000001</c:v>
                </c:pt>
                <c:pt idx="7">
                  <c:v>16.376</c:v>
                </c:pt>
                <c:pt idx="8">
                  <c:v>181.168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8.143</c:v>
                </c:pt>
                <c:pt idx="2">
                  <c:v>22.548000000000002</c:v>
                </c:pt>
                <c:pt idx="3">
                  <c:v>31.805000000000003</c:v>
                </c:pt>
                <c:pt idx="4">
                  <c:v>42.256</c:v>
                </c:pt>
                <c:pt idx="5">
                  <c:v>57.852000000000004</c:v>
                </c:pt>
                <c:pt idx="6">
                  <c:v>64.873</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8.143</c:v>
                </c:pt>
                <c:pt idx="1">
                  <c:v>14.405000000000001</c:v>
                </c:pt>
                <c:pt idx="2">
                  <c:v>9.257000000000001</c:v>
                </c:pt>
                <c:pt idx="3">
                  <c:v>10.451</c:v>
                </c:pt>
                <c:pt idx="4">
                  <c:v>15.596</c:v>
                </c:pt>
                <c:pt idx="5">
                  <c:v>7.021000000000001</c:v>
                </c:pt>
                <c:pt idx="6">
                  <c:v>16.376</c:v>
                </c:pt>
                <c:pt idx="7">
                  <c:v>81.24900000000001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99.919</c:v>
                </c:pt>
                <c:pt idx="2">
                  <c:v>113.39099999999999</c:v>
                </c:pt>
                <c:pt idx="3">
                  <c:v>129.69299999999998</c:v>
                </c:pt>
                <c:pt idx="4">
                  <c:v>147.253</c:v>
                </c:pt>
                <c:pt idx="5">
                  <c:v>165.37699999999998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99.919</c:v>
                </c:pt>
                <c:pt idx="1">
                  <c:v>13.472000000000001</c:v>
                </c:pt>
                <c:pt idx="2">
                  <c:v>16.302000000000003</c:v>
                </c:pt>
                <c:pt idx="3">
                  <c:v>17.560000000000002</c:v>
                </c:pt>
                <c:pt idx="4">
                  <c:v>18.123999999999995</c:v>
                </c:pt>
                <c:pt idx="5">
                  <c:v>15.789999999999996</c:v>
                </c:pt>
                <c:pt idx="6">
                  <c:v>181.16700000000003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13.472000000000001</c:v>
                </c:pt>
                <c:pt idx="2">
                  <c:v>29.774000000000004</c:v>
                </c:pt>
                <c:pt idx="3">
                  <c:v>47.334</c:v>
                </c:pt>
                <c:pt idx="4">
                  <c:v>65.458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13.472000000000001</c:v>
                </c:pt>
                <c:pt idx="1">
                  <c:v>16.302000000000003</c:v>
                </c:pt>
                <c:pt idx="2">
                  <c:v>17.560000000000002</c:v>
                </c:pt>
                <c:pt idx="3">
                  <c:v>18.123999999999995</c:v>
                </c:pt>
                <c:pt idx="4">
                  <c:v>15.789999999999996</c:v>
                </c:pt>
                <c:pt idx="5">
                  <c:v>81.24799999999999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99.91999999999999</c:v>
                </c:pt>
                <c:pt idx="2">
                  <c:v>117.72999999999999</c:v>
                </c:pt>
                <c:pt idx="3">
                  <c:v>139.954</c:v>
                </c:pt>
                <c:pt idx="4">
                  <c:v>157.71200000000002</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99.91999999999999</c:v>
                </c:pt>
                <c:pt idx="1">
                  <c:v>17.81</c:v>
                </c:pt>
                <c:pt idx="2">
                  <c:v>22.224000000000004</c:v>
                </c:pt>
                <c:pt idx="3">
                  <c:v>17.758</c:v>
                </c:pt>
                <c:pt idx="4">
                  <c:v>23.456000000000003</c:v>
                </c:pt>
                <c:pt idx="5">
                  <c:v>181.168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17.81</c:v>
                </c:pt>
                <c:pt idx="2">
                  <c:v>40.034000000000006</c:v>
                </c:pt>
                <c:pt idx="3">
                  <c:v>57.792</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17.81</c:v>
                </c:pt>
                <c:pt idx="1">
                  <c:v>22.224000000000004</c:v>
                </c:pt>
                <c:pt idx="2">
                  <c:v>17.758</c:v>
                </c:pt>
                <c:pt idx="3">
                  <c:v>23.456000000000003</c:v>
                </c:pt>
                <c:pt idx="4">
                  <c:v>81.248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58.428</c:v>
                </c:pt>
                <c:pt idx="1">
                  <c:v>61.876000000000005</c:v>
                </c:pt>
                <c:pt idx="2">
                  <c:v>65.503</c:v>
                </c:pt>
                <c:pt idx="3">
                  <c:v>69.307</c:v>
                </c:pt>
                <c:pt idx="4">
                  <c:v>73.386</c:v>
                </c:pt>
                <c:pt idx="5">
                  <c:v>77.972</c:v>
                </c:pt>
                <c:pt idx="6">
                  <c:v>83.176</c:v>
                </c:pt>
                <c:pt idx="7">
                  <c:v>89.118</c:v>
                </c:pt>
                <c:pt idx="8">
                  <c:v>95.86</c:v>
                </c:pt>
                <c:pt idx="9">
                  <c:v>103.41</c:v>
                </c:pt>
                <c:pt idx="10">
                  <c:v>111.717</c:v>
                </c:pt>
                <c:pt idx="11">
                  <c:v>120.771</c:v>
                </c:pt>
                <c:pt idx="12">
                  <c:v>130.52</c:v>
                </c:pt>
                <c:pt idx="13">
                  <c:v>140.928</c:v>
                </c:pt>
                <c:pt idx="14">
                  <c:v>151.887</c:v>
                </c:pt>
                <c:pt idx="15">
                  <c:v>163.405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Philippines</c:v>
                </c:pt>
              </c:strCache>
            </c:strRef>
          </c:cat>
          <c:val>
            <c:numRef>
              <c:f>Sheet1!$B$2:$B$4</c:f>
              <c:numCache>
                <c:formatCode>General</c:formatCode>
                <c:ptCount val="3"/>
                <c:pt idx="0">
                  <c:v>0.05245930274733035</c:v>
                </c:pt>
                <c:pt idx="1">
                  <c:v>0.06654594628969646</c:v>
                </c:pt>
                <c:pt idx="2">
                  <c:v>0.07679409858639707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367203309163606"/>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77.972</c:v>
                </c:pt>
                <c:pt idx="2">
                  <c:v>83.176</c:v>
                </c:pt>
                <c:pt idx="3">
                  <c:v>89.118</c:v>
                </c:pt>
                <c:pt idx="4">
                  <c:v>95.86</c:v>
                </c:pt>
                <c:pt idx="5">
                  <c:v>103.41</c:v>
                </c:pt>
                <c:pt idx="6">
                  <c:v>111.717</c:v>
                </c:pt>
                <c:pt idx="7">
                  <c:v>120.771</c:v>
                </c:pt>
                <c:pt idx="8">
                  <c:v>130.52</c:v>
                </c:pt>
                <c:pt idx="9">
                  <c:v>140.928</c:v>
                </c:pt>
                <c:pt idx="10">
                  <c:v>151.887</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77.972</c:v>
                </c:pt>
                <c:pt idx="1">
                  <c:v>5.204000000000008</c:v>
                </c:pt>
                <c:pt idx="2">
                  <c:v>5.941999999999993</c:v>
                </c:pt>
                <c:pt idx="3">
                  <c:v>6.742000000000004</c:v>
                </c:pt>
                <c:pt idx="4">
                  <c:v>7.549999999999997</c:v>
                </c:pt>
                <c:pt idx="5">
                  <c:v>8.307000000000002</c:v>
                </c:pt>
                <c:pt idx="6">
                  <c:v>9.054000000000002</c:v>
                </c:pt>
                <c:pt idx="7">
                  <c:v>9.74900000000001</c:v>
                </c:pt>
                <c:pt idx="8">
                  <c:v>10.407999999999987</c:v>
                </c:pt>
                <c:pt idx="9">
                  <c:v>10.959000000000003</c:v>
                </c:pt>
                <c:pt idx="10">
                  <c:v>11.518</c:v>
                </c:pt>
                <c:pt idx="11">
                  <c:v>163.405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Philippines</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6.454357924989984</c:v>
                </c:pt>
                <c:pt idx="1">
                  <c:v>0.985586810438736</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93.54564207501002</c:v>
                </c:pt>
                <c:pt idx="1">
                  <c:v>99.01441318956127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69.33099999999999</c:v>
                </c:pt>
                <c:pt idx="1">
                  <c:v>73.82</c:v>
                </c:pt>
                <c:pt idx="2">
                  <c:v>78.578</c:v>
                </c:pt>
                <c:pt idx="3">
                  <c:v>83.654</c:v>
                </c:pt>
                <c:pt idx="4">
                  <c:v>89.138</c:v>
                </c:pt>
                <c:pt idx="5">
                  <c:v>95.757</c:v>
                </c:pt>
                <c:pt idx="6">
                  <c:v>103.389</c:v>
                </c:pt>
                <c:pt idx="7">
                  <c:v>112.255</c:v>
                </c:pt>
                <c:pt idx="8">
                  <c:v>122.51</c:v>
                </c:pt>
                <c:pt idx="9">
                  <c:v>134.303</c:v>
                </c:pt>
                <c:pt idx="10">
                  <c:v>147.627</c:v>
                </c:pt>
                <c:pt idx="11">
                  <c:v>162.58</c:v>
                </c:pt>
                <c:pt idx="12">
                  <c:v>179.167</c:v>
                </c:pt>
                <c:pt idx="13">
                  <c:v>197.431</c:v>
                </c:pt>
                <c:pt idx="14">
                  <c:v>217.39499999999998</c:v>
                </c:pt>
                <c:pt idx="15">
                  <c:v>239.19199999999998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Philippines</c:v>
                </c:pt>
              </c:strCache>
            </c:strRef>
          </c:cat>
          <c:val>
            <c:numRef>
              <c:f>Sheet1!$B$2:$B$4</c:f>
              <c:numCache>
                <c:formatCode>General</c:formatCode>
                <c:ptCount val="3"/>
                <c:pt idx="0">
                  <c:v>0.06658666629421717</c:v>
                </c:pt>
                <c:pt idx="1">
                  <c:v>0.07853749693674184</c:v>
                </c:pt>
                <c:pt idx="2">
                  <c:v>0.09586640125020063</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294196416877708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95.757</c:v>
                </c:pt>
                <c:pt idx="2">
                  <c:v>103.389</c:v>
                </c:pt>
                <c:pt idx="3">
                  <c:v>112.255</c:v>
                </c:pt>
                <c:pt idx="4">
                  <c:v>122.51</c:v>
                </c:pt>
                <c:pt idx="5">
                  <c:v>134.303</c:v>
                </c:pt>
                <c:pt idx="6">
                  <c:v>147.627</c:v>
                </c:pt>
                <c:pt idx="7">
                  <c:v>162.58</c:v>
                </c:pt>
                <c:pt idx="8">
                  <c:v>179.167</c:v>
                </c:pt>
                <c:pt idx="9">
                  <c:v>197.431</c:v>
                </c:pt>
                <c:pt idx="10">
                  <c:v>217.39499999999998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95.757</c:v>
                </c:pt>
                <c:pt idx="1">
                  <c:v>7.631999999999991</c:v>
                </c:pt>
                <c:pt idx="2">
                  <c:v>8.866</c:v>
                </c:pt>
                <c:pt idx="3">
                  <c:v>10.25500000000001</c:v>
                </c:pt>
                <c:pt idx="4">
                  <c:v>11.792999999999992</c:v>
                </c:pt>
                <c:pt idx="5">
                  <c:v>13.324000000000012</c:v>
                </c:pt>
                <c:pt idx="6">
                  <c:v>14.953000000000003</c:v>
                </c:pt>
                <c:pt idx="7">
                  <c:v>16.58699999999999</c:v>
                </c:pt>
                <c:pt idx="8">
                  <c:v>18.26400000000001</c:v>
                </c:pt>
                <c:pt idx="9">
                  <c:v>19.96399999999997</c:v>
                </c:pt>
                <c:pt idx="10">
                  <c:v>21.796999999999997</c:v>
                </c:pt>
                <c:pt idx="11">
                  <c:v>239.19199999999998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Philippines</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5.407232230282127</c:v>
                </c:pt>
                <c:pt idx="1">
                  <c:v>0.5945288223887595</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94.59276776971787</c:v>
                </c:pt>
                <c:pt idx="1">
                  <c:v>99.40547117761125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Powders</c:v>
                </c:pt>
                <c:pt idx="2">
                  <c:v>Sprays and Mists</c:v>
                </c:pt>
                <c:pt idx="3">
                  <c:v>Gels and Jellies</c:v>
                </c:pt>
                <c:pt idx="4">
                  <c:v>Sticks and Balms</c:v>
                </c:pt>
                <c:pt idx="5">
                  <c:v>Creams and Lotions</c:v>
                </c:pt>
                <c:pt idx="6">
                  <c:v>Waxes, Clays, Pastes…</c:v>
                </c:pt>
                <c:pt idx="7">
                  <c:v>Serums and Oils</c:v>
                </c:pt>
              </c:strCache>
            </c:strRef>
          </c:cat>
          <c:val>
            <c:numRef>
              <c:f>Sheet1!$B$2:$B$9</c:f>
              <c:numCache>
                <c:formatCode>General</c:formatCode>
                <c:ptCount val="8"/>
                <c:pt idx="0">
                  <c:v>6.692</c:v>
                </c:pt>
                <c:pt idx="1">
                  <c:v>9.351</c:v>
                </c:pt>
                <c:pt idx="2">
                  <c:v>9.661</c:v>
                </c:pt>
                <c:pt idx="3">
                  <c:v>11.293</c:v>
                </c:pt>
                <c:pt idx="4">
                  <c:v>12.135</c:v>
                </c:pt>
                <c:pt idx="5">
                  <c:v>13.328</c:v>
                </c:pt>
                <c:pt idx="6">
                  <c:v>15.075</c:v>
                </c:pt>
                <c:pt idx="7">
                  <c:v>18.222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4.417480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16.974</c:v>
                </c:pt>
                <c:pt idx="4">
                  <c:v>18.085</c:v>
                </c:pt>
                <c:pt idx="5">
                  <c:v>19.3</c:v>
                </c:pt>
                <c:pt idx="6">
                  <c:v>20.099</c:v>
                </c:pt>
                <c:pt idx="7">
                  <c:v>21.299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8.540660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30.185</c:v>
                </c:pt>
                <c:pt idx="6">
                  <c:v>31.082</c:v>
                </c:pt>
                <c:pt idx="7">
                  <c:v>34.489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6.2152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Salon and Professiona…</c:v>
                </c:pt>
                <c:pt idx="6">
                  <c:v>Online Marketplaces</c:v>
                </c:pt>
                <c:pt idx="7">
                  <c:v>Mass Retail</c:v>
                </c:pt>
              </c:strCache>
            </c:strRef>
          </c:cat>
          <c:val>
            <c:numRef>
              <c:f>Sheet1!$B$2:$B$9</c:f>
              <c:numCache>
                <c:formatCode>General</c:formatCode>
                <c:ptCount val="8"/>
                <c:pt idx="2">
                  <c:v>11.097</c:v>
                </c:pt>
                <c:pt idx="3">
                  <c:v>13.719</c:v>
                </c:pt>
                <c:pt idx="4">
                  <c:v>14.139</c:v>
                </c:pt>
                <c:pt idx="5">
                  <c:v>15.646</c:v>
                </c:pt>
                <c:pt idx="6">
                  <c:v>17.415</c:v>
                </c:pt>
                <c:pt idx="7">
                  <c:v>23.741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1.8129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Texture and Separation</c:v>
                </c:pt>
                <c:pt idx="4">
                  <c:v>Volume and Root Lift</c:v>
                </c:pt>
                <c:pt idx="5">
                  <c:v>Smoothing and Frizz C…</c:v>
                </c:pt>
                <c:pt idx="6">
                  <c:v>Hold and Shape</c:v>
                </c:pt>
                <c:pt idx="7">
                  <c:v>Curl Definition</c:v>
                </c:pt>
              </c:strCache>
            </c:strRef>
          </c:cat>
          <c:val>
            <c:numRef>
              <c:f>Sheet1!$B$2:$B$9</c:f>
              <c:numCache>
                <c:formatCode>General</c:formatCode>
                <c:ptCount val="8"/>
                <c:pt idx="1">
                  <c:v>11.033</c:v>
                </c:pt>
                <c:pt idx="2">
                  <c:v>12.812</c:v>
                </c:pt>
                <c:pt idx="3">
                  <c:v>12.894</c:v>
                </c:pt>
                <c:pt idx="4">
                  <c:v>12.894</c:v>
                </c:pt>
                <c:pt idx="5">
                  <c:v>14.495</c:v>
                </c:pt>
                <c:pt idx="6">
                  <c:v>14.561</c:v>
                </c:pt>
                <c:pt idx="7">
                  <c:v>17.067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2.86978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Wavy Hair</c:v>
                </c:pt>
                <c:pt idx="4">
                  <c:v>Coily Hair</c:v>
                </c:pt>
                <c:pt idx="5">
                  <c:v>Straight Hair</c:v>
                </c:pt>
                <c:pt idx="6">
                  <c:v>All Hair Types</c:v>
                </c:pt>
                <c:pt idx="7">
                  <c:v>Curly Hair</c:v>
                </c:pt>
              </c:strCache>
            </c:strRef>
          </c:cat>
          <c:val>
            <c:numRef>
              <c:f>Sheet1!$B$2:$B$9</c:f>
              <c:numCache>
                <c:formatCode>General</c:formatCode>
                <c:ptCount val="8"/>
                <c:pt idx="3">
                  <c:v>18.174</c:v>
                </c:pt>
                <c:pt idx="4">
                  <c:v>18.352</c:v>
                </c:pt>
                <c:pt idx="5">
                  <c:v>18.834</c:v>
                </c:pt>
                <c:pt idx="6">
                  <c:v>19.741</c:v>
                </c:pt>
                <c:pt idx="7">
                  <c:v>20.655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7.6777"/>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22.96</c:v>
                </c:pt>
                <c:pt idx="5">
                  <c:v>23.882</c:v>
                </c:pt>
                <c:pt idx="6">
                  <c:v>24.014</c:v>
                </c:pt>
                <c:pt idx="7">
                  <c:v>24.9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3.36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95.757</c:v>
                </c:pt>
                <c:pt idx="2">
                  <c:v>107.36500000000001</c:v>
                </c:pt>
                <c:pt idx="3">
                  <c:v>114.48800000000001</c:v>
                </c:pt>
                <c:pt idx="4">
                  <c:v>128.43800000000002</c:v>
                </c:pt>
                <c:pt idx="5">
                  <c:v>149.11900000000003</c:v>
                </c:pt>
                <c:pt idx="6">
                  <c:v>171.33900000000003</c:v>
                </c:pt>
                <c:pt idx="7">
                  <c:v>188.21000000000004</c:v>
                </c:pt>
                <c:pt idx="8">
                  <c:v>215.35900000000004</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95.757</c:v>
                </c:pt>
                <c:pt idx="1">
                  <c:v>11.607999999999999</c:v>
                </c:pt>
                <c:pt idx="2">
                  <c:v>7.122999999999999</c:v>
                </c:pt>
                <c:pt idx="3">
                  <c:v>13.95</c:v>
                </c:pt>
                <c:pt idx="4">
                  <c:v>20.681</c:v>
                </c:pt>
                <c:pt idx="5">
                  <c:v>22.220000000000002</c:v>
                </c:pt>
                <c:pt idx="6">
                  <c:v>16.871000000000002</c:v>
                </c:pt>
                <c:pt idx="7">
                  <c:v>27.149</c:v>
                </c:pt>
                <c:pt idx="8">
                  <c:v>23.833000000000006</c:v>
                </c:pt>
                <c:pt idx="9">
                  <c:v>239.19199999999998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11.607999999999999</c:v>
                </c:pt>
                <c:pt idx="2">
                  <c:v>18.730999999999998</c:v>
                </c:pt>
                <c:pt idx="3">
                  <c:v>32.681</c:v>
                </c:pt>
                <c:pt idx="4">
                  <c:v>53.361999999999995</c:v>
                </c:pt>
                <c:pt idx="5">
                  <c:v>75.582</c:v>
                </c:pt>
                <c:pt idx="6">
                  <c:v>92.453</c:v>
                </c:pt>
                <c:pt idx="7">
                  <c:v>119.602</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11.607999999999999</c:v>
                </c:pt>
                <c:pt idx="1">
                  <c:v>7.122999999999999</c:v>
                </c:pt>
                <c:pt idx="2">
                  <c:v>13.95</c:v>
                </c:pt>
                <c:pt idx="3">
                  <c:v>20.681</c:v>
                </c:pt>
                <c:pt idx="4">
                  <c:v>22.220000000000002</c:v>
                </c:pt>
                <c:pt idx="5">
                  <c:v>16.871000000000002</c:v>
                </c:pt>
                <c:pt idx="6">
                  <c:v>27.149</c:v>
                </c:pt>
                <c:pt idx="7">
                  <c:v>23.833000000000006</c:v>
                </c:pt>
                <c:pt idx="8">
                  <c:v>143.435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95.757</c:v>
                </c:pt>
                <c:pt idx="2">
                  <c:v>125.57400000000001</c:v>
                </c:pt>
                <c:pt idx="3">
                  <c:v>159.31400000000002</c:v>
                </c:pt>
                <c:pt idx="4">
                  <c:v>190.681</c:v>
                </c:pt>
                <c:pt idx="5">
                  <c:v>217.89600000000002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95.757</c:v>
                </c:pt>
                <c:pt idx="1">
                  <c:v>29.817</c:v>
                </c:pt>
                <c:pt idx="2">
                  <c:v>33.739999999999995</c:v>
                </c:pt>
                <c:pt idx="3">
                  <c:v>31.366999999999997</c:v>
                </c:pt>
                <c:pt idx="4">
                  <c:v>27.215</c:v>
                </c:pt>
                <c:pt idx="5">
                  <c:v>21.297</c:v>
                </c:pt>
                <c:pt idx="6">
                  <c:v>239.19299999999998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29.817</c:v>
                </c:pt>
                <c:pt idx="2">
                  <c:v>63.556999999999995</c:v>
                </c:pt>
                <c:pt idx="3">
                  <c:v>94.92399999999999</c:v>
                </c:pt>
                <c:pt idx="4">
                  <c:v>122.139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29.817</c:v>
                </c:pt>
                <c:pt idx="1">
                  <c:v>33.739999999999995</c:v>
                </c:pt>
                <c:pt idx="2">
                  <c:v>31.366999999999997</c:v>
                </c:pt>
                <c:pt idx="3">
                  <c:v>27.215</c:v>
                </c:pt>
                <c:pt idx="4">
                  <c:v>21.297</c:v>
                </c:pt>
                <c:pt idx="5">
                  <c:v>143.436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95.756</c:v>
                </c:pt>
                <c:pt idx="2">
                  <c:v>140.221</c:v>
                </c:pt>
                <c:pt idx="3">
                  <c:v>182.31900000000002</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95.756</c:v>
                </c:pt>
                <c:pt idx="1">
                  <c:v>44.465</c:v>
                </c:pt>
                <c:pt idx="2">
                  <c:v>42.098000000000006</c:v>
                </c:pt>
                <c:pt idx="3">
                  <c:v>56.874</c:v>
                </c:pt>
                <c:pt idx="4">
                  <c:v>239.193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44.465</c:v>
                </c:pt>
                <c:pt idx="2">
                  <c:v>86.56300000000002</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44.465</c:v>
                </c:pt>
                <c:pt idx="1">
                  <c:v>42.098000000000006</c:v>
                </c:pt>
                <c:pt idx="2">
                  <c:v>56.874</c:v>
                </c:pt>
                <c:pt idx="3">
                  <c:v>143.437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95.75699999999999</c:v>
                </c:pt>
                <c:pt idx="2">
                  <c:v>124.762</c:v>
                </c:pt>
                <c:pt idx="3">
                  <c:v>146.711</c:v>
                </c:pt>
                <c:pt idx="4">
                  <c:v>169.34400000000002</c:v>
                </c:pt>
                <c:pt idx="5">
                  <c:v>187.74600000000004</c:v>
                </c:pt>
                <c:pt idx="6">
                  <c:v>219.85900000000004</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95.75699999999999</c:v>
                </c:pt>
                <c:pt idx="1">
                  <c:v>29.005000000000003</c:v>
                </c:pt>
                <c:pt idx="2">
                  <c:v>21.949</c:v>
                </c:pt>
                <c:pt idx="3">
                  <c:v>22.633000000000003</c:v>
                </c:pt>
                <c:pt idx="4">
                  <c:v>18.402</c:v>
                </c:pt>
                <c:pt idx="5">
                  <c:v>32.113</c:v>
                </c:pt>
                <c:pt idx="6">
                  <c:v>19.335</c:v>
                </c:pt>
                <c:pt idx="7">
                  <c:v>239.194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29.005000000000003</c:v>
                </c:pt>
                <c:pt idx="2">
                  <c:v>50.95400000000001</c:v>
                </c:pt>
                <c:pt idx="3">
                  <c:v>73.58700000000002</c:v>
                </c:pt>
                <c:pt idx="4">
                  <c:v>91.98900000000002</c:v>
                </c:pt>
                <c:pt idx="5">
                  <c:v>124.10200000000002</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29.005000000000003</c:v>
                </c:pt>
                <c:pt idx="1">
                  <c:v>21.949</c:v>
                </c:pt>
                <c:pt idx="2">
                  <c:v>22.633000000000003</c:v>
                </c:pt>
                <c:pt idx="3">
                  <c:v>18.402</c:v>
                </c:pt>
                <c:pt idx="4">
                  <c:v>32.113</c:v>
                </c:pt>
                <c:pt idx="5">
                  <c:v>19.335</c:v>
                </c:pt>
                <c:pt idx="6">
                  <c:v>143.437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95.756</c:v>
                </c:pt>
                <c:pt idx="2">
                  <c:v>112.191</c:v>
                </c:pt>
                <c:pt idx="3">
                  <c:v>143.878</c:v>
                </c:pt>
                <c:pt idx="4">
                  <c:v>161.087</c:v>
                </c:pt>
                <c:pt idx="5">
                  <c:v>179.88099999999997</c:v>
                </c:pt>
                <c:pt idx="6">
                  <c:v>203.46299999999997</c:v>
                </c:pt>
                <c:pt idx="7">
                  <c:v>217.17899999999997</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95.756</c:v>
                </c:pt>
                <c:pt idx="1">
                  <c:v>16.435</c:v>
                </c:pt>
                <c:pt idx="2">
                  <c:v>31.686999999999998</c:v>
                </c:pt>
                <c:pt idx="3">
                  <c:v>17.209000000000003</c:v>
                </c:pt>
                <c:pt idx="4">
                  <c:v>18.793999999999997</c:v>
                </c:pt>
                <c:pt idx="5">
                  <c:v>23.582</c:v>
                </c:pt>
                <c:pt idx="6">
                  <c:v>13.716</c:v>
                </c:pt>
                <c:pt idx="7">
                  <c:v>22.014000000000003</c:v>
                </c:pt>
                <c:pt idx="8">
                  <c:v>239.19299999999998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16.435</c:v>
                </c:pt>
                <c:pt idx="2">
                  <c:v>48.122</c:v>
                </c:pt>
                <c:pt idx="3">
                  <c:v>65.331</c:v>
                </c:pt>
                <c:pt idx="4">
                  <c:v>84.125</c:v>
                </c:pt>
                <c:pt idx="5">
                  <c:v>107.707</c:v>
                </c:pt>
                <c:pt idx="6">
                  <c:v>121.42299999999999</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16.435</c:v>
                </c:pt>
                <c:pt idx="1">
                  <c:v>31.686999999999998</c:v>
                </c:pt>
                <c:pt idx="2">
                  <c:v>17.209000000000003</c:v>
                </c:pt>
                <c:pt idx="3">
                  <c:v>18.793999999999997</c:v>
                </c:pt>
                <c:pt idx="4">
                  <c:v>23.582</c:v>
                </c:pt>
                <c:pt idx="5">
                  <c:v>13.716</c:v>
                </c:pt>
                <c:pt idx="6">
                  <c:v>22.014000000000003</c:v>
                </c:pt>
                <c:pt idx="7">
                  <c:v>143.43699999999998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95.756</c:v>
                </c:pt>
                <c:pt idx="2">
                  <c:v>119.337</c:v>
                </c:pt>
                <c:pt idx="3">
                  <c:v>146.026</c:v>
                </c:pt>
                <c:pt idx="4">
                  <c:v>180.119</c:v>
                </c:pt>
                <c:pt idx="5">
                  <c:v>212.236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95.756</c:v>
                </c:pt>
                <c:pt idx="1">
                  <c:v>23.581</c:v>
                </c:pt>
                <c:pt idx="2">
                  <c:v>26.689</c:v>
                </c:pt>
                <c:pt idx="3">
                  <c:v>34.092999999999996</c:v>
                </c:pt>
                <c:pt idx="4">
                  <c:v>32.117000000000004</c:v>
                </c:pt>
                <c:pt idx="5">
                  <c:v>26.958</c:v>
                </c:pt>
                <c:pt idx="6">
                  <c:v>239.19399999999996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23.581</c:v>
                </c:pt>
                <c:pt idx="2">
                  <c:v>50.269999999999996</c:v>
                </c:pt>
                <c:pt idx="3">
                  <c:v>84.363</c:v>
                </c:pt>
                <c:pt idx="4">
                  <c:v>116.48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23.581</c:v>
                </c:pt>
                <c:pt idx="1">
                  <c:v>26.689</c:v>
                </c:pt>
                <c:pt idx="2">
                  <c:v>34.092999999999996</c:v>
                </c:pt>
                <c:pt idx="3">
                  <c:v>32.117000000000004</c:v>
                </c:pt>
                <c:pt idx="4">
                  <c:v>26.958</c:v>
                </c:pt>
                <c:pt idx="5">
                  <c:v>143.438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95.756</c:v>
                </c:pt>
                <c:pt idx="2">
                  <c:v>129.179</c:v>
                </c:pt>
                <c:pt idx="3">
                  <c:v>166.675</c:v>
                </c:pt>
                <c:pt idx="4">
                  <c:v>199.452</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95.756</c:v>
                </c:pt>
                <c:pt idx="1">
                  <c:v>33.423</c:v>
                </c:pt>
                <c:pt idx="2">
                  <c:v>37.495999999999995</c:v>
                </c:pt>
                <c:pt idx="3">
                  <c:v>32.777</c:v>
                </c:pt>
                <c:pt idx="4">
                  <c:v>39.74100000000001</c:v>
                </c:pt>
                <c:pt idx="5">
                  <c:v>239.19300000000004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33.423</c:v>
                </c:pt>
                <c:pt idx="2">
                  <c:v>70.919</c:v>
                </c:pt>
                <c:pt idx="3">
                  <c:v>103.696</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33.423</c:v>
                </c:pt>
                <c:pt idx="1">
                  <c:v>37.495999999999995</c:v>
                </c:pt>
                <c:pt idx="2">
                  <c:v>32.777</c:v>
                </c:pt>
                <c:pt idx="3">
                  <c:v>39.74100000000001</c:v>
                </c:pt>
                <c:pt idx="4">
                  <c:v>143.437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119.27999999999999</c:v>
                </c:pt>
                <c:pt idx="1">
                  <c:v>122.85199999999999</c:v>
                </c:pt>
                <c:pt idx="2">
                  <c:v>126.511</c:v>
                </c:pt>
                <c:pt idx="3">
                  <c:v>130.251</c:v>
                </c:pt>
                <c:pt idx="4">
                  <c:v>134.161</c:v>
                </c:pt>
                <c:pt idx="5">
                  <c:v>138.442</c:v>
                </c:pt>
                <c:pt idx="6">
                  <c:v>143.165</c:v>
                </c:pt>
                <c:pt idx="7">
                  <c:v>148.399</c:v>
                </c:pt>
                <c:pt idx="8">
                  <c:v>154.172</c:v>
                </c:pt>
                <c:pt idx="9">
                  <c:v>160.45</c:v>
                </c:pt>
                <c:pt idx="10">
                  <c:v>167.15</c:v>
                </c:pt>
                <c:pt idx="11">
                  <c:v>174.214</c:v>
                </c:pt>
                <c:pt idx="12">
                  <c:v>181.541</c:v>
                </c:pt>
                <c:pt idx="13">
                  <c:v>189.089</c:v>
                </c:pt>
                <c:pt idx="14">
                  <c:v>196.763</c:v>
                </c:pt>
                <c:pt idx="15">
                  <c:v>204.559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Australia</c:v>
                </c:pt>
              </c:strCache>
            </c:strRef>
          </c:cat>
          <c:val>
            <c:numRef>
              <c:f>Sheet1!$B$2:$B$4</c:f>
              <c:numCache>
                <c:formatCode>General</c:formatCode>
                <c:ptCount val="3"/>
                <c:pt idx="0">
                  <c:v>0.05245930274733035</c:v>
                </c:pt>
                <c:pt idx="1">
                  <c:v>0.06654594628969646</c:v>
                </c:pt>
                <c:pt idx="2">
                  <c:v>0.039812592823751825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370274910902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138.442</c:v>
                </c:pt>
                <c:pt idx="2">
                  <c:v>143.165</c:v>
                </c:pt>
                <c:pt idx="3">
                  <c:v>148.399</c:v>
                </c:pt>
                <c:pt idx="4">
                  <c:v>154.172</c:v>
                </c:pt>
                <c:pt idx="5">
                  <c:v>160.45</c:v>
                </c:pt>
                <c:pt idx="6">
                  <c:v>167.15</c:v>
                </c:pt>
                <c:pt idx="7">
                  <c:v>174.214</c:v>
                </c:pt>
                <c:pt idx="8">
                  <c:v>181.541</c:v>
                </c:pt>
                <c:pt idx="9">
                  <c:v>189.089</c:v>
                </c:pt>
                <c:pt idx="10">
                  <c:v>196.763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138.442</c:v>
                </c:pt>
                <c:pt idx="1">
                  <c:v>4.722999999999985</c:v>
                </c:pt>
                <c:pt idx="2">
                  <c:v>5.234000000000009</c:v>
                </c:pt>
                <c:pt idx="3">
                  <c:v>5.772999999999996</c:v>
                </c:pt>
                <c:pt idx="4">
                  <c:v>6.277999999999992</c:v>
                </c:pt>
                <c:pt idx="5">
                  <c:v>6.700000000000017</c:v>
                </c:pt>
                <c:pt idx="6">
                  <c:v>7.063999999999993</c:v>
                </c:pt>
                <c:pt idx="7">
                  <c:v>7.326999999999998</c:v>
                </c:pt>
                <c:pt idx="8">
                  <c:v>7.548000000000002</c:v>
                </c:pt>
                <c:pt idx="9">
                  <c:v>7.674000000000007</c:v>
                </c:pt>
                <c:pt idx="10">
                  <c:v>7.795999999999992</c:v>
                </c:pt>
                <c:pt idx="11">
                  <c:v>204.559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Australia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11.45993715502313</c:v>
                </c:pt>
                <c:pt idx="1">
                  <c:v>1.749943687615548</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88.54006284497687</c:v>
                </c:pt>
                <c:pt idx="1">
                  <c:v>98.25005631238446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352.92100000000005</c:v>
                </c:pt>
                <c:pt idx="1">
                  <c:v>365.27700000000004</c:v>
                </c:pt>
                <c:pt idx="2">
                  <c:v>378.105</c:v>
                </c:pt>
                <c:pt idx="3">
                  <c:v>391.544</c:v>
                </c:pt>
                <c:pt idx="4">
                  <c:v>405.72299999999996</c:v>
                </c:pt>
                <c:pt idx="5">
                  <c:v>422.706</c:v>
                </c:pt>
                <c:pt idx="6">
                  <c:v>441.69000000000005</c:v>
                </c:pt>
                <c:pt idx="7">
                  <c:v>463.06000000000006</c:v>
                </c:pt>
                <c:pt idx="8">
                  <c:v>487.051</c:v>
                </c:pt>
                <c:pt idx="9">
                  <c:v>513.8140000000001</c:v>
                </c:pt>
                <c:pt idx="10">
                  <c:v>543.1880000000001</c:v>
                </c:pt>
                <c:pt idx="11">
                  <c:v>575.082</c:v>
                </c:pt>
                <c:pt idx="12">
                  <c:v>609.281</c:v>
                </c:pt>
                <c:pt idx="13">
                  <c:v>645.683</c:v>
                </c:pt>
                <c:pt idx="14">
                  <c:v>684.129</c:v>
                </c:pt>
                <c:pt idx="15">
                  <c:v>724.7170000000001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Australia</c:v>
                </c:pt>
              </c:strCache>
            </c:strRef>
          </c:cat>
          <c:val>
            <c:numRef>
              <c:f>Sheet1!$B$2:$B$4</c:f>
              <c:numCache>
                <c:formatCode>General</c:formatCode>
                <c:ptCount val="3"/>
                <c:pt idx="0">
                  <c:v>0.06658666629421717</c:v>
                </c:pt>
                <c:pt idx="1">
                  <c:v>0.07853749693674184</c:v>
                </c:pt>
                <c:pt idx="2">
                  <c:v>0.0553900699983767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60256208646014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422.706</c:v>
                </c:pt>
                <c:pt idx="2">
                  <c:v>441.69000000000005</c:v>
                </c:pt>
                <c:pt idx="3">
                  <c:v>463.06000000000006</c:v>
                </c:pt>
                <c:pt idx="4">
                  <c:v>487.051</c:v>
                </c:pt>
                <c:pt idx="5">
                  <c:v>513.8140000000001</c:v>
                </c:pt>
                <c:pt idx="6">
                  <c:v>543.1880000000001</c:v>
                </c:pt>
                <c:pt idx="7">
                  <c:v>575.082</c:v>
                </c:pt>
                <c:pt idx="8">
                  <c:v>609.281</c:v>
                </c:pt>
                <c:pt idx="9">
                  <c:v>645.683</c:v>
                </c:pt>
                <c:pt idx="10">
                  <c:v>684.129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422.706</c:v>
                </c:pt>
                <c:pt idx="1">
                  <c:v>18.984000000000037</c:v>
                </c:pt>
                <c:pt idx="2">
                  <c:v>21.370000000000005</c:v>
                </c:pt>
                <c:pt idx="3">
                  <c:v>23.99099999999993</c:v>
                </c:pt>
                <c:pt idx="4">
                  <c:v>26.76300000000009</c:v>
                </c:pt>
                <c:pt idx="5">
                  <c:v>29.374000000000024</c:v>
                </c:pt>
                <c:pt idx="6">
                  <c:v>31.89399999999989</c:v>
                </c:pt>
                <c:pt idx="7">
                  <c:v>34.198999999999955</c:v>
                </c:pt>
                <c:pt idx="8">
                  <c:v>36.402000000000044</c:v>
                </c:pt>
                <c:pt idx="9">
                  <c:v>38.446000000000026</c:v>
                </c:pt>
                <c:pt idx="10">
                  <c:v>40.58800000000008</c:v>
                </c:pt>
                <c:pt idx="11">
                  <c:v>724.7170000000001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Australia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23.869476979579947</c:v>
                </c:pt>
                <c:pt idx="1">
                  <c:v>2.62446505630568</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76.13052302042006</c:v>
                </c:pt>
                <c:pt idx="1">
                  <c:v>97.37553494369432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3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Serums and Oils</c:v>
                </c:pt>
                <c:pt idx="7">
                  <c:v>Waxes, Clays, Pastes…</c:v>
                </c:pt>
              </c:strCache>
            </c:strRef>
          </c:cat>
          <c:val>
            <c:numRef>
              <c:f>Sheet1!$B$2:$B$9</c:f>
              <c:numCache>
                <c:formatCode>General</c:formatCode>
                <c:ptCount val="8"/>
                <c:pt idx="0">
                  <c:v>30.477</c:v>
                </c:pt>
                <c:pt idx="1">
                  <c:v>37.174</c:v>
                </c:pt>
                <c:pt idx="2">
                  <c:v>42.604</c:v>
                </c:pt>
                <c:pt idx="3">
                  <c:v>47.123</c:v>
                </c:pt>
                <c:pt idx="4">
                  <c:v>54.228</c:v>
                </c:pt>
                <c:pt idx="5">
                  <c:v>61.606</c:v>
                </c:pt>
                <c:pt idx="6">
                  <c:v>74.048</c:v>
                </c:pt>
                <c:pt idx="7">
                  <c:v>75.446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01.0976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74.773</c:v>
                </c:pt>
                <c:pt idx="4">
                  <c:v>80.398</c:v>
                </c:pt>
                <c:pt idx="5">
                  <c:v>85.415</c:v>
                </c:pt>
                <c:pt idx="6">
                  <c:v>88.364</c:v>
                </c:pt>
                <c:pt idx="7">
                  <c:v>93.757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25.63438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130.07</c:v>
                </c:pt>
                <c:pt idx="6">
                  <c:v>141.698</c:v>
                </c:pt>
                <c:pt idx="7">
                  <c:v>150.939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02.2582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Mass Retail</c:v>
                </c:pt>
                <c:pt idx="6">
                  <c:v>Online Marketplaces</c:v>
                </c:pt>
                <c:pt idx="7">
                  <c:v>Salon and Professiona…</c:v>
                </c:pt>
              </c:strCache>
            </c:strRef>
          </c:cat>
          <c:val>
            <c:numRef>
              <c:f>Sheet1!$B$2:$B$9</c:f>
              <c:numCache>
                <c:formatCode>General</c:formatCode>
                <c:ptCount val="8"/>
                <c:pt idx="2">
                  <c:v>51.434</c:v>
                </c:pt>
                <c:pt idx="3">
                  <c:v>62.637</c:v>
                </c:pt>
                <c:pt idx="4">
                  <c:v>64.295</c:v>
                </c:pt>
                <c:pt idx="5">
                  <c:v>78.868</c:v>
                </c:pt>
                <c:pt idx="6">
                  <c:v>81.321</c:v>
                </c:pt>
                <c:pt idx="7">
                  <c:v>84.151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12.7623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49.946</c:v>
                </c:pt>
                <c:pt idx="2">
                  <c:v>58.768</c:v>
                </c:pt>
                <c:pt idx="3">
                  <c:v>59.646</c:v>
                </c:pt>
                <c:pt idx="4">
                  <c:v>59.783</c:v>
                </c:pt>
                <c:pt idx="5">
                  <c:v>60.176</c:v>
                </c:pt>
                <c:pt idx="6">
                  <c:v>66.968</c:v>
                </c:pt>
                <c:pt idx="7">
                  <c:v>67.418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0.34012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76.096</c:v>
                </c:pt>
                <c:pt idx="4">
                  <c:v>80.427</c:v>
                </c:pt>
                <c:pt idx="5">
                  <c:v>85.417</c:v>
                </c:pt>
                <c:pt idx="6">
                  <c:v>88.749</c:v>
                </c:pt>
                <c:pt idx="7">
                  <c:v>92.018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23.30412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101.345</c:v>
                </c:pt>
                <c:pt idx="5">
                  <c:v>105.364</c:v>
                </c:pt>
                <c:pt idx="6">
                  <c:v>106.452</c:v>
                </c:pt>
                <c:pt idx="7">
                  <c:v>109.544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46.7889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422.706</c:v>
                </c:pt>
                <c:pt idx="2">
                  <c:v>453.682</c:v>
                </c:pt>
                <c:pt idx="3">
                  <c:v>471.67</c:v>
                </c:pt>
                <c:pt idx="4">
                  <c:v>493.721</c:v>
                </c:pt>
                <c:pt idx="5">
                  <c:v>534.992</c:v>
                </c:pt>
                <c:pt idx="6">
                  <c:v>582.66</c:v>
                </c:pt>
                <c:pt idx="7">
                  <c:v>623.6619999999999</c:v>
                </c:pt>
                <c:pt idx="8">
                  <c:v>674.6639999999999</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422.706</c:v>
                </c:pt>
                <c:pt idx="1">
                  <c:v>30.975999999999992</c:v>
                </c:pt>
                <c:pt idx="2">
                  <c:v>17.988000000000003</c:v>
                </c:pt>
                <c:pt idx="3">
                  <c:v>22.051000000000002</c:v>
                </c:pt>
                <c:pt idx="4">
                  <c:v>41.27100000000001</c:v>
                </c:pt>
                <c:pt idx="5">
                  <c:v>47.668000000000006</c:v>
                </c:pt>
                <c:pt idx="6">
                  <c:v>41.001999999999995</c:v>
                </c:pt>
                <c:pt idx="7">
                  <c:v>51.001999999999995</c:v>
                </c:pt>
                <c:pt idx="8">
                  <c:v>50.053000000000004</c:v>
                </c:pt>
                <c:pt idx="9">
                  <c:v>724.7170000000001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30.975999999999992</c:v>
                </c:pt>
                <c:pt idx="2">
                  <c:v>48.964</c:v>
                </c:pt>
                <c:pt idx="3">
                  <c:v>71.015</c:v>
                </c:pt>
                <c:pt idx="4">
                  <c:v>112.286</c:v>
                </c:pt>
                <c:pt idx="5">
                  <c:v>159.954</c:v>
                </c:pt>
                <c:pt idx="6">
                  <c:v>200.95600000000002</c:v>
                </c:pt>
                <c:pt idx="7">
                  <c:v>251.95800000000003</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30.975999999999992</c:v>
                </c:pt>
                <c:pt idx="1">
                  <c:v>17.988000000000003</c:v>
                </c:pt>
                <c:pt idx="2">
                  <c:v>22.051000000000002</c:v>
                </c:pt>
                <c:pt idx="3">
                  <c:v>41.27100000000001</c:v>
                </c:pt>
                <c:pt idx="4">
                  <c:v>47.668000000000006</c:v>
                </c:pt>
                <c:pt idx="5">
                  <c:v>41.001999999999995</c:v>
                </c:pt>
                <c:pt idx="6">
                  <c:v>51.001999999999995</c:v>
                </c:pt>
                <c:pt idx="7">
                  <c:v>50.053000000000004</c:v>
                </c:pt>
                <c:pt idx="8">
                  <c:v>302.011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422.707</c:v>
                </c:pt>
                <c:pt idx="2">
                  <c:v>487.671</c:v>
                </c:pt>
                <c:pt idx="3">
                  <c:v>563.491</c:v>
                </c:pt>
                <c:pt idx="4">
                  <c:v>629.269</c:v>
                </c:pt>
                <c:pt idx="5">
                  <c:v>683.973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422.707</c:v>
                </c:pt>
                <c:pt idx="1">
                  <c:v>64.964</c:v>
                </c:pt>
                <c:pt idx="2">
                  <c:v>75.82000000000001</c:v>
                </c:pt>
                <c:pt idx="3">
                  <c:v>65.77799999999999</c:v>
                </c:pt>
                <c:pt idx="4">
                  <c:v>54.70400000000001</c:v>
                </c:pt>
                <c:pt idx="5">
                  <c:v>40.742000000000004</c:v>
                </c:pt>
                <c:pt idx="6">
                  <c:v>724.7149999999999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64.964</c:v>
                </c:pt>
                <c:pt idx="2">
                  <c:v>140.784</c:v>
                </c:pt>
                <c:pt idx="3">
                  <c:v>206.56199999999998</c:v>
                </c:pt>
                <c:pt idx="4">
                  <c:v>261.26599999999996</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64.964</c:v>
                </c:pt>
                <c:pt idx="1">
                  <c:v>75.82000000000001</c:v>
                </c:pt>
                <c:pt idx="2">
                  <c:v>65.77799999999999</c:v>
                </c:pt>
                <c:pt idx="3">
                  <c:v>54.70400000000001</c:v>
                </c:pt>
                <c:pt idx="4">
                  <c:v>40.742000000000004</c:v>
                </c:pt>
                <c:pt idx="5">
                  <c:v>302.008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422.707</c:v>
                </c:pt>
                <c:pt idx="2">
                  <c:v>523.475</c:v>
                </c:pt>
                <c:pt idx="3">
                  <c:v>618.293</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422.707</c:v>
                </c:pt>
                <c:pt idx="1">
                  <c:v>100.768</c:v>
                </c:pt>
                <c:pt idx="2">
                  <c:v>94.81800000000001</c:v>
                </c:pt>
                <c:pt idx="3">
                  <c:v>106.423</c:v>
                </c:pt>
                <c:pt idx="4">
                  <c:v>724.716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100.768</c:v>
                </c:pt>
                <c:pt idx="2">
                  <c:v>195.586</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100.768</c:v>
                </c:pt>
                <c:pt idx="1">
                  <c:v>94.81800000000001</c:v>
                </c:pt>
                <c:pt idx="2">
                  <c:v>106.423</c:v>
                </c:pt>
                <c:pt idx="3">
                  <c:v>302.009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422.706</c:v>
                </c:pt>
                <c:pt idx="2">
                  <c:v>462.983</c:v>
                </c:pt>
                <c:pt idx="3">
                  <c:v>510.953</c:v>
                </c:pt>
                <c:pt idx="4">
                  <c:v>567.121</c:v>
                </c:pt>
                <c:pt idx="5">
                  <c:v>604.101</c:v>
                </c:pt>
                <c:pt idx="6">
                  <c:v>680.535</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422.706</c:v>
                </c:pt>
                <c:pt idx="1">
                  <c:v>40.277</c:v>
                </c:pt>
                <c:pt idx="2">
                  <c:v>47.97</c:v>
                </c:pt>
                <c:pt idx="3">
                  <c:v>56.16799999999999</c:v>
                </c:pt>
                <c:pt idx="4">
                  <c:v>36.980000000000004</c:v>
                </c:pt>
                <c:pt idx="5">
                  <c:v>76.434</c:v>
                </c:pt>
                <c:pt idx="6">
                  <c:v>44.181</c:v>
                </c:pt>
                <c:pt idx="7">
                  <c:v>724.716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40.277</c:v>
                </c:pt>
                <c:pt idx="2">
                  <c:v>88.247</c:v>
                </c:pt>
                <c:pt idx="3">
                  <c:v>144.415</c:v>
                </c:pt>
                <c:pt idx="4">
                  <c:v>181.39499999999998</c:v>
                </c:pt>
                <c:pt idx="5">
                  <c:v>257.82899999999995</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40.277</c:v>
                </c:pt>
                <c:pt idx="1">
                  <c:v>47.97</c:v>
                </c:pt>
                <c:pt idx="2">
                  <c:v>56.16799999999999</c:v>
                </c:pt>
                <c:pt idx="3">
                  <c:v>36.980000000000004</c:v>
                </c:pt>
                <c:pt idx="4">
                  <c:v>76.434</c:v>
                </c:pt>
                <c:pt idx="5">
                  <c:v>44.181</c:v>
                </c:pt>
                <c:pt idx="6">
                  <c:v>302.00999999999993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422.70500000000004</c:v>
                </c:pt>
                <c:pt idx="2">
                  <c:v>454.211</c:v>
                </c:pt>
                <c:pt idx="3">
                  <c:v>513.102</c:v>
                </c:pt>
                <c:pt idx="4">
                  <c:v>549.877</c:v>
                </c:pt>
                <c:pt idx="5">
                  <c:v>591.775</c:v>
                </c:pt>
                <c:pt idx="6">
                  <c:v>645.694</c:v>
                </c:pt>
                <c:pt idx="7">
                  <c:v>672.895</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422.70500000000004</c:v>
                </c:pt>
                <c:pt idx="1">
                  <c:v>31.506</c:v>
                </c:pt>
                <c:pt idx="2">
                  <c:v>58.89099999999999</c:v>
                </c:pt>
                <c:pt idx="3">
                  <c:v>36.775000000000006</c:v>
                </c:pt>
                <c:pt idx="4">
                  <c:v>41.897999999999996</c:v>
                </c:pt>
                <c:pt idx="5">
                  <c:v>53.919</c:v>
                </c:pt>
                <c:pt idx="6">
                  <c:v>27.201000000000008</c:v>
                </c:pt>
                <c:pt idx="7">
                  <c:v>51.821</c:v>
                </c:pt>
                <c:pt idx="8">
                  <c:v>724.7160000000001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31.506</c:v>
                </c:pt>
                <c:pt idx="2">
                  <c:v>90.39699999999999</c:v>
                </c:pt>
                <c:pt idx="3">
                  <c:v>127.172</c:v>
                </c:pt>
                <c:pt idx="4">
                  <c:v>169.07</c:v>
                </c:pt>
                <c:pt idx="5">
                  <c:v>222.98899999999998</c:v>
                </c:pt>
                <c:pt idx="6">
                  <c:v>250.19</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31.506</c:v>
                </c:pt>
                <c:pt idx="1">
                  <c:v>58.89099999999999</c:v>
                </c:pt>
                <c:pt idx="2">
                  <c:v>36.775000000000006</c:v>
                </c:pt>
                <c:pt idx="3">
                  <c:v>41.897999999999996</c:v>
                </c:pt>
                <c:pt idx="4">
                  <c:v>53.919</c:v>
                </c:pt>
                <c:pt idx="5">
                  <c:v>27.201000000000008</c:v>
                </c:pt>
                <c:pt idx="6">
                  <c:v>51.821</c:v>
                </c:pt>
                <c:pt idx="7">
                  <c:v>302.01099999999997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422.707</c:v>
                </c:pt>
                <c:pt idx="2">
                  <c:v>471.75</c:v>
                </c:pt>
                <c:pt idx="3">
                  <c:v>532.3389999999999</c:v>
                </c:pt>
                <c:pt idx="4">
                  <c:v>598.1819999999999</c:v>
                </c:pt>
                <c:pt idx="5">
                  <c:v>666.5679999999999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422.707</c:v>
                </c:pt>
                <c:pt idx="1">
                  <c:v>49.043000000000006</c:v>
                </c:pt>
                <c:pt idx="2">
                  <c:v>60.589</c:v>
                </c:pt>
                <c:pt idx="3">
                  <c:v>65.843</c:v>
                </c:pt>
                <c:pt idx="4">
                  <c:v>68.386</c:v>
                </c:pt>
                <c:pt idx="5">
                  <c:v>58.14699999999999</c:v>
                </c:pt>
                <c:pt idx="6">
                  <c:v>724.7149999999999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49.043000000000006</c:v>
                </c:pt>
                <c:pt idx="2">
                  <c:v>109.632</c:v>
                </c:pt>
                <c:pt idx="3">
                  <c:v>175.47500000000002</c:v>
                </c:pt>
                <c:pt idx="4">
                  <c:v>243.86100000000002</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49.043000000000006</c:v>
                </c:pt>
                <c:pt idx="1">
                  <c:v>60.589</c:v>
                </c:pt>
                <c:pt idx="2">
                  <c:v>65.843</c:v>
                </c:pt>
                <c:pt idx="3">
                  <c:v>68.386</c:v>
                </c:pt>
                <c:pt idx="4">
                  <c:v>58.14699999999999</c:v>
                </c:pt>
                <c:pt idx="5">
                  <c:v>302.00800000000004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422.70500000000004</c:v>
                </c:pt>
                <c:pt idx="2">
                  <c:v>484.83200000000005</c:v>
                </c:pt>
                <c:pt idx="3">
                  <c:v>569.633</c:v>
                </c:pt>
                <c:pt idx="4">
                  <c:v>640.484</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422.70500000000004</c:v>
                </c:pt>
                <c:pt idx="1">
                  <c:v>62.126999999999995</c:v>
                </c:pt>
                <c:pt idx="2">
                  <c:v>84.80099999999999</c:v>
                </c:pt>
                <c:pt idx="3">
                  <c:v>70.851</c:v>
                </c:pt>
                <c:pt idx="4">
                  <c:v>84.233</c:v>
                </c:pt>
                <c:pt idx="5">
                  <c:v>724.717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62.126999999999995</c:v>
                </c:pt>
                <c:pt idx="2">
                  <c:v>146.928</c:v>
                </c:pt>
                <c:pt idx="3">
                  <c:v>217.779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62.126999999999995</c:v>
                </c:pt>
                <c:pt idx="1">
                  <c:v>84.80099999999999</c:v>
                </c:pt>
                <c:pt idx="2">
                  <c:v>70.851</c:v>
                </c:pt>
                <c:pt idx="3">
                  <c:v>84.233</c:v>
                </c:pt>
                <c:pt idx="4">
                  <c:v>302.012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21.711</c:v>
                </c:pt>
                <c:pt idx="1">
                  <c:v>22.282000000000004</c:v>
                </c:pt>
                <c:pt idx="2">
                  <c:v>22.865000000000002</c:v>
                </c:pt>
                <c:pt idx="3">
                  <c:v>23.459999999999997</c:v>
                </c:pt>
                <c:pt idx="4">
                  <c:v>24.078999999999997</c:v>
                </c:pt>
                <c:pt idx="5">
                  <c:v>24.756999999999998</c:v>
                </c:pt>
                <c:pt idx="6">
                  <c:v>25.502000000000002</c:v>
                </c:pt>
                <c:pt idx="7">
                  <c:v>26.328</c:v>
                </c:pt>
                <c:pt idx="8">
                  <c:v>27.236</c:v>
                </c:pt>
                <c:pt idx="9">
                  <c:v>28.221</c:v>
                </c:pt>
                <c:pt idx="10">
                  <c:v>29.268</c:v>
                </c:pt>
                <c:pt idx="11">
                  <c:v>30.374000000000002</c:v>
                </c:pt>
                <c:pt idx="12">
                  <c:v>31.512</c:v>
                </c:pt>
                <c:pt idx="13">
                  <c:v>32.686</c:v>
                </c:pt>
                <c:pt idx="14">
                  <c:v>33.873000000000005</c:v>
                </c:pt>
                <c:pt idx="15">
                  <c:v>35.07599999999999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New Zealand</c:v>
                </c:pt>
              </c:strCache>
            </c:strRef>
          </c:cat>
          <c:val>
            <c:numRef>
              <c:f>Sheet1!$B$2:$B$4</c:f>
              <c:numCache>
                <c:formatCode>General</c:formatCode>
                <c:ptCount val="3"/>
                <c:pt idx="0">
                  <c:v>0.05245930274733035</c:v>
                </c:pt>
                <c:pt idx="1">
                  <c:v>0.06654594628969646</c:v>
                </c:pt>
                <c:pt idx="2">
                  <c:v>0.03545494016997197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370274910902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24.756999999999998</c:v>
                </c:pt>
                <c:pt idx="2">
                  <c:v>25.502000000000002</c:v>
                </c:pt>
                <c:pt idx="3">
                  <c:v>26.328</c:v>
                </c:pt>
                <c:pt idx="4">
                  <c:v>27.236</c:v>
                </c:pt>
                <c:pt idx="5">
                  <c:v>28.221</c:v>
                </c:pt>
                <c:pt idx="6">
                  <c:v>29.268</c:v>
                </c:pt>
                <c:pt idx="7">
                  <c:v>30.374000000000002</c:v>
                </c:pt>
                <c:pt idx="8">
                  <c:v>31.512</c:v>
                </c:pt>
                <c:pt idx="9">
                  <c:v>32.686</c:v>
                </c:pt>
                <c:pt idx="10">
                  <c:v>33.873000000000005</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24.756999999999998</c:v>
                </c:pt>
                <c:pt idx="1">
                  <c:v>0.7450000000000045</c:v>
                </c:pt>
                <c:pt idx="2">
                  <c:v>0.825999999999997</c:v>
                </c:pt>
                <c:pt idx="3">
                  <c:v>0.9080000000000013</c:v>
                </c:pt>
                <c:pt idx="4">
                  <c:v>0.9849999999999994</c:v>
                </c:pt>
                <c:pt idx="5">
                  <c:v>1.0470000000000006</c:v>
                </c:pt>
                <c:pt idx="6">
                  <c:v>1.1060000000000016</c:v>
                </c:pt>
                <c:pt idx="7">
                  <c:v>1.1379999999999981</c:v>
                </c:pt>
                <c:pt idx="8">
                  <c:v>1.1739999999999995</c:v>
                </c:pt>
                <c:pt idx="9">
                  <c:v>1.1870000000000047</c:v>
                </c:pt>
                <c:pt idx="10">
                  <c:v>1.2029999999999887</c:v>
                </c:pt>
                <c:pt idx="11">
                  <c:v>35.07599999999999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New Zealand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2.0493323135096833</c:v>
                </c:pt>
                <c:pt idx="1">
                  <c:v>0.31293506215092326</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97.95066768649032</c:v>
                </c:pt>
                <c:pt idx="1">
                  <c:v>99.68706493784907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3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63.633</c:v>
                </c:pt>
                <c:pt idx="1">
                  <c:v>65.61</c:v>
                </c:pt>
                <c:pt idx="2">
                  <c:v>67.655</c:v>
                </c:pt>
                <c:pt idx="3">
                  <c:v>69.785</c:v>
                </c:pt>
                <c:pt idx="4">
                  <c:v>72.021</c:v>
                </c:pt>
                <c:pt idx="5">
                  <c:v>74.717</c:v>
                </c:pt>
                <c:pt idx="6">
                  <c:v>77.731</c:v>
                </c:pt>
                <c:pt idx="7">
                  <c:v>81.119</c:v>
                </c:pt>
                <c:pt idx="8">
                  <c:v>84.896</c:v>
                </c:pt>
                <c:pt idx="9">
                  <c:v>89.102</c:v>
                </c:pt>
                <c:pt idx="10">
                  <c:v>93.697</c:v>
                </c:pt>
                <c:pt idx="11">
                  <c:v>98.67099999999999</c:v>
                </c:pt>
                <c:pt idx="12">
                  <c:v>103.97</c:v>
                </c:pt>
                <c:pt idx="13">
                  <c:v>109.60000000000001</c:v>
                </c:pt>
                <c:pt idx="14">
                  <c:v>115.533</c:v>
                </c:pt>
                <c:pt idx="15">
                  <c:v>121.78299999999999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New Zealand</c:v>
                </c:pt>
              </c:strCache>
            </c:strRef>
          </c:cat>
          <c:val>
            <c:numRef>
              <c:f>Sheet1!$B$2:$B$4</c:f>
              <c:numCache>
                <c:formatCode>General</c:formatCode>
                <c:ptCount val="3"/>
                <c:pt idx="0">
                  <c:v>0.06658666629421717</c:v>
                </c:pt>
                <c:pt idx="1">
                  <c:v>0.07853749693674184</c:v>
                </c:pt>
                <c:pt idx="2">
                  <c:v>0.05006630828616254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60256208646014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74.717</c:v>
                </c:pt>
                <c:pt idx="2">
                  <c:v>77.731</c:v>
                </c:pt>
                <c:pt idx="3">
                  <c:v>81.119</c:v>
                </c:pt>
                <c:pt idx="4">
                  <c:v>84.896</c:v>
                </c:pt>
                <c:pt idx="5">
                  <c:v>89.102</c:v>
                </c:pt>
                <c:pt idx="6">
                  <c:v>93.697</c:v>
                </c:pt>
                <c:pt idx="7">
                  <c:v>98.67099999999999</c:v>
                </c:pt>
                <c:pt idx="8">
                  <c:v>103.97</c:v>
                </c:pt>
                <c:pt idx="9">
                  <c:v>109.60000000000001</c:v>
                </c:pt>
                <c:pt idx="10">
                  <c:v>115.533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74.717</c:v>
                </c:pt>
                <c:pt idx="1">
                  <c:v>3.013999999999996</c:v>
                </c:pt>
                <c:pt idx="2">
                  <c:v>3.3880000000000052</c:v>
                </c:pt>
                <c:pt idx="3">
                  <c:v>3.777000000000001</c:v>
                </c:pt>
                <c:pt idx="4">
                  <c:v>4.206000000000003</c:v>
                </c:pt>
                <c:pt idx="5">
                  <c:v>4.594999999999999</c:v>
                </c:pt>
                <c:pt idx="6">
                  <c:v>4.9739999999999895</c:v>
                </c:pt>
                <c:pt idx="7">
                  <c:v>5.299000000000007</c:v>
                </c:pt>
                <c:pt idx="8">
                  <c:v>5.63000000000001</c:v>
                </c:pt>
                <c:pt idx="9">
                  <c:v>5.932999999999993</c:v>
                </c:pt>
                <c:pt idx="10">
                  <c:v>6.249999999999986</c:v>
                </c:pt>
                <c:pt idx="11">
                  <c:v>121.78299999999999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New Zealand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4.219139807533545</c:v>
                </c:pt>
                <c:pt idx="1">
                  <c:v>0.46389726100881334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95.78086019246645</c:v>
                </c:pt>
                <c:pt idx="1">
                  <c:v>99.53610273899119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3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Waxes, Clays, Pastes…</c:v>
                </c:pt>
                <c:pt idx="7">
                  <c:v>Serums and Oils</c:v>
                </c:pt>
              </c:strCache>
            </c:strRef>
          </c:cat>
          <c:val>
            <c:numRef>
              <c:f>Sheet1!$B$2:$B$9</c:f>
              <c:numCache>
                <c:formatCode>General</c:formatCode>
                <c:ptCount val="8"/>
                <c:pt idx="0">
                  <c:v>5.459</c:v>
                </c:pt>
                <c:pt idx="1">
                  <c:v>6.661</c:v>
                </c:pt>
                <c:pt idx="2">
                  <c:v>7.751</c:v>
                </c:pt>
                <c:pt idx="3">
                  <c:v>9.166</c:v>
                </c:pt>
                <c:pt idx="4">
                  <c:v>9.963</c:v>
                </c:pt>
                <c:pt idx="5">
                  <c:v>10.109</c:v>
                </c:pt>
                <c:pt idx="6">
                  <c:v>12.137</c:v>
                </c:pt>
                <c:pt idx="7">
                  <c:v>13.471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8.0511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13.213</c:v>
                </c:pt>
                <c:pt idx="4">
                  <c:v>14.223</c:v>
                </c:pt>
                <c:pt idx="5">
                  <c:v>15.102</c:v>
                </c:pt>
                <c:pt idx="6">
                  <c:v>15.611</c:v>
                </c:pt>
                <c:pt idx="7">
                  <c:v>16.567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2.1997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23.608</c:v>
                </c:pt>
                <c:pt idx="6">
                  <c:v>23.767</c:v>
                </c:pt>
                <c:pt idx="7">
                  <c:v>27.343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6.6396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Salon and Professiona…</c:v>
                </c:pt>
                <c:pt idx="6">
                  <c:v>Mass Retail</c:v>
                </c:pt>
                <c:pt idx="7">
                  <c:v>Online Marketplaces</c:v>
                </c:pt>
              </c:strCache>
            </c:strRef>
          </c:cat>
          <c:val>
            <c:numRef>
              <c:f>Sheet1!$B$2:$B$9</c:f>
              <c:numCache>
                <c:formatCode>General</c:formatCode>
                <c:ptCount val="8"/>
                <c:pt idx="2">
                  <c:v>9.248</c:v>
                </c:pt>
                <c:pt idx="3">
                  <c:v>11.443</c:v>
                </c:pt>
                <c:pt idx="4">
                  <c:v>11.585</c:v>
                </c:pt>
                <c:pt idx="5">
                  <c:v>13.003</c:v>
                </c:pt>
                <c:pt idx="6">
                  <c:v>14.306</c:v>
                </c:pt>
                <c:pt idx="7">
                  <c:v>15.131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0.275540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8.828</c:v>
                </c:pt>
                <c:pt idx="2">
                  <c:v>10.389</c:v>
                </c:pt>
                <c:pt idx="3">
                  <c:v>10.538</c:v>
                </c:pt>
                <c:pt idx="4">
                  <c:v>10.565</c:v>
                </c:pt>
                <c:pt idx="5">
                  <c:v>10.639</c:v>
                </c:pt>
                <c:pt idx="6">
                  <c:v>11.845</c:v>
                </c:pt>
                <c:pt idx="7">
                  <c:v>11.912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5.96208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13.455</c:v>
                </c:pt>
                <c:pt idx="4">
                  <c:v>14.228</c:v>
                </c:pt>
                <c:pt idx="5">
                  <c:v>15.091</c:v>
                </c:pt>
                <c:pt idx="6">
                  <c:v>15.682</c:v>
                </c:pt>
                <c:pt idx="7">
                  <c:v>16.261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1.78974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17.917</c:v>
                </c:pt>
                <c:pt idx="5">
                  <c:v>18.649</c:v>
                </c:pt>
                <c:pt idx="6">
                  <c:v>18.737</c:v>
                </c:pt>
                <c:pt idx="7">
                  <c:v>19.413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6.013420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74.717</c:v>
                </c:pt>
                <c:pt idx="2">
                  <c:v>78.154</c:v>
                </c:pt>
                <c:pt idx="3">
                  <c:v>80.241</c:v>
                </c:pt>
                <c:pt idx="4">
                  <c:v>83.35</c:v>
                </c:pt>
                <c:pt idx="5">
                  <c:v>88.689</c:v>
                </c:pt>
                <c:pt idx="6">
                  <c:v>94.89699999999999</c:v>
                </c:pt>
                <c:pt idx="7">
                  <c:v>101.85399999999998</c:v>
                </c:pt>
                <c:pt idx="8">
                  <c:v>111.826</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74.717</c:v>
                </c:pt>
                <c:pt idx="1">
                  <c:v>3.4369999999999994</c:v>
                </c:pt>
                <c:pt idx="2">
                  <c:v>2.0869999999999997</c:v>
                </c:pt>
                <c:pt idx="3">
                  <c:v>3.109</c:v>
                </c:pt>
                <c:pt idx="4">
                  <c:v>5.339</c:v>
                </c:pt>
                <c:pt idx="5">
                  <c:v>6.207999999999998</c:v>
                </c:pt>
                <c:pt idx="6">
                  <c:v>6.957</c:v>
                </c:pt>
                <c:pt idx="7">
                  <c:v>9.972000000000001</c:v>
                </c:pt>
                <c:pt idx="8">
                  <c:v>9.957000000000003</c:v>
                </c:pt>
                <c:pt idx="9">
                  <c:v>121.78299999999999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3.4369999999999994</c:v>
                </c:pt>
                <c:pt idx="2">
                  <c:v>5.523999999999999</c:v>
                </c:pt>
                <c:pt idx="3">
                  <c:v>8.633</c:v>
                </c:pt>
                <c:pt idx="4">
                  <c:v>13.972</c:v>
                </c:pt>
                <c:pt idx="5">
                  <c:v>20.18</c:v>
                </c:pt>
                <c:pt idx="6">
                  <c:v>27.137</c:v>
                </c:pt>
                <c:pt idx="7">
                  <c:v>37.109</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3.4369999999999994</c:v>
                </c:pt>
                <c:pt idx="1">
                  <c:v>2.0869999999999997</c:v>
                </c:pt>
                <c:pt idx="2">
                  <c:v>3.109</c:v>
                </c:pt>
                <c:pt idx="3">
                  <c:v>5.339</c:v>
                </c:pt>
                <c:pt idx="4">
                  <c:v>6.207999999999998</c:v>
                </c:pt>
                <c:pt idx="5">
                  <c:v>6.957</c:v>
                </c:pt>
                <c:pt idx="6">
                  <c:v>9.972000000000001</c:v>
                </c:pt>
                <c:pt idx="7">
                  <c:v>9.957000000000003</c:v>
                </c:pt>
                <c:pt idx="8">
                  <c:v>47.066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74.716</c:v>
                </c:pt>
                <c:pt idx="2">
                  <c:v>84.92399999999999</c:v>
                </c:pt>
                <c:pt idx="3">
                  <c:v>96.92699999999999</c:v>
                </c:pt>
                <c:pt idx="4">
                  <c:v>107.16699999999999</c:v>
                </c:pt>
                <c:pt idx="5">
                  <c:v>115.59099999999998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74.716</c:v>
                </c:pt>
                <c:pt idx="1">
                  <c:v>10.208</c:v>
                </c:pt>
                <c:pt idx="2">
                  <c:v>12.003</c:v>
                </c:pt>
                <c:pt idx="3">
                  <c:v>10.239999999999998</c:v>
                </c:pt>
                <c:pt idx="4">
                  <c:v>8.424</c:v>
                </c:pt>
                <c:pt idx="5">
                  <c:v>6.189000000000002</c:v>
                </c:pt>
                <c:pt idx="6">
                  <c:v>121.78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10.208</c:v>
                </c:pt>
                <c:pt idx="2">
                  <c:v>22.211</c:v>
                </c:pt>
                <c:pt idx="3">
                  <c:v>32.45099999999999</c:v>
                </c:pt>
                <c:pt idx="4">
                  <c:v>40.87499999999999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10.208</c:v>
                </c:pt>
                <c:pt idx="1">
                  <c:v>12.003</c:v>
                </c:pt>
                <c:pt idx="2">
                  <c:v>10.239999999999998</c:v>
                </c:pt>
                <c:pt idx="3">
                  <c:v>8.424</c:v>
                </c:pt>
                <c:pt idx="4">
                  <c:v>6.189000000000002</c:v>
                </c:pt>
                <c:pt idx="5">
                  <c:v>47.06399999999999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74.718</c:v>
                </c:pt>
                <c:pt idx="2">
                  <c:v>89.622</c:v>
                </c:pt>
                <c:pt idx="3">
                  <c:v>104.61</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74.718</c:v>
                </c:pt>
                <c:pt idx="1">
                  <c:v>14.904</c:v>
                </c:pt>
                <c:pt idx="2">
                  <c:v>14.988000000000003</c:v>
                </c:pt>
                <c:pt idx="3">
                  <c:v>17.171000000000003</c:v>
                </c:pt>
                <c:pt idx="4">
                  <c:v>121.781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14.904</c:v>
                </c:pt>
                <c:pt idx="2">
                  <c:v>29.892000000000003</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14.904</c:v>
                </c:pt>
                <c:pt idx="1">
                  <c:v>14.988000000000003</c:v>
                </c:pt>
                <c:pt idx="2">
                  <c:v>17.171000000000003</c:v>
                </c:pt>
                <c:pt idx="3">
                  <c:v>47.063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74.716</c:v>
                </c:pt>
                <c:pt idx="2">
                  <c:v>80.925</c:v>
                </c:pt>
                <c:pt idx="3">
                  <c:v>88.556</c:v>
                </c:pt>
                <c:pt idx="4">
                  <c:v>96.14</c:v>
                </c:pt>
                <c:pt idx="5">
                  <c:v>101.97</c:v>
                </c:pt>
                <c:pt idx="6">
                  <c:v>114.714</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74.716</c:v>
                </c:pt>
                <c:pt idx="1">
                  <c:v>6.209000000000001</c:v>
                </c:pt>
                <c:pt idx="2">
                  <c:v>7.631</c:v>
                </c:pt>
                <c:pt idx="3">
                  <c:v>7.584</c:v>
                </c:pt>
                <c:pt idx="4">
                  <c:v>5.83</c:v>
                </c:pt>
                <c:pt idx="5">
                  <c:v>12.744</c:v>
                </c:pt>
                <c:pt idx="6">
                  <c:v>7.066000000000001</c:v>
                </c:pt>
                <c:pt idx="7">
                  <c:v>121.78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6.209000000000001</c:v>
                </c:pt>
                <c:pt idx="2">
                  <c:v>13.840000000000002</c:v>
                </c:pt>
                <c:pt idx="3">
                  <c:v>21.424</c:v>
                </c:pt>
                <c:pt idx="4">
                  <c:v>27.253999999999998</c:v>
                </c:pt>
                <c:pt idx="5">
                  <c:v>39.998</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6.209000000000001</c:v>
                </c:pt>
                <c:pt idx="1">
                  <c:v>7.631</c:v>
                </c:pt>
                <c:pt idx="2">
                  <c:v>7.584</c:v>
                </c:pt>
                <c:pt idx="3">
                  <c:v>5.83</c:v>
                </c:pt>
                <c:pt idx="4">
                  <c:v>12.744</c:v>
                </c:pt>
                <c:pt idx="5">
                  <c:v>7.066000000000001</c:v>
                </c:pt>
                <c:pt idx="6">
                  <c:v>47.064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74.716</c:v>
                </c:pt>
                <c:pt idx="2">
                  <c:v>79.41699999999999</c:v>
                </c:pt>
                <c:pt idx="3">
                  <c:v>88.79599999999999</c:v>
                </c:pt>
                <c:pt idx="4">
                  <c:v>94.457</c:v>
                </c:pt>
                <c:pt idx="5">
                  <c:v>100.978</c:v>
                </c:pt>
                <c:pt idx="6">
                  <c:v>109.44999999999999</c:v>
                </c:pt>
                <c:pt idx="7">
                  <c:v>113.57999999999998</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74.716</c:v>
                </c:pt>
                <c:pt idx="1">
                  <c:v>4.700999999999999</c:v>
                </c:pt>
                <c:pt idx="2">
                  <c:v>9.379000000000001</c:v>
                </c:pt>
                <c:pt idx="3">
                  <c:v>5.661000000000001</c:v>
                </c:pt>
                <c:pt idx="4">
                  <c:v>6.520999999999999</c:v>
                </c:pt>
                <c:pt idx="5">
                  <c:v>8.472</c:v>
                </c:pt>
                <c:pt idx="6">
                  <c:v>4.130000000000001</c:v>
                </c:pt>
                <c:pt idx="7">
                  <c:v>8.2</c:v>
                </c:pt>
                <c:pt idx="8">
                  <c:v>121.78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4.700999999999999</c:v>
                </c:pt>
                <c:pt idx="2">
                  <c:v>14.08</c:v>
                </c:pt>
                <c:pt idx="3">
                  <c:v>19.741</c:v>
                </c:pt>
                <c:pt idx="4">
                  <c:v>26.262</c:v>
                </c:pt>
                <c:pt idx="5">
                  <c:v>34.734</c:v>
                </c:pt>
                <c:pt idx="6">
                  <c:v>38.864000000000004</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4.700999999999999</c:v>
                </c:pt>
                <c:pt idx="1">
                  <c:v>9.379000000000001</c:v>
                </c:pt>
                <c:pt idx="2">
                  <c:v>5.661000000000001</c:v>
                </c:pt>
                <c:pt idx="3">
                  <c:v>6.520999999999999</c:v>
                </c:pt>
                <c:pt idx="4">
                  <c:v>8.472</c:v>
                </c:pt>
                <c:pt idx="5">
                  <c:v>4.130000000000001</c:v>
                </c:pt>
                <c:pt idx="6">
                  <c:v>8.2</c:v>
                </c:pt>
                <c:pt idx="7">
                  <c:v>47.06400000000001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74.717</c:v>
                </c:pt>
                <c:pt idx="2">
                  <c:v>82.17999999999999</c:v>
                </c:pt>
                <c:pt idx="3">
                  <c:v>91.624</c:v>
                </c:pt>
                <c:pt idx="4">
                  <c:v>101.97999999999999</c:v>
                </c:pt>
                <c:pt idx="5">
                  <c:v>112.814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74.717</c:v>
                </c:pt>
                <c:pt idx="1">
                  <c:v>7.462999999999999</c:v>
                </c:pt>
                <c:pt idx="2">
                  <c:v>9.444</c:v>
                </c:pt>
                <c:pt idx="3">
                  <c:v>10.356</c:v>
                </c:pt>
                <c:pt idx="4">
                  <c:v>10.834000000000001</c:v>
                </c:pt>
                <c:pt idx="5">
                  <c:v>8.968</c:v>
                </c:pt>
                <c:pt idx="6">
                  <c:v>121.782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7.462999999999999</c:v>
                </c:pt>
                <c:pt idx="2">
                  <c:v>16.907</c:v>
                </c:pt>
                <c:pt idx="3">
                  <c:v>27.262999999999998</c:v>
                </c:pt>
                <c:pt idx="4">
                  <c:v>38.097</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7.462999999999999</c:v>
                </c:pt>
                <c:pt idx="1">
                  <c:v>9.444</c:v>
                </c:pt>
                <c:pt idx="2">
                  <c:v>10.356</c:v>
                </c:pt>
                <c:pt idx="3">
                  <c:v>10.834000000000001</c:v>
                </c:pt>
                <c:pt idx="4">
                  <c:v>8.968</c:v>
                </c:pt>
                <c:pt idx="5">
                  <c:v>47.065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74.71600000000001</c:v>
                </c:pt>
                <c:pt idx="2">
                  <c:v>85.04100000000001</c:v>
                </c:pt>
                <c:pt idx="3">
                  <c:v>97.35900000000001</c:v>
                </c:pt>
                <c:pt idx="4">
                  <c:v>108.649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74.71600000000001</c:v>
                </c:pt>
                <c:pt idx="1">
                  <c:v>10.325</c:v>
                </c:pt>
                <c:pt idx="2">
                  <c:v>12.318000000000001</c:v>
                </c:pt>
                <c:pt idx="3">
                  <c:v>11.29</c:v>
                </c:pt>
                <c:pt idx="4">
                  <c:v>13.133</c:v>
                </c:pt>
                <c:pt idx="5">
                  <c:v>121.782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10.325</c:v>
                </c:pt>
                <c:pt idx="2">
                  <c:v>22.643</c:v>
                </c:pt>
                <c:pt idx="3">
                  <c:v>33.933</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10.325</c:v>
                </c:pt>
                <c:pt idx="1">
                  <c:v>12.318000000000001</c:v>
                </c:pt>
                <c:pt idx="2">
                  <c:v>11.29</c:v>
                </c:pt>
                <c:pt idx="3">
                  <c:v>13.133</c:v>
                </c:pt>
                <c:pt idx="4">
                  <c:v>47.066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93.916</c:v>
                </c:pt>
                <c:pt idx="1">
                  <c:v>98.493</c:v>
                </c:pt>
                <c:pt idx="2">
                  <c:v>103.271</c:v>
                </c:pt>
                <c:pt idx="3">
                  <c:v>108.239</c:v>
                </c:pt>
                <c:pt idx="4">
                  <c:v>113.521</c:v>
                </c:pt>
                <c:pt idx="5">
                  <c:v>119.39600000000002</c:v>
                </c:pt>
                <c:pt idx="6">
                  <c:v>125.989</c:v>
                </c:pt>
                <c:pt idx="7">
                  <c:v>133.42700000000002</c:v>
                </c:pt>
                <c:pt idx="8">
                  <c:v>141.768</c:v>
                </c:pt>
                <c:pt idx="9">
                  <c:v>150.987</c:v>
                </c:pt>
                <c:pt idx="10">
                  <c:v>161.011</c:v>
                </c:pt>
                <c:pt idx="11">
                  <c:v>171.805</c:v>
                </c:pt>
                <c:pt idx="12">
                  <c:v>183.282</c:v>
                </c:pt>
                <c:pt idx="13">
                  <c:v>195.38400000000001</c:v>
                </c:pt>
                <c:pt idx="14">
                  <c:v>207.962</c:v>
                </c:pt>
                <c:pt idx="15">
                  <c:v>221.02200000000002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Rest of South Asia</c:v>
                </c:pt>
              </c:strCache>
            </c:strRef>
          </c:cat>
          <c:val>
            <c:numRef>
              <c:f>Sheet1!$B$2:$B$4</c:f>
              <c:numCache>
                <c:formatCode>General</c:formatCode>
                <c:ptCount val="3"/>
                <c:pt idx="0">
                  <c:v>0.05245930274733035</c:v>
                </c:pt>
                <c:pt idx="1">
                  <c:v>0.06654594628969646</c:v>
                </c:pt>
                <c:pt idx="2">
                  <c:v>0.06351733390795378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370274910902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119.39600000000002</c:v>
                </c:pt>
                <c:pt idx="2">
                  <c:v>125.989</c:v>
                </c:pt>
                <c:pt idx="3">
                  <c:v>133.42700000000002</c:v>
                </c:pt>
                <c:pt idx="4">
                  <c:v>141.768</c:v>
                </c:pt>
                <c:pt idx="5">
                  <c:v>150.987</c:v>
                </c:pt>
                <c:pt idx="6">
                  <c:v>161.011</c:v>
                </c:pt>
                <c:pt idx="7">
                  <c:v>171.805</c:v>
                </c:pt>
                <c:pt idx="8">
                  <c:v>183.282</c:v>
                </c:pt>
                <c:pt idx="9">
                  <c:v>195.38400000000001</c:v>
                </c:pt>
                <c:pt idx="10">
                  <c:v>207.962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119.39600000000002</c:v>
                </c:pt>
                <c:pt idx="1">
                  <c:v>6.592999999999989</c:v>
                </c:pt>
                <c:pt idx="2">
                  <c:v>7.438000000000017</c:v>
                </c:pt>
                <c:pt idx="3">
                  <c:v>8.34099999999998</c:v>
                </c:pt>
                <c:pt idx="4">
                  <c:v>9.218999999999994</c:v>
                </c:pt>
                <c:pt idx="5">
                  <c:v>10.024000000000001</c:v>
                </c:pt>
                <c:pt idx="6">
                  <c:v>10.794000000000011</c:v>
                </c:pt>
                <c:pt idx="7">
                  <c:v>11.477000000000004</c:v>
                </c:pt>
                <c:pt idx="8">
                  <c:v>12.102000000000004</c:v>
                </c:pt>
                <c:pt idx="9">
                  <c:v>12.577999999999975</c:v>
                </c:pt>
                <c:pt idx="10">
                  <c:v>13.06000000000003</c:v>
                </c:pt>
                <c:pt idx="11">
                  <c:v>221.02200000000002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South Asia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9.883349392244707</c:v>
                </c:pt>
                <c:pt idx="1">
                  <c:v>1.5091971838498865</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90.11665060775529</c:v>
                </c:pt>
                <c:pt idx="1">
                  <c:v>98.49080281615011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3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111.24100000000001</c:v>
                </c:pt>
                <c:pt idx="1">
                  <c:v>117.212</c:v>
                </c:pt>
                <c:pt idx="2">
                  <c:v>123.499</c:v>
                </c:pt>
                <c:pt idx="3">
                  <c:v>130.166</c:v>
                </c:pt>
                <c:pt idx="4">
                  <c:v>137.317</c:v>
                </c:pt>
                <c:pt idx="5">
                  <c:v>145.911</c:v>
                </c:pt>
                <c:pt idx="6">
                  <c:v>155.732</c:v>
                </c:pt>
                <c:pt idx="7">
                  <c:v>166.983</c:v>
                </c:pt>
                <c:pt idx="8">
                  <c:v>179.782</c:v>
                </c:pt>
                <c:pt idx="9">
                  <c:v>194.278</c:v>
                </c:pt>
                <c:pt idx="10">
                  <c:v>210.397</c:v>
                </c:pt>
                <c:pt idx="11">
                  <c:v>228.191</c:v>
                </c:pt>
                <c:pt idx="12">
                  <c:v>247.626</c:v>
                </c:pt>
                <c:pt idx="13">
                  <c:v>268.74399999999997</c:v>
                </c:pt>
                <c:pt idx="14">
                  <c:v>291.49199999999996</c:v>
                </c:pt>
                <c:pt idx="15">
                  <c:v>315.949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Rest of South Asia</c:v>
                </c:pt>
              </c:strCache>
            </c:strRef>
          </c:cat>
          <c:val>
            <c:numRef>
              <c:f>Sheet1!$B$2:$B$4</c:f>
              <c:numCache>
                <c:formatCode>General</c:formatCode>
                <c:ptCount val="3"/>
                <c:pt idx="0">
                  <c:v>0.06658666629421717</c:v>
                </c:pt>
                <c:pt idx="1">
                  <c:v>0.07853749693674184</c:v>
                </c:pt>
                <c:pt idx="2">
                  <c:v>0.08032119115186687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84336080550202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145.911</c:v>
                </c:pt>
                <c:pt idx="2">
                  <c:v>155.732</c:v>
                </c:pt>
                <c:pt idx="3">
                  <c:v>166.983</c:v>
                </c:pt>
                <c:pt idx="4">
                  <c:v>179.782</c:v>
                </c:pt>
                <c:pt idx="5">
                  <c:v>194.278</c:v>
                </c:pt>
                <c:pt idx="6">
                  <c:v>210.397</c:v>
                </c:pt>
                <c:pt idx="7">
                  <c:v>228.191</c:v>
                </c:pt>
                <c:pt idx="8">
                  <c:v>247.626</c:v>
                </c:pt>
                <c:pt idx="9">
                  <c:v>268.74399999999997</c:v>
                </c:pt>
                <c:pt idx="10">
                  <c:v>291.49199999999996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145.911</c:v>
                </c:pt>
                <c:pt idx="1">
                  <c:v>9.820999999999998</c:v>
                </c:pt>
                <c:pt idx="2">
                  <c:v>11.251000000000005</c:v>
                </c:pt>
                <c:pt idx="3">
                  <c:v>12.799000000000007</c:v>
                </c:pt>
                <c:pt idx="4">
                  <c:v>14.495999999999981</c:v>
                </c:pt>
                <c:pt idx="5">
                  <c:v>16.119</c:v>
                </c:pt>
                <c:pt idx="6">
                  <c:v>17.79400000000001</c:v>
                </c:pt>
                <c:pt idx="7">
                  <c:v>19.435000000000002</c:v>
                </c:pt>
                <c:pt idx="8">
                  <c:v>21.117999999999967</c:v>
                </c:pt>
                <c:pt idx="9">
                  <c:v>22.74799999999999</c:v>
                </c:pt>
                <c:pt idx="10">
                  <c:v>24.45700000000005</c:v>
                </c:pt>
                <c:pt idx="11">
                  <c:v>315.949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South Asia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8.239341896181955</c:v>
                </c:pt>
                <c:pt idx="1">
                  <c:v>0.9059211859557661</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91.76065810381805</c:v>
                </c:pt>
                <c:pt idx="1">
                  <c:v>99.09407881404424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3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Sprays and Mists</c:v>
                </c:pt>
                <c:pt idx="2">
                  <c:v>Powders</c:v>
                </c:pt>
                <c:pt idx="3">
                  <c:v>Gels and Jellies</c:v>
                </c:pt>
                <c:pt idx="4">
                  <c:v>Sticks and Balms</c:v>
                </c:pt>
                <c:pt idx="5">
                  <c:v>Creams and Lotions</c:v>
                </c:pt>
                <c:pt idx="6">
                  <c:v>Serums and Oils</c:v>
                </c:pt>
                <c:pt idx="7">
                  <c:v>Waxes, Clays, Pastes…</c:v>
                </c:pt>
              </c:strCache>
            </c:strRef>
          </c:cat>
          <c:val>
            <c:numRef>
              <c:f>Sheet1!$B$2:$B$9</c:f>
              <c:numCache>
                <c:formatCode>General</c:formatCode>
                <c:ptCount val="8"/>
                <c:pt idx="0">
                  <c:v>10.225000000000001</c:v>
                </c:pt>
                <c:pt idx="1">
                  <c:v>14.021</c:v>
                </c:pt>
                <c:pt idx="2">
                  <c:v>14.315</c:v>
                </c:pt>
                <c:pt idx="3">
                  <c:v>18.171</c:v>
                </c:pt>
                <c:pt idx="4">
                  <c:v>18.445</c:v>
                </c:pt>
                <c:pt idx="5">
                  <c:v>18.646</c:v>
                </c:pt>
                <c:pt idx="6">
                  <c:v>24.95</c:v>
                </c:pt>
                <c:pt idx="7">
                  <c:v>27.138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6.364920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No Hold</c:v>
                </c:pt>
                <c:pt idx="4">
                  <c:v>Extra-strong Hold</c:v>
                </c:pt>
                <c:pt idx="5">
                  <c:v>Light or Flexible Hold</c:v>
                </c:pt>
                <c:pt idx="6">
                  <c:v>Strong Hold</c:v>
                </c:pt>
                <c:pt idx="7">
                  <c:v>Medium Hold</c:v>
                </c:pt>
              </c:strCache>
            </c:strRef>
          </c:cat>
          <c:val>
            <c:numRef>
              <c:f>Sheet1!$B$2:$B$9</c:f>
              <c:numCache>
                <c:formatCode>General</c:formatCode>
                <c:ptCount val="8"/>
                <c:pt idx="3">
                  <c:v>22.991</c:v>
                </c:pt>
                <c:pt idx="4">
                  <c:v>27.287</c:v>
                </c:pt>
                <c:pt idx="5">
                  <c:v>27.523</c:v>
                </c:pt>
                <c:pt idx="6">
                  <c:v>32.326</c:v>
                </c:pt>
                <c:pt idx="7">
                  <c:v>35.784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7.9505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47.447</c:v>
                </c:pt>
                <c:pt idx="6">
                  <c:v>48.564</c:v>
                </c:pt>
                <c:pt idx="7">
                  <c:v>49.901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6.86734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Online Marketplaces</c:v>
                </c:pt>
                <c:pt idx="6">
                  <c:v>Salon and Professiona…</c:v>
                </c:pt>
                <c:pt idx="7">
                  <c:v>Mass Retail</c:v>
                </c:pt>
              </c:strCache>
            </c:strRef>
          </c:cat>
          <c:val>
            <c:numRef>
              <c:f>Sheet1!$B$2:$B$9</c:f>
              <c:numCache>
                <c:formatCode>General</c:formatCode>
                <c:ptCount val="8"/>
                <c:pt idx="2">
                  <c:v>17.104</c:v>
                </c:pt>
                <c:pt idx="3">
                  <c:v>21.346</c:v>
                </c:pt>
                <c:pt idx="4">
                  <c:v>21.67</c:v>
                </c:pt>
                <c:pt idx="5">
                  <c:v>22.901</c:v>
                </c:pt>
                <c:pt idx="6">
                  <c:v>24.273</c:v>
                </c:pt>
                <c:pt idx="7">
                  <c:v>38.617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1.7467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16.962</c:v>
                </c:pt>
                <c:pt idx="2">
                  <c:v>19.687</c:v>
                </c:pt>
                <c:pt idx="3">
                  <c:v>19.92</c:v>
                </c:pt>
                <c:pt idx="4">
                  <c:v>19.936</c:v>
                </c:pt>
                <c:pt idx="5">
                  <c:v>20.156</c:v>
                </c:pt>
                <c:pt idx="6">
                  <c:v>22.586</c:v>
                </c:pt>
                <c:pt idx="7">
                  <c:v>26.664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5.7297600000000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26.223</c:v>
                </c:pt>
                <c:pt idx="4">
                  <c:v>27.636</c:v>
                </c:pt>
                <c:pt idx="5">
                  <c:v>29.557</c:v>
                </c:pt>
                <c:pt idx="6">
                  <c:v>30.694</c:v>
                </c:pt>
                <c:pt idx="7">
                  <c:v>31.801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2.6133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34.937</c:v>
                </c:pt>
                <c:pt idx="5">
                  <c:v>36.495000000000005</c:v>
                </c:pt>
                <c:pt idx="6">
                  <c:v>36.618</c:v>
                </c:pt>
                <c:pt idx="7">
                  <c:v>37.861000000000004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0.73374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145.911</c:v>
                </c:pt>
                <c:pt idx="2">
                  <c:v>156.257</c:v>
                </c:pt>
                <c:pt idx="3">
                  <c:v>164.436</c:v>
                </c:pt>
                <c:pt idx="4">
                  <c:v>182.236</c:v>
                </c:pt>
                <c:pt idx="5">
                  <c:v>201.778</c:v>
                </c:pt>
                <c:pt idx="6">
                  <c:v>234.39499999999998</c:v>
                </c:pt>
                <c:pt idx="7">
                  <c:v>255.189</c:v>
                </c:pt>
                <c:pt idx="8">
                  <c:v>286.65</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145.911</c:v>
                </c:pt>
                <c:pt idx="1">
                  <c:v>10.345999999999997</c:v>
                </c:pt>
                <c:pt idx="2">
                  <c:v>8.178999999999998</c:v>
                </c:pt>
                <c:pt idx="3">
                  <c:v>17.799999999999997</c:v>
                </c:pt>
                <c:pt idx="4">
                  <c:v>19.542</c:v>
                </c:pt>
                <c:pt idx="5">
                  <c:v>32.617000000000004</c:v>
                </c:pt>
                <c:pt idx="6">
                  <c:v>20.794000000000004</c:v>
                </c:pt>
                <c:pt idx="7">
                  <c:v>31.461000000000002</c:v>
                </c:pt>
                <c:pt idx="8">
                  <c:v>29.299</c:v>
                </c:pt>
                <c:pt idx="9">
                  <c:v>315.949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10.345999999999997</c:v>
                </c:pt>
                <c:pt idx="2">
                  <c:v>18.524999999999995</c:v>
                </c:pt>
                <c:pt idx="3">
                  <c:v>36.32499999999999</c:v>
                </c:pt>
                <c:pt idx="4">
                  <c:v>55.86699999999999</c:v>
                </c:pt>
                <c:pt idx="5">
                  <c:v>88.484</c:v>
                </c:pt>
                <c:pt idx="6">
                  <c:v>109.27799999999999</c:v>
                </c:pt>
                <c:pt idx="7">
                  <c:v>140.739</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10.345999999999997</c:v>
                </c:pt>
                <c:pt idx="1">
                  <c:v>8.178999999999998</c:v>
                </c:pt>
                <c:pt idx="2">
                  <c:v>17.799999999999997</c:v>
                </c:pt>
                <c:pt idx="3">
                  <c:v>19.542</c:v>
                </c:pt>
                <c:pt idx="4">
                  <c:v>32.617000000000004</c:v>
                </c:pt>
                <c:pt idx="5">
                  <c:v>20.794000000000004</c:v>
                </c:pt>
                <c:pt idx="6">
                  <c:v>31.461000000000002</c:v>
                </c:pt>
                <c:pt idx="7">
                  <c:v>29.299</c:v>
                </c:pt>
                <c:pt idx="8">
                  <c:v>170.038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145.911</c:v>
                </c:pt>
                <c:pt idx="2">
                  <c:v>175.87</c:v>
                </c:pt>
                <c:pt idx="3">
                  <c:v>214.262</c:v>
                </c:pt>
                <c:pt idx="4">
                  <c:v>255.64000000000001</c:v>
                </c:pt>
                <c:pt idx="5">
                  <c:v>289.663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145.911</c:v>
                </c:pt>
                <c:pt idx="1">
                  <c:v>29.959000000000003</c:v>
                </c:pt>
                <c:pt idx="2">
                  <c:v>38.39200000000001</c:v>
                </c:pt>
                <c:pt idx="3">
                  <c:v>41.37800000000001</c:v>
                </c:pt>
                <c:pt idx="4">
                  <c:v>34.023</c:v>
                </c:pt>
                <c:pt idx="5">
                  <c:v>26.284</c:v>
                </c:pt>
                <c:pt idx="6">
                  <c:v>315.947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29.959000000000003</c:v>
                </c:pt>
                <c:pt idx="2">
                  <c:v>68.35100000000001</c:v>
                </c:pt>
                <c:pt idx="3">
                  <c:v>109.72900000000001</c:v>
                </c:pt>
                <c:pt idx="4">
                  <c:v>143.752</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29.959000000000003</c:v>
                </c:pt>
                <c:pt idx="1">
                  <c:v>38.39200000000001</c:v>
                </c:pt>
                <c:pt idx="2">
                  <c:v>41.37800000000001</c:v>
                </c:pt>
                <c:pt idx="3">
                  <c:v>34.023</c:v>
                </c:pt>
                <c:pt idx="4">
                  <c:v>26.284</c:v>
                </c:pt>
                <c:pt idx="5">
                  <c:v>170.036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145.912</c:v>
                </c:pt>
                <c:pt idx="2">
                  <c:v>201.912</c:v>
                </c:pt>
                <c:pt idx="3">
                  <c:v>254.28</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145.912</c:v>
                </c:pt>
                <c:pt idx="1">
                  <c:v>55.99999999999999</c:v>
                </c:pt>
                <c:pt idx="2">
                  <c:v>52.368</c:v>
                </c:pt>
                <c:pt idx="3">
                  <c:v>61.66799999999999</c:v>
                </c:pt>
                <c:pt idx="4">
                  <c:v>315.948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55.99999999999999</c:v>
                </c:pt>
                <c:pt idx="2">
                  <c:v>108.368</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55.99999999999999</c:v>
                </c:pt>
                <c:pt idx="1">
                  <c:v>52.368</c:v>
                </c:pt>
                <c:pt idx="2">
                  <c:v>61.66799999999999</c:v>
                </c:pt>
                <c:pt idx="3">
                  <c:v>170.036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145.911</c:v>
                </c:pt>
                <c:pt idx="2">
                  <c:v>182.035</c:v>
                </c:pt>
                <c:pt idx="3">
                  <c:v>208.654</c:v>
                </c:pt>
                <c:pt idx="4">
                  <c:v>236.157</c:v>
                </c:pt>
                <c:pt idx="5">
                  <c:v>258.334</c:v>
                </c:pt>
                <c:pt idx="6">
                  <c:v>292.236</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145.911</c:v>
                </c:pt>
                <c:pt idx="1">
                  <c:v>36.124</c:v>
                </c:pt>
                <c:pt idx="2">
                  <c:v>26.619</c:v>
                </c:pt>
                <c:pt idx="3">
                  <c:v>27.503000000000004</c:v>
                </c:pt>
                <c:pt idx="4">
                  <c:v>22.177000000000003</c:v>
                </c:pt>
                <c:pt idx="5">
                  <c:v>33.902</c:v>
                </c:pt>
                <c:pt idx="6">
                  <c:v>23.711</c:v>
                </c:pt>
                <c:pt idx="7">
                  <c:v>315.947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36.124</c:v>
                </c:pt>
                <c:pt idx="2">
                  <c:v>62.743</c:v>
                </c:pt>
                <c:pt idx="3">
                  <c:v>90.24600000000001</c:v>
                </c:pt>
                <c:pt idx="4">
                  <c:v>112.42300000000002</c:v>
                </c:pt>
                <c:pt idx="5">
                  <c:v>146.32500000000002</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36.124</c:v>
                </c:pt>
                <c:pt idx="1">
                  <c:v>26.619</c:v>
                </c:pt>
                <c:pt idx="2">
                  <c:v>27.503000000000004</c:v>
                </c:pt>
                <c:pt idx="3">
                  <c:v>22.177000000000003</c:v>
                </c:pt>
                <c:pt idx="4">
                  <c:v>33.902</c:v>
                </c:pt>
                <c:pt idx="5">
                  <c:v>23.711</c:v>
                </c:pt>
                <c:pt idx="6">
                  <c:v>170.036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145.91100000000003</c:v>
                </c:pt>
                <c:pt idx="2">
                  <c:v>168.92600000000004</c:v>
                </c:pt>
                <c:pt idx="3">
                  <c:v>199.25200000000004</c:v>
                </c:pt>
                <c:pt idx="4">
                  <c:v>220.10200000000003</c:v>
                </c:pt>
                <c:pt idx="5">
                  <c:v>243.11000000000004</c:v>
                </c:pt>
                <c:pt idx="6">
                  <c:v>272.39700000000005</c:v>
                </c:pt>
                <c:pt idx="7">
                  <c:v>288.725</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145.91100000000003</c:v>
                </c:pt>
                <c:pt idx="1">
                  <c:v>23.015</c:v>
                </c:pt>
                <c:pt idx="2">
                  <c:v>30.326</c:v>
                </c:pt>
                <c:pt idx="3">
                  <c:v>20.85</c:v>
                </c:pt>
                <c:pt idx="4">
                  <c:v>23.008000000000003</c:v>
                </c:pt>
                <c:pt idx="5">
                  <c:v>29.287</c:v>
                </c:pt>
                <c:pt idx="6">
                  <c:v>16.328</c:v>
                </c:pt>
                <c:pt idx="7">
                  <c:v>27.224</c:v>
                </c:pt>
                <c:pt idx="8">
                  <c:v>315.949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23.015</c:v>
                </c:pt>
                <c:pt idx="2">
                  <c:v>53.341</c:v>
                </c:pt>
                <c:pt idx="3">
                  <c:v>74.191</c:v>
                </c:pt>
                <c:pt idx="4">
                  <c:v>97.19900000000001</c:v>
                </c:pt>
                <c:pt idx="5">
                  <c:v>126.48600000000002</c:v>
                </c:pt>
                <c:pt idx="6">
                  <c:v>142.81400000000002</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23.015</c:v>
                </c:pt>
                <c:pt idx="1">
                  <c:v>30.326</c:v>
                </c:pt>
                <c:pt idx="2">
                  <c:v>20.85</c:v>
                </c:pt>
                <c:pt idx="3">
                  <c:v>23.008000000000003</c:v>
                </c:pt>
                <c:pt idx="4">
                  <c:v>29.287</c:v>
                </c:pt>
                <c:pt idx="5">
                  <c:v>16.328</c:v>
                </c:pt>
                <c:pt idx="6">
                  <c:v>27.224</c:v>
                </c:pt>
                <c:pt idx="7">
                  <c:v>170.038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145.911</c:v>
                </c:pt>
                <c:pt idx="2">
                  <c:v>175.427</c:v>
                </c:pt>
                <c:pt idx="3">
                  <c:v>209.523</c:v>
                </c:pt>
                <c:pt idx="4">
                  <c:v>245.583</c:v>
                </c:pt>
                <c:pt idx="5">
                  <c:v>282.207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145.911</c:v>
                </c:pt>
                <c:pt idx="1">
                  <c:v>29.516000000000002</c:v>
                </c:pt>
                <c:pt idx="2">
                  <c:v>34.096000000000004</c:v>
                </c:pt>
                <c:pt idx="3">
                  <c:v>36.06</c:v>
                </c:pt>
                <c:pt idx="4">
                  <c:v>36.624</c:v>
                </c:pt>
                <c:pt idx="5">
                  <c:v>33.739999999999995</c:v>
                </c:pt>
                <c:pt idx="6">
                  <c:v>315.947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29.516000000000002</c:v>
                </c:pt>
                <c:pt idx="2">
                  <c:v>63.61200000000001</c:v>
                </c:pt>
                <c:pt idx="3">
                  <c:v>99.67200000000001</c:v>
                </c:pt>
                <c:pt idx="4">
                  <c:v>136.29600000000002</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29.516000000000002</c:v>
                </c:pt>
                <c:pt idx="1">
                  <c:v>34.096000000000004</c:v>
                </c:pt>
                <c:pt idx="2">
                  <c:v>36.06</c:v>
                </c:pt>
                <c:pt idx="3">
                  <c:v>36.624</c:v>
                </c:pt>
                <c:pt idx="4">
                  <c:v>33.739999999999995</c:v>
                </c:pt>
                <c:pt idx="5">
                  <c:v>170.036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145.911</c:v>
                </c:pt>
                <c:pt idx="2">
                  <c:v>183.23000000000002</c:v>
                </c:pt>
                <c:pt idx="3">
                  <c:v>228.36900000000003</c:v>
                </c:pt>
                <c:pt idx="4">
                  <c:v>270.134</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145.911</c:v>
                </c:pt>
                <c:pt idx="1">
                  <c:v>37.319</c:v>
                </c:pt>
                <c:pt idx="2">
                  <c:v>45.139</c:v>
                </c:pt>
                <c:pt idx="3">
                  <c:v>41.764999999999986</c:v>
                </c:pt>
                <c:pt idx="4">
                  <c:v>45.81400000000001</c:v>
                </c:pt>
                <c:pt idx="5">
                  <c:v>315.948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37.319</c:v>
                </c:pt>
                <c:pt idx="2">
                  <c:v>82.458</c:v>
                </c:pt>
                <c:pt idx="3">
                  <c:v>124.22299999999998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37.319</c:v>
                </c:pt>
                <c:pt idx="1">
                  <c:v>45.139</c:v>
                </c:pt>
                <c:pt idx="2">
                  <c:v>41.764999999999986</c:v>
                </c:pt>
                <c:pt idx="3">
                  <c:v>45.81400000000001</c:v>
                </c:pt>
                <c:pt idx="4">
                  <c:v>170.03699999999998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36.387</c:v>
                </c:pt>
                <c:pt idx="1">
                  <c:v>37.879</c:v>
                </c:pt>
                <c:pt idx="2">
                  <c:v>39.425</c:v>
                </c:pt>
                <c:pt idx="3">
                  <c:v>41.012</c:v>
                </c:pt>
                <c:pt idx="4">
                  <c:v>42.686</c:v>
                </c:pt>
                <c:pt idx="5">
                  <c:v>44.534000000000006</c:v>
                </c:pt>
                <c:pt idx="6">
                  <c:v>46.595</c:v>
                </c:pt>
                <c:pt idx="7">
                  <c:v>48.91</c:v>
                </c:pt>
                <c:pt idx="8">
                  <c:v>51.487</c:v>
                </c:pt>
                <c:pt idx="9">
                  <c:v>54.326</c:v>
                </c:pt>
                <c:pt idx="10">
                  <c:v>57.388000000000005</c:v>
                </c:pt>
                <c:pt idx="11">
                  <c:v>60.657000000000004</c:v>
                </c:pt>
                <c:pt idx="12">
                  <c:v>64.09299999999999</c:v>
                </c:pt>
                <c:pt idx="13">
                  <c:v>67.67999999999999</c:v>
                </c:pt>
                <c:pt idx="14">
                  <c:v>71.374</c:v>
                </c:pt>
                <c:pt idx="15">
                  <c:v>75.17699999999999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UAE</c:v>
                </c:pt>
              </c:strCache>
            </c:strRef>
          </c:cat>
          <c:val>
            <c:numRef>
              <c:f>Sheet1!$B$2:$B$4</c:f>
              <c:numCache>
                <c:formatCode>General</c:formatCode>
                <c:ptCount val="3"/>
                <c:pt idx="0">
                  <c:v>0.05245930274733035</c:v>
                </c:pt>
                <c:pt idx="1">
                  <c:v>0.06040785576190855</c:v>
                </c:pt>
                <c:pt idx="2">
                  <c:v>0.053754224217023916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15506052785765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44.534000000000006</c:v>
                </c:pt>
                <c:pt idx="2">
                  <c:v>46.595</c:v>
                </c:pt>
                <c:pt idx="3">
                  <c:v>48.91</c:v>
                </c:pt>
                <c:pt idx="4">
                  <c:v>51.487</c:v>
                </c:pt>
                <c:pt idx="5">
                  <c:v>54.326</c:v>
                </c:pt>
                <c:pt idx="6">
                  <c:v>57.388000000000005</c:v>
                </c:pt>
                <c:pt idx="7">
                  <c:v>60.657000000000004</c:v>
                </c:pt>
                <c:pt idx="8">
                  <c:v>64.09299999999999</c:v>
                </c:pt>
                <c:pt idx="9">
                  <c:v>67.67999999999999</c:v>
                </c:pt>
                <c:pt idx="10">
                  <c:v>71.374</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44.534000000000006</c:v>
                </c:pt>
                <c:pt idx="1">
                  <c:v>2.060999999999993</c:v>
                </c:pt>
                <c:pt idx="2">
                  <c:v>2.3149999999999977</c:v>
                </c:pt>
                <c:pt idx="3">
                  <c:v>2.5770000000000053</c:v>
                </c:pt>
                <c:pt idx="4">
                  <c:v>2.8389999999999986</c:v>
                </c:pt>
                <c:pt idx="5">
                  <c:v>3.0620000000000047</c:v>
                </c:pt>
                <c:pt idx="6">
                  <c:v>3.2689999999999984</c:v>
                </c:pt>
                <c:pt idx="7">
                  <c:v>3.4359999999999857</c:v>
                </c:pt>
                <c:pt idx="8">
                  <c:v>3.5870000000000033</c:v>
                </c:pt>
                <c:pt idx="9">
                  <c:v>3.6940000000000026</c:v>
                </c:pt>
                <c:pt idx="10">
                  <c:v>3.8029999999999973</c:v>
                </c:pt>
                <c:pt idx="11">
                  <c:v>75.17699999999999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UAE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7.660906737311096</c:v>
                </c:pt>
                <c:pt idx="1">
                  <c:v>0.5629216002677715</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92.3390932626889</c:v>
                </c:pt>
                <c:pt idx="1">
                  <c:v>99.43707839973223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3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94.383</c:v>
                </c:pt>
                <c:pt idx="1">
                  <c:v>98.71700000000001</c:v>
                </c:pt>
                <c:pt idx="2">
                  <c:v>103.238</c:v>
                </c:pt>
                <c:pt idx="3">
                  <c:v>107.965</c:v>
                </c:pt>
                <c:pt idx="4">
                  <c:v>112.984</c:v>
                </c:pt>
                <c:pt idx="5">
                  <c:v>118.92999999999999</c:v>
                </c:pt>
                <c:pt idx="6">
                  <c:v>125.64699999999999</c:v>
                </c:pt>
                <c:pt idx="7">
                  <c:v>133.28300000000002</c:v>
                </c:pt>
                <c:pt idx="8">
                  <c:v>141.94799999999998</c:v>
                </c:pt>
                <c:pt idx="9">
                  <c:v>151.70100000000002</c:v>
                </c:pt>
                <c:pt idx="10">
                  <c:v>162.43900000000002</c:v>
                </c:pt>
                <c:pt idx="11">
                  <c:v>174.16500000000002</c:v>
                </c:pt>
                <c:pt idx="12">
                  <c:v>186.787</c:v>
                </c:pt>
                <c:pt idx="13">
                  <c:v>200.314</c:v>
                </c:pt>
                <c:pt idx="14">
                  <c:v>214.71499999999997</c:v>
                </c:pt>
                <c:pt idx="15">
                  <c:v>230.004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UAE</c:v>
                </c:pt>
              </c:strCache>
            </c:strRef>
          </c:cat>
          <c:val>
            <c:numRef>
              <c:f>Sheet1!$B$2:$B$4</c:f>
              <c:numCache>
                <c:formatCode>General</c:formatCode>
                <c:ptCount val="3"/>
                <c:pt idx="0">
                  <c:v>0.06658666629421717</c:v>
                </c:pt>
                <c:pt idx="1">
                  <c:v>0.07540738186272966</c:v>
                </c:pt>
                <c:pt idx="2">
                  <c:v>0.06817988877151948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17999655146850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118.92999999999999</c:v>
                </c:pt>
                <c:pt idx="2">
                  <c:v>125.64699999999999</c:v>
                </c:pt>
                <c:pt idx="3">
                  <c:v>133.28300000000002</c:v>
                </c:pt>
                <c:pt idx="4">
                  <c:v>141.94799999999998</c:v>
                </c:pt>
                <c:pt idx="5">
                  <c:v>151.70100000000002</c:v>
                </c:pt>
                <c:pt idx="6">
                  <c:v>162.43900000000002</c:v>
                </c:pt>
                <c:pt idx="7">
                  <c:v>174.16500000000002</c:v>
                </c:pt>
                <c:pt idx="8">
                  <c:v>186.787</c:v>
                </c:pt>
                <c:pt idx="9">
                  <c:v>200.314</c:v>
                </c:pt>
                <c:pt idx="10">
                  <c:v>214.71499999999997</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118.92999999999999</c:v>
                </c:pt>
                <c:pt idx="1">
                  <c:v>6.716999999999999</c:v>
                </c:pt>
                <c:pt idx="2">
                  <c:v>7.636000000000024</c:v>
                </c:pt>
                <c:pt idx="3">
                  <c:v>8.664999999999964</c:v>
                </c:pt>
                <c:pt idx="4">
                  <c:v>9.753000000000043</c:v>
                </c:pt>
                <c:pt idx="5">
                  <c:v>10.738</c:v>
                </c:pt>
                <c:pt idx="6">
                  <c:v>11.725999999999999</c:v>
                </c:pt>
                <c:pt idx="7">
                  <c:v>12.621999999999986</c:v>
                </c:pt>
                <c:pt idx="8">
                  <c:v>13.526999999999987</c:v>
                </c:pt>
                <c:pt idx="9">
                  <c:v>14.400999999999982</c:v>
                </c:pt>
                <c:pt idx="10">
                  <c:v>15.289000000000016</c:v>
                </c:pt>
                <c:pt idx="11">
                  <c:v>230.004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UAE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11.595494400174715</c:v>
                </c:pt>
                <c:pt idx="1">
                  <c:v>0.7384035929143057</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88.40450559982528</c:v>
                </c:pt>
                <c:pt idx="1">
                  <c:v>99.26159640708569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3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Waxes, Clays, Pastes…</c:v>
                </c:pt>
                <c:pt idx="7">
                  <c:v>Serums and Oils</c:v>
                </c:pt>
              </c:strCache>
            </c:strRef>
          </c:cat>
          <c:val>
            <c:numRef>
              <c:f>Sheet1!$B$2:$B$9</c:f>
              <c:numCache>
                <c:formatCode>General</c:formatCode>
                <c:ptCount val="8"/>
                <c:pt idx="0">
                  <c:v>8.204</c:v>
                </c:pt>
                <c:pt idx="1">
                  <c:v>9.925</c:v>
                </c:pt>
                <c:pt idx="2">
                  <c:v>11.397</c:v>
                </c:pt>
                <c:pt idx="3">
                  <c:v>14.043</c:v>
                </c:pt>
                <c:pt idx="4">
                  <c:v>14.763</c:v>
                </c:pt>
                <c:pt idx="5">
                  <c:v>15.48</c:v>
                </c:pt>
                <c:pt idx="6">
                  <c:v>18.101</c:v>
                </c:pt>
                <c:pt idx="7">
                  <c:v>27.017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6.202780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21.055</c:v>
                </c:pt>
                <c:pt idx="4">
                  <c:v>22.558</c:v>
                </c:pt>
                <c:pt idx="5">
                  <c:v>24.008</c:v>
                </c:pt>
                <c:pt idx="6">
                  <c:v>24.901</c:v>
                </c:pt>
                <c:pt idx="7">
                  <c:v>26.408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5.386720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36.944</c:v>
                </c:pt>
                <c:pt idx="6">
                  <c:v>37.79</c:v>
                </c:pt>
                <c:pt idx="7">
                  <c:v>44.195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9.22130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Pharmacies and Drugst…</c:v>
                </c:pt>
                <c:pt idx="3">
                  <c:v>Online Marketplaces</c:v>
                </c:pt>
                <c:pt idx="4">
                  <c:v>Brand-owned Online St…</c:v>
                </c:pt>
                <c:pt idx="5">
                  <c:v>Mass Retail</c:v>
                </c:pt>
                <c:pt idx="6">
                  <c:v>Beauty Specialty Reta…</c:v>
                </c:pt>
                <c:pt idx="7">
                  <c:v>Salon and Professiona…</c:v>
                </c:pt>
              </c:strCache>
            </c:strRef>
          </c:cat>
          <c:val>
            <c:numRef>
              <c:f>Sheet1!$B$2:$B$9</c:f>
              <c:numCache>
                <c:formatCode>General</c:formatCode>
                <c:ptCount val="8"/>
                <c:pt idx="2">
                  <c:v>16.468</c:v>
                </c:pt>
                <c:pt idx="3">
                  <c:v>17.728</c:v>
                </c:pt>
                <c:pt idx="4">
                  <c:v>17.86</c:v>
                </c:pt>
                <c:pt idx="5">
                  <c:v>20.512</c:v>
                </c:pt>
                <c:pt idx="6">
                  <c:v>20.536</c:v>
                </c:pt>
                <c:pt idx="7">
                  <c:v>25.826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4.606840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Curl Definition</c:v>
                </c:pt>
                <c:pt idx="5">
                  <c:v>Hold and Shape</c:v>
                </c:pt>
                <c:pt idx="6">
                  <c:v>Heat Styling Support</c:v>
                </c:pt>
                <c:pt idx="7">
                  <c:v>Smoothing and Frizz C…</c:v>
                </c:pt>
              </c:strCache>
            </c:strRef>
          </c:cat>
          <c:val>
            <c:numRef>
              <c:f>Sheet1!$B$2:$B$9</c:f>
              <c:numCache>
                <c:formatCode>General</c:formatCode>
                <c:ptCount val="8"/>
                <c:pt idx="1">
                  <c:v>13.23</c:v>
                </c:pt>
                <c:pt idx="2">
                  <c:v>15.619</c:v>
                </c:pt>
                <c:pt idx="3">
                  <c:v>15.641</c:v>
                </c:pt>
                <c:pt idx="4">
                  <c:v>15.715</c:v>
                </c:pt>
                <c:pt idx="5">
                  <c:v>17.816</c:v>
                </c:pt>
                <c:pt idx="6">
                  <c:v>19.401</c:v>
                </c:pt>
                <c:pt idx="7">
                  <c:v>21.508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8.8207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21.388</c:v>
                </c:pt>
                <c:pt idx="4">
                  <c:v>22.565</c:v>
                </c:pt>
                <c:pt idx="5">
                  <c:v>24.069</c:v>
                </c:pt>
                <c:pt idx="6">
                  <c:v>25.0</c:v>
                </c:pt>
                <c:pt idx="7">
                  <c:v>25.908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4.7167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28.408</c:v>
                </c:pt>
                <c:pt idx="5">
                  <c:v>29.686999999999998</c:v>
                </c:pt>
                <c:pt idx="6">
                  <c:v>29.988999999999997</c:v>
                </c:pt>
                <c:pt idx="7">
                  <c:v>30.845999999999997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1.33363999999999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118.92999999999999</c:v>
                </c:pt>
                <c:pt idx="2">
                  <c:v>128.599</c:v>
                </c:pt>
                <c:pt idx="3">
                  <c:v>134.245</c:v>
                </c:pt>
                <c:pt idx="4">
                  <c:v>141.582</c:v>
                </c:pt>
                <c:pt idx="5">
                  <c:v>153.87199999999999</c:v>
                </c:pt>
                <c:pt idx="6">
                  <c:v>170.825</c:v>
                </c:pt>
                <c:pt idx="7">
                  <c:v>182.73299999999998</c:v>
                </c:pt>
                <c:pt idx="8">
                  <c:v>209.21599999999998</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118.92999999999999</c:v>
                </c:pt>
                <c:pt idx="1">
                  <c:v>9.669</c:v>
                </c:pt>
                <c:pt idx="2">
                  <c:v>5.646000000000001</c:v>
                </c:pt>
                <c:pt idx="3">
                  <c:v>7.337</c:v>
                </c:pt>
                <c:pt idx="4">
                  <c:v>12.29</c:v>
                </c:pt>
                <c:pt idx="5">
                  <c:v>16.953000000000003</c:v>
                </c:pt>
                <c:pt idx="6">
                  <c:v>11.908</c:v>
                </c:pt>
                <c:pt idx="7">
                  <c:v>26.483</c:v>
                </c:pt>
                <c:pt idx="8">
                  <c:v>20.788000000000004</c:v>
                </c:pt>
                <c:pt idx="9">
                  <c:v>230.004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9.669</c:v>
                </c:pt>
                <c:pt idx="2">
                  <c:v>15.315000000000001</c:v>
                </c:pt>
                <c:pt idx="3">
                  <c:v>22.652</c:v>
                </c:pt>
                <c:pt idx="4">
                  <c:v>34.942</c:v>
                </c:pt>
                <c:pt idx="5">
                  <c:v>51.895</c:v>
                </c:pt>
                <c:pt idx="6">
                  <c:v>63.803000000000004</c:v>
                </c:pt>
                <c:pt idx="7">
                  <c:v>90.286</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9.669</c:v>
                </c:pt>
                <c:pt idx="1">
                  <c:v>5.646000000000001</c:v>
                </c:pt>
                <c:pt idx="2">
                  <c:v>7.337</c:v>
                </c:pt>
                <c:pt idx="3">
                  <c:v>12.29</c:v>
                </c:pt>
                <c:pt idx="4">
                  <c:v>16.953000000000003</c:v>
                </c:pt>
                <c:pt idx="5">
                  <c:v>11.908</c:v>
                </c:pt>
                <c:pt idx="6">
                  <c:v>26.483</c:v>
                </c:pt>
                <c:pt idx="7">
                  <c:v>20.788000000000004</c:v>
                </c:pt>
                <c:pt idx="8">
                  <c:v>111.07400000000001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118.93</c:v>
                </c:pt>
                <c:pt idx="2">
                  <c:v>142.478</c:v>
                </c:pt>
                <c:pt idx="3">
                  <c:v>169.57500000000002</c:v>
                </c:pt>
                <c:pt idx="4">
                  <c:v>193.80300000000003</c:v>
                </c:pt>
                <c:pt idx="5">
                  <c:v>214.34300000000002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118.93</c:v>
                </c:pt>
                <c:pt idx="1">
                  <c:v>23.548000000000002</c:v>
                </c:pt>
                <c:pt idx="2">
                  <c:v>27.096999999999998</c:v>
                </c:pt>
                <c:pt idx="3">
                  <c:v>24.228</c:v>
                </c:pt>
                <c:pt idx="4">
                  <c:v>20.540000000000003</c:v>
                </c:pt>
                <c:pt idx="5">
                  <c:v>15.661000000000001</c:v>
                </c:pt>
                <c:pt idx="6">
                  <c:v>230.00400000000002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23.548000000000002</c:v>
                </c:pt>
                <c:pt idx="2">
                  <c:v>50.644999999999996</c:v>
                </c:pt>
                <c:pt idx="3">
                  <c:v>74.87299999999999</c:v>
                </c:pt>
                <c:pt idx="4">
                  <c:v>95.413</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23.548000000000002</c:v>
                </c:pt>
                <c:pt idx="1">
                  <c:v>27.096999999999998</c:v>
                </c:pt>
                <c:pt idx="2">
                  <c:v>24.228</c:v>
                </c:pt>
                <c:pt idx="3">
                  <c:v>20.540000000000003</c:v>
                </c:pt>
                <c:pt idx="4">
                  <c:v>15.661000000000001</c:v>
                </c:pt>
                <c:pt idx="5">
                  <c:v>111.074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118.929</c:v>
                </c:pt>
                <c:pt idx="2">
                  <c:v>152.784</c:v>
                </c:pt>
                <c:pt idx="3">
                  <c:v>183.918</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118.929</c:v>
                </c:pt>
                <c:pt idx="1">
                  <c:v>33.855000000000004</c:v>
                </c:pt>
                <c:pt idx="2">
                  <c:v>31.134000000000007</c:v>
                </c:pt>
                <c:pt idx="3">
                  <c:v>46.085</c:v>
                </c:pt>
                <c:pt idx="4">
                  <c:v>230.00300000000001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33.855000000000004</c:v>
                </c:pt>
                <c:pt idx="2">
                  <c:v>64.989</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33.855000000000004</c:v>
                </c:pt>
                <c:pt idx="1">
                  <c:v>31.134000000000007</c:v>
                </c:pt>
                <c:pt idx="2">
                  <c:v>46.085</c:v>
                </c:pt>
                <c:pt idx="3">
                  <c:v>111.07400000000001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118.92999999999999</c:v>
                </c:pt>
                <c:pt idx="2">
                  <c:v>132.373</c:v>
                </c:pt>
                <c:pt idx="3">
                  <c:v>153.301</c:v>
                </c:pt>
                <c:pt idx="4">
                  <c:v>176.32799999999997</c:v>
                </c:pt>
                <c:pt idx="5">
                  <c:v>189.06899999999996</c:v>
                </c:pt>
                <c:pt idx="6">
                  <c:v>210.46299999999997</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118.92999999999999</c:v>
                </c:pt>
                <c:pt idx="1">
                  <c:v>13.442999999999998</c:v>
                </c:pt>
                <c:pt idx="2">
                  <c:v>20.927999999999997</c:v>
                </c:pt>
                <c:pt idx="3">
                  <c:v>23.027</c:v>
                </c:pt>
                <c:pt idx="4">
                  <c:v>12.741</c:v>
                </c:pt>
                <c:pt idx="5">
                  <c:v>21.394</c:v>
                </c:pt>
                <c:pt idx="6">
                  <c:v>19.541000000000004</c:v>
                </c:pt>
                <c:pt idx="7">
                  <c:v>230.00400000000002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13.442999999999998</c:v>
                </c:pt>
                <c:pt idx="2">
                  <c:v>34.370999999999995</c:v>
                </c:pt>
                <c:pt idx="3">
                  <c:v>57.397999999999996</c:v>
                </c:pt>
                <c:pt idx="4">
                  <c:v>70.139</c:v>
                </c:pt>
                <c:pt idx="5">
                  <c:v>91.53299999999999</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13.442999999999998</c:v>
                </c:pt>
                <c:pt idx="1">
                  <c:v>20.927999999999997</c:v>
                </c:pt>
                <c:pt idx="2">
                  <c:v>23.027</c:v>
                </c:pt>
                <c:pt idx="3">
                  <c:v>12.741</c:v>
                </c:pt>
                <c:pt idx="4">
                  <c:v>21.394</c:v>
                </c:pt>
                <c:pt idx="5">
                  <c:v>19.541000000000004</c:v>
                </c:pt>
                <c:pt idx="6">
                  <c:v>111.07399999999998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118.92999999999999</c:v>
                </c:pt>
                <c:pt idx="2">
                  <c:v>130.487</c:v>
                </c:pt>
                <c:pt idx="3">
                  <c:v>149.642</c:v>
                </c:pt>
                <c:pt idx="4">
                  <c:v>162.34199999999998</c:v>
                </c:pt>
                <c:pt idx="5">
                  <c:v>176.54299999999998</c:v>
                </c:pt>
                <c:pt idx="6">
                  <c:v>198.71399999999997</c:v>
                </c:pt>
                <c:pt idx="7">
                  <c:v>208.45399999999998</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118.92999999999999</c:v>
                </c:pt>
                <c:pt idx="1">
                  <c:v>11.557000000000002</c:v>
                </c:pt>
                <c:pt idx="2">
                  <c:v>19.154999999999998</c:v>
                </c:pt>
                <c:pt idx="3">
                  <c:v>12.7</c:v>
                </c:pt>
                <c:pt idx="4">
                  <c:v>14.200999999999999</c:v>
                </c:pt>
                <c:pt idx="5">
                  <c:v>22.171000000000003</c:v>
                </c:pt>
                <c:pt idx="6">
                  <c:v>9.739999999999998</c:v>
                </c:pt>
                <c:pt idx="7">
                  <c:v>21.549000000000003</c:v>
                </c:pt>
                <c:pt idx="8">
                  <c:v>230.003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11.557000000000002</c:v>
                </c:pt>
                <c:pt idx="2">
                  <c:v>30.712</c:v>
                </c:pt>
                <c:pt idx="3">
                  <c:v>43.412</c:v>
                </c:pt>
                <c:pt idx="4">
                  <c:v>57.613</c:v>
                </c:pt>
                <c:pt idx="5">
                  <c:v>79.784</c:v>
                </c:pt>
                <c:pt idx="6">
                  <c:v>89.524</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11.557000000000002</c:v>
                </c:pt>
                <c:pt idx="1">
                  <c:v>19.154999999999998</c:v>
                </c:pt>
                <c:pt idx="2">
                  <c:v>12.7</c:v>
                </c:pt>
                <c:pt idx="3">
                  <c:v>14.200999999999999</c:v>
                </c:pt>
                <c:pt idx="4">
                  <c:v>22.171000000000003</c:v>
                </c:pt>
                <c:pt idx="5">
                  <c:v>9.739999999999998</c:v>
                </c:pt>
                <c:pt idx="6">
                  <c:v>21.549000000000003</c:v>
                </c:pt>
                <c:pt idx="7">
                  <c:v>111.07300000000001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118.93</c:v>
                </c:pt>
                <c:pt idx="2">
                  <c:v>137.724</c:v>
                </c:pt>
                <c:pt idx="3">
                  <c:v>159.993</c:v>
                </c:pt>
                <c:pt idx="4">
                  <c:v>183.817</c:v>
                </c:pt>
                <c:pt idx="5">
                  <c:v>208.22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118.93</c:v>
                </c:pt>
                <c:pt idx="1">
                  <c:v>18.793999999999997</c:v>
                </c:pt>
                <c:pt idx="2">
                  <c:v>22.269000000000002</c:v>
                </c:pt>
                <c:pt idx="3">
                  <c:v>23.824</c:v>
                </c:pt>
                <c:pt idx="4">
                  <c:v>24.402999999999995</c:v>
                </c:pt>
                <c:pt idx="5">
                  <c:v>21.784</c:v>
                </c:pt>
                <c:pt idx="6">
                  <c:v>230.00400000000002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18.793999999999997</c:v>
                </c:pt>
                <c:pt idx="2">
                  <c:v>41.063</c:v>
                </c:pt>
                <c:pt idx="3">
                  <c:v>64.887</c:v>
                </c:pt>
                <c:pt idx="4">
                  <c:v>89.28999999999999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18.793999999999997</c:v>
                </c:pt>
                <c:pt idx="1">
                  <c:v>22.269000000000002</c:v>
                </c:pt>
                <c:pt idx="2">
                  <c:v>23.824</c:v>
                </c:pt>
                <c:pt idx="3">
                  <c:v>24.402999999999995</c:v>
                </c:pt>
                <c:pt idx="4">
                  <c:v>21.784</c:v>
                </c:pt>
                <c:pt idx="5">
                  <c:v>111.07399999999998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118.92999999999999</c:v>
                </c:pt>
                <c:pt idx="2">
                  <c:v>142.054</c:v>
                </c:pt>
                <c:pt idx="3">
                  <c:v>172.65</c:v>
                </c:pt>
                <c:pt idx="4">
                  <c:v>198.27</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118.92999999999999</c:v>
                </c:pt>
                <c:pt idx="1">
                  <c:v>23.124000000000002</c:v>
                </c:pt>
                <c:pt idx="2">
                  <c:v>30.596000000000004</c:v>
                </c:pt>
                <c:pt idx="3">
                  <c:v>25.620000000000005</c:v>
                </c:pt>
                <c:pt idx="4">
                  <c:v>31.733000000000004</c:v>
                </c:pt>
                <c:pt idx="5">
                  <c:v>230.00300000000004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23.124000000000002</c:v>
                </c:pt>
                <c:pt idx="2">
                  <c:v>53.720000000000006</c:v>
                </c:pt>
                <c:pt idx="3">
                  <c:v>79.34</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23.124000000000002</c:v>
                </c:pt>
                <c:pt idx="1">
                  <c:v>30.596000000000004</c:v>
                </c:pt>
                <c:pt idx="2">
                  <c:v>25.620000000000005</c:v>
                </c:pt>
                <c:pt idx="3">
                  <c:v>31.733000000000004</c:v>
                </c:pt>
                <c:pt idx="4">
                  <c:v>111.07300000000001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72.568</c:v>
                </c:pt>
                <c:pt idx="1">
                  <c:v>75.85</c:v>
                </c:pt>
                <c:pt idx="2">
                  <c:v>79.25200000000001</c:v>
                </c:pt>
                <c:pt idx="3">
                  <c:v>82.763</c:v>
                </c:pt>
                <c:pt idx="4">
                  <c:v>86.476</c:v>
                </c:pt>
                <c:pt idx="5">
                  <c:v>90.602</c:v>
                </c:pt>
                <c:pt idx="6">
                  <c:v>95.22200000000001</c:v>
                </c:pt>
                <c:pt idx="7">
                  <c:v>100.42800000000001</c:v>
                </c:pt>
                <c:pt idx="8">
                  <c:v>106.271</c:v>
                </c:pt>
                <c:pt idx="9">
                  <c:v>112.733</c:v>
                </c:pt>
                <c:pt idx="10">
                  <c:v>119.73899999999999</c:v>
                </c:pt>
                <c:pt idx="11">
                  <c:v>127.25</c:v>
                </c:pt>
                <c:pt idx="12">
                  <c:v>135.19699999999997</c:v>
                </c:pt>
                <c:pt idx="13">
                  <c:v>143.533</c:v>
                </c:pt>
                <c:pt idx="14">
                  <c:v>152.171</c:v>
                </c:pt>
                <c:pt idx="15">
                  <c:v>161.10399999999998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Saudi Arabia</c:v>
                </c:pt>
              </c:strCache>
            </c:strRef>
          </c:cat>
          <c:val>
            <c:numRef>
              <c:f>Sheet1!$B$2:$B$4</c:f>
              <c:numCache>
                <c:formatCode>General</c:formatCode>
                <c:ptCount val="3"/>
                <c:pt idx="0">
                  <c:v>0.05245930274733035</c:v>
                </c:pt>
                <c:pt idx="1">
                  <c:v>0.06040785576190855</c:v>
                </c:pt>
                <c:pt idx="2">
                  <c:v>0.05924605176605535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15506052785765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90.602</c:v>
                </c:pt>
                <c:pt idx="2">
                  <c:v>95.22200000000001</c:v>
                </c:pt>
                <c:pt idx="3">
                  <c:v>100.42800000000001</c:v>
                </c:pt>
                <c:pt idx="4">
                  <c:v>106.271</c:v>
                </c:pt>
                <c:pt idx="5">
                  <c:v>112.733</c:v>
                </c:pt>
                <c:pt idx="6">
                  <c:v>119.73899999999999</c:v>
                </c:pt>
                <c:pt idx="7">
                  <c:v>127.25</c:v>
                </c:pt>
                <c:pt idx="8">
                  <c:v>135.19699999999997</c:v>
                </c:pt>
                <c:pt idx="9">
                  <c:v>143.533</c:v>
                </c:pt>
                <c:pt idx="10">
                  <c:v>152.171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90.602</c:v>
                </c:pt>
                <c:pt idx="1">
                  <c:v>4.6200000000000045</c:v>
                </c:pt>
                <c:pt idx="2">
                  <c:v>5.206000000000003</c:v>
                </c:pt>
                <c:pt idx="3">
                  <c:v>5.842999999999989</c:v>
                </c:pt>
                <c:pt idx="4">
                  <c:v>6.462000000000003</c:v>
                </c:pt>
                <c:pt idx="5">
                  <c:v>7.005999999999986</c:v>
                </c:pt>
                <c:pt idx="6">
                  <c:v>7.51100000000001</c:v>
                </c:pt>
                <c:pt idx="7">
                  <c:v>7.946999999999974</c:v>
                </c:pt>
                <c:pt idx="8">
                  <c:v>8.336000000000013</c:v>
                </c:pt>
                <c:pt idx="9">
                  <c:v>8.638000000000005</c:v>
                </c:pt>
                <c:pt idx="10">
                  <c:v>8.932999999999993</c:v>
                </c:pt>
                <c:pt idx="11">
                  <c:v>161.10399999999998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Saudi Arabia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15.585697943455784</c:v>
                </c:pt>
                <c:pt idx="1">
                  <c:v>1.1452333683805773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84.41430205654422</c:v>
                </c:pt>
                <c:pt idx="1">
                  <c:v>98.85476663161943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4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161.90800000000002</c:v>
                </c:pt>
                <c:pt idx="1">
                  <c:v>170.103</c:v>
                </c:pt>
                <c:pt idx="2">
                  <c:v>178.674</c:v>
                </c:pt>
                <c:pt idx="3">
                  <c:v>187.69100000000003</c:v>
                </c:pt>
                <c:pt idx="4">
                  <c:v>197.317</c:v>
                </c:pt>
                <c:pt idx="5">
                  <c:v>208.886</c:v>
                </c:pt>
                <c:pt idx="6">
                  <c:v>222.0</c:v>
                </c:pt>
                <c:pt idx="7">
                  <c:v>236.966</c:v>
                </c:pt>
                <c:pt idx="8">
                  <c:v>253.985</c:v>
                </c:pt>
                <c:pt idx="9">
                  <c:v>273.202</c:v>
                </c:pt>
                <c:pt idx="10">
                  <c:v>294.51300000000003</c:v>
                </c:pt>
                <c:pt idx="11">
                  <c:v>317.928</c:v>
                </c:pt>
                <c:pt idx="12">
                  <c:v>343.317</c:v>
                </c:pt>
                <c:pt idx="13">
                  <c:v>370.682</c:v>
                </c:pt>
                <c:pt idx="14">
                  <c:v>399.953</c:v>
                </c:pt>
                <c:pt idx="15">
                  <c:v>431.18100000000004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Saudi Arabia</c:v>
                </c:pt>
              </c:strCache>
            </c:strRef>
          </c:cat>
          <c:val>
            <c:numRef>
              <c:f>Sheet1!$B$2:$B$4</c:f>
              <c:numCache>
                <c:formatCode>General</c:formatCode>
                <c:ptCount val="3"/>
                <c:pt idx="0">
                  <c:v>0.06658666629421717</c:v>
                </c:pt>
                <c:pt idx="1">
                  <c:v>0.07540738186272966</c:v>
                </c:pt>
                <c:pt idx="2">
                  <c:v>0.07516477692516021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17999655146850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208.886</c:v>
                </c:pt>
                <c:pt idx="2">
                  <c:v>222.0</c:v>
                </c:pt>
                <c:pt idx="3">
                  <c:v>236.966</c:v>
                </c:pt>
                <c:pt idx="4">
                  <c:v>253.985</c:v>
                </c:pt>
                <c:pt idx="5">
                  <c:v>273.202</c:v>
                </c:pt>
                <c:pt idx="6">
                  <c:v>294.51300000000003</c:v>
                </c:pt>
                <c:pt idx="7">
                  <c:v>317.928</c:v>
                </c:pt>
                <c:pt idx="8">
                  <c:v>343.317</c:v>
                </c:pt>
                <c:pt idx="9">
                  <c:v>370.682</c:v>
                </c:pt>
                <c:pt idx="10">
                  <c:v>399.953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208.886</c:v>
                </c:pt>
                <c:pt idx="1">
                  <c:v>13.114000000000004</c:v>
                </c:pt>
                <c:pt idx="2">
                  <c:v>14.966000000000008</c:v>
                </c:pt>
                <c:pt idx="3">
                  <c:v>17.019000000000005</c:v>
                </c:pt>
                <c:pt idx="4">
                  <c:v>19.216999999999985</c:v>
                </c:pt>
                <c:pt idx="5">
                  <c:v>21.311000000000035</c:v>
                </c:pt>
                <c:pt idx="6">
                  <c:v>23.414999999999964</c:v>
                </c:pt>
                <c:pt idx="7">
                  <c:v>25.38900000000001</c:v>
                </c:pt>
                <c:pt idx="8">
                  <c:v>27.36500000000001</c:v>
                </c:pt>
                <c:pt idx="9">
                  <c:v>29.270999999999958</c:v>
                </c:pt>
                <c:pt idx="10">
                  <c:v>31.228000000000065</c:v>
                </c:pt>
                <c:pt idx="11">
                  <c:v>431.18100000000004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Saudi Arabia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20.366067798494036</c:v>
                </c:pt>
                <c:pt idx="1">
                  <c:v>1.2969156050575772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79.63393220150596</c:v>
                </c:pt>
                <c:pt idx="1">
                  <c:v>98.70308439494242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4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Sprays and Mists</c:v>
                </c:pt>
                <c:pt idx="4">
                  <c:v>Sticks and Balms</c:v>
                </c:pt>
                <c:pt idx="5">
                  <c:v>Creams and Lotions</c:v>
                </c:pt>
                <c:pt idx="6">
                  <c:v>Waxes, Clays, Pastes…</c:v>
                </c:pt>
                <c:pt idx="7">
                  <c:v>Serums and Oils</c:v>
                </c:pt>
              </c:strCache>
            </c:strRef>
          </c:cat>
          <c:val>
            <c:numRef>
              <c:f>Sheet1!$B$2:$B$9</c:f>
              <c:numCache>
                <c:formatCode>General</c:formatCode>
                <c:ptCount val="8"/>
                <c:pt idx="0">
                  <c:v>14.458</c:v>
                </c:pt>
                <c:pt idx="1">
                  <c:v>17.564</c:v>
                </c:pt>
                <c:pt idx="2">
                  <c:v>20.11</c:v>
                </c:pt>
                <c:pt idx="3">
                  <c:v>24.674</c:v>
                </c:pt>
                <c:pt idx="4">
                  <c:v>25.602</c:v>
                </c:pt>
                <c:pt idx="5">
                  <c:v>27.72</c:v>
                </c:pt>
                <c:pt idx="6">
                  <c:v>32.236</c:v>
                </c:pt>
                <c:pt idx="7">
                  <c:v>46.522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2.3394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36.991</c:v>
                </c:pt>
                <c:pt idx="4">
                  <c:v>39.582</c:v>
                </c:pt>
                <c:pt idx="5">
                  <c:v>42.152</c:v>
                </c:pt>
                <c:pt idx="6">
                  <c:v>43.761</c:v>
                </c:pt>
                <c:pt idx="7">
                  <c:v>46.401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2.17734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64.293</c:v>
                </c:pt>
                <c:pt idx="6">
                  <c:v>65.583</c:v>
                </c:pt>
                <c:pt idx="7">
                  <c:v>79.01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05.8734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Pharmacies and Drugst…</c:v>
                </c:pt>
                <c:pt idx="3">
                  <c:v>Brand-owned Online St…</c:v>
                </c:pt>
                <c:pt idx="4">
                  <c:v>Online Marketplaces</c:v>
                </c:pt>
                <c:pt idx="5">
                  <c:v>Beauty Specialty Reta…</c:v>
                </c:pt>
                <c:pt idx="6">
                  <c:v>Mass Retail</c:v>
                </c:pt>
                <c:pt idx="7">
                  <c:v>Salon and Professiona…</c:v>
                </c:pt>
              </c:strCache>
            </c:strRef>
          </c:cat>
          <c:val>
            <c:numRef>
              <c:f>Sheet1!$B$2:$B$9</c:f>
              <c:numCache>
                <c:formatCode>General</c:formatCode>
                <c:ptCount val="8"/>
                <c:pt idx="2">
                  <c:v>29.97</c:v>
                </c:pt>
                <c:pt idx="3">
                  <c:v>30.734</c:v>
                </c:pt>
                <c:pt idx="4">
                  <c:v>32.174</c:v>
                </c:pt>
                <c:pt idx="5">
                  <c:v>34.997</c:v>
                </c:pt>
                <c:pt idx="6">
                  <c:v>37.523</c:v>
                </c:pt>
                <c:pt idx="7">
                  <c:v>43.49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8.27660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Curl Definition</c:v>
                </c:pt>
                <c:pt idx="5">
                  <c:v>Hold and Shape</c:v>
                </c:pt>
                <c:pt idx="6">
                  <c:v>Heat Styling Support</c:v>
                </c:pt>
                <c:pt idx="7">
                  <c:v>Smoothing and Frizz C…</c:v>
                </c:pt>
              </c:strCache>
            </c:strRef>
          </c:cat>
          <c:val>
            <c:numRef>
              <c:f>Sheet1!$B$2:$B$9</c:f>
              <c:numCache>
                <c:formatCode>General</c:formatCode>
                <c:ptCount val="8"/>
                <c:pt idx="1">
                  <c:v>23.241</c:v>
                </c:pt>
                <c:pt idx="2">
                  <c:v>27.453</c:v>
                </c:pt>
                <c:pt idx="3">
                  <c:v>27.482</c:v>
                </c:pt>
                <c:pt idx="4">
                  <c:v>27.596</c:v>
                </c:pt>
                <c:pt idx="5">
                  <c:v>31.31</c:v>
                </c:pt>
                <c:pt idx="6">
                  <c:v>32.812</c:v>
                </c:pt>
                <c:pt idx="7">
                  <c:v>38.992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2.2492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37.552</c:v>
                </c:pt>
                <c:pt idx="4">
                  <c:v>39.595</c:v>
                </c:pt>
                <c:pt idx="5">
                  <c:v>42.296</c:v>
                </c:pt>
                <c:pt idx="6">
                  <c:v>43.927</c:v>
                </c:pt>
                <c:pt idx="7">
                  <c:v>45.517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0.99278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49.849999999999994</c:v>
                </c:pt>
                <c:pt idx="5">
                  <c:v>52.086</c:v>
                </c:pt>
                <c:pt idx="6">
                  <c:v>52.614999999999995</c:v>
                </c:pt>
                <c:pt idx="7">
                  <c:v>54.336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2.81024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208.886</c:v>
                </c:pt>
                <c:pt idx="2">
                  <c:v>226.284</c:v>
                </c:pt>
                <c:pt idx="3">
                  <c:v>238.548</c:v>
                </c:pt>
                <c:pt idx="4">
                  <c:v>251.779</c:v>
                </c:pt>
                <c:pt idx="5">
                  <c:v>283.18</c:v>
                </c:pt>
                <c:pt idx="6">
                  <c:v>318.629</c:v>
                </c:pt>
                <c:pt idx="7">
                  <c:v>345.583</c:v>
                </c:pt>
                <c:pt idx="8">
                  <c:v>395.245</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208.886</c:v>
                </c:pt>
                <c:pt idx="1">
                  <c:v>17.398000000000003</c:v>
                </c:pt>
                <c:pt idx="2">
                  <c:v>12.264000000000001</c:v>
                </c:pt>
                <c:pt idx="3">
                  <c:v>13.231000000000002</c:v>
                </c:pt>
                <c:pt idx="4">
                  <c:v>31.401000000000003</c:v>
                </c:pt>
                <c:pt idx="5">
                  <c:v>35.449000000000005</c:v>
                </c:pt>
                <c:pt idx="6">
                  <c:v>26.954</c:v>
                </c:pt>
                <c:pt idx="7">
                  <c:v>49.662</c:v>
                </c:pt>
                <c:pt idx="8">
                  <c:v>35.93599999999999</c:v>
                </c:pt>
                <c:pt idx="9">
                  <c:v>431.18100000000004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17.398000000000003</c:v>
                </c:pt>
                <c:pt idx="2">
                  <c:v>29.662000000000006</c:v>
                </c:pt>
                <c:pt idx="3">
                  <c:v>42.89300000000001</c:v>
                </c:pt>
                <c:pt idx="4">
                  <c:v>74.29400000000001</c:v>
                </c:pt>
                <c:pt idx="5">
                  <c:v>109.74300000000002</c:v>
                </c:pt>
                <c:pt idx="6">
                  <c:v>136.69700000000003</c:v>
                </c:pt>
                <c:pt idx="7">
                  <c:v>186.35900000000004</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17.398000000000003</c:v>
                </c:pt>
                <c:pt idx="1">
                  <c:v>12.264000000000001</c:v>
                </c:pt>
                <c:pt idx="2">
                  <c:v>13.231000000000002</c:v>
                </c:pt>
                <c:pt idx="3">
                  <c:v>31.401000000000003</c:v>
                </c:pt>
                <c:pt idx="4">
                  <c:v>35.449000000000005</c:v>
                </c:pt>
                <c:pt idx="5">
                  <c:v>26.954</c:v>
                </c:pt>
                <c:pt idx="6">
                  <c:v>49.662</c:v>
                </c:pt>
                <c:pt idx="7">
                  <c:v>35.93599999999999</c:v>
                </c:pt>
                <c:pt idx="8">
                  <c:v>222.295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208.887</c:v>
                </c:pt>
                <c:pt idx="2">
                  <c:v>255.719</c:v>
                </c:pt>
                <c:pt idx="3">
                  <c:v>309.328</c:v>
                </c:pt>
                <c:pt idx="4">
                  <c:v>357.856</c:v>
                </c:pt>
                <c:pt idx="5">
                  <c:v>399.306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208.887</c:v>
                </c:pt>
                <c:pt idx="1">
                  <c:v>46.832</c:v>
                </c:pt>
                <c:pt idx="2">
                  <c:v>53.608999999999995</c:v>
                </c:pt>
                <c:pt idx="3">
                  <c:v>48.528</c:v>
                </c:pt>
                <c:pt idx="4">
                  <c:v>41.449999999999996</c:v>
                </c:pt>
                <c:pt idx="5">
                  <c:v>31.876000000000005</c:v>
                </c:pt>
                <c:pt idx="6">
                  <c:v>431.1820000000001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46.832</c:v>
                </c:pt>
                <c:pt idx="2">
                  <c:v>100.441</c:v>
                </c:pt>
                <c:pt idx="3">
                  <c:v>148.969</c:v>
                </c:pt>
                <c:pt idx="4">
                  <c:v>190.41899999999998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46.832</c:v>
                </c:pt>
                <c:pt idx="1">
                  <c:v>53.608999999999995</c:v>
                </c:pt>
                <c:pt idx="2">
                  <c:v>48.528</c:v>
                </c:pt>
                <c:pt idx="3">
                  <c:v>41.449999999999996</c:v>
                </c:pt>
                <c:pt idx="4">
                  <c:v>31.876000000000005</c:v>
                </c:pt>
                <c:pt idx="5">
                  <c:v>222.295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208.88600000000002</c:v>
                </c:pt>
                <c:pt idx="2">
                  <c:v>275.957</c:v>
                </c:pt>
                <c:pt idx="3">
                  <c:v>337.91499999999996</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208.88600000000002</c:v>
                </c:pt>
                <c:pt idx="1">
                  <c:v>67.071</c:v>
                </c:pt>
                <c:pt idx="2">
                  <c:v>61.958</c:v>
                </c:pt>
                <c:pt idx="3">
                  <c:v>93.266</c:v>
                </c:pt>
                <c:pt idx="4">
                  <c:v>431.181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67.071</c:v>
                </c:pt>
                <c:pt idx="2">
                  <c:v>129.029</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67.071</c:v>
                </c:pt>
                <c:pt idx="1">
                  <c:v>61.958</c:v>
                </c:pt>
                <c:pt idx="2">
                  <c:v>93.266</c:v>
                </c:pt>
                <c:pt idx="3">
                  <c:v>222.29500000000002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208.88800000000003</c:v>
                </c:pt>
                <c:pt idx="2">
                  <c:v>238.29600000000002</c:v>
                </c:pt>
                <c:pt idx="3">
                  <c:v>278.741</c:v>
                </c:pt>
                <c:pt idx="4">
                  <c:v>322.976</c:v>
                </c:pt>
                <c:pt idx="5">
                  <c:v>349.725</c:v>
                </c:pt>
                <c:pt idx="6">
                  <c:v>393.279</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208.88800000000003</c:v>
                </c:pt>
                <c:pt idx="1">
                  <c:v>29.407999999999994</c:v>
                </c:pt>
                <c:pt idx="2">
                  <c:v>40.44499999999999</c:v>
                </c:pt>
                <c:pt idx="3">
                  <c:v>44.23499999999999</c:v>
                </c:pt>
                <c:pt idx="4">
                  <c:v>26.749000000000002</c:v>
                </c:pt>
                <c:pt idx="5">
                  <c:v>43.553999999999995</c:v>
                </c:pt>
                <c:pt idx="6">
                  <c:v>37.901999999999994</c:v>
                </c:pt>
                <c:pt idx="7">
                  <c:v>431.18100000000004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29.407999999999994</c:v>
                </c:pt>
                <c:pt idx="2">
                  <c:v>69.85299999999998</c:v>
                </c:pt>
                <c:pt idx="3">
                  <c:v>114.08799999999997</c:v>
                </c:pt>
                <c:pt idx="4">
                  <c:v>140.83699999999996</c:v>
                </c:pt>
                <c:pt idx="5">
                  <c:v>184.39099999999996</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29.407999999999994</c:v>
                </c:pt>
                <c:pt idx="1">
                  <c:v>40.44499999999999</c:v>
                </c:pt>
                <c:pt idx="2">
                  <c:v>44.23499999999999</c:v>
                </c:pt>
                <c:pt idx="3">
                  <c:v>26.749000000000002</c:v>
                </c:pt>
                <c:pt idx="4">
                  <c:v>43.553999999999995</c:v>
                </c:pt>
                <c:pt idx="5">
                  <c:v>37.901999999999994</c:v>
                </c:pt>
                <c:pt idx="6">
                  <c:v>222.29299999999995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208.88600000000002</c:v>
                </c:pt>
                <c:pt idx="2">
                  <c:v>232.70300000000003</c:v>
                </c:pt>
                <c:pt idx="3">
                  <c:v>270.456</c:v>
                </c:pt>
                <c:pt idx="4">
                  <c:v>296.12600000000003</c:v>
                </c:pt>
                <c:pt idx="5">
                  <c:v>324.61100000000005</c:v>
                </c:pt>
                <c:pt idx="6">
                  <c:v>370.21600000000007</c:v>
                </c:pt>
                <c:pt idx="7">
                  <c:v>390.07400000000007</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208.88600000000002</c:v>
                </c:pt>
                <c:pt idx="1">
                  <c:v>23.817000000000004</c:v>
                </c:pt>
                <c:pt idx="2">
                  <c:v>37.753</c:v>
                </c:pt>
                <c:pt idx="3">
                  <c:v>25.669999999999998</c:v>
                </c:pt>
                <c:pt idx="4">
                  <c:v>28.485</c:v>
                </c:pt>
                <c:pt idx="5">
                  <c:v>45.605</c:v>
                </c:pt>
                <c:pt idx="6">
                  <c:v>19.857999999999997</c:v>
                </c:pt>
                <c:pt idx="7">
                  <c:v>41.108000000000004</c:v>
                </c:pt>
                <c:pt idx="8">
                  <c:v>431.18199999999996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23.817000000000004</c:v>
                </c:pt>
                <c:pt idx="2">
                  <c:v>61.57000000000001</c:v>
                </c:pt>
                <c:pt idx="3">
                  <c:v>87.24000000000001</c:v>
                </c:pt>
                <c:pt idx="4">
                  <c:v>115.72500000000001</c:v>
                </c:pt>
                <c:pt idx="5">
                  <c:v>161.33</c:v>
                </c:pt>
                <c:pt idx="6">
                  <c:v>181.18800000000002</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23.817000000000004</c:v>
                </c:pt>
                <c:pt idx="1">
                  <c:v>37.753</c:v>
                </c:pt>
                <c:pt idx="2">
                  <c:v>25.669999999999998</c:v>
                </c:pt>
                <c:pt idx="3">
                  <c:v>28.485</c:v>
                </c:pt>
                <c:pt idx="4">
                  <c:v>45.605</c:v>
                </c:pt>
                <c:pt idx="5">
                  <c:v>19.857999999999997</c:v>
                </c:pt>
                <c:pt idx="6">
                  <c:v>41.108000000000004</c:v>
                </c:pt>
                <c:pt idx="7">
                  <c:v>222.29600000000002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208.887</c:v>
                </c:pt>
                <c:pt idx="2">
                  <c:v>247.098</c:v>
                </c:pt>
                <c:pt idx="3">
                  <c:v>291.671</c:v>
                </c:pt>
                <c:pt idx="4">
                  <c:v>339.02</c:v>
                </c:pt>
                <c:pt idx="5">
                  <c:v>387.27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208.887</c:v>
                </c:pt>
                <c:pt idx="1">
                  <c:v>38.211000000000006</c:v>
                </c:pt>
                <c:pt idx="2">
                  <c:v>44.573</c:v>
                </c:pt>
                <c:pt idx="3">
                  <c:v>47.349000000000004</c:v>
                </c:pt>
                <c:pt idx="4">
                  <c:v>48.25000000000001</c:v>
                </c:pt>
                <c:pt idx="5">
                  <c:v>43.910999999999994</c:v>
                </c:pt>
                <c:pt idx="6">
                  <c:v>431.18100000000004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38.211000000000006</c:v>
                </c:pt>
                <c:pt idx="2">
                  <c:v>82.784</c:v>
                </c:pt>
                <c:pt idx="3">
                  <c:v>130.133</c:v>
                </c:pt>
                <c:pt idx="4">
                  <c:v>178.383</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38.211000000000006</c:v>
                </c:pt>
                <c:pt idx="1">
                  <c:v>44.573</c:v>
                </c:pt>
                <c:pt idx="2">
                  <c:v>47.349000000000004</c:v>
                </c:pt>
                <c:pt idx="3">
                  <c:v>48.25000000000001</c:v>
                </c:pt>
                <c:pt idx="4">
                  <c:v>43.910999999999994</c:v>
                </c:pt>
                <c:pt idx="5">
                  <c:v>222.294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208.88699999999997</c:v>
                </c:pt>
                <c:pt idx="2">
                  <c:v>259.60299999999995</c:v>
                </c:pt>
                <c:pt idx="3">
                  <c:v>318.81999999999994</c:v>
                </c:pt>
                <c:pt idx="4">
                  <c:v>368.79999999999995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208.88699999999997</c:v>
                </c:pt>
                <c:pt idx="1">
                  <c:v>50.715999999999994</c:v>
                </c:pt>
                <c:pt idx="2">
                  <c:v>59.217</c:v>
                </c:pt>
                <c:pt idx="3">
                  <c:v>49.980000000000004</c:v>
                </c:pt>
                <c:pt idx="4">
                  <c:v>62.382000000000005</c:v>
                </c:pt>
                <c:pt idx="5">
                  <c:v>431.182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50.715999999999994</c:v>
                </c:pt>
                <c:pt idx="2">
                  <c:v>109.93299999999999</c:v>
                </c:pt>
                <c:pt idx="3">
                  <c:v>159.913</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50.715999999999994</c:v>
                </c:pt>
                <c:pt idx="1">
                  <c:v>59.217</c:v>
                </c:pt>
                <c:pt idx="2">
                  <c:v>49.980000000000004</c:v>
                </c:pt>
                <c:pt idx="3">
                  <c:v>62.382000000000005</c:v>
                </c:pt>
                <c:pt idx="4">
                  <c:v>222.29500000000002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112.503</c:v>
                </c:pt>
                <c:pt idx="1">
                  <c:v>118.07900000000001</c:v>
                </c:pt>
                <c:pt idx="2">
                  <c:v>123.899</c:v>
                </c:pt>
                <c:pt idx="3">
                  <c:v>129.947</c:v>
                </c:pt>
                <c:pt idx="4">
                  <c:v>136.37</c:v>
                </c:pt>
                <c:pt idx="5">
                  <c:v>143.506</c:v>
                </c:pt>
                <c:pt idx="6">
                  <c:v>151.506</c:v>
                </c:pt>
                <c:pt idx="7">
                  <c:v>160.531</c:v>
                </c:pt>
                <c:pt idx="8">
                  <c:v>170.642</c:v>
                </c:pt>
                <c:pt idx="9">
                  <c:v>181.80700000000002</c:v>
                </c:pt>
                <c:pt idx="10">
                  <c:v>193.938</c:v>
                </c:pt>
                <c:pt idx="11">
                  <c:v>206.987</c:v>
                </c:pt>
                <c:pt idx="12">
                  <c:v>220.864</c:v>
                </c:pt>
                <c:pt idx="13">
                  <c:v>235.5</c:v>
                </c:pt>
                <c:pt idx="14">
                  <c:v>250.71599999999998</c:v>
                </c:pt>
                <c:pt idx="15">
                  <c:v>266.519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Turkey</c:v>
                </c:pt>
              </c:strCache>
            </c:strRef>
          </c:cat>
          <c:val>
            <c:numRef>
              <c:f>Sheet1!$B$2:$B$4</c:f>
              <c:numCache>
                <c:formatCode>General</c:formatCode>
                <c:ptCount val="3"/>
                <c:pt idx="0">
                  <c:v>0.05245930274733035</c:v>
                </c:pt>
                <c:pt idx="1">
                  <c:v>0.06040785576190855</c:v>
                </c:pt>
                <c:pt idx="2">
                  <c:v>0.06386326140647536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621540289874174"/>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143.506</c:v>
                </c:pt>
                <c:pt idx="2">
                  <c:v>151.506</c:v>
                </c:pt>
                <c:pt idx="3">
                  <c:v>160.531</c:v>
                </c:pt>
                <c:pt idx="4">
                  <c:v>170.642</c:v>
                </c:pt>
                <c:pt idx="5">
                  <c:v>181.80700000000002</c:v>
                </c:pt>
                <c:pt idx="6">
                  <c:v>193.938</c:v>
                </c:pt>
                <c:pt idx="7">
                  <c:v>206.987</c:v>
                </c:pt>
                <c:pt idx="8">
                  <c:v>220.864</c:v>
                </c:pt>
                <c:pt idx="9">
                  <c:v>235.5</c:v>
                </c:pt>
                <c:pt idx="10">
                  <c:v>250.71599999999998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143.506</c:v>
                </c:pt>
                <c:pt idx="1">
                  <c:v>8.0</c:v>
                </c:pt>
                <c:pt idx="2">
                  <c:v>9.025000000000006</c:v>
                </c:pt>
                <c:pt idx="3">
                  <c:v>10.11099999999999</c:v>
                </c:pt>
                <c:pt idx="4">
                  <c:v>11.16500000000002</c:v>
                </c:pt>
                <c:pt idx="5">
                  <c:v>12.130999999999972</c:v>
                </c:pt>
                <c:pt idx="6">
                  <c:v>13.049000000000007</c:v>
                </c:pt>
                <c:pt idx="7">
                  <c:v>13.87700000000001</c:v>
                </c:pt>
                <c:pt idx="8">
                  <c:v>14.635999999999996</c:v>
                </c:pt>
                <c:pt idx="9">
                  <c:v>15.21599999999998</c:v>
                </c:pt>
                <c:pt idx="10">
                  <c:v>15.803000000000026</c:v>
                </c:pt>
                <c:pt idx="11">
                  <c:v>266.519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Turkey</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24.68644366651471</c:v>
                </c:pt>
                <c:pt idx="1">
                  <c:v>1.8139539939827278</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75.3135563334853</c:v>
                </c:pt>
                <c:pt idx="1">
                  <c:v>98.18604600601728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4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145.54399999999998</c:v>
                </c:pt>
                <c:pt idx="1">
                  <c:v>153.52100000000002</c:v>
                </c:pt>
                <c:pt idx="2">
                  <c:v>161.911</c:v>
                </c:pt>
                <c:pt idx="3">
                  <c:v>170.766</c:v>
                </c:pt>
                <c:pt idx="4">
                  <c:v>180.22799999999998</c:v>
                </c:pt>
                <c:pt idx="5">
                  <c:v>191.43099999999998</c:v>
                </c:pt>
                <c:pt idx="6">
                  <c:v>204.18</c:v>
                </c:pt>
                <c:pt idx="7">
                  <c:v>218.749</c:v>
                </c:pt>
                <c:pt idx="8">
                  <c:v>235.30700000000002</c:v>
                </c:pt>
                <c:pt idx="9">
                  <c:v>253.959</c:v>
                </c:pt>
                <c:pt idx="10">
                  <c:v>274.673</c:v>
                </c:pt>
                <c:pt idx="11">
                  <c:v>297.48199999999997</c:v>
                </c:pt>
                <c:pt idx="12">
                  <c:v>322.239</c:v>
                </c:pt>
                <c:pt idx="13">
                  <c:v>348.97700000000003</c:v>
                </c:pt>
                <c:pt idx="14">
                  <c:v>377.582</c:v>
                </c:pt>
                <c:pt idx="15">
                  <c:v>408.11799999999994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Turkey</c:v>
                </c:pt>
              </c:strCache>
            </c:strRef>
          </c:cat>
          <c:val>
            <c:numRef>
              <c:f>Sheet1!$B$2:$B$4</c:f>
              <c:numCache>
                <c:formatCode>General</c:formatCode>
                <c:ptCount val="3"/>
                <c:pt idx="0">
                  <c:v>0.06658666629421717</c:v>
                </c:pt>
                <c:pt idx="1">
                  <c:v>0.07540738186272966</c:v>
                </c:pt>
                <c:pt idx="2">
                  <c:v>0.07864205313521566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61667717325411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191.43099999999998</c:v>
                </c:pt>
                <c:pt idx="2">
                  <c:v>204.18</c:v>
                </c:pt>
                <c:pt idx="3">
                  <c:v>218.749</c:v>
                </c:pt>
                <c:pt idx="4">
                  <c:v>235.30700000000002</c:v>
                </c:pt>
                <c:pt idx="5">
                  <c:v>253.959</c:v>
                </c:pt>
                <c:pt idx="6">
                  <c:v>274.673</c:v>
                </c:pt>
                <c:pt idx="7">
                  <c:v>297.48199999999997</c:v>
                </c:pt>
                <c:pt idx="8">
                  <c:v>322.239</c:v>
                </c:pt>
                <c:pt idx="9">
                  <c:v>348.97700000000003</c:v>
                </c:pt>
                <c:pt idx="10">
                  <c:v>377.582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191.43099999999998</c:v>
                </c:pt>
                <c:pt idx="1">
                  <c:v>12.749000000000024</c:v>
                </c:pt>
                <c:pt idx="2">
                  <c:v>14.568999999999988</c:v>
                </c:pt>
                <c:pt idx="3">
                  <c:v>16.55800000000002</c:v>
                </c:pt>
                <c:pt idx="4">
                  <c:v>18.651999999999987</c:v>
                </c:pt>
                <c:pt idx="5">
                  <c:v>20.714</c:v>
                </c:pt>
                <c:pt idx="6">
                  <c:v>22.80899999999997</c:v>
                </c:pt>
                <c:pt idx="7">
                  <c:v>24.757000000000005</c:v>
                </c:pt>
                <c:pt idx="8">
                  <c:v>26.738000000000056</c:v>
                </c:pt>
                <c:pt idx="9">
                  <c:v>28.60499999999996</c:v>
                </c:pt>
                <c:pt idx="10">
                  <c:v>30.535999999999945</c:v>
                </c:pt>
                <c:pt idx="11">
                  <c:v>408.11799999999994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Turkey</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18.66423180458964</c:v>
                </c:pt>
                <c:pt idx="1">
                  <c:v>1.1885423206523034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81.33576819541037</c:v>
                </c:pt>
                <c:pt idx="1">
                  <c:v>98.8114576793477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4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Powders</c:v>
                </c:pt>
                <c:pt idx="2">
                  <c:v>Gels and Jellies</c:v>
                </c:pt>
                <c:pt idx="3">
                  <c:v>Creams and Lotions</c:v>
                </c:pt>
                <c:pt idx="4">
                  <c:v>Sticks and Balms</c:v>
                </c:pt>
                <c:pt idx="5">
                  <c:v>Sprays and Mists</c:v>
                </c:pt>
                <c:pt idx="6">
                  <c:v>Serums and Oils</c:v>
                </c:pt>
                <c:pt idx="7">
                  <c:v>Waxes, Clays, Pastes…</c:v>
                </c:pt>
              </c:strCache>
            </c:strRef>
          </c:cat>
          <c:val>
            <c:numRef>
              <c:f>Sheet1!$B$2:$B$9</c:f>
              <c:numCache>
                <c:formatCode>General</c:formatCode>
                <c:ptCount val="8"/>
                <c:pt idx="0">
                  <c:v>13.381</c:v>
                </c:pt>
                <c:pt idx="1">
                  <c:v>18.905</c:v>
                </c:pt>
                <c:pt idx="2">
                  <c:v>20.395</c:v>
                </c:pt>
                <c:pt idx="3">
                  <c:v>20.592</c:v>
                </c:pt>
                <c:pt idx="4">
                  <c:v>23.667</c:v>
                </c:pt>
                <c:pt idx="5">
                  <c:v>24.759</c:v>
                </c:pt>
                <c:pt idx="6">
                  <c:v>32.962</c:v>
                </c:pt>
                <c:pt idx="7">
                  <c:v>36.77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9.2718000000000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No Hold</c:v>
                </c:pt>
                <c:pt idx="4">
                  <c:v>Light or Flexible Hold</c:v>
                </c:pt>
                <c:pt idx="5">
                  <c:v>Extra-strong Hold</c:v>
                </c:pt>
                <c:pt idx="6">
                  <c:v>Medium Hold</c:v>
                </c:pt>
                <c:pt idx="7">
                  <c:v>Strong Hold</c:v>
                </c:pt>
              </c:strCache>
            </c:strRef>
          </c:cat>
          <c:val>
            <c:numRef>
              <c:f>Sheet1!$B$2:$B$9</c:f>
              <c:numCache>
                <c:formatCode>General</c:formatCode>
                <c:ptCount val="8"/>
                <c:pt idx="3">
                  <c:v>30.541</c:v>
                </c:pt>
                <c:pt idx="4">
                  <c:v>37.073</c:v>
                </c:pt>
                <c:pt idx="5">
                  <c:v>37.904</c:v>
                </c:pt>
                <c:pt idx="6">
                  <c:v>40.993</c:v>
                </c:pt>
                <c:pt idx="7">
                  <c:v>44.919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0.1914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Natural</c:v>
                </c:pt>
                <c:pt idx="7">
                  <c:v>Matte</c:v>
                </c:pt>
              </c:strCache>
            </c:strRef>
          </c:cat>
          <c:val>
            <c:numRef>
              <c:f>Sheet1!$B$2:$B$9</c:f>
              <c:numCache>
                <c:formatCode>General</c:formatCode>
                <c:ptCount val="8"/>
                <c:pt idx="5">
                  <c:v>58.993</c:v>
                </c:pt>
                <c:pt idx="6">
                  <c:v>61.617</c:v>
                </c:pt>
                <c:pt idx="7">
                  <c:v>70.821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4.90014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Online Marketplaces</c:v>
                </c:pt>
                <c:pt idx="6">
                  <c:v>Salon and Professiona…</c:v>
                </c:pt>
                <c:pt idx="7">
                  <c:v>Mass Retail</c:v>
                </c:pt>
              </c:strCache>
            </c:strRef>
          </c:cat>
          <c:val>
            <c:numRef>
              <c:f>Sheet1!$B$2:$B$9</c:f>
              <c:numCache>
                <c:formatCode>General</c:formatCode>
                <c:ptCount val="8"/>
                <c:pt idx="2">
                  <c:v>23.546</c:v>
                </c:pt>
                <c:pt idx="3">
                  <c:v>28.25</c:v>
                </c:pt>
                <c:pt idx="4">
                  <c:v>28.642</c:v>
                </c:pt>
                <c:pt idx="5">
                  <c:v>30.645</c:v>
                </c:pt>
                <c:pt idx="6">
                  <c:v>35.849</c:v>
                </c:pt>
                <c:pt idx="7">
                  <c:v>44.498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9.6273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22.629</c:v>
                </c:pt>
                <c:pt idx="2">
                  <c:v>26.593</c:v>
                </c:pt>
                <c:pt idx="3">
                  <c:v>27.092</c:v>
                </c:pt>
                <c:pt idx="4">
                  <c:v>27.113</c:v>
                </c:pt>
                <c:pt idx="5">
                  <c:v>27.208</c:v>
                </c:pt>
                <c:pt idx="6">
                  <c:v>30.19</c:v>
                </c:pt>
                <c:pt idx="7">
                  <c:v>30.605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1.0107"/>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34.401</c:v>
                </c:pt>
                <c:pt idx="4">
                  <c:v>36.25</c:v>
                </c:pt>
                <c:pt idx="5">
                  <c:v>38.782</c:v>
                </c:pt>
                <c:pt idx="6">
                  <c:v>40.273</c:v>
                </c:pt>
                <c:pt idx="7">
                  <c:v>41.724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5.9101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45.74</c:v>
                </c:pt>
                <c:pt idx="5">
                  <c:v>47.794</c:v>
                </c:pt>
                <c:pt idx="6">
                  <c:v>48.205</c:v>
                </c:pt>
                <c:pt idx="7">
                  <c:v>49.691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6.58594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191.43099999999998</c:v>
                </c:pt>
                <c:pt idx="2">
                  <c:v>213.02299999999997</c:v>
                </c:pt>
                <c:pt idx="3">
                  <c:v>224.27199999999996</c:v>
                </c:pt>
                <c:pt idx="4">
                  <c:v>242.17499999999995</c:v>
                </c:pt>
                <c:pt idx="5">
                  <c:v>265.30699999999996</c:v>
                </c:pt>
                <c:pt idx="6">
                  <c:v>307.01199999999994</c:v>
                </c:pt>
                <c:pt idx="7">
                  <c:v>333.20099999999996</c:v>
                </c:pt>
                <c:pt idx="8">
                  <c:v>374.70199999999994</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191.43099999999998</c:v>
                </c:pt>
                <c:pt idx="1">
                  <c:v>21.592</c:v>
                </c:pt>
                <c:pt idx="2">
                  <c:v>11.248999999999999</c:v>
                </c:pt>
                <c:pt idx="3">
                  <c:v>17.903000000000002</c:v>
                </c:pt>
                <c:pt idx="4">
                  <c:v>23.131999999999998</c:v>
                </c:pt>
                <c:pt idx="5">
                  <c:v>41.70499999999999</c:v>
                </c:pt>
                <c:pt idx="6">
                  <c:v>26.189</c:v>
                </c:pt>
                <c:pt idx="7">
                  <c:v>41.50099999999999</c:v>
                </c:pt>
                <c:pt idx="8">
                  <c:v>33.416</c:v>
                </c:pt>
                <c:pt idx="9">
                  <c:v>408.11799999999994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21.592</c:v>
                </c:pt>
                <c:pt idx="2">
                  <c:v>32.840999999999994</c:v>
                </c:pt>
                <c:pt idx="3">
                  <c:v>50.744</c:v>
                </c:pt>
                <c:pt idx="4">
                  <c:v>73.876</c:v>
                </c:pt>
                <c:pt idx="5">
                  <c:v>115.58099999999999</c:v>
                </c:pt>
                <c:pt idx="6">
                  <c:v>141.76999999999998</c:v>
                </c:pt>
                <c:pt idx="7">
                  <c:v>183.27099999999996</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21.592</c:v>
                </c:pt>
                <c:pt idx="1">
                  <c:v>11.248999999999999</c:v>
                </c:pt>
                <c:pt idx="2">
                  <c:v>17.903000000000002</c:v>
                </c:pt>
                <c:pt idx="3">
                  <c:v>23.131999999999998</c:v>
                </c:pt>
                <c:pt idx="4">
                  <c:v>41.70499999999999</c:v>
                </c:pt>
                <c:pt idx="5">
                  <c:v>26.189</c:v>
                </c:pt>
                <c:pt idx="6">
                  <c:v>41.50099999999999</c:v>
                </c:pt>
                <c:pt idx="7">
                  <c:v>33.416</c:v>
                </c:pt>
                <c:pt idx="8">
                  <c:v>216.68699999999995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191.43</c:v>
                </c:pt>
                <c:pt idx="2">
                  <c:v>230.22000000000003</c:v>
                </c:pt>
                <c:pt idx="3">
                  <c:v>280.64300000000003</c:v>
                </c:pt>
                <c:pt idx="4">
                  <c:v>326.75500000000005</c:v>
                </c:pt>
                <c:pt idx="5">
                  <c:v>372.68800000000005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191.43</c:v>
                </c:pt>
                <c:pt idx="1">
                  <c:v>38.790000000000006</c:v>
                </c:pt>
                <c:pt idx="2">
                  <c:v>50.422999999999995</c:v>
                </c:pt>
                <c:pt idx="3">
                  <c:v>46.112</c:v>
                </c:pt>
                <c:pt idx="4">
                  <c:v>45.93300000000001</c:v>
                </c:pt>
                <c:pt idx="5">
                  <c:v>35.431999999999995</c:v>
                </c:pt>
                <c:pt idx="6">
                  <c:v>408.12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38.790000000000006</c:v>
                </c:pt>
                <c:pt idx="2">
                  <c:v>89.213</c:v>
                </c:pt>
                <c:pt idx="3">
                  <c:v>135.325</c:v>
                </c:pt>
                <c:pt idx="4">
                  <c:v>181.25799999999998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38.790000000000006</c:v>
                </c:pt>
                <c:pt idx="1">
                  <c:v>50.422999999999995</c:v>
                </c:pt>
                <c:pt idx="2">
                  <c:v>46.112</c:v>
                </c:pt>
                <c:pt idx="3">
                  <c:v>45.93300000000001</c:v>
                </c:pt>
                <c:pt idx="4">
                  <c:v>35.431999999999995</c:v>
                </c:pt>
                <c:pt idx="5">
                  <c:v>216.68999999999997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191.43099999999998</c:v>
                </c:pt>
                <c:pt idx="2">
                  <c:v>270.76</c:v>
                </c:pt>
                <c:pt idx="3">
                  <c:v>333.491</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191.43099999999998</c:v>
                </c:pt>
                <c:pt idx="1">
                  <c:v>79.32900000000001</c:v>
                </c:pt>
                <c:pt idx="2">
                  <c:v>62.731</c:v>
                </c:pt>
                <c:pt idx="3">
                  <c:v>74.62900000000002</c:v>
                </c:pt>
                <c:pt idx="4">
                  <c:v>408.12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79.32900000000001</c:v>
                </c:pt>
                <c:pt idx="2">
                  <c:v>142.06</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79.32900000000001</c:v>
                </c:pt>
                <c:pt idx="1">
                  <c:v>62.731</c:v>
                </c:pt>
                <c:pt idx="2">
                  <c:v>74.62900000000002</c:v>
                </c:pt>
                <c:pt idx="3">
                  <c:v>216.68900000000002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191.43</c:v>
                </c:pt>
                <c:pt idx="2">
                  <c:v>229.674</c:v>
                </c:pt>
                <c:pt idx="3">
                  <c:v>265.43</c:v>
                </c:pt>
                <c:pt idx="4">
                  <c:v>304.907</c:v>
                </c:pt>
                <c:pt idx="5">
                  <c:v>332.383</c:v>
                </c:pt>
                <c:pt idx="6">
                  <c:v>376.88599999999997</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191.43</c:v>
                </c:pt>
                <c:pt idx="1">
                  <c:v>38.24400000000001</c:v>
                </c:pt>
                <c:pt idx="2">
                  <c:v>35.756</c:v>
                </c:pt>
                <c:pt idx="3">
                  <c:v>39.477</c:v>
                </c:pt>
                <c:pt idx="4">
                  <c:v>27.476</c:v>
                </c:pt>
                <c:pt idx="5">
                  <c:v>44.503</c:v>
                </c:pt>
                <c:pt idx="6">
                  <c:v>31.234</c:v>
                </c:pt>
                <c:pt idx="7">
                  <c:v>408.12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38.24400000000001</c:v>
                </c:pt>
                <c:pt idx="2">
                  <c:v>74.0</c:v>
                </c:pt>
                <c:pt idx="3">
                  <c:v>113.477</c:v>
                </c:pt>
                <c:pt idx="4">
                  <c:v>140.953</c:v>
                </c:pt>
                <c:pt idx="5">
                  <c:v>185.45600000000002</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38.24400000000001</c:v>
                </c:pt>
                <c:pt idx="1">
                  <c:v>35.756</c:v>
                </c:pt>
                <c:pt idx="2">
                  <c:v>39.477</c:v>
                </c:pt>
                <c:pt idx="3">
                  <c:v>27.476</c:v>
                </c:pt>
                <c:pt idx="4">
                  <c:v>44.503</c:v>
                </c:pt>
                <c:pt idx="5">
                  <c:v>31.234</c:v>
                </c:pt>
                <c:pt idx="6">
                  <c:v>216.69000000000003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191.42999999999998</c:v>
                </c:pt>
                <c:pt idx="2">
                  <c:v>216.75199999999998</c:v>
                </c:pt>
                <c:pt idx="3">
                  <c:v>256.37199999999996</c:v>
                </c:pt>
                <c:pt idx="4">
                  <c:v>283.657</c:v>
                </c:pt>
                <c:pt idx="5">
                  <c:v>313.818</c:v>
                </c:pt>
                <c:pt idx="6">
                  <c:v>351.638</c:v>
                </c:pt>
                <c:pt idx="7">
                  <c:v>372.57</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191.42999999999998</c:v>
                </c:pt>
                <c:pt idx="1">
                  <c:v>25.322</c:v>
                </c:pt>
                <c:pt idx="2">
                  <c:v>39.620000000000005</c:v>
                </c:pt>
                <c:pt idx="3">
                  <c:v>27.285000000000004</c:v>
                </c:pt>
                <c:pt idx="4">
                  <c:v>30.161</c:v>
                </c:pt>
                <c:pt idx="5">
                  <c:v>37.82000000000001</c:v>
                </c:pt>
                <c:pt idx="6">
                  <c:v>20.932</c:v>
                </c:pt>
                <c:pt idx="7">
                  <c:v>35.55</c:v>
                </c:pt>
                <c:pt idx="8">
                  <c:v>408.12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25.322</c:v>
                </c:pt>
                <c:pt idx="2">
                  <c:v>64.94200000000001</c:v>
                </c:pt>
                <c:pt idx="3">
                  <c:v>92.227</c:v>
                </c:pt>
                <c:pt idx="4">
                  <c:v>122.388</c:v>
                </c:pt>
                <c:pt idx="5">
                  <c:v>160.20800000000003</c:v>
                </c:pt>
                <c:pt idx="6">
                  <c:v>181.14000000000001</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25.322</c:v>
                </c:pt>
                <c:pt idx="1">
                  <c:v>39.620000000000005</c:v>
                </c:pt>
                <c:pt idx="2">
                  <c:v>27.285000000000004</c:v>
                </c:pt>
                <c:pt idx="3">
                  <c:v>30.161</c:v>
                </c:pt>
                <c:pt idx="4">
                  <c:v>37.82000000000001</c:v>
                </c:pt>
                <c:pt idx="5">
                  <c:v>20.932</c:v>
                </c:pt>
                <c:pt idx="6">
                  <c:v>35.55</c:v>
                </c:pt>
                <c:pt idx="7">
                  <c:v>216.69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191.43</c:v>
                </c:pt>
                <c:pt idx="2">
                  <c:v>228.942</c:v>
                </c:pt>
                <c:pt idx="3">
                  <c:v>272.38300000000004</c:v>
                </c:pt>
                <c:pt idx="4">
                  <c:v>318.40700000000004</c:v>
                </c:pt>
                <c:pt idx="5">
                  <c:v>365.17800000000005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191.43</c:v>
                </c:pt>
                <c:pt idx="1">
                  <c:v>37.51199999999999</c:v>
                </c:pt>
                <c:pt idx="2">
                  <c:v>43.441</c:v>
                </c:pt>
                <c:pt idx="3">
                  <c:v>46.024</c:v>
                </c:pt>
                <c:pt idx="4">
                  <c:v>46.770999999999994</c:v>
                </c:pt>
                <c:pt idx="5">
                  <c:v>42.943000000000005</c:v>
                </c:pt>
                <c:pt idx="6">
                  <c:v>408.121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37.51199999999999</c:v>
                </c:pt>
                <c:pt idx="2">
                  <c:v>80.953</c:v>
                </c:pt>
                <c:pt idx="3">
                  <c:v>126.977</c:v>
                </c:pt>
                <c:pt idx="4">
                  <c:v>173.748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37.51199999999999</c:v>
                </c:pt>
                <c:pt idx="1">
                  <c:v>43.441</c:v>
                </c:pt>
                <c:pt idx="2">
                  <c:v>46.024</c:v>
                </c:pt>
                <c:pt idx="3">
                  <c:v>46.770999999999994</c:v>
                </c:pt>
                <c:pt idx="4">
                  <c:v>42.943000000000005</c:v>
                </c:pt>
                <c:pt idx="5">
                  <c:v>216.691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191.43</c:v>
                </c:pt>
                <c:pt idx="2">
                  <c:v>237.654</c:v>
                </c:pt>
                <c:pt idx="3">
                  <c:v>295.185</c:v>
                </c:pt>
                <c:pt idx="4">
                  <c:v>344.701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191.43</c:v>
                </c:pt>
                <c:pt idx="1">
                  <c:v>46.224000000000004</c:v>
                </c:pt>
                <c:pt idx="2">
                  <c:v>57.53099999999999</c:v>
                </c:pt>
                <c:pt idx="3">
                  <c:v>49.516000000000005</c:v>
                </c:pt>
                <c:pt idx="4">
                  <c:v>63.41899999999999</c:v>
                </c:pt>
                <c:pt idx="5">
                  <c:v>408.12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46.224000000000004</c:v>
                </c:pt>
                <c:pt idx="2">
                  <c:v>103.755</c:v>
                </c:pt>
                <c:pt idx="3">
                  <c:v>153.27100000000002</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46.224000000000004</c:v>
                </c:pt>
                <c:pt idx="1">
                  <c:v>57.53099999999999</c:v>
                </c:pt>
                <c:pt idx="2">
                  <c:v>49.516000000000005</c:v>
                </c:pt>
                <c:pt idx="3">
                  <c:v>63.41899999999999</c:v>
                </c:pt>
                <c:pt idx="4">
                  <c:v>216.69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34.151</c:v>
                </c:pt>
                <c:pt idx="1">
                  <c:v>35.387</c:v>
                </c:pt>
                <c:pt idx="2">
                  <c:v>36.665</c:v>
                </c:pt>
                <c:pt idx="3">
                  <c:v>37.977000000000004</c:v>
                </c:pt>
                <c:pt idx="4">
                  <c:v>39.358000000000004</c:v>
                </c:pt>
                <c:pt idx="5">
                  <c:v>40.879000000000005</c:v>
                </c:pt>
                <c:pt idx="6">
                  <c:v>42.568</c:v>
                </c:pt>
                <c:pt idx="7">
                  <c:v>44.45</c:v>
                </c:pt>
                <c:pt idx="8">
                  <c:v>46.53999999999999</c:v>
                </c:pt>
                <c:pt idx="9">
                  <c:v>48.832</c:v>
                </c:pt>
                <c:pt idx="10">
                  <c:v>51.295</c:v>
                </c:pt>
                <c:pt idx="11">
                  <c:v>53.917</c:v>
                </c:pt>
                <c:pt idx="12">
                  <c:v>56.665</c:v>
                </c:pt>
                <c:pt idx="13">
                  <c:v>59.519999999999996</c:v>
                </c:pt>
                <c:pt idx="14">
                  <c:v>62.446</c:v>
                </c:pt>
                <c:pt idx="15">
                  <c:v>65.447</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Israel</c:v>
                </c:pt>
              </c:strCache>
            </c:strRef>
          </c:cat>
          <c:val>
            <c:numRef>
              <c:f>Sheet1!$B$2:$B$4</c:f>
              <c:numCache>
                <c:formatCode>General</c:formatCode>
                <c:ptCount val="3"/>
                <c:pt idx="0">
                  <c:v>0.05245930274733035</c:v>
                </c:pt>
                <c:pt idx="1">
                  <c:v>0.06040785576190855</c:v>
                </c:pt>
                <c:pt idx="2">
                  <c:v>0.04818743186101626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15506052785765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40.879000000000005</c:v>
                </c:pt>
                <c:pt idx="2">
                  <c:v>42.568</c:v>
                </c:pt>
                <c:pt idx="3">
                  <c:v>44.45</c:v>
                </c:pt>
                <c:pt idx="4">
                  <c:v>46.53999999999999</c:v>
                </c:pt>
                <c:pt idx="5">
                  <c:v>48.832</c:v>
                </c:pt>
                <c:pt idx="6">
                  <c:v>51.295</c:v>
                </c:pt>
                <c:pt idx="7">
                  <c:v>53.917</c:v>
                </c:pt>
                <c:pt idx="8">
                  <c:v>56.665</c:v>
                </c:pt>
                <c:pt idx="9">
                  <c:v>59.519999999999996</c:v>
                </c:pt>
                <c:pt idx="10">
                  <c:v>62.446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40.879000000000005</c:v>
                </c:pt>
                <c:pt idx="1">
                  <c:v>1.688999999999993</c:v>
                </c:pt>
                <c:pt idx="2">
                  <c:v>1.882000000000005</c:v>
                </c:pt>
                <c:pt idx="3">
                  <c:v>2.089999999999989</c:v>
                </c:pt>
                <c:pt idx="4">
                  <c:v>2.2920000000000087</c:v>
                </c:pt>
                <c:pt idx="5">
                  <c:v>2.463000000000001</c:v>
                </c:pt>
                <c:pt idx="6">
                  <c:v>2.622</c:v>
                </c:pt>
                <c:pt idx="7">
                  <c:v>2.7479999999999976</c:v>
                </c:pt>
                <c:pt idx="8">
                  <c:v>2.854999999999997</c:v>
                </c:pt>
                <c:pt idx="9">
                  <c:v>2.926000000000002</c:v>
                </c:pt>
                <c:pt idx="10">
                  <c:v>3.0010000000000048</c:v>
                </c:pt>
                <c:pt idx="11">
                  <c:v>65.447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Israel</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7.032159844490509</c:v>
                </c:pt>
                <c:pt idx="1">
                  <c:v>0.5167214285118388</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92.96784015550949</c:v>
                </c:pt>
                <c:pt idx="1">
                  <c:v>99.48327857148816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4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94.0</c:v>
                </c:pt>
                <c:pt idx="1">
                  <c:v>97.863</c:v>
                </c:pt>
                <c:pt idx="2">
                  <c:v>101.89699999999999</c:v>
                </c:pt>
                <c:pt idx="3">
                  <c:v>106.143</c:v>
                </c:pt>
                <c:pt idx="4">
                  <c:v>110.65299999999999</c:v>
                </c:pt>
                <c:pt idx="5">
                  <c:v>116.07</c:v>
                </c:pt>
                <c:pt idx="6">
                  <c:v>122.184</c:v>
                </c:pt>
                <c:pt idx="7">
                  <c:v>129.113</c:v>
                </c:pt>
                <c:pt idx="8">
                  <c:v>136.958</c:v>
                </c:pt>
                <c:pt idx="9">
                  <c:v>145.76500000000001</c:v>
                </c:pt>
                <c:pt idx="10">
                  <c:v>155.456</c:v>
                </c:pt>
                <c:pt idx="11">
                  <c:v>166.01000000000002</c:v>
                </c:pt>
                <c:pt idx="12">
                  <c:v>177.38</c:v>
                </c:pt>
                <c:pt idx="13">
                  <c:v>189.58499999999998</c:v>
                </c:pt>
                <c:pt idx="14">
                  <c:v>202.583</c:v>
                </c:pt>
                <c:pt idx="15">
                  <c:v>216.396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Israel</c:v>
                </c:pt>
              </c:strCache>
            </c:strRef>
          </c:cat>
          <c:val>
            <c:numRef>
              <c:f>Sheet1!$B$2:$B$4</c:f>
              <c:numCache>
                <c:formatCode>General</c:formatCode>
                <c:ptCount val="3"/>
                <c:pt idx="0">
                  <c:v>0.06658666629421717</c:v>
                </c:pt>
                <c:pt idx="1">
                  <c:v>0.07540738186272966</c:v>
                </c:pt>
                <c:pt idx="2">
                  <c:v>0.0642727057894199</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17999655146850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116.07</c:v>
                </c:pt>
                <c:pt idx="2">
                  <c:v>122.184</c:v>
                </c:pt>
                <c:pt idx="3">
                  <c:v>129.113</c:v>
                </c:pt>
                <c:pt idx="4">
                  <c:v>136.958</c:v>
                </c:pt>
                <c:pt idx="5">
                  <c:v>145.76500000000001</c:v>
                </c:pt>
                <c:pt idx="6">
                  <c:v>155.456</c:v>
                </c:pt>
                <c:pt idx="7">
                  <c:v>166.01000000000002</c:v>
                </c:pt>
                <c:pt idx="8">
                  <c:v>177.38</c:v>
                </c:pt>
                <c:pt idx="9">
                  <c:v>189.58499999999998</c:v>
                </c:pt>
                <c:pt idx="10">
                  <c:v>202.583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116.07</c:v>
                </c:pt>
                <c:pt idx="1">
                  <c:v>6.114000000000004</c:v>
                </c:pt>
                <c:pt idx="2">
                  <c:v>6.929000000000002</c:v>
                </c:pt>
                <c:pt idx="3">
                  <c:v>7.844999999999999</c:v>
                </c:pt>
                <c:pt idx="4">
                  <c:v>8.807000000000016</c:v>
                </c:pt>
                <c:pt idx="5">
                  <c:v>9.690999999999974</c:v>
                </c:pt>
                <c:pt idx="6">
                  <c:v>10.55400000000003</c:v>
                </c:pt>
                <c:pt idx="7">
                  <c:v>11.369999999999976</c:v>
                </c:pt>
                <c:pt idx="8">
                  <c:v>12.204999999999984</c:v>
                </c:pt>
                <c:pt idx="9">
                  <c:v>12.998000000000019</c:v>
                </c:pt>
                <c:pt idx="10">
                  <c:v>13.812999999999988</c:v>
                </c:pt>
                <c:pt idx="11">
                  <c:v>216.396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Israel</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11.316648743195824</c:v>
                </c:pt>
                <c:pt idx="1">
                  <c:v>0.7206466411297692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88.68335125680417</c:v>
                </c:pt>
                <c:pt idx="1">
                  <c:v>99.27935335887022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4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Waxes, Clays, Pastes…</c:v>
                </c:pt>
                <c:pt idx="7">
                  <c:v>Serums and Oils</c:v>
                </c:pt>
              </c:strCache>
            </c:strRef>
          </c:cat>
          <c:val>
            <c:numRef>
              <c:f>Sheet1!$B$2:$B$9</c:f>
              <c:numCache>
                <c:formatCode>General</c:formatCode>
                <c:ptCount val="8"/>
                <c:pt idx="0">
                  <c:v>8.269</c:v>
                </c:pt>
                <c:pt idx="1">
                  <c:v>9.978</c:v>
                </c:pt>
                <c:pt idx="2">
                  <c:v>11.506</c:v>
                </c:pt>
                <c:pt idx="3">
                  <c:v>13.949</c:v>
                </c:pt>
                <c:pt idx="4">
                  <c:v>14.868</c:v>
                </c:pt>
                <c:pt idx="5">
                  <c:v>15.631</c:v>
                </c:pt>
                <c:pt idx="6">
                  <c:v>18.109</c:v>
                </c:pt>
                <c:pt idx="7">
                  <c:v>23.76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1.838400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20.542</c:v>
                </c:pt>
                <c:pt idx="4">
                  <c:v>22.041</c:v>
                </c:pt>
                <c:pt idx="5">
                  <c:v>23.441</c:v>
                </c:pt>
                <c:pt idx="6">
                  <c:v>24.286</c:v>
                </c:pt>
                <c:pt idx="7">
                  <c:v>25.761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4.5197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36.584</c:v>
                </c:pt>
                <c:pt idx="6">
                  <c:v>36.954</c:v>
                </c:pt>
                <c:pt idx="7">
                  <c:v>42.533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6.9942200000000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Mass Retail</c:v>
                </c:pt>
                <c:pt idx="6">
                  <c:v>Salon and Professiona…</c:v>
                </c:pt>
                <c:pt idx="7">
                  <c:v>Online Marketplaces</c:v>
                </c:pt>
              </c:strCache>
            </c:strRef>
          </c:cat>
          <c:val>
            <c:numRef>
              <c:f>Sheet1!$B$2:$B$9</c:f>
              <c:numCache>
                <c:formatCode>General</c:formatCode>
                <c:ptCount val="8"/>
                <c:pt idx="2">
                  <c:v>15.833</c:v>
                </c:pt>
                <c:pt idx="3">
                  <c:v>16.391</c:v>
                </c:pt>
                <c:pt idx="4">
                  <c:v>16.615</c:v>
                </c:pt>
                <c:pt idx="5">
                  <c:v>20.402</c:v>
                </c:pt>
                <c:pt idx="6">
                  <c:v>23.114</c:v>
                </c:pt>
                <c:pt idx="7">
                  <c:v>23.716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1.779440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13.717</c:v>
                </c:pt>
                <c:pt idx="2">
                  <c:v>16.133</c:v>
                </c:pt>
                <c:pt idx="3">
                  <c:v>16.395</c:v>
                </c:pt>
                <c:pt idx="4">
                  <c:v>16.424</c:v>
                </c:pt>
                <c:pt idx="5">
                  <c:v>16.515</c:v>
                </c:pt>
                <c:pt idx="6">
                  <c:v>18.361</c:v>
                </c:pt>
                <c:pt idx="7">
                  <c:v>18.527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4.826180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20.883</c:v>
                </c:pt>
                <c:pt idx="4">
                  <c:v>22.049</c:v>
                </c:pt>
                <c:pt idx="5">
                  <c:v>23.475</c:v>
                </c:pt>
                <c:pt idx="6">
                  <c:v>24.386</c:v>
                </c:pt>
                <c:pt idx="7">
                  <c:v>25.278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3.8725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27.801000000000002</c:v>
                </c:pt>
                <c:pt idx="5">
                  <c:v>28.982</c:v>
                </c:pt>
                <c:pt idx="6">
                  <c:v>29.131</c:v>
                </c:pt>
                <c:pt idx="7">
                  <c:v>30.158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0.4117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116.07</c:v>
                </c:pt>
                <c:pt idx="2">
                  <c:v>125.591</c:v>
                </c:pt>
                <c:pt idx="3">
                  <c:v>129.958</c:v>
                </c:pt>
                <c:pt idx="4">
                  <c:v>136.085</c:v>
                </c:pt>
                <c:pt idx="5">
                  <c:v>150.148</c:v>
                </c:pt>
                <c:pt idx="6">
                  <c:v>162.751</c:v>
                </c:pt>
                <c:pt idx="7">
                  <c:v>176.971</c:v>
                </c:pt>
                <c:pt idx="8">
                  <c:v>198.957</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116.07</c:v>
                </c:pt>
                <c:pt idx="1">
                  <c:v>9.521</c:v>
                </c:pt>
                <c:pt idx="2">
                  <c:v>4.366999999999999</c:v>
                </c:pt>
                <c:pt idx="3">
                  <c:v>6.127000000000001</c:v>
                </c:pt>
                <c:pt idx="4">
                  <c:v>14.063</c:v>
                </c:pt>
                <c:pt idx="5">
                  <c:v>12.602999999999998</c:v>
                </c:pt>
                <c:pt idx="6">
                  <c:v>14.219999999999999</c:v>
                </c:pt>
                <c:pt idx="7">
                  <c:v>21.986</c:v>
                </c:pt>
                <c:pt idx="8">
                  <c:v>17.439</c:v>
                </c:pt>
                <c:pt idx="9">
                  <c:v>216.396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9.521</c:v>
                </c:pt>
                <c:pt idx="2">
                  <c:v>13.888</c:v>
                </c:pt>
                <c:pt idx="3">
                  <c:v>20.015</c:v>
                </c:pt>
                <c:pt idx="4">
                  <c:v>34.078</c:v>
                </c:pt>
                <c:pt idx="5">
                  <c:v>46.681</c:v>
                </c:pt>
                <c:pt idx="6">
                  <c:v>60.900999999999996</c:v>
                </c:pt>
                <c:pt idx="7">
                  <c:v>82.887</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9.521</c:v>
                </c:pt>
                <c:pt idx="1">
                  <c:v>4.366999999999999</c:v>
                </c:pt>
                <c:pt idx="2">
                  <c:v>6.127000000000001</c:v>
                </c:pt>
                <c:pt idx="3">
                  <c:v>14.063</c:v>
                </c:pt>
                <c:pt idx="4">
                  <c:v>12.602999999999998</c:v>
                </c:pt>
                <c:pt idx="5">
                  <c:v>14.219999999999999</c:v>
                </c:pt>
                <c:pt idx="6">
                  <c:v>21.986</c:v>
                </c:pt>
                <c:pt idx="7">
                  <c:v>17.439</c:v>
                </c:pt>
                <c:pt idx="8">
                  <c:v>100.326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116.071</c:v>
                </c:pt>
                <c:pt idx="2">
                  <c:v>137.419</c:v>
                </c:pt>
                <c:pt idx="3">
                  <c:v>162.086</c:v>
                </c:pt>
                <c:pt idx="4">
                  <c:v>183.96400000000003</c:v>
                </c:pt>
                <c:pt idx="5">
                  <c:v>202.41700000000003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116.071</c:v>
                </c:pt>
                <c:pt idx="1">
                  <c:v>21.348000000000003</c:v>
                </c:pt>
                <c:pt idx="2">
                  <c:v>24.666999999999998</c:v>
                </c:pt>
                <c:pt idx="3">
                  <c:v>21.878000000000004</c:v>
                </c:pt>
                <c:pt idx="4">
                  <c:v>18.452999999999996</c:v>
                </c:pt>
                <c:pt idx="5">
                  <c:v>13.979999999999997</c:v>
                </c:pt>
                <c:pt idx="6">
                  <c:v>216.397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21.348000000000003</c:v>
                </c:pt>
                <c:pt idx="2">
                  <c:v>46.015</c:v>
                </c:pt>
                <c:pt idx="3">
                  <c:v>67.893</c:v>
                </c:pt>
                <c:pt idx="4">
                  <c:v>86.346</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21.348000000000003</c:v>
                </c:pt>
                <c:pt idx="1">
                  <c:v>24.666999999999998</c:v>
                </c:pt>
                <c:pt idx="2">
                  <c:v>21.878000000000004</c:v>
                </c:pt>
                <c:pt idx="3">
                  <c:v>18.452999999999996</c:v>
                </c:pt>
                <c:pt idx="4">
                  <c:v>13.979999999999997</c:v>
                </c:pt>
                <c:pt idx="5">
                  <c:v>100.326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116.071</c:v>
                </c:pt>
                <c:pt idx="2">
                  <c:v>147.833</c:v>
                </c:pt>
                <c:pt idx="3">
                  <c:v>180.564</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116.071</c:v>
                </c:pt>
                <c:pt idx="1">
                  <c:v>31.761999999999993</c:v>
                </c:pt>
                <c:pt idx="2">
                  <c:v>32.730999999999995</c:v>
                </c:pt>
                <c:pt idx="3">
                  <c:v>35.831999999999994</c:v>
                </c:pt>
                <c:pt idx="4">
                  <c:v>216.396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31.761999999999993</c:v>
                </c:pt>
                <c:pt idx="2">
                  <c:v>64.493</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31.761999999999993</c:v>
                </c:pt>
                <c:pt idx="1">
                  <c:v>32.730999999999995</c:v>
                </c:pt>
                <c:pt idx="2">
                  <c:v>35.831999999999994</c:v>
                </c:pt>
                <c:pt idx="3">
                  <c:v>100.32499999999999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116.071</c:v>
                </c:pt>
                <c:pt idx="2">
                  <c:v>129.047</c:v>
                </c:pt>
                <c:pt idx="3">
                  <c:v>143.808</c:v>
                </c:pt>
                <c:pt idx="4">
                  <c:v>162.41299999999998</c:v>
                </c:pt>
                <c:pt idx="5">
                  <c:v>174.259</c:v>
                </c:pt>
                <c:pt idx="6">
                  <c:v>200.332</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116.071</c:v>
                </c:pt>
                <c:pt idx="1">
                  <c:v>12.975999999999999</c:v>
                </c:pt>
                <c:pt idx="2">
                  <c:v>14.761000000000003</c:v>
                </c:pt>
                <c:pt idx="3">
                  <c:v>18.605</c:v>
                </c:pt>
                <c:pt idx="4">
                  <c:v>11.846</c:v>
                </c:pt>
                <c:pt idx="5">
                  <c:v>26.073</c:v>
                </c:pt>
                <c:pt idx="6">
                  <c:v>16.064</c:v>
                </c:pt>
                <c:pt idx="7">
                  <c:v>216.39600000000002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12.975999999999999</c:v>
                </c:pt>
                <c:pt idx="2">
                  <c:v>27.737000000000002</c:v>
                </c:pt>
                <c:pt idx="3">
                  <c:v>46.342</c:v>
                </c:pt>
                <c:pt idx="4">
                  <c:v>58.188</c:v>
                </c:pt>
                <c:pt idx="5">
                  <c:v>84.261</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12.975999999999999</c:v>
                </c:pt>
                <c:pt idx="1">
                  <c:v>14.761000000000003</c:v>
                </c:pt>
                <c:pt idx="2">
                  <c:v>18.605</c:v>
                </c:pt>
                <c:pt idx="3">
                  <c:v>11.846</c:v>
                </c:pt>
                <c:pt idx="4">
                  <c:v>26.073</c:v>
                </c:pt>
                <c:pt idx="5">
                  <c:v>16.064</c:v>
                </c:pt>
                <c:pt idx="6">
                  <c:v>100.32499999999999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116.07199999999999</c:v>
                </c:pt>
                <c:pt idx="2">
                  <c:v>127.12199999999999</c:v>
                </c:pt>
                <c:pt idx="3">
                  <c:v>146.11999999999998</c:v>
                </c:pt>
                <c:pt idx="4">
                  <c:v>158.52999999999997</c:v>
                </c:pt>
                <c:pt idx="5">
                  <c:v>172.46999999999997</c:v>
                </c:pt>
                <c:pt idx="6">
                  <c:v>190.19299999999998</c:v>
                </c:pt>
                <c:pt idx="7">
                  <c:v>199.53199999999998</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116.07199999999999</c:v>
                </c:pt>
                <c:pt idx="1">
                  <c:v>11.05</c:v>
                </c:pt>
                <c:pt idx="2">
                  <c:v>18.997999999999998</c:v>
                </c:pt>
                <c:pt idx="3">
                  <c:v>12.41</c:v>
                </c:pt>
                <c:pt idx="4">
                  <c:v>13.940000000000001</c:v>
                </c:pt>
                <c:pt idx="5">
                  <c:v>17.723000000000003</c:v>
                </c:pt>
                <c:pt idx="6">
                  <c:v>9.339</c:v>
                </c:pt>
                <c:pt idx="7">
                  <c:v>16.864</c:v>
                </c:pt>
                <c:pt idx="8">
                  <c:v>216.39600000000002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11.05</c:v>
                </c:pt>
                <c:pt idx="2">
                  <c:v>30.048</c:v>
                </c:pt>
                <c:pt idx="3">
                  <c:v>42.458</c:v>
                </c:pt>
                <c:pt idx="4">
                  <c:v>56.397999999999996</c:v>
                </c:pt>
                <c:pt idx="5">
                  <c:v>74.121</c:v>
                </c:pt>
                <c:pt idx="6">
                  <c:v>83.46</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11.05</c:v>
                </c:pt>
                <c:pt idx="1">
                  <c:v>18.997999999999998</c:v>
                </c:pt>
                <c:pt idx="2">
                  <c:v>12.41</c:v>
                </c:pt>
                <c:pt idx="3">
                  <c:v>13.940000000000001</c:v>
                </c:pt>
                <c:pt idx="4">
                  <c:v>17.723000000000003</c:v>
                </c:pt>
                <c:pt idx="5">
                  <c:v>9.339</c:v>
                </c:pt>
                <c:pt idx="6">
                  <c:v>16.864</c:v>
                </c:pt>
                <c:pt idx="7">
                  <c:v>100.324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116.071</c:v>
                </c:pt>
                <c:pt idx="2">
                  <c:v>132.863</c:v>
                </c:pt>
                <c:pt idx="3">
                  <c:v>152.985</c:v>
                </c:pt>
                <c:pt idx="4">
                  <c:v>174.59400000000002</c:v>
                </c:pt>
                <c:pt idx="5">
                  <c:v>196.818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116.071</c:v>
                </c:pt>
                <c:pt idx="1">
                  <c:v>16.791999999999998</c:v>
                </c:pt>
                <c:pt idx="2">
                  <c:v>20.122</c:v>
                </c:pt>
                <c:pt idx="3">
                  <c:v>21.609</c:v>
                </c:pt>
                <c:pt idx="4">
                  <c:v>22.224</c:v>
                </c:pt>
                <c:pt idx="5">
                  <c:v>19.579</c:v>
                </c:pt>
                <c:pt idx="6">
                  <c:v>216.397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16.791999999999998</c:v>
                </c:pt>
                <c:pt idx="2">
                  <c:v>36.914</c:v>
                </c:pt>
                <c:pt idx="3">
                  <c:v>58.523</c:v>
                </c:pt>
                <c:pt idx="4">
                  <c:v>80.747</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16.791999999999998</c:v>
                </c:pt>
                <c:pt idx="1">
                  <c:v>20.122</c:v>
                </c:pt>
                <c:pt idx="2">
                  <c:v>21.609</c:v>
                </c:pt>
                <c:pt idx="3">
                  <c:v>22.224</c:v>
                </c:pt>
                <c:pt idx="4">
                  <c:v>19.579</c:v>
                </c:pt>
                <c:pt idx="5">
                  <c:v>100.326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116.072</c:v>
                </c:pt>
                <c:pt idx="2">
                  <c:v>138.66</c:v>
                </c:pt>
                <c:pt idx="3">
                  <c:v>165.48</c:v>
                </c:pt>
                <c:pt idx="4">
                  <c:v>189.475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116.072</c:v>
                </c:pt>
                <c:pt idx="1">
                  <c:v>22.587999999999994</c:v>
                </c:pt>
                <c:pt idx="2">
                  <c:v>26.82</c:v>
                </c:pt>
                <c:pt idx="3">
                  <c:v>23.995000000000005</c:v>
                </c:pt>
                <c:pt idx="4">
                  <c:v>26.921</c:v>
                </c:pt>
                <c:pt idx="5">
                  <c:v>216.39600000000002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22.587999999999994</c:v>
                </c:pt>
                <c:pt idx="2">
                  <c:v>49.407999999999994</c:v>
                </c:pt>
                <c:pt idx="3">
                  <c:v>73.40299999999999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22.587999999999994</c:v>
                </c:pt>
                <c:pt idx="1">
                  <c:v>26.82</c:v>
                </c:pt>
                <c:pt idx="2">
                  <c:v>23.995000000000005</c:v>
                </c:pt>
                <c:pt idx="3">
                  <c:v>26.921</c:v>
                </c:pt>
                <c:pt idx="4">
                  <c:v>100.32399999999998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23.933</c:v>
                </c:pt>
                <c:pt idx="1">
                  <c:v>25.205</c:v>
                </c:pt>
                <c:pt idx="2">
                  <c:v>26.53</c:v>
                </c:pt>
                <c:pt idx="3">
                  <c:v>27.91</c:v>
                </c:pt>
                <c:pt idx="4">
                  <c:v>29.38</c:v>
                </c:pt>
                <c:pt idx="5">
                  <c:v>31.025</c:v>
                </c:pt>
                <c:pt idx="6">
                  <c:v>32.879999999999995</c:v>
                </c:pt>
                <c:pt idx="7">
                  <c:v>34.986000000000004</c:v>
                </c:pt>
                <c:pt idx="8">
                  <c:v>37.367999999999995</c:v>
                </c:pt>
                <c:pt idx="9">
                  <c:v>40.026</c:v>
                </c:pt>
                <c:pt idx="10">
                  <c:v>42.933</c:v>
                </c:pt>
                <c:pt idx="11">
                  <c:v>46.08</c:v>
                </c:pt>
                <c:pt idx="12">
                  <c:v>49.444</c:v>
                </c:pt>
                <c:pt idx="13">
                  <c:v>53.005</c:v>
                </c:pt>
                <c:pt idx="14">
                  <c:v>56.732</c:v>
                </c:pt>
                <c:pt idx="15">
                  <c:v>60.626999999999995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Rest of GCC</c:v>
                </c:pt>
              </c:strCache>
            </c:strRef>
          </c:cat>
          <c:val>
            <c:numRef>
              <c:f>Sheet1!$B$2:$B$4</c:f>
              <c:numCache>
                <c:formatCode>General</c:formatCode>
                <c:ptCount val="3"/>
                <c:pt idx="0">
                  <c:v>0.05245930274733035</c:v>
                </c:pt>
                <c:pt idx="1">
                  <c:v>0.06040785576190855</c:v>
                </c:pt>
                <c:pt idx="2">
                  <c:v>0.06928981170561466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35412458025797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31.025</c:v>
                </c:pt>
                <c:pt idx="2">
                  <c:v>32.879999999999995</c:v>
                </c:pt>
                <c:pt idx="3">
                  <c:v>34.986000000000004</c:v>
                </c:pt>
                <c:pt idx="4">
                  <c:v>37.367999999999995</c:v>
                </c:pt>
                <c:pt idx="5">
                  <c:v>40.026</c:v>
                </c:pt>
                <c:pt idx="6">
                  <c:v>42.933</c:v>
                </c:pt>
                <c:pt idx="7">
                  <c:v>46.08</c:v>
                </c:pt>
                <c:pt idx="8">
                  <c:v>49.444</c:v>
                </c:pt>
                <c:pt idx="9">
                  <c:v>53.005</c:v>
                </c:pt>
                <c:pt idx="10">
                  <c:v>56.732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31.025</c:v>
                </c:pt>
                <c:pt idx="1">
                  <c:v>1.8549999999999969</c:v>
                </c:pt>
                <c:pt idx="2">
                  <c:v>2.1060000000000088</c:v>
                </c:pt>
                <c:pt idx="3">
                  <c:v>2.381999999999991</c:v>
                </c:pt>
                <c:pt idx="4">
                  <c:v>2.6580000000000084</c:v>
                </c:pt>
                <c:pt idx="5">
                  <c:v>2.9069999999999965</c:v>
                </c:pt>
                <c:pt idx="6">
                  <c:v>3.1469999999999985</c:v>
                </c:pt>
                <c:pt idx="7">
                  <c:v>3.3640000000000043</c:v>
                </c:pt>
                <c:pt idx="8">
                  <c:v>3.561</c:v>
                </c:pt>
                <c:pt idx="9">
                  <c:v>3.7269999999999968</c:v>
                </c:pt>
                <c:pt idx="10">
                  <c:v>3.894999999999996</c:v>
                </c:pt>
                <c:pt idx="11">
                  <c:v>60.626999999999995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GCC</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5.33703757859336</c:v>
                </c:pt>
                <c:pt idx="1">
                  <c:v>0.39216424862593985</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94.66296242140663</c:v>
                </c:pt>
                <c:pt idx="1">
                  <c:v>99.60783575137405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52.19</c:v>
                </c:pt>
                <c:pt idx="1">
                  <c:v>55.26</c:v>
                </c:pt>
                <c:pt idx="2">
                  <c:v>58.49300000000001</c:v>
                </c:pt>
                <c:pt idx="3">
                  <c:v>61.925999999999995</c:v>
                </c:pt>
                <c:pt idx="4">
                  <c:v>65.61</c:v>
                </c:pt>
                <c:pt idx="5">
                  <c:v>70.057</c:v>
                </c:pt>
                <c:pt idx="6">
                  <c:v>75.15800000000002</c:v>
                </c:pt>
                <c:pt idx="7">
                  <c:v>81.03999999999999</c:v>
                </c:pt>
                <c:pt idx="8">
                  <c:v>87.821</c:v>
                </c:pt>
                <c:pt idx="9">
                  <c:v>95.562</c:v>
                </c:pt>
                <c:pt idx="10">
                  <c:v>104.243</c:v>
                </c:pt>
                <c:pt idx="11">
                  <c:v>113.894</c:v>
                </c:pt>
                <c:pt idx="12">
                  <c:v>124.45599999999999</c:v>
                </c:pt>
                <c:pt idx="13">
                  <c:v>135.984</c:v>
                </c:pt>
                <c:pt idx="14">
                  <c:v>148.462</c:v>
                </c:pt>
                <c:pt idx="15">
                  <c:v>161.946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Rest of GCC</c:v>
                </c:pt>
              </c:strCache>
            </c:strRef>
          </c:cat>
          <c:val>
            <c:numRef>
              <c:f>Sheet1!$B$2:$B$4</c:f>
              <c:numCache>
                <c:formatCode>General</c:formatCode>
                <c:ptCount val="3"/>
                <c:pt idx="0">
                  <c:v>0.06658666629421717</c:v>
                </c:pt>
                <c:pt idx="1">
                  <c:v>0.07540738186272966</c:v>
                </c:pt>
                <c:pt idx="2">
                  <c:v>0.08740636050625517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179985866834444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70.057</c:v>
                </c:pt>
                <c:pt idx="2">
                  <c:v>75.15800000000002</c:v>
                </c:pt>
                <c:pt idx="3">
                  <c:v>81.03999999999999</c:v>
                </c:pt>
                <c:pt idx="4">
                  <c:v>87.821</c:v>
                </c:pt>
                <c:pt idx="5">
                  <c:v>95.562</c:v>
                </c:pt>
                <c:pt idx="6">
                  <c:v>104.243</c:v>
                </c:pt>
                <c:pt idx="7">
                  <c:v>113.894</c:v>
                </c:pt>
                <c:pt idx="8">
                  <c:v>124.45599999999999</c:v>
                </c:pt>
                <c:pt idx="9">
                  <c:v>135.984</c:v>
                </c:pt>
                <c:pt idx="10">
                  <c:v>148.462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70.057</c:v>
                </c:pt>
                <c:pt idx="1">
                  <c:v>5.101000000000013</c:v>
                </c:pt>
                <c:pt idx="2">
                  <c:v>5.881999999999977</c:v>
                </c:pt>
                <c:pt idx="3">
                  <c:v>6.781000000000006</c:v>
                </c:pt>
                <c:pt idx="4">
                  <c:v>7.741</c:v>
                </c:pt>
                <c:pt idx="5">
                  <c:v>8.680999999999997</c:v>
                </c:pt>
                <c:pt idx="6">
                  <c:v>9.65100000000001</c:v>
                </c:pt>
                <c:pt idx="7">
                  <c:v>10.561999999999983</c:v>
                </c:pt>
                <c:pt idx="8">
                  <c:v>11.52800000000002</c:v>
                </c:pt>
                <c:pt idx="9">
                  <c:v>12.47799999999998</c:v>
                </c:pt>
                <c:pt idx="10">
                  <c:v>13.484000000000009</c:v>
                </c:pt>
                <c:pt idx="11">
                  <c:v>161.946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GCC</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6.830451115723872</c:v>
                </c:pt>
                <c:pt idx="1">
                  <c:v>0.43496460530393943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93.16954888427613</c:v>
                </c:pt>
                <c:pt idx="1">
                  <c:v>99.56503539469605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Sprays and Mists</c:v>
                </c:pt>
                <c:pt idx="4">
                  <c:v>Sticks and Balms</c:v>
                </c:pt>
                <c:pt idx="5">
                  <c:v>Creams and Lotions</c:v>
                </c:pt>
                <c:pt idx="6">
                  <c:v>Waxes, Clays, Pastes…</c:v>
                </c:pt>
                <c:pt idx="7">
                  <c:v>Serums and Oils</c:v>
                </c:pt>
              </c:strCache>
            </c:strRef>
          </c:cat>
          <c:val>
            <c:numRef>
              <c:f>Sheet1!$B$2:$B$9</c:f>
              <c:numCache>
                <c:formatCode>General</c:formatCode>
                <c:ptCount val="8"/>
                <c:pt idx="0">
                  <c:v>4.9030000000000005</c:v>
                </c:pt>
                <c:pt idx="1">
                  <c:v>6.031</c:v>
                </c:pt>
                <c:pt idx="2">
                  <c:v>6.905</c:v>
                </c:pt>
                <c:pt idx="3">
                  <c:v>8.421</c:v>
                </c:pt>
                <c:pt idx="4">
                  <c:v>8.683</c:v>
                </c:pt>
                <c:pt idx="5">
                  <c:v>9.074</c:v>
                </c:pt>
                <c:pt idx="6">
                  <c:v>10.886</c:v>
                </c:pt>
                <c:pt idx="7">
                  <c:v>15.154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0.3063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12.413</c:v>
                </c:pt>
                <c:pt idx="4">
                  <c:v>13.25</c:v>
                </c:pt>
                <c:pt idx="5">
                  <c:v>14.127</c:v>
                </c:pt>
                <c:pt idx="6">
                  <c:v>14.693</c:v>
                </c:pt>
                <c:pt idx="7">
                  <c:v>15.574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0.8691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21.932</c:v>
                </c:pt>
                <c:pt idx="6">
                  <c:v>22.372</c:v>
                </c:pt>
                <c:pt idx="7">
                  <c:v>25.753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4.509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Online Marketplaces</c:v>
                </c:pt>
                <c:pt idx="5">
                  <c:v>Beauty Specialty Reta…</c:v>
                </c:pt>
                <c:pt idx="6">
                  <c:v>Mass Retail</c:v>
                </c:pt>
                <c:pt idx="7">
                  <c:v>Salon and Professiona…</c:v>
                </c:pt>
              </c:strCache>
            </c:strRef>
          </c:cat>
          <c:val>
            <c:numRef>
              <c:f>Sheet1!$B$2:$B$9</c:f>
              <c:numCache>
                <c:formatCode>General</c:formatCode>
                <c:ptCount val="8"/>
                <c:pt idx="2">
                  <c:v>10.025</c:v>
                </c:pt>
                <c:pt idx="3">
                  <c:v>10.267</c:v>
                </c:pt>
                <c:pt idx="4">
                  <c:v>10.995</c:v>
                </c:pt>
                <c:pt idx="5">
                  <c:v>11.715</c:v>
                </c:pt>
                <c:pt idx="6">
                  <c:v>12.805</c:v>
                </c:pt>
                <c:pt idx="7">
                  <c:v>14.25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9.09500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Curl Definition</c:v>
                </c:pt>
                <c:pt idx="5">
                  <c:v>Hold and Shape</c:v>
                </c:pt>
                <c:pt idx="6">
                  <c:v>Heat Styling Support</c:v>
                </c:pt>
                <c:pt idx="7">
                  <c:v>Smoothing and Frizz C…</c:v>
                </c:pt>
              </c:strCache>
            </c:strRef>
          </c:cat>
          <c:val>
            <c:numRef>
              <c:f>Sheet1!$B$2:$B$9</c:f>
              <c:numCache>
                <c:formatCode>General</c:formatCode>
                <c:ptCount val="8"/>
                <c:pt idx="1">
                  <c:v>7.935</c:v>
                </c:pt>
                <c:pt idx="2">
                  <c:v>9.359</c:v>
                </c:pt>
                <c:pt idx="3">
                  <c:v>9.363</c:v>
                </c:pt>
                <c:pt idx="4">
                  <c:v>9.391</c:v>
                </c:pt>
                <c:pt idx="5">
                  <c:v>10.581</c:v>
                </c:pt>
                <c:pt idx="6">
                  <c:v>10.86</c:v>
                </c:pt>
                <c:pt idx="7">
                  <c:v>12.567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6.8397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12.585</c:v>
                </c:pt>
                <c:pt idx="4">
                  <c:v>13.254</c:v>
                </c:pt>
                <c:pt idx="5">
                  <c:v>14.2</c:v>
                </c:pt>
                <c:pt idx="6">
                  <c:v>14.745</c:v>
                </c:pt>
                <c:pt idx="7">
                  <c:v>15.273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0.4658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16.682000000000002</c:v>
                </c:pt>
                <c:pt idx="5">
                  <c:v>17.507</c:v>
                </c:pt>
                <c:pt idx="6">
                  <c:v>17.663</c:v>
                </c:pt>
                <c:pt idx="7">
                  <c:v>18.205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4.3947"/>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70.057</c:v>
                </c:pt>
                <c:pt idx="2">
                  <c:v>77.726</c:v>
                </c:pt>
                <c:pt idx="3">
                  <c:v>82.597</c:v>
                </c:pt>
                <c:pt idx="4">
                  <c:v>89.25399999999999</c:v>
                </c:pt>
                <c:pt idx="5">
                  <c:v>102.71499999999999</c:v>
                </c:pt>
                <c:pt idx="6">
                  <c:v>114.103</c:v>
                </c:pt>
                <c:pt idx="7">
                  <c:v>124.905</c:v>
                </c:pt>
                <c:pt idx="8">
                  <c:v>148.592</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70.057</c:v>
                </c:pt>
                <c:pt idx="1">
                  <c:v>7.6690000000000005</c:v>
                </c:pt>
                <c:pt idx="2">
                  <c:v>4.870999999999999</c:v>
                </c:pt>
                <c:pt idx="3">
                  <c:v>6.657000000000001</c:v>
                </c:pt>
                <c:pt idx="4">
                  <c:v>13.461</c:v>
                </c:pt>
                <c:pt idx="5">
                  <c:v>11.388000000000002</c:v>
                </c:pt>
                <c:pt idx="6">
                  <c:v>10.802</c:v>
                </c:pt>
                <c:pt idx="7">
                  <c:v>23.687</c:v>
                </c:pt>
                <c:pt idx="8">
                  <c:v>13.354</c:v>
                </c:pt>
                <c:pt idx="9">
                  <c:v>161.946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7.6690000000000005</c:v>
                </c:pt>
                <c:pt idx="2">
                  <c:v>12.54</c:v>
                </c:pt>
                <c:pt idx="3">
                  <c:v>19.197</c:v>
                </c:pt>
                <c:pt idx="4">
                  <c:v>32.658</c:v>
                </c:pt>
                <c:pt idx="5">
                  <c:v>44.04600000000001</c:v>
                </c:pt>
                <c:pt idx="6">
                  <c:v>54.848000000000006</c:v>
                </c:pt>
                <c:pt idx="7">
                  <c:v>78.53500000000001</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7.6690000000000005</c:v>
                </c:pt>
                <c:pt idx="1">
                  <c:v>4.870999999999999</c:v>
                </c:pt>
                <c:pt idx="2">
                  <c:v>6.657000000000001</c:v>
                </c:pt>
                <c:pt idx="3">
                  <c:v>13.461</c:v>
                </c:pt>
                <c:pt idx="4">
                  <c:v>11.388000000000002</c:v>
                </c:pt>
                <c:pt idx="5">
                  <c:v>10.802</c:v>
                </c:pt>
                <c:pt idx="6">
                  <c:v>23.687</c:v>
                </c:pt>
                <c:pt idx="7">
                  <c:v>13.354</c:v>
                </c:pt>
                <c:pt idx="8">
                  <c:v>91.889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70.057</c:v>
                </c:pt>
                <c:pt idx="2">
                  <c:v>89.249</c:v>
                </c:pt>
                <c:pt idx="3">
                  <c:v>111.05499999999999</c:v>
                </c:pt>
                <c:pt idx="4">
                  <c:v>131.137</c:v>
                </c:pt>
                <c:pt idx="5">
                  <c:v>148.465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70.057</c:v>
                </c:pt>
                <c:pt idx="1">
                  <c:v>19.192</c:v>
                </c:pt>
                <c:pt idx="2">
                  <c:v>21.805999999999997</c:v>
                </c:pt>
                <c:pt idx="3">
                  <c:v>20.082</c:v>
                </c:pt>
                <c:pt idx="4">
                  <c:v>17.328000000000003</c:v>
                </c:pt>
                <c:pt idx="5">
                  <c:v>13.479</c:v>
                </c:pt>
                <c:pt idx="6">
                  <c:v>161.94400000000002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19.192</c:v>
                </c:pt>
                <c:pt idx="2">
                  <c:v>40.998</c:v>
                </c:pt>
                <c:pt idx="3">
                  <c:v>61.08</c:v>
                </c:pt>
                <c:pt idx="4">
                  <c:v>78.408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19.192</c:v>
                </c:pt>
                <c:pt idx="1">
                  <c:v>21.805999999999997</c:v>
                </c:pt>
                <c:pt idx="2">
                  <c:v>20.082</c:v>
                </c:pt>
                <c:pt idx="3">
                  <c:v>17.328000000000003</c:v>
                </c:pt>
                <c:pt idx="4">
                  <c:v>13.479</c:v>
                </c:pt>
                <c:pt idx="5">
                  <c:v>91.887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70.057</c:v>
                </c:pt>
                <c:pt idx="2">
                  <c:v>98.311</c:v>
                </c:pt>
                <c:pt idx="3">
                  <c:v>124.671</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70.057</c:v>
                </c:pt>
                <c:pt idx="1">
                  <c:v>28.254</c:v>
                </c:pt>
                <c:pt idx="2">
                  <c:v>26.36</c:v>
                </c:pt>
                <c:pt idx="3">
                  <c:v>37.274</c:v>
                </c:pt>
                <c:pt idx="4">
                  <c:v>161.945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28.254</c:v>
                </c:pt>
                <c:pt idx="2">
                  <c:v>54.614000000000004</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28.254</c:v>
                </c:pt>
                <c:pt idx="1">
                  <c:v>26.36</c:v>
                </c:pt>
                <c:pt idx="2">
                  <c:v>37.274</c:v>
                </c:pt>
                <c:pt idx="3">
                  <c:v>91.888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70.05699999999999</c:v>
                </c:pt>
                <c:pt idx="2">
                  <c:v>82.85799999999999</c:v>
                </c:pt>
                <c:pt idx="3">
                  <c:v>99.484</c:v>
                </c:pt>
                <c:pt idx="4">
                  <c:v>117.40899999999999</c:v>
                </c:pt>
                <c:pt idx="5">
                  <c:v>128.91899999999998</c:v>
                </c:pt>
                <c:pt idx="6">
                  <c:v>146.903</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70.05699999999999</c:v>
                </c:pt>
                <c:pt idx="1">
                  <c:v>12.801000000000002</c:v>
                </c:pt>
                <c:pt idx="2">
                  <c:v>16.626</c:v>
                </c:pt>
                <c:pt idx="3">
                  <c:v>17.924999999999997</c:v>
                </c:pt>
                <c:pt idx="4">
                  <c:v>11.510000000000002</c:v>
                </c:pt>
                <c:pt idx="5">
                  <c:v>17.984</c:v>
                </c:pt>
                <c:pt idx="6">
                  <c:v>15.040999999999999</c:v>
                </c:pt>
                <c:pt idx="7">
                  <c:v>161.944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12.801000000000002</c:v>
                </c:pt>
                <c:pt idx="2">
                  <c:v>29.427000000000003</c:v>
                </c:pt>
                <c:pt idx="3">
                  <c:v>47.352000000000004</c:v>
                </c:pt>
                <c:pt idx="4">
                  <c:v>58.86200000000001</c:v>
                </c:pt>
                <c:pt idx="5">
                  <c:v>76.846</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12.801000000000002</c:v>
                </c:pt>
                <c:pt idx="1">
                  <c:v>16.626</c:v>
                </c:pt>
                <c:pt idx="2">
                  <c:v>17.924999999999997</c:v>
                </c:pt>
                <c:pt idx="3">
                  <c:v>11.510000000000002</c:v>
                </c:pt>
                <c:pt idx="4">
                  <c:v>17.984</c:v>
                </c:pt>
                <c:pt idx="5">
                  <c:v>15.040999999999999</c:v>
                </c:pt>
                <c:pt idx="6">
                  <c:v>91.887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70.05600000000001</c:v>
                </c:pt>
                <c:pt idx="2">
                  <c:v>80.36500000000001</c:v>
                </c:pt>
                <c:pt idx="3">
                  <c:v>95.87700000000001</c:v>
                </c:pt>
                <c:pt idx="4">
                  <c:v>106.80100000000002</c:v>
                </c:pt>
                <c:pt idx="5">
                  <c:v>118.79700000000003</c:v>
                </c:pt>
                <c:pt idx="6">
                  <c:v>136.83000000000004</c:v>
                </c:pt>
                <c:pt idx="7">
                  <c:v>145.40100000000004</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70.05600000000001</c:v>
                </c:pt>
                <c:pt idx="1">
                  <c:v>10.309000000000001</c:v>
                </c:pt>
                <c:pt idx="2">
                  <c:v>15.511999999999999</c:v>
                </c:pt>
                <c:pt idx="3">
                  <c:v>10.924000000000001</c:v>
                </c:pt>
                <c:pt idx="4">
                  <c:v>11.996000000000002</c:v>
                </c:pt>
                <c:pt idx="5">
                  <c:v>18.033</c:v>
                </c:pt>
                <c:pt idx="6">
                  <c:v>8.571000000000002</c:v>
                </c:pt>
                <c:pt idx="7">
                  <c:v>16.543</c:v>
                </c:pt>
                <c:pt idx="8">
                  <c:v>161.944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10.309000000000001</c:v>
                </c:pt>
                <c:pt idx="2">
                  <c:v>25.820999999999998</c:v>
                </c:pt>
                <c:pt idx="3">
                  <c:v>36.745</c:v>
                </c:pt>
                <c:pt idx="4">
                  <c:v>48.741</c:v>
                </c:pt>
                <c:pt idx="5">
                  <c:v>66.774</c:v>
                </c:pt>
                <c:pt idx="6">
                  <c:v>75.345</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10.309000000000001</c:v>
                </c:pt>
                <c:pt idx="1">
                  <c:v>15.511999999999999</c:v>
                </c:pt>
                <c:pt idx="2">
                  <c:v>10.924000000000001</c:v>
                </c:pt>
                <c:pt idx="3">
                  <c:v>11.996000000000002</c:v>
                </c:pt>
                <c:pt idx="4">
                  <c:v>18.033</c:v>
                </c:pt>
                <c:pt idx="5">
                  <c:v>8.571000000000002</c:v>
                </c:pt>
                <c:pt idx="6">
                  <c:v>16.543</c:v>
                </c:pt>
                <c:pt idx="7">
                  <c:v>91.888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70.057</c:v>
                </c:pt>
                <c:pt idx="2">
                  <c:v>86.19200000000001</c:v>
                </c:pt>
                <c:pt idx="3">
                  <c:v>104.61800000000001</c:v>
                </c:pt>
                <c:pt idx="4">
                  <c:v>124.00300000000001</c:v>
                </c:pt>
                <c:pt idx="5">
                  <c:v>143.613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70.057</c:v>
                </c:pt>
                <c:pt idx="1">
                  <c:v>16.134999999999998</c:v>
                </c:pt>
                <c:pt idx="2">
                  <c:v>18.426</c:v>
                </c:pt>
                <c:pt idx="3">
                  <c:v>19.385000000000005</c:v>
                </c:pt>
                <c:pt idx="4">
                  <c:v>19.61</c:v>
                </c:pt>
                <c:pt idx="5">
                  <c:v>18.331</c:v>
                </c:pt>
                <c:pt idx="6">
                  <c:v>161.94400000000002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16.134999999999998</c:v>
                </c:pt>
                <c:pt idx="2">
                  <c:v>34.56099999999999</c:v>
                </c:pt>
                <c:pt idx="3">
                  <c:v>53.946</c:v>
                </c:pt>
                <c:pt idx="4">
                  <c:v>73.556</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16.134999999999998</c:v>
                </c:pt>
                <c:pt idx="1">
                  <c:v>18.426</c:v>
                </c:pt>
                <c:pt idx="2">
                  <c:v>19.385000000000005</c:v>
                </c:pt>
                <c:pt idx="3">
                  <c:v>19.61</c:v>
                </c:pt>
                <c:pt idx="4">
                  <c:v>18.331</c:v>
                </c:pt>
                <c:pt idx="5">
                  <c:v>91.887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70.057</c:v>
                </c:pt>
                <c:pt idx="2">
                  <c:v>90.412</c:v>
                </c:pt>
                <c:pt idx="3">
                  <c:v>115.212</c:v>
                </c:pt>
                <c:pt idx="4">
                  <c:v>136.63400000000001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70.057</c:v>
                </c:pt>
                <c:pt idx="1">
                  <c:v>20.355000000000004</c:v>
                </c:pt>
                <c:pt idx="2">
                  <c:v>24.8</c:v>
                </c:pt>
                <c:pt idx="3">
                  <c:v>21.422</c:v>
                </c:pt>
                <c:pt idx="4">
                  <c:v>25.310999999999993</c:v>
                </c:pt>
                <c:pt idx="5">
                  <c:v>161.945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20.355000000000004</c:v>
                </c:pt>
                <c:pt idx="2">
                  <c:v>45.155</c:v>
                </c:pt>
                <c:pt idx="3">
                  <c:v>66.577</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20.355000000000004</c:v>
                </c:pt>
                <c:pt idx="1">
                  <c:v>24.8</c:v>
                </c:pt>
                <c:pt idx="2">
                  <c:v>21.422</c:v>
                </c:pt>
                <c:pt idx="3">
                  <c:v>25.310999999999993</c:v>
                </c:pt>
                <c:pt idx="4">
                  <c:v>91.88799999999999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69.685</c:v>
                </c:pt>
                <c:pt idx="1">
                  <c:v>71.979</c:v>
                </c:pt>
                <c:pt idx="2">
                  <c:v>74.333</c:v>
                </c:pt>
                <c:pt idx="3">
                  <c:v>76.745</c:v>
                </c:pt>
                <c:pt idx="4">
                  <c:v>79.272</c:v>
                </c:pt>
                <c:pt idx="5">
                  <c:v>82.051</c:v>
                </c:pt>
                <c:pt idx="6">
                  <c:v>85.13899999999998</c:v>
                </c:pt>
                <c:pt idx="7">
                  <c:v>88.572</c:v>
                </c:pt>
                <c:pt idx="8">
                  <c:v>92.37299999999999</c:v>
                </c:pt>
                <c:pt idx="9">
                  <c:v>96.51599999999999</c:v>
                </c:pt>
                <c:pt idx="10">
                  <c:v>100.958</c:v>
                </c:pt>
                <c:pt idx="11">
                  <c:v>105.66</c:v>
                </c:pt>
                <c:pt idx="12">
                  <c:v>110.56700000000001</c:v>
                </c:pt>
                <c:pt idx="13">
                  <c:v>115.649</c:v>
                </c:pt>
                <c:pt idx="14">
                  <c:v>120.83599999999998</c:v>
                </c:pt>
                <c:pt idx="15">
                  <c:v>126.132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South Africa</c:v>
                </c:pt>
              </c:strCache>
            </c:strRef>
          </c:cat>
          <c:val>
            <c:numRef>
              <c:f>Sheet1!$B$2:$B$4</c:f>
              <c:numCache>
                <c:formatCode>General</c:formatCode>
                <c:ptCount val="3"/>
                <c:pt idx="0">
                  <c:v>0.05245930274733035</c:v>
                </c:pt>
                <c:pt idx="1">
                  <c:v>0.06040785576190855</c:v>
                </c:pt>
                <c:pt idx="2">
                  <c:v>0.04393663925265878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15506052785765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82.051</c:v>
                </c:pt>
                <c:pt idx="2">
                  <c:v>85.13899999999998</c:v>
                </c:pt>
                <c:pt idx="3">
                  <c:v>88.572</c:v>
                </c:pt>
                <c:pt idx="4">
                  <c:v>92.37299999999999</c:v>
                </c:pt>
                <c:pt idx="5">
                  <c:v>96.51599999999999</c:v>
                </c:pt>
                <c:pt idx="6">
                  <c:v>100.958</c:v>
                </c:pt>
                <c:pt idx="7">
                  <c:v>105.66</c:v>
                </c:pt>
                <c:pt idx="8">
                  <c:v>110.56700000000001</c:v>
                </c:pt>
                <c:pt idx="9">
                  <c:v>115.649</c:v>
                </c:pt>
                <c:pt idx="10">
                  <c:v>120.83599999999998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82.051</c:v>
                </c:pt>
                <c:pt idx="1">
                  <c:v>3.0879999999999797</c:v>
                </c:pt>
                <c:pt idx="2">
                  <c:v>3.433000000000021</c:v>
                </c:pt>
                <c:pt idx="3">
                  <c:v>3.8009999999999877</c:v>
                </c:pt>
                <c:pt idx="4">
                  <c:v>4.143000000000001</c:v>
                </c:pt>
                <c:pt idx="5">
                  <c:v>4.442000000000007</c:v>
                </c:pt>
                <c:pt idx="6">
                  <c:v>4.701999999999998</c:v>
                </c:pt>
                <c:pt idx="7">
                  <c:v>4.907000000000011</c:v>
                </c:pt>
                <c:pt idx="8">
                  <c:v>5.081999999999994</c:v>
                </c:pt>
                <c:pt idx="9">
                  <c:v>5.186999999999983</c:v>
                </c:pt>
                <c:pt idx="10">
                  <c:v>5.296000000000021</c:v>
                </c:pt>
                <c:pt idx="11">
                  <c:v>126.132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South Africa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14.114722654670874</c:v>
                </c:pt>
                <c:pt idx="1">
                  <c:v>1.0371464549236744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85.88527734532913</c:v>
                </c:pt>
                <c:pt idx="1">
                  <c:v>98.96285354507633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108.917</c:v>
                </c:pt>
                <c:pt idx="1">
                  <c:v>113.112</c:v>
                </c:pt>
                <c:pt idx="2">
                  <c:v>117.47</c:v>
                </c:pt>
                <c:pt idx="3">
                  <c:v>122.04000000000002</c:v>
                </c:pt>
                <c:pt idx="4">
                  <c:v>126.882</c:v>
                </c:pt>
                <c:pt idx="5">
                  <c:v>132.777</c:v>
                </c:pt>
                <c:pt idx="6">
                  <c:v>139.41</c:v>
                </c:pt>
                <c:pt idx="7">
                  <c:v>146.916</c:v>
                </c:pt>
                <c:pt idx="8">
                  <c:v>155.39600000000002</c:v>
                </c:pt>
                <c:pt idx="9">
                  <c:v>164.88</c:v>
                </c:pt>
                <c:pt idx="10">
                  <c:v>175.307</c:v>
                </c:pt>
                <c:pt idx="11">
                  <c:v>186.661</c:v>
                </c:pt>
                <c:pt idx="12">
                  <c:v>198.873</c:v>
                </c:pt>
                <c:pt idx="13">
                  <c:v>211.94</c:v>
                </c:pt>
                <c:pt idx="14">
                  <c:v>225.842</c:v>
                </c:pt>
                <c:pt idx="15">
                  <c:v>240.577</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South Africa</c:v>
                </c:pt>
              </c:strCache>
            </c:strRef>
          </c:cat>
          <c:val>
            <c:numRef>
              <c:f>Sheet1!$B$2:$B$4</c:f>
              <c:numCache>
                <c:formatCode>General</c:formatCode>
                <c:ptCount val="3"/>
                <c:pt idx="0">
                  <c:v>0.06658666629421717</c:v>
                </c:pt>
                <c:pt idx="1">
                  <c:v>0.07540738186272966</c:v>
                </c:pt>
                <c:pt idx="2">
                  <c:v>0.06123881330786518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17999655146850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132.777</c:v>
                </c:pt>
                <c:pt idx="2">
                  <c:v>139.41</c:v>
                </c:pt>
                <c:pt idx="3">
                  <c:v>146.916</c:v>
                </c:pt>
                <c:pt idx="4">
                  <c:v>155.39600000000002</c:v>
                </c:pt>
                <c:pt idx="5">
                  <c:v>164.88</c:v>
                </c:pt>
                <c:pt idx="6">
                  <c:v>175.307</c:v>
                </c:pt>
                <c:pt idx="7">
                  <c:v>186.661</c:v>
                </c:pt>
                <c:pt idx="8">
                  <c:v>198.873</c:v>
                </c:pt>
                <c:pt idx="9">
                  <c:v>211.94</c:v>
                </c:pt>
                <c:pt idx="10">
                  <c:v>225.842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132.777</c:v>
                </c:pt>
                <c:pt idx="1">
                  <c:v>6.63300000000001</c:v>
                </c:pt>
                <c:pt idx="2">
                  <c:v>7.506</c:v>
                </c:pt>
                <c:pt idx="3">
                  <c:v>8.480000000000018</c:v>
                </c:pt>
                <c:pt idx="4">
                  <c:v>9.48399999999998</c:v>
                </c:pt>
                <c:pt idx="5">
                  <c:v>10.426999999999992</c:v>
                </c:pt>
                <c:pt idx="6">
                  <c:v>11.354000000000013</c:v>
                </c:pt>
                <c:pt idx="7">
                  <c:v>12.211999999999989</c:v>
                </c:pt>
                <c:pt idx="8">
                  <c:v>13.067000000000007</c:v>
                </c:pt>
                <c:pt idx="9">
                  <c:v>13.902000000000015</c:v>
                </c:pt>
                <c:pt idx="10">
                  <c:v>14.734999999999985</c:v>
                </c:pt>
                <c:pt idx="11">
                  <c:v>240.577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South Africa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12.945555872967276</c:v>
                </c:pt>
                <c:pt idx="1">
                  <c:v>0.8243757996837027</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87.05444412703272</c:v>
                </c:pt>
                <c:pt idx="1">
                  <c:v>99.17562420031629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Powders</c:v>
                </c:pt>
                <c:pt idx="2">
                  <c:v>Sprays and Mists</c:v>
                </c:pt>
                <c:pt idx="3">
                  <c:v>Gels and Jellies</c:v>
                </c:pt>
                <c:pt idx="4">
                  <c:v>Sticks and Balms</c:v>
                </c:pt>
                <c:pt idx="5">
                  <c:v>Creams and Lotions</c:v>
                </c:pt>
                <c:pt idx="6">
                  <c:v>Serums and Oils</c:v>
                </c:pt>
                <c:pt idx="7">
                  <c:v>Waxes, Clays, Pastes…</c:v>
                </c:pt>
              </c:strCache>
            </c:strRef>
          </c:cat>
          <c:val>
            <c:numRef>
              <c:f>Sheet1!$B$2:$B$9</c:f>
              <c:numCache>
                <c:formatCode>General</c:formatCode>
                <c:ptCount val="8"/>
                <c:pt idx="0">
                  <c:v>9.246</c:v>
                </c:pt>
                <c:pt idx="1">
                  <c:v>12.888</c:v>
                </c:pt>
                <c:pt idx="2">
                  <c:v>13.818000000000001</c:v>
                </c:pt>
                <c:pt idx="3">
                  <c:v>14.617</c:v>
                </c:pt>
                <c:pt idx="4">
                  <c:v>16.657</c:v>
                </c:pt>
                <c:pt idx="5">
                  <c:v>19.632</c:v>
                </c:pt>
                <c:pt idx="6">
                  <c:v>22.735</c:v>
                </c:pt>
                <c:pt idx="7">
                  <c:v>23.184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1.066560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23.493</c:v>
                </c:pt>
                <c:pt idx="4">
                  <c:v>25.234</c:v>
                </c:pt>
                <c:pt idx="5">
                  <c:v>26.822</c:v>
                </c:pt>
                <c:pt idx="6">
                  <c:v>27.769</c:v>
                </c:pt>
                <c:pt idx="7">
                  <c:v>29.46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9.476400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42.27</c:v>
                </c:pt>
                <c:pt idx="6">
                  <c:v>43.461</c:v>
                </c:pt>
                <c:pt idx="7">
                  <c:v>47.047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3.0429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Beauty Specialty Reta…</c:v>
                </c:pt>
                <c:pt idx="4">
                  <c:v>Pharmacies and Drugst…</c:v>
                </c:pt>
                <c:pt idx="5">
                  <c:v>Online Marketplaces</c:v>
                </c:pt>
                <c:pt idx="6">
                  <c:v>Salon and Professiona…</c:v>
                </c:pt>
                <c:pt idx="7">
                  <c:v>Mass Retail</c:v>
                </c:pt>
              </c:strCache>
            </c:strRef>
          </c:cat>
          <c:val>
            <c:numRef>
              <c:f>Sheet1!$B$2:$B$9</c:f>
              <c:numCache>
                <c:formatCode>General</c:formatCode>
                <c:ptCount val="8"/>
                <c:pt idx="2">
                  <c:v>16.202</c:v>
                </c:pt>
                <c:pt idx="3">
                  <c:v>19.552</c:v>
                </c:pt>
                <c:pt idx="4">
                  <c:v>19.576</c:v>
                </c:pt>
                <c:pt idx="5">
                  <c:v>21.158</c:v>
                </c:pt>
                <c:pt idx="6">
                  <c:v>24.949</c:v>
                </c:pt>
                <c:pt idx="7">
                  <c:v>31.341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1.9969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Volume and Root Lift</c:v>
                </c:pt>
                <c:pt idx="2">
                  <c:v>Texture and Separation</c:v>
                </c:pt>
                <c:pt idx="3">
                  <c:v>Heat Styling Support</c:v>
                </c:pt>
                <c:pt idx="4">
                  <c:v>Sleek Styling and Edg…</c:v>
                </c:pt>
                <c:pt idx="5">
                  <c:v>Smoothing and Frizz C…</c:v>
                </c:pt>
                <c:pt idx="6">
                  <c:v>Hold and Shape</c:v>
                </c:pt>
                <c:pt idx="7">
                  <c:v>Curl Definition</c:v>
                </c:pt>
              </c:strCache>
            </c:strRef>
          </c:cat>
          <c:val>
            <c:numRef>
              <c:f>Sheet1!$B$2:$B$9</c:f>
              <c:numCache>
                <c:formatCode>General</c:formatCode>
                <c:ptCount val="8"/>
                <c:pt idx="1">
                  <c:v>17.146</c:v>
                </c:pt>
                <c:pt idx="2">
                  <c:v>17.181</c:v>
                </c:pt>
                <c:pt idx="3">
                  <c:v>17.249</c:v>
                </c:pt>
                <c:pt idx="4">
                  <c:v>18.191</c:v>
                </c:pt>
                <c:pt idx="5">
                  <c:v>19.56</c:v>
                </c:pt>
                <c:pt idx="6">
                  <c:v>19.602</c:v>
                </c:pt>
                <c:pt idx="7">
                  <c:v>23.85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1.959000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Wavy Hair</c:v>
                </c:pt>
                <c:pt idx="4">
                  <c:v>Straight Hair</c:v>
                </c:pt>
                <c:pt idx="5">
                  <c:v>All Hair Types</c:v>
                </c:pt>
                <c:pt idx="6">
                  <c:v>Curly Hair</c:v>
                </c:pt>
                <c:pt idx="7">
                  <c:v>Coily Hair</c:v>
                </c:pt>
              </c:strCache>
            </c:strRef>
          </c:cat>
          <c:val>
            <c:numRef>
              <c:f>Sheet1!$B$2:$B$9</c:f>
              <c:numCache>
                <c:formatCode>General</c:formatCode>
                <c:ptCount val="8"/>
                <c:pt idx="3">
                  <c:v>23.634</c:v>
                </c:pt>
                <c:pt idx="4">
                  <c:v>24.711</c:v>
                </c:pt>
                <c:pt idx="5">
                  <c:v>25.989</c:v>
                </c:pt>
                <c:pt idx="6">
                  <c:v>28.279</c:v>
                </c:pt>
                <c:pt idx="7">
                  <c:v>30.166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0.4224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31.769000000000002</c:v>
                </c:pt>
                <c:pt idx="5">
                  <c:v>33.117000000000004</c:v>
                </c:pt>
                <c:pt idx="6">
                  <c:v>33.492999999999995</c:v>
                </c:pt>
                <c:pt idx="7">
                  <c:v>34.399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6.094660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132.777</c:v>
                </c:pt>
                <c:pt idx="2">
                  <c:v>141.50699999999998</c:v>
                </c:pt>
                <c:pt idx="3">
                  <c:v>146.37399999999997</c:v>
                </c:pt>
                <c:pt idx="4">
                  <c:v>155.74599999999998</c:v>
                </c:pt>
                <c:pt idx="5">
                  <c:v>171.08399999999997</c:v>
                </c:pt>
                <c:pt idx="6">
                  <c:v>188.37999999999997</c:v>
                </c:pt>
                <c:pt idx="7">
                  <c:v>200.50599999999997</c:v>
                </c:pt>
                <c:pt idx="8">
                  <c:v>220.313</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132.777</c:v>
                </c:pt>
                <c:pt idx="1">
                  <c:v>8.73</c:v>
                </c:pt>
                <c:pt idx="2">
                  <c:v>4.866999999999999</c:v>
                </c:pt>
                <c:pt idx="3">
                  <c:v>9.372</c:v>
                </c:pt>
                <c:pt idx="4">
                  <c:v>15.337999999999997</c:v>
                </c:pt>
                <c:pt idx="5">
                  <c:v>17.295999999999996</c:v>
                </c:pt>
                <c:pt idx="6">
                  <c:v>12.126</c:v>
                </c:pt>
                <c:pt idx="7">
                  <c:v>19.807000000000002</c:v>
                </c:pt>
                <c:pt idx="8">
                  <c:v>20.264</c:v>
                </c:pt>
                <c:pt idx="9">
                  <c:v>240.577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8.73</c:v>
                </c:pt>
                <c:pt idx="2">
                  <c:v>13.597</c:v>
                </c:pt>
                <c:pt idx="3">
                  <c:v>22.969</c:v>
                </c:pt>
                <c:pt idx="4">
                  <c:v>38.307</c:v>
                </c:pt>
                <c:pt idx="5">
                  <c:v>55.602999999999994</c:v>
                </c:pt>
                <c:pt idx="6">
                  <c:v>67.729</c:v>
                </c:pt>
                <c:pt idx="7">
                  <c:v>87.536</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8.73</c:v>
                </c:pt>
                <c:pt idx="1">
                  <c:v>4.866999999999999</c:v>
                </c:pt>
                <c:pt idx="2">
                  <c:v>9.372</c:v>
                </c:pt>
                <c:pt idx="3">
                  <c:v>15.337999999999997</c:v>
                </c:pt>
                <c:pt idx="4">
                  <c:v>17.295999999999996</c:v>
                </c:pt>
                <c:pt idx="5">
                  <c:v>12.126</c:v>
                </c:pt>
                <c:pt idx="6">
                  <c:v>19.807000000000002</c:v>
                </c:pt>
                <c:pt idx="7">
                  <c:v>20.264</c:v>
                </c:pt>
                <c:pt idx="8">
                  <c:v>107.79999999999998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132.778</c:v>
                </c:pt>
                <c:pt idx="2">
                  <c:v>155.79</c:v>
                </c:pt>
                <c:pt idx="3">
                  <c:v>182.47199999999998</c:v>
                </c:pt>
                <c:pt idx="4">
                  <c:v>205.97299999999998</c:v>
                </c:pt>
                <c:pt idx="5">
                  <c:v>225.70799999999997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132.778</c:v>
                </c:pt>
                <c:pt idx="1">
                  <c:v>23.012</c:v>
                </c:pt>
                <c:pt idx="2">
                  <c:v>26.682</c:v>
                </c:pt>
                <c:pt idx="3">
                  <c:v>23.500999999999998</c:v>
                </c:pt>
                <c:pt idx="4">
                  <c:v>19.735</c:v>
                </c:pt>
                <c:pt idx="5">
                  <c:v>14.870000000000001</c:v>
                </c:pt>
                <c:pt idx="6">
                  <c:v>240.578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23.012</c:v>
                </c:pt>
                <c:pt idx="2">
                  <c:v>49.694</c:v>
                </c:pt>
                <c:pt idx="3">
                  <c:v>73.195</c:v>
                </c:pt>
                <c:pt idx="4">
                  <c:v>92.92999999999999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23.012</c:v>
                </c:pt>
                <c:pt idx="1">
                  <c:v>26.682</c:v>
                </c:pt>
                <c:pt idx="2">
                  <c:v>23.500999999999998</c:v>
                </c:pt>
                <c:pt idx="3">
                  <c:v>19.735</c:v>
                </c:pt>
                <c:pt idx="4">
                  <c:v>14.870000000000001</c:v>
                </c:pt>
                <c:pt idx="5">
                  <c:v>107.8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132.778</c:v>
                </c:pt>
                <c:pt idx="2">
                  <c:v>166.589</c:v>
                </c:pt>
                <c:pt idx="3">
                  <c:v>197.56400000000002</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132.778</c:v>
                </c:pt>
                <c:pt idx="1">
                  <c:v>33.811</c:v>
                </c:pt>
                <c:pt idx="2">
                  <c:v>30.97500000000001</c:v>
                </c:pt>
                <c:pt idx="3">
                  <c:v>43.013000000000005</c:v>
                </c:pt>
                <c:pt idx="4">
                  <c:v>240.577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33.811</c:v>
                </c:pt>
                <c:pt idx="2">
                  <c:v>64.786</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33.811</c:v>
                </c:pt>
                <c:pt idx="1">
                  <c:v>30.97500000000001</c:v>
                </c:pt>
                <c:pt idx="2">
                  <c:v>43.013000000000005</c:v>
                </c:pt>
                <c:pt idx="3">
                  <c:v>107.799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132.77800000000002</c:v>
                </c:pt>
                <c:pt idx="2">
                  <c:v>150.95000000000002</c:v>
                </c:pt>
                <c:pt idx="3">
                  <c:v>168.669</c:v>
                </c:pt>
                <c:pt idx="4">
                  <c:v>188.393</c:v>
                </c:pt>
                <c:pt idx="5">
                  <c:v>201.643</c:v>
                </c:pt>
                <c:pt idx="6">
                  <c:v>224.666</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132.77800000000002</c:v>
                </c:pt>
                <c:pt idx="1">
                  <c:v>18.171999999999997</c:v>
                </c:pt>
                <c:pt idx="2">
                  <c:v>17.719</c:v>
                </c:pt>
                <c:pt idx="3">
                  <c:v>19.724</c:v>
                </c:pt>
                <c:pt idx="4">
                  <c:v>13.25</c:v>
                </c:pt>
                <c:pt idx="5">
                  <c:v>23.022999999999996</c:v>
                </c:pt>
                <c:pt idx="6">
                  <c:v>15.910999999999998</c:v>
                </c:pt>
                <c:pt idx="7">
                  <c:v>240.577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18.171999999999997</c:v>
                </c:pt>
                <c:pt idx="2">
                  <c:v>35.891</c:v>
                </c:pt>
                <c:pt idx="3">
                  <c:v>55.614999999999995</c:v>
                </c:pt>
                <c:pt idx="4">
                  <c:v>68.865</c:v>
                </c:pt>
                <c:pt idx="5">
                  <c:v>91.88799999999999</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18.171999999999997</c:v>
                </c:pt>
                <c:pt idx="1">
                  <c:v>17.719</c:v>
                </c:pt>
                <c:pt idx="2">
                  <c:v>19.724</c:v>
                </c:pt>
                <c:pt idx="3">
                  <c:v>13.25</c:v>
                </c:pt>
                <c:pt idx="4">
                  <c:v>23.022999999999996</c:v>
                </c:pt>
                <c:pt idx="5">
                  <c:v>15.910999999999998</c:v>
                </c:pt>
                <c:pt idx="6">
                  <c:v>107.79899999999999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132.779</c:v>
                </c:pt>
                <c:pt idx="2">
                  <c:v>143.433</c:v>
                </c:pt>
                <c:pt idx="3">
                  <c:v>169.195</c:v>
                </c:pt>
                <c:pt idx="4">
                  <c:v>181.19</c:v>
                </c:pt>
                <c:pt idx="5">
                  <c:v>194.733</c:v>
                </c:pt>
                <c:pt idx="6">
                  <c:v>212.328</c:v>
                </c:pt>
                <c:pt idx="7">
                  <c:v>223.697</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132.779</c:v>
                </c:pt>
                <c:pt idx="1">
                  <c:v>10.654</c:v>
                </c:pt>
                <c:pt idx="2">
                  <c:v>25.762</c:v>
                </c:pt>
                <c:pt idx="3">
                  <c:v>11.994999999999997</c:v>
                </c:pt>
                <c:pt idx="4">
                  <c:v>13.543</c:v>
                </c:pt>
                <c:pt idx="5">
                  <c:v>17.595000000000002</c:v>
                </c:pt>
                <c:pt idx="6">
                  <c:v>11.369</c:v>
                </c:pt>
                <c:pt idx="7">
                  <c:v>16.879</c:v>
                </c:pt>
                <c:pt idx="8">
                  <c:v>240.57599999999996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10.654</c:v>
                </c:pt>
                <c:pt idx="2">
                  <c:v>36.416</c:v>
                </c:pt>
                <c:pt idx="3">
                  <c:v>48.410999999999994</c:v>
                </c:pt>
                <c:pt idx="4">
                  <c:v>61.95399999999999</c:v>
                </c:pt>
                <c:pt idx="5">
                  <c:v>79.54899999999999</c:v>
                </c:pt>
                <c:pt idx="6">
                  <c:v>90.91799999999999</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10.654</c:v>
                </c:pt>
                <c:pt idx="1">
                  <c:v>25.762</c:v>
                </c:pt>
                <c:pt idx="2">
                  <c:v>11.994999999999997</c:v>
                </c:pt>
                <c:pt idx="3">
                  <c:v>13.543</c:v>
                </c:pt>
                <c:pt idx="4">
                  <c:v>17.595000000000002</c:v>
                </c:pt>
                <c:pt idx="5">
                  <c:v>11.369</c:v>
                </c:pt>
                <c:pt idx="6">
                  <c:v>16.879</c:v>
                </c:pt>
                <c:pt idx="7">
                  <c:v>107.797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132.779</c:v>
                </c:pt>
                <c:pt idx="2">
                  <c:v>148.221</c:v>
                </c:pt>
                <c:pt idx="3">
                  <c:v>166.844</c:v>
                </c:pt>
                <c:pt idx="4">
                  <c:v>192.418</c:v>
                </c:pt>
                <c:pt idx="5">
                  <c:v>222.184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132.779</c:v>
                </c:pt>
                <c:pt idx="1">
                  <c:v>15.442</c:v>
                </c:pt>
                <c:pt idx="2">
                  <c:v>18.622999999999998</c:v>
                </c:pt>
                <c:pt idx="3">
                  <c:v>25.574</c:v>
                </c:pt>
                <c:pt idx="4">
                  <c:v>29.766000000000002</c:v>
                </c:pt>
                <c:pt idx="5">
                  <c:v>18.394000000000002</c:v>
                </c:pt>
                <c:pt idx="6">
                  <c:v>240.578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15.442</c:v>
                </c:pt>
                <c:pt idx="2">
                  <c:v>34.065</c:v>
                </c:pt>
                <c:pt idx="3">
                  <c:v>59.638999999999996</c:v>
                </c:pt>
                <c:pt idx="4">
                  <c:v>89.405</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15.442</c:v>
                </c:pt>
                <c:pt idx="1">
                  <c:v>18.622999999999998</c:v>
                </c:pt>
                <c:pt idx="2">
                  <c:v>25.574</c:v>
                </c:pt>
                <c:pt idx="3">
                  <c:v>29.766000000000002</c:v>
                </c:pt>
                <c:pt idx="4">
                  <c:v>18.394000000000002</c:v>
                </c:pt>
                <c:pt idx="5">
                  <c:v>107.799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132.778</c:v>
                </c:pt>
                <c:pt idx="2">
                  <c:v>154.192</c:v>
                </c:pt>
                <c:pt idx="3">
                  <c:v>184.30200000000002</c:v>
                </c:pt>
                <c:pt idx="4">
                  <c:v>209.109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132.778</c:v>
                </c:pt>
                <c:pt idx="1">
                  <c:v>21.414</c:v>
                </c:pt>
                <c:pt idx="2">
                  <c:v>30.110000000000007</c:v>
                </c:pt>
                <c:pt idx="3">
                  <c:v>24.806999999999995</c:v>
                </c:pt>
                <c:pt idx="4">
                  <c:v>31.466999999999995</c:v>
                </c:pt>
                <c:pt idx="5">
                  <c:v>240.576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21.414</c:v>
                </c:pt>
                <c:pt idx="2">
                  <c:v>51.52400000000001</c:v>
                </c:pt>
                <c:pt idx="3">
                  <c:v>76.331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21.414</c:v>
                </c:pt>
                <c:pt idx="1">
                  <c:v>30.110000000000007</c:v>
                </c:pt>
                <c:pt idx="2">
                  <c:v>24.806999999999995</c:v>
                </c:pt>
                <c:pt idx="3">
                  <c:v>31.466999999999995</c:v>
                </c:pt>
                <c:pt idx="4">
                  <c:v>107.798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114.66900000000001</c:v>
                </c:pt>
                <c:pt idx="1">
                  <c:v>120.736</c:v>
                </c:pt>
                <c:pt idx="2">
                  <c:v>127.089</c:v>
                </c:pt>
                <c:pt idx="3">
                  <c:v>133.724</c:v>
                </c:pt>
                <c:pt idx="4">
                  <c:v>140.804</c:v>
                </c:pt>
                <c:pt idx="5">
                  <c:v>148.72</c:v>
                </c:pt>
                <c:pt idx="6">
                  <c:v>157.65200000000002</c:v>
                </c:pt>
                <c:pt idx="7">
                  <c:v>167.779</c:v>
                </c:pt>
                <c:pt idx="8">
                  <c:v>179.188</c:v>
                </c:pt>
                <c:pt idx="9">
                  <c:v>191.862</c:v>
                </c:pt>
                <c:pt idx="10">
                  <c:v>205.71499999999997</c:v>
                </c:pt>
                <c:pt idx="11">
                  <c:v>220.71800000000002</c:v>
                </c:pt>
                <c:pt idx="12">
                  <c:v>236.75100000000003</c:v>
                </c:pt>
                <c:pt idx="13">
                  <c:v>253.74899999999997</c:v>
                </c:pt>
                <c:pt idx="14">
                  <c:v>271.516</c:v>
                </c:pt>
                <c:pt idx="15">
                  <c:v>290.056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Rest of MEA</c:v>
                </c:pt>
              </c:strCache>
            </c:strRef>
          </c:cat>
          <c:val>
            <c:numRef>
              <c:f>Sheet1!$B$2:$B$4</c:f>
              <c:numCache>
                <c:formatCode>General</c:formatCode>
                <c:ptCount val="3"/>
                <c:pt idx="0">
                  <c:v>0.05245930274733035</c:v>
                </c:pt>
                <c:pt idx="1">
                  <c:v>0.06040785576190855</c:v>
                </c:pt>
                <c:pt idx="2">
                  <c:v>0.0690825667561179</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32614651207591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148.72</c:v>
                </c:pt>
                <c:pt idx="2">
                  <c:v>157.65200000000002</c:v>
                </c:pt>
                <c:pt idx="3">
                  <c:v>167.779</c:v>
                </c:pt>
                <c:pt idx="4">
                  <c:v>179.188</c:v>
                </c:pt>
                <c:pt idx="5">
                  <c:v>191.862</c:v>
                </c:pt>
                <c:pt idx="6">
                  <c:v>205.71499999999997</c:v>
                </c:pt>
                <c:pt idx="7">
                  <c:v>220.71800000000002</c:v>
                </c:pt>
                <c:pt idx="8">
                  <c:v>236.75100000000003</c:v>
                </c:pt>
                <c:pt idx="9">
                  <c:v>253.74899999999997</c:v>
                </c:pt>
                <c:pt idx="10">
                  <c:v>271.516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148.72</c:v>
                </c:pt>
                <c:pt idx="1">
                  <c:v>8.932000000000016</c:v>
                </c:pt>
                <c:pt idx="2">
                  <c:v>10.126999999999981</c:v>
                </c:pt>
                <c:pt idx="3">
                  <c:v>11.408999999999992</c:v>
                </c:pt>
                <c:pt idx="4">
                  <c:v>12.674000000000007</c:v>
                </c:pt>
                <c:pt idx="5">
                  <c:v>13.85299999999998</c:v>
                </c:pt>
                <c:pt idx="6">
                  <c:v>15.003000000000043</c:v>
                </c:pt>
                <c:pt idx="7">
                  <c:v>16.033000000000015</c:v>
                </c:pt>
                <c:pt idx="8">
                  <c:v>16.997999999999934</c:v>
                </c:pt>
                <c:pt idx="9">
                  <c:v>17.767000000000053</c:v>
                </c:pt>
                <c:pt idx="10">
                  <c:v>18.539999999999964</c:v>
                </c:pt>
                <c:pt idx="11">
                  <c:v>290.056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MEA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25.583375622511028</c:v>
                </c:pt>
                <c:pt idx="1">
                  <c:v>1.8798603402304523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74.41662437748897</c:v>
                </c:pt>
                <c:pt idx="1">
                  <c:v>98.12013965976955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139.75300000000001</c:v>
                </c:pt>
                <c:pt idx="1">
                  <c:v>147.915</c:v>
                </c:pt>
                <c:pt idx="2">
                  <c:v>156.55</c:v>
                </c:pt>
                <c:pt idx="3">
                  <c:v>165.74599999999998</c:v>
                </c:pt>
                <c:pt idx="4">
                  <c:v>175.635</c:v>
                </c:pt>
                <c:pt idx="5">
                  <c:v>187.50600000000003</c:v>
                </c:pt>
                <c:pt idx="6">
                  <c:v>201.14100000000002</c:v>
                </c:pt>
                <c:pt idx="7">
                  <c:v>216.813</c:v>
                </c:pt>
                <c:pt idx="8">
                  <c:v>234.843</c:v>
                </c:pt>
                <c:pt idx="9">
                  <c:v>255.39600000000002</c:v>
                </c:pt>
                <c:pt idx="10">
                  <c:v>278.46000000000004</c:v>
                </c:pt>
                <c:pt idx="11">
                  <c:v>304.204</c:v>
                </c:pt>
                <c:pt idx="12">
                  <c:v>332.575</c:v>
                </c:pt>
                <c:pt idx="13">
                  <c:v>363.58500000000004</c:v>
                </c:pt>
                <c:pt idx="14">
                  <c:v>397.244</c:v>
                </c:pt>
                <c:pt idx="15">
                  <c:v>433.714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Rest of MEA</c:v>
                </c:pt>
              </c:strCache>
            </c:strRef>
          </c:cat>
          <c:val>
            <c:numRef>
              <c:f>Sheet1!$B$2:$B$4</c:f>
              <c:numCache>
                <c:formatCode>General</c:formatCode>
                <c:ptCount val="3"/>
                <c:pt idx="0">
                  <c:v>0.06658666629421717</c:v>
                </c:pt>
                <c:pt idx="1">
                  <c:v>0.07540738186272966</c:v>
                </c:pt>
                <c:pt idx="2">
                  <c:v>0.08747386181585703</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180897134514070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187.50600000000003</c:v>
                </c:pt>
                <c:pt idx="2">
                  <c:v>201.14100000000002</c:v>
                </c:pt>
                <c:pt idx="3">
                  <c:v>216.813</c:v>
                </c:pt>
                <c:pt idx="4">
                  <c:v>234.843</c:v>
                </c:pt>
                <c:pt idx="5">
                  <c:v>255.39600000000002</c:v>
                </c:pt>
                <c:pt idx="6">
                  <c:v>278.46000000000004</c:v>
                </c:pt>
                <c:pt idx="7">
                  <c:v>304.204</c:v>
                </c:pt>
                <c:pt idx="8">
                  <c:v>332.575</c:v>
                </c:pt>
                <c:pt idx="9">
                  <c:v>363.58500000000004</c:v>
                </c:pt>
                <c:pt idx="10">
                  <c:v>397.244</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187.50600000000003</c:v>
                </c:pt>
                <c:pt idx="1">
                  <c:v>13.634999999999991</c:v>
                </c:pt>
                <c:pt idx="2">
                  <c:v>15.671999999999969</c:v>
                </c:pt>
                <c:pt idx="3">
                  <c:v>18.03</c:v>
                </c:pt>
                <c:pt idx="4">
                  <c:v>20.553000000000026</c:v>
                </c:pt>
                <c:pt idx="5">
                  <c:v>23.06400000000002</c:v>
                </c:pt>
                <c:pt idx="6">
                  <c:v>25.74399999999997</c:v>
                </c:pt>
                <c:pt idx="7">
                  <c:v>28.37099999999998</c:v>
                </c:pt>
                <c:pt idx="8">
                  <c:v>31.010000000000048</c:v>
                </c:pt>
                <c:pt idx="9">
                  <c:v>33.65899999999999</c:v>
                </c:pt>
                <c:pt idx="10">
                  <c:v>36.46999999999997</c:v>
                </c:pt>
                <c:pt idx="11">
                  <c:v>433.714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MEA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18.281550264854626</c:v>
                </c:pt>
                <c:pt idx="1">
                  <c:v>1.1641730773815675</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81.71844973514537</c:v>
                </c:pt>
                <c:pt idx="1">
                  <c:v>98.83582692261844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Sprays and Mists</c:v>
                </c:pt>
                <c:pt idx="2">
                  <c:v>Powders</c:v>
                </c:pt>
                <c:pt idx="3">
                  <c:v>Gels and Jellies</c:v>
                </c:pt>
                <c:pt idx="4">
                  <c:v>Sticks and Balms</c:v>
                </c:pt>
                <c:pt idx="5">
                  <c:v>Creams and Lotions</c:v>
                </c:pt>
                <c:pt idx="6">
                  <c:v>Serums and Oils</c:v>
                </c:pt>
                <c:pt idx="7">
                  <c:v>Waxes, Clays, Pastes…</c:v>
                </c:pt>
              </c:strCache>
            </c:strRef>
          </c:cat>
          <c:val>
            <c:numRef>
              <c:f>Sheet1!$B$2:$B$9</c:f>
              <c:numCache>
                <c:formatCode>General</c:formatCode>
                <c:ptCount val="8"/>
                <c:pt idx="0">
                  <c:v>13.132</c:v>
                </c:pt>
                <c:pt idx="1">
                  <c:v>17.489</c:v>
                </c:pt>
                <c:pt idx="2">
                  <c:v>18.091</c:v>
                </c:pt>
                <c:pt idx="3">
                  <c:v>22.79</c:v>
                </c:pt>
                <c:pt idx="4">
                  <c:v>23.554</c:v>
                </c:pt>
                <c:pt idx="5">
                  <c:v>25.788</c:v>
                </c:pt>
                <c:pt idx="6">
                  <c:v>32.197</c:v>
                </c:pt>
                <c:pt idx="7">
                  <c:v>34.465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6.18310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33.222</c:v>
                </c:pt>
                <c:pt idx="4">
                  <c:v>35.468</c:v>
                </c:pt>
                <c:pt idx="5">
                  <c:v>37.813</c:v>
                </c:pt>
                <c:pt idx="6">
                  <c:v>39.322</c:v>
                </c:pt>
                <c:pt idx="7">
                  <c:v>41.681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5.8525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60.913</c:v>
                </c:pt>
                <c:pt idx="6">
                  <c:v>62.432</c:v>
                </c:pt>
                <c:pt idx="7">
                  <c:v>64.161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85.9757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Online Marketplaces</c:v>
                </c:pt>
                <c:pt idx="6">
                  <c:v>Salon and Professiona…</c:v>
                </c:pt>
                <c:pt idx="7">
                  <c:v>Mass Retail</c:v>
                </c:pt>
              </c:strCache>
            </c:strRef>
          </c:cat>
          <c:val>
            <c:numRef>
              <c:f>Sheet1!$B$2:$B$9</c:f>
              <c:numCache>
                <c:formatCode>General</c:formatCode>
                <c:ptCount val="8"/>
                <c:pt idx="2">
                  <c:v>22.143</c:v>
                </c:pt>
                <c:pt idx="3">
                  <c:v>27.245</c:v>
                </c:pt>
                <c:pt idx="4">
                  <c:v>27.673</c:v>
                </c:pt>
                <c:pt idx="5">
                  <c:v>29.04</c:v>
                </c:pt>
                <c:pt idx="6">
                  <c:v>30.824</c:v>
                </c:pt>
                <c:pt idx="7">
                  <c:v>50.58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7.77720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Heat Styling Support</c:v>
                </c:pt>
                <c:pt idx="5">
                  <c:v>Smoothing and Frizz C…</c:v>
                </c:pt>
                <c:pt idx="6">
                  <c:v>Hold and Shape</c:v>
                </c:pt>
                <c:pt idx="7">
                  <c:v>Curl Definition</c:v>
                </c:pt>
              </c:strCache>
            </c:strRef>
          </c:cat>
          <c:val>
            <c:numRef>
              <c:f>Sheet1!$B$2:$B$9</c:f>
              <c:numCache>
                <c:formatCode>General</c:formatCode>
                <c:ptCount val="8"/>
                <c:pt idx="1">
                  <c:v>24.771</c:v>
                </c:pt>
                <c:pt idx="2">
                  <c:v>24.851</c:v>
                </c:pt>
                <c:pt idx="3">
                  <c:v>24.864</c:v>
                </c:pt>
                <c:pt idx="4">
                  <c:v>24.909</c:v>
                </c:pt>
                <c:pt idx="5">
                  <c:v>28.058</c:v>
                </c:pt>
                <c:pt idx="6">
                  <c:v>28.123</c:v>
                </c:pt>
                <c:pt idx="7">
                  <c:v>31.93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2.786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Curly Hair</c:v>
                </c:pt>
                <c:pt idx="4">
                  <c:v>Wavy Hair</c:v>
                </c:pt>
                <c:pt idx="5">
                  <c:v>Straight Hair</c:v>
                </c:pt>
                <c:pt idx="6">
                  <c:v>All Hair Types</c:v>
                </c:pt>
                <c:pt idx="7">
                  <c:v>Coily Hair</c:v>
                </c:pt>
              </c:strCache>
            </c:strRef>
          </c:cat>
          <c:val>
            <c:numRef>
              <c:f>Sheet1!$B$2:$B$9</c:f>
              <c:numCache>
                <c:formatCode>General</c:formatCode>
                <c:ptCount val="8"/>
                <c:pt idx="3">
                  <c:v>33.243</c:v>
                </c:pt>
                <c:pt idx="4">
                  <c:v>35.538</c:v>
                </c:pt>
                <c:pt idx="5">
                  <c:v>37.021</c:v>
                </c:pt>
                <c:pt idx="6">
                  <c:v>38.618</c:v>
                </c:pt>
                <c:pt idx="7">
                  <c:v>43.086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7.735240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44.932</c:v>
                </c:pt>
                <c:pt idx="5">
                  <c:v>46.751000000000005</c:v>
                </c:pt>
                <c:pt idx="6">
                  <c:v>47.041000000000004</c:v>
                </c:pt>
                <c:pt idx="7">
                  <c:v>48.783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5.3692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187.50600000000003</c:v>
                </c:pt>
                <c:pt idx="2">
                  <c:v>201.74000000000004</c:v>
                </c:pt>
                <c:pt idx="3">
                  <c:v>215.60500000000005</c:v>
                </c:pt>
                <c:pt idx="4">
                  <c:v>242.96900000000005</c:v>
                </c:pt>
                <c:pt idx="5">
                  <c:v>276.55400000000003</c:v>
                </c:pt>
                <c:pt idx="6">
                  <c:v>322.696</c:v>
                </c:pt>
                <c:pt idx="7">
                  <c:v>346.971</c:v>
                </c:pt>
                <c:pt idx="8">
                  <c:v>396.322</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187.50600000000003</c:v>
                </c:pt>
                <c:pt idx="1">
                  <c:v>14.233999999999998</c:v>
                </c:pt>
                <c:pt idx="2">
                  <c:v>13.865</c:v>
                </c:pt>
                <c:pt idx="3">
                  <c:v>27.364000000000004</c:v>
                </c:pt>
                <c:pt idx="4">
                  <c:v>33.584999999999994</c:v>
                </c:pt>
                <c:pt idx="5">
                  <c:v>46.141999999999996</c:v>
                </c:pt>
                <c:pt idx="6">
                  <c:v>24.275</c:v>
                </c:pt>
                <c:pt idx="7">
                  <c:v>49.351</c:v>
                </c:pt>
                <c:pt idx="8">
                  <c:v>37.391999999999996</c:v>
                </c:pt>
                <c:pt idx="9">
                  <c:v>433.714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14.233999999999998</c:v>
                </c:pt>
                <c:pt idx="2">
                  <c:v>28.098999999999997</c:v>
                </c:pt>
                <c:pt idx="3">
                  <c:v>55.463</c:v>
                </c:pt>
                <c:pt idx="4">
                  <c:v>89.048</c:v>
                </c:pt>
                <c:pt idx="5">
                  <c:v>135.19</c:v>
                </c:pt>
                <c:pt idx="6">
                  <c:v>159.465</c:v>
                </c:pt>
                <c:pt idx="7">
                  <c:v>208.816</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14.233999999999998</c:v>
                </c:pt>
                <c:pt idx="1">
                  <c:v>13.865</c:v>
                </c:pt>
                <c:pt idx="2">
                  <c:v>27.364000000000004</c:v>
                </c:pt>
                <c:pt idx="3">
                  <c:v>33.584999999999994</c:v>
                </c:pt>
                <c:pt idx="4">
                  <c:v>46.141999999999996</c:v>
                </c:pt>
                <c:pt idx="5">
                  <c:v>24.275</c:v>
                </c:pt>
                <c:pt idx="6">
                  <c:v>49.351</c:v>
                </c:pt>
                <c:pt idx="7">
                  <c:v>37.391999999999996</c:v>
                </c:pt>
                <c:pt idx="8">
                  <c:v>246.208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187.506</c:v>
                </c:pt>
                <c:pt idx="2">
                  <c:v>238.926</c:v>
                </c:pt>
                <c:pt idx="3">
                  <c:v>297.35699999999997</c:v>
                </c:pt>
                <c:pt idx="4">
                  <c:v>351.167</c:v>
                </c:pt>
                <c:pt idx="5">
                  <c:v>397.59999999999997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187.506</c:v>
                </c:pt>
                <c:pt idx="1">
                  <c:v>51.42</c:v>
                </c:pt>
                <c:pt idx="2">
                  <c:v>58.431</c:v>
                </c:pt>
                <c:pt idx="3">
                  <c:v>53.81</c:v>
                </c:pt>
                <c:pt idx="4">
                  <c:v>46.43299999999999</c:v>
                </c:pt>
                <c:pt idx="5">
                  <c:v>36.115</c:v>
                </c:pt>
                <c:pt idx="6">
                  <c:v>433.715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51.42</c:v>
                </c:pt>
                <c:pt idx="2">
                  <c:v>109.851</c:v>
                </c:pt>
                <c:pt idx="3">
                  <c:v>163.661</c:v>
                </c:pt>
                <c:pt idx="4">
                  <c:v>210.094</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51.42</c:v>
                </c:pt>
                <c:pt idx="1">
                  <c:v>58.431</c:v>
                </c:pt>
                <c:pt idx="2">
                  <c:v>53.81</c:v>
                </c:pt>
                <c:pt idx="3">
                  <c:v>46.43299999999999</c:v>
                </c:pt>
                <c:pt idx="4">
                  <c:v>36.115</c:v>
                </c:pt>
                <c:pt idx="5">
                  <c:v>246.209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187.506</c:v>
                </c:pt>
                <c:pt idx="2">
                  <c:v>268.614</c:v>
                </c:pt>
                <c:pt idx="3">
                  <c:v>344.876</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187.506</c:v>
                </c:pt>
                <c:pt idx="1">
                  <c:v>81.10799999999999</c:v>
                </c:pt>
                <c:pt idx="2">
                  <c:v>76.262</c:v>
                </c:pt>
                <c:pt idx="3">
                  <c:v>88.83900000000001</c:v>
                </c:pt>
                <c:pt idx="4">
                  <c:v>433.715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81.10799999999999</c:v>
                </c:pt>
                <c:pt idx="2">
                  <c:v>157.37</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81.10799999999999</c:v>
                </c:pt>
                <c:pt idx="1">
                  <c:v>76.262</c:v>
                </c:pt>
                <c:pt idx="2">
                  <c:v>88.83900000000001</c:v>
                </c:pt>
                <c:pt idx="3">
                  <c:v>246.209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187.505</c:v>
                </c:pt>
                <c:pt idx="2">
                  <c:v>241.591</c:v>
                </c:pt>
                <c:pt idx="3">
                  <c:v>279.79200000000003</c:v>
                </c:pt>
                <c:pt idx="4">
                  <c:v>319.24300000000005</c:v>
                </c:pt>
                <c:pt idx="5">
                  <c:v>351.40000000000003</c:v>
                </c:pt>
                <c:pt idx="6">
                  <c:v>399.338</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187.505</c:v>
                </c:pt>
                <c:pt idx="1">
                  <c:v>54.086</c:v>
                </c:pt>
                <c:pt idx="2">
                  <c:v>38.20099999999999</c:v>
                </c:pt>
                <c:pt idx="3">
                  <c:v>39.45100000000001</c:v>
                </c:pt>
                <c:pt idx="4">
                  <c:v>32.157</c:v>
                </c:pt>
                <c:pt idx="5">
                  <c:v>47.937999999999995</c:v>
                </c:pt>
                <c:pt idx="6">
                  <c:v>34.377</c:v>
                </c:pt>
                <c:pt idx="7">
                  <c:v>433.715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54.086</c:v>
                </c:pt>
                <c:pt idx="2">
                  <c:v>92.28699999999999</c:v>
                </c:pt>
                <c:pt idx="3">
                  <c:v>131.738</c:v>
                </c:pt>
                <c:pt idx="4">
                  <c:v>163.89499999999998</c:v>
                </c:pt>
                <c:pt idx="5">
                  <c:v>211.83299999999997</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54.086</c:v>
                </c:pt>
                <c:pt idx="1">
                  <c:v>38.20099999999999</c:v>
                </c:pt>
                <c:pt idx="2">
                  <c:v>39.45100000000001</c:v>
                </c:pt>
                <c:pt idx="3">
                  <c:v>32.157</c:v>
                </c:pt>
                <c:pt idx="4">
                  <c:v>47.937999999999995</c:v>
                </c:pt>
                <c:pt idx="5">
                  <c:v>34.377</c:v>
                </c:pt>
                <c:pt idx="6">
                  <c:v>246.20999999999998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187.50599999999997</c:v>
                </c:pt>
                <c:pt idx="2">
                  <c:v>214.93399999999997</c:v>
                </c:pt>
                <c:pt idx="3">
                  <c:v>267.734</c:v>
                </c:pt>
                <c:pt idx="4">
                  <c:v>296.775</c:v>
                </c:pt>
                <c:pt idx="5">
                  <c:v>328.66299999999995</c:v>
                </c:pt>
                <c:pt idx="6">
                  <c:v>368.95399999999995</c:v>
                </c:pt>
                <c:pt idx="7">
                  <c:v>395.7339999999999</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187.50599999999997</c:v>
                </c:pt>
                <c:pt idx="1">
                  <c:v>27.428</c:v>
                </c:pt>
                <c:pt idx="2">
                  <c:v>52.800000000000004</c:v>
                </c:pt>
                <c:pt idx="3">
                  <c:v>29.041000000000004</c:v>
                </c:pt>
                <c:pt idx="4">
                  <c:v>31.888</c:v>
                </c:pt>
                <c:pt idx="5">
                  <c:v>40.291000000000004</c:v>
                </c:pt>
                <c:pt idx="6">
                  <c:v>26.78</c:v>
                </c:pt>
                <c:pt idx="7">
                  <c:v>37.981</c:v>
                </c:pt>
                <c:pt idx="8">
                  <c:v>433.715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27.428</c:v>
                </c:pt>
                <c:pt idx="2">
                  <c:v>80.22800000000001</c:v>
                </c:pt>
                <c:pt idx="3">
                  <c:v>109.269</c:v>
                </c:pt>
                <c:pt idx="4">
                  <c:v>141.157</c:v>
                </c:pt>
                <c:pt idx="5">
                  <c:v>181.448</c:v>
                </c:pt>
                <c:pt idx="6">
                  <c:v>208.228</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27.428</c:v>
                </c:pt>
                <c:pt idx="1">
                  <c:v>52.800000000000004</c:v>
                </c:pt>
                <c:pt idx="2">
                  <c:v>29.041000000000004</c:v>
                </c:pt>
                <c:pt idx="3">
                  <c:v>31.888</c:v>
                </c:pt>
                <c:pt idx="4">
                  <c:v>40.291000000000004</c:v>
                </c:pt>
                <c:pt idx="5">
                  <c:v>26.78</c:v>
                </c:pt>
                <c:pt idx="6">
                  <c:v>37.981</c:v>
                </c:pt>
                <c:pt idx="7">
                  <c:v>246.209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187.50599999999997</c:v>
                </c:pt>
                <c:pt idx="2">
                  <c:v>227.57099999999997</c:v>
                </c:pt>
                <c:pt idx="3">
                  <c:v>273.219</c:v>
                </c:pt>
                <c:pt idx="4">
                  <c:v>321.35699999999997</c:v>
                </c:pt>
                <c:pt idx="5">
                  <c:v>387.856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187.50599999999997</c:v>
                </c:pt>
                <c:pt idx="1">
                  <c:v>40.065</c:v>
                </c:pt>
                <c:pt idx="2">
                  <c:v>45.64800000000001</c:v>
                </c:pt>
                <c:pt idx="3">
                  <c:v>48.138</c:v>
                </c:pt>
                <c:pt idx="4">
                  <c:v>66.499</c:v>
                </c:pt>
                <c:pt idx="5">
                  <c:v>45.859</c:v>
                </c:pt>
                <c:pt idx="6">
                  <c:v>433.71500000000003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40.065</c:v>
                </c:pt>
                <c:pt idx="2">
                  <c:v>85.71300000000001</c:v>
                </c:pt>
                <c:pt idx="3">
                  <c:v>133.851</c:v>
                </c:pt>
                <c:pt idx="4">
                  <c:v>200.35</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40.065</c:v>
                </c:pt>
                <c:pt idx="1">
                  <c:v>45.64800000000001</c:v>
                </c:pt>
                <c:pt idx="2">
                  <c:v>48.138</c:v>
                </c:pt>
                <c:pt idx="3">
                  <c:v>66.499</c:v>
                </c:pt>
                <c:pt idx="4">
                  <c:v>45.859</c:v>
                </c:pt>
                <c:pt idx="5">
                  <c:v>246.209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187.507</c:v>
                </c:pt>
                <c:pt idx="2">
                  <c:v>245.34500000000003</c:v>
                </c:pt>
                <c:pt idx="3">
                  <c:v>310.346</c:v>
                </c:pt>
                <c:pt idx="4">
                  <c:v>366.663</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187.507</c:v>
                </c:pt>
                <c:pt idx="1">
                  <c:v>57.83800000000001</c:v>
                </c:pt>
                <c:pt idx="2">
                  <c:v>65.001</c:v>
                </c:pt>
                <c:pt idx="3">
                  <c:v>56.31699999999999</c:v>
                </c:pt>
                <c:pt idx="4">
                  <c:v>67.051</c:v>
                </c:pt>
                <c:pt idx="5">
                  <c:v>433.714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57.83800000000001</c:v>
                </c:pt>
                <c:pt idx="2">
                  <c:v>122.83900000000001</c:v>
                </c:pt>
                <c:pt idx="3">
                  <c:v>179.156</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57.83800000000001</c:v>
                </c:pt>
                <c:pt idx="1">
                  <c:v>65.001</c:v>
                </c:pt>
                <c:pt idx="2">
                  <c:v>56.31699999999999</c:v>
                </c:pt>
                <c:pt idx="3">
                  <c:v>67.051</c:v>
                </c:pt>
                <c:pt idx="4">
                  <c:v>246.207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85.xml><?xml version="1.0" encoding="utf-8"?>
<c:chartSpace xmlns:c="http://schemas.openxmlformats.org/drawingml/2006/chart" xmlns:a="http://schemas.openxmlformats.org/drawingml/2006/main" xmlns:r="http://schemas.openxmlformats.org/officeDocument/2006/relationships">
  <c:date1904 val="0"/>
  <c:chart>
    <c:autoTitleDeleted val="0"/>
    <c:plotArea>
      <c:lineChart>
        <c:grouping val="standard"/>
        <c:varyColors val="0"/>
        <c:ser>
          <c:idx val="0"/>
          <c:order val="0"/>
          <c:tx>
            <c:strRef>
              <c:f>Sheet1!$B$1</c:f>
              <c:strCache>
                <c:ptCount val="1"/>
                <c:pt idx="0">
                  <c:v>Styling Serums and Oils</c:v>
                </c:pt>
              </c:strCache>
            </c:strRef>
          </c:tx>
          <c:spPr>
            <a:ln w="25400">
              <a:solidFill>
                <a:srgbClr val="C55A11"/>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3.0</c:v>
                </c:pt>
                <c:pt idx="1">
                  <c:v>3.0</c:v>
                </c:pt>
                <c:pt idx="2">
                  <c:v>3.0</c:v>
                </c:pt>
                <c:pt idx="3">
                  <c:v>3.0</c:v>
                </c:pt>
                <c:pt idx="4">
                  <c:v>3.0</c:v>
                </c:pt>
                <c:pt idx="5">
                  <c:v>3.0</c:v>
                </c:pt>
                <c:pt idx="6">
                  <c:v>3.0</c:v>
                </c:pt>
                <c:pt idx="7">
                  <c:v>3.0</c:v>
                </c:pt>
                <c:pt idx="8">
                  <c:v>3.0</c:v>
                </c:pt>
                <c:pt idx="9">
                  <c:v>3.0</c:v>
                </c:pt>
                <c:pt idx="10">
                  <c:v>3.0</c:v>
                </c:pt>
                <c:pt idx="11">
                  <c:v>3.0</c:v>
                </c:pt>
                <c:pt idx="12">
                  <c:v>3.0</c:v>
                </c:pt>
                <c:pt idx="13">
                  <c:v>3.0</c:v>
                </c:pt>
                <c:pt idx="14">
                  <c:v>3.0</c:v>
                </c:pt>
                <c:pt idx="15">
                  <c:v>3.0</c:v>
                </c:pt>
              </c:numCache>
            </c:numRef>
          </c:val>
          <c:smooth val="0"/>
        </c:ser>
        <c:ser>
          <c:idx val="1"/>
          <c:order val="1"/>
          <c:tx>
            <c:strRef>
              <c:f>Sheet1!$C$1</c:f>
              <c:strCache>
                <c:ptCount val="1"/>
                <c:pt idx="0">
                  <c:v>Sticks and Balms</c:v>
                </c:pt>
              </c:strCache>
            </c:strRef>
          </c:tx>
          <c:spPr>
            <a:ln w="25400">
              <a:solidFill>
                <a:srgbClr val="0B2E4A"/>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3.0</c:v>
                </c:pt>
                <c:pt idx="1">
                  <c:v>3.0</c:v>
                </c:pt>
                <c:pt idx="2">
                  <c:v>3.0</c:v>
                </c:pt>
                <c:pt idx="3">
                  <c:v>3.0</c:v>
                </c:pt>
                <c:pt idx="4">
                  <c:v>3.0</c:v>
                </c:pt>
                <c:pt idx="5">
                  <c:v>3.0</c:v>
                </c:pt>
                <c:pt idx="6">
                  <c:v>3.0</c:v>
                </c:pt>
                <c:pt idx="7">
                  <c:v>3.0</c:v>
                </c:pt>
                <c:pt idx="8">
                  <c:v>3.0</c:v>
                </c:pt>
                <c:pt idx="9">
                  <c:v>3.0</c:v>
                </c:pt>
                <c:pt idx="10">
                  <c:v>3.0</c:v>
                </c:pt>
                <c:pt idx="11">
                  <c:v>3.0</c:v>
                </c:pt>
                <c:pt idx="12">
                  <c:v>3.0</c:v>
                </c:pt>
                <c:pt idx="13">
                  <c:v>3.0</c:v>
                </c:pt>
                <c:pt idx="14">
                  <c:v>3.0</c:v>
                </c:pt>
                <c:pt idx="15">
                  <c:v>3.0</c:v>
                </c:pt>
              </c:numCache>
            </c:numRef>
          </c:val>
          <c:smooth val="0"/>
        </c:ser>
        <c:ser>
          <c:idx val="2"/>
          <c:order val="2"/>
          <c:tx>
            <c:strRef>
              <c:f>Sheet1!$D$1</c:f>
              <c:strCache>
                <c:ptCount val="1"/>
                <c:pt idx="0">
                  <c:v>Waxes, Clays, Pastes and Pomades</c:v>
                </c:pt>
              </c:strCache>
            </c:strRef>
          </c:tx>
          <c:spPr>
            <a:ln w="25400">
              <a:solidFill>
                <a:srgbClr val="7030A0"/>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2.0</c:v>
                </c:pt>
                <c:pt idx="1">
                  <c:v>2.0</c:v>
                </c:pt>
                <c:pt idx="2">
                  <c:v>2.0</c:v>
                </c:pt>
                <c:pt idx="3">
                  <c:v>2.0</c:v>
                </c:pt>
                <c:pt idx="4">
                  <c:v>2.0</c:v>
                </c:pt>
                <c:pt idx="5">
                  <c:v>2.0</c:v>
                </c:pt>
                <c:pt idx="6">
                  <c:v>2.0</c:v>
                </c:pt>
                <c:pt idx="7">
                  <c:v>2.0</c:v>
                </c:pt>
                <c:pt idx="8">
                  <c:v>2.0</c:v>
                </c:pt>
                <c:pt idx="9">
                  <c:v>3.0</c:v>
                </c:pt>
                <c:pt idx="10">
                  <c:v>3.0</c:v>
                </c:pt>
                <c:pt idx="11">
                  <c:v>3.0</c:v>
                </c:pt>
                <c:pt idx="12">
                  <c:v>3.0</c:v>
                </c:pt>
                <c:pt idx="13">
                  <c:v>3.0</c:v>
                </c:pt>
                <c:pt idx="14">
                  <c:v>3.0</c:v>
                </c:pt>
                <c:pt idx="15">
                  <c:v>3.0</c:v>
                </c:pt>
              </c:numCache>
            </c:numRef>
          </c:val>
          <c:smooth val="0"/>
        </c:ser>
        <c:ser>
          <c:idx val="3"/>
          <c:order val="3"/>
          <c:tx>
            <c:strRef>
              <c:f>Sheet1!$E$1</c:f>
              <c:strCache>
                <c:ptCount val="1"/>
                <c:pt idx="0">
                  <c:v>Styling Powders</c:v>
                </c:pt>
              </c:strCache>
            </c:strRef>
          </c:tx>
          <c:spPr>
            <a:ln w="25400">
              <a:solidFill>
                <a:srgbClr val="008189"/>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2.0</c:v>
                </c:pt>
                <c:pt idx="1">
                  <c:v>2.0</c:v>
                </c:pt>
                <c:pt idx="2">
                  <c:v>2.0</c:v>
                </c:pt>
                <c:pt idx="3">
                  <c:v>2.0</c:v>
                </c:pt>
                <c:pt idx="4">
                  <c:v>2.0</c:v>
                </c:pt>
                <c:pt idx="5">
                  <c:v>2.0</c:v>
                </c:pt>
                <c:pt idx="6">
                  <c:v>2.0</c:v>
                </c:pt>
                <c:pt idx="7">
                  <c:v>2.0</c:v>
                </c:pt>
                <c:pt idx="8">
                  <c:v>2.0</c:v>
                </c:pt>
                <c:pt idx="9">
                  <c:v>2.0</c:v>
                </c:pt>
                <c:pt idx="10">
                  <c:v>2.0</c:v>
                </c:pt>
                <c:pt idx="11">
                  <c:v>2.0</c:v>
                </c:pt>
                <c:pt idx="12">
                  <c:v>2.0</c:v>
                </c:pt>
                <c:pt idx="13">
                  <c:v>2.0</c:v>
                </c:pt>
                <c:pt idx="14">
                  <c:v>2.0</c:v>
                </c:pt>
                <c:pt idx="15">
                  <c:v>2.0</c:v>
                </c:pt>
              </c:numCache>
            </c:numRef>
          </c:val>
          <c:smooth val="0"/>
        </c:ser>
        <c:ser>
          <c:idx val="4"/>
          <c:order val="4"/>
          <c:tx>
            <c:strRef>
              <c:f>Sheet1!$F$1</c:f>
              <c:strCache>
                <c:ptCount val="1"/>
                <c:pt idx="0">
                  <c:v>Sprays and Mists</c:v>
                </c:pt>
              </c:strCache>
            </c:strRef>
          </c:tx>
          <c:spPr>
            <a:ln w="25400">
              <a:solidFill>
                <a:srgbClr val="9E7E0A"/>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2.0</c:v>
                </c:pt>
                <c:pt idx="1">
                  <c:v>2.0</c:v>
                </c:pt>
                <c:pt idx="2">
                  <c:v>2.0</c:v>
                </c:pt>
                <c:pt idx="3">
                  <c:v>2.0</c:v>
                </c:pt>
                <c:pt idx="4">
                  <c:v>2.0</c:v>
                </c:pt>
                <c:pt idx="5">
                  <c:v>2.0</c:v>
                </c:pt>
                <c:pt idx="6">
                  <c:v>2.0</c:v>
                </c:pt>
                <c:pt idx="7">
                  <c:v>2.0</c:v>
                </c:pt>
                <c:pt idx="8">
                  <c:v>2.0</c:v>
                </c:pt>
                <c:pt idx="9">
                  <c:v>2.0</c:v>
                </c:pt>
                <c:pt idx="10">
                  <c:v>2.0</c:v>
                </c:pt>
                <c:pt idx="11">
                  <c:v>2.0</c:v>
                </c:pt>
                <c:pt idx="12">
                  <c:v>2.0</c:v>
                </c:pt>
                <c:pt idx="13">
                  <c:v>2.0</c:v>
                </c:pt>
                <c:pt idx="14">
                  <c:v>2.0</c:v>
                </c:pt>
                <c:pt idx="15">
                  <c:v>2.0</c:v>
                </c:pt>
              </c:numCache>
            </c:numRef>
          </c:val>
          <c:smooth val="0"/>
        </c:ser>
        <c:ser>
          <c:idx val="5"/>
          <c:order val="5"/>
          <c:tx>
            <c:strRef>
              <c:f>Sheet1!$G$1</c:f>
              <c:strCache>
                <c:ptCount val="1"/>
                <c:pt idx="0">
                  <c:v>Creams and Lotions</c:v>
                </c:pt>
              </c:strCache>
            </c:strRef>
          </c:tx>
          <c:spPr>
            <a:ln w="25400">
              <a:solidFill>
                <a:srgbClr val="5B7DB1"/>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2.0</c:v>
                </c:pt>
                <c:pt idx="1">
                  <c:v>2.0</c:v>
                </c:pt>
                <c:pt idx="2">
                  <c:v>2.0</c:v>
                </c:pt>
                <c:pt idx="3">
                  <c:v>2.0</c:v>
                </c:pt>
                <c:pt idx="4">
                  <c:v>2.0</c:v>
                </c:pt>
                <c:pt idx="5">
                  <c:v>2.0</c:v>
                </c:pt>
                <c:pt idx="6">
                  <c:v>2.0</c:v>
                </c:pt>
                <c:pt idx="7">
                  <c:v>2.0</c:v>
                </c:pt>
                <c:pt idx="8">
                  <c:v>2.0</c:v>
                </c:pt>
                <c:pt idx="9">
                  <c:v>2.0</c:v>
                </c:pt>
                <c:pt idx="10">
                  <c:v>2.0</c:v>
                </c:pt>
                <c:pt idx="11">
                  <c:v>2.0</c:v>
                </c:pt>
                <c:pt idx="12">
                  <c:v>2.0</c:v>
                </c:pt>
                <c:pt idx="13">
                  <c:v>2.0</c:v>
                </c:pt>
                <c:pt idx="14">
                  <c:v>2.0</c:v>
                </c:pt>
                <c:pt idx="15">
                  <c:v>2.0</c:v>
                </c:pt>
              </c:numCache>
            </c:numRef>
          </c:val>
          <c:smooth val="0"/>
        </c:ser>
        <c:ser>
          <c:idx val="6"/>
          <c:order val="6"/>
          <c:tx>
            <c:strRef>
              <c:f>Sheet1!$H$1</c:f>
              <c:strCache>
                <c:ptCount val="1"/>
                <c:pt idx="0">
                  <c:v>Gels and Jellies</c:v>
                </c:pt>
              </c:strCache>
            </c:strRef>
          </c:tx>
          <c:spPr>
            <a:ln w="25400">
              <a:solidFill>
                <a:srgbClr val="A23B5C"/>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Sheet1!$H$2:$H$17</c:f>
              <c:numCache>
                <c:formatCode>General</c:formatCode>
                <c:ptCount val="16"/>
                <c:pt idx="0">
                  <c:v>1.0</c:v>
                </c:pt>
                <c:pt idx="1">
                  <c:v>1.0</c:v>
                </c:pt>
                <c:pt idx="2">
                  <c:v>1.0</c:v>
                </c:pt>
                <c:pt idx="3">
                  <c:v>1.0</c:v>
                </c:pt>
                <c:pt idx="4">
                  <c:v>1.0</c:v>
                </c:pt>
                <c:pt idx="5">
                  <c:v>1.0</c:v>
                </c:pt>
                <c:pt idx="6">
                  <c:v>1.0</c:v>
                </c:pt>
                <c:pt idx="7">
                  <c:v>1.0</c:v>
                </c:pt>
                <c:pt idx="8">
                  <c:v>1.0</c:v>
                </c:pt>
                <c:pt idx="9">
                  <c:v>1.0</c:v>
                </c:pt>
                <c:pt idx="10">
                  <c:v>1.0</c:v>
                </c:pt>
                <c:pt idx="11">
                  <c:v>1.0</c:v>
                </c:pt>
                <c:pt idx="12">
                  <c:v>1.0</c:v>
                </c:pt>
                <c:pt idx="13">
                  <c:v>1.0</c:v>
                </c:pt>
                <c:pt idx="14">
                  <c:v>1.0</c:v>
                </c:pt>
                <c:pt idx="15">
                  <c:v>1.0</c:v>
                </c:pt>
              </c:numCache>
            </c:numRef>
          </c:val>
          <c:smooth val="0"/>
        </c:ser>
        <c:ser>
          <c:idx val="7"/>
          <c:order val="7"/>
          <c:tx>
            <c:strRef>
              <c:f>Sheet1!$I$1</c:f>
              <c:strCache>
                <c:ptCount val="1"/>
                <c:pt idx="0">
                  <c:v>Mousses and Foams</c:v>
                </c:pt>
              </c:strCache>
            </c:strRef>
          </c:tx>
          <c:spPr>
            <a:ln w="25400">
              <a:solidFill>
                <a:srgbClr val="6E8B3D"/>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Sheet1!$I$2:$I$17</c:f>
              <c:numCache>
                <c:formatCode>General</c:formatCode>
                <c:ptCount val="16"/>
                <c:pt idx="0">
                  <c:v>1.0</c:v>
                </c:pt>
                <c:pt idx="1">
                  <c:v>1.0</c:v>
                </c:pt>
                <c:pt idx="2">
                  <c:v>1.0</c:v>
                </c:pt>
                <c:pt idx="3">
                  <c:v>1.0</c:v>
                </c:pt>
                <c:pt idx="4">
                  <c:v>1.0</c:v>
                </c:pt>
                <c:pt idx="5">
                  <c:v>1.0</c:v>
                </c:pt>
                <c:pt idx="6">
                  <c:v>1.0</c:v>
                </c:pt>
                <c:pt idx="7">
                  <c:v>1.0</c:v>
                </c:pt>
                <c:pt idx="8">
                  <c:v>1.0</c:v>
                </c:pt>
                <c:pt idx="9">
                  <c:v>1.0</c:v>
                </c:pt>
                <c:pt idx="10">
                  <c:v>1.0</c:v>
                </c:pt>
                <c:pt idx="11">
                  <c:v>1.0</c:v>
                </c:pt>
                <c:pt idx="12">
                  <c:v>1.0</c:v>
                </c:pt>
                <c:pt idx="13">
                  <c:v>1.0</c:v>
                </c:pt>
                <c:pt idx="14">
                  <c:v>1.0</c:v>
                </c:pt>
                <c:pt idx="15">
                  <c:v>1.0</c:v>
                </c:pt>
              </c:numCache>
            </c:numRef>
          </c:val>
          <c:smooth val="0"/>
        </c:ser>
        <c:marker val="1"/>
        <c:smooth val="0"/>
        <c:axId val="2118791784"/>
        <c:axId val="2140495176"/>
      </c:lineChart>
      <c:catAx>
        <c:axId val="2118791784"/>
        <c:scaling>
          <c:orientation val="minMax"/>
        </c:scaling>
        <c:delete val="0"/>
        <c:axPos val="b"/>
        <c:majorTickMark val="out"/>
        <c:minorTickMark val="none"/>
        <c:tickLblPos val="low"/>
        <c:spPr>
          <a:ln>
            <a:solidFill>
              <a:srgbClr val="D9DEE4"/>
            </a:solidFill>
          </a:ln>
        </c:spPr>
        <c:txPr>
          <a:bodyPr/>
          <a:lstStyle/>
          <a:p>
            <a:pPr>
              <a:defRPr sz="900">
                <a:solidFill>
                  <a:srgbClr val="59636E"/>
                </a:solidFill>
                <a:latin typeface="Calibri"/>
              </a:defRPr>
            </a:pPr>
          </a:p>
        </c:txPr>
        <c:crossAx val="2140495176"/>
        <c:crosses val="autoZero"/>
        <c:auto val="1"/>
        <c:lblAlgn val="ctr"/>
        <c:lblOffset val="100"/>
        <c:noMultiLvlLbl val="0"/>
      </c:catAx>
      <c:valAx>
        <c:axId val="2140495176"/>
        <c:scaling>
          <c:max val="500.0"/>
          <c:min val="0.0"/>
        </c:scaling>
        <c:delete val="0"/>
        <c:axPos val="l"/>
        <c:majorGridlines>
          <c:spPr>
            <a:ln>
              <a:solidFill>
                <a:srgbClr val="D9DEE4"/>
              </a:solidFill>
            </a:ln>
          </c:spPr>
        </c:majorGridlines>
        <c:numFmt formatCode="#,##0" sourceLinked="0"/>
        <c:majorTickMark val="out"/>
        <c:minorTickMark val="none"/>
        <c:tickLblPos val="nextTo"/>
        <c:spPr>
          <a:ln>
            <a:noFill/>
          </a:ln>
        </c:spPr>
        <c:txPr>
          <a:bodyPr/>
          <a:lstStyle/>
          <a:p>
            <a:pPr>
              <a:defRPr sz="900">
                <a:solidFill>
                  <a:srgbClr val="59636E"/>
                </a:solidFill>
                <a:latin typeface="Calibri"/>
              </a:defRPr>
            </a:pPr>
          </a:p>
        </c:txPr>
        <c:crossAx val="2118791784"/>
        <c:crosses val="autoZero"/>
        <c:majorUnit val="500.0"/>
      </c:valAx>
    </c:plotArea>
    <c:legend>
      <c:legendPos val="b"/>
      <c:layout/>
      <c:overlay val="0"/>
      <c:txPr>
        <a:bodyPr/>
        <a:lstStyle/>
        <a:p>
          <a:pPr>
            <a:defRPr sz="900">
              <a:latin typeface="Calibri"/>
            </a:defRPr>
          </a:pPr>
        </a:p>
      </c:txPr>
    </c:legend>
    <c:plotVisOnly val="1"/>
    <c:dispBlanksAs val="gap"/>
    <c:showDLblsOverMax val="0"/>
  </c:chart>
  <c:txPr>
    <a:bodyPr/>
    <a:lstStyle/>
    <a:p>
      <a:pPr>
        <a:defRPr sz="1800"/>
      </a:pPr>
      <a:endParaRPr lang="en-US"/>
    </a:p>
  </c:txPr>
  <c:externalData r:id="rId1">
    <c:autoUpdate val="0"/>
  </c:externalData>
</c:chartSpace>
</file>

<file path=ppt/charts/chart15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ser>
          <c:idx val="0"/>
          <c:order val="0"/>
          <c:tx>
            <c:strRef>
              <c:f>Sheet1!$B$1</c:f>
              <c:strCache>
                <c:ptCount val="1"/>
                <c:pt idx="0">
                  <c:v>Index</c:v>
                </c:pt>
              </c:strCache>
            </c:strRef>
          </c:tx>
          <c:dPt>
            <c:idx val="0"/>
            <c:spPr>
              <a:solidFill>
                <a:srgbClr val="5B7DB1"/>
              </a:solidFill>
            </c:spPr>
          </c:dPt>
          <c:dPt>
            <c:idx val="1"/>
            <c:spPr>
              <a:solidFill>
                <a:srgbClr val="5B7DB1"/>
              </a:solidFill>
            </c:spPr>
          </c:dPt>
          <c:dPt>
            <c:idx val="2"/>
            <c:spPr>
              <a:solidFill>
                <a:srgbClr val="5B7DB1"/>
              </a:solidFill>
            </c:spPr>
          </c:dPt>
          <c:dPt>
            <c:idx val="3"/>
            <c:spPr>
              <a:solidFill>
                <a:srgbClr val="5B7DB1"/>
              </a:solidFill>
            </c:spPr>
          </c:dPt>
          <c:dPt>
            <c:idx val="4"/>
            <c:spPr>
              <a:solidFill>
                <a:srgbClr val="C55A11"/>
              </a:solidFill>
            </c:spPr>
          </c:dPt>
          <c:dPt>
            <c:idx val="5"/>
            <c:spPr>
              <a:solidFill>
                <a:srgbClr val="C55A11"/>
              </a:solidFill>
            </c:spPr>
          </c:dPt>
          <c:dPt>
            <c:idx val="6"/>
            <c:spPr>
              <a:solidFill>
                <a:srgbClr val="C55A11"/>
              </a:solidFill>
            </c:spPr>
          </c:dPt>
          <c:dPt>
            <c:idx val="7"/>
            <c:spPr>
              <a:solidFill>
                <a:srgbClr val="C55A11"/>
              </a:solidFill>
            </c:spPr>
          </c:dPt>
          <c:cat>
            <c:strRef>
              <c:f>Sheet1!$A$2:$A$9</c:f>
              <c:strCache>
                <c:ptCount val="8"/>
                <c:pt idx="0">
                  <c:v>Mousses and Foams</c:v>
                </c:pt>
                <c:pt idx="1">
                  <c:v>Gels and Jellies</c:v>
                </c:pt>
                <c:pt idx="2">
                  <c:v>Creams and Lotions</c:v>
                </c:pt>
                <c:pt idx="3">
                  <c:v>Sprays and Mists</c:v>
                </c:pt>
                <c:pt idx="4">
                  <c:v>Styling Powders</c:v>
                </c:pt>
                <c:pt idx="5">
                  <c:v>Waxes, Clays, Pastes and Pomades</c:v>
                </c:pt>
                <c:pt idx="6">
                  <c:v>Sticks and Balms</c:v>
                </c:pt>
                <c:pt idx="7">
                  <c:v>Styling Serums and Oils</c:v>
                </c:pt>
              </c:strCache>
            </c:strRef>
          </c:cat>
          <c:val>
            <c:numRef>
              <c:f>Sheet1!$B$2:$B$9</c:f>
              <c:numCache>
                <c:formatCode>General</c:formatCode>
                <c:ptCount val="8"/>
                <c:pt idx="0">
                  <c:v>62.4</c:v>
                </c:pt>
                <c:pt idx="1">
                  <c:v>62.7</c:v>
                </c:pt>
                <c:pt idx="2">
                  <c:v>87.7</c:v>
                </c:pt>
                <c:pt idx="3">
                  <c:v>93.6</c:v>
                </c:pt>
                <c:pt idx="4">
                  <c:v>103.3</c:v>
                </c:pt>
                <c:pt idx="5">
                  <c:v>117.7</c:v>
                </c:pt>
                <c:pt idx="6">
                  <c:v>132.5</c:v>
                </c:pt>
                <c:pt idx="7">
                  <c:v>152.0</c:v>
                </c:pt>
              </c:numCache>
            </c:numRef>
          </c:val>
        </c:ser>
        <c:dLbls>
          <c:numFmt formatCode="0.0" sourceLinked="0"/>
          <c:txPr>
            <a:bodyPr/>
            <a:lstStyle/>
            <a:p>
              <a:pPr>
                <a:defRPr sz="900" b="1">
                  <a:solidFill>
                    <a:srgbClr val="1F1F1F"/>
                  </a:solidFill>
                </a:defRPr>
              </a:pPr>
            </a:p>
          </c:txPr>
          <c:dLblPos val="outEnd"/>
          <c:showLegendKey val="0"/>
          <c:showVal val="1"/>
          <c:showCatName val="0"/>
          <c:showSerName val="0"/>
          <c:showPercent val="0"/>
          <c:showBubbleSize val="0"/>
          <c:showLeaderLines val="1"/>
        </c:dLbls>
        <c:gapWidth val="45"/>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54.0"/>
          <c:min val="59.0"/>
        </c:scaling>
        <c:delete/>
        <c:axPos val="b"/>
        <c:majorTickMark val="out"/>
        <c:minorTickMark val="none"/>
        <c:tickLblPos val="nextTo"/>
        <c:crossAx val="-2068027336"/>
        <c:crosses val="autoZero"/>
      </c:valAx>
    </c:plotArea>
    <c:dispBlanksAs val="gap"/>
  </c:chart>
  <c:txPr>
    <a:bodyPr/>
    <a:lstStyle/>
    <a:p>
      <a:pPr>
        <a:defRPr sz="1800"/>
      </a:pPr>
      <a:endParaRPr lang="en-US"/>
    </a:p>
  </c:txPr>
  <c:externalData r:id="rId1">
    <c:autoUpdate val="0"/>
  </c:externalData>
</c:chartSpace>
</file>

<file path=ppt/charts/chart1587.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col"/>
        <c:grouping val="stacked"/>
        <c:ser>
          <c:idx val="0"/>
          <c:order val="0"/>
          <c:tx>
            <c:strRef>
              <c:f>Sheet1!$B$1</c:f>
              <c:strCache>
                <c:ptCount val="1"/>
                <c:pt idx="0">
                  <c:v>Base</c:v>
                </c:pt>
              </c:strCache>
            </c:strRef>
          </c:tx>
          <c:spPr>
            <a:noFill/>
          </c:spPr>
          <c:cat>
            <c:strRef>
              <c:f>Sheet1!$A$2:$A$7</c:f>
              <c:strCache>
                <c:ptCount val="6"/>
                <c:pt idx="0">
                  <c:v>North America</c:v>
                </c:pt>
                <c:pt idx="1">
                  <c:v>Europe</c:v>
                </c:pt>
                <c:pt idx="2">
                  <c:v>East Asia</c:v>
                </c:pt>
                <c:pt idx="3">
                  <c:v>Middle East &amp; Africa</c:v>
                </c:pt>
                <c:pt idx="4">
                  <c:v>Latin America</c:v>
                </c:pt>
                <c:pt idx="5">
                  <c:v>South Asia &amp; Pacific</c:v>
                </c:pt>
              </c:strCache>
            </c:strRef>
          </c:cat>
          <c:val>
            <c:numRef>
              <c:f>Sheet1!$B$2:$B$7</c:f>
              <c:numCache>
                <c:formatCode>General</c:formatCode>
                <c:ptCount val="6"/>
                <c:pt idx="0">
                  <c:v>86.8</c:v>
                </c:pt>
                <c:pt idx="1">
                  <c:v>63.3</c:v>
                </c:pt>
                <c:pt idx="2">
                  <c:v>59.0</c:v>
                </c:pt>
                <c:pt idx="3">
                  <c:v>53.9</c:v>
                </c:pt>
                <c:pt idx="4">
                  <c:v>46.6</c:v>
                </c:pt>
                <c:pt idx="5">
                  <c:v>44.2</c:v>
                </c:pt>
              </c:numCache>
            </c:numRef>
          </c:val>
        </c:ser>
        <c:ser>
          <c:idx val="1"/>
          <c:order val="1"/>
          <c:tx>
            <c:strRef>
              <c:f>Sheet1!$C$1</c:f>
              <c:strCache>
                <c:ptCount val="1"/>
                <c:pt idx="0">
                  <c:v>Range</c:v>
                </c:pt>
              </c:strCache>
            </c:strRef>
          </c:tx>
          <c:spPr>
            <a:solidFill>
              <a:srgbClr val="008189"/>
            </a:solidFill>
          </c:spPr>
          <c:dPt>
            <c:idx val="2"/>
            <c:spPr>
              <a:solidFill>
                <a:srgbClr val="5B7DB1"/>
              </a:solidFill>
            </c:spPr>
          </c:dPt>
          <c:dPt>
            <c:idx val="3"/>
            <c:spPr>
              <a:solidFill>
                <a:srgbClr val="5B7DB1"/>
              </a:solidFill>
            </c:spPr>
          </c:dPt>
          <c:dPt>
            <c:idx val="4"/>
            <c:spPr>
              <a:solidFill>
                <a:srgbClr val="5B7DB1"/>
              </a:solidFill>
            </c:spPr>
          </c:dPt>
          <c:dPt>
            <c:idx val="5"/>
            <c:spPr>
              <a:solidFill>
                <a:srgbClr val="5B7DB1"/>
              </a:solidFill>
            </c:spPr>
          </c:dPt>
          <c:cat>
            <c:strRef>
              <c:f>Sheet1!$A$2:$A$7</c:f>
              <c:strCache>
                <c:ptCount val="6"/>
                <c:pt idx="0">
                  <c:v>North America</c:v>
                </c:pt>
                <c:pt idx="1">
                  <c:v>Europe</c:v>
                </c:pt>
                <c:pt idx="2">
                  <c:v>East Asia</c:v>
                </c:pt>
                <c:pt idx="3">
                  <c:v>Middle East &amp; Africa</c:v>
                </c:pt>
                <c:pt idx="4">
                  <c:v>Latin America</c:v>
                </c:pt>
                <c:pt idx="5">
                  <c:v>South Asia &amp; Pacific</c:v>
                </c:pt>
              </c:strCache>
            </c:strRef>
          </c:cat>
          <c:val>
            <c:numRef>
              <c:f>Sheet1!$C$2:$C$7</c:f>
              <c:numCache>
                <c:formatCode>General</c:formatCode>
                <c:ptCount val="6"/>
                <c:pt idx="0">
                  <c:v>123.5</c:v>
                </c:pt>
                <c:pt idx="1">
                  <c:v>91.9</c:v>
                </c:pt>
                <c:pt idx="2">
                  <c:v>83.9</c:v>
                </c:pt>
                <c:pt idx="3">
                  <c:v>81.9</c:v>
                </c:pt>
                <c:pt idx="4">
                  <c:v>66.9</c:v>
                </c:pt>
                <c:pt idx="5">
                  <c:v>67.0</c:v>
                </c:pt>
              </c:numCache>
            </c:numRef>
          </c:val>
        </c:ser>
        <c:gapWidth val="40"/>
        <c:overlap val="100"/>
        <c:axId val="-2068027336"/>
        <c:axId val="-2113994440"/>
      </c:barChart>
      <c:catAx>
        <c:axId val="-2068027336"/>
        <c:scaling>
          <c:orientation val="minMax"/>
        </c:scaling>
        <c:delete val="0"/>
        <c:axPos val="b"/>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215.0"/>
          <c:min val="40.0"/>
        </c:scaling>
        <c:delete val="0"/>
        <c:axPos val="l"/>
        <c:majorGridlines>
          <c:spPr>
            <a:ln>
              <a:solidFill>
                <a:srgbClr val="D9DEE4"/>
              </a:solidFill>
            </a:ln>
          </c:spPr>
        </c:majorGridlines>
        <c:numFmt formatCode="0" sourceLinked="0"/>
        <c:majorTickMark val="out"/>
        <c:minorTickMark val="none"/>
        <c:tickLblPos val="nextTo"/>
        <c:spPr>
          <a:ln>
            <a:noFill/>
          </a:ln>
        </c:spPr>
        <c:txPr>
          <a:bodyPr/>
          <a:lstStyle/>
          <a:p>
            <a:pPr>
              <a:defRPr sz="850">
                <a:solidFill>
                  <a:srgbClr val="59636E"/>
                </a:solidFill>
                <a:latin typeface="Calibri"/>
              </a:defRPr>
            </a:pPr>
          </a:p>
        </c:txPr>
        <c:crossAx val="-2068027336"/>
        <c:crosses val="autoZero"/>
        <c:majorUnit val="10.0"/>
      </c:valAx>
    </c:plotArea>
    <c:dispBlanksAs val="gap"/>
  </c:chart>
  <c:txPr>
    <a:bodyPr/>
    <a:lstStyle/>
    <a:p>
      <a:pPr>
        <a:defRPr sz="1800"/>
      </a:pPr>
      <a:endParaRPr lang="en-US"/>
    </a:p>
  </c:txPr>
  <c:externalData r:id="rId1">
    <c:autoUpdate val="0"/>
  </c:externalData>
</c:chartSpace>
</file>

<file path=ppt/charts/chart1588.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layout>
                <c:manualLayout>
                  <c:x val="0.0350"/>
                  <c:y val="0.0000"/>
                </c:manualLayout>
              </c:layout>
              <c:tx>
                <c:rich>
                  <a:bodyPr/>
                  <a:lstStyle/>
                  <a:p>
                    <a:pPr>
                      <a:defRPr sz="1100" b="1">
                        <a:solidFill>
                          <a:srgbClr val="FFFFFF"/>
                        </a:solidFill>
                        <a:latin typeface="Calibri"/>
                      </a:defRPr>
                    </a:pPr>
                    <a:r>
                      <a:t>16.4%</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14.4%</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9.9%</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7.0%</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6.9%</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6.9%</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5.5%</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3.3%</a:t>
                    </a:r>
                  </a:p>
                </c:rich>
              </c:tx>
              <c:showLegendKey val="0"/>
              <c:showVal val="1"/>
              <c:showCatName val="0"/>
              <c:showSerName val="0"/>
              <c:showPercent val="0"/>
              <c:showBubbleSize val="0"/>
            </c:dLbl>
            <c:dLbl>
              <c:idx val="8"/>
              <c:layout>
                <c:manualLayout>
                  <c:x val="0.0350"/>
                  <c:y val="0.0000"/>
                </c:manualLayout>
              </c:layout>
              <c:tx>
                <c:rich>
                  <a:bodyPr/>
                  <a:lstStyle/>
                  <a:p>
                    <a:pPr>
                      <a:defRPr sz="1100" b="1">
                        <a:solidFill>
                          <a:srgbClr val="2E2E2E"/>
                        </a:solidFill>
                        <a:latin typeface="Calibri"/>
                      </a:defRPr>
                    </a:pPr>
                    <a:r>
                      <a:t>29.8%</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f>Sheet1!$B$2:$B$10</c:f>
              <c:numCache>
                <c:formatCode>General</c:formatCode>
                <c:ptCount val="9"/>
                <c:pt idx="0">
                  <c:v>16.40671985632649</c:v>
                </c:pt>
                <c:pt idx="1">
                  <c:v>14.36342749497713</c:v>
                </c:pt>
                <c:pt idx="2">
                  <c:v>9.906466607900706</c:v>
                </c:pt>
                <c:pt idx="3">
                  <c:v>6.95937915947461</c:v>
                </c:pt>
                <c:pt idx="4">
                  <c:v>6.895934323353047</c:v>
                </c:pt>
                <c:pt idx="5">
                  <c:v>6.853242844843239</c:v>
                </c:pt>
                <c:pt idx="6">
                  <c:v>5.486614965564599</c:v>
                </c:pt>
                <c:pt idx="7">
                  <c:v>3.3040038111377297</c:v>
                </c:pt>
                <c:pt idx="8">
                  <c:v>29.824210936422443</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58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layout>
                <c:manualLayout>
                  <c:x val="0.0350"/>
                  <c:y val="0.0000"/>
                </c:manualLayout>
              </c:layout>
              <c:tx>
                <c:rich>
                  <a:bodyPr/>
                  <a:lstStyle/>
                  <a:p>
                    <a:pPr>
                      <a:defRPr sz="1100" b="1">
                        <a:solidFill>
                          <a:srgbClr val="FFFFFF"/>
                        </a:solidFill>
                        <a:latin typeface="Calibri"/>
                      </a:defRPr>
                    </a:pPr>
                    <a:r>
                      <a:t>12.8%</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11.0%</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12.4%</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12.7%</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10.1%</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6.2%</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4.1%</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3.6%</a:t>
                    </a:r>
                  </a:p>
                </c:rich>
              </c:tx>
              <c:showLegendKey val="0"/>
              <c:showVal val="1"/>
              <c:showCatName val="0"/>
              <c:showSerName val="0"/>
              <c:showPercent val="0"/>
              <c:showBubbleSize val="0"/>
            </c:dLbl>
            <c:dLbl>
              <c:idx val="8"/>
              <c:layout>
                <c:manualLayout>
                  <c:x val="0.0350"/>
                  <c:y val="0.0000"/>
                </c:manualLayout>
              </c:layout>
              <c:tx>
                <c:rich>
                  <a:bodyPr/>
                  <a:lstStyle/>
                  <a:p>
                    <a:pPr>
                      <a:defRPr sz="1100" b="1">
                        <a:solidFill>
                          <a:srgbClr val="2E2E2E"/>
                        </a:solidFill>
                        <a:latin typeface="Calibri"/>
                      </a:defRPr>
                    </a:pPr>
                    <a:r>
                      <a:t>27.2%</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f>Sheet1!$B$2:$B$10</c:f>
              <c:numCache>
                <c:formatCode>General</c:formatCode>
                <c:ptCount val="9"/>
                <c:pt idx="0">
                  <c:v>12.825191395384453</c:v>
                </c:pt>
                <c:pt idx="1">
                  <c:v>10.95571182148254</c:v>
                </c:pt>
                <c:pt idx="2">
                  <c:v>12.354580159020578</c:v>
                </c:pt>
                <c:pt idx="3">
                  <c:v>12.659425329755038</c:v>
                </c:pt>
                <c:pt idx="4">
                  <c:v>10.058161896840053</c:v>
                </c:pt>
                <c:pt idx="5">
                  <c:v>6.24469615282758</c:v>
                </c:pt>
                <c:pt idx="6">
                  <c:v>4.114628946933352</c:v>
                </c:pt>
                <c:pt idx="7">
                  <c:v>3.5536186824780462</c:v>
                </c:pt>
                <c:pt idx="8">
                  <c:v>27.23398561527836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590.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layout>
                <c:manualLayout>
                  <c:x val="0.0350"/>
                  <c:y val="0.0000"/>
                </c:manualLayout>
              </c:layout>
              <c:tx>
                <c:rich>
                  <a:bodyPr/>
                  <a:lstStyle/>
                  <a:p>
                    <a:pPr>
                      <a:defRPr sz="1100" b="1">
                        <a:solidFill>
                          <a:srgbClr val="FFFFFF"/>
                        </a:solidFill>
                        <a:latin typeface="Calibri"/>
                      </a:defRPr>
                    </a:pPr>
                    <a:r>
                      <a:t>13.2%</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14.8%</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14.9%</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11.7%</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7.5%</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4.9%</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4.8%</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4.8%</a:t>
                    </a:r>
                  </a:p>
                </c:rich>
              </c:tx>
              <c:showLegendKey val="0"/>
              <c:showVal val="1"/>
              <c:showCatName val="0"/>
              <c:showSerName val="0"/>
              <c:showPercent val="0"/>
              <c:showBubbleSize val="0"/>
            </c:dLbl>
            <c:dLbl>
              <c:idx val="8"/>
              <c:layout>
                <c:manualLayout>
                  <c:x val="0.0350"/>
                  <c:y val="0.0000"/>
                </c:manualLayout>
              </c:layout>
              <c:tx>
                <c:rich>
                  <a:bodyPr/>
                  <a:lstStyle/>
                  <a:p>
                    <a:pPr>
                      <a:defRPr sz="1100" b="1">
                        <a:solidFill>
                          <a:srgbClr val="2E2E2E"/>
                        </a:solidFill>
                        <a:latin typeface="Calibri"/>
                      </a:defRPr>
                    </a:pPr>
                    <a:r>
                      <a:t>23.4%</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f>Sheet1!$B$2:$B$10</c:f>
              <c:numCache>
                <c:formatCode>General</c:formatCode>
                <c:ptCount val="9"/>
                <c:pt idx="0">
                  <c:v>13.241300171729673</c:v>
                </c:pt>
                <c:pt idx="1">
                  <c:v>14.757821817091273</c:v>
                </c:pt>
                <c:pt idx="2">
                  <c:v>14.928751533095168</c:v>
                </c:pt>
                <c:pt idx="3">
                  <c:v>11.734746524584317</c:v>
                </c:pt>
                <c:pt idx="4">
                  <c:v>7.483554686717547</c:v>
                </c:pt>
                <c:pt idx="5">
                  <c:v>4.943534691833558</c:v>
                </c:pt>
                <c:pt idx="6">
                  <c:v>4.751324429490797</c:v>
                </c:pt>
                <c:pt idx="7">
                  <c:v>4.789948922030665</c:v>
                </c:pt>
                <c:pt idx="8">
                  <c:v>23.369017223427004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591.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layout>
                <c:manualLayout>
                  <c:x val="0.0350"/>
                  <c:y val="0.0000"/>
                </c:manualLayout>
              </c:layout>
              <c:tx>
                <c:rich>
                  <a:bodyPr/>
                  <a:lstStyle/>
                  <a:p>
                    <a:pPr>
                      <a:defRPr sz="1100" b="1">
                        <a:solidFill>
                          <a:srgbClr val="FFFFFF"/>
                        </a:solidFill>
                        <a:latin typeface="Calibri"/>
                      </a:defRPr>
                    </a:pPr>
                    <a:r>
                      <a:t>17.8%</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16.9%</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13.1%</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8.5%</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6.2%</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6.0%</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6.3%</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5.1%</a:t>
                    </a:r>
                  </a:p>
                </c:rich>
              </c:tx>
              <c:showLegendKey val="0"/>
              <c:showVal val="1"/>
              <c:showCatName val="0"/>
              <c:showSerName val="0"/>
              <c:showPercent val="0"/>
              <c:showBubbleSize val="0"/>
            </c:dLbl>
            <c:dLbl>
              <c:idx val="8"/>
              <c:layout>
                <c:manualLayout>
                  <c:x val="0.0350"/>
                  <c:y val="0.0000"/>
                </c:manualLayout>
              </c:layout>
              <c:tx>
                <c:rich>
                  <a:bodyPr/>
                  <a:lstStyle/>
                  <a:p>
                    <a:pPr>
                      <a:defRPr sz="1100" b="1">
                        <a:solidFill>
                          <a:srgbClr val="2E2E2E"/>
                        </a:solidFill>
                        <a:latin typeface="Calibri"/>
                      </a:defRPr>
                    </a:pPr>
                    <a:r>
                      <a:t>20.2%</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f>Sheet1!$B$2:$B$10</c:f>
              <c:numCache>
                <c:formatCode>General</c:formatCode>
                <c:ptCount val="9"/>
                <c:pt idx="0">
                  <c:v>17.755466218387074</c:v>
                </c:pt>
                <c:pt idx="1">
                  <c:v>16.923512057220726</c:v>
                </c:pt>
                <c:pt idx="2">
                  <c:v>13.06398834839756</c:v>
                </c:pt>
                <c:pt idx="3">
                  <c:v>8.501111419992805</c:v>
                </c:pt>
                <c:pt idx="4">
                  <c:v>6.212483469935218</c:v>
                </c:pt>
                <c:pt idx="5">
                  <c:v>6.00372205577132</c:v>
                </c:pt>
                <c:pt idx="6">
                  <c:v>6.25214775447386</c:v>
                </c:pt>
                <c:pt idx="7">
                  <c:v>5.093976971379507</c:v>
                </c:pt>
                <c:pt idx="8">
                  <c:v>20.193591704441936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59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layout>
                <c:manualLayout>
                  <c:x val="0.0350"/>
                  <c:y val="0.0000"/>
                </c:manualLayout>
              </c:layout>
              <c:tx>
                <c:rich>
                  <a:bodyPr/>
                  <a:lstStyle/>
                  <a:p>
                    <a:pPr>
                      <a:defRPr sz="1100" b="1">
                        <a:solidFill>
                          <a:srgbClr val="FFFFFF"/>
                        </a:solidFill>
                        <a:latin typeface="Calibri"/>
                      </a:defRPr>
                    </a:pPr>
                    <a:r>
                      <a:t>18.4%</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13.5%</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9.0%</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8.0%</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8.7%</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7.4%</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5.0%</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3.1%</a:t>
                    </a:r>
                  </a:p>
                </c:rich>
              </c:tx>
              <c:showLegendKey val="0"/>
              <c:showVal val="1"/>
              <c:showCatName val="0"/>
              <c:showSerName val="0"/>
              <c:showPercent val="0"/>
              <c:showBubbleSize val="0"/>
            </c:dLbl>
            <c:dLbl>
              <c:idx val="8"/>
              <c:layout>
                <c:manualLayout>
                  <c:x val="0.0350"/>
                  <c:y val="0.0000"/>
                </c:manualLayout>
              </c:layout>
              <c:tx>
                <c:rich>
                  <a:bodyPr/>
                  <a:lstStyle/>
                  <a:p>
                    <a:pPr>
                      <a:defRPr sz="1100" b="1">
                        <a:solidFill>
                          <a:srgbClr val="2E2E2E"/>
                        </a:solidFill>
                        <a:latin typeface="Calibri"/>
                      </a:defRPr>
                    </a:pPr>
                    <a:r>
                      <a:t>26.8%</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f>Sheet1!$B$2:$B$10</c:f>
              <c:numCache>
                <c:formatCode>General</c:formatCode>
                <c:ptCount val="9"/>
                <c:pt idx="0">
                  <c:v>18.375494481479823</c:v>
                </c:pt>
                <c:pt idx="1">
                  <c:v>13.506860544917371</c:v>
                </c:pt>
                <c:pt idx="2">
                  <c:v>9.018334357772936</c:v>
                </c:pt>
                <c:pt idx="3">
                  <c:v>8.01201879742635</c:v>
                </c:pt>
                <c:pt idx="4">
                  <c:v>8.65950070279257</c:v>
                </c:pt>
                <c:pt idx="5">
                  <c:v>7.44623663894267</c:v>
                </c:pt>
                <c:pt idx="6">
                  <c:v>5.048380480706811</c:v>
                </c:pt>
                <c:pt idx="7">
                  <c:v>3.0833382814602577</c:v>
                </c:pt>
                <c:pt idx="8">
                  <c:v>26.849835714501204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593.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layout>
                <c:manualLayout>
                  <c:x val="0.0350"/>
                  <c:y val="0.0000"/>
                </c:manualLayout>
              </c:layout>
              <c:tx>
                <c:rich>
                  <a:bodyPr/>
                  <a:lstStyle/>
                  <a:p>
                    <a:pPr>
                      <a:defRPr sz="1100" b="1">
                        <a:solidFill>
                          <a:srgbClr val="FFFFFF"/>
                        </a:solidFill>
                        <a:latin typeface="Calibri"/>
                      </a:defRPr>
                    </a:pPr>
                    <a:r>
                      <a:t>14.5%</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12.1%</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13.7%</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13.3%</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9.4%</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5.7%</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4.9%</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5.0%</a:t>
                    </a:r>
                  </a:p>
                </c:rich>
              </c:tx>
              <c:showLegendKey val="0"/>
              <c:showVal val="1"/>
              <c:showCatName val="0"/>
              <c:showSerName val="0"/>
              <c:showPercent val="0"/>
              <c:showBubbleSize val="0"/>
            </c:dLbl>
            <c:dLbl>
              <c:idx val="8"/>
              <c:layout>
                <c:manualLayout>
                  <c:x val="0.0350"/>
                  <c:y val="0.0000"/>
                </c:manualLayout>
              </c:layout>
              <c:tx>
                <c:rich>
                  <a:bodyPr/>
                  <a:lstStyle/>
                  <a:p>
                    <a:pPr>
                      <a:defRPr sz="1100" b="1">
                        <a:solidFill>
                          <a:srgbClr val="2E2E2E"/>
                        </a:solidFill>
                        <a:latin typeface="Calibri"/>
                      </a:defRPr>
                    </a:pPr>
                    <a:r>
                      <a:t>21.3%</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f>Sheet1!$B$2:$B$10</c:f>
              <c:numCache>
                <c:formatCode>General</c:formatCode>
                <c:ptCount val="9"/>
                <c:pt idx="0">
                  <c:v>14.470398026970201</c:v>
                </c:pt>
                <c:pt idx="1">
                  <c:v>12.081105054104468</c:v>
                </c:pt>
                <c:pt idx="2">
                  <c:v>13.741360229691407</c:v>
                </c:pt>
                <c:pt idx="3">
                  <c:v>13.333223083894268</c:v>
                </c:pt>
                <c:pt idx="4">
                  <c:v>9.443383956307104</c:v>
                </c:pt>
                <c:pt idx="5">
                  <c:v>5.704118782848436</c:v>
                </c:pt>
                <c:pt idx="6">
                  <c:v>4.9040267030818985</c:v>
                </c:pt>
                <c:pt idx="7">
                  <c:v>5.0046675995562016</c:v>
                </c:pt>
                <c:pt idx="8">
                  <c:v>21.317716563546018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594.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layout>
                <c:manualLayout>
                  <c:x val="0.0350"/>
                  <c:y val="0.0000"/>
                </c:manualLayout>
              </c:layout>
              <c:tx>
                <c:rich>
                  <a:bodyPr/>
                  <a:lstStyle/>
                  <a:p>
                    <a:pPr>
                      <a:defRPr sz="1100" b="1">
                        <a:solidFill>
                          <a:srgbClr val="FFFFFF"/>
                        </a:solidFill>
                        <a:latin typeface="Calibri"/>
                      </a:defRPr>
                    </a:pPr>
                    <a:r>
                      <a:t>17.1%</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11.6%</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11.5%</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12.6%</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10.6%</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6.6%</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4.5%</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4.2%</a:t>
                    </a:r>
                  </a:p>
                </c:rich>
              </c:tx>
              <c:showLegendKey val="0"/>
              <c:showVal val="1"/>
              <c:showCatName val="0"/>
              <c:showSerName val="0"/>
              <c:showPercent val="0"/>
              <c:showBubbleSize val="0"/>
            </c:dLbl>
            <c:dLbl>
              <c:idx val="8"/>
              <c:layout>
                <c:manualLayout>
                  <c:x val="0.0350"/>
                  <c:y val="0.0000"/>
                </c:manualLayout>
              </c:layout>
              <c:tx>
                <c:rich>
                  <a:bodyPr/>
                  <a:lstStyle/>
                  <a:p>
                    <a:pPr>
                      <a:defRPr sz="1100" b="1">
                        <a:solidFill>
                          <a:srgbClr val="2E2E2E"/>
                        </a:solidFill>
                        <a:latin typeface="Calibri"/>
                      </a:defRPr>
                    </a:pPr>
                    <a:r>
                      <a:t>21.3%</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f>Sheet1!$B$2:$B$10</c:f>
              <c:numCache>
                <c:formatCode>General</c:formatCode>
                <c:ptCount val="9"/>
                <c:pt idx="0">
                  <c:v>17.059182852443715</c:v>
                </c:pt>
                <c:pt idx="1">
                  <c:v>11.555110199289217</c:v>
                </c:pt>
                <c:pt idx="2">
                  <c:v>11.49241996011639</c:v>
                </c:pt>
                <c:pt idx="3">
                  <c:v>12.62567293240893</c:v>
                </c:pt>
                <c:pt idx="4">
                  <c:v>10.645270539100778</c:v>
                </c:pt>
                <c:pt idx="5">
                  <c:v>6.6195232003608835</c:v>
                </c:pt>
                <c:pt idx="6">
                  <c:v>4.493101603948456</c:v>
                </c:pt>
                <c:pt idx="7">
                  <c:v>4.22083041567492</c:v>
                </c:pt>
                <c:pt idx="8">
                  <c:v>21.288888296656708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5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1668A8"/>
            </a:solidFill>
            <a:ln>
              <a:noFill/>
            </a:ln>
          </c:spPr>
          <c:cat>
            <c:strRef>
              <c:f>Sheet1!$A$2:$A$5</c:f>
              <c:strCache>
                <c:ptCount val="4"/>
                <c:pt idx="0">
                  <c:v>Mass Retail</c:v>
                </c:pt>
                <c:pt idx="1">
                  <c:v>Beauty Specialty Retail</c:v>
                </c:pt>
                <c:pt idx="2">
                  <c:v>Salon and Professional Distribution</c:v>
                </c:pt>
                <c:pt idx="3">
                  <c:v>Pharmacies and Drugstores</c:v>
                </c:pt>
              </c:strCache>
            </c:strRef>
          </c:cat>
          <c:val>
            <c:numRef>
              <c:f>Sheet1!$B$2:$B$5</c:f>
              <c:numCache>
                <c:formatCode>General</c:formatCode>
                <c:ptCount val="4"/>
                <c:pt idx="0">
                  <c:v>1406.570470139203</c:v>
                </c:pt>
                <c:pt idx="1">
                  <c:v>782.5250031942185</c:v>
                </c:pt>
                <c:pt idx="2">
                  <c:v>984.9762161456905</c:v>
                </c:pt>
                <c:pt idx="3">
                  <c:v>1860.71306720892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2456.1412487157745"/>
          <c:min val="0.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E3A5F"/>
            </a:solidFill>
            <a:ln>
              <a:noFill/>
            </a:ln>
          </c:spPr>
          <c:cat>
            <c:strRef>
              <c:f>Sheet1!$A$2:$A$6</c:f>
              <c:strCache>
                <c:ptCount val="5"/>
                <c:pt idx="0">
                  <c:v>North America</c:v>
                </c:pt>
                <c:pt idx="1">
                  <c:v>East Asia</c:v>
                </c:pt>
                <c:pt idx="2">
                  <c:v>Europe</c:v>
                </c:pt>
                <c:pt idx="3">
                  <c:v>South Asia &amp; Pacific</c:v>
                </c:pt>
                <c:pt idx="4">
                  <c:v>Rest of the World</c:v>
                </c:pt>
              </c:strCache>
            </c:strRef>
          </c:cat>
          <c:val>
            <c:numRef>
              <c:f>Sheet1!$B$2:$B$6</c:f>
              <c:numCache>
                <c:formatCode>General</c:formatCode>
                <c:ptCount val="5"/>
                <c:pt idx="0">
                  <c:v>1671.4544328853872</c:v>
                </c:pt>
                <c:pt idx="1">
                  <c:v>1017.4105918325503</c:v>
                </c:pt>
                <c:pt idx="2">
                  <c:v>548.660037878689</c:v>
                </c:pt>
                <c:pt idx="3">
                  <c:v>619.9438449912939</c:v>
                </c:pt>
                <c:pt idx="4">
                  <c:v>1177.3158491001118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2206.319851408711"/>
          <c:min val="0.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97.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layout>
                <c:manualLayout>
                  <c:x val="0.0350"/>
                  <c:y val="0.0000"/>
                </c:manualLayout>
              </c:layout>
              <c:tx>
                <c:rich>
                  <a:bodyPr/>
                  <a:lstStyle/>
                  <a:p>
                    <a:pPr>
                      <a:defRPr sz="1100" b="1">
                        <a:solidFill>
                          <a:srgbClr val="FFFFFF"/>
                        </a:solidFill>
                        <a:latin typeface="Calibri"/>
                      </a:defRPr>
                    </a:pPr>
                    <a:r>
                      <a:t>11.5%</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16.0%</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29.9%</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42.6%</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Styling Serums and Oils</c:v>
                </c:pt>
                <c:pt idx="1">
                  <c:v>Waxes, Clays, Pastes and Pomades</c:v>
                </c:pt>
                <c:pt idx="2">
                  <c:v>Sticks and Balms</c:v>
                </c:pt>
                <c:pt idx="3">
                  <c:v>Creams and Lotions</c:v>
                </c:pt>
              </c:strCache>
            </c:strRef>
          </c:cat>
          <c:val>
            <c:numRef>
              <c:f>Sheet1!$B$2:$B$5</c:f>
              <c:numCache>
                <c:formatCode>General</c:formatCode>
                <c:ptCount val="4"/>
                <c:pt idx="0">
                  <c:v>580.1014291831889</c:v>
                </c:pt>
                <c:pt idx="1">
                  <c:v>806.4758081354903</c:v>
                </c:pt>
                <c:pt idx="2">
                  <c:v>1503.8168230228575</c:v>
                </c:pt>
                <c:pt idx="3">
                  <c:v>2144.390696346495</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5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SAM</c:v>
                </c:pt>
              </c:strCache>
            </c:strRef>
          </c:tx>
          <c:spPr>
            <a:solidFill>
              <a:srgbClr val="69B1E0"/>
            </a:solidFill>
            <a:ln>
              <a:noFill/>
            </a:ln>
          </c:spPr>
          <c:cat>
            <c:strRef>
              <c:f>Sheet1!$A$2:$A$6</c:f>
              <c:strCache>
                <c:ptCount val="5"/>
                <c:pt idx="0">
                  <c:v>North America</c:v>
                </c:pt>
                <c:pt idx="1">
                  <c:v>East Asia</c:v>
                </c:pt>
                <c:pt idx="2">
                  <c:v>Europe</c:v>
                </c:pt>
                <c:pt idx="3">
                  <c:v>South Asia &amp; Pacific</c:v>
                </c:pt>
                <c:pt idx="4">
                  <c:v>Rest of the World</c:v>
                </c:pt>
              </c:strCache>
            </c:strRef>
          </c:cat>
          <c:val>
            <c:numRef>
              <c:f>Sheet1!$B$2:$B$6</c:f>
              <c:numCache>
                <c:formatCode>General</c:formatCode>
                <c:ptCount val="5"/>
                <c:pt idx="0">
                  <c:v>4787.223948000001</c:v>
                </c:pt>
                <c:pt idx="1">
                  <c:v>4303.246313239675</c:v>
                </c:pt>
                <c:pt idx="2">
                  <c:v>3144.8877478563704</c:v>
                </c:pt>
                <c:pt idx="3">
                  <c:v>2014.7930139520831</c:v>
                </c:pt>
                <c:pt idx="4">
                  <c:v>1598.462412717356</c:v>
                </c:pt>
              </c:numCache>
            </c:numRef>
          </c:val>
        </c:ser>
        <c:ser>
          <c:idx val="1"/>
          <c:order val="1"/>
          <c:tx>
            <c:strRef>
              <c:f>Sheet1!$C$1</c:f>
              <c:strCache>
                <c:ptCount val="1"/>
                <c:pt idx="0">
                  <c:v>SOM</c:v>
                </c:pt>
              </c:strCache>
            </c:strRef>
          </c:tx>
          <c:spPr>
            <a:solidFill>
              <a:srgbClr val="0E72AE"/>
            </a:solidFill>
            <a:ln>
              <a:noFill/>
            </a:ln>
          </c:spPr>
          <c:cat>
            <c:strRef>
              <c:f>Sheet1!$A$2:$A$6</c:f>
              <c:strCache>
                <c:ptCount val="5"/>
                <c:pt idx="0">
                  <c:v>North America</c:v>
                </c:pt>
                <c:pt idx="1">
                  <c:v>East Asia</c:v>
                </c:pt>
                <c:pt idx="2">
                  <c:v>Europe</c:v>
                </c:pt>
                <c:pt idx="3">
                  <c:v>South Asia &amp; Pacific</c:v>
                </c:pt>
                <c:pt idx="4">
                  <c:v>Rest of the World</c:v>
                </c:pt>
              </c:strCache>
            </c:strRef>
          </c:cat>
          <c:val>
            <c:numRef>
              <c:f>Sheet1!$C$2:$C$6</c:f>
              <c:numCache>
                <c:formatCode>General</c:formatCode>
                <c:ptCount val="5"/>
                <c:pt idx="0">
                  <c:v>1671.4544328853872</c:v>
                </c:pt>
                <c:pt idx="1">
                  <c:v>1017.4105918325503</c:v>
                </c:pt>
                <c:pt idx="2">
                  <c:v>548.660037878689</c:v>
                </c:pt>
                <c:pt idx="3">
                  <c:v>619.9438449912939</c:v>
                </c:pt>
                <c:pt idx="4">
                  <c:v>1177.3158491001118</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127.6466534400015"/>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1668A8"/>
            </a:solidFill>
            <a:ln>
              <a:noFill/>
            </a:ln>
          </c:spPr>
          <c:cat>
            <c:strRef>
              <c:f>Sheet1!$A$2:$A$5</c:f>
              <c:strCache>
                <c:ptCount val="4"/>
                <c:pt idx="0">
                  <c:v>Mass Retail</c:v>
                </c:pt>
                <c:pt idx="1">
                  <c:v>Beauty Specialty Retail</c:v>
                </c:pt>
                <c:pt idx="2">
                  <c:v>Salon and Professional Distribution</c:v>
                </c:pt>
                <c:pt idx="3">
                  <c:v>Pharmacies and Drugstores</c:v>
                </c:pt>
              </c:strCache>
            </c:strRef>
          </c:cat>
          <c:val>
            <c:numRef>
              <c:f>Sheet1!$B$2:$B$5</c:f>
              <c:numCache>
                <c:formatCode>General</c:formatCode>
                <c:ptCount val="4"/>
                <c:pt idx="0">
                  <c:v>507.8556159165721</c:v>
                </c:pt>
                <c:pt idx="1">
                  <c:v>706.0373370208099</c:v>
                </c:pt>
                <c:pt idx="2">
                  <c:v>1316.5315244220888</c:v>
                </c:pt>
                <c:pt idx="3">
                  <c:v>1877.3283482377192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2478.0734196737894"/>
          <c:min val="0.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E3A5F"/>
            </a:solidFill>
            <a:ln>
              <a:noFill/>
            </a:ln>
          </c:spPr>
          <c:cat>
            <c:strRef>
              <c:f>Sheet1!$A$2:$A$6</c:f>
              <c:strCache>
                <c:ptCount val="5"/>
                <c:pt idx="0">
                  <c:v>North America</c:v>
                </c:pt>
                <c:pt idx="1">
                  <c:v>East Asia</c:v>
                </c:pt>
                <c:pt idx="2">
                  <c:v>Europe</c:v>
                </c:pt>
                <c:pt idx="3">
                  <c:v>South Asia &amp; Pacific</c:v>
                </c:pt>
                <c:pt idx="4">
                  <c:v>Rest of the World</c:v>
                </c:pt>
              </c:strCache>
            </c:strRef>
          </c:cat>
          <c:val>
            <c:numRef>
              <c:f>Sheet1!$B$2:$B$6</c:f>
              <c:numCache>
                <c:formatCode>General</c:formatCode>
                <c:ptCount val="5"/>
                <c:pt idx="0">
                  <c:v>796.7090904500783</c:v>
                </c:pt>
                <c:pt idx="1">
                  <c:v>443.2375034061467</c:v>
                </c:pt>
                <c:pt idx="2">
                  <c:v>557.9098395281468</c:v>
                </c:pt>
                <c:pt idx="3">
                  <c:v>1053.9443610087178</c:v>
                </c:pt>
                <c:pt idx="4">
                  <c:v>1555.9520312041006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2053.856681189413"/>
          <c:min val="0.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01.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layout>
                <c:manualLayout>
                  <c:x val="0.0350"/>
                  <c:y val="0.0000"/>
                </c:manualLayout>
              </c:layout>
              <c:tx>
                <c:rich>
                  <a:bodyPr/>
                  <a:lstStyle/>
                  <a:p>
                    <a:pPr>
                      <a:defRPr sz="1100" b="1">
                        <a:solidFill>
                          <a:srgbClr val="FFFFFF"/>
                        </a:solidFill>
                        <a:latin typeface="Calibri"/>
                      </a:defRPr>
                    </a:pPr>
                    <a:r>
                      <a:t>12.7%</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23.2%</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31.9%</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32.3%</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Styling Serums and Oils</c:v>
                </c:pt>
                <c:pt idx="1">
                  <c:v>Waxes, Clays, Pastes and Pomades</c:v>
                </c:pt>
                <c:pt idx="2">
                  <c:v>Sticks and Balms</c:v>
                </c:pt>
                <c:pt idx="3">
                  <c:v>Creams and Lotions</c:v>
                </c:pt>
              </c:strCache>
            </c:strRef>
          </c:cat>
          <c:val>
            <c:numRef>
              <c:f>Sheet1!$B$2:$B$5</c:f>
              <c:numCache>
                <c:formatCode>General</c:formatCode>
                <c:ptCount val="4"/>
                <c:pt idx="0">
                  <c:v>558.1836058550936</c:v>
                </c:pt>
                <c:pt idx="1">
                  <c:v>1021.1161147270325</c:v>
                </c:pt>
                <c:pt idx="2">
                  <c:v>1406.274509431856</c:v>
                </c:pt>
                <c:pt idx="3">
                  <c:v>1422.178595583208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6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SAM</c:v>
                </c:pt>
              </c:strCache>
            </c:strRef>
          </c:tx>
          <c:spPr>
            <a:solidFill>
              <a:srgbClr val="69B1E0"/>
            </a:solidFill>
            <a:ln>
              <a:noFill/>
            </a:ln>
          </c:spPr>
          <c:cat>
            <c:strRef>
              <c:f>Sheet1!$A$2:$A$6</c:f>
              <c:strCache>
                <c:ptCount val="5"/>
                <c:pt idx="0">
                  <c:v>North America</c:v>
                </c:pt>
                <c:pt idx="1">
                  <c:v>East Asia</c:v>
                </c:pt>
                <c:pt idx="2">
                  <c:v>Europe</c:v>
                </c:pt>
                <c:pt idx="3">
                  <c:v>South Asia &amp; Pacific</c:v>
                </c:pt>
                <c:pt idx="4">
                  <c:v>Rest of the World</c:v>
                </c:pt>
              </c:strCache>
            </c:strRef>
          </c:cat>
          <c:val>
            <c:numRef>
              <c:f>Sheet1!$B$2:$B$6</c:f>
              <c:numCache>
                <c:formatCode>General</c:formatCode>
                <c:ptCount val="5"/>
                <c:pt idx="0">
                  <c:v>5063.409945000001</c:v>
                </c:pt>
                <c:pt idx="1">
                  <c:v>4551.510523618888</c:v>
                </c:pt>
                <c:pt idx="2">
                  <c:v>3326.323579463469</c:v>
                </c:pt>
                <c:pt idx="3">
                  <c:v>2131.031072449319</c:v>
                </c:pt>
                <c:pt idx="4">
                  <c:v>1690.6813980664342</c:v>
                </c:pt>
              </c:numCache>
            </c:numRef>
          </c:val>
        </c:ser>
        <c:ser>
          <c:idx val="1"/>
          <c:order val="1"/>
          <c:tx>
            <c:strRef>
              <c:f>Sheet1!$C$1</c:f>
              <c:strCache>
                <c:ptCount val="1"/>
                <c:pt idx="0">
                  <c:v>SOM</c:v>
                </c:pt>
              </c:strCache>
            </c:strRef>
          </c:tx>
          <c:spPr>
            <a:solidFill>
              <a:srgbClr val="0E72AE"/>
            </a:solidFill>
            <a:ln>
              <a:noFill/>
            </a:ln>
          </c:spPr>
          <c:cat>
            <c:strRef>
              <c:f>Sheet1!$A$2:$A$6</c:f>
              <c:strCache>
                <c:ptCount val="5"/>
                <c:pt idx="0">
                  <c:v>North America</c:v>
                </c:pt>
                <c:pt idx="1">
                  <c:v>East Asia</c:v>
                </c:pt>
                <c:pt idx="2">
                  <c:v>Europe</c:v>
                </c:pt>
                <c:pt idx="3">
                  <c:v>South Asia &amp; Pacific</c:v>
                </c:pt>
                <c:pt idx="4">
                  <c:v>Rest of the World</c:v>
                </c:pt>
              </c:strCache>
            </c:strRef>
          </c:cat>
          <c:val>
            <c:numRef>
              <c:f>Sheet1!$C$2:$C$6</c:f>
              <c:numCache>
                <c:formatCode>General</c:formatCode>
                <c:ptCount val="5"/>
                <c:pt idx="0">
                  <c:v>796.7090904500783</c:v>
                </c:pt>
                <c:pt idx="1">
                  <c:v>443.2375034061467</c:v>
                </c:pt>
                <c:pt idx="2">
                  <c:v>557.9098395281468</c:v>
                </c:pt>
                <c:pt idx="3">
                  <c:v>1053.9443610087178</c:v>
                </c:pt>
                <c:pt idx="4">
                  <c:v>1555.9520312041006</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481.164729600002"/>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6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1668A8"/>
            </a:solidFill>
            <a:ln>
              <a:noFill/>
            </a:ln>
          </c:spPr>
          <c:cat>
            <c:strRef>
              <c:f>Sheet1!$A$2:$A$5</c:f>
              <c:strCache>
                <c:ptCount val="4"/>
                <c:pt idx="0">
                  <c:v>Mass Retail</c:v>
                </c:pt>
                <c:pt idx="1">
                  <c:v>Beauty Specialty Retail</c:v>
                </c:pt>
                <c:pt idx="2">
                  <c:v>Salon and Professional Distribution</c:v>
                </c:pt>
                <c:pt idx="3">
                  <c:v>Pharmacies and Drugstores</c:v>
                </c:pt>
              </c:strCache>
            </c:strRef>
          </c:cat>
          <c:val>
            <c:numRef>
              <c:f>Sheet1!$B$2:$B$5</c:f>
              <c:numCache>
                <c:formatCode>General</c:formatCode>
                <c:ptCount val="4"/>
                <c:pt idx="0">
                  <c:v>384.9796474006497</c:v>
                </c:pt>
                <c:pt idx="1">
                  <c:v>704.2645424896031</c:v>
                </c:pt>
                <c:pt idx="2">
                  <c:v>969.9085732914621</c:v>
                </c:pt>
                <c:pt idx="3">
                  <c:v>980.8776333185791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294.7584759805245"/>
          <c:min val="0.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E3A5F"/>
            </a:solidFill>
            <a:ln>
              <a:noFill/>
            </a:ln>
          </c:spPr>
          <c:cat>
            <c:strRef>
              <c:f>Sheet1!$A$2:$A$6</c:f>
              <c:strCache>
                <c:ptCount val="5"/>
                <c:pt idx="0">
                  <c:v>North America</c:v>
                </c:pt>
                <c:pt idx="1">
                  <c:v>East Asia</c:v>
                </c:pt>
                <c:pt idx="2">
                  <c:v>Europe</c:v>
                </c:pt>
                <c:pt idx="3">
                  <c:v>South Asia &amp; Pacific</c:v>
                </c:pt>
                <c:pt idx="4">
                  <c:v>Rest of the World</c:v>
                </c:pt>
              </c:strCache>
            </c:strRef>
          </c:cat>
          <c:val>
            <c:numRef>
              <c:f>Sheet1!$B$2:$B$6</c:f>
              <c:numCache>
                <c:formatCode>General</c:formatCode>
                <c:ptCount val="5"/>
                <c:pt idx="0">
                  <c:v>242.30220140560925</c:v>
                </c:pt>
                <c:pt idx="1">
                  <c:v>336.85637349100324</c:v>
                </c:pt>
                <c:pt idx="2">
                  <c:v>628.1283037731695</c:v>
                </c:pt>
                <c:pt idx="3">
                  <c:v>895.6892023694407</c:v>
                </c:pt>
                <c:pt idx="4">
                  <c:v>937.0543154610714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236.9116964086143"/>
          <c:min val="0.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05.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layout>
                <c:manualLayout>
                  <c:x val="0.0350"/>
                  <c:y val="0.0000"/>
                </c:manualLayout>
              </c:layout>
              <c:tx>
                <c:rich>
                  <a:bodyPr/>
                  <a:lstStyle/>
                  <a:p>
                    <a:pPr>
                      <a:defRPr sz="1100" b="1">
                        <a:solidFill>
                          <a:srgbClr val="FFFFFF"/>
                        </a:solidFill>
                        <a:latin typeface="Calibri"/>
                      </a:defRPr>
                    </a:pPr>
                    <a:r>
                      <a:t>21.9%</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29.1%</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28.5%</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20.4%</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Styling Serums and Oils</c:v>
                </c:pt>
                <c:pt idx="1">
                  <c:v>Waxes, Clays, Pastes and Pomades</c:v>
                </c:pt>
                <c:pt idx="2">
                  <c:v>Sticks and Balms</c:v>
                </c:pt>
                <c:pt idx="3">
                  <c:v>Creams and Lotions</c:v>
                </c:pt>
              </c:strCache>
            </c:strRef>
          </c:cat>
          <c:val>
            <c:numRef>
              <c:f>Sheet1!$B$2:$B$5</c:f>
              <c:numCache>
                <c:formatCode>General</c:formatCode>
                <c:ptCount val="4"/>
                <c:pt idx="0">
                  <c:v>666.1430943553622</c:v>
                </c:pt>
                <c:pt idx="1">
                  <c:v>886.0412645327915</c:v>
                </c:pt>
                <c:pt idx="2">
                  <c:v>866.2034729136926</c:v>
                </c:pt>
                <c:pt idx="3">
                  <c:v>621.6425646984475</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6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SAM</c:v>
                </c:pt>
              </c:strCache>
            </c:strRef>
          </c:tx>
          <c:spPr>
            <a:solidFill>
              <a:srgbClr val="69B1E0"/>
            </a:solidFill>
            <a:ln>
              <a:noFill/>
            </a:ln>
          </c:spPr>
          <c:cat>
            <c:strRef>
              <c:f>Sheet1!$A$2:$A$6</c:f>
              <c:strCache>
                <c:ptCount val="5"/>
                <c:pt idx="0">
                  <c:v>North America</c:v>
                </c:pt>
                <c:pt idx="1">
                  <c:v>East Asia</c:v>
                </c:pt>
                <c:pt idx="2">
                  <c:v>Europe</c:v>
                </c:pt>
                <c:pt idx="3">
                  <c:v>South Asia &amp; Pacific</c:v>
                </c:pt>
                <c:pt idx="4">
                  <c:v>Rest of the World</c:v>
                </c:pt>
              </c:strCache>
            </c:strRef>
          </c:cat>
          <c:val>
            <c:numRef>
              <c:f>Sheet1!$B$2:$B$6</c:f>
              <c:numCache>
                <c:formatCode>General</c:formatCode>
                <c:ptCount val="5"/>
                <c:pt idx="0">
                  <c:v>5339.595942000001</c:v>
                </c:pt>
                <c:pt idx="1">
                  <c:v>4799.7747339981</c:v>
                </c:pt>
                <c:pt idx="2">
                  <c:v>3507.7594110705672</c:v>
                </c:pt>
                <c:pt idx="3">
                  <c:v>2247.2691309465545</c:v>
                </c:pt>
                <c:pt idx="4">
                  <c:v>1782.9003834155124</c:v>
                </c:pt>
              </c:numCache>
            </c:numRef>
          </c:val>
        </c:ser>
        <c:ser>
          <c:idx val="1"/>
          <c:order val="1"/>
          <c:tx>
            <c:strRef>
              <c:f>Sheet1!$C$1</c:f>
              <c:strCache>
                <c:ptCount val="1"/>
                <c:pt idx="0">
                  <c:v>SOM</c:v>
                </c:pt>
              </c:strCache>
            </c:strRef>
          </c:tx>
          <c:spPr>
            <a:solidFill>
              <a:srgbClr val="0E72AE"/>
            </a:solidFill>
            <a:ln>
              <a:noFill/>
            </a:ln>
          </c:spPr>
          <c:cat>
            <c:strRef>
              <c:f>Sheet1!$A$2:$A$6</c:f>
              <c:strCache>
                <c:ptCount val="5"/>
                <c:pt idx="0">
                  <c:v>North America</c:v>
                </c:pt>
                <c:pt idx="1">
                  <c:v>East Asia</c:v>
                </c:pt>
                <c:pt idx="2">
                  <c:v>Europe</c:v>
                </c:pt>
                <c:pt idx="3">
                  <c:v>South Asia &amp; Pacific</c:v>
                </c:pt>
                <c:pt idx="4">
                  <c:v>Rest of the World</c:v>
                </c:pt>
              </c:strCache>
            </c:strRef>
          </c:cat>
          <c:val>
            <c:numRef>
              <c:f>Sheet1!$C$2:$C$6</c:f>
              <c:numCache>
                <c:formatCode>General</c:formatCode>
                <c:ptCount val="5"/>
                <c:pt idx="0">
                  <c:v>242.30220140560925</c:v>
                </c:pt>
                <c:pt idx="1">
                  <c:v>336.85637349100324</c:v>
                </c:pt>
                <c:pt idx="2">
                  <c:v>628.1283037731695</c:v>
                </c:pt>
                <c:pt idx="3">
                  <c:v>895.6892023694407</c:v>
                </c:pt>
                <c:pt idx="4">
                  <c:v>937.0543154610714</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834.682805760001"/>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p="http://schemas.openxmlformats.org/presentationml/2006/main" xmlns:r="http://schemas.openxmlformats.org/officeDocument/2006/relationships">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F89C1C7-3DCD-1040-A9CF-14679D8B5DDD}" type="datetimeFigureOut">
              <a:rPr lang="en-US" smtClean="0"/>
              <a:t>10/17/16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B5E49A5-4136-284D-997B-48E1D791AD67}" type="slidenum">
              <a:rPr lang="en-US" smtClean="0"/>
              <a:t>‹#›</a:t>
            </a:fld>
            <a:endParaRPr lang="en-US"/>
          </a:p>
        </p:txBody>
      </p:sp>
    </p:spTree>
    <p:extLst>
      <p:ext uri="{BB962C8B-B14F-4D97-AF65-F5344CB8AC3E}">
        <p14:creationId xmlns:p14="http://schemas.microsoft.com/office/powerpoint/2010/main" val="2623252185"/>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3.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7.xm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2.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5.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0.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1.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8.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9.xm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4.xm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5.xm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9.xm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5.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7.xm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9.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2.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4.xm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5.xm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7.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9.xm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1.xm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3.xm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4.xm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7.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8.xml"/></Relationships>
</file>

<file path=ppt/notesSlides/_rels/notesSlide2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9.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1.xml"/></Relationships>
</file>

<file path=ppt/notesSlides/_rels/notesSlide2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2.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3.xml"/></Relationships>
</file>

<file path=ppt/notesSlides/_rels/notesSlide2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4.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5.xml"/></Relationships>
</file>

<file path=ppt/notesSlides/_rels/notesSlide2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6.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7.xml"/></Relationships>
</file>

<file path=ppt/notesSlides/_rels/notesSlide2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8.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9.xml"/></Relationships>
</file>

<file path=ppt/notesSlides/_rels/notesSlide2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0.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2.xml"/></Relationships>
</file>

<file path=ppt/notesSlides/_rels/notesSlide2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3.xml"/></Relationships>
</file>

<file path=ppt/notesSlides/_rels/notesSlide2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4.xml"/></Relationships>
</file>

<file path=ppt/notesSlides/_rels/notesSlide2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5.xml"/></Relationships>
</file>

<file path=ppt/notesSlides/_rels/notesSlide2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6.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7.xml"/></Relationships>
</file>

<file path=ppt/notesSlides/_rels/notesSlide2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8.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1.xml"/></Relationships>
</file>

<file path=ppt/notesSlides/_rels/notesSlide2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2.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3.xml"/></Relationships>
</file>

<file path=ppt/notesSlides/_rels/notesSlide2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4.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5.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7.xml"/></Relationships>
</file>

<file path=ppt/notesSlides/_rels/notesSlide2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8.xml"/></Relationships>
</file>

<file path=ppt/notesSlides/_rels/notesSlide2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2.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4.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5.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6.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7.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9.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0.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2.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4.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5.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6.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8.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9.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3.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4.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5.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6.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7.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9.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0.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2.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4.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5.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6.xml"/></Relationships>
</file>

<file path=ppt/notesSlides/_rels/notesSlide3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7.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9.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0.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2.xml"/></Relationships>
</file>

<file path=ppt/notesSlides/_rels/notesSlide3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4.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5.xml"/></Relationships>
</file>

<file path=ppt/notesSlides/_rels/notesSlide3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6.xml"/></Relationships>
</file>

<file path=ppt/notesSlides/_rels/notesSlide3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7.xml"/></Relationships>
</file>

<file path=ppt/notesSlides/_rels/notesSlide3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9.xml"/></Relationships>
</file>

<file path=ppt/notesSlides/_rels/notesSlide3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0.xml"/></Relationships>
</file>

<file path=ppt/notesSlides/_rels/notesSlide3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2.xml"/></Relationships>
</file>

<file path=ppt/notesSlides/_rels/notesSlide3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4.xml"/></Relationships>
</file>

<file path=ppt/notesSlides/_rels/notesSlide3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5.xml"/></Relationships>
</file>

<file path=ppt/notesSlides/_rels/notesSlide3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6.xml"/></Relationships>
</file>

<file path=ppt/notesSlides/_rels/notesSlide3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8.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9.xml"/></Relationships>
</file>

<file path=ppt/notesSlides/_rels/notesSlide3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2.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3.xml"/></Relationships>
</file>

<file path=ppt/notesSlides/_rels/notesSlide3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4.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6.xml"/></Relationships>
</file>

<file path=ppt/notesSlides/_rels/notesSlide3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7.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8.xml"/></Relationships>
</file>

<file path=ppt/notesSlides/_rels/notesSlide3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9.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0.xml"/></Relationships>
</file>

<file path=ppt/notesSlides/_rels/notesSlide3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2.xml"/></Relationships>
</file>

<file path=ppt/notesSlides/_rels/notesSlide3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3.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4.xml"/></Relationships>
</file>

<file path=ppt/notesSlides/_rels/notesSlide3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6.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7.xml"/></Relationships>
</file>

<file path=ppt/notesSlides/_rels/notesSlide3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8.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9.xml"/></Relationships>
</file>

<file path=ppt/notesSlides/_rels/notesSlide3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0.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1.xml"/></Relationships>
</file>

<file path=ppt/notesSlides/_rels/notesSlide3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2.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5.xml"/></Relationships>
</file>

<file path=ppt/notesSlides/_rels/notesSlide3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6.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7.xml"/></Relationships>
</file>

<file path=ppt/notesSlides/_rels/notesSlide3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8.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9.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1.xml"/></Relationships>
</file>

<file path=ppt/notesSlides/_rels/notesSlide3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2.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5.xml"/></Relationships>
</file>

<file path=ppt/notesSlides/_rels/notesSlide3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6.xml"/></Relationships>
</file>

<file path=ppt/notesSlides/_rels/notesSlide3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8.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9.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0.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3.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4.xml"/></Relationships>
</file>

<file path=ppt/notesSlides/_rels/notesSlide3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6.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8.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9.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0.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2.xml"/></Relationships>
</file>

<file path=ppt/notesSlides/_rels/notesSlide3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3.xml"/></Relationships>
</file>

<file path=ppt/notesSlides/_rels/notesSlide3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5.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7.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8.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9.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0.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3.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4.xml"/></Relationships>
</file>

<file path=ppt/notesSlides/_rels/notesSlide3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6.xml"/></Relationships>
</file>

<file path=ppt/notesSlides/_rels/notesSlide4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8.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9.xml"/></Relationships>
</file>

<file path=ppt/notesSlides/_rels/notesSlide4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0.xml"/></Relationships>
</file>

<file path=ppt/notesSlides/_rels/notesSlide4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1.xml"/></Relationships>
</file>

<file path=ppt/notesSlides/_rels/notesSlide4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3.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4.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6.xml"/></Relationships>
</file>

<file path=ppt/notesSlides/_rels/notesSlide4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8.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9.xml"/></Relationships>
</file>

<file path=ppt/notesSlides/_rels/notesSlide4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0.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3.xml"/></Relationships>
</file>

<file path=ppt/notesSlides/_rels/notesSlide4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4.xml"/></Relationships>
</file>

<file path=ppt/notesSlides/_rels/notesSlide4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6.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8.xml"/></Relationships>
</file>

<file path=ppt/notesSlides/_rels/notesSlide4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9.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0.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2.xml"/></Relationships>
</file>

<file path=ppt/notesSlides/_rels/notesSlide4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3.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6.xml"/></Relationships>
</file>

<file path=ppt/notesSlides/_rels/notesSlide4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7.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8.xml"/></Relationships>
</file>

<file path=ppt/notesSlides/_rels/notesSlide4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0.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1.xml"/></Relationships>
</file>

<file path=ppt/notesSlides/_rels/notesSlide4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2.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3.xml"/></Relationships>
</file>

<file path=ppt/notesSlides/_rels/notesSlide4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4.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5.xml"/></Relationships>
</file>

<file path=ppt/notesSlides/_rels/notesSlide4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6.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7.xml"/></Relationships>
</file>

<file path=ppt/notesSlides/_rels/notesSlide4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8.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0.xml"/></Relationships>
</file>

<file path=ppt/notesSlides/_rels/notesSlide4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2.xml"/></Relationships>
</file>

<file path=ppt/notesSlides/_rels/notesSlide4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3.xml"/></Relationships>
</file>

<file path=ppt/notesSlides/_rels/notesSlide4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4.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5.xml"/></Relationships>
</file>

<file path=ppt/notesSlides/_rels/notesSlide4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6.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9.xml"/></Relationships>
</file>

<file path=ppt/notesSlides/_rels/notesSlide4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0.xml"/></Relationships>
</file>

<file path=ppt/notesSlides/_rels/notesSlide4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2.xml"/></Relationships>
</file>

<file path=ppt/notesSlides/_rels/notesSlide4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3.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5.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6.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9.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0.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2.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3.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4.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5.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7.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8.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0.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2.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3.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4.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6.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7.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9.xml"/></Relationships>
</file>

<file path=ppt/notesSlides/_rels/notesSlide4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2.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3.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4.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5.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7.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8.xml"/></Relationships>
</file>

<file path=ppt/notesSlides/_rels/notesSlide4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0.xml"/></Relationships>
</file>

<file path=ppt/notesSlides/_rels/notesSlide4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2.xml"/></Relationships>
</file>

<file path=ppt/notesSlides/_rels/notesSlide4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3.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4.xml"/></Relationships>
</file>

<file path=ppt/notesSlides/_rels/notesSlide4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5.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7.xml"/></Relationships>
</file>

<file path=ppt/notesSlides/_rels/notesSlide4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8.xml"/></Relationships>
</file>

<file path=ppt/notesSlides/_rels/notesSlide4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0.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2.xml"/></Relationships>
</file>

<file path=ppt/notesSlides/_rels/notesSlide4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3.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4.xml"/></Relationships>
</file>

<file path=ppt/notesSlides/_rels/notesSlide4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5.xml"/></Relationships>
</file>

<file path=ppt/notesSlides/_rels/notesSlide4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7.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8.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0.xml"/></Relationships>
</file>

<file path=ppt/notesSlides/_rels/notesSlide5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2.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3.xml"/></Relationships>
</file>

<file path=ppt/notesSlides/_rels/notesSlide5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4.xml"/></Relationships>
</file>

<file path=ppt/notesSlides/_rels/notesSlide5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6.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7.xml"/></Relationships>
</file>

<file path=ppt/notesSlides/_rels/notesSlide5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0.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1.xml"/></Relationships>
</file>

<file path=ppt/notesSlides/_rels/notesSlide5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2.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4.xml"/></Relationships>
</file>

<file path=ppt/notesSlides/_rels/notesSlide5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5.xml"/></Relationships>
</file>

<file path=ppt/notesSlides/_rels/notesSlide5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6.xml"/></Relationships>
</file>

<file path=ppt/notesSlides/_rels/notesSlide5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7.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8.xml"/></Relationships>
</file>

<file path=ppt/notesSlides/_rels/notesSlide5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9.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0.xml"/></Relationships>
</file>

<file path=ppt/notesSlides/_rels/notesSlide5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2.xml"/></Relationships>
</file>

<file path=ppt/notesSlides/_rels/notesSlide5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4.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5.xml"/></Relationships>
</file>

<file path=ppt/notesSlides/_rels/notesSlide5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6.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7.xml"/></Relationships>
</file>

<file path=ppt/notesSlides/_rels/notesSlide5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8.xml"/></Relationships>
</file>

<file path=ppt/notesSlides/_rels/notesSlide5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9.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0.xml"/></Relationships>
</file>

<file path=ppt/notesSlides/_rels/notesSlide5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3.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4.xml"/></Relationships>
</file>

<file path=ppt/notesSlides/_rels/notesSlide5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5.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6.xml"/></Relationships>
</file>

<file path=ppt/notesSlides/_rels/notesSlide5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7.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9.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0.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3.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4.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6.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7.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8.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9.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2.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4.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6.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7.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8.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0.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3.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5.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6.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7.xml"/></Relationships>
</file>

<file path=ppt/notesSlides/_rels/notesSlide5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8.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9.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2.xml"/></Relationships>
</file>

<file path=ppt/notesSlides/_rels/notesSlide5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4.xm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6.xml"/></Relationships>
</file>

<file path=ppt/notesSlides/_rels/notesSlide5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7.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8.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9.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2.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4.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6.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7.xml"/></Relationships>
</file>

<file path=ppt/notesSlides/_rels/notesSlide5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8.xml"/></Relationships>
</file>

<file path=ppt/notesSlides/_rels/notesSlide5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9.xml"/></Relationships>
</file>

<file path=ppt/notesSlides/_rels/notesSlide5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2.xml"/></Relationships>
</file>

<file path=ppt/notesSlides/_rels/notesSlide5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4.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6.xml"/></Relationships>
</file>

<file path=ppt/notesSlides/_rels/notesSlide5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7.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8.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0.xml"/></Relationships>
</file>

<file path=ppt/notesSlides/_rels/notesSlide5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4.xml"/></Relationships>
</file>

<file path=ppt/notesSlides/_rels/notesSlide5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5.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6.xml"/></Relationships>
</file>

<file path=ppt/notesSlides/_rels/notesSlide5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9.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0.xml"/></Relationships>
</file>

<file path=ppt/notesSlides/_rels/notesSlide5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2.xml"/></Relationships>
</file>

<file path=ppt/notesSlides/_rels/notesSlide6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5.xml"/></Relationships>
</file>

<file path=ppt/notesSlides/_rels/notesSlide6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7.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9.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2.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3.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5.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6.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7.xml"/></Relationships>
</file>

<file path=ppt/notesSlides/_rels/notesSlide6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9.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0.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3.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4.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5.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7.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8.xml"/></Relationships>
</file>

<file path=ppt/notesSlides/_rels/notesSlide6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9.xml"/></Relationships>
</file>

<file path=ppt/notesSlides/_rels/notesSlide6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1.xml"/></Relationships>
</file>

<file path=ppt/notesSlides/_rels/notesSlide6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3.xml"/></Relationships>
</file>

<file path=ppt/notesSlides/_rels/notesSlide6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5.xml"/></Relationships>
</file>

<file path=ppt/notesSlides/_rels/notesSlide6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7.xml"/></Relationships>
</file>

<file path=ppt/notesSlides/_rels/notesSlide6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8.xml"/></Relationships>
</file>

<file path=ppt/notesSlides/_rels/notesSlide6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9.xml"/></Relationships>
</file>

<file path=ppt/notesSlides/_rels/notesSlide6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0.xml"/></Relationships>
</file>

<file path=ppt/notesSlides/_rels/notesSlide6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1.xml"/></Relationships>
</file>

<file path=ppt/notesSlides/_rels/notesSlide6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3.xml"/></Relationships>
</file>

<file path=ppt/notesSlides/_rels/notesSlide6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5.xml"/></Relationships>
</file>

<file path=ppt/notesSlides/_rels/notesSlide6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6.xml"/></Relationships>
</file>

<file path=ppt/notesSlides/_rels/notesSlide6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7.xml"/></Relationships>
</file>

<file path=ppt/notesSlides/_rels/notesSlide6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8.xml"/></Relationships>
</file>

<file path=ppt/notesSlides/_rels/notesSlide6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9.xml"/></Relationships>
</file>

<file path=ppt/notesSlides/_rels/notesSlide6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0.xml"/></Relationships>
</file>

<file path=ppt/notesSlides/_rels/notesSlide6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1.xml"/></Relationships>
</file>

<file path=ppt/notesSlides/_rels/notesSlide6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2.xml"/></Relationships>
</file>

<file path=ppt/notesSlides/_rels/notesSlide6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3.xml"/></Relationships>
</file>

<file path=ppt/notesSlides/_rels/notesSlide6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4.xml"/></Relationships>
</file>

<file path=ppt/notesSlides/_rels/notesSlide6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5.xml"/></Relationships>
</file>

<file path=ppt/notesSlides/_rels/notesSlide6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6.xml"/></Relationships>
</file>

<file path=ppt/notesSlides/_rels/notesSlide6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7.xml"/></Relationships>
</file>

<file path=ppt/notesSlides/_rels/notesSlide6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8.xml"/></Relationships>
</file>

<file path=ppt/notesSlides/_rels/notesSlide6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9.xml"/></Relationships>
</file>

<file path=ppt/notesSlides/_rels/notesSlide6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0.xml"/></Relationships>
</file>

<file path=ppt/notesSlides/_rels/notesSlide6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1.xml"/></Relationships>
</file>

<file path=ppt/notesSlides/_rels/notesSlide6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3.xml"/></Relationships>
</file>

<file path=ppt/notesSlides/_rels/notesSlide6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5.xml"/></Relationships>
</file>

<file path=ppt/notesSlides/_rels/notesSlide6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7.xml"/></Relationships>
</file>

<file path=ppt/notesSlides/_rels/notesSlide6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8.xml"/></Relationships>
</file>

<file path=ppt/notesSlides/_rels/notesSlide6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9.xml"/></Relationships>
</file>

<file path=ppt/notesSlides/_rels/notesSlide6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0.xml"/></Relationships>
</file>

<file path=ppt/notesSlides/_rels/notesSlide6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1.xml"/></Relationships>
</file>

<file path=ppt/notesSlides/_rels/notesSlide6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3.xml"/></Relationships>
</file>

<file path=ppt/notesSlides/_rels/notesSlide6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5.xml"/></Relationships>
</file>

<file path=ppt/notesSlides/_rels/notesSlide6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6.xml"/></Relationships>
</file>

<file path=ppt/notesSlides/_rels/notesSlide6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7.xml"/></Relationships>
</file>

<file path=ppt/notesSlides/_rels/notesSlide6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8.xml"/></Relationships>
</file>

<file path=ppt/notesSlides/_rels/notesSlide6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9.xml"/></Relationships>
</file>

<file path=ppt/notesSlides/_rels/notesSlide6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0.xml"/></Relationships>
</file>

<file path=ppt/notesSlides/_rels/notesSlide6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1.xml"/></Relationships>
</file>

<file path=ppt/notesSlides/_rels/notesSlide6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2.xml"/></Relationships>
</file>

<file path=ppt/notesSlides/_rels/notesSlide6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3.xml"/></Relationships>
</file>

<file path=ppt/notesSlides/_rels/notesSlide6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4.xml"/></Relationships>
</file>

<file path=ppt/notesSlides/_rels/notesSlide6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5.xml"/></Relationships>
</file>

<file path=ppt/notesSlides/_rels/notesSlide6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6.xml"/></Relationships>
</file>

<file path=ppt/notesSlides/_rels/notesSlide6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7.xml"/></Relationships>
</file>

<file path=ppt/notesSlides/_rels/notesSlide6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8.xml"/></Relationships>
</file>

<file path=ppt/notesSlides/_rels/notesSlide6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9.xml"/></Relationships>
</file>

<file path=ppt/notesSlides/_rels/notesSlide6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0.xml"/></Relationships>
</file>

<file path=ppt/notesSlides/_rels/notesSlide6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1.xml"/></Relationships>
</file>

<file path=ppt/notesSlides/_rels/notesSlide6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3.xml"/></Relationships>
</file>

<file path=ppt/notesSlides/_rels/notesSlide6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5.xml"/></Relationships>
</file>

<file path=ppt/notesSlides/_rels/notesSlide6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7.xml"/></Relationships>
</file>

<file path=ppt/notesSlides/_rels/notesSlide6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8.xml"/></Relationships>
</file>

<file path=ppt/notesSlides/_rels/notesSlide6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9.xml"/></Relationships>
</file>

<file path=ppt/notesSlides/_rels/notesSlide6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0.xml"/></Relationships>
</file>

<file path=ppt/notesSlides/_rels/notesSlide6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1.xml"/></Relationships>
</file>

<file path=ppt/notesSlides/_rels/notesSlide6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3.xml"/></Relationships>
</file>

<file path=ppt/notesSlides/_rels/notesSlide6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5.xml"/></Relationships>
</file>

<file path=ppt/notesSlides/_rels/notesSlide6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6.xml"/></Relationships>
</file>

<file path=ppt/notesSlides/_rels/notesSlide6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7.xml"/></Relationships>
</file>

<file path=ppt/notesSlides/_rels/notesSlide6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8.xml"/></Relationships>
</file>

<file path=ppt/notesSlides/_rels/notesSlide6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9.xml"/></Relationships>
</file>

<file path=ppt/notesSlides/_rels/notesSlide6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0.xml"/></Relationships>
</file>

<file path=ppt/notesSlides/_rels/notesSlide6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1.xml"/></Relationships>
</file>

<file path=ppt/notesSlides/_rels/notesSlide6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2.xml"/></Relationships>
</file>

<file path=ppt/notesSlides/_rels/notesSlide7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3.xml"/></Relationships>
</file>

<file path=ppt/notesSlides/_rels/notesSlide7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4.xml"/></Relationships>
</file>

<file path=ppt/notesSlides/_rels/notesSlide7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5.xml"/></Relationships>
</file>

<file path=ppt/notesSlides/_rels/notesSlide7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6.xml"/></Relationships>
</file>

<file path=ppt/notesSlides/_rels/notesSlide7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7.xml"/></Relationships>
</file>

<file path=ppt/notesSlides/_rels/notesSlide7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8.xml"/></Relationships>
</file>

<file path=ppt/notesSlides/_rels/notesSlide7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9.xml"/></Relationships>
</file>

<file path=ppt/notesSlides/_rels/notesSlide7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0.xml"/></Relationships>
</file>

<file path=ppt/notesSlides/_rels/notesSlide7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1.xml"/></Relationships>
</file>

<file path=ppt/notesSlides/_rels/notesSlide7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3.xml"/></Relationships>
</file>

<file path=ppt/notesSlides/_rels/notesSlide7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5.xml"/></Relationships>
</file>

<file path=ppt/notesSlides/_rels/notesSlide7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7.xml"/></Relationships>
</file>

<file path=ppt/notesSlides/_rels/notesSlide7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8.xml"/></Relationships>
</file>

<file path=ppt/notesSlides/_rels/notesSlide7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9.xml"/></Relationships>
</file>

<file path=ppt/notesSlides/_rels/notesSlide7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0.xml"/></Relationships>
</file>

<file path=ppt/notesSlides/_rels/notesSlide7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1.xml"/></Relationships>
</file>

<file path=ppt/notesSlides/_rels/notesSlide7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3.xml"/></Relationships>
</file>

<file path=ppt/notesSlides/_rels/notesSlide7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5.xml"/></Relationships>
</file>

<file path=ppt/notesSlides/_rels/notesSlide7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6.xml"/></Relationships>
</file>

<file path=ppt/notesSlides/_rels/notesSlide7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7.xml"/></Relationships>
</file>

<file path=ppt/notesSlides/_rels/notesSlide7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8.xml"/></Relationships>
</file>

<file path=ppt/notesSlides/_rels/notesSlide7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9.xml"/></Relationships>
</file>

<file path=ppt/notesSlides/_rels/notesSlide7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0.xml"/></Relationships>
</file>

<file path=ppt/notesSlides/_rels/notesSlide7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1.xml"/></Relationships>
</file>

<file path=ppt/notesSlides/_rels/notesSlide7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2.xml"/></Relationships>
</file>

<file path=ppt/notesSlides/_rels/notesSlide7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3.xml"/></Relationships>
</file>

<file path=ppt/notesSlides/_rels/notesSlide7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4.xml"/></Relationships>
</file>

<file path=ppt/notesSlides/_rels/notesSlide7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5.xml"/></Relationships>
</file>

<file path=ppt/notesSlides/_rels/notesSlide7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6.xml"/></Relationships>
</file>

<file path=ppt/notesSlides/_rels/notesSlide7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7.xml"/></Relationships>
</file>

<file path=ppt/notesSlides/_rels/notesSlide7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8.xml"/></Relationships>
</file>

<file path=ppt/notesSlides/_rels/notesSlide7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9.xml"/></Relationships>
</file>

<file path=ppt/notesSlides/_rels/notesSlide7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0.xml"/></Relationships>
</file>

<file path=ppt/notesSlides/_rels/notesSlide7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1.xml"/></Relationships>
</file>

<file path=ppt/notesSlides/_rels/notesSlide7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3.xml"/></Relationships>
</file>

<file path=ppt/notesSlides/_rels/notesSlide7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5.xml"/></Relationships>
</file>

<file path=ppt/notesSlides/_rels/notesSlide7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7.xml"/></Relationships>
</file>

<file path=ppt/notesSlides/_rels/notesSlide7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8.xml"/></Relationships>
</file>

<file path=ppt/notesSlides/_rels/notesSlide7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9.xml"/></Relationships>
</file>

<file path=ppt/notesSlides/_rels/notesSlide7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0.xml"/></Relationships>
</file>

<file path=ppt/notesSlides/_rels/notesSlide7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1.xml"/></Relationships>
</file>

<file path=ppt/notesSlides/_rels/notesSlide7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3.xml"/></Relationships>
</file>

<file path=ppt/notesSlides/_rels/notesSlide7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5.xml"/></Relationships>
</file>

<file path=ppt/notesSlides/_rels/notesSlide7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6.xml"/></Relationships>
</file>

<file path=ppt/notesSlides/_rels/notesSlide7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7.xml"/></Relationships>
</file>

<file path=ppt/notesSlides/_rels/notesSlide7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8.xml"/></Relationships>
</file>

<file path=ppt/notesSlides/_rels/notesSlide7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9.xml"/></Relationships>
</file>

<file path=ppt/notesSlides/_rels/notesSlide7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0.xml"/></Relationships>
</file>

<file path=ppt/notesSlides/_rels/notesSlide7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1.xml"/></Relationships>
</file>

<file path=ppt/notesSlides/_rels/notesSlide7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2.xml"/></Relationships>
</file>

<file path=ppt/notesSlides/_rels/notesSlide7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3.xml"/></Relationships>
</file>

<file path=ppt/notesSlides/_rels/notesSlide7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4.xml"/></Relationships>
</file>

<file path=ppt/notesSlides/_rels/notesSlide7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5.xml"/></Relationships>
</file>

<file path=ppt/notesSlides/_rels/notesSlide7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6.xml"/></Relationships>
</file>

<file path=ppt/notesSlides/_rels/notesSlide7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7.xml"/></Relationships>
</file>

<file path=ppt/notesSlides/_rels/notesSlide7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8.xml"/></Relationships>
</file>

<file path=ppt/notesSlides/_rels/notesSlide7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9.xml"/></Relationships>
</file>

<file path=ppt/notesSlides/_rels/notesSlide7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0.xml"/></Relationships>
</file>

<file path=ppt/notesSlides/_rels/notesSlide7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1.xml"/></Relationships>
</file>

<file path=ppt/notesSlides/_rels/notesSlide7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3.xml"/></Relationships>
</file>

<file path=ppt/notesSlides/_rels/notesSlide7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5.xml"/></Relationships>
</file>

<file path=ppt/notesSlides/_rels/notesSlide7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7.xml"/></Relationships>
</file>

<file path=ppt/notesSlides/_rels/notesSlide7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8.xml"/></Relationships>
</file>

<file path=ppt/notesSlides/_rels/notesSlide7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9.xml"/></Relationships>
</file>

<file path=ppt/notesSlides/_rels/notesSlide7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0.xml"/></Relationships>
</file>

<file path=ppt/notesSlides/_rels/notesSlide7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1.xml"/></Relationships>
</file>

<file path=ppt/notesSlides/_rels/notesSlide7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3.xml"/></Relationships>
</file>

<file path=ppt/notesSlides/_rels/notesSlide7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5.xml"/></Relationships>
</file>

<file path=ppt/notesSlides/_rels/notesSlide7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6.xml"/></Relationships>
</file>

<file path=ppt/notesSlides/_rels/notesSlide7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7.xml"/></Relationships>
</file>

<file path=ppt/notesSlides/_rels/notesSlide7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8.xml"/></Relationships>
</file>

<file path=ppt/notesSlides/_rels/notesSlide7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9.xml"/></Relationships>
</file>

<file path=ppt/notesSlides/_rels/notesSlide7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0.xml"/></Relationships>
</file>

<file path=ppt/notesSlides/_rels/notesSlide7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1.xml"/></Relationships>
</file>

<file path=ppt/notesSlides/_rels/notesSlide7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2.xml"/></Relationships>
</file>

<file path=ppt/notesSlides/_rels/notesSlide7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3.xml"/></Relationships>
</file>

<file path=ppt/notesSlides/_rels/notesSlide7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4.xml"/></Relationships>
</file>

<file path=ppt/notesSlides/_rels/notesSlide7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5.xml"/></Relationships>
</file>

<file path=ppt/notesSlides/_rels/notesSlide7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6.xml"/></Relationships>
</file>

<file path=ppt/notesSlides/_rels/notesSlide7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7.xml"/></Relationships>
</file>

<file path=ppt/notesSlides/_rels/notesSlide7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8.xml"/></Relationships>
</file>

<file path=ppt/notesSlides/_rels/notesSlide7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9.xml"/></Relationships>
</file>

<file path=ppt/notesSlides/_rels/notesSlide7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0.xml"/></Relationships>
</file>

<file path=ppt/notesSlides/_rels/notesSlide7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1.xml"/></Relationships>
</file>

<file path=ppt/notesSlides/_rels/notesSlide7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3.xml"/></Relationships>
</file>

<file path=ppt/notesSlides/_rels/notesSlide7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5.xml"/></Relationships>
</file>

<file path=ppt/notesSlides/_rels/notesSlide8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7.xml"/></Relationships>
</file>

<file path=ppt/notesSlides/_rels/notesSlide8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8.xml"/></Relationships>
</file>

<file path=ppt/notesSlides/_rels/notesSlide8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9.xml"/></Relationships>
</file>

<file path=ppt/notesSlides/_rels/notesSlide8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0.xml"/></Relationships>
</file>

<file path=ppt/notesSlides/_rels/notesSlide8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1.xml"/></Relationships>
</file>

<file path=ppt/notesSlides/_rels/notesSlide8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3.xml"/></Relationships>
</file>

<file path=ppt/notesSlides/_rels/notesSlide8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5.xml"/></Relationships>
</file>

<file path=ppt/notesSlides/_rels/notesSlide8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6.xml"/></Relationships>
</file>

<file path=ppt/notesSlides/_rels/notesSlide8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7.xml"/></Relationships>
</file>

<file path=ppt/notesSlides/_rels/notesSlide8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8.xml"/></Relationships>
</file>

<file path=ppt/notesSlides/_rels/notesSlide8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9.xml"/></Relationships>
</file>

<file path=ppt/notesSlides/_rels/notesSlide8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0.xml"/></Relationships>
</file>

<file path=ppt/notesSlides/_rels/notesSlide8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1.xml"/></Relationships>
</file>

<file path=ppt/notesSlides/_rels/notesSlide8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2.xml"/></Relationships>
</file>

<file path=ppt/notesSlides/_rels/notesSlide8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3.xml"/></Relationships>
</file>

<file path=ppt/notesSlides/_rels/notesSlide8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4.xml"/></Relationships>
</file>

<file path=ppt/notesSlides/_rels/notesSlide8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5.xml"/></Relationships>
</file>

<file path=ppt/notesSlides/_rels/notesSlide8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6.xml"/></Relationships>
</file>

<file path=ppt/notesSlides/_rels/notesSlide8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7.xml"/></Relationships>
</file>

<file path=ppt/notesSlides/_rels/notesSlide8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8.xml"/></Relationships>
</file>

<file path=ppt/notesSlides/_rels/notesSlide8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9.xml"/></Relationships>
</file>

<file path=ppt/notesSlides/_rels/notesSlide8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0.xml"/></Relationships>
</file>

<file path=ppt/notesSlides/_rels/notesSlide8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1.xml"/></Relationships>
</file>

<file path=ppt/notesSlides/_rels/notesSlide8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3.xml"/></Relationships>
</file>

<file path=ppt/notesSlides/_rels/notesSlide8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5.xml"/></Relationships>
</file>

<file path=ppt/notesSlides/_rels/notesSlide8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7.xml"/></Relationships>
</file>

<file path=ppt/notesSlides/_rels/notesSlide8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8.xml"/></Relationships>
</file>

<file path=ppt/notesSlides/_rels/notesSlide8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9.xml"/></Relationships>
</file>

<file path=ppt/notesSlides/_rels/notesSlide8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0.xml"/></Relationships>
</file>

<file path=ppt/notesSlides/_rels/notesSlide8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1.xml"/></Relationships>
</file>

<file path=ppt/notesSlides/_rels/notesSlide8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3.xml"/></Relationships>
</file>

<file path=ppt/notesSlides/_rels/notesSlide8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5.xml"/></Relationships>
</file>

<file path=ppt/notesSlides/_rels/notesSlide8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6.xml"/></Relationships>
</file>

<file path=ppt/notesSlides/_rels/notesSlide8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7.xml"/></Relationships>
</file>

<file path=ppt/notesSlides/_rels/notesSlide8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8.xml"/></Relationships>
</file>

<file path=ppt/notesSlides/_rels/notesSlide8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9.xml"/></Relationships>
</file>

<file path=ppt/notesSlides/_rels/notesSlide8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0.xml"/></Relationships>
</file>

<file path=ppt/notesSlides/_rels/notesSlide8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1.xml"/></Relationships>
</file>

<file path=ppt/notesSlides/_rels/notesSlide8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2.xml"/></Relationships>
</file>

<file path=ppt/notesSlides/_rels/notesSlide8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3.xml"/></Relationships>
</file>

<file path=ppt/notesSlides/_rels/notesSlide8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4.xml"/></Relationships>
</file>

<file path=ppt/notesSlides/_rels/notesSlide8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5.xml"/></Relationships>
</file>

<file path=ppt/notesSlides/_rels/notesSlide8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6.xml"/></Relationships>
</file>

<file path=ppt/notesSlides/_rels/notesSlide8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7.xml"/></Relationships>
</file>

<file path=ppt/notesSlides/_rels/notesSlide8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8.xml"/></Relationships>
</file>

<file path=ppt/notesSlides/_rels/notesSlide8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9.xml"/></Relationships>
</file>

<file path=ppt/notesSlides/_rels/notesSlide8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0.xml"/></Relationships>
</file>

<file path=ppt/notesSlides/_rels/notesSlide8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1.xml"/></Relationships>
</file>

<file path=ppt/notesSlides/_rels/notesSlide8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3.xml"/></Relationships>
</file>

<file path=ppt/notesSlides/_rels/notesSlide8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5.xml"/></Relationships>
</file>

<file path=ppt/notesSlides/_rels/notesSlide8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7.xml"/></Relationships>
</file>

<file path=ppt/notesSlides/_rels/notesSlide8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8.xml"/></Relationships>
</file>

<file path=ppt/notesSlides/_rels/notesSlide8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9.xml"/></Relationships>
</file>

<file path=ppt/notesSlides/_rels/notesSlide8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0.xml"/></Relationships>
</file>

<file path=ppt/notesSlides/_rels/notesSlide8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1.xml"/></Relationships>
</file>

<file path=ppt/notesSlides/_rels/notesSlide8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3.xml"/></Relationships>
</file>

<file path=ppt/notesSlides/_rels/notesSlide8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5.xml"/></Relationships>
</file>

<file path=ppt/notesSlides/_rels/notesSlide8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6.xml"/></Relationships>
</file>

<file path=ppt/notesSlides/_rels/notesSlide8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7.xml"/></Relationships>
</file>

<file path=ppt/notesSlides/_rels/notesSlide8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8.xml"/></Relationships>
</file>

<file path=ppt/notesSlides/_rels/notesSlide8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9.xml"/></Relationships>
</file>

<file path=ppt/notesSlides/_rels/notesSlide8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0.xml"/></Relationships>
</file>

<file path=ppt/notesSlides/_rels/notesSlide8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1.xml"/></Relationships>
</file>

<file path=ppt/notesSlides/_rels/notesSlide8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2.xml"/></Relationships>
</file>

<file path=ppt/notesSlides/_rels/notesSlide8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3.xml"/></Relationships>
</file>

<file path=ppt/notesSlides/_rels/notesSlide8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4.xml"/></Relationships>
</file>

<file path=ppt/notesSlides/_rels/notesSlide8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5.xml"/></Relationships>
</file>

<file path=ppt/notesSlides/_rels/notesSlide8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6.xml"/></Relationships>
</file>

<file path=ppt/notesSlides/_rels/notesSlide8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7.xml"/></Relationships>
</file>

<file path=ppt/notesSlides/_rels/notesSlide8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8.xml"/></Relationships>
</file>

<file path=ppt/notesSlides/_rels/notesSlide8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9.xml"/></Relationships>
</file>

<file path=ppt/notesSlides/_rels/notesSlide8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0.xml"/></Relationships>
</file>

<file path=ppt/notesSlides/_rels/notesSlide8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1.xml"/></Relationships>
</file>

<file path=ppt/notesSlides/_rels/notesSlide8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3.xml"/></Relationships>
</file>

<file path=ppt/notesSlides/_rels/notesSlide8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5.xml"/></Relationships>
</file>

<file path=ppt/notesSlides/_rels/notesSlide8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7.xml"/></Relationships>
</file>

<file path=ppt/notesSlides/_rels/notesSlide8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8.xml"/></Relationships>
</file>

<file path=ppt/notesSlides/_rels/notesSlide8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9.xml"/></Relationships>
</file>

<file path=ppt/notesSlides/_rels/notesSlide8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0.xml"/></Relationships>
</file>

<file path=ppt/notesSlides/_rels/notesSlide8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1.xml"/></Relationships>
</file>

<file path=ppt/notesSlides/_rels/notesSlide8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3.xml"/></Relationships>
</file>

<file path=ppt/notesSlides/_rels/notesSlide8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5.xml"/></Relationships>
</file>

<file path=ppt/notesSlides/_rels/notesSlide8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6.xml"/></Relationships>
</file>

<file path=ppt/notesSlides/_rels/notesSlide8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7.xml"/></Relationships>
</file>

<file path=ppt/notesSlides/_rels/notesSlide8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8.xml"/></Relationships>
</file>

<file path=ppt/notesSlides/_rels/notesSlide8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9.xml"/></Relationships>
</file>

<file path=ppt/notesSlides/_rels/notesSlide9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0.xml"/></Relationships>
</file>

<file path=ppt/notesSlides/_rels/notesSlide9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1.xml"/></Relationships>
</file>

<file path=ppt/notesSlides/_rels/notesSlide9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2.xml"/></Relationships>
</file>

<file path=ppt/notesSlides/_rels/notesSlide9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3.xml"/></Relationships>
</file>

<file path=ppt/notesSlides/_rels/notesSlide9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4.xml"/></Relationships>
</file>

<file path=ppt/notesSlides/_rels/notesSlide9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5.xml"/></Relationships>
</file>

<file path=ppt/notesSlides/_rels/notesSlide9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6.xml"/></Relationships>
</file>

<file path=ppt/notesSlides/_rels/notesSlide9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7.xml"/></Relationships>
</file>

<file path=ppt/notesSlides/_rels/notesSlide9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8.xml"/></Relationships>
</file>

<file path=ppt/notesSlides/_rels/notesSlide9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9.xml"/></Relationships>
</file>

<file path=ppt/notesSlides/_rels/notesSlide9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0.xml"/></Relationships>
</file>

<file path=ppt/notesSlides/_rels/notesSlide9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1.xml"/></Relationships>
</file>

<file path=ppt/notesSlides/_rels/notesSlide9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3.xml"/></Relationships>
</file>

<file path=ppt/notesSlides/_rels/notesSlide9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5.xml"/></Relationships>
</file>

<file path=ppt/notesSlides/_rels/notesSlide9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7.xml"/></Relationships>
</file>

<file path=ppt/notesSlides/_rels/notesSlide9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8.xml"/></Relationships>
</file>

<file path=ppt/notesSlides/_rels/notesSlide9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9.xml"/></Relationships>
</file>

<file path=ppt/notesSlides/_rels/notesSlide9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0.xml"/></Relationships>
</file>

<file path=ppt/notesSlides/_rels/notesSlide9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1.xml"/></Relationships>
</file>

<file path=ppt/notesSlides/_rels/notesSlide9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3.xml"/></Relationships>
</file>

<file path=ppt/notesSlides/_rels/notesSlide9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5.xml"/></Relationships>
</file>

<file path=ppt/notesSlides/_rels/notesSlide9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6.xml"/></Relationships>
</file>

<file path=ppt/notesSlides/_rels/notesSlide9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7.xml"/></Relationships>
</file>

<file path=ppt/notesSlides/_rels/notesSlide9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8.xml"/></Relationships>
</file>

<file path=ppt/notesSlides/_rels/notesSlide9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9.xml"/></Relationships>
</file>

<file path=ppt/notesSlides/_rels/notesSlide9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0.xml"/></Relationships>
</file>

<file path=ppt/notesSlides/_rels/notesSlide9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1.xml"/></Relationships>
</file>

<file path=ppt/notesSlides/_rels/notesSlide9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2.xml"/></Relationships>
</file>

<file path=ppt/notesSlides/_rels/notesSlide9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3.xml"/></Relationships>
</file>

<file path=ppt/notesSlides/_rels/notesSlide9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4.xml"/></Relationships>
</file>

<file path=ppt/notesSlides/_rels/notesSlide9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5.xml"/></Relationships>
</file>

<file path=ppt/notesSlides/_rels/notesSlide9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6.xml"/></Relationships>
</file>

<file path=ppt/notesSlides/_rels/notesSlide9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7.xml"/></Relationships>
</file>

<file path=ppt/notesSlides/_rels/notesSlide9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8.xml"/></Relationships>
</file>

<file path=ppt/notesSlides/_rels/notesSlide9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9.xml"/></Relationships>
</file>

<file path=ppt/notesSlides/_rels/notesSlide9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0.xml"/></Relationships>
</file>

<file path=ppt/notesSlides/_rels/notesSlide9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1.xml"/></Relationships>
</file>

<file path=ppt/notesSlides/_rels/notesSlide9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3.xml"/></Relationships>
</file>

<file path=ppt/notesSlides/_rels/notesSlide9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5.xml"/></Relationships>
</file>

<file path=ppt/notesSlides/_rels/notesSlide9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7.xml"/></Relationships>
</file>

<file path=ppt/notesSlides/_rels/notesSlide9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8.xml"/></Relationships>
</file>

<file path=ppt/notesSlides/_rels/notesSlide9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9.xml"/></Relationships>
</file>

<file path=ppt/notesSlides/_rels/notesSlide9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0.xml"/></Relationships>
</file>

<file path=ppt/notesSlides/_rels/notesSlide9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1.xml"/></Relationships>
</file>

<file path=ppt/notesSlides/_rels/notesSlide9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3.xml"/></Relationships>
</file>

<file path=ppt/notesSlides/_rels/notesSlide9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5.xml"/></Relationships>
</file>

<file path=ppt/notesSlides/_rels/notesSlide9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6.xml"/></Relationships>
</file>

<file path=ppt/notesSlides/_rels/notesSlide9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7.xml"/></Relationships>
</file>

<file path=ppt/notesSlides/_rels/notesSlide9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8.xml"/></Relationships>
</file>

<file path=ppt/notesSlides/_rels/notesSlide9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9.xml"/></Relationships>
</file>

<file path=ppt/notesSlides/_rels/notesSlide9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0.xml"/></Relationships>
</file>

<file path=ppt/notesSlides/_rels/notesSlide9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1.xml"/></Relationships>
</file>

<file path=ppt/notesSlides/_rels/notesSlide9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2.xml"/></Relationships>
</file>

<file path=ppt/notesSlides/_rels/notesSlide9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3.xml"/></Relationships>
</file>

<file path=ppt/notesSlides/_rels/notesSlide9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4.xml"/></Relationships>
</file>

<file path=ppt/notesSlides/_rels/notesSlide9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5.xml"/></Relationships>
</file>

<file path=ppt/notesSlides/_rels/notesSlide9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6.xml"/></Relationships>
</file>

<file path=ppt/notesSlides/_rels/notesSlide9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7.xml"/></Relationships>
</file>

<file path=ppt/notesSlides/_rels/notesSlide9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8.xml"/></Relationships>
</file>

<file path=ppt/notesSlides/_rels/notesSlide9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9.xml"/></Relationships>
</file>

<file path=ppt/notesSlides/_rels/notesSlide9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0.xml"/></Relationships>
</file>

<file path=ppt/notesSlides/_rels/notesSlide9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1.xml"/></Relationships>
</file>

<file path=ppt/notesSlides/_rels/notesSlide9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3.xml"/></Relationships>
</file>

<file path=ppt/notesSlides/_rels/notesSlide9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5.xml"/></Relationships>
</file>

<file path=ppt/notesSlides/_rels/notesSlide9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7.xml"/></Relationships>
</file>

<file path=ppt/notesSlides/_rels/notesSlide9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8.xml"/></Relationships>
</file>

<file path=ppt/notesSlides/_rels/notesSlide9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9.xml"/></Relationships>
</file>

<file path=ppt/notesSlides/_rels/notesSlide9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0.xml"/></Relationships>
</file>

<file path=ppt/notesSlides/_rels/notesSlide9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1.xml"/></Relationships>
</file>

<file path=ppt/notesSlides/_rels/notesSlide9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3.xml"/></Relationships>
</file>

<file path=ppt/notesSlides/_rels/notesSlide9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5.xml"/></Relationships>
</file>

<file path=ppt/notesSlides/_rels/notesSlide9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6.xml"/></Relationships>
</file>

<file path=ppt/notesSlides/_rels/notesSlide9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7.xml"/></Relationships>
</file>

<file path=ppt/notesSlides/_rels/notesSlide9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8.xml"/></Relationships>
</file>

<file path=ppt/notesSlides/_rels/notesSlide9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9.xml"/></Relationships>
</file>

<file path=ppt/notesSlides/_rels/notesSlide9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0.xml"/></Relationships>
</file>

<file path=ppt/notesSlides/_rels/notesSlide9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1.xml"/></Relationships>
</file>

<file path=ppt/notesSlides/_rels/notesSlide9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2.xml"/></Relationships>
</file>

<file path=ppt/notesSlides/_rels/notesSlide9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3.xml"/></Relationships>
</file>

<file path=ppt/notesSlides/_rels/notesSlide9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4.xml"/></Relationships>
</file>

<file path=ppt/notesSlides/_rels/notesSlide9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5.xml"/></Relationships>
</file>

<file path=ppt/notesSlides/_rels/notesSlide9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6.xml"/></Relationships>
</file>

<file path=ppt/notesSlides/_rels/notesSlide9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7.xml"/></Relationships>
</file>

<file path=ppt/notesSlides/_rels/notesSlide9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8.xml"/></Relationships>
</file>

<file path=ppt/notesSlides/_rels/notesSlide9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9.xml"/></Relationships>
</file>

<file path=ppt/notesSlides/_rels/notesSlide9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0.xml"/></Relationships>
</file>

<file path=ppt/notesSlides/_rels/notesSlide9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1.xml"/></Relationships>
</file>

<file path=ppt/notesSlides/_rels/notesSlide10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3.xml"/></Relationships>
</file>

<file path=ppt/notesSlides/_rels/notesSlide10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5.xml"/></Relationships>
</file>

<file path=ppt/notesSlides/_rels/notesSlide10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7.xml"/></Relationships>
</file>

<file path=ppt/notesSlides/_rels/notesSlide10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8.xml"/></Relationships>
</file>

<file path=ppt/notesSlides/_rels/notesSlide10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9.xml"/></Relationships>
</file>

<file path=ppt/notesSlides/_rels/notesSlide10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0.xml"/></Relationships>
</file>

<file path=ppt/notesSlides/_rels/notesSlide10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1.xml"/></Relationships>
</file>

<file path=ppt/notesSlides/_rels/notesSlide10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3.xml"/></Relationships>
</file>

<file path=ppt/notesSlides/_rels/notesSlide10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5.xml"/></Relationships>
</file>

<file path=ppt/notesSlides/_rels/notesSlide10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6.xml"/></Relationships>
</file>

<file path=ppt/notesSlides/_rels/notesSlide10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7.xml"/></Relationships>
</file>

<file path=ppt/notesSlides/_rels/notesSlide10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8.xml"/></Relationships>
</file>

<file path=ppt/notesSlides/_rels/notesSlide10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9.xml"/></Relationships>
</file>

<file path=ppt/notesSlides/_rels/notesSlide10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0.xml"/></Relationships>
</file>

<file path=ppt/notesSlides/_rels/notesSlide10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1.xml"/></Relationships>
</file>

<file path=ppt/notesSlides/_rels/notesSlide10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2.xml"/></Relationships>
</file>

<file path=ppt/notesSlides/_rels/notesSlide10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3.xml"/></Relationships>
</file>

<file path=ppt/notesSlides/_rels/notesSlide10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4.xml"/></Relationships>
</file>

<file path=ppt/notesSlides/_rels/notesSlide10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5.xml"/></Relationships>
</file>

<file path=ppt/notesSlides/_rels/notesSlide10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6.xml"/></Relationships>
</file>

<file path=ppt/notesSlides/_rels/notesSlide10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7.xml"/></Relationships>
</file>

<file path=ppt/notesSlides/_rels/notesSlide10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8.xml"/></Relationships>
</file>

<file path=ppt/notesSlides/_rels/notesSlide10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9.xml"/></Relationships>
</file>

<file path=ppt/notesSlides/_rels/notesSlide10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0.xml"/></Relationships>
</file>

<file path=ppt/notesSlides/_rels/notesSlide10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1.xml"/></Relationships>
</file>

<file path=ppt/notesSlides/_rels/notesSlide10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3.xml"/></Relationships>
</file>

<file path=ppt/notesSlides/_rels/notesSlide10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5.xml"/></Relationships>
</file>

<file path=ppt/notesSlides/_rels/notesSlide10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7.xml"/></Relationships>
</file>

<file path=ppt/notesSlides/_rels/notesSlide10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8.xml"/></Relationships>
</file>

<file path=ppt/notesSlides/_rels/notesSlide10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9.xml"/></Relationships>
</file>

<file path=ppt/notesSlides/_rels/notesSlide10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0.xml"/></Relationships>
</file>

<file path=ppt/notesSlides/_rels/notesSlide10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1.xml"/></Relationships>
</file>

<file path=ppt/notesSlides/_rels/notesSlide10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3.xml"/></Relationships>
</file>

<file path=ppt/notesSlides/_rels/notesSlide10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5.xml"/></Relationships>
</file>

<file path=ppt/notesSlides/_rels/notesSlide10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6.xml"/></Relationships>
</file>

<file path=ppt/notesSlides/_rels/notesSlide10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7.xml"/></Relationships>
</file>

<file path=ppt/notesSlides/_rels/notesSlide10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8.xml"/></Relationships>
</file>

<file path=ppt/notesSlides/_rels/notesSlide10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9.xml"/></Relationships>
</file>

<file path=ppt/notesSlides/_rels/notesSlide10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0.xml"/></Relationships>
</file>

<file path=ppt/notesSlides/_rels/notesSlide10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1.xml"/></Relationships>
</file>

<file path=ppt/notesSlides/_rels/notesSlide10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2.xml"/></Relationships>
</file>

<file path=ppt/notesSlides/_rels/notesSlide10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3.xml"/></Relationships>
</file>

<file path=ppt/notesSlides/_rels/notesSlide10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4.xml"/></Relationships>
</file>

<file path=ppt/notesSlides/_rels/notesSlide10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5.xml"/></Relationships>
</file>

<file path=ppt/notesSlides/_rels/notesSlide10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6.xml"/></Relationships>
</file>

<file path=ppt/notesSlides/_rels/notesSlide10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7.xml"/></Relationships>
</file>

<file path=ppt/notesSlides/_rels/notesSlide10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8.xml"/></Relationships>
</file>

<file path=ppt/notesSlides/_rels/notesSlide10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9.xml"/></Relationships>
</file>

<file path=ppt/notesSlides/_rels/notesSlide10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0.xml"/></Relationships>
</file>

<file path=ppt/notesSlides/_rels/notesSlide10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1.xml"/></Relationships>
</file>

<file path=ppt/notesSlides/_rels/notesSlide10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3.xml"/></Relationships>
</file>

<file path=ppt/notesSlides/_rels/notesSlide10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5.xml"/></Relationships>
</file>

<file path=ppt/notesSlides/_rels/notesSlide10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7.xml"/></Relationships>
</file>

<file path=ppt/notesSlides/_rels/notesSlide10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8.xml"/></Relationships>
</file>

<file path=ppt/notesSlides/_rels/notesSlide10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9.xml"/></Relationships>
</file>

<file path=ppt/notesSlides/_rels/notesSlide10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0.xml"/></Relationships>
</file>

<file path=ppt/notesSlides/_rels/notesSlide10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1.xml"/></Relationships>
</file>

<file path=ppt/notesSlides/_rels/notesSlide10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3.xml"/></Relationships>
</file>

<file path=ppt/notesSlides/_rels/notesSlide10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5.xml"/></Relationships>
</file>

<file path=ppt/notesSlides/_rels/notesSlide10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6.xml"/></Relationships>
</file>

<file path=ppt/notesSlides/_rels/notesSlide10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7.xml"/></Relationships>
</file>

<file path=ppt/notesSlides/_rels/notesSlide10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8.xml"/></Relationships>
</file>

<file path=ppt/notesSlides/_rels/notesSlide10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9.xml"/></Relationships>
</file>

<file path=ppt/notesSlides/_rels/notesSlide10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0.xml"/></Relationships>
</file>

<file path=ppt/notesSlides/_rels/notesSlide10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1.xml"/></Relationships>
</file>

<file path=ppt/notesSlides/_rels/notesSlide10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2.xml"/></Relationships>
</file>

<file path=ppt/notesSlides/_rels/notesSlide10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3.xml"/></Relationships>
</file>

<file path=ppt/notesSlides/_rels/notesSlide10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4.xml"/></Relationships>
</file>

<file path=ppt/notesSlides/_rels/notesSlide10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5.xml"/></Relationships>
</file>

<file path=ppt/notesSlides/_rels/notesSlide10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6.xml"/></Relationships>
</file>

<file path=ppt/notesSlides/_rels/notesSlide10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7.xml"/></Relationships>
</file>

<file path=ppt/notesSlides/_rels/notesSlide10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8.xml"/></Relationships>
</file>

<file path=ppt/notesSlides/_rels/notesSlide10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9.xml"/></Relationships>
</file>

<file path=ppt/notesSlides/_rels/notesSlide10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0.xml"/></Relationships>
</file>

<file path=ppt/notesSlides/_rels/notesSlide10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1.xml"/></Relationships>
</file>

<file path=ppt/notesSlides/_rels/notesSlide10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3.xml"/></Relationships>
</file>

<file path=ppt/notesSlides/_rels/notesSlide10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5.xml"/></Relationships>
</file>

<file path=ppt/notesSlides/_rels/notesSlide10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7.xml"/></Relationships>
</file>

<file path=ppt/notesSlides/_rels/notesSlide10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8.xml"/></Relationships>
</file>

<file path=ppt/notesSlides/_rels/notesSlide10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9.xml"/></Relationships>
</file>

<file path=ppt/notesSlides/_rels/notesSlide10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0.xml"/></Relationships>
</file>

<file path=ppt/notesSlides/_rels/notesSlide10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1.xml"/></Relationships>
</file>

<file path=ppt/notesSlides/_rels/notesSlide10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3.xml"/></Relationships>
</file>

<file path=ppt/notesSlides/_rels/notesSlide10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5.xml"/></Relationships>
</file>

<file path=ppt/notesSlides/_rels/notesSlide10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6.xml"/></Relationships>
</file>

<file path=ppt/notesSlides/_rels/notesSlide1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7.xml"/></Relationships>
</file>

<file path=ppt/notesSlides/_rels/notesSlide1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8.xml"/></Relationships>
</file>

<file path=ppt/notesSlides/_rels/notesSlide1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9.xml"/></Relationships>
</file>

<file path=ppt/notesSlides/_rels/notesSlide1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0.xml"/></Relationships>
</file>

<file path=ppt/notesSlides/_rels/notesSlide1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1.xml"/></Relationships>
</file>

<file path=ppt/notesSlides/_rels/notesSlide1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2.xml"/></Relationships>
</file>

<file path=ppt/notesSlides/_rels/notesSlide1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3.xml"/></Relationships>
</file>

<file path=ppt/notesSlides/_rels/notesSlide1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4.xml"/></Relationships>
</file>

<file path=ppt/notesSlides/_rels/notesSlide1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5.xml"/></Relationships>
</file>

<file path=ppt/notesSlides/_rels/notesSlide1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6.xml"/></Relationships>
</file>

<file path=ppt/notesSlides/_rels/notesSlide1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7.xml"/></Relationships>
</file>

<file path=ppt/notesSlides/_rels/notesSlide1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8.xml"/></Relationships>
</file>

<file path=ppt/notesSlides/_rels/notesSlide1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9.xml"/></Relationships>
</file>

<file path=ppt/notesSlides/_rels/notesSlide1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0.xml"/></Relationships>
</file>

<file path=ppt/notesSlides/_rels/notesSlide1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1.xml"/></Relationships>
</file>

<file path=ppt/notesSlides/_rels/notesSlide1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3.xml"/></Relationships>
</file>

<file path=ppt/notesSlides/_rels/notesSlide1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5.xml"/></Relationships>
</file>

<file path=ppt/notesSlides/_rels/notesSlide1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7.xml"/></Relationships>
</file>

<file path=ppt/notesSlides/_rels/notesSlide1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8.xml"/></Relationships>
</file>

<file path=ppt/notesSlides/_rels/notesSlide1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9.xml"/></Relationships>
</file>

<file path=ppt/notesSlides/_rels/notesSlide1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0.xml"/></Relationships>
</file>

<file path=ppt/notesSlides/_rels/notesSlide1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1.xml"/></Relationships>
</file>

<file path=ppt/notesSlides/_rels/notesSlide1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3.xml"/></Relationships>
</file>

<file path=ppt/notesSlides/_rels/notesSlide1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5.xml"/></Relationships>
</file>

<file path=ppt/notesSlides/_rels/notesSlide1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6.xml"/></Relationships>
</file>

<file path=ppt/notesSlides/_rels/notesSlide1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7.xml"/></Relationships>
</file>

<file path=ppt/notesSlides/_rels/notesSlide1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8.xml"/></Relationships>
</file>

<file path=ppt/notesSlides/_rels/notesSlide1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9.xml"/></Relationships>
</file>

<file path=ppt/notesSlides/_rels/notesSlide1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0.xml"/></Relationships>
</file>

<file path=ppt/notesSlides/_rels/notesSlide1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1.xml"/></Relationships>
</file>

<file path=ppt/notesSlides/_rels/notesSlide1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2.xml"/></Relationships>
</file>

<file path=ppt/notesSlides/_rels/notesSlide1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3.xml"/></Relationships>
</file>

<file path=ppt/notesSlides/_rels/notesSlide1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4.xml"/></Relationships>
</file>

<file path=ppt/notesSlides/_rels/notesSlide1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5.xml"/></Relationships>
</file>

<file path=ppt/notesSlides/_rels/notesSlide1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6.xml"/></Relationships>
</file>

<file path=ppt/notesSlides/_rels/notesSlide1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7.xml"/></Relationships>
</file>

<file path=ppt/notesSlides/_rels/notesSlide1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8.xml"/></Relationships>
</file>

<file path=ppt/notesSlides/_rels/notesSlide1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9.xml"/></Relationships>
</file>

<file path=ppt/notesSlides/_rels/notesSlide1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0.xml"/></Relationships>
</file>

<file path=ppt/notesSlides/_rels/notesSlide1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1.xml"/></Relationships>
</file>

<file path=ppt/notesSlides/_rels/notesSlide1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3.xml"/></Relationships>
</file>

<file path=ppt/notesSlides/_rels/notesSlide1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5.xml"/></Relationships>
</file>

<file path=ppt/notesSlides/_rels/notesSlide1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7.xml"/></Relationships>
</file>

<file path=ppt/notesSlides/_rels/notesSlide1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8.xml"/></Relationships>
</file>

<file path=ppt/notesSlides/_rels/notesSlide1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9.xml"/></Relationships>
</file>

<file path=ppt/notesSlides/_rels/notesSlide1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0.xml"/></Relationships>
</file>

<file path=ppt/notesSlides/_rels/notesSlide1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1.xml"/></Relationships>
</file>

<file path=ppt/notesSlides/_rels/notesSlide1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3.xml"/></Relationships>
</file>

<file path=ppt/notesSlides/_rels/notesSlide1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5.xml"/></Relationships>
</file>

<file path=ppt/notesSlides/_rels/notesSlide1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6.xml"/></Relationships>
</file>

<file path=ppt/notesSlides/_rels/notesSlide1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7.xml"/></Relationships>
</file>

<file path=ppt/notesSlides/_rels/notesSlide1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8.xml"/></Relationships>
</file>

<file path=ppt/notesSlides/_rels/notesSlide1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9.xml"/></Relationships>
</file>

<file path=ppt/notesSlides/_rels/notesSlide1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0.xml"/></Relationships>
</file>

<file path=ppt/notesSlides/_rels/notesSlide1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1.xml"/></Relationships>
</file>

<file path=ppt/notesSlides/_rels/notesSlide1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2.xml"/></Relationships>
</file>

<file path=ppt/notesSlides/_rels/notesSlide1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3.xml"/></Relationships>
</file>

<file path=ppt/notesSlides/_rels/notesSlide1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4.xml"/></Relationships>
</file>

<file path=ppt/notesSlides/_rels/notesSlide1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5.xml"/></Relationships>
</file>

<file path=ppt/notesSlides/_rels/notesSlide1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6.xml"/></Relationships>
</file>

<file path=ppt/notesSlides/_rels/notesSlide1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7.xml"/></Relationships>
</file>

<file path=ppt/notesSlides/_rels/notesSlide1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8.xml"/></Relationships>
</file>

<file path=ppt/notesSlides/_rels/notesSlide1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9.xml"/></Relationships>
</file>

<file path=ppt/notesSlides/_rels/notesSlide1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0.xml"/></Relationships>
</file>

<file path=ppt/notesSlides/_rels/notesSlide1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1.xml"/></Relationships>
</file>

<file path=ppt/notesSlides/_rels/notesSlide1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3.xml"/></Relationships>
</file>

<file path=ppt/notesSlides/_rels/notesSlide1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5.xml"/></Relationships>
</file>

<file path=ppt/notesSlides/_rels/notesSlide1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7.xml"/></Relationships>
</file>

<file path=ppt/notesSlides/_rels/notesSlide1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8.xml"/></Relationships>
</file>

<file path=ppt/notesSlides/_rels/notesSlide1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9.xml"/></Relationships>
</file>

<file path=ppt/notesSlides/_rels/notesSlide1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0.xml"/></Relationships>
</file>

<file path=ppt/notesSlides/_rels/notesSlide1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1.xml"/></Relationships>
</file>

<file path=ppt/notesSlides/_rels/notesSlide1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3.xml"/></Relationships>
</file>

<file path=ppt/notesSlides/_rels/notesSlide1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5.xml"/></Relationships>
</file>

<file path=ppt/notesSlides/_rels/notesSlide1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6.xml"/></Relationships>
</file>

<file path=ppt/notesSlides/_rels/notesSlide1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7.xml"/></Relationships>
</file>

<file path=ppt/notesSlides/_rels/notesSlide1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8.xml"/></Relationships>
</file>

<file path=ppt/notesSlides/_rels/notesSlide1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9.xml"/></Relationships>
</file>

<file path=ppt/notesSlides/_rels/notesSlide1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0.xml"/></Relationships>
</file>

<file path=ppt/notesSlides/_rels/notesSlide1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1.xml"/></Relationships>
</file>

<file path=ppt/notesSlides/_rels/notesSlide1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2.xml"/></Relationships>
</file>

<file path=ppt/notesSlides/_rels/notesSlide1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3.xml"/></Relationships>
</file>

<file path=ppt/notesSlides/_rels/notesSlide1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4.xml"/></Relationships>
</file>

<file path=ppt/notesSlides/_rels/notesSlide1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5.xml"/></Relationships>
</file>

<file path=ppt/notesSlides/_rels/notesSlide1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6.xml"/></Relationships>
</file>

<file path=ppt/notesSlides/_rels/notesSlide1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7.xml"/></Relationships>
</file>

<file path=ppt/notesSlides/_rels/notesSlide1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8.xml"/></Relationships>
</file>

<file path=ppt/notesSlides/_rels/notesSlide1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9.xml"/></Relationships>
</file>

<file path=ppt/notesSlides/_rels/notesSlide1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0.xml"/></Relationships>
</file>

<file path=ppt/notesSlides/_rels/notesSlide1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1.xml"/></Relationships>
</file>

<file path=ppt/notesSlides/_rels/notesSlide1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3.xml"/></Relationships>
</file>

<file path=ppt/notesSlides/_rels/notesSlide1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5.xml"/></Relationships>
</file>

<file path=ppt/notesSlides/_rels/notesSlide1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7.xml"/></Relationships>
</file>

<file path=ppt/notesSlides/_rels/notesSlide1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8.xml"/></Relationships>
</file>

<file path=ppt/notesSlides/_rels/notesSlide1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9.xml"/></Relationships>
</file>

<file path=ppt/notesSlides/_rels/notesSlide1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0.xml"/></Relationships>
</file>

<file path=ppt/notesSlides/_rels/notesSlide1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1.xml"/></Relationships>
</file>

<file path=ppt/notesSlides/_rels/notesSlide1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3.xml"/></Relationships>
</file>

<file path=ppt/notesSlides/_rels/notesSlide1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5.xml"/></Relationships>
</file>

<file path=ppt/notesSlides/_rels/notesSlide1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6.xml"/></Relationships>
</file>

<file path=ppt/notesSlides/_rels/notesSlide1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7.xml"/></Relationships>
</file>

<file path=ppt/notesSlides/_rels/notesSlide1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8.xml"/></Relationships>
</file>

<file path=ppt/notesSlides/_rels/notesSlide1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9.xml"/></Relationships>
</file>

<file path=ppt/notesSlides/_rels/notesSlide1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0.xml"/></Relationships>
</file>

<file path=ppt/notesSlides/_rels/notesSlide1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1.xml"/></Relationships>
</file>

<file path=ppt/notesSlides/_rels/notesSlide1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2.xml"/></Relationships>
</file>

<file path=ppt/notesSlides/_rels/notesSlide1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3.xml"/></Relationships>
</file>

<file path=ppt/notesSlides/_rels/notesSlide1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4.xml"/></Relationships>
</file>

<file path=ppt/notesSlides/_rels/notesSlide1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5.xml"/></Relationships>
</file>

<file path=ppt/notesSlides/_rels/notesSlide1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6.xml"/></Relationships>
</file>

<file path=ppt/notesSlides/_rels/notesSlide1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7.xml"/></Relationships>
</file>

<file path=ppt/notesSlides/_rels/notesSlide1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8.xml"/></Relationships>
</file>

<file path=ppt/notesSlides/_rels/notesSlide1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9.xml"/></Relationships>
</file>

<file path=ppt/notesSlides/_rels/notesSlide1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0.xml"/></Relationships>
</file>

<file path=ppt/notesSlides/_rels/notesSlide1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1.xml"/></Relationships>
</file>

<file path=ppt/notesSlides/_rels/notesSlide1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3.xml"/></Relationships>
</file>

<file path=ppt/notesSlides/_rels/notesSlide1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5.xml"/></Relationships>
</file>

<file path=ppt/notesSlides/_rels/notesSlide1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7.xml"/></Relationships>
</file>

<file path=ppt/notesSlides/_rels/notesSlide1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8.xml"/></Relationships>
</file>

<file path=ppt/notesSlides/_rels/notesSlide1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9.xml"/></Relationships>
</file>

<file path=ppt/notesSlides/_rels/notesSlide1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0.xml"/></Relationships>
</file>

<file path=ppt/notesSlides/_rels/notesSlide1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1.xml"/></Relationships>
</file>

<file path=ppt/notesSlides/_rels/notesSlide1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3.xml"/></Relationships>
</file>

<file path=ppt/notesSlides/_rels/notesSlide1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5.xml"/></Relationships>
</file>

<file path=ppt/notesSlides/_rels/notesSlide1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6.xml"/></Relationships>
</file>

<file path=ppt/notesSlides/_rels/notesSlide1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7.xml"/></Relationships>
</file>

<file path=ppt/notesSlides/_rels/notesSlide1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8.xml"/></Relationships>
</file>

<file path=ppt/notesSlides/_rels/notesSlide1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9.xml"/></Relationships>
</file>

<file path=ppt/notesSlides/_rels/notesSlide1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0.xml"/></Relationships>
</file>

<file path=ppt/notesSlides/_rels/notesSlide1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1.xml"/></Relationships>
</file>

<file path=ppt/notesSlides/_rels/notesSlide1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2.xml"/></Relationships>
</file>

<file path=ppt/notesSlides/_rels/notesSlide1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3.xml"/></Relationships>
</file>

<file path=ppt/notesSlides/_rels/notesSlide12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4.xml"/></Relationships>
</file>

<file path=ppt/notesSlides/_rels/notesSlide1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5.xml"/></Relationships>
</file>

<file path=ppt/notesSlides/_rels/notesSlide1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6.xml"/></Relationships>
</file>

<file path=ppt/notesSlides/_rels/notesSlide12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7.xml"/></Relationships>
</file>

<file path=ppt/notesSlides/_rels/notesSlide12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8.xml"/></Relationships>
</file>

<file path=ppt/notesSlides/_rels/notesSlide12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9.xml"/></Relationships>
</file>

<file path=ppt/notesSlides/_rels/notesSlide12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0.xml"/></Relationships>
</file>

<file path=ppt/notesSlides/_rels/notesSlide12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1.xml"/></Relationships>
</file>

<file path=ppt/notesSlides/_rels/notesSlide12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3.xml"/></Relationships>
</file>

<file path=ppt/notesSlides/_rels/notesSlide12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5.xml"/></Relationships>
</file>

<file path=ppt/notesSlides/_rels/notesSlide12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7.xml"/></Relationships>
</file>

<file path=ppt/notesSlides/_rels/notesSlide12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8.xml"/></Relationships>
</file>

<file path=ppt/notesSlides/_rels/notesSlide12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9.xml"/></Relationships>
</file>

<file path=ppt/notesSlides/_rels/notesSlide12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0.xml"/></Relationships>
</file>

<file path=ppt/notesSlides/_rels/notesSlide12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1.xml"/></Relationships>
</file>

<file path=ppt/notesSlides/_rels/notesSlide12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3.xml"/></Relationships>
</file>

<file path=ppt/notesSlides/_rels/notesSlide12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5.xml"/></Relationships>
</file>

<file path=ppt/notesSlides/_rels/notesSlide12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6.xml"/></Relationships>
</file>

<file path=ppt/notesSlides/_rels/notesSlide12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7.xml"/></Relationships>
</file>

<file path=ppt/notesSlides/_rels/notesSlide12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8.xml"/></Relationships>
</file>

<file path=ppt/notesSlides/_rels/notesSlide12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9.xml"/></Relationships>
</file>

<file path=ppt/notesSlides/_rels/notesSlide12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0.xml"/></Relationships>
</file>

<file path=ppt/notesSlides/_rels/notesSlide12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1.xml"/></Relationships>
</file>

<file path=ppt/notesSlides/_rels/notesSlide12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2.xml"/></Relationships>
</file>

<file path=ppt/notesSlides/_rels/notesSlide12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3.xml"/></Relationships>
</file>

<file path=ppt/notesSlides/_rels/notesSlide12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4.xml"/></Relationships>
</file>

<file path=ppt/notesSlides/_rels/notesSlide12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5.xml"/></Relationships>
</file>

<file path=ppt/notesSlides/_rels/notesSlide12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6.xml"/></Relationships>
</file>

<file path=ppt/notesSlides/_rels/notesSlide12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7.xml"/></Relationships>
</file>

<file path=ppt/notesSlides/_rels/notesSlide12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8.xml"/></Relationships>
</file>

<file path=ppt/notesSlides/_rels/notesSlide12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9.xml"/></Relationships>
</file>

<file path=ppt/notesSlides/_rels/notesSlide12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0.xml"/></Relationships>
</file>

<file path=ppt/notesSlides/_rels/notesSlide12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1.xml"/></Relationships>
</file>

<file path=ppt/notesSlides/_rels/notesSlide12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3.xml"/></Relationships>
</file>

<file path=ppt/notesSlides/_rels/notesSlide12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5.xml"/></Relationships>
</file>

<file path=ppt/notesSlides/_rels/notesSlide12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7.xml"/></Relationships>
</file>

<file path=ppt/notesSlides/_rels/notesSlide12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8.xml"/></Relationships>
</file>

<file path=ppt/notesSlides/_rels/notesSlide12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9.xml"/></Relationships>
</file>

<file path=ppt/notesSlides/_rels/notesSlide12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0.xml"/></Relationships>
</file>

<file path=ppt/notesSlides/_rels/notesSlide12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1.xml"/></Relationships>
</file>

<file path=ppt/notesSlides/_rels/notesSlide12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3.xml"/></Relationships>
</file>

<file path=ppt/notesSlides/_rels/notesSlide13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5.xml"/></Relationships>
</file>

<file path=ppt/notesSlides/_rels/notesSlide13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6.xml"/></Relationships>
</file>

<file path=ppt/notesSlides/_rels/notesSlide13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7.xml"/></Relationships>
</file>

<file path=ppt/notesSlides/_rels/notesSlide13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8.xml"/></Relationships>
</file>

<file path=ppt/notesSlides/_rels/notesSlide13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9.xml"/></Relationships>
</file>

<file path=ppt/notesSlides/_rels/notesSlide13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0.xml"/></Relationships>
</file>

<file path=ppt/notesSlides/_rels/notesSlide13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1.xml"/></Relationships>
</file>

<file path=ppt/notesSlides/_rels/notesSlide13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2.xml"/></Relationships>
</file>

<file path=ppt/notesSlides/_rels/notesSlide13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3.xml"/></Relationships>
</file>

<file path=ppt/notesSlides/_rels/notesSlide13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4.xml"/></Relationships>
</file>

<file path=ppt/notesSlides/_rels/notesSlide13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5.xml"/></Relationships>
</file>

<file path=ppt/notesSlides/_rels/notesSlide13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6.xml"/></Relationships>
</file>

<file path=ppt/notesSlides/_rels/notesSlide13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7.xml"/></Relationships>
</file>

<file path=ppt/notesSlides/_rels/notesSlide13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8.xml"/></Relationships>
</file>

<file path=ppt/notesSlides/_rels/notesSlide13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9.xml"/></Relationships>
</file>

<file path=ppt/notesSlides/_rels/notesSlide13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0.xml"/></Relationships>
</file>

<file path=ppt/notesSlides/_rels/notesSlide13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1.xml"/></Relationships>
</file>

<file path=ppt/notesSlides/_rels/notesSlide13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3.xml"/></Relationships>
</file>

<file path=ppt/notesSlides/_rels/notesSlide13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5.xml"/></Relationships>
</file>

<file path=ppt/notesSlides/_rels/notesSlide13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7.xml"/></Relationships>
</file>

<file path=ppt/notesSlides/_rels/notesSlide13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8.xml"/></Relationships>
</file>

<file path=ppt/notesSlides/_rels/notesSlide13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9.xml"/></Relationships>
</file>

<file path=ppt/notesSlides/_rels/notesSlide13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0.xml"/></Relationships>
</file>

<file path=ppt/notesSlides/_rels/notesSlide13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1.xml"/></Relationships>
</file>

<file path=ppt/notesSlides/_rels/notesSlide13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3.xml"/></Relationships>
</file>

<file path=ppt/notesSlides/_rels/notesSlide13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5.xml"/></Relationships>
</file>

<file path=ppt/notesSlides/_rels/notesSlide13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6.xml"/></Relationships>
</file>

<file path=ppt/notesSlides/_rels/notesSlide13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7.xml"/></Relationships>
</file>

<file path=ppt/notesSlides/_rels/notesSlide13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8.xml"/></Relationships>
</file>

<file path=ppt/notesSlides/_rels/notesSlide13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9.xml"/></Relationships>
</file>

<file path=ppt/notesSlides/_rels/notesSlide13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0.xml"/></Relationships>
</file>

<file path=ppt/notesSlides/_rels/notesSlide13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1.xml"/></Relationships>
</file>

<file path=ppt/notesSlides/_rels/notesSlide13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2.xml"/></Relationships>
</file>

<file path=ppt/notesSlides/_rels/notesSlide13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3.xml"/></Relationships>
</file>

<file path=ppt/notesSlides/_rels/notesSlide13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4.xml"/></Relationships>
</file>

<file path=ppt/notesSlides/_rels/notesSlide13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5.xml"/></Relationships>
</file>

<file path=ppt/notesSlides/_rels/notesSlide13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6.xml"/></Relationships>
</file>

<file path=ppt/notesSlides/_rels/notesSlide13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7.xml"/></Relationships>
</file>

<file path=ppt/notesSlides/_rels/notesSlide13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8.xml"/></Relationships>
</file>

<file path=ppt/notesSlides/_rels/notesSlide13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9.xml"/></Relationships>
</file>

<file path=ppt/notesSlides/_rels/notesSlide13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0.xml"/></Relationships>
</file>

<file path=ppt/notesSlides/_rels/notesSlide13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1.xml"/></Relationships>
</file>

<file path=ppt/notesSlides/_rels/notesSlide13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3.xml"/></Relationships>
</file>

<file path=ppt/notesSlides/_rels/notesSlide13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5.xml"/></Relationships>
</file>

<file path=ppt/notesSlides/_rels/notesSlide13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7.xml"/></Relationships>
</file>

<file path=ppt/notesSlides/_rels/notesSlide13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8.xml"/></Relationships>
</file>

<file path=ppt/notesSlides/_rels/notesSlide13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9.xml"/></Relationships>
</file>

<file path=ppt/notesSlides/_rels/notesSlide13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0.xml"/></Relationships>
</file>

<file path=ppt/notesSlides/_rels/notesSlide13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1.xml"/></Relationships>
</file>

<file path=ppt/notesSlides/_rels/notesSlide13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3.xml"/></Relationships>
</file>

<file path=ppt/notesSlides/_rels/notesSlide13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5.xml"/></Relationships>
</file>

<file path=ppt/notesSlides/_rels/notesSlide13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6.xml"/></Relationships>
</file>

<file path=ppt/notesSlides/_rels/notesSlide13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7.xml"/></Relationships>
</file>

<file path=ppt/notesSlides/_rels/notesSlide13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8.xml"/></Relationships>
</file>

<file path=ppt/notesSlides/_rels/notesSlide13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9.xml"/></Relationships>
</file>

<file path=ppt/notesSlides/_rels/notesSlide13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0.xml"/></Relationships>
</file>

<file path=ppt/notesSlides/_rels/notesSlide13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1.xml"/></Relationships>
</file>

<file path=ppt/notesSlides/_rels/notesSlide13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2.xml"/></Relationships>
</file>

<file path=ppt/notesSlides/_rels/notesSlide13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3.xml"/></Relationships>
</file>

<file path=ppt/notesSlides/_rels/notesSlide13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4.xml"/></Relationships>
</file>

<file path=ppt/notesSlides/_rels/notesSlide13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5.xml"/></Relationships>
</file>

<file path=ppt/notesSlides/_rels/notesSlide13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6.xml"/></Relationships>
</file>

<file path=ppt/notesSlides/_rels/notesSlide13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7.xml"/></Relationships>
</file>

<file path=ppt/notesSlides/_rels/notesSlide13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8.xml"/></Relationships>
</file>

<file path=ppt/notesSlides/_rels/notesSlide13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9.xml"/></Relationships>
</file>

<file path=ppt/notesSlides/_rels/notesSlide13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0.xml"/></Relationships>
</file>

<file path=ppt/notesSlides/_rels/notesSlide13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1.xml"/></Relationships>
</file>

<file path=ppt/notesSlides/_rels/notesSlide13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3.xml"/></Relationships>
</file>

<file path=ppt/notesSlides/_rels/notesSlide13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5.xml"/></Relationships>
</file>

<file path=ppt/notesSlides/_rels/notesSlide13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7.xml"/></Relationships>
</file>

<file path=ppt/notesSlides/_rels/notesSlide13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8.xml"/></Relationships>
</file>

<file path=ppt/notesSlides/_rels/notesSlide13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9.xml"/></Relationships>
</file>

<file path=ppt/notesSlides/_rels/notesSlide13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0.xml"/></Relationships>
</file>

<file path=ppt/notesSlides/_rels/notesSlide13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1.xml"/></Relationships>
</file>

<file path=ppt/notesSlides/_rels/notesSlide13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3.xml"/></Relationships>
</file>

<file path=ppt/notesSlides/_rels/notesSlide13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5.xml"/></Relationships>
</file>

<file path=ppt/notesSlides/_rels/notesSlide13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6.xml"/></Relationships>
</file>

<file path=ppt/notesSlides/_rels/notesSlide13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7.xml"/></Relationships>
</file>

<file path=ppt/notesSlides/_rels/notesSlide13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8.xml"/></Relationships>
</file>

<file path=ppt/notesSlides/_rels/notesSlide13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9.xml"/></Relationships>
</file>

<file path=ppt/notesSlides/_rels/notesSlide13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0.xml"/></Relationships>
</file>

<file path=ppt/notesSlides/_rels/notesSlide13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1.xml"/></Relationships>
</file>

<file path=ppt/notesSlides/_rels/notesSlide13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2.xml"/></Relationships>
</file>

<file path=ppt/notesSlides/_rels/notesSlide13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3.xml"/></Relationships>
</file>

<file path=ppt/notesSlides/_rels/notesSlide13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4.xml"/></Relationships>
</file>

<file path=ppt/notesSlides/_rels/notesSlide13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5.xml"/></Relationships>
</file>

<file path=ppt/notesSlides/_rels/notesSlide13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6.xml"/></Relationships>
</file>

<file path=ppt/notesSlides/_rels/notesSlide14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7.xml"/></Relationships>
</file>

<file path=ppt/notesSlides/_rels/notesSlide14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8.xml"/></Relationships>
</file>

<file path=ppt/notesSlides/_rels/notesSlide14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9.xml"/></Relationships>
</file>

<file path=ppt/notesSlides/_rels/notesSlide14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0.xml"/></Relationships>
</file>

<file path=ppt/notesSlides/_rels/notesSlide14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1.xml"/></Relationships>
</file>

<file path=ppt/notesSlides/_rels/notesSlide14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3.xml"/></Relationships>
</file>

<file path=ppt/notesSlides/_rels/notesSlide14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5.xml"/></Relationships>
</file>

<file path=ppt/notesSlides/_rels/notesSlide14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7.xml"/></Relationships>
</file>

<file path=ppt/notesSlides/_rels/notesSlide14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8.xml"/></Relationships>
</file>

<file path=ppt/notesSlides/_rels/notesSlide14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9.xml"/></Relationships>
</file>

<file path=ppt/notesSlides/_rels/notesSlide14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0.xml"/></Relationships>
</file>

<file path=ppt/notesSlides/_rels/notesSlide14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1.xml"/></Relationships>
</file>

<file path=ppt/notesSlides/_rels/notesSlide14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3.xml"/></Relationships>
</file>

<file path=ppt/notesSlides/_rels/notesSlide14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5.xml"/></Relationships>
</file>

<file path=ppt/notesSlides/_rels/notesSlide14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6.xml"/></Relationships>
</file>

<file path=ppt/notesSlides/_rels/notesSlide14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7.xml"/></Relationships>
</file>

<file path=ppt/notesSlides/_rels/notesSlide14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8.xml"/></Relationships>
</file>

<file path=ppt/notesSlides/_rels/notesSlide14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9.xml"/></Relationships>
</file>

<file path=ppt/notesSlides/_rels/notesSlide14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0.xml"/></Relationships>
</file>

<file path=ppt/notesSlides/_rels/notesSlide14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1.xml"/></Relationships>
</file>

<file path=ppt/notesSlides/_rels/notesSlide14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2.xml"/></Relationships>
</file>

<file path=ppt/notesSlides/_rels/notesSlide14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3.xml"/></Relationships>
</file>

<file path=ppt/notesSlides/_rels/notesSlide14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4.xml"/></Relationships>
</file>

<file path=ppt/notesSlides/_rels/notesSlide14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5.xml"/></Relationships>
</file>

<file path=ppt/notesSlides/_rels/notesSlide14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6.xml"/></Relationships>
</file>

<file path=ppt/notesSlides/_rels/notesSlide14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7.xml"/></Relationships>
</file>

<file path=ppt/notesSlides/_rels/notesSlide14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8.xml"/></Relationships>
</file>

<file path=ppt/notesSlides/_rels/notesSlide14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9.xml"/></Relationships>
</file>

<file path=ppt/notesSlides/_rels/notesSlide14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0.xml"/></Relationships>
</file>

<file path=ppt/notesSlides/_rels/notesSlide14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1.xml"/></Relationships>
</file>

<file path=ppt/notesSlides/_rels/notesSlide14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3.xml"/></Relationships>
</file>

<file path=ppt/notesSlides/_rels/notesSlide14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5.xml"/></Relationships>
</file>

<file path=ppt/notesSlides/_rels/notesSlide14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7.xml"/></Relationships>
</file>

<file path=ppt/notesSlides/_rels/notesSlide14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8.xml"/></Relationships>
</file>

<file path=ppt/notesSlides/_rels/notesSlide14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9.xml"/></Relationships>
</file>

<file path=ppt/notesSlides/_rels/notesSlide14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0.xml"/></Relationships>
</file>

<file path=ppt/notesSlides/_rels/notesSlide14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1.xml"/></Relationships>
</file>

<file path=ppt/notesSlides/_rels/notesSlide14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3.xml"/></Relationships>
</file>

<file path=ppt/notesSlides/_rels/notesSlide14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5.xml"/></Relationships>
</file>

<file path=ppt/notesSlides/_rels/notesSlide14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6.xml"/></Relationships>
</file>

<file path=ppt/notesSlides/_rels/notesSlide14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7.xml"/></Relationships>
</file>

<file path=ppt/notesSlides/_rels/notesSlide14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8.xml"/></Relationships>
</file>

<file path=ppt/notesSlides/_rels/notesSlide14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9.xml"/></Relationships>
</file>

<file path=ppt/notesSlides/_rels/notesSlide14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0.xml"/></Relationships>
</file>

<file path=ppt/notesSlides/_rels/notesSlide14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1.xml"/></Relationships>
</file>

<file path=ppt/notesSlides/_rels/notesSlide14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2.xml"/></Relationships>
</file>

<file path=ppt/notesSlides/_rels/notesSlide14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3.xml"/></Relationships>
</file>

<file path=ppt/notesSlides/_rels/notesSlide14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4.xml"/></Relationships>
</file>

<file path=ppt/notesSlides/_rels/notesSlide14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5.xml"/></Relationships>
</file>

<file path=ppt/notesSlides/_rels/notesSlide14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6.xml"/></Relationships>
</file>

<file path=ppt/notesSlides/_rels/notesSlide14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7.xml"/></Relationships>
</file>

<file path=ppt/notesSlides/_rels/notesSlide14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8.xml"/></Relationships>
</file>

<file path=ppt/notesSlides/_rels/notesSlide14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9.xml"/></Relationships>
</file>

<file path=ppt/notesSlides/_rels/notesSlide14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0.xml"/></Relationships>
</file>

<file path=ppt/notesSlides/_rels/notesSlide14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1.xml"/></Relationships>
</file>

<file path=ppt/notesSlides/_rels/notesSlide14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3.xml"/></Relationships>
</file>

<file path=ppt/notesSlides/_rels/notesSlide14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5.xml"/></Relationships>
</file>

<file path=ppt/notesSlides/_rels/notesSlide14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7.xml"/></Relationships>
</file>

<file path=ppt/notesSlides/_rels/notesSlide14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8.xml"/></Relationships>
</file>

<file path=ppt/notesSlides/_rels/notesSlide14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9.xml"/></Relationships>
</file>

<file path=ppt/notesSlides/_rels/notesSlide14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0.xml"/></Relationships>
</file>

<file path=ppt/notesSlides/_rels/notesSlide14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1.xml"/></Relationships>
</file>

<file path=ppt/notesSlides/_rels/notesSlide14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3.xml"/></Relationships>
</file>

<file path=ppt/notesSlides/_rels/notesSlide14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5.xml"/></Relationships>
</file>

<file path=ppt/notesSlides/_rels/notesSlide14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6.xml"/></Relationships>
</file>

<file path=ppt/notesSlides/_rels/notesSlide14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7.xml"/></Relationships>
</file>

<file path=ppt/notesSlides/_rels/notesSlide14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8.xml"/></Relationships>
</file>

<file path=ppt/notesSlides/_rels/notesSlide14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9.xml"/></Relationships>
</file>

<file path=ppt/notesSlides/_rels/notesSlide14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0.xml"/></Relationships>
</file>

<file path=ppt/notesSlides/_rels/notesSlide14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1.xml"/></Relationships>
</file>

<file path=ppt/notesSlides/_rels/notesSlide14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2.xml"/></Relationships>
</file>

<file path=ppt/notesSlides/_rels/notesSlide14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3.xml"/></Relationships>
</file>

<file path=ppt/notesSlides/_rels/notesSlide14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4.xml"/></Relationships>
</file>

<file path=ppt/notesSlides/_rels/notesSlide14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5.xml"/></Relationships>
</file>

<file path=ppt/notesSlides/_rels/notesSlide14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6.xml"/></Relationships>
</file>

<file path=ppt/notesSlides/_rels/notesSlide14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7.xml"/></Relationships>
</file>

<file path=ppt/notesSlides/_rels/notesSlide14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8.xml"/></Relationships>
</file>

<file path=ppt/notesSlides/_rels/notesSlide14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9.xml"/></Relationships>
</file>

<file path=ppt/notesSlides/_rels/notesSlide14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0.xml"/></Relationships>
</file>

<file path=ppt/notesSlides/_rels/notesSlide14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1.xml"/></Relationships>
</file>

<file path=ppt/notesSlides/_rels/notesSlide14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3.xml"/></Relationships>
</file>

<file path=ppt/notesSlides/_rels/notesSlide14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5.xml"/></Relationships>
</file>

<file path=ppt/notesSlides/_rels/notesSlide14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7.xml"/></Relationships>
</file>

<file path=ppt/notesSlides/_rels/notesSlide14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8.xml"/></Relationships>
</file>

<file path=ppt/notesSlides/_rels/notesSlide14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9.xml"/></Relationships>
</file>

<file path=ppt/notesSlides/_rels/notesSlide14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0.xml"/></Relationships>
</file>

<file path=ppt/notesSlides/_rels/notesSlide15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1.xml"/></Relationships>
</file>

<file path=ppt/notesSlides/_rels/notesSlide15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3.xml"/></Relationships>
</file>

<file path=ppt/notesSlides/_rels/notesSlide15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5.xml"/></Relationships>
</file>

<file path=ppt/notesSlides/_rels/notesSlide15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6.xml"/></Relationships>
</file>

<file path=ppt/notesSlides/_rels/notesSlide15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7.xml"/></Relationships>
</file>

<file path=ppt/notesSlides/_rels/notesSlide15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8.xml"/></Relationships>
</file>

<file path=ppt/notesSlides/_rels/notesSlide15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9.xml"/></Relationships>
</file>

<file path=ppt/notesSlides/_rels/notesSlide15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0.xml"/></Relationships>
</file>

<file path=ppt/notesSlides/_rels/notesSlide15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1.xml"/></Relationships>
</file>

<file path=ppt/notesSlides/_rels/notesSlide15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2.xml"/></Relationships>
</file>

<file path=ppt/notesSlides/_rels/notesSlide15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3.xml"/></Relationships>
</file>

<file path=ppt/notesSlides/_rels/notesSlide15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4.xml"/></Relationships>
</file>

<file path=ppt/notesSlides/_rels/notesSlide15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5.xml"/></Relationships>
</file>

<file path=ppt/notesSlides/_rels/notesSlide15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6.xml"/></Relationships>
</file>

<file path=ppt/notesSlides/_rels/notesSlide15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7.xml"/></Relationships>
</file>

<file path=ppt/notesSlides/_rels/notesSlide15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8.xml"/></Relationships>
</file>

<file path=ppt/notesSlides/_rels/notesSlide15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9.xml"/></Relationships>
</file>

<file path=ppt/notesSlides/_rels/notesSlide15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0.xml"/></Relationships>
</file>

<file path=ppt/notesSlides/_rels/notesSlide15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1.xml"/></Relationships>
</file>

<file path=ppt/notesSlides/_rels/notesSlide15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3.xml"/></Relationships>
</file>

<file path=ppt/notesSlides/_rels/notesSlide15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5.xml"/></Relationships>
</file>

<file path=ppt/notesSlides/_rels/notesSlide15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7.xml"/></Relationships>
</file>

<file path=ppt/notesSlides/_rels/notesSlide15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8.xml"/></Relationships>
</file>

<file path=ppt/notesSlides/_rels/notesSlide15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9.xml"/></Relationships>
</file>

<file path=ppt/notesSlides/_rels/notesSlide15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0.xml"/></Relationships>
</file>

<file path=ppt/notesSlides/_rels/notesSlide15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1.xml"/></Relationships>
</file>

<file path=ppt/notesSlides/_rels/notesSlide15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3.xml"/></Relationships>
</file>

<file path=ppt/notesSlides/_rels/notesSlide15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5.xml"/></Relationships>
</file>

<file path=ppt/notesSlides/_rels/notesSlide15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6.xml"/></Relationships>
</file>

<file path=ppt/notesSlides/_rels/notesSlide15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7.xml"/></Relationships>
</file>

<file path=ppt/notesSlides/_rels/notesSlide15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8.xml"/></Relationships>
</file>

<file path=ppt/notesSlides/_rels/notesSlide15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9.xml"/></Relationships>
</file>

<file path=ppt/notesSlides/_rels/notesSlide15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0.xml"/></Relationships>
</file>

<file path=ppt/notesSlides/_rels/notesSlide15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1.xml"/></Relationships>
</file>

<file path=ppt/notesSlides/_rels/notesSlide15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2.xml"/></Relationships>
</file>

<file path=ppt/notesSlides/_rels/notesSlide15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3.xml"/></Relationships>
</file>

<file path=ppt/notesSlides/_rels/notesSlide15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4.xml"/></Relationships>
</file>

<file path=ppt/notesSlides/_rels/notesSlide15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5.xml"/></Relationships>
</file>

<file path=ppt/notesSlides/_rels/notesSlide15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6.xml"/></Relationships>
</file>

<file path=ppt/notesSlides/_rels/notesSlide15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7.xml"/></Relationships>
</file>

<file path=ppt/notesSlides/_rels/notesSlide15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8.xml"/></Relationships>
</file>

<file path=ppt/notesSlides/_rels/notesSlide15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9.xml"/></Relationships>
</file>

<file path=ppt/notesSlides/_rels/notesSlide15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0.xml"/></Relationships>
</file>

<file path=ppt/notesSlides/_rels/notesSlide15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1.xml"/></Relationships>
</file>

<file path=ppt/notesSlides/_rels/notesSlide15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3.xml"/></Relationships>
</file>

<file path=ppt/notesSlides/_rels/notesSlide15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5.xml"/></Relationships>
</file>

<file path=ppt/notesSlides/_rels/notesSlide15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7.xml"/></Relationships>
</file>

<file path=ppt/notesSlides/_rels/notesSlide15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8.xml"/></Relationships>
</file>

<file path=ppt/notesSlides/_rels/notesSlide15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9.xml"/></Relationships>
</file>

<file path=ppt/notesSlides/_rels/notesSlide15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0.xml"/></Relationships>
</file>

<file path=ppt/notesSlides/_rels/notesSlide15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1.xml"/></Relationships>
</file>

<file path=ppt/notesSlides/_rels/notesSlide15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3.xml"/></Relationships>
</file>

<file path=ppt/notesSlides/_rels/notesSlide15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5.xml"/></Relationships>
</file>

<file path=ppt/notesSlides/_rels/notesSlide15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6.xml"/></Relationships>
</file>

<file path=ppt/notesSlides/_rels/notesSlide15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7.xml"/></Relationships>
</file>

<file path=ppt/notesSlides/_rels/notesSlide15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8.xml"/></Relationships>
</file>

<file path=ppt/notesSlides/_rels/notesSlide1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9.xml"/></Relationships>
</file>

<file path=ppt/notesSlides/_rels/notesSlide15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0.xml"/></Relationships>
</file>

<file path=ppt/notesSlides/_rels/notesSlide15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1.xml"/></Relationships>
</file>

<file path=ppt/notesSlides/_rels/notesSlide15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2.xml"/></Relationships>
</file>

<file path=ppt/notesSlides/_rels/notesSlide15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3.xml"/></Relationships>
</file>

<file path=ppt/notesSlides/_rels/notesSlide15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4.xml"/></Relationships>
</file>

<file path=ppt/notesSlides/_rels/notesSlide15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5.xml"/></Relationships>
</file>

<file path=ppt/notesSlides/_rels/notesSlide15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6.xml"/></Relationships>
</file>

<file path=ppt/notesSlides/_rels/notesSlide15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7.xml"/></Relationships>
</file>

<file path=ppt/notesSlides/_rels/notesSlide15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8.xml"/></Relationships>
</file>

<file path=ppt/notesSlides/_rels/notesSlide15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9.xml"/></Relationships>
</file>

<file path=ppt/notesSlides/_rels/notesSlide15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0.xml"/></Relationships>
</file>

<file path=ppt/notesSlides/_rels/notesSlide15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1.xml"/></Relationships>
</file>

<file path=ppt/notesSlides/_rels/notesSlide15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3.xml"/></Relationships>
</file>

<file path=ppt/notesSlides/_rels/notesSlide15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5.xml"/></Relationships>
</file>

<file path=ppt/notesSlides/_rels/notesSlide15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7.xml"/></Relationships>
</file>

<file path=ppt/notesSlides/_rels/notesSlide15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8.xml"/></Relationships>
</file>

<file path=ppt/notesSlides/_rels/notesSlide15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9.xml"/></Relationships>
</file>

<file path=ppt/notesSlides/_rels/notesSlide15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0.xml"/></Relationships>
</file>

<file path=ppt/notesSlides/_rels/notesSlide15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1.xml"/></Relationships>
</file>

<file path=ppt/notesSlides/_rels/notesSlide15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3.xml"/></Relationships>
</file>

<file path=ppt/notesSlides/_rels/notesSlide15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5.xml"/></Relationships>
</file>

<file path=ppt/notesSlides/_rels/notesSlide15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6.xml"/></Relationships>
</file>

<file path=ppt/notesSlides/_rels/notesSlide15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7.xml"/></Relationships>
</file>

<file path=ppt/notesSlides/_rels/notesSlide15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8.xml"/></Relationships>
</file>

<file path=ppt/notesSlides/_rels/notesSlide15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9.xml"/></Relationships>
</file>

<file path=ppt/notesSlides/_rels/notesSlide15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0.xml"/></Relationships>
</file>

<file path=ppt/notesSlides/_rels/notesSlide15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1.xml"/></Relationships>
</file>

<file path=ppt/notesSlides/_rels/notesSlide15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2.xml"/></Relationships>
</file>

<file path=ppt/notesSlides/_rels/notesSlide15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3.xml"/></Relationships>
</file>

<file path=ppt/notesSlides/_rels/notesSlide16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4.xml"/></Relationships>
</file>

<file path=ppt/notesSlides/_rels/notesSlide16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5.xml"/></Relationships>
</file>

<file path=ppt/notesSlides/_rels/notesSlide16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6.xml"/></Relationships>
</file>

<file path=ppt/notesSlides/_rels/notesSlide16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7.xml"/></Relationships>
</file>

<file path=ppt/notesSlides/_rels/notesSlide16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8.xml"/></Relationships>
</file>

<file path=ppt/notesSlides/_rels/notesSlide16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9.xml"/></Relationships>
</file>

<file path=ppt/notesSlides/_rels/notesSlide16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0.xml"/></Relationships>
</file>

<file path=ppt/notesSlides/_rels/notesSlide16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1.xml"/></Relationships>
</file>

<file path=ppt/notesSlides/_rels/notesSlide16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3.xml"/></Relationships>
</file>

<file path=ppt/notesSlides/_rels/notesSlide16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5.xml"/></Relationships>
</file>

<file path=ppt/notesSlides/_rels/notesSlide16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7.xml"/></Relationships>
</file>

<file path=ppt/notesSlides/_rels/notesSlide16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8.xml"/></Relationships>
</file>

<file path=ppt/notesSlides/_rels/notesSlide16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9.xml"/></Relationships>
</file>

<file path=ppt/notesSlides/_rels/notesSlide16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0.xml"/></Relationships>
</file>

<file path=ppt/notesSlides/_rels/notesSlide16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1.xml"/></Relationships>
</file>

<file path=ppt/notesSlides/_rels/notesSlide16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3.xml"/></Relationships>
</file>

<file path=ppt/notesSlides/_rels/notesSlide16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5.xml"/></Relationships>
</file>

<file path=ppt/notesSlides/_rels/notesSlide16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6.xml"/></Relationships>
</file>

<file path=ppt/notesSlides/_rels/notesSlide16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7.xml"/></Relationships>
</file>

<file path=ppt/notesSlides/_rels/notesSlide16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8.xml"/></Relationships>
</file>

<file path=ppt/notesSlides/_rels/notesSlide16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9.xml"/></Relationships>
</file>

<file path=ppt/notesSlides/_rels/notesSlide16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0.xml"/></Relationships>
</file>

<file path=ppt/notesSlides/_rels/notesSlide16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1.xml"/></Relationships>
</file>

<file path=ppt/notesSlides/_rels/notesSlide16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2.xml"/></Relationships>
</file>

<file path=ppt/notesSlides/_rels/notesSlide16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3.xml"/></Relationships>
</file>

<file path=ppt/notesSlides/_rels/notesSlide16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4.xml"/></Relationships>
</file>

<file path=ppt/notesSlides/_rels/notesSlide16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5.xml"/></Relationships>
</file>

<file path=ppt/notesSlides/_rels/notesSlide16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6.xml"/></Relationships>
</file>

<file path=ppt/notesSlides/_rels/notesSlide16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7.xml"/></Relationships>
</file>

<file path=ppt/notesSlides/_rels/notesSlide16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8.xml"/></Relationships>
</file>

<file path=ppt/notesSlides/_rels/notesSlide16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9.xml"/></Relationships>
</file>

<file path=ppt/notesSlides/_rels/notesSlide16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0.xml"/></Relationships>
</file>

<file path=ppt/notesSlides/_rels/notesSlide16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1.xml"/></Relationships>
</file>

<file path=ppt/notesSlides/_rels/notesSlide16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3.xml"/></Relationships>
</file>

<file path=ppt/notesSlides/_rels/notesSlide16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5.xml"/></Relationships>
</file>

<file path=ppt/notesSlides/_rels/notesSlide16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7.xml"/></Relationships>
</file>

<file path=ppt/notesSlides/_rels/notesSlide16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8.xml"/></Relationships>
</file>

<file path=ppt/notesSlides/_rels/notesSlide16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9.xml"/></Relationships>
</file>

<file path=ppt/notesSlides/_rels/notesSlide16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0.xml"/></Relationships>
</file>

<file path=ppt/notesSlides/_rels/notesSlide16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1.xml"/></Relationships>
</file>

<file path=ppt/notesSlides/_rels/notesSlide16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3.xml"/></Relationships>
</file>

<file path=ppt/notesSlides/_rels/notesSlide16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5.xml"/></Relationships>
</file>

<file path=ppt/notesSlides/_rels/notesSlide16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6.xml"/></Relationships>
</file>

<file path=ppt/notesSlides/_rels/notesSlide16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7.xml"/></Relationships>
</file>

<file path=ppt/notesSlides/_rels/notesSlide16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8.xml"/></Relationships>
</file>

<file path=ppt/notesSlides/_rels/notesSlide16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9.xml"/></Relationships>
</file>

<file path=ppt/notesSlides/_rels/notesSlide16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0.xml"/></Relationships>
</file>

<file path=ppt/notesSlides/_rels/notesSlide16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1.xml"/></Relationships>
</file>

<file path=ppt/notesSlides/_rels/notesSlide16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2.xml"/></Relationships>
</file>

<file path=ppt/notesSlides/_rels/notesSlide16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3.xml"/></Relationships>
</file>

<file path=ppt/notesSlides/_rels/notesSlide16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4.xml"/></Relationships>
</file>

<file path=ppt/notesSlides/_rels/notesSlide16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5.xml"/></Relationships>
</file>

<file path=ppt/notesSlides/_rels/notesSlide16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6.xml"/></Relationships>
</file>

<file path=ppt/notesSlides/_rels/notesSlide16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7.xml"/></Relationships>
</file>

<file path=ppt/notesSlides/_rels/notesSlide16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8.xml"/></Relationships>
</file>

<file path=ppt/notesSlides/_rels/notesSlide16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9.xml"/></Relationships>
</file>

<file path=ppt/notesSlides/_rels/notesSlide16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0.xml"/></Relationships>
</file>

<file path=ppt/notesSlides/_rels/notesSlide16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1.xml"/></Relationships>
</file>

<file path=ppt/notesSlides/_rels/notesSlide16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3.xml"/></Relationships>
</file>

<file path=ppt/notesSlides/_rels/notesSlide16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5.xml"/></Relationships>
</file>

<file path=ppt/notesSlides/_rels/notesSlide16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6.xml"/></Relationships>
</file>

<file path=ppt/notesSlides/_rels/notesSlide16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8.xml"/></Relationships>
</file>

<file path=ppt/notesSlides/_rels/notesSlide16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9.xml"/></Relationships>
</file>

<file path=ppt/notesSlides/_rels/notesSlide16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0.xml"/></Relationships>
</file>

<file path=ppt/notesSlides/_rels/notesSlide16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1.xml"/></Relationships>
</file>

<file path=ppt/notesSlides/_rels/notesSlide16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2.xml"/></Relationships>
</file>

<file path=ppt/notesSlides/_rels/notesSlide16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3.xml"/></Relationships>
</file>

<file path=ppt/notesSlides/_rels/notesSlide16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4.xml"/></Relationships>
</file>

<file path=ppt/notesSlides/_rels/notesSlide16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5.xml"/></Relationships>
</file>

<file path=ppt/notesSlides/_rels/notesSlide16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6.xml"/></Relationships>
</file>

<file path=ppt/notesSlides/_rels/notesSlide16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7.xml"/></Relationships>
</file>

<file path=ppt/notesSlides/_rels/notesSlide16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8.xml"/></Relationships>
</file>

<file path=ppt/notesSlides/_rels/notesSlide16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9.xml"/></Relationships>
</file>

<file path=ppt/notesSlides/_rels/notesSlide16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1.xml"/></Relationships>
</file>

<file path=ppt/notesSlides/_rels/notesSlide16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2.xml"/></Relationships>
</file>

<file path=ppt/notesSlides/_rels/notesSlide16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3.xml"/></Relationships>
</file>

<file path=ppt/notesSlides/_rels/notesSlide16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4.xml"/></Relationships>
</file>

<file path=ppt/notesSlides/_rels/notesSlide16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6.xml"/></Relationships>
</file>

<file path=ppt/notesSlides/_rels/notesSlide16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7.xml"/></Relationships>
</file>

<file path=ppt/notesSlides/_rels/notesSlide16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8.xml"/></Relationships>
</file>

<file path=ppt/notesSlides/_rels/notesSlide16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9.xml"/></Relationships>
</file>

<file path=ppt/notesSlides/_rels/notesSlide16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0.xml"/></Relationships>
</file>

<file path=ppt/notesSlides/_rels/notesSlide16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1.xml"/></Relationships>
</file>

<file path=ppt/notesSlides/_rels/notesSlide16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2.xml"/></Relationships>
</file>

<file path=ppt/notesSlides/_rels/notesSlide16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3.xml"/></Relationships>
</file>

<file path=ppt/notesSlides/_rels/notesSlide16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5.xml"/></Relationships>
</file>

<file path=ppt/notesSlides/_rels/notesSlide16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6.xml"/></Relationships>
</file>

<file path=ppt/notesSlides/_rels/notesSlide16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7.xml"/></Relationships>
</file>

<file path=ppt/notesSlides/_rels/notesSlide16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8.xml"/></Relationships>
</file>

<file path=ppt/notesSlides/_rels/notesSlide16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9.xml"/></Relationships>
</file>

<file path=ppt/notesSlides/_rels/notesSlide17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0.xml"/></Relationships>
</file>

<file path=ppt/notesSlides/_rels/notesSlide17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1.xml"/></Relationships>
</file>

<file path=ppt/notesSlides/_rels/notesSlide17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2.xml"/></Relationships>
</file>

<file path=ppt/notesSlides/_rels/notesSlide17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3.xml"/></Relationships>
</file>

<file path=ppt/notesSlides/_rels/notesSlide17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4.xml"/></Relationships>
</file>

<file path=ppt/notesSlides/_rels/notesSlide17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5.xml"/></Relationships>
</file>

<file path=ppt/notesSlides/_rels/notesSlide17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6.xml"/></Relationships>
</file>

<file path=ppt/notesSlides/_rels/notesSlide17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7.xml"/></Relationships>
</file>

<file path=ppt/notesSlides/_rels/notesSlide17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9.xml"/></Relationships>
</file>

<file path=ppt/notesSlides/_rels/notesSlide17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0.xml"/></Relationships>
</file>

<file path=ppt/notesSlides/_rels/notesSlide17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1.xml"/></Relationships>
</file>

<file path=ppt/notesSlides/_rels/notesSlide17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2.xml"/></Relationships>
</file>

<file path=ppt/notesSlides/_rels/notesSlide17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3.xml"/></Relationships>
</file>

<file path=ppt/notesSlides/_rels/notesSlide17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5.xml"/></Relationships>
</file>

<file path=ppt/notesSlides/_rels/notesSlide17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6.xml"/></Relationships>
</file>

<file path=ppt/notesSlides/_rels/notesSlide17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7.xml"/></Relationships>
</file>

<file path=ppt/notesSlides/_rels/notesSlide17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8.xml"/></Relationships>
</file>

<file path=ppt/notesSlides/_rels/notesSlide17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9.xml"/></Relationships>
</file>

<file path=ppt/notesSlides/_rels/notesSlide17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0.xml"/></Relationships>
</file>

<file path=ppt/notesSlides/_rels/notesSlide17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1.xml"/></Relationships>
</file>

<file path=ppt/notesSlides/_rels/notesSlide17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2.xml"/></Relationships>
</file>

<file path=ppt/notesSlides/_rels/notesSlide17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3.xml"/></Relationships>
</file>

<file path=ppt/notesSlides/_rels/notesSlide17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4.xml"/></Relationships>
</file>

<file path=ppt/notesSlides/_rels/notesSlide17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5.xml"/></Relationships>
</file>

<file path=ppt/notesSlides/_rels/notesSlide17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6.xml"/></Relationships>
</file>

<file path=ppt/notesSlides/_rels/notesSlide17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7.xml"/></Relationships>
</file>

<file path=ppt/notesSlides/_rels/notesSlide17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8.xml"/></Relationships>
</file>

<file path=ppt/notesSlides/_rels/notesSlide17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9.xml"/></Relationships>
</file>

<file path=ppt/notesSlides/_rels/notesSlide17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17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17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17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17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17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7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17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17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17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17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17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17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17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Market Signals Market Signals</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Overview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Market Taxonomy Geographic Coverage</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Market Taxonomy Market Segments</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Market Taxonomy Company Coverage</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Global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Global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Global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Global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Global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Global Overview Country Outlook  (1/2)</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Global Overview Country Outlook  (2/2)</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Global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Global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Global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Global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Region Global Hair Styling Products – Regional Outlook</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Region Market Analysis By Region (1/2)</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Region Market Analysis By Region (2/2)</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Region Volume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Region Value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Region Market Trends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Region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By Hold Level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By Finish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By Primary Styling Benefit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By Hair Type Targeted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By Ingredient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North America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North America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North America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North America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North America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North America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North America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North America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North America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North America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North America Hair Styling Products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By Hold Level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By Finish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1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By Primary Styling Benefit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By Hair Type Targeted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By Ingredient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1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1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Latin America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Latin America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Latin America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1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Latin America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Latin America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Latin America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Latin America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Latin America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Latin America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Latin America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Latin America Hair Styling Products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1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1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1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1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1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1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1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1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2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2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By Hold Level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By Finish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2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2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By Primary Styling Benefit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By Hair Type Targeted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By Ingredient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2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2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Europe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Europe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2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Europe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2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Europe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2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Europe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Europe Overview Country Outlook  (1/2)</a:t>
            </a:r>
          </a:p>
        </p:txBody>
      </p:sp>
      <p:sp>
        <p:nvSpPr>
          <p:cNvPr id="4" name="Slide Number Placeholder 3"/>
          <p:cNvSpPr>
            <a:spLocks noGrp="1"/>
          </p:cNvSpPr>
          <p:nvPr>
            <p:ph type="sldNum" idx="5" sz="quarter"/>
          </p:nvPr>
        </p:nvSpPr>
        <p:spPr/>
      </p:sp>
    </p:spTree>
  </p:cSld>
  <p:clrMapOvr>
    <a:masterClrMapping/>
  </p:clrMapOvr>
</p:notes>
</file>

<file path=ppt/notesSlides/notesSlide2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Europe Overview Country Outlook  (2/2)</a:t>
            </a:r>
          </a:p>
        </p:txBody>
      </p:sp>
      <p:sp>
        <p:nvSpPr>
          <p:cNvPr id="4" name="Slide Number Placeholder 3"/>
          <p:cNvSpPr>
            <a:spLocks noGrp="1"/>
          </p:cNvSpPr>
          <p:nvPr>
            <p:ph type="sldNum" idx="5" sz="quarter"/>
          </p:nvPr>
        </p:nvSpPr>
        <p:spPr/>
      </p:sp>
    </p:spTree>
  </p:cSld>
  <p:clrMapOvr>
    <a:masterClrMapping/>
  </p:clrMapOvr>
</p:notes>
</file>

<file path=ppt/notesSlides/notesSlide2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Europe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2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Europe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2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Europe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2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Europe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2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Europe Hair Styling Products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2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2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2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2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2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2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2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2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By Hold Level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By Finish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3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3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3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3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By Primary Styling Benefit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3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By Hair Type Targeted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3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By Ingredient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3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3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3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East Asia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East Asia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3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East Asia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3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East Asia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3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East Asia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East Asia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3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East Asia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3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East Asia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3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East Asia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3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East Asia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3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East Asia Hair Styling Products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3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3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3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3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3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3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3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3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3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3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3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3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By Hold Level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3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By Finish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3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3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3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3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By Primary Styling Benefit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4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4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By Hair Type Targeted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4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4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By Ingredient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4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4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4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South Asia &amp; Pacific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4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South Asia &amp; Pacific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4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South Asia &amp; Pacific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4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South Asia &amp; Pacific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4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South Asia &amp; Pacific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South Asia &amp; Pacific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4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South Asia &amp; Pacific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4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South Asia &amp; Pacific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4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South Asia &amp; Pacific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4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South Asia &amp; Pacific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4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South Asia &amp; Pacific Hair Styling Products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4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4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4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4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4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4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4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4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4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4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4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4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4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By Hold Level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4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4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By Finish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4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4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4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4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4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By Primary Styling Benefit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4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4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By Hair Type Targeted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4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4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By Ingredient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5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5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5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5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Middle East &amp; Africa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5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Middle East &amp; Africa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5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Middle East &amp; Africa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5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Middle East &amp; Africa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5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Middle East &amp; Africa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Middle East &amp; Africa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5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Middle East &amp; Africa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5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Middle East &amp; Africa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5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Middle East &amp; Africa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5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Middle East &amp; Africa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5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Middle East &amp; Africa Hair Styling Products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5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5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5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5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5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5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5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5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5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5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5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By Hold Level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5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By Finish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5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5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5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5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By Primary Styling Benefit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5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By Hair Type Targeted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5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By Ingredient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5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5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5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5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Country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5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5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5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6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6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6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6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6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6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6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6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6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6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6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6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6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6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6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6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6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6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6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6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6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6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6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6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6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6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6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6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6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6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6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6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6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6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6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6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6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6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6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6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6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6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6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6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6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6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6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6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6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6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6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6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6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6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6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6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6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6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6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6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6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6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6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6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6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6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6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6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6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7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7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7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7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7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7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7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7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7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7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7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7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7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7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7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7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7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7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7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7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7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7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7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7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7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7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7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7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7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7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7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7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7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7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7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7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7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7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7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7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7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7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7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7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7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7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7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7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7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7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7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7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7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7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7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7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7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7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7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7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7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7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7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7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7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7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7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7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8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8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8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8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8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8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8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8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8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8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8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8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8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8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8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8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8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8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8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8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8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8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8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8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8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8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8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8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8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8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8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8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8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8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8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8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8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8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8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8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8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8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8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8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8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8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8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8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8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8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8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8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8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8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8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8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8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8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8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8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8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8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8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8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8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8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8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8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8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8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9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9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9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9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9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9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9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9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9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9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9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9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9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9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9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9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9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9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9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9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9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9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9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9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9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9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9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9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9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9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9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9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9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9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9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9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9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9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9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9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9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9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9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9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9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9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9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9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9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9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9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9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9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9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9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9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9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9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9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9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9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9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9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9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9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9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9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9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0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0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0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0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0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0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0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0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0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0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0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0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0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0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0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0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0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0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0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0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0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0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0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0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0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0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0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0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0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0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0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0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0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0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0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0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0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0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0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1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1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1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1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1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1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1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1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1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1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1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1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1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1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1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1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1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1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1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1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1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2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2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2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2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2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2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2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2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2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2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2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2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2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2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2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2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2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2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2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2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2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2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2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2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2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2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2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2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2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2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2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3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3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3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3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3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3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3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3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3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3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3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3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3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3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3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3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3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3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3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3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3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3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3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3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3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3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3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3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3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3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3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3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3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3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3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3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3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3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3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3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3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3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3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3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4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4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4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4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4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4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4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4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4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4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4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4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4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4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4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4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4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4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4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4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4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4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4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4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4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4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4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4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4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4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4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4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4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4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4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4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4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4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4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5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5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5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5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5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5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5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5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5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5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5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5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5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5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5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5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5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5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5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5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5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5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5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5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5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5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5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5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5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5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5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5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5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5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5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5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5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5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6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6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6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6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6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6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6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6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6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6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6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6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6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6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6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6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6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6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6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6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6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6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6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6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6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6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Pricing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6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Pricing Product Pricing &amp; Regional Price Index Trends</a:t>
            </a:r>
          </a:p>
        </p:txBody>
      </p:sp>
      <p:sp>
        <p:nvSpPr>
          <p:cNvPr id="4" name="Slide Number Placeholder 3"/>
          <p:cNvSpPr>
            <a:spLocks noGrp="1"/>
          </p:cNvSpPr>
          <p:nvPr>
            <p:ph type="sldNum" idx="5" sz="quarter"/>
          </p:nvPr>
        </p:nvSpPr>
        <p:spPr/>
      </p:sp>
    </p:spTree>
  </p:cSld>
  <p:clrMapOvr>
    <a:masterClrMapping/>
  </p:clrMapOvr>
</p:notes>
</file>

<file path=ppt/notesSlides/notesSlide16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6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6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Pricing Price Positioning &amp; Key Findings</a:t>
            </a:r>
          </a:p>
        </p:txBody>
      </p:sp>
      <p:sp>
        <p:nvSpPr>
          <p:cNvPr id="4" name="Slide Number Placeholder 3"/>
          <p:cNvSpPr>
            <a:spLocks noGrp="1"/>
          </p:cNvSpPr>
          <p:nvPr>
            <p:ph type="sldNum" idx="5" sz="quarter"/>
          </p:nvPr>
        </p:nvSpPr>
        <p:spPr/>
      </p:sp>
    </p:spTree>
  </p:cSld>
  <p:clrMapOvr>
    <a:masterClrMapping/>
  </p:clrMapOvr>
</p:notes>
</file>

<file path=ppt/notesSlides/notesSlide16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Pricing Key Pricing Drivers</a:t>
            </a:r>
          </a:p>
        </p:txBody>
      </p:sp>
      <p:sp>
        <p:nvSpPr>
          <p:cNvPr id="4" name="Slide Number Placeholder 3"/>
          <p:cNvSpPr>
            <a:spLocks noGrp="1"/>
          </p:cNvSpPr>
          <p:nvPr>
            <p:ph type="sldNum" idx="5" sz="quarter"/>
          </p:nvPr>
        </p:nvSpPr>
        <p:spPr/>
      </p:sp>
    </p:spTree>
  </p:cSld>
  <p:clrMapOvr>
    <a:masterClrMapping/>
  </p:clrMapOvr>
</p:notes>
</file>

<file path=ppt/notesSlides/notesSlide16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Pricing Factors Impacting Pricing</a:t>
            </a:r>
          </a:p>
        </p:txBody>
      </p:sp>
      <p:sp>
        <p:nvSpPr>
          <p:cNvPr id="4" name="Slide Number Placeholder 3"/>
          <p:cNvSpPr>
            <a:spLocks noGrp="1"/>
          </p:cNvSpPr>
          <p:nvPr>
            <p:ph type="sldNum" idx="5" sz="quarter"/>
          </p:nvPr>
        </p:nvSpPr>
        <p:spPr/>
      </p:sp>
    </p:spTree>
  </p:cSld>
  <p:clrMapOvr>
    <a:masterClrMapping/>
  </p:clrMapOvr>
</p:notes>
</file>

<file path=ppt/notesSlides/notesSlide16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Pricing Regional Price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6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Pricing Global Pricing Benchmarking</a:t>
            </a:r>
          </a:p>
        </p:txBody>
      </p:sp>
      <p:sp>
        <p:nvSpPr>
          <p:cNvPr id="4" name="Slide Number Placeholder 3"/>
          <p:cNvSpPr>
            <a:spLocks noGrp="1"/>
          </p:cNvSpPr>
          <p:nvPr>
            <p:ph type="sldNum" idx="5" sz="quarter"/>
          </p:nvPr>
        </p:nvSpPr>
        <p:spPr/>
      </p:sp>
    </p:spTree>
  </p:cSld>
  <p:clrMapOvr>
    <a:masterClrMapping/>
  </p:clrMapOvr>
</p:notes>
</file>

<file path=ppt/notesSlides/notesSlide16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Pricing Price Forecast &amp; Dynamics  (1/2)</a:t>
            </a:r>
          </a:p>
        </p:txBody>
      </p:sp>
      <p:sp>
        <p:nvSpPr>
          <p:cNvPr id="4" name="Slide Number Placeholder 3"/>
          <p:cNvSpPr>
            <a:spLocks noGrp="1"/>
          </p:cNvSpPr>
          <p:nvPr>
            <p:ph type="sldNum" idx="5" sz="quarter"/>
          </p:nvPr>
        </p:nvSpPr>
        <p:spPr/>
      </p:sp>
    </p:spTree>
  </p:cSld>
  <p:clrMapOvr>
    <a:masterClrMapping/>
  </p:clrMapOvr>
</p:notes>
</file>

<file path=ppt/notesSlides/notesSlide16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Pricing Price Forecast &amp; Dynamics  (2/2)</a:t>
            </a:r>
          </a:p>
        </p:txBody>
      </p:sp>
      <p:sp>
        <p:nvSpPr>
          <p:cNvPr id="4" name="Slide Number Placeholder 3"/>
          <p:cNvSpPr>
            <a:spLocks noGrp="1"/>
          </p:cNvSpPr>
          <p:nvPr>
            <p:ph type="sldNum" idx="5" sz="quarter"/>
          </p:nvPr>
        </p:nvSpPr>
        <p:spPr/>
      </p:sp>
    </p:spTree>
  </p:cSld>
  <p:clrMapOvr>
    <a:masterClrMapping/>
  </p:clrMapOvr>
</p:notes>
</file>

<file path=ppt/notesSlides/notesSlide16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Pricing Competitor Pricing Strategies</a:t>
            </a:r>
          </a:p>
        </p:txBody>
      </p:sp>
      <p:sp>
        <p:nvSpPr>
          <p:cNvPr id="4" name="Slide Number Placeholder 3"/>
          <p:cNvSpPr>
            <a:spLocks noGrp="1"/>
          </p:cNvSpPr>
          <p:nvPr>
            <p:ph type="sldNum" idx="5" sz="quarter"/>
          </p:nvPr>
        </p:nvSpPr>
        <p:spPr/>
      </p:sp>
    </p:spTree>
  </p:cSld>
  <p:clrMapOvr>
    <a:masterClrMapping/>
  </p:clrMapOvr>
</p:notes>
</file>

<file path=ppt/notesSlides/notesSlide16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Supply Chain Analysis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6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Supply Chain Analysis Value Chain &amp; Stakeholder Mapping</a:t>
            </a:r>
          </a:p>
        </p:txBody>
      </p:sp>
      <p:sp>
        <p:nvSpPr>
          <p:cNvPr id="4" name="Slide Number Placeholder 3"/>
          <p:cNvSpPr>
            <a:spLocks noGrp="1"/>
          </p:cNvSpPr>
          <p:nvPr>
            <p:ph type="sldNum" idx="5" sz="quarter"/>
          </p:nvPr>
        </p:nvSpPr>
        <p:spPr/>
      </p:sp>
    </p:spTree>
  </p:cSld>
  <p:clrMapOvr>
    <a:masterClrMapping/>
  </p:clrMapOvr>
</p:notes>
</file>

<file path=ppt/notesSlides/notesSlide16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Supply Chain Analysis Operating Margin Analysis</a:t>
            </a:r>
          </a:p>
        </p:txBody>
      </p:sp>
      <p:sp>
        <p:nvSpPr>
          <p:cNvPr id="4" name="Slide Number Placeholder 3"/>
          <p:cNvSpPr>
            <a:spLocks noGrp="1"/>
          </p:cNvSpPr>
          <p:nvPr>
            <p:ph type="sldNum" idx="5" sz="quarter"/>
          </p:nvPr>
        </p:nvSpPr>
        <p:spPr/>
      </p:sp>
    </p:spTree>
  </p:cSld>
  <p:clrMapOvr>
    <a:masterClrMapping/>
  </p:clrMapOvr>
</p:notes>
</file>

<file path=ppt/notesSlides/notesSlide16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Supply Chain Analysis Buyers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6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Dynamics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6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Market Dynamics Market Dynamics &amp; Forces Market Dynamics by Geography</a:t>
            </a:r>
          </a:p>
        </p:txBody>
      </p:sp>
      <p:sp>
        <p:nvSpPr>
          <p:cNvPr id="4" name="Slide Number Placeholder 3"/>
          <p:cNvSpPr>
            <a:spLocks noGrp="1"/>
          </p:cNvSpPr>
          <p:nvPr>
            <p:ph type="sldNum" idx="5" sz="quarter"/>
          </p:nvPr>
        </p:nvSpPr>
        <p:spPr/>
      </p:sp>
    </p:spTree>
  </p:cSld>
  <p:clrMapOvr>
    <a:masterClrMapping/>
  </p:clrMapOvr>
</p:notes>
</file>

<file path=ppt/notesSlides/notesSlide16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Market Dynamics Market Dynamics &amp; Forces Driving Factors Supply Side (1/2)</a:t>
            </a:r>
          </a:p>
        </p:txBody>
      </p:sp>
      <p:sp>
        <p:nvSpPr>
          <p:cNvPr id="4" name="Slide Number Placeholder 3"/>
          <p:cNvSpPr>
            <a:spLocks noGrp="1"/>
          </p:cNvSpPr>
          <p:nvPr>
            <p:ph type="sldNum" idx="5" sz="quarter"/>
          </p:nvPr>
        </p:nvSpPr>
        <p:spPr/>
      </p:sp>
    </p:spTree>
  </p:cSld>
  <p:clrMapOvr>
    <a:masterClrMapping/>
  </p:clrMapOvr>
</p:notes>
</file>

<file path=ppt/notesSlides/notesSlide16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Market Dynamics Market Dynamics &amp; Forces Driving Factors Demand Side (2/2)</a:t>
            </a:r>
          </a:p>
        </p:txBody>
      </p:sp>
      <p:sp>
        <p:nvSpPr>
          <p:cNvPr id="4" name="Slide Number Placeholder 3"/>
          <p:cNvSpPr>
            <a:spLocks noGrp="1"/>
          </p:cNvSpPr>
          <p:nvPr>
            <p:ph type="sldNum" idx="5" sz="quarter"/>
          </p:nvPr>
        </p:nvSpPr>
        <p:spPr/>
      </p:sp>
    </p:spTree>
  </p:cSld>
  <p:clrMapOvr>
    <a:masterClrMapping/>
  </p:clrMapOvr>
</p:notes>
</file>

<file path=ppt/notesSlides/notesSlide16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Market Dynamics Market Dynamics &amp; Forces Market Restraints</a:t>
            </a:r>
          </a:p>
        </p:txBody>
      </p:sp>
      <p:sp>
        <p:nvSpPr>
          <p:cNvPr id="4" name="Slide Number Placeholder 3"/>
          <p:cNvSpPr>
            <a:spLocks noGrp="1"/>
          </p:cNvSpPr>
          <p:nvPr>
            <p:ph type="sldNum" idx="5" sz="quarter"/>
          </p:nvPr>
        </p:nvSpPr>
        <p:spPr/>
      </p:sp>
    </p:spTree>
  </p:cSld>
  <p:clrMapOvr>
    <a:masterClrMapping/>
  </p:clrMapOvr>
</p:notes>
</file>

<file path=ppt/notesSlides/notesSlide16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Market Dynamics Market Dynamics &amp; Forces Market Opportunities</a:t>
            </a:r>
          </a:p>
        </p:txBody>
      </p:sp>
      <p:sp>
        <p:nvSpPr>
          <p:cNvPr id="4" name="Slide Number Placeholder 3"/>
          <p:cNvSpPr>
            <a:spLocks noGrp="1"/>
          </p:cNvSpPr>
          <p:nvPr>
            <p:ph type="sldNum" idx="5" sz="quarter"/>
          </p:nvPr>
        </p:nvSpPr>
        <p:spPr/>
      </p:sp>
    </p:spTree>
  </p:cSld>
  <p:clrMapOvr>
    <a:masterClrMapping/>
  </p:clrMapOvr>
</p:notes>
</file>

<file path=ppt/notesSlides/notesSlide16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Market Dynamics Market Dynamics &amp; Forces Recent Developments &amp; Milestones</a:t>
            </a:r>
          </a:p>
        </p:txBody>
      </p:sp>
      <p:sp>
        <p:nvSpPr>
          <p:cNvPr id="4" name="Slide Number Placeholder 3"/>
          <p:cNvSpPr>
            <a:spLocks noGrp="1"/>
          </p:cNvSpPr>
          <p:nvPr>
            <p:ph type="sldNum" idx="5" sz="quarter"/>
          </p:nvPr>
        </p:nvSpPr>
        <p:spPr/>
      </p:sp>
    </p:spTree>
  </p:cSld>
  <p:clrMapOvr>
    <a:masterClrMapping/>
  </p:clrMapOvr>
</p:notes>
</file>

<file path=ppt/notesSlides/notesSlide16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Market Dynamics Market Dynamics &amp; Forces Five Forces Analysis</a:t>
            </a:r>
          </a:p>
        </p:txBody>
      </p:sp>
      <p:sp>
        <p:nvSpPr>
          <p:cNvPr id="4" name="Slide Number Placeholder 3"/>
          <p:cNvSpPr>
            <a:spLocks noGrp="1"/>
          </p:cNvSpPr>
          <p:nvPr>
            <p:ph type="sldNum" idx="5" sz="quarter"/>
          </p:nvPr>
        </p:nvSpPr>
        <p:spPr/>
      </p:sp>
    </p:spTree>
  </p:cSld>
  <p:clrMapOvr>
    <a:masterClrMapping/>
  </p:clrMapOvr>
</p:notes>
</file>

<file path=ppt/notesSlides/notesSlide16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Competition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6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Competitive Landscape at a Glance</a:t>
            </a:r>
          </a:p>
        </p:txBody>
      </p:sp>
      <p:sp>
        <p:nvSpPr>
          <p:cNvPr id="4" name="Slide Number Placeholder 3"/>
          <p:cNvSpPr>
            <a:spLocks noGrp="1"/>
          </p:cNvSpPr>
          <p:nvPr>
            <p:ph type="sldNum" idx="5" sz="quarter"/>
          </p:nvPr>
        </p:nvSpPr>
        <p:spPr/>
      </p:sp>
    </p:spTree>
  </p:cSld>
  <p:clrMapOvr>
    <a:masterClrMapping/>
  </p:clrMapOvr>
</p:notes>
</file>

<file path=ppt/notesSlides/notesSlide16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Segment Leadership Map</a:t>
            </a:r>
          </a:p>
        </p:txBody>
      </p:sp>
      <p:sp>
        <p:nvSpPr>
          <p:cNvPr id="4" name="Slide Number Placeholder 3"/>
          <p:cNvSpPr>
            <a:spLocks noGrp="1"/>
          </p:cNvSpPr>
          <p:nvPr>
            <p:ph type="sldNum" idx="5" sz="quarter"/>
          </p:nvPr>
        </p:nvSpPr>
        <p:spPr/>
      </p:sp>
    </p:spTree>
  </p:cSld>
  <p:clrMapOvr>
    <a:masterClrMapping/>
  </p:clrMapOvr>
</p:notes>
</file>

<file path=ppt/notesSlides/notesSlide16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Value Chain Positioning</a:t>
            </a:r>
          </a:p>
        </p:txBody>
      </p:sp>
      <p:sp>
        <p:nvSpPr>
          <p:cNvPr id="4" name="Slide Number Placeholder 3"/>
          <p:cNvSpPr>
            <a:spLocks noGrp="1"/>
          </p:cNvSpPr>
          <p:nvPr>
            <p:ph type="sldNum" idx="5" sz="quarter"/>
          </p:nvPr>
        </p:nvSpPr>
        <p:spPr/>
      </p:sp>
    </p:spTree>
  </p:cSld>
  <p:clrMapOvr>
    <a:masterClrMapping/>
  </p:clrMapOvr>
</p:notes>
</file>

<file path=ppt/notesSlides/notesSlide16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Player Landscape</a:t>
            </a:r>
          </a:p>
        </p:txBody>
      </p:sp>
      <p:sp>
        <p:nvSpPr>
          <p:cNvPr id="4" name="Slide Number Placeholder 3"/>
          <p:cNvSpPr>
            <a:spLocks noGrp="1"/>
          </p:cNvSpPr>
          <p:nvPr>
            <p:ph type="sldNum" idx="5" sz="quarter"/>
          </p:nvPr>
        </p:nvSpPr>
        <p:spPr/>
      </p:sp>
    </p:spTree>
  </p:cSld>
  <p:clrMapOvr>
    <a:masterClrMapping/>
  </p:clrMapOvr>
</p:notes>
</file>

<file path=ppt/notesSlides/notesSlide16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Corporate Scorecard</a:t>
            </a:r>
          </a:p>
        </p:txBody>
      </p:sp>
      <p:sp>
        <p:nvSpPr>
          <p:cNvPr id="4" name="Slide Number Placeholder 3"/>
          <p:cNvSpPr>
            <a:spLocks noGrp="1"/>
          </p:cNvSpPr>
          <p:nvPr>
            <p:ph type="sldNum" idx="5" sz="quarter"/>
          </p:nvPr>
        </p:nvSpPr>
        <p:spPr/>
      </p:sp>
    </p:spTree>
  </p:cSld>
  <p:clrMapOvr>
    <a:masterClrMapping/>
  </p:clrMapOvr>
</p:notes>
</file>

<file path=ppt/notesSlides/notesSlide17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Offering Scorecard</a:t>
            </a:r>
          </a:p>
        </p:txBody>
      </p:sp>
      <p:sp>
        <p:nvSpPr>
          <p:cNvPr id="4" name="Slide Number Placeholder 3"/>
          <p:cNvSpPr>
            <a:spLocks noGrp="1"/>
          </p:cNvSpPr>
          <p:nvPr>
            <p:ph type="sldNum" idx="5" sz="quarter"/>
          </p:nvPr>
        </p:nvSpPr>
        <p:spPr/>
      </p:sp>
    </p:spTree>
  </p:cSld>
  <p:clrMapOvr>
    <a:masterClrMapping/>
  </p:clrMapOvr>
</p:notes>
</file>

<file path=ppt/notesSlides/notesSlide17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Execution Scorecard</a:t>
            </a:r>
          </a:p>
        </p:txBody>
      </p:sp>
      <p:sp>
        <p:nvSpPr>
          <p:cNvPr id="4" name="Slide Number Placeholder 3"/>
          <p:cNvSpPr>
            <a:spLocks noGrp="1"/>
          </p:cNvSpPr>
          <p:nvPr>
            <p:ph type="sldNum" idx="5" sz="quarter"/>
          </p:nvPr>
        </p:nvSpPr>
        <p:spPr/>
      </p:sp>
    </p:spTree>
  </p:cSld>
  <p:clrMapOvr>
    <a:masterClrMapping/>
  </p:clrMapOvr>
</p:notes>
</file>

<file path=ppt/notesSlides/notesSlide17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Success Factors</a:t>
            </a:r>
          </a:p>
        </p:txBody>
      </p:sp>
      <p:sp>
        <p:nvSpPr>
          <p:cNvPr id="4" name="Slide Number Placeholder 3"/>
          <p:cNvSpPr>
            <a:spLocks noGrp="1"/>
          </p:cNvSpPr>
          <p:nvPr>
            <p:ph type="sldNum" idx="5" sz="quarter"/>
          </p:nvPr>
        </p:nvSpPr>
        <p:spPr/>
      </p:sp>
    </p:spTree>
  </p:cSld>
  <p:clrMapOvr>
    <a:masterClrMapping/>
  </p:clrMapOvr>
</p:notes>
</file>

<file path=ppt/notesSlides/notesSlide17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Strategic Activity Tracker</a:t>
            </a:r>
          </a:p>
        </p:txBody>
      </p:sp>
      <p:sp>
        <p:nvSpPr>
          <p:cNvPr id="4" name="Slide Number Placeholder 3"/>
          <p:cNvSpPr>
            <a:spLocks noGrp="1"/>
          </p:cNvSpPr>
          <p:nvPr>
            <p:ph type="sldNum" idx="5" sz="quarter"/>
          </p:nvPr>
        </p:nvSpPr>
        <p:spPr/>
      </p:sp>
    </p:spTree>
  </p:cSld>
  <p:clrMapOvr>
    <a:masterClrMapping/>
  </p:clrMapOvr>
</p:notes>
</file>

<file path=ppt/notesSlides/notesSlide17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Strategic Activity by Function</a:t>
            </a:r>
          </a:p>
        </p:txBody>
      </p:sp>
      <p:sp>
        <p:nvSpPr>
          <p:cNvPr id="4" name="Slide Number Placeholder 3"/>
          <p:cNvSpPr>
            <a:spLocks noGrp="1"/>
          </p:cNvSpPr>
          <p:nvPr>
            <p:ph type="sldNum" idx="5" sz="quarter"/>
          </p:nvPr>
        </p:nvSpPr>
        <p:spPr/>
      </p:sp>
    </p:spTree>
  </p:cSld>
  <p:clrMapOvr>
    <a:masterClrMapping/>
  </p:clrMapOvr>
</p:notes>
</file>

<file path=ppt/notesSlides/notesSlide17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Industry Structure Landscape  (1/2)</a:t>
            </a:r>
          </a:p>
        </p:txBody>
      </p:sp>
      <p:sp>
        <p:nvSpPr>
          <p:cNvPr id="4" name="Slide Number Placeholder 3"/>
          <p:cNvSpPr>
            <a:spLocks noGrp="1"/>
          </p:cNvSpPr>
          <p:nvPr>
            <p:ph type="sldNum" idx="5" sz="quarter"/>
          </p:nvPr>
        </p:nvSpPr>
        <p:spPr/>
      </p:sp>
    </p:spTree>
  </p:cSld>
  <p:clrMapOvr>
    <a:masterClrMapping/>
  </p:clrMapOvr>
</p:notes>
</file>

<file path=ppt/notesSlides/notesSlide17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Industry Structure Landscape  (2/2)</a:t>
            </a:r>
          </a:p>
        </p:txBody>
      </p:sp>
      <p:sp>
        <p:nvSpPr>
          <p:cNvPr id="4" name="Slide Number Placeholder 3"/>
          <p:cNvSpPr>
            <a:spLocks noGrp="1"/>
          </p:cNvSpPr>
          <p:nvPr>
            <p:ph type="sldNum" idx="5" sz="quarter"/>
          </p:nvPr>
        </p:nvSpPr>
        <p:spPr/>
      </p:sp>
    </p:spTree>
  </p:cSld>
  <p:clrMapOvr>
    <a:masterClrMapping/>
  </p:clrMapOvr>
</p:notes>
</file>

<file path=ppt/notesSlides/notesSlide17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Competitive Dashboard</a:t>
            </a:r>
          </a:p>
        </p:txBody>
      </p:sp>
      <p:sp>
        <p:nvSpPr>
          <p:cNvPr id="4" name="Slide Number Placeholder 3"/>
          <p:cNvSpPr>
            <a:spLocks noGrp="1"/>
          </p:cNvSpPr>
          <p:nvPr>
            <p:ph type="sldNum" idx="5" sz="quarter"/>
          </p:nvPr>
        </p:nvSpPr>
        <p:spPr/>
      </p:sp>
    </p:spTree>
  </p:cSld>
  <p:clrMapOvr>
    <a:masterClrMapping/>
  </p:clrMapOvr>
</p:notes>
</file>

<file path=ppt/notesSlides/notesSlide17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Market Share by Leading Players Advice for Vendors &amp; Suppliers</a:t>
            </a:r>
          </a:p>
        </p:txBody>
      </p:sp>
      <p:sp>
        <p:nvSpPr>
          <p:cNvPr id="4" name="Slide Number Placeholder 3"/>
          <p:cNvSpPr>
            <a:spLocks noGrp="1"/>
          </p:cNvSpPr>
          <p:nvPr>
            <p:ph type="sldNum" idx="5" sz="quarter"/>
          </p:nvPr>
        </p:nvSpPr>
        <p:spPr/>
      </p:sp>
    </p:spTree>
  </p:cSld>
  <p:clrMapOvr>
    <a:masterClrMapping/>
  </p:clrMapOvr>
</p:notes>
</file>

<file path=ppt/notesSlides/notesSlide17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Market Share by Leading Players Company Value Share</a:t>
            </a:r>
          </a:p>
        </p:txBody>
      </p:sp>
      <p:sp>
        <p:nvSpPr>
          <p:cNvPr id="4" name="Slide Number Placeholder 3"/>
          <p:cNvSpPr>
            <a:spLocks noGrp="1"/>
          </p:cNvSpPr>
          <p:nvPr>
            <p:ph type="sldNum" idx="5" sz="quarter"/>
          </p:nvPr>
        </p:nvSpPr>
        <p:spPr/>
      </p:sp>
    </p:spTree>
  </p:cSld>
  <p:clrMapOvr>
    <a:masterClrMapping/>
  </p:clrMapOvr>
</p:notes>
</file>

<file path=ppt/notesSlides/notesSlide17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Market Share by Leading Players Company Share by Product Type</a:t>
            </a:r>
          </a:p>
        </p:txBody>
      </p:sp>
      <p:sp>
        <p:nvSpPr>
          <p:cNvPr id="4" name="Slide Number Placeholder 3"/>
          <p:cNvSpPr>
            <a:spLocks noGrp="1"/>
          </p:cNvSpPr>
          <p:nvPr>
            <p:ph type="sldNum" idx="5" sz="quarter"/>
          </p:nvPr>
        </p:nvSpPr>
        <p:spPr/>
      </p:sp>
    </p:spTree>
  </p:cSld>
  <p:clrMapOvr>
    <a:masterClrMapping/>
  </p:clrMapOvr>
</p:notes>
</file>

<file path=ppt/notesSlides/notesSlide17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Market Share by Leading Players Company Share by Region</a:t>
            </a:r>
          </a:p>
        </p:txBody>
      </p:sp>
      <p:sp>
        <p:nvSpPr>
          <p:cNvPr id="4" name="Slide Number Placeholder 3"/>
          <p:cNvSpPr>
            <a:spLocks noGrp="1"/>
          </p:cNvSpPr>
          <p:nvPr>
            <p:ph type="sldNum" idx="5" sz="quarter"/>
          </p:nvPr>
        </p:nvSpPr>
        <p:spPr/>
      </p:sp>
    </p:spTree>
  </p:cSld>
  <p:clrMapOvr>
    <a:masterClrMapping/>
  </p:clrMapOvr>
</p:notes>
</file>

<file path=ppt/notesSlides/notesSlide17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Market Share by Leading Players Who Shaped Growth</a:t>
            </a:r>
          </a:p>
        </p:txBody>
      </p:sp>
      <p:sp>
        <p:nvSpPr>
          <p:cNvPr id="4" name="Slide Number Placeholder 3"/>
          <p:cNvSpPr>
            <a:spLocks noGrp="1"/>
          </p:cNvSpPr>
          <p:nvPr>
            <p:ph type="sldNum" idx="5" sz="quarter"/>
          </p:nvPr>
        </p:nvSpPr>
        <p:spPr/>
      </p:sp>
    </p:spTree>
  </p:cSld>
  <p:clrMapOvr>
    <a:masterClrMapping/>
  </p:clrMapOvr>
</p:notes>
</file>

<file path=ppt/notesSlides/notesSlide17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A Snapshot</a:t>
            </a:r>
          </a:p>
        </p:txBody>
      </p:sp>
      <p:sp>
        <p:nvSpPr>
          <p:cNvPr id="4" name="Slide Number Placeholder 3"/>
          <p:cNvSpPr>
            <a:spLocks noGrp="1"/>
          </p:cNvSpPr>
          <p:nvPr>
            <p:ph type="sldNum" idx="5" sz="quarter"/>
          </p:nvPr>
        </p:nvSpPr>
        <p:spPr/>
      </p:sp>
    </p:spTree>
  </p:cSld>
  <p:clrMapOvr>
    <a:masterClrMapping/>
  </p:clrMapOvr>
</p:notes>
</file>

<file path=ppt/notesSlides/notesSlide17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A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17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A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17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A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17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A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17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B Snapshot</a:t>
            </a:r>
          </a:p>
        </p:txBody>
      </p:sp>
      <p:sp>
        <p:nvSpPr>
          <p:cNvPr id="4" name="Slide Number Placeholder 3"/>
          <p:cNvSpPr>
            <a:spLocks noGrp="1"/>
          </p:cNvSpPr>
          <p:nvPr>
            <p:ph type="sldNum" idx="5" sz="quarter"/>
          </p:nvPr>
        </p:nvSpPr>
        <p:spPr/>
      </p:sp>
    </p:spTree>
  </p:cSld>
  <p:clrMapOvr>
    <a:masterClrMapping/>
  </p:clrMapOvr>
</p:notes>
</file>

<file path=ppt/notesSlides/notesSlide17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B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17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B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17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B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17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B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17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C Snapshot</a:t>
            </a:r>
          </a:p>
        </p:txBody>
      </p:sp>
      <p:sp>
        <p:nvSpPr>
          <p:cNvPr id="4" name="Slide Number Placeholder 3"/>
          <p:cNvSpPr>
            <a:spLocks noGrp="1"/>
          </p:cNvSpPr>
          <p:nvPr>
            <p:ph type="sldNum" idx="5" sz="quarter"/>
          </p:nvPr>
        </p:nvSpPr>
        <p:spPr/>
      </p:sp>
    </p:spTree>
  </p:cSld>
  <p:clrMapOvr>
    <a:masterClrMapping/>
  </p:clrMapOvr>
</p:notes>
</file>

<file path=ppt/notesSlides/notesSlide17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C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17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C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17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C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17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C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17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Table of Contents  (1/6)</a:t>
            </a:r>
          </a:p>
        </p:txBody>
      </p:sp>
      <p:sp>
        <p:nvSpPr>
          <p:cNvPr id="4" name="Slide Number Placeholder 3"/>
          <p:cNvSpPr>
            <a:spLocks noGrp="1"/>
          </p:cNvSpPr>
          <p:nvPr>
            <p:ph type="sldNum" idx="5" sz="quarter"/>
          </p:nvPr>
        </p:nvSpPr>
        <p:spPr/>
      </p:sp>
    </p:spTree>
  </p:cSld>
  <p:clrMapOvr>
    <a:masterClrMapping/>
  </p:clrMapOvr>
</p:notes>
</file>

<file path=ppt/notesSlides/notesSlide17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Table of Contents  (2/6)</a:t>
            </a:r>
          </a:p>
        </p:txBody>
      </p:sp>
      <p:sp>
        <p:nvSpPr>
          <p:cNvPr id="4" name="Slide Number Placeholder 3"/>
          <p:cNvSpPr>
            <a:spLocks noGrp="1"/>
          </p:cNvSpPr>
          <p:nvPr>
            <p:ph type="sldNum" idx="5" sz="quarter"/>
          </p:nvPr>
        </p:nvSpPr>
        <p:spPr/>
      </p:sp>
    </p:spTree>
  </p:cSld>
  <p:clrMapOvr>
    <a:masterClrMapping/>
  </p:clrMapOvr>
</p:notes>
</file>

<file path=ppt/notesSlides/notesSlide17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Table of Contents  (3/6)</a:t>
            </a:r>
          </a:p>
        </p:txBody>
      </p:sp>
      <p:sp>
        <p:nvSpPr>
          <p:cNvPr id="4" name="Slide Number Placeholder 3"/>
          <p:cNvSpPr>
            <a:spLocks noGrp="1"/>
          </p:cNvSpPr>
          <p:nvPr>
            <p:ph type="sldNum" idx="5" sz="quarter"/>
          </p:nvPr>
        </p:nvSpPr>
        <p:spPr/>
      </p:sp>
    </p:spTree>
  </p:cSld>
  <p:clrMapOvr>
    <a:masterClrMapping/>
  </p:clrMapOvr>
</p:notes>
</file>

<file path=ppt/notesSlides/notesSlide17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Table of Contents  (4/6)</a:t>
            </a:r>
          </a:p>
        </p:txBody>
      </p:sp>
      <p:sp>
        <p:nvSpPr>
          <p:cNvPr id="4" name="Slide Number Placeholder 3"/>
          <p:cNvSpPr>
            <a:spLocks noGrp="1"/>
          </p:cNvSpPr>
          <p:nvPr>
            <p:ph type="sldNum" idx="5" sz="quarter"/>
          </p:nvPr>
        </p:nvSpPr>
        <p:spPr/>
      </p:sp>
    </p:spTree>
  </p:cSld>
  <p:clrMapOvr>
    <a:masterClrMapping/>
  </p:clrMapOvr>
</p:notes>
</file>

<file path=ppt/notesSlides/notesSlide17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Table of Contents  (5/6)</a:t>
            </a:r>
          </a:p>
        </p:txBody>
      </p:sp>
      <p:sp>
        <p:nvSpPr>
          <p:cNvPr id="4" name="Slide Number Placeholder 3"/>
          <p:cNvSpPr>
            <a:spLocks noGrp="1"/>
          </p:cNvSpPr>
          <p:nvPr>
            <p:ph type="sldNum" idx="5" sz="quarter"/>
          </p:nvPr>
        </p:nvSpPr>
        <p:spPr/>
      </p:sp>
    </p:spTree>
  </p:cSld>
  <p:clrMapOvr>
    <a:masterClrMapping/>
  </p:clrMapOvr>
</p:notes>
</file>

<file path=ppt/notesSlides/notesSlide17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Table of Contents  (6/6)</a:t>
            </a:r>
          </a:p>
        </p:txBody>
      </p:sp>
      <p:sp>
        <p:nvSpPr>
          <p:cNvPr id="4" name="Slide Number Placeholder 3"/>
          <p:cNvSpPr>
            <a:spLocks noGrp="1"/>
          </p:cNvSpPr>
          <p:nvPr>
            <p:ph type="sldNum" idx="5" sz="quarter"/>
          </p:nvPr>
        </p:nvSpPr>
        <p:spPr/>
      </p:sp>
    </p:spTree>
  </p:cSld>
  <p:clrMapOvr>
    <a:masterClrMapping/>
  </p:clrMapOvr>
</p:notes>
</file>

<file path=ppt/notesSlides/notesSlide17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List of Figures  (1/4)</a:t>
            </a:r>
          </a:p>
        </p:txBody>
      </p:sp>
      <p:sp>
        <p:nvSpPr>
          <p:cNvPr id="4" name="Slide Number Placeholder 3"/>
          <p:cNvSpPr>
            <a:spLocks noGrp="1"/>
          </p:cNvSpPr>
          <p:nvPr>
            <p:ph type="sldNum" idx="5" sz="quarter"/>
          </p:nvPr>
        </p:nvSpPr>
        <p:spPr/>
      </p:sp>
    </p:spTree>
  </p:cSld>
  <p:clrMapOvr>
    <a:masterClrMapping/>
  </p:clrMapOvr>
</p:notes>
</file>

<file path=ppt/notesSlides/notesSlide17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List of Figures  (2/4)</a:t>
            </a:r>
          </a:p>
        </p:txBody>
      </p:sp>
      <p:sp>
        <p:nvSpPr>
          <p:cNvPr id="4" name="Slide Number Placeholder 3"/>
          <p:cNvSpPr>
            <a:spLocks noGrp="1"/>
          </p:cNvSpPr>
          <p:nvPr>
            <p:ph type="sldNum" idx="5" sz="quarter"/>
          </p:nvPr>
        </p:nvSpPr>
        <p:spPr/>
      </p:sp>
    </p:spTree>
  </p:cSld>
  <p:clrMapOvr>
    <a:masterClrMapping/>
  </p:clrMapOvr>
</p:notes>
</file>

<file path=ppt/notesSlides/notesSlide17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List of Figures  (3/4)</a:t>
            </a:r>
          </a:p>
        </p:txBody>
      </p:sp>
      <p:sp>
        <p:nvSpPr>
          <p:cNvPr id="4" name="Slide Number Placeholder 3"/>
          <p:cNvSpPr>
            <a:spLocks noGrp="1"/>
          </p:cNvSpPr>
          <p:nvPr>
            <p:ph type="sldNum" idx="5" sz="quarter"/>
          </p:nvPr>
        </p:nvSpPr>
        <p:spPr/>
      </p:sp>
    </p:spTree>
  </p:cSld>
  <p:clrMapOvr>
    <a:masterClrMapping/>
  </p:clrMapOvr>
</p:notes>
</file>

<file path=ppt/notesSlides/notesSlide17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List of Figures  (4/4)</a:t>
            </a:r>
          </a:p>
        </p:txBody>
      </p:sp>
      <p:sp>
        <p:nvSpPr>
          <p:cNvPr id="4" name="Slide Number Placeholder 3"/>
          <p:cNvSpPr>
            <a:spLocks noGrp="1"/>
          </p:cNvSpPr>
          <p:nvPr>
            <p:ph type="sldNum" idx="5" sz="quarter"/>
          </p:nvPr>
        </p:nvSpPr>
        <p:spPr/>
      </p:sp>
    </p:spTree>
  </p:cSld>
  <p:clrMapOvr>
    <a:masterClrMapping/>
  </p:clrMapOvr>
</p:notes>
</file>

<file path=ppt/notesSlides/notesSlide17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List of Tables  (1/4)</a:t>
            </a:r>
          </a:p>
        </p:txBody>
      </p:sp>
      <p:sp>
        <p:nvSpPr>
          <p:cNvPr id="4" name="Slide Number Placeholder 3"/>
          <p:cNvSpPr>
            <a:spLocks noGrp="1"/>
          </p:cNvSpPr>
          <p:nvPr>
            <p:ph type="sldNum" idx="5" sz="quarter"/>
          </p:nvPr>
        </p:nvSpPr>
        <p:spPr/>
      </p:sp>
    </p:spTree>
  </p:cSld>
  <p:clrMapOvr>
    <a:masterClrMapping/>
  </p:clrMapOvr>
</p:notes>
</file>

<file path=ppt/notesSlides/notesSlide17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List of Tables  (2/4)</a:t>
            </a:r>
          </a:p>
        </p:txBody>
      </p:sp>
      <p:sp>
        <p:nvSpPr>
          <p:cNvPr id="4" name="Slide Number Placeholder 3"/>
          <p:cNvSpPr>
            <a:spLocks noGrp="1"/>
          </p:cNvSpPr>
          <p:nvPr>
            <p:ph type="sldNum" idx="5" sz="quarter"/>
          </p:nvPr>
        </p:nvSpPr>
        <p:spPr/>
      </p:sp>
    </p:spTree>
  </p:cSld>
  <p:clrMapOvr>
    <a:masterClrMapping/>
  </p:clrMapOvr>
</p:notes>
</file>

<file path=ppt/notesSlides/notesSlide17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List of Tables  (3/4)</a:t>
            </a:r>
          </a:p>
        </p:txBody>
      </p:sp>
      <p:sp>
        <p:nvSpPr>
          <p:cNvPr id="4" name="Slide Number Placeholder 3"/>
          <p:cNvSpPr>
            <a:spLocks noGrp="1"/>
          </p:cNvSpPr>
          <p:nvPr>
            <p:ph type="sldNum" idx="5" sz="quarter"/>
          </p:nvPr>
        </p:nvSpPr>
        <p:spPr/>
      </p:sp>
    </p:spTree>
  </p:cSld>
  <p:clrMapOvr>
    <a:masterClrMapping/>
  </p:clrMapOvr>
</p:notes>
</file>

<file path=ppt/notesSlides/notesSlide17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List of Tables  (4/4)</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slide" Target="slide3.xml"/><Relationship Id="rId4" Type="http://schemas.openxmlformats.org/officeDocument/2006/relationships/slide" Target="slide5.xml"/><Relationship Id="rId5" Type="http://schemas.openxmlformats.org/officeDocument/2006/relationships/slide" Target="slide6.xml"/><Relationship Id="rId6" Type="http://schemas.openxmlformats.org/officeDocument/2006/relationships/slide" Target="slide10.xml"/><Relationship Id="rId7" Type="http://schemas.openxmlformats.org/officeDocument/2006/relationships/slide" Target="slide17.xml"/><Relationship Id="rId8" Type="http://schemas.openxmlformats.org/officeDocument/2006/relationships/slide" Target="slide26.xml"/><Relationship Id="rId9" Type="http://schemas.openxmlformats.org/officeDocument/2006/relationships/slide" Target="slide27.xml"/><Relationship Id="rId10" Type="http://schemas.openxmlformats.org/officeDocument/2006/relationships/slide" Target="slide38.xml"/><Relationship Id="rId11" Type="http://schemas.openxmlformats.org/officeDocument/2006/relationships/slide" Target="slide46.xml"/><Relationship Id="rId12" Type="http://schemas.openxmlformats.org/officeDocument/2006/relationships/slide" Target="slide121.xml"/><Relationship Id="rId13" Type="http://schemas.openxmlformats.org/officeDocument/2006/relationships/slide" Target="slide122.xml"/><Relationship Id="rId14" Type="http://schemas.openxmlformats.org/officeDocument/2006/relationships/slide" Target="slide132.xml"/><Relationship Id="rId15" Type="http://schemas.openxmlformats.org/officeDocument/2006/relationships/slide" Target="slide140.xml"/><Relationship Id="rId16" Type="http://schemas.openxmlformats.org/officeDocument/2006/relationships/slide" Target="slide215.xml"/><Relationship Id="rId17" Type="http://schemas.openxmlformats.org/officeDocument/2006/relationships/slide" Target="slide216.xml"/><Relationship Id="rId18" Type="http://schemas.openxmlformats.org/officeDocument/2006/relationships/slide" Target="slide226.xml"/><Relationship Id="rId19" Type="http://schemas.openxmlformats.org/officeDocument/2006/relationships/slide" Target="slide234.xml"/><Relationship Id="rId20" Type="http://schemas.openxmlformats.org/officeDocument/2006/relationships/slide" Target="slide309.xml"/><Relationship Id="rId21" Type="http://schemas.openxmlformats.org/officeDocument/2006/relationships/slide" Target="slide310.xml"/><Relationship Id="rId22" Type="http://schemas.openxmlformats.org/officeDocument/2006/relationships/slide" Target="slide321.xml"/><Relationship Id="rId23" Type="http://schemas.openxmlformats.org/officeDocument/2006/relationships/slide" Target="slide329.xml"/><Relationship Id="rId24" Type="http://schemas.openxmlformats.org/officeDocument/2006/relationships/slide" Target="slide404.xml"/><Relationship Id="rId25" Type="http://schemas.openxmlformats.org/officeDocument/2006/relationships/slide" Target="slide405.xml"/><Relationship Id="rId26" Type="http://schemas.openxmlformats.org/officeDocument/2006/relationships/slide" Target="slide415.xml"/><Relationship Id="rId27" Type="http://schemas.openxmlformats.org/officeDocument/2006/relationships/slide" Target="slide423.xml"/><Relationship Id="rId28" Type="http://schemas.openxmlformats.org/officeDocument/2006/relationships/slide" Target="slide498.xml"/><Relationship Id="rId29" Type="http://schemas.openxmlformats.org/officeDocument/2006/relationships/slide" Target="slide499.xml"/><Relationship Id="rId30" Type="http://schemas.openxmlformats.org/officeDocument/2006/relationships/slide" Target="slide509.xml"/><Relationship Id="rId31" Type="http://schemas.openxmlformats.org/officeDocument/2006/relationships/slide" Target="slide517.xml"/><Relationship Id="rId32" Type="http://schemas.openxmlformats.org/officeDocument/2006/relationships/slide" Target="slide592.xml"/><Relationship Id="rId33" Type="http://schemas.openxmlformats.org/officeDocument/2006/relationships/slide" Target="slide593.xml"/><Relationship Id="rId34" Type="http://schemas.openxmlformats.org/officeDocument/2006/relationships/slide" Target="slide603.xml"/><Relationship Id="rId35" Type="http://schemas.openxmlformats.org/officeDocument/2006/relationships/slide" Target="slide611.xml"/><Relationship Id="rId36" Type="http://schemas.openxmlformats.org/officeDocument/2006/relationships/slide" Target="slide686.xml"/><Relationship Id="rId37" Type="http://schemas.openxmlformats.org/officeDocument/2006/relationships/slide" Target="slide688.xml"/><Relationship Id="rId38" Type="http://schemas.openxmlformats.org/officeDocument/2006/relationships/slide" Target="slide693.xml"/><Relationship Id="rId39" Type="http://schemas.openxmlformats.org/officeDocument/2006/relationships/slide" Target="slide1806.xml"/><Relationship Id="rId40" Type="http://schemas.openxmlformats.org/officeDocument/2006/relationships/slide" Target="slide1807.xml"/><Relationship Id="rId41" Type="http://schemas.openxmlformats.org/officeDocument/2006/relationships/slide" Target="slide1820.xml"/><Relationship Id="rId42" Type="http://schemas.openxmlformats.org/officeDocument/2006/relationships/slide" Target="slide1824.xml"/><Relationship Id="rId43" Type="http://schemas.openxmlformats.org/officeDocument/2006/relationships/slide" Target="slide1825.xml"/><Relationship Id="rId44" Type="http://schemas.openxmlformats.org/officeDocument/2006/relationships/slide" Target="slide1833.xml"/><Relationship Id="rId45" Type="http://schemas.openxmlformats.org/officeDocument/2006/relationships/slide" Target="slide1834.xml"/><Relationship Id="rId46" Type="http://schemas.openxmlformats.org/officeDocument/2006/relationships/slide" Target="slide1848.xml"/><Relationship Id="rId47" Type="http://schemas.openxmlformats.org/officeDocument/2006/relationships/slide" Target="slide185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8.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9.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0.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3.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6.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8.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9.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40.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41.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xml"/><Relationship Id="rId4" Type="http://schemas.openxmlformats.org/officeDocument/2006/relationships/chart" Target="../charts/chart2.xml"/><Relationship Id="rId5" Type="http://schemas.openxmlformats.org/officeDocument/2006/relationships/notesSlide" Target="../notesSlides/notesSlide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xml"/><Relationship Id="rId4" Type="http://schemas.openxmlformats.org/officeDocument/2006/relationships/chart" Target="../charts/chart4.xml"/><Relationship Id="rId5" Type="http://schemas.openxmlformats.org/officeDocument/2006/relationships/notesSlide" Target="../notesSlides/notesSlide9.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xml"/><Relationship Id="rId4" Type="http://schemas.openxmlformats.org/officeDocument/2006/relationships/chart" Target="../charts/chart6.xml"/><Relationship Id="rId5" Type="http://schemas.openxmlformats.org/officeDocument/2006/relationships/notesSlide" Target="../notesSlides/notesSlide10.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xml"/><Relationship Id="rId4" Type="http://schemas.openxmlformats.org/officeDocument/2006/relationships/chart" Target="../charts/chart8.xml"/><Relationship Id="rId5" Type="http://schemas.openxmlformats.org/officeDocument/2006/relationships/notesSlide" Target="../notesSlides/notesSlide1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xml"/><Relationship Id="rId4" Type="http://schemas.openxmlformats.org/officeDocument/2006/relationships/notesSlide" Target="../notesSlides/notesSlide14.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xml"/><Relationship Id="rId4" Type="http://schemas.openxmlformats.org/officeDocument/2006/relationships/notesSlide" Target="../notesSlides/notesSlide16.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xml"/><Relationship Id="rId4" Type="http://schemas.openxmlformats.org/officeDocument/2006/relationships/notesSlide" Target="../notesSlides/notesSlide18.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xml"/><Relationship Id="rId4" Type="http://schemas.openxmlformats.org/officeDocument/2006/relationships/notesSlide" Target="../notesSlides/notesSlide19.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xml"/><Relationship Id="rId4" Type="http://schemas.openxmlformats.org/officeDocument/2006/relationships/chart" Target="../charts/chart14.xml"/><Relationship Id="rId5" Type="http://schemas.openxmlformats.org/officeDocument/2006/relationships/notesSlide" Target="../notesSlides/notesSlide2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xml"/><Relationship Id="rId4" Type="http://schemas.openxmlformats.org/officeDocument/2006/relationships/chart" Target="../charts/chart16.xml"/><Relationship Id="rId5" Type="http://schemas.openxmlformats.org/officeDocument/2006/relationships/notesSlide" Target="../notesSlides/notesSlide26.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xml"/><Relationship Id="rId4" Type="http://schemas.openxmlformats.org/officeDocument/2006/relationships/chart" Target="../charts/chart18.xml"/><Relationship Id="rId5" Type="http://schemas.openxmlformats.org/officeDocument/2006/relationships/chart" Target="../charts/chart19.xml"/><Relationship Id="rId6" Type="http://schemas.openxmlformats.org/officeDocument/2006/relationships/chart" Target="../charts/chart20.xml"/><Relationship Id="rId7" Type="http://schemas.openxmlformats.org/officeDocument/2006/relationships/notesSlide" Target="../notesSlides/notesSlide27.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xml"/><Relationship Id="rId4" Type="http://schemas.openxmlformats.org/officeDocument/2006/relationships/chart" Target="../charts/chart22.xml"/><Relationship Id="rId5" Type="http://schemas.openxmlformats.org/officeDocument/2006/relationships/chart" Target="../charts/chart23.xml"/><Relationship Id="rId6" Type="http://schemas.openxmlformats.org/officeDocument/2006/relationships/chart" Target="../charts/chart24.xml"/><Relationship Id="rId7" Type="http://schemas.openxmlformats.org/officeDocument/2006/relationships/notesSlide" Target="../notesSlides/notesSlide28.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xml"/><Relationship Id="rId4" Type="http://schemas.openxmlformats.org/officeDocument/2006/relationships/notesSlide" Target="../notesSlides/notesSlide3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xml"/><Relationship Id="rId4" Type="http://schemas.openxmlformats.org/officeDocument/2006/relationships/chart" Target="../charts/chart27.xml"/><Relationship Id="rId5" Type="http://schemas.openxmlformats.org/officeDocument/2006/relationships/notesSlide" Target="../notesSlides/notesSlide37.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xml"/><Relationship Id="rId4" Type="http://schemas.openxmlformats.org/officeDocument/2006/relationships/chart" Target="../charts/chart29.xml"/><Relationship Id="rId5" Type="http://schemas.openxmlformats.org/officeDocument/2006/relationships/chart" Target="../charts/chart30.xml"/><Relationship Id="rId6" Type="http://schemas.openxmlformats.org/officeDocument/2006/relationships/chart" Target="../charts/chart31.xml"/><Relationship Id="rId7" Type="http://schemas.openxmlformats.org/officeDocument/2006/relationships/notesSlide" Target="../notesSlides/notesSlide38.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xml"/><Relationship Id="rId4" Type="http://schemas.openxmlformats.org/officeDocument/2006/relationships/notesSlide" Target="../notesSlides/notesSlide39.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xml"/><Relationship Id="rId4" Type="http://schemas.openxmlformats.org/officeDocument/2006/relationships/notesSlide" Target="../notesSlides/notesSlide4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xml"/><Relationship Id="rId4" Type="http://schemas.openxmlformats.org/officeDocument/2006/relationships/chart" Target="../charts/chart35.xml"/><Relationship Id="rId5" Type="http://schemas.openxmlformats.org/officeDocument/2006/relationships/notesSlide" Target="../notesSlides/notesSlide46.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xml"/><Relationship Id="rId4" Type="http://schemas.openxmlformats.org/officeDocument/2006/relationships/chart" Target="../charts/chart37.xml"/><Relationship Id="rId5" Type="http://schemas.openxmlformats.org/officeDocument/2006/relationships/chart" Target="../charts/chart38.xml"/><Relationship Id="rId6" Type="http://schemas.openxmlformats.org/officeDocument/2006/relationships/notesSlide" Target="../notesSlides/notesSlide47.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9.xml"/><Relationship Id="rId4" Type="http://schemas.openxmlformats.org/officeDocument/2006/relationships/notesSlide" Target="../notesSlides/notesSlide50.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3.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0.xml"/><Relationship Id="rId4" Type="http://schemas.openxmlformats.org/officeDocument/2006/relationships/chart" Target="../charts/chart41.xml"/><Relationship Id="rId5" Type="http://schemas.openxmlformats.org/officeDocument/2006/relationships/notesSlide" Target="../notesSlides/notesSlide55.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2.xml"/><Relationship Id="rId4" Type="http://schemas.openxmlformats.org/officeDocument/2006/relationships/chart" Target="../charts/chart43.xml"/><Relationship Id="rId5" Type="http://schemas.openxmlformats.org/officeDocument/2006/relationships/chart" Target="../charts/chart44.xml"/><Relationship Id="rId6" Type="http://schemas.openxmlformats.org/officeDocument/2006/relationships/chart" Target="../charts/chart45.xml"/><Relationship Id="rId7" Type="http://schemas.openxmlformats.org/officeDocument/2006/relationships/notesSlide" Target="../notesSlides/notesSlide56.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6.xml"/><Relationship Id="rId4" Type="http://schemas.openxmlformats.org/officeDocument/2006/relationships/chart" Target="../charts/chart47.xml"/><Relationship Id="rId5" Type="http://schemas.openxmlformats.org/officeDocument/2006/relationships/notesSlide" Target="../notesSlides/notesSlide57.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8.xml"/><Relationship Id="rId4" Type="http://schemas.openxmlformats.org/officeDocument/2006/relationships/notesSlide" Target="../notesSlides/notesSlide60.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9.xml"/><Relationship Id="rId4" Type="http://schemas.openxmlformats.org/officeDocument/2006/relationships/chart" Target="../charts/chart50.xml"/><Relationship Id="rId5" Type="http://schemas.openxmlformats.org/officeDocument/2006/relationships/notesSlide" Target="../notesSlides/notesSlide64.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1.xml"/><Relationship Id="rId4" Type="http://schemas.openxmlformats.org/officeDocument/2006/relationships/chart" Target="../charts/chart52.xml"/><Relationship Id="rId5" Type="http://schemas.openxmlformats.org/officeDocument/2006/relationships/chart" Target="../charts/chart53.xml"/><Relationship Id="rId6" Type="http://schemas.openxmlformats.org/officeDocument/2006/relationships/chart" Target="../charts/chart54.xml"/><Relationship Id="rId7" Type="http://schemas.openxmlformats.org/officeDocument/2006/relationships/notesSlide" Target="../notesSlides/notesSlide65.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5.xml"/><Relationship Id="rId4" Type="http://schemas.openxmlformats.org/officeDocument/2006/relationships/chart" Target="../charts/chart56.xml"/><Relationship Id="rId5" Type="http://schemas.openxmlformats.org/officeDocument/2006/relationships/chart" Target="../charts/chart57.xml"/><Relationship Id="rId6" Type="http://schemas.openxmlformats.org/officeDocument/2006/relationships/notesSlide" Target="../notesSlides/notesSlide66.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8.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xml"/><Relationship Id="rId4" Type="http://schemas.openxmlformats.org/officeDocument/2006/relationships/notesSlide" Target="../notesSlides/notesSlide69.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1.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9.xml"/><Relationship Id="rId4" Type="http://schemas.openxmlformats.org/officeDocument/2006/relationships/chart" Target="../charts/chart60.xml"/><Relationship Id="rId5" Type="http://schemas.openxmlformats.org/officeDocument/2006/relationships/notesSlide" Target="../notesSlides/notesSlide73.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1.xml"/><Relationship Id="rId4" Type="http://schemas.openxmlformats.org/officeDocument/2006/relationships/chart" Target="../charts/chart62.xml"/><Relationship Id="rId5" Type="http://schemas.openxmlformats.org/officeDocument/2006/relationships/chart" Target="../charts/chart63.xml"/><Relationship Id="rId6" Type="http://schemas.openxmlformats.org/officeDocument/2006/relationships/chart" Target="../charts/chart64.xml"/><Relationship Id="rId7" Type="http://schemas.openxmlformats.org/officeDocument/2006/relationships/notesSlide" Target="../notesSlides/notesSlide74.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5.xml"/><Relationship Id="rId4" Type="http://schemas.openxmlformats.org/officeDocument/2006/relationships/notesSlide" Target="../notesSlides/notesSlide75.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6.xml"/><Relationship Id="rId4" Type="http://schemas.openxmlformats.org/officeDocument/2006/relationships/notesSlide" Target="../notesSlides/notesSlide78.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7.xml"/><Relationship Id="rId4" Type="http://schemas.openxmlformats.org/officeDocument/2006/relationships/chart" Target="../charts/chart68.xml"/><Relationship Id="rId5" Type="http://schemas.openxmlformats.org/officeDocument/2006/relationships/notesSlide" Target="../notesSlides/notesSlide8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9.xml"/><Relationship Id="rId4" Type="http://schemas.openxmlformats.org/officeDocument/2006/relationships/chart" Target="../charts/chart70.xml"/><Relationship Id="rId5" Type="http://schemas.openxmlformats.org/officeDocument/2006/relationships/chart" Target="../charts/chart71.xml"/><Relationship Id="rId6" Type="http://schemas.openxmlformats.org/officeDocument/2006/relationships/chart" Target="../charts/chart72.xml"/><Relationship Id="rId7" Type="http://schemas.openxmlformats.org/officeDocument/2006/relationships/notesSlide" Target="../notesSlides/notesSlide8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5.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xml"/><Relationship Id="rId4" Type="http://schemas.openxmlformats.org/officeDocument/2006/relationships/notesSlide" Target="../notesSlides/notesSlide86.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1.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4.xml"/><Relationship Id="rId4" Type="http://schemas.openxmlformats.org/officeDocument/2006/relationships/chart" Target="../charts/chart75.xml"/><Relationship Id="rId5" Type="http://schemas.openxmlformats.org/officeDocument/2006/relationships/notesSlide" Target="../notesSlides/notesSlide9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3.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6.xml"/><Relationship Id="rId4" Type="http://schemas.openxmlformats.org/officeDocument/2006/relationships/chart" Target="../charts/chart77.xml"/><Relationship Id="rId5" Type="http://schemas.openxmlformats.org/officeDocument/2006/relationships/notesSlide" Target="../notesSlides/notesSlide94.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8.xml"/><Relationship Id="rId4" Type="http://schemas.openxmlformats.org/officeDocument/2006/relationships/chart" Target="../charts/chart79.xml"/><Relationship Id="rId5" Type="http://schemas.openxmlformats.org/officeDocument/2006/relationships/notesSlide" Target="../notesSlides/notesSlide95.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0.xml"/><Relationship Id="rId4" Type="http://schemas.openxmlformats.org/officeDocument/2006/relationships/chart" Target="../charts/chart81.xml"/><Relationship Id="rId5" Type="http://schemas.openxmlformats.org/officeDocument/2006/relationships/notesSlide" Target="../notesSlides/notesSlide96.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xml"/><Relationship Id="rId4" Type="http://schemas.openxmlformats.org/officeDocument/2006/relationships/notesSlide" Target="../notesSlides/notesSlide98.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9.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3.xml"/><Relationship Id="rId4" Type="http://schemas.openxmlformats.org/officeDocument/2006/relationships/notesSlide" Target="../notesSlides/notesSlide100.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4.xml"/><Relationship Id="rId4" Type="http://schemas.openxmlformats.org/officeDocument/2006/relationships/notesSlide" Target="../notesSlides/notesSlide10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5.xml"/><Relationship Id="rId4" Type="http://schemas.openxmlformats.org/officeDocument/2006/relationships/notesSlide" Target="../notesSlides/notesSlide103.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5.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6.xml"/><Relationship Id="rId4" Type="http://schemas.openxmlformats.org/officeDocument/2006/relationships/chart" Target="../charts/chart87.xml"/><Relationship Id="rId5" Type="http://schemas.openxmlformats.org/officeDocument/2006/relationships/notesSlide" Target="../notesSlides/notesSlide106.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9.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8.xml"/><Relationship Id="rId4" Type="http://schemas.openxmlformats.org/officeDocument/2006/relationships/chart" Target="../charts/chart89.xml"/><Relationship Id="rId5" Type="http://schemas.openxmlformats.org/officeDocument/2006/relationships/notesSlide" Target="../notesSlides/notesSlide110.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0.xml"/><Relationship Id="rId4" Type="http://schemas.openxmlformats.org/officeDocument/2006/relationships/chart" Target="../charts/chart91.xml"/><Relationship Id="rId5" Type="http://schemas.openxmlformats.org/officeDocument/2006/relationships/chart" Target="../charts/chart92.xml"/><Relationship Id="rId6" Type="http://schemas.openxmlformats.org/officeDocument/2006/relationships/chart" Target="../charts/chart93.xml"/><Relationship Id="rId7" Type="http://schemas.openxmlformats.org/officeDocument/2006/relationships/notesSlide" Target="../notesSlides/notesSlide11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4.xml"/><Relationship Id="rId4" Type="http://schemas.openxmlformats.org/officeDocument/2006/relationships/chart" Target="../charts/chart95.xml"/><Relationship Id="rId5" Type="http://schemas.openxmlformats.org/officeDocument/2006/relationships/chart" Target="../charts/chart96.xml"/><Relationship Id="rId6" Type="http://schemas.openxmlformats.org/officeDocument/2006/relationships/chart" Target="../charts/chart97.xml"/><Relationship Id="rId7" Type="http://schemas.openxmlformats.org/officeDocument/2006/relationships/notesSlide" Target="../notesSlides/notesSlide11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8.xml"/><Relationship Id="rId4" Type="http://schemas.openxmlformats.org/officeDocument/2006/relationships/notesSlide" Target="../notesSlides/notesSlide115.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8.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xml"/><Relationship Id="rId4" Type="http://schemas.openxmlformats.org/officeDocument/2006/relationships/chart" Target="../charts/chart100.xml"/><Relationship Id="rId5" Type="http://schemas.openxmlformats.org/officeDocument/2006/relationships/notesSlide" Target="../notesSlides/notesSlide121.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1.xml"/><Relationship Id="rId4" Type="http://schemas.openxmlformats.org/officeDocument/2006/relationships/chart" Target="../charts/chart102.xml"/><Relationship Id="rId5" Type="http://schemas.openxmlformats.org/officeDocument/2006/relationships/chart" Target="../charts/chart103.xml"/><Relationship Id="rId6" Type="http://schemas.openxmlformats.org/officeDocument/2006/relationships/chart" Target="../charts/chart104.xml"/><Relationship Id="rId7" Type="http://schemas.openxmlformats.org/officeDocument/2006/relationships/notesSlide" Target="../notesSlides/notesSlide1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xml"/><Relationship Id="rId4" Type="http://schemas.openxmlformats.org/officeDocument/2006/relationships/notesSlide" Target="../notesSlides/notesSlide123.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5.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6.xml"/><Relationship Id="rId4" Type="http://schemas.openxmlformats.org/officeDocument/2006/relationships/notesSlide" Target="../notesSlides/notesSlide126.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7.xml"/><Relationship Id="rId4" Type="http://schemas.openxmlformats.org/officeDocument/2006/relationships/chart" Target="../charts/chart108.xml"/><Relationship Id="rId5" Type="http://schemas.openxmlformats.org/officeDocument/2006/relationships/notesSlide" Target="../notesSlides/notesSlide130.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9.xml"/><Relationship Id="rId4" Type="http://schemas.openxmlformats.org/officeDocument/2006/relationships/chart" Target="../charts/chart110.xml"/><Relationship Id="rId5" Type="http://schemas.openxmlformats.org/officeDocument/2006/relationships/chart" Target="../charts/chart111.xml"/><Relationship Id="rId6" Type="http://schemas.openxmlformats.org/officeDocument/2006/relationships/notesSlide" Target="../notesSlides/notesSlide131.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2.xml"/><Relationship Id="rId4" Type="http://schemas.openxmlformats.org/officeDocument/2006/relationships/notesSlide" Target="../notesSlides/notesSlide134.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7.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8.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3.xml"/><Relationship Id="rId4" Type="http://schemas.openxmlformats.org/officeDocument/2006/relationships/chart" Target="../charts/chart114.xml"/><Relationship Id="rId5" Type="http://schemas.openxmlformats.org/officeDocument/2006/relationships/notesSlide" Target="../notesSlides/notesSlide139.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5.xml"/><Relationship Id="rId4" Type="http://schemas.openxmlformats.org/officeDocument/2006/relationships/chart" Target="../charts/chart116.xml"/><Relationship Id="rId5" Type="http://schemas.openxmlformats.org/officeDocument/2006/relationships/chart" Target="../charts/chart117.xml"/><Relationship Id="rId6" Type="http://schemas.openxmlformats.org/officeDocument/2006/relationships/chart" Target="../charts/chart118.xml"/><Relationship Id="rId7" Type="http://schemas.openxmlformats.org/officeDocument/2006/relationships/notesSlide" Target="../notesSlides/notesSlide140.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9.xml"/><Relationship Id="rId4" Type="http://schemas.openxmlformats.org/officeDocument/2006/relationships/chart" Target="../charts/chart120.xml"/><Relationship Id="rId5" Type="http://schemas.openxmlformats.org/officeDocument/2006/relationships/notesSlide" Target="../notesSlides/notesSlide141.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3.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1.xml"/><Relationship Id="rId4" Type="http://schemas.openxmlformats.org/officeDocument/2006/relationships/notesSlide" Target="../notesSlides/notesSlide14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6.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2.xml"/><Relationship Id="rId4" Type="http://schemas.openxmlformats.org/officeDocument/2006/relationships/chart" Target="../charts/chart123.xml"/><Relationship Id="rId5" Type="http://schemas.openxmlformats.org/officeDocument/2006/relationships/notesSlide" Target="../notesSlides/notesSlide148.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4.xml"/><Relationship Id="rId4" Type="http://schemas.openxmlformats.org/officeDocument/2006/relationships/chart" Target="../charts/chart125.xml"/><Relationship Id="rId5" Type="http://schemas.openxmlformats.org/officeDocument/2006/relationships/chart" Target="../charts/chart126.xml"/><Relationship Id="rId6" Type="http://schemas.openxmlformats.org/officeDocument/2006/relationships/chart" Target="../charts/chart127.xml"/><Relationship Id="rId7" Type="http://schemas.openxmlformats.org/officeDocument/2006/relationships/notesSlide" Target="../notesSlides/notesSlide149.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8.xml"/><Relationship Id="rId4" Type="http://schemas.openxmlformats.org/officeDocument/2006/relationships/chart" Target="../charts/chart129.xml"/><Relationship Id="rId5" Type="http://schemas.openxmlformats.org/officeDocument/2006/relationships/chart" Target="../charts/chart130.xml"/><Relationship Id="rId6" Type="http://schemas.openxmlformats.org/officeDocument/2006/relationships/notesSlide" Target="../notesSlides/notesSlide150.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2.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xml"/><Relationship Id="rId4" Type="http://schemas.openxmlformats.org/officeDocument/2006/relationships/notesSlide" Target="../notesSlides/notesSlide153.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5.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6.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2.xml"/><Relationship Id="rId4" Type="http://schemas.openxmlformats.org/officeDocument/2006/relationships/chart" Target="../charts/chart133.xml"/><Relationship Id="rId5" Type="http://schemas.openxmlformats.org/officeDocument/2006/relationships/notesSlide" Target="../notesSlides/notesSlide157.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xml"/><Relationship Id="rId4" Type="http://schemas.openxmlformats.org/officeDocument/2006/relationships/chart" Target="../charts/chart135.xml"/><Relationship Id="rId5" Type="http://schemas.openxmlformats.org/officeDocument/2006/relationships/chart" Target="../charts/chart136.xml"/><Relationship Id="rId6" Type="http://schemas.openxmlformats.org/officeDocument/2006/relationships/chart" Target="../charts/chart137.xml"/><Relationship Id="rId7" Type="http://schemas.openxmlformats.org/officeDocument/2006/relationships/notesSlide" Target="../notesSlides/notesSlide158.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8.xml"/><Relationship Id="rId4" Type="http://schemas.openxmlformats.org/officeDocument/2006/relationships/notesSlide" Target="../notesSlides/notesSlide159.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9.xml"/><Relationship Id="rId4" Type="http://schemas.openxmlformats.org/officeDocument/2006/relationships/notesSlide" Target="../notesSlides/notesSlide162.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0.xml"/><Relationship Id="rId4" Type="http://schemas.openxmlformats.org/officeDocument/2006/relationships/chart" Target="../charts/chart141.xml"/><Relationship Id="rId5" Type="http://schemas.openxmlformats.org/officeDocument/2006/relationships/notesSlide" Target="../notesSlides/notesSlide166.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2.xml"/><Relationship Id="rId4" Type="http://schemas.openxmlformats.org/officeDocument/2006/relationships/chart" Target="../charts/chart143.xml"/><Relationship Id="rId5" Type="http://schemas.openxmlformats.org/officeDocument/2006/relationships/chart" Target="../charts/chart144.xml"/><Relationship Id="rId6" Type="http://schemas.openxmlformats.org/officeDocument/2006/relationships/chart" Target="../charts/chart145.xml"/><Relationship Id="rId7" Type="http://schemas.openxmlformats.org/officeDocument/2006/relationships/notesSlide" Target="../notesSlides/notesSlide167.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6.xml"/><Relationship Id="rId4" Type="http://schemas.openxmlformats.org/officeDocument/2006/relationships/notesSlide" Target="../notesSlides/notesSlide170.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4.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5.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7.xml"/><Relationship Id="rId4" Type="http://schemas.openxmlformats.org/officeDocument/2006/relationships/chart" Target="../charts/chart148.xml"/><Relationship Id="rId5" Type="http://schemas.openxmlformats.org/officeDocument/2006/relationships/notesSlide" Target="../notesSlides/notesSlide176.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7.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9.xml"/><Relationship Id="rId4" Type="http://schemas.openxmlformats.org/officeDocument/2006/relationships/chart" Target="../charts/chart150.xml"/><Relationship Id="rId5" Type="http://schemas.openxmlformats.org/officeDocument/2006/relationships/notesSlide" Target="../notesSlides/notesSlide17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1.xml"/><Relationship Id="rId4" Type="http://schemas.openxmlformats.org/officeDocument/2006/relationships/chart" Target="../charts/chart152.xml"/><Relationship Id="rId5" Type="http://schemas.openxmlformats.org/officeDocument/2006/relationships/notesSlide" Target="../notesSlides/notesSlide179.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3.xml"/><Relationship Id="rId4" Type="http://schemas.openxmlformats.org/officeDocument/2006/relationships/chart" Target="../charts/chart154.xml"/><Relationship Id="rId5" Type="http://schemas.openxmlformats.org/officeDocument/2006/relationships/notesSlide" Target="../notesSlides/notesSlide180.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1.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5.xml"/><Relationship Id="rId4" Type="http://schemas.openxmlformats.org/officeDocument/2006/relationships/notesSlide" Target="../notesSlides/notesSlide182.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3.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6.xml"/><Relationship Id="rId4" Type="http://schemas.openxmlformats.org/officeDocument/2006/relationships/notesSlide" Target="../notesSlides/notesSlide184.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5.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xml"/><Relationship Id="rId4" Type="http://schemas.openxmlformats.org/officeDocument/2006/relationships/notesSlide" Target="../notesSlides/notesSlide186.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8.xml"/><Relationship Id="rId4" Type="http://schemas.openxmlformats.org/officeDocument/2006/relationships/notesSlide" Target="../notesSlides/notesSlide187.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8.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9.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9.xml"/><Relationship Id="rId4" Type="http://schemas.openxmlformats.org/officeDocument/2006/relationships/chart" Target="../charts/chart160.xml"/><Relationship Id="rId5" Type="http://schemas.openxmlformats.org/officeDocument/2006/relationships/notesSlide" Target="../notesSlides/notesSlide190.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1.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2.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3.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1.xml"/><Relationship Id="rId4" Type="http://schemas.openxmlformats.org/officeDocument/2006/relationships/chart" Target="../charts/chart162.xml"/><Relationship Id="rId5" Type="http://schemas.openxmlformats.org/officeDocument/2006/relationships/notesSlide" Target="../notesSlides/notesSlide194.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3.xml"/><Relationship Id="rId4" Type="http://schemas.openxmlformats.org/officeDocument/2006/relationships/chart" Target="../charts/chart164.xml"/><Relationship Id="rId5" Type="http://schemas.openxmlformats.org/officeDocument/2006/relationships/chart" Target="../charts/chart165.xml"/><Relationship Id="rId6" Type="http://schemas.openxmlformats.org/officeDocument/2006/relationships/chart" Target="../charts/chart166.xml"/><Relationship Id="rId7" Type="http://schemas.openxmlformats.org/officeDocument/2006/relationships/notesSlide" Target="../notesSlides/notesSlide195.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7.xml"/><Relationship Id="rId4" Type="http://schemas.openxmlformats.org/officeDocument/2006/relationships/chart" Target="../charts/chart168.xml"/><Relationship Id="rId5" Type="http://schemas.openxmlformats.org/officeDocument/2006/relationships/chart" Target="../charts/chart169.xml"/><Relationship Id="rId6" Type="http://schemas.openxmlformats.org/officeDocument/2006/relationships/chart" Target="../charts/chart170.xml"/><Relationship Id="rId7" Type="http://schemas.openxmlformats.org/officeDocument/2006/relationships/notesSlide" Target="../notesSlides/notesSlide196.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8.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1.xml"/><Relationship Id="rId4" Type="http://schemas.openxmlformats.org/officeDocument/2006/relationships/notesSlide" Target="../notesSlides/notesSlide199.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2.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3.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4.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2.xml"/><Relationship Id="rId4" Type="http://schemas.openxmlformats.org/officeDocument/2006/relationships/chart" Target="../charts/chart173.xml"/><Relationship Id="rId5" Type="http://schemas.openxmlformats.org/officeDocument/2006/relationships/notesSlide" Target="../notesSlides/notesSlide205.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4.xml"/><Relationship Id="rId4" Type="http://schemas.openxmlformats.org/officeDocument/2006/relationships/chart" Target="../charts/chart175.xml"/><Relationship Id="rId5" Type="http://schemas.openxmlformats.org/officeDocument/2006/relationships/chart" Target="../charts/chart176.xml"/><Relationship Id="rId6" Type="http://schemas.openxmlformats.org/officeDocument/2006/relationships/chart" Target="../charts/chart177.xml"/><Relationship Id="rId7" Type="http://schemas.openxmlformats.org/officeDocument/2006/relationships/notesSlide" Target="../notesSlides/notesSlide206.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8.xml"/><Relationship Id="rId4" Type="http://schemas.openxmlformats.org/officeDocument/2006/relationships/notesSlide" Target="../notesSlides/notesSlide207.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9.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9.xml"/><Relationship Id="rId4" Type="http://schemas.openxmlformats.org/officeDocument/2006/relationships/notesSlide" Target="../notesSlides/notesSlide210.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2.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3.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0.xml"/><Relationship Id="rId4" Type="http://schemas.openxmlformats.org/officeDocument/2006/relationships/chart" Target="../charts/chart181.xml"/><Relationship Id="rId5" Type="http://schemas.openxmlformats.org/officeDocument/2006/relationships/notesSlide" Target="../notesSlides/notesSlide214.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2.xml"/><Relationship Id="rId4" Type="http://schemas.openxmlformats.org/officeDocument/2006/relationships/chart" Target="../charts/chart183.xml"/><Relationship Id="rId5" Type="http://schemas.openxmlformats.org/officeDocument/2006/relationships/chart" Target="../charts/chart184.xml"/><Relationship Id="rId6" Type="http://schemas.openxmlformats.org/officeDocument/2006/relationships/notesSlide" Target="../notesSlides/notesSlide215.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7.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5.xml"/><Relationship Id="rId4" Type="http://schemas.openxmlformats.org/officeDocument/2006/relationships/notesSlide" Target="../notesSlides/notesSlide218.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0.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1.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2.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6.xml"/><Relationship Id="rId4" Type="http://schemas.openxmlformats.org/officeDocument/2006/relationships/chart" Target="../charts/chart187.xml"/><Relationship Id="rId5" Type="http://schemas.openxmlformats.org/officeDocument/2006/relationships/notesSlide" Target="../notesSlides/notesSlide223.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8.xml"/><Relationship Id="rId4" Type="http://schemas.openxmlformats.org/officeDocument/2006/relationships/chart" Target="../charts/chart189.xml"/><Relationship Id="rId5" Type="http://schemas.openxmlformats.org/officeDocument/2006/relationships/chart" Target="../charts/chart190.xml"/><Relationship Id="rId6" Type="http://schemas.openxmlformats.org/officeDocument/2006/relationships/chart" Target="../charts/chart191.xml"/><Relationship Id="rId7" Type="http://schemas.openxmlformats.org/officeDocument/2006/relationships/notesSlide" Target="../notesSlides/notesSlide224.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2.xml"/><Relationship Id="rId4" Type="http://schemas.openxmlformats.org/officeDocument/2006/relationships/chart" Target="../charts/chart193.xml"/><Relationship Id="rId5" Type="http://schemas.openxmlformats.org/officeDocument/2006/relationships/notesSlide" Target="../notesSlides/notesSlide225.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4.xml"/><Relationship Id="rId4" Type="http://schemas.openxmlformats.org/officeDocument/2006/relationships/notesSlide" Target="../notesSlides/notesSlide228.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0.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1.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5.xml"/><Relationship Id="rId4" Type="http://schemas.openxmlformats.org/officeDocument/2006/relationships/chart" Target="../charts/chart196.xml"/><Relationship Id="rId5" Type="http://schemas.openxmlformats.org/officeDocument/2006/relationships/notesSlide" Target="../notesSlides/notesSlide232.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7.xml"/><Relationship Id="rId4" Type="http://schemas.openxmlformats.org/officeDocument/2006/relationships/chart" Target="../charts/chart198.xml"/><Relationship Id="rId5" Type="http://schemas.openxmlformats.org/officeDocument/2006/relationships/chart" Target="../charts/chart199.xml"/><Relationship Id="rId6" Type="http://schemas.openxmlformats.org/officeDocument/2006/relationships/chart" Target="../charts/chart200.xml"/><Relationship Id="rId7" Type="http://schemas.openxmlformats.org/officeDocument/2006/relationships/notesSlide" Target="../notesSlides/notesSlide233.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1.xml"/><Relationship Id="rId4" Type="http://schemas.openxmlformats.org/officeDocument/2006/relationships/chart" Target="../charts/chart202.xml"/><Relationship Id="rId5" Type="http://schemas.openxmlformats.org/officeDocument/2006/relationships/chart" Target="../charts/chart203.xml"/><Relationship Id="rId6" Type="http://schemas.openxmlformats.org/officeDocument/2006/relationships/notesSlide" Target="../notesSlides/notesSlide234.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6.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4.xml"/><Relationship Id="rId4" Type="http://schemas.openxmlformats.org/officeDocument/2006/relationships/notesSlide" Target="../notesSlides/notesSlide237.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9.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0.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5.xml"/><Relationship Id="rId4" Type="http://schemas.openxmlformats.org/officeDocument/2006/relationships/chart" Target="../charts/chart206.xml"/><Relationship Id="rId5" Type="http://schemas.openxmlformats.org/officeDocument/2006/relationships/notesSlide" Target="../notesSlides/notesSlide241.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7.xml"/><Relationship Id="rId4" Type="http://schemas.openxmlformats.org/officeDocument/2006/relationships/chart" Target="../charts/chart208.xml"/><Relationship Id="rId5" Type="http://schemas.openxmlformats.org/officeDocument/2006/relationships/chart" Target="../charts/chart209.xml"/><Relationship Id="rId6" Type="http://schemas.openxmlformats.org/officeDocument/2006/relationships/chart" Target="../charts/chart210.xml"/><Relationship Id="rId7" Type="http://schemas.openxmlformats.org/officeDocument/2006/relationships/notesSlide" Target="../notesSlides/notesSlide242.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1.xml"/><Relationship Id="rId4" Type="http://schemas.openxmlformats.org/officeDocument/2006/relationships/notesSlide" Target="../notesSlides/notesSlide243.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5.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2.xml"/><Relationship Id="rId4" Type="http://schemas.openxmlformats.org/officeDocument/2006/relationships/notesSlide" Target="../notesSlides/notesSlide246.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3.xml"/><Relationship Id="rId4" Type="http://schemas.openxmlformats.org/officeDocument/2006/relationships/chart" Target="../charts/chart214.xml"/><Relationship Id="rId5" Type="http://schemas.openxmlformats.org/officeDocument/2006/relationships/notesSlide" Target="../notesSlides/notesSlide250.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5.xml"/><Relationship Id="rId4" Type="http://schemas.openxmlformats.org/officeDocument/2006/relationships/chart" Target="../charts/chart216.xml"/><Relationship Id="rId5" Type="http://schemas.openxmlformats.org/officeDocument/2006/relationships/chart" Target="../charts/chart217.xml"/><Relationship Id="rId6" Type="http://schemas.openxmlformats.org/officeDocument/2006/relationships/chart" Target="../charts/chart218.xml"/><Relationship Id="rId7" Type="http://schemas.openxmlformats.org/officeDocument/2006/relationships/notesSlide" Target="../notesSlides/notesSlide251.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3.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9.xml"/><Relationship Id="rId4" Type="http://schemas.openxmlformats.org/officeDocument/2006/relationships/notesSlide" Target="../notesSlides/notesSlide254.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8.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9.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0.xml"/><Relationship Id="rId4" Type="http://schemas.openxmlformats.org/officeDocument/2006/relationships/chart" Target="../charts/chart221.xml"/><Relationship Id="rId5" Type="http://schemas.openxmlformats.org/officeDocument/2006/relationships/notesSlide" Target="../notesSlides/notesSlide260.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1.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2.xml"/><Relationship Id="rId4" Type="http://schemas.openxmlformats.org/officeDocument/2006/relationships/chart" Target="../charts/chart223.xml"/><Relationship Id="rId5" Type="http://schemas.openxmlformats.org/officeDocument/2006/relationships/notesSlide" Target="../notesSlides/notesSlide262.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4.xml"/><Relationship Id="rId4" Type="http://schemas.openxmlformats.org/officeDocument/2006/relationships/chart" Target="../charts/chart225.xml"/><Relationship Id="rId5" Type="http://schemas.openxmlformats.org/officeDocument/2006/relationships/notesSlide" Target="../notesSlides/notesSlide263.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6.xml"/><Relationship Id="rId4" Type="http://schemas.openxmlformats.org/officeDocument/2006/relationships/chart" Target="../charts/chart227.xml"/><Relationship Id="rId5" Type="http://schemas.openxmlformats.org/officeDocument/2006/relationships/notesSlide" Target="../notesSlides/notesSlide264.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5.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6.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8.xml"/><Relationship Id="rId4" Type="http://schemas.openxmlformats.org/officeDocument/2006/relationships/notesSlide" Target="../notesSlides/notesSlide267.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8.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9.xml"/><Relationship Id="rId4" Type="http://schemas.openxmlformats.org/officeDocument/2006/relationships/notesSlide" Target="../notesSlides/notesSlide269.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0.xml"/><Relationship Id="rId4" Type="http://schemas.openxmlformats.org/officeDocument/2006/relationships/notesSlide" Target="../notesSlides/notesSlide271.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1.xml"/><Relationship Id="rId4" Type="http://schemas.openxmlformats.org/officeDocument/2006/relationships/notesSlide" Target="../notesSlides/notesSlide272.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3.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4.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2.xml"/><Relationship Id="rId4" Type="http://schemas.openxmlformats.org/officeDocument/2006/relationships/chart" Target="../charts/chart233.xml"/><Relationship Id="rId5" Type="http://schemas.openxmlformats.org/officeDocument/2006/relationships/notesSlide" Target="../notesSlides/notesSlide275.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6.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7.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8.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4.xml"/><Relationship Id="rId4" Type="http://schemas.openxmlformats.org/officeDocument/2006/relationships/chart" Target="../charts/chart235.xml"/><Relationship Id="rId5" Type="http://schemas.openxmlformats.org/officeDocument/2006/relationships/notesSlide" Target="../notesSlides/notesSlide279.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6.xml"/><Relationship Id="rId4" Type="http://schemas.openxmlformats.org/officeDocument/2006/relationships/chart" Target="../charts/chart237.xml"/><Relationship Id="rId5" Type="http://schemas.openxmlformats.org/officeDocument/2006/relationships/chart" Target="../charts/chart238.xml"/><Relationship Id="rId6" Type="http://schemas.openxmlformats.org/officeDocument/2006/relationships/chart" Target="../charts/chart239.xml"/><Relationship Id="rId7" Type="http://schemas.openxmlformats.org/officeDocument/2006/relationships/notesSlide" Target="../notesSlides/notesSlide280.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0.xml"/><Relationship Id="rId4" Type="http://schemas.openxmlformats.org/officeDocument/2006/relationships/chart" Target="../charts/chart241.xml"/><Relationship Id="rId5" Type="http://schemas.openxmlformats.org/officeDocument/2006/relationships/chart" Target="../charts/chart242.xml"/><Relationship Id="rId6" Type="http://schemas.openxmlformats.org/officeDocument/2006/relationships/chart" Target="../charts/chart243.xml"/><Relationship Id="rId7" Type="http://schemas.openxmlformats.org/officeDocument/2006/relationships/notesSlide" Target="../notesSlides/notesSlide281.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3.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4.xml"/><Relationship Id="rId4" Type="http://schemas.openxmlformats.org/officeDocument/2006/relationships/notesSlide" Target="../notesSlides/notesSlide284.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7.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8.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9.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5.xml"/><Relationship Id="rId4" Type="http://schemas.openxmlformats.org/officeDocument/2006/relationships/chart" Target="../charts/chart246.xml"/><Relationship Id="rId5" Type="http://schemas.openxmlformats.org/officeDocument/2006/relationships/notesSlide" Target="../notesSlides/notesSlide290.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7.xml"/><Relationship Id="rId4" Type="http://schemas.openxmlformats.org/officeDocument/2006/relationships/chart" Target="../charts/chart248.xml"/><Relationship Id="rId5" Type="http://schemas.openxmlformats.org/officeDocument/2006/relationships/chart" Target="../charts/chart249.xml"/><Relationship Id="rId6" Type="http://schemas.openxmlformats.org/officeDocument/2006/relationships/chart" Target="../charts/chart250.xml"/><Relationship Id="rId7" Type="http://schemas.openxmlformats.org/officeDocument/2006/relationships/notesSlide" Target="../notesSlides/notesSlide29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1.xml"/><Relationship Id="rId4" Type="http://schemas.openxmlformats.org/officeDocument/2006/relationships/notesSlide" Target="../notesSlides/notesSlide292.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4.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2.xml"/><Relationship Id="rId4" Type="http://schemas.openxmlformats.org/officeDocument/2006/relationships/notesSlide" Target="../notesSlides/notesSlide295.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7.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8.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3.xml"/><Relationship Id="rId4" Type="http://schemas.openxmlformats.org/officeDocument/2006/relationships/chart" Target="../charts/chart254.xml"/><Relationship Id="rId5" Type="http://schemas.openxmlformats.org/officeDocument/2006/relationships/notesSlide" Target="../notesSlides/notesSlide299.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5.xml"/><Relationship Id="rId4" Type="http://schemas.openxmlformats.org/officeDocument/2006/relationships/chart" Target="../charts/chart256.xml"/><Relationship Id="rId5" Type="http://schemas.openxmlformats.org/officeDocument/2006/relationships/chart" Target="../charts/chart257.xml"/><Relationship Id="rId6" Type="http://schemas.openxmlformats.org/officeDocument/2006/relationships/notesSlide" Target="../notesSlides/notesSlide300.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8.xml"/><Relationship Id="rId4" Type="http://schemas.openxmlformats.org/officeDocument/2006/relationships/notesSlide" Target="../notesSlides/notesSlide303.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5.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6.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7.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9.xml"/><Relationship Id="rId4" Type="http://schemas.openxmlformats.org/officeDocument/2006/relationships/chart" Target="../charts/chart260.xml"/><Relationship Id="rId5" Type="http://schemas.openxmlformats.org/officeDocument/2006/relationships/notesSlide" Target="../notesSlides/notesSlide308.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1.xml"/><Relationship Id="rId4" Type="http://schemas.openxmlformats.org/officeDocument/2006/relationships/chart" Target="../charts/chart262.xml"/><Relationship Id="rId5" Type="http://schemas.openxmlformats.org/officeDocument/2006/relationships/chart" Target="../charts/chart263.xml"/><Relationship Id="rId6" Type="http://schemas.openxmlformats.org/officeDocument/2006/relationships/chart" Target="../charts/chart264.xml"/><Relationship Id="rId7" Type="http://schemas.openxmlformats.org/officeDocument/2006/relationships/notesSlide" Target="../notesSlides/notesSlide309.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5.xml"/><Relationship Id="rId4" Type="http://schemas.openxmlformats.org/officeDocument/2006/relationships/chart" Target="../charts/chart266.xml"/><Relationship Id="rId5" Type="http://schemas.openxmlformats.org/officeDocument/2006/relationships/notesSlide" Target="../notesSlides/notesSlide310.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2.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7.xml"/><Relationship Id="rId4" Type="http://schemas.openxmlformats.org/officeDocument/2006/relationships/notesSlide" Target="../notesSlides/notesSlide313.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5.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6.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8.xml"/><Relationship Id="rId4" Type="http://schemas.openxmlformats.org/officeDocument/2006/relationships/chart" Target="../charts/chart269.xml"/><Relationship Id="rId5" Type="http://schemas.openxmlformats.org/officeDocument/2006/relationships/notesSlide" Target="../notesSlides/notesSlide317.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70.xml"/><Relationship Id="rId4" Type="http://schemas.openxmlformats.org/officeDocument/2006/relationships/chart" Target="../charts/chart271.xml"/><Relationship Id="rId5" Type="http://schemas.openxmlformats.org/officeDocument/2006/relationships/chart" Target="../charts/chart272.xml"/><Relationship Id="rId6" Type="http://schemas.openxmlformats.org/officeDocument/2006/relationships/chart" Target="../charts/chart273.xml"/><Relationship Id="rId7" Type="http://schemas.openxmlformats.org/officeDocument/2006/relationships/notesSlide" Target="../notesSlides/notesSlide318.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74.xml"/><Relationship Id="rId4" Type="http://schemas.openxmlformats.org/officeDocument/2006/relationships/chart" Target="../charts/chart275.xml"/><Relationship Id="rId5" Type="http://schemas.openxmlformats.org/officeDocument/2006/relationships/chart" Target="../charts/chart276.xml"/><Relationship Id="rId6" Type="http://schemas.openxmlformats.org/officeDocument/2006/relationships/notesSlide" Target="../notesSlides/notesSlide319.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1.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77.xml"/><Relationship Id="rId4" Type="http://schemas.openxmlformats.org/officeDocument/2006/relationships/notesSlide" Target="../notesSlides/notesSlide322.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4.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5.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78.xml"/><Relationship Id="rId4" Type="http://schemas.openxmlformats.org/officeDocument/2006/relationships/chart" Target="../charts/chart279.xml"/><Relationship Id="rId5" Type="http://schemas.openxmlformats.org/officeDocument/2006/relationships/notesSlide" Target="../notesSlides/notesSlide326.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0.xml"/><Relationship Id="rId4" Type="http://schemas.openxmlformats.org/officeDocument/2006/relationships/chart" Target="../charts/chart281.xml"/><Relationship Id="rId5" Type="http://schemas.openxmlformats.org/officeDocument/2006/relationships/chart" Target="../charts/chart282.xml"/><Relationship Id="rId6" Type="http://schemas.openxmlformats.org/officeDocument/2006/relationships/chart" Target="../charts/chart283.xml"/><Relationship Id="rId7" Type="http://schemas.openxmlformats.org/officeDocument/2006/relationships/notesSlide" Target="../notesSlides/notesSlide327.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4.xml"/><Relationship Id="rId4" Type="http://schemas.openxmlformats.org/officeDocument/2006/relationships/notesSlide" Target="../notesSlides/notesSlide328.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0.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5.xml"/><Relationship Id="rId4" Type="http://schemas.openxmlformats.org/officeDocument/2006/relationships/notesSlide" Target="../notesSlides/notesSlide331.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3.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4.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6.xml"/><Relationship Id="rId4" Type="http://schemas.openxmlformats.org/officeDocument/2006/relationships/chart" Target="../charts/chart287.xml"/><Relationship Id="rId5" Type="http://schemas.openxmlformats.org/officeDocument/2006/relationships/notesSlide" Target="../notesSlides/notesSlide335.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8.xml"/><Relationship Id="rId4" Type="http://schemas.openxmlformats.org/officeDocument/2006/relationships/chart" Target="../charts/chart289.xml"/><Relationship Id="rId5" Type="http://schemas.openxmlformats.org/officeDocument/2006/relationships/chart" Target="../charts/chart290.xml"/><Relationship Id="rId6" Type="http://schemas.openxmlformats.org/officeDocument/2006/relationships/chart" Target="../charts/chart291.xml"/><Relationship Id="rId7" Type="http://schemas.openxmlformats.org/officeDocument/2006/relationships/notesSlide" Target="../notesSlides/notesSlide336.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8.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2.xml"/><Relationship Id="rId4" Type="http://schemas.openxmlformats.org/officeDocument/2006/relationships/notesSlide" Target="../notesSlides/notesSlide339.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2.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3.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4.xml"/></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3.xml"/><Relationship Id="rId4" Type="http://schemas.openxmlformats.org/officeDocument/2006/relationships/chart" Target="../charts/chart294.xml"/><Relationship Id="rId5" Type="http://schemas.openxmlformats.org/officeDocument/2006/relationships/notesSlide" Target="../notesSlides/notesSlide345.xm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6.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5.xml"/><Relationship Id="rId4" Type="http://schemas.openxmlformats.org/officeDocument/2006/relationships/chart" Target="../charts/chart296.xml"/><Relationship Id="rId5" Type="http://schemas.openxmlformats.org/officeDocument/2006/relationships/notesSlide" Target="../notesSlides/notesSlide347.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7.xml"/><Relationship Id="rId4" Type="http://schemas.openxmlformats.org/officeDocument/2006/relationships/chart" Target="../charts/chart298.xml"/><Relationship Id="rId5" Type="http://schemas.openxmlformats.org/officeDocument/2006/relationships/notesSlide" Target="../notesSlides/notesSlide348.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9.xml"/><Relationship Id="rId4" Type="http://schemas.openxmlformats.org/officeDocument/2006/relationships/chart" Target="../charts/chart300.xml"/><Relationship Id="rId5" Type="http://schemas.openxmlformats.org/officeDocument/2006/relationships/notesSlide" Target="../notesSlides/notesSlide349.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0.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01.xml"/><Relationship Id="rId4" Type="http://schemas.openxmlformats.org/officeDocument/2006/relationships/notesSlide" Target="../notesSlides/notesSlide351.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2.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02.xml"/><Relationship Id="rId4" Type="http://schemas.openxmlformats.org/officeDocument/2006/relationships/notesSlide" Target="../notesSlides/notesSlide353.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4.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03.xml"/><Relationship Id="rId4" Type="http://schemas.openxmlformats.org/officeDocument/2006/relationships/notesSlide" Target="../notesSlides/notesSlide355.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04.xml"/><Relationship Id="rId4" Type="http://schemas.openxmlformats.org/officeDocument/2006/relationships/notesSlide" Target="../notesSlides/notesSlide356.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7.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8.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05.xml"/><Relationship Id="rId4" Type="http://schemas.openxmlformats.org/officeDocument/2006/relationships/chart" Target="../charts/chart306.xml"/><Relationship Id="rId5" Type="http://schemas.openxmlformats.org/officeDocument/2006/relationships/notesSlide" Target="../notesSlides/notesSlide359.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0.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1.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2.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07.xml"/><Relationship Id="rId4" Type="http://schemas.openxmlformats.org/officeDocument/2006/relationships/chart" Target="../charts/chart308.xml"/><Relationship Id="rId5" Type="http://schemas.openxmlformats.org/officeDocument/2006/relationships/notesSlide" Target="../notesSlides/notesSlide363.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09.xml"/><Relationship Id="rId4" Type="http://schemas.openxmlformats.org/officeDocument/2006/relationships/chart" Target="../charts/chart310.xml"/><Relationship Id="rId5" Type="http://schemas.openxmlformats.org/officeDocument/2006/relationships/chart" Target="../charts/chart311.xml"/><Relationship Id="rId6" Type="http://schemas.openxmlformats.org/officeDocument/2006/relationships/chart" Target="../charts/chart312.xml"/><Relationship Id="rId7" Type="http://schemas.openxmlformats.org/officeDocument/2006/relationships/notesSlide" Target="../notesSlides/notesSlide364.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3.xml"/><Relationship Id="rId4" Type="http://schemas.openxmlformats.org/officeDocument/2006/relationships/chart" Target="../charts/chart314.xml"/><Relationship Id="rId5" Type="http://schemas.openxmlformats.org/officeDocument/2006/relationships/chart" Target="../charts/chart315.xml"/><Relationship Id="rId6" Type="http://schemas.openxmlformats.org/officeDocument/2006/relationships/chart" Target="../charts/chart316.xml"/><Relationship Id="rId7" Type="http://schemas.openxmlformats.org/officeDocument/2006/relationships/notesSlide" Target="../notesSlides/notesSlide365.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7.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7.xml"/><Relationship Id="rId4" Type="http://schemas.openxmlformats.org/officeDocument/2006/relationships/notesSlide" Target="../notesSlides/notesSlide368.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1.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2.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3.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8.xml"/><Relationship Id="rId4" Type="http://schemas.openxmlformats.org/officeDocument/2006/relationships/chart" Target="../charts/chart319.xml"/><Relationship Id="rId5" Type="http://schemas.openxmlformats.org/officeDocument/2006/relationships/notesSlide" Target="../notesSlides/notesSlide374.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0.xml"/><Relationship Id="rId4" Type="http://schemas.openxmlformats.org/officeDocument/2006/relationships/chart" Target="../charts/chart321.xml"/><Relationship Id="rId5" Type="http://schemas.openxmlformats.org/officeDocument/2006/relationships/chart" Target="../charts/chart322.xml"/><Relationship Id="rId6" Type="http://schemas.openxmlformats.org/officeDocument/2006/relationships/chart" Target="../charts/chart323.xml"/><Relationship Id="rId7" Type="http://schemas.openxmlformats.org/officeDocument/2006/relationships/notesSlide" Target="../notesSlides/notesSlide375.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4.xml"/><Relationship Id="rId4" Type="http://schemas.openxmlformats.org/officeDocument/2006/relationships/notesSlide" Target="../notesSlides/notesSlide376.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8.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5.xml"/><Relationship Id="rId4" Type="http://schemas.openxmlformats.org/officeDocument/2006/relationships/notesSlide" Target="../notesSlides/notesSlide379.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1.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2.xml"/></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6.xml"/><Relationship Id="rId4" Type="http://schemas.openxmlformats.org/officeDocument/2006/relationships/chart" Target="../charts/chart327.xml"/><Relationship Id="rId5" Type="http://schemas.openxmlformats.org/officeDocument/2006/relationships/notesSlide" Target="../notesSlides/notesSlide383.xml"/></Relationships>
</file>

<file path=ppt/slides/_rels/slide4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8.xml"/><Relationship Id="rId4" Type="http://schemas.openxmlformats.org/officeDocument/2006/relationships/chart" Target="../charts/chart329.xml"/><Relationship Id="rId5" Type="http://schemas.openxmlformats.org/officeDocument/2006/relationships/chart" Target="../charts/chart330.xml"/><Relationship Id="rId6" Type="http://schemas.openxmlformats.org/officeDocument/2006/relationships/notesSlide" Target="../notesSlides/notesSlide38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6.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1.xml"/><Relationship Id="rId4" Type="http://schemas.openxmlformats.org/officeDocument/2006/relationships/notesSlide" Target="../notesSlides/notesSlide387.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9.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0.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1.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2.xml"/><Relationship Id="rId4" Type="http://schemas.openxmlformats.org/officeDocument/2006/relationships/chart" Target="../charts/chart333.xml"/><Relationship Id="rId5" Type="http://schemas.openxmlformats.org/officeDocument/2006/relationships/notesSlide" Target="../notesSlides/notesSlide392.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4.xml"/><Relationship Id="rId4" Type="http://schemas.openxmlformats.org/officeDocument/2006/relationships/chart" Target="../charts/chart335.xml"/><Relationship Id="rId5" Type="http://schemas.openxmlformats.org/officeDocument/2006/relationships/chart" Target="../charts/chart336.xml"/><Relationship Id="rId6" Type="http://schemas.openxmlformats.org/officeDocument/2006/relationships/chart" Target="../charts/chart337.xml"/><Relationship Id="rId7" Type="http://schemas.openxmlformats.org/officeDocument/2006/relationships/notesSlide" Target="../notesSlides/notesSlide393.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8.xml"/><Relationship Id="rId4" Type="http://schemas.openxmlformats.org/officeDocument/2006/relationships/chart" Target="../charts/chart339.xml"/><Relationship Id="rId5" Type="http://schemas.openxmlformats.org/officeDocument/2006/relationships/notesSlide" Target="../notesSlides/notes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6.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0.xml"/><Relationship Id="rId4" Type="http://schemas.openxmlformats.org/officeDocument/2006/relationships/notesSlide" Target="../notesSlides/notesSlide397.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9.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0.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1.xml"/><Relationship Id="rId4" Type="http://schemas.openxmlformats.org/officeDocument/2006/relationships/chart" Target="../charts/chart342.xml"/><Relationship Id="rId5" Type="http://schemas.openxmlformats.org/officeDocument/2006/relationships/notesSlide" Target="../notesSlides/notesSlide401.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3.xml"/><Relationship Id="rId4" Type="http://schemas.openxmlformats.org/officeDocument/2006/relationships/chart" Target="../charts/chart344.xml"/><Relationship Id="rId5" Type="http://schemas.openxmlformats.org/officeDocument/2006/relationships/chart" Target="../charts/chart345.xml"/><Relationship Id="rId6" Type="http://schemas.openxmlformats.org/officeDocument/2006/relationships/chart" Target="../charts/chart346.xml"/><Relationship Id="rId7" Type="http://schemas.openxmlformats.org/officeDocument/2006/relationships/notesSlide" Target="../notesSlides/notesSlide402.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7.xml"/><Relationship Id="rId4" Type="http://schemas.openxmlformats.org/officeDocument/2006/relationships/chart" Target="../charts/chart348.xml"/><Relationship Id="rId5" Type="http://schemas.openxmlformats.org/officeDocument/2006/relationships/chart" Target="../charts/chart349.xml"/><Relationship Id="rId6" Type="http://schemas.openxmlformats.org/officeDocument/2006/relationships/notesSlide" Target="../notesSlides/notesSlide403.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5.xml"/></Relationships>
</file>

<file path=ppt/slides/_rels/slide4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0.xml"/><Relationship Id="rId4" Type="http://schemas.openxmlformats.org/officeDocument/2006/relationships/notesSlide" Target="../notesSlides/notesSlide406.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8.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9.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1.xml"/><Relationship Id="rId4" Type="http://schemas.openxmlformats.org/officeDocument/2006/relationships/chart" Target="../charts/chart352.xml"/><Relationship Id="rId5" Type="http://schemas.openxmlformats.org/officeDocument/2006/relationships/notesSlide" Target="../notesSlides/notesSlide410.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3.xml"/><Relationship Id="rId4" Type="http://schemas.openxmlformats.org/officeDocument/2006/relationships/chart" Target="../charts/chart354.xml"/><Relationship Id="rId5" Type="http://schemas.openxmlformats.org/officeDocument/2006/relationships/chart" Target="../charts/chart355.xml"/><Relationship Id="rId6" Type="http://schemas.openxmlformats.org/officeDocument/2006/relationships/chart" Target="../charts/chart356.xml"/><Relationship Id="rId7" Type="http://schemas.openxmlformats.org/officeDocument/2006/relationships/notesSlide" Target="../notesSlides/notesSlide411.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7.xml"/><Relationship Id="rId4" Type="http://schemas.openxmlformats.org/officeDocument/2006/relationships/notesSlide" Target="../notesSlides/notesSlide412.xml"/></Relationships>
</file>

<file path=ppt/slides/_rels/slide4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4.xml"/></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8.xml"/><Relationship Id="rId4" Type="http://schemas.openxmlformats.org/officeDocument/2006/relationships/notesSlide" Target="../notesSlides/notesSlide41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7.xml"/></Relationships>
</file>

<file path=ppt/slides/_rels/slide4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8.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9.xml"/><Relationship Id="rId4" Type="http://schemas.openxmlformats.org/officeDocument/2006/relationships/chart" Target="../charts/chart360.xml"/><Relationship Id="rId5" Type="http://schemas.openxmlformats.org/officeDocument/2006/relationships/notesSlide" Target="../notesSlides/notesSlide419.xml"/></Relationships>
</file>

<file path=ppt/slides/_rels/slide4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1.xml"/><Relationship Id="rId4" Type="http://schemas.openxmlformats.org/officeDocument/2006/relationships/chart" Target="../charts/chart362.xml"/><Relationship Id="rId5" Type="http://schemas.openxmlformats.org/officeDocument/2006/relationships/chart" Target="../charts/chart363.xml"/><Relationship Id="rId6" Type="http://schemas.openxmlformats.org/officeDocument/2006/relationships/chart" Target="../charts/chart364.xml"/><Relationship Id="rId7" Type="http://schemas.openxmlformats.org/officeDocument/2006/relationships/notesSlide" Target="../notesSlides/notesSlide420.xml"/></Relationships>
</file>

<file path=ppt/slides/_rels/slide4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2.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5.xml"/><Relationship Id="rId4" Type="http://schemas.openxmlformats.org/officeDocument/2006/relationships/notesSlide" Target="../notesSlides/notesSlide423.xml"/></Relationships>
</file>

<file path=ppt/slides/_rels/slide4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7.xml"/></Relationships>
</file>

<file path=ppt/slides/_rels/slide4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8.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6.xml"/><Relationship Id="rId4" Type="http://schemas.openxmlformats.org/officeDocument/2006/relationships/chart" Target="../charts/chart367.xml"/><Relationship Id="rId5" Type="http://schemas.openxmlformats.org/officeDocument/2006/relationships/notesSlide" Target="../notesSlides/notesSlide429.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0.xml"/></Relationships>
</file>

<file path=ppt/slides/_rels/slide5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8.xml"/><Relationship Id="rId4" Type="http://schemas.openxmlformats.org/officeDocument/2006/relationships/chart" Target="../charts/chart369.xml"/><Relationship Id="rId5" Type="http://schemas.openxmlformats.org/officeDocument/2006/relationships/notesSlide" Target="../notesSlides/notesSlide431.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70.xml"/><Relationship Id="rId4" Type="http://schemas.openxmlformats.org/officeDocument/2006/relationships/chart" Target="../charts/chart371.xml"/><Relationship Id="rId5" Type="http://schemas.openxmlformats.org/officeDocument/2006/relationships/notesSlide" Target="../notesSlides/notesSlide432.xml"/></Relationships>
</file>

<file path=ppt/slides/_rels/slide5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72.xml"/><Relationship Id="rId4" Type="http://schemas.openxmlformats.org/officeDocument/2006/relationships/chart" Target="../charts/chart373.xml"/><Relationship Id="rId5" Type="http://schemas.openxmlformats.org/officeDocument/2006/relationships/notesSlide" Target="../notesSlides/notesSlide433.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4.xml"/></Relationships>
</file>

<file path=ppt/slides/_rels/slide5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74.xml"/><Relationship Id="rId4" Type="http://schemas.openxmlformats.org/officeDocument/2006/relationships/notesSlide" Target="../notesSlides/notesSlide435.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6.xml"/></Relationships>
</file>

<file path=ppt/slides/_rels/slide5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75.xml"/><Relationship Id="rId4" Type="http://schemas.openxmlformats.org/officeDocument/2006/relationships/notesSlide" Target="../notesSlides/notesSlide437.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8.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76.xml"/><Relationship Id="rId4" Type="http://schemas.openxmlformats.org/officeDocument/2006/relationships/notesSlide" Target="../notesSlides/notesSlide439.xml"/></Relationships>
</file>

<file path=ppt/slides/_rels/slide5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77.xml"/><Relationship Id="rId4" Type="http://schemas.openxmlformats.org/officeDocument/2006/relationships/notesSlide" Target="../notesSlides/notesSlide440.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1.xml"/></Relationships>
</file>

<file path=ppt/slides/_rels/slide5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2.xml"/></Relationships>
</file>

<file path=ppt/slides/_rels/slide5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78.xml"/><Relationship Id="rId4" Type="http://schemas.openxmlformats.org/officeDocument/2006/relationships/chart" Target="../charts/chart379.xml"/><Relationship Id="rId5" Type="http://schemas.openxmlformats.org/officeDocument/2006/relationships/notesSlide" Target="../notesSlides/notesSlide443.xml"/></Relationships>
</file>

<file path=ppt/slides/_rels/slide5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4.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5.xml"/></Relationships>
</file>

<file path=ppt/slides/_rels/slide5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6.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80.xml"/><Relationship Id="rId4" Type="http://schemas.openxmlformats.org/officeDocument/2006/relationships/chart" Target="../charts/chart381.xml"/><Relationship Id="rId5" Type="http://schemas.openxmlformats.org/officeDocument/2006/relationships/notesSlide" Target="../notesSlides/notesSlide447.xml"/></Relationships>
</file>

<file path=ppt/slides/_rels/slide5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82.xml"/><Relationship Id="rId4" Type="http://schemas.openxmlformats.org/officeDocument/2006/relationships/chart" Target="../charts/chart383.xml"/><Relationship Id="rId5" Type="http://schemas.openxmlformats.org/officeDocument/2006/relationships/chart" Target="../charts/chart384.xml"/><Relationship Id="rId6" Type="http://schemas.openxmlformats.org/officeDocument/2006/relationships/chart" Target="../charts/chart385.xml"/><Relationship Id="rId7" Type="http://schemas.openxmlformats.org/officeDocument/2006/relationships/notesSlide" Target="../notesSlides/notesSlide448.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86.xml"/><Relationship Id="rId4" Type="http://schemas.openxmlformats.org/officeDocument/2006/relationships/chart" Target="../charts/chart387.xml"/><Relationship Id="rId5" Type="http://schemas.openxmlformats.org/officeDocument/2006/relationships/chart" Target="../charts/chart388.xml"/><Relationship Id="rId6" Type="http://schemas.openxmlformats.org/officeDocument/2006/relationships/chart" Target="../charts/chart389.xml"/><Relationship Id="rId7" Type="http://schemas.openxmlformats.org/officeDocument/2006/relationships/notesSlide" Target="../notesSlides/notesSlide449.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1.xml"/></Relationships>
</file>

<file path=ppt/slides/_rels/slide5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90.xml"/><Relationship Id="rId4" Type="http://schemas.openxmlformats.org/officeDocument/2006/relationships/notesSlide" Target="../notesSlides/notesSlide452.xml"/></Relationships>
</file>

<file path=ppt/slides/_rels/slide5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5.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6.xml"/></Relationships>
</file>

<file path=ppt/slides/_rels/slide5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7.xml"/></Relationships>
</file>

<file path=ppt/slides/_rels/slide5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91.xml"/><Relationship Id="rId4" Type="http://schemas.openxmlformats.org/officeDocument/2006/relationships/chart" Target="../charts/chart392.xml"/><Relationship Id="rId5" Type="http://schemas.openxmlformats.org/officeDocument/2006/relationships/notesSlide" Target="../notesSlides/notesSlide458.xml"/></Relationships>
</file>

<file path=ppt/slides/_rels/slide5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93.xml"/><Relationship Id="rId4" Type="http://schemas.openxmlformats.org/officeDocument/2006/relationships/chart" Target="../charts/chart394.xml"/><Relationship Id="rId5" Type="http://schemas.openxmlformats.org/officeDocument/2006/relationships/chart" Target="../charts/chart395.xml"/><Relationship Id="rId6" Type="http://schemas.openxmlformats.org/officeDocument/2006/relationships/chart" Target="../charts/chart396.xml"/><Relationship Id="rId7" Type="http://schemas.openxmlformats.org/officeDocument/2006/relationships/notesSlide" Target="../notesSlides/notesSlide459.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97.xml"/><Relationship Id="rId4" Type="http://schemas.openxmlformats.org/officeDocument/2006/relationships/notesSlide" Target="../notesSlides/notesSlide460.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2.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98.xml"/><Relationship Id="rId4" Type="http://schemas.openxmlformats.org/officeDocument/2006/relationships/notesSlide" Target="../notesSlides/notesSlide463.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5.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6.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99.xml"/><Relationship Id="rId4" Type="http://schemas.openxmlformats.org/officeDocument/2006/relationships/chart" Target="../charts/chart400.xml"/><Relationship Id="rId5" Type="http://schemas.openxmlformats.org/officeDocument/2006/relationships/notesSlide" Target="../notesSlides/notesSlide467.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01.xml"/><Relationship Id="rId4" Type="http://schemas.openxmlformats.org/officeDocument/2006/relationships/chart" Target="../charts/chart402.xml"/><Relationship Id="rId5" Type="http://schemas.openxmlformats.org/officeDocument/2006/relationships/chart" Target="../charts/chart403.xml"/><Relationship Id="rId6" Type="http://schemas.openxmlformats.org/officeDocument/2006/relationships/notesSlide" Target="../notesSlides/notesSlide468.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0.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04.xml"/><Relationship Id="rId4" Type="http://schemas.openxmlformats.org/officeDocument/2006/relationships/notesSlide" Target="../notesSlides/notesSlide471.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3.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4.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5.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05.xml"/><Relationship Id="rId4" Type="http://schemas.openxmlformats.org/officeDocument/2006/relationships/chart" Target="../charts/chart406.xml"/><Relationship Id="rId5" Type="http://schemas.openxmlformats.org/officeDocument/2006/relationships/notesSlide" Target="../notesSlides/notesSlide476.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07.xml"/><Relationship Id="rId4" Type="http://schemas.openxmlformats.org/officeDocument/2006/relationships/chart" Target="../charts/chart408.xml"/><Relationship Id="rId5" Type="http://schemas.openxmlformats.org/officeDocument/2006/relationships/chart" Target="../charts/chart409.xml"/><Relationship Id="rId6" Type="http://schemas.openxmlformats.org/officeDocument/2006/relationships/chart" Target="../charts/chart410.xml"/><Relationship Id="rId7" Type="http://schemas.openxmlformats.org/officeDocument/2006/relationships/notesSlide" Target="../notesSlides/notesSlide477.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11.xml"/><Relationship Id="rId4" Type="http://schemas.openxmlformats.org/officeDocument/2006/relationships/chart" Target="../charts/chart412.xml"/><Relationship Id="rId5" Type="http://schemas.openxmlformats.org/officeDocument/2006/relationships/notesSlide" Target="../notesSlides/notesSlide478.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80.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13.xml"/><Relationship Id="rId4" Type="http://schemas.openxmlformats.org/officeDocument/2006/relationships/notesSlide" Target="../notesSlides/notesSlide481.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83.xml"/></Relationships>
</file>

<file path=ppt/slides/_rels/slide5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84.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14.xml"/><Relationship Id="rId4" Type="http://schemas.openxmlformats.org/officeDocument/2006/relationships/chart" Target="../charts/chart415.xml"/><Relationship Id="rId5" Type="http://schemas.openxmlformats.org/officeDocument/2006/relationships/notesSlide" Target="../notesSlides/notesSlide485.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16.xml"/><Relationship Id="rId4" Type="http://schemas.openxmlformats.org/officeDocument/2006/relationships/chart" Target="../charts/chart417.xml"/><Relationship Id="rId5" Type="http://schemas.openxmlformats.org/officeDocument/2006/relationships/chart" Target="../charts/chart418.xml"/><Relationship Id="rId6" Type="http://schemas.openxmlformats.org/officeDocument/2006/relationships/chart" Target="../charts/chart419.xml"/><Relationship Id="rId7" Type="http://schemas.openxmlformats.org/officeDocument/2006/relationships/notesSlide" Target="../notesSlides/notesSlide486.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20.xml"/><Relationship Id="rId4" Type="http://schemas.openxmlformats.org/officeDocument/2006/relationships/chart" Target="../charts/chart421.xml"/><Relationship Id="rId5" Type="http://schemas.openxmlformats.org/officeDocument/2006/relationships/chart" Target="../charts/chart422.xml"/><Relationship Id="rId6" Type="http://schemas.openxmlformats.org/officeDocument/2006/relationships/notesSlide" Target="../notesSlides/notesSlide487.xml"/></Relationships>
</file>

<file path=ppt/slides/_rels/slide5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89.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23.xml"/><Relationship Id="rId4" Type="http://schemas.openxmlformats.org/officeDocument/2006/relationships/notesSlide" Target="../notesSlides/notesSlide49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2.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3.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24.xml"/><Relationship Id="rId4" Type="http://schemas.openxmlformats.org/officeDocument/2006/relationships/chart" Target="../charts/chart425.xml"/><Relationship Id="rId5" Type="http://schemas.openxmlformats.org/officeDocument/2006/relationships/notesSlide" Target="../notesSlides/notesSlide494.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26.xml"/><Relationship Id="rId4" Type="http://schemas.openxmlformats.org/officeDocument/2006/relationships/chart" Target="../charts/chart427.xml"/><Relationship Id="rId5" Type="http://schemas.openxmlformats.org/officeDocument/2006/relationships/chart" Target="../charts/chart428.xml"/><Relationship Id="rId6" Type="http://schemas.openxmlformats.org/officeDocument/2006/relationships/chart" Target="../charts/chart429.xml"/><Relationship Id="rId7" Type="http://schemas.openxmlformats.org/officeDocument/2006/relationships/notesSlide" Target="../notesSlides/notesSlide495.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30.xml"/><Relationship Id="rId4" Type="http://schemas.openxmlformats.org/officeDocument/2006/relationships/notesSlide" Target="../notesSlides/notesSlide496.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8.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31.xml"/><Relationship Id="rId4" Type="http://schemas.openxmlformats.org/officeDocument/2006/relationships/notesSlide" Target="../notesSlides/notesSlide499.xml"/></Relationships>
</file>

<file path=ppt/slides/_rels/slide5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1.xml"/></Relationships>
</file>

<file path=ppt/slides/_rels/slide5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2.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32.xml"/><Relationship Id="rId4" Type="http://schemas.openxmlformats.org/officeDocument/2006/relationships/chart" Target="../charts/chart433.xml"/><Relationship Id="rId5" Type="http://schemas.openxmlformats.org/officeDocument/2006/relationships/notesSlide" Target="../notesSlides/notesSlide503.xml"/></Relationships>
</file>

<file path=ppt/slides/_rels/slide5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34.xml"/><Relationship Id="rId4" Type="http://schemas.openxmlformats.org/officeDocument/2006/relationships/chart" Target="../charts/chart435.xml"/><Relationship Id="rId5" Type="http://schemas.openxmlformats.org/officeDocument/2006/relationships/chart" Target="../charts/chart436.xml"/><Relationship Id="rId6" Type="http://schemas.openxmlformats.org/officeDocument/2006/relationships/chart" Target="../charts/chart437.xml"/><Relationship Id="rId7" Type="http://schemas.openxmlformats.org/officeDocument/2006/relationships/notesSlide" Target="../notesSlides/notesSlide504.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6.xml"/></Relationships>
</file>

<file path=ppt/slides/_rels/slide5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38.xml"/><Relationship Id="rId4" Type="http://schemas.openxmlformats.org/officeDocument/2006/relationships/notesSlide" Target="../notesSlides/notesSlide50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0.xml"/></Relationships>
</file>

<file path=ppt/slides/_rels/slide5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1.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2.xml"/></Relationships>
</file>

<file path=ppt/slides/_rels/slide5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39.xml"/><Relationship Id="rId4" Type="http://schemas.openxmlformats.org/officeDocument/2006/relationships/chart" Target="../charts/chart440.xml"/><Relationship Id="rId5" Type="http://schemas.openxmlformats.org/officeDocument/2006/relationships/notesSlide" Target="../notesSlides/notesSlide513.xml"/></Relationships>
</file>

<file path=ppt/slides/_rels/slide5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4.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41.xml"/><Relationship Id="rId4" Type="http://schemas.openxmlformats.org/officeDocument/2006/relationships/chart" Target="../charts/chart442.xml"/><Relationship Id="rId5" Type="http://schemas.openxmlformats.org/officeDocument/2006/relationships/notesSlide" Target="../notesSlides/notesSlide515.xml"/></Relationships>
</file>

<file path=ppt/slides/_rels/slide5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43.xml"/><Relationship Id="rId4" Type="http://schemas.openxmlformats.org/officeDocument/2006/relationships/chart" Target="../charts/chart444.xml"/><Relationship Id="rId5" Type="http://schemas.openxmlformats.org/officeDocument/2006/relationships/notesSlide" Target="../notesSlides/notesSlide516.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45.xml"/><Relationship Id="rId4" Type="http://schemas.openxmlformats.org/officeDocument/2006/relationships/chart" Target="../charts/chart446.xml"/><Relationship Id="rId5" Type="http://schemas.openxmlformats.org/officeDocument/2006/relationships/notesSlide" Target="../notesSlides/notesSlide517.xml"/></Relationships>
</file>

<file path=ppt/slides/_rels/slide5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47.xml"/><Relationship Id="rId4" Type="http://schemas.openxmlformats.org/officeDocument/2006/relationships/notesSlide" Target="../notesSlides/notesSlide519.xml"/></Relationships>
</file>

<file path=ppt/slides/_rels/slide6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20.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48.xml"/><Relationship Id="rId4" Type="http://schemas.openxmlformats.org/officeDocument/2006/relationships/notesSlide" Target="../notesSlides/notesSlide521.xml"/></Relationships>
</file>

<file path=ppt/slides/_rels/slide6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22.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49.xml"/><Relationship Id="rId4" Type="http://schemas.openxmlformats.org/officeDocument/2006/relationships/notesSlide" Target="../notesSlides/notesSlide523.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50.xml"/><Relationship Id="rId4" Type="http://schemas.openxmlformats.org/officeDocument/2006/relationships/notesSlide" Target="../notesSlides/notesSlide524.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25.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26.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51.xml"/><Relationship Id="rId4" Type="http://schemas.openxmlformats.org/officeDocument/2006/relationships/chart" Target="../charts/chart452.xml"/><Relationship Id="rId5" Type="http://schemas.openxmlformats.org/officeDocument/2006/relationships/notesSlide" Target="../notesSlides/notesSlide52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28.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29.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30.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53.xml"/><Relationship Id="rId4" Type="http://schemas.openxmlformats.org/officeDocument/2006/relationships/chart" Target="../charts/chart454.xml"/><Relationship Id="rId5" Type="http://schemas.openxmlformats.org/officeDocument/2006/relationships/notesSlide" Target="../notesSlides/notesSlide531.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55.xml"/><Relationship Id="rId4" Type="http://schemas.openxmlformats.org/officeDocument/2006/relationships/chart" Target="../charts/chart456.xml"/><Relationship Id="rId5" Type="http://schemas.openxmlformats.org/officeDocument/2006/relationships/chart" Target="../charts/chart457.xml"/><Relationship Id="rId6" Type="http://schemas.openxmlformats.org/officeDocument/2006/relationships/chart" Target="../charts/chart458.xml"/><Relationship Id="rId7" Type="http://schemas.openxmlformats.org/officeDocument/2006/relationships/notesSlide" Target="../notesSlides/notesSlide532.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59.xml"/><Relationship Id="rId4" Type="http://schemas.openxmlformats.org/officeDocument/2006/relationships/chart" Target="../charts/chart460.xml"/><Relationship Id="rId5" Type="http://schemas.openxmlformats.org/officeDocument/2006/relationships/chart" Target="../charts/chart461.xml"/><Relationship Id="rId6" Type="http://schemas.openxmlformats.org/officeDocument/2006/relationships/chart" Target="../charts/chart462.xml"/><Relationship Id="rId7" Type="http://schemas.openxmlformats.org/officeDocument/2006/relationships/notesSlide" Target="../notesSlides/notesSlide533.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35.xml"/></Relationships>
</file>

<file path=ppt/slides/_rels/slide6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63.xml"/><Relationship Id="rId4" Type="http://schemas.openxmlformats.org/officeDocument/2006/relationships/notesSlide" Target="../notesSlides/notesSlide536.xml"/></Relationships>
</file>

<file path=ppt/slides/_rels/slide6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39.xml"/></Relationships>
</file>

<file path=ppt/slides/_rels/slide6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0.xml"/></Relationships>
</file>

<file path=ppt/slides/_rels/slide6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1.xml"/></Relationships>
</file>

<file path=ppt/slides/_rels/slide6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64.xml"/><Relationship Id="rId4" Type="http://schemas.openxmlformats.org/officeDocument/2006/relationships/chart" Target="../charts/chart465.xml"/><Relationship Id="rId5" Type="http://schemas.openxmlformats.org/officeDocument/2006/relationships/notesSlide" Target="../notesSlides/notesSlide542.xml"/></Relationships>
</file>

<file path=ppt/slides/_rels/slide6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66.xml"/><Relationship Id="rId4" Type="http://schemas.openxmlformats.org/officeDocument/2006/relationships/chart" Target="../charts/chart467.xml"/><Relationship Id="rId5" Type="http://schemas.openxmlformats.org/officeDocument/2006/relationships/chart" Target="../charts/chart468.xml"/><Relationship Id="rId6" Type="http://schemas.openxmlformats.org/officeDocument/2006/relationships/chart" Target="../charts/chart469.xml"/><Relationship Id="rId7" Type="http://schemas.openxmlformats.org/officeDocument/2006/relationships/notesSlide" Target="../notesSlides/notesSlide543.xml"/></Relationships>
</file>

<file path=ppt/slides/_rels/slide6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70.xml"/><Relationship Id="rId4" Type="http://schemas.openxmlformats.org/officeDocument/2006/relationships/notesSlide" Target="../notesSlides/notesSlide544.xml"/></Relationships>
</file>

<file path=ppt/slides/_rels/slide6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6.xml"/></Relationships>
</file>

<file path=ppt/slides/_rels/slide6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71.xml"/><Relationship Id="rId4" Type="http://schemas.openxmlformats.org/officeDocument/2006/relationships/notesSlide" Target="../notesSlides/notesSlide547.xml"/></Relationships>
</file>

<file path=ppt/slides/_rels/slide6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9.xml"/></Relationships>
</file>

<file path=ppt/slides/_rels/slide6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50.xml"/></Relationships>
</file>

<file path=ppt/slides/_rels/slide6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72.xml"/><Relationship Id="rId4" Type="http://schemas.openxmlformats.org/officeDocument/2006/relationships/chart" Target="../charts/chart473.xml"/><Relationship Id="rId5" Type="http://schemas.openxmlformats.org/officeDocument/2006/relationships/notesSlide" Target="../notesSlides/notesSlide551.xml"/></Relationships>
</file>

<file path=ppt/slides/_rels/slide6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74.xml"/><Relationship Id="rId4" Type="http://schemas.openxmlformats.org/officeDocument/2006/relationships/chart" Target="../charts/chart475.xml"/><Relationship Id="rId5" Type="http://schemas.openxmlformats.org/officeDocument/2006/relationships/chart" Target="../charts/chart476.xml"/><Relationship Id="rId6" Type="http://schemas.openxmlformats.org/officeDocument/2006/relationships/notesSlide" Target="../notesSlides/notesSlide552.xml"/></Relationships>
</file>

<file path=ppt/slides/_rels/slide6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54.xml"/></Relationships>
</file>

<file path=ppt/slides/_rels/slide6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77.xml"/><Relationship Id="rId4" Type="http://schemas.openxmlformats.org/officeDocument/2006/relationships/notesSlide" Target="../notesSlides/notesSlide555.xml"/></Relationships>
</file>

<file path=ppt/slides/_rels/slide6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57.xml"/></Relationships>
</file>

<file path=ppt/slides/_rels/slide6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58.xml"/></Relationships>
</file>

<file path=ppt/slides/_rels/slide6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59.xml"/></Relationships>
</file>

<file path=ppt/slides/_rels/slide6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78.xml"/><Relationship Id="rId4" Type="http://schemas.openxmlformats.org/officeDocument/2006/relationships/chart" Target="../charts/chart479.xml"/><Relationship Id="rId5" Type="http://schemas.openxmlformats.org/officeDocument/2006/relationships/notesSlide" Target="../notesSlides/notesSlide560.xml"/></Relationships>
</file>

<file path=ppt/slides/_rels/slide6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80.xml"/><Relationship Id="rId4" Type="http://schemas.openxmlformats.org/officeDocument/2006/relationships/chart" Target="../charts/chart481.xml"/><Relationship Id="rId5" Type="http://schemas.openxmlformats.org/officeDocument/2006/relationships/chart" Target="../charts/chart482.xml"/><Relationship Id="rId6" Type="http://schemas.openxmlformats.org/officeDocument/2006/relationships/chart" Target="../charts/chart483.xml"/><Relationship Id="rId7" Type="http://schemas.openxmlformats.org/officeDocument/2006/relationships/notesSlide" Target="../notesSlides/notesSlide561.xml"/></Relationships>
</file>

<file path=ppt/slides/_rels/slide6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84.xml"/><Relationship Id="rId4" Type="http://schemas.openxmlformats.org/officeDocument/2006/relationships/chart" Target="../charts/chart485.xml"/><Relationship Id="rId5" Type="http://schemas.openxmlformats.org/officeDocument/2006/relationships/notesSlide" Target="../notesSlides/notesSlide562.xml"/></Relationships>
</file>

<file path=ppt/slides/_rels/slide6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64.xml"/></Relationships>
</file>

<file path=ppt/slides/_rels/slide6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86.xml"/><Relationship Id="rId4" Type="http://schemas.openxmlformats.org/officeDocument/2006/relationships/notesSlide" Target="../notesSlides/notesSlide565.xml"/></Relationships>
</file>

<file path=ppt/slides/_rels/slide6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67.xml"/></Relationships>
</file>

<file path=ppt/slides/_rels/slide6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68.xml"/></Relationships>
</file>

<file path=ppt/slides/_rels/slide6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87.xml"/><Relationship Id="rId4" Type="http://schemas.openxmlformats.org/officeDocument/2006/relationships/chart" Target="../charts/chart488.xml"/><Relationship Id="rId5" Type="http://schemas.openxmlformats.org/officeDocument/2006/relationships/notesSlide" Target="../notesSlides/notesSlide569.xml"/></Relationships>
</file>

<file path=ppt/slides/_rels/slide6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89.xml"/><Relationship Id="rId4" Type="http://schemas.openxmlformats.org/officeDocument/2006/relationships/chart" Target="../charts/chart490.xml"/><Relationship Id="rId5" Type="http://schemas.openxmlformats.org/officeDocument/2006/relationships/chart" Target="../charts/chart491.xml"/><Relationship Id="rId6" Type="http://schemas.openxmlformats.org/officeDocument/2006/relationships/chart" Target="../charts/chart492.xml"/><Relationship Id="rId7" Type="http://schemas.openxmlformats.org/officeDocument/2006/relationships/notesSlide" Target="../notesSlides/notesSlide570.xml"/></Relationships>
</file>

<file path=ppt/slides/_rels/slide6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93.xml"/><Relationship Id="rId4" Type="http://schemas.openxmlformats.org/officeDocument/2006/relationships/chart" Target="../charts/chart494.xml"/><Relationship Id="rId5" Type="http://schemas.openxmlformats.org/officeDocument/2006/relationships/chart" Target="../charts/chart495.xml"/><Relationship Id="rId6" Type="http://schemas.openxmlformats.org/officeDocument/2006/relationships/notesSlide" Target="../notesSlides/notesSlide571.xml"/></Relationships>
</file>

<file path=ppt/slides/_rels/slide6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73.xml"/></Relationships>
</file>

<file path=ppt/slides/_rels/slide6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96.xml"/><Relationship Id="rId4" Type="http://schemas.openxmlformats.org/officeDocument/2006/relationships/notesSlide" Target="../notesSlides/notesSlide574.xml"/></Relationships>
</file>

<file path=ppt/slides/_rels/slide6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76.xml"/></Relationships>
</file>

<file path=ppt/slides/_rels/slide6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77.xml"/></Relationships>
</file>

<file path=ppt/slides/_rels/slide6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97.xml"/><Relationship Id="rId4" Type="http://schemas.openxmlformats.org/officeDocument/2006/relationships/chart" Target="../charts/chart498.xml"/><Relationship Id="rId5" Type="http://schemas.openxmlformats.org/officeDocument/2006/relationships/notesSlide" Target="../notesSlides/notesSlide578.xml"/></Relationships>
</file>

<file path=ppt/slides/_rels/slide6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99.xml"/><Relationship Id="rId4" Type="http://schemas.openxmlformats.org/officeDocument/2006/relationships/chart" Target="../charts/chart500.xml"/><Relationship Id="rId5" Type="http://schemas.openxmlformats.org/officeDocument/2006/relationships/chart" Target="../charts/chart501.xml"/><Relationship Id="rId6" Type="http://schemas.openxmlformats.org/officeDocument/2006/relationships/chart" Target="../charts/chart502.xml"/><Relationship Id="rId7" Type="http://schemas.openxmlformats.org/officeDocument/2006/relationships/notesSlide" Target="../notesSlides/notesSlide579.xml"/></Relationships>
</file>

<file path=ppt/slides/_rels/slide6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03.xml"/><Relationship Id="rId4" Type="http://schemas.openxmlformats.org/officeDocument/2006/relationships/notesSlide" Target="../notesSlides/notesSlide580.xml"/></Relationships>
</file>

<file path=ppt/slides/_rels/slide6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82.xml"/></Relationships>
</file>

<file path=ppt/slides/_rels/slide6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04.xml"/><Relationship Id="rId4" Type="http://schemas.openxmlformats.org/officeDocument/2006/relationships/notesSlide" Target="../notesSlides/notesSlide583.xml"/></Relationships>
</file>

<file path=ppt/slides/_rels/slide6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85.xml"/></Relationships>
</file>

<file path=ppt/slides/_rels/slide6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86.xml"/></Relationships>
</file>

<file path=ppt/slides/_rels/slide6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05.xml"/><Relationship Id="rId4" Type="http://schemas.openxmlformats.org/officeDocument/2006/relationships/chart" Target="../charts/chart506.xml"/><Relationship Id="rId5" Type="http://schemas.openxmlformats.org/officeDocument/2006/relationships/notesSlide" Target="../notesSlides/notesSlide587.xml"/></Relationships>
</file>

<file path=ppt/slides/_rels/slide6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07.xml"/><Relationship Id="rId4" Type="http://schemas.openxmlformats.org/officeDocument/2006/relationships/chart" Target="../charts/chart508.xml"/><Relationship Id="rId5" Type="http://schemas.openxmlformats.org/officeDocument/2006/relationships/chart" Target="../charts/chart509.xml"/><Relationship Id="rId6" Type="http://schemas.openxmlformats.org/officeDocument/2006/relationships/chart" Target="../charts/chart510.xml"/><Relationship Id="rId7" Type="http://schemas.openxmlformats.org/officeDocument/2006/relationships/notesSlide" Target="../notesSlides/notesSlide588.xml"/></Relationships>
</file>

<file path=ppt/slides/_rels/slide6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0.xml"/></Relationships>
</file>

<file path=ppt/slides/_rels/slide6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11.xml"/><Relationship Id="rId4" Type="http://schemas.openxmlformats.org/officeDocument/2006/relationships/notesSlide" Target="../notesSlides/notesSlide591.xml"/></Relationships>
</file>

<file path=ppt/slides/_rels/slide6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4.xml"/></Relationships>
</file>

<file path=ppt/slides/_rels/slide6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5.xml"/></Relationships>
</file>

<file path=ppt/slides/_rels/slide6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6.xml"/></Relationships>
</file>

<file path=ppt/slides/_rels/slide6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12.xml"/><Relationship Id="rId4" Type="http://schemas.openxmlformats.org/officeDocument/2006/relationships/chart" Target="../charts/chart513.xml"/><Relationship Id="rId5" Type="http://schemas.openxmlformats.org/officeDocument/2006/relationships/chart" Target="../charts/chart514.xml"/><Relationship Id="rId6" Type="http://schemas.openxmlformats.org/officeDocument/2006/relationships/chart" Target="../charts/chart515.xml"/><Relationship Id="rId7" Type="http://schemas.openxmlformats.org/officeDocument/2006/relationships/notesSlide" Target="../notesSlides/notesSlide597.xml"/></Relationships>
</file>

<file path=ppt/slides/_rels/slide6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16.xml"/><Relationship Id="rId4" Type="http://schemas.openxmlformats.org/officeDocument/2006/relationships/chart" Target="../charts/chart517.xml"/><Relationship Id="rId5" Type="http://schemas.openxmlformats.org/officeDocument/2006/relationships/chart" Target="../charts/chart518.xml"/><Relationship Id="rId6" Type="http://schemas.openxmlformats.org/officeDocument/2006/relationships/chart" Target="../charts/chart519.xml"/><Relationship Id="rId7" Type="http://schemas.openxmlformats.org/officeDocument/2006/relationships/notesSlide" Target="../notesSlides/notesSlide598.xml"/></Relationships>
</file>

<file path=ppt/slides/_rels/slide6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20.xml"/><Relationship Id="rId4" Type="http://schemas.openxmlformats.org/officeDocument/2006/relationships/chart" Target="../charts/chart521.xml"/><Relationship Id="rId5" Type="http://schemas.openxmlformats.org/officeDocument/2006/relationships/chart" Target="../charts/chart522.xml"/><Relationship Id="rId6" Type="http://schemas.openxmlformats.org/officeDocument/2006/relationships/chart" Target="../charts/chart523.xml"/><Relationship Id="rId7" Type="http://schemas.openxmlformats.org/officeDocument/2006/relationships/chart" Target="../charts/chart524.xml"/><Relationship Id="rId8" Type="http://schemas.openxmlformats.org/officeDocument/2006/relationships/chart" Target="../charts/chart525.xml"/><Relationship Id="rId9" Type="http://schemas.openxmlformats.org/officeDocument/2006/relationships/chart" Target="../charts/chart526.xml"/><Relationship Id="rId10" Type="http://schemas.openxmlformats.org/officeDocument/2006/relationships/notesSlide" Target="../notesSlides/notesSlide599.xml"/></Relationships>
</file>

<file path=ppt/slides/_rels/slide6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00.xml"/></Relationships>
</file>

<file path=ppt/slides/_rels/slide6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27.xml"/><Relationship Id="rId4" Type="http://schemas.openxmlformats.org/officeDocument/2006/relationships/chart" Target="../charts/chart528.xml"/><Relationship Id="rId5" Type="http://schemas.openxmlformats.org/officeDocument/2006/relationships/notesSlide" Target="../notesSlides/notesSlide601.xml"/></Relationships>
</file>

<file path=ppt/slides/_rels/slide6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03.xml"/></Relationships>
</file>

<file path=ppt/slides/_rels/slide6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05.xml"/></Relationships>
</file>

<file path=ppt/slides/_rels/slide7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29.xml"/><Relationship Id="rId4" Type="http://schemas.openxmlformats.org/officeDocument/2006/relationships/chart" Target="../charts/chart530.xml"/><Relationship Id="rId5" Type="http://schemas.openxmlformats.org/officeDocument/2006/relationships/notesSlide" Target="../notesSlides/notesSlide606.xml"/></Relationships>
</file>

<file path=ppt/slides/_rels/slide7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07.xml"/></Relationships>
</file>

<file path=ppt/slides/_rels/slide7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08.xml"/></Relationships>
</file>

<file path=ppt/slides/_rels/slide7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1.xml"/><Relationship Id="rId4" Type="http://schemas.openxmlformats.org/officeDocument/2006/relationships/chart" Target="../charts/chart532.xml"/><Relationship Id="rId5" Type="http://schemas.openxmlformats.org/officeDocument/2006/relationships/notesSlide" Target="../notesSlides/notesSlide609.xml"/></Relationships>
</file>

<file path=ppt/slides/_rels/slide7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10.xml"/></Relationships>
</file>

<file path=ppt/slides/_rels/slide7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11.xml"/></Relationships>
</file>

<file path=ppt/slides/_rels/slide7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3.xml"/><Relationship Id="rId4" Type="http://schemas.openxmlformats.org/officeDocument/2006/relationships/chart" Target="../charts/chart534.xml"/><Relationship Id="rId5" Type="http://schemas.openxmlformats.org/officeDocument/2006/relationships/notesSlide" Target="../notesSlides/notesSlide612.xml"/></Relationships>
</file>

<file path=ppt/slides/_rels/slide7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13.xml"/></Relationships>
</file>

<file path=ppt/slides/_rels/slide7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14.xml"/></Relationships>
</file>

<file path=ppt/slides/_rels/slide7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5.xml"/><Relationship Id="rId4" Type="http://schemas.openxmlformats.org/officeDocument/2006/relationships/chart" Target="../charts/chart536.xml"/><Relationship Id="rId5" Type="http://schemas.openxmlformats.org/officeDocument/2006/relationships/notesSlide" Target="../notesSlides/notesSlide615.xml"/></Relationships>
</file>

<file path=ppt/slides/_rels/slide7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16.xml"/></Relationships>
</file>

<file path=ppt/slides/_rels/slide7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17.xml"/></Relationships>
</file>

<file path=ppt/slides/_rels/slide7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7.xml"/><Relationship Id="rId4" Type="http://schemas.openxmlformats.org/officeDocument/2006/relationships/chart" Target="../charts/chart538.xml"/><Relationship Id="rId5" Type="http://schemas.openxmlformats.org/officeDocument/2006/relationships/notesSlide" Target="../notesSlides/notesSlide618.xml"/></Relationships>
</file>

<file path=ppt/slides/_rels/slide7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19.xml"/></Relationships>
</file>

<file path=ppt/slides/_rels/slide7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20.xml"/></Relationships>
</file>

<file path=ppt/slides/_rels/slide7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9.xml"/><Relationship Id="rId4" Type="http://schemas.openxmlformats.org/officeDocument/2006/relationships/chart" Target="../charts/chart540.xml"/><Relationship Id="rId5" Type="http://schemas.openxmlformats.org/officeDocument/2006/relationships/notesSlide" Target="../notesSlides/notesSlide621.xml"/></Relationships>
</file>

<file path=ppt/slides/_rels/slide7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23.xml"/></Relationships>
</file>

<file path=ppt/slides/_rels/slide7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25.xml"/></Relationships>
</file>

<file path=ppt/slides/_rels/slide7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41.xml"/><Relationship Id="rId4" Type="http://schemas.openxmlformats.org/officeDocument/2006/relationships/chart" Target="../charts/chart542.xml"/><Relationship Id="rId5" Type="http://schemas.openxmlformats.org/officeDocument/2006/relationships/chart" Target="../charts/chart543.xml"/><Relationship Id="rId6" Type="http://schemas.openxmlformats.org/officeDocument/2006/relationships/chart" Target="../charts/chart544.xml"/><Relationship Id="rId7" Type="http://schemas.openxmlformats.org/officeDocument/2006/relationships/notesSlide" Target="../notesSlides/notesSlide626.xml"/></Relationships>
</file>

<file path=ppt/slides/_rels/slide7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45.xml"/><Relationship Id="rId4" Type="http://schemas.openxmlformats.org/officeDocument/2006/relationships/chart" Target="../charts/chart546.xml"/><Relationship Id="rId5" Type="http://schemas.openxmlformats.org/officeDocument/2006/relationships/chart" Target="../charts/chart547.xml"/><Relationship Id="rId6" Type="http://schemas.openxmlformats.org/officeDocument/2006/relationships/chart" Target="../charts/chart548.xml"/><Relationship Id="rId7" Type="http://schemas.openxmlformats.org/officeDocument/2006/relationships/notesSlide" Target="../notesSlides/notesSlide627.xml"/></Relationships>
</file>

<file path=ppt/slides/_rels/slide7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49.xml"/><Relationship Id="rId4" Type="http://schemas.openxmlformats.org/officeDocument/2006/relationships/chart" Target="../charts/chart550.xml"/><Relationship Id="rId5" Type="http://schemas.openxmlformats.org/officeDocument/2006/relationships/chart" Target="../charts/chart551.xml"/><Relationship Id="rId6" Type="http://schemas.openxmlformats.org/officeDocument/2006/relationships/chart" Target="../charts/chart552.xml"/><Relationship Id="rId7" Type="http://schemas.openxmlformats.org/officeDocument/2006/relationships/chart" Target="../charts/chart553.xml"/><Relationship Id="rId8" Type="http://schemas.openxmlformats.org/officeDocument/2006/relationships/chart" Target="../charts/chart554.xml"/><Relationship Id="rId9" Type="http://schemas.openxmlformats.org/officeDocument/2006/relationships/chart" Target="../charts/chart555.xml"/><Relationship Id="rId10" Type="http://schemas.openxmlformats.org/officeDocument/2006/relationships/notesSlide" Target="../notesSlides/notesSlide628.xml"/></Relationships>
</file>

<file path=ppt/slides/_rels/slide7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29.xml"/></Relationships>
</file>

<file path=ppt/slides/_rels/slide7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56.xml"/><Relationship Id="rId4" Type="http://schemas.openxmlformats.org/officeDocument/2006/relationships/chart" Target="../charts/chart557.xml"/><Relationship Id="rId5" Type="http://schemas.openxmlformats.org/officeDocument/2006/relationships/notesSlide" Target="../notesSlides/notesSlide630.xml"/></Relationships>
</file>

<file path=ppt/slides/_rels/slide7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2.xml"/></Relationships>
</file>

<file path=ppt/slides/_rels/slide7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4.xml"/></Relationships>
</file>

<file path=ppt/slides/_rels/slide7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58.xml"/><Relationship Id="rId4" Type="http://schemas.openxmlformats.org/officeDocument/2006/relationships/chart" Target="../charts/chart559.xml"/><Relationship Id="rId5" Type="http://schemas.openxmlformats.org/officeDocument/2006/relationships/notesSlide" Target="../notesSlides/notesSlide635.xml"/></Relationships>
</file>

<file path=ppt/slides/_rels/slide7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6.xml"/></Relationships>
</file>

<file path=ppt/slides/_rels/slide7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7.xml"/></Relationships>
</file>

<file path=ppt/slides/_rels/slide7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60.xml"/><Relationship Id="rId4" Type="http://schemas.openxmlformats.org/officeDocument/2006/relationships/chart" Target="../charts/chart561.xml"/><Relationship Id="rId5" Type="http://schemas.openxmlformats.org/officeDocument/2006/relationships/notesSlide" Target="../notesSlides/notesSlide638.xml"/></Relationships>
</file>

<file path=ppt/slides/_rels/slide7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9.xml"/></Relationships>
</file>

<file path=ppt/slides/_rels/slide7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0.xml"/></Relationships>
</file>

<file path=ppt/slides/_rels/slide7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62.xml"/><Relationship Id="rId4" Type="http://schemas.openxmlformats.org/officeDocument/2006/relationships/chart" Target="../charts/chart563.xml"/><Relationship Id="rId5" Type="http://schemas.openxmlformats.org/officeDocument/2006/relationships/notesSlide" Target="../notesSlides/notesSlide641.xml"/></Relationships>
</file>

<file path=ppt/slides/_rels/slide7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2.xml"/></Relationships>
</file>

<file path=ppt/slides/_rels/slide7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3.xml"/></Relationships>
</file>

<file path=ppt/slides/_rels/slide7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64.xml"/><Relationship Id="rId4" Type="http://schemas.openxmlformats.org/officeDocument/2006/relationships/chart" Target="../charts/chart565.xml"/><Relationship Id="rId5" Type="http://schemas.openxmlformats.org/officeDocument/2006/relationships/notesSlide" Target="../notesSlides/notesSlide644.xml"/></Relationships>
</file>

<file path=ppt/slides/_rels/slide7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5.xml"/></Relationships>
</file>

<file path=ppt/slides/_rels/slide7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6.xml"/></Relationships>
</file>

<file path=ppt/slides/_rels/slide7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66.xml"/><Relationship Id="rId4" Type="http://schemas.openxmlformats.org/officeDocument/2006/relationships/chart" Target="../charts/chart567.xml"/><Relationship Id="rId5" Type="http://schemas.openxmlformats.org/officeDocument/2006/relationships/notesSlide" Target="../notesSlides/notesSlide647.xml"/></Relationships>
</file>

<file path=ppt/slides/_rels/slide7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8.xml"/></Relationships>
</file>

<file path=ppt/slides/_rels/slide7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9.xml"/></Relationships>
</file>

<file path=ppt/slides/_rels/slide7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68.xml"/><Relationship Id="rId4" Type="http://schemas.openxmlformats.org/officeDocument/2006/relationships/chart" Target="../charts/chart569.xml"/><Relationship Id="rId5" Type="http://schemas.openxmlformats.org/officeDocument/2006/relationships/notesSlide" Target="../notesSlides/notesSlide650.xml"/></Relationships>
</file>

<file path=ppt/slides/_rels/slide7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52.xml"/></Relationships>
</file>

<file path=ppt/slides/_rels/slide7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54.xml"/></Relationships>
</file>

<file path=ppt/slides/_rels/slide7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70.xml"/><Relationship Id="rId4" Type="http://schemas.openxmlformats.org/officeDocument/2006/relationships/chart" Target="../charts/chart571.xml"/><Relationship Id="rId5" Type="http://schemas.openxmlformats.org/officeDocument/2006/relationships/chart" Target="../charts/chart572.xml"/><Relationship Id="rId6" Type="http://schemas.openxmlformats.org/officeDocument/2006/relationships/chart" Target="../charts/chart573.xml"/><Relationship Id="rId7" Type="http://schemas.openxmlformats.org/officeDocument/2006/relationships/notesSlide" Target="../notesSlides/notesSlide655.xml"/></Relationships>
</file>

<file path=ppt/slides/_rels/slide7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74.xml"/><Relationship Id="rId4" Type="http://schemas.openxmlformats.org/officeDocument/2006/relationships/chart" Target="../charts/chart575.xml"/><Relationship Id="rId5" Type="http://schemas.openxmlformats.org/officeDocument/2006/relationships/chart" Target="../charts/chart576.xml"/><Relationship Id="rId6" Type="http://schemas.openxmlformats.org/officeDocument/2006/relationships/chart" Target="../charts/chart577.xml"/><Relationship Id="rId7" Type="http://schemas.openxmlformats.org/officeDocument/2006/relationships/notesSlide" Target="../notesSlides/notesSlide656.xml"/></Relationships>
</file>

<file path=ppt/slides/_rels/slide7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78.xml"/><Relationship Id="rId4" Type="http://schemas.openxmlformats.org/officeDocument/2006/relationships/chart" Target="../charts/chart579.xml"/><Relationship Id="rId5" Type="http://schemas.openxmlformats.org/officeDocument/2006/relationships/chart" Target="../charts/chart580.xml"/><Relationship Id="rId6" Type="http://schemas.openxmlformats.org/officeDocument/2006/relationships/chart" Target="../charts/chart581.xml"/><Relationship Id="rId7" Type="http://schemas.openxmlformats.org/officeDocument/2006/relationships/chart" Target="../charts/chart582.xml"/><Relationship Id="rId8" Type="http://schemas.openxmlformats.org/officeDocument/2006/relationships/chart" Target="../charts/chart583.xml"/><Relationship Id="rId9" Type="http://schemas.openxmlformats.org/officeDocument/2006/relationships/chart" Target="../charts/chart584.xml"/><Relationship Id="rId10" Type="http://schemas.openxmlformats.org/officeDocument/2006/relationships/notesSlide" Target="../notesSlides/notesSlide657.xml"/></Relationships>
</file>

<file path=ppt/slides/_rels/slide7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58.xml"/></Relationships>
</file>

<file path=ppt/slides/_rels/slide7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5.xml"/><Relationship Id="rId4" Type="http://schemas.openxmlformats.org/officeDocument/2006/relationships/chart" Target="../charts/chart586.xml"/><Relationship Id="rId5" Type="http://schemas.openxmlformats.org/officeDocument/2006/relationships/notesSlide" Target="../notesSlides/notesSlide659.xml"/></Relationships>
</file>

<file path=ppt/slides/_rels/slide7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1.xml"/></Relationships>
</file>

<file path=ppt/slides/_rels/slide7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3.xml"/></Relationships>
</file>

<file path=ppt/slides/_rels/slide7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7.xml"/><Relationship Id="rId4" Type="http://schemas.openxmlformats.org/officeDocument/2006/relationships/chart" Target="../charts/chart588.xml"/><Relationship Id="rId5" Type="http://schemas.openxmlformats.org/officeDocument/2006/relationships/notesSlide" Target="../notesSlides/notesSlide664.xml"/></Relationships>
</file>

<file path=ppt/slides/_rels/slide7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5.xml"/></Relationships>
</file>

<file path=ppt/slides/_rels/slide7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6.xml"/></Relationships>
</file>

<file path=ppt/slides/_rels/slide7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9.xml"/><Relationship Id="rId4" Type="http://schemas.openxmlformats.org/officeDocument/2006/relationships/chart" Target="../charts/chart590.xml"/><Relationship Id="rId5" Type="http://schemas.openxmlformats.org/officeDocument/2006/relationships/notesSlide" Target="../notesSlides/notesSlide667.xml"/></Relationships>
</file>

<file path=ppt/slides/_rels/slide7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8.xml"/></Relationships>
</file>

<file path=ppt/slides/_rels/slide7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9.xml"/></Relationships>
</file>

<file path=ppt/slides/_rels/slide7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91.xml"/><Relationship Id="rId4" Type="http://schemas.openxmlformats.org/officeDocument/2006/relationships/chart" Target="../charts/chart592.xml"/><Relationship Id="rId5" Type="http://schemas.openxmlformats.org/officeDocument/2006/relationships/notesSlide" Target="../notesSlides/notesSlide670.xml"/></Relationships>
</file>

<file path=ppt/slides/_rels/slide7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1.xml"/></Relationships>
</file>

<file path=ppt/slides/_rels/slide7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2.xml"/></Relationships>
</file>

<file path=ppt/slides/_rels/slide7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93.xml"/><Relationship Id="rId4" Type="http://schemas.openxmlformats.org/officeDocument/2006/relationships/chart" Target="../charts/chart594.xml"/><Relationship Id="rId5" Type="http://schemas.openxmlformats.org/officeDocument/2006/relationships/notesSlide" Target="../notesSlides/notesSlide673.xml"/></Relationships>
</file>

<file path=ppt/slides/_rels/slide7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4.xml"/></Relationships>
</file>

<file path=ppt/slides/_rels/slide7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5.xml"/></Relationships>
</file>

<file path=ppt/slides/_rels/slide7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95.xml"/><Relationship Id="rId4" Type="http://schemas.openxmlformats.org/officeDocument/2006/relationships/chart" Target="../charts/chart596.xml"/><Relationship Id="rId5" Type="http://schemas.openxmlformats.org/officeDocument/2006/relationships/notesSlide" Target="../notesSlides/notesSlide676.xml"/></Relationships>
</file>

<file path=ppt/slides/_rels/slide7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7.xml"/></Relationships>
</file>

<file path=ppt/slides/_rels/slide7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8.xml"/></Relationships>
</file>

<file path=ppt/slides/_rels/slide7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97.xml"/><Relationship Id="rId4" Type="http://schemas.openxmlformats.org/officeDocument/2006/relationships/chart" Target="../charts/chart598.xml"/><Relationship Id="rId5" Type="http://schemas.openxmlformats.org/officeDocument/2006/relationships/notesSlide" Target="../notesSlides/notesSlide679.xml"/></Relationships>
</file>

<file path=ppt/slides/_rels/slide7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81.xml"/></Relationships>
</file>

<file path=ppt/slides/_rels/slide7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83.xml"/></Relationships>
</file>

<file path=ppt/slides/_rels/slide7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99.xml"/><Relationship Id="rId4" Type="http://schemas.openxmlformats.org/officeDocument/2006/relationships/chart" Target="../charts/chart600.xml"/><Relationship Id="rId5" Type="http://schemas.openxmlformats.org/officeDocument/2006/relationships/chart" Target="../charts/chart601.xml"/><Relationship Id="rId6" Type="http://schemas.openxmlformats.org/officeDocument/2006/relationships/chart" Target="../charts/chart602.xml"/><Relationship Id="rId7" Type="http://schemas.openxmlformats.org/officeDocument/2006/relationships/notesSlide" Target="../notesSlides/notesSlide684.xml"/></Relationships>
</file>

<file path=ppt/slides/_rels/slide7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03.xml"/><Relationship Id="rId4" Type="http://schemas.openxmlformats.org/officeDocument/2006/relationships/chart" Target="../charts/chart604.xml"/><Relationship Id="rId5" Type="http://schemas.openxmlformats.org/officeDocument/2006/relationships/chart" Target="../charts/chart605.xml"/><Relationship Id="rId6" Type="http://schemas.openxmlformats.org/officeDocument/2006/relationships/chart" Target="../charts/chart606.xml"/><Relationship Id="rId7" Type="http://schemas.openxmlformats.org/officeDocument/2006/relationships/notesSlide" Target="../notesSlides/notesSlide685.xml"/></Relationships>
</file>

<file path=ppt/slides/_rels/slide7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07.xml"/><Relationship Id="rId4" Type="http://schemas.openxmlformats.org/officeDocument/2006/relationships/chart" Target="../charts/chart608.xml"/><Relationship Id="rId5" Type="http://schemas.openxmlformats.org/officeDocument/2006/relationships/chart" Target="../charts/chart609.xml"/><Relationship Id="rId6" Type="http://schemas.openxmlformats.org/officeDocument/2006/relationships/chart" Target="../charts/chart610.xml"/><Relationship Id="rId7" Type="http://schemas.openxmlformats.org/officeDocument/2006/relationships/chart" Target="../charts/chart611.xml"/><Relationship Id="rId8" Type="http://schemas.openxmlformats.org/officeDocument/2006/relationships/chart" Target="../charts/chart612.xml"/><Relationship Id="rId9" Type="http://schemas.openxmlformats.org/officeDocument/2006/relationships/chart" Target="../charts/chart613.xml"/><Relationship Id="rId10" Type="http://schemas.openxmlformats.org/officeDocument/2006/relationships/notesSlide" Target="../notesSlides/notesSlide686.xml"/></Relationships>
</file>

<file path=ppt/slides/_rels/slide7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87.xml"/></Relationships>
</file>

<file path=ppt/slides/_rels/slide7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14.xml"/><Relationship Id="rId4" Type="http://schemas.openxmlformats.org/officeDocument/2006/relationships/chart" Target="../charts/chart615.xml"/><Relationship Id="rId5" Type="http://schemas.openxmlformats.org/officeDocument/2006/relationships/notesSlide" Target="../notesSlides/notesSlide688.xml"/></Relationships>
</file>

<file path=ppt/slides/_rels/slide7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90.xml"/></Relationships>
</file>

<file path=ppt/slides/_rels/slide7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92.xml"/></Relationships>
</file>

<file path=ppt/slides/_rels/slide7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16.xml"/><Relationship Id="rId4" Type="http://schemas.openxmlformats.org/officeDocument/2006/relationships/chart" Target="../charts/chart617.xml"/><Relationship Id="rId5" Type="http://schemas.openxmlformats.org/officeDocument/2006/relationships/notesSlide" Target="../notesSlides/notesSlide693.xml"/></Relationships>
</file>

<file path=ppt/slides/_rels/slide7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94.xml"/></Relationships>
</file>

<file path=ppt/slides/_rels/slide7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95.xml"/></Relationships>
</file>

<file path=ppt/slides/_rels/slide7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18.xml"/><Relationship Id="rId4" Type="http://schemas.openxmlformats.org/officeDocument/2006/relationships/chart" Target="../charts/chart619.xml"/><Relationship Id="rId5" Type="http://schemas.openxmlformats.org/officeDocument/2006/relationships/notesSlide" Target="../notesSlides/notesSlide696.xml"/></Relationships>
</file>

<file path=ppt/slides/_rels/slide8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97.xml"/></Relationships>
</file>

<file path=ppt/slides/_rels/slide8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98.xml"/></Relationships>
</file>

<file path=ppt/slides/_rels/slide8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20.xml"/><Relationship Id="rId4" Type="http://schemas.openxmlformats.org/officeDocument/2006/relationships/chart" Target="../charts/chart621.xml"/><Relationship Id="rId5" Type="http://schemas.openxmlformats.org/officeDocument/2006/relationships/notesSlide" Target="../notesSlides/notesSlide699.xml"/></Relationships>
</file>

<file path=ppt/slides/_rels/slide8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00.xml"/></Relationships>
</file>

<file path=ppt/slides/_rels/slide8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01.xml"/></Relationships>
</file>

<file path=ppt/slides/_rels/slide8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22.xml"/><Relationship Id="rId4" Type="http://schemas.openxmlformats.org/officeDocument/2006/relationships/chart" Target="../charts/chart623.xml"/><Relationship Id="rId5" Type="http://schemas.openxmlformats.org/officeDocument/2006/relationships/notesSlide" Target="../notesSlides/notesSlide702.xml"/></Relationships>
</file>

<file path=ppt/slides/_rels/slide8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03.xml"/></Relationships>
</file>

<file path=ppt/slides/_rels/slide8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04.xml"/></Relationships>
</file>

<file path=ppt/slides/_rels/slide8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24.xml"/><Relationship Id="rId4" Type="http://schemas.openxmlformats.org/officeDocument/2006/relationships/chart" Target="../charts/chart625.xml"/><Relationship Id="rId5" Type="http://schemas.openxmlformats.org/officeDocument/2006/relationships/notesSlide" Target="../notesSlides/notesSlide705.xml"/></Relationships>
</file>

<file path=ppt/slides/_rels/slide8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06.xml"/></Relationships>
</file>

<file path=ppt/slides/_rels/slide8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07.xml"/></Relationships>
</file>

<file path=ppt/slides/_rels/slide8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26.xml"/><Relationship Id="rId4" Type="http://schemas.openxmlformats.org/officeDocument/2006/relationships/chart" Target="../charts/chart627.xml"/><Relationship Id="rId5" Type="http://schemas.openxmlformats.org/officeDocument/2006/relationships/notesSlide" Target="../notesSlides/notesSlide708.xml"/></Relationships>
</file>

<file path=ppt/slides/_rels/slide8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10.xml"/></Relationships>
</file>

<file path=ppt/slides/_rels/slide8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12.xml"/></Relationships>
</file>

<file path=ppt/slides/_rels/slide8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28.xml"/><Relationship Id="rId4" Type="http://schemas.openxmlformats.org/officeDocument/2006/relationships/chart" Target="../charts/chart629.xml"/><Relationship Id="rId5" Type="http://schemas.openxmlformats.org/officeDocument/2006/relationships/chart" Target="../charts/chart630.xml"/><Relationship Id="rId6" Type="http://schemas.openxmlformats.org/officeDocument/2006/relationships/chart" Target="../charts/chart631.xml"/><Relationship Id="rId7" Type="http://schemas.openxmlformats.org/officeDocument/2006/relationships/notesSlide" Target="../notesSlides/notesSlide713.xml"/></Relationships>
</file>

<file path=ppt/slides/_rels/slide8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32.xml"/><Relationship Id="rId4" Type="http://schemas.openxmlformats.org/officeDocument/2006/relationships/chart" Target="../charts/chart633.xml"/><Relationship Id="rId5" Type="http://schemas.openxmlformats.org/officeDocument/2006/relationships/chart" Target="../charts/chart634.xml"/><Relationship Id="rId6" Type="http://schemas.openxmlformats.org/officeDocument/2006/relationships/chart" Target="../charts/chart635.xml"/><Relationship Id="rId7" Type="http://schemas.openxmlformats.org/officeDocument/2006/relationships/notesSlide" Target="../notesSlides/notesSlide714.xml"/></Relationships>
</file>

<file path=ppt/slides/_rels/slide8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36.xml"/><Relationship Id="rId4" Type="http://schemas.openxmlformats.org/officeDocument/2006/relationships/chart" Target="../charts/chart637.xml"/><Relationship Id="rId5" Type="http://schemas.openxmlformats.org/officeDocument/2006/relationships/chart" Target="../charts/chart638.xml"/><Relationship Id="rId6" Type="http://schemas.openxmlformats.org/officeDocument/2006/relationships/chart" Target="../charts/chart639.xml"/><Relationship Id="rId7" Type="http://schemas.openxmlformats.org/officeDocument/2006/relationships/chart" Target="../charts/chart640.xml"/><Relationship Id="rId8" Type="http://schemas.openxmlformats.org/officeDocument/2006/relationships/chart" Target="../charts/chart641.xml"/><Relationship Id="rId9" Type="http://schemas.openxmlformats.org/officeDocument/2006/relationships/chart" Target="../charts/chart642.xml"/><Relationship Id="rId10" Type="http://schemas.openxmlformats.org/officeDocument/2006/relationships/notesSlide" Target="../notesSlides/notesSlide715.xml"/></Relationships>
</file>

<file path=ppt/slides/_rels/slide8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16.xml"/></Relationships>
</file>

<file path=ppt/slides/_rels/slide8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3.xml"/><Relationship Id="rId4" Type="http://schemas.openxmlformats.org/officeDocument/2006/relationships/chart" Target="../charts/chart644.xml"/><Relationship Id="rId5" Type="http://schemas.openxmlformats.org/officeDocument/2006/relationships/notesSlide" Target="../notesSlides/notesSlide717.xml"/></Relationships>
</file>

<file path=ppt/slides/_rels/slide8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19.xml"/></Relationships>
</file>

<file path=ppt/slides/_rels/slide8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1.xml"/></Relationships>
</file>

<file path=ppt/slides/_rels/slide8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5.xml"/><Relationship Id="rId4" Type="http://schemas.openxmlformats.org/officeDocument/2006/relationships/chart" Target="../charts/chart646.xml"/><Relationship Id="rId5" Type="http://schemas.openxmlformats.org/officeDocument/2006/relationships/notesSlide" Target="../notesSlides/notesSlide722.xml"/></Relationships>
</file>

<file path=ppt/slides/_rels/slide8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3.xml"/></Relationships>
</file>

<file path=ppt/slides/_rels/slide8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4.xml"/></Relationships>
</file>

<file path=ppt/slides/_rels/slide8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7.xml"/><Relationship Id="rId4" Type="http://schemas.openxmlformats.org/officeDocument/2006/relationships/chart" Target="../charts/chart648.xml"/><Relationship Id="rId5" Type="http://schemas.openxmlformats.org/officeDocument/2006/relationships/notesSlide" Target="../notesSlides/notesSlide725.xml"/></Relationships>
</file>

<file path=ppt/slides/_rels/slide8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6.xml"/></Relationships>
</file>

<file path=ppt/slides/_rels/slide8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7.xml"/></Relationships>
</file>

<file path=ppt/slides/_rels/slide8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9.xml"/><Relationship Id="rId4" Type="http://schemas.openxmlformats.org/officeDocument/2006/relationships/chart" Target="../charts/chart650.xml"/><Relationship Id="rId5" Type="http://schemas.openxmlformats.org/officeDocument/2006/relationships/notesSlide" Target="../notesSlides/notesSlide728.xml"/></Relationships>
</file>

<file path=ppt/slides/_rels/slide8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9.xml"/></Relationships>
</file>

<file path=ppt/slides/_rels/slide8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0.xml"/></Relationships>
</file>

<file path=ppt/slides/_rels/slide8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51.xml"/><Relationship Id="rId4" Type="http://schemas.openxmlformats.org/officeDocument/2006/relationships/chart" Target="../charts/chart652.xml"/><Relationship Id="rId5" Type="http://schemas.openxmlformats.org/officeDocument/2006/relationships/notesSlide" Target="../notesSlides/notesSlide731.xml"/></Relationships>
</file>

<file path=ppt/slides/_rels/slide8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2.xml"/></Relationships>
</file>

<file path=ppt/slides/_rels/slide8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3.xml"/></Relationships>
</file>

<file path=ppt/slides/_rels/slide8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53.xml"/><Relationship Id="rId4" Type="http://schemas.openxmlformats.org/officeDocument/2006/relationships/chart" Target="../charts/chart654.xml"/><Relationship Id="rId5" Type="http://schemas.openxmlformats.org/officeDocument/2006/relationships/notesSlide" Target="../notesSlides/notesSlide734.xml"/></Relationships>
</file>

<file path=ppt/slides/_rels/slide8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5.xml"/></Relationships>
</file>

<file path=ppt/slides/_rels/slide8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6.xml"/></Relationships>
</file>

<file path=ppt/slides/_rels/slide8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55.xml"/><Relationship Id="rId4" Type="http://schemas.openxmlformats.org/officeDocument/2006/relationships/chart" Target="../charts/chart656.xml"/><Relationship Id="rId5" Type="http://schemas.openxmlformats.org/officeDocument/2006/relationships/notesSlide" Target="../notesSlides/notesSlide737.xml"/></Relationships>
</file>

<file path=ppt/slides/_rels/slide8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9.xml"/></Relationships>
</file>

<file path=ppt/slides/_rels/slide8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41.xml"/></Relationships>
</file>

<file path=ppt/slides/_rels/slide8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57.xml"/><Relationship Id="rId4" Type="http://schemas.openxmlformats.org/officeDocument/2006/relationships/chart" Target="../charts/chart658.xml"/><Relationship Id="rId5" Type="http://schemas.openxmlformats.org/officeDocument/2006/relationships/chart" Target="../charts/chart659.xml"/><Relationship Id="rId6" Type="http://schemas.openxmlformats.org/officeDocument/2006/relationships/chart" Target="../charts/chart660.xml"/><Relationship Id="rId7" Type="http://schemas.openxmlformats.org/officeDocument/2006/relationships/notesSlide" Target="../notesSlides/notesSlide742.xml"/></Relationships>
</file>

<file path=ppt/slides/_rels/slide8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61.xml"/><Relationship Id="rId4" Type="http://schemas.openxmlformats.org/officeDocument/2006/relationships/chart" Target="../charts/chart662.xml"/><Relationship Id="rId5" Type="http://schemas.openxmlformats.org/officeDocument/2006/relationships/chart" Target="../charts/chart663.xml"/><Relationship Id="rId6" Type="http://schemas.openxmlformats.org/officeDocument/2006/relationships/chart" Target="../charts/chart664.xml"/><Relationship Id="rId7" Type="http://schemas.openxmlformats.org/officeDocument/2006/relationships/notesSlide" Target="../notesSlides/notesSlide743.xml"/></Relationships>
</file>

<file path=ppt/slides/_rels/slide8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65.xml"/><Relationship Id="rId4" Type="http://schemas.openxmlformats.org/officeDocument/2006/relationships/chart" Target="../charts/chart666.xml"/><Relationship Id="rId5" Type="http://schemas.openxmlformats.org/officeDocument/2006/relationships/chart" Target="../charts/chart667.xml"/><Relationship Id="rId6" Type="http://schemas.openxmlformats.org/officeDocument/2006/relationships/chart" Target="../charts/chart668.xml"/><Relationship Id="rId7" Type="http://schemas.openxmlformats.org/officeDocument/2006/relationships/chart" Target="../charts/chart669.xml"/><Relationship Id="rId8" Type="http://schemas.openxmlformats.org/officeDocument/2006/relationships/chart" Target="../charts/chart670.xml"/><Relationship Id="rId9" Type="http://schemas.openxmlformats.org/officeDocument/2006/relationships/chart" Target="../charts/chart671.xml"/><Relationship Id="rId10" Type="http://schemas.openxmlformats.org/officeDocument/2006/relationships/notesSlide" Target="../notesSlides/notesSlide744.xml"/></Relationships>
</file>

<file path=ppt/slides/_rels/slide8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45.xml"/></Relationships>
</file>

<file path=ppt/slides/_rels/slide8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72.xml"/><Relationship Id="rId4" Type="http://schemas.openxmlformats.org/officeDocument/2006/relationships/chart" Target="../charts/chart673.xml"/><Relationship Id="rId5" Type="http://schemas.openxmlformats.org/officeDocument/2006/relationships/notesSlide" Target="../notesSlides/notesSlide746.xml"/></Relationships>
</file>

<file path=ppt/slides/_rels/slide8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48.xml"/></Relationships>
</file>

<file path=ppt/slides/_rels/slide8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0.xml"/></Relationships>
</file>

<file path=ppt/slides/_rels/slide8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74.xml"/><Relationship Id="rId4" Type="http://schemas.openxmlformats.org/officeDocument/2006/relationships/chart" Target="../charts/chart675.xml"/><Relationship Id="rId5" Type="http://schemas.openxmlformats.org/officeDocument/2006/relationships/notesSlide" Target="../notesSlides/notesSlide751.xml"/></Relationships>
</file>

<file path=ppt/slides/_rels/slide8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2.xml"/></Relationships>
</file>

<file path=ppt/slides/_rels/slide8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3.xml"/></Relationships>
</file>

<file path=ppt/slides/_rels/slide8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76.xml"/><Relationship Id="rId4" Type="http://schemas.openxmlformats.org/officeDocument/2006/relationships/chart" Target="../charts/chart677.xml"/><Relationship Id="rId5" Type="http://schemas.openxmlformats.org/officeDocument/2006/relationships/notesSlide" Target="../notesSlides/notesSlide754.xml"/></Relationships>
</file>

<file path=ppt/slides/_rels/slide8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5.xml"/></Relationships>
</file>

<file path=ppt/slides/_rels/slide8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6.xml"/></Relationships>
</file>

<file path=ppt/slides/_rels/slide8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78.xml"/><Relationship Id="rId4" Type="http://schemas.openxmlformats.org/officeDocument/2006/relationships/chart" Target="../charts/chart679.xml"/><Relationship Id="rId5" Type="http://schemas.openxmlformats.org/officeDocument/2006/relationships/notesSlide" Target="../notesSlides/notesSlide757.xml"/></Relationships>
</file>

<file path=ppt/slides/_rels/slide8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8.xml"/></Relationships>
</file>

<file path=ppt/slides/_rels/slide8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9.xml"/></Relationships>
</file>

<file path=ppt/slides/_rels/slide8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80.xml"/><Relationship Id="rId4" Type="http://schemas.openxmlformats.org/officeDocument/2006/relationships/chart" Target="../charts/chart681.xml"/><Relationship Id="rId5" Type="http://schemas.openxmlformats.org/officeDocument/2006/relationships/notesSlide" Target="../notesSlides/notesSlide760.xml"/></Relationships>
</file>

<file path=ppt/slides/_rels/slide8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61.xml"/></Relationships>
</file>

<file path=ppt/slides/_rels/slide8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62.xml"/></Relationships>
</file>

<file path=ppt/slides/_rels/slide8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82.xml"/><Relationship Id="rId4" Type="http://schemas.openxmlformats.org/officeDocument/2006/relationships/chart" Target="../charts/chart683.xml"/><Relationship Id="rId5" Type="http://schemas.openxmlformats.org/officeDocument/2006/relationships/notesSlide" Target="../notesSlides/notesSlide763.xml"/></Relationships>
</file>

<file path=ppt/slides/_rels/slide8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64.xml"/></Relationships>
</file>

<file path=ppt/slides/_rels/slide8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65.xml"/></Relationships>
</file>

<file path=ppt/slides/_rels/slide8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84.xml"/><Relationship Id="rId4" Type="http://schemas.openxmlformats.org/officeDocument/2006/relationships/chart" Target="../charts/chart685.xml"/><Relationship Id="rId5" Type="http://schemas.openxmlformats.org/officeDocument/2006/relationships/notesSlide" Target="../notesSlides/notesSlide766.xml"/></Relationships>
</file>

<file path=ppt/slides/_rels/slide8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68.xml"/></Relationships>
</file>

<file path=ppt/slides/_rels/slide8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0.xml"/></Relationships>
</file>

<file path=ppt/slides/_rels/slide8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86.xml"/><Relationship Id="rId4" Type="http://schemas.openxmlformats.org/officeDocument/2006/relationships/chart" Target="../charts/chart687.xml"/><Relationship Id="rId5" Type="http://schemas.openxmlformats.org/officeDocument/2006/relationships/chart" Target="../charts/chart688.xml"/><Relationship Id="rId6" Type="http://schemas.openxmlformats.org/officeDocument/2006/relationships/chart" Target="../charts/chart689.xml"/><Relationship Id="rId7" Type="http://schemas.openxmlformats.org/officeDocument/2006/relationships/notesSlide" Target="../notesSlides/notesSlide771.xml"/></Relationships>
</file>

<file path=ppt/slides/_rels/slide8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90.xml"/><Relationship Id="rId4" Type="http://schemas.openxmlformats.org/officeDocument/2006/relationships/chart" Target="../charts/chart691.xml"/><Relationship Id="rId5" Type="http://schemas.openxmlformats.org/officeDocument/2006/relationships/chart" Target="../charts/chart692.xml"/><Relationship Id="rId6" Type="http://schemas.openxmlformats.org/officeDocument/2006/relationships/chart" Target="../charts/chart693.xml"/><Relationship Id="rId7" Type="http://schemas.openxmlformats.org/officeDocument/2006/relationships/notesSlide" Target="../notesSlides/notesSlide772.xml"/></Relationships>
</file>

<file path=ppt/slides/_rels/slide8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94.xml"/><Relationship Id="rId4" Type="http://schemas.openxmlformats.org/officeDocument/2006/relationships/chart" Target="../charts/chart695.xml"/><Relationship Id="rId5" Type="http://schemas.openxmlformats.org/officeDocument/2006/relationships/chart" Target="../charts/chart696.xml"/><Relationship Id="rId6" Type="http://schemas.openxmlformats.org/officeDocument/2006/relationships/chart" Target="../charts/chart697.xml"/><Relationship Id="rId7" Type="http://schemas.openxmlformats.org/officeDocument/2006/relationships/chart" Target="../charts/chart698.xml"/><Relationship Id="rId8" Type="http://schemas.openxmlformats.org/officeDocument/2006/relationships/chart" Target="../charts/chart699.xml"/><Relationship Id="rId9" Type="http://schemas.openxmlformats.org/officeDocument/2006/relationships/chart" Target="../charts/chart700.xml"/><Relationship Id="rId10" Type="http://schemas.openxmlformats.org/officeDocument/2006/relationships/notesSlide" Target="../notesSlides/notesSlide773.xml"/></Relationships>
</file>

<file path=ppt/slides/_rels/slide8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4.xml"/></Relationships>
</file>

<file path=ppt/slides/_rels/slide8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01.xml"/><Relationship Id="rId4" Type="http://schemas.openxmlformats.org/officeDocument/2006/relationships/chart" Target="../charts/chart702.xml"/><Relationship Id="rId5" Type="http://schemas.openxmlformats.org/officeDocument/2006/relationships/notesSlide" Target="../notesSlides/notesSlide775.xml"/></Relationships>
</file>

<file path=ppt/slides/_rels/slide8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7.xml"/></Relationships>
</file>

<file path=ppt/slides/_rels/slide8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9.xml"/></Relationships>
</file>

<file path=ppt/slides/_rels/slide8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03.xml"/><Relationship Id="rId4" Type="http://schemas.openxmlformats.org/officeDocument/2006/relationships/chart" Target="../charts/chart704.xml"/><Relationship Id="rId5" Type="http://schemas.openxmlformats.org/officeDocument/2006/relationships/notesSlide" Target="../notesSlides/notesSlide780.xml"/></Relationships>
</file>

<file path=ppt/slides/_rels/slide8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1.xml"/></Relationships>
</file>

<file path=ppt/slides/_rels/slide8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2.xml"/></Relationships>
</file>

<file path=ppt/slides/_rels/slide8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05.xml"/><Relationship Id="rId4" Type="http://schemas.openxmlformats.org/officeDocument/2006/relationships/chart" Target="../charts/chart706.xml"/><Relationship Id="rId5" Type="http://schemas.openxmlformats.org/officeDocument/2006/relationships/notesSlide" Target="../notesSlides/notesSlide783.xml"/></Relationships>
</file>

<file path=ppt/slides/_rels/slide8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4.xml"/></Relationships>
</file>

<file path=ppt/slides/_rels/slide8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5.xml"/></Relationships>
</file>

<file path=ppt/slides/_rels/slide8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07.xml"/><Relationship Id="rId4" Type="http://schemas.openxmlformats.org/officeDocument/2006/relationships/chart" Target="../charts/chart708.xml"/><Relationship Id="rId5" Type="http://schemas.openxmlformats.org/officeDocument/2006/relationships/notesSlide" Target="../notesSlides/notesSlide786.xml"/></Relationships>
</file>

<file path=ppt/slides/_rels/slide8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7.xml"/></Relationships>
</file>

<file path=ppt/slides/_rels/slide8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8.xml"/></Relationships>
</file>

<file path=ppt/slides/_rels/slide8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09.xml"/><Relationship Id="rId4" Type="http://schemas.openxmlformats.org/officeDocument/2006/relationships/chart" Target="../charts/chart710.xml"/><Relationship Id="rId5" Type="http://schemas.openxmlformats.org/officeDocument/2006/relationships/notesSlide" Target="../notesSlides/notesSlide789.xml"/></Relationships>
</file>

<file path=ppt/slides/_rels/slide8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90.xml"/></Relationships>
</file>

<file path=ppt/slides/_rels/slide8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91.xml"/></Relationships>
</file>

<file path=ppt/slides/_rels/slide8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11.xml"/><Relationship Id="rId4" Type="http://schemas.openxmlformats.org/officeDocument/2006/relationships/chart" Target="../charts/chart712.xml"/><Relationship Id="rId5" Type="http://schemas.openxmlformats.org/officeDocument/2006/relationships/notesSlide" Target="../notesSlides/notesSlide792.xml"/></Relationships>
</file>

<file path=ppt/slides/_rels/slide8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93.xml"/></Relationships>
</file>

<file path=ppt/slides/_rels/slide9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94.xml"/></Relationships>
</file>

<file path=ppt/slides/_rels/slide9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13.xml"/><Relationship Id="rId4" Type="http://schemas.openxmlformats.org/officeDocument/2006/relationships/chart" Target="../charts/chart714.xml"/><Relationship Id="rId5" Type="http://schemas.openxmlformats.org/officeDocument/2006/relationships/notesSlide" Target="../notesSlides/notesSlide795.xml"/></Relationships>
</file>

<file path=ppt/slides/_rels/slide9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97.xml"/></Relationships>
</file>

<file path=ppt/slides/_rels/slide9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99.xml"/></Relationships>
</file>

<file path=ppt/slides/_rels/slide9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15.xml"/><Relationship Id="rId4" Type="http://schemas.openxmlformats.org/officeDocument/2006/relationships/chart" Target="../charts/chart716.xml"/><Relationship Id="rId5" Type="http://schemas.openxmlformats.org/officeDocument/2006/relationships/chart" Target="../charts/chart717.xml"/><Relationship Id="rId6" Type="http://schemas.openxmlformats.org/officeDocument/2006/relationships/chart" Target="../charts/chart718.xml"/><Relationship Id="rId7" Type="http://schemas.openxmlformats.org/officeDocument/2006/relationships/notesSlide" Target="../notesSlides/notesSlide800.xml"/></Relationships>
</file>

<file path=ppt/slides/_rels/slide9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19.xml"/><Relationship Id="rId4" Type="http://schemas.openxmlformats.org/officeDocument/2006/relationships/chart" Target="../charts/chart720.xml"/><Relationship Id="rId5" Type="http://schemas.openxmlformats.org/officeDocument/2006/relationships/chart" Target="../charts/chart721.xml"/><Relationship Id="rId6" Type="http://schemas.openxmlformats.org/officeDocument/2006/relationships/chart" Target="../charts/chart722.xml"/><Relationship Id="rId7" Type="http://schemas.openxmlformats.org/officeDocument/2006/relationships/notesSlide" Target="../notesSlides/notesSlide801.xml"/></Relationships>
</file>

<file path=ppt/slides/_rels/slide9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23.xml"/><Relationship Id="rId4" Type="http://schemas.openxmlformats.org/officeDocument/2006/relationships/chart" Target="../charts/chart724.xml"/><Relationship Id="rId5" Type="http://schemas.openxmlformats.org/officeDocument/2006/relationships/chart" Target="../charts/chart725.xml"/><Relationship Id="rId6" Type="http://schemas.openxmlformats.org/officeDocument/2006/relationships/chart" Target="../charts/chart726.xml"/><Relationship Id="rId7" Type="http://schemas.openxmlformats.org/officeDocument/2006/relationships/chart" Target="../charts/chart727.xml"/><Relationship Id="rId8" Type="http://schemas.openxmlformats.org/officeDocument/2006/relationships/chart" Target="../charts/chart728.xml"/><Relationship Id="rId9" Type="http://schemas.openxmlformats.org/officeDocument/2006/relationships/chart" Target="../charts/chart729.xml"/><Relationship Id="rId10" Type="http://schemas.openxmlformats.org/officeDocument/2006/relationships/notesSlide" Target="../notesSlides/notesSlide802.xml"/></Relationships>
</file>

<file path=ppt/slides/_rels/slide9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3.xml"/></Relationships>
</file>

<file path=ppt/slides/_rels/slide9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0.xml"/><Relationship Id="rId4" Type="http://schemas.openxmlformats.org/officeDocument/2006/relationships/chart" Target="../charts/chart731.xml"/><Relationship Id="rId5" Type="http://schemas.openxmlformats.org/officeDocument/2006/relationships/notesSlide" Target="../notesSlides/notesSlide804.xml"/></Relationships>
</file>

<file path=ppt/slides/_rels/slide9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6.xml"/></Relationships>
</file>

<file path=ppt/slides/_rels/slide9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8.xml"/></Relationships>
</file>

<file path=ppt/slides/_rels/slide9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2.xml"/><Relationship Id="rId4" Type="http://schemas.openxmlformats.org/officeDocument/2006/relationships/chart" Target="../charts/chart733.xml"/><Relationship Id="rId5" Type="http://schemas.openxmlformats.org/officeDocument/2006/relationships/notesSlide" Target="../notesSlides/notesSlide809.xml"/></Relationships>
</file>

<file path=ppt/slides/_rels/slide9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0.xml"/></Relationships>
</file>

<file path=ppt/slides/_rels/slide9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1.xml"/></Relationships>
</file>

<file path=ppt/slides/_rels/slide9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4.xml"/><Relationship Id="rId4" Type="http://schemas.openxmlformats.org/officeDocument/2006/relationships/chart" Target="../charts/chart735.xml"/><Relationship Id="rId5" Type="http://schemas.openxmlformats.org/officeDocument/2006/relationships/notesSlide" Target="../notesSlides/notesSlide812.xml"/></Relationships>
</file>

<file path=ppt/slides/_rels/slide9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3.xml"/></Relationships>
</file>

<file path=ppt/slides/_rels/slide9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4.xml"/></Relationships>
</file>

<file path=ppt/slides/_rels/slide9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6.xml"/><Relationship Id="rId4" Type="http://schemas.openxmlformats.org/officeDocument/2006/relationships/chart" Target="../charts/chart737.xml"/><Relationship Id="rId5" Type="http://schemas.openxmlformats.org/officeDocument/2006/relationships/notesSlide" Target="../notesSlides/notesSlide815.xml"/></Relationships>
</file>

<file path=ppt/slides/_rels/slide9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6.xml"/></Relationships>
</file>

<file path=ppt/slides/_rels/slide9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7.xml"/></Relationships>
</file>

<file path=ppt/slides/_rels/slide9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8.xml"/><Relationship Id="rId4" Type="http://schemas.openxmlformats.org/officeDocument/2006/relationships/chart" Target="../charts/chart739.xml"/><Relationship Id="rId5" Type="http://schemas.openxmlformats.org/officeDocument/2006/relationships/notesSlide" Target="../notesSlides/notesSlide818.xml"/></Relationships>
</file>

<file path=ppt/slides/_rels/slide9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9.xml"/></Relationships>
</file>

<file path=ppt/slides/_rels/slide9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20.xml"/></Relationships>
</file>

<file path=ppt/slides/_rels/slide9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40.xml"/><Relationship Id="rId4" Type="http://schemas.openxmlformats.org/officeDocument/2006/relationships/chart" Target="../charts/chart741.xml"/><Relationship Id="rId5" Type="http://schemas.openxmlformats.org/officeDocument/2006/relationships/notesSlide" Target="../notesSlides/notesSlide821.xml"/></Relationships>
</file>

<file path=ppt/slides/_rels/slide9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22.xml"/></Relationships>
</file>

<file path=ppt/slides/_rels/slide9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23.xml"/></Relationships>
</file>

<file path=ppt/slides/_rels/slide9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42.xml"/><Relationship Id="rId4" Type="http://schemas.openxmlformats.org/officeDocument/2006/relationships/chart" Target="../charts/chart743.xml"/><Relationship Id="rId5" Type="http://schemas.openxmlformats.org/officeDocument/2006/relationships/notesSlide" Target="../notesSlides/notesSlide824.xml"/></Relationships>
</file>

<file path=ppt/slides/_rels/slide9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26.xml"/></Relationships>
</file>

<file path=ppt/slides/_rels/slide9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28.xml"/></Relationships>
</file>

<file path=ppt/slides/_rels/slide9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44.xml"/><Relationship Id="rId4" Type="http://schemas.openxmlformats.org/officeDocument/2006/relationships/chart" Target="../charts/chart745.xml"/><Relationship Id="rId5" Type="http://schemas.openxmlformats.org/officeDocument/2006/relationships/chart" Target="../charts/chart746.xml"/><Relationship Id="rId6" Type="http://schemas.openxmlformats.org/officeDocument/2006/relationships/chart" Target="../charts/chart747.xml"/><Relationship Id="rId7" Type="http://schemas.openxmlformats.org/officeDocument/2006/relationships/notesSlide" Target="../notesSlides/notesSlide829.xml"/></Relationships>
</file>

<file path=ppt/slides/_rels/slide9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48.xml"/><Relationship Id="rId4" Type="http://schemas.openxmlformats.org/officeDocument/2006/relationships/chart" Target="../charts/chart749.xml"/><Relationship Id="rId5" Type="http://schemas.openxmlformats.org/officeDocument/2006/relationships/chart" Target="../charts/chart750.xml"/><Relationship Id="rId6" Type="http://schemas.openxmlformats.org/officeDocument/2006/relationships/chart" Target="../charts/chart751.xml"/><Relationship Id="rId7" Type="http://schemas.openxmlformats.org/officeDocument/2006/relationships/notesSlide" Target="../notesSlides/notesSlide830.xml"/></Relationships>
</file>

<file path=ppt/slides/_rels/slide9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52.xml"/><Relationship Id="rId4" Type="http://schemas.openxmlformats.org/officeDocument/2006/relationships/chart" Target="../charts/chart753.xml"/><Relationship Id="rId5" Type="http://schemas.openxmlformats.org/officeDocument/2006/relationships/chart" Target="../charts/chart754.xml"/><Relationship Id="rId6" Type="http://schemas.openxmlformats.org/officeDocument/2006/relationships/chart" Target="../charts/chart755.xml"/><Relationship Id="rId7" Type="http://schemas.openxmlformats.org/officeDocument/2006/relationships/chart" Target="../charts/chart756.xml"/><Relationship Id="rId8" Type="http://schemas.openxmlformats.org/officeDocument/2006/relationships/chart" Target="../charts/chart757.xml"/><Relationship Id="rId9" Type="http://schemas.openxmlformats.org/officeDocument/2006/relationships/chart" Target="../charts/chart758.xml"/><Relationship Id="rId10" Type="http://schemas.openxmlformats.org/officeDocument/2006/relationships/notesSlide" Target="../notesSlides/notesSlide831.xml"/></Relationships>
</file>

<file path=ppt/slides/_rels/slide9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32.xml"/></Relationships>
</file>

<file path=ppt/slides/_rels/slide9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59.xml"/><Relationship Id="rId4" Type="http://schemas.openxmlformats.org/officeDocument/2006/relationships/chart" Target="../charts/chart760.xml"/><Relationship Id="rId5" Type="http://schemas.openxmlformats.org/officeDocument/2006/relationships/notesSlide" Target="../notesSlides/notesSlide833.xml"/></Relationships>
</file>

<file path=ppt/slides/_rels/slide9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35.xml"/></Relationships>
</file>

<file path=ppt/slides/_rels/slide9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37.xml"/></Relationships>
</file>

<file path=ppt/slides/_rels/slide9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61.xml"/><Relationship Id="rId4" Type="http://schemas.openxmlformats.org/officeDocument/2006/relationships/chart" Target="../charts/chart762.xml"/><Relationship Id="rId5" Type="http://schemas.openxmlformats.org/officeDocument/2006/relationships/notesSlide" Target="../notesSlides/notesSlide838.xml"/></Relationships>
</file>

<file path=ppt/slides/_rels/slide9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39.xml"/></Relationships>
</file>

<file path=ppt/slides/_rels/slide9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0.xml"/></Relationships>
</file>

<file path=ppt/slides/_rels/slide9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63.xml"/><Relationship Id="rId4" Type="http://schemas.openxmlformats.org/officeDocument/2006/relationships/chart" Target="../charts/chart764.xml"/><Relationship Id="rId5" Type="http://schemas.openxmlformats.org/officeDocument/2006/relationships/notesSlide" Target="../notesSlides/notesSlide841.xml"/></Relationships>
</file>

<file path=ppt/slides/_rels/slide9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2.xml"/></Relationships>
</file>

<file path=ppt/slides/_rels/slide9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3.xml"/></Relationships>
</file>

<file path=ppt/slides/_rels/slide9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65.xml"/><Relationship Id="rId4" Type="http://schemas.openxmlformats.org/officeDocument/2006/relationships/chart" Target="../charts/chart766.xml"/><Relationship Id="rId5" Type="http://schemas.openxmlformats.org/officeDocument/2006/relationships/notesSlide" Target="../notesSlides/notesSlide844.xml"/></Relationships>
</file>

<file path=ppt/slides/_rels/slide9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5.xml"/></Relationships>
</file>

<file path=ppt/slides/_rels/slide9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6.xml"/></Relationships>
</file>

<file path=ppt/slides/_rels/slide9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67.xml"/><Relationship Id="rId4" Type="http://schemas.openxmlformats.org/officeDocument/2006/relationships/chart" Target="../charts/chart768.xml"/><Relationship Id="rId5" Type="http://schemas.openxmlformats.org/officeDocument/2006/relationships/notesSlide" Target="../notesSlides/notesSlide847.xml"/></Relationships>
</file>

<file path=ppt/slides/_rels/slide9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8.xml"/></Relationships>
</file>

<file path=ppt/slides/_rels/slide9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9.xml"/></Relationships>
</file>

<file path=ppt/slides/_rels/slide9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69.xml"/><Relationship Id="rId4" Type="http://schemas.openxmlformats.org/officeDocument/2006/relationships/chart" Target="../charts/chart770.xml"/><Relationship Id="rId5" Type="http://schemas.openxmlformats.org/officeDocument/2006/relationships/notesSlide" Target="../notesSlides/notesSlide850.xml"/></Relationships>
</file>

<file path=ppt/slides/_rels/slide9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51.xml"/></Relationships>
</file>

<file path=ppt/slides/_rels/slide9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52.xml"/></Relationships>
</file>

<file path=ppt/slides/_rels/slide9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71.xml"/><Relationship Id="rId4" Type="http://schemas.openxmlformats.org/officeDocument/2006/relationships/chart" Target="../charts/chart772.xml"/><Relationship Id="rId5" Type="http://schemas.openxmlformats.org/officeDocument/2006/relationships/notesSlide" Target="../notesSlides/notesSlide853.xml"/></Relationships>
</file>

<file path=ppt/slides/_rels/slide9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55.xml"/></Relationships>
</file>

<file path=ppt/slides/_rels/slide9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57.xml"/></Relationships>
</file>

<file path=ppt/slides/_rels/slide9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73.xml"/><Relationship Id="rId4" Type="http://schemas.openxmlformats.org/officeDocument/2006/relationships/chart" Target="../charts/chart774.xml"/><Relationship Id="rId5" Type="http://schemas.openxmlformats.org/officeDocument/2006/relationships/chart" Target="../charts/chart775.xml"/><Relationship Id="rId6" Type="http://schemas.openxmlformats.org/officeDocument/2006/relationships/chart" Target="../charts/chart776.xml"/><Relationship Id="rId7" Type="http://schemas.openxmlformats.org/officeDocument/2006/relationships/notesSlide" Target="../notesSlides/notesSlide858.xml"/></Relationships>
</file>

<file path=ppt/slides/_rels/slide9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77.xml"/><Relationship Id="rId4" Type="http://schemas.openxmlformats.org/officeDocument/2006/relationships/chart" Target="../charts/chart778.xml"/><Relationship Id="rId5" Type="http://schemas.openxmlformats.org/officeDocument/2006/relationships/chart" Target="../charts/chart779.xml"/><Relationship Id="rId6" Type="http://schemas.openxmlformats.org/officeDocument/2006/relationships/chart" Target="../charts/chart780.xml"/><Relationship Id="rId7" Type="http://schemas.openxmlformats.org/officeDocument/2006/relationships/notesSlide" Target="../notesSlides/notesSlide859.xml"/></Relationships>
</file>

<file path=ppt/slides/_rels/slide9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81.xml"/><Relationship Id="rId4" Type="http://schemas.openxmlformats.org/officeDocument/2006/relationships/chart" Target="../charts/chart782.xml"/><Relationship Id="rId5" Type="http://schemas.openxmlformats.org/officeDocument/2006/relationships/chart" Target="../charts/chart783.xml"/><Relationship Id="rId6" Type="http://schemas.openxmlformats.org/officeDocument/2006/relationships/chart" Target="../charts/chart784.xml"/><Relationship Id="rId7" Type="http://schemas.openxmlformats.org/officeDocument/2006/relationships/chart" Target="../charts/chart785.xml"/><Relationship Id="rId8" Type="http://schemas.openxmlformats.org/officeDocument/2006/relationships/chart" Target="../charts/chart786.xml"/><Relationship Id="rId9" Type="http://schemas.openxmlformats.org/officeDocument/2006/relationships/chart" Target="../charts/chart787.xml"/><Relationship Id="rId10" Type="http://schemas.openxmlformats.org/officeDocument/2006/relationships/notesSlide" Target="../notesSlides/notesSlide860.xml"/></Relationships>
</file>

<file path=ppt/slides/_rels/slide9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61.xml"/></Relationships>
</file>

<file path=ppt/slides/_rels/slide9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88.xml"/><Relationship Id="rId4" Type="http://schemas.openxmlformats.org/officeDocument/2006/relationships/chart" Target="../charts/chart789.xml"/><Relationship Id="rId5" Type="http://schemas.openxmlformats.org/officeDocument/2006/relationships/notesSlide" Target="../notesSlides/notesSlide862.xml"/></Relationships>
</file>

<file path=ppt/slides/_rels/slide9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64.xml"/></Relationships>
</file>

<file path=ppt/slides/_rels/slide9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66.xml"/></Relationships>
</file>

<file path=ppt/slides/_rels/slide9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90.xml"/><Relationship Id="rId4" Type="http://schemas.openxmlformats.org/officeDocument/2006/relationships/chart" Target="../charts/chart791.xml"/><Relationship Id="rId5" Type="http://schemas.openxmlformats.org/officeDocument/2006/relationships/notesSlide" Target="../notesSlides/notesSlide867.xml"/></Relationships>
</file>

<file path=ppt/slides/_rels/slide9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68.xml"/></Relationships>
</file>

<file path=ppt/slides/_rels/slide9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69.xml"/></Relationships>
</file>

<file path=ppt/slides/_rels/slide9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92.xml"/><Relationship Id="rId4" Type="http://schemas.openxmlformats.org/officeDocument/2006/relationships/chart" Target="../charts/chart793.xml"/><Relationship Id="rId5" Type="http://schemas.openxmlformats.org/officeDocument/2006/relationships/notesSlide" Target="../notesSlides/notesSlide870.xml"/></Relationships>
</file>

<file path=ppt/slides/_rels/slide9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1.xml"/></Relationships>
</file>

<file path=ppt/slides/_rels/slide9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2.xml"/></Relationships>
</file>

<file path=ppt/slides/_rels/slide9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94.xml"/><Relationship Id="rId4" Type="http://schemas.openxmlformats.org/officeDocument/2006/relationships/chart" Target="../charts/chart795.xml"/><Relationship Id="rId5" Type="http://schemas.openxmlformats.org/officeDocument/2006/relationships/notesSlide" Target="../notesSlides/notesSlide873.xml"/></Relationships>
</file>

<file path=ppt/slides/_rels/slide9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4.xml"/></Relationships>
</file>

<file path=ppt/slides/_rels/slide9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5.xml"/></Relationships>
</file>

<file path=ppt/slides/_rels/slide9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96.xml"/><Relationship Id="rId4" Type="http://schemas.openxmlformats.org/officeDocument/2006/relationships/chart" Target="../charts/chart797.xml"/><Relationship Id="rId5" Type="http://schemas.openxmlformats.org/officeDocument/2006/relationships/notesSlide" Target="../notesSlides/notesSlide876.xml"/></Relationships>
</file>

<file path=ppt/slides/_rels/slide9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7.xml"/></Relationships>
</file>

<file path=ppt/slides/_rels/slide9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8.xml"/></Relationships>
</file>

<file path=ppt/slides/_rels/slide9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98.xml"/><Relationship Id="rId4" Type="http://schemas.openxmlformats.org/officeDocument/2006/relationships/chart" Target="../charts/chart799.xml"/><Relationship Id="rId5" Type="http://schemas.openxmlformats.org/officeDocument/2006/relationships/notesSlide" Target="../notesSlides/notesSlide879.xml"/></Relationships>
</file>

<file path=ppt/slides/_rels/slide9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80.xml"/></Relationships>
</file>

<file path=ppt/slides/_rels/slide9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81.xml"/></Relationships>
</file>

<file path=ppt/slides/_rels/slide9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00.xml"/><Relationship Id="rId4" Type="http://schemas.openxmlformats.org/officeDocument/2006/relationships/chart" Target="../charts/chart801.xml"/><Relationship Id="rId5" Type="http://schemas.openxmlformats.org/officeDocument/2006/relationships/notesSlide" Target="../notesSlides/notesSlide882.xml"/></Relationships>
</file>

<file path=ppt/slides/_rels/slide9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84.xml"/></Relationships>
</file>

<file path=ppt/slides/_rels/slide9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86.xml"/></Relationships>
</file>

<file path=ppt/slides/_rels/slide9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02.xml"/><Relationship Id="rId4" Type="http://schemas.openxmlformats.org/officeDocument/2006/relationships/chart" Target="../charts/chart803.xml"/><Relationship Id="rId5" Type="http://schemas.openxmlformats.org/officeDocument/2006/relationships/chart" Target="../charts/chart804.xml"/><Relationship Id="rId6" Type="http://schemas.openxmlformats.org/officeDocument/2006/relationships/chart" Target="../charts/chart805.xml"/><Relationship Id="rId7" Type="http://schemas.openxmlformats.org/officeDocument/2006/relationships/notesSlide" Target="../notesSlides/notesSlide887.xml"/></Relationships>
</file>

<file path=ppt/slides/_rels/slide9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06.xml"/><Relationship Id="rId4" Type="http://schemas.openxmlformats.org/officeDocument/2006/relationships/chart" Target="../charts/chart807.xml"/><Relationship Id="rId5" Type="http://schemas.openxmlformats.org/officeDocument/2006/relationships/chart" Target="../charts/chart808.xml"/><Relationship Id="rId6" Type="http://schemas.openxmlformats.org/officeDocument/2006/relationships/chart" Target="../charts/chart809.xml"/><Relationship Id="rId7" Type="http://schemas.openxmlformats.org/officeDocument/2006/relationships/notesSlide" Target="../notesSlides/notesSlide888.xml"/></Relationships>
</file>

<file path=ppt/slides/_rels/slide9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10.xml"/><Relationship Id="rId4" Type="http://schemas.openxmlformats.org/officeDocument/2006/relationships/chart" Target="../charts/chart811.xml"/><Relationship Id="rId5" Type="http://schemas.openxmlformats.org/officeDocument/2006/relationships/chart" Target="../charts/chart812.xml"/><Relationship Id="rId6" Type="http://schemas.openxmlformats.org/officeDocument/2006/relationships/chart" Target="../charts/chart813.xml"/><Relationship Id="rId7" Type="http://schemas.openxmlformats.org/officeDocument/2006/relationships/chart" Target="../charts/chart814.xml"/><Relationship Id="rId8" Type="http://schemas.openxmlformats.org/officeDocument/2006/relationships/chart" Target="../charts/chart815.xml"/><Relationship Id="rId9" Type="http://schemas.openxmlformats.org/officeDocument/2006/relationships/chart" Target="../charts/chart816.xml"/><Relationship Id="rId10" Type="http://schemas.openxmlformats.org/officeDocument/2006/relationships/notesSlide" Target="../notesSlides/notesSlide889.xml"/></Relationships>
</file>

<file path=ppt/slides/_rels/slide10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0.xml"/></Relationships>
</file>

<file path=ppt/slides/_rels/slide10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17.xml"/><Relationship Id="rId4" Type="http://schemas.openxmlformats.org/officeDocument/2006/relationships/chart" Target="../charts/chart818.xml"/><Relationship Id="rId5" Type="http://schemas.openxmlformats.org/officeDocument/2006/relationships/notesSlide" Target="../notesSlides/notesSlide891.xml"/></Relationships>
</file>

<file path=ppt/slides/_rels/slide10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3.xml"/></Relationships>
</file>

<file path=ppt/slides/_rels/slide10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5.xml"/></Relationships>
</file>

<file path=ppt/slides/_rels/slide10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19.xml"/><Relationship Id="rId4" Type="http://schemas.openxmlformats.org/officeDocument/2006/relationships/chart" Target="../charts/chart820.xml"/><Relationship Id="rId5" Type="http://schemas.openxmlformats.org/officeDocument/2006/relationships/notesSlide" Target="../notesSlides/notesSlide896.xml"/></Relationships>
</file>

<file path=ppt/slides/_rels/slide10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7.xml"/></Relationships>
</file>

<file path=ppt/slides/_rels/slide10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8.xml"/></Relationships>
</file>

<file path=ppt/slides/_rels/slide10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1.xml"/><Relationship Id="rId4" Type="http://schemas.openxmlformats.org/officeDocument/2006/relationships/chart" Target="../charts/chart822.xml"/><Relationship Id="rId5" Type="http://schemas.openxmlformats.org/officeDocument/2006/relationships/notesSlide" Target="../notesSlides/notesSlide899.xml"/></Relationships>
</file>

<file path=ppt/slides/_rels/slide10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0.xml"/></Relationships>
</file>

<file path=ppt/slides/_rels/slide10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1.xml"/></Relationships>
</file>

<file path=ppt/slides/_rels/slide10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3.xml"/><Relationship Id="rId4" Type="http://schemas.openxmlformats.org/officeDocument/2006/relationships/chart" Target="../charts/chart824.xml"/><Relationship Id="rId5" Type="http://schemas.openxmlformats.org/officeDocument/2006/relationships/notesSlide" Target="../notesSlides/notesSlide902.xml"/></Relationships>
</file>

<file path=ppt/slides/_rels/slide10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3.xml"/></Relationships>
</file>

<file path=ppt/slides/_rels/slide10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4.xml"/></Relationships>
</file>

<file path=ppt/slides/_rels/slide10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5.xml"/><Relationship Id="rId4" Type="http://schemas.openxmlformats.org/officeDocument/2006/relationships/chart" Target="../charts/chart826.xml"/><Relationship Id="rId5" Type="http://schemas.openxmlformats.org/officeDocument/2006/relationships/notesSlide" Target="../notesSlides/notesSlide905.xml"/></Relationships>
</file>

<file path=ppt/slides/_rels/slide10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6.xml"/></Relationships>
</file>

<file path=ppt/slides/_rels/slide10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7.xml"/></Relationships>
</file>

<file path=ppt/slides/_rels/slide10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7.xml"/><Relationship Id="rId4" Type="http://schemas.openxmlformats.org/officeDocument/2006/relationships/chart" Target="../charts/chart828.xml"/><Relationship Id="rId5" Type="http://schemas.openxmlformats.org/officeDocument/2006/relationships/notesSlide" Target="../notesSlides/notesSlide908.xml"/></Relationships>
</file>

<file path=ppt/slides/_rels/slide10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9.xml"/></Relationships>
</file>

<file path=ppt/slides/_rels/slide10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10.xml"/></Relationships>
</file>

<file path=ppt/slides/_rels/slide10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9.xml"/><Relationship Id="rId4" Type="http://schemas.openxmlformats.org/officeDocument/2006/relationships/chart" Target="../charts/chart830.xml"/><Relationship Id="rId5" Type="http://schemas.openxmlformats.org/officeDocument/2006/relationships/notesSlide" Target="../notesSlides/notesSlide911.xml"/></Relationships>
</file>

<file path=ppt/slides/_rels/slide10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13.xml"/></Relationships>
</file>

<file path=ppt/slides/_rels/slide10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15.xml"/></Relationships>
</file>

<file path=ppt/slides/_rels/slide10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31.xml"/><Relationship Id="rId4" Type="http://schemas.openxmlformats.org/officeDocument/2006/relationships/chart" Target="../charts/chart832.xml"/><Relationship Id="rId5" Type="http://schemas.openxmlformats.org/officeDocument/2006/relationships/chart" Target="../charts/chart833.xml"/><Relationship Id="rId6" Type="http://schemas.openxmlformats.org/officeDocument/2006/relationships/chart" Target="../charts/chart834.xml"/><Relationship Id="rId7" Type="http://schemas.openxmlformats.org/officeDocument/2006/relationships/notesSlide" Target="../notesSlides/notesSlide916.xml"/></Relationships>
</file>

<file path=ppt/slides/_rels/slide10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35.xml"/><Relationship Id="rId4" Type="http://schemas.openxmlformats.org/officeDocument/2006/relationships/chart" Target="../charts/chart836.xml"/><Relationship Id="rId5" Type="http://schemas.openxmlformats.org/officeDocument/2006/relationships/chart" Target="../charts/chart837.xml"/><Relationship Id="rId6" Type="http://schemas.openxmlformats.org/officeDocument/2006/relationships/chart" Target="../charts/chart838.xml"/><Relationship Id="rId7" Type="http://schemas.openxmlformats.org/officeDocument/2006/relationships/notesSlide" Target="../notesSlides/notesSlide917.xml"/></Relationships>
</file>

<file path=ppt/slides/_rels/slide10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39.xml"/><Relationship Id="rId4" Type="http://schemas.openxmlformats.org/officeDocument/2006/relationships/chart" Target="../charts/chart840.xml"/><Relationship Id="rId5" Type="http://schemas.openxmlformats.org/officeDocument/2006/relationships/chart" Target="../charts/chart841.xml"/><Relationship Id="rId6" Type="http://schemas.openxmlformats.org/officeDocument/2006/relationships/chart" Target="../charts/chart842.xml"/><Relationship Id="rId7" Type="http://schemas.openxmlformats.org/officeDocument/2006/relationships/chart" Target="../charts/chart843.xml"/><Relationship Id="rId8" Type="http://schemas.openxmlformats.org/officeDocument/2006/relationships/chart" Target="../charts/chart844.xml"/><Relationship Id="rId9" Type="http://schemas.openxmlformats.org/officeDocument/2006/relationships/chart" Target="../charts/chart845.xml"/><Relationship Id="rId10" Type="http://schemas.openxmlformats.org/officeDocument/2006/relationships/notesSlide" Target="../notesSlides/notesSlide918.xml"/></Relationships>
</file>

<file path=ppt/slides/_rels/slide10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19.xml"/></Relationships>
</file>

<file path=ppt/slides/_rels/slide10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46.xml"/><Relationship Id="rId4" Type="http://schemas.openxmlformats.org/officeDocument/2006/relationships/chart" Target="../charts/chart847.xml"/><Relationship Id="rId5" Type="http://schemas.openxmlformats.org/officeDocument/2006/relationships/notesSlide" Target="../notesSlides/notesSlide920.xml"/></Relationships>
</file>

<file path=ppt/slides/_rels/slide10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22.xml"/></Relationships>
</file>

<file path=ppt/slides/_rels/slide10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24.xml"/></Relationships>
</file>

<file path=ppt/slides/_rels/slide10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48.xml"/><Relationship Id="rId4" Type="http://schemas.openxmlformats.org/officeDocument/2006/relationships/chart" Target="../charts/chart849.xml"/><Relationship Id="rId5" Type="http://schemas.openxmlformats.org/officeDocument/2006/relationships/notesSlide" Target="../notesSlides/notesSlide925.xml"/></Relationships>
</file>

<file path=ppt/slides/_rels/slide10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26.xml"/></Relationships>
</file>

<file path=ppt/slides/_rels/slide10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27.xml"/></Relationships>
</file>

<file path=ppt/slides/_rels/slide10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50.xml"/><Relationship Id="rId4" Type="http://schemas.openxmlformats.org/officeDocument/2006/relationships/chart" Target="../charts/chart851.xml"/><Relationship Id="rId5" Type="http://schemas.openxmlformats.org/officeDocument/2006/relationships/notesSlide" Target="../notesSlides/notesSlide928.xml"/></Relationships>
</file>

<file path=ppt/slides/_rels/slide10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29.xml"/></Relationships>
</file>

<file path=ppt/slides/_rels/slide10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30.xml"/></Relationships>
</file>

<file path=ppt/slides/_rels/slide10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52.xml"/><Relationship Id="rId4" Type="http://schemas.openxmlformats.org/officeDocument/2006/relationships/chart" Target="../charts/chart853.xml"/><Relationship Id="rId5" Type="http://schemas.openxmlformats.org/officeDocument/2006/relationships/notesSlide" Target="../notesSlides/notesSlide931.xml"/></Relationships>
</file>

<file path=ppt/slides/_rels/slide10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32.xml"/></Relationships>
</file>

<file path=ppt/slides/_rels/slide10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33.xml"/></Relationships>
</file>

<file path=ppt/slides/_rels/slide10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54.xml"/><Relationship Id="rId4" Type="http://schemas.openxmlformats.org/officeDocument/2006/relationships/chart" Target="../charts/chart855.xml"/><Relationship Id="rId5" Type="http://schemas.openxmlformats.org/officeDocument/2006/relationships/notesSlide" Target="../notesSlides/notesSlide934.xml"/></Relationships>
</file>

<file path=ppt/slides/_rels/slide10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35.xml"/></Relationships>
</file>

<file path=ppt/slides/_rels/slide10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36.xml"/></Relationships>
</file>

<file path=ppt/slides/_rels/slide10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56.xml"/><Relationship Id="rId4" Type="http://schemas.openxmlformats.org/officeDocument/2006/relationships/chart" Target="../charts/chart857.xml"/><Relationship Id="rId5" Type="http://schemas.openxmlformats.org/officeDocument/2006/relationships/notesSlide" Target="../notesSlides/notesSlide937.xml"/></Relationships>
</file>

<file path=ppt/slides/_rels/slide10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38.xml"/></Relationships>
</file>

<file path=ppt/slides/_rels/slide10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39.xml"/></Relationships>
</file>

<file path=ppt/slides/_rels/slide10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58.xml"/><Relationship Id="rId4" Type="http://schemas.openxmlformats.org/officeDocument/2006/relationships/chart" Target="../charts/chart859.xml"/><Relationship Id="rId5" Type="http://schemas.openxmlformats.org/officeDocument/2006/relationships/notesSlide" Target="../notesSlides/notesSlide940.xml"/></Relationships>
</file>

<file path=ppt/slides/_rels/slide10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42.xml"/></Relationships>
</file>

<file path=ppt/slides/_rels/slide10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44.xml"/></Relationships>
</file>

<file path=ppt/slides/_rels/slide10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60.xml"/><Relationship Id="rId4" Type="http://schemas.openxmlformats.org/officeDocument/2006/relationships/chart" Target="../charts/chart861.xml"/><Relationship Id="rId5" Type="http://schemas.openxmlformats.org/officeDocument/2006/relationships/chart" Target="../charts/chart862.xml"/><Relationship Id="rId6" Type="http://schemas.openxmlformats.org/officeDocument/2006/relationships/chart" Target="../charts/chart863.xml"/><Relationship Id="rId7" Type="http://schemas.openxmlformats.org/officeDocument/2006/relationships/notesSlide" Target="../notesSlides/notesSlide945.xml"/></Relationships>
</file>

<file path=ppt/slides/_rels/slide10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64.xml"/><Relationship Id="rId4" Type="http://schemas.openxmlformats.org/officeDocument/2006/relationships/chart" Target="../charts/chart865.xml"/><Relationship Id="rId5" Type="http://schemas.openxmlformats.org/officeDocument/2006/relationships/chart" Target="../charts/chart866.xml"/><Relationship Id="rId6" Type="http://schemas.openxmlformats.org/officeDocument/2006/relationships/chart" Target="../charts/chart867.xml"/><Relationship Id="rId7" Type="http://schemas.openxmlformats.org/officeDocument/2006/relationships/notesSlide" Target="../notesSlides/notesSlide946.xml"/></Relationships>
</file>

<file path=ppt/slides/_rels/slide10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68.xml"/><Relationship Id="rId4" Type="http://schemas.openxmlformats.org/officeDocument/2006/relationships/chart" Target="../charts/chart869.xml"/><Relationship Id="rId5" Type="http://schemas.openxmlformats.org/officeDocument/2006/relationships/chart" Target="../charts/chart870.xml"/><Relationship Id="rId6" Type="http://schemas.openxmlformats.org/officeDocument/2006/relationships/chart" Target="../charts/chart871.xml"/><Relationship Id="rId7" Type="http://schemas.openxmlformats.org/officeDocument/2006/relationships/chart" Target="../charts/chart872.xml"/><Relationship Id="rId8" Type="http://schemas.openxmlformats.org/officeDocument/2006/relationships/chart" Target="../charts/chart873.xml"/><Relationship Id="rId9" Type="http://schemas.openxmlformats.org/officeDocument/2006/relationships/chart" Target="../charts/chart874.xml"/><Relationship Id="rId10" Type="http://schemas.openxmlformats.org/officeDocument/2006/relationships/notesSlide" Target="../notesSlides/notesSlide947.xml"/></Relationships>
</file>

<file path=ppt/slides/_rels/slide10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48.xml"/></Relationships>
</file>

<file path=ppt/slides/_rels/slide10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75.xml"/><Relationship Id="rId4" Type="http://schemas.openxmlformats.org/officeDocument/2006/relationships/chart" Target="../charts/chart876.xml"/><Relationship Id="rId5" Type="http://schemas.openxmlformats.org/officeDocument/2006/relationships/notesSlide" Target="../notesSlides/notesSlide949.xml"/></Relationships>
</file>

<file path=ppt/slides/_rels/slide10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51.xml"/></Relationships>
</file>

<file path=ppt/slides/_rels/slide10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53.xml"/></Relationships>
</file>

<file path=ppt/slides/_rels/slide10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77.xml"/><Relationship Id="rId4" Type="http://schemas.openxmlformats.org/officeDocument/2006/relationships/chart" Target="../charts/chart878.xml"/><Relationship Id="rId5" Type="http://schemas.openxmlformats.org/officeDocument/2006/relationships/notesSlide" Target="../notesSlides/notesSlide954.xml"/></Relationships>
</file>

<file path=ppt/slides/_rels/slide10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55.xml"/></Relationships>
</file>

<file path=ppt/slides/_rels/slide10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56.xml"/></Relationships>
</file>

<file path=ppt/slides/_rels/slide10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79.xml"/><Relationship Id="rId4" Type="http://schemas.openxmlformats.org/officeDocument/2006/relationships/chart" Target="../charts/chart880.xml"/><Relationship Id="rId5" Type="http://schemas.openxmlformats.org/officeDocument/2006/relationships/notesSlide" Target="../notesSlides/notesSlide957.xml"/></Relationships>
</file>

<file path=ppt/slides/_rels/slide10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58.xml"/></Relationships>
</file>

<file path=ppt/slides/_rels/slide10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59.xml"/></Relationships>
</file>

<file path=ppt/slides/_rels/slide10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81.xml"/><Relationship Id="rId4" Type="http://schemas.openxmlformats.org/officeDocument/2006/relationships/chart" Target="../charts/chart882.xml"/><Relationship Id="rId5" Type="http://schemas.openxmlformats.org/officeDocument/2006/relationships/notesSlide" Target="../notesSlides/notesSlide960.xml"/></Relationships>
</file>

<file path=ppt/slides/_rels/slide10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61.xml"/></Relationships>
</file>

<file path=ppt/slides/_rels/slide10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62.xml"/></Relationships>
</file>

<file path=ppt/slides/_rels/slide10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83.xml"/><Relationship Id="rId4" Type="http://schemas.openxmlformats.org/officeDocument/2006/relationships/chart" Target="../charts/chart884.xml"/><Relationship Id="rId5" Type="http://schemas.openxmlformats.org/officeDocument/2006/relationships/notesSlide" Target="../notesSlides/notesSlide963.xml"/></Relationships>
</file>

<file path=ppt/slides/_rels/slide10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64.xml"/></Relationships>
</file>

<file path=ppt/slides/_rels/slide10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65.xml"/></Relationships>
</file>

<file path=ppt/slides/_rels/slide10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85.xml"/><Relationship Id="rId4" Type="http://schemas.openxmlformats.org/officeDocument/2006/relationships/chart" Target="../charts/chart886.xml"/><Relationship Id="rId5" Type="http://schemas.openxmlformats.org/officeDocument/2006/relationships/notesSlide" Target="../notesSlides/notesSlide966.xml"/></Relationships>
</file>

<file path=ppt/slides/_rels/slide10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67.xml"/></Relationships>
</file>

<file path=ppt/slides/_rels/slide10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68.xml"/></Relationships>
</file>

<file path=ppt/slides/_rels/slide10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87.xml"/><Relationship Id="rId4" Type="http://schemas.openxmlformats.org/officeDocument/2006/relationships/chart" Target="../charts/chart888.xml"/><Relationship Id="rId5" Type="http://schemas.openxmlformats.org/officeDocument/2006/relationships/notesSlide" Target="../notesSlides/notesSlide969.xml"/></Relationships>
</file>

<file path=ppt/slides/_rels/slide10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1.xml"/></Relationships>
</file>

<file path=ppt/slides/_rels/slide10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3.xml"/></Relationships>
</file>

<file path=ppt/slides/_rels/slide10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89.xml"/><Relationship Id="rId4" Type="http://schemas.openxmlformats.org/officeDocument/2006/relationships/chart" Target="../charts/chart890.xml"/><Relationship Id="rId5" Type="http://schemas.openxmlformats.org/officeDocument/2006/relationships/chart" Target="../charts/chart891.xml"/><Relationship Id="rId6" Type="http://schemas.openxmlformats.org/officeDocument/2006/relationships/chart" Target="../charts/chart892.xml"/><Relationship Id="rId7" Type="http://schemas.openxmlformats.org/officeDocument/2006/relationships/notesSlide" Target="../notesSlides/notesSlide974.xml"/></Relationships>
</file>

<file path=ppt/slides/_rels/slide10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93.xml"/><Relationship Id="rId4" Type="http://schemas.openxmlformats.org/officeDocument/2006/relationships/chart" Target="../charts/chart894.xml"/><Relationship Id="rId5" Type="http://schemas.openxmlformats.org/officeDocument/2006/relationships/chart" Target="../charts/chart895.xml"/><Relationship Id="rId6" Type="http://schemas.openxmlformats.org/officeDocument/2006/relationships/chart" Target="../charts/chart896.xml"/><Relationship Id="rId7" Type="http://schemas.openxmlformats.org/officeDocument/2006/relationships/notesSlide" Target="../notesSlides/notesSlide975.xml"/></Relationships>
</file>

<file path=ppt/slides/_rels/slide10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97.xml"/><Relationship Id="rId4" Type="http://schemas.openxmlformats.org/officeDocument/2006/relationships/chart" Target="../charts/chart898.xml"/><Relationship Id="rId5" Type="http://schemas.openxmlformats.org/officeDocument/2006/relationships/chart" Target="../charts/chart899.xml"/><Relationship Id="rId6" Type="http://schemas.openxmlformats.org/officeDocument/2006/relationships/chart" Target="../charts/chart900.xml"/><Relationship Id="rId7" Type="http://schemas.openxmlformats.org/officeDocument/2006/relationships/chart" Target="../charts/chart901.xml"/><Relationship Id="rId8" Type="http://schemas.openxmlformats.org/officeDocument/2006/relationships/chart" Target="../charts/chart902.xml"/><Relationship Id="rId9" Type="http://schemas.openxmlformats.org/officeDocument/2006/relationships/chart" Target="../charts/chart903.xml"/><Relationship Id="rId10" Type="http://schemas.openxmlformats.org/officeDocument/2006/relationships/notesSlide" Target="../notesSlides/notesSlide976.xml"/></Relationships>
</file>

<file path=ppt/slides/_rels/slide10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7.xml"/></Relationships>
</file>

<file path=ppt/slides/_rels/slide10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04.xml"/><Relationship Id="rId4" Type="http://schemas.openxmlformats.org/officeDocument/2006/relationships/chart" Target="../charts/chart905.xml"/><Relationship Id="rId5" Type="http://schemas.openxmlformats.org/officeDocument/2006/relationships/notesSlide" Target="../notesSlides/notesSlide978.xml"/></Relationships>
</file>

<file path=ppt/slides/_rels/slide10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0.xml"/></Relationships>
</file>

<file path=ppt/slides/_rels/slide10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2.xml"/></Relationships>
</file>

<file path=ppt/slides/_rels/slide10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06.xml"/><Relationship Id="rId4" Type="http://schemas.openxmlformats.org/officeDocument/2006/relationships/chart" Target="../charts/chart907.xml"/><Relationship Id="rId5" Type="http://schemas.openxmlformats.org/officeDocument/2006/relationships/notesSlide" Target="../notesSlides/notesSlide983.xml"/></Relationships>
</file>

<file path=ppt/slides/_rels/slide10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4.xml"/></Relationships>
</file>

<file path=ppt/slides/_rels/slide10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5.xml"/></Relationships>
</file>

<file path=ppt/slides/_rels/slide10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08.xml"/><Relationship Id="rId4" Type="http://schemas.openxmlformats.org/officeDocument/2006/relationships/chart" Target="../charts/chart909.xml"/><Relationship Id="rId5" Type="http://schemas.openxmlformats.org/officeDocument/2006/relationships/notesSlide" Target="../notesSlides/notesSlide986.xml"/></Relationships>
</file>

<file path=ppt/slides/_rels/slide11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7.xml"/></Relationships>
</file>

<file path=ppt/slides/_rels/slide11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8.xml"/></Relationships>
</file>

<file path=ppt/slides/_rels/slide1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10.xml"/><Relationship Id="rId4" Type="http://schemas.openxmlformats.org/officeDocument/2006/relationships/chart" Target="../charts/chart911.xml"/><Relationship Id="rId5" Type="http://schemas.openxmlformats.org/officeDocument/2006/relationships/notesSlide" Target="../notesSlides/notesSlide989.xml"/></Relationships>
</file>

<file path=ppt/slides/_rels/slide11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90.xml"/></Relationships>
</file>

<file path=ppt/slides/_rels/slide11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91.xml"/></Relationships>
</file>

<file path=ppt/slides/_rels/slide11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12.xml"/><Relationship Id="rId4" Type="http://schemas.openxmlformats.org/officeDocument/2006/relationships/chart" Target="../charts/chart913.xml"/><Relationship Id="rId5" Type="http://schemas.openxmlformats.org/officeDocument/2006/relationships/notesSlide" Target="../notesSlides/notesSlide992.xml"/></Relationships>
</file>

<file path=ppt/slides/_rels/slide11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93.xml"/></Relationships>
</file>

<file path=ppt/slides/_rels/slide11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94.xml"/></Relationships>
</file>

<file path=ppt/slides/_rels/slide11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14.xml"/><Relationship Id="rId4" Type="http://schemas.openxmlformats.org/officeDocument/2006/relationships/chart" Target="../charts/chart915.xml"/><Relationship Id="rId5" Type="http://schemas.openxmlformats.org/officeDocument/2006/relationships/notesSlide" Target="../notesSlides/notesSlide995.xml"/></Relationships>
</file>

<file path=ppt/slides/_rels/slide11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96.xml"/></Relationships>
</file>

<file path=ppt/slides/_rels/slide11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97.xml"/></Relationships>
</file>

<file path=ppt/slides/_rels/slide11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16.xml"/><Relationship Id="rId4" Type="http://schemas.openxmlformats.org/officeDocument/2006/relationships/chart" Target="../charts/chart917.xml"/><Relationship Id="rId5" Type="http://schemas.openxmlformats.org/officeDocument/2006/relationships/notesSlide" Target="../notesSlides/notesSlide998.xml"/></Relationships>
</file>

<file path=ppt/slides/_rels/slide11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00.xml"/></Relationships>
</file>

<file path=ppt/slides/_rels/slide1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02.xml"/></Relationships>
</file>

<file path=ppt/slides/_rels/slide11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18.xml"/><Relationship Id="rId4" Type="http://schemas.openxmlformats.org/officeDocument/2006/relationships/chart" Target="../charts/chart919.xml"/><Relationship Id="rId5" Type="http://schemas.openxmlformats.org/officeDocument/2006/relationships/chart" Target="../charts/chart920.xml"/><Relationship Id="rId6" Type="http://schemas.openxmlformats.org/officeDocument/2006/relationships/chart" Target="../charts/chart921.xml"/><Relationship Id="rId7" Type="http://schemas.openxmlformats.org/officeDocument/2006/relationships/notesSlide" Target="../notesSlides/notesSlide1003.xml"/></Relationships>
</file>

<file path=ppt/slides/_rels/slide11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22.xml"/><Relationship Id="rId4" Type="http://schemas.openxmlformats.org/officeDocument/2006/relationships/chart" Target="../charts/chart923.xml"/><Relationship Id="rId5" Type="http://schemas.openxmlformats.org/officeDocument/2006/relationships/chart" Target="../charts/chart924.xml"/><Relationship Id="rId6" Type="http://schemas.openxmlformats.org/officeDocument/2006/relationships/chart" Target="../charts/chart925.xml"/><Relationship Id="rId7" Type="http://schemas.openxmlformats.org/officeDocument/2006/relationships/notesSlide" Target="../notesSlides/notesSlide1004.xml"/></Relationships>
</file>

<file path=ppt/slides/_rels/slide1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26.xml"/><Relationship Id="rId4" Type="http://schemas.openxmlformats.org/officeDocument/2006/relationships/chart" Target="../charts/chart927.xml"/><Relationship Id="rId5" Type="http://schemas.openxmlformats.org/officeDocument/2006/relationships/chart" Target="../charts/chart928.xml"/><Relationship Id="rId6" Type="http://schemas.openxmlformats.org/officeDocument/2006/relationships/chart" Target="../charts/chart929.xml"/><Relationship Id="rId7" Type="http://schemas.openxmlformats.org/officeDocument/2006/relationships/chart" Target="../charts/chart930.xml"/><Relationship Id="rId8" Type="http://schemas.openxmlformats.org/officeDocument/2006/relationships/chart" Target="../charts/chart931.xml"/><Relationship Id="rId9" Type="http://schemas.openxmlformats.org/officeDocument/2006/relationships/chart" Target="../charts/chart932.xml"/><Relationship Id="rId10" Type="http://schemas.openxmlformats.org/officeDocument/2006/relationships/notesSlide" Target="../notesSlides/notesSlide1005.xml"/></Relationships>
</file>

<file path=ppt/slides/_rels/slide11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06.xml"/></Relationships>
</file>

<file path=ppt/slides/_rels/slide11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33.xml"/><Relationship Id="rId4" Type="http://schemas.openxmlformats.org/officeDocument/2006/relationships/chart" Target="../charts/chart934.xml"/><Relationship Id="rId5" Type="http://schemas.openxmlformats.org/officeDocument/2006/relationships/notesSlide" Target="../notesSlides/notesSlide1007.xml"/></Relationships>
</file>

<file path=ppt/slides/_rels/slide11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09.xml"/></Relationships>
</file>

<file path=ppt/slides/_rels/slide11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1.xml"/></Relationships>
</file>

<file path=ppt/slides/_rels/slide11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35.xml"/><Relationship Id="rId4" Type="http://schemas.openxmlformats.org/officeDocument/2006/relationships/chart" Target="../charts/chart936.xml"/><Relationship Id="rId5" Type="http://schemas.openxmlformats.org/officeDocument/2006/relationships/notesSlide" Target="../notesSlides/notesSlide1012.xml"/></Relationships>
</file>

<file path=ppt/slides/_rels/slide11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3.xml"/></Relationships>
</file>

<file path=ppt/slides/_rels/slide11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4.xml"/></Relationships>
</file>

<file path=ppt/slides/_rels/slide11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37.xml"/><Relationship Id="rId4" Type="http://schemas.openxmlformats.org/officeDocument/2006/relationships/chart" Target="../charts/chart938.xml"/><Relationship Id="rId5" Type="http://schemas.openxmlformats.org/officeDocument/2006/relationships/notesSlide" Target="../notesSlides/notesSlide1015.xml"/></Relationships>
</file>

<file path=ppt/slides/_rels/slide11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6.xml"/></Relationships>
</file>

<file path=ppt/slides/_rels/slide11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7.xml"/></Relationships>
</file>

<file path=ppt/slides/_rels/slide11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39.xml"/><Relationship Id="rId4" Type="http://schemas.openxmlformats.org/officeDocument/2006/relationships/chart" Target="../charts/chart940.xml"/><Relationship Id="rId5" Type="http://schemas.openxmlformats.org/officeDocument/2006/relationships/notesSlide" Target="../notesSlides/notesSlide1018.xml"/></Relationships>
</file>

<file path=ppt/slides/_rels/slide11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9.xml"/></Relationships>
</file>

<file path=ppt/slides/_rels/slide11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0.xml"/></Relationships>
</file>

<file path=ppt/slides/_rels/slide11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41.xml"/><Relationship Id="rId4" Type="http://schemas.openxmlformats.org/officeDocument/2006/relationships/chart" Target="../charts/chart942.xml"/><Relationship Id="rId5" Type="http://schemas.openxmlformats.org/officeDocument/2006/relationships/notesSlide" Target="../notesSlides/notesSlide1021.xml"/></Relationships>
</file>

<file path=ppt/slides/_rels/slide1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2.xml"/></Relationships>
</file>

<file path=ppt/slides/_rels/slide11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3.xml"/></Relationships>
</file>

<file path=ppt/slides/_rels/slide11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43.xml"/><Relationship Id="rId4" Type="http://schemas.openxmlformats.org/officeDocument/2006/relationships/chart" Target="../charts/chart944.xml"/><Relationship Id="rId5" Type="http://schemas.openxmlformats.org/officeDocument/2006/relationships/notesSlide" Target="../notesSlides/notesSlide1024.xml"/></Relationships>
</file>

<file path=ppt/slides/_rels/slide1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5.xml"/></Relationships>
</file>

<file path=ppt/slides/_rels/slide1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6.xml"/></Relationships>
</file>

<file path=ppt/slides/_rels/slide11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45.xml"/><Relationship Id="rId4" Type="http://schemas.openxmlformats.org/officeDocument/2006/relationships/chart" Target="../charts/chart946.xml"/><Relationship Id="rId5" Type="http://schemas.openxmlformats.org/officeDocument/2006/relationships/notesSlide" Target="../notesSlides/notesSlide1027.xml"/></Relationships>
</file>

<file path=ppt/slides/_rels/slide11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9.xml"/></Relationships>
</file>

<file path=ppt/slides/_rels/slide11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31.xml"/></Relationships>
</file>

<file path=ppt/slides/_rels/slide11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47.xml"/><Relationship Id="rId4" Type="http://schemas.openxmlformats.org/officeDocument/2006/relationships/chart" Target="../charts/chart948.xml"/><Relationship Id="rId5" Type="http://schemas.openxmlformats.org/officeDocument/2006/relationships/chart" Target="../charts/chart949.xml"/><Relationship Id="rId6" Type="http://schemas.openxmlformats.org/officeDocument/2006/relationships/chart" Target="../charts/chart950.xml"/><Relationship Id="rId7" Type="http://schemas.openxmlformats.org/officeDocument/2006/relationships/notesSlide" Target="../notesSlides/notesSlide1032.xml"/></Relationships>
</file>

<file path=ppt/slides/_rels/slide11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51.xml"/><Relationship Id="rId4" Type="http://schemas.openxmlformats.org/officeDocument/2006/relationships/chart" Target="../charts/chart952.xml"/><Relationship Id="rId5" Type="http://schemas.openxmlformats.org/officeDocument/2006/relationships/chart" Target="../charts/chart953.xml"/><Relationship Id="rId6" Type="http://schemas.openxmlformats.org/officeDocument/2006/relationships/chart" Target="../charts/chart954.xml"/><Relationship Id="rId7" Type="http://schemas.openxmlformats.org/officeDocument/2006/relationships/notesSlide" Target="../notesSlides/notesSlide1033.xml"/></Relationships>
</file>

<file path=ppt/slides/_rels/slide11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55.xml"/><Relationship Id="rId4" Type="http://schemas.openxmlformats.org/officeDocument/2006/relationships/chart" Target="../charts/chart956.xml"/><Relationship Id="rId5" Type="http://schemas.openxmlformats.org/officeDocument/2006/relationships/chart" Target="../charts/chart957.xml"/><Relationship Id="rId6" Type="http://schemas.openxmlformats.org/officeDocument/2006/relationships/chart" Target="../charts/chart958.xml"/><Relationship Id="rId7" Type="http://schemas.openxmlformats.org/officeDocument/2006/relationships/chart" Target="../charts/chart959.xml"/><Relationship Id="rId8" Type="http://schemas.openxmlformats.org/officeDocument/2006/relationships/chart" Target="../charts/chart960.xml"/><Relationship Id="rId9" Type="http://schemas.openxmlformats.org/officeDocument/2006/relationships/chart" Target="../charts/chart961.xml"/><Relationship Id="rId10" Type="http://schemas.openxmlformats.org/officeDocument/2006/relationships/notesSlide" Target="../notesSlides/notesSlide1034.xml"/></Relationships>
</file>

<file path=ppt/slides/_rels/slide11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35.xml"/></Relationships>
</file>

<file path=ppt/slides/_rels/slide11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62.xml"/><Relationship Id="rId4" Type="http://schemas.openxmlformats.org/officeDocument/2006/relationships/chart" Target="../charts/chart963.xml"/><Relationship Id="rId5" Type="http://schemas.openxmlformats.org/officeDocument/2006/relationships/notesSlide" Target="../notesSlides/notesSlide1036.xml"/></Relationships>
</file>

<file path=ppt/slides/_rels/slide11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38.xml"/></Relationships>
</file>

<file path=ppt/slides/_rels/slide11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0.xml"/></Relationships>
</file>

<file path=ppt/slides/_rels/slide11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64.xml"/><Relationship Id="rId4" Type="http://schemas.openxmlformats.org/officeDocument/2006/relationships/chart" Target="../charts/chart965.xml"/><Relationship Id="rId5" Type="http://schemas.openxmlformats.org/officeDocument/2006/relationships/notesSlide" Target="../notesSlides/notesSlide1041.xml"/></Relationships>
</file>

<file path=ppt/slides/_rels/slide11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2.xml"/></Relationships>
</file>

<file path=ppt/slides/_rels/slide11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3.xml"/></Relationships>
</file>

<file path=ppt/slides/_rels/slide11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66.xml"/><Relationship Id="rId4" Type="http://schemas.openxmlformats.org/officeDocument/2006/relationships/chart" Target="../charts/chart967.xml"/><Relationship Id="rId5" Type="http://schemas.openxmlformats.org/officeDocument/2006/relationships/notesSlide" Target="../notesSlides/notesSlide1044.xml"/></Relationships>
</file>

<file path=ppt/slides/_rels/slide11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5.xml"/></Relationships>
</file>

<file path=ppt/slides/_rels/slide1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6.xml"/></Relationships>
</file>

<file path=ppt/slides/_rels/slide11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68.xml"/><Relationship Id="rId4" Type="http://schemas.openxmlformats.org/officeDocument/2006/relationships/chart" Target="../charts/chart969.xml"/><Relationship Id="rId5" Type="http://schemas.openxmlformats.org/officeDocument/2006/relationships/notesSlide" Target="../notesSlides/notesSlide1047.xml"/></Relationships>
</file>

<file path=ppt/slides/_rels/slide11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8.xml"/></Relationships>
</file>

<file path=ppt/slides/_rels/slide11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9.xml"/></Relationships>
</file>

<file path=ppt/slides/_rels/slide1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70.xml"/><Relationship Id="rId4" Type="http://schemas.openxmlformats.org/officeDocument/2006/relationships/chart" Target="../charts/chart971.xml"/><Relationship Id="rId5" Type="http://schemas.openxmlformats.org/officeDocument/2006/relationships/notesSlide" Target="../notesSlides/notesSlide1050.xml"/></Relationships>
</file>

<file path=ppt/slides/_rels/slide11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51.xml"/></Relationships>
</file>

<file path=ppt/slides/_rels/slide11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52.xml"/></Relationships>
</file>

<file path=ppt/slides/_rels/slide11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72.xml"/><Relationship Id="rId4" Type="http://schemas.openxmlformats.org/officeDocument/2006/relationships/chart" Target="../charts/chart973.xml"/><Relationship Id="rId5" Type="http://schemas.openxmlformats.org/officeDocument/2006/relationships/notesSlide" Target="../notesSlides/notesSlide1053.xml"/></Relationships>
</file>

<file path=ppt/slides/_rels/slide11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54.xml"/></Relationships>
</file>

<file path=ppt/slides/_rels/slide11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55.xml"/></Relationships>
</file>

<file path=ppt/slides/_rels/slide1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74.xml"/><Relationship Id="rId4" Type="http://schemas.openxmlformats.org/officeDocument/2006/relationships/chart" Target="../charts/chart975.xml"/><Relationship Id="rId5" Type="http://schemas.openxmlformats.org/officeDocument/2006/relationships/notesSlide" Target="../notesSlides/notesSlide1056.xml"/></Relationships>
</file>

<file path=ppt/slides/_rels/slide11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58.xml"/></Relationships>
</file>

<file path=ppt/slides/_rels/slide11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60.xml"/></Relationships>
</file>

<file path=ppt/slides/_rels/slide11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76.xml"/><Relationship Id="rId4" Type="http://schemas.openxmlformats.org/officeDocument/2006/relationships/chart" Target="../charts/chart977.xml"/><Relationship Id="rId5" Type="http://schemas.openxmlformats.org/officeDocument/2006/relationships/chart" Target="../charts/chart978.xml"/><Relationship Id="rId6" Type="http://schemas.openxmlformats.org/officeDocument/2006/relationships/chart" Target="../charts/chart979.xml"/><Relationship Id="rId7" Type="http://schemas.openxmlformats.org/officeDocument/2006/relationships/notesSlide" Target="../notesSlides/notesSlide1061.xml"/></Relationships>
</file>

<file path=ppt/slides/_rels/slide11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80.xml"/><Relationship Id="rId4" Type="http://schemas.openxmlformats.org/officeDocument/2006/relationships/chart" Target="../charts/chart981.xml"/><Relationship Id="rId5" Type="http://schemas.openxmlformats.org/officeDocument/2006/relationships/chart" Target="../charts/chart982.xml"/><Relationship Id="rId6" Type="http://schemas.openxmlformats.org/officeDocument/2006/relationships/chart" Target="../charts/chart983.xml"/><Relationship Id="rId7" Type="http://schemas.openxmlformats.org/officeDocument/2006/relationships/notesSlide" Target="../notesSlides/notesSlide1062.xml"/></Relationships>
</file>

<file path=ppt/slides/_rels/slide11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84.xml"/><Relationship Id="rId4" Type="http://schemas.openxmlformats.org/officeDocument/2006/relationships/chart" Target="../charts/chart985.xml"/><Relationship Id="rId5" Type="http://schemas.openxmlformats.org/officeDocument/2006/relationships/chart" Target="../charts/chart986.xml"/><Relationship Id="rId6" Type="http://schemas.openxmlformats.org/officeDocument/2006/relationships/chart" Target="../charts/chart987.xml"/><Relationship Id="rId7" Type="http://schemas.openxmlformats.org/officeDocument/2006/relationships/chart" Target="../charts/chart988.xml"/><Relationship Id="rId8" Type="http://schemas.openxmlformats.org/officeDocument/2006/relationships/chart" Target="../charts/chart989.xml"/><Relationship Id="rId9" Type="http://schemas.openxmlformats.org/officeDocument/2006/relationships/chart" Target="../charts/chart990.xml"/><Relationship Id="rId10" Type="http://schemas.openxmlformats.org/officeDocument/2006/relationships/notesSlide" Target="../notesSlides/notesSlide1063.xml"/></Relationships>
</file>

<file path=ppt/slides/_rels/slide11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64.xml"/></Relationships>
</file>

<file path=ppt/slides/_rels/slide11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1.xml"/><Relationship Id="rId4" Type="http://schemas.openxmlformats.org/officeDocument/2006/relationships/chart" Target="../charts/chart992.xml"/><Relationship Id="rId5" Type="http://schemas.openxmlformats.org/officeDocument/2006/relationships/notesSlide" Target="../notesSlides/notesSlide1065.xml"/></Relationships>
</file>

<file path=ppt/slides/_rels/slide1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67.xml"/></Relationships>
</file>

<file path=ppt/slides/_rels/slide11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69.xml"/></Relationships>
</file>

<file path=ppt/slides/_rels/slide11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3.xml"/><Relationship Id="rId4" Type="http://schemas.openxmlformats.org/officeDocument/2006/relationships/chart" Target="../charts/chart994.xml"/><Relationship Id="rId5" Type="http://schemas.openxmlformats.org/officeDocument/2006/relationships/notesSlide" Target="../notesSlides/notesSlide1070.xml"/></Relationships>
</file>

<file path=ppt/slides/_rels/slide11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1.xml"/></Relationships>
</file>

<file path=ppt/slides/_rels/slide11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2.xml"/></Relationships>
</file>

<file path=ppt/slides/_rels/slide11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5.xml"/><Relationship Id="rId4" Type="http://schemas.openxmlformats.org/officeDocument/2006/relationships/chart" Target="../charts/chart996.xml"/><Relationship Id="rId5" Type="http://schemas.openxmlformats.org/officeDocument/2006/relationships/notesSlide" Target="../notesSlides/notesSlide1073.xml"/></Relationships>
</file>

<file path=ppt/slides/_rels/slide1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4.xml"/></Relationships>
</file>

<file path=ppt/slides/_rels/slide1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5.xml"/></Relationships>
</file>

<file path=ppt/slides/_rels/slide11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7.xml"/><Relationship Id="rId4" Type="http://schemas.openxmlformats.org/officeDocument/2006/relationships/chart" Target="../charts/chart998.xml"/><Relationship Id="rId5" Type="http://schemas.openxmlformats.org/officeDocument/2006/relationships/notesSlide" Target="../notesSlides/notesSlide1076.xml"/></Relationships>
</file>

<file path=ppt/slides/_rels/slide11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7.xml"/></Relationships>
</file>

<file path=ppt/slides/_rels/slide1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8.xml"/></Relationships>
</file>

<file path=ppt/slides/_rels/slide1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9.xml"/><Relationship Id="rId4" Type="http://schemas.openxmlformats.org/officeDocument/2006/relationships/chart" Target="../charts/chart1000.xml"/><Relationship Id="rId5" Type="http://schemas.openxmlformats.org/officeDocument/2006/relationships/notesSlide" Target="../notesSlides/notesSlide1079.xml"/></Relationships>
</file>

<file path=ppt/slides/_rels/slide11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0.xml"/></Relationships>
</file>

<file path=ppt/slides/_rels/slide11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1.xml"/></Relationships>
</file>

<file path=ppt/slides/_rels/slide1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01.xml"/><Relationship Id="rId4" Type="http://schemas.openxmlformats.org/officeDocument/2006/relationships/chart" Target="../charts/chart1002.xml"/><Relationship Id="rId5" Type="http://schemas.openxmlformats.org/officeDocument/2006/relationships/notesSlide" Target="../notesSlides/notesSlide1082.xml"/></Relationships>
</file>

<file path=ppt/slides/_rels/slide1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3.xml"/></Relationships>
</file>

<file path=ppt/slides/_rels/slide1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4.xml"/></Relationships>
</file>

<file path=ppt/slides/_rels/slide12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03.xml"/><Relationship Id="rId4" Type="http://schemas.openxmlformats.org/officeDocument/2006/relationships/chart" Target="../charts/chart1004.xml"/><Relationship Id="rId5" Type="http://schemas.openxmlformats.org/officeDocument/2006/relationships/notesSlide" Target="../notesSlides/notesSlide1085.xml"/></Relationships>
</file>

<file path=ppt/slides/_rels/slide12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7.xml"/></Relationships>
</file>

<file path=ppt/slides/_rels/slide1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9.xml"/></Relationships>
</file>

<file path=ppt/slides/_rels/slide12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05.xml"/><Relationship Id="rId4" Type="http://schemas.openxmlformats.org/officeDocument/2006/relationships/chart" Target="../charts/chart1006.xml"/><Relationship Id="rId5" Type="http://schemas.openxmlformats.org/officeDocument/2006/relationships/chart" Target="../charts/chart1007.xml"/><Relationship Id="rId6" Type="http://schemas.openxmlformats.org/officeDocument/2006/relationships/chart" Target="../charts/chart1008.xml"/><Relationship Id="rId7" Type="http://schemas.openxmlformats.org/officeDocument/2006/relationships/notesSlide" Target="../notesSlides/notesSlide1090.xml"/></Relationships>
</file>

<file path=ppt/slides/_rels/slide12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09.xml"/><Relationship Id="rId4" Type="http://schemas.openxmlformats.org/officeDocument/2006/relationships/chart" Target="../charts/chart1010.xml"/><Relationship Id="rId5" Type="http://schemas.openxmlformats.org/officeDocument/2006/relationships/chart" Target="../charts/chart1011.xml"/><Relationship Id="rId6" Type="http://schemas.openxmlformats.org/officeDocument/2006/relationships/chart" Target="../charts/chart1012.xml"/><Relationship Id="rId7" Type="http://schemas.openxmlformats.org/officeDocument/2006/relationships/notesSlide" Target="../notesSlides/notesSlide1091.xml"/></Relationships>
</file>

<file path=ppt/slides/_rels/slide12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13.xml"/><Relationship Id="rId4" Type="http://schemas.openxmlformats.org/officeDocument/2006/relationships/chart" Target="../charts/chart1014.xml"/><Relationship Id="rId5" Type="http://schemas.openxmlformats.org/officeDocument/2006/relationships/chart" Target="../charts/chart1015.xml"/><Relationship Id="rId6" Type="http://schemas.openxmlformats.org/officeDocument/2006/relationships/chart" Target="../charts/chart1016.xml"/><Relationship Id="rId7" Type="http://schemas.openxmlformats.org/officeDocument/2006/relationships/chart" Target="../charts/chart1017.xml"/><Relationship Id="rId8" Type="http://schemas.openxmlformats.org/officeDocument/2006/relationships/chart" Target="../charts/chart1018.xml"/><Relationship Id="rId9" Type="http://schemas.openxmlformats.org/officeDocument/2006/relationships/chart" Target="../charts/chart1019.xml"/><Relationship Id="rId10" Type="http://schemas.openxmlformats.org/officeDocument/2006/relationships/notesSlide" Target="../notesSlides/notesSlide1092.xml"/></Relationships>
</file>

<file path=ppt/slides/_rels/slide12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93.xml"/></Relationships>
</file>

<file path=ppt/slides/_rels/slide12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20.xml"/><Relationship Id="rId4" Type="http://schemas.openxmlformats.org/officeDocument/2006/relationships/chart" Target="../charts/chart1021.xml"/><Relationship Id="rId5" Type="http://schemas.openxmlformats.org/officeDocument/2006/relationships/notesSlide" Target="../notesSlides/notesSlide1094.xml"/></Relationships>
</file>

<file path=ppt/slides/_rels/slide12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96.xml"/></Relationships>
</file>

<file path=ppt/slides/_rels/slide12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98.xml"/></Relationships>
</file>

<file path=ppt/slides/_rels/slide12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22.xml"/><Relationship Id="rId4" Type="http://schemas.openxmlformats.org/officeDocument/2006/relationships/chart" Target="../charts/chart1023.xml"/><Relationship Id="rId5" Type="http://schemas.openxmlformats.org/officeDocument/2006/relationships/notesSlide" Target="../notesSlides/notesSlide1099.xml"/></Relationships>
</file>

<file path=ppt/slides/_rels/slide12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00.xml"/></Relationships>
</file>

<file path=ppt/slides/_rels/slide1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01.xml"/></Relationships>
</file>

<file path=ppt/slides/_rels/slide12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24.xml"/><Relationship Id="rId4" Type="http://schemas.openxmlformats.org/officeDocument/2006/relationships/chart" Target="../charts/chart1025.xml"/><Relationship Id="rId5" Type="http://schemas.openxmlformats.org/officeDocument/2006/relationships/notesSlide" Target="../notesSlides/notesSlide1102.xml"/></Relationships>
</file>

<file path=ppt/slides/_rels/slide12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03.xml"/></Relationships>
</file>

<file path=ppt/slides/_rels/slide12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04.xml"/></Relationships>
</file>

<file path=ppt/slides/_rels/slide12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26.xml"/><Relationship Id="rId4" Type="http://schemas.openxmlformats.org/officeDocument/2006/relationships/chart" Target="../charts/chart1027.xml"/><Relationship Id="rId5" Type="http://schemas.openxmlformats.org/officeDocument/2006/relationships/notesSlide" Target="../notesSlides/notesSlide1105.xml"/></Relationships>
</file>

<file path=ppt/slides/_rels/slide12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06.xml"/></Relationships>
</file>

<file path=ppt/slides/_rels/slide1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07.xml"/></Relationships>
</file>

<file path=ppt/slides/_rels/slide1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28.xml"/><Relationship Id="rId4" Type="http://schemas.openxmlformats.org/officeDocument/2006/relationships/chart" Target="../charts/chart1029.xml"/><Relationship Id="rId5" Type="http://schemas.openxmlformats.org/officeDocument/2006/relationships/notesSlide" Target="../notesSlides/notesSlide1108.xml"/></Relationships>
</file>

<file path=ppt/slides/_rels/slide12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09.xml"/></Relationships>
</file>

<file path=ppt/slides/_rels/slide12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10.xml"/></Relationships>
</file>

<file path=ppt/slides/_rels/slide12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30.xml"/><Relationship Id="rId4" Type="http://schemas.openxmlformats.org/officeDocument/2006/relationships/chart" Target="../charts/chart1031.xml"/><Relationship Id="rId5" Type="http://schemas.openxmlformats.org/officeDocument/2006/relationships/notesSlide" Target="../notesSlides/notesSlide1111.xml"/></Relationships>
</file>

<file path=ppt/slides/_rels/slide12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12.xml"/></Relationships>
</file>

<file path=ppt/slides/_rels/slide12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13.xml"/></Relationships>
</file>

<file path=ppt/slides/_rels/slide12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32.xml"/><Relationship Id="rId4" Type="http://schemas.openxmlformats.org/officeDocument/2006/relationships/chart" Target="../charts/chart1033.xml"/><Relationship Id="rId5" Type="http://schemas.openxmlformats.org/officeDocument/2006/relationships/notesSlide" Target="../notesSlides/notesSlide1114.xml"/></Relationships>
</file>

<file path=ppt/slides/_rels/slide12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16.xml"/></Relationships>
</file>

<file path=ppt/slides/_rels/slide12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18.xml"/></Relationships>
</file>

<file path=ppt/slides/_rels/slide12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34.xml"/><Relationship Id="rId4" Type="http://schemas.openxmlformats.org/officeDocument/2006/relationships/chart" Target="../charts/chart1035.xml"/><Relationship Id="rId5" Type="http://schemas.openxmlformats.org/officeDocument/2006/relationships/chart" Target="../charts/chart1036.xml"/><Relationship Id="rId6" Type="http://schemas.openxmlformats.org/officeDocument/2006/relationships/chart" Target="../charts/chart1037.xml"/><Relationship Id="rId7" Type="http://schemas.openxmlformats.org/officeDocument/2006/relationships/notesSlide" Target="../notesSlides/notesSlide1119.xml"/></Relationships>
</file>

<file path=ppt/slides/_rels/slide12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38.xml"/><Relationship Id="rId4" Type="http://schemas.openxmlformats.org/officeDocument/2006/relationships/chart" Target="../charts/chart1039.xml"/><Relationship Id="rId5" Type="http://schemas.openxmlformats.org/officeDocument/2006/relationships/chart" Target="../charts/chart1040.xml"/><Relationship Id="rId6" Type="http://schemas.openxmlformats.org/officeDocument/2006/relationships/chart" Target="../charts/chart1041.xml"/><Relationship Id="rId7" Type="http://schemas.openxmlformats.org/officeDocument/2006/relationships/notesSlide" Target="../notesSlides/notesSlide1120.xml"/></Relationships>
</file>

<file path=ppt/slides/_rels/slide12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42.xml"/><Relationship Id="rId4" Type="http://schemas.openxmlformats.org/officeDocument/2006/relationships/chart" Target="../charts/chart1043.xml"/><Relationship Id="rId5" Type="http://schemas.openxmlformats.org/officeDocument/2006/relationships/chart" Target="../charts/chart1044.xml"/><Relationship Id="rId6" Type="http://schemas.openxmlformats.org/officeDocument/2006/relationships/chart" Target="../charts/chart1045.xml"/><Relationship Id="rId7" Type="http://schemas.openxmlformats.org/officeDocument/2006/relationships/chart" Target="../charts/chart1046.xml"/><Relationship Id="rId8" Type="http://schemas.openxmlformats.org/officeDocument/2006/relationships/chart" Target="../charts/chart1047.xml"/><Relationship Id="rId9" Type="http://schemas.openxmlformats.org/officeDocument/2006/relationships/chart" Target="../charts/chart1048.xml"/><Relationship Id="rId10" Type="http://schemas.openxmlformats.org/officeDocument/2006/relationships/notesSlide" Target="../notesSlides/notesSlide1121.xml"/></Relationships>
</file>

<file path=ppt/slides/_rels/slide12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22.xml"/></Relationships>
</file>

<file path=ppt/slides/_rels/slide12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49.xml"/><Relationship Id="rId4" Type="http://schemas.openxmlformats.org/officeDocument/2006/relationships/chart" Target="../charts/chart1050.xml"/><Relationship Id="rId5" Type="http://schemas.openxmlformats.org/officeDocument/2006/relationships/notesSlide" Target="../notesSlides/notesSlide1123.xml"/></Relationships>
</file>

<file path=ppt/slides/_rels/slide12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25.xml"/></Relationships>
</file>

<file path=ppt/slides/_rels/slide12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27.xml"/></Relationships>
</file>

<file path=ppt/slides/_rels/slide12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1.xml"/><Relationship Id="rId4" Type="http://schemas.openxmlformats.org/officeDocument/2006/relationships/chart" Target="../charts/chart1052.xml"/><Relationship Id="rId5" Type="http://schemas.openxmlformats.org/officeDocument/2006/relationships/notesSlide" Target="../notesSlides/notesSlide1128.xml"/></Relationships>
</file>

<file path=ppt/slides/_rels/slide12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29.xml"/></Relationships>
</file>

<file path=ppt/slides/_rels/slide12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0.xml"/></Relationships>
</file>

<file path=ppt/slides/_rels/slide12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3.xml"/><Relationship Id="rId4" Type="http://schemas.openxmlformats.org/officeDocument/2006/relationships/chart" Target="../charts/chart1054.xml"/><Relationship Id="rId5" Type="http://schemas.openxmlformats.org/officeDocument/2006/relationships/notesSlide" Target="../notesSlides/notesSlide1131.xml"/></Relationships>
</file>

<file path=ppt/slides/_rels/slide12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2.xml"/></Relationships>
</file>

<file path=ppt/slides/_rels/slide1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3.xml"/></Relationships>
</file>

<file path=ppt/slides/_rels/slide12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5.xml"/><Relationship Id="rId4" Type="http://schemas.openxmlformats.org/officeDocument/2006/relationships/chart" Target="../charts/chart1056.xml"/><Relationship Id="rId5" Type="http://schemas.openxmlformats.org/officeDocument/2006/relationships/notesSlide" Target="../notesSlides/notesSlide1134.xml"/></Relationships>
</file>

<file path=ppt/slides/_rels/slide12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5.xml"/></Relationships>
</file>

<file path=ppt/slides/_rels/slide12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6.xml"/></Relationships>
</file>

<file path=ppt/slides/_rels/slide12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7.xml"/><Relationship Id="rId4" Type="http://schemas.openxmlformats.org/officeDocument/2006/relationships/chart" Target="../charts/chart1058.xml"/><Relationship Id="rId5" Type="http://schemas.openxmlformats.org/officeDocument/2006/relationships/notesSlide" Target="../notesSlides/notesSlide1137.xml"/></Relationships>
</file>

<file path=ppt/slides/_rels/slide12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8.xml"/></Relationships>
</file>

<file path=ppt/slides/_rels/slide12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9.xml"/></Relationships>
</file>

<file path=ppt/slides/_rels/slide12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9.xml"/><Relationship Id="rId4" Type="http://schemas.openxmlformats.org/officeDocument/2006/relationships/chart" Target="../charts/chart1060.xml"/><Relationship Id="rId5" Type="http://schemas.openxmlformats.org/officeDocument/2006/relationships/notesSlide" Target="../notesSlides/notesSlide1140.xml"/></Relationships>
</file>

<file path=ppt/slides/_rels/slide12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1.xml"/></Relationships>
</file>

<file path=ppt/slides/_rels/slide12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2.xml"/></Relationships>
</file>

<file path=ppt/slides/_rels/slide12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61.xml"/><Relationship Id="rId4" Type="http://schemas.openxmlformats.org/officeDocument/2006/relationships/chart" Target="../charts/chart1062.xml"/><Relationship Id="rId5" Type="http://schemas.openxmlformats.org/officeDocument/2006/relationships/notesSlide" Target="../notesSlides/notesSlide1143.xml"/></Relationships>
</file>

<file path=ppt/slides/_rels/slide12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5.xml"/></Relationships>
</file>

<file path=ppt/slides/_rels/slide12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7.xml"/></Relationships>
</file>

<file path=ppt/slides/_rels/slide12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63.xml"/><Relationship Id="rId4" Type="http://schemas.openxmlformats.org/officeDocument/2006/relationships/chart" Target="../charts/chart1064.xml"/><Relationship Id="rId5" Type="http://schemas.openxmlformats.org/officeDocument/2006/relationships/chart" Target="../charts/chart1065.xml"/><Relationship Id="rId6" Type="http://schemas.openxmlformats.org/officeDocument/2006/relationships/chart" Target="../charts/chart1066.xml"/><Relationship Id="rId7" Type="http://schemas.openxmlformats.org/officeDocument/2006/relationships/notesSlide" Target="../notesSlides/notesSlide1148.xml"/></Relationships>
</file>

<file path=ppt/slides/_rels/slide12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67.xml"/><Relationship Id="rId4" Type="http://schemas.openxmlformats.org/officeDocument/2006/relationships/chart" Target="../charts/chart1068.xml"/><Relationship Id="rId5" Type="http://schemas.openxmlformats.org/officeDocument/2006/relationships/chart" Target="../charts/chart1069.xml"/><Relationship Id="rId6" Type="http://schemas.openxmlformats.org/officeDocument/2006/relationships/chart" Target="../charts/chart1070.xml"/><Relationship Id="rId7" Type="http://schemas.openxmlformats.org/officeDocument/2006/relationships/notesSlide" Target="../notesSlides/notesSlide1149.xml"/></Relationships>
</file>

<file path=ppt/slides/_rels/slide12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71.xml"/><Relationship Id="rId4" Type="http://schemas.openxmlformats.org/officeDocument/2006/relationships/chart" Target="../charts/chart1072.xml"/><Relationship Id="rId5" Type="http://schemas.openxmlformats.org/officeDocument/2006/relationships/chart" Target="../charts/chart1073.xml"/><Relationship Id="rId6" Type="http://schemas.openxmlformats.org/officeDocument/2006/relationships/chart" Target="../charts/chart1074.xml"/><Relationship Id="rId7" Type="http://schemas.openxmlformats.org/officeDocument/2006/relationships/chart" Target="../charts/chart1075.xml"/><Relationship Id="rId8" Type="http://schemas.openxmlformats.org/officeDocument/2006/relationships/chart" Target="../charts/chart1076.xml"/><Relationship Id="rId9" Type="http://schemas.openxmlformats.org/officeDocument/2006/relationships/chart" Target="../charts/chart1077.xml"/><Relationship Id="rId10" Type="http://schemas.openxmlformats.org/officeDocument/2006/relationships/notesSlide" Target="../notesSlides/notesSlide1150.xml"/></Relationships>
</file>

<file path=ppt/slides/_rels/slide12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1.xml"/></Relationships>
</file>

<file path=ppt/slides/_rels/slide12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78.xml"/><Relationship Id="rId4" Type="http://schemas.openxmlformats.org/officeDocument/2006/relationships/chart" Target="../charts/chart1079.xml"/><Relationship Id="rId5" Type="http://schemas.openxmlformats.org/officeDocument/2006/relationships/notesSlide" Target="../notesSlides/notesSlide1152.xml"/></Relationships>
</file>

<file path=ppt/slides/_rels/slide12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4.xml"/></Relationships>
</file>

<file path=ppt/slides/_rels/slide12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6.xml"/></Relationships>
</file>

<file path=ppt/slides/_rels/slide12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80.xml"/><Relationship Id="rId4" Type="http://schemas.openxmlformats.org/officeDocument/2006/relationships/chart" Target="../charts/chart1081.xml"/><Relationship Id="rId5" Type="http://schemas.openxmlformats.org/officeDocument/2006/relationships/notesSlide" Target="../notesSlides/notesSlide1157.xml"/></Relationships>
</file>

<file path=ppt/slides/_rels/slide12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8.xml"/></Relationships>
</file>

<file path=ppt/slides/_rels/slide12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9.xml"/></Relationships>
</file>

<file path=ppt/slides/_rels/slide12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82.xml"/><Relationship Id="rId4" Type="http://schemas.openxmlformats.org/officeDocument/2006/relationships/chart" Target="../charts/chart1083.xml"/><Relationship Id="rId5" Type="http://schemas.openxmlformats.org/officeDocument/2006/relationships/notesSlide" Target="../notesSlides/notesSlide1160.xml"/></Relationships>
</file>

<file path=ppt/slides/_rels/slide12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1.xml"/></Relationships>
</file>

<file path=ppt/slides/_rels/slide12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2.xml"/></Relationships>
</file>

<file path=ppt/slides/_rels/slide12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84.xml"/><Relationship Id="rId4" Type="http://schemas.openxmlformats.org/officeDocument/2006/relationships/chart" Target="../charts/chart1085.xml"/><Relationship Id="rId5" Type="http://schemas.openxmlformats.org/officeDocument/2006/relationships/notesSlide" Target="../notesSlides/notesSlide1163.xml"/></Relationships>
</file>

<file path=ppt/slides/_rels/slide12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4.xml"/></Relationships>
</file>

<file path=ppt/slides/_rels/slide12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5.xml"/></Relationships>
</file>

<file path=ppt/slides/_rels/slide12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86.xml"/><Relationship Id="rId4" Type="http://schemas.openxmlformats.org/officeDocument/2006/relationships/chart" Target="../charts/chart1087.xml"/><Relationship Id="rId5" Type="http://schemas.openxmlformats.org/officeDocument/2006/relationships/notesSlide" Target="../notesSlides/notesSlide1166.xml"/></Relationships>
</file>

<file path=ppt/slides/_rels/slide12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7.xml"/></Relationships>
</file>

<file path=ppt/slides/_rels/slide12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8.xml"/></Relationships>
</file>

<file path=ppt/slides/_rels/slide12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88.xml"/><Relationship Id="rId4" Type="http://schemas.openxmlformats.org/officeDocument/2006/relationships/chart" Target="../charts/chart1089.xml"/><Relationship Id="rId5" Type="http://schemas.openxmlformats.org/officeDocument/2006/relationships/notesSlide" Target="../notesSlides/notesSlide1169.xml"/></Relationships>
</file>

<file path=ppt/slides/_rels/slide12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70.xml"/></Relationships>
</file>

<file path=ppt/slides/_rels/slide12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71.xml"/></Relationships>
</file>

<file path=ppt/slides/_rels/slide12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90.xml"/><Relationship Id="rId4" Type="http://schemas.openxmlformats.org/officeDocument/2006/relationships/chart" Target="../charts/chart1091.xml"/><Relationship Id="rId5" Type="http://schemas.openxmlformats.org/officeDocument/2006/relationships/notesSlide" Target="../notesSlides/notesSlide1172.xml"/></Relationships>
</file>

<file path=ppt/slides/_rels/slide12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74.xml"/></Relationships>
</file>

<file path=ppt/slides/_rels/slide12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76.xml"/></Relationships>
</file>

<file path=ppt/slides/_rels/slide12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92.xml"/><Relationship Id="rId4" Type="http://schemas.openxmlformats.org/officeDocument/2006/relationships/chart" Target="../charts/chart1093.xml"/><Relationship Id="rId5" Type="http://schemas.openxmlformats.org/officeDocument/2006/relationships/chart" Target="../charts/chart1094.xml"/><Relationship Id="rId6" Type="http://schemas.openxmlformats.org/officeDocument/2006/relationships/chart" Target="../charts/chart1095.xml"/><Relationship Id="rId7" Type="http://schemas.openxmlformats.org/officeDocument/2006/relationships/notesSlide" Target="../notesSlides/notesSlide1177.xml"/></Relationships>
</file>

<file path=ppt/slides/_rels/slide12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96.xml"/><Relationship Id="rId4" Type="http://schemas.openxmlformats.org/officeDocument/2006/relationships/chart" Target="../charts/chart1097.xml"/><Relationship Id="rId5" Type="http://schemas.openxmlformats.org/officeDocument/2006/relationships/chart" Target="../charts/chart1098.xml"/><Relationship Id="rId6" Type="http://schemas.openxmlformats.org/officeDocument/2006/relationships/chart" Target="../charts/chart1099.xml"/><Relationship Id="rId7" Type="http://schemas.openxmlformats.org/officeDocument/2006/relationships/notesSlide" Target="../notesSlides/notesSlide1178.xml"/></Relationships>
</file>

<file path=ppt/slides/_rels/slide12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00.xml"/><Relationship Id="rId4" Type="http://schemas.openxmlformats.org/officeDocument/2006/relationships/chart" Target="../charts/chart1101.xml"/><Relationship Id="rId5" Type="http://schemas.openxmlformats.org/officeDocument/2006/relationships/chart" Target="../charts/chart1102.xml"/><Relationship Id="rId6" Type="http://schemas.openxmlformats.org/officeDocument/2006/relationships/chart" Target="../charts/chart1103.xml"/><Relationship Id="rId7" Type="http://schemas.openxmlformats.org/officeDocument/2006/relationships/chart" Target="../charts/chart1104.xml"/><Relationship Id="rId8" Type="http://schemas.openxmlformats.org/officeDocument/2006/relationships/chart" Target="../charts/chart1105.xml"/><Relationship Id="rId9" Type="http://schemas.openxmlformats.org/officeDocument/2006/relationships/chart" Target="../charts/chart1106.xml"/><Relationship Id="rId10" Type="http://schemas.openxmlformats.org/officeDocument/2006/relationships/notesSlide" Target="../notesSlides/notesSlide1179.xml"/></Relationships>
</file>

<file path=ppt/slides/_rels/slide13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80.xml"/></Relationships>
</file>

<file path=ppt/slides/_rels/slide13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07.xml"/><Relationship Id="rId4" Type="http://schemas.openxmlformats.org/officeDocument/2006/relationships/chart" Target="../charts/chart1108.xml"/><Relationship Id="rId5" Type="http://schemas.openxmlformats.org/officeDocument/2006/relationships/notesSlide" Target="../notesSlides/notesSlide1181.xml"/></Relationships>
</file>

<file path=ppt/slides/_rels/slide13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83.xml"/></Relationships>
</file>

<file path=ppt/slides/_rels/slide13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85.xml"/></Relationships>
</file>

<file path=ppt/slides/_rels/slide13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09.xml"/><Relationship Id="rId4" Type="http://schemas.openxmlformats.org/officeDocument/2006/relationships/chart" Target="../charts/chart1110.xml"/><Relationship Id="rId5" Type="http://schemas.openxmlformats.org/officeDocument/2006/relationships/notesSlide" Target="../notesSlides/notesSlide1186.xml"/></Relationships>
</file>

<file path=ppt/slides/_rels/slide13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87.xml"/></Relationships>
</file>

<file path=ppt/slides/_rels/slide13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88.xml"/></Relationships>
</file>

<file path=ppt/slides/_rels/slide13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1.xml"/><Relationship Id="rId4" Type="http://schemas.openxmlformats.org/officeDocument/2006/relationships/chart" Target="../charts/chart1112.xml"/><Relationship Id="rId5" Type="http://schemas.openxmlformats.org/officeDocument/2006/relationships/notesSlide" Target="../notesSlides/notesSlide1189.xml"/></Relationships>
</file>

<file path=ppt/slides/_rels/slide13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0.xml"/></Relationships>
</file>

<file path=ppt/slides/_rels/slide13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1.xml"/></Relationships>
</file>

<file path=ppt/slides/_rels/slide13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3.xml"/><Relationship Id="rId4" Type="http://schemas.openxmlformats.org/officeDocument/2006/relationships/chart" Target="../charts/chart1114.xml"/><Relationship Id="rId5" Type="http://schemas.openxmlformats.org/officeDocument/2006/relationships/notesSlide" Target="../notesSlides/notesSlide1192.xml"/></Relationships>
</file>

<file path=ppt/slides/_rels/slide13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3.xml"/></Relationships>
</file>

<file path=ppt/slides/_rels/slide13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4.xml"/></Relationships>
</file>

<file path=ppt/slides/_rels/slide13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5.xml"/><Relationship Id="rId4" Type="http://schemas.openxmlformats.org/officeDocument/2006/relationships/chart" Target="../charts/chart1116.xml"/><Relationship Id="rId5" Type="http://schemas.openxmlformats.org/officeDocument/2006/relationships/notesSlide" Target="../notesSlides/notesSlide1195.xml"/></Relationships>
</file>

<file path=ppt/slides/_rels/slide13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6.xml"/></Relationships>
</file>

<file path=ppt/slides/_rels/slide13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7.xml"/></Relationships>
</file>

<file path=ppt/slides/_rels/slide13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7.xml"/><Relationship Id="rId4" Type="http://schemas.openxmlformats.org/officeDocument/2006/relationships/chart" Target="../charts/chart1118.xml"/><Relationship Id="rId5" Type="http://schemas.openxmlformats.org/officeDocument/2006/relationships/notesSlide" Target="../notesSlides/notesSlide1198.xml"/></Relationships>
</file>

<file path=ppt/slides/_rels/slide13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9.xml"/></Relationships>
</file>

<file path=ppt/slides/_rels/slide13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0.xml"/></Relationships>
</file>

<file path=ppt/slides/_rels/slide13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9.xml"/><Relationship Id="rId4" Type="http://schemas.openxmlformats.org/officeDocument/2006/relationships/chart" Target="../charts/chart1120.xml"/><Relationship Id="rId5" Type="http://schemas.openxmlformats.org/officeDocument/2006/relationships/notesSlide" Target="../notesSlides/notesSlide1201.xml"/></Relationships>
</file>

<file path=ppt/slides/_rels/slide13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3.xml"/></Relationships>
</file>

<file path=ppt/slides/_rels/slide13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5.xml"/></Relationships>
</file>

<file path=ppt/slides/_rels/slide13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21.xml"/><Relationship Id="rId4" Type="http://schemas.openxmlformats.org/officeDocument/2006/relationships/chart" Target="../charts/chart1122.xml"/><Relationship Id="rId5" Type="http://schemas.openxmlformats.org/officeDocument/2006/relationships/chart" Target="../charts/chart1123.xml"/><Relationship Id="rId6" Type="http://schemas.openxmlformats.org/officeDocument/2006/relationships/chart" Target="../charts/chart1124.xml"/><Relationship Id="rId7" Type="http://schemas.openxmlformats.org/officeDocument/2006/relationships/notesSlide" Target="../notesSlides/notesSlide1206.xml"/></Relationships>
</file>

<file path=ppt/slides/_rels/slide13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25.xml"/><Relationship Id="rId4" Type="http://schemas.openxmlformats.org/officeDocument/2006/relationships/chart" Target="../charts/chart1126.xml"/><Relationship Id="rId5" Type="http://schemas.openxmlformats.org/officeDocument/2006/relationships/chart" Target="../charts/chart1127.xml"/><Relationship Id="rId6" Type="http://schemas.openxmlformats.org/officeDocument/2006/relationships/chart" Target="../charts/chart1128.xml"/><Relationship Id="rId7" Type="http://schemas.openxmlformats.org/officeDocument/2006/relationships/notesSlide" Target="../notesSlides/notesSlide1207.xml"/></Relationships>
</file>

<file path=ppt/slides/_rels/slide13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29.xml"/><Relationship Id="rId4" Type="http://schemas.openxmlformats.org/officeDocument/2006/relationships/chart" Target="../charts/chart1130.xml"/><Relationship Id="rId5" Type="http://schemas.openxmlformats.org/officeDocument/2006/relationships/chart" Target="../charts/chart1131.xml"/><Relationship Id="rId6" Type="http://schemas.openxmlformats.org/officeDocument/2006/relationships/chart" Target="../charts/chart1132.xml"/><Relationship Id="rId7" Type="http://schemas.openxmlformats.org/officeDocument/2006/relationships/chart" Target="../charts/chart1133.xml"/><Relationship Id="rId8" Type="http://schemas.openxmlformats.org/officeDocument/2006/relationships/chart" Target="../charts/chart1134.xml"/><Relationship Id="rId9" Type="http://schemas.openxmlformats.org/officeDocument/2006/relationships/chart" Target="../charts/chart1135.xml"/><Relationship Id="rId10" Type="http://schemas.openxmlformats.org/officeDocument/2006/relationships/notesSlide" Target="../notesSlides/notesSlide1208.xml"/></Relationships>
</file>

<file path=ppt/slides/_rels/slide13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9.xml"/></Relationships>
</file>

<file path=ppt/slides/_rels/slide13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36.xml"/><Relationship Id="rId4" Type="http://schemas.openxmlformats.org/officeDocument/2006/relationships/chart" Target="../charts/chart1137.xml"/><Relationship Id="rId5" Type="http://schemas.openxmlformats.org/officeDocument/2006/relationships/notesSlide" Target="../notesSlides/notesSlide1210.xml"/></Relationships>
</file>

<file path=ppt/slides/_rels/slide13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2.xml"/></Relationships>
</file>

<file path=ppt/slides/_rels/slide13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4.xml"/></Relationships>
</file>

<file path=ppt/slides/_rels/slide13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38.xml"/><Relationship Id="rId4" Type="http://schemas.openxmlformats.org/officeDocument/2006/relationships/chart" Target="../charts/chart1139.xml"/><Relationship Id="rId5" Type="http://schemas.openxmlformats.org/officeDocument/2006/relationships/notesSlide" Target="../notesSlides/notesSlide1215.xml"/></Relationships>
</file>

<file path=ppt/slides/_rels/slide13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6.xml"/></Relationships>
</file>

<file path=ppt/slides/_rels/slide13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7.xml"/></Relationships>
</file>

<file path=ppt/slides/_rels/slide13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40.xml"/><Relationship Id="rId4" Type="http://schemas.openxmlformats.org/officeDocument/2006/relationships/chart" Target="../charts/chart1141.xml"/><Relationship Id="rId5" Type="http://schemas.openxmlformats.org/officeDocument/2006/relationships/notesSlide" Target="../notesSlides/notesSlide1218.xml"/></Relationships>
</file>

<file path=ppt/slides/_rels/slide13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9.xml"/></Relationships>
</file>

<file path=ppt/slides/_rels/slide13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0.xml"/></Relationships>
</file>

<file path=ppt/slides/_rels/slide13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42.xml"/><Relationship Id="rId4" Type="http://schemas.openxmlformats.org/officeDocument/2006/relationships/chart" Target="../charts/chart1143.xml"/><Relationship Id="rId5" Type="http://schemas.openxmlformats.org/officeDocument/2006/relationships/notesSlide" Target="../notesSlides/notesSlide1221.xml"/></Relationships>
</file>

<file path=ppt/slides/_rels/slide13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2.xml"/></Relationships>
</file>

<file path=ppt/slides/_rels/slide13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3.xml"/></Relationships>
</file>

<file path=ppt/slides/_rels/slide13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44.xml"/><Relationship Id="rId4" Type="http://schemas.openxmlformats.org/officeDocument/2006/relationships/chart" Target="../charts/chart1145.xml"/><Relationship Id="rId5" Type="http://schemas.openxmlformats.org/officeDocument/2006/relationships/notesSlide" Target="../notesSlides/notesSlide1224.xml"/></Relationships>
</file>

<file path=ppt/slides/_rels/slide13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5.xml"/></Relationships>
</file>

<file path=ppt/slides/_rels/slide13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6.xml"/></Relationships>
</file>

<file path=ppt/slides/_rels/slide13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46.xml"/><Relationship Id="rId4" Type="http://schemas.openxmlformats.org/officeDocument/2006/relationships/chart" Target="../charts/chart1147.xml"/><Relationship Id="rId5" Type="http://schemas.openxmlformats.org/officeDocument/2006/relationships/notesSlide" Target="../notesSlides/notesSlide1227.xml"/></Relationships>
</file>

<file path=ppt/slides/_rels/slide13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8.xml"/></Relationships>
</file>

<file path=ppt/slides/_rels/slide13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9.xml"/></Relationships>
</file>

<file path=ppt/slides/_rels/slide13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48.xml"/><Relationship Id="rId4" Type="http://schemas.openxmlformats.org/officeDocument/2006/relationships/chart" Target="../charts/chart1149.xml"/><Relationship Id="rId5" Type="http://schemas.openxmlformats.org/officeDocument/2006/relationships/notesSlide" Target="../notesSlides/notesSlide1230.xml"/></Relationships>
</file>

<file path=ppt/slides/_rels/slide13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32.xml"/></Relationships>
</file>

<file path=ppt/slides/_rels/slide13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34.xml"/></Relationships>
</file>

<file path=ppt/slides/_rels/slide13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50.xml"/><Relationship Id="rId4" Type="http://schemas.openxmlformats.org/officeDocument/2006/relationships/chart" Target="../charts/chart1151.xml"/><Relationship Id="rId5" Type="http://schemas.openxmlformats.org/officeDocument/2006/relationships/chart" Target="../charts/chart1152.xml"/><Relationship Id="rId6" Type="http://schemas.openxmlformats.org/officeDocument/2006/relationships/chart" Target="../charts/chart1153.xml"/><Relationship Id="rId7" Type="http://schemas.openxmlformats.org/officeDocument/2006/relationships/notesSlide" Target="../notesSlides/notesSlide1235.xml"/></Relationships>
</file>

<file path=ppt/slides/_rels/slide13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54.xml"/><Relationship Id="rId4" Type="http://schemas.openxmlformats.org/officeDocument/2006/relationships/chart" Target="../charts/chart1155.xml"/><Relationship Id="rId5" Type="http://schemas.openxmlformats.org/officeDocument/2006/relationships/chart" Target="../charts/chart1156.xml"/><Relationship Id="rId6" Type="http://schemas.openxmlformats.org/officeDocument/2006/relationships/chart" Target="../charts/chart1157.xml"/><Relationship Id="rId7" Type="http://schemas.openxmlformats.org/officeDocument/2006/relationships/notesSlide" Target="../notesSlides/notesSlide1236.xml"/></Relationships>
</file>

<file path=ppt/slides/_rels/slide13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58.xml"/><Relationship Id="rId4" Type="http://schemas.openxmlformats.org/officeDocument/2006/relationships/chart" Target="../charts/chart1159.xml"/><Relationship Id="rId5" Type="http://schemas.openxmlformats.org/officeDocument/2006/relationships/chart" Target="../charts/chart1160.xml"/><Relationship Id="rId6" Type="http://schemas.openxmlformats.org/officeDocument/2006/relationships/chart" Target="../charts/chart1161.xml"/><Relationship Id="rId7" Type="http://schemas.openxmlformats.org/officeDocument/2006/relationships/chart" Target="../charts/chart1162.xml"/><Relationship Id="rId8" Type="http://schemas.openxmlformats.org/officeDocument/2006/relationships/chart" Target="../charts/chart1163.xml"/><Relationship Id="rId9" Type="http://schemas.openxmlformats.org/officeDocument/2006/relationships/chart" Target="../charts/chart1164.xml"/><Relationship Id="rId10" Type="http://schemas.openxmlformats.org/officeDocument/2006/relationships/notesSlide" Target="../notesSlides/notesSlide1237.xml"/></Relationships>
</file>

<file path=ppt/slides/_rels/slide13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38.xml"/></Relationships>
</file>

<file path=ppt/slides/_rels/slide13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65.xml"/><Relationship Id="rId4" Type="http://schemas.openxmlformats.org/officeDocument/2006/relationships/chart" Target="../charts/chart1166.xml"/><Relationship Id="rId5" Type="http://schemas.openxmlformats.org/officeDocument/2006/relationships/notesSlide" Target="../notesSlides/notesSlide1239.xml"/></Relationships>
</file>

<file path=ppt/slides/_rels/slide13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41.xml"/></Relationships>
</file>

<file path=ppt/slides/_rels/slide13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43.xml"/></Relationships>
</file>

<file path=ppt/slides/_rels/slide13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67.xml"/><Relationship Id="rId4" Type="http://schemas.openxmlformats.org/officeDocument/2006/relationships/chart" Target="../charts/chart1168.xml"/><Relationship Id="rId5" Type="http://schemas.openxmlformats.org/officeDocument/2006/relationships/notesSlide" Target="../notesSlides/notesSlide1244.xml"/></Relationships>
</file>

<file path=ppt/slides/_rels/slide13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45.xml"/></Relationships>
</file>

<file path=ppt/slides/_rels/slide13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46.xml"/></Relationships>
</file>

<file path=ppt/slides/_rels/slide13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69.xml"/><Relationship Id="rId4" Type="http://schemas.openxmlformats.org/officeDocument/2006/relationships/chart" Target="../charts/chart1170.xml"/><Relationship Id="rId5" Type="http://schemas.openxmlformats.org/officeDocument/2006/relationships/notesSlide" Target="../notesSlides/notesSlide1247.xml"/></Relationships>
</file>

<file path=ppt/slides/_rels/slide13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48.xml"/></Relationships>
</file>

<file path=ppt/slides/_rels/slide13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49.xml"/></Relationships>
</file>

<file path=ppt/slides/_rels/slide13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71.xml"/><Relationship Id="rId4" Type="http://schemas.openxmlformats.org/officeDocument/2006/relationships/chart" Target="../charts/chart1172.xml"/><Relationship Id="rId5" Type="http://schemas.openxmlformats.org/officeDocument/2006/relationships/notesSlide" Target="../notesSlides/notesSlide1250.xml"/></Relationships>
</file>

<file path=ppt/slides/_rels/slide13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51.xml"/></Relationships>
</file>

<file path=ppt/slides/_rels/slide13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52.xml"/></Relationships>
</file>

<file path=ppt/slides/_rels/slide13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73.xml"/><Relationship Id="rId4" Type="http://schemas.openxmlformats.org/officeDocument/2006/relationships/chart" Target="../charts/chart1174.xml"/><Relationship Id="rId5" Type="http://schemas.openxmlformats.org/officeDocument/2006/relationships/notesSlide" Target="../notesSlides/notesSlide1253.xml"/></Relationships>
</file>

<file path=ppt/slides/_rels/slide13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54.xml"/></Relationships>
</file>

<file path=ppt/slides/_rels/slide13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55.xml"/></Relationships>
</file>

<file path=ppt/slides/_rels/slide13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75.xml"/><Relationship Id="rId4" Type="http://schemas.openxmlformats.org/officeDocument/2006/relationships/chart" Target="../charts/chart1176.xml"/><Relationship Id="rId5" Type="http://schemas.openxmlformats.org/officeDocument/2006/relationships/notesSlide" Target="../notesSlides/notesSlide1256.xml"/></Relationships>
</file>

<file path=ppt/slides/_rels/slide13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57.xml"/></Relationships>
</file>

<file path=ppt/slides/_rels/slide13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58.xml"/></Relationships>
</file>

<file path=ppt/slides/_rels/slide13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77.xml"/><Relationship Id="rId4" Type="http://schemas.openxmlformats.org/officeDocument/2006/relationships/chart" Target="../charts/chart1178.xml"/><Relationship Id="rId5" Type="http://schemas.openxmlformats.org/officeDocument/2006/relationships/notesSlide" Target="../notesSlides/notesSlide1259.xml"/></Relationships>
</file>

<file path=ppt/slides/_rels/slide13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61.xml"/></Relationships>
</file>

<file path=ppt/slides/_rels/slide13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63.xml"/></Relationships>
</file>

<file path=ppt/slides/_rels/slide13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79.xml"/><Relationship Id="rId4" Type="http://schemas.openxmlformats.org/officeDocument/2006/relationships/chart" Target="../charts/chart1180.xml"/><Relationship Id="rId5" Type="http://schemas.openxmlformats.org/officeDocument/2006/relationships/chart" Target="../charts/chart1181.xml"/><Relationship Id="rId6" Type="http://schemas.openxmlformats.org/officeDocument/2006/relationships/chart" Target="../charts/chart1182.xml"/><Relationship Id="rId7" Type="http://schemas.openxmlformats.org/officeDocument/2006/relationships/notesSlide" Target="../notesSlides/notesSlide1264.xml"/></Relationships>
</file>

<file path=ppt/slides/_rels/slide13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83.xml"/><Relationship Id="rId4" Type="http://schemas.openxmlformats.org/officeDocument/2006/relationships/chart" Target="../charts/chart1184.xml"/><Relationship Id="rId5" Type="http://schemas.openxmlformats.org/officeDocument/2006/relationships/chart" Target="../charts/chart1185.xml"/><Relationship Id="rId6" Type="http://schemas.openxmlformats.org/officeDocument/2006/relationships/chart" Target="../charts/chart1186.xml"/><Relationship Id="rId7" Type="http://schemas.openxmlformats.org/officeDocument/2006/relationships/notesSlide" Target="../notesSlides/notesSlide1265.xml"/></Relationships>
</file>

<file path=ppt/slides/_rels/slide13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87.xml"/><Relationship Id="rId4" Type="http://schemas.openxmlformats.org/officeDocument/2006/relationships/chart" Target="../charts/chart1188.xml"/><Relationship Id="rId5" Type="http://schemas.openxmlformats.org/officeDocument/2006/relationships/chart" Target="../charts/chart1189.xml"/><Relationship Id="rId6" Type="http://schemas.openxmlformats.org/officeDocument/2006/relationships/chart" Target="../charts/chart1190.xml"/><Relationship Id="rId7" Type="http://schemas.openxmlformats.org/officeDocument/2006/relationships/chart" Target="../charts/chart1191.xml"/><Relationship Id="rId8" Type="http://schemas.openxmlformats.org/officeDocument/2006/relationships/chart" Target="../charts/chart1192.xml"/><Relationship Id="rId9" Type="http://schemas.openxmlformats.org/officeDocument/2006/relationships/chart" Target="../charts/chart1193.xml"/><Relationship Id="rId10" Type="http://schemas.openxmlformats.org/officeDocument/2006/relationships/notesSlide" Target="../notesSlides/notesSlide1266.xml"/></Relationships>
</file>

<file path=ppt/slides/_rels/slide13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67.xml"/></Relationships>
</file>

<file path=ppt/slides/_rels/slide13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94.xml"/><Relationship Id="rId4" Type="http://schemas.openxmlformats.org/officeDocument/2006/relationships/chart" Target="../charts/chart1195.xml"/><Relationship Id="rId5" Type="http://schemas.openxmlformats.org/officeDocument/2006/relationships/notesSlide" Target="../notesSlides/notesSlide1268.xml"/></Relationships>
</file>

<file path=ppt/slides/_rels/slide13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70.xml"/></Relationships>
</file>

<file path=ppt/slides/_rels/slide13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72.xml"/></Relationships>
</file>

<file path=ppt/slides/_rels/slide13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96.xml"/><Relationship Id="rId4" Type="http://schemas.openxmlformats.org/officeDocument/2006/relationships/chart" Target="../charts/chart1197.xml"/><Relationship Id="rId5" Type="http://schemas.openxmlformats.org/officeDocument/2006/relationships/notesSlide" Target="../notesSlides/notesSlide1273.xml"/></Relationships>
</file>

<file path=ppt/slides/_rels/slide1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74.xml"/></Relationships>
</file>

<file path=ppt/slides/_rels/slide13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75.xml"/></Relationships>
</file>

<file path=ppt/slides/_rels/slide13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98.xml"/><Relationship Id="rId4" Type="http://schemas.openxmlformats.org/officeDocument/2006/relationships/chart" Target="../charts/chart1199.xml"/><Relationship Id="rId5" Type="http://schemas.openxmlformats.org/officeDocument/2006/relationships/notesSlide" Target="../notesSlides/notesSlide1276.xml"/></Relationships>
</file>

<file path=ppt/slides/_rels/slide14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77.xml"/></Relationships>
</file>

<file path=ppt/slides/_rels/slide14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78.xml"/></Relationships>
</file>

<file path=ppt/slides/_rels/slide14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00.xml"/><Relationship Id="rId4" Type="http://schemas.openxmlformats.org/officeDocument/2006/relationships/chart" Target="../charts/chart1201.xml"/><Relationship Id="rId5" Type="http://schemas.openxmlformats.org/officeDocument/2006/relationships/notesSlide" Target="../notesSlides/notesSlide1279.xml"/></Relationships>
</file>

<file path=ppt/slides/_rels/slide14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0.xml"/></Relationships>
</file>

<file path=ppt/slides/_rels/slide14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1.xml"/></Relationships>
</file>

<file path=ppt/slides/_rels/slide14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02.xml"/><Relationship Id="rId4" Type="http://schemas.openxmlformats.org/officeDocument/2006/relationships/chart" Target="../charts/chart1203.xml"/><Relationship Id="rId5" Type="http://schemas.openxmlformats.org/officeDocument/2006/relationships/notesSlide" Target="../notesSlides/notesSlide1282.xml"/></Relationships>
</file>

<file path=ppt/slides/_rels/slide14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3.xml"/></Relationships>
</file>

<file path=ppt/slides/_rels/slide14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4.xml"/></Relationships>
</file>

<file path=ppt/slides/_rels/slide14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04.xml"/><Relationship Id="rId4" Type="http://schemas.openxmlformats.org/officeDocument/2006/relationships/chart" Target="../charts/chart1205.xml"/><Relationship Id="rId5" Type="http://schemas.openxmlformats.org/officeDocument/2006/relationships/notesSlide" Target="../notesSlides/notesSlide1285.xml"/></Relationships>
</file>

<file path=ppt/slides/_rels/slide14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6.xml"/></Relationships>
</file>

<file path=ppt/slides/_rels/slide14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7.xml"/></Relationships>
</file>

<file path=ppt/slides/_rels/slide14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06.xml"/><Relationship Id="rId4" Type="http://schemas.openxmlformats.org/officeDocument/2006/relationships/chart" Target="../charts/chart1207.xml"/><Relationship Id="rId5" Type="http://schemas.openxmlformats.org/officeDocument/2006/relationships/notesSlide" Target="../notesSlides/notesSlide1288.xml"/></Relationships>
</file>

<file path=ppt/slides/_rels/slide14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0.xml"/></Relationships>
</file>

<file path=ppt/slides/_rels/slide14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2.xml"/></Relationships>
</file>

<file path=ppt/slides/_rels/slide14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08.xml"/><Relationship Id="rId4" Type="http://schemas.openxmlformats.org/officeDocument/2006/relationships/chart" Target="../charts/chart1209.xml"/><Relationship Id="rId5" Type="http://schemas.openxmlformats.org/officeDocument/2006/relationships/chart" Target="../charts/chart1210.xml"/><Relationship Id="rId6" Type="http://schemas.openxmlformats.org/officeDocument/2006/relationships/chart" Target="../charts/chart1211.xml"/><Relationship Id="rId7" Type="http://schemas.openxmlformats.org/officeDocument/2006/relationships/notesSlide" Target="../notesSlides/notesSlide1293.xml"/></Relationships>
</file>

<file path=ppt/slides/_rels/slide14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12.xml"/><Relationship Id="rId4" Type="http://schemas.openxmlformats.org/officeDocument/2006/relationships/chart" Target="../charts/chart1213.xml"/><Relationship Id="rId5" Type="http://schemas.openxmlformats.org/officeDocument/2006/relationships/chart" Target="../charts/chart1214.xml"/><Relationship Id="rId6" Type="http://schemas.openxmlformats.org/officeDocument/2006/relationships/chart" Target="../charts/chart1215.xml"/><Relationship Id="rId7" Type="http://schemas.openxmlformats.org/officeDocument/2006/relationships/notesSlide" Target="../notesSlides/notesSlide1294.xml"/></Relationships>
</file>

<file path=ppt/slides/_rels/slide14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16.xml"/><Relationship Id="rId4" Type="http://schemas.openxmlformats.org/officeDocument/2006/relationships/chart" Target="../charts/chart1217.xml"/><Relationship Id="rId5" Type="http://schemas.openxmlformats.org/officeDocument/2006/relationships/chart" Target="../charts/chart1218.xml"/><Relationship Id="rId6" Type="http://schemas.openxmlformats.org/officeDocument/2006/relationships/chart" Target="../charts/chart1219.xml"/><Relationship Id="rId7" Type="http://schemas.openxmlformats.org/officeDocument/2006/relationships/chart" Target="../charts/chart1220.xml"/><Relationship Id="rId8" Type="http://schemas.openxmlformats.org/officeDocument/2006/relationships/chart" Target="../charts/chart1221.xml"/><Relationship Id="rId9" Type="http://schemas.openxmlformats.org/officeDocument/2006/relationships/chart" Target="../charts/chart1222.xml"/><Relationship Id="rId10" Type="http://schemas.openxmlformats.org/officeDocument/2006/relationships/notesSlide" Target="../notesSlides/notesSlide1295.xml"/></Relationships>
</file>

<file path=ppt/slides/_rels/slide14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6.xml"/></Relationships>
</file>

<file path=ppt/slides/_rels/slide14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23.xml"/><Relationship Id="rId4" Type="http://schemas.openxmlformats.org/officeDocument/2006/relationships/chart" Target="../charts/chart1224.xml"/><Relationship Id="rId5" Type="http://schemas.openxmlformats.org/officeDocument/2006/relationships/notesSlide" Target="../notesSlides/notesSlide1297.xml"/></Relationships>
</file>

<file path=ppt/slides/_rels/slide14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9.xml"/></Relationships>
</file>

<file path=ppt/slides/_rels/slide14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01.xml"/></Relationships>
</file>

<file path=ppt/slides/_rels/slide14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25.xml"/><Relationship Id="rId4" Type="http://schemas.openxmlformats.org/officeDocument/2006/relationships/chart" Target="../charts/chart1226.xml"/><Relationship Id="rId5" Type="http://schemas.openxmlformats.org/officeDocument/2006/relationships/notesSlide" Target="../notesSlides/notesSlide1302.xml"/></Relationships>
</file>

<file path=ppt/slides/_rels/slide14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03.xml"/></Relationships>
</file>

<file path=ppt/slides/_rels/slide14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04.xml"/></Relationships>
</file>

<file path=ppt/slides/_rels/slide14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27.xml"/><Relationship Id="rId4" Type="http://schemas.openxmlformats.org/officeDocument/2006/relationships/chart" Target="../charts/chart1228.xml"/><Relationship Id="rId5" Type="http://schemas.openxmlformats.org/officeDocument/2006/relationships/notesSlide" Target="../notesSlides/notesSlide1305.xml"/></Relationships>
</file>

<file path=ppt/slides/_rels/slide14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06.xml"/></Relationships>
</file>

<file path=ppt/slides/_rels/slide14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07.xml"/></Relationships>
</file>

<file path=ppt/slides/_rels/slide14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29.xml"/><Relationship Id="rId4" Type="http://schemas.openxmlformats.org/officeDocument/2006/relationships/chart" Target="../charts/chart1230.xml"/><Relationship Id="rId5" Type="http://schemas.openxmlformats.org/officeDocument/2006/relationships/notesSlide" Target="../notesSlides/notesSlide1308.xml"/></Relationships>
</file>

<file path=ppt/slides/_rels/slide14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09.xml"/></Relationships>
</file>

<file path=ppt/slides/_rels/slide1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10.xml"/></Relationships>
</file>

<file path=ppt/slides/_rels/slide14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31.xml"/><Relationship Id="rId4" Type="http://schemas.openxmlformats.org/officeDocument/2006/relationships/chart" Target="../charts/chart1232.xml"/><Relationship Id="rId5" Type="http://schemas.openxmlformats.org/officeDocument/2006/relationships/notesSlide" Target="../notesSlides/notesSlide1311.xml"/></Relationships>
</file>

<file path=ppt/slides/_rels/slide14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12.xml"/></Relationships>
</file>

<file path=ppt/slides/_rels/slide14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13.xml"/></Relationships>
</file>

<file path=ppt/slides/_rels/slide14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33.xml"/><Relationship Id="rId4" Type="http://schemas.openxmlformats.org/officeDocument/2006/relationships/chart" Target="../charts/chart1234.xml"/><Relationship Id="rId5" Type="http://schemas.openxmlformats.org/officeDocument/2006/relationships/notesSlide" Target="../notesSlides/notesSlide1314.xml"/></Relationships>
</file>

<file path=ppt/slides/_rels/slide14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15.xml"/></Relationships>
</file>

<file path=ppt/slides/_rels/slide14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16.xml"/></Relationships>
</file>

<file path=ppt/slides/_rels/slide14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35.xml"/><Relationship Id="rId4" Type="http://schemas.openxmlformats.org/officeDocument/2006/relationships/chart" Target="../charts/chart1236.xml"/><Relationship Id="rId5" Type="http://schemas.openxmlformats.org/officeDocument/2006/relationships/notesSlide" Target="../notesSlides/notesSlide1317.xml"/></Relationships>
</file>

<file path=ppt/slides/_rels/slide14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19.xml"/></Relationships>
</file>

<file path=ppt/slides/_rels/slide14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21.xml"/></Relationships>
</file>

<file path=ppt/slides/_rels/slide14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37.xml"/><Relationship Id="rId4" Type="http://schemas.openxmlformats.org/officeDocument/2006/relationships/chart" Target="../charts/chart1238.xml"/><Relationship Id="rId5" Type="http://schemas.openxmlformats.org/officeDocument/2006/relationships/chart" Target="../charts/chart1239.xml"/><Relationship Id="rId6" Type="http://schemas.openxmlformats.org/officeDocument/2006/relationships/chart" Target="../charts/chart1240.xml"/><Relationship Id="rId7" Type="http://schemas.openxmlformats.org/officeDocument/2006/relationships/notesSlide" Target="../notesSlides/notesSlide1322.xml"/></Relationships>
</file>

<file path=ppt/slides/_rels/slide14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41.xml"/><Relationship Id="rId4" Type="http://schemas.openxmlformats.org/officeDocument/2006/relationships/chart" Target="../charts/chart1242.xml"/><Relationship Id="rId5" Type="http://schemas.openxmlformats.org/officeDocument/2006/relationships/chart" Target="../charts/chart1243.xml"/><Relationship Id="rId6" Type="http://schemas.openxmlformats.org/officeDocument/2006/relationships/chart" Target="../charts/chart1244.xml"/><Relationship Id="rId7" Type="http://schemas.openxmlformats.org/officeDocument/2006/relationships/notesSlide" Target="../notesSlides/notesSlide1323.xml"/></Relationships>
</file>

<file path=ppt/slides/_rels/slide14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45.xml"/><Relationship Id="rId4" Type="http://schemas.openxmlformats.org/officeDocument/2006/relationships/chart" Target="../charts/chart1246.xml"/><Relationship Id="rId5" Type="http://schemas.openxmlformats.org/officeDocument/2006/relationships/chart" Target="../charts/chart1247.xml"/><Relationship Id="rId6" Type="http://schemas.openxmlformats.org/officeDocument/2006/relationships/chart" Target="../charts/chart1248.xml"/><Relationship Id="rId7" Type="http://schemas.openxmlformats.org/officeDocument/2006/relationships/chart" Target="../charts/chart1249.xml"/><Relationship Id="rId8" Type="http://schemas.openxmlformats.org/officeDocument/2006/relationships/chart" Target="../charts/chart1250.xml"/><Relationship Id="rId9" Type="http://schemas.openxmlformats.org/officeDocument/2006/relationships/chart" Target="../charts/chart1251.xml"/><Relationship Id="rId10" Type="http://schemas.openxmlformats.org/officeDocument/2006/relationships/notesSlide" Target="../notesSlides/notesSlide1324.xml"/></Relationships>
</file>

<file path=ppt/slides/_rels/slide14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25.xml"/></Relationships>
</file>

<file path=ppt/slides/_rels/slide14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52.xml"/><Relationship Id="rId4" Type="http://schemas.openxmlformats.org/officeDocument/2006/relationships/chart" Target="../charts/chart1253.xml"/><Relationship Id="rId5" Type="http://schemas.openxmlformats.org/officeDocument/2006/relationships/notesSlide" Target="../notesSlides/notesSlide1326.xml"/></Relationships>
</file>

<file path=ppt/slides/_rels/slide14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28.xml"/></Relationships>
</file>

<file path=ppt/slides/_rels/slide14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0.xml"/></Relationships>
</file>

<file path=ppt/slides/_rels/slide14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54.xml"/><Relationship Id="rId4" Type="http://schemas.openxmlformats.org/officeDocument/2006/relationships/chart" Target="../charts/chart1255.xml"/><Relationship Id="rId5" Type="http://schemas.openxmlformats.org/officeDocument/2006/relationships/notesSlide" Target="../notesSlides/notesSlide1331.xml"/></Relationships>
</file>

<file path=ppt/slides/_rels/slide14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2.xml"/></Relationships>
</file>

<file path=ppt/slides/_rels/slide14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3.xml"/></Relationships>
</file>

<file path=ppt/slides/_rels/slide14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56.xml"/><Relationship Id="rId4" Type="http://schemas.openxmlformats.org/officeDocument/2006/relationships/chart" Target="../charts/chart1257.xml"/><Relationship Id="rId5" Type="http://schemas.openxmlformats.org/officeDocument/2006/relationships/notesSlide" Target="../notesSlides/notesSlide1334.xml"/></Relationships>
</file>

<file path=ppt/slides/_rels/slide14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5.xml"/></Relationships>
</file>

<file path=ppt/slides/_rels/slide14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6.xml"/></Relationships>
</file>

<file path=ppt/slides/_rels/slide14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58.xml"/><Relationship Id="rId4" Type="http://schemas.openxmlformats.org/officeDocument/2006/relationships/chart" Target="../charts/chart1259.xml"/><Relationship Id="rId5" Type="http://schemas.openxmlformats.org/officeDocument/2006/relationships/notesSlide" Target="../notesSlides/notesSlide1337.xml"/></Relationships>
</file>

<file path=ppt/slides/_rels/slide14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8.xml"/></Relationships>
</file>

<file path=ppt/slides/_rels/slide14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9.xml"/></Relationships>
</file>

<file path=ppt/slides/_rels/slide14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60.xml"/><Relationship Id="rId4" Type="http://schemas.openxmlformats.org/officeDocument/2006/relationships/chart" Target="../charts/chart1261.xml"/><Relationship Id="rId5" Type="http://schemas.openxmlformats.org/officeDocument/2006/relationships/notesSlide" Target="../notesSlides/notesSlide1340.xml"/></Relationships>
</file>

<file path=ppt/slides/_rels/slide14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41.xml"/></Relationships>
</file>

<file path=ppt/slides/_rels/slide14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42.xml"/></Relationships>
</file>

<file path=ppt/slides/_rels/slide14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62.xml"/><Relationship Id="rId4" Type="http://schemas.openxmlformats.org/officeDocument/2006/relationships/chart" Target="../charts/chart1263.xml"/><Relationship Id="rId5" Type="http://schemas.openxmlformats.org/officeDocument/2006/relationships/notesSlide" Target="../notesSlides/notesSlide1343.xml"/></Relationships>
</file>

<file path=ppt/slides/_rels/slide14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44.xml"/></Relationships>
</file>

<file path=ppt/slides/_rels/slide14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45.xml"/></Relationships>
</file>

<file path=ppt/slides/_rels/slide14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64.xml"/><Relationship Id="rId4" Type="http://schemas.openxmlformats.org/officeDocument/2006/relationships/chart" Target="../charts/chart1265.xml"/><Relationship Id="rId5" Type="http://schemas.openxmlformats.org/officeDocument/2006/relationships/notesSlide" Target="../notesSlides/notesSlide1346.xml"/></Relationships>
</file>

<file path=ppt/slides/_rels/slide14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48.xml"/></Relationships>
</file>

<file path=ppt/slides/_rels/slide14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50.xml"/></Relationships>
</file>

<file path=ppt/slides/_rels/slide14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66.xml"/><Relationship Id="rId4" Type="http://schemas.openxmlformats.org/officeDocument/2006/relationships/chart" Target="../charts/chart1267.xml"/><Relationship Id="rId5" Type="http://schemas.openxmlformats.org/officeDocument/2006/relationships/chart" Target="../charts/chart1268.xml"/><Relationship Id="rId6" Type="http://schemas.openxmlformats.org/officeDocument/2006/relationships/chart" Target="../charts/chart1269.xml"/><Relationship Id="rId7" Type="http://schemas.openxmlformats.org/officeDocument/2006/relationships/notesSlide" Target="../notesSlides/notesSlide1351.xml"/></Relationships>
</file>

<file path=ppt/slides/_rels/slide14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70.xml"/><Relationship Id="rId4" Type="http://schemas.openxmlformats.org/officeDocument/2006/relationships/chart" Target="../charts/chart1271.xml"/><Relationship Id="rId5" Type="http://schemas.openxmlformats.org/officeDocument/2006/relationships/chart" Target="../charts/chart1272.xml"/><Relationship Id="rId6" Type="http://schemas.openxmlformats.org/officeDocument/2006/relationships/chart" Target="../charts/chart1273.xml"/><Relationship Id="rId7" Type="http://schemas.openxmlformats.org/officeDocument/2006/relationships/notesSlide" Target="../notesSlides/notesSlide1352.xml"/></Relationships>
</file>

<file path=ppt/slides/_rels/slide14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74.xml"/><Relationship Id="rId4" Type="http://schemas.openxmlformats.org/officeDocument/2006/relationships/chart" Target="../charts/chart1275.xml"/><Relationship Id="rId5" Type="http://schemas.openxmlformats.org/officeDocument/2006/relationships/chart" Target="../charts/chart1276.xml"/><Relationship Id="rId6" Type="http://schemas.openxmlformats.org/officeDocument/2006/relationships/chart" Target="../charts/chart1277.xml"/><Relationship Id="rId7" Type="http://schemas.openxmlformats.org/officeDocument/2006/relationships/chart" Target="../charts/chart1278.xml"/><Relationship Id="rId8" Type="http://schemas.openxmlformats.org/officeDocument/2006/relationships/chart" Target="../charts/chart1279.xml"/><Relationship Id="rId9" Type="http://schemas.openxmlformats.org/officeDocument/2006/relationships/chart" Target="../charts/chart1280.xml"/><Relationship Id="rId10" Type="http://schemas.openxmlformats.org/officeDocument/2006/relationships/notesSlide" Target="../notesSlides/notesSlide1353.xml"/></Relationships>
</file>

<file path=ppt/slides/_rels/slide14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54.xml"/></Relationships>
</file>

<file path=ppt/slides/_rels/slide14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81.xml"/><Relationship Id="rId4" Type="http://schemas.openxmlformats.org/officeDocument/2006/relationships/chart" Target="../charts/chart1282.xml"/><Relationship Id="rId5" Type="http://schemas.openxmlformats.org/officeDocument/2006/relationships/notesSlide" Target="../notesSlides/notesSlide1355.xml"/></Relationships>
</file>

<file path=ppt/slides/_rels/slide14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57.xml"/></Relationships>
</file>

<file path=ppt/slides/_rels/slide14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59.xml"/></Relationships>
</file>

<file path=ppt/slides/_rels/slide14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83.xml"/><Relationship Id="rId4" Type="http://schemas.openxmlformats.org/officeDocument/2006/relationships/chart" Target="../charts/chart1284.xml"/><Relationship Id="rId5" Type="http://schemas.openxmlformats.org/officeDocument/2006/relationships/notesSlide" Target="../notesSlides/notesSlide1360.xml"/></Relationships>
</file>

<file path=ppt/slides/_rels/slide14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1.xml"/></Relationships>
</file>

<file path=ppt/slides/_rels/slide14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2.xml"/></Relationships>
</file>

<file path=ppt/slides/_rels/slide14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85.xml"/><Relationship Id="rId4" Type="http://schemas.openxmlformats.org/officeDocument/2006/relationships/chart" Target="../charts/chart1286.xml"/><Relationship Id="rId5" Type="http://schemas.openxmlformats.org/officeDocument/2006/relationships/notesSlide" Target="../notesSlides/notesSlide1363.xml"/></Relationships>
</file>

<file path=ppt/slides/_rels/slide14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4.xml"/></Relationships>
</file>

<file path=ppt/slides/_rels/slide14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5.xml"/></Relationships>
</file>

<file path=ppt/slides/_rels/slide14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87.xml"/><Relationship Id="rId4" Type="http://schemas.openxmlformats.org/officeDocument/2006/relationships/chart" Target="../charts/chart1288.xml"/><Relationship Id="rId5" Type="http://schemas.openxmlformats.org/officeDocument/2006/relationships/notesSlide" Target="../notesSlides/notesSlide1366.xml"/></Relationships>
</file>

<file path=ppt/slides/_rels/slide14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7.xml"/></Relationships>
</file>

<file path=ppt/slides/_rels/slide14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8.xml"/></Relationships>
</file>

<file path=ppt/slides/_rels/slide14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89.xml"/><Relationship Id="rId4" Type="http://schemas.openxmlformats.org/officeDocument/2006/relationships/chart" Target="../charts/chart1290.xml"/><Relationship Id="rId5" Type="http://schemas.openxmlformats.org/officeDocument/2006/relationships/notesSlide" Target="../notesSlides/notesSlide1369.xml"/></Relationships>
</file>

<file path=ppt/slides/_rels/slide14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70.xml"/></Relationships>
</file>

<file path=ppt/slides/_rels/slide14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71.xml"/></Relationships>
</file>

<file path=ppt/slides/_rels/slide14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91.xml"/><Relationship Id="rId4" Type="http://schemas.openxmlformats.org/officeDocument/2006/relationships/chart" Target="../charts/chart1292.xml"/><Relationship Id="rId5" Type="http://schemas.openxmlformats.org/officeDocument/2006/relationships/notesSlide" Target="../notesSlides/notesSlide1372.xml"/></Relationships>
</file>

<file path=ppt/slides/_rels/slide14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73.xml"/></Relationships>
</file>

<file path=ppt/slides/_rels/slide15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74.xml"/></Relationships>
</file>

<file path=ppt/slides/_rels/slide1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93.xml"/><Relationship Id="rId4" Type="http://schemas.openxmlformats.org/officeDocument/2006/relationships/chart" Target="../charts/chart1294.xml"/><Relationship Id="rId5" Type="http://schemas.openxmlformats.org/officeDocument/2006/relationships/notesSlide" Target="../notesSlides/notesSlide1375.xml"/></Relationships>
</file>

<file path=ppt/slides/_rels/slide15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77.xml"/></Relationships>
</file>

<file path=ppt/slides/_rels/slide15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79.xml"/></Relationships>
</file>

<file path=ppt/slides/_rels/slide15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95.xml"/><Relationship Id="rId4" Type="http://schemas.openxmlformats.org/officeDocument/2006/relationships/chart" Target="../charts/chart1296.xml"/><Relationship Id="rId5" Type="http://schemas.openxmlformats.org/officeDocument/2006/relationships/chart" Target="../charts/chart1297.xml"/><Relationship Id="rId6" Type="http://schemas.openxmlformats.org/officeDocument/2006/relationships/chart" Target="../charts/chart1298.xml"/><Relationship Id="rId7" Type="http://schemas.openxmlformats.org/officeDocument/2006/relationships/notesSlide" Target="../notesSlides/notesSlide1380.xml"/></Relationships>
</file>

<file path=ppt/slides/_rels/slide15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99.xml"/><Relationship Id="rId4" Type="http://schemas.openxmlformats.org/officeDocument/2006/relationships/chart" Target="../charts/chart1300.xml"/><Relationship Id="rId5" Type="http://schemas.openxmlformats.org/officeDocument/2006/relationships/chart" Target="../charts/chart1301.xml"/><Relationship Id="rId6" Type="http://schemas.openxmlformats.org/officeDocument/2006/relationships/chart" Target="../charts/chart1302.xml"/><Relationship Id="rId7" Type="http://schemas.openxmlformats.org/officeDocument/2006/relationships/notesSlide" Target="../notesSlides/notesSlide1381.xml"/></Relationships>
</file>

<file path=ppt/slides/_rels/slide15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03.xml"/><Relationship Id="rId4" Type="http://schemas.openxmlformats.org/officeDocument/2006/relationships/chart" Target="../charts/chart1304.xml"/><Relationship Id="rId5" Type="http://schemas.openxmlformats.org/officeDocument/2006/relationships/chart" Target="../charts/chart1305.xml"/><Relationship Id="rId6" Type="http://schemas.openxmlformats.org/officeDocument/2006/relationships/chart" Target="../charts/chart1306.xml"/><Relationship Id="rId7" Type="http://schemas.openxmlformats.org/officeDocument/2006/relationships/chart" Target="../charts/chart1307.xml"/><Relationship Id="rId8" Type="http://schemas.openxmlformats.org/officeDocument/2006/relationships/chart" Target="../charts/chart1308.xml"/><Relationship Id="rId9" Type="http://schemas.openxmlformats.org/officeDocument/2006/relationships/chart" Target="../charts/chart1309.xml"/><Relationship Id="rId10" Type="http://schemas.openxmlformats.org/officeDocument/2006/relationships/notesSlide" Target="../notesSlides/notesSlide1382.xml"/></Relationships>
</file>

<file path=ppt/slides/_rels/slide15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83.xml"/></Relationships>
</file>

<file path=ppt/slides/_rels/slide15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0.xml"/><Relationship Id="rId4" Type="http://schemas.openxmlformats.org/officeDocument/2006/relationships/chart" Target="../charts/chart1311.xml"/><Relationship Id="rId5" Type="http://schemas.openxmlformats.org/officeDocument/2006/relationships/notesSlide" Target="../notesSlides/notesSlide1384.xml"/></Relationships>
</file>

<file path=ppt/slides/_rels/slide1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86.xml"/></Relationships>
</file>

<file path=ppt/slides/_rels/slide15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88.xml"/></Relationships>
</file>

<file path=ppt/slides/_rels/slide15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2.xml"/><Relationship Id="rId4" Type="http://schemas.openxmlformats.org/officeDocument/2006/relationships/chart" Target="../charts/chart1313.xml"/><Relationship Id="rId5" Type="http://schemas.openxmlformats.org/officeDocument/2006/relationships/notesSlide" Target="../notesSlides/notesSlide1389.xml"/></Relationships>
</file>

<file path=ppt/slides/_rels/slide15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0.xml"/></Relationships>
</file>

<file path=ppt/slides/_rels/slide15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1.xml"/></Relationships>
</file>

<file path=ppt/slides/_rels/slide15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4.xml"/><Relationship Id="rId4" Type="http://schemas.openxmlformats.org/officeDocument/2006/relationships/chart" Target="../charts/chart1315.xml"/><Relationship Id="rId5" Type="http://schemas.openxmlformats.org/officeDocument/2006/relationships/notesSlide" Target="../notesSlides/notesSlide1392.xml"/></Relationships>
</file>

<file path=ppt/slides/_rels/slide15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3.xml"/></Relationships>
</file>

<file path=ppt/slides/_rels/slide15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4.xml"/></Relationships>
</file>

<file path=ppt/slides/_rels/slide15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6.xml"/><Relationship Id="rId4" Type="http://schemas.openxmlformats.org/officeDocument/2006/relationships/chart" Target="../charts/chart1317.xml"/><Relationship Id="rId5" Type="http://schemas.openxmlformats.org/officeDocument/2006/relationships/notesSlide" Target="../notesSlides/notesSlide1395.xml"/></Relationships>
</file>

<file path=ppt/slides/_rels/slide15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6.xml"/></Relationships>
</file>

<file path=ppt/slides/_rels/slide15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7.xml"/></Relationships>
</file>

<file path=ppt/slides/_rels/slide15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8.xml"/><Relationship Id="rId4" Type="http://schemas.openxmlformats.org/officeDocument/2006/relationships/chart" Target="../charts/chart1319.xml"/><Relationship Id="rId5" Type="http://schemas.openxmlformats.org/officeDocument/2006/relationships/notesSlide" Target="../notesSlides/notesSlide1398.xml"/></Relationships>
</file>

<file path=ppt/slides/_rels/slide15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9.xml"/></Relationships>
</file>

<file path=ppt/slides/_rels/slide15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0.xml"/></Relationships>
</file>

<file path=ppt/slides/_rels/slide15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20.xml"/><Relationship Id="rId4" Type="http://schemas.openxmlformats.org/officeDocument/2006/relationships/chart" Target="../charts/chart1321.xml"/><Relationship Id="rId5" Type="http://schemas.openxmlformats.org/officeDocument/2006/relationships/notesSlide" Target="../notesSlides/notesSlide1401.xml"/></Relationships>
</file>

<file path=ppt/slides/_rels/slide15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2.xml"/></Relationships>
</file>

<file path=ppt/slides/_rels/slide15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3.xml"/></Relationships>
</file>

<file path=ppt/slides/_rels/slide15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22.xml"/><Relationship Id="rId4" Type="http://schemas.openxmlformats.org/officeDocument/2006/relationships/chart" Target="../charts/chart1323.xml"/><Relationship Id="rId5" Type="http://schemas.openxmlformats.org/officeDocument/2006/relationships/notesSlide" Target="../notesSlides/notesSlide1404.xml"/></Relationships>
</file>

<file path=ppt/slides/_rels/slide15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6.xml"/></Relationships>
</file>

<file path=ppt/slides/_rels/slide15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8.xml"/></Relationships>
</file>

<file path=ppt/slides/_rels/slide15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24.xml"/><Relationship Id="rId4" Type="http://schemas.openxmlformats.org/officeDocument/2006/relationships/chart" Target="../charts/chart1325.xml"/><Relationship Id="rId5" Type="http://schemas.openxmlformats.org/officeDocument/2006/relationships/chart" Target="../charts/chart1326.xml"/><Relationship Id="rId6" Type="http://schemas.openxmlformats.org/officeDocument/2006/relationships/chart" Target="../charts/chart1327.xml"/><Relationship Id="rId7" Type="http://schemas.openxmlformats.org/officeDocument/2006/relationships/notesSlide" Target="../notesSlides/notesSlide1409.xml"/></Relationships>
</file>

<file path=ppt/slides/_rels/slide15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28.xml"/><Relationship Id="rId4" Type="http://schemas.openxmlformats.org/officeDocument/2006/relationships/chart" Target="../charts/chart1329.xml"/><Relationship Id="rId5" Type="http://schemas.openxmlformats.org/officeDocument/2006/relationships/chart" Target="../charts/chart1330.xml"/><Relationship Id="rId6" Type="http://schemas.openxmlformats.org/officeDocument/2006/relationships/chart" Target="../charts/chart1331.xml"/><Relationship Id="rId7" Type="http://schemas.openxmlformats.org/officeDocument/2006/relationships/notesSlide" Target="../notesSlides/notesSlide1410.xml"/></Relationships>
</file>

<file path=ppt/slides/_rels/slide15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32.xml"/><Relationship Id="rId4" Type="http://schemas.openxmlformats.org/officeDocument/2006/relationships/chart" Target="../charts/chart1333.xml"/><Relationship Id="rId5" Type="http://schemas.openxmlformats.org/officeDocument/2006/relationships/chart" Target="../charts/chart1334.xml"/><Relationship Id="rId6" Type="http://schemas.openxmlformats.org/officeDocument/2006/relationships/chart" Target="../charts/chart1335.xml"/><Relationship Id="rId7" Type="http://schemas.openxmlformats.org/officeDocument/2006/relationships/chart" Target="../charts/chart1336.xml"/><Relationship Id="rId8" Type="http://schemas.openxmlformats.org/officeDocument/2006/relationships/chart" Target="../charts/chart1337.xml"/><Relationship Id="rId9" Type="http://schemas.openxmlformats.org/officeDocument/2006/relationships/chart" Target="../charts/chart1338.xml"/><Relationship Id="rId10" Type="http://schemas.openxmlformats.org/officeDocument/2006/relationships/notesSlide" Target="../notesSlides/notesSlide1411.xml"/></Relationships>
</file>

<file path=ppt/slides/_rels/slide15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12.xml"/></Relationships>
</file>

<file path=ppt/slides/_rels/slide15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39.xml"/><Relationship Id="rId4" Type="http://schemas.openxmlformats.org/officeDocument/2006/relationships/chart" Target="../charts/chart1340.xml"/><Relationship Id="rId5" Type="http://schemas.openxmlformats.org/officeDocument/2006/relationships/notesSlide" Target="../notesSlides/notesSlide1413.xml"/></Relationships>
</file>

<file path=ppt/slides/_rels/slide15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15.xml"/></Relationships>
</file>

<file path=ppt/slides/_rels/slide15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17.xml"/></Relationships>
</file>

<file path=ppt/slides/_rels/slide15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1.xml"/><Relationship Id="rId4" Type="http://schemas.openxmlformats.org/officeDocument/2006/relationships/chart" Target="../charts/chart1342.xml"/><Relationship Id="rId5" Type="http://schemas.openxmlformats.org/officeDocument/2006/relationships/notesSlide" Target="../notesSlides/notesSlide1418.xml"/></Relationships>
</file>

<file path=ppt/slides/_rels/slide15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19.xml"/></Relationships>
</file>

<file path=ppt/slides/_rels/slide15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20.xml"/></Relationships>
</file>

<file path=ppt/slides/_rels/slide15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3.xml"/><Relationship Id="rId4" Type="http://schemas.openxmlformats.org/officeDocument/2006/relationships/chart" Target="../charts/chart1344.xml"/><Relationship Id="rId5" Type="http://schemas.openxmlformats.org/officeDocument/2006/relationships/notesSlide" Target="../notesSlides/notesSlide1421.xml"/></Relationships>
</file>

<file path=ppt/slides/_rels/slide15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22.xml"/></Relationships>
</file>

<file path=ppt/slides/_rels/slide15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23.xml"/></Relationships>
</file>

<file path=ppt/slides/_rels/slide15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5.xml"/><Relationship Id="rId4" Type="http://schemas.openxmlformats.org/officeDocument/2006/relationships/chart" Target="../charts/chart1346.xml"/><Relationship Id="rId5" Type="http://schemas.openxmlformats.org/officeDocument/2006/relationships/notesSlide" Target="../notesSlides/notesSlide1424.xml"/></Relationships>
</file>

<file path=ppt/slides/_rels/slide15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25.xml"/></Relationships>
</file>

<file path=ppt/slides/_rels/slide15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26.xml"/></Relationships>
</file>

<file path=ppt/slides/_rels/slide15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7.xml"/><Relationship Id="rId4" Type="http://schemas.openxmlformats.org/officeDocument/2006/relationships/chart" Target="../charts/chart1348.xml"/><Relationship Id="rId5" Type="http://schemas.openxmlformats.org/officeDocument/2006/relationships/notesSlide" Target="../notesSlides/notesSlide1427.xml"/></Relationships>
</file>

<file path=ppt/slides/_rels/slide15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28.xml"/></Relationships>
</file>

<file path=ppt/slides/_rels/slide15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29.xml"/></Relationships>
</file>

<file path=ppt/slides/_rels/slide15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9.xml"/><Relationship Id="rId4" Type="http://schemas.openxmlformats.org/officeDocument/2006/relationships/chart" Target="../charts/chart1350.xml"/><Relationship Id="rId5" Type="http://schemas.openxmlformats.org/officeDocument/2006/relationships/notesSlide" Target="../notesSlides/notesSlide1430.xml"/></Relationships>
</file>

<file path=ppt/slides/_rels/slide15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31.xml"/></Relationships>
</file>

<file path=ppt/slides/_rels/slide15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32.xml"/></Relationships>
</file>

<file path=ppt/slides/_rels/slide15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51.xml"/><Relationship Id="rId4" Type="http://schemas.openxmlformats.org/officeDocument/2006/relationships/chart" Target="../charts/chart1352.xml"/><Relationship Id="rId5" Type="http://schemas.openxmlformats.org/officeDocument/2006/relationships/notesSlide" Target="../notesSlides/notesSlide1433.xml"/></Relationships>
</file>

<file path=ppt/slides/_rels/slide15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35.xml"/></Relationships>
</file>

<file path=ppt/slides/_rels/slide15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37.xml"/></Relationships>
</file>

<file path=ppt/slides/_rels/slide15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53.xml"/><Relationship Id="rId4" Type="http://schemas.openxmlformats.org/officeDocument/2006/relationships/chart" Target="../charts/chart1354.xml"/><Relationship Id="rId5" Type="http://schemas.openxmlformats.org/officeDocument/2006/relationships/chart" Target="../charts/chart1355.xml"/><Relationship Id="rId6" Type="http://schemas.openxmlformats.org/officeDocument/2006/relationships/chart" Target="../charts/chart1356.xml"/><Relationship Id="rId7" Type="http://schemas.openxmlformats.org/officeDocument/2006/relationships/notesSlide" Target="../notesSlides/notesSlide1438.xml"/></Relationships>
</file>

<file path=ppt/slides/_rels/slide15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57.xml"/><Relationship Id="rId4" Type="http://schemas.openxmlformats.org/officeDocument/2006/relationships/chart" Target="../charts/chart1358.xml"/><Relationship Id="rId5" Type="http://schemas.openxmlformats.org/officeDocument/2006/relationships/chart" Target="../charts/chart1359.xml"/><Relationship Id="rId6" Type="http://schemas.openxmlformats.org/officeDocument/2006/relationships/chart" Target="../charts/chart1360.xml"/><Relationship Id="rId7" Type="http://schemas.openxmlformats.org/officeDocument/2006/relationships/notesSlide" Target="../notesSlides/notesSlide1439.xml"/></Relationships>
</file>

<file path=ppt/slides/_rels/slide15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61.xml"/><Relationship Id="rId4" Type="http://schemas.openxmlformats.org/officeDocument/2006/relationships/chart" Target="../charts/chart1362.xml"/><Relationship Id="rId5" Type="http://schemas.openxmlformats.org/officeDocument/2006/relationships/chart" Target="../charts/chart1363.xml"/><Relationship Id="rId6" Type="http://schemas.openxmlformats.org/officeDocument/2006/relationships/chart" Target="../charts/chart1364.xml"/><Relationship Id="rId7" Type="http://schemas.openxmlformats.org/officeDocument/2006/relationships/chart" Target="../charts/chart1365.xml"/><Relationship Id="rId8" Type="http://schemas.openxmlformats.org/officeDocument/2006/relationships/chart" Target="../charts/chart1366.xml"/><Relationship Id="rId9" Type="http://schemas.openxmlformats.org/officeDocument/2006/relationships/chart" Target="../charts/chart1367.xml"/><Relationship Id="rId10" Type="http://schemas.openxmlformats.org/officeDocument/2006/relationships/notesSlide" Target="../notesSlides/notesSlide1440.xml"/></Relationships>
</file>

<file path=ppt/slides/_rels/slide15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41.xml"/></Relationships>
</file>

<file path=ppt/slides/_rels/slide15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68.xml"/><Relationship Id="rId4" Type="http://schemas.openxmlformats.org/officeDocument/2006/relationships/chart" Target="../charts/chart1369.xml"/><Relationship Id="rId5" Type="http://schemas.openxmlformats.org/officeDocument/2006/relationships/notesSlide" Target="../notesSlides/notesSlide1442.xml"/></Relationships>
</file>

<file path=ppt/slides/_rels/slide15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44.xml"/></Relationships>
</file>

<file path=ppt/slides/_rels/slide15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46.xml"/></Relationships>
</file>

<file path=ppt/slides/_rels/slide15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0.xml"/><Relationship Id="rId4" Type="http://schemas.openxmlformats.org/officeDocument/2006/relationships/chart" Target="../charts/chart1371.xml"/><Relationship Id="rId5" Type="http://schemas.openxmlformats.org/officeDocument/2006/relationships/notesSlide" Target="../notesSlides/notesSlide1447.xml"/></Relationships>
</file>

<file path=ppt/slides/_rels/slide15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48.xml"/></Relationships>
</file>

<file path=ppt/slides/_rels/slide15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49.xml"/></Relationships>
</file>

<file path=ppt/slides/_rels/slide15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2.xml"/><Relationship Id="rId4" Type="http://schemas.openxmlformats.org/officeDocument/2006/relationships/chart" Target="../charts/chart1373.xml"/><Relationship Id="rId5" Type="http://schemas.openxmlformats.org/officeDocument/2006/relationships/notesSlide" Target="../notesSlides/notesSlide1450.xml"/></Relationships>
</file>

<file path=ppt/slides/_rels/slide15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51.xml"/></Relationships>
</file>

<file path=ppt/slides/_rels/slide15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52.xml"/></Relationships>
</file>

<file path=ppt/slides/_rels/slide15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4.xml"/><Relationship Id="rId4" Type="http://schemas.openxmlformats.org/officeDocument/2006/relationships/chart" Target="../charts/chart1375.xml"/><Relationship Id="rId5" Type="http://schemas.openxmlformats.org/officeDocument/2006/relationships/notesSlide" Target="../notesSlides/notesSlide1453.xml"/></Relationships>
</file>

<file path=ppt/slides/_rels/slide15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54.xml"/></Relationships>
</file>

<file path=ppt/slides/_rels/slide15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55.xml"/></Relationships>
</file>

<file path=ppt/slides/_rels/slide15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6.xml"/><Relationship Id="rId4" Type="http://schemas.openxmlformats.org/officeDocument/2006/relationships/chart" Target="../charts/chart1377.xml"/><Relationship Id="rId5" Type="http://schemas.openxmlformats.org/officeDocument/2006/relationships/notesSlide" Target="../notesSlides/notesSlide1456.xml"/></Relationships>
</file>

<file path=ppt/slides/_rels/slide15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57.xml"/></Relationships>
</file>

<file path=ppt/slides/_rels/slide15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58.xml"/></Relationships>
</file>

<file path=ppt/slides/_rels/slide15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8.xml"/><Relationship Id="rId4" Type="http://schemas.openxmlformats.org/officeDocument/2006/relationships/chart" Target="../charts/chart1379.xml"/><Relationship Id="rId5" Type="http://schemas.openxmlformats.org/officeDocument/2006/relationships/notesSlide" Target="../notesSlides/notesSlide1459.xml"/></Relationships>
</file>

<file path=ppt/slides/_rels/slide15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60.xml"/></Relationships>
</file>

<file path=ppt/slides/_rels/slide15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61.xml"/></Relationships>
</file>

<file path=ppt/slides/_rels/slide15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80.xml"/><Relationship Id="rId4" Type="http://schemas.openxmlformats.org/officeDocument/2006/relationships/chart" Target="../charts/chart1381.xml"/><Relationship Id="rId5" Type="http://schemas.openxmlformats.org/officeDocument/2006/relationships/notesSlide" Target="../notesSlides/notesSlide1462.xml"/></Relationships>
</file>

<file path=ppt/slides/_rels/slide15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64.xml"/></Relationships>
</file>

<file path=ppt/slides/_rels/slide15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66.xml"/></Relationships>
</file>

<file path=ppt/slides/_rels/slide15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82.xml"/><Relationship Id="rId4" Type="http://schemas.openxmlformats.org/officeDocument/2006/relationships/chart" Target="../charts/chart1383.xml"/><Relationship Id="rId5" Type="http://schemas.openxmlformats.org/officeDocument/2006/relationships/chart" Target="../charts/chart1384.xml"/><Relationship Id="rId6" Type="http://schemas.openxmlformats.org/officeDocument/2006/relationships/chart" Target="../charts/chart1385.xml"/><Relationship Id="rId7" Type="http://schemas.openxmlformats.org/officeDocument/2006/relationships/notesSlide" Target="../notesSlides/notesSlide1467.xml"/></Relationships>
</file>

<file path=ppt/slides/_rels/slide15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86.xml"/><Relationship Id="rId4" Type="http://schemas.openxmlformats.org/officeDocument/2006/relationships/chart" Target="../charts/chart1387.xml"/><Relationship Id="rId5" Type="http://schemas.openxmlformats.org/officeDocument/2006/relationships/chart" Target="../charts/chart1388.xml"/><Relationship Id="rId6" Type="http://schemas.openxmlformats.org/officeDocument/2006/relationships/chart" Target="../charts/chart1389.xml"/><Relationship Id="rId7" Type="http://schemas.openxmlformats.org/officeDocument/2006/relationships/notesSlide" Target="../notesSlides/notesSlide1468.xml"/></Relationships>
</file>

<file path=ppt/slides/_rels/slide15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90.xml"/><Relationship Id="rId4" Type="http://schemas.openxmlformats.org/officeDocument/2006/relationships/chart" Target="../charts/chart1391.xml"/><Relationship Id="rId5" Type="http://schemas.openxmlformats.org/officeDocument/2006/relationships/chart" Target="../charts/chart1392.xml"/><Relationship Id="rId6" Type="http://schemas.openxmlformats.org/officeDocument/2006/relationships/chart" Target="../charts/chart1393.xml"/><Relationship Id="rId7" Type="http://schemas.openxmlformats.org/officeDocument/2006/relationships/chart" Target="../charts/chart1394.xml"/><Relationship Id="rId8" Type="http://schemas.openxmlformats.org/officeDocument/2006/relationships/chart" Target="../charts/chart1395.xml"/><Relationship Id="rId9" Type="http://schemas.openxmlformats.org/officeDocument/2006/relationships/chart" Target="../charts/chart1396.xml"/><Relationship Id="rId10" Type="http://schemas.openxmlformats.org/officeDocument/2006/relationships/notesSlide" Target="../notesSlides/notesSlide1469.xml"/></Relationships>
</file>

<file path=ppt/slides/_rels/slide16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0.xml"/></Relationships>
</file>

<file path=ppt/slides/_rels/slide16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97.xml"/><Relationship Id="rId4" Type="http://schemas.openxmlformats.org/officeDocument/2006/relationships/chart" Target="../charts/chart1398.xml"/><Relationship Id="rId5" Type="http://schemas.openxmlformats.org/officeDocument/2006/relationships/notesSlide" Target="../notesSlides/notesSlide1471.xml"/></Relationships>
</file>

<file path=ppt/slides/_rels/slide16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3.xml"/></Relationships>
</file>

<file path=ppt/slides/_rels/slide16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5.xml"/></Relationships>
</file>

<file path=ppt/slides/_rels/slide16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99.xml"/><Relationship Id="rId4" Type="http://schemas.openxmlformats.org/officeDocument/2006/relationships/chart" Target="../charts/chart1400.xml"/><Relationship Id="rId5" Type="http://schemas.openxmlformats.org/officeDocument/2006/relationships/notesSlide" Target="../notesSlides/notesSlide1476.xml"/></Relationships>
</file>

<file path=ppt/slides/_rels/slide16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7.xml"/></Relationships>
</file>

<file path=ppt/slides/_rels/slide16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8.xml"/></Relationships>
</file>

<file path=ppt/slides/_rels/slide16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01.xml"/><Relationship Id="rId4" Type="http://schemas.openxmlformats.org/officeDocument/2006/relationships/chart" Target="../charts/chart1402.xml"/><Relationship Id="rId5" Type="http://schemas.openxmlformats.org/officeDocument/2006/relationships/notesSlide" Target="../notesSlides/notesSlide1479.xml"/></Relationships>
</file>

<file path=ppt/slides/_rels/slide16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0.xml"/></Relationships>
</file>

<file path=ppt/slides/_rels/slide16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1.xml"/></Relationships>
</file>

<file path=ppt/slides/_rels/slide16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03.xml"/><Relationship Id="rId4" Type="http://schemas.openxmlformats.org/officeDocument/2006/relationships/chart" Target="../charts/chart1404.xml"/><Relationship Id="rId5" Type="http://schemas.openxmlformats.org/officeDocument/2006/relationships/notesSlide" Target="../notesSlides/notesSlide1482.xml"/></Relationships>
</file>

<file path=ppt/slides/_rels/slide16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3.xml"/></Relationships>
</file>

<file path=ppt/slides/_rels/slide16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4.xml"/></Relationships>
</file>

<file path=ppt/slides/_rels/slide16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05.xml"/><Relationship Id="rId4" Type="http://schemas.openxmlformats.org/officeDocument/2006/relationships/chart" Target="../charts/chart1406.xml"/><Relationship Id="rId5" Type="http://schemas.openxmlformats.org/officeDocument/2006/relationships/notesSlide" Target="../notesSlides/notesSlide1485.xml"/></Relationships>
</file>

<file path=ppt/slides/_rels/slide16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6.xml"/></Relationships>
</file>

<file path=ppt/slides/_rels/slide16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7.xml"/></Relationships>
</file>

<file path=ppt/slides/_rels/slide16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07.xml"/><Relationship Id="rId4" Type="http://schemas.openxmlformats.org/officeDocument/2006/relationships/chart" Target="../charts/chart1408.xml"/><Relationship Id="rId5" Type="http://schemas.openxmlformats.org/officeDocument/2006/relationships/notesSlide" Target="../notesSlides/notesSlide1488.xml"/></Relationships>
</file>

<file path=ppt/slides/_rels/slide16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9.xml"/></Relationships>
</file>

<file path=ppt/slides/_rels/slide16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0.xml"/></Relationships>
</file>

<file path=ppt/slides/_rels/slide16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09.xml"/><Relationship Id="rId4" Type="http://schemas.openxmlformats.org/officeDocument/2006/relationships/chart" Target="../charts/chart1410.xml"/><Relationship Id="rId5" Type="http://schemas.openxmlformats.org/officeDocument/2006/relationships/notesSlide" Target="../notesSlides/notesSlide1491.xml"/></Relationships>
</file>

<file path=ppt/slides/_rels/slide16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3.xml"/></Relationships>
</file>

<file path=ppt/slides/_rels/slide16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5.xml"/></Relationships>
</file>

<file path=ppt/slides/_rels/slide16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11.xml"/><Relationship Id="rId4" Type="http://schemas.openxmlformats.org/officeDocument/2006/relationships/chart" Target="../charts/chart1412.xml"/><Relationship Id="rId5" Type="http://schemas.openxmlformats.org/officeDocument/2006/relationships/chart" Target="../charts/chart1413.xml"/><Relationship Id="rId6" Type="http://schemas.openxmlformats.org/officeDocument/2006/relationships/chart" Target="../charts/chart1414.xml"/><Relationship Id="rId7" Type="http://schemas.openxmlformats.org/officeDocument/2006/relationships/notesSlide" Target="../notesSlides/notesSlide1496.xml"/></Relationships>
</file>

<file path=ppt/slides/_rels/slide16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15.xml"/><Relationship Id="rId4" Type="http://schemas.openxmlformats.org/officeDocument/2006/relationships/chart" Target="../charts/chart1416.xml"/><Relationship Id="rId5" Type="http://schemas.openxmlformats.org/officeDocument/2006/relationships/chart" Target="../charts/chart1417.xml"/><Relationship Id="rId6" Type="http://schemas.openxmlformats.org/officeDocument/2006/relationships/chart" Target="../charts/chart1418.xml"/><Relationship Id="rId7" Type="http://schemas.openxmlformats.org/officeDocument/2006/relationships/notesSlide" Target="../notesSlides/notesSlide1497.xml"/></Relationships>
</file>

<file path=ppt/slides/_rels/slide16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19.xml"/><Relationship Id="rId4" Type="http://schemas.openxmlformats.org/officeDocument/2006/relationships/chart" Target="../charts/chart1420.xml"/><Relationship Id="rId5" Type="http://schemas.openxmlformats.org/officeDocument/2006/relationships/chart" Target="../charts/chart1421.xml"/><Relationship Id="rId6" Type="http://schemas.openxmlformats.org/officeDocument/2006/relationships/chart" Target="../charts/chart1422.xml"/><Relationship Id="rId7" Type="http://schemas.openxmlformats.org/officeDocument/2006/relationships/chart" Target="../charts/chart1423.xml"/><Relationship Id="rId8" Type="http://schemas.openxmlformats.org/officeDocument/2006/relationships/chart" Target="../charts/chart1424.xml"/><Relationship Id="rId9" Type="http://schemas.openxmlformats.org/officeDocument/2006/relationships/chart" Target="../charts/chart1425.xml"/><Relationship Id="rId10" Type="http://schemas.openxmlformats.org/officeDocument/2006/relationships/notesSlide" Target="../notesSlides/notesSlide1498.xml"/></Relationships>
</file>

<file path=ppt/slides/_rels/slide16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9.xml"/></Relationships>
</file>

<file path=ppt/slides/_rels/slide16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26.xml"/><Relationship Id="rId4" Type="http://schemas.openxmlformats.org/officeDocument/2006/relationships/chart" Target="../charts/chart1427.xml"/><Relationship Id="rId5" Type="http://schemas.openxmlformats.org/officeDocument/2006/relationships/notesSlide" Target="../notesSlides/notesSlide1500.xml"/></Relationships>
</file>

<file path=ppt/slides/_rels/slide16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02.xml"/></Relationships>
</file>

<file path=ppt/slides/_rels/slide16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04.xml"/></Relationships>
</file>

<file path=ppt/slides/_rels/slide16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28.xml"/><Relationship Id="rId4" Type="http://schemas.openxmlformats.org/officeDocument/2006/relationships/chart" Target="../charts/chart1429.xml"/><Relationship Id="rId5" Type="http://schemas.openxmlformats.org/officeDocument/2006/relationships/notesSlide" Target="../notesSlides/notesSlide1505.xml"/></Relationships>
</file>

<file path=ppt/slides/_rels/slide16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06.xml"/></Relationships>
</file>

<file path=ppt/slides/_rels/slide16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07.xml"/></Relationships>
</file>

<file path=ppt/slides/_rels/slide16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30.xml"/><Relationship Id="rId4" Type="http://schemas.openxmlformats.org/officeDocument/2006/relationships/chart" Target="../charts/chart1431.xml"/><Relationship Id="rId5" Type="http://schemas.openxmlformats.org/officeDocument/2006/relationships/notesSlide" Target="../notesSlides/notesSlide1508.xml"/></Relationships>
</file>

<file path=ppt/slides/_rels/slide16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09.xml"/></Relationships>
</file>

<file path=ppt/slides/_rels/slide16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0.xml"/></Relationships>
</file>

<file path=ppt/slides/_rels/slide16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32.xml"/><Relationship Id="rId4" Type="http://schemas.openxmlformats.org/officeDocument/2006/relationships/chart" Target="../charts/chart1433.xml"/><Relationship Id="rId5" Type="http://schemas.openxmlformats.org/officeDocument/2006/relationships/notesSlide" Target="../notesSlides/notesSlide1511.xml"/></Relationships>
</file>

<file path=ppt/slides/_rels/slide16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2.xml"/></Relationships>
</file>

<file path=ppt/slides/_rels/slide16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3.xml"/></Relationships>
</file>

<file path=ppt/slides/_rels/slide16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34.xml"/><Relationship Id="rId4" Type="http://schemas.openxmlformats.org/officeDocument/2006/relationships/chart" Target="../charts/chart1435.xml"/><Relationship Id="rId5" Type="http://schemas.openxmlformats.org/officeDocument/2006/relationships/notesSlide" Target="../notesSlides/notesSlide1514.xml"/></Relationships>
</file>

<file path=ppt/slides/_rels/slide16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5.xml"/></Relationships>
</file>

<file path=ppt/slides/_rels/slide16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6.xml"/></Relationships>
</file>

<file path=ppt/slides/_rels/slide16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36.xml"/><Relationship Id="rId4" Type="http://schemas.openxmlformats.org/officeDocument/2006/relationships/chart" Target="../charts/chart1437.xml"/><Relationship Id="rId5" Type="http://schemas.openxmlformats.org/officeDocument/2006/relationships/notesSlide" Target="../notesSlides/notesSlide1517.xml"/></Relationships>
</file>

<file path=ppt/slides/_rels/slide16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8.xml"/></Relationships>
</file>

<file path=ppt/slides/_rels/slide16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9.xml"/></Relationships>
</file>

<file path=ppt/slides/_rels/slide16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38.xml"/><Relationship Id="rId4" Type="http://schemas.openxmlformats.org/officeDocument/2006/relationships/chart" Target="../charts/chart1439.xml"/><Relationship Id="rId5" Type="http://schemas.openxmlformats.org/officeDocument/2006/relationships/notesSlide" Target="../notesSlides/notesSlide1520.xml"/></Relationships>
</file>

<file path=ppt/slides/_rels/slide16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22.xml"/></Relationships>
</file>

<file path=ppt/slides/_rels/slide16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24.xml"/></Relationships>
</file>

<file path=ppt/slides/_rels/slide16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40.xml"/><Relationship Id="rId4" Type="http://schemas.openxmlformats.org/officeDocument/2006/relationships/chart" Target="../charts/chart1441.xml"/><Relationship Id="rId5" Type="http://schemas.openxmlformats.org/officeDocument/2006/relationships/chart" Target="../charts/chart1442.xml"/><Relationship Id="rId6" Type="http://schemas.openxmlformats.org/officeDocument/2006/relationships/chart" Target="../charts/chart1443.xml"/><Relationship Id="rId7" Type="http://schemas.openxmlformats.org/officeDocument/2006/relationships/notesSlide" Target="../notesSlides/notesSlide1525.xml"/></Relationships>
</file>

<file path=ppt/slides/_rels/slide16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44.xml"/><Relationship Id="rId4" Type="http://schemas.openxmlformats.org/officeDocument/2006/relationships/chart" Target="../charts/chart1445.xml"/><Relationship Id="rId5" Type="http://schemas.openxmlformats.org/officeDocument/2006/relationships/chart" Target="../charts/chart1446.xml"/><Relationship Id="rId6" Type="http://schemas.openxmlformats.org/officeDocument/2006/relationships/chart" Target="../charts/chart1447.xml"/><Relationship Id="rId7" Type="http://schemas.openxmlformats.org/officeDocument/2006/relationships/notesSlide" Target="../notesSlides/notesSlide1526.xml"/></Relationships>
</file>

<file path=ppt/slides/_rels/slide16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48.xml"/><Relationship Id="rId4" Type="http://schemas.openxmlformats.org/officeDocument/2006/relationships/chart" Target="../charts/chart1449.xml"/><Relationship Id="rId5" Type="http://schemas.openxmlformats.org/officeDocument/2006/relationships/chart" Target="../charts/chart1450.xml"/><Relationship Id="rId6" Type="http://schemas.openxmlformats.org/officeDocument/2006/relationships/chart" Target="../charts/chart1451.xml"/><Relationship Id="rId7" Type="http://schemas.openxmlformats.org/officeDocument/2006/relationships/chart" Target="../charts/chart1452.xml"/><Relationship Id="rId8" Type="http://schemas.openxmlformats.org/officeDocument/2006/relationships/chart" Target="../charts/chart1453.xml"/><Relationship Id="rId9" Type="http://schemas.openxmlformats.org/officeDocument/2006/relationships/chart" Target="../charts/chart1454.xml"/><Relationship Id="rId10" Type="http://schemas.openxmlformats.org/officeDocument/2006/relationships/notesSlide" Target="../notesSlides/notesSlide1527.xml"/></Relationships>
</file>

<file path=ppt/slides/_rels/slide16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28.xml"/></Relationships>
</file>

<file path=ppt/slides/_rels/slide16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55.xml"/><Relationship Id="rId4" Type="http://schemas.openxmlformats.org/officeDocument/2006/relationships/chart" Target="../charts/chart1456.xml"/><Relationship Id="rId5" Type="http://schemas.openxmlformats.org/officeDocument/2006/relationships/notesSlide" Target="../notesSlides/notesSlide1529.xml"/></Relationships>
</file>

<file path=ppt/slides/_rels/slide16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31.xml"/></Relationships>
</file>

<file path=ppt/slides/_rels/slide16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33.xml"/></Relationships>
</file>

<file path=ppt/slides/_rels/slide16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57.xml"/><Relationship Id="rId4" Type="http://schemas.openxmlformats.org/officeDocument/2006/relationships/chart" Target="../charts/chart1458.xml"/><Relationship Id="rId5" Type="http://schemas.openxmlformats.org/officeDocument/2006/relationships/notesSlide" Target="../notesSlides/notesSlide1534.xml"/></Relationships>
</file>

<file path=ppt/slides/_rels/slide16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35.xml"/></Relationships>
</file>

<file path=ppt/slides/_rels/slide16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36.xml"/></Relationships>
</file>

<file path=ppt/slides/_rels/slide16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59.xml"/><Relationship Id="rId4" Type="http://schemas.openxmlformats.org/officeDocument/2006/relationships/chart" Target="../charts/chart1460.xml"/><Relationship Id="rId5" Type="http://schemas.openxmlformats.org/officeDocument/2006/relationships/notesSlide" Target="../notesSlides/notesSlide1537.xml"/></Relationships>
</file>

<file path=ppt/slides/_rels/slide16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38.xml"/></Relationships>
</file>

<file path=ppt/slides/_rels/slide16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39.xml"/></Relationships>
</file>

<file path=ppt/slides/_rels/slide16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61.xml"/><Relationship Id="rId4" Type="http://schemas.openxmlformats.org/officeDocument/2006/relationships/chart" Target="../charts/chart1462.xml"/><Relationship Id="rId5" Type="http://schemas.openxmlformats.org/officeDocument/2006/relationships/notesSlide" Target="../notesSlides/notesSlide1540.xml"/></Relationships>
</file>

<file path=ppt/slides/_rels/slide16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1.xml"/></Relationships>
</file>

<file path=ppt/slides/_rels/slide16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2.xml"/></Relationships>
</file>

<file path=ppt/slides/_rels/slide16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63.xml"/><Relationship Id="rId4" Type="http://schemas.openxmlformats.org/officeDocument/2006/relationships/chart" Target="../charts/chart1464.xml"/><Relationship Id="rId5" Type="http://schemas.openxmlformats.org/officeDocument/2006/relationships/notesSlide" Target="../notesSlides/notesSlide1543.xml"/></Relationships>
</file>

<file path=ppt/slides/_rels/slide16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4.xml"/></Relationships>
</file>

<file path=ppt/slides/_rels/slide16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5.xml"/></Relationships>
</file>

<file path=ppt/slides/_rels/slide16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65.xml"/><Relationship Id="rId4" Type="http://schemas.openxmlformats.org/officeDocument/2006/relationships/chart" Target="../charts/chart1466.xml"/><Relationship Id="rId5" Type="http://schemas.openxmlformats.org/officeDocument/2006/relationships/notesSlide" Target="../notesSlides/notesSlide1546.xml"/></Relationships>
</file>

<file path=ppt/slides/_rels/slide16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7.xml"/></Relationships>
</file>

<file path=ppt/slides/_rels/slide16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8.xml"/></Relationships>
</file>

<file path=ppt/slides/_rels/slide16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67.xml"/><Relationship Id="rId4" Type="http://schemas.openxmlformats.org/officeDocument/2006/relationships/chart" Target="../charts/chart1468.xml"/><Relationship Id="rId5" Type="http://schemas.openxmlformats.org/officeDocument/2006/relationships/notesSlide" Target="../notesSlides/notesSlide1549.xml"/></Relationships>
</file>

<file path=ppt/slides/_rels/slide16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51.xml"/></Relationships>
</file>

<file path=ppt/slides/_rels/slide16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53.xml"/></Relationships>
</file>

<file path=ppt/slides/_rels/slide16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69.xml"/><Relationship Id="rId4" Type="http://schemas.openxmlformats.org/officeDocument/2006/relationships/chart" Target="../charts/chart1470.xml"/><Relationship Id="rId5" Type="http://schemas.openxmlformats.org/officeDocument/2006/relationships/chart" Target="../charts/chart1471.xml"/><Relationship Id="rId6" Type="http://schemas.openxmlformats.org/officeDocument/2006/relationships/chart" Target="../charts/chart1472.xml"/><Relationship Id="rId7" Type="http://schemas.openxmlformats.org/officeDocument/2006/relationships/notesSlide" Target="../notesSlides/notesSlide1554.xml"/></Relationships>
</file>

<file path=ppt/slides/_rels/slide16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73.xml"/><Relationship Id="rId4" Type="http://schemas.openxmlformats.org/officeDocument/2006/relationships/chart" Target="../charts/chart1474.xml"/><Relationship Id="rId5" Type="http://schemas.openxmlformats.org/officeDocument/2006/relationships/chart" Target="../charts/chart1475.xml"/><Relationship Id="rId6" Type="http://schemas.openxmlformats.org/officeDocument/2006/relationships/chart" Target="../charts/chart1476.xml"/><Relationship Id="rId7" Type="http://schemas.openxmlformats.org/officeDocument/2006/relationships/notesSlide" Target="../notesSlides/notesSlide1555.xml"/></Relationships>
</file>

<file path=ppt/slides/_rels/slide16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77.xml"/><Relationship Id="rId4" Type="http://schemas.openxmlformats.org/officeDocument/2006/relationships/chart" Target="../charts/chart1478.xml"/><Relationship Id="rId5" Type="http://schemas.openxmlformats.org/officeDocument/2006/relationships/chart" Target="../charts/chart1479.xml"/><Relationship Id="rId6" Type="http://schemas.openxmlformats.org/officeDocument/2006/relationships/chart" Target="../charts/chart1480.xml"/><Relationship Id="rId7" Type="http://schemas.openxmlformats.org/officeDocument/2006/relationships/chart" Target="../charts/chart1481.xml"/><Relationship Id="rId8" Type="http://schemas.openxmlformats.org/officeDocument/2006/relationships/chart" Target="../charts/chart1482.xml"/><Relationship Id="rId9" Type="http://schemas.openxmlformats.org/officeDocument/2006/relationships/chart" Target="../charts/chart1483.xml"/><Relationship Id="rId10" Type="http://schemas.openxmlformats.org/officeDocument/2006/relationships/notesSlide" Target="../notesSlides/notesSlide1556.xml"/></Relationships>
</file>

<file path=ppt/slides/_rels/slide16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57.xml"/></Relationships>
</file>

<file path=ppt/slides/_rels/slide16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84.xml"/><Relationship Id="rId4" Type="http://schemas.openxmlformats.org/officeDocument/2006/relationships/chart" Target="../charts/chart1485.xml"/><Relationship Id="rId5" Type="http://schemas.openxmlformats.org/officeDocument/2006/relationships/notesSlide" Target="../notesSlides/notesSlide1558.xml"/></Relationships>
</file>

<file path=ppt/slides/_rels/slide16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60.xml"/></Relationships>
</file>

<file path=ppt/slides/_rels/slide16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62.xml"/></Relationships>
</file>

<file path=ppt/slides/_rels/slide16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86.xml"/><Relationship Id="rId4" Type="http://schemas.openxmlformats.org/officeDocument/2006/relationships/chart" Target="../charts/chart1487.xml"/><Relationship Id="rId5" Type="http://schemas.openxmlformats.org/officeDocument/2006/relationships/notesSlide" Target="../notesSlides/notesSlide1563.xml"/></Relationships>
</file>

<file path=ppt/slides/_rels/slide16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64.xml"/></Relationships>
</file>

<file path=ppt/slides/_rels/slide16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65.xml"/></Relationships>
</file>

<file path=ppt/slides/_rels/slide16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88.xml"/><Relationship Id="rId4" Type="http://schemas.openxmlformats.org/officeDocument/2006/relationships/chart" Target="../charts/chart1489.xml"/><Relationship Id="rId5" Type="http://schemas.openxmlformats.org/officeDocument/2006/relationships/notesSlide" Target="../notesSlides/notesSlide1566.xml"/></Relationships>
</file>

<file path=ppt/slides/_rels/slide17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67.xml"/></Relationships>
</file>

<file path=ppt/slides/_rels/slide17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68.xml"/></Relationships>
</file>

<file path=ppt/slides/_rels/slide17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90.xml"/><Relationship Id="rId4" Type="http://schemas.openxmlformats.org/officeDocument/2006/relationships/chart" Target="../charts/chart1491.xml"/><Relationship Id="rId5" Type="http://schemas.openxmlformats.org/officeDocument/2006/relationships/notesSlide" Target="../notesSlides/notesSlide1569.xml"/></Relationships>
</file>

<file path=ppt/slides/_rels/slide17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70.xml"/></Relationships>
</file>

<file path=ppt/slides/_rels/slide17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71.xml"/></Relationships>
</file>

<file path=ppt/slides/_rels/slide17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92.xml"/><Relationship Id="rId4" Type="http://schemas.openxmlformats.org/officeDocument/2006/relationships/chart" Target="../charts/chart1493.xml"/><Relationship Id="rId5" Type="http://schemas.openxmlformats.org/officeDocument/2006/relationships/notesSlide" Target="../notesSlides/notesSlide1572.xml"/></Relationships>
</file>

<file path=ppt/slides/_rels/slide17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73.xml"/></Relationships>
</file>

<file path=ppt/slides/_rels/slide17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74.xml"/></Relationships>
</file>

<file path=ppt/slides/_rels/slide17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94.xml"/><Relationship Id="rId4" Type="http://schemas.openxmlformats.org/officeDocument/2006/relationships/chart" Target="../charts/chart1495.xml"/><Relationship Id="rId5" Type="http://schemas.openxmlformats.org/officeDocument/2006/relationships/notesSlide" Target="../notesSlides/notesSlide1575.xml"/></Relationships>
</file>

<file path=ppt/slides/_rels/slide17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76.xml"/></Relationships>
</file>

<file path=ppt/slides/_rels/slide17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77.xml"/></Relationships>
</file>

<file path=ppt/slides/_rels/slide17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96.xml"/><Relationship Id="rId4" Type="http://schemas.openxmlformats.org/officeDocument/2006/relationships/chart" Target="../charts/chart1497.xml"/><Relationship Id="rId5" Type="http://schemas.openxmlformats.org/officeDocument/2006/relationships/notesSlide" Target="../notesSlides/notesSlide1578.xml"/></Relationships>
</file>

<file path=ppt/slides/_rels/slide17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80.xml"/></Relationships>
</file>

<file path=ppt/slides/_rels/slide17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82.xml"/></Relationships>
</file>

<file path=ppt/slides/_rels/slide17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98.xml"/><Relationship Id="rId4" Type="http://schemas.openxmlformats.org/officeDocument/2006/relationships/chart" Target="../charts/chart1499.xml"/><Relationship Id="rId5" Type="http://schemas.openxmlformats.org/officeDocument/2006/relationships/chart" Target="../charts/chart1500.xml"/><Relationship Id="rId6" Type="http://schemas.openxmlformats.org/officeDocument/2006/relationships/chart" Target="../charts/chart1501.xml"/><Relationship Id="rId7" Type="http://schemas.openxmlformats.org/officeDocument/2006/relationships/notesSlide" Target="../notesSlides/notesSlide1583.xml"/></Relationships>
</file>

<file path=ppt/slides/_rels/slide17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02.xml"/><Relationship Id="rId4" Type="http://schemas.openxmlformats.org/officeDocument/2006/relationships/chart" Target="../charts/chart1503.xml"/><Relationship Id="rId5" Type="http://schemas.openxmlformats.org/officeDocument/2006/relationships/chart" Target="../charts/chart1504.xml"/><Relationship Id="rId6" Type="http://schemas.openxmlformats.org/officeDocument/2006/relationships/chart" Target="../charts/chart1505.xml"/><Relationship Id="rId7" Type="http://schemas.openxmlformats.org/officeDocument/2006/relationships/notesSlide" Target="../notesSlides/notesSlide1584.xml"/></Relationships>
</file>

<file path=ppt/slides/_rels/slide17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06.xml"/><Relationship Id="rId4" Type="http://schemas.openxmlformats.org/officeDocument/2006/relationships/chart" Target="../charts/chart1507.xml"/><Relationship Id="rId5" Type="http://schemas.openxmlformats.org/officeDocument/2006/relationships/chart" Target="../charts/chart1508.xml"/><Relationship Id="rId6" Type="http://schemas.openxmlformats.org/officeDocument/2006/relationships/chart" Target="../charts/chart1509.xml"/><Relationship Id="rId7" Type="http://schemas.openxmlformats.org/officeDocument/2006/relationships/chart" Target="../charts/chart1510.xml"/><Relationship Id="rId8" Type="http://schemas.openxmlformats.org/officeDocument/2006/relationships/chart" Target="../charts/chart1511.xml"/><Relationship Id="rId9" Type="http://schemas.openxmlformats.org/officeDocument/2006/relationships/chart" Target="../charts/chart1512.xml"/><Relationship Id="rId10" Type="http://schemas.openxmlformats.org/officeDocument/2006/relationships/notesSlide" Target="../notesSlides/notesSlide1585.xml"/></Relationships>
</file>

<file path=ppt/slides/_rels/slide17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86.xml"/></Relationships>
</file>

<file path=ppt/slides/_rels/slide17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13.xml"/><Relationship Id="rId4" Type="http://schemas.openxmlformats.org/officeDocument/2006/relationships/chart" Target="../charts/chart1514.xml"/><Relationship Id="rId5" Type="http://schemas.openxmlformats.org/officeDocument/2006/relationships/notesSlide" Target="../notesSlides/notesSlide1587.xml"/></Relationships>
</file>

<file path=ppt/slides/_rels/slide17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89.xml"/></Relationships>
</file>

<file path=ppt/slides/_rels/slide17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91.xml"/></Relationships>
</file>

<file path=ppt/slides/_rels/slide17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15.xml"/><Relationship Id="rId4" Type="http://schemas.openxmlformats.org/officeDocument/2006/relationships/chart" Target="../charts/chart1516.xml"/><Relationship Id="rId5" Type="http://schemas.openxmlformats.org/officeDocument/2006/relationships/notesSlide" Target="../notesSlides/notesSlide1592.xml"/></Relationships>
</file>

<file path=ppt/slides/_rels/slide17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93.xml"/></Relationships>
</file>

<file path=ppt/slides/_rels/slide17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94.xml"/></Relationships>
</file>

<file path=ppt/slides/_rels/slide17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17.xml"/><Relationship Id="rId4" Type="http://schemas.openxmlformats.org/officeDocument/2006/relationships/chart" Target="../charts/chart1518.xml"/><Relationship Id="rId5" Type="http://schemas.openxmlformats.org/officeDocument/2006/relationships/notesSlide" Target="../notesSlides/notesSlide1595.xml"/></Relationships>
</file>

<file path=ppt/slides/_rels/slide17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96.xml"/></Relationships>
</file>

<file path=ppt/slides/_rels/slide17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97.xml"/></Relationships>
</file>

<file path=ppt/slides/_rels/slide17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19.xml"/><Relationship Id="rId4" Type="http://schemas.openxmlformats.org/officeDocument/2006/relationships/chart" Target="../charts/chart1520.xml"/><Relationship Id="rId5" Type="http://schemas.openxmlformats.org/officeDocument/2006/relationships/notesSlide" Target="../notesSlides/notesSlide1598.xml"/></Relationships>
</file>

<file path=ppt/slides/_rels/slide17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99.xml"/></Relationships>
</file>

<file path=ppt/slides/_rels/slide17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0.xml"/></Relationships>
</file>

<file path=ppt/slides/_rels/slide17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21.xml"/><Relationship Id="rId4" Type="http://schemas.openxmlformats.org/officeDocument/2006/relationships/chart" Target="../charts/chart1522.xml"/><Relationship Id="rId5" Type="http://schemas.openxmlformats.org/officeDocument/2006/relationships/notesSlide" Target="../notesSlides/notesSlide1601.xml"/></Relationships>
</file>

<file path=ppt/slides/_rels/slide17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2.xml"/></Relationships>
</file>

<file path=ppt/slides/_rels/slide17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3.xml"/></Relationships>
</file>

<file path=ppt/slides/_rels/slide17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23.xml"/><Relationship Id="rId4" Type="http://schemas.openxmlformats.org/officeDocument/2006/relationships/chart" Target="../charts/chart1524.xml"/><Relationship Id="rId5" Type="http://schemas.openxmlformats.org/officeDocument/2006/relationships/notesSlide" Target="../notesSlides/notesSlide1604.xml"/></Relationships>
</file>

<file path=ppt/slides/_rels/slide17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5.xml"/></Relationships>
</file>

<file path=ppt/slides/_rels/slide17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6.xml"/></Relationships>
</file>

<file path=ppt/slides/_rels/slide17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25.xml"/><Relationship Id="rId4" Type="http://schemas.openxmlformats.org/officeDocument/2006/relationships/chart" Target="../charts/chart1526.xml"/><Relationship Id="rId5" Type="http://schemas.openxmlformats.org/officeDocument/2006/relationships/notesSlide" Target="../notesSlides/notesSlide1607.xml"/></Relationships>
</file>

<file path=ppt/slides/_rels/slide17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9.xml"/></Relationships>
</file>

<file path=ppt/slides/_rels/slide17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1.xml"/></Relationships>
</file>

<file path=ppt/slides/_rels/slide17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27.xml"/><Relationship Id="rId4" Type="http://schemas.openxmlformats.org/officeDocument/2006/relationships/chart" Target="../charts/chart1528.xml"/><Relationship Id="rId5" Type="http://schemas.openxmlformats.org/officeDocument/2006/relationships/chart" Target="../charts/chart1529.xml"/><Relationship Id="rId6" Type="http://schemas.openxmlformats.org/officeDocument/2006/relationships/chart" Target="../charts/chart1530.xml"/><Relationship Id="rId7" Type="http://schemas.openxmlformats.org/officeDocument/2006/relationships/notesSlide" Target="../notesSlides/notesSlide1612.xml"/></Relationships>
</file>

<file path=ppt/slides/_rels/slide17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31.xml"/><Relationship Id="rId4" Type="http://schemas.openxmlformats.org/officeDocument/2006/relationships/chart" Target="../charts/chart1532.xml"/><Relationship Id="rId5" Type="http://schemas.openxmlformats.org/officeDocument/2006/relationships/chart" Target="../charts/chart1533.xml"/><Relationship Id="rId6" Type="http://schemas.openxmlformats.org/officeDocument/2006/relationships/chart" Target="../charts/chart1534.xml"/><Relationship Id="rId7" Type="http://schemas.openxmlformats.org/officeDocument/2006/relationships/notesSlide" Target="../notesSlides/notesSlide1613.xml"/></Relationships>
</file>

<file path=ppt/slides/_rels/slide17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35.xml"/><Relationship Id="rId4" Type="http://schemas.openxmlformats.org/officeDocument/2006/relationships/chart" Target="../charts/chart1536.xml"/><Relationship Id="rId5" Type="http://schemas.openxmlformats.org/officeDocument/2006/relationships/chart" Target="../charts/chart1537.xml"/><Relationship Id="rId6" Type="http://schemas.openxmlformats.org/officeDocument/2006/relationships/chart" Target="../charts/chart1538.xml"/><Relationship Id="rId7" Type="http://schemas.openxmlformats.org/officeDocument/2006/relationships/chart" Target="../charts/chart1539.xml"/><Relationship Id="rId8" Type="http://schemas.openxmlformats.org/officeDocument/2006/relationships/chart" Target="../charts/chart1540.xml"/><Relationship Id="rId9" Type="http://schemas.openxmlformats.org/officeDocument/2006/relationships/chart" Target="../charts/chart1541.xml"/><Relationship Id="rId10" Type="http://schemas.openxmlformats.org/officeDocument/2006/relationships/notesSlide" Target="../notesSlides/notesSlide1614.xml"/></Relationships>
</file>

<file path=ppt/slides/_rels/slide17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5.xml"/></Relationships>
</file>

<file path=ppt/slides/_rels/slide17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42.xml"/><Relationship Id="rId4" Type="http://schemas.openxmlformats.org/officeDocument/2006/relationships/chart" Target="../charts/chart1543.xml"/><Relationship Id="rId5" Type="http://schemas.openxmlformats.org/officeDocument/2006/relationships/notesSlide" Target="../notesSlides/notesSlide1616.xml"/></Relationships>
</file>

<file path=ppt/slides/_rels/slide17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8.xml"/></Relationships>
</file>

<file path=ppt/slides/_rels/slide17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0.xml"/></Relationships>
</file>

<file path=ppt/slides/_rels/slide17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44.xml"/><Relationship Id="rId4" Type="http://schemas.openxmlformats.org/officeDocument/2006/relationships/chart" Target="../charts/chart1545.xml"/><Relationship Id="rId5" Type="http://schemas.openxmlformats.org/officeDocument/2006/relationships/notesSlide" Target="../notesSlides/notesSlide1621.xml"/></Relationships>
</file>

<file path=ppt/slides/_rels/slide17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2.xml"/></Relationships>
</file>

<file path=ppt/slides/_rels/slide17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3.xml"/></Relationships>
</file>

<file path=ppt/slides/_rels/slide17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46.xml"/><Relationship Id="rId4" Type="http://schemas.openxmlformats.org/officeDocument/2006/relationships/chart" Target="../charts/chart1547.xml"/><Relationship Id="rId5" Type="http://schemas.openxmlformats.org/officeDocument/2006/relationships/notesSlide" Target="../notesSlides/notesSlide1624.xml"/></Relationships>
</file>

<file path=ppt/slides/_rels/slide17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5.xml"/></Relationships>
</file>

<file path=ppt/slides/_rels/slide17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6.xml"/></Relationships>
</file>

<file path=ppt/slides/_rels/slide17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48.xml"/><Relationship Id="rId4" Type="http://schemas.openxmlformats.org/officeDocument/2006/relationships/chart" Target="../charts/chart1549.xml"/><Relationship Id="rId5" Type="http://schemas.openxmlformats.org/officeDocument/2006/relationships/notesSlide" Target="../notesSlides/notesSlide1627.xml"/></Relationships>
</file>

<file path=ppt/slides/_rels/slide17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8.xml"/></Relationships>
</file>

<file path=ppt/slides/_rels/slide17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9.xml"/></Relationships>
</file>

<file path=ppt/slides/_rels/slide17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50.xml"/><Relationship Id="rId4" Type="http://schemas.openxmlformats.org/officeDocument/2006/relationships/chart" Target="../charts/chart1551.xml"/><Relationship Id="rId5" Type="http://schemas.openxmlformats.org/officeDocument/2006/relationships/notesSlide" Target="../notesSlides/notesSlide1630.xml"/></Relationships>
</file>

<file path=ppt/slides/_rels/slide17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31.xml"/></Relationships>
</file>

<file path=ppt/slides/_rels/slide17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32.xml"/></Relationships>
</file>

<file path=ppt/slides/_rels/slide17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52.xml"/><Relationship Id="rId4" Type="http://schemas.openxmlformats.org/officeDocument/2006/relationships/chart" Target="../charts/chart1553.xml"/><Relationship Id="rId5" Type="http://schemas.openxmlformats.org/officeDocument/2006/relationships/notesSlide" Target="../notesSlides/notesSlide1633.xml"/></Relationships>
</file>

<file path=ppt/slides/_rels/slide17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34.xml"/></Relationships>
</file>

<file path=ppt/slides/_rels/slide17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35.xml"/></Relationships>
</file>

<file path=ppt/slides/_rels/slide17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54.xml"/><Relationship Id="rId4" Type="http://schemas.openxmlformats.org/officeDocument/2006/relationships/chart" Target="../charts/chart1555.xml"/><Relationship Id="rId5" Type="http://schemas.openxmlformats.org/officeDocument/2006/relationships/notesSlide" Target="../notesSlides/notesSlide1636.xml"/></Relationships>
</file>

<file path=ppt/slides/_rels/slide17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38.xml"/></Relationships>
</file>

<file path=ppt/slides/_rels/slide17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40.xml"/></Relationships>
</file>

<file path=ppt/slides/_rels/slide17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56.xml"/><Relationship Id="rId4" Type="http://schemas.openxmlformats.org/officeDocument/2006/relationships/chart" Target="../charts/chart1557.xml"/><Relationship Id="rId5" Type="http://schemas.openxmlformats.org/officeDocument/2006/relationships/chart" Target="../charts/chart1558.xml"/><Relationship Id="rId6" Type="http://schemas.openxmlformats.org/officeDocument/2006/relationships/chart" Target="../charts/chart1559.xml"/><Relationship Id="rId7" Type="http://schemas.openxmlformats.org/officeDocument/2006/relationships/notesSlide" Target="../notesSlides/notesSlide1641.xml"/></Relationships>
</file>

<file path=ppt/slides/_rels/slide17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60.xml"/><Relationship Id="rId4" Type="http://schemas.openxmlformats.org/officeDocument/2006/relationships/chart" Target="../charts/chart1561.xml"/><Relationship Id="rId5" Type="http://schemas.openxmlformats.org/officeDocument/2006/relationships/chart" Target="../charts/chart1562.xml"/><Relationship Id="rId6" Type="http://schemas.openxmlformats.org/officeDocument/2006/relationships/chart" Target="../charts/chart1563.xml"/><Relationship Id="rId7" Type="http://schemas.openxmlformats.org/officeDocument/2006/relationships/notesSlide" Target="../notesSlides/notesSlide1642.xml"/></Relationships>
</file>

<file path=ppt/slides/_rels/slide17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64.xml"/><Relationship Id="rId4" Type="http://schemas.openxmlformats.org/officeDocument/2006/relationships/chart" Target="../charts/chart1565.xml"/><Relationship Id="rId5" Type="http://schemas.openxmlformats.org/officeDocument/2006/relationships/chart" Target="../charts/chart1566.xml"/><Relationship Id="rId6" Type="http://schemas.openxmlformats.org/officeDocument/2006/relationships/chart" Target="../charts/chart1567.xml"/><Relationship Id="rId7" Type="http://schemas.openxmlformats.org/officeDocument/2006/relationships/chart" Target="../charts/chart1568.xml"/><Relationship Id="rId8" Type="http://schemas.openxmlformats.org/officeDocument/2006/relationships/chart" Target="../charts/chart1569.xml"/><Relationship Id="rId9" Type="http://schemas.openxmlformats.org/officeDocument/2006/relationships/chart" Target="../charts/chart1570.xml"/><Relationship Id="rId10" Type="http://schemas.openxmlformats.org/officeDocument/2006/relationships/notesSlide" Target="../notesSlides/notesSlide1643.xml"/></Relationships>
</file>

<file path=ppt/slides/_rels/slide17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44.xml"/></Relationships>
</file>

<file path=ppt/slides/_rels/slide17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1.xml"/><Relationship Id="rId4" Type="http://schemas.openxmlformats.org/officeDocument/2006/relationships/chart" Target="../charts/chart1572.xml"/><Relationship Id="rId5" Type="http://schemas.openxmlformats.org/officeDocument/2006/relationships/notesSlide" Target="../notesSlides/notesSlide1645.xml"/></Relationships>
</file>

<file path=ppt/slides/_rels/slide17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47.xml"/></Relationships>
</file>

<file path=ppt/slides/_rels/slide17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49.xml"/></Relationships>
</file>

<file path=ppt/slides/_rels/slide17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3.xml"/><Relationship Id="rId4" Type="http://schemas.openxmlformats.org/officeDocument/2006/relationships/chart" Target="../charts/chart1574.xml"/><Relationship Id="rId5" Type="http://schemas.openxmlformats.org/officeDocument/2006/relationships/notesSlide" Target="../notesSlides/notesSlide1650.xml"/></Relationships>
</file>

<file path=ppt/slides/_rels/slide17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1.xml"/></Relationships>
</file>

<file path=ppt/slides/_rels/slide17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2.xml"/></Relationships>
</file>

<file path=ppt/slides/_rels/slide17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5.xml"/><Relationship Id="rId4" Type="http://schemas.openxmlformats.org/officeDocument/2006/relationships/chart" Target="../charts/chart1576.xml"/><Relationship Id="rId5" Type="http://schemas.openxmlformats.org/officeDocument/2006/relationships/notesSlide" Target="../notesSlides/notesSlide1653.xml"/></Relationships>
</file>

<file path=ppt/slides/_rels/slide17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4.xml"/></Relationships>
</file>

<file path=ppt/slides/_rels/slide17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5.xml"/></Relationships>
</file>

<file path=ppt/slides/_rels/slide17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7.xml"/><Relationship Id="rId4" Type="http://schemas.openxmlformats.org/officeDocument/2006/relationships/chart" Target="../charts/chart1578.xml"/><Relationship Id="rId5" Type="http://schemas.openxmlformats.org/officeDocument/2006/relationships/notesSlide" Target="../notesSlides/notesSlide1656.xml"/></Relationships>
</file>

<file path=ppt/slides/_rels/slide17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7.xml"/></Relationships>
</file>

<file path=ppt/slides/_rels/slide17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8.xml"/></Relationships>
</file>

<file path=ppt/slides/_rels/slide17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9.xml"/><Relationship Id="rId4" Type="http://schemas.openxmlformats.org/officeDocument/2006/relationships/chart" Target="../charts/chart1580.xml"/><Relationship Id="rId5" Type="http://schemas.openxmlformats.org/officeDocument/2006/relationships/notesSlide" Target="../notesSlides/notesSlide1659.xml"/></Relationships>
</file>

<file path=ppt/slides/_rels/slide17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0.xml"/></Relationships>
</file>

<file path=ppt/slides/_rels/slide17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1.xml"/></Relationships>
</file>

<file path=ppt/slides/_rels/slide17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81.xml"/><Relationship Id="rId4" Type="http://schemas.openxmlformats.org/officeDocument/2006/relationships/chart" Target="../charts/chart1582.xml"/><Relationship Id="rId5" Type="http://schemas.openxmlformats.org/officeDocument/2006/relationships/notesSlide" Target="../notesSlides/notesSlide1662.xml"/></Relationships>
</file>

<file path=ppt/slides/_rels/slide17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3.xml"/></Relationships>
</file>

<file path=ppt/slides/_rels/slide18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4.xml"/></Relationships>
</file>

<file path=ppt/slides/_rels/slide18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83.xml"/><Relationship Id="rId4" Type="http://schemas.openxmlformats.org/officeDocument/2006/relationships/chart" Target="../charts/chart1584.xml"/><Relationship Id="rId5" Type="http://schemas.openxmlformats.org/officeDocument/2006/relationships/notesSlide" Target="../notesSlides/notesSlide1665.xml"/></Relationships>
</file>

<file path=ppt/slides/_rels/slide18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7.xml"/></Relationships>
</file>

<file path=ppt/slides/_rels/slide18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9.xml"/></Relationships>
</file>

<file path=ppt/slides/_rels/slide18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0.xml"/></Relationships>
</file>

<file path=ppt/slides/_rels/slide18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1.xml"/></Relationships>
</file>

<file path=ppt/slides/_rels/slide18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85.xml"/><Relationship Id="rId4" Type="http://schemas.openxmlformats.org/officeDocument/2006/relationships/chart" Target="../charts/chart1586.xml"/><Relationship Id="rId5" Type="http://schemas.openxmlformats.org/officeDocument/2006/relationships/notesSlide" Target="../notesSlides/notesSlide1672.xml"/></Relationships>
</file>

<file path=ppt/slides/_rels/slide18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87.xml"/><Relationship Id="rId4" Type="http://schemas.openxmlformats.org/officeDocument/2006/relationships/notesSlide" Target="../notesSlides/notesSlide1673.xml"/></Relationships>
</file>

<file path=ppt/slides/_rels/slide18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4.xml"/></Relationships>
</file>

<file path=ppt/slides/_rels/slide18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5.xml"/></Relationships>
</file>

<file path=ppt/slides/_rels/slide18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6.xml"/></Relationships>
</file>

<file path=ppt/slides/_rels/slide18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7.xml"/></Relationships>
</file>

<file path=ppt/slides/_rels/slide18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8.xml"/></Relationships>
</file>

<file path=ppt/slides/_rels/slide18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9.xml"/></Relationships>
</file>

<file path=ppt/slides/_rels/slide18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0.xml"/></Relationships>
</file>

<file path=ppt/slides/_rels/slide18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1.xml"/></Relationships>
</file>

<file path=ppt/slides/_rels/slide18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2.xml"/></Relationships>
</file>

<file path=ppt/slides/_rels/slide18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3.xml"/></Relationships>
</file>

<file path=ppt/slides/_rels/slide18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4.xml"/></Relationships>
</file>

<file path=ppt/slides/_rels/slide18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5.xml"/></Relationships>
</file>

<file path=ppt/slides/_rels/slide18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6.xml"/></Relationships>
</file>

<file path=ppt/slides/_rels/slide18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7.xml"/></Relationships>
</file>

<file path=ppt/slides/_rels/slide18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8.xml"/></Relationships>
</file>

<file path=ppt/slides/_rels/slide18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9.xml"/></Relationships>
</file>

<file path=ppt/slides/_rels/slide18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0.xml"/></Relationships>
</file>

<file path=ppt/slides/_rels/slide18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1.xml"/></Relationships>
</file>

<file path=ppt/slides/_rels/slide18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2.xml"/></Relationships>
</file>

<file path=ppt/slides/_rels/slide18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3.xml"/></Relationships>
</file>

<file path=ppt/slides/_rels/slide18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4.xml"/></Relationships>
</file>

<file path=ppt/slides/_rels/slide18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5.xml"/></Relationships>
</file>

<file path=ppt/slides/_rels/slide18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6.xml"/></Relationships>
</file>

<file path=ppt/slides/_rels/slide18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7.xml"/></Relationships>
</file>

<file path=ppt/slides/_rels/slide18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8.xml"/></Relationships>
</file>

<file path=ppt/slides/_rels/slide18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9.xml"/></Relationships>
</file>

<file path=ppt/slides/_rels/slide18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0.xml"/></Relationships>
</file>

<file path=ppt/slides/_rels/slide18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1.xml"/></Relationships>
</file>

<file path=ppt/slides/_rels/slide18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2.xml"/></Relationships>
</file>

<file path=ppt/slides/_rels/slide18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3.xml"/></Relationships>
</file>

<file path=ppt/slides/_rels/slide18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4.xml"/></Relationships>
</file>

<file path=ppt/slides/_rels/slide18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5.xml"/></Relationships>
</file>

<file path=ppt/slides/_rels/slide18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6.xml"/></Relationships>
</file>

<file path=ppt/slides/_rels/slide18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7.xml"/></Relationships>
</file>

<file path=ppt/slides/_rels/slide18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8.xml"/></Relationships>
</file>

<file path=ppt/slides/_rels/slide18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88.xml"/><Relationship Id="rId4" Type="http://schemas.openxmlformats.org/officeDocument/2006/relationships/notesSlide" Target="../notesSlides/notesSlide1709.xml"/></Relationships>
</file>

<file path=ppt/slides/_rels/slide18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89.xml"/><Relationship Id="rId4" Type="http://schemas.openxmlformats.org/officeDocument/2006/relationships/chart" Target="../charts/chart1590.xml"/><Relationship Id="rId5" Type="http://schemas.openxmlformats.org/officeDocument/2006/relationships/chart" Target="../charts/chart1591.xml"/><Relationship Id="rId6" Type="http://schemas.openxmlformats.org/officeDocument/2006/relationships/notesSlide" Target="../notesSlides/notesSlide1710.xml"/></Relationships>
</file>

<file path=ppt/slides/_rels/slide18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92.xml"/><Relationship Id="rId4" Type="http://schemas.openxmlformats.org/officeDocument/2006/relationships/chart" Target="../charts/chart1593.xml"/><Relationship Id="rId5" Type="http://schemas.openxmlformats.org/officeDocument/2006/relationships/chart" Target="../charts/chart1594.xml"/><Relationship Id="rId6" Type="http://schemas.openxmlformats.org/officeDocument/2006/relationships/notesSlide" Target="../notesSlides/notesSlide1711.xml"/></Relationships>
</file>

<file path=ppt/slides/_rels/slide18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12.xml"/></Relationships>
</file>

<file path=ppt/slides/_rels/slide18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95.xml"/><Relationship Id="rId4" Type="http://schemas.openxmlformats.org/officeDocument/2006/relationships/chart" Target="../charts/chart1596.xml"/><Relationship Id="rId5" Type="http://schemas.openxmlformats.org/officeDocument/2006/relationships/chart" Target="../charts/chart1597.xml"/><Relationship Id="rId6" Type="http://schemas.openxmlformats.org/officeDocument/2006/relationships/notesSlide" Target="../notesSlides/notesSlide1713.xml"/></Relationships>
</file>

<file path=ppt/slides/_rels/slide18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98.xml"/><Relationship Id="rId4" Type="http://schemas.openxmlformats.org/officeDocument/2006/relationships/notesSlide" Target="../notesSlides/notesSlide1714.xml"/></Relationships>
</file>

<file path=ppt/slides/_rels/slide18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15.xml"/></Relationships>
</file>

<file path=ppt/slides/_rels/slide18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16.xml"/></Relationships>
</file>

<file path=ppt/slides/_rels/slide18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17.xml"/></Relationships>
</file>

<file path=ppt/slides/_rels/slide18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99.xml"/><Relationship Id="rId4" Type="http://schemas.openxmlformats.org/officeDocument/2006/relationships/chart" Target="../charts/chart1600.xml"/><Relationship Id="rId5" Type="http://schemas.openxmlformats.org/officeDocument/2006/relationships/chart" Target="../charts/chart1601.xml"/><Relationship Id="rId6" Type="http://schemas.openxmlformats.org/officeDocument/2006/relationships/notesSlide" Target="../notesSlides/notesSlide1718.xml"/></Relationships>
</file>

<file path=ppt/slides/_rels/slide18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02.xml"/><Relationship Id="rId4" Type="http://schemas.openxmlformats.org/officeDocument/2006/relationships/notesSlide" Target="../notesSlides/notesSlide1719.xml"/></Relationships>
</file>

<file path=ppt/slides/_rels/slide18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0.xml"/></Relationships>
</file>

<file path=ppt/slides/_rels/slide18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1.xml"/></Relationships>
</file>

<file path=ppt/slides/_rels/slide18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2.xml"/></Relationships>
</file>

<file path=ppt/slides/_rels/slide18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03.xml"/><Relationship Id="rId4" Type="http://schemas.openxmlformats.org/officeDocument/2006/relationships/chart" Target="../charts/chart1604.xml"/><Relationship Id="rId5" Type="http://schemas.openxmlformats.org/officeDocument/2006/relationships/chart" Target="../charts/chart1605.xml"/><Relationship Id="rId6" Type="http://schemas.openxmlformats.org/officeDocument/2006/relationships/notesSlide" Target="../notesSlides/notesSlide1723.xml"/></Relationships>
</file>

<file path=ppt/slides/_rels/slide18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06.xml"/><Relationship Id="rId4" Type="http://schemas.openxmlformats.org/officeDocument/2006/relationships/notesSlide" Target="../notesSlides/notesSlide1724.xml"/></Relationships>
</file>

<file path=ppt/slides/_rels/slide18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5.xml"/></Relationships>
</file>

<file path=ppt/slides/_rels/slide18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6.xml"/></Relationships>
</file>

<file path=ppt/slides/_rels/slide18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7.xml"/></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8F8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Oval 2"/>
          <p:cNvSpPr/>
          <p:nvPr/>
        </p:nvSpPr>
        <p:spPr>
          <a:xfrm>
            <a:off x="-1905000" y="4476750"/>
            <a:ext cx="5334000" cy="5334000"/>
          </a:xfrm>
          <a:prstGeom prst="ellipse">
            <a:avLst/>
          </a:prstGeom>
          <a:solidFill>
            <a:srgbClr val="EAF6FB">
              <a:alpha val="4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Oval 3"/>
          <p:cNvSpPr/>
          <p:nvPr/>
        </p:nvSpPr>
        <p:spPr>
          <a:xfrm>
            <a:off x="8001000" y="-2000250"/>
            <a:ext cx="5334000" cy="533400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Oval 4"/>
          <p:cNvSpPr/>
          <p:nvPr/>
        </p:nvSpPr>
        <p:spPr>
          <a:xfrm>
            <a:off x="8715375" y="-1285875"/>
            <a:ext cx="3905250" cy="39052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Oval 5"/>
          <p:cNvSpPr/>
          <p:nvPr/>
        </p:nvSpPr>
        <p:spPr>
          <a:xfrm>
            <a:off x="9382125" y="-619125"/>
            <a:ext cx="2571750" cy="25717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Oval 6"/>
          <p:cNvSpPr/>
          <p:nvPr/>
        </p:nvSpPr>
        <p:spPr>
          <a:xfrm>
            <a:off x="10096500" y="95250"/>
            <a:ext cx="1143000" cy="1143000"/>
          </a:xfrm>
          <a:prstGeom prst="ellipse">
            <a:avLst/>
          </a:prstGeom>
          <a:solidFill>
            <a:srgbClr val="EAF6FB">
              <a:alpha val="22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 name="Rounded Rectangle 7"/>
          <p:cNvSpPr/>
          <p:nvPr/>
        </p:nvSpPr>
        <p:spPr>
          <a:xfrm>
            <a:off x="9010650" y="5848350"/>
            <a:ext cx="228600" cy="2476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 name="Rounded Rectangle 8"/>
          <p:cNvSpPr/>
          <p:nvPr/>
        </p:nvSpPr>
        <p:spPr>
          <a:xfrm>
            <a:off x="9391650" y="5676900"/>
            <a:ext cx="228600" cy="4191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 name="Rounded Rectangle 9"/>
          <p:cNvSpPr/>
          <p:nvPr/>
        </p:nvSpPr>
        <p:spPr>
          <a:xfrm>
            <a:off x="9772650" y="5772150"/>
            <a:ext cx="228600" cy="3238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ounded Rectangle 10"/>
          <p:cNvSpPr/>
          <p:nvPr/>
        </p:nvSpPr>
        <p:spPr>
          <a:xfrm>
            <a:off x="10153650" y="5524500"/>
            <a:ext cx="228600" cy="5715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ounded Rectangle 11"/>
          <p:cNvSpPr/>
          <p:nvPr/>
        </p:nvSpPr>
        <p:spPr>
          <a:xfrm>
            <a:off x="10534650" y="5314950"/>
            <a:ext cx="228600" cy="7810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ounded Rectangle 12"/>
          <p:cNvSpPr/>
          <p:nvPr/>
        </p:nvSpPr>
        <p:spPr>
          <a:xfrm>
            <a:off x="10915650" y="5600700"/>
            <a:ext cx="228600" cy="4953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ounded Rectangle 13"/>
          <p:cNvSpPr/>
          <p:nvPr/>
        </p:nvSpPr>
        <p:spPr>
          <a:xfrm>
            <a:off x="11296650" y="5181600"/>
            <a:ext cx="228600" cy="9144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15" name="Picture 14" descr="fmi_logo_template.png"/>
          <p:cNvPicPr>
            <a:picLocks noChangeAspect="1"/>
          </p:cNvPicPr>
          <p:nvPr/>
        </p:nvPicPr>
        <p:blipFill>
          <a:blip r:embed="rId2"/>
          <a:stretch>
            <a:fillRect/>
          </a:stretch>
        </p:blipFill>
        <p:spPr>
          <a:xfrm>
            <a:off x="914400" y="381000"/>
            <a:ext cx="1307592" cy="1325880"/>
          </a:xfrm>
          <a:prstGeom prst="rect">
            <a:avLst/>
          </a:prstGeom>
        </p:spPr>
      </p:pic>
      <p:sp>
        <p:nvSpPr>
          <p:cNvPr id="16" name="TextBox 15"/>
          <p:cNvSpPr txBox="1"/>
          <p:nvPr/>
        </p:nvSpPr>
        <p:spPr>
          <a:xfrm>
            <a:off x="1143000" y="2667000"/>
            <a:ext cx="9334500" cy="1809750"/>
          </a:xfrm>
          <a:prstGeom prst="rect">
            <a:avLst/>
          </a:prstGeom>
          <a:noFill/>
        </p:spPr>
        <p:txBody>
          <a:bodyPr wrap="square" lIns="28575" rIns="28575" tIns="9525" bIns="9525" anchor="ctr">
            <a:spAutoFit/>
          </a:bodyPr>
          <a:lstStyle/>
          <a:p>
            <a:pPr algn="l"/>
            <a:r>
              <a:rPr sz="3400" b="1">
                <a:solidFill>
                  <a:srgbClr val="0B2E4A"/>
                </a:solidFill>
                <a:latin typeface="Calibri"/>
              </a:rPr>
              <a:t>Global Hair Styling Products Market</a:t>
            </a:r>
          </a:p>
        </p:txBody>
      </p:sp>
      <p:sp>
        <p:nvSpPr>
          <p:cNvPr id="17" name="TextBox 16"/>
          <p:cNvSpPr txBox="1"/>
          <p:nvPr/>
        </p:nvSpPr>
        <p:spPr>
          <a:xfrm>
            <a:off x="1162050" y="4686300"/>
            <a:ext cx="9334500" cy="857250"/>
          </a:xfrm>
          <a:prstGeom prst="rect">
            <a:avLst/>
          </a:prstGeom>
          <a:noFill/>
        </p:spPr>
        <p:txBody>
          <a:bodyPr wrap="square" lIns="28575" rIns="28575" tIns="9525" bIns="9525">
            <a:spAutoFit/>
          </a:bodyPr>
          <a:lstStyle/>
          <a:p>
            <a:pPr algn="l"/>
            <a:r>
              <a:rPr sz="1600" b="0">
                <a:solidFill>
                  <a:srgbClr val="6C7A89"/>
                </a:solidFill>
                <a:latin typeface="Calibri"/>
              </a:rPr>
              <a:t>Value (US$ Mn) and Volume (Mn Units) Analysis and Forecast, 2021–2036</a:t>
            </a:r>
          </a:p>
          <a:p>
            <a:pPr algn="l"/>
            <a:r>
              <a:rPr sz="1100" b="0">
                <a:solidFill>
                  <a:srgbClr val="8FCBE6"/>
                </a:solidFill>
                <a:latin typeface="Calibri"/>
              </a:rPr>
              <a:t>Region focus: Global   ·   Country focus: U.S.   ·   Generated 13 Oct 2026   ·   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Agenda</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Storyline of the report by section · click a section card to jump to it</a:t>
            </a:r>
          </a:p>
        </p:txBody>
      </p:sp>
      <p:sp>
        <p:nvSpPr>
          <p:cNvPr id="10" name="Rounded Rectangle 9">
            <a:hlinkClick action="ppaction://hlinksldjump" r:id="rId3"/>
          </p:cNvPr>
          <p:cNvSpPr/>
          <p:nvPr/>
        </p:nvSpPr>
        <p:spPr>
          <a:xfrm>
            <a:off x="314325" y="1135037"/>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 Market Signals</a:t>
            </a:r>
          </a:p>
        </p:txBody>
      </p:sp>
      <p:sp>
        <p:nvSpPr>
          <p:cNvPr id="11" name="Rounded Rectangle 10">
            <a:hlinkClick action="ppaction://hlinksldjump" r:id="rId4"/>
          </p:cNvPr>
          <p:cNvSpPr/>
          <p:nvPr/>
        </p:nvSpPr>
        <p:spPr>
          <a:xfrm>
            <a:off x="142875" y="1408842"/>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Overview</a:t>
            </a:r>
          </a:p>
        </p:txBody>
      </p:sp>
      <p:sp>
        <p:nvSpPr>
          <p:cNvPr id="12" name="Rounded Rectangle 11">
            <a:hlinkClick action="ppaction://hlinksldjump" r:id="rId5"/>
          </p:cNvPr>
          <p:cNvSpPr/>
          <p:nvPr/>
        </p:nvSpPr>
        <p:spPr>
          <a:xfrm>
            <a:off x="314325" y="1755663"/>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 Market Taxonomy</a:t>
            </a:r>
          </a:p>
        </p:txBody>
      </p:sp>
      <p:sp>
        <p:nvSpPr>
          <p:cNvPr id="13" name="Rounded Rectangle 12">
            <a:hlinkClick action="ppaction://hlinksldjump" r:id="rId6"/>
          </p:cNvPr>
          <p:cNvSpPr/>
          <p:nvPr/>
        </p:nvSpPr>
        <p:spPr>
          <a:xfrm>
            <a:off x="314325" y="2029468"/>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 Table of Contents</a:t>
            </a:r>
          </a:p>
        </p:txBody>
      </p:sp>
      <p:sp>
        <p:nvSpPr>
          <p:cNvPr id="14" name="Rounded Rectangle 13">
            <a:hlinkClick action="ppaction://hlinksldjump" r:id="rId7"/>
          </p:cNvPr>
          <p:cNvSpPr/>
          <p:nvPr/>
        </p:nvSpPr>
        <p:spPr>
          <a:xfrm>
            <a:off x="314325" y="2303274"/>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4. List of Figures, List of Tables</a:t>
            </a:r>
          </a:p>
        </p:txBody>
      </p:sp>
      <p:sp>
        <p:nvSpPr>
          <p:cNvPr id="15" name="Rounded Rectangle 14">
            <a:hlinkClick action="ppaction://hlinksldjump" r:id="rId8"/>
          </p:cNvPr>
          <p:cNvSpPr/>
          <p:nvPr/>
        </p:nvSpPr>
        <p:spPr>
          <a:xfrm>
            <a:off x="142875" y="2577079"/>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Global Market Outlook</a:t>
            </a:r>
          </a:p>
        </p:txBody>
      </p:sp>
      <p:sp>
        <p:nvSpPr>
          <p:cNvPr id="16" name="Rounded Rectangle 15">
            <a:hlinkClick action="ppaction://hlinksldjump" r:id="rId9"/>
          </p:cNvPr>
          <p:cNvSpPr/>
          <p:nvPr/>
        </p:nvSpPr>
        <p:spPr>
          <a:xfrm>
            <a:off x="314325" y="2923899"/>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5. Hair Styling Products Market Global Overview</a:t>
            </a:r>
          </a:p>
        </p:txBody>
      </p:sp>
      <p:sp>
        <p:nvSpPr>
          <p:cNvPr id="17" name="Rounded Rectangle 16">
            <a:hlinkClick action="ppaction://hlinksldjump" r:id="rId10"/>
          </p:cNvPr>
          <p:cNvSpPr/>
          <p:nvPr/>
        </p:nvSpPr>
        <p:spPr>
          <a:xfrm>
            <a:off x="314325" y="3197705"/>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6. Global Market Analysis By Region</a:t>
            </a:r>
          </a:p>
        </p:txBody>
      </p:sp>
      <p:sp>
        <p:nvSpPr>
          <p:cNvPr id="18" name="Rounded Rectangle 17">
            <a:hlinkClick action="ppaction://hlinksldjump" r:id="rId11"/>
          </p:cNvPr>
          <p:cNvSpPr/>
          <p:nvPr/>
        </p:nvSpPr>
        <p:spPr>
          <a:xfrm>
            <a:off x="314325" y="3471510"/>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7. Global Market Analysis By Segments</a:t>
            </a:r>
          </a:p>
        </p:txBody>
      </p:sp>
      <p:sp>
        <p:nvSpPr>
          <p:cNvPr id="19" name="Rounded Rectangle 18">
            <a:hlinkClick action="ppaction://hlinksldjump" r:id="rId12"/>
          </p:cNvPr>
          <p:cNvSpPr/>
          <p:nvPr/>
        </p:nvSpPr>
        <p:spPr>
          <a:xfrm>
            <a:off x="142875" y="3745316"/>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North America Market Outlook</a:t>
            </a:r>
          </a:p>
        </p:txBody>
      </p:sp>
      <p:sp>
        <p:nvSpPr>
          <p:cNvPr id="20" name="Rounded Rectangle 19">
            <a:hlinkClick action="ppaction://hlinksldjump" r:id="rId13"/>
          </p:cNvPr>
          <p:cNvSpPr/>
          <p:nvPr/>
        </p:nvSpPr>
        <p:spPr>
          <a:xfrm>
            <a:off x="314325" y="4092136"/>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8. North America Overview</a:t>
            </a:r>
          </a:p>
        </p:txBody>
      </p:sp>
      <p:sp>
        <p:nvSpPr>
          <p:cNvPr id="21" name="Rounded Rectangle 20">
            <a:hlinkClick action="ppaction://hlinksldjump" r:id="rId14"/>
          </p:cNvPr>
          <p:cNvSpPr/>
          <p:nvPr/>
        </p:nvSpPr>
        <p:spPr>
          <a:xfrm>
            <a:off x="314325" y="4365941"/>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9. North America Market Analysis By Country</a:t>
            </a:r>
          </a:p>
        </p:txBody>
      </p:sp>
      <p:sp>
        <p:nvSpPr>
          <p:cNvPr id="22" name="Rounded Rectangle 21">
            <a:hlinkClick action="ppaction://hlinksldjump" r:id="rId15"/>
          </p:cNvPr>
          <p:cNvSpPr/>
          <p:nvPr/>
        </p:nvSpPr>
        <p:spPr>
          <a:xfrm>
            <a:off x="314325" y="4639747"/>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10. North America Market Analysis By Segments</a:t>
            </a:r>
          </a:p>
        </p:txBody>
      </p:sp>
      <p:sp>
        <p:nvSpPr>
          <p:cNvPr id="23" name="Rounded Rectangle 22">
            <a:hlinkClick action="ppaction://hlinksldjump" r:id="rId16"/>
          </p:cNvPr>
          <p:cNvSpPr/>
          <p:nvPr/>
        </p:nvSpPr>
        <p:spPr>
          <a:xfrm>
            <a:off x="142875" y="4913552"/>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Latin America Market Outlook</a:t>
            </a:r>
          </a:p>
        </p:txBody>
      </p:sp>
      <p:sp>
        <p:nvSpPr>
          <p:cNvPr id="24" name="Rounded Rectangle 23">
            <a:hlinkClick action="ppaction://hlinksldjump" r:id="rId17"/>
          </p:cNvPr>
          <p:cNvSpPr/>
          <p:nvPr/>
        </p:nvSpPr>
        <p:spPr>
          <a:xfrm>
            <a:off x="314325" y="5260373"/>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11. Latin America Overview</a:t>
            </a:r>
          </a:p>
        </p:txBody>
      </p:sp>
      <p:sp>
        <p:nvSpPr>
          <p:cNvPr id="25" name="Rounded Rectangle 24">
            <a:hlinkClick action="ppaction://hlinksldjump" r:id="rId18"/>
          </p:cNvPr>
          <p:cNvSpPr/>
          <p:nvPr/>
        </p:nvSpPr>
        <p:spPr>
          <a:xfrm>
            <a:off x="314325" y="5534178"/>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12. Latin America Market Analysis By Country</a:t>
            </a:r>
          </a:p>
        </p:txBody>
      </p:sp>
      <p:sp>
        <p:nvSpPr>
          <p:cNvPr id="26" name="Rounded Rectangle 25">
            <a:hlinkClick action="ppaction://hlinksldjump" r:id="rId19"/>
          </p:cNvPr>
          <p:cNvSpPr/>
          <p:nvPr/>
        </p:nvSpPr>
        <p:spPr>
          <a:xfrm>
            <a:off x="314325" y="5807984"/>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13. Latin America Market Analysis By Segments</a:t>
            </a:r>
          </a:p>
        </p:txBody>
      </p:sp>
      <p:sp>
        <p:nvSpPr>
          <p:cNvPr id="27" name="Rounded Rectangle 26">
            <a:hlinkClick action="ppaction://hlinksldjump" r:id="rId20"/>
          </p:cNvPr>
          <p:cNvSpPr/>
          <p:nvPr/>
        </p:nvSpPr>
        <p:spPr>
          <a:xfrm>
            <a:off x="142875" y="6081789"/>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Europe Market Outlook</a:t>
            </a:r>
          </a:p>
        </p:txBody>
      </p:sp>
      <p:sp>
        <p:nvSpPr>
          <p:cNvPr id="28" name="Rounded Rectangle 27">
            <a:hlinkClick action="ppaction://hlinksldjump" r:id="rId21"/>
          </p:cNvPr>
          <p:cNvSpPr/>
          <p:nvPr/>
        </p:nvSpPr>
        <p:spPr>
          <a:xfrm>
            <a:off x="314325" y="6392102"/>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14. Europe Overview</a:t>
            </a:r>
          </a:p>
        </p:txBody>
      </p:sp>
      <p:sp>
        <p:nvSpPr>
          <p:cNvPr id="29" name="Rounded Rectangle 28">
            <a:hlinkClick action="ppaction://hlinksldjump" r:id="rId22"/>
          </p:cNvPr>
          <p:cNvSpPr/>
          <p:nvPr/>
        </p:nvSpPr>
        <p:spPr>
          <a:xfrm>
            <a:off x="314325" y="6702415"/>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15. Europe Market Analysis By Country</a:t>
            </a:r>
          </a:p>
        </p:txBody>
      </p:sp>
      <p:sp>
        <p:nvSpPr>
          <p:cNvPr id="30" name="Rounded Rectangle 29">
            <a:hlinkClick action="ppaction://hlinksldjump" r:id="rId23"/>
          </p:cNvPr>
          <p:cNvSpPr/>
          <p:nvPr/>
        </p:nvSpPr>
        <p:spPr>
          <a:xfrm>
            <a:off x="314325" y="6976220"/>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16. Europe Market Analysis By Segments</a:t>
            </a:r>
          </a:p>
        </p:txBody>
      </p:sp>
      <p:sp>
        <p:nvSpPr>
          <p:cNvPr id="31" name="Rounded Rectangle 30">
            <a:hlinkClick action="ppaction://hlinksldjump" r:id="rId24"/>
          </p:cNvPr>
          <p:cNvSpPr/>
          <p:nvPr/>
        </p:nvSpPr>
        <p:spPr>
          <a:xfrm>
            <a:off x="6219825" y="1135037"/>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East Asia Market Outlook</a:t>
            </a:r>
          </a:p>
        </p:txBody>
      </p:sp>
      <p:sp>
        <p:nvSpPr>
          <p:cNvPr id="32" name="Rounded Rectangle 31">
            <a:hlinkClick action="ppaction://hlinksldjump" r:id="rId25"/>
          </p:cNvPr>
          <p:cNvSpPr/>
          <p:nvPr/>
        </p:nvSpPr>
        <p:spPr>
          <a:xfrm>
            <a:off x="6391275" y="1481857"/>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17. East Asia Overview</a:t>
            </a:r>
          </a:p>
        </p:txBody>
      </p:sp>
      <p:sp>
        <p:nvSpPr>
          <p:cNvPr id="33" name="Rounded Rectangle 32">
            <a:hlinkClick action="ppaction://hlinksldjump" r:id="rId26"/>
          </p:cNvPr>
          <p:cNvSpPr/>
          <p:nvPr/>
        </p:nvSpPr>
        <p:spPr>
          <a:xfrm>
            <a:off x="6391275" y="1755663"/>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18. East Asia Market Analysis By Country</a:t>
            </a:r>
          </a:p>
        </p:txBody>
      </p:sp>
      <p:sp>
        <p:nvSpPr>
          <p:cNvPr id="34" name="Rounded Rectangle 33">
            <a:hlinkClick action="ppaction://hlinksldjump" r:id="rId27"/>
          </p:cNvPr>
          <p:cNvSpPr/>
          <p:nvPr/>
        </p:nvSpPr>
        <p:spPr>
          <a:xfrm>
            <a:off x="6391275" y="2029468"/>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19. East Asia Market Analysis By Segments</a:t>
            </a:r>
          </a:p>
        </p:txBody>
      </p:sp>
      <p:sp>
        <p:nvSpPr>
          <p:cNvPr id="35" name="Rounded Rectangle 34">
            <a:hlinkClick action="ppaction://hlinksldjump" r:id="rId28"/>
          </p:cNvPr>
          <p:cNvSpPr/>
          <p:nvPr/>
        </p:nvSpPr>
        <p:spPr>
          <a:xfrm>
            <a:off x="6219825" y="2303274"/>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South Asia &amp; Pacific Market Outlook</a:t>
            </a:r>
          </a:p>
        </p:txBody>
      </p:sp>
      <p:sp>
        <p:nvSpPr>
          <p:cNvPr id="36" name="Rounded Rectangle 35">
            <a:hlinkClick action="ppaction://hlinksldjump" r:id="rId29"/>
          </p:cNvPr>
          <p:cNvSpPr/>
          <p:nvPr/>
        </p:nvSpPr>
        <p:spPr>
          <a:xfrm>
            <a:off x="6391275" y="2650094"/>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20. South Asia &amp; Pacific Overview</a:t>
            </a:r>
          </a:p>
        </p:txBody>
      </p:sp>
      <p:sp>
        <p:nvSpPr>
          <p:cNvPr id="37" name="Rounded Rectangle 36">
            <a:hlinkClick action="ppaction://hlinksldjump" r:id="rId30"/>
          </p:cNvPr>
          <p:cNvSpPr/>
          <p:nvPr/>
        </p:nvSpPr>
        <p:spPr>
          <a:xfrm>
            <a:off x="6391275" y="2923899"/>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21. South Asia &amp; Pacific Market Analysis By Country</a:t>
            </a:r>
          </a:p>
        </p:txBody>
      </p:sp>
      <p:sp>
        <p:nvSpPr>
          <p:cNvPr id="38" name="Rounded Rectangle 37">
            <a:hlinkClick action="ppaction://hlinksldjump" r:id="rId31"/>
          </p:cNvPr>
          <p:cNvSpPr/>
          <p:nvPr/>
        </p:nvSpPr>
        <p:spPr>
          <a:xfrm>
            <a:off x="6391275" y="3197705"/>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22. South Asia &amp; Pacific Market Analysis By Segments</a:t>
            </a:r>
          </a:p>
        </p:txBody>
      </p:sp>
      <p:sp>
        <p:nvSpPr>
          <p:cNvPr id="39" name="Rounded Rectangle 38">
            <a:hlinkClick action="ppaction://hlinksldjump" r:id="rId32"/>
          </p:cNvPr>
          <p:cNvSpPr/>
          <p:nvPr/>
        </p:nvSpPr>
        <p:spPr>
          <a:xfrm>
            <a:off x="6219825" y="3471510"/>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Middle East &amp; Africa Market Outlook</a:t>
            </a:r>
          </a:p>
        </p:txBody>
      </p:sp>
      <p:sp>
        <p:nvSpPr>
          <p:cNvPr id="40" name="Rounded Rectangle 39">
            <a:hlinkClick action="ppaction://hlinksldjump" r:id="rId33"/>
          </p:cNvPr>
          <p:cNvSpPr/>
          <p:nvPr/>
        </p:nvSpPr>
        <p:spPr>
          <a:xfrm>
            <a:off x="6391275" y="3818331"/>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23. Middle East &amp; Africa Overview</a:t>
            </a:r>
          </a:p>
        </p:txBody>
      </p:sp>
      <p:sp>
        <p:nvSpPr>
          <p:cNvPr id="41" name="Rounded Rectangle 40">
            <a:hlinkClick action="ppaction://hlinksldjump" r:id="rId34"/>
          </p:cNvPr>
          <p:cNvSpPr/>
          <p:nvPr/>
        </p:nvSpPr>
        <p:spPr>
          <a:xfrm>
            <a:off x="6391275" y="4092136"/>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24. Middle East &amp; Africa Market Analysis By Country</a:t>
            </a:r>
          </a:p>
        </p:txBody>
      </p:sp>
      <p:sp>
        <p:nvSpPr>
          <p:cNvPr id="42" name="Rounded Rectangle 41">
            <a:hlinkClick action="ppaction://hlinksldjump" r:id="rId35"/>
          </p:cNvPr>
          <p:cNvSpPr/>
          <p:nvPr/>
        </p:nvSpPr>
        <p:spPr>
          <a:xfrm>
            <a:off x="6391275" y="4365941"/>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25. Middle East &amp; Africa Market Analysis By Segments</a:t>
            </a:r>
          </a:p>
        </p:txBody>
      </p:sp>
      <p:sp>
        <p:nvSpPr>
          <p:cNvPr id="43" name="Rounded Rectangle 42">
            <a:hlinkClick action="ppaction://hlinksldjump" r:id="rId36"/>
          </p:cNvPr>
          <p:cNvSpPr/>
          <p:nvPr/>
        </p:nvSpPr>
        <p:spPr>
          <a:xfrm>
            <a:off x="6219825" y="4639747"/>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Country Market Outlook</a:t>
            </a:r>
          </a:p>
        </p:txBody>
      </p:sp>
      <p:sp>
        <p:nvSpPr>
          <p:cNvPr id="44" name="Rounded Rectangle 43">
            <a:hlinkClick action="ppaction://hlinksldjump" r:id="rId37"/>
          </p:cNvPr>
          <p:cNvSpPr/>
          <p:nvPr/>
        </p:nvSpPr>
        <p:spPr>
          <a:xfrm>
            <a:off x="6391275" y="4986567"/>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26. Hair Styling Products Market Overview (Volume &amp; Value)</a:t>
            </a:r>
          </a:p>
        </p:txBody>
      </p:sp>
      <p:sp>
        <p:nvSpPr>
          <p:cNvPr id="45" name="Rounded Rectangle 44">
            <a:hlinkClick action="ppaction://hlinksldjump" r:id="rId38"/>
          </p:cNvPr>
          <p:cNvSpPr/>
          <p:nvPr/>
        </p:nvSpPr>
        <p:spPr>
          <a:xfrm>
            <a:off x="6391275" y="5260373"/>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27. Segment Overview (Volume &amp; Value)</a:t>
            </a:r>
          </a:p>
        </p:txBody>
      </p:sp>
      <p:sp>
        <p:nvSpPr>
          <p:cNvPr id="46" name="Rounded Rectangle 45">
            <a:hlinkClick action="ppaction://hlinksldjump" r:id="rId39"/>
          </p:cNvPr>
          <p:cNvSpPr/>
          <p:nvPr/>
        </p:nvSpPr>
        <p:spPr>
          <a:xfrm>
            <a:off x="6219825" y="5534178"/>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Pricing Assessment</a:t>
            </a:r>
          </a:p>
        </p:txBody>
      </p:sp>
      <p:sp>
        <p:nvSpPr>
          <p:cNvPr id="47" name="Rounded Rectangle 46">
            <a:hlinkClick action="ppaction://hlinksldjump" r:id="rId40"/>
          </p:cNvPr>
          <p:cNvSpPr/>
          <p:nvPr/>
        </p:nvSpPr>
        <p:spPr>
          <a:xfrm>
            <a:off x="6391275" y="5880998"/>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28. Hair Styling Products Market Pricing Analysis</a:t>
            </a:r>
          </a:p>
        </p:txBody>
      </p:sp>
      <p:sp>
        <p:nvSpPr>
          <p:cNvPr id="48" name="Rounded Rectangle 47">
            <a:hlinkClick action="ppaction://hlinksldjump" r:id="rId41"/>
          </p:cNvPr>
          <p:cNvSpPr/>
          <p:nvPr/>
        </p:nvSpPr>
        <p:spPr>
          <a:xfrm>
            <a:off x="6391275" y="6154804"/>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29. Supply Chain Analysis</a:t>
            </a:r>
          </a:p>
        </p:txBody>
      </p:sp>
      <p:sp>
        <p:nvSpPr>
          <p:cNvPr id="49" name="Rounded Rectangle 48">
            <a:hlinkClick action="ppaction://hlinksldjump" r:id="rId42"/>
          </p:cNvPr>
          <p:cNvSpPr/>
          <p:nvPr/>
        </p:nvSpPr>
        <p:spPr>
          <a:xfrm>
            <a:off x="6219825" y="6428609"/>
            <a:ext cx="5829300" cy="200791"/>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Dynamics</a:t>
            </a:r>
          </a:p>
        </p:txBody>
      </p:sp>
      <p:sp>
        <p:nvSpPr>
          <p:cNvPr id="50" name="Rounded Rectangle 49">
            <a:hlinkClick action="ppaction://hlinksldjump" r:id="rId43"/>
          </p:cNvPr>
          <p:cNvSpPr/>
          <p:nvPr/>
        </p:nvSpPr>
        <p:spPr>
          <a:xfrm>
            <a:off x="6391275" y="6775430"/>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30. Market Dynamics &amp; Forces</a:t>
            </a:r>
          </a:p>
        </p:txBody>
      </p:sp>
      <p:sp>
        <p:nvSpPr>
          <p:cNvPr id="51" name="Rounded Rectangle 50">
            <a:hlinkClick action="ppaction://hlinksldjump" r:id="rId44"/>
          </p:cNvPr>
          <p:cNvSpPr/>
          <p:nvPr/>
        </p:nvSpPr>
        <p:spPr>
          <a:xfrm>
            <a:off x="6219825" y="704923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Competition Assessment</a:t>
            </a:r>
          </a:p>
        </p:txBody>
      </p:sp>
      <p:sp>
        <p:nvSpPr>
          <p:cNvPr id="52" name="Rounded Rectangle 51">
            <a:hlinkClick action="ppaction://hlinksldjump" r:id="rId45"/>
          </p:cNvPr>
          <p:cNvSpPr/>
          <p:nvPr/>
        </p:nvSpPr>
        <p:spPr>
          <a:xfrm>
            <a:off x="6391275" y="7396055"/>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31. Competitive Landscape</a:t>
            </a:r>
          </a:p>
        </p:txBody>
      </p:sp>
      <p:sp>
        <p:nvSpPr>
          <p:cNvPr id="53" name="Rounded Rectangle 52">
            <a:hlinkClick action="ppaction://hlinksldjump" r:id="rId46"/>
          </p:cNvPr>
          <p:cNvSpPr/>
          <p:nvPr/>
        </p:nvSpPr>
        <p:spPr>
          <a:xfrm>
            <a:off x="6391275" y="7669861"/>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32. Market Share by Leading Players</a:t>
            </a:r>
          </a:p>
        </p:txBody>
      </p:sp>
      <p:sp>
        <p:nvSpPr>
          <p:cNvPr id="54" name="Rounded Rectangle 53">
            <a:hlinkClick action="ppaction://hlinksldjump" r:id="rId47"/>
          </p:cNvPr>
          <p:cNvSpPr/>
          <p:nvPr/>
        </p:nvSpPr>
        <p:spPr>
          <a:xfrm>
            <a:off x="6391275" y="7943666"/>
            <a:ext cx="565785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33. Company Profiles &amp; Strategic Benchmarking</a:t>
            </a:r>
          </a:p>
        </p:txBody>
      </p:sp>
      <p:sp>
        <p:nvSpPr>
          <p:cNvPr id="55" name="TextBox 5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Market Signals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Signals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Signals Reshaping Hair Styling Products Demand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Signals reshaping Hair Styling Products demand, the evidence behind each and what it implies for the global market</a:t>
            </a:r>
          </a:p>
        </p:txBody>
      </p:sp>
      <p:graphicFrame>
        <p:nvGraphicFramePr>
          <p:cNvPr id="10" name="Table 9"/>
          <p:cNvGraphicFramePr>
            <a:graphicFrameLocks noGrp="1"/>
          </p:cNvGraphicFramePr>
          <p:nvPr/>
        </p:nvGraphicFramePr>
        <p:xfrm>
          <a:off x="142875" y="1062022"/>
          <a:ext cx="12242437" cy="5549125"/>
        </p:xfrm>
        <a:graphic>
          <a:graphicData uri="http://schemas.openxmlformats.org/drawingml/2006/table">
            <a:tbl>
              <a:tblPr>
                <a:tableStyleId>{5C22544A-7EE6-4342-B048-85BDC9FD1C3A}</a:tableStyleId>
              </a:tblPr>
              <a:tblGrid>
                <a:gridCol w="4412343"/>
                <a:gridCol w="4496344"/>
                <a:gridCol w="3333750"/>
              </a:tblGrid>
              <a:tr h="346820">
                <a:tc>
                  <a:txBody>
                    <a:bodyPr wrap="square"/>
                    <a:lstStyle/>
                    <a:p>
                      <a:pPr algn="l"/>
                      <a:r>
                        <a:rPr sz="1100" b="1">
                          <a:solidFill>
                            <a:srgbClr val="0B2E4A"/>
                          </a:solidFill>
                          <a:latin typeface="Calibri"/>
                        </a:rPr>
                        <a:t>QUESTIONS WE'RE HEARING</a:t>
                      </a:r>
                    </a:p>
                  </a:txBody>
                  <a:tcPr marL="70000" marR="70000" marT="45000" marB="45000" anchor="ctr">
                    <a:solidFill>
                      <a:srgbClr val="EAF1F8"/>
                    </a:solidFill>
                  </a:tcPr>
                </a:tc>
                <a:tc>
                  <a:txBody>
                    <a:bodyPr wrap="square"/>
                    <a:lstStyle/>
                    <a:p>
                      <a:pPr algn="l"/>
                      <a:r>
                        <a:rPr sz="1100" b="1">
                          <a:solidFill>
                            <a:srgbClr val="0B2E4A"/>
                          </a:solidFill>
                          <a:latin typeface="Calibri"/>
                        </a:rPr>
                        <a:t>WHAT WE'RE OBSERVING</a:t>
                      </a:r>
                    </a:p>
                  </a:txBody>
                  <a:tcPr marL="70000" marR="70000" marT="45000" marB="45000" anchor="ctr">
                    <a:solidFill>
                      <a:srgbClr val="EAF1F8"/>
                    </a:solidFill>
                  </a:tcPr>
                </a:tc>
                <a:tc>
                  <a:txBody>
                    <a:bodyPr wrap="square"/>
                    <a:lstStyle/>
                    <a:p>
                      <a:pPr algn="l"/>
                      <a:r>
                        <a:rPr sz="1100" b="1">
                          <a:solidFill>
                            <a:srgbClr val="0B2E4A"/>
                          </a:solidFill>
                          <a:latin typeface="Calibri"/>
                        </a:rPr>
                        <a:t>SELECT DATA POINTS</a:t>
                      </a:r>
                    </a:p>
                  </a:txBody>
                  <a:tcPr marL="70000" marR="70000" marT="45000" marB="45000" anchor="ctr">
                    <a:solidFill>
                      <a:srgbClr val="EAF1F8"/>
                    </a:solidFill>
                  </a:tcPr>
                </a:tc>
              </a:tr>
              <a:tr h="1040461">
                <a:tc>
                  <a:txBody>
                    <a:bodyPr wrap="square"/>
                    <a:lstStyle/>
                    <a:p>
                      <a:pPr algn="l"/>
                      <a:r>
                        <a:rPr sz="1100" b="1">
                          <a:solidFill>
                            <a:srgbClr val="0B2E4A"/>
                          </a:solidFill>
                          <a:latin typeface="Calibri"/>
                        </a:rPr>
                        <a:t>How fast is Hair Styling Products demand set to grow through 2036?</a:t>
                      </a:r>
                    </a:p>
                  </a:txBody>
                  <a:tcPr marL="70000" marR="70000" marT="45000" marB="45000" anchor="ctr">
                    <a:solidFill>
                      <a:srgbClr val="FFFFFF"/>
                    </a:solidFill>
                  </a:tcPr>
                </a:tc>
                <a:tc>
                  <a:txBody>
                    <a:bodyPr wrap="square"/>
                    <a:lstStyle/>
                    <a:p>
                      <a:pPr algn="l"/>
                      <a:r>
                        <a:rPr sz="1100" b="0">
                          <a:solidFill>
                            <a:srgbClr val="2E2E2E"/>
                          </a:solidFill>
                          <a:latin typeface="Calibri"/>
                        </a:rPr>
                        <a:t>Global demand expands at a 6.7% forecast CAGR (2026–2036), accelerating from 4.3% across 2021–2025.</a:t>
                      </a:r>
                    </a:p>
                  </a:txBody>
                  <a:tcPr marL="70000" marR="70000" marT="45000" marB="45000" anchor="ctr">
                    <a:solidFill>
                      <a:srgbClr val="FFFFFF"/>
                    </a:solidFill>
                  </a:tcPr>
                </a:tc>
                <a:tc>
                  <a:txBody>
                    <a:bodyPr wrap="square"/>
                    <a:lstStyle/>
                    <a:p>
                      <a:pPr algn="l"/>
                      <a:r>
                        <a:rPr sz="1100" b="0">
                          <a:solidFill>
                            <a:srgbClr val="2E2E2E"/>
                          </a:solidFill>
                          <a:latin typeface="Calibri"/>
                        </a:rPr>
                        <a:t>16,106 → 30,687 US$ Mn  ·  CAGR 6.7%</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product format categories are buyers prioritising?</a:t>
                      </a:r>
                    </a:p>
                  </a:txBody>
                  <a:tcPr marL="70000" marR="70000" marT="45000" marB="45000" anchor="ctr">
                    <a:solidFill>
                      <a:srgbClr val="F6F9FC"/>
                    </a:solidFill>
                  </a:tcPr>
                </a:tc>
                <a:tc>
                  <a:txBody>
                    <a:bodyPr wrap="square"/>
                    <a:lstStyle/>
                    <a:p>
                      <a:pPr algn="l"/>
                      <a:r>
                        <a:rPr sz="1100" b="0">
                          <a:solidFill>
                            <a:srgbClr val="2E2E2E"/>
                          </a:solidFill>
                          <a:latin typeface="Calibri"/>
                        </a:rPr>
                        <a:t>Styling Serums and Oils leads Product Format, at 19.6% of 2036 value, within a mix of 8 tracked categories.</a:t>
                      </a:r>
                    </a:p>
                  </a:txBody>
                  <a:tcPr marL="70000" marR="70000" marT="45000" marB="45000" anchor="ctr">
                    <a:solidFill>
                      <a:srgbClr val="F6F9FC"/>
                    </a:solidFill>
                  </a:tcPr>
                </a:tc>
                <a:tc>
                  <a:txBody>
                    <a:bodyPr wrap="square"/>
                    <a:lstStyle/>
                    <a:p>
                      <a:pPr algn="l"/>
                      <a:r>
                        <a:rPr sz="1100" b="0">
                          <a:solidFill>
                            <a:srgbClr val="2E2E2E"/>
                          </a:solidFill>
                          <a:latin typeface="Calibri"/>
                        </a:rPr>
                        <a:t>Lead: Styling Serums and Oils  ·  19.6% share (2036)</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is incremental demand concentrating?</a:t>
                      </a:r>
                    </a:p>
                  </a:txBody>
                  <a:tcPr marL="70000" marR="70000" marT="45000" marB="45000" anchor="ctr">
                    <a:solidFill>
                      <a:srgbClr val="FFFFFF"/>
                    </a:solidFill>
                  </a:tcPr>
                </a:tc>
                <a:tc>
                  <a:txBody>
                    <a:bodyPr wrap="square"/>
                    <a:lstStyle/>
                    <a:p>
                      <a:pPr algn="l"/>
                      <a:r>
                        <a:rPr sz="1100" b="0">
                          <a:solidFill>
                            <a:srgbClr val="2E2E2E"/>
                          </a:solidFill>
                          <a:latin typeface="Calibri"/>
                        </a:rPr>
                        <a:t>Online Marketplaces is the fastest-growing part of Distribution Channel, at a 8.0% forecast CAGR outpacing the wider market.</a:t>
                      </a:r>
                    </a:p>
                  </a:txBody>
                  <a:tcPr marL="70000" marR="70000" marT="45000" marB="45000" anchor="ctr">
                    <a:solidFill>
                      <a:srgbClr val="FFFFFF"/>
                    </a:solidFill>
                  </a:tcPr>
                </a:tc>
                <a:tc>
                  <a:txBody>
                    <a:bodyPr wrap="square"/>
                    <a:lstStyle/>
                    <a:p>
                      <a:pPr algn="l"/>
                      <a:r>
                        <a:rPr sz="1100" b="0">
                          <a:solidFill>
                            <a:srgbClr val="2E2E2E"/>
                          </a:solidFill>
                          <a:latin typeface="Calibri"/>
                        </a:rPr>
                        <a:t>Fastest: Online Marketplaces  ·  8.0% F-CAGR</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regions will drive the next wave of Hair Styling Products demand?</a:t>
                      </a:r>
                    </a:p>
                  </a:txBody>
                  <a:tcPr marL="70000" marR="70000" marT="45000" marB="45000" anchor="ctr">
                    <a:solidFill>
                      <a:srgbClr val="F6F9FC"/>
                    </a:solidFill>
                  </a:tcPr>
                </a:tc>
                <a:tc>
                  <a:txBody>
                    <a:bodyPr wrap="square"/>
                    <a:lstStyle/>
                    <a:p>
                      <a:pPr algn="l"/>
                      <a:r>
                        <a:rPr sz="1100" b="0">
                          <a:solidFill>
                            <a:srgbClr val="2E2E2E"/>
                          </a:solidFill>
                          <a:latin typeface="Calibri"/>
                        </a:rPr>
                        <a:t>North America is the largest regional market (29.5% of 2036 value), while South Asia &amp; Pacific grows fastest at 7.9%.</a:t>
                      </a:r>
                    </a:p>
                  </a:txBody>
                  <a:tcPr marL="70000" marR="70000" marT="45000" marB="45000" anchor="ctr">
                    <a:solidFill>
                      <a:srgbClr val="F6F9FC"/>
                    </a:solidFill>
                  </a:tcPr>
                </a:tc>
                <a:tc>
                  <a:txBody>
                    <a:bodyPr wrap="square"/>
                    <a:lstStyle/>
                    <a:p>
                      <a:pPr algn="l"/>
                      <a:r>
                        <a:rPr sz="1100" b="0">
                          <a:solidFill>
                            <a:srgbClr val="2E2E2E"/>
                          </a:solidFill>
                          <a:latin typeface="Calibri"/>
                        </a:rPr>
                        <a:t>Largest: North America (29.5%)  ·  Fastest: South Asia &amp; Pacific (7.9%)</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should suppliers focus investment?</a:t>
                      </a:r>
                    </a:p>
                  </a:txBody>
                  <a:tcPr marL="70000" marR="70000" marT="45000" marB="45000" anchor="ctr">
                    <a:solidFill>
                      <a:srgbClr val="FFFFFF"/>
                    </a:solidFill>
                  </a:tcPr>
                </a:tc>
                <a:tc>
                  <a:txBody>
                    <a:bodyPr wrap="square"/>
                    <a:lstStyle/>
                    <a:p>
                      <a:pPr algn="l"/>
                      <a:r>
                        <a:rPr sz="1100" b="0">
                          <a:solidFill>
                            <a:srgbClr val="2E2E2E"/>
                          </a:solidFill>
                          <a:latin typeface="Calibri"/>
                        </a:rPr>
                        <a:t>An incremental 14,581 US$ Mn of demand is added between 2026 and 2036, front-loaded in the leading categories and regions above.</a:t>
                      </a:r>
                    </a:p>
                  </a:txBody>
                  <a:tcPr marL="70000" marR="70000" marT="45000" marB="45000" anchor="ctr">
                    <a:solidFill>
                      <a:srgbClr val="FFFFFF"/>
                    </a:solidFill>
                  </a:tcPr>
                </a:tc>
                <a:tc>
                  <a:txBody>
                    <a:bodyPr wrap="square"/>
                    <a:lstStyle/>
                    <a:p>
                      <a:pPr algn="l"/>
                      <a:r>
                        <a:rPr sz="1100" b="0">
                          <a:solidFill>
                            <a:srgbClr val="2E2E2E"/>
                          </a:solidFill>
                          <a:latin typeface="Calibri"/>
                        </a:rPr>
                        <a:t>$ opportunity 14,581 US$ Mn (2026–2036)  ·  5,649 by 2031</a:t>
                      </a:r>
                    </a:p>
                  </a:txBody>
                  <a:tcPr marL="70000" marR="70000" marT="45000" marB="45000" anchor="ctr">
                    <a:solidFill>
                      <a:srgbClr val="FFFFFF"/>
                    </a:solidFill>
                  </a:tcP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Market Overview</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Taxonomy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Table of Contents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List of Figures, List of Tables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Market Taxonomy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Geographic Coverage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Segments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Coverage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Regions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Geographic scope of the study: the global market broken into 6 regions and the countries assessed under each</a:t>
            </a:r>
          </a:p>
        </p:txBody>
      </p:sp>
      <p:cxnSp>
        <p:nvCxnSpPr>
          <p:cNvPr id="10" name="Connector 9"/>
          <p:cNvCxnSpPr/>
          <p:nvPr/>
        </p:nvCxnSpPr>
        <p:spPr>
          <a:xfrm>
            <a:off x="6096000" y="1445350"/>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1" name="Connector 10"/>
          <p:cNvCxnSpPr/>
          <p:nvPr/>
        </p:nvCxnSpPr>
        <p:spPr>
          <a:xfrm>
            <a:off x="1085850" y="1627887"/>
            <a:ext cx="10010775" cy="0"/>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108585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3" name="Connector 12"/>
          <p:cNvCxnSpPr/>
          <p:nvPr/>
        </p:nvCxnSpPr>
        <p:spPr>
          <a:xfrm>
            <a:off x="308610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508635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709612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909637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109662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15252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152525"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315277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3152775"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152775"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152775" y="3316354"/>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515302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5153025" y="2567952"/>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153025" y="2933026"/>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153025" y="3298100"/>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5153025" y="3663174"/>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5153025" y="4028248"/>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5153025" y="439332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5153025" y="4767523"/>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153025" y="513259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153025" y="5497671"/>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153025" y="586274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153025" y="6227819"/>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716280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716280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716280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916305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916305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916305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9163050" y="3316354"/>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9163050" y="36905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9163050" y="40647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9163050" y="443895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9163050" y="4813157"/>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9163050" y="518735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116330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1116330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1116330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11163300" y="3316354"/>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11163300" y="36905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11163300" y="40647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11163300" y="443895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55" name="Rounded Rectangle 54"/>
          <p:cNvSpPr/>
          <p:nvPr/>
        </p:nvSpPr>
        <p:spPr>
          <a:xfrm>
            <a:off x="4667250" y="1080276"/>
            <a:ext cx="2857500" cy="365074"/>
          </a:xfrm>
          <a:prstGeom prst="roundRect">
            <a:avLst>
              <a:gd name="adj" fmla="val 17500"/>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500" b="1">
                <a:solidFill>
                  <a:srgbClr val="FFFFFF"/>
                </a:solidFill>
                <a:latin typeface="Calibri"/>
              </a:rPr>
              <a:t>Hair Styling Products Market</a:t>
            </a:r>
          </a:p>
        </p:txBody>
      </p:sp>
      <p:sp>
        <p:nvSpPr>
          <p:cNvPr id="56" name="Rounded Rectangle 55"/>
          <p:cNvSpPr/>
          <p:nvPr/>
        </p:nvSpPr>
        <p:spPr>
          <a:xfrm>
            <a:off x="14287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North America</a:t>
            </a:r>
          </a:p>
        </p:txBody>
      </p:sp>
      <p:sp>
        <p:nvSpPr>
          <p:cNvPr id="57" name="Rounded Rectangle 56"/>
          <p:cNvSpPr/>
          <p:nvPr/>
        </p:nvSpPr>
        <p:spPr>
          <a:xfrm>
            <a:off x="27622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U.S.</a:t>
            </a:r>
          </a:p>
        </p:txBody>
      </p:sp>
      <p:sp>
        <p:nvSpPr>
          <p:cNvPr id="58" name="Rounded Rectangle 57"/>
          <p:cNvSpPr/>
          <p:nvPr/>
        </p:nvSpPr>
        <p:spPr>
          <a:xfrm>
            <a:off x="276225"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Canada</a:t>
            </a:r>
          </a:p>
        </p:txBody>
      </p:sp>
      <p:sp>
        <p:nvSpPr>
          <p:cNvPr id="59" name="Rounded Rectangle 58"/>
          <p:cNvSpPr/>
          <p:nvPr/>
        </p:nvSpPr>
        <p:spPr>
          <a:xfrm>
            <a:off x="214312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Latin America</a:t>
            </a:r>
          </a:p>
        </p:txBody>
      </p:sp>
      <p:sp>
        <p:nvSpPr>
          <p:cNvPr id="60" name="Rounded Rectangle 59"/>
          <p:cNvSpPr/>
          <p:nvPr/>
        </p:nvSpPr>
        <p:spPr>
          <a:xfrm>
            <a:off x="227647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Brazil</a:t>
            </a:r>
          </a:p>
        </p:txBody>
      </p:sp>
      <p:sp>
        <p:nvSpPr>
          <p:cNvPr id="61" name="Rounded Rectangle 60"/>
          <p:cNvSpPr/>
          <p:nvPr/>
        </p:nvSpPr>
        <p:spPr>
          <a:xfrm>
            <a:off x="2276475"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Mexico</a:t>
            </a:r>
          </a:p>
        </p:txBody>
      </p:sp>
      <p:sp>
        <p:nvSpPr>
          <p:cNvPr id="62" name="Rounded Rectangle 61"/>
          <p:cNvSpPr/>
          <p:nvPr/>
        </p:nvSpPr>
        <p:spPr>
          <a:xfrm>
            <a:off x="2276475"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Colombia</a:t>
            </a:r>
          </a:p>
        </p:txBody>
      </p:sp>
      <p:sp>
        <p:nvSpPr>
          <p:cNvPr id="63" name="Rounded Rectangle 62"/>
          <p:cNvSpPr/>
          <p:nvPr/>
        </p:nvSpPr>
        <p:spPr>
          <a:xfrm>
            <a:off x="2276475" y="33893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Latin America</a:t>
            </a:r>
          </a:p>
        </p:txBody>
      </p:sp>
      <p:sp>
        <p:nvSpPr>
          <p:cNvPr id="64" name="Rounded Rectangle 63"/>
          <p:cNvSpPr/>
          <p:nvPr/>
        </p:nvSpPr>
        <p:spPr>
          <a:xfrm>
            <a:off x="414337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Europe</a:t>
            </a:r>
          </a:p>
        </p:txBody>
      </p:sp>
      <p:sp>
        <p:nvSpPr>
          <p:cNvPr id="65" name="Rounded Rectangle 64"/>
          <p:cNvSpPr/>
          <p:nvPr/>
        </p:nvSpPr>
        <p:spPr>
          <a:xfrm>
            <a:off x="427672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Germany</a:t>
            </a:r>
          </a:p>
        </p:txBody>
      </p:sp>
      <p:sp>
        <p:nvSpPr>
          <p:cNvPr id="66" name="Rounded Rectangle 65"/>
          <p:cNvSpPr/>
          <p:nvPr/>
        </p:nvSpPr>
        <p:spPr>
          <a:xfrm>
            <a:off x="4276725" y="263184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U.K.</a:t>
            </a:r>
          </a:p>
        </p:txBody>
      </p:sp>
      <p:sp>
        <p:nvSpPr>
          <p:cNvPr id="67" name="Rounded Rectangle 66"/>
          <p:cNvSpPr/>
          <p:nvPr/>
        </p:nvSpPr>
        <p:spPr>
          <a:xfrm>
            <a:off x="4276725" y="2996914"/>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France</a:t>
            </a:r>
          </a:p>
        </p:txBody>
      </p:sp>
      <p:sp>
        <p:nvSpPr>
          <p:cNvPr id="68" name="Rounded Rectangle 67"/>
          <p:cNvSpPr/>
          <p:nvPr/>
        </p:nvSpPr>
        <p:spPr>
          <a:xfrm>
            <a:off x="4276725" y="336198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Italy</a:t>
            </a:r>
          </a:p>
        </p:txBody>
      </p:sp>
      <p:sp>
        <p:nvSpPr>
          <p:cNvPr id="69" name="Rounded Rectangle 68"/>
          <p:cNvSpPr/>
          <p:nvPr/>
        </p:nvSpPr>
        <p:spPr>
          <a:xfrm>
            <a:off x="4276725" y="3727062"/>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Spain</a:t>
            </a:r>
          </a:p>
        </p:txBody>
      </p:sp>
      <p:sp>
        <p:nvSpPr>
          <p:cNvPr id="70" name="Rounded Rectangle 69"/>
          <p:cNvSpPr/>
          <p:nvPr/>
        </p:nvSpPr>
        <p:spPr>
          <a:xfrm>
            <a:off x="4276725" y="409213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Belgium</a:t>
            </a:r>
          </a:p>
        </p:txBody>
      </p:sp>
      <p:sp>
        <p:nvSpPr>
          <p:cNvPr id="71" name="Rounded Rectangle 70"/>
          <p:cNvSpPr/>
          <p:nvPr/>
        </p:nvSpPr>
        <p:spPr>
          <a:xfrm>
            <a:off x="4276725" y="446633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Netherlands</a:t>
            </a:r>
          </a:p>
        </p:txBody>
      </p:sp>
      <p:sp>
        <p:nvSpPr>
          <p:cNvPr id="72" name="Rounded Rectangle 71"/>
          <p:cNvSpPr/>
          <p:nvPr/>
        </p:nvSpPr>
        <p:spPr>
          <a:xfrm>
            <a:off x="4276725" y="483141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Nordic</a:t>
            </a:r>
          </a:p>
        </p:txBody>
      </p:sp>
      <p:sp>
        <p:nvSpPr>
          <p:cNvPr id="73" name="Rounded Rectangle 72"/>
          <p:cNvSpPr/>
          <p:nvPr/>
        </p:nvSpPr>
        <p:spPr>
          <a:xfrm>
            <a:off x="4276725" y="5196485"/>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Switzerland</a:t>
            </a:r>
          </a:p>
        </p:txBody>
      </p:sp>
      <p:sp>
        <p:nvSpPr>
          <p:cNvPr id="74" name="Rounded Rectangle 73"/>
          <p:cNvSpPr/>
          <p:nvPr/>
        </p:nvSpPr>
        <p:spPr>
          <a:xfrm>
            <a:off x="4276725" y="556155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Russia</a:t>
            </a:r>
          </a:p>
        </p:txBody>
      </p:sp>
      <p:sp>
        <p:nvSpPr>
          <p:cNvPr id="75" name="Rounded Rectangle 74"/>
          <p:cNvSpPr/>
          <p:nvPr/>
        </p:nvSpPr>
        <p:spPr>
          <a:xfrm>
            <a:off x="4276725" y="5926633"/>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Poland</a:t>
            </a:r>
          </a:p>
        </p:txBody>
      </p:sp>
      <p:sp>
        <p:nvSpPr>
          <p:cNvPr id="76" name="Rounded Rectangle 75"/>
          <p:cNvSpPr/>
          <p:nvPr/>
        </p:nvSpPr>
        <p:spPr>
          <a:xfrm>
            <a:off x="4276725" y="629170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Europe</a:t>
            </a:r>
          </a:p>
        </p:txBody>
      </p:sp>
      <p:sp>
        <p:nvSpPr>
          <p:cNvPr id="77" name="Rounded Rectangle 76"/>
          <p:cNvSpPr/>
          <p:nvPr/>
        </p:nvSpPr>
        <p:spPr>
          <a:xfrm>
            <a:off x="615315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East Asia</a:t>
            </a:r>
          </a:p>
        </p:txBody>
      </p:sp>
      <p:sp>
        <p:nvSpPr>
          <p:cNvPr id="78" name="Rounded Rectangle 77"/>
          <p:cNvSpPr/>
          <p:nvPr/>
        </p:nvSpPr>
        <p:spPr>
          <a:xfrm>
            <a:off x="628650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China</a:t>
            </a:r>
          </a:p>
        </p:txBody>
      </p:sp>
      <p:sp>
        <p:nvSpPr>
          <p:cNvPr id="79" name="Rounded Rectangle 78"/>
          <p:cNvSpPr/>
          <p:nvPr/>
        </p:nvSpPr>
        <p:spPr>
          <a:xfrm>
            <a:off x="628650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Japan</a:t>
            </a:r>
          </a:p>
        </p:txBody>
      </p:sp>
      <p:sp>
        <p:nvSpPr>
          <p:cNvPr id="80" name="Rounded Rectangle 79"/>
          <p:cNvSpPr/>
          <p:nvPr/>
        </p:nvSpPr>
        <p:spPr>
          <a:xfrm>
            <a:off x="628650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Korea</a:t>
            </a:r>
          </a:p>
        </p:txBody>
      </p:sp>
      <p:sp>
        <p:nvSpPr>
          <p:cNvPr id="81" name="Rounded Rectangle 80"/>
          <p:cNvSpPr/>
          <p:nvPr/>
        </p:nvSpPr>
        <p:spPr>
          <a:xfrm>
            <a:off x="815340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South Asia &amp; Pacific</a:t>
            </a:r>
          </a:p>
        </p:txBody>
      </p:sp>
      <p:sp>
        <p:nvSpPr>
          <p:cNvPr id="82" name="Rounded Rectangle 81"/>
          <p:cNvSpPr/>
          <p:nvPr/>
        </p:nvSpPr>
        <p:spPr>
          <a:xfrm>
            <a:off x="828675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India</a:t>
            </a:r>
          </a:p>
        </p:txBody>
      </p:sp>
      <p:sp>
        <p:nvSpPr>
          <p:cNvPr id="83" name="Rounded Rectangle 82"/>
          <p:cNvSpPr/>
          <p:nvPr/>
        </p:nvSpPr>
        <p:spPr>
          <a:xfrm>
            <a:off x="828675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Thailand</a:t>
            </a:r>
          </a:p>
        </p:txBody>
      </p:sp>
      <p:sp>
        <p:nvSpPr>
          <p:cNvPr id="84" name="Rounded Rectangle 83"/>
          <p:cNvSpPr/>
          <p:nvPr/>
        </p:nvSpPr>
        <p:spPr>
          <a:xfrm>
            <a:off x="828675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Malaysia</a:t>
            </a:r>
          </a:p>
        </p:txBody>
      </p:sp>
      <p:sp>
        <p:nvSpPr>
          <p:cNvPr id="85" name="Rounded Rectangle 84"/>
          <p:cNvSpPr/>
          <p:nvPr/>
        </p:nvSpPr>
        <p:spPr>
          <a:xfrm>
            <a:off x="8286750" y="33893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Indonesia</a:t>
            </a:r>
          </a:p>
        </p:txBody>
      </p:sp>
      <p:sp>
        <p:nvSpPr>
          <p:cNvPr id="86" name="Rounded Rectangle 85"/>
          <p:cNvSpPr/>
          <p:nvPr/>
        </p:nvSpPr>
        <p:spPr>
          <a:xfrm>
            <a:off x="8286750" y="37635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Singapore</a:t>
            </a:r>
          </a:p>
        </p:txBody>
      </p:sp>
      <p:sp>
        <p:nvSpPr>
          <p:cNvPr id="87" name="Rounded Rectangle 86"/>
          <p:cNvSpPr/>
          <p:nvPr/>
        </p:nvSpPr>
        <p:spPr>
          <a:xfrm>
            <a:off x="8286750" y="413777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Philippines</a:t>
            </a:r>
          </a:p>
        </p:txBody>
      </p:sp>
      <p:sp>
        <p:nvSpPr>
          <p:cNvPr id="88" name="Rounded Rectangle 87"/>
          <p:cNvSpPr/>
          <p:nvPr/>
        </p:nvSpPr>
        <p:spPr>
          <a:xfrm>
            <a:off x="8286750" y="451197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Australia</a:t>
            </a:r>
          </a:p>
        </p:txBody>
      </p:sp>
      <p:sp>
        <p:nvSpPr>
          <p:cNvPr id="89" name="Rounded Rectangle 88"/>
          <p:cNvSpPr/>
          <p:nvPr/>
        </p:nvSpPr>
        <p:spPr>
          <a:xfrm>
            <a:off x="8286750" y="4886172"/>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New Zealand</a:t>
            </a:r>
          </a:p>
        </p:txBody>
      </p:sp>
      <p:sp>
        <p:nvSpPr>
          <p:cNvPr id="90" name="Rounded Rectangle 89"/>
          <p:cNvSpPr/>
          <p:nvPr/>
        </p:nvSpPr>
        <p:spPr>
          <a:xfrm>
            <a:off x="8286750" y="5260373"/>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South Asia</a:t>
            </a:r>
          </a:p>
        </p:txBody>
      </p:sp>
      <p:sp>
        <p:nvSpPr>
          <p:cNvPr id="91" name="Rounded Rectangle 90"/>
          <p:cNvSpPr/>
          <p:nvPr/>
        </p:nvSpPr>
        <p:spPr>
          <a:xfrm>
            <a:off x="1015365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Middle East &amp; Africa</a:t>
            </a:r>
          </a:p>
        </p:txBody>
      </p:sp>
      <p:sp>
        <p:nvSpPr>
          <p:cNvPr id="92" name="Rounded Rectangle 91"/>
          <p:cNvSpPr/>
          <p:nvPr/>
        </p:nvSpPr>
        <p:spPr>
          <a:xfrm>
            <a:off x="1028700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UAE</a:t>
            </a:r>
          </a:p>
        </p:txBody>
      </p:sp>
      <p:sp>
        <p:nvSpPr>
          <p:cNvPr id="93" name="Rounded Rectangle 92"/>
          <p:cNvSpPr/>
          <p:nvPr/>
        </p:nvSpPr>
        <p:spPr>
          <a:xfrm>
            <a:off x="1028700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Saudi Arabia</a:t>
            </a:r>
          </a:p>
        </p:txBody>
      </p:sp>
      <p:sp>
        <p:nvSpPr>
          <p:cNvPr id="94" name="Rounded Rectangle 93"/>
          <p:cNvSpPr/>
          <p:nvPr/>
        </p:nvSpPr>
        <p:spPr>
          <a:xfrm>
            <a:off x="1028700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Turkey</a:t>
            </a:r>
          </a:p>
        </p:txBody>
      </p:sp>
      <p:sp>
        <p:nvSpPr>
          <p:cNvPr id="95" name="Rounded Rectangle 94"/>
          <p:cNvSpPr/>
          <p:nvPr/>
        </p:nvSpPr>
        <p:spPr>
          <a:xfrm>
            <a:off x="10287000" y="33893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Israel</a:t>
            </a:r>
          </a:p>
        </p:txBody>
      </p:sp>
      <p:sp>
        <p:nvSpPr>
          <p:cNvPr id="96" name="Rounded Rectangle 95"/>
          <p:cNvSpPr/>
          <p:nvPr/>
        </p:nvSpPr>
        <p:spPr>
          <a:xfrm>
            <a:off x="10287000" y="37635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GCC</a:t>
            </a:r>
          </a:p>
        </p:txBody>
      </p:sp>
      <p:sp>
        <p:nvSpPr>
          <p:cNvPr id="97" name="Rounded Rectangle 96"/>
          <p:cNvSpPr/>
          <p:nvPr/>
        </p:nvSpPr>
        <p:spPr>
          <a:xfrm>
            <a:off x="10287000" y="413777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Africa</a:t>
            </a:r>
          </a:p>
        </p:txBody>
      </p:sp>
      <p:sp>
        <p:nvSpPr>
          <p:cNvPr id="98" name="Rounded Rectangle 97"/>
          <p:cNvSpPr/>
          <p:nvPr/>
        </p:nvSpPr>
        <p:spPr>
          <a:xfrm>
            <a:off x="10287000" y="451197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MEA</a:t>
            </a:r>
          </a:p>
        </p:txBody>
      </p:sp>
      <p:sp>
        <p:nvSpPr>
          <p:cNvPr id="99" name="TextBox 9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7 axes and the sub-segments sized under each</a:t>
            </a:r>
          </a:p>
        </p:txBody>
      </p:sp>
      <p:sp>
        <p:nvSpPr>
          <p:cNvPr id="10" name="Rectangle 9"/>
          <p:cNvSpPr/>
          <p:nvPr/>
        </p:nvSpPr>
        <p:spPr>
          <a:xfrm>
            <a:off x="142875" y="1028700"/>
            <a:ext cx="2876550" cy="288607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Product Format</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Sprays and Mists</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3714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5619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Aerosol Hairsprays</a:t>
            </a:r>
          </a:p>
        </p:txBody>
      </p:sp>
      <p:cxnSp>
        <p:nvCxnSpPr>
          <p:cNvPr id="18" name="Connector 17"/>
          <p:cNvCxnSpPr/>
          <p:nvPr/>
        </p:nvCxnSpPr>
        <p:spPr>
          <a:xfrm>
            <a:off x="1524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714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5619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Non-aerosol Hairsprays</a:t>
            </a:r>
          </a:p>
        </p:txBody>
      </p:sp>
      <p:cxnSp>
        <p:nvCxnSpPr>
          <p:cNvPr id="21" name="Connector 20"/>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3714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5619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Texturizing Sprays</a:t>
            </a:r>
          </a:p>
        </p:txBody>
      </p:sp>
      <p:cxnSp>
        <p:nvCxnSpPr>
          <p:cNvPr id="24" name="Connector 23"/>
          <p:cNvCxnSpPr/>
          <p:nvPr/>
        </p:nvCxnSpPr>
        <p:spPr>
          <a:xfrm>
            <a:off x="1524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714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5619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Sea-salt Sprays</a:t>
            </a:r>
          </a:p>
        </p:txBody>
      </p:sp>
      <p:cxnSp>
        <p:nvCxnSpPr>
          <p:cNvPr id="27" name="Connector 26"/>
          <p:cNvCxnSpPr/>
          <p:nvPr/>
        </p:nvCxnSpPr>
        <p:spPr>
          <a:xfrm>
            <a:off x="1524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714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5619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Volumizing Sprays</a:t>
            </a:r>
          </a:p>
        </p:txBody>
      </p:sp>
      <p:cxnSp>
        <p:nvCxnSpPr>
          <p:cNvPr id="30" name="Connector 29"/>
          <p:cNvCxnSpPr/>
          <p:nvPr/>
        </p:nvCxnSpPr>
        <p:spPr>
          <a:xfrm>
            <a:off x="1524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20002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2" name="TextBox 31"/>
          <p:cNvSpPr txBox="1"/>
          <p:nvPr/>
        </p:nvSpPr>
        <p:spPr>
          <a:xfrm>
            <a:off x="390525" y="23202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Mousses and Foams</a:t>
            </a:r>
          </a:p>
        </p:txBody>
      </p:sp>
      <p:cxnSp>
        <p:nvCxnSpPr>
          <p:cNvPr id="33" name="Connector 32"/>
          <p:cNvCxnSpPr/>
          <p:nvPr/>
        </p:nvCxnSpPr>
        <p:spPr>
          <a:xfrm>
            <a:off x="1524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3714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5" name="TextBox 34"/>
          <p:cNvSpPr txBox="1"/>
          <p:nvPr/>
        </p:nvSpPr>
        <p:spPr>
          <a:xfrm>
            <a:off x="5619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Aerosol Mousses</a:t>
            </a:r>
          </a:p>
        </p:txBody>
      </p:sp>
      <p:cxnSp>
        <p:nvCxnSpPr>
          <p:cNvPr id="36" name="Connector 35"/>
          <p:cNvCxnSpPr/>
          <p:nvPr/>
        </p:nvCxnSpPr>
        <p:spPr>
          <a:xfrm>
            <a:off x="1524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3714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8" name="TextBox 37"/>
          <p:cNvSpPr txBox="1"/>
          <p:nvPr/>
        </p:nvSpPr>
        <p:spPr>
          <a:xfrm>
            <a:off x="5619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Non-aerosol Foams</a:t>
            </a:r>
          </a:p>
        </p:txBody>
      </p:sp>
      <p:cxnSp>
        <p:nvCxnSpPr>
          <p:cNvPr id="39" name="Connector 38"/>
          <p:cNvCxnSpPr/>
          <p:nvPr/>
        </p:nvCxnSpPr>
        <p:spPr>
          <a:xfrm>
            <a:off x="1524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0" name="TextBox 39"/>
          <p:cNvSpPr txBox="1"/>
          <p:nvPr/>
        </p:nvSpPr>
        <p:spPr>
          <a:xfrm>
            <a:off x="20002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1" name="TextBox 40"/>
          <p:cNvSpPr txBox="1"/>
          <p:nvPr/>
        </p:nvSpPr>
        <p:spPr>
          <a:xfrm>
            <a:off x="390525" y="285178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Gels and Jellies</a:t>
            </a:r>
          </a:p>
        </p:txBody>
      </p:sp>
      <p:cxnSp>
        <p:nvCxnSpPr>
          <p:cNvPr id="42" name="Connector 41"/>
          <p:cNvCxnSpPr/>
          <p:nvPr/>
        </p:nvCxnSpPr>
        <p:spPr>
          <a:xfrm>
            <a:off x="1524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3" name="TextBox 42"/>
          <p:cNvSpPr txBox="1"/>
          <p:nvPr/>
        </p:nvSpPr>
        <p:spPr>
          <a:xfrm>
            <a:off x="20002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4" name="TextBox 43"/>
          <p:cNvSpPr txBox="1"/>
          <p:nvPr/>
        </p:nvSpPr>
        <p:spPr>
          <a:xfrm>
            <a:off x="390525" y="302895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Creams and Lotions</a:t>
            </a:r>
          </a:p>
        </p:txBody>
      </p:sp>
      <p:cxnSp>
        <p:nvCxnSpPr>
          <p:cNvPr id="45" name="Connector 44"/>
          <p:cNvCxnSpPr/>
          <p:nvPr/>
        </p:nvCxnSpPr>
        <p:spPr>
          <a:xfrm>
            <a:off x="1524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20002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390525" y="320611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Waxes, Clays, Pastes and Pomades</a:t>
            </a:r>
          </a:p>
        </p:txBody>
      </p:sp>
      <p:cxnSp>
        <p:nvCxnSpPr>
          <p:cNvPr id="48" name="Connector 47"/>
          <p:cNvCxnSpPr/>
          <p:nvPr/>
        </p:nvCxnSpPr>
        <p:spPr>
          <a:xfrm>
            <a:off x="1524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20002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390525" y="338328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Styling Powders</a:t>
            </a:r>
          </a:p>
        </p:txBody>
      </p:sp>
      <p:cxnSp>
        <p:nvCxnSpPr>
          <p:cNvPr id="51" name="Connector 50"/>
          <p:cNvCxnSpPr/>
          <p:nvPr/>
        </p:nvCxnSpPr>
        <p:spPr>
          <a:xfrm>
            <a:off x="152400" y="35604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20002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3" name="TextBox 52"/>
          <p:cNvSpPr txBox="1"/>
          <p:nvPr/>
        </p:nvSpPr>
        <p:spPr>
          <a:xfrm>
            <a:off x="390525" y="356044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Styling Serums and Oils</a:t>
            </a:r>
          </a:p>
        </p:txBody>
      </p:sp>
      <p:cxnSp>
        <p:nvCxnSpPr>
          <p:cNvPr id="54" name="Connector 53"/>
          <p:cNvCxnSpPr/>
          <p:nvPr/>
        </p:nvCxnSpPr>
        <p:spPr>
          <a:xfrm>
            <a:off x="152400" y="37376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5" name="TextBox 54"/>
          <p:cNvSpPr txBox="1"/>
          <p:nvPr/>
        </p:nvSpPr>
        <p:spPr>
          <a:xfrm>
            <a:off x="200025" y="37376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6" name="TextBox 55"/>
          <p:cNvSpPr txBox="1"/>
          <p:nvPr/>
        </p:nvSpPr>
        <p:spPr>
          <a:xfrm>
            <a:off x="390525" y="373761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Sticks and Balms</a:t>
            </a:r>
          </a:p>
        </p:txBody>
      </p:sp>
      <p:sp>
        <p:nvSpPr>
          <p:cNvPr id="57" name="Rectangle 56"/>
          <p:cNvSpPr/>
          <p:nvPr/>
        </p:nvSpPr>
        <p:spPr>
          <a:xfrm>
            <a:off x="3152775" y="1028700"/>
            <a:ext cx="2876550" cy="111442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31527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32289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Hold Level</a:t>
            </a:r>
          </a:p>
        </p:txBody>
      </p:sp>
      <p:sp>
        <p:nvSpPr>
          <p:cNvPr id="60" name="TextBox 59"/>
          <p:cNvSpPr txBox="1"/>
          <p:nvPr/>
        </p:nvSpPr>
        <p:spPr>
          <a:xfrm>
            <a:off x="32099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1" name="TextBox 60"/>
          <p:cNvSpPr txBox="1"/>
          <p:nvPr/>
        </p:nvSpPr>
        <p:spPr>
          <a:xfrm>
            <a:off x="34004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No Hold</a:t>
            </a:r>
          </a:p>
        </p:txBody>
      </p:sp>
      <p:cxnSp>
        <p:nvCxnSpPr>
          <p:cNvPr id="62" name="Connector 61"/>
          <p:cNvCxnSpPr/>
          <p:nvPr/>
        </p:nvCxnSpPr>
        <p:spPr>
          <a:xfrm>
            <a:off x="31623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3" name="TextBox 62"/>
          <p:cNvSpPr txBox="1"/>
          <p:nvPr/>
        </p:nvSpPr>
        <p:spPr>
          <a:xfrm>
            <a:off x="32099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4" name="TextBox 63"/>
          <p:cNvSpPr txBox="1"/>
          <p:nvPr/>
        </p:nvSpPr>
        <p:spPr>
          <a:xfrm>
            <a:off x="34004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Light or Flexible Hold</a:t>
            </a:r>
          </a:p>
        </p:txBody>
      </p:sp>
      <p:cxnSp>
        <p:nvCxnSpPr>
          <p:cNvPr id="65" name="Connector 64"/>
          <p:cNvCxnSpPr/>
          <p:nvPr/>
        </p:nvCxnSpPr>
        <p:spPr>
          <a:xfrm>
            <a:off x="31623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6" name="TextBox 65"/>
          <p:cNvSpPr txBox="1"/>
          <p:nvPr/>
        </p:nvSpPr>
        <p:spPr>
          <a:xfrm>
            <a:off x="32099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7" name="TextBox 66"/>
          <p:cNvSpPr txBox="1"/>
          <p:nvPr/>
        </p:nvSpPr>
        <p:spPr>
          <a:xfrm>
            <a:off x="34004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Medium Hold</a:t>
            </a:r>
          </a:p>
        </p:txBody>
      </p:sp>
      <p:cxnSp>
        <p:nvCxnSpPr>
          <p:cNvPr id="68" name="Connector 67"/>
          <p:cNvCxnSpPr/>
          <p:nvPr/>
        </p:nvCxnSpPr>
        <p:spPr>
          <a:xfrm>
            <a:off x="31623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9" name="TextBox 68"/>
          <p:cNvSpPr txBox="1"/>
          <p:nvPr/>
        </p:nvSpPr>
        <p:spPr>
          <a:xfrm>
            <a:off x="32099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0" name="TextBox 69"/>
          <p:cNvSpPr txBox="1"/>
          <p:nvPr/>
        </p:nvSpPr>
        <p:spPr>
          <a:xfrm>
            <a:off x="34004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Strong Hold</a:t>
            </a:r>
          </a:p>
        </p:txBody>
      </p:sp>
      <p:cxnSp>
        <p:nvCxnSpPr>
          <p:cNvPr id="71" name="Connector 70"/>
          <p:cNvCxnSpPr/>
          <p:nvPr/>
        </p:nvCxnSpPr>
        <p:spPr>
          <a:xfrm>
            <a:off x="31623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2" name="TextBox 71"/>
          <p:cNvSpPr txBox="1"/>
          <p:nvPr/>
        </p:nvSpPr>
        <p:spPr>
          <a:xfrm>
            <a:off x="320992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3" name="TextBox 72"/>
          <p:cNvSpPr txBox="1"/>
          <p:nvPr/>
        </p:nvSpPr>
        <p:spPr>
          <a:xfrm>
            <a:off x="3400425" y="19659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Extra-strong Hold</a:t>
            </a:r>
          </a:p>
        </p:txBody>
      </p:sp>
      <p:sp>
        <p:nvSpPr>
          <p:cNvPr id="74" name="Rectangle 73"/>
          <p:cNvSpPr/>
          <p:nvPr/>
        </p:nvSpPr>
        <p:spPr>
          <a:xfrm>
            <a:off x="3152775" y="2257425"/>
            <a:ext cx="2876550" cy="111442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3152775" y="225742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3228975" y="225742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Hair Type Targeted</a:t>
            </a:r>
          </a:p>
        </p:txBody>
      </p:sp>
      <p:sp>
        <p:nvSpPr>
          <p:cNvPr id="77" name="TextBox 76"/>
          <p:cNvSpPr txBox="1"/>
          <p:nvPr/>
        </p:nvSpPr>
        <p:spPr>
          <a:xfrm>
            <a:off x="320992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8" name="TextBox 77"/>
          <p:cNvSpPr txBox="1"/>
          <p:nvPr/>
        </p:nvSpPr>
        <p:spPr>
          <a:xfrm>
            <a:off x="3400425" y="248602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Straight Hair</a:t>
            </a:r>
          </a:p>
        </p:txBody>
      </p:sp>
      <p:cxnSp>
        <p:nvCxnSpPr>
          <p:cNvPr id="79" name="Connector 78"/>
          <p:cNvCxnSpPr/>
          <p:nvPr/>
        </p:nvCxnSpPr>
        <p:spPr>
          <a:xfrm>
            <a:off x="31623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0" name="TextBox 79"/>
          <p:cNvSpPr txBox="1"/>
          <p:nvPr/>
        </p:nvSpPr>
        <p:spPr>
          <a:xfrm>
            <a:off x="320992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1" name="TextBox 80"/>
          <p:cNvSpPr txBox="1"/>
          <p:nvPr/>
        </p:nvSpPr>
        <p:spPr>
          <a:xfrm>
            <a:off x="3400425" y="266319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Wavy Hair</a:t>
            </a:r>
          </a:p>
        </p:txBody>
      </p:sp>
      <p:cxnSp>
        <p:nvCxnSpPr>
          <p:cNvPr id="82" name="Connector 81"/>
          <p:cNvCxnSpPr/>
          <p:nvPr/>
        </p:nvCxnSpPr>
        <p:spPr>
          <a:xfrm>
            <a:off x="31623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3" name="TextBox 82"/>
          <p:cNvSpPr txBox="1"/>
          <p:nvPr/>
        </p:nvSpPr>
        <p:spPr>
          <a:xfrm>
            <a:off x="320992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4" name="TextBox 83"/>
          <p:cNvSpPr txBox="1"/>
          <p:nvPr/>
        </p:nvSpPr>
        <p:spPr>
          <a:xfrm>
            <a:off x="3400425" y="284035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Curly Hair</a:t>
            </a:r>
          </a:p>
        </p:txBody>
      </p:sp>
      <p:cxnSp>
        <p:nvCxnSpPr>
          <p:cNvPr id="85" name="Connector 84"/>
          <p:cNvCxnSpPr/>
          <p:nvPr/>
        </p:nvCxnSpPr>
        <p:spPr>
          <a:xfrm>
            <a:off x="31623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6" name="TextBox 85"/>
          <p:cNvSpPr txBox="1"/>
          <p:nvPr/>
        </p:nvSpPr>
        <p:spPr>
          <a:xfrm>
            <a:off x="320992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7" name="TextBox 86"/>
          <p:cNvSpPr txBox="1"/>
          <p:nvPr/>
        </p:nvSpPr>
        <p:spPr>
          <a:xfrm>
            <a:off x="3400425" y="301752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Coily Hair</a:t>
            </a:r>
          </a:p>
        </p:txBody>
      </p:sp>
      <p:cxnSp>
        <p:nvCxnSpPr>
          <p:cNvPr id="88" name="Connector 87"/>
          <p:cNvCxnSpPr/>
          <p:nvPr/>
        </p:nvCxnSpPr>
        <p:spPr>
          <a:xfrm>
            <a:off x="31623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9" name="TextBox 88"/>
          <p:cNvSpPr txBox="1"/>
          <p:nvPr/>
        </p:nvSpPr>
        <p:spPr>
          <a:xfrm>
            <a:off x="320992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0" name="TextBox 89"/>
          <p:cNvSpPr txBox="1"/>
          <p:nvPr/>
        </p:nvSpPr>
        <p:spPr>
          <a:xfrm>
            <a:off x="3400425" y="319468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All Hair Types</a:t>
            </a:r>
          </a:p>
        </p:txBody>
      </p:sp>
      <p:sp>
        <p:nvSpPr>
          <p:cNvPr id="91" name="Rectangle 90"/>
          <p:cNvSpPr/>
          <p:nvPr/>
        </p:nvSpPr>
        <p:spPr>
          <a:xfrm>
            <a:off x="6162675" y="1028700"/>
            <a:ext cx="2876550" cy="7600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Finish</a:t>
            </a:r>
          </a:p>
        </p:txBody>
      </p:sp>
      <p:sp>
        <p:nvSpPr>
          <p:cNvPr id="94" name="TextBox 93"/>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5" name="TextBox 94"/>
          <p:cNvSpPr txBox="1"/>
          <p:nvPr/>
        </p:nvSpPr>
        <p:spPr>
          <a:xfrm>
            <a:off x="64103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Matte</a:t>
            </a:r>
          </a:p>
        </p:txBody>
      </p:sp>
      <p:cxnSp>
        <p:nvCxnSpPr>
          <p:cNvPr id="96" name="Connector 95"/>
          <p:cNvCxnSpPr/>
          <p:nvPr/>
        </p:nvCxnSpPr>
        <p:spPr>
          <a:xfrm>
            <a:off x="61722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7" name="TextBox 96"/>
          <p:cNvSpPr txBox="1"/>
          <p:nvPr/>
        </p:nvSpPr>
        <p:spPr>
          <a:xfrm>
            <a:off x="62198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8" name="TextBox 97"/>
          <p:cNvSpPr txBox="1"/>
          <p:nvPr/>
        </p:nvSpPr>
        <p:spPr>
          <a:xfrm>
            <a:off x="64103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Natural</a:t>
            </a:r>
          </a:p>
        </p:txBody>
      </p:sp>
      <p:cxnSp>
        <p:nvCxnSpPr>
          <p:cNvPr id="99" name="Connector 98"/>
          <p:cNvCxnSpPr/>
          <p:nvPr/>
        </p:nvCxnSpPr>
        <p:spPr>
          <a:xfrm>
            <a:off x="61722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62198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1" name="TextBox 100"/>
          <p:cNvSpPr txBox="1"/>
          <p:nvPr/>
        </p:nvSpPr>
        <p:spPr>
          <a:xfrm>
            <a:off x="64103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Glossy or Wet-look</a:t>
            </a:r>
          </a:p>
        </p:txBody>
      </p:sp>
      <p:sp>
        <p:nvSpPr>
          <p:cNvPr id="102" name="Rectangle 101"/>
          <p:cNvSpPr/>
          <p:nvPr/>
        </p:nvSpPr>
        <p:spPr>
          <a:xfrm>
            <a:off x="6162675" y="1903095"/>
            <a:ext cx="2876550" cy="146875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6162675" y="190309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6238875" y="190309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Primary Styling Benefit</a:t>
            </a:r>
          </a:p>
        </p:txBody>
      </p:sp>
      <p:sp>
        <p:nvSpPr>
          <p:cNvPr id="105" name="TextBox 104"/>
          <p:cNvSpPr txBox="1"/>
          <p:nvPr/>
        </p:nvSpPr>
        <p:spPr>
          <a:xfrm>
            <a:off x="6219825" y="21316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6" name="TextBox 105"/>
          <p:cNvSpPr txBox="1"/>
          <p:nvPr/>
        </p:nvSpPr>
        <p:spPr>
          <a:xfrm>
            <a:off x="6410325" y="21316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Hold and Shape</a:t>
            </a:r>
          </a:p>
        </p:txBody>
      </p:sp>
      <p:cxnSp>
        <p:nvCxnSpPr>
          <p:cNvPr id="107" name="Connector 106"/>
          <p:cNvCxnSpPr/>
          <p:nvPr/>
        </p:nvCxnSpPr>
        <p:spPr>
          <a:xfrm>
            <a:off x="6172200" y="23088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8" name="TextBox 107"/>
          <p:cNvSpPr txBox="1"/>
          <p:nvPr/>
        </p:nvSpPr>
        <p:spPr>
          <a:xfrm>
            <a:off x="62198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9" name="TextBox 108"/>
          <p:cNvSpPr txBox="1"/>
          <p:nvPr/>
        </p:nvSpPr>
        <p:spPr>
          <a:xfrm>
            <a:off x="6410325" y="23088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Curl Definition</a:t>
            </a:r>
          </a:p>
        </p:txBody>
      </p:sp>
      <p:cxnSp>
        <p:nvCxnSpPr>
          <p:cNvPr id="110" name="Connector 109"/>
          <p:cNvCxnSpPr/>
          <p:nvPr/>
        </p:nvCxnSpPr>
        <p:spPr>
          <a:xfrm>
            <a:off x="61722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1" name="TextBox 110"/>
          <p:cNvSpPr txBox="1"/>
          <p:nvPr/>
        </p:nvSpPr>
        <p:spPr>
          <a:xfrm>
            <a:off x="621982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2" name="TextBox 111"/>
          <p:cNvSpPr txBox="1"/>
          <p:nvPr/>
        </p:nvSpPr>
        <p:spPr>
          <a:xfrm>
            <a:off x="6410325" y="248602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Volume and Root Lift</a:t>
            </a:r>
          </a:p>
        </p:txBody>
      </p:sp>
      <p:cxnSp>
        <p:nvCxnSpPr>
          <p:cNvPr id="113" name="Connector 112"/>
          <p:cNvCxnSpPr/>
          <p:nvPr/>
        </p:nvCxnSpPr>
        <p:spPr>
          <a:xfrm>
            <a:off x="61722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4" name="TextBox 113"/>
          <p:cNvSpPr txBox="1"/>
          <p:nvPr/>
        </p:nvSpPr>
        <p:spPr>
          <a:xfrm>
            <a:off x="621982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5" name="TextBox 114"/>
          <p:cNvSpPr txBox="1"/>
          <p:nvPr/>
        </p:nvSpPr>
        <p:spPr>
          <a:xfrm>
            <a:off x="6410325" y="266319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Texture and Separation</a:t>
            </a:r>
          </a:p>
        </p:txBody>
      </p:sp>
      <p:cxnSp>
        <p:nvCxnSpPr>
          <p:cNvPr id="116" name="Connector 115"/>
          <p:cNvCxnSpPr/>
          <p:nvPr/>
        </p:nvCxnSpPr>
        <p:spPr>
          <a:xfrm>
            <a:off x="61722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7" name="TextBox 116"/>
          <p:cNvSpPr txBox="1"/>
          <p:nvPr/>
        </p:nvSpPr>
        <p:spPr>
          <a:xfrm>
            <a:off x="621982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8" name="TextBox 117"/>
          <p:cNvSpPr txBox="1"/>
          <p:nvPr/>
        </p:nvSpPr>
        <p:spPr>
          <a:xfrm>
            <a:off x="6410325" y="284035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Smoothing and Frizz Control</a:t>
            </a:r>
          </a:p>
        </p:txBody>
      </p:sp>
      <p:cxnSp>
        <p:nvCxnSpPr>
          <p:cNvPr id="119" name="Connector 118"/>
          <p:cNvCxnSpPr/>
          <p:nvPr/>
        </p:nvCxnSpPr>
        <p:spPr>
          <a:xfrm>
            <a:off x="61722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621982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1" name="TextBox 120"/>
          <p:cNvSpPr txBox="1"/>
          <p:nvPr/>
        </p:nvSpPr>
        <p:spPr>
          <a:xfrm>
            <a:off x="6410325" y="301752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Sleek Styling and Edge Control</a:t>
            </a:r>
          </a:p>
        </p:txBody>
      </p:sp>
      <p:cxnSp>
        <p:nvCxnSpPr>
          <p:cNvPr id="122" name="Connector 121"/>
          <p:cNvCxnSpPr/>
          <p:nvPr/>
        </p:nvCxnSpPr>
        <p:spPr>
          <a:xfrm>
            <a:off x="61722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3" name="TextBox 122"/>
          <p:cNvSpPr txBox="1"/>
          <p:nvPr/>
        </p:nvSpPr>
        <p:spPr>
          <a:xfrm>
            <a:off x="621982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4" name="TextBox 123"/>
          <p:cNvSpPr txBox="1"/>
          <p:nvPr/>
        </p:nvSpPr>
        <p:spPr>
          <a:xfrm>
            <a:off x="6410325" y="319468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Heat Styling Support</a:t>
            </a:r>
          </a:p>
        </p:txBody>
      </p:sp>
      <p:sp>
        <p:nvSpPr>
          <p:cNvPr id="125" name="Rectangle 124"/>
          <p:cNvSpPr/>
          <p:nvPr/>
        </p:nvSpPr>
        <p:spPr>
          <a:xfrm>
            <a:off x="9172575" y="1028700"/>
            <a:ext cx="2876550" cy="12915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92487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Distribution Channel</a:t>
            </a:r>
          </a:p>
        </p:txBody>
      </p:sp>
      <p:sp>
        <p:nvSpPr>
          <p:cNvPr id="128" name="TextBox 127"/>
          <p:cNvSpPr txBox="1"/>
          <p:nvPr/>
        </p:nvSpPr>
        <p:spPr>
          <a:xfrm>
            <a:off x="92297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9" name="TextBox 128"/>
          <p:cNvSpPr txBox="1"/>
          <p:nvPr/>
        </p:nvSpPr>
        <p:spPr>
          <a:xfrm>
            <a:off x="94202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Mass Retail</a:t>
            </a:r>
          </a:p>
        </p:txBody>
      </p:sp>
      <p:cxnSp>
        <p:nvCxnSpPr>
          <p:cNvPr id="130" name="Connector 129"/>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92297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2" name="TextBox 131"/>
          <p:cNvSpPr txBox="1"/>
          <p:nvPr/>
        </p:nvSpPr>
        <p:spPr>
          <a:xfrm>
            <a:off x="94202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Beauty Specialty Retail</a:t>
            </a:r>
          </a:p>
        </p:txBody>
      </p:sp>
      <p:cxnSp>
        <p:nvCxnSpPr>
          <p:cNvPr id="133" name="Connector 132"/>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4" name="TextBox 133"/>
          <p:cNvSpPr txBox="1"/>
          <p:nvPr/>
        </p:nvSpPr>
        <p:spPr>
          <a:xfrm>
            <a:off x="92297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5" name="TextBox 134"/>
          <p:cNvSpPr txBox="1"/>
          <p:nvPr/>
        </p:nvSpPr>
        <p:spPr>
          <a:xfrm>
            <a:off x="94202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Salon and Professional Distribution</a:t>
            </a:r>
          </a:p>
        </p:txBody>
      </p:sp>
      <p:cxnSp>
        <p:nvCxnSpPr>
          <p:cNvPr id="136" name="Connector 135"/>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7" name="TextBox 136"/>
          <p:cNvSpPr txBox="1"/>
          <p:nvPr/>
        </p:nvSpPr>
        <p:spPr>
          <a:xfrm>
            <a:off x="92297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8" name="TextBox 137"/>
          <p:cNvSpPr txBox="1"/>
          <p:nvPr/>
        </p:nvSpPr>
        <p:spPr>
          <a:xfrm>
            <a:off x="94202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Pharmacies and Drugstores</a:t>
            </a:r>
          </a:p>
        </p:txBody>
      </p:sp>
      <p:cxnSp>
        <p:nvCxnSpPr>
          <p:cNvPr id="139" name="Connector 138"/>
          <p:cNvCxnSpPr/>
          <p:nvPr/>
        </p:nvCxnSpPr>
        <p:spPr>
          <a:xfrm>
            <a:off x="91821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0" name="TextBox 139"/>
          <p:cNvSpPr txBox="1"/>
          <p:nvPr/>
        </p:nvSpPr>
        <p:spPr>
          <a:xfrm>
            <a:off x="922972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1" name="TextBox 140"/>
          <p:cNvSpPr txBox="1"/>
          <p:nvPr/>
        </p:nvSpPr>
        <p:spPr>
          <a:xfrm>
            <a:off x="9420225" y="19659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Online Marketplaces</a:t>
            </a:r>
          </a:p>
        </p:txBody>
      </p:sp>
      <p:cxnSp>
        <p:nvCxnSpPr>
          <p:cNvPr id="142" name="Connector 141"/>
          <p:cNvCxnSpPr/>
          <p:nvPr/>
        </p:nvCxnSpPr>
        <p:spPr>
          <a:xfrm>
            <a:off x="91821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3" name="TextBox 142"/>
          <p:cNvSpPr txBox="1"/>
          <p:nvPr/>
        </p:nvSpPr>
        <p:spPr>
          <a:xfrm>
            <a:off x="922972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4" name="TextBox 143"/>
          <p:cNvSpPr txBox="1"/>
          <p:nvPr/>
        </p:nvSpPr>
        <p:spPr>
          <a:xfrm>
            <a:off x="9420225" y="214312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Brand-owned Online Stores</a:t>
            </a:r>
          </a:p>
        </p:txBody>
      </p:sp>
      <p:sp>
        <p:nvSpPr>
          <p:cNvPr id="145" name="Rectangle 144"/>
          <p:cNvSpPr/>
          <p:nvPr/>
        </p:nvSpPr>
        <p:spPr>
          <a:xfrm>
            <a:off x="9172575" y="2434590"/>
            <a:ext cx="2876550" cy="288607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9172575" y="243459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9248775" y="243459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Ingredient Technology</a:t>
            </a:r>
          </a:p>
        </p:txBody>
      </p:sp>
      <p:sp>
        <p:nvSpPr>
          <p:cNvPr id="148" name="TextBox 147"/>
          <p:cNvSpPr txBox="1"/>
          <p:nvPr/>
        </p:nvSpPr>
        <p:spPr>
          <a:xfrm>
            <a:off x="922972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9" name="TextBox 148"/>
          <p:cNvSpPr txBox="1"/>
          <p:nvPr/>
        </p:nvSpPr>
        <p:spPr>
          <a:xfrm>
            <a:off x="9420225" y="26631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Film-forming and Fixative Polymers</a:t>
            </a:r>
          </a:p>
        </p:txBody>
      </p:sp>
      <p:cxnSp>
        <p:nvCxnSpPr>
          <p:cNvPr id="150" name="Connector 149"/>
          <p:cNvCxnSpPr/>
          <p:nvPr/>
        </p:nvCxnSpPr>
        <p:spPr>
          <a:xfrm>
            <a:off x="91821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1" name="TextBox 150"/>
          <p:cNvSpPr txBox="1"/>
          <p:nvPr/>
        </p:nvSpPr>
        <p:spPr>
          <a:xfrm>
            <a:off x="940117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2" name="TextBox 151"/>
          <p:cNvSpPr txBox="1"/>
          <p:nvPr/>
        </p:nvSpPr>
        <p:spPr>
          <a:xfrm>
            <a:off x="9591675" y="28403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Synthetic Polymers</a:t>
            </a:r>
          </a:p>
        </p:txBody>
      </p:sp>
      <p:cxnSp>
        <p:nvCxnSpPr>
          <p:cNvPr id="153" name="Connector 152"/>
          <p:cNvCxnSpPr/>
          <p:nvPr/>
        </p:nvCxnSpPr>
        <p:spPr>
          <a:xfrm>
            <a:off x="91821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4" name="TextBox 153"/>
          <p:cNvSpPr txBox="1"/>
          <p:nvPr/>
        </p:nvSpPr>
        <p:spPr>
          <a:xfrm>
            <a:off x="940117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5" name="TextBox 154"/>
          <p:cNvSpPr txBox="1"/>
          <p:nvPr/>
        </p:nvSpPr>
        <p:spPr>
          <a:xfrm>
            <a:off x="9591675" y="30175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Bio-based Polymers</a:t>
            </a:r>
          </a:p>
        </p:txBody>
      </p:sp>
      <p:cxnSp>
        <p:nvCxnSpPr>
          <p:cNvPr id="156" name="Connector 155"/>
          <p:cNvCxnSpPr/>
          <p:nvPr/>
        </p:nvCxnSpPr>
        <p:spPr>
          <a:xfrm>
            <a:off x="91821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7" name="TextBox 156"/>
          <p:cNvSpPr txBox="1"/>
          <p:nvPr/>
        </p:nvSpPr>
        <p:spPr>
          <a:xfrm>
            <a:off x="940117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8" name="TextBox 157"/>
          <p:cNvSpPr txBox="1"/>
          <p:nvPr/>
        </p:nvSpPr>
        <p:spPr>
          <a:xfrm>
            <a:off x="9591675" y="31946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Biodegradable Polymers</a:t>
            </a:r>
          </a:p>
        </p:txBody>
      </p:sp>
      <p:cxnSp>
        <p:nvCxnSpPr>
          <p:cNvPr id="159" name="Connector 158"/>
          <p:cNvCxnSpPr/>
          <p:nvPr/>
        </p:nvCxnSpPr>
        <p:spPr>
          <a:xfrm>
            <a:off x="9182100" y="33718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0" name="TextBox 159"/>
          <p:cNvSpPr txBox="1"/>
          <p:nvPr/>
        </p:nvSpPr>
        <p:spPr>
          <a:xfrm>
            <a:off x="922972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1" name="TextBox 160"/>
          <p:cNvSpPr txBox="1"/>
          <p:nvPr/>
        </p:nvSpPr>
        <p:spPr>
          <a:xfrm>
            <a:off x="9420225" y="337185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Texture and Volume Additives</a:t>
            </a:r>
          </a:p>
        </p:txBody>
      </p:sp>
      <p:cxnSp>
        <p:nvCxnSpPr>
          <p:cNvPr id="162" name="Connector 161"/>
          <p:cNvCxnSpPr/>
          <p:nvPr/>
        </p:nvCxnSpPr>
        <p:spPr>
          <a:xfrm>
            <a:off x="9182100" y="35490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3" name="TextBox 162"/>
          <p:cNvSpPr txBox="1"/>
          <p:nvPr/>
        </p:nvSpPr>
        <p:spPr>
          <a:xfrm>
            <a:off x="9401175" y="35490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4" name="TextBox 163"/>
          <p:cNvSpPr txBox="1"/>
          <p:nvPr/>
        </p:nvSpPr>
        <p:spPr>
          <a:xfrm>
            <a:off x="9591675" y="35490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Silica-based Additives</a:t>
            </a:r>
          </a:p>
        </p:txBody>
      </p:sp>
      <p:cxnSp>
        <p:nvCxnSpPr>
          <p:cNvPr id="165" name="Connector 164"/>
          <p:cNvCxnSpPr/>
          <p:nvPr/>
        </p:nvCxnSpPr>
        <p:spPr>
          <a:xfrm>
            <a:off x="9182100" y="37261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6" name="TextBox 165"/>
          <p:cNvSpPr txBox="1"/>
          <p:nvPr/>
        </p:nvSpPr>
        <p:spPr>
          <a:xfrm>
            <a:off x="9401175" y="37261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7" name="TextBox 166"/>
          <p:cNvSpPr txBox="1"/>
          <p:nvPr/>
        </p:nvSpPr>
        <p:spPr>
          <a:xfrm>
            <a:off x="9591675" y="37261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Starch-based Additives</a:t>
            </a:r>
          </a:p>
        </p:txBody>
      </p:sp>
      <p:cxnSp>
        <p:nvCxnSpPr>
          <p:cNvPr id="168" name="Connector 167"/>
          <p:cNvCxnSpPr/>
          <p:nvPr/>
        </p:nvCxnSpPr>
        <p:spPr>
          <a:xfrm>
            <a:off x="9182100" y="3903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9" name="TextBox 168"/>
          <p:cNvSpPr txBox="1"/>
          <p:nvPr/>
        </p:nvSpPr>
        <p:spPr>
          <a:xfrm>
            <a:off x="9401175" y="3903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0" name="TextBox 169"/>
          <p:cNvSpPr txBox="1"/>
          <p:nvPr/>
        </p:nvSpPr>
        <p:spPr>
          <a:xfrm>
            <a:off x="9591675" y="3903345"/>
            <a:ext cx="2419350" cy="354330"/>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Other Mineral and Plant-based Additives</a:t>
            </a:r>
          </a:p>
        </p:txBody>
      </p:sp>
      <p:cxnSp>
        <p:nvCxnSpPr>
          <p:cNvPr id="171" name="Connector 170"/>
          <p:cNvCxnSpPr/>
          <p:nvPr/>
        </p:nvCxnSpPr>
        <p:spPr>
          <a:xfrm>
            <a:off x="9182100" y="42576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2" name="TextBox 171"/>
          <p:cNvSpPr txBox="1"/>
          <p:nvPr/>
        </p:nvSpPr>
        <p:spPr>
          <a:xfrm>
            <a:off x="9229725" y="42576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3" name="TextBox 172"/>
          <p:cNvSpPr txBox="1"/>
          <p:nvPr/>
        </p:nvSpPr>
        <p:spPr>
          <a:xfrm>
            <a:off x="9420225" y="425767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Conditioning and Smoothing Agents</a:t>
            </a:r>
          </a:p>
        </p:txBody>
      </p:sp>
      <p:cxnSp>
        <p:nvCxnSpPr>
          <p:cNvPr id="174" name="Connector 173"/>
          <p:cNvCxnSpPr/>
          <p:nvPr/>
        </p:nvCxnSpPr>
        <p:spPr>
          <a:xfrm>
            <a:off x="9182100" y="4434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5" name="TextBox 174"/>
          <p:cNvSpPr txBox="1"/>
          <p:nvPr/>
        </p:nvSpPr>
        <p:spPr>
          <a:xfrm>
            <a:off x="9401175" y="4434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6" name="TextBox 175"/>
          <p:cNvSpPr txBox="1"/>
          <p:nvPr/>
        </p:nvSpPr>
        <p:spPr>
          <a:xfrm>
            <a:off x="9591675" y="44348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Silicone-based</a:t>
            </a:r>
          </a:p>
        </p:txBody>
      </p:sp>
      <p:cxnSp>
        <p:nvCxnSpPr>
          <p:cNvPr id="177" name="Connector 176"/>
          <p:cNvCxnSpPr/>
          <p:nvPr/>
        </p:nvCxnSpPr>
        <p:spPr>
          <a:xfrm>
            <a:off x="9182100" y="4612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8" name="TextBox 177"/>
          <p:cNvSpPr txBox="1"/>
          <p:nvPr/>
        </p:nvSpPr>
        <p:spPr>
          <a:xfrm>
            <a:off x="9401175" y="4612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9" name="TextBox 178"/>
          <p:cNvSpPr txBox="1"/>
          <p:nvPr/>
        </p:nvSpPr>
        <p:spPr>
          <a:xfrm>
            <a:off x="9591675" y="46120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Silicone-free</a:t>
            </a:r>
          </a:p>
        </p:txBody>
      </p:sp>
      <p:cxnSp>
        <p:nvCxnSpPr>
          <p:cNvPr id="180" name="Connector 179"/>
          <p:cNvCxnSpPr/>
          <p:nvPr/>
        </p:nvCxnSpPr>
        <p:spPr>
          <a:xfrm>
            <a:off x="9182100" y="4789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1" name="TextBox 180"/>
          <p:cNvSpPr txBox="1"/>
          <p:nvPr/>
        </p:nvSpPr>
        <p:spPr>
          <a:xfrm>
            <a:off x="9229725" y="4789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2" name="TextBox 181"/>
          <p:cNvSpPr txBox="1"/>
          <p:nvPr/>
        </p:nvSpPr>
        <p:spPr>
          <a:xfrm>
            <a:off x="9420225" y="478917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Waxes and Structuring Agents</a:t>
            </a:r>
          </a:p>
        </p:txBody>
      </p:sp>
      <p:cxnSp>
        <p:nvCxnSpPr>
          <p:cNvPr id="183" name="Connector 182"/>
          <p:cNvCxnSpPr/>
          <p:nvPr/>
        </p:nvCxnSpPr>
        <p:spPr>
          <a:xfrm>
            <a:off x="9182100" y="4966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4" name="TextBox 183"/>
          <p:cNvSpPr txBox="1"/>
          <p:nvPr/>
        </p:nvSpPr>
        <p:spPr>
          <a:xfrm>
            <a:off x="9401175" y="4966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5" name="TextBox 184"/>
          <p:cNvSpPr txBox="1"/>
          <p:nvPr/>
        </p:nvSpPr>
        <p:spPr>
          <a:xfrm>
            <a:off x="9591675" y="49663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Synthetic Waxes</a:t>
            </a:r>
          </a:p>
        </p:txBody>
      </p:sp>
      <p:cxnSp>
        <p:nvCxnSpPr>
          <p:cNvPr id="186" name="Connector 185"/>
          <p:cNvCxnSpPr/>
          <p:nvPr/>
        </p:nvCxnSpPr>
        <p:spPr>
          <a:xfrm>
            <a:off x="9182100" y="51435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7" name="TextBox 186"/>
          <p:cNvSpPr txBox="1"/>
          <p:nvPr/>
        </p:nvSpPr>
        <p:spPr>
          <a:xfrm>
            <a:off x="9401175" y="51435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8" name="TextBox 187"/>
          <p:cNvSpPr txBox="1"/>
          <p:nvPr/>
        </p:nvSpPr>
        <p:spPr>
          <a:xfrm>
            <a:off x="9591675" y="514350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Plant-derived Waxes</a:t>
            </a:r>
          </a:p>
        </p:txBody>
      </p:sp>
      <p:sp>
        <p:nvSpPr>
          <p:cNvPr id="189" name="TextBox 18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Company Coverage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Companies profiled and benchmarked across the competition assessment</a:t>
            </a:r>
          </a:p>
        </p:txBody>
      </p:sp>
      <p:sp>
        <p:nvSpPr>
          <p:cNvPr id="10" name="TextBox 9"/>
          <p:cNvSpPr txBox="1"/>
          <p:nvPr/>
        </p:nvSpPr>
        <p:spPr>
          <a:xfrm>
            <a:off x="142875" y="1007261"/>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Companies covered in this study of the Hair Styling Products Market profiled and benchmarked in the Competition Assessment section.</a:t>
            </a:r>
          </a:p>
        </p:txBody>
      </p:sp>
      <p:sp>
        <p:nvSpPr>
          <p:cNvPr id="11" name="Rectangle 10"/>
          <p:cNvSpPr/>
          <p:nvPr/>
        </p:nvSpPr>
        <p:spPr>
          <a:xfrm>
            <a:off x="142875" y="2796123"/>
            <a:ext cx="5857875" cy="21721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42875" y="2796123"/>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42875" y="2860011"/>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14" name="TextBox 13"/>
          <p:cNvSpPr txBox="1"/>
          <p:nvPr/>
        </p:nvSpPr>
        <p:spPr>
          <a:xfrm>
            <a:off x="333375" y="3069929"/>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5" name="TextBox 14"/>
          <p:cNvSpPr txBox="1"/>
          <p:nvPr/>
        </p:nvSpPr>
        <p:spPr>
          <a:xfrm>
            <a:off x="581025" y="3069929"/>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A</a:t>
            </a:r>
          </a:p>
        </p:txBody>
      </p:sp>
      <p:sp>
        <p:nvSpPr>
          <p:cNvPr id="16" name="Rectangle 15"/>
          <p:cNvSpPr/>
          <p:nvPr/>
        </p:nvSpPr>
        <p:spPr>
          <a:xfrm>
            <a:off x="152400" y="3544525"/>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7" name="Connector 16"/>
          <p:cNvCxnSpPr/>
          <p:nvPr/>
        </p:nvCxnSpPr>
        <p:spPr>
          <a:xfrm>
            <a:off x="152400" y="354452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33375" y="3544525"/>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9" name="TextBox 18"/>
          <p:cNvSpPr txBox="1"/>
          <p:nvPr/>
        </p:nvSpPr>
        <p:spPr>
          <a:xfrm>
            <a:off x="581025" y="3544525"/>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B</a:t>
            </a:r>
          </a:p>
        </p:txBody>
      </p:sp>
      <p:cxnSp>
        <p:nvCxnSpPr>
          <p:cNvPr id="20" name="Connector 19"/>
          <p:cNvCxnSpPr/>
          <p:nvPr/>
        </p:nvCxnSpPr>
        <p:spPr>
          <a:xfrm>
            <a:off x="152400"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333375" y="4019121"/>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2" name="TextBox 21"/>
          <p:cNvSpPr txBox="1"/>
          <p:nvPr/>
        </p:nvSpPr>
        <p:spPr>
          <a:xfrm>
            <a:off x="581025" y="4019121"/>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C</a:t>
            </a:r>
          </a:p>
        </p:txBody>
      </p:sp>
      <p:sp>
        <p:nvSpPr>
          <p:cNvPr id="23" name="Rectangle 22"/>
          <p:cNvSpPr/>
          <p:nvPr/>
        </p:nvSpPr>
        <p:spPr>
          <a:xfrm>
            <a:off x="152400" y="4493717"/>
            <a:ext cx="5838825" cy="46546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4" name="Connector 23"/>
          <p:cNvCxnSpPr/>
          <p:nvPr/>
        </p:nvCxnSpPr>
        <p:spPr>
          <a:xfrm>
            <a:off x="152400" y="449371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33375" y="4493717"/>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6" name="TextBox 25"/>
          <p:cNvSpPr txBox="1"/>
          <p:nvPr/>
        </p:nvSpPr>
        <p:spPr>
          <a:xfrm>
            <a:off x="581025" y="4493717"/>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D</a:t>
            </a:r>
          </a:p>
        </p:txBody>
      </p:sp>
      <p:sp>
        <p:nvSpPr>
          <p:cNvPr id="27" name="Rectangle 26"/>
          <p:cNvSpPr/>
          <p:nvPr/>
        </p:nvSpPr>
        <p:spPr>
          <a:xfrm>
            <a:off x="6191250" y="2796123"/>
            <a:ext cx="5857875" cy="21721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191250" y="2796123"/>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191250" y="2860011"/>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30" name="TextBox 29"/>
          <p:cNvSpPr txBox="1"/>
          <p:nvPr/>
        </p:nvSpPr>
        <p:spPr>
          <a:xfrm>
            <a:off x="6381750" y="3069929"/>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1" name="TextBox 30"/>
          <p:cNvSpPr txBox="1"/>
          <p:nvPr/>
        </p:nvSpPr>
        <p:spPr>
          <a:xfrm>
            <a:off x="6629400" y="3069929"/>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E</a:t>
            </a:r>
          </a:p>
        </p:txBody>
      </p:sp>
      <p:sp>
        <p:nvSpPr>
          <p:cNvPr id="32" name="Rectangle 31"/>
          <p:cNvSpPr/>
          <p:nvPr/>
        </p:nvSpPr>
        <p:spPr>
          <a:xfrm>
            <a:off x="6200775" y="3544525"/>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3" name="Connector 32"/>
          <p:cNvCxnSpPr/>
          <p:nvPr/>
        </p:nvCxnSpPr>
        <p:spPr>
          <a:xfrm>
            <a:off x="6200775" y="354452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6381750" y="3544525"/>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5" name="TextBox 34"/>
          <p:cNvSpPr txBox="1"/>
          <p:nvPr/>
        </p:nvSpPr>
        <p:spPr>
          <a:xfrm>
            <a:off x="6629400" y="3544525"/>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F</a:t>
            </a:r>
          </a:p>
        </p:txBody>
      </p:sp>
      <p:cxnSp>
        <p:nvCxnSpPr>
          <p:cNvPr id="36" name="Connector 35"/>
          <p:cNvCxnSpPr/>
          <p:nvPr/>
        </p:nvCxnSpPr>
        <p:spPr>
          <a:xfrm>
            <a:off x="6200775"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6381750" y="4019121"/>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8" name="TextBox 37"/>
          <p:cNvSpPr txBox="1"/>
          <p:nvPr/>
        </p:nvSpPr>
        <p:spPr>
          <a:xfrm>
            <a:off x="6629400" y="4019121"/>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G</a:t>
            </a:r>
          </a:p>
        </p:txBody>
      </p:sp>
      <p:sp>
        <p:nvSpPr>
          <p:cNvPr id="39" name="Rectangle 38"/>
          <p:cNvSpPr/>
          <p:nvPr/>
        </p:nvSpPr>
        <p:spPr>
          <a:xfrm>
            <a:off x="6200775" y="4493717"/>
            <a:ext cx="5838825" cy="46546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0" name="Connector 39"/>
          <p:cNvCxnSpPr/>
          <p:nvPr/>
        </p:nvCxnSpPr>
        <p:spPr>
          <a:xfrm>
            <a:off x="6200775" y="449371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6381750" y="4493717"/>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2" name="TextBox 41"/>
          <p:cNvSpPr txBox="1"/>
          <p:nvPr/>
        </p:nvSpPr>
        <p:spPr>
          <a:xfrm>
            <a:off x="6629400" y="4493717"/>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H</a:t>
            </a:r>
          </a:p>
        </p:txBody>
      </p:sp>
      <p:sp>
        <p:nvSpPr>
          <p:cNvPr id="43" name="TextBox 42"/>
          <p:cNvSpPr txBox="1"/>
          <p:nvPr/>
        </p:nvSpPr>
        <p:spPr>
          <a:xfrm>
            <a:off x="142875" y="6337341"/>
            <a:ext cx="11906250" cy="182537"/>
          </a:xfrm>
          <a:prstGeom prst="rect">
            <a:avLst/>
          </a:prstGeom>
          <a:noFill/>
        </p:spPr>
        <p:txBody>
          <a:bodyPr wrap="square" lIns="28575" rIns="28575" tIns="9525" bIns="9525" anchor="ctr">
            <a:spAutoFit/>
          </a:bodyPr>
          <a:lstStyle/>
          <a:p>
            <a:pPr algn="l"/>
            <a:r>
              <a:rPr sz="1100" b="1">
                <a:solidFill>
                  <a:srgbClr val="B06A2C"/>
                </a:solidFill>
                <a:latin typeface="Calibri"/>
              </a:rPr>
              <a:t>Note: the list of companies is indicative and can be customised on request.</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Table of Contents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The full contents of this study, as delivered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1" i="0">
                          <a:solidFill>
                            <a:srgbClr val="000000"/>
                          </a:solidFill>
                          <a:latin typeface="Symbol"/>
                        </a:rPr>
                        <a:t></a:t>
                      </a:r>
                      <a:r>
                        <a:rPr sz="700" b="1" i="0">
                          <a:solidFill>
                            <a:srgbClr val="000000"/>
                          </a:solidFill>
                          <a:latin typeface="Times New Roman"/>
                        </a:rPr>
                        <a:t>         </a:t>
                      </a:r>
                      <a:r>
                        <a:rPr sz="1100" b="1" i="0">
                          <a:solidFill>
                            <a:srgbClr val="000000"/>
                          </a:solidFill>
                          <a:latin typeface="Calibri"/>
                        </a:rPr>
                        <a:t>Executive Summary</a:t>
                      </a:r>
                      <a:endParaRPr sz="1100"/>
                    </a:p>
                  </a:txBody>
                  <a:tcPr marL="17145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Global Market Snapshot</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Demand Trends</a:t>
                      </a:r>
                      <a:endParaRPr sz="1100"/>
                    </a:p>
                  </a:txBody>
                  <a:tcPr marL="685800" marR="9525" marT="9525" marB="0" anchor="ctr"/>
                </a:tc>
              </a:tr>
              <a:tr h="175260">
                <a:tc>
                  <a:txBody>
                    <a:bodyPr wrap="square"/>
                    <a:lstStyle/>
                    <a:p>
                      <a:pPr algn="l"/>
                      <a:r>
                        <a:rPr sz="1100" b="0" i="1">
                          <a:solidFill>
                            <a:srgbClr val="000000"/>
                          </a:solidFill>
                          <a:latin typeface="Calibri"/>
                        </a:rPr>
                        <a:t>1.1.1.1.</a:t>
                      </a:r>
                      <a:r>
                        <a:rPr sz="700" b="0" i="1">
                          <a:solidFill>
                            <a:srgbClr val="000000"/>
                          </a:solidFill>
                          <a:latin typeface="Times New Roman"/>
                        </a:rPr>
                        <a:t>    </a:t>
                      </a:r>
                      <a:r>
                        <a:rPr sz="1100" b="0" i="1">
                          <a:solidFill>
                            <a:srgbClr val="000000"/>
                          </a:solidFill>
                          <a:latin typeface="Calibri"/>
                        </a:rPr>
                        <a:t>Key Supply Trends</a:t>
                      </a:r>
                      <a:endParaRPr sz="1100"/>
                    </a:p>
                  </a:txBody>
                  <a:tcPr marL="10287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Technology Roadmap</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Analyst Takeaways &amp; Recommendations</a:t>
                      </a:r>
                      <a:endParaRPr sz="1100"/>
                    </a:p>
                  </a:txBody>
                  <a:tcPr marL="685800" marR="9525" marT="9525" marB="0" anchor="ctr"/>
                </a:tc>
              </a:tr>
              <a:tr h="175260">
                <a:tc>
                  <a:txBody>
                    <a:bodyPr wrap="square"/>
                    <a:lstStyle/>
                    <a:p>
                      <a:pPr algn="l"/>
                      <a:r>
                        <a:rPr sz="1100" b="1" i="0">
                          <a:solidFill>
                            <a:srgbClr val="000000"/>
                          </a:solidFill>
                          <a:latin typeface="Calibri"/>
                        </a:rPr>
                        <a:t>2.</a:t>
                      </a:r>
                      <a:r>
                        <a:rPr sz="700" b="1" i="0">
                          <a:solidFill>
                            <a:srgbClr val="000000"/>
                          </a:solidFill>
                          <a:latin typeface="Times New Roman"/>
                        </a:rPr>
                        <a:t>       </a:t>
                      </a:r>
                      <a:r>
                        <a:rPr sz="1100" b="1" i="0">
                          <a:solidFill>
                            <a:srgbClr val="000000"/>
                          </a:solidFill>
                          <a:latin typeface="Calibri"/>
                        </a:rPr>
                        <a:t>Market Overview</a:t>
                      </a:r>
                      <a:endParaRPr sz="1100"/>
                    </a:p>
                  </a:txBody>
                  <a:tcPr marL="171450" marR="9525" marT="9525" marB="0" anchor="ctr"/>
                </a:tc>
              </a:tr>
              <a:tr h="175260">
                <a:tc>
                  <a:txBody>
                    <a:bodyPr wrap="square"/>
                    <a:lstStyle/>
                    <a:p>
                      <a:pPr algn="l"/>
                      <a:r>
                        <a:rPr sz="1100" b="0" i="0">
                          <a:solidFill>
                            <a:srgbClr val="0070C0"/>
                          </a:solidFill>
                          <a:latin typeface="Calibri"/>
                        </a:rPr>
                        <a:t>2.1.</a:t>
                      </a:r>
                      <a:r>
                        <a:rPr sz="700" b="0" i="0">
                          <a:solidFill>
                            <a:srgbClr val="0070C0"/>
                          </a:solidFill>
                          <a:latin typeface="Times New Roman"/>
                        </a:rPr>
                        <a:t>    </a:t>
                      </a:r>
                      <a:r>
                        <a:rPr sz="1100" b="0" i="0">
                          <a:solidFill>
                            <a:srgbClr val="0070C0"/>
                          </a:solidFill>
                          <a:latin typeface="Calibri"/>
                        </a:rPr>
                        <a:t>Market Coverage / Taxonomy</a:t>
                      </a:r>
                      <a:endParaRPr sz="1100"/>
                    </a:p>
                  </a:txBody>
                  <a:tcPr marL="428625" marR="9525" marT="9525" marB="0" anchor="ctr"/>
                </a:tc>
              </a:tr>
              <a:tr h="175260">
                <a:tc>
                  <a:txBody>
                    <a:bodyPr wrap="square"/>
                    <a:lstStyle/>
                    <a:p>
                      <a:pPr algn="l"/>
                      <a:r>
                        <a:rPr sz="1100" b="0" i="0">
                          <a:solidFill>
                            <a:srgbClr val="0070C0"/>
                          </a:solidFill>
                          <a:latin typeface="Calibri"/>
                        </a:rPr>
                        <a:t>2.2.</a:t>
                      </a:r>
                      <a:r>
                        <a:rPr sz="700" b="0" i="0">
                          <a:solidFill>
                            <a:srgbClr val="0070C0"/>
                          </a:solidFill>
                          <a:latin typeface="Times New Roman"/>
                        </a:rPr>
                        <a:t>    </a:t>
                      </a:r>
                      <a:r>
                        <a:rPr sz="1100" b="0" i="0">
                          <a:solidFill>
                            <a:srgbClr val="0070C0"/>
                          </a:solidFill>
                          <a:latin typeface="Calibri"/>
                        </a:rPr>
                        <a:t>Market Definition By Segments Covered</a:t>
                      </a:r>
                      <a:endParaRPr sz="1100"/>
                    </a:p>
                  </a:txBody>
                  <a:tcPr marL="428625" marR="9525" marT="9525" marB="0" anchor="ctr"/>
                </a:tc>
              </a:tr>
              <a:tr h="175260">
                <a:tc>
                  <a:txBody>
                    <a:bodyPr wrap="square"/>
                    <a:lstStyle/>
                    <a:p>
                      <a:pPr algn="l"/>
                      <a:r>
                        <a:rPr sz="1100" b="1" i="0">
                          <a:solidFill>
                            <a:srgbClr val="000000"/>
                          </a:solidFill>
                          <a:latin typeface="Calibri"/>
                        </a:rPr>
                        <a:t>Section 1: Global Market Outlook</a:t>
                      </a:r>
                      <a:endParaRPr sz="1100"/>
                    </a:p>
                  </a:txBody>
                  <a:tcPr marL="9525" marR="9525" marT="9525" marB="0" anchor="ctr"/>
                </a:tc>
              </a:tr>
              <a:tr h="175260">
                <a:tc>
                  <a:txBody>
                    <a:bodyPr wrap="square"/>
                    <a:lstStyle/>
                    <a:p>
                      <a:pPr algn="l"/>
                      <a:r>
                        <a:rPr sz="1100" b="0" i="1">
                          <a:solidFill>
                            <a:srgbClr val="000000"/>
                          </a:solidFill>
                          <a:latin typeface="Calibri"/>
                        </a:rPr>
                        <a:t>2.2.1.1.</a:t>
                      </a:r>
                      <a:r>
                        <a:rPr sz="700" b="0" i="1">
                          <a:solidFill>
                            <a:srgbClr val="000000"/>
                          </a:solidFill>
                          <a:latin typeface="Times New Roman"/>
                        </a:rPr>
                        <a:t>    </a:t>
                      </a:r>
                      <a:r>
                        <a:rPr sz="1100" b="0" i="1">
                          <a:solidFill>
                            <a:srgbClr val="000000"/>
                          </a:solidFill>
                          <a:latin typeface="Calibri"/>
                        </a:rPr>
                        <a:t>Global Market Size (Value &amp; Volume) 2021–2036</a:t>
                      </a:r>
                      <a:endParaRPr sz="1100"/>
                    </a:p>
                  </a:txBody>
                  <a:tcPr marL="1028700" marR="9525" marT="9525" marB="0" anchor="ctr"/>
                </a:tc>
              </a:tr>
              <a:tr h="175260">
                <a:tc>
                  <a:txBody>
                    <a:bodyPr wrap="square"/>
                    <a:lstStyle/>
                    <a:p>
                      <a:pPr algn="l"/>
                      <a:r>
                        <a:rPr sz="1100" b="0" i="0">
                          <a:solidFill>
                            <a:srgbClr val="0070C0"/>
                          </a:solidFill>
                          <a:latin typeface="Calibri"/>
                        </a:rPr>
                        <a:t>2.3.</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2.4.</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2.5.</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2.6.</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1" i="0">
                          <a:solidFill>
                            <a:srgbClr val="000000"/>
                          </a:solidFill>
                          <a:latin typeface="Calibri"/>
                        </a:rPr>
                        <a:t>3.</a:t>
                      </a:r>
                      <a:r>
                        <a:rPr sz="700" b="1" i="0">
                          <a:solidFill>
                            <a:srgbClr val="000000"/>
                          </a:solidFill>
                          <a:latin typeface="Times New Roman"/>
                        </a:rPr>
                        <a:t>       </a:t>
                      </a:r>
                      <a:r>
                        <a:rPr sz="1100" b="1" i="0">
                          <a:solidFill>
                            <a:srgbClr val="000000"/>
                          </a:solidFill>
                          <a:latin typeface="Calibri"/>
                        </a:rPr>
                        <a:t>Global Market (Value- Volume) Analysis 2021-2036, By Product Type</a:t>
                      </a:r>
                      <a:endParaRPr sz="1100"/>
                    </a:p>
                  </a:txBody>
                  <a:tcPr marL="171450" marR="9525" marT="9525" marB="0" anchor="ctr"/>
                </a:tc>
              </a:tr>
              <a:tr h="175260">
                <a:tc>
                  <a:txBody>
                    <a:bodyPr wrap="square"/>
                    <a:lstStyle/>
                    <a:p>
                      <a:pPr algn="l"/>
                      <a:r>
                        <a:rPr sz="1100" b="0" i="0">
                          <a:solidFill>
                            <a:srgbClr val="0070C0"/>
                          </a:solidFill>
                          <a:latin typeface="Calibri"/>
                        </a:rPr>
                        <a:t>3.1.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3.2.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3.3.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3.4.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3.5.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3.5.1.</a:t>
                      </a:r>
                      <a:r>
                        <a:rPr sz="700" b="0" i="0">
                          <a:solidFill>
                            <a:srgbClr val="000000"/>
                          </a:solidFill>
                          <a:latin typeface="Times New Roman"/>
                        </a:rPr>
                        <a:t>   </a:t>
                      </a:r>
                      <a:r>
                        <a:rPr sz="1100" b="0" i="0">
                          <a:solidFill>
                            <a:srgbClr val="000000"/>
                          </a:solidFill>
                          <a:latin typeface="Calibri"/>
                        </a:rPr>
                        <a:t>Flat Polybags</a:t>
                      </a:r>
                      <a:endParaRPr sz="1100"/>
                    </a:p>
                  </a:txBody>
                  <a:tcPr marL="771525" marR="9525" marT="9525" marB="0" anchor="ctr"/>
                </a:tc>
              </a:tr>
              <a:tr h="175260">
                <a:tc>
                  <a:txBody>
                    <a:bodyPr wrap="square"/>
                    <a:lstStyle/>
                    <a:p>
                      <a:pPr algn="l"/>
                      <a:r>
                        <a:rPr sz="1100" b="0" i="1">
                          <a:solidFill>
                            <a:srgbClr val="000000"/>
                          </a:solidFill>
                          <a:latin typeface="Calibri"/>
                        </a:rPr>
                        <a:t>3.5.1.1.</a:t>
                      </a:r>
                      <a:r>
                        <a:rPr sz="700" b="0" i="1">
                          <a:solidFill>
                            <a:srgbClr val="000000"/>
                          </a:solidFill>
                          <a:latin typeface="Times New Roman"/>
                        </a:rPr>
                        <a:t>    </a:t>
                      </a:r>
                      <a:r>
                        <a:rPr sz="1100" b="0" i="1">
                          <a:solidFill>
                            <a:srgbClr val="000000"/>
                          </a:solidFill>
                          <a:latin typeface="Calibri"/>
                        </a:rPr>
                        <a:t>Standard Flat Bags</a:t>
                      </a:r>
                      <a:endParaRPr sz="1100"/>
                    </a:p>
                  </a:txBody>
                  <a:tcPr marL="1028700" marR="9525" marT="9525" marB="0" anchor="ctr"/>
                </a:tc>
              </a:tr>
              <a:tr h="175260">
                <a:tc>
                  <a:txBody>
                    <a:bodyPr wrap="square"/>
                    <a:lstStyle/>
                    <a:p>
                      <a:pPr algn="l"/>
                      <a:r>
                        <a:rPr sz="1100" b="0" i="1">
                          <a:solidFill>
                            <a:srgbClr val="000000"/>
                          </a:solidFill>
                          <a:latin typeface="Calibri"/>
                        </a:rPr>
                        <a:t>3.5.1.2.</a:t>
                      </a:r>
                      <a:r>
                        <a:rPr sz="700" b="0" i="1">
                          <a:solidFill>
                            <a:srgbClr val="000000"/>
                          </a:solidFill>
                          <a:latin typeface="Times New Roman"/>
                        </a:rPr>
                        <a:t>    </a:t>
                      </a:r>
                      <a:r>
                        <a:rPr sz="1100" b="0" i="1">
                          <a:solidFill>
                            <a:srgbClr val="000000"/>
                          </a:solidFill>
                          <a:latin typeface="Calibri"/>
                        </a:rPr>
                        <a:t>Lay Flat Tubing</a:t>
                      </a:r>
                      <a:endParaRPr sz="1100"/>
                    </a:p>
                  </a:txBody>
                  <a:tcPr marL="1028700" marR="9525" marT="9525" marB="0" anchor="ctr"/>
                </a:tc>
              </a:tr>
              <a:tr h="175260">
                <a:tc>
                  <a:txBody>
                    <a:bodyPr wrap="square"/>
                    <a:lstStyle/>
                    <a:p>
                      <a:pPr algn="l"/>
                      <a:r>
                        <a:rPr sz="1100" b="0" i="1">
                          <a:solidFill>
                            <a:srgbClr val="000000"/>
                          </a:solidFill>
                          <a:latin typeface="Calibri"/>
                        </a:rPr>
                        <a:t>3.5.1.3.</a:t>
                      </a:r>
                      <a:r>
                        <a:rPr sz="700" b="0" i="1">
                          <a:solidFill>
                            <a:srgbClr val="000000"/>
                          </a:solidFill>
                          <a:latin typeface="Times New Roman"/>
                        </a:rPr>
                        <a:t>    </a:t>
                      </a:r>
                      <a:r>
                        <a:rPr sz="1100" b="0" i="1">
                          <a:solidFill>
                            <a:srgbClr val="000000"/>
                          </a:solidFill>
                          <a:latin typeface="Calibri"/>
                        </a:rPr>
                        <a:t>Flat Poly Sleeves</a:t>
                      </a:r>
                      <a:endParaRPr sz="1100"/>
                    </a:p>
                  </a:txBody>
                  <a:tcPr marL="1028700" marR="9525" marT="9525" marB="0" anchor="ctr"/>
                </a:tc>
              </a:tr>
              <a:tr h="175260">
                <a:tc>
                  <a:txBody>
                    <a:bodyPr wrap="square"/>
                    <a:lstStyle/>
                    <a:p>
                      <a:pPr algn="l"/>
                      <a:r>
                        <a:rPr sz="1100" b="0" i="0">
                          <a:solidFill>
                            <a:srgbClr val="000000"/>
                          </a:solidFill>
                          <a:latin typeface="Calibri"/>
                        </a:rPr>
                        <a:t>3.5.2.</a:t>
                      </a:r>
                      <a:r>
                        <a:rPr sz="700" b="0" i="0">
                          <a:solidFill>
                            <a:srgbClr val="000000"/>
                          </a:solidFill>
                          <a:latin typeface="Times New Roman"/>
                        </a:rPr>
                        <a:t>   </a:t>
                      </a:r>
                      <a:r>
                        <a:rPr sz="1100" b="0" i="0">
                          <a:solidFill>
                            <a:srgbClr val="000000"/>
                          </a:solidFill>
                          <a:latin typeface="Calibri"/>
                        </a:rPr>
                        <a:t>Gusseted Polybags</a:t>
                      </a:r>
                      <a:endParaRPr sz="1100"/>
                    </a:p>
                  </a:txBody>
                  <a:tcPr marL="771525" marR="9525" marT="9525" marB="0" anchor="ctr"/>
                </a:tc>
              </a:tr>
              <a:tr h="175260">
                <a:tc>
                  <a:txBody>
                    <a:bodyPr wrap="square"/>
                    <a:lstStyle/>
                    <a:p>
                      <a:pPr algn="l"/>
                      <a:r>
                        <a:rPr sz="1100" b="0" i="1">
                          <a:solidFill>
                            <a:srgbClr val="000000"/>
                          </a:solidFill>
                          <a:latin typeface="Calibri"/>
                        </a:rPr>
                        <a:t>3.5.2.1.</a:t>
                      </a:r>
                      <a:r>
                        <a:rPr sz="700" b="0" i="1">
                          <a:solidFill>
                            <a:srgbClr val="000000"/>
                          </a:solidFill>
                          <a:latin typeface="Times New Roman"/>
                        </a:rPr>
                        <a:t>    </a:t>
                      </a:r>
                      <a:r>
                        <a:rPr sz="1100" b="0" i="1">
                          <a:solidFill>
                            <a:srgbClr val="000000"/>
                          </a:solidFill>
                          <a:latin typeface="Calibri"/>
                        </a:rPr>
                        <a:t>Side Gusset Bags</a:t>
                      </a:r>
                      <a:endParaRPr sz="1100"/>
                    </a:p>
                  </a:txBody>
                  <a:tcPr marL="1028700" marR="9525" marT="9525" marB="0" anchor="ctr"/>
                </a:tc>
              </a:tr>
              <a:tr h="175260">
                <a:tc>
                  <a:txBody>
                    <a:bodyPr wrap="square"/>
                    <a:lstStyle/>
                    <a:p>
                      <a:pPr algn="l"/>
                      <a:r>
                        <a:rPr sz="1100" b="0" i="1">
                          <a:solidFill>
                            <a:srgbClr val="000000"/>
                          </a:solidFill>
                          <a:latin typeface="Calibri"/>
                        </a:rPr>
                        <a:t>3.5.2.2.</a:t>
                      </a:r>
                      <a:r>
                        <a:rPr sz="700" b="0" i="1">
                          <a:solidFill>
                            <a:srgbClr val="000000"/>
                          </a:solidFill>
                          <a:latin typeface="Times New Roman"/>
                        </a:rPr>
                        <a:t>    </a:t>
                      </a:r>
                      <a:r>
                        <a:rPr sz="1100" b="0" i="1">
                          <a:solidFill>
                            <a:srgbClr val="000000"/>
                          </a:solidFill>
                          <a:latin typeface="Calibri"/>
                        </a:rPr>
                        <a:t>Bottom Gusset Bags</a:t>
                      </a:r>
                      <a:endParaRPr sz="1100"/>
                    </a:p>
                  </a:txBody>
                  <a:tcPr marL="1028700" marR="9525" marT="9525" marB="0" anchor="ctr"/>
                </a:tc>
              </a:tr>
              <a:tr h="175260">
                <a:tc>
                  <a:txBody>
                    <a:bodyPr wrap="square"/>
                    <a:lstStyle/>
                    <a:p>
                      <a:pPr algn="l"/>
                      <a:r>
                        <a:rPr sz="1100" b="0" i="1">
                          <a:solidFill>
                            <a:srgbClr val="000000"/>
                          </a:solidFill>
                          <a:latin typeface="Calibri"/>
                        </a:rPr>
                        <a:t>3.5.2.3.</a:t>
                      </a:r>
                      <a:r>
                        <a:rPr sz="700" b="0" i="1">
                          <a:solidFill>
                            <a:srgbClr val="000000"/>
                          </a:solidFill>
                          <a:latin typeface="Times New Roman"/>
                        </a:rPr>
                        <a:t>    </a:t>
                      </a:r>
                      <a:r>
                        <a:rPr sz="1100" b="0" i="1">
                          <a:solidFill>
                            <a:srgbClr val="000000"/>
                          </a:solidFill>
                          <a:latin typeface="Calibri"/>
                        </a:rPr>
                        <a:t>Quad Seal Bags</a:t>
                      </a:r>
                      <a:endParaRPr sz="1100"/>
                    </a:p>
                  </a:txBody>
                  <a:tcPr marL="1028700" marR="9525" marT="9525" marB="0" anchor="ctr"/>
                </a:tc>
              </a:tr>
              <a:tr h="175260">
                <a:tc>
                  <a:txBody>
                    <a:bodyPr wrap="square"/>
                    <a:lstStyle/>
                    <a:p>
                      <a:pPr algn="l"/>
                      <a:r>
                        <a:rPr sz="1100" b="0" i="0">
                          <a:solidFill>
                            <a:srgbClr val="000000"/>
                          </a:solidFill>
                          <a:latin typeface="Calibri"/>
                        </a:rPr>
                        <a:t>3.5.3.</a:t>
                      </a:r>
                      <a:r>
                        <a:rPr sz="700" b="0" i="0">
                          <a:solidFill>
                            <a:srgbClr val="000000"/>
                          </a:solidFill>
                          <a:latin typeface="Times New Roman"/>
                        </a:rPr>
                        <a:t>   </a:t>
                      </a:r>
                      <a:r>
                        <a:rPr sz="1100" b="0" i="0">
                          <a:solidFill>
                            <a:srgbClr val="000000"/>
                          </a:solidFill>
                          <a:latin typeface="Calibri"/>
                        </a:rPr>
                        <a:t>Resealable Polybags</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3.5.3.1.</a:t>
                      </a:r>
                      <a:r>
                        <a:rPr sz="700" b="0" i="1">
                          <a:solidFill>
                            <a:srgbClr val="000000"/>
                          </a:solidFill>
                          <a:latin typeface="Times New Roman"/>
                        </a:rPr>
                        <a:t>    </a:t>
                      </a:r>
                      <a:r>
                        <a:rPr sz="1100" b="0" i="1">
                          <a:solidFill>
                            <a:srgbClr val="000000"/>
                          </a:solidFill>
                          <a:latin typeface="Calibri"/>
                        </a:rPr>
                        <a:t>Zip Lock Bags</a:t>
                      </a:r>
                      <a:endParaRPr sz="1100"/>
                    </a:p>
                  </a:txBody>
                  <a:tcPr marL="1028700" marR="9525" marT="9525" marB="0" anchor="ctr"/>
                </a:tc>
              </a:tr>
              <a:tr h="175260">
                <a:tc>
                  <a:txBody>
                    <a:bodyPr wrap="square"/>
                    <a:lstStyle/>
                    <a:p>
                      <a:pPr algn="l"/>
                      <a:r>
                        <a:rPr sz="1100" b="0" i="1">
                          <a:solidFill>
                            <a:srgbClr val="000000"/>
                          </a:solidFill>
                          <a:latin typeface="Calibri"/>
                        </a:rPr>
                        <a:t>3.5.3.2.</a:t>
                      </a:r>
                      <a:r>
                        <a:rPr sz="700" b="0" i="1">
                          <a:solidFill>
                            <a:srgbClr val="000000"/>
                          </a:solidFill>
                          <a:latin typeface="Times New Roman"/>
                        </a:rPr>
                        <a:t>    </a:t>
                      </a:r>
                      <a:r>
                        <a:rPr sz="1100" b="0" i="1">
                          <a:solidFill>
                            <a:srgbClr val="000000"/>
                          </a:solidFill>
                          <a:latin typeface="Calibri"/>
                        </a:rPr>
                        <a:t>Slider Zip Bags</a:t>
                      </a:r>
                      <a:endParaRPr sz="1100"/>
                    </a:p>
                  </a:txBody>
                  <a:tcPr marL="1028700" marR="9525" marT="9525" marB="0" anchor="ctr"/>
                </a:tc>
              </a:tr>
              <a:tr h="175260">
                <a:tc>
                  <a:txBody>
                    <a:bodyPr wrap="square"/>
                    <a:lstStyle/>
                    <a:p>
                      <a:pPr algn="l"/>
                      <a:r>
                        <a:rPr sz="1100" b="0" i="1">
                          <a:solidFill>
                            <a:srgbClr val="000000"/>
                          </a:solidFill>
                          <a:latin typeface="Calibri"/>
                        </a:rPr>
                        <a:t>3.5.3.3.</a:t>
                      </a:r>
                      <a:r>
                        <a:rPr sz="700" b="0" i="1">
                          <a:solidFill>
                            <a:srgbClr val="000000"/>
                          </a:solidFill>
                          <a:latin typeface="Times New Roman"/>
                        </a:rPr>
                        <a:t>    </a:t>
                      </a:r>
                      <a:r>
                        <a:rPr sz="1100" b="0" i="1">
                          <a:solidFill>
                            <a:srgbClr val="000000"/>
                          </a:solidFill>
                          <a:latin typeface="Calibri"/>
                        </a:rPr>
                        <a:t>Press-to-Close Bags</a:t>
                      </a:r>
                      <a:endParaRPr sz="1100"/>
                    </a:p>
                  </a:txBody>
                  <a:tcPr marL="1028700" marR="9525" marT="9525" marB="0" anchor="ctr"/>
                </a:tc>
              </a:tr>
              <a:tr h="175260">
                <a:tc>
                  <a:txBody>
                    <a:bodyPr wrap="square"/>
                    <a:lstStyle/>
                    <a:p>
                      <a:pPr algn="l"/>
                      <a:r>
                        <a:rPr sz="1100" b="0" i="1">
                          <a:solidFill>
                            <a:srgbClr val="000000"/>
                          </a:solidFill>
                          <a:latin typeface="Calibri"/>
                        </a:rPr>
                        <a:t>3.5.3.4.</a:t>
                      </a:r>
                      <a:r>
                        <a:rPr sz="700" b="0" i="1">
                          <a:solidFill>
                            <a:srgbClr val="000000"/>
                          </a:solidFill>
                          <a:latin typeface="Times New Roman"/>
                        </a:rPr>
                        <a:t>    </a:t>
                      </a:r>
                      <a:r>
                        <a:rPr sz="1100" b="0" i="1">
                          <a:solidFill>
                            <a:srgbClr val="000000"/>
                          </a:solidFill>
                          <a:latin typeface="Calibri"/>
                        </a:rPr>
                        <a:t>Double Zip Bags</a:t>
                      </a:r>
                      <a:endParaRPr sz="1100"/>
                    </a:p>
                  </a:txBody>
                  <a:tcPr marL="1028700" marR="9525" marT="9525" marB="0" anchor="ctr"/>
                </a:tc>
              </a:tr>
              <a:tr h="175260">
                <a:tc>
                  <a:txBody>
                    <a:bodyPr wrap="square"/>
                    <a:lstStyle/>
                    <a:p>
                      <a:pPr algn="l"/>
                      <a:r>
                        <a:rPr sz="1100" b="0" i="0">
                          <a:solidFill>
                            <a:srgbClr val="000000"/>
                          </a:solidFill>
                          <a:latin typeface="Calibri"/>
                        </a:rPr>
                        <a:t>3.5.4.</a:t>
                      </a:r>
                      <a:r>
                        <a:rPr sz="700" b="0" i="0">
                          <a:solidFill>
                            <a:srgbClr val="000000"/>
                          </a:solidFill>
                          <a:latin typeface="Times New Roman"/>
                        </a:rPr>
                        <a:t>   </a:t>
                      </a:r>
                      <a:r>
                        <a:rPr sz="1100" b="0" i="0">
                          <a:solidFill>
                            <a:srgbClr val="000000"/>
                          </a:solidFill>
                          <a:latin typeface="Calibri"/>
                        </a:rPr>
                        <a:t>Industrial Polybags</a:t>
                      </a:r>
                      <a:endParaRPr sz="1100"/>
                    </a:p>
                  </a:txBody>
                  <a:tcPr marL="771525" marR="9525" marT="9525" marB="0" anchor="ctr"/>
                </a:tc>
              </a:tr>
              <a:tr h="175260">
                <a:tc>
                  <a:txBody>
                    <a:bodyPr wrap="square"/>
                    <a:lstStyle/>
                    <a:p>
                      <a:pPr algn="l"/>
                      <a:r>
                        <a:rPr sz="1100" b="0" i="1">
                          <a:solidFill>
                            <a:srgbClr val="000000"/>
                          </a:solidFill>
                          <a:latin typeface="Calibri"/>
                        </a:rPr>
                        <a:t>3.5.4.1.</a:t>
                      </a:r>
                      <a:r>
                        <a:rPr sz="700" b="0" i="1">
                          <a:solidFill>
                            <a:srgbClr val="000000"/>
                          </a:solidFill>
                          <a:latin typeface="Times New Roman"/>
                        </a:rPr>
                        <a:t>    </a:t>
                      </a:r>
                      <a:r>
                        <a:rPr sz="1100" b="0" i="1">
                          <a:solidFill>
                            <a:srgbClr val="000000"/>
                          </a:solidFill>
                          <a:latin typeface="Calibri"/>
                        </a:rPr>
                        <a:t>Heavy-Duty Bags</a:t>
                      </a:r>
                      <a:endParaRPr sz="1100"/>
                    </a:p>
                  </a:txBody>
                  <a:tcPr marL="1028700" marR="9525" marT="9525" marB="0" anchor="ctr"/>
                </a:tc>
              </a:tr>
              <a:tr h="175260">
                <a:tc>
                  <a:txBody>
                    <a:bodyPr wrap="square"/>
                    <a:lstStyle/>
                    <a:p>
                      <a:pPr algn="l"/>
                      <a:r>
                        <a:rPr sz="1100" b="0" i="1">
                          <a:solidFill>
                            <a:srgbClr val="000000"/>
                          </a:solidFill>
                          <a:latin typeface="Calibri"/>
                        </a:rPr>
                        <a:t>3.5.4.2.</a:t>
                      </a:r>
                      <a:r>
                        <a:rPr sz="700" b="0" i="1">
                          <a:solidFill>
                            <a:srgbClr val="000000"/>
                          </a:solidFill>
                          <a:latin typeface="Times New Roman"/>
                        </a:rPr>
                        <a:t>    </a:t>
                      </a:r>
                      <a:r>
                        <a:rPr sz="1100" b="0" i="1">
                          <a:solidFill>
                            <a:srgbClr val="000000"/>
                          </a:solidFill>
                          <a:latin typeface="Calibri"/>
                        </a:rPr>
                        <a:t>FIBC Liners</a:t>
                      </a:r>
                      <a:endParaRPr sz="1100"/>
                    </a:p>
                  </a:txBody>
                  <a:tcPr marL="1028700" marR="9525" marT="9525" marB="0" anchor="ctr"/>
                </a:tc>
              </a:tr>
              <a:tr h="175260">
                <a:tc>
                  <a:txBody>
                    <a:bodyPr wrap="square"/>
                    <a:lstStyle/>
                    <a:p>
                      <a:pPr algn="l"/>
                      <a:r>
                        <a:rPr sz="1100" b="0" i="1">
                          <a:solidFill>
                            <a:srgbClr val="000000"/>
                          </a:solidFill>
                          <a:latin typeface="Calibri"/>
                        </a:rPr>
                        <a:t>3.5.4.3.</a:t>
                      </a:r>
                      <a:r>
                        <a:rPr sz="700" b="0" i="1">
                          <a:solidFill>
                            <a:srgbClr val="000000"/>
                          </a:solidFill>
                          <a:latin typeface="Times New Roman"/>
                        </a:rPr>
                        <a:t>    </a:t>
                      </a:r>
                      <a:r>
                        <a:rPr sz="1100" b="0" i="1">
                          <a:solidFill>
                            <a:srgbClr val="000000"/>
                          </a:solidFill>
                          <a:latin typeface="Calibri"/>
                        </a:rPr>
                        <a:t>Machinery Parts Bags</a:t>
                      </a:r>
                      <a:endParaRPr sz="1100"/>
                    </a:p>
                  </a:txBody>
                  <a:tcPr marL="1028700" marR="9525" marT="9525" marB="0" anchor="ctr"/>
                </a:tc>
              </a:tr>
              <a:tr h="175260">
                <a:tc>
                  <a:txBody>
                    <a:bodyPr wrap="square"/>
                    <a:lstStyle/>
                    <a:p>
                      <a:pPr algn="l"/>
                      <a:r>
                        <a:rPr sz="1100" b="0" i="1">
                          <a:solidFill>
                            <a:srgbClr val="000000"/>
                          </a:solidFill>
                          <a:latin typeface="Calibri"/>
                        </a:rPr>
                        <a:t>3.5.4.4.</a:t>
                      </a:r>
                      <a:r>
                        <a:rPr sz="700" b="0" i="1">
                          <a:solidFill>
                            <a:srgbClr val="000000"/>
                          </a:solidFill>
                          <a:latin typeface="Times New Roman"/>
                        </a:rPr>
                        <a:t>    </a:t>
                      </a:r>
                      <a:r>
                        <a:rPr sz="1100" b="0" i="1">
                          <a:solidFill>
                            <a:srgbClr val="000000"/>
                          </a:solidFill>
                          <a:latin typeface="Calibri"/>
                        </a:rPr>
                        <a:t>Chemical Packaging Bags</a:t>
                      </a:r>
                      <a:endParaRPr sz="1100"/>
                    </a:p>
                  </a:txBody>
                  <a:tcPr marL="1028700" marR="9525" marT="9525" marB="0" anchor="ctr"/>
                </a:tc>
              </a:tr>
              <a:tr h="175260">
                <a:tc>
                  <a:txBody>
                    <a:bodyPr wrap="square"/>
                    <a:lstStyle/>
                    <a:p>
                      <a:pPr algn="l"/>
                      <a:r>
                        <a:rPr sz="1100" b="0" i="0">
                          <a:solidFill>
                            <a:srgbClr val="000000"/>
                          </a:solidFill>
                          <a:latin typeface="Calibri"/>
                        </a:rPr>
                        <a:t>3.5.5.</a:t>
                      </a:r>
                      <a:r>
                        <a:rPr sz="700" b="0" i="0">
                          <a:solidFill>
                            <a:srgbClr val="000000"/>
                          </a:solidFill>
                          <a:latin typeface="Times New Roman"/>
                        </a:rPr>
                        <a:t>   </a:t>
                      </a:r>
                      <a:r>
                        <a:rPr sz="1100" b="0" i="0">
                          <a:solidFill>
                            <a:srgbClr val="000000"/>
                          </a:solidFill>
                          <a:latin typeface="Calibri"/>
                        </a:rPr>
                        <a:t>Protective Polybags</a:t>
                      </a:r>
                      <a:endParaRPr sz="1100"/>
                    </a:p>
                  </a:txBody>
                  <a:tcPr marL="771525" marR="9525" marT="9525" marB="0" anchor="ctr"/>
                </a:tc>
              </a:tr>
              <a:tr h="175260">
                <a:tc>
                  <a:txBody>
                    <a:bodyPr wrap="square"/>
                    <a:lstStyle/>
                    <a:p>
                      <a:pPr algn="l"/>
                      <a:r>
                        <a:rPr sz="1100" b="0" i="1">
                          <a:solidFill>
                            <a:srgbClr val="000000"/>
                          </a:solidFill>
                          <a:latin typeface="Calibri"/>
                        </a:rPr>
                        <a:t>3.5.5.1.</a:t>
                      </a:r>
                      <a:r>
                        <a:rPr sz="700" b="0" i="1">
                          <a:solidFill>
                            <a:srgbClr val="000000"/>
                          </a:solidFill>
                          <a:latin typeface="Times New Roman"/>
                        </a:rPr>
                        <a:t>    </a:t>
                      </a:r>
                      <a:r>
                        <a:rPr sz="1100" b="0" i="1">
                          <a:solidFill>
                            <a:srgbClr val="000000"/>
                          </a:solidFill>
                          <a:latin typeface="Calibri"/>
                        </a:rPr>
                        <a:t>Bubble Poly Mailers</a:t>
                      </a:r>
                      <a:endParaRPr sz="1100"/>
                    </a:p>
                  </a:txBody>
                  <a:tcPr marL="1028700" marR="9525" marT="9525" marB="0" anchor="ctr"/>
                </a:tc>
              </a:tr>
              <a:tr h="175260">
                <a:tc>
                  <a:txBody>
                    <a:bodyPr wrap="square"/>
                    <a:lstStyle/>
                    <a:p>
                      <a:pPr algn="l"/>
                      <a:r>
                        <a:rPr sz="1100" b="0" i="1">
                          <a:solidFill>
                            <a:srgbClr val="000000"/>
                          </a:solidFill>
                          <a:latin typeface="Calibri"/>
                        </a:rPr>
                        <a:t>3.5.5.2.</a:t>
                      </a:r>
                      <a:r>
                        <a:rPr sz="700" b="0" i="1">
                          <a:solidFill>
                            <a:srgbClr val="000000"/>
                          </a:solidFill>
                          <a:latin typeface="Times New Roman"/>
                        </a:rPr>
                        <a:t>    </a:t>
                      </a:r>
                      <a:r>
                        <a:rPr sz="1100" b="0" i="1">
                          <a:solidFill>
                            <a:srgbClr val="000000"/>
                          </a:solidFill>
                          <a:latin typeface="Calibri"/>
                        </a:rPr>
                        <a:t>Anti-Static (ESD) Bags</a:t>
                      </a:r>
                      <a:endParaRPr sz="1100"/>
                    </a:p>
                  </a:txBody>
                  <a:tcPr marL="1028700" marR="9525" marT="9525" marB="0" anchor="ctr"/>
                </a:tc>
              </a:tr>
              <a:tr h="175260">
                <a:tc>
                  <a:txBody>
                    <a:bodyPr wrap="square"/>
                    <a:lstStyle/>
                    <a:p>
                      <a:pPr algn="l"/>
                      <a:r>
                        <a:rPr sz="1100" b="0" i="1">
                          <a:solidFill>
                            <a:srgbClr val="000000"/>
                          </a:solidFill>
                          <a:latin typeface="Calibri"/>
                        </a:rPr>
                        <a:t>3.5.5.3.</a:t>
                      </a:r>
                      <a:r>
                        <a:rPr sz="700" b="0" i="1">
                          <a:solidFill>
                            <a:srgbClr val="000000"/>
                          </a:solidFill>
                          <a:latin typeface="Times New Roman"/>
                        </a:rPr>
                        <a:t>    </a:t>
                      </a:r>
                      <a:r>
                        <a:rPr sz="1100" b="0" i="1">
                          <a:solidFill>
                            <a:srgbClr val="000000"/>
                          </a:solidFill>
                          <a:latin typeface="Calibri"/>
                        </a:rPr>
                        <a:t>Vacuum Bags</a:t>
                      </a:r>
                      <a:endParaRPr sz="1100"/>
                    </a:p>
                  </a:txBody>
                  <a:tcPr marL="1028700" marR="9525" marT="9525" marB="0" anchor="ctr"/>
                </a:tc>
              </a:tr>
              <a:tr h="175260">
                <a:tc>
                  <a:txBody>
                    <a:bodyPr wrap="square"/>
                    <a:lstStyle/>
                    <a:p>
                      <a:pPr algn="l"/>
                      <a:r>
                        <a:rPr sz="1100" b="0" i="1">
                          <a:solidFill>
                            <a:srgbClr val="000000"/>
                          </a:solidFill>
                          <a:latin typeface="Calibri"/>
                        </a:rPr>
                        <a:t>3.5.5.4.</a:t>
                      </a:r>
                      <a:r>
                        <a:rPr sz="700" b="0" i="1">
                          <a:solidFill>
                            <a:srgbClr val="000000"/>
                          </a:solidFill>
                          <a:latin typeface="Times New Roman"/>
                        </a:rPr>
                        <a:t>    </a:t>
                      </a:r>
                      <a:r>
                        <a:rPr sz="1100" b="0" i="1">
                          <a:solidFill>
                            <a:srgbClr val="000000"/>
                          </a:solidFill>
                          <a:latin typeface="Calibri"/>
                        </a:rPr>
                        <a:t>Cushion Packaging Bags</a:t>
                      </a:r>
                      <a:endParaRPr sz="1100"/>
                    </a:p>
                  </a:txBody>
                  <a:tcPr marL="1028700" marR="9525" marT="9525" marB="0" anchor="ctr"/>
                </a:tc>
              </a:tr>
              <a:tr h="175260">
                <a:tc>
                  <a:txBody>
                    <a:bodyPr wrap="square"/>
                    <a:lstStyle/>
                    <a:p>
                      <a:pPr algn="l"/>
                      <a:r>
                        <a:rPr sz="1100" b="0" i="0">
                          <a:solidFill>
                            <a:srgbClr val="000000"/>
                          </a:solidFill>
                          <a:latin typeface="Calibri"/>
                        </a:rPr>
                        <a:t>3.5.6.</a:t>
                      </a:r>
                      <a:r>
                        <a:rPr sz="700" b="0" i="0">
                          <a:solidFill>
                            <a:srgbClr val="000000"/>
                          </a:solidFill>
                          <a:latin typeface="Times New Roman"/>
                        </a:rPr>
                        <a:t>   </a:t>
                      </a:r>
                      <a:r>
                        <a:rPr sz="1100" b="0" i="0">
                          <a:solidFill>
                            <a:srgbClr val="000000"/>
                          </a:solidFill>
                          <a:latin typeface="Calibri"/>
                        </a:rPr>
                        <a:t>Retail &amp; Merchandise Bags</a:t>
                      </a:r>
                      <a:endParaRPr sz="1100"/>
                    </a:p>
                  </a:txBody>
                  <a:tcPr marL="771525" marR="9525" marT="9525" marB="0" anchor="ctr"/>
                </a:tc>
              </a:tr>
              <a:tr h="175260">
                <a:tc>
                  <a:txBody>
                    <a:bodyPr wrap="square"/>
                    <a:lstStyle/>
                    <a:p>
                      <a:pPr algn="l"/>
                      <a:r>
                        <a:rPr sz="1100" b="0" i="1">
                          <a:solidFill>
                            <a:srgbClr val="000000"/>
                          </a:solidFill>
                          <a:latin typeface="Calibri"/>
                        </a:rPr>
                        <a:t>3.5.6.1.</a:t>
                      </a:r>
                      <a:r>
                        <a:rPr sz="700" b="0" i="1">
                          <a:solidFill>
                            <a:srgbClr val="000000"/>
                          </a:solidFill>
                          <a:latin typeface="Times New Roman"/>
                        </a:rPr>
                        <a:t>    </a:t>
                      </a:r>
                      <a:r>
                        <a:rPr sz="1100" b="0" i="1">
                          <a:solidFill>
                            <a:srgbClr val="000000"/>
                          </a:solidFill>
                          <a:latin typeface="Calibri"/>
                        </a:rPr>
                        <a:t>T-Shirt Bags</a:t>
                      </a:r>
                      <a:endParaRPr sz="1100"/>
                    </a:p>
                  </a:txBody>
                  <a:tcPr marL="1028700" marR="9525" marT="9525" marB="0" anchor="ctr"/>
                </a:tc>
              </a:tr>
              <a:tr h="175260">
                <a:tc>
                  <a:txBody>
                    <a:bodyPr wrap="square"/>
                    <a:lstStyle/>
                    <a:p>
                      <a:pPr algn="l"/>
                      <a:r>
                        <a:rPr sz="1100" b="0" i="1">
                          <a:solidFill>
                            <a:srgbClr val="000000"/>
                          </a:solidFill>
                          <a:latin typeface="Calibri"/>
                        </a:rPr>
                        <a:t>3.5.6.2.</a:t>
                      </a:r>
                      <a:r>
                        <a:rPr sz="700" b="0" i="1">
                          <a:solidFill>
                            <a:srgbClr val="000000"/>
                          </a:solidFill>
                          <a:latin typeface="Times New Roman"/>
                        </a:rPr>
                        <a:t>    </a:t>
                      </a:r>
                      <a:r>
                        <a:rPr sz="1100" b="0" i="1">
                          <a:solidFill>
                            <a:srgbClr val="000000"/>
                          </a:solidFill>
                          <a:latin typeface="Calibri"/>
                        </a:rPr>
                        <a:t>Merchandise Bags</a:t>
                      </a:r>
                      <a:endParaRPr sz="1100"/>
                    </a:p>
                  </a:txBody>
                  <a:tcPr marL="1028700" marR="9525" marT="9525" marB="0" anchor="ctr"/>
                </a:tc>
              </a:tr>
              <a:tr h="175260">
                <a:tc>
                  <a:txBody>
                    <a:bodyPr wrap="square"/>
                    <a:lstStyle/>
                    <a:p>
                      <a:pPr algn="l"/>
                      <a:r>
                        <a:rPr sz="1100" b="0" i="1">
                          <a:solidFill>
                            <a:srgbClr val="000000"/>
                          </a:solidFill>
                          <a:latin typeface="Calibri"/>
                        </a:rPr>
                        <a:t>3.5.6.3.</a:t>
                      </a:r>
                      <a:r>
                        <a:rPr sz="700" b="0" i="1">
                          <a:solidFill>
                            <a:srgbClr val="000000"/>
                          </a:solidFill>
                          <a:latin typeface="Times New Roman"/>
                        </a:rPr>
                        <a:t>    </a:t>
                      </a:r>
                      <a:r>
                        <a:rPr sz="1100" b="0" i="1">
                          <a:solidFill>
                            <a:srgbClr val="000000"/>
                          </a:solidFill>
                          <a:latin typeface="Calibri"/>
                        </a:rPr>
                        <a:t>Die-Cut Handle Bags</a:t>
                      </a:r>
                      <a:endParaRPr sz="1100"/>
                    </a:p>
                  </a:txBody>
                  <a:tcPr marL="1028700" marR="9525" marT="9525" marB="0" anchor="ctr"/>
                </a:tc>
              </a:tr>
              <a:tr h="175260">
                <a:tc>
                  <a:txBody>
                    <a:bodyPr wrap="square"/>
                    <a:lstStyle/>
                    <a:p>
                      <a:pPr algn="l"/>
                      <a:r>
                        <a:rPr sz="1100" b="0" i="1">
                          <a:solidFill>
                            <a:srgbClr val="000000"/>
                          </a:solidFill>
                          <a:latin typeface="Calibri"/>
                        </a:rPr>
                        <a:t>3.5.6.4.</a:t>
                      </a:r>
                      <a:r>
                        <a:rPr sz="700" b="0" i="1">
                          <a:solidFill>
                            <a:srgbClr val="000000"/>
                          </a:solidFill>
                          <a:latin typeface="Times New Roman"/>
                        </a:rPr>
                        <a:t>    </a:t>
                      </a:r>
                      <a:r>
                        <a:rPr sz="1100" b="0" i="1">
                          <a:solidFill>
                            <a:srgbClr val="000000"/>
                          </a:solidFill>
                          <a:latin typeface="Calibri"/>
                        </a:rPr>
                        <a:t>Patch Handle Bags</a:t>
                      </a:r>
                      <a:endParaRPr sz="1100"/>
                    </a:p>
                  </a:txBody>
                  <a:tcPr marL="1028700" marR="9525" marT="9525" marB="0" anchor="ctr"/>
                </a:tc>
              </a:tr>
              <a:tr h="175260">
                <a:tc>
                  <a:txBody>
                    <a:bodyPr wrap="square"/>
                    <a:lstStyle/>
                    <a:p>
                      <a:pPr algn="l"/>
                      <a:r>
                        <a:rPr sz="1100" b="0" i="1">
                          <a:solidFill>
                            <a:srgbClr val="000000"/>
                          </a:solidFill>
                          <a:latin typeface="Calibri"/>
                        </a:rPr>
                        <a:t>3.5.6.5.</a:t>
                      </a:r>
                      <a:r>
                        <a:rPr sz="700" b="0" i="1">
                          <a:solidFill>
                            <a:srgbClr val="000000"/>
                          </a:solidFill>
                          <a:latin typeface="Times New Roman"/>
                        </a:rPr>
                        <a:t>    </a:t>
                      </a:r>
                      <a:r>
                        <a:rPr sz="1100" b="0" i="1">
                          <a:solidFill>
                            <a:srgbClr val="000000"/>
                          </a:solidFill>
                          <a:latin typeface="Calibri"/>
                        </a:rPr>
                        <a:t>D-Cut Bags</a:t>
                      </a:r>
                      <a:endParaRPr sz="1100"/>
                    </a:p>
                  </a:txBody>
                  <a:tcPr marL="1028700" marR="9525" marT="9525" marB="0" anchor="ctr"/>
                </a:tc>
              </a:tr>
              <a:tr h="175260">
                <a:tc>
                  <a:txBody>
                    <a:bodyPr wrap="square"/>
                    <a:lstStyle/>
                    <a:p>
                      <a:pPr algn="l"/>
                      <a:r>
                        <a:rPr sz="1100" b="0" i="0">
                          <a:solidFill>
                            <a:srgbClr val="000000"/>
                          </a:solidFill>
                          <a:latin typeface="Calibri"/>
                        </a:rPr>
                        <a:t>3.5.7.</a:t>
                      </a:r>
                      <a:r>
                        <a:rPr sz="700" b="0" i="0">
                          <a:solidFill>
                            <a:srgbClr val="000000"/>
                          </a:solidFill>
                          <a:latin typeface="Times New Roman"/>
                        </a:rPr>
                        <a:t>   </a:t>
                      </a:r>
                      <a:r>
                        <a:rPr sz="1100" b="0" i="0">
                          <a:solidFill>
                            <a:srgbClr val="000000"/>
                          </a:solidFill>
                          <a:latin typeface="Calibri"/>
                        </a:rPr>
                        <a:t>E-commerce Polybags</a:t>
                      </a:r>
                      <a:endParaRPr sz="1100"/>
                    </a:p>
                  </a:txBody>
                  <a:tcPr marL="771525" marR="9525" marT="9525" marB="0" anchor="ctr"/>
                </a:tc>
              </a:tr>
              <a:tr h="175260">
                <a:tc>
                  <a:txBody>
                    <a:bodyPr wrap="square"/>
                    <a:lstStyle/>
                    <a:p>
                      <a:pPr algn="l"/>
                      <a:r>
                        <a:rPr sz="1100" b="0" i="1">
                          <a:solidFill>
                            <a:srgbClr val="000000"/>
                          </a:solidFill>
                          <a:latin typeface="Calibri"/>
                        </a:rPr>
                        <a:t>3.5.7.1.</a:t>
                      </a:r>
                      <a:r>
                        <a:rPr sz="700" b="0" i="1">
                          <a:solidFill>
                            <a:srgbClr val="000000"/>
                          </a:solidFill>
                          <a:latin typeface="Times New Roman"/>
                        </a:rPr>
                        <a:t>    </a:t>
                      </a:r>
                      <a:r>
                        <a:rPr sz="1100" b="0" i="1">
                          <a:solidFill>
                            <a:srgbClr val="000000"/>
                          </a:solidFill>
                          <a:latin typeface="Calibri"/>
                        </a:rPr>
                        <a:t>Courier Mailers</a:t>
                      </a:r>
                      <a:endParaRPr sz="1100"/>
                    </a:p>
                  </a:txBody>
                  <a:tcPr marL="1028700" marR="9525" marT="9525" marB="0" anchor="ctr"/>
                </a:tc>
              </a:tr>
              <a:tr h="175260">
                <a:tc>
                  <a:txBody>
                    <a:bodyPr wrap="square"/>
                    <a:lstStyle/>
                    <a:p>
                      <a:pPr algn="l"/>
                      <a:r>
                        <a:rPr sz="1100" b="0" i="1">
                          <a:solidFill>
                            <a:srgbClr val="000000"/>
                          </a:solidFill>
                          <a:latin typeface="Calibri"/>
                        </a:rPr>
                        <a:t>3.5.7.2.</a:t>
                      </a:r>
                      <a:r>
                        <a:rPr sz="700" b="0" i="1">
                          <a:solidFill>
                            <a:srgbClr val="000000"/>
                          </a:solidFill>
                          <a:latin typeface="Times New Roman"/>
                        </a:rPr>
                        <a:t>    </a:t>
                      </a:r>
                      <a:r>
                        <a:rPr sz="1100" b="0" i="1">
                          <a:solidFill>
                            <a:srgbClr val="000000"/>
                          </a:solidFill>
                          <a:latin typeface="Calibri"/>
                        </a:rPr>
                        <a:t>Tamper-Evident Mailers</a:t>
                      </a:r>
                      <a:endParaRPr sz="1100"/>
                    </a:p>
                  </a:txBody>
                  <a:tcPr marL="1028700" marR="9525" marT="9525" marB="0" anchor="ctr"/>
                </a:tc>
              </a:tr>
              <a:tr h="175260">
                <a:tc>
                  <a:txBody>
                    <a:bodyPr wrap="square"/>
                    <a:lstStyle/>
                    <a:p>
                      <a:pPr algn="l"/>
                      <a:r>
                        <a:rPr sz="1100" b="0" i="1">
                          <a:solidFill>
                            <a:srgbClr val="000000"/>
                          </a:solidFill>
                          <a:latin typeface="Calibri"/>
                        </a:rPr>
                        <a:t>3.5.7.3.</a:t>
                      </a:r>
                      <a:r>
                        <a:rPr sz="700" b="0" i="1">
                          <a:solidFill>
                            <a:srgbClr val="000000"/>
                          </a:solidFill>
                          <a:latin typeface="Times New Roman"/>
                        </a:rPr>
                        <a:t>    </a:t>
                      </a:r>
                      <a:r>
                        <a:rPr sz="1100" b="0" i="1">
                          <a:solidFill>
                            <a:srgbClr val="000000"/>
                          </a:solidFill>
                          <a:latin typeface="Calibri"/>
                        </a:rPr>
                        <a:t>Return Mailers</a:t>
                      </a:r>
                      <a:endParaRPr sz="1100"/>
                    </a:p>
                  </a:txBody>
                  <a:tcPr marL="1028700" marR="9525" marT="9525" marB="0" anchor="ctr"/>
                </a:tc>
              </a:tr>
              <a:tr h="175260">
                <a:tc>
                  <a:txBody>
                    <a:bodyPr wrap="square"/>
                    <a:lstStyle/>
                    <a:p>
                      <a:pPr algn="l"/>
                      <a:r>
                        <a:rPr sz="1100" b="0" i="1">
                          <a:solidFill>
                            <a:srgbClr val="000000"/>
                          </a:solidFill>
                          <a:latin typeface="Calibri"/>
                        </a:rPr>
                        <a:t>3.5.7.4.</a:t>
                      </a:r>
                      <a:r>
                        <a:rPr sz="700" b="0" i="1">
                          <a:solidFill>
                            <a:srgbClr val="000000"/>
                          </a:solidFill>
                          <a:latin typeface="Times New Roman"/>
                        </a:rPr>
                        <a:t>    </a:t>
                      </a:r>
                      <a:r>
                        <a:rPr sz="1100" b="0" i="1">
                          <a:solidFill>
                            <a:srgbClr val="000000"/>
                          </a:solidFill>
                          <a:latin typeface="Calibri"/>
                        </a:rPr>
                        <a:t>Security Mailers</a:t>
                      </a:r>
                      <a:endParaRPr sz="1100"/>
                    </a:p>
                  </a:txBody>
                  <a:tcPr marL="1028700" marR="9525" marT="9525" marB="0" anchor="ctr"/>
                </a:tc>
              </a:tr>
              <a:tr h="175260">
                <a:tc>
                  <a:txBody>
                    <a:bodyPr wrap="square"/>
                    <a:lstStyle/>
                    <a:p>
                      <a:pPr algn="l"/>
                      <a:r>
                        <a:rPr sz="1100" b="0" i="0">
                          <a:solidFill>
                            <a:srgbClr val="000000"/>
                          </a:solidFill>
                          <a:latin typeface="Calibri"/>
                        </a:rPr>
                        <a:t>3.5.8.</a:t>
                      </a:r>
                      <a:r>
                        <a:rPr sz="700" b="0" i="0">
                          <a:solidFill>
                            <a:srgbClr val="000000"/>
                          </a:solidFill>
                          <a:latin typeface="Times New Roman"/>
                        </a:rPr>
                        <a:t>   </a:t>
                      </a:r>
                      <a:r>
                        <a:rPr sz="1100" b="0" i="0">
                          <a:solidFill>
                            <a:srgbClr val="000000"/>
                          </a:solidFill>
                          <a:latin typeface="Calibri"/>
                        </a:rPr>
                        <a:t>Specialty Polybags</a:t>
                      </a:r>
                      <a:endParaRPr sz="1100"/>
                    </a:p>
                  </a:txBody>
                  <a:tcPr marL="771525" marR="9525" marT="9525" marB="0" anchor="ctr"/>
                </a:tc>
              </a:tr>
              <a:tr h="175260">
                <a:tc>
                  <a:txBody>
                    <a:bodyPr wrap="square"/>
                    <a:lstStyle/>
                    <a:p>
                      <a:pPr algn="l"/>
                      <a:r>
                        <a:rPr sz="1100" b="0" i="1">
                          <a:solidFill>
                            <a:srgbClr val="000000"/>
                          </a:solidFill>
                          <a:latin typeface="Calibri"/>
                        </a:rPr>
                        <a:t>3.5.8.1.</a:t>
                      </a:r>
                      <a:r>
                        <a:rPr sz="700" b="0" i="1">
                          <a:solidFill>
                            <a:srgbClr val="000000"/>
                          </a:solidFill>
                          <a:latin typeface="Times New Roman"/>
                        </a:rPr>
                        <a:t>    </a:t>
                      </a:r>
                      <a:r>
                        <a:rPr sz="1100" b="0" i="1">
                          <a:solidFill>
                            <a:srgbClr val="000000"/>
                          </a:solidFill>
                          <a:latin typeface="Calibri"/>
                        </a:rPr>
                        <a:t>Wicketed Bags</a:t>
                      </a:r>
                      <a:endParaRPr sz="1100"/>
                    </a:p>
                  </a:txBody>
                  <a:tcPr marL="1028700" marR="9525" marT="9525" marB="0" anchor="ctr"/>
                </a:tc>
              </a:tr>
              <a:tr h="175260">
                <a:tc>
                  <a:txBody>
                    <a:bodyPr wrap="square"/>
                    <a:lstStyle/>
                    <a:p>
                      <a:pPr algn="l"/>
                      <a:r>
                        <a:rPr sz="1100" b="0" i="1">
                          <a:solidFill>
                            <a:srgbClr val="000000"/>
                          </a:solidFill>
                          <a:latin typeface="Calibri"/>
                        </a:rPr>
                        <a:t>3.5.8.2.</a:t>
                      </a:r>
                      <a:r>
                        <a:rPr sz="700" b="0" i="1">
                          <a:solidFill>
                            <a:srgbClr val="000000"/>
                          </a:solidFill>
                          <a:latin typeface="Times New Roman"/>
                        </a:rPr>
                        <a:t>    </a:t>
                      </a:r>
                      <a:r>
                        <a:rPr sz="1100" b="0" i="1">
                          <a:solidFill>
                            <a:srgbClr val="000000"/>
                          </a:solidFill>
                          <a:latin typeface="Calibri"/>
                        </a:rPr>
                        <a:t>Header Bags</a:t>
                      </a:r>
                      <a:endParaRPr sz="1100"/>
                    </a:p>
                  </a:txBody>
                  <a:tcPr marL="1028700" marR="9525" marT="9525" marB="0" anchor="ctr"/>
                </a:tc>
              </a:tr>
              <a:tr h="175260">
                <a:tc>
                  <a:txBody>
                    <a:bodyPr wrap="square"/>
                    <a:lstStyle/>
                    <a:p>
                      <a:pPr algn="l"/>
                      <a:r>
                        <a:rPr sz="1100" b="0" i="1">
                          <a:solidFill>
                            <a:srgbClr val="000000"/>
                          </a:solidFill>
                          <a:latin typeface="Calibri"/>
                        </a:rPr>
                        <a:t>3.5.8.3.</a:t>
                      </a:r>
                      <a:r>
                        <a:rPr sz="700" b="0" i="1">
                          <a:solidFill>
                            <a:srgbClr val="000000"/>
                          </a:solidFill>
                          <a:latin typeface="Times New Roman"/>
                        </a:rPr>
                        <a:t>    </a:t>
                      </a:r>
                      <a:r>
                        <a:rPr sz="1100" b="0" i="1">
                          <a:solidFill>
                            <a:srgbClr val="000000"/>
                          </a:solidFill>
                          <a:latin typeface="Calibri"/>
                        </a:rPr>
                        <a:t>Perforated Bags</a:t>
                      </a:r>
                      <a:endParaRPr sz="1100"/>
                    </a:p>
                  </a:txBody>
                  <a:tcPr marL="1028700" marR="9525" marT="9525" marB="0" anchor="ctr"/>
                </a:tc>
              </a:tr>
              <a:tr h="175260">
                <a:tc>
                  <a:txBody>
                    <a:bodyPr wrap="square"/>
                    <a:lstStyle/>
                    <a:p>
                      <a:pPr algn="l"/>
                      <a:r>
                        <a:rPr sz="1100" b="0" i="1">
                          <a:solidFill>
                            <a:srgbClr val="000000"/>
                          </a:solidFill>
                          <a:latin typeface="Calibri"/>
                        </a:rPr>
                        <a:t>3.5.8.4.</a:t>
                      </a:r>
                      <a:r>
                        <a:rPr sz="700" b="0" i="1">
                          <a:solidFill>
                            <a:srgbClr val="000000"/>
                          </a:solidFill>
                          <a:latin typeface="Times New Roman"/>
                        </a:rPr>
                        <a:t>    </a:t>
                      </a:r>
                      <a:r>
                        <a:rPr sz="1100" b="0" i="1">
                          <a:solidFill>
                            <a:srgbClr val="000000"/>
                          </a:solidFill>
                          <a:latin typeface="Calibri"/>
                        </a:rPr>
                        <a:t>Drawstring Bags</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(2/6)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3.5.8.5.</a:t>
                      </a:r>
                      <a:r>
                        <a:rPr sz="700" b="0" i="1">
                          <a:solidFill>
                            <a:srgbClr val="000000"/>
                          </a:solidFill>
                          <a:latin typeface="Times New Roman"/>
                        </a:rPr>
                        <a:t>    </a:t>
                      </a:r>
                      <a:r>
                        <a:rPr sz="1100" b="0" i="1">
                          <a:solidFill>
                            <a:srgbClr val="000000"/>
                          </a:solidFill>
                          <a:latin typeface="Calibri"/>
                        </a:rPr>
                        <a:t>Custom Printed Bags</a:t>
                      </a:r>
                      <a:endParaRPr sz="1100"/>
                    </a:p>
                  </a:txBody>
                  <a:tcPr marL="1028700" marR="9525" marT="9525" marB="0" anchor="ctr"/>
                </a:tc>
              </a:tr>
              <a:tr h="175260">
                <a:tc>
                  <a:txBody>
                    <a:bodyPr wrap="square"/>
                    <a:lstStyle/>
                    <a:p>
                      <a:pPr algn="l"/>
                      <a:r>
                        <a:rPr sz="1100" b="1" i="0">
                          <a:solidFill>
                            <a:srgbClr val="000000"/>
                          </a:solidFill>
                          <a:latin typeface="Calibri"/>
                        </a:rPr>
                        <a:t>4.</a:t>
                      </a:r>
                      <a:r>
                        <a:rPr sz="700" b="1" i="0">
                          <a:solidFill>
                            <a:srgbClr val="000000"/>
                          </a:solidFill>
                          <a:latin typeface="Times New Roman"/>
                        </a:rPr>
                        <a:t>       </a:t>
                      </a:r>
                      <a:r>
                        <a:rPr sz="1100" b="1" i="0">
                          <a:solidFill>
                            <a:srgbClr val="000000"/>
                          </a:solidFill>
                          <a:latin typeface="Calibri"/>
                        </a:rPr>
                        <a:t>Global Market (Value- Volume) Analysis 2021–2036, By Material</a:t>
                      </a:r>
                      <a:endParaRPr sz="1100"/>
                    </a:p>
                  </a:txBody>
                  <a:tcPr marL="171450" marR="9525" marT="9525" marB="0" anchor="ctr"/>
                </a:tc>
              </a:tr>
              <a:tr h="175260">
                <a:tc>
                  <a:txBody>
                    <a:bodyPr wrap="square"/>
                    <a:lstStyle/>
                    <a:p>
                      <a:pPr algn="l"/>
                      <a:r>
                        <a:rPr sz="1100" b="0" i="0">
                          <a:solidFill>
                            <a:srgbClr val="0070C0"/>
                          </a:solidFill>
                          <a:latin typeface="Calibri"/>
                        </a:rPr>
                        <a:t>4.1.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4.2.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4.3.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4.4.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4.5.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4.5.1.</a:t>
                      </a:r>
                      <a:r>
                        <a:rPr sz="700" b="0" i="0">
                          <a:solidFill>
                            <a:srgbClr val="000000"/>
                          </a:solidFill>
                          <a:latin typeface="Times New Roman"/>
                        </a:rPr>
                        <a:t>   </a:t>
                      </a:r>
                      <a:r>
                        <a:rPr sz="1100" b="0" i="0">
                          <a:solidFill>
                            <a:srgbClr val="000000"/>
                          </a:solidFill>
                          <a:latin typeface="Calibri"/>
                        </a:rPr>
                        <a:t>Polyethylene (PE)</a:t>
                      </a:r>
                      <a:endParaRPr sz="1100"/>
                    </a:p>
                  </a:txBody>
                  <a:tcPr marL="771525" marR="9525" marT="9525" marB="0" anchor="ctr"/>
                </a:tc>
              </a:tr>
              <a:tr h="175260">
                <a:tc>
                  <a:txBody>
                    <a:bodyPr wrap="square"/>
                    <a:lstStyle/>
                    <a:p>
                      <a:pPr algn="l"/>
                      <a:r>
                        <a:rPr sz="1100" b="0" i="0">
                          <a:solidFill>
                            <a:srgbClr val="000000"/>
                          </a:solidFill>
                          <a:latin typeface="Calibri"/>
                        </a:rPr>
                        <a:t>4.5.2.</a:t>
                      </a:r>
                      <a:r>
                        <a:rPr sz="700" b="0" i="0">
                          <a:solidFill>
                            <a:srgbClr val="000000"/>
                          </a:solidFill>
                          <a:latin typeface="Times New Roman"/>
                        </a:rPr>
                        <a:t>   </a:t>
                      </a:r>
                      <a:r>
                        <a:rPr sz="1100" b="0" i="0">
                          <a:solidFill>
                            <a:srgbClr val="000000"/>
                          </a:solidFill>
                          <a:latin typeface="Calibri"/>
                        </a:rPr>
                        <a:t>Low-Density Polyethylene (LDPE)</a:t>
                      </a:r>
                      <a:endParaRPr sz="1100"/>
                    </a:p>
                  </a:txBody>
                  <a:tcPr marL="771525" marR="9525" marT="9525" marB="0" anchor="ctr"/>
                </a:tc>
              </a:tr>
              <a:tr h="175260">
                <a:tc>
                  <a:txBody>
                    <a:bodyPr wrap="square"/>
                    <a:lstStyle/>
                    <a:p>
                      <a:pPr algn="l"/>
                      <a:r>
                        <a:rPr sz="1100" b="0" i="0">
                          <a:solidFill>
                            <a:srgbClr val="000000"/>
                          </a:solidFill>
                          <a:latin typeface="Calibri"/>
                        </a:rPr>
                        <a:t>4.5.3.</a:t>
                      </a:r>
                      <a:r>
                        <a:rPr sz="700" b="0" i="0">
                          <a:solidFill>
                            <a:srgbClr val="000000"/>
                          </a:solidFill>
                          <a:latin typeface="Times New Roman"/>
                        </a:rPr>
                        <a:t>   </a:t>
                      </a:r>
                      <a:r>
                        <a:rPr sz="1100" b="0" i="0">
                          <a:solidFill>
                            <a:srgbClr val="000000"/>
                          </a:solidFill>
                          <a:latin typeface="Calibri"/>
                        </a:rPr>
                        <a:t>Linear Low-Density Polyethylene (LLDPE)</a:t>
                      </a:r>
                      <a:endParaRPr sz="1100"/>
                    </a:p>
                  </a:txBody>
                  <a:tcPr marL="771525" marR="9525" marT="9525" marB="0" anchor="ctr"/>
                </a:tc>
              </a:tr>
              <a:tr h="175260">
                <a:tc>
                  <a:txBody>
                    <a:bodyPr wrap="square"/>
                    <a:lstStyle/>
                    <a:p>
                      <a:pPr algn="l"/>
                      <a:r>
                        <a:rPr sz="1100" b="0" i="0">
                          <a:solidFill>
                            <a:srgbClr val="000000"/>
                          </a:solidFill>
                          <a:latin typeface="Calibri"/>
                        </a:rPr>
                        <a:t>4.5.4.</a:t>
                      </a:r>
                      <a:r>
                        <a:rPr sz="700" b="0" i="0">
                          <a:solidFill>
                            <a:srgbClr val="000000"/>
                          </a:solidFill>
                          <a:latin typeface="Times New Roman"/>
                        </a:rPr>
                        <a:t>   </a:t>
                      </a:r>
                      <a:r>
                        <a:rPr sz="1100" b="0" i="0">
                          <a:solidFill>
                            <a:srgbClr val="000000"/>
                          </a:solidFill>
                          <a:latin typeface="Calibri"/>
                        </a:rPr>
                        <a:t>High-Density Polyethylene (HDPE)</a:t>
                      </a:r>
                      <a:endParaRPr sz="1100"/>
                    </a:p>
                  </a:txBody>
                  <a:tcPr marL="771525" marR="9525" marT="9525" marB="0" anchor="ctr"/>
                </a:tc>
              </a:tr>
              <a:tr h="175260">
                <a:tc>
                  <a:txBody>
                    <a:bodyPr wrap="square"/>
                    <a:lstStyle/>
                    <a:p>
                      <a:pPr algn="l"/>
                      <a:r>
                        <a:rPr sz="1100" b="0" i="0">
                          <a:solidFill>
                            <a:srgbClr val="000000"/>
                          </a:solidFill>
                          <a:latin typeface="Calibri"/>
                        </a:rPr>
                        <a:t>4.5.5.</a:t>
                      </a:r>
                      <a:r>
                        <a:rPr sz="700" b="0" i="0">
                          <a:solidFill>
                            <a:srgbClr val="000000"/>
                          </a:solidFill>
                          <a:latin typeface="Times New Roman"/>
                        </a:rPr>
                        <a:t>   </a:t>
                      </a:r>
                      <a:r>
                        <a:rPr sz="1100" b="0" i="0">
                          <a:solidFill>
                            <a:srgbClr val="000000"/>
                          </a:solidFill>
                          <a:latin typeface="Calibri"/>
                        </a:rPr>
                        <a:t>Medium-Density Polyethylene (MDPE)</a:t>
                      </a:r>
                      <a:endParaRPr sz="1100"/>
                    </a:p>
                  </a:txBody>
                  <a:tcPr marL="771525" marR="9525" marT="9525" marB="0" anchor="ctr"/>
                </a:tc>
              </a:tr>
              <a:tr h="175260">
                <a:tc>
                  <a:txBody>
                    <a:bodyPr wrap="square"/>
                    <a:lstStyle/>
                    <a:p>
                      <a:pPr algn="l"/>
                      <a:r>
                        <a:rPr sz="1100" b="0" i="0">
                          <a:solidFill>
                            <a:srgbClr val="000000"/>
                          </a:solidFill>
                          <a:latin typeface="Calibri"/>
                        </a:rPr>
                        <a:t>4.5.6.</a:t>
                      </a:r>
                      <a:r>
                        <a:rPr sz="700" b="0" i="0">
                          <a:solidFill>
                            <a:srgbClr val="000000"/>
                          </a:solidFill>
                          <a:latin typeface="Times New Roman"/>
                        </a:rPr>
                        <a:t>   </a:t>
                      </a:r>
                      <a:r>
                        <a:rPr sz="1100" b="0" i="0">
                          <a:solidFill>
                            <a:srgbClr val="000000"/>
                          </a:solidFill>
                          <a:latin typeface="Calibri"/>
                        </a:rPr>
                        <a:t>Polypropylene (PP)</a:t>
                      </a:r>
                      <a:endParaRPr sz="1100"/>
                    </a:p>
                  </a:txBody>
                  <a:tcPr marL="771525" marR="9525" marT="9525" marB="0" anchor="ctr"/>
                </a:tc>
              </a:tr>
              <a:tr h="175260">
                <a:tc>
                  <a:txBody>
                    <a:bodyPr wrap="square"/>
                    <a:lstStyle/>
                    <a:p>
                      <a:pPr algn="l"/>
                      <a:r>
                        <a:rPr sz="1100" b="0" i="1">
                          <a:solidFill>
                            <a:srgbClr val="000000"/>
                          </a:solidFill>
                          <a:latin typeface="Calibri"/>
                        </a:rPr>
                        <a:t>4.5.6.1.</a:t>
                      </a:r>
                      <a:r>
                        <a:rPr sz="700" b="0" i="1">
                          <a:solidFill>
                            <a:srgbClr val="000000"/>
                          </a:solidFill>
                          <a:latin typeface="Times New Roman"/>
                        </a:rPr>
                        <a:t>    </a:t>
                      </a:r>
                      <a:r>
                        <a:rPr sz="1100" b="0" i="1">
                          <a:solidFill>
                            <a:srgbClr val="000000"/>
                          </a:solidFill>
                          <a:latin typeface="Calibri"/>
                        </a:rPr>
                        <a:t>Cast Polypropylene (CPP)</a:t>
                      </a:r>
                      <a:endParaRPr sz="1100"/>
                    </a:p>
                  </a:txBody>
                  <a:tcPr marL="1028700" marR="9525" marT="9525" marB="0" anchor="ctr"/>
                </a:tc>
              </a:tr>
              <a:tr h="175260">
                <a:tc>
                  <a:txBody>
                    <a:bodyPr wrap="square"/>
                    <a:lstStyle/>
                    <a:p>
                      <a:pPr algn="l"/>
                      <a:r>
                        <a:rPr sz="1100" b="0" i="1">
                          <a:solidFill>
                            <a:srgbClr val="000000"/>
                          </a:solidFill>
                          <a:latin typeface="Calibri"/>
                        </a:rPr>
                        <a:t>4.5.6.2.</a:t>
                      </a:r>
                      <a:r>
                        <a:rPr sz="700" b="0" i="1">
                          <a:solidFill>
                            <a:srgbClr val="000000"/>
                          </a:solidFill>
                          <a:latin typeface="Times New Roman"/>
                        </a:rPr>
                        <a:t>    </a:t>
                      </a:r>
                      <a:r>
                        <a:rPr sz="1100" b="0" i="1">
                          <a:solidFill>
                            <a:srgbClr val="000000"/>
                          </a:solidFill>
                          <a:latin typeface="Calibri"/>
                        </a:rPr>
                        <a:t>Biaxially Oriented Polypropylene (BOPP)</a:t>
                      </a:r>
                      <a:endParaRPr sz="1100"/>
                    </a:p>
                  </a:txBody>
                  <a:tcPr marL="1028700" marR="9525" marT="9525" marB="0" anchor="ctr"/>
                </a:tc>
              </a:tr>
              <a:tr h="175260">
                <a:tc>
                  <a:txBody>
                    <a:bodyPr wrap="square"/>
                    <a:lstStyle/>
                    <a:p>
                      <a:pPr algn="l"/>
                      <a:r>
                        <a:rPr sz="1100" b="0" i="1">
                          <a:solidFill>
                            <a:srgbClr val="000000"/>
                          </a:solidFill>
                          <a:latin typeface="Calibri"/>
                        </a:rPr>
                        <a:t>4.5.6.3.</a:t>
                      </a:r>
                      <a:r>
                        <a:rPr sz="700" b="0" i="1">
                          <a:solidFill>
                            <a:srgbClr val="000000"/>
                          </a:solidFill>
                          <a:latin typeface="Times New Roman"/>
                        </a:rPr>
                        <a:t>    </a:t>
                      </a:r>
                      <a:r>
                        <a:rPr sz="1100" b="0" i="1">
                          <a:solidFill>
                            <a:srgbClr val="000000"/>
                          </a:solidFill>
                          <a:latin typeface="Calibri"/>
                        </a:rPr>
                        <a:t>Oriented Polypropylene (OPP)</a:t>
                      </a:r>
                      <a:endParaRPr sz="1100"/>
                    </a:p>
                  </a:txBody>
                  <a:tcPr marL="1028700" marR="9525" marT="9525" marB="0" anchor="ctr"/>
                </a:tc>
              </a:tr>
              <a:tr h="175260">
                <a:tc>
                  <a:txBody>
                    <a:bodyPr wrap="square"/>
                    <a:lstStyle/>
                    <a:p>
                      <a:pPr algn="l"/>
                      <a:r>
                        <a:rPr sz="1100" b="0" i="0">
                          <a:solidFill>
                            <a:srgbClr val="000000"/>
                          </a:solidFill>
                          <a:latin typeface="Calibri"/>
                        </a:rPr>
                        <a:t>4.5.7.</a:t>
                      </a:r>
                      <a:r>
                        <a:rPr sz="700" b="0" i="0">
                          <a:solidFill>
                            <a:srgbClr val="000000"/>
                          </a:solidFill>
                          <a:latin typeface="Times New Roman"/>
                        </a:rPr>
                        <a:t>   </a:t>
                      </a:r>
                      <a:r>
                        <a:rPr sz="1100" b="0" i="0">
                          <a:solidFill>
                            <a:srgbClr val="000000"/>
                          </a:solidFill>
                          <a:latin typeface="Calibri"/>
                        </a:rPr>
                        <a:t>Recycled Plastics</a:t>
                      </a:r>
                      <a:endParaRPr sz="1100"/>
                    </a:p>
                  </a:txBody>
                  <a:tcPr marL="771525" marR="9525" marT="9525" marB="0" anchor="ctr"/>
                </a:tc>
              </a:tr>
              <a:tr h="175260">
                <a:tc>
                  <a:txBody>
                    <a:bodyPr wrap="square"/>
                    <a:lstStyle/>
                    <a:p>
                      <a:pPr algn="l"/>
                      <a:r>
                        <a:rPr sz="1100" b="0" i="1">
                          <a:solidFill>
                            <a:srgbClr val="000000"/>
                          </a:solidFill>
                          <a:latin typeface="Calibri"/>
                        </a:rPr>
                        <a:t>4.5.7.1.</a:t>
                      </a:r>
                      <a:r>
                        <a:rPr sz="700" b="0" i="1">
                          <a:solidFill>
                            <a:srgbClr val="000000"/>
                          </a:solidFill>
                          <a:latin typeface="Times New Roman"/>
                        </a:rPr>
                        <a:t>    </a:t>
                      </a:r>
                      <a:r>
                        <a:rPr sz="1100" b="0" i="1">
                          <a:solidFill>
                            <a:srgbClr val="000000"/>
                          </a:solidFill>
                          <a:latin typeface="Calibri"/>
                        </a:rPr>
                        <a:t>Post-Consumer Recycled (PCR)</a:t>
                      </a:r>
                      <a:endParaRPr sz="1100"/>
                    </a:p>
                  </a:txBody>
                  <a:tcPr marL="1028700" marR="9525" marT="9525" marB="0" anchor="ctr"/>
                </a:tc>
              </a:tr>
              <a:tr h="175260">
                <a:tc>
                  <a:txBody>
                    <a:bodyPr wrap="square"/>
                    <a:lstStyle/>
                    <a:p>
                      <a:pPr algn="l"/>
                      <a:r>
                        <a:rPr sz="1100" b="0" i="1">
                          <a:solidFill>
                            <a:srgbClr val="000000"/>
                          </a:solidFill>
                          <a:latin typeface="Calibri"/>
                        </a:rPr>
                        <a:t>4.5.7.2.</a:t>
                      </a:r>
                      <a:r>
                        <a:rPr sz="700" b="0" i="1">
                          <a:solidFill>
                            <a:srgbClr val="000000"/>
                          </a:solidFill>
                          <a:latin typeface="Times New Roman"/>
                        </a:rPr>
                        <a:t>    </a:t>
                      </a:r>
                      <a:r>
                        <a:rPr sz="1100" b="0" i="1">
                          <a:solidFill>
                            <a:srgbClr val="000000"/>
                          </a:solidFill>
                          <a:latin typeface="Calibri"/>
                        </a:rPr>
                        <a:t>Post-Industrial Recycled (PIR)</a:t>
                      </a:r>
                      <a:endParaRPr sz="1100"/>
                    </a:p>
                  </a:txBody>
                  <a:tcPr marL="1028700" marR="9525" marT="9525" marB="0" anchor="ctr"/>
                </a:tc>
              </a:tr>
              <a:tr h="175260">
                <a:tc>
                  <a:txBody>
                    <a:bodyPr wrap="square"/>
                    <a:lstStyle/>
                    <a:p>
                      <a:pPr algn="l"/>
                      <a:r>
                        <a:rPr sz="1100" b="0" i="1">
                          <a:solidFill>
                            <a:srgbClr val="000000"/>
                          </a:solidFill>
                          <a:latin typeface="Calibri"/>
                        </a:rPr>
                        <a:t>4.5.7.3.</a:t>
                      </a:r>
                      <a:r>
                        <a:rPr sz="700" b="0" i="1">
                          <a:solidFill>
                            <a:srgbClr val="000000"/>
                          </a:solidFill>
                          <a:latin typeface="Times New Roman"/>
                        </a:rPr>
                        <a:t>    </a:t>
                      </a:r>
                      <a:r>
                        <a:rPr sz="1100" b="0" i="1">
                          <a:solidFill>
                            <a:srgbClr val="000000"/>
                          </a:solidFill>
                          <a:latin typeface="Calibri"/>
                        </a:rPr>
                        <a:t>Mixed Recycled Resin</a:t>
                      </a:r>
                      <a:endParaRPr sz="1100"/>
                    </a:p>
                  </a:txBody>
                  <a:tcPr marL="1028700" marR="9525" marT="9525" marB="0" anchor="ctr"/>
                </a:tc>
              </a:tr>
              <a:tr h="175260">
                <a:tc>
                  <a:txBody>
                    <a:bodyPr wrap="square"/>
                    <a:lstStyle/>
                    <a:p>
                      <a:pPr algn="l"/>
                      <a:r>
                        <a:rPr sz="1100" b="0" i="0">
                          <a:solidFill>
                            <a:srgbClr val="000000"/>
                          </a:solidFill>
                          <a:latin typeface="Calibri"/>
                        </a:rPr>
                        <a:t>4.5.8.</a:t>
                      </a:r>
                      <a:r>
                        <a:rPr sz="700" b="0" i="0">
                          <a:solidFill>
                            <a:srgbClr val="000000"/>
                          </a:solidFill>
                          <a:latin typeface="Times New Roman"/>
                        </a:rPr>
                        <a:t>   </a:t>
                      </a:r>
                      <a:r>
                        <a:rPr sz="1100" b="0" i="0">
                          <a:solidFill>
                            <a:srgbClr val="000000"/>
                          </a:solidFill>
                          <a:latin typeface="Calibri"/>
                        </a:rPr>
                        <a:t>Bio-Based Materials</a:t>
                      </a:r>
                      <a:endParaRPr sz="1100"/>
                    </a:p>
                  </a:txBody>
                  <a:tcPr marL="771525" marR="9525" marT="9525" marB="0" anchor="ctr"/>
                </a:tc>
              </a:tr>
              <a:tr h="175260">
                <a:tc>
                  <a:txBody>
                    <a:bodyPr wrap="square"/>
                    <a:lstStyle/>
                    <a:p>
                      <a:pPr algn="l"/>
                      <a:r>
                        <a:rPr sz="1100" b="0" i="1">
                          <a:solidFill>
                            <a:srgbClr val="000000"/>
                          </a:solidFill>
                          <a:latin typeface="Calibri"/>
                        </a:rPr>
                        <a:t>4.5.8.1.</a:t>
                      </a:r>
                      <a:r>
                        <a:rPr sz="700" b="0" i="1">
                          <a:solidFill>
                            <a:srgbClr val="000000"/>
                          </a:solidFill>
                          <a:latin typeface="Times New Roman"/>
                        </a:rPr>
                        <a:t>    </a:t>
                      </a:r>
                      <a:r>
                        <a:rPr sz="1100" b="0" i="1">
                          <a:solidFill>
                            <a:srgbClr val="000000"/>
                          </a:solidFill>
                          <a:latin typeface="Calibri"/>
                        </a:rPr>
                        <a:t>PLA</a:t>
                      </a:r>
                      <a:endParaRPr sz="1100"/>
                    </a:p>
                  </a:txBody>
                  <a:tcPr marL="1028700" marR="9525" marT="9525" marB="0" anchor="ctr"/>
                </a:tc>
              </a:tr>
              <a:tr h="175260">
                <a:tc>
                  <a:txBody>
                    <a:bodyPr wrap="square"/>
                    <a:lstStyle/>
                    <a:p>
                      <a:pPr algn="l"/>
                      <a:r>
                        <a:rPr sz="1100" b="0" i="1">
                          <a:solidFill>
                            <a:srgbClr val="000000"/>
                          </a:solidFill>
                          <a:latin typeface="Calibri"/>
                        </a:rPr>
                        <a:t>4.5.8.2.</a:t>
                      </a:r>
                      <a:r>
                        <a:rPr sz="700" b="0" i="1">
                          <a:solidFill>
                            <a:srgbClr val="000000"/>
                          </a:solidFill>
                          <a:latin typeface="Times New Roman"/>
                        </a:rPr>
                        <a:t>    </a:t>
                      </a:r>
                      <a:r>
                        <a:rPr sz="1100" b="0" i="1">
                          <a:solidFill>
                            <a:srgbClr val="000000"/>
                          </a:solidFill>
                          <a:latin typeface="Calibri"/>
                        </a:rPr>
                        <a:t>PHA</a:t>
                      </a:r>
                      <a:endParaRPr sz="1100"/>
                    </a:p>
                  </a:txBody>
                  <a:tcPr marL="1028700" marR="9525" marT="9525" marB="0" anchor="ctr"/>
                </a:tc>
              </a:tr>
              <a:tr h="175260">
                <a:tc>
                  <a:txBody>
                    <a:bodyPr wrap="square"/>
                    <a:lstStyle/>
                    <a:p>
                      <a:pPr algn="l"/>
                      <a:r>
                        <a:rPr sz="1100" b="0" i="1">
                          <a:solidFill>
                            <a:srgbClr val="000000"/>
                          </a:solidFill>
                          <a:latin typeface="Calibri"/>
                        </a:rPr>
                        <a:t>4.5.8.3.</a:t>
                      </a:r>
                      <a:r>
                        <a:rPr sz="700" b="0" i="1">
                          <a:solidFill>
                            <a:srgbClr val="000000"/>
                          </a:solidFill>
                          <a:latin typeface="Times New Roman"/>
                        </a:rPr>
                        <a:t>    </a:t>
                      </a:r>
                      <a:r>
                        <a:rPr sz="1100" b="0" i="1">
                          <a:solidFill>
                            <a:srgbClr val="000000"/>
                          </a:solidFill>
                          <a:latin typeface="Calibri"/>
                        </a:rPr>
                        <a:t>Starch Blend</a:t>
                      </a:r>
                      <a:endParaRPr sz="1100"/>
                    </a:p>
                  </a:txBody>
                  <a:tcPr marL="1028700" marR="9525" marT="9525" marB="0" anchor="ctr"/>
                </a:tc>
              </a:tr>
              <a:tr h="175260">
                <a:tc>
                  <a:txBody>
                    <a:bodyPr wrap="square"/>
                    <a:lstStyle/>
                    <a:p>
                      <a:pPr algn="l"/>
                      <a:r>
                        <a:rPr sz="1100" b="0" i="1">
                          <a:solidFill>
                            <a:srgbClr val="000000"/>
                          </a:solidFill>
                          <a:latin typeface="Calibri"/>
                        </a:rPr>
                        <a:t>4.5.8.4.</a:t>
                      </a:r>
                      <a:r>
                        <a:rPr sz="700" b="0" i="1">
                          <a:solidFill>
                            <a:srgbClr val="000000"/>
                          </a:solidFill>
                          <a:latin typeface="Times New Roman"/>
                        </a:rPr>
                        <a:t>    </a:t>
                      </a:r>
                      <a:r>
                        <a:rPr sz="1100" b="0" i="1">
                          <a:solidFill>
                            <a:srgbClr val="000000"/>
                          </a:solidFill>
                          <a:latin typeface="Calibri"/>
                        </a:rPr>
                        <a:t>PBAT Blend</a:t>
                      </a:r>
                      <a:endParaRPr sz="1100"/>
                    </a:p>
                  </a:txBody>
                  <a:tcPr marL="1028700" marR="9525" marT="9525" marB="0" anchor="ctr"/>
                </a:tc>
              </a:tr>
              <a:tr h="175260">
                <a:tc>
                  <a:txBody>
                    <a:bodyPr wrap="square"/>
                    <a:lstStyle/>
                    <a:p>
                      <a:pPr algn="l"/>
                      <a:r>
                        <a:rPr sz="1100" b="0" i="1">
                          <a:solidFill>
                            <a:srgbClr val="000000"/>
                          </a:solidFill>
                          <a:latin typeface="Calibri"/>
                        </a:rPr>
                        <a:t>4.5.8.5.</a:t>
                      </a:r>
                      <a:r>
                        <a:rPr sz="700" b="0" i="1">
                          <a:solidFill>
                            <a:srgbClr val="000000"/>
                          </a:solidFill>
                          <a:latin typeface="Times New Roman"/>
                        </a:rPr>
                        <a:t>    </a:t>
                      </a:r>
                      <a:r>
                        <a:rPr sz="1100" b="0" i="1">
                          <a:solidFill>
                            <a:srgbClr val="000000"/>
                          </a:solidFill>
                          <a:latin typeface="Calibri"/>
                        </a:rPr>
                        <a:t>Cellulose-Based Films</a:t>
                      </a:r>
                      <a:endParaRPr sz="1100"/>
                    </a:p>
                  </a:txBody>
                  <a:tcPr marL="1028700" marR="9525" marT="9525" marB="0" anchor="ctr"/>
                </a:tc>
              </a:tr>
              <a:tr h="175260">
                <a:tc>
                  <a:txBody>
                    <a:bodyPr wrap="square"/>
                    <a:lstStyle/>
                    <a:p>
                      <a:pPr algn="l"/>
                      <a:r>
                        <a:rPr sz="1100" b="0" i="0">
                          <a:solidFill>
                            <a:srgbClr val="000000"/>
                          </a:solidFill>
                          <a:latin typeface="Calibri"/>
                        </a:rPr>
                        <a:t>4.5.9.</a:t>
                      </a:r>
                      <a:r>
                        <a:rPr sz="700" b="0" i="0">
                          <a:solidFill>
                            <a:srgbClr val="000000"/>
                          </a:solidFill>
                          <a:latin typeface="Times New Roman"/>
                        </a:rPr>
                        <a:t>   </a:t>
                      </a:r>
                      <a:r>
                        <a:rPr sz="1100" b="0" i="0">
                          <a:solidFill>
                            <a:srgbClr val="000000"/>
                          </a:solidFill>
                          <a:latin typeface="Calibri"/>
                        </a:rPr>
                        <a:t>Specialty Materials</a:t>
                      </a:r>
                      <a:endParaRPr sz="1100"/>
                    </a:p>
                  </a:txBody>
                  <a:tcPr marL="771525" marR="9525" marT="9525" marB="0" anchor="ctr"/>
                </a:tc>
              </a:tr>
              <a:tr h="175260">
                <a:tc>
                  <a:txBody>
                    <a:bodyPr wrap="square"/>
                    <a:lstStyle/>
                    <a:p>
                      <a:pPr algn="l"/>
                      <a:r>
                        <a:rPr sz="1100" b="0" i="1">
                          <a:solidFill>
                            <a:srgbClr val="000000"/>
                          </a:solidFill>
                          <a:latin typeface="Calibri"/>
                        </a:rPr>
                        <a:t>4.5.9.1.</a:t>
                      </a:r>
                      <a:r>
                        <a:rPr sz="700" b="0" i="1">
                          <a:solidFill>
                            <a:srgbClr val="000000"/>
                          </a:solidFill>
                          <a:latin typeface="Times New Roman"/>
                        </a:rPr>
                        <a:t>    </a:t>
                      </a:r>
                      <a:r>
                        <a:rPr sz="1100" b="0" i="1">
                          <a:solidFill>
                            <a:srgbClr val="000000"/>
                          </a:solidFill>
                          <a:latin typeface="Calibri"/>
                        </a:rPr>
                        <a:t>EVA</a:t>
                      </a:r>
                      <a:endParaRPr sz="1100"/>
                    </a:p>
                  </a:txBody>
                  <a:tcPr marL="1028700" marR="9525" marT="9525" marB="0" anchor="ctr"/>
                </a:tc>
              </a:tr>
              <a:tr h="175260">
                <a:tc>
                  <a:txBody>
                    <a:bodyPr wrap="square"/>
                    <a:lstStyle/>
                    <a:p>
                      <a:pPr algn="l"/>
                      <a:r>
                        <a:rPr sz="1100" b="0" i="1">
                          <a:solidFill>
                            <a:srgbClr val="000000"/>
                          </a:solidFill>
                          <a:latin typeface="Calibri"/>
                        </a:rPr>
                        <a:t>4.5.9.2.</a:t>
                      </a:r>
                      <a:r>
                        <a:rPr sz="700" b="0" i="1">
                          <a:solidFill>
                            <a:srgbClr val="000000"/>
                          </a:solidFill>
                          <a:latin typeface="Times New Roman"/>
                        </a:rPr>
                        <a:t>    </a:t>
                      </a:r>
                      <a:r>
                        <a:rPr sz="1100" b="0" i="1">
                          <a:solidFill>
                            <a:srgbClr val="000000"/>
                          </a:solidFill>
                          <a:latin typeface="Calibri"/>
                        </a:rPr>
                        <a:t>Coextruded Multilayer Films</a:t>
                      </a:r>
                      <a:endParaRPr sz="1100"/>
                    </a:p>
                  </a:txBody>
                  <a:tcPr marL="1028700" marR="9525" marT="9525" marB="0" anchor="ctr"/>
                </a:tc>
              </a:tr>
              <a:tr h="175260">
                <a:tc>
                  <a:txBody>
                    <a:bodyPr wrap="square"/>
                    <a:lstStyle/>
                    <a:p>
                      <a:pPr algn="l"/>
                      <a:r>
                        <a:rPr sz="1100" b="0" i="1">
                          <a:solidFill>
                            <a:srgbClr val="000000"/>
                          </a:solidFill>
                          <a:latin typeface="Calibri"/>
                        </a:rPr>
                        <a:t>4.5.9.3.</a:t>
                      </a:r>
                      <a:r>
                        <a:rPr sz="700" b="0" i="1">
                          <a:solidFill>
                            <a:srgbClr val="000000"/>
                          </a:solidFill>
                          <a:latin typeface="Times New Roman"/>
                        </a:rPr>
                        <a:t>    </a:t>
                      </a:r>
                      <a:r>
                        <a:rPr sz="1100" b="0" i="1">
                          <a:solidFill>
                            <a:srgbClr val="000000"/>
                          </a:solidFill>
                          <a:latin typeface="Calibri"/>
                        </a:rPr>
                        <a:t>Barrier Films</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4.5.9.4.</a:t>
                      </a:r>
                      <a:r>
                        <a:rPr sz="700" b="0" i="1">
                          <a:solidFill>
                            <a:srgbClr val="000000"/>
                          </a:solidFill>
                          <a:latin typeface="Times New Roman"/>
                        </a:rPr>
                        <a:t>    </a:t>
                      </a:r>
                      <a:r>
                        <a:rPr sz="1100" b="0" i="1">
                          <a:solidFill>
                            <a:srgbClr val="000000"/>
                          </a:solidFill>
                          <a:latin typeface="Calibri"/>
                        </a:rPr>
                        <a:t>Conductive Polymers</a:t>
                      </a:r>
                      <a:endParaRPr sz="1100"/>
                    </a:p>
                  </a:txBody>
                  <a:tcPr marL="1028700" marR="9525" marT="9525" marB="0" anchor="ctr"/>
                </a:tc>
              </a:tr>
              <a:tr h="175260">
                <a:tc>
                  <a:txBody>
                    <a:bodyPr wrap="square"/>
                    <a:lstStyle/>
                    <a:p>
                      <a:pPr algn="l"/>
                      <a:r>
                        <a:rPr sz="1100" b="1" i="0">
                          <a:solidFill>
                            <a:srgbClr val="000000"/>
                          </a:solidFill>
                          <a:latin typeface="Calibri"/>
                        </a:rPr>
                        <a:t>5.</a:t>
                      </a:r>
                      <a:r>
                        <a:rPr sz="700" b="1" i="0">
                          <a:solidFill>
                            <a:srgbClr val="000000"/>
                          </a:solidFill>
                          <a:latin typeface="Times New Roman"/>
                        </a:rPr>
                        <a:t>       </a:t>
                      </a:r>
                      <a:r>
                        <a:rPr sz="1100" b="1" i="0">
                          <a:solidFill>
                            <a:srgbClr val="000000"/>
                          </a:solidFill>
                          <a:latin typeface="Calibri"/>
                        </a:rPr>
                        <a:t>Global Market (Value- Volume) Analysis 2021–2036, By End-Use Industry</a:t>
                      </a:r>
                      <a:endParaRPr sz="1100"/>
                    </a:p>
                  </a:txBody>
                  <a:tcPr marL="171450" marR="9525" marT="9525" marB="0" anchor="ctr"/>
                </a:tc>
              </a:tr>
              <a:tr h="175260">
                <a:tc>
                  <a:txBody>
                    <a:bodyPr wrap="square"/>
                    <a:lstStyle/>
                    <a:p>
                      <a:pPr algn="l"/>
                      <a:r>
                        <a:rPr sz="1100" b="0" i="0">
                          <a:solidFill>
                            <a:srgbClr val="0070C0"/>
                          </a:solidFill>
                          <a:latin typeface="Calibri"/>
                        </a:rPr>
                        <a:t>5.1.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5.2.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5.3.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5.4.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5.5.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5.5.1.</a:t>
                      </a:r>
                      <a:r>
                        <a:rPr sz="700" b="0" i="0">
                          <a:solidFill>
                            <a:srgbClr val="000000"/>
                          </a:solidFill>
                          <a:latin typeface="Times New Roman"/>
                        </a:rPr>
                        <a:t>   </a:t>
                      </a:r>
                      <a:r>
                        <a:rPr sz="1100" b="0" i="0">
                          <a:solidFill>
                            <a:srgbClr val="000000"/>
                          </a:solidFill>
                          <a:latin typeface="Calibri"/>
                        </a:rPr>
                        <a:t>Food &amp; Beverage</a:t>
                      </a:r>
                      <a:endParaRPr sz="1100"/>
                    </a:p>
                  </a:txBody>
                  <a:tcPr marL="771525" marR="9525" marT="9525" marB="0" anchor="ctr"/>
                </a:tc>
              </a:tr>
              <a:tr h="175260">
                <a:tc>
                  <a:txBody>
                    <a:bodyPr wrap="square"/>
                    <a:lstStyle/>
                    <a:p>
                      <a:pPr algn="l"/>
                      <a:r>
                        <a:rPr sz="1100" b="0" i="1">
                          <a:solidFill>
                            <a:srgbClr val="000000"/>
                          </a:solidFill>
                          <a:latin typeface="Calibri"/>
                        </a:rPr>
                        <a:t>5.5.1.1.</a:t>
                      </a:r>
                      <a:r>
                        <a:rPr sz="700" b="0" i="1">
                          <a:solidFill>
                            <a:srgbClr val="000000"/>
                          </a:solidFill>
                          <a:latin typeface="Times New Roman"/>
                        </a:rPr>
                        <a:t>    </a:t>
                      </a:r>
                      <a:r>
                        <a:rPr sz="1100" b="0" i="1">
                          <a:solidFill>
                            <a:srgbClr val="000000"/>
                          </a:solidFill>
                          <a:latin typeface="Calibri"/>
                        </a:rPr>
                        <a:t>Fresh Produce</a:t>
                      </a:r>
                      <a:endParaRPr sz="1100"/>
                    </a:p>
                  </a:txBody>
                  <a:tcPr marL="1028700" marR="9525" marT="9525" marB="0" anchor="ctr"/>
                </a:tc>
              </a:tr>
              <a:tr h="175260">
                <a:tc>
                  <a:txBody>
                    <a:bodyPr wrap="square"/>
                    <a:lstStyle/>
                    <a:p>
                      <a:pPr algn="l"/>
                      <a:r>
                        <a:rPr sz="1100" b="0" i="1">
                          <a:solidFill>
                            <a:srgbClr val="000000"/>
                          </a:solidFill>
                          <a:latin typeface="Calibri"/>
                        </a:rPr>
                        <a:t>5.5.1.2.</a:t>
                      </a:r>
                      <a:r>
                        <a:rPr sz="700" b="0" i="1">
                          <a:solidFill>
                            <a:srgbClr val="000000"/>
                          </a:solidFill>
                          <a:latin typeface="Times New Roman"/>
                        </a:rPr>
                        <a:t>    </a:t>
                      </a:r>
                      <a:r>
                        <a:rPr sz="1100" b="0" i="1">
                          <a:solidFill>
                            <a:srgbClr val="000000"/>
                          </a:solidFill>
                          <a:latin typeface="Calibri"/>
                        </a:rPr>
                        <a:t>Frozen Food</a:t>
                      </a:r>
                      <a:endParaRPr sz="1100"/>
                    </a:p>
                  </a:txBody>
                  <a:tcPr marL="1028700" marR="9525" marT="9525" marB="0" anchor="ctr"/>
                </a:tc>
              </a:tr>
              <a:tr h="175260">
                <a:tc>
                  <a:txBody>
                    <a:bodyPr wrap="square"/>
                    <a:lstStyle/>
                    <a:p>
                      <a:pPr algn="l"/>
                      <a:r>
                        <a:rPr sz="1100" b="0" i="1">
                          <a:solidFill>
                            <a:srgbClr val="000000"/>
                          </a:solidFill>
                          <a:latin typeface="Calibri"/>
                        </a:rPr>
                        <a:t>5.5.1.3.</a:t>
                      </a:r>
                      <a:r>
                        <a:rPr sz="700" b="0" i="1">
                          <a:solidFill>
                            <a:srgbClr val="000000"/>
                          </a:solidFill>
                          <a:latin typeface="Times New Roman"/>
                        </a:rPr>
                        <a:t>    </a:t>
                      </a:r>
                      <a:r>
                        <a:rPr sz="1100" b="0" i="1">
                          <a:solidFill>
                            <a:srgbClr val="000000"/>
                          </a:solidFill>
                          <a:latin typeface="Calibri"/>
                        </a:rPr>
                        <a:t>Dairy Products</a:t>
                      </a:r>
                      <a:endParaRPr sz="1100"/>
                    </a:p>
                  </a:txBody>
                  <a:tcPr marL="1028700" marR="9525" marT="9525" marB="0" anchor="ctr"/>
                </a:tc>
              </a:tr>
              <a:tr h="175260">
                <a:tc>
                  <a:txBody>
                    <a:bodyPr wrap="square"/>
                    <a:lstStyle/>
                    <a:p>
                      <a:pPr algn="l"/>
                      <a:r>
                        <a:rPr sz="1100" b="0" i="1">
                          <a:solidFill>
                            <a:srgbClr val="000000"/>
                          </a:solidFill>
                          <a:latin typeface="Calibri"/>
                        </a:rPr>
                        <a:t>5.5.1.4.</a:t>
                      </a:r>
                      <a:r>
                        <a:rPr sz="700" b="0" i="1">
                          <a:solidFill>
                            <a:srgbClr val="000000"/>
                          </a:solidFill>
                          <a:latin typeface="Times New Roman"/>
                        </a:rPr>
                        <a:t>    </a:t>
                      </a:r>
                      <a:r>
                        <a:rPr sz="1100" b="0" i="1">
                          <a:solidFill>
                            <a:srgbClr val="000000"/>
                          </a:solidFill>
                          <a:latin typeface="Calibri"/>
                        </a:rPr>
                        <a:t>Bakery</a:t>
                      </a:r>
                      <a:endParaRPr sz="1100"/>
                    </a:p>
                  </a:txBody>
                  <a:tcPr marL="1028700" marR="9525" marT="9525" marB="0" anchor="ctr"/>
                </a:tc>
              </a:tr>
              <a:tr h="175260">
                <a:tc>
                  <a:txBody>
                    <a:bodyPr wrap="square"/>
                    <a:lstStyle/>
                    <a:p>
                      <a:pPr algn="l"/>
                      <a:r>
                        <a:rPr sz="1100" b="0" i="1">
                          <a:solidFill>
                            <a:srgbClr val="000000"/>
                          </a:solidFill>
                          <a:latin typeface="Calibri"/>
                        </a:rPr>
                        <a:t>5.5.1.5.</a:t>
                      </a:r>
                      <a:r>
                        <a:rPr sz="700" b="0" i="1">
                          <a:solidFill>
                            <a:srgbClr val="000000"/>
                          </a:solidFill>
                          <a:latin typeface="Times New Roman"/>
                        </a:rPr>
                        <a:t>    </a:t>
                      </a:r>
                      <a:r>
                        <a:rPr sz="1100" b="0" i="1">
                          <a:solidFill>
                            <a:srgbClr val="000000"/>
                          </a:solidFill>
                          <a:latin typeface="Calibri"/>
                        </a:rPr>
                        <a:t>Meat &amp; Poultry</a:t>
                      </a:r>
                      <a:endParaRPr sz="1100"/>
                    </a:p>
                  </a:txBody>
                  <a:tcPr marL="1028700" marR="9525" marT="9525" marB="0" anchor="ctr"/>
                </a:tc>
              </a:tr>
              <a:tr h="175260">
                <a:tc>
                  <a:txBody>
                    <a:bodyPr wrap="square"/>
                    <a:lstStyle/>
                    <a:p>
                      <a:pPr algn="l"/>
                      <a:r>
                        <a:rPr sz="1100" b="0" i="1">
                          <a:solidFill>
                            <a:srgbClr val="000000"/>
                          </a:solidFill>
                          <a:latin typeface="Calibri"/>
                        </a:rPr>
                        <a:t>5.5.1.6.</a:t>
                      </a:r>
                      <a:r>
                        <a:rPr sz="700" b="0" i="1">
                          <a:solidFill>
                            <a:srgbClr val="000000"/>
                          </a:solidFill>
                          <a:latin typeface="Times New Roman"/>
                        </a:rPr>
                        <a:t>    </a:t>
                      </a:r>
                      <a:r>
                        <a:rPr sz="1100" b="0" i="1">
                          <a:solidFill>
                            <a:srgbClr val="000000"/>
                          </a:solidFill>
                          <a:latin typeface="Calibri"/>
                        </a:rPr>
                        <a:t>Seafood</a:t>
                      </a:r>
                      <a:endParaRPr sz="1100"/>
                    </a:p>
                  </a:txBody>
                  <a:tcPr marL="1028700" marR="9525" marT="9525" marB="0" anchor="ctr"/>
                </a:tc>
              </a:tr>
              <a:tr h="175260">
                <a:tc>
                  <a:txBody>
                    <a:bodyPr wrap="square"/>
                    <a:lstStyle/>
                    <a:p>
                      <a:pPr algn="l"/>
                      <a:r>
                        <a:rPr sz="1100" b="0" i="1">
                          <a:solidFill>
                            <a:srgbClr val="000000"/>
                          </a:solidFill>
                          <a:latin typeface="Calibri"/>
                        </a:rPr>
                        <a:t>5.5.1.7.</a:t>
                      </a:r>
                      <a:r>
                        <a:rPr sz="700" b="0" i="1">
                          <a:solidFill>
                            <a:srgbClr val="000000"/>
                          </a:solidFill>
                          <a:latin typeface="Times New Roman"/>
                        </a:rPr>
                        <a:t>    </a:t>
                      </a:r>
                      <a:r>
                        <a:rPr sz="1100" b="0" i="1">
                          <a:solidFill>
                            <a:srgbClr val="000000"/>
                          </a:solidFill>
                          <a:latin typeface="Calibri"/>
                        </a:rPr>
                        <a:t>Snacks &amp; Confectionery</a:t>
                      </a:r>
                      <a:endParaRPr sz="1100"/>
                    </a:p>
                  </a:txBody>
                  <a:tcPr marL="1028700" marR="9525" marT="9525" marB="0" anchor="ctr"/>
                </a:tc>
              </a:tr>
              <a:tr h="175260">
                <a:tc>
                  <a:txBody>
                    <a:bodyPr wrap="square"/>
                    <a:lstStyle/>
                    <a:p>
                      <a:pPr algn="l"/>
                      <a:r>
                        <a:rPr sz="1100" b="0" i="1">
                          <a:solidFill>
                            <a:srgbClr val="000000"/>
                          </a:solidFill>
                          <a:latin typeface="Calibri"/>
                        </a:rPr>
                        <a:t>5.5.1.8.</a:t>
                      </a:r>
                      <a:r>
                        <a:rPr sz="700" b="0" i="1">
                          <a:solidFill>
                            <a:srgbClr val="000000"/>
                          </a:solidFill>
                          <a:latin typeface="Times New Roman"/>
                        </a:rPr>
                        <a:t>    </a:t>
                      </a:r>
                      <a:r>
                        <a:rPr sz="1100" b="0" i="1">
                          <a:solidFill>
                            <a:srgbClr val="000000"/>
                          </a:solidFill>
                          <a:latin typeface="Calibri"/>
                        </a:rPr>
                        <a:t>Beverage Packaging</a:t>
                      </a:r>
                      <a:endParaRPr sz="1100"/>
                    </a:p>
                  </a:txBody>
                  <a:tcPr marL="1028700" marR="9525" marT="9525" marB="0" anchor="ctr"/>
                </a:tc>
              </a:tr>
              <a:tr h="175260">
                <a:tc>
                  <a:txBody>
                    <a:bodyPr wrap="square"/>
                    <a:lstStyle/>
                    <a:p>
                      <a:pPr algn="l"/>
                      <a:r>
                        <a:rPr sz="1100" b="0" i="0">
                          <a:solidFill>
                            <a:srgbClr val="000000"/>
                          </a:solidFill>
                          <a:latin typeface="Calibri"/>
                        </a:rPr>
                        <a:t>5.5.2.</a:t>
                      </a:r>
                      <a:r>
                        <a:rPr sz="700" b="0" i="0">
                          <a:solidFill>
                            <a:srgbClr val="000000"/>
                          </a:solidFill>
                          <a:latin typeface="Times New Roman"/>
                        </a:rPr>
                        <a:t>   </a:t>
                      </a:r>
                      <a:r>
                        <a:rPr sz="1100" b="0" i="0">
                          <a:solidFill>
                            <a:srgbClr val="000000"/>
                          </a:solidFill>
                          <a:latin typeface="Calibri"/>
                        </a:rPr>
                        <a:t>Retail &amp; Consumer Goods</a:t>
                      </a:r>
                      <a:endParaRPr sz="1100"/>
                    </a:p>
                  </a:txBody>
                  <a:tcPr marL="771525" marR="9525" marT="9525" marB="0" anchor="ctr"/>
                </a:tc>
              </a:tr>
              <a:tr h="175260">
                <a:tc>
                  <a:txBody>
                    <a:bodyPr wrap="square"/>
                    <a:lstStyle/>
                    <a:p>
                      <a:pPr algn="l"/>
                      <a:r>
                        <a:rPr sz="1100" b="0" i="1">
                          <a:solidFill>
                            <a:srgbClr val="000000"/>
                          </a:solidFill>
                          <a:latin typeface="Calibri"/>
                        </a:rPr>
                        <a:t>5.5.2.1.</a:t>
                      </a:r>
                      <a:r>
                        <a:rPr sz="700" b="0" i="1">
                          <a:solidFill>
                            <a:srgbClr val="000000"/>
                          </a:solidFill>
                          <a:latin typeface="Times New Roman"/>
                        </a:rPr>
                        <a:t>    </a:t>
                      </a:r>
                      <a:r>
                        <a:rPr sz="1100" b="0" i="1">
                          <a:solidFill>
                            <a:srgbClr val="000000"/>
                          </a:solidFill>
                          <a:latin typeface="Calibri"/>
                        </a:rPr>
                        <a:t>Apparel</a:t>
                      </a:r>
                      <a:endParaRPr sz="1100"/>
                    </a:p>
                  </a:txBody>
                  <a:tcPr marL="1028700" marR="9525" marT="9525" marB="0" anchor="ctr"/>
                </a:tc>
              </a:tr>
              <a:tr h="175260">
                <a:tc>
                  <a:txBody>
                    <a:bodyPr wrap="square"/>
                    <a:lstStyle/>
                    <a:p>
                      <a:pPr algn="l"/>
                      <a:r>
                        <a:rPr sz="1100" b="0" i="1">
                          <a:solidFill>
                            <a:srgbClr val="000000"/>
                          </a:solidFill>
                          <a:latin typeface="Calibri"/>
                        </a:rPr>
                        <a:t>5.5.2.2.</a:t>
                      </a:r>
                      <a:r>
                        <a:rPr sz="700" b="0" i="1">
                          <a:solidFill>
                            <a:srgbClr val="000000"/>
                          </a:solidFill>
                          <a:latin typeface="Times New Roman"/>
                        </a:rPr>
                        <a:t>    </a:t>
                      </a:r>
                      <a:r>
                        <a:rPr sz="1100" b="0" i="1">
                          <a:solidFill>
                            <a:srgbClr val="000000"/>
                          </a:solidFill>
                          <a:latin typeface="Calibri"/>
                        </a:rPr>
                        <a:t>Footwear</a:t>
                      </a:r>
                      <a:endParaRPr sz="1100"/>
                    </a:p>
                  </a:txBody>
                  <a:tcPr marL="1028700" marR="9525" marT="9525" marB="0" anchor="ctr"/>
                </a:tc>
              </a:tr>
              <a:tr h="175260">
                <a:tc>
                  <a:txBody>
                    <a:bodyPr wrap="square"/>
                    <a:lstStyle/>
                    <a:p>
                      <a:pPr algn="l"/>
                      <a:r>
                        <a:rPr sz="1100" b="0" i="1">
                          <a:solidFill>
                            <a:srgbClr val="000000"/>
                          </a:solidFill>
                          <a:latin typeface="Calibri"/>
                        </a:rPr>
                        <a:t>5.5.2.3.</a:t>
                      </a:r>
                      <a:r>
                        <a:rPr sz="700" b="0" i="1">
                          <a:solidFill>
                            <a:srgbClr val="000000"/>
                          </a:solidFill>
                          <a:latin typeface="Times New Roman"/>
                        </a:rPr>
                        <a:t>    </a:t>
                      </a:r>
                      <a:r>
                        <a:rPr sz="1100" b="0" i="1">
                          <a:solidFill>
                            <a:srgbClr val="000000"/>
                          </a:solidFill>
                          <a:latin typeface="Calibri"/>
                        </a:rPr>
                        <a:t>Toys</a:t>
                      </a:r>
                      <a:endParaRPr sz="1100"/>
                    </a:p>
                  </a:txBody>
                  <a:tcPr marL="1028700" marR="9525" marT="9525" marB="0" anchor="ctr"/>
                </a:tc>
              </a:tr>
              <a:tr h="175260">
                <a:tc>
                  <a:txBody>
                    <a:bodyPr wrap="square"/>
                    <a:lstStyle/>
                    <a:p>
                      <a:pPr algn="l"/>
                      <a:r>
                        <a:rPr sz="1100" b="0" i="1">
                          <a:solidFill>
                            <a:srgbClr val="000000"/>
                          </a:solidFill>
                          <a:latin typeface="Calibri"/>
                        </a:rPr>
                        <a:t>5.5.2.4.</a:t>
                      </a:r>
                      <a:r>
                        <a:rPr sz="700" b="0" i="1">
                          <a:solidFill>
                            <a:srgbClr val="000000"/>
                          </a:solidFill>
                          <a:latin typeface="Times New Roman"/>
                        </a:rPr>
                        <a:t>    </a:t>
                      </a:r>
                      <a:r>
                        <a:rPr sz="1100" b="0" i="1">
                          <a:solidFill>
                            <a:srgbClr val="000000"/>
                          </a:solidFill>
                          <a:latin typeface="Calibri"/>
                        </a:rPr>
                        <a:t>Home Care</a:t>
                      </a:r>
                      <a:endParaRPr sz="1100"/>
                    </a:p>
                  </a:txBody>
                  <a:tcPr marL="1028700" marR="9525" marT="9525" marB="0" anchor="ctr"/>
                </a:tc>
              </a:tr>
              <a:tr h="175260">
                <a:tc>
                  <a:txBody>
                    <a:bodyPr wrap="square"/>
                    <a:lstStyle/>
                    <a:p>
                      <a:pPr algn="l"/>
                      <a:r>
                        <a:rPr sz="1100" b="0" i="1">
                          <a:solidFill>
                            <a:srgbClr val="000000"/>
                          </a:solidFill>
                          <a:latin typeface="Calibri"/>
                        </a:rPr>
                        <a:t>5.5.2.5.</a:t>
                      </a:r>
                      <a:r>
                        <a:rPr sz="700" b="0" i="1">
                          <a:solidFill>
                            <a:srgbClr val="000000"/>
                          </a:solidFill>
                          <a:latin typeface="Times New Roman"/>
                        </a:rPr>
                        <a:t>    </a:t>
                      </a:r>
                      <a:r>
                        <a:rPr sz="1100" b="0" i="1">
                          <a:solidFill>
                            <a:srgbClr val="000000"/>
                          </a:solidFill>
                          <a:latin typeface="Calibri"/>
                        </a:rPr>
                        <a:t>Household Goods</a:t>
                      </a:r>
                      <a:endParaRPr sz="1100"/>
                    </a:p>
                  </a:txBody>
                  <a:tcPr marL="1028700" marR="9525" marT="9525" marB="0" anchor="ctr"/>
                </a:tc>
              </a:tr>
              <a:tr h="175260">
                <a:tc>
                  <a:txBody>
                    <a:bodyPr wrap="square"/>
                    <a:lstStyle/>
                    <a:p>
                      <a:pPr algn="l"/>
                      <a:r>
                        <a:rPr sz="1100" b="0" i="1">
                          <a:solidFill>
                            <a:srgbClr val="000000"/>
                          </a:solidFill>
                          <a:latin typeface="Calibri"/>
                        </a:rPr>
                        <a:t>5.5.2.6.</a:t>
                      </a:r>
                      <a:r>
                        <a:rPr sz="700" b="0" i="1">
                          <a:solidFill>
                            <a:srgbClr val="000000"/>
                          </a:solidFill>
                          <a:latin typeface="Times New Roman"/>
                        </a:rPr>
                        <a:t>    </a:t>
                      </a:r>
                      <a:r>
                        <a:rPr sz="1100" b="0" i="1">
                          <a:solidFill>
                            <a:srgbClr val="000000"/>
                          </a:solidFill>
                          <a:latin typeface="Calibri"/>
                        </a:rPr>
                        <a:t>Stationery</a:t>
                      </a:r>
                      <a:endParaRPr sz="1100"/>
                    </a:p>
                  </a:txBody>
                  <a:tcPr marL="1028700" marR="9525" marT="9525" marB="0" anchor="ctr"/>
                </a:tc>
              </a:tr>
              <a:tr h="175260">
                <a:tc>
                  <a:txBody>
                    <a:bodyPr wrap="square"/>
                    <a:lstStyle/>
                    <a:p>
                      <a:pPr algn="l"/>
                      <a:r>
                        <a:rPr sz="1100" b="0" i="0">
                          <a:solidFill>
                            <a:srgbClr val="000000"/>
                          </a:solidFill>
                          <a:latin typeface="Calibri"/>
                        </a:rPr>
                        <a:t>5.5.3.</a:t>
                      </a:r>
                      <a:r>
                        <a:rPr sz="700" b="0" i="0">
                          <a:solidFill>
                            <a:srgbClr val="000000"/>
                          </a:solidFill>
                          <a:latin typeface="Times New Roman"/>
                        </a:rPr>
                        <a:t>   </a:t>
                      </a:r>
                      <a:r>
                        <a:rPr sz="1100" b="0" i="0">
                          <a:solidFill>
                            <a:srgbClr val="000000"/>
                          </a:solidFill>
                          <a:latin typeface="Calibri"/>
                        </a:rPr>
                        <a:t>Healthcare</a:t>
                      </a:r>
                      <a:endParaRPr sz="1100"/>
                    </a:p>
                  </a:txBody>
                  <a:tcPr marL="771525" marR="9525" marT="9525" marB="0" anchor="ctr"/>
                </a:tc>
              </a:tr>
              <a:tr h="175260">
                <a:tc>
                  <a:txBody>
                    <a:bodyPr wrap="square"/>
                    <a:lstStyle/>
                    <a:p>
                      <a:pPr algn="l"/>
                      <a:r>
                        <a:rPr sz="1100" b="0" i="1">
                          <a:solidFill>
                            <a:srgbClr val="000000"/>
                          </a:solidFill>
                          <a:latin typeface="Calibri"/>
                        </a:rPr>
                        <a:t>5.5.3.1.</a:t>
                      </a:r>
                      <a:r>
                        <a:rPr sz="700" b="0" i="1">
                          <a:solidFill>
                            <a:srgbClr val="000000"/>
                          </a:solidFill>
                          <a:latin typeface="Times New Roman"/>
                        </a:rPr>
                        <a:t>    </a:t>
                      </a:r>
                      <a:r>
                        <a:rPr sz="1100" b="0" i="1">
                          <a:solidFill>
                            <a:srgbClr val="000000"/>
                          </a:solidFill>
                          <a:latin typeface="Calibri"/>
                        </a:rPr>
                        <a:t>Pharmaceuticals</a:t>
                      </a:r>
                      <a:endParaRPr sz="1100"/>
                    </a:p>
                  </a:txBody>
                  <a:tcPr marL="1028700" marR="9525" marT="9525" marB="0" anchor="ctr"/>
                </a:tc>
              </a:tr>
              <a:tr h="175260">
                <a:tc>
                  <a:txBody>
                    <a:bodyPr wrap="square"/>
                    <a:lstStyle/>
                    <a:p>
                      <a:pPr algn="l"/>
                      <a:r>
                        <a:rPr sz="1100" b="0" i="1">
                          <a:solidFill>
                            <a:srgbClr val="000000"/>
                          </a:solidFill>
                          <a:latin typeface="Calibri"/>
                        </a:rPr>
                        <a:t>5.5.3.2.</a:t>
                      </a:r>
                      <a:r>
                        <a:rPr sz="700" b="0" i="1">
                          <a:solidFill>
                            <a:srgbClr val="000000"/>
                          </a:solidFill>
                          <a:latin typeface="Times New Roman"/>
                        </a:rPr>
                        <a:t>    </a:t>
                      </a:r>
                      <a:r>
                        <a:rPr sz="1100" b="0" i="1">
                          <a:solidFill>
                            <a:srgbClr val="000000"/>
                          </a:solidFill>
                          <a:latin typeface="Calibri"/>
                        </a:rPr>
                        <a:t>Medical Devices</a:t>
                      </a:r>
                      <a:endParaRPr sz="1100"/>
                    </a:p>
                  </a:txBody>
                  <a:tcPr marL="1028700" marR="9525" marT="9525" marB="0" anchor="ctr"/>
                </a:tc>
              </a:tr>
              <a:tr h="175260">
                <a:tc>
                  <a:txBody>
                    <a:bodyPr wrap="square"/>
                    <a:lstStyle/>
                    <a:p>
                      <a:pPr algn="l"/>
                      <a:r>
                        <a:rPr sz="1100" b="0" i="1">
                          <a:solidFill>
                            <a:srgbClr val="000000"/>
                          </a:solidFill>
                          <a:latin typeface="Calibri"/>
                        </a:rPr>
                        <a:t>5.5.3.3.</a:t>
                      </a:r>
                      <a:r>
                        <a:rPr sz="700" b="0" i="1">
                          <a:solidFill>
                            <a:srgbClr val="000000"/>
                          </a:solidFill>
                          <a:latin typeface="Times New Roman"/>
                        </a:rPr>
                        <a:t>    </a:t>
                      </a:r>
                      <a:r>
                        <a:rPr sz="1100" b="0" i="1">
                          <a:solidFill>
                            <a:srgbClr val="000000"/>
                          </a:solidFill>
                          <a:latin typeface="Calibri"/>
                        </a:rPr>
                        <a:t>Surgical Products</a:t>
                      </a:r>
                      <a:endParaRPr sz="1100"/>
                    </a:p>
                  </a:txBody>
                  <a:tcPr marL="1028700" marR="9525" marT="9525" marB="0" anchor="ctr"/>
                </a:tc>
              </a:tr>
              <a:tr h="175260">
                <a:tc>
                  <a:txBody>
                    <a:bodyPr wrap="square"/>
                    <a:lstStyle/>
                    <a:p>
                      <a:pPr algn="l"/>
                      <a:r>
                        <a:rPr sz="1100" b="0" i="1">
                          <a:solidFill>
                            <a:srgbClr val="000000"/>
                          </a:solidFill>
                          <a:latin typeface="Calibri"/>
                        </a:rPr>
                        <a:t>5.5.3.4.</a:t>
                      </a:r>
                      <a:r>
                        <a:rPr sz="700" b="0" i="1">
                          <a:solidFill>
                            <a:srgbClr val="000000"/>
                          </a:solidFill>
                          <a:latin typeface="Times New Roman"/>
                        </a:rPr>
                        <a:t>    </a:t>
                      </a:r>
                      <a:r>
                        <a:rPr sz="1100" b="0" i="1">
                          <a:solidFill>
                            <a:srgbClr val="000000"/>
                          </a:solidFill>
                          <a:latin typeface="Calibri"/>
                        </a:rPr>
                        <a:t>Diagnostic Kits</a:t>
                      </a:r>
                      <a:endParaRPr sz="1100"/>
                    </a:p>
                  </a:txBody>
                  <a:tcPr marL="1028700" marR="9525" marT="9525" marB="0" anchor="ctr"/>
                </a:tc>
              </a:tr>
              <a:tr h="175260">
                <a:tc>
                  <a:txBody>
                    <a:bodyPr wrap="square"/>
                    <a:lstStyle/>
                    <a:p>
                      <a:pPr algn="l"/>
                      <a:r>
                        <a:rPr sz="1100" b="0" i="1">
                          <a:solidFill>
                            <a:srgbClr val="000000"/>
                          </a:solidFill>
                          <a:latin typeface="Calibri"/>
                        </a:rPr>
                        <a:t>5.5.3.5.</a:t>
                      </a:r>
                      <a:r>
                        <a:rPr sz="700" b="0" i="1">
                          <a:solidFill>
                            <a:srgbClr val="000000"/>
                          </a:solidFill>
                          <a:latin typeface="Times New Roman"/>
                        </a:rPr>
                        <a:t>    </a:t>
                      </a:r>
                      <a:r>
                        <a:rPr sz="1100" b="0" i="1">
                          <a:solidFill>
                            <a:srgbClr val="000000"/>
                          </a:solidFill>
                          <a:latin typeface="Calibri"/>
                        </a:rPr>
                        <a:t>Laboratory Supplies</a:t>
                      </a:r>
                      <a:endParaRPr sz="1100"/>
                    </a:p>
                  </a:txBody>
                  <a:tcPr marL="1028700" marR="9525" marT="9525" marB="0" anchor="ctr"/>
                </a:tc>
              </a:tr>
              <a:tr h="175260">
                <a:tc>
                  <a:txBody>
                    <a:bodyPr wrap="square"/>
                    <a:lstStyle/>
                    <a:p>
                      <a:pPr algn="l"/>
                      <a:r>
                        <a:rPr sz="1100" b="0" i="0">
                          <a:solidFill>
                            <a:srgbClr val="000000"/>
                          </a:solidFill>
                          <a:latin typeface="Calibri"/>
                        </a:rPr>
                        <a:t>5.5.4.</a:t>
                      </a:r>
                      <a:r>
                        <a:rPr sz="700" b="0" i="0">
                          <a:solidFill>
                            <a:srgbClr val="000000"/>
                          </a:solidFill>
                          <a:latin typeface="Times New Roman"/>
                        </a:rPr>
                        <a:t>   </a:t>
                      </a:r>
                      <a:r>
                        <a:rPr sz="1100" b="0" i="0">
                          <a:solidFill>
                            <a:srgbClr val="000000"/>
                          </a:solidFill>
                          <a:latin typeface="Calibri"/>
                        </a:rPr>
                        <a:t>E-commerce &amp; Logistics</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(3/6)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5.5.4.1.</a:t>
                      </a:r>
                      <a:r>
                        <a:rPr sz="700" b="0" i="1">
                          <a:solidFill>
                            <a:srgbClr val="000000"/>
                          </a:solidFill>
                          <a:latin typeface="Times New Roman"/>
                        </a:rPr>
                        <a:t>    </a:t>
                      </a:r>
                      <a:r>
                        <a:rPr sz="1100" b="0" i="1">
                          <a:solidFill>
                            <a:srgbClr val="000000"/>
                          </a:solidFill>
                          <a:latin typeface="Calibri"/>
                        </a:rPr>
                        <a:t>Courier Packaging</a:t>
                      </a:r>
                      <a:endParaRPr sz="1100"/>
                    </a:p>
                  </a:txBody>
                  <a:tcPr marL="1028700" marR="9525" marT="9525" marB="0" anchor="ctr"/>
                </a:tc>
              </a:tr>
              <a:tr h="175260">
                <a:tc>
                  <a:txBody>
                    <a:bodyPr wrap="square"/>
                    <a:lstStyle/>
                    <a:p>
                      <a:pPr algn="l"/>
                      <a:r>
                        <a:rPr sz="1100" b="0" i="1">
                          <a:solidFill>
                            <a:srgbClr val="000000"/>
                          </a:solidFill>
                          <a:latin typeface="Calibri"/>
                        </a:rPr>
                        <a:t>5.5.4.2.</a:t>
                      </a:r>
                      <a:r>
                        <a:rPr sz="700" b="0" i="1">
                          <a:solidFill>
                            <a:srgbClr val="000000"/>
                          </a:solidFill>
                          <a:latin typeface="Times New Roman"/>
                        </a:rPr>
                        <a:t>    </a:t>
                      </a:r>
                      <a:r>
                        <a:rPr sz="1100" b="0" i="1">
                          <a:solidFill>
                            <a:srgbClr val="000000"/>
                          </a:solidFill>
                          <a:latin typeface="Calibri"/>
                        </a:rPr>
                        <a:t>Fulfillment Centers</a:t>
                      </a:r>
                      <a:endParaRPr sz="1100"/>
                    </a:p>
                  </a:txBody>
                  <a:tcPr marL="1028700" marR="9525" marT="9525" marB="0" anchor="ctr"/>
                </a:tc>
              </a:tr>
              <a:tr h="175260">
                <a:tc>
                  <a:txBody>
                    <a:bodyPr wrap="square"/>
                    <a:lstStyle/>
                    <a:p>
                      <a:pPr algn="l"/>
                      <a:r>
                        <a:rPr sz="1100" b="0" i="1">
                          <a:solidFill>
                            <a:srgbClr val="000000"/>
                          </a:solidFill>
                          <a:latin typeface="Calibri"/>
                        </a:rPr>
                        <a:t>5.5.4.3.</a:t>
                      </a:r>
                      <a:r>
                        <a:rPr sz="700" b="0" i="1">
                          <a:solidFill>
                            <a:srgbClr val="000000"/>
                          </a:solidFill>
                          <a:latin typeface="Times New Roman"/>
                        </a:rPr>
                        <a:t>    </a:t>
                      </a:r>
                      <a:r>
                        <a:rPr sz="1100" b="0" i="1">
                          <a:solidFill>
                            <a:srgbClr val="000000"/>
                          </a:solidFill>
                          <a:latin typeface="Calibri"/>
                        </a:rPr>
                        <a:t>Return Packaging</a:t>
                      </a:r>
                      <a:endParaRPr sz="1100"/>
                    </a:p>
                  </a:txBody>
                  <a:tcPr marL="1028700" marR="9525" marT="9525" marB="0" anchor="ctr"/>
                </a:tc>
              </a:tr>
              <a:tr h="175260">
                <a:tc>
                  <a:txBody>
                    <a:bodyPr wrap="square"/>
                    <a:lstStyle/>
                    <a:p>
                      <a:pPr algn="l"/>
                      <a:r>
                        <a:rPr sz="1100" b="0" i="1">
                          <a:solidFill>
                            <a:srgbClr val="000000"/>
                          </a:solidFill>
                          <a:latin typeface="Calibri"/>
                        </a:rPr>
                        <a:t>5.5.4.4.</a:t>
                      </a:r>
                      <a:r>
                        <a:rPr sz="700" b="0" i="1">
                          <a:solidFill>
                            <a:srgbClr val="000000"/>
                          </a:solidFill>
                          <a:latin typeface="Times New Roman"/>
                        </a:rPr>
                        <a:t>    </a:t>
                      </a:r>
                      <a:r>
                        <a:rPr sz="1100" b="0" i="1">
                          <a:solidFill>
                            <a:srgbClr val="000000"/>
                          </a:solidFill>
                          <a:latin typeface="Calibri"/>
                        </a:rPr>
                        <a:t>Warehouse Packaging</a:t>
                      </a:r>
                      <a:endParaRPr sz="1100"/>
                    </a:p>
                  </a:txBody>
                  <a:tcPr marL="1028700" marR="9525" marT="9525" marB="0" anchor="ctr"/>
                </a:tc>
              </a:tr>
              <a:tr h="175260">
                <a:tc>
                  <a:txBody>
                    <a:bodyPr wrap="square"/>
                    <a:lstStyle/>
                    <a:p>
                      <a:pPr algn="l"/>
                      <a:r>
                        <a:rPr sz="1100" b="0" i="0">
                          <a:solidFill>
                            <a:srgbClr val="000000"/>
                          </a:solidFill>
                          <a:latin typeface="Calibri"/>
                        </a:rPr>
                        <a:t>5.5.5.</a:t>
                      </a:r>
                      <a:r>
                        <a:rPr sz="700" b="0" i="0">
                          <a:solidFill>
                            <a:srgbClr val="000000"/>
                          </a:solidFill>
                          <a:latin typeface="Times New Roman"/>
                        </a:rPr>
                        <a:t>   </a:t>
                      </a:r>
                      <a:r>
                        <a:rPr sz="1100" b="0" i="0">
                          <a:solidFill>
                            <a:srgbClr val="000000"/>
                          </a:solidFill>
                          <a:latin typeface="Calibri"/>
                        </a:rPr>
                        <a:t>Industrial</a:t>
                      </a:r>
                      <a:endParaRPr sz="1100"/>
                    </a:p>
                  </a:txBody>
                  <a:tcPr marL="771525" marR="9525" marT="9525" marB="0" anchor="ctr"/>
                </a:tc>
              </a:tr>
              <a:tr h="175260">
                <a:tc>
                  <a:txBody>
                    <a:bodyPr wrap="square"/>
                    <a:lstStyle/>
                    <a:p>
                      <a:pPr algn="l"/>
                      <a:r>
                        <a:rPr sz="1100" b="0" i="1">
                          <a:solidFill>
                            <a:srgbClr val="000000"/>
                          </a:solidFill>
                          <a:latin typeface="Calibri"/>
                        </a:rPr>
                        <a:t>5.5.5.1.</a:t>
                      </a:r>
                      <a:r>
                        <a:rPr sz="700" b="0" i="1">
                          <a:solidFill>
                            <a:srgbClr val="000000"/>
                          </a:solidFill>
                          <a:latin typeface="Times New Roman"/>
                        </a:rPr>
                        <a:t>    </a:t>
                      </a:r>
                      <a:r>
                        <a:rPr sz="1100" b="0" i="1">
                          <a:solidFill>
                            <a:srgbClr val="000000"/>
                          </a:solidFill>
                          <a:latin typeface="Calibri"/>
                        </a:rPr>
                        <a:t>Automotive Components</a:t>
                      </a:r>
                      <a:endParaRPr sz="1100"/>
                    </a:p>
                  </a:txBody>
                  <a:tcPr marL="1028700" marR="9525" marT="9525" marB="0" anchor="ctr"/>
                </a:tc>
              </a:tr>
              <a:tr h="175260">
                <a:tc>
                  <a:txBody>
                    <a:bodyPr wrap="square"/>
                    <a:lstStyle/>
                    <a:p>
                      <a:pPr algn="l"/>
                      <a:r>
                        <a:rPr sz="1100" b="0" i="1">
                          <a:solidFill>
                            <a:srgbClr val="000000"/>
                          </a:solidFill>
                          <a:latin typeface="Calibri"/>
                        </a:rPr>
                        <a:t>5.5.5.2.</a:t>
                      </a:r>
                      <a:r>
                        <a:rPr sz="700" b="0" i="1">
                          <a:solidFill>
                            <a:srgbClr val="000000"/>
                          </a:solidFill>
                          <a:latin typeface="Times New Roman"/>
                        </a:rPr>
                        <a:t>    </a:t>
                      </a:r>
                      <a:r>
                        <a:rPr sz="1100" b="0" i="1">
                          <a:solidFill>
                            <a:srgbClr val="000000"/>
                          </a:solidFill>
                          <a:latin typeface="Calibri"/>
                        </a:rPr>
                        <a:t>Chemicals</a:t>
                      </a:r>
                      <a:endParaRPr sz="1100"/>
                    </a:p>
                  </a:txBody>
                  <a:tcPr marL="1028700" marR="9525" marT="9525" marB="0" anchor="ctr"/>
                </a:tc>
              </a:tr>
              <a:tr h="175260">
                <a:tc>
                  <a:txBody>
                    <a:bodyPr wrap="square"/>
                    <a:lstStyle/>
                    <a:p>
                      <a:pPr algn="l"/>
                      <a:r>
                        <a:rPr sz="1100" b="0" i="1">
                          <a:solidFill>
                            <a:srgbClr val="000000"/>
                          </a:solidFill>
                          <a:latin typeface="Calibri"/>
                        </a:rPr>
                        <a:t>5.5.5.3.</a:t>
                      </a:r>
                      <a:r>
                        <a:rPr sz="700" b="0" i="1">
                          <a:solidFill>
                            <a:srgbClr val="000000"/>
                          </a:solidFill>
                          <a:latin typeface="Times New Roman"/>
                        </a:rPr>
                        <a:t>    </a:t>
                      </a:r>
                      <a:r>
                        <a:rPr sz="1100" b="0" i="1">
                          <a:solidFill>
                            <a:srgbClr val="000000"/>
                          </a:solidFill>
                          <a:latin typeface="Calibri"/>
                        </a:rPr>
                        <a:t>Machinery Parts</a:t>
                      </a:r>
                      <a:endParaRPr sz="1100"/>
                    </a:p>
                  </a:txBody>
                  <a:tcPr marL="1028700" marR="9525" marT="9525" marB="0" anchor="ctr"/>
                </a:tc>
              </a:tr>
              <a:tr h="175260">
                <a:tc>
                  <a:txBody>
                    <a:bodyPr wrap="square"/>
                    <a:lstStyle/>
                    <a:p>
                      <a:pPr algn="l"/>
                      <a:r>
                        <a:rPr sz="1100" b="0" i="1">
                          <a:solidFill>
                            <a:srgbClr val="000000"/>
                          </a:solidFill>
                          <a:latin typeface="Calibri"/>
                        </a:rPr>
                        <a:t>5.5.5.4.</a:t>
                      </a:r>
                      <a:r>
                        <a:rPr sz="700" b="0" i="1">
                          <a:solidFill>
                            <a:srgbClr val="000000"/>
                          </a:solidFill>
                          <a:latin typeface="Times New Roman"/>
                        </a:rPr>
                        <a:t>    </a:t>
                      </a:r>
                      <a:r>
                        <a:rPr sz="1100" b="0" i="1">
                          <a:solidFill>
                            <a:srgbClr val="000000"/>
                          </a:solidFill>
                          <a:latin typeface="Calibri"/>
                        </a:rPr>
                        <a:t>Hardware</a:t>
                      </a:r>
                      <a:endParaRPr sz="1100"/>
                    </a:p>
                  </a:txBody>
                  <a:tcPr marL="1028700" marR="9525" marT="9525" marB="0" anchor="ctr"/>
                </a:tc>
              </a:tr>
              <a:tr h="175260">
                <a:tc>
                  <a:txBody>
                    <a:bodyPr wrap="square"/>
                    <a:lstStyle/>
                    <a:p>
                      <a:pPr algn="l"/>
                      <a:r>
                        <a:rPr sz="1100" b="0" i="1">
                          <a:solidFill>
                            <a:srgbClr val="000000"/>
                          </a:solidFill>
                          <a:latin typeface="Calibri"/>
                        </a:rPr>
                        <a:t>5.5.5.5.</a:t>
                      </a:r>
                      <a:r>
                        <a:rPr sz="700" b="0" i="1">
                          <a:solidFill>
                            <a:srgbClr val="000000"/>
                          </a:solidFill>
                          <a:latin typeface="Times New Roman"/>
                        </a:rPr>
                        <a:t>    </a:t>
                      </a:r>
                      <a:r>
                        <a:rPr sz="1100" b="0" i="1">
                          <a:solidFill>
                            <a:srgbClr val="000000"/>
                          </a:solidFill>
                          <a:latin typeface="Calibri"/>
                        </a:rPr>
                        <a:t>Electrical Components</a:t>
                      </a:r>
                      <a:endParaRPr sz="1100"/>
                    </a:p>
                  </a:txBody>
                  <a:tcPr marL="1028700" marR="9525" marT="9525" marB="0" anchor="ctr"/>
                </a:tc>
              </a:tr>
              <a:tr h="175260">
                <a:tc>
                  <a:txBody>
                    <a:bodyPr wrap="square"/>
                    <a:lstStyle/>
                    <a:p>
                      <a:pPr algn="l"/>
                      <a:r>
                        <a:rPr sz="1100" b="0" i="0">
                          <a:solidFill>
                            <a:srgbClr val="000000"/>
                          </a:solidFill>
                          <a:latin typeface="Calibri"/>
                        </a:rPr>
                        <a:t>5.5.6.</a:t>
                      </a:r>
                      <a:r>
                        <a:rPr sz="700" b="0" i="0">
                          <a:solidFill>
                            <a:srgbClr val="000000"/>
                          </a:solidFill>
                          <a:latin typeface="Times New Roman"/>
                        </a:rPr>
                        <a:t>   </a:t>
                      </a:r>
                      <a:r>
                        <a:rPr sz="1100" b="0" i="0">
                          <a:solidFill>
                            <a:srgbClr val="000000"/>
                          </a:solidFill>
                          <a:latin typeface="Calibri"/>
                        </a:rPr>
                        <a:t>Agriculture</a:t>
                      </a:r>
                      <a:endParaRPr sz="1100"/>
                    </a:p>
                  </a:txBody>
                  <a:tcPr marL="771525" marR="9525" marT="9525" marB="0" anchor="ctr"/>
                </a:tc>
              </a:tr>
              <a:tr h="175260">
                <a:tc>
                  <a:txBody>
                    <a:bodyPr wrap="square"/>
                    <a:lstStyle/>
                    <a:p>
                      <a:pPr algn="l"/>
                      <a:r>
                        <a:rPr sz="1100" b="0" i="1">
                          <a:solidFill>
                            <a:srgbClr val="000000"/>
                          </a:solidFill>
                          <a:latin typeface="Calibri"/>
                        </a:rPr>
                        <a:t>5.5.6.1.</a:t>
                      </a:r>
                      <a:r>
                        <a:rPr sz="700" b="0" i="1">
                          <a:solidFill>
                            <a:srgbClr val="000000"/>
                          </a:solidFill>
                          <a:latin typeface="Times New Roman"/>
                        </a:rPr>
                        <a:t>    </a:t>
                      </a:r>
                      <a:r>
                        <a:rPr sz="1100" b="0" i="1">
                          <a:solidFill>
                            <a:srgbClr val="000000"/>
                          </a:solidFill>
                          <a:latin typeface="Calibri"/>
                        </a:rPr>
                        <a:t>Seeds</a:t>
                      </a:r>
                      <a:endParaRPr sz="1100"/>
                    </a:p>
                  </a:txBody>
                  <a:tcPr marL="1028700" marR="9525" marT="9525" marB="0" anchor="ctr"/>
                </a:tc>
              </a:tr>
              <a:tr h="175260">
                <a:tc>
                  <a:txBody>
                    <a:bodyPr wrap="square"/>
                    <a:lstStyle/>
                    <a:p>
                      <a:pPr algn="l"/>
                      <a:r>
                        <a:rPr sz="1100" b="0" i="1">
                          <a:solidFill>
                            <a:srgbClr val="000000"/>
                          </a:solidFill>
                          <a:latin typeface="Calibri"/>
                        </a:rPr>
                        <a:t>5.5.6.2.</a:t>
                      </a:r>
                      <a:r>
                        <a:rPr sz="700" b="0" i="1">
                          <a:solidFill>
                            <a:srgbClr val="000000"/>
                          </a:solidFill>
                          <a:latin typeface="Times New Roman"/>
                        </a:rPr>
                        <a:t>    </a:t>
                      </a:r>
                      <a:r>
                        <a:rPr sz="1100" b="0" i="1">
                          <a:solidFill>
                            <a:srgbClr val="000000"/>
                          </a:solidFill>
                          <a:latin typeface="Calibri"/>
                        </a:rPr>
                        <a:t>Fertilizers</a:t>
                      </a:r>
                      <a:endParaRPr sz="1100"/>
                    </a:p>
                  </a:txBody>
                  <a:tcPr marL="1028700" marR="9525" marT="9525" marB="0" anchor="ctr"/>
                </a:tc>
              </a:tr>
              <a:tr h="175260">
                <a:tc>
                  <a:txBody>
                    <a:bodyPr wrap="square"/>
                    <a:lstStyle/>
                    <a:p>
                      <a:pPr algn="l"/>
                      <a:r>
                        <a:rPr sz="1100" b="0" i="1">
                          <a:solidFill>
                            <a:srgbClr val="000000"/>
                          </a:solidFill>
                          <a:latin typeface="Calibri"/>
                        </a:rPr>
                        <a:t>5.5.6.3.</a:t>
                      </a:r>
                      <a:r>
                        <a:rPr sz="700" b="0" i="1">
                          <a:solidFill>
                            <a:srgbClr val="000000"/>
                          </a:solidFill>
                          <a:latin typeface="Times New Roman"/>
                        </a:rPr>
                        <a:t>    </a:t>
                      </a:r>
                      <a:r>
                        <a:rPr sz="1100" b="0" i="1">
                          <a:solidFill>
                            <a:srgbClr val="000000"/>
                          </a:solidFill>
                          <a:latin typeface="Calibri"/>
                        </a:rPr>
                        <a:t>Animal Feed</a:t>
                      </a:r>
                      <a:endParaRPr sz="1100"/>
                    </a:p>
                  </a:txBody>
                  <a:tcPr marL="1028700" marR="9525" marT="9525" marB="0" anchor="ctr"/>
                </a:tc>
              </a:tr>
              <a:tr h="175260">
                <a:tc>
                  <a:txBody>
                    <a:bodyPr wrap="square"/>
                    <a:lstStyle/>
                    <a:p>
                      <a:pPr algn="l"/>
                      <a:r>
                        <a:rPr sz="1100" b="0" i="1">
                          <a:solidFill>
                            <a:srgbClr val="000000"/>
                          </a:solidFill>
                          <a:latin typeface="Calibri"/>
                        </a:rPr>
                        <a:t>5.5.6.4.</a:t>
                      </a:r>
                      <a:r>
                        <a:rPr sz="700" b="0" i="1">
                          <a:solidFill>
                            <a:srgbClr val="000000"/>
                          </a:solidFill>
                          <a:latin typeface="Times New Roman"/>
                        </a:rPr>
                        <a:t>    </a:t>
                      </a:r>
                      <a:r>
                        <a:rPr sz="1100" b="0" i="1">
                          <a:solidFill>
                            <a:srgbClr val="000000"/>
                          </a:solidFill>
                          <a:latin typeface="Calibri"/>
                        </a:rPr>
                        <a:t>Produce Packaging</a:t>
                      </a:r>
                      <a:endParaRPr sz="1100"/>
                    </a:p>
                  </a:txBody>
                  <a:tcPr marL="1028700" marR="9525" marT="9525" marB="0" anchor="ctr"/>
                </a:tc>
              </a:tr>
              <a:tr h="175260">
                <a:tc>
                  <a:txBody>
                    <a:bodyPr wrap="square"/>
                    <a:lstStyle/>
                    <a:p>
                      <a:pPr algn="l"/>
                      <a:r>
                        <a:rPr sz="1100" b="0" i="0">
                          <a:solidFill>
                            <a:srgbClr val="000000"/>
                          </a:solidFill>
                          <a:latin typeface="Calibri"/>
                        </a:rPr>
                        <a:t>5.5.7.</a:t>
                      </a:r>
                      <a:r>
                        <a:rPr sz="700" b="0" i="0">
                          <a:solidFill>
                            <a:srgbClr val="000000"/>
                          </a:solidFill>
                          <a:latin typeface="Times New Roman"/>
                        </a:rPr>
                        <a:t>   </a:t>
                      </a:r>
                      <a:r>
                        <a:rPr sz="1100" b="0" i="0">
                          <a:solidFill>
                            <a:srgbClr val="000000"/>
                          </a:solidFill>
                          <a:latin typeface="Calibri"/>
                        </a:rPr>
                        <a:t>Electronics</a:t>
                      </a:r>
                      <a:endParaRPr sz="1100"/>
                    </a:p>
                  </a:txBody>
                  <a:tcPr marL="771525" marR="9525" marT="9525" marB="0" anchor="ctr"/>
                </a:tc>
              </a:tr>
              <a:tr h="175260">
                <a:tc>
                  <a:txBody>
                    <a:bodyPr wrap="square"/>
                    <a:lstStyle/>
                    <a:p>
                      <a:pPr algn="l"/>
                      <a:r>
                        <a:rPr sz="1100" b="0" i="1">
                          <a:solidFill>
                            <a:srgbClr val="000000"/>
                          </a:solidFill>
                          <a:latin typeface="Calibri"/>
                        </a:rPr>
                        <a:t>5.5.7.1.</a:t>
                      </a:r>
                      <a:r>
                        <a:rPr sz="700" b="0" i="1">
                          <a:solidFill>
                            <a:srgbClr val="000000"/>
                          </a:solidFill>
                          <a:latin typeface="Times New Roman"/>
                        </a:rPr>
                        <a:t>    </a:t>
                      </a:r>
                      <a:r>
                        <a:rPr sz="1100" b="0" i="1">
                          <a:solidFill>
                            <a:srgbClr val="000000"/>
                          </a:solidFill>
                          <a:latin typeface="Calibri"/>
                        </a:rPr>
                        <a:t>Semiconductors</a:t>
                      </a:r>
                      <a:endParaRPr sz="1100"/>
                    </a:p>
                  </a:txBody>
                  <a:tcPr marL="1028700" marR="9525" marT="9525" marB="0" anchor="ctr"/>
                </a:tc>
              </a:tr>
              <a:tr h="175260">
                <a:tc>
                  <a:txBody>
                    <a:bodyPr wrap="square"/>
                    <a:lstStyle/>
                    <a:p>
                      <a:pPr algn="l"/>
                      <a:r>
                        <a:rPr sz="1100" b="0" i="1">
                          <a:solidFill>
                            <a:srgbClr val="000000"/>
                          </a:solidFill>
                          <a:latin typeface="Calibri"/>
                        </a:rPr>
                        <a:t>5.5.7.2.</a:t>
                      </a:r>
                      <a:r>
                        <a:rPr sz="700" b="0" i="1">
                          <a:solidFill>
                            <a:srgbClr val="000000"/>
                          </a:solidFill>
                          <a:latin typeface="Times New Roman"/>
                        </a:rPr>
                        <a:t>    </a:t>
                      </a:r>
                      <a:r>
                        <a:rPr sz="1100" b="0" i="1">
                          <a:solidFill>
                            <a:srgbClr val="000000"/>
                          </a:solidFill>
                          <a:latin typeface="Calibri"/>
                        </a:rPr>
                        <a:t>Consumer Electronics</a:t>
                      </a:r>
                      <a:endParaRPr sz="1100"/>
                    </a:p>
                  </a:txBody>
                  <a:tcPr marL="1028700" marR="9525" marT="9525" marB="0" anchor="ctr"/>
                </a:tc>
              </a:tr>
              <a:tr h="175260">
                <a:tc>
                  <a:txBody>
                    <a:bodyPr wrap="square"/>
                    <a:lstStyle/>
                    <a:p>
                      <a:pPr algn="l"/>
                      <a:r>
                        <a:rPr sz="1100" b="0" i="1">
                          <a:solidFill>
                            <a:srgbClr val="000000"/>
                          </a:solidFill>
                          <a:latin typeface="Calibri"/>
                        </a:rPr>
                        <a:t>5.5.7.3.</a:t>
                      </a:r>
                      <a:r>
                        <a:rPr sz="700" b="0" i="1">
                          <a:solidFill>
                            <a:srgbClr val="000000"/>
                          </a:solidFill>
                          <a:latin typeface="Times New Roman"/>
                        </a:rPr>
                        <a:t>    </a:t>
                      </a:r>
                      <a:r>
                        <a:rPr sz="1100" b="0" i="1">
                          <a:solidFill>
                            <a:srgbClr val="000000"/>
                          </a:solidFill>
                          <a:latin typeface="Calibri"/>
                        </a:rPr>
                        <a:t>Electronic Components</a:t>
                      </a:r>
                      <a:endParaRPr sz="1100"/>
                    </a:p>
                  </a:txBody>
                  <a:tcPr marL="1028700" marR="9525" marT="9525" marB="0" anchor="ctr"/>
                </a:tc>
              </a:tr>
              <a:tr h="175260">
                <a:tc>
                  <a:txBody>
                    <a:bodyPr wrap="square"/>
                    <a:lstStyle/>
                    <a:p>
                      <a:pPr algn="l"/>
                      <a:r>
                        <a:rPr sz="1100" b="0" i="1">
                          <a:solidFill>
                            <a:srgbClr val="000000"/>
                          </a:solidFill>
                          <a:latin typeface="Calibri"/>
                        </a:rPr>
                        <a:t>5.5.7.4.</a:t>
                      </a:r>
                      <a:r>
                        <a:rPr sz="700" b="0" i="1">
                          <a:solidFill>
                            <a:srgbClr val="000000"/>
                          </a:solidFill>
                          <a:latin typeface="Times New Roman"/>
                        </a:rPr>
                        <a:t>    </a:t>
                      </a:r>
                      <a:r>
                        <a:rPr sz="1100" b="0" i="1">
                          <a:solidFill>
                            <a:srgbClr val="000000"/>
                          </a:solidFill>
                          <a:latin typeface="Calibri"/>
                        </a:rPr>
                        <a:t>PCB Packaging</a:t>
                      </a:r>
                      <a:endParaRPr sz="1100"/>
                    </a:p>
                  </a:txBody>
                  <a:tcPr marL="1028700" marR="9525" marT="9525" marB="0" anchor="ctr"/>
                </a:tc>
              </a:tr>
              <a:tr h="175260">
                <a:tc>
                  <a:txBody>
                    <a:bodyPr wrap="square"/>
                    <a:lstStyle/>
                    <a:p>
                      <a:pPr algn="l"/>
                      <a:r>
                        <a:rPr sz="1100" b="0" i="0">
                          <a:solidFill>
                            <a:srgbClr val="000000"/>
                          </a:solidFill>
                          <a:latin typeface="Calibri"/>
                        </a:rPr>
                        <a:t>5.5.8.</a:t>
                      </a:r>
                      <a:r>
                        <a:rPr sz="700" b="0" i="0">
                          <a:solidFill>
                            <a:srgbClr val="000000"/>
                          </a:solidFill>
                          <a:latin typeface="Times New Roman"/>
                        </a:rPr>
                        <a:t>   </a:t>
                      </a:r>
                      <a:r>
                        <a:rPr sz="1100" b="0" i="0">
                          <a:solidFill>
                            <a:srgbClr val="000000"/>
                          </a:solidFill>
                          <a:latin typeface="Calibri"/>
                        </a:rPr>
                        <a:t>Personal Care &amp; Cosmetics</a:t>
                      </a:r>
                      <a:endParaRPr sz="1100"/>
                    </a:p>
                  </a:txBody>
                  <a:tcPr marL="771525" marR="9525" marT="9525" marB="0" anchor="ctr"/>
                </a:tc>
              </a:tr>
              <a:tr h="175260">
                <a:tc>
                  <a:txBody>
                    <a:bodyPr wrap="square"/>
                    <a:lstStyle/>
                    <a:p>
                      <a:pPr algn="l"/>
                      <a:r>
                        <a:rPr sz="1100" b="0" i="1">
                          <a:solidFill>
                            <a:srgbClr val="000000"/>
                          </a:solidFill>
                          <a:latin typeface="Calibri"/>
                        </a:rPr>
                        <a:t>5.5.8.1.</a:t>
                      </a:r>
                      <a:r>
                        <a:rPr sz="700" b="0" i="1">
                          <a:solidFill>
                            <a:srgbClr val="000000"/>
                          </a:solidFill>
                          <a:latin typeface="Times New Roman"/>
                        </a:rPr>
                        <a:t>    </a:t>
                      </a:r>
                      <a:r>
                        <a:rPr sz="1100" b="0" i="1">
                          <a:solidFill>
                            <a:srgbClr val="000000"/>
                          </a:solidFill>
                          <a:latin typeface="Calibri"/>
                        </a:rPr>
                        <a:t>Cosmetic Products</a:t>
                      </a:r>
                      <a:endParaRPr sz="1100"/>
                    </a:p>
                  </a:txBody>
                  <a:tcPr marL="1028700" marR="9525" marT="9525" marB="0" anchor="ctr"/>
                </a:tc>
              </a:tr>
              <a:tr h="175260">
                <a:tc>
                  <a:txBody>
                    <a:bodyPr wrap="square"/>
                    <a:lstStyle/>
                    <a:p>
                      <a:pPr algn="l"/>
                      <a:r>
                        <a:rPr sz="1100" b="0" i="1">
                          <a:solidFill>
                            <a:srgbClr val="000000"/>
                          </a:solidFill>
                          <a:latin typeface="Calibri"/>
                        </a:rPr>
                        <a:t>5.5.8.2.</a:t>
                      </a:r>
                      <a:r>
                        <a:rPr sz="700" b="0" i="1">
                          <a:solidFill>
                            <a:srgbClr val="000000"/>
                          </a:solidFill>
                          <a:latin typeface="Times New Roman"/>
                        </a:rPr>
                        <a:t>    </a:t>
                      </a:r>
                      <a:r>
                        <a:rPr sz="1100" b="0" i="1">
                          <a:solidFill>
                            <a:srgbClr val="000000"/>
                          </a:solidFill>
                          <a:latin typeface="Calibri"/>
                        </a:rPr>
                        <a:t>Toiletries</a:t>
                      </a:r>
                      <a:endParaRPr sz="1100"/>
                    </a:p>
                  </a:txBody>
                  <a:tcPr marL="1028700" marR="9525" marT="9525" marB="0" anchor="ctr"/>
                </a:tc>
              </a:tr>
              <a:tr h="175260">
                <a:tc>
                  <a:txBody>
                    <a:bodyPr wrap="square"/>
                    <a:lstStyle/>
                    <a:p>
                      <a:pPr algn="l"/>
                      <a:r>
                        <a:rPr sz="1100" b="0" i="1">
                          <a:solidFill>
                            <a:srgbClr val="000000"/>
                          </a:solidFill>
                          <a:latin typeface="Calibri"/>
                        </a:rPr>
                        <a:t>5.5.8.3.</a:t>
                      </a:r>
                      <a:r>
                        <a:rPr sz="700" b="0" i="1">
                          <a:solidFill>
                            <a:srgbClr val="000000"/>
                          </a:solidFill>
                          <a:latin typeface="Times New Roman"/>
                        </a:rPr>
                        <a:t>    </a:t>
                      </a:r>
                      <a:r>
                        <a:rPr sz="1100" b="0" i="1">
                          <a:solidFill>
                            <a:srgbClr val="000000"/>
                          </a:solidFill>
                          <a:latin typeface="Calibri"/>
                        </a:rPr>
                        <a:t>Beauty Products</a:t>
                      </a:r>
                      <a:endParaRPr sz="1100"/>
                    </a:p>
                  </a:txBody>
                  <a:tcPr marL="1028700" marR="9525" marT="9525" marB="0" anchor="ctr"/>
                </a:tc>
              </a:tr>
              <a:tr h="175260">
                <a:tc>
                  <a:txBody>
                    <a:bodyPr wrap="square"/>
                    <a:lstStyle/>
                    <a:p>
                      <a:pPr algn="l"/>
                      <a:r>
                        <a:rPr sz="1100" b="1" i="0">
                          <a:solidFill>
                            <a:srgbClr val="000000"/>
                          </a:solidFill>
                          <a:latin typeface="Calibri"/>
                        </a:rPr>
                        <a:t>6.</a:t>
                      </a:r>
                      <a:r>
                        <a:rPr sz="700" b="1" i="0">
                          <a:solidFill>
                            <a:srgbClr val="000000"/>
                          </a:solidFill>
                          <a:latin typeface="Times New Roman"/>
                        </a:rPr>
                        <a:t>       </a:t>
                      </a:r>
                      <a:r>
                        <a:rPr sz="1100" b="1" i="0">
                          <a:solidFill>
                            <a:srgbClr val="000000"/>
                          </a:solidFill>
                          <a:latin typeface="Calibri"/>
                        </a:rPr>
                        <a:t>Global Market (Value- Volume) Analysis 2021–2036, by Region</a:t>
                      </a:r>
                      <a:endParaRPr sz="1100"/>
                    </a:p>
                  </a:txBody>
                  <a:tcPr marL="171450" marR="9525" marT="9525" marB="0" anchor="ctr"/>
                </a:tc>
              </a:tr>
              <a:tr h="175260">
                <a:tc>
                  <a:txBody>
                    <a:bodyPr wrap="square"/>
                    <a:lstStyle/>
                    <a:p>
                      <a:pPr algn="l"/>
                      <a:r>
                        <a:rPr sz="1100" b="0" i="0">
                          <a:solidFill>
                            <a:srgbClr val="0070C0"/>
                          </a:solidFill>
                          <a:latin typeface="Calibri"/>
                        </a:rPr>
                        <a:t>6.1.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6.2.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6.3.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6.4.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6.5.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6.5.1.</a:t>
                      </a:r>
                      <a:r>
                        <a:rPr sz="700" b="0" i="0">
                          <a:solidFill>
                            <a:srgbClr val="000000"/>
                          </a:solidFill>
                          <a:latin typeface="Times New Roman"/>
                        </a:rPr>
                        <a:t>   </a:t>
                      </a:r>
                      <a:r>
                        <a:rPr sz="1100" b="0" i="0">
                          <a:solidFill>
                            <a:srgbClr val="000000"/>
                          </a:solidFill>
                          <a:latin typeface="Calibri"/>
                        </a:rPr>
                        <a:t>North America</a:t>
                      </a:r>
                      <a:endParaRPr sz="1100"/>
                    </a:p>
                  </a:txBody>
                  <a:tcPr marL="771525" marR="9525" marT="9525" marB="0" anchor="ctr"/>
                </a:tc>
              </a:tr>
              <a:tr h="175260">
                <a:tc>
                  <a:txBody>
                    <a:bodyPr wrap="square"/>
                    <a:lstStyle/>
                    <a:p>
                      <a:pPr algn="l"/>
                      <a:r>
                        <a:rPr sz="1100" b="0" i="1">
                          <a:solidFill>
                            <a:srgbClr val="000000"/>
                          </a:solidFill>
                          <a:latin typeface="Calibri"/>
                        </a:rPr>
                        <a:t>6.5.1.1.</a:t>
                      </a:r>
                      <a:r>
                        <a:rPr sz="700" b="0" i="1">
                          <a:solidFill>
                            <a:srgbClr val="000000"/>
                          </a:solidFill>
                          <a:latin typeface="Times New Roman"/>
                        </a:rPr>
                        <a:t>    </a:t>
                      </a:r>
                      <a:r>
                        <a:rPr sz="1100" b="0" i="1">
                          <a:solidFill>
                            <a:srgbClr val="000000"/>
                          </a:solidFill>
                          <a:latin typeface="Calibri"/>
                        </a:rPr>
                        <a:t>U.S.</a:t>
                      </a:r>
                      <a:endParaRPr sz="1100"/>
                    </a:p>
                  </a:txBody>
                  <a:tcPr marL="1028700" marR="9525" marT="9525" marB="0" anchor="ctr"/>
                </a:tc>
              </a:tr>
              <a:tr h="175260">
                <a:tc>
                  <a:txBody>
                    <a:bodyPr wrap="square"/>
                    <a:lstStyle/>
                    <a:p>
                      <a:pPr algn="l"/>
                      <a:r>
                        <a:rPr sz="1100" b="0" i="1">
                          <a:solidFill>
                            <a:srgbClr val="000000"/>
                          </a:solidFill>
                          <a:latin typeface="Calibri"/>
                        </a:rPr>
                        <a:t>6.5.1.2.</a:t>
                      </a:r>
                      <a:r>
                        <a:rPr sz="700" b="0" i="1">
                          <a:solidFill>
                            <a:srgbClr val="000000"/>
                          </a:solidFill>
                          <a:latin typeface="Times New Roman"/>
                        </a:rPr>
                        <a:t>    </a:t>
                      </a:r>
                      <a:r>
                        <a:rPr sz="1100" b="0" i="1">
                          <a:solidFill>
                            <a:srgbClr val="000000"/>
                          </a:solidFill>
                          <a:latin typeface="Calibri"/>
                        </a:rPr>
                        <a:t>Canada</a:t>
                      </a:r>
                      <a:endParaRPr sz="1100"/>
                    </a:p>
                  </a:txBody>
                  <a:tcPr marL="1028700" marR="9525" marT="9525" marB="0" anchor="ctr"/>
                </a:tc>
              </a:tr>
              <a:tr h="175260">
                <a:tc>
                  <a:txBody>
                    <a:bodyPr wrap="square"/>
                    <a:lstStyle/>
                    <a:p>
                      <a:pPr algn="l"/>
                      <a:r>
                        <a:rPr sz="1100" b="0" i="0">
                          <a:solidFill>
                            <a:srgbClr val="000000"/>
                          </a:solidFill>
                          <a:latin typeface="Calibri"/>
                        </a:rPr>
                        <a:t>6.5.2.</a:t>
                      </a:r>
                      <a:r>
                        <a:rPr sz="700" b="0" i="0">
                          <a:solidFill>
                            <a:srgbClr val="000000"/>
                          </a:solidFill>
                          <a:latin typeface="Times New Roman"/>
                        </a:rPr>
                        <a:t>   </a:t>
                      </a:r>
                      <a:r>
                        <a:rPr sz="1100" b="0" i="0">
                          <a:solidFill>
                            <a:srgbClr val="000000"/>
                          </a:solidFill>
                          <a:latin typeface="Calibri"/>
                        </a:rPr>
                        <a:t>Latin America</a:t>
                      </a:r>
                      <a:endParaRPr sz="1100"/>
                    </a:p>
                  </a:txBody>
                  <a:tcPr marL="771525" marR="9525" marT="9525" marB="0" anchor="ctr"/>
                </a:tc>
              </a:tr>
              <a:tr h="175260">
                <a:tc>
                  <a:txBody>
                    <a:bodyPr wrap="square"/>
                    <a:lstStyle/>
                    <a:p>
                      <a:pPr algn="l"/>
                      <a:r>
                        <a:rPr sz="1100" b="0" i="1">
                          <a:solidFill>
                            <a:srgbClr val="000000"/>
                          </a:solidFill>
                          <a:latin typeface="Calibri"/>
                        </a:rPr>
                        <a:t>6.5.2.1.</a:t>
                      </a:r>
                      <a:r>
                        <a:rPr sz="700" b="0" i="1">
                          <a:solidFill>
                            <a:srgbClr val="000000"/>
                          </a:solidFill>
                          <a:latin typeface="Times New Roman"/>
                        </a:rPr>
                        <a:t>    </a:t>
                      </a:r>
                      <a:r>
                        <a:rPr sz="1100" b="0" i="1">
                          <a:solidFill>
                            <a:srgbClr val="000000"/>
                          </a:solidFill>
                          <a:latin typeface="Calibri"/>
                        </a:rPr>
                        <a:t>Brazil</a:t>
                      </a:r>
                      <a:endParaRPr sz="1100"/>
                    </a:p>
                  </a:txBody>
                  <a:tcPr marL="1028700" marR="9525" marT="9525" marB="0" anchor="ctr"/>
                </a:tc>
              </a:tr>
              <a:tr h="175260">
                <a:tc>
                  <a:txBody>
                    <a:bodyPr wrap="square"/>
                    <a:lstStyle/>
                    <a:p>
                      <a:pPr algn="l"/>
                      <a:r>
                        <a:rPr sz="1100" b="0" i="1">
                          <a:solidFill>
                            <a:srgbClr val="000000"/>
                          </a:solidFill>
                          <a:latin typeface="Calibri"/>
                        </a:rPr>
                        <a:t>6.5.2.2.</a:t>
                      </a:r>
                      <a:r>
                        <a:rPr sz="700" b="0" i="1">
                          <a:solidFill>
                            <a:srgbClr val="000000"/>
                          </a:solidFill>
                          <a:latin typeface="Times New Roman"/>
                        </a:rPr>
                        <a:t>    </a:t>
                      </a:r>
                      <a:r>
                        <a:rPr sz="1100" b="0" i="1">
                          <a:solidFill>
                            <a:srgbClr val="000000"/>
                          </a:solidFill>
                          <a:latin typeface="Calibri"/>
                        </a:rPr>
                        <a:t>Mexico</a:t>
                      </a:r>
                      <a:endParaRPr sz="1100"/>
                    </a:p>
                  </a:txBody>
                  <a:tcPr marL="1028700" marR="9525" marT="9525" marB="0" anchor="ctr"/>
                </a:tc>
              </a:tr>
              <a:tr h="175260">
                <a:tc>
                  <a:txBody>
                    <a:bodyPr wrap="square"/>
                    <a:lstStyle/>
                    <a:p>
                      <a:pPr algn="l"/>
                      <a:r>
                        <a:rPr sz="1100" b="0" i="1">
                          <a:solidFill>
                            <a:srgbClr val="000000"/>
                          </a:solidFill>
                          <a:latin typeface="Calibri"/>
                        </a:rPr>
                        <a:t>6.5.2.3.</a:t>
                      </a:r>
                      <a:r>
                        <a:rPr sz="700" b="0" i="1">
                          <a:solidFill>
                            <a:srgbClr val="000000"/>
                          </a:solidFill>
                          <a:latin typeface="Times New Roman"/>
                        </a:rPr>
                        <a:t>    </a:t>
                      </a:r>
                      <a:r>
                        <a:rPr sz="1100" b="0" i="1">
                          <a:solidFill>
                            <a:srgbClr val="000000"/>
                          </a:solidFill>
                          <a:latin typeface="Calibri"/>
                        </a:rPr>
                        <a:t>Rest of LATAM</a:t>
                      </a:r>
                      <a:endParaRPr sz="1100"/>
                    </a:p>
                  </a:txBody>
                  <a:tcPr marL="1028700" marR="9525" marT="9525" marB="0" anchor="ctr"/>
                </a:tc>
              </a:tr>
              <a:tr h="175260">
                <a:tc>
                  <a:txBody>
                    <a:bodyPr wrap="square"/>
                    <a:lstStyle/>
                    <a:p>
                      <a:pPr algn="l"/>
                      <a:r>
                        <a:rPr sz="1100" b="0" i="0">
                          <a:solidFill>
                            <a:srgbClr val="000000"/>
                          </a:solidFill>
                          <a:latin typeface="Calibri"/>
                        </a:rPr>
                        <a:t>6.5.3.</a:t>
                      </a:r>
                      <a:r>
                        <a:rPr sz="700" b="0" i="0">
                          <a:solidFill>
                            <a:srgbClr val="000000"/>
                          </a:solidFill>
                          <a:latin typeface="Times New Roman"/>
                        </a:rPr>
                        <a:t>   </a:t>
                      </a:r>
                      <a:r>
                        <a:rPr sz="1100" b="0" i="0">
                          <a:solidFill>
                            <a:srgbClr val="000000"/>
                          </a:solidFill>
                          <a:latin typeface="Calibri"/>
                        </a:rPr>
                        <a:t>East Asia</a:t>
                      </a:r>
                      <a:endParaRPr sz="1100"/>
                    </a:p>
                  </a:txBody>
                  <a:tcPr marL="771525" marR="9525" marT="9525" marB="0" anchor="ctr"/>
                </a:tc>
              </a:tr>
              <a:tr h="175260">
                <a:tc>
                  <a:txBody>
                    <a:bodyPr wrap="square"/>
                    <a:lstStyle/>
                    <a:p>
                      <a:pPr algn="l"/>
                      <a:r>
                        <a:rPr sz="1100" b="0" i="1">
                          <a:solidFill>
                            <a:srgbClr val="000000"/>
                          </a:solidFill>
                          <a:latin typeface="Calibri"/>
                        </a:rPr>
                        <a:t>6.5.3.1.</a:t>
                      </a:r>
                      <a:r>
                        <a:rPr sz="700" b="0" i="1">
                          <a:solidFill>
                            <a:srgbClr val="000000"/>
                          </a:solidFill>
                          <a:latin typeface="Times New Roman"/>
                        </a:rPr>
                        <a:t>    </a:t>
                      </a:r>
                      <a:r>
                        <a:rPr sz="1100" b="0" i="1">
                          <a:solidFill>
                            <a:srgbClr val="000000"/>
                          </a:solidFill>
                          <a:latin typeface="Calibri"/>
                        </a:rPr>
                        <a:t>China</a:t>
                      </a:r>
                      <a:endParaRPr sz="1100"/>
                    </a:p>
                  </a:txBody>
                  <a:tcPr marL="1028700" marR="9525" marT="9525" marB="0" anchor="ctr"/>
                </a:tc>
              </a:tr>
              <a:tr h="175260">
                <a:tc>
                  <a:txBody>
                    <a:bodyPr wrap="square"/>
                    <a:lstStyle/>
                    <a:p>
                      <a:pPr algn="l"/>
                      <a:r>
                        <a:rPr sz="1100" b="0" i="1">
                          <a:solidFill>
                            <a:srgbClr val="000000"/>
                          </a:solidFill>
                          <a:latin typeface="Calibri"/>
                        </a:rPr>
                        <a:t>6.5.3.2.</a:t>
                      </a:r>
                      <a:r>
                        <a:rPr sz="700" b="0" i="1">
                          <a:solidFill>
                            <a:srgbClr val="000000"/>
                          </a:solidFill>
                          <a:latin typeface="Times New Roman"/>
                        </a:rPr>
                        <a:t>    </a:t>
                      </a:r>
                      <a:r>
                        <a:rPr sz="1100" b="0" i="1">
                          <a:solidFill>
                            <a:srgbClr val="000000"/>
                          </a:solidFill>
                          <a:latin typeface="Calibri"/>
                        </a:rPr>
                        <a:t>Japan</a:t>
                      </a:r>
                      <a:endParaRPr sz="1100"/>
                    </a:p>
                  </a:txBody>
                  <a:tcPr marL="1028700" marR="9525" marT="9525" marB="0" anchor="ctr"/>
                </a:tc>
              </a:tr>
              <a:tr h="175260">
                <a:tc>
                  <a:txBody>
                    <a:bodyPr wrap="square"/>
                    <a:lstStyle/>
                    <a:p>
                      <a:pPr algn="l"/>
                      <a:r>
                        <a:rPr sz="1100" b="0" i="1">
                          <a:solidFill>
                            <a:srgbClr val="000000"/>
                          </a:solidFill>
                          <a:latin typeface="Calibri"/>
                        </a:rPr>
                        <a:t>6.5.3.3.</a:t>
                      </a:r>
                      <a:r>
                        <a:rPr sz="700" b="0" i="1">
                          <a:solidFill>
                            <a:srgbClr val="000000"/>
                          </a:solidFill>
                          <a:latin typeface="Times New Roman"/>
                        </a:rPr>
                        <a:t>    </a:t>
                      </a:r>
                      <a:r>
                        <a:rPr sz="1100" b="0" i="1">
                          <a:solidFill>
                            <a:srgbClr val="000000"/>
                          </a:solidFill>
                          <a:latin typeface="Calibri"/>
                        </a:rPr>
                        <a:t>S Korea</a:t>
                      </a:r>
                      <a:endParaRPr sz="1100"/>
                    </a:p>
                  </a:txBody>
                  <a:tcPr marL="1028700" marR="9525" marT="9525" marB="0" anchor="ctr"/>
                </a:tc>
              </a:tr>
              <a:tr h="175260">
                <a:tc>
                  <a:txBody>
                    <a:bodyPr wrap="square"/>
                    <a:lstStyle/>
                    <a:p>
                      <a:pPr algn="l"/>
                      <a:r>
                        <a:rPr sz="1100" b="0" i="0">
                          <a:solidFill>
                            <a:srgbClr val="000000"/>
                          </a:solidFill>
                          <a:latin typeface="Calibri"/>
                        </a:rPr>
                        <a:t>6.5.4.</a:t>
                      </a:r>
                      <a:r>
                        <a:rPr sz="700" b="0" i="0">
                          <a:solidFill>
                            <a:srgbClr val="000000"/>
                          </a:solidFill>
                          <a:latin typeface="Times New Roman"/>
                        </a:rPr>
                        <a:t>   </a:t>
                      </a:r>
                      <a:r>
                        <a:rPr sz="1100" b="0" i="0">
                          <a:solidFill>
                            <a:srgbClr val="000000"/>
                          </a:solidFill>
                          <a:latin typeface="Calibri"/>
                        </a:rPr>
                        <a:t>South Asia &amp; Pacific</a:t>
                      </a:r>
                      <a:endParaRPr sz="1100"/>
                    </a:p>
                  </a:txBody>
                  <a:tcPr marL="771525" marR="9525" marT="9525" marB="0" anchor="ctr"/>
                </a:tc>
              </a:tr>
              <a:tr h="175260">
                <a:tc>
                  <a:txBody>
                    <a:bodyPr wrap="square"/>
                    <a:lstStyle/>
                    <a:p>
                      <a:pPr algn="l"/>
                      <a:r>
                        <a:rPr sz="1100" b="0" i="1">
                          <a:solidFill>
                            <a:srgbClr val="000000"/>
                          </a:solidFill>
                          <a:latin typeface="Calibri"/>
                        </a:rPr>
                        <a:t>6.5.4.1.</a:t>
                      </a:r>
                      <a:r>
                        <a:rPr sz="700" b="0" i="1">
                          <a:solidFill>
                            <a:srgbClr val="000000"/>
                          </a:solidFill>
                          <a:latin typeface="Times New Roman"/>
                        </a:rPr>
                        <a:t>    </a:t>
                      </a:r>
                      <a:r>
                        <a:rPr sz="1100" b="0" i="1">
                          <a:solidFill>
                            <a:srgbClr val="000000"/>
                          </a:solidFill>
                          <a:latin typeface="Calibri"/>
                        </a:rPr>
                        <a:t>India</a:t>
                      </a:r>
                      <a:endParaRPr sz="1100"/>
                    </a:p>
                  </a:txBody>
                  <a:tcPr marL="1028700" marR="9525" marT="9525" marB="0" anchor="ctr"/>
                </a:tc>
              </a:tr>
              <a:tr h="175260">
                <a:tc>
                  <a:txBody>
                    <a:bodyPr wrap="square"/>
                    <a:lstStyle/>
                    <a:p>
                      <a:pPr algn="l"/>
                      <a:r>
                        <a:rPr sz="1100" b="0" i="1">
                          <a:solidFill>
                            <a:srgbClr val="000000"/>
                          </a:solidFill>
                          <a:latin typeface="Calibri"/>
                        </a:rPr>
                        <a:t>6.5.4.2.</a:t>
                      </a:r>
                      <a:r>
                        <a:rPr sz="700" b="0" i="1">
                          <a:solidFill>
                            <a:srgbClr val="000000"/>
                          </a:solidFill>
                          <a:latin typeface="Times New Roman"/>
                        </a:rPr>
                        <a:t>    </a:t>
                      </a:r>
                      <a:r>
                        <a:rPr sz="1100" b="0" i="1">
                          <a:solidFill>
                            <a:srgbClr val="000000"/>
                          </a:solidFill>
                          <a:latin typeface="Calibri"/>
                        </a:rPr>
                        <a:t>Thailand</a:t>
                      </a:r>
                      <a:endParaRPr sz="1100"/>
                    </a:p>
                  </a:txBody>
                  <a:tcPr marL="1028700" marR="9525" marT="9525" marB="0" anchor="ctr"/>
                </a:tc>
              </a:tr>
              <a:tr h="175260">
                <a:tc>
                  <a:txBody>
                    <a:bodyPr wrap="square"/>
                    <a:lstStyle/>
                    <a:p>
                      <a:pPr algn="l"/>
                      <a:r>
                        <a:rPr sz="1100" b="0" i="1">
                          <a:solidFill>
                            <a:srgbClr val="000000"/>
                          </a:solidFill>
                          <a:latin typeface="Calibri"/>
                        </a:rPr>
                        <a:t>6.5.4.3.</a:t>
                      </a:r>
                      <a:r>
                        <a:rPr sz="700" b="0" i="1">
                          <a:solidFill>
                            <a:srgbClr val="000000"/>
                          </a:solidFill>
                          <a:latin typeface="Times New Roman"/>
                        </a:rPr>
                        <a:t>    </a:t>
                      </a:r>
                      <a:r>
                        <a:rPr sz="1100" b="0" i="1">
                          <a:solidFill>
                            <a:srgbClr val="000000"/>
                          </a:solidFill>
                          <a:latin typeface="Calibri"/>
                        </a:rPr>
                        <a:t>Malaysia</a:t>
                      </a:r>
                      <a:endParaRPr sz="1100"/>
                    </a:p>
                  </a:txBody>
                  <a:tcPr marL="1028700" marR="9525" marT="9525" marB="0" anchor="ctr"/>
                </a:tc>
              </a:tr>
              <a:tr h="175260">
                <a:tc>
                  <a:txBody>
                    <a:bodyPr wrap="square"/>
                    <a:lstStyle/>
                    <a:p>
                      <a:pPr algn="l"/>
                      <a:r>
                        <a:rPr sz="1100" b="0" i="1">
                          <a:solidFill>
                            <a:srgbClr val="000000"/>
                          </a:solidFill>
                          <a:latin typeface="Calibri"/>
                        </a:rPr>
                        <a:t>6.5.4.4.</a:t>
                      </a:r>
                      <a:r>
                        <a:rPr sz="700" b="0" i="1">
                          <a:solidFill>
                            <a:srgbClr val="000000"/>
                          </a:solidFill>
                          <a:latin typeface="Times New Roman"/>
                        </a:rPr>
                        <a:t>    </a:t>
                      </a:r>
                      <a:r>
                        <a:rPr sz="1100" b="0" i="1">
                          <a:solidFill>
                            <a:srgbClr val="000000"/>
                          </a:solidFill>
                          <a:latin typeface="Calibri"/>
                        </a:rPr>
                        <a:t>Indonesia</a:t>
                      </a:r>
                      <a:endParaRPr sz="1100"/>
                    </a:p>
                  </a:txBody>
                  <a:tcPr marL="1028700" marR="9525" marT="9525" marB="0" anchor="ctr"/>
                </a:tc>
              </a:tr>
              <a:tr h="175260">
                <a:tc>
                  <a:txBody>
                    <a:bodyPr wrap="square"/>
                    <a:lstStyle/>
                    <a:p>
                      <a:pPr algn="l"/>
                      <a:r>
                        <a:rPr sz="1100" b="0" i="1">
                          <a:solidFill>
                            <a:srgbClr val="000000"/>
                          </a:solidFill>
                          <a:latin typeface="Calibri"/>
                        </a:rPr>
                        <a:t>6.5.4.5.</a:t>
                      </a:r>
                      <a:r>
                        <a:rPr sz="700" b="0" i="1">
                          <a:solidFill>
                            <a:srgbClr val="000000"/>
                          </a:solidFill>
                          <a:latin typeface="Times New Roman"/>
                        </a:rPr>
                        <a:t>    </a:t>
                      </a:r>
                      <a:r>
                        <a:rPr sz="1100" b="0" i="1">
                          <a:solidFill>
                            <a:srgbClr val="000000"/>
                          </a:solidFill>
                          <a:latin typeface="Calibri"/>
                        </a:rPr>
                        <a:t>Philippines</a:t>
                      </a:r>
                      <a:endParaRPr sz="1100"/>
                    </a:p>
                  </a:txBody>
                  <a:tcPr marL="1028700" marR="9525" marT="9525" marB="0" anchor="ctr"/>
                </a:tc>
              </a:tr>
              <a:tr h="175260">
                <a:tc>
                  <a:txBody>
                    <a:bodyPr wrap="square"/>
                    <a:lstStyle/>
                    <a:p>
                      <a:pPr algn="l"/>
                      <a:r>
                        <a:rPr sz="1100" b="0" i="1">
                          <a:solidFill>
                            <a:srgbClr val="000000"/>
                          </a:solidFill>
                          <a:latin typeface="Calibri"/>
                        </a:rPr>
                        <a:t>6.5.4.6.</a:t>
                      </a:r>
                      <a:r>
                        <a:rPr sz="700" b="0" i="1">
                          <a:solidFill>
                            <a:srgbClr val="000000"/>
                          </a:solidFill>
                          <a:latin typeface="Times New Roman"/>
                        </a:rPr>
                        <a:t>    </a:t>
                      </a:r>
                      <a:r>
                        <a:rPr sz="1100" b="0" i="1">
                          <a:solidFill>
                            <a:srgbClr val="000000"/>
                          </a:solidFill>
                          <a:latin typeface="Calibri"/>
                        </a:rPr>
                        <a:t>Singapore</a:t>
                      </a:r>
                      <a:endParaRPr sz="1100"/>
                    </a:p>
                  </a:txBody>
                  <a:tcPr marL="1028700" marR="9525" marT="9525" marB="0" anchor="ctr"/>
                </a:tc>
              </a:tr>
              <a:tr h="175260">
                <a:tc>
                  <a:txBody>
                    <a:bodyPr wrap="square"/>
                    <a:lstStyle/>
                    <a:p>
                      <a:pPr algn="l"/>
                      <a:r>
                        <a:rPr sz="1100" b="0" i="1">
                          <a:solidFill>
                            <a:srgbClr val="000000"/>
                          </a:solidFill>
                          <a:latin typeface="Calibri"/>
                        </a:rPr>
                        <a:t>6.5.4.7.</a:t>
                      </a:r>
                      <a:r>
                        <a:rPr sz="700" b="0" i="1">
                          <a:solidFill>
                            <a:srgbClr val="000000"/>
                          </a:solidFill>
                          <a:latin typeface="Times New Roman"/>
                        </a:rPr>
                        <a:t>    </a:t>
                      </a:r>
                      <a:r>
                        <a:rPr sz="1100" b="0" i="1">
                          <a:solidFill>
                            <a:srgbClr val="000000"/>
                          </a:solidFill>
                          <a:latin typeface="Calibri"/>
                        </a:rPr>
                        <a:t>Australia</a:t>
                      </a:r>
                      <a:endParaRPr sz="1100"/>
                    </a:p>
                  </a:txBody>
                  <a:tcPr marL="1028700" marR="9525" marT="9525" marB="0" anchor="ctr"/>
                </a:tc>
              </a:tr>
              <a:tr h="175260">
                <a:tc>
                  <a:txBody>
                    <a:bodyPr wrap="square"/>
                    <a:lstStyle/>
                    <a:p>
                      <a:pPr algn="l"/>
                      <a:r>
                        <a:rPr sz="1100" b="0" i="1">
                          <a:solidFill>
                            <a:srgbClr val="000000"/>
                          </a:solidFill>
                          <a:latin typeface="Calibri"/>
                        </a:rPr>
                        <a:t>6.5.4.8.</a:t>
                      </a:r>
                      <a:r>
                        <a:rPr sz="700" b="0" i="1">
                          <a:solidFill>
                            <a:srgbClr val="000000"/>
                          </a:solidFill>
                          <a:latin typeface="Times New Roman"/>
                        </a:rPr>
                        <a:t>    </a:t>
                      </a:r>
                      <a:r>
                        <a:rPr sz="1100" b="0" i="1">
                          <a:solidFill>
                            <a:srgbClr val="000000"/>
                          </a:solidFill>
                          <a:latin typeface="Calibri"/>
                        </a:rPr>
                        <a:t>New Zealand</a:t>
                      </a:r>
                      <a:endParaRPr sz="1100"/>
                    </a:p>
                  </a:txBody>
                  <a:tcPr marL="1028700" marR="9525" marT="9525" marB="0" anchor="ctr"/>
                </a:tc>
              </a:tr>
              <a:tr h="175260">
                <a:tc>
                  <a:txBody>
                    <a:bodyPr wrap="square"/>
                    <a:lstStyle/>
                    <a:p>
                      <a:pPr algn="l"/>
                      <a:r>
                        <a:rPr sz="1100" b="0" i="1">
                          <a:solidFill>
                            <a:srgbClr val="000000"/>
                          </a:solidFill>
                          <a:latin typeface="Calibri"/>
                        </a:rPr>
                        <a:t>6.5.4.9.</a:t>
                      </a:r>
                      <a:r>
                        <a:rPr sz="700" b="0" i="1">
                          <a:solidFill>
                            <a:srgbClr val="000000"/>
                          </a:solidFill>
                          <a:latin typeface="Times New Roman"/>
                        </a:rPr>
                        <a:t>    </a:t>
                      </a:r>
                      <a:r>
                        <a:rPr sz="1100" b="0" i="1">
                          <a:solidFill>
                            <a:srgbClr val="000000"/>
                          </a:solidFill>
                          <a:latin typeface="Calibri"/>
                        </a:rPr>
                        <a:t>Rest of South East Asia</a:t>
                      </a:r>
                      <a:endParaRPr sz="1100"/>
                    </a:p>
                  </a:txBody>
                  <a:tcPr marL="1028700" marR="9525" marT="9525" marB="0" anchor="ctr"/>
                </a:tc>
              </a:tr>
              <a:tr h="175260">
                <a:tc>
                  <a:txBody>
                    <a:bodyPr wrap="square"/>
                    <a:lstStyle/>
                    <a:p>
                      <a:pPr algn="l"/>
                      <a:r>
                        <a:rPr sz="1100" b="0" i="0">
                          <a:solidFill>
                            <a:srgbClr val="000000"/>
                          </a:solidFill>
                          <a:latin typeface="Calibri"/>
                        </a:rPr>
                        <a:t>6.5.5.</a:t>
                      </a:r>
                      <a:r>
                        <a:rPr sz="700" b="0" i="0">
                          <a:solidFill>
                            <a:srgbClr val="000000"/>
                          </a:solidFill>
                          <a:latin typeface="Times New Roman"/>
                        </a:rPr>
                        <a:t>   </a:t>
                      </a:r>
                      <a:r>
                        <a:rPr sz="1100" b="0" i="0">
                          <a:solidFill>
                            <a:srgbClr val="000000"/>
                          </a:solidFill>
                          <a:latin typeface="Calibri"/>
                        </a:rPr>
                        <a:t>Europe</a:t>
                      </a:r>
                      <a:endParaRPr sz="1100"/>
                    </a:p>
                  </a:txBody>
                  <a:tcPr marL="771525" marR="9525" marT="9525" marB="0" anchor="ctr"/>
                </a:tc>
              </a:tr>
              <a:tr h="175260">
                <a:tc>
                  <a:txBody>
                    <a:bodyPr wrap="square"/>
                    <a:lstStyle/>
                    <a:p>
                      <a:pPr algn="l"/>
                      <a:r>
                        <a:rPr sz="1100" b="0" i="1">
                          <a:solidFill>
                            <a:srgbClr val="000000"/>
                          </a:solidFill>
                          <a:latin typeface="Calibri"/>
                        </a:rPr>
                        <a:t>6.5.5.1.</a:t>
                      </a:r>
                      <a:r>
                        <a:rPr sz="700" b="0" i="1">
                          <a:solidFill>
                            <a:srgbClr val="000000"/>
                          </a:solidFill>
                          <a:latin typeface="Times New Roman"/>
                        </a:rPr>
                        <a:t>    </a:t>
                      </a:r>
                      <a:r>
                        <a:rPr sz="1100" b="0" i="1">
                          <a:solidFill>
                            <a:srgbClr val="000000"/>
                          </a:solidFill>
                          <a:latin typeface="Calibri"/>
                        </a:rPr>
                        <a:t>Germany</a:t>
                      </a:r>
                      <a:endParaRPr sz="1100"/>
                    </a:p>
                  </a:txBody>
                  <a:tcPr marL="1028700" marR="9525" marT="9525" marB="0" anchor="ctr"/>
                </a:tc>
              </a:tr>
              <a:tr h="175260">
                <a:tc>
                  <a:txBody>
                    <a:bodyPr wrap="square"/>
                    <a:lstStyle/>
                    <a:p>
                      <a:pPr algn="l"/>
                      <a:r>
                        <a:rPr sz="1100" b="0" i="1">
                          <a:solidFill>
                            <a:srgbClr val="000000"/>
                          </a:solidFill>
                          <a:latin typeface="Calibri"/>
                        </a:rPr>
                        <a:t>6.5.5.2.</a:t>
                      </a:r>
                      <a:r>
                        <a:rPr sz="700" b="0" i="1">
                          <a:solidFill>
                            <a:srgbClr val="000000"/>
                          </a:solidFill>
                          <a:latin typeface="Times New Roman"/>
                        </a:rPr>
                        <a:t>    </a:t>
                      </a:r>
                      <a:r>
                        <a:rPr sz="1100" b="0" i="1">
                          <a:solidFill>
                            <a:srgbClr val="000000"/>
                          </a:solidFill>
                          <a:latin typeface="Calibri"/>
                        </a:rPr>
                        <a:t>U.K.</a:t>
                      </a:r>
                      <a:endParaRPr sz="1100"/>
                    </a:p>
                  </a:txBody>
                  <a:tcPr marL="1028700" marR="9525" marT="9525" marB="0" anchor="ctr"/>
                </a:tc>
              </a:tr>
              <a:tr h="175260">
                <a:tc>
                  <a:txBody>
                    <a:bodyPr wrap="square"/>
                    <a:lstStyle/>
                    <a:p>
                      <a:pPr algn="l"/>
                      <a:r>
                        <a:rPr sz="1100" b="0" i="1">
                          <a:solidFill>
                            <a:srgbClr val="000000"/>
                          </a:solidFill>
                          <a:latin typeface="Calibri"/>
                        </a:rPr>
                        <a:t>6.5.5.3.</a:t>
                      </a:r>
                      <a:r>
                        <a:rPr sz="700" b="0" i="1">
                          <a:solidFill>
                            <a:srgbClr val="000000"/>
                          </a:solidFill>
                          <a:latin typeface="Times New Roman"/>
                        </a:rPr>
                        <a:t>    </a:t>
                      </a:r>
                      <a:r>
                        <a:rPr sz="1100" b="0" i="1">
                          <a:solidFill>
                            <a:srgbClr val="000000"/>
                          </a:solidFill>
                          <a:latin typeface="Calibri"/>
                        </a:rPr>
                        <a:t>France</a:t>
                      </a:r>
                      <a:endParaRPr sz="1100"/>
                    </a:p>
                  </a:txBody>
                  <a:tcPr marL="1028700" marR="9525" marT="9525" marB="0" anchor="ctr"/>
                </a:tc>
              </a:tr>
              <a:tr h="175260">
                <a:tc>
                  <a:txBody>
                    <a:bodyPr wrap="square"/>
                    <a:lstStyle/>
                    <a:p>
                      <a:pPr algn="l"/>
                      <a:r>
                        <a:rPr sz="1100" b="0" i="1">
                          <a:solidFill>
                            <a:srgbClr val="000000"/>
                          </a:solidFill>
                          <a:latin typeface="Calibri"/>
                        </a:rPr>
                        <a:t>6.5.5.4.</a:t>
                      </a:r>
                      <a:r>
                        <a:rPr sz="700" b="0" i="1">
                          <a:solidFill>
                            <a:srgbClr val="000000"/>
                          </a:solidFill>
                          <a:latin typeface="Times New Roman"/>
                        </a:rPr>
                        <a:t>    </a:t>
                      </a:r>
                      <a:r>
                        <a:rPr sz="1100" b="0" i="1">
                          <a:solidFill>
                            <a:srgbClr val="000000"/>
                          </a:solidFill>
                          <a:latin typeface="Calibri"/>
                        </a:rPr>
                        <a:t>Italy</a:t>
                      </a:r>
                      <a:endParaRPr sz="1100"/>
                    </a:p>
                  </a:txBody>
                  <a:tcPr marL="1028700" marR="9525" marT="9525" marB="0" anchor="ctr"/>
                </a:tc>
              </a:tr>
              <a:tr h="175260">
                <a:tc>
                  <a:txBody>
                    <a:bodyPr wrap="square"/>
                    <a:lstStyle/>
                    <a:p>
                      <a:pPr algn="l"/>
                      <a:r>
                        <a:rPr sz="1100" b="0" i="1">
                          <a:solidFill>
                            <a:srgbClr val="000000"/>
                          </a:solidFill>
                          <a:latin typeface="Calibri"/>
                        </a:rPr>
                        <a:t>6.5.5.5.</a:t>
                      </a:r>
                      <a:r>
                        <a:rPr sz="700" b="0" i="1">
                          <a:solidFill>
                            <a:srgbClr val="000000"/>
                          </a:solidFill>
                          <a:latin typeface="Times New Roman"/>
                        </a:rPr>
                        <a:t>    </a:t>
                      </a:r>
                      <a:r>
                        <a:rPr sz="1100" b="0" i="1">
                          <a:solidFill>
                            <a:srgbClr val="000000"/>
                          </a:solidFill>
                          <a:latin typeface="Calibri"/>
                        </a:rPr>
                        <a:t>Spain</a:t>
                      </a:r>
                      <a:endParaRPr sz="1100"/>
                    </a:p>
                  </a:txBody>
                  <a:tcPr marL="1028700" marR="9525" marT="9525" marB="0" anchor="ctr"/>
                </a:tc>
              </a:tr>
              <a:tr h="175260">
                <a:tc>
                  <a:txBody>
                    <a:bodyPr wrap="square"/>
                    <a:lstStyle/>
                    <a:p>
                      <a:pPr algn="l"/>
                      <a:r>
                        <a:rPr sz="1100" b="0" i="1">
                          <a:solidFill>
                            <a:srgbClr val="000000"/>
                          </a:solidFill>
                          <a:latin typeface="Calibri"/>
                        </a:rPr>
                        <a:t>6.5.5.6.</a:t>
                      </a:r>
                      <a:r>
                        <a:rPr sz="700" b="0" i="1">
                          <a:solidFill>
                            <a:srgbClr val="000000"/>
                          </a:solidFill>
                          <a:latin typeface="Times New Roman"/>
                        </a:rPr>
                        <a:t>    </a:t>
                      </a:r>
                      <a:r>
                        <a:rPr sz="1100" b="0" i="1">
                          <a:solidFill>
                            <a:srgbClr val="000000"/>
                          </a:solidFill>
                          <a:latin typeface="Calibri"/>
                        </a:rPr>
                        <a:t>Belgium</a:t>
                      </a:r>
                      <a:endParaRPr sz="1100"/>
                    </a:p>
                  </a:txBody>
                  <a:tcPr marL="1028700" marR="9525" marT="9525" marB="0" anchor="ctr"/>
                </a:tc>
              </a:tr>
              <a:tr h="175260">
                <a:tc>
                  <a:txBody>
                    <a:bodyPr wrap="square"/>
                    <a:lstStyle/>
                    <a:p>
                      <a:pPr algn="l"/>
                      <a:r>
                        <a:rPr sz="1100" b="0" i="1">
                          <a:solidFill>
                            <a:srgbClr val="000000"/>
                          </a:solidFill>
                          <a:latin typeface="Calibri"/>
                        </a:rPr>
                        <a:t>6.5.5.7.</a:t>
                      </a:r>
                      <a:r>
                        <a:rPr sz="700" b="0" i="1">
                          <a:solidFill>
                            <a:srgbClr val="000000"/>
                          </a:solidFill>
                          <a:latin typeface="Times New Roman"/>
                        </a:rPr>
                        <a:t>    </a:t>
                      </a:r>
                      <a:r>
                        <a:rPr sz="1100" b="0" i="1">
                          <a:solidFill>
                            <a:srgbClr val="000000"/>
                          </a:solidFill>
                          <a:latin typeface="Calibri"/>
                        </a:rPr>
                        <a:t>Netherlands</a:t>
                      </a:r>
                      <a:endParaRPr sz="1100"/>
                    </a:p>
                  </a:txBody>
                  <a:tcPr marL="1028700" marR="9525" marT="9525" marB="0" anchor="ctr"/>
                </a:tc>
              </a:tr>
              <a:tr h="175260">
                <a:tc>
                  <a:txBody>
                    <a:bodyPr wrap="square"/>
                    <a:lstStyle/>
                    <a:p>
                      <a:pPr algn="l"/>
                      <a:r>
                        <a:rPr sz="1100" b="0" i="1">
                          <a:solidFill>
                            <a:srgbClr val="000000"/>
                          </a:solidFill>
                          <a:latin typeface="Calibri"/>
                        </a:rPr>
                        <a:t>6.5.5.8.</a:t>
                      </a:r>
                      <a:r>
                        <a:rPr sz="700" b="0" i="1">
                          <a:solidFill>
                            <a:srgbClr val="000000"/>
                          </a:solidFill>
                          <a:latin typeface="Times New Roman"/>
                        </a:rPr>
                        <a:t>    </a:t>
                      </a:r>
                      <a:r>
                        <a:rPr sz="1100" b="0" i="1">
                          <a:solidFill>
                            <a:srgbClr val="000000"/>
                          </a:solidFill>
                          <a:latin typeface="Calibri"/>
                        </a:rPr>
                        <a:t>Nordic</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(4/6)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6.5.5.9.</a:t>
                      </a:r>
                      <a:r>
                        <a:rPr sz="700" b="0" i="1">
                          <a:solidFill>
                            <a:srgbClr val="000000"/>
                          </a:solidFill>
                          <a:latin typeface="Times New Roman"/>
                        </a:rPr>
                        <a:t>    </a:t>
                      </a:r>
                      <a:r>
                        <a:rPr sz="1100" b="0" i="1">
                          <a:solidFill>
                            <a:srgbClr val="000000"/>
                          </a:solidFill>
                          <a:latin typeface="Calibri"/>
                        </a:rPr>
                        <a:t>Russia</a:t>
                      </a:r>
                      <a:endParaRPr sz="1100"/>
                    </a:p>
                  </a:txBody>
                  <a:tcPr marL="1028700" marR="9525" marT="9525" marB="0" anchor="ctr"/>
                </a:tc>
              </a:tr>
              <a:tr h="175260">
                <a:tc>
                  <a:txBody>
                    <a:bodyPr wrap="square"/>
                    <a:lstStyle/>
                    <a:p>
                      <a:pPr algn="l"/>
                      <a:r>
                        <a:rPr sz="1100" b="0" i="1">
                          <a:solidFill>
                            <a:srgbClr val="000000"/>
                          </a:solidFill>
                          <a:latin typeface="Calibri"/>
                        </a:rPr>
                        <a:t>6.5.5.10.</a:t>
                      </a:r>
                      <a:r>
                        <a:rPr sz="700" b="0" i="1">
                          <a:solidFill>
                            <a:srgbClr val="000000"/>
                          </a:solidFill>
                          <a:latin typeface="Times New Roman"/>
                        </a:rPr>
                        <a:t> </a:t>
                      </a:r>
                      <a:r>
                        <a:rPr sz="1100" b="0" i="1">
                          <a:solidFill>
                            <a:srgbClr val="000000"/>
                          </a:solidFill>
                          <a:latin typeface="Calibri"/>
                        </a:rPr>
                        <a:t>Poland</a:t>
                      </a:r>
                      <a:endParaRPr sz="1100"/>
                    </a:p>
                  </a:txBody>
                  <a:tcPr marL="1028700" marR="9525" marT="9525" marB="0" anchor="ctr"/>
                </a:tc>
              </a:tr>
              <a:tr h="175260">
                <a:tc>
                  <a:txBody>
                    <a:bodyPr wrap="square"/>
                    <a:lstStyle/>
                    <a:p>
                      <a:pPr algn="l"/>
                      <a:r>
                        <a:rPr sz="1100" b="0" i="1">
                          <a:solidFill>
                            <a:srgbClr val="000000"/>
                          </a:solidFill>
                          <a:latin typeface="Calibri"/>
                        </a:rPr>
                        <a:t>6.5.5.11.</a:t>
                      </a:r>
                      <a:r>
                        <a:rPr sz="700" b="0" i="1">
                          <a:solidFill>
                            <a:srgbClr val="000000"/>
                          </a:solidFill>
                          <a:latin typeface="Times New Roman"/>
                        </a:rPr>
                        <a:t> </a:t>
                      </a:r>
                      <a:r>
                        <a:rPr sz="1100" b="0" i="1">
                          <a:solidFill>
                            <a:srgbClr val="000000"/>
                          </a:solidFill>
                          <a:latin typeface="Calibri"/>
                        </a:rPr>
                        <a:t>Switzerland</a:t>
                      </a:r>
                      <a:endParaRPr sz="1100"/>
                    </a:p>
                  </a:txBody>
                  <a:tcPr marL="1028700" marR="9525" marT="9525" marB="0" anchor="ctr"/>
                </a:tc>
              </a:tr>
              <a:tr h="175260">
                <a:tc>
                  <a:txBody>
                    <a:bodyPr wrap="square"/>
                    <a:lstStyle/>
                    <a:p>
                      <a:pPr algn="l"/>
                      <a:r>
                        <a:rPr sz="1100" b="0" i="1">
                          <a:solidFill>
                            <a:srgbClr val="000000"/>
                          </a:solidFill>
                          <a:latin typeface="Calibri"/>
                        </a:rPr>
                        <a:t>6.5.5.12.</a:t>
                      </a:r>
                      <a:r>
                        <a:rPr sz="700" b="0" i="1">
                          <a:solidFill>
                            <a:srgbClr val="000000"/>
                          </a:solidFill>
                          <a:latin typeface="Times New Roman"/>
                        </a:rPr>
                        <a:t> </a:t>
                      </a:r>
                      <a:r>
                        <a:rPr sz="1100" b="0" i="1">
                          <a:solidFill>
                            <a:srgbClr val="000000"/>
                          </a:solidFill>
                          <a:latin typeface="Calibri"/>
                        </a:rPr>
                        <a:t>Rest of Europe</a:t>
                      </a:r>
                      <a:endParaRPr sz="1100"/>
                    </a:p>
                  </a:txBody>
                  <a:tcPr marL="1028700" marR="9525" marT="9525" marB="0" anchor="ctr"/>
                </a:tc>
              </a:tr>
              <a:tr h="175260">
                <a:tc>
                  <a:txBody>
                    <a:bodyPr wrap="square"/>
                    <a:lstStyle/>
                    <a:p>
                      <a:pPr algn="l"/>
                      <a:r>
                        <a:rPr sz="1100" b="0" i="0">
                          <a:solidFill>
                            <a:srgbClr val="000000"/>
                          </a:solidFill>
                          <a:latin typeface="Calibri"/>
                        </a:rPr>
                        <a:t>6.5.6.</a:t>
                      </a:r>
                      <a:r>
                        <a:rPr sz="700" b="0" i="0">
                          <a:solidFill>
                            <a:srgbClr val="000000"/>
                          </a:solidFill>
                          <a:latin typeface="Times New Roman"/>
                        </a:rPr>
                        <a:t>   </a:t>
                      </a:r>
                      <a:r>
                        <a:rPr sz="1100" b="0" i="0">
                          <a:solidFill>
                            <a:srgbClr val="000000"/>
                          </a:solidFill>
                          <a:latin typeface="Calibri"/>
                        </a:rPr>
                        <a:t>Middle East &amp; Africa</a:t>
                      </a:r>
                      <a:endParaRPr sz="1100"/>
                    </a:p>
                  </a:txBody>
                  <a:tcPr marL="771525" marR="9525" marT="9525" marB="0" anchor="ctr"/>
                </a:tc>
              </a:tr>
              <a:tr h="175260">
                <a:tc>
                  <a:txBody>
                    <a:bodyPr wrap="square"/>
                    <a:lstStyle/>
                    <a:p>
                      <a:pPr algn="l"/>
                      <a:r>
                        <a:rPr sz="1100" b="0" i="1">
                          <a:solidFill>
                            <a:srgbClr val="000000"/>
                          </a:solidFill>
                          <a:latin typeface="Calibri"/>
                        </a:rPr>
                        <a:t>6.5.6.1.</a:t>
                      </a:r>
                      <a:r>
                        <a:rPr sz="700" b="0" i="1">
                          <a:solidFill>
                            <a:srgbClr val="000000"/>
                          </a:solidFill>
                          <a:latin typeface="Times New Roman"/>
                        </a:rPr>
                        <a:t>    </a:t>
                      </a:r>
                      <a:r>
                        <a:rPr sz="1100" b="0" i="1">
                          <a:solidFill>
                            <a:srgbClr val="000000"/>
                          </a:solidFill>
                          <a:latin typeface="Calibri"/>
                        </a:rPr>
                        <a:t>UAE</a:t>
                      </a:r>
                      <a:endParaRPr sz="1100"/>
                    </a:p>
                  </a:txBody>
                  <a:tcPr marL="1028700" marR="9525" marT="9525" marB="0" anchor="ctr"/>
                </a:tc>
              </a:tr>
              <a:tr h="175260">
                <a:tc>
                  <a:txBody>
                    <a:bodyPr wrap="square"/>
                    <a:lstStyle/>
                    <a:p>
                      <a:pPr algn="l"/>
                      <a:r>
                        <a:rPr sz="1100" b="0" i="1">
                          <a:solidFill>
                            <a:srgbClr val="000000"/>
                          </a:solidFill>
                          <a:latin typeface="Calibri"/>
                        </a:rPr>
                        <a:t>6.5.6.2.</a:t>
                      </a:r>
                      <a:r>
                        <a:rPr sz="700" b="0" i="1">
                          <a:solidFill>
                            <a:srgbClr val="000000"/>
                          </a:solidFill>
                          <a:latin typeface="Times New Roman"/>
                        </a:rPr>
                        <a:t>    </a:t>
                      </a:r>
                      <a:r>
                        <a:rPr sz="1100" b="0" i="1">
                          <a:solidFill>
                            <a:srgbClr val="000000"/>
                          </a:solidFill>
                          <a:latin typeface="Calibri"/>
                        </a:rPr>
                        <a:t>Saudi Arabia</a:t>
                      </a:r>
                      <a:endParaRPr sz="1100"/>
                    </a:p>
                  </a:txBody>
                  <a:tcPr marL="1028700" marR="9525" marT="9525" marB="0" anchor="ctr"/>
                </a:tc>
              </a:tr>
              <a:tr h="175260">
                <a:tc>
                  <a:txBody>
                    <a:bodyPr wrap="square"/>
                    <a:lstStyle/>
                    <a:p>
                      <a:pPr algn="l"/>
                      <a:r>
                        <a:rPr sz="1100" b="0" i="1">
                          <a:solidFill>
                            <a:srgbClr val="000000"/>
                          </a:solidFill>
                          <a:latin typeface="Calibri"/>
                        </a:rPr>
                        <a:t>6.5.6.3.</a:t>
                      </a:r>
                      <a:r>
                        <a:rPr sz="700" b="0" i="1">
                          <a:solidFill>
                            <a:srgbClr val="000000"/>
                          </a:solidFill>
                          <a:latin typeface="Times New Roman"/>
                        </a:rPr>
                        <a:t>    </a:t>
                      </a:r>
                      <a:r>
                        <a:rPr sz="1100" b="0" i="1">
                          <a:solidFill>
                            <a:srgbClr val="000000"/>
                          </a:solidFill>
                          <a:latin typeface="Calibri"/>
                        </a:rPr>
                        <a:t>Turkey</a:t>
                      </a:r>
                      <a:endParaRPr sz="1100"/>
                    </a:p>
                  </a:txBody>
                  <a:tcPr marL="1028700" marR="9525" marT="9525" marB="0" anchor="ctr"/>
                </a:tc>
              </a:tr>
              <a:tr h="175260">
                <a:tc>
                  <a:txBody>
                    <a:bodyPr wrap="square"/>
                    <a:lstStyle/>
                    <a:p>
                      <a:pPr algn="l"/>
                      <a:r>
                        <a:rPr sz="1100" b="0" i="1">
                          <a:solidFill>
                            <a:srgbClr val="000000"/>
                          </a:solidFill>
                          <a:latin typeface="Calibri"/>
                        </a:rPr>
                        <a:t>6.5.6.4.</a:t>
                      </a:r>
                      <a:r>
                        <a:rPr sz="700" b="0" i="1">
                          <a:solidFill>
                            <a:srgbClr val="000000"/>
                          </a:solidFill>
                          <a:latin typeface="Times New Roman"/>
                        </a:rPr>
                        <a:t>    </a:t>
                      </a:r>
                      <a:r>
                        <a:rPr sz="1100" b="0" i="1">
                          <a:solidFill>
                            <a:srgbClr val="000000"/>
                          </a:solidFill>
                          <a:latin typeface="Calibri"/>
                        </a:rPr>
                        <a:t>Israel</a:t>
                      </a:r>
                      <a:endParaRPr sz="1100"/>
                    </a:p>
                  </a:txBody>
                  <a:tcPr marL="1028700" marR="9525" marT="9525" marB="0" anchor="ctr"/>
                </a:tc>
              </a:tr>
              <a:tr h="175260">
                <a:tc>
                  <a:txBody>
                    <a:bodyPr wrap="square"/>
                    <a:lstStyle/>
                    <a:p>
                      <a:pPr algn="l"/>
                      <a:r>
                        <a:rPr sz="1100" b="0" i="1">
                          <a:solidFill>
                            <a:srgbClr val="000000"/>
                          </a:solidFill>
                          <a:latin typeface="Calibri"/>
                        </a:rPr>
                        <a:t>6.5.6.5.</a:t>
                      </a:r>
                      <a:r>
                        <a:rPr sz="700" b="0" i="1">
                          <a:solidFill>
                            <a:srgbClr val="000000"/>
                          </a:solidFill>
                          <a:latin typeface="Times New Roman"/>
                        </a:rPr>
                        <a:t>    </a:t>
                      </a:r>
                      <a:r>
                        <a:rPr sz="1100" b="0" i="1">
                          <a:solidFill>
                            <a:srgbClr val="000000"/>
                          </a:solidFill>
                          <a:latin typeface="Calibri"/>
                        </a:rPr>
                        <a:t>Rest of GCC</a:t>
                      </a:r>
                      <a:endParaRPr sz="1100"/>
                    </a:p>
                  </a:txBody>
                  <a:tcPr marL="1028700" marR="9525" marT="9525" marB="0" anchor="ctr"/>
                </a:tc>
              </a:tr>
              <a:tr h="175260">
                <a:tc>
                  <a:txBody>
                    <a:bodyPr wrap="square"/>
                    <a:lstStyle/>
                    <a:p>
                      <a:pPr algn="l"/>
                      <a:r>
                        <a:rPr sz="1100" b="0" i="1">
                          <a:solidFill>
                            <a:srgbClr val="000000"/>
                          </a:solidFill>
                          <a:latin typeface="Calibri"/>
                        </a:rPr>
                        <a:t>6.5.6.6.</a:t>
                      </a:r>
                      <a:r>
                        <a:rPr sz="700" b="0" i="1">
                          <a:solidFill>
                            <a:srgbClr val="000000"/>
                          </a:solidFill>
                          <a:latin typeface="Times New Roman"/>
                        </a:rPr>
                        <a:t>    </a:t>
                      </a:r>
                      <a:r>
                        <a:rPr sz="1100" b="0" i="1">
                          <a:solidFill>
                            <a:srgbClr val="000000"/>
                          </a:solidFill>
                          <a:latin typeface="Calibri"/>
                        </a:rPr>
                        <a:t>South Africa</a:t>
                      </a:r>
                      <a:endParaRPr sz="1100"/>
                    </a:p>
                  </a:txBody>
                  <a:tcPr marL="1028700" marR="9525" marT="9525" marB="0" anchor="ctr"/>
                </a:tc>
              </a:tr>
              <a:tr h="175260">
                <a:tc>
                  <a:txBody>
                    <a:bodyPr wrap="square"/>
                    <a:lstStyle/>
                    <a:p>
                      <a:pPr algn="l"/>
                      <a:r>
                        <a:rPr sz="1100" b="0" i="1">
                          <a:solidFill>
                            <a:srgbClr val="000000"/>
                          </a:solidFill>
                          <a:latin typeface="Calibri"/>
                        </a:rPr>
                        <a:t>6.5.6.7.</a:t>
                      </a:r>
                      <a:r>
                        <a:rPr sz="700" b="0" i="1">
                          <a:solidFill>
                            <a:srgbClr val="000000"/>
                          </a:solidFill>
                          <a:latin typeface="Times New Roman"/>
                        </a:rPr>
                        <a:t>    </a:t>
                      </a:r>
                      <a:r>
                        <a:rPr sz="1100" b="0" i="1">
                          <a:solidFill>
                            <a:srgbClr val="000000"/>
                          </a:solidFill>
                          <a:latin typeface="Calibri"/>
                        </a:rPr>
                        <a:t>Rest if MEA</a:t>
                      </a:r>
                      <a:endParaRPr sz="1100"/>
                    </a:p>
                  </a:txBody>
                  <a:tcPr marL="1028700" marR="9525" marT="9525" marB="0" anchor="ctr"/>
                </a:tc>
              </a:tr>
              <a:tr h="350520">
                <a:tc>
                  <a:txBody>
                    <a:bodyPr wrap="square"/>
                    <a:lstStyle/>
                    <a:p>
                      <a:pPr algn="l"/>
                      <a:r>
                        <a:rPr sz="1100" b="0" i="1">
                          <a:solidFill>
                            <a:srgbClr val="EE0000"/>
                          </a:solidFill>
                          <a:latin typeface="Calibri"/>
                        </a:rPr>
                        <a:t>Note: Value &amp; Volume (US$ Mn / UNITS) for all segments will be provided for each region/ Country</a:t>
                      </a:r>
                      <a:endParaRPr sz="1100"/>
                    </a:p>
                  </a:txBody>
                  <a:tcPr marL="9525" marR="9525" marT="9525" marB="0" anchor="ctr"/>
                </a:tc>
              </a:tr>
              <a:tr h="175260">
                <a:tc>
                  <a:txBody>
                    <a:bodyPr wrap="square"/>
                    <a:lstStyle/>
                    <a:p>
                      <a:pPr algn="l"/>
                      <a:r>
                        <a:rPr sz="1100" b="1" i="0">
                          <a:solidFill>
                            <a:srgbClr val="000000"/>
                          </a:solidFill>
                          <a:latin typeface="Calibri"/>
                        </a:rPr>
                        <a:t>7.</a:t>
                      </a:r>
                      <a:r>
                        <a:rPr sz="700" b="1" i="0">
                          <a:solidFill>
                            <a:srgbClr val="000000"/>
                          </a:solidFill>
                          <a:latin typeface="Times New Roman"/>
                        </a:rPr>
                        <a:t>       </a:t>
                      </a:r>
                      <a:r>
                        <a:rPr sz="1100" b="1" i="0">
                          <a:solidFill>
                            <a:srgbClr val="000000"/>
                          </a:solidFill>
                          <a:latin typeface="Calibri"/>
                        </a:rPr>
                        <a:t>Cross-sectional Assessment</a:t>
                      </a:r>
                      <a:endParaRPr sz="1100"/>
                    </a:p>
                  </a:txBody>
                  <a:tcPr marL="171450" marR="9525" marT="9525" marB="0" anchor="ctr"/>
                </a:tc>
              </a:tr>
              <a:tr h="175260">
                <a:tc>
                  <a:txBody>
                    <a:bodyPr wrap="square"/>
                    <a:lstStyle/>
                    <a:p>
                      <a:pPr algn="l"/>
                      <a:r>
                        <a:rPr sz="1100" b="0" i="0">
                          <a:solidFill>
                            <a:srgbClr val="0070C0"/>
                          </a:solidFill>
                          <a:latin typeface="Calibri"/>
                        </a:rPr>
                        <a:t>7.1.</a:t>
                      </a:r>
                      <a:r>
                        <a:rPr sz="700" b="0" i="0">
                          <a:solidFill>
                            <a:srgbClr val="0070C0"/>
                          </a:solidFill>
                          <a:latin typeface="Times New Roman"/>
                        </a:rPr>
                        <a:t>    </a:t>
                      </a:r>
                      <a:r>
                        <a:rPr sz="1100" b="0" i="0">
                          <a:solidFill>
                            <a:srgbClr val="0070C0"/>
                          </a:solidFill>
                          <a:latin typeface="Calibri"/>
                        </a:rPr>
                        <a:t>Product Type × End-Use Industry</a:t>
                      </a:r>
                      <a:endParaRPr sz="1100"/>
                    </a:p>
                  </a:txBody>
                  <a:tcPr marL="428625" marR="9525" marT="9525" marB="0" anchor="ctr"/>
                </a:tc>
              </a:tr>
              <a:tr h="175260">
                <a:tc>
                  <a:txBody>
                    <a:bodyPr wrap="square"/>
                    <a:lstStyle/>
                    <a:p>
                      <a:pPr algn="l"/>
                      <a:r>
                        <a:rPr sz="1100" b="0" i="0">
                          <a:solidFill>
                            <a:srgbClr val="0070C0"/>
                          </a:solidFill>
                          <a:latin typeface="Calibri"/>
                        </a:rPr>
                        <a:t>7.2.</a:t>
                      </a:r>
                      <a:r>
                        <a:rPr sz="700" b="0" i="0">
                          <a:solidFill>
                            <a:srgbClr val="0070C0"/>
                          </a:solidFill>
                          <a:latin typeface="Times New Roman"/>
                        </a:rPr>
                        <a:t>    </a:t>
                      </a:r>
                      <a:r>
                        <a:rPr sz="1100" b="0" i="0">
                          <a:solidFill>
                            <a:srgbClr val="0070C0"/>
                          </a:solidFill>
                          <a:latin typeface="Calibri"/>
                        </a:rPr>
                        <a:t>End-Use Industry × Material</a:t>
                      </a:r>
                      <a:endParaRPr sz="1100"/>
                    </a:p>
                  </a:txBody>
                  <a:tcPr marL="428625" marR="9525" marT="9525" marB="0" anchor="ctr"/>
                </a:tc>
              </a:tr>
              <a:tr h="175260">
                <a:tc>
                  <a:txBody>
                    <a:bodyPr wrap="square"/>
                    <a:lstStyle/>
                    <a:p>
                      <a:pPr algn="l"/>
                      <a:r>
                        <a:rPr sz="1100" b="0" i="1">
                          <a:solidFill>
                            <a:srgbClr val="EE0000"/>
                          </a:solidFill>
                          <a:latin typeface="Calibri"/>
                        </a:rPr>
                        <a:t>Note: Cross Sectional Assessment shall be provided on custom request</a:t>
                      </a:r>
                      <a:endParaRPr sz="1100"/>
                    </a:p>
                  </a:txBody>
                  <a:tcPr marL="9525" marR="9525" marT="9525" marB="0" anchor="ctr"/>
                </a:tc>
              </a:tr>
              <a:tr h="175260">
                <a:tc>
                  <a:txBody>
                    <a:bodyPr wrap="square"/>
                    <a:lstStyle/>
                    <a:p>
                      <a:pPr algn="l"/>
                      <a:r>
                        <a:rPr sz="1100" b="1" i="0">
                          <a:solidFill>
                            <a:srgbClr val="000000"/>
                          </a:solidFill>
                          <a:latin typeface="Calibri"/>
                        </a:rPr>
                        <a:t>Section 2: Regional and Country Market Outlook</a:t>
                      </a:r>
                      <a:endParaRPr sz="1100"/>
                    </a:p>
                  </a:txBody>
                  <a:tcPr marL="9525" marR="9525" marT="9525" marB="0" anchor="ctr"/>
                </a:tc>
              </a:tr>
              <a:tr h="175260">
                <a:tc>
                  <a:txBody>
                    <a:bodyPr wrap="square"/>
                    <a:lstStyle/>
                    <a:p>
                      <a:pPr algn="l"/>
                      <a:r>
                        <a:rPr sz="1100" b="1" i="0">
                          <a:solidFill>
                            <a:srgbClr val="000000"/>
                          </a:solidFill>
                          <a:latin typeface="Calibri"/>
                        </a:rPr>
                        <a:t>8.</a:t>
                      </a:r>
                      <a:r>
                        <a:rPr sz="700" b="1" i="0">
                          <a:solidFill>
                            <a:srgbClr val="000000"/>
                          </a:solidFill>
                          <a:latin typeface="Times New Roman"/>
                        </a:rPr>
                        <a:t>       </a:t>
                      </a:r>
                      <a:r>
                        <a:rPr sz="1100" b="1" i="0">
                          <a:solidFill>
                            <a:srgbClr val="000000"/>
                          </a:solidFill>
                          <a:latin typeface="Calibri"/>
                        </a:rPr>
                        <a:t>North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8.1.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8.2.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8.3.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8.4.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8.4.1.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8.4.2.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8.4.3.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9.</a:t>
                      </a:r>
                      <a:r>
                        <a:rPr sz="700" b="1" i="0">
                          <a:solidFill>
                            <a:srgbClr val="000000"/>
                          </a:solidFill>
                          <a:latin typeface="Times New Roman"/>
                        </a:rPr>
                        <a:t>       </a:t>
                      </a:r>
                      <a:r>
                        <a:rPr sz="1100" b="1" i="0">
                          <a:solidFill>
                            <a:srgbClr val="000000"/>
                          </a:solidFill>
                          <a:latin typeface="Calibri"/>
                        </a:rPr>
                        <a:t>Latin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9.1.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9.2.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9.3.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9.4.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9.4.1.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9.4.2.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9.4.3.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10.</a:t>
                      </a:r>
                      <a:r>
                        <a:rPr sz="700" b="1" i="0">
                          <a:solidFill>
                            <a:srgbClr val="000000"/>
                          </a:solidFill>
                          <a:latin typeface="Times New Roman"/>
                        </a:rPr>
                        <a:t>    </a:t>
                      </a:r>
                      <a:r>
                        <a:rPr sz="1100" b="1" i="0">
                          <a:solidFill>
                            <a:srgbClr val="000000"/>
                          </a:solidFill>
                          <a:latin typeface="Calibri"/>
                        </a:rPr>
                        <a:t>Europe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10.1.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10.2.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10.3.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10.4.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10.4.1.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10.4.2.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10.4.3.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11.</a:t>
                      </a:r>
                      <a:r>
                        <a:rPr sz="700" b="1" i="0">
                          <a:solidFill>
                            <a:srgbClr val="000000"/>
                          </a:solidFill>
                          <a:latin typeface="Times New Roman"/>
                        </a:rPr>
                        <a:t>    </a:t>
                      </a:r>
                      <a:r>
                        <a:rPr sz="1100" b="1" i="0">
                          <a:solidFill>
                            <a:srgbClr val="000000"/>
                          </a:solidFill>
                          <a:latin typeface="Calibri"/>
                        </a:rPr>
                        <a:t>East Asia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11.1.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11.2.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11.3.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11.4.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11.4.1.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11.4.2.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11.4.3.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12.</a:t>
                      </a:r>
                      <a:r>
                        <a:rPr sz="700" b="1" i="0">
                          <a:solidFill>
                            <a:srgbClr val="000000"/>
                          </a:solidFill>
                          <a:latin typeface="Times New Roman"/>
                        </a:rPr>
                        <a:t>    </a:t>
                      </a:r>
                      <a:r>
                        <a:rPr sz="1100" b="1" i="0">
                          <a:solidFill>
                            <a:srgbClr val="000000"/>
                          </a:solidFill>
                          <a:latin typeface="Calibri"/>
                        </a:rPr>
                        <a:t>South Asia &amp; Pacific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12.4.1.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12.4.2.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12.4.3.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13.</a:t>
                      </a:r>
                      <a:r>
                        <a:rPr sz="700" b="1" i="0">
                          <a:solidFill>
                            <a:srgbClr val="000000"/>
                          </a:solidFill>
                          <a:latin typeface="Times New Roman"/>
                        </a:rPr>
                        <a:t>    </a:t>
                      </a:r>
                      <a:r>
                        <a:rPr sz="1100" b="1" i="0">
                          <a:solidFill>
                            <a:srgbClr val="000000"/>
                          </a:solidFill>
                          <a:latin typeface="Calibri"/>
                        </a:rPr>
                        <a:t>Middle East &amp; Africa Market Size (Value &amp; Volume) 2021–2036</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(5/6)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13.1.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13.2.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13.3.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13.4.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13.4.1.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13.4.2.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13.4.3.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Section 3: Pricing Assessment</a:t>
                      </a:r>
                      <a:endParaRPr sz="1100"/>
                    </a:p>
                  </a:txBody>
                  <a:tcPr marL="9525" marR="9525" marT="9525" marB="0" anchor="ctr"/>
                </a:tc>
              </a:tr>
              <a:tr h="175260">
                <a:tc>
                  <a:txBody>
                    <a:bodyPr wrap="square"/>
                    <a:lstStyle/>
                    <a:p>
                      <a:pPr algn="l"/>
                      <a:r>
                        <a:rPr sz="1100" b="1" i="0">
                          <a:solidFill>
                            <a:srgbClr val="000000"/>
                          </a:solidFill>
                          <a:latin typeface="Calibri"/>
                        </a:rPr>
                        <a:t>14.</a:t>
                      </a:r>
                      <a:r>
                        <a:rPr sz="700" b="1" i="0">
                          <a:solidFill>
                            <a:srgbClr val="000000"/>
                          </a:solidFill>
                          <a:latin typeface="Times New Roman"/>
                        </a:rPr>
                        <a:t>    </a:t>
                      </a:r>
                      <a:r>
                        <a:rPr sz="1100" b="1" i="0">
                          <a:solidFill>
                            <a:srgbClr val="000000"/>
                          </a:solidFill>
                          <a:latin typeface="Calibri"/>
                        </a:rPr>
                        <a:t>Global Pricing Analysis</a:t>
                      </a:r>
                      <a:endParaRPr sz="1100"/>
                    </a:p>
                  </a:txBody>
                  <a:tcPr marL="171450" marR="9525" marT="9525" marB="0" anchor="ctr"/>
                </a:tc>
              </a:tr>
              <a:tr h="175260">
                <a:tc>
                  <a:txBody>
                    <a:bodyPr wrap="square"/>
                    <a:lstStyle/>
                    <a:p>
                      <a:pPr algn="l"/>
                      <a:r>
                        <a:rPr sz="1100" b="0" i="0">
                          <a:solidFill>
                            <a:srgbClr val="0070C0"/>
                          </a:solidFill>
                          <a:latin typeface="Calibri"/>
                        </a:rPr>
                        <a:t>14.1.</a:t>
                      </a:r>
                      <a:r>
                        <a:rPr sz="700" b="0" i="0">
                          <a:solidFill>
                            <a:srgbClr val="0070C0"/>
                          </a:solidFill>
                          <a:latin typeface="Times New Roman"/>
                        </a:rPr>
                        <a:t>  </a:t>
                      </a:r>
                      <a:r>
                        <a:rPr sz="1100" b="0" i="0">
                          <a:solidFill>
                            <a:srgbClr val="0070C0"/>
                          </a:solidFill>
                          <a:latin typeface="Calibri"/>
                        </a:rPr>
                        <a:t>Regional Price Assessment</a:t>
                      </a:r>
                      <a:endParaRPr sz="1100"/>
                    </a:p>
                  </a:txBody>
                  <a:tcPr marL="428625" marR="9525" marT="9525" marB="0" anchor="ctr"/>
                </a:tc>
              </a:tr>
              <a:tr h="175260">
                <a:tc>
                  <a:txBody>
                    <a:bodyPr wrap="square"/>
                    <a:lstStyle/>
                    <a:p>
                      <a:pPr algn="l"/>
                      <a:r>
                        <a:rPr sz="1100" b="0" i="0">
                          <a:solidFill>
                            <a:srgbClr val="000000"/>
                          </a:solidFill>
                          <a:latin typeface="Calibri"/>
                        </a:rPr>
                        <a:t>14.1.1.</a:t>
                      </a:r>
                      <a:r>
                        <a:rPr sz="700" b="0" i="0">
                          <a:solidFill>
                            <a:srgbClr val="000000"/>
                          </a:solidFill>
                          <a:latin typeface="Times New Roman"/>
                        </a:rPr>
                        <a:t> </a:t>
                      </a:r>
                      <a:r>
                        <a:rPr sz="1100" b="0" i="0">
                          <a:solidFill>
                            <a:srgbClr val="000000"/>
                          </a:solidFill>
                          <a:latin typeface="Calibri"/>
                        </a:rPr>
                        <a:t>Manufacturer Level Pricing</a:t>
                      </a:r>
                      <a:endParaRPr sz="1100"/>
                    </a:p>
                  </a:txBody>
                  <a:tcPr marL="771525" marR="9525" marT="9525" marB="0" anchor="ctr"/>
                </a:tc>
              </a:tr>
              <a:tr h="175260">
                <a:tc>
                  <a:txBody>
                    <a:bodyPr wrap="square"/>
                    <a:lstStyle/>
                    <a:p>
                      <a:pPr algn="l"/>
                      <a:r>
                        <a:rPr sz="1100" b="0" i="0">
                          <a:solidFill>
                            <a:srgbClr val="000000"/>
                          </a:solidFill>
                          <a:latin typeface="Calibri"/>
                        </a:rPr>
                        <a:t>14.1.2.</a:t>
                      </a:r>
                      <a:r>
                        <a:rPr sz="700" b="0" i="0">
                          <a:solidFill>
                            <a:srgbClr val="000000"/>
                          </a:solidFill>
                          <a:latin typeface="Times New Roman"/>
                        </a:rPr>
                        <a:t> </a:t>
                      </a:r>
                      <a:r>
                        <a:rPr sz="1100" b="0" i="0">
                          <a:solidFill>
                            <a:srgbClr val="000000"/>
                          </a:solidFill>
                          <a:latin typeface="Calibri"/>
                        </a:rPr>
                        <a:t>Distributor Level Pricing</a:t>
                      </a:r>
                      <a:endParaRPr sz="1100"/>
                    </a:p>
                  </a:txBody>
                  <a:tcPr marL="771525" marR="9525" marT="9525" marB="0" anchor="ctr"/>
                </a:tc>
              </a:tr>
              <a:tr h="175260">
                <a:tc>
                  <a:txBody>
                    <a:bodyPr wrap="square"/>
                    <a:lstStyle/>
                    <a:p>
                      <a:pPr algn="l"/>
                      <a:r>
                        <a:rPr sz="1100" b="0" i="0">
                          <a:solidFill>
                            <a:srgbClr val="000000"/>
                          </a:solidFill>
                          <a:latin typeface="Calibri"/>
                        </a:rPr>
                        <a:t>14.1.3.</a:t>
                      </a:r>
                      <a:r>
                        <a:rPr sz="700" b="0" i="0">
                          <a:solidFill>
                            <a:srgbClr val="000000"/>
                          </a:solidFill>
                          <a:latin typeface="Times New Roman"/>
                        </a:rPr>
                        <a:t> </a:t>
                      </a:r>
                      <a:r>
                        <a:rPr sz="1100" b="0" i="0">
                          <a:solidFill>
                            <a:srgbClr val="000000"/>
                          </a:solidFill>
                          <a:latin typeface="Calibri"/>
                        </a:rPr>
                        <a:t>Retail Pricing (where applicable)</a:t>
                      </a:r>
                      <a:endParaRPr sz="1100"/>
                    </a:p>
                  </a:txBody>
                  <a:tcPr marL="771525" marR="9525" marT="9525" marB="0" anchor="ctr"/>
                </a:tc>
              </a:tr>
              <a:tr h="175260">
                <a:tc>
                  <a:txBody>
                    <a:bodyPr wrap="square"/>
                    <a:lstStyle/>
                    <a:p>
                      <a:pPr algn="l"/>
                      <a:r>
                        <a:rPr sz="1100" b="0" i="0">
                          <a:solidFill>
                            <a:srgbClr val="0070C0"/>
                          </a:solidFill>
                          <a:latin typeface="Calibri"/>
                        </a:rPr>
                        <a:t>14.2.</a:t>
                      </a:r>
                      <a:r>
                        <a:rPr sz="700" b="0" i="0">
                          <a:solidFill>
                            <a:srgbClr val="0070C0"/>
                          </a:solidFill>
                          <a:latin typeface="Times New Roman"/>
                        </a:rPr>
                        <a:t>  </a:t>
                      </a:r>
                      <a:r>
                        <a:rPr sz="1100" b="0" i="0">
                          <a:solidFill>
                            <a:srgbClr val="0070C0"/>
                          </a:solidFill>
                          <a:latin typeface="Calibri"/>
                        </a:rPr>
                        <a:t>Segment-wise Price Comparison (Product Type vs Material)</a:t>
                      </a:r>
                      <a:endParaRPr sz="1100"/>
                    </a:p>
                  </a:txBody>
                  <a:tcPr marL="428625" marR="9525" marT="9525" marB="0" anchor="ctr"/>
                </a:tc>
              </a:tr>
              <a:tr h="175260">
                <a:tc>
                  <a:txBody>
                    <a:bodyPr wrap="square"/>
                    <a:lstStyle/>
                    <a:p>
                      <a:pPr algn="l"/>
                      <a:r>
                        <a:rPr sz="1100" b="0" i="0">
                          <a:solidFill>
                            <a:srgbClr val="0070C0"/>
                          </a:solidFill>
                          <a:latin typeface="Calibri"/>
                        </a:rPr>
                        <a:t>14.3.</a:t>
                      </a:r>
                      <a:r>
                        <a:rPr sz="700" b="0" i="0">
                          <a:solidFill>
                            <a:srgbClr val="0070C0"/>
                          </a:solidFill>
                          <a:latin typeface="Times New Roman"/>
                        </a:rPr>
                        <a:t>  </a:t>
                      </a:r>
                      <a:r>
                        <a:rPr sz="1100" b="0" i="0">
                          <a:solidFill>
                            <a:srgbClr val="0070C0"/>
                          </a:solidFill>
                          <a:latin typeface="Calibri"/>
                        </a:rPr>
                        <a:t>Country-wise Price Comparison (Product Type)</a:t>
                      </a:r>
                      <a:endParaRPr sz="1100"/>
                    </a:p>
                  </a:txBody>
                  <a:tcPr marL="428625" marR="9525" marT="9525" marB="0" anchor="ctr"/>
                </a:tc>
              </a:tr>
              <a:tr h="175260">
                <a:tc>
                  <a:txBody>
                    <a:bodyPr wrap="square"/>
                    <a:lstStyle/>
                    <a:p>
                      <a:pPr algn="l"/>
                      <a:r>
                        <a:rPr sz="1100" b="0" i="0">
                          <a:solidFill>
                            <a:srgbClr val="0070C0"/>
                          </a:solidFill>
                          <a:latin typeface="Calibri"/>
                        </a:rPr>
                        <a:t>14.4.</a:t>
                      </a:r>
                      <a:r>
                        <a:rPr sz="700" b="0" i="0">
                          <a:solidFill>
                            <a:srgbClr val="0070C0"/>
                          </a:solidFill>
                          <a:latin typeface="Times New Roman"/>
                        </a:rPr>
                        <a:t>  </a:t>
                      </a:r>
                      <a:r>
                        <a:rPr sz="1100" b="0" i="0">
                          <a:solidFill>
                            <a:srgbClr val="0070C0"/>
                          </a:solidFill>
                          <a:latin typeface="Calibri"/>
                        </a:rPr>
                        <a:t>Price Forecast till 2036</a:t>
                      </a:r>
                      <a:endParaRPr sz="1100"/>
                    </a:p>
                  </a:txBody>
                  <a:tcPr marL="428625" marR="9525" marT="9525" marB="0" anchor="ctr"/>
                </a:tc>
              </a:tr>
              <a:tr h="175260">
                <a:tc>
                  <a:txBody>
                    <a:bodyPr wrap="square"/>
                    <a:lstStyle/>
                    <a:p>
                      <a:pPr algn="l"/>
                      <a:r>
                        <a:rPr sz="1100" b="0" i="0">
                          <a:solidFill>
                            <a:srgbClr val="0070C0"/>
                          </a:solidFill>
                          <a:latin typeface="Calibri"/>
                        </a:rPr>
                        <a:t>14.5.</a:t>
                      </a:r>
                      <a:r>
                        <a:rPr sz="700" b="0" i="0">
                          <a:solidFill>
                            <a:srgbClr val="0070C0"/>
                          </a:solidFill>
                          <a:latin typeface="Times New Roman"/>
                        </a:rPr>
                        <a:t>  </a:t>
                      </a:r>
                      <a:r>
                        <a:rPr sz="1100" b="0" i="0">
                          <a:solidFill>
                            <a:srgbClr val="0070C0"/>
                          </a:solidFill>
                          <a:latin typeface="Calibri"/>
                        </a:rPr>
                        <a:t>Factors Impacting Pricing</a:t>
                      </a:r>
                      <a:endParaRPr sz="1100"/>
                    </a:p>
                  </a:txBody>
                  <a:tcPr marL="428625" marR="9525" marT="9525" marB="0" anchor="ctr"/>
                </a:tc>
              </a:tr>
              <a:tr h="175260">
                <a:tc>
                  <a:txBody>
                    <a:bodyPr wrap="square"/>
                    <a:lstStyle/>
                    <a:p>
                      <a:pPr algn="l"/>
                      <a:r>
                        <a:rPr sz="1100" b="0" i="0">
                          <a:solidFill>
                            <a:srgbClr val="0070C0"/>
                          </a:solidFill>
                          <a:latin typeface="Calibri"/>
                        </a:rPr>
                        <a:t>14.6.</a:t>
                      </a:r>
                      <a:r>
                        <a:rPr sz="700" b="0" i="0">
                          <a:solidFill>
                            <a:srgbClr val="0070C0"/>
                          </a:solidFill>
                          <a:latin typeface="Times New Roman"/>
                        </a:rPr>
                        <a:t>  </a:t>
                      </a:r>
                      <a:r>
                        <a:rPr sz="1100" b="0" i="0">
                          <a:solidFill>
                            <a:srgbClr val="0070C0"/>
                          </a:solidFill>
                          <a:latin typeface="Calibri"/>
                        </a:rPr>
                        <a:t>Competitor Pricing Strategies</a:t>
                      </a:r>
                      <a:endParaRPr sz="1100"/>
                    </a:p>
                  </a:txBody>
                  <a:tcPr marL="428625" marR="9525" marT="9525" marB="0" anchor="ctr"/>
                </a:tc>
              </a:tr>
              <a:tr h="175260">
                <a:tc>
                  <a:txBody>
                    <a:bodyPr wrap="square"/>
                    <a:lstStyle/>
                    <a:p>
                      <a:pPr algn="l"/>
                      <a:r>
                        <a:rPr sz="1100" b="1" i="0">
                          <a:solidFill>
                            <a:srgbClr val="000000"/>
                          </a:solidFill>
                          <a:latin typeface="Calibri"/>
                        </a:rPr>
                        <a:t>Section 4: Market Dynamics</a:t>
                      </a:r>
                      <a:endParaRPr sz="1100"/>
                    </a:p>
                  </a:txBody>
                  <a:tcPr marL="9525" marR="9525" marT="9525" marB="0" anchor="ctr"/>
                </a:tc>
              </a:tr>
              <a:tr h="175260">
                <a:tc>
                  <a:txBody>
                    <a:bodyPr wrap="square"/>
                    <a:lstStyle/>
                    <a:p>
                      <a:pPr algn="l"/>
                      <a:r>
                        <a:rPr sz="1100" b="1" i="0">
                          <a:solidFill>
                            <a:srgbClr val="000000"/>
                          </a:solidFill>
                          <a:latin typeface="Calibri"/>
                        </a:rPr>
                        <a:t>15.</a:t>
                      </a:r>
                      <a:r>
                        <a:rPr sz="700" b="1" i="0">
                          <a:solidFill>
                            <a:srgbClr val="000000"/>
                          </a:solidFill>
                          <a:latin typeface="Times New Roman"/>
                        </a:rPr>
                        <a:t>    </a:t>
                      </a:r>
                      <a:r>
                        <a:rPr sz="1100" b="1" i="0">
                          <a:solidFill>
                            <a:srgbClr val="000000"/>
                          </a:solidFill>
                          <a:latin typeface="Calibri"/>
                        </a:rPr>
                        <a:t>Innovation Tracker</a:t>
                      </a:r>
                      <a:endParaRPr sz="1100"/>
                    </a:p>
                  </a:txBody>
                  <a:tcPr marL="171450" marR="9525" marT="9525" marB="0" anchor="ctr"/>
                </a:tc>
              </a:tr>
              <a:tr h="175260">
                <a:tc>
                  <a:txBody>
                    <a:bodyPr wrap="square"/>
                    <a:lstStyle/>
                    <a:p>
                      <a:pPr algn="l"/>
                      <a:r>
                        <a:rPr sz="1100" b="0" i="0">
                          <a:solidFill>
                            <a:srgbClr val="0070C0"/>
                          </a:solidFill>
                          <a:latin typeface="Calibri"/>
                        </a:rPr>
                        <a:t>15.1.</a:t>
                      </a:r>
                      <a:r>
                        <a:rPr sz="700" b="0" i="0">
                          <a:solidFill>
                            <a:srgbClr val="0070C0"/>
                          </a:solidFill>
                          <a:latin typeface="Times New Roman"/>
                        </a:rPr>
                        <a:t>  </a:t>
                      </a:r>
                      <a:r>
                        <a:rPr sz="1100" b="0" i="0">
                          <a:solidFill>
                            <a:srgbClr val="0070C0"/>
                          </a:solidFill>
                          <a:latin typeface="Calibri"/>
                        </a:rPr>
                        <a:t>Major Deals and Strategic Alliance</a:t>
                      </a:r>
                      <a:endParaRPr sz="1100"/>
                    </a:p>
                  </a:txBody>
                  <a:tcPr marL="428625" marR="9525" marT="9525" marB="0" anchor="ctr"/>
                </a:tc>
              </a:tr>
              <a:tr h="175260">
                <a:tc>
                  <a:txBody>
                    <a:bodyPr wrap="square"/>
                    <a:lstStyle/>
                    <a:p>
                      <a:pPr algn="l"/>
                      <a:r>
                        <a:rPr sz="1100" b="0" i="0">
                          <a:solidFill>
                            <a:srgbClr val="000000"/>
                          </a:solidFill>
                          <a:latin typeface="Calibri"/>
                        </a:rPr>
                        <a:t>15.1.1.</a:t>
                      </a:r>
                      <a:r>
                        <a:rPr sz="700" b="0" i="0">
                          <a:solidFill>
                            <a:srgbClr val="000000"/>
                          </a:solidFill>
                          <a:latin typeface="Times New Roman"/>
                        </a:rPr>
                        <a:t> </a:t>
                      </a:r>
                      <a:r>
                        <a:rPr sz="1100" b="0" i="0">
                          <a:solidFill>
                            <a:srgbClr val="000000"/>
                          </a:solidFill>
                          <a:latin typeface="Calibri"/>
                        </a:rPr>
                        <a:t>Joint Ventures, M&amp;A, Licensing &amp; Partnerships</a:t>
                      </a:r>
                      <a:endParaRPr sz="1100"/>
                    </a:p>
                  </a:txBody>
                  <a:tcPr marL="771525" marR="9525" marT="9525" marB="0" anchor="ctr"/>
                </a:tc>
              </a:tr>
              <a:tr h="175260">
                <a:tc>
                  <a:txBody>
                    <a:bodyPr wrap="square"/>
                    <a:lstStyle/>
                    <a:p>
                      <a:pPr algn="l"/>
                      <a:r>
                        <a:rPr sz="1100" b="0" i="0">
                          <a:solidFill>
                            <a:srgbClr val="000000"/>
                          </a:solidFill>
                          <a:latin typeface="Calibri"/>
                        </a:rPr>
                        <a:t>15.1.2.</a:t>
                      </a:r>
                      <a:r>
                        <a:rPr sz="700" b="0" i="0">
                          <a:solidFill>
                            <a:srgbClr val="000000"/>
                          </a:solidFill>
                          <a:latin typeface="Times New Roman"/>
                        </a:rPr>
                        <a:t> </a:t>
                      </a:r>
                      <a:r>
                        <a:rPr sz="1100" b="0" i="0">
                          <a:solidFill>
                            <a:srgbClr val="000000"/>
                          </a:solidFill>
                          <a:latin typeface="Calibri"/>
                        </a:rPr>
                        <a:t>Technology Collaboration</a:t>
                      </a:r>
                      <a:endParaRPr sz="1100"/>
                    </a:p>
                  </a:txBody>
                  <a:tcPr marL="771525" marR="9525" marT="9525" marB="0" anchor="ctr"/>
                </a:tc>
              </a:tr>
              <a:tr h="175260">
                <a:tc>
                  <a:txBody>
                    <a:bodyPr wrap="square"/>
                    <a:lstStyle/>
                    <a:p>
                      <a:pPr algn="l"/>
                      <a:r>
                        <a:rPr sz="1100" b="0" i="0">
                          <a:solidFill>
                            <a:srgbClr val="000000"/>
                          </a:solidFill>
                          <a:latin typeface="Calibri"/>
                        </a:rPr>
                        <a:t>15.1.3.</a:t>
                      </a:r>
                      <a:r>
                        <a:rPr sz="700" b="0" i="0">
                          <a:solidFill>
                            <a:srgbClr val="000000"/>
                          </a:solidFill>
                          <a:latin typeface="Times New Roman"/>
                        </a:rPr>
                        <a:t> </a:t>
                      </a:r>
                      <a:r>
                        <a:rPr sz="1100" b="0" i="0">
                          <a:solidFill>
                            <a:srgbClr val="000000"/>
                          </a:solidFill>
                          <a:latin typeface="Calibri"/>
                        </a:rPr>
                        <a:t>Strategic Divestments/ Investments</a:t>
                      </a:r>
                      <a:endParaRPr sz="1100"/>
                    </a:p>
                  </a:txBody>
                  <a:tcPr marL="771525" marR="9525" marT="9525" marB="0" anchor="ctr"/>
                </a:tc>
              </a:tr>
              <a:tr h="175260">
                <a:tc>
                  <a:txBody>
                    <a:bodyPr wrap="square"/>
                    <a:lstStyle/>
                    <a:p>
                      <a:pPr algn="l"/>
                      <a:r>
                        <a:rPr sz="1100" b="0" i="0">
                          <a:solidFill>
                            <a:srgbClr val="0070C0"/>
                          </a:solidFill>
                          <a:latin typeface="Calibri"/>
                        </a:rPr>
                        <a:t>15.2.</a:t>
                      </a:r>
                      <a:r>
                        <a:rPr sz="700" b="0" i="0">
                          <a:solidFill>
                            <a:srgbClr val="0070C0"/>
                          </a:solidFill>
                          <a:latin typeface="Times New Roman"/>
                        </a:rPr>
                        <a:t>  </a:t>
                      </a:r>
                      <a:r>
                        <a:rPr sz="1100" b="0" i="0">
                          <a:solidFill>
                            <a:srgbClr val="0070C0"/>
                          </a:solidFill>
                          <a:latin typeface="Calibri"/>
                        </a:rPr>
                        <a:t>Product Launches &amp; Development</a:t>
                      </a:r>
                      <a:endParaRPr sz="1100"/>
                    </a:p>
                  </a:txBody>
                  <a:tcPr marL="428625" marR="9525" marT="9525" marB="0" anchor="ctr"/>
                </a:tc>
              </a:tr>
              <a:tr h="175260">
                <a:tc>
                  <a:txBody>
                    <a:bodyPr wrap="square"/>
                    <a:lstStyle/>
                    <a:p>
                      <a:pPr algn="l"/>
                      <a:r>
                        <a:rPr sz="1100" b="1" i="0">
                          <a:solidFill>
                            <a:srgbClr val="000000"/>
                          </a:solidFill>
                          <a:latin typeface="Calibri"/>
                        </a:rPr>
                        <a:t>16.</a:t>
                      </a:r>
                      <a:r>
                        <a:rPr sz="700" b="1" i="0">
                          <a:solidFill>
                            <a:srgbClr val="000000"/>
                          </a:solidFill>
                          <a:latin typeface="Times New Roman"/>
                        </a:rPr>
                        <a:t>    </a:t>
                      </a:r>
                      <a:r>
                        <a:rPr sz="1100" b="1" i="0">
                          <a:solidFill>
                            <a:srgbClr val="000000"/>
                          </a:solidFill>
                          <a:latin typeface="Calibri"/>
                        </a:rPr>
                        <a:t>Stakeholder Perspectives – Manufacturer, Customer &amp; Distributor Insights</a:t>
                      </a:r>
                      <a:endParaRPr sz="1100"/>
                    </a:p>
                  </a:txBody>
                  <a:tcPr marL="171450" marR="9525" marT="9525" marB="0" anchor="ctr"/>
                </a:tc>
              </a:tr>
              <a:tr h="175260">
                <a:tc>
                  <a:txBody>
                    <a:bodyPr wrap="square"/>
                    <a:lstStyle/>
                    <a:p>
                      <a:pPr algn="l"/>
                      <a:r>
                        <a:rPr sz="1100" b="0" i="0">
                          <a:solidFill>
                            <a:srgbClr val="0070C0"/>
                          </a:solidFill>
                          <a:latin typeface="Calibri"/>
                        </a:rPr>
                        <a:t>16.1.</a:t>
                      </a:r>
                      <a:r>
                        <a:rPr sz="700" b="0" i="0">
                          <a:solidFill>
                            <a:srgbClr val="0070C0"/>
                          </a:solidFill>
                          <a:latin typeface="Times New Roman"/>
                        </a:rPr>
                        <a:t>  </a:t>
                      </a:r>
                      <a:r>
                        <a:rPr sz="1100" b="0" i="0">
                          <a:solidFill>
                            <a:srgbClr val="0070C0"/>
                          </a:solidFill>
                          <a:latin typeface="Calibri"/>
                        </a:rPr>
                        <a:t>Stakeholder Insights</a:t>
                      </a:r>
                      <a:endParaRPr sz="1100"/>
                    </a:p>
                  </a:txBody>
                  <a:tcPr marL="428625" marR="9525" marT="9525" marB="0" anchor="ctr"/>
                </a:tc>
              </a:tr>
              <a:tr h="175260">
                <a:tc>
                  <a:txBody>
                    <a:bodyPr wrap="square"/>
                    <a:lstStyle/>
                    <a:p>
                      <a:pPr algn="l"/>
                      <a:r>
                        <a:rPr sz="1100" b="0" i="0">
                          <a:solidFill>
                            <a:srgbClr val="000000"/>
                          </a:solidFill>
                          <a:latin typeface="Calibri"/>
                        </a:rPr>
                        <a:t>16.1.1.</a:t>
                      </a:r>
                      <a:r>
                        <a:rPr sz="700" b="0" i="0">
                          <a:solidFill>
                            <a:srgbClr val="000000"/>
                          </a:solidFill>
                          <a:latin typeface="Times New Roman"/>
                        </a:rPr>
                        <a:t> </a:t>
                      </a:r>
                      <a:r>
                        <a:rPr sz="1100" b="0" i="0">
                          <a:solidFill>
                            <a:srgbClr val="000000"/>
                          </a:solidFill>
                          <a:latin typeface="Calibri"/>
                        </a:rPr>
                        <a:t>Manufacturers</a:t>
                      </a:r>
                      <a:endParaRPr sz="1100"/>
                    </a:p>
                  </a:txBody>
                  <a:tcPr marL="771525" marR="9525" marT="9525" marB="0" anchor="ctr"/>
                </a:tc>
              </a:tr>
              <a:tr h="175260">
                <a:tc>
                  <a:txBody>
                    <a:bodyPr wrap="square"/>
                    <a:lstStyle/>
                    <a:p>
                      <a:pPr algn="l"/>
                      <a:r>
                        <a:rPr sz="1100" b="0" i="0">
                          <a:solidFill>
                            <a:srgbClr val="000000"/>
                          </a:solidFill>
                          <a:latin typeface="Calibri"/>
                        </a:rPr>
                        <a:t>16.1.2.</a:t>
                      </a:r>
                      <a:r>
                        <a:rPr sz="700" b="0" i="0">
                          <a:solidFill>
                            <a:srgbClr val="000000"/>
                          </a:solidFill>
                          <a:latin typeface="Times New Roman"/>
                        </a:rPr>
                        <a:t> </a:t>
                      </a:r>
                      <a:r>
                        <a:rPr sz="1100" b="0" i="0">
                          <a:solidFill>
                            <a:srgbClr val="000000"/>
                          </a:solidFill>
                          <a:latin typeface="Calibri"/>
                        </a:rPr>
                        <a:t>Customers</a:t>
                      </a:r>
                      <a:endParaRPr sz="1100"/>
                    </a:p>
                  </a:txBody>
                  <a:tcPr marL="771525" marR="9525" marT="9525" marB="0" anchor="ctr"/>
                </a:tc>
              </a:tr>
              <a:tr h="175260">
                <a:tc>
                  <a:txBody>
                    <a:bodyPr wrap="square"/>
                    <a:lstStyle/>
                    <a:p>
                      <a:pPr algn="l"/>
                      <a:r>
                        <a:rPr sz="1100" b="0" i="0">
                          <a:solidFill>
                            <a:srgbClr val="000000"/>
                          </a:solidFill>
                          <a:latin typeface="Calibri"/>
                        </a:rPr>
                        <a:t>16.1.3.</a:t>
                      </a:r>
                      <a:r>
                        <a:rPr sz="700" b="0" i="0">
                          <a:solidFill>
                            <a:srgbClr val="000000"/>
                          </a:solidFill>
                          <a:latin typeface="Times New Roman"/>
                        </a:rPr>
                        <a:t> </a:t>
                      </a:r>
                      <a:r>
                        <a:rPr sz="1100" b="0" i="0">
                          <a:solidFill>
                            <a:srgbClr val="000000"/>
                          </a:solidFill>
                          <a:latin typeface="Calibri"/>
                        </a:rPr>
                        <a:t>Distributors</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16.2.</a:t>
                      </a:r>
                      <a:r>
                        <a:rPr sz="700" b="0" i="0">
                          <a:solidFill>
                            <a:srgbClr val="0070C0"/>
                          </a:solidFill>
                          <a:latin typeface="Times New Roman"/>
                        </a:rPr>
                        <a:t>  </a:t>
                      </a:r>
                      <a:r>
                        <a:rPr sz="1100" b="0" i="0">
                          <a:solidFill>
                            <a:srgbClr val="0070C0"/>
                          </a:solidFill>
                          <a:latin typeface="Calibri"/>
                        </a:rPr>
                        <a:t>Country- Level Market Drivers</a:t>
                      </a:r>
                      <a:endParaRPr sz="1100"/>
                    </a:p>
                  </a:txBody>
                  <a:tcPr marL="428625" marR="9525" marT="9525" marB="0" anchor="ctr"/>
                </a:tc>
              </a:tr>
              <a:tr h="175260">
                <a:tc>
                  <a:txBody>
                    <a:bodyPr wrap="square"/>
                    <a:lstStyle/>
                    <a:p>
                      <a:pPr algn="l"/>
                      <a:r>
                        <a:rPr sz="1100" b="0" i="0">
                          <a:solidFill>
                            <a:srgbClr val="000000"/>
                          </a:solidFill>
                          <a:latin typeface="Calibri"/>
                        </a:rPr>
                        <a:t>16.2.1.</a:t>
                      </a:r>
                      <a:r>
                        <a:rPr sz="700" b="0" i="0">
                          <a:solidFill>
                            <a:srgbClr val="000000"/>
                          </a:solidFill>
                          <a:latin typeface="Times New Roman"/>
                        </a:rPr>
                        <a:t> </a:t>
                      </a:r>
                      <a:r>
                        <a:rPr sz="1100" b="0" i="0">
                          <a:solidFill>
                            <a:srgbClr val="000000"/>
                          </a:solidFill>
                          <a:latin typeface="Calibri"/>
                        </a:rPr>
                        <a:t>Supply Side Drivers</a:t>
                      </a:r>
                      <a:endParaRPr sz="1100"/>
                    </a:p>
                  </a:txBody>
                  <a:tcPr marL="771525" marR="9525" marT="9525" marB="0" anchor="ctr"/>
                </a:tc>
              </a:tr>
              <a:tr h="175260">
                <a:tc>
                  <a:txBody>
                    <a:bodyPr wrap="square"/>
                    <a:lstStyle/>
                    <a:p>
                      <a:pPr algn="l"/>
                      <a:r>
                        <a:rPr sz="1100" b="0" i="0">
                          <a:solidFill>
                            <a:srgbClr val="000000"/>
                          </a:solidFill>
                          <a:latin typeface="Calibri"/>
                        </a:rPr>
                        <a:t>16.2.2.</a:t>
                      </a:r>
                      <a:r>
                        <a:rPr sz="700" b="0" i="0">
                          <a:solidFill>
                            <a:srgbClr val="000000"/>
                          </a:solidFill>
                          <a:latin typeface="Times New Roman"/>
                        </a:rPr>
                        <a:t> </a:t>
                      </a:r>
                      <a:r>
                        <a:rPr sz="1100" b="0" i="0">
                          <a:solidFill>
                            <a:srgbClr val="000000"/>
                          </a:solidFill>
                          <a:latin typeface="Calibri"/>
                        </a:rPr>
                        <a:t>Demand Side drivers</a:t>
                      </a:r>
                      <a:endParaRPr sz="1100"/>
                    </a:p>
                  </a:txBody>
                  <a:tcPr marL="771525" marR="9525" marT="9525" marB="0" anchor="ctr"/>
                </a:tc>
              </a:tr>
              <a:tr h="175260">
                <a:tc>
                  <a:txBody>
                    <a:bodyPr wrap="square"/>
                    <a:lstStyle/>
                    <a:p>
                      <a:pPr algn="l"/>
                      <a:r>
                        <a:rPr sz="1100" b="0" i="0">
                          <a:solidFill>
                            <a:srgbClr val="000000"/>
                          </a:solidFill>
                          <a:latin typeface="Calibri"/>
                        </a:rPr>
                        <a:t>16.2.3.</a:t>
                      </a:r>
                      <a:r>
                        <a:rPr sz="700" b="0" i="0">
                          <a:solidFill>
                            <a:srgbClr val="000000"/>
                          </a:solidFill>
                          <a:latin typeface="Times New Roman"/>
                        </a:rPr>
                        <a:t> </a:t>
                      </a:r>
                      <a:r>
                        <a:rPr sz="1100" b="0" i="0">
                          <a:solidFill>
                            <a:srgbClr val="000000"/>
                          </a:solidFill>
                          <a:latin typeface="Calibri"/>
                        </a:rPr>
                        <a:t>Economic Side Drivers</a:t>
                      </a:r>
                      <a:endParaRPr sz="1100"/>
                    </a:p>
                  </a:txBody>
                  <a:tcPr marL="771525" marR="9525" marT="9525" marB="0" anchor="ctr"/>
                </a:tc>
              </a:tr>
              <a:tr h="175260">
                <a:tc>
                  <a:txBody>
                    <a:bodyPr wrap="square"/>
                    <a:lstStyle/>
                    <a:p>
                      <a:pPr algn="l"/>
                      <a:r>
                        <a:rPr sz="1100" b="0" i="0">
                          <a:solidFill>
                            <a:srgbClr val="0070C0"/>
                          </a:solidFill>
                          <a:latin typeface="Calibri"/>
                        </a:rPr>
                        <a:t>16.3.</a:t>
                      </a:r>
                      <a:r>
                        <a:rPr sz="700" b="0" i="0">
                          <a:solidFill>
                            <a:srgbClr val="0070C0"/>
                          </a:solidFill>
                          <a:latin typeface="Times New Roman"/>
                        </a:rPr>
                        <a:t>  </a:t>
                      </a:r>
                      <a:r>
                        <a:rPr sz="1100" b="0" i="0">
                          <a:solidFill>
                            <a:srgbClr val="0070C0"/>
                          </a:solidFill>
                          <a:latin typeface="Calibri"/>
                        </a:rPr>
                        <a:t>Country Level Restraints</a:t>
                      </a:r>
                      <a:endParaRPr sz="1100"/>
                    </a:p>
                  </a:txBody>
                  <a:tcPr marL="428625" marR="9525" marT="9525" marB="0" anchor="ctr"/>
                </a:tc>
              </a:tr>
              <a:tr h="175260">
                <a:tc>
                  <a:txBody>
                    <a:bodyPr wrap="square"/>
                    <a:lstStyle/>
                    <a:p>
                      <a:pPr algn="l"/>
                      <a:r>
                        <a:rPr sz="1100" b="0" i="0">
                          <a:solidFill>
                            <a:srgbClr val="0070C0"/>
                          </a:solidFill>
                          <a:latin typeface="Calibri"/>
                        </a:rPr>
                        <a:t>16.4.</a:t>
                      </a:r>
                      <a:r>
                        <a:rPr sz="700" b="0" i="0">
                          <a:solidFill>
                            <a:srgbClr val="0070C0"/>
                          </a:solidFill>
                          <a:latin typeface="Times New Roman"/>
                        </a:rPr>
                        <a:t>  </a:t>
                      </a:r>
                      <a:r>
                        <a:rPr sz="1100" b="0" i="0">
                          <a:solidFill>
                            <a:srgbClr val="0070C0"/>
                          </a:solidFill>
                          <a:latin typeface="Calibri"/>
                        </a:rPr>
                        <a:t>Country Level Opportunity</a:t>
                      </a:r>
                      <a:endParaRPr sz="1100"/>
                    </a:p>
                  </a:txBody>
                  <a:tcPr marL="428625" marR="9525" marT="9525" marB="0" anchor="ctr"/>
                </a:tc>
              </a:tr>
              <a:tr h="175260">
                <a:tc>
                  <a:txBody>
                    <a:bodyPr wrap="square"/>
                    <a:lstStyle/>
                    <a:p>
                      <a:pPr algn="l"/>
                      <a:r>
                        <a:rPr sz="1100" b="0" i="0">
                          <a:solidFill>
                            <a:srgbClr val="0070C0"/>
                          </a:solidFill>
                          <a:latin typeface="Calibri"/>
                        </a:rPr>
                        <a:t>16.5.</a:t>
                      </a:r>
                      <a:r>
                        <a:rPr sz="700" b="0" i="0">
                          <a:solidFill>
                            <a:srgbClr val="0070C0"/>
                          </a:solidFill>
                          <a:latin typeface="Times New Roman"/>
                        </a:rPr>
                        <a:t>  </a:t>
                      </a:r>
                      <a:r>
                        <a:rPr sz="1100" b="0" i="0">
                          <a:solidFill>
                            <a:srgbClr val="0070C0"/>
                          </a:solidFill>
                          <a:latin typeface="Calibri"/>
                        </a:rPr>
                        <a:t>Country Level Market Trends</a:t>
                      </a:r>
                      <a:endParaRPr sz="1100"/>
                    </a:p>
                  </a:txBody>
                  <a:tcPr marL="428625" marR="9525" marT="9525" marB="0" anchor="ctr"/>
                </a:tc>
              </a:tr>
              <a:tr h="175260">
                <a:tc>
                  <a:txBody>
                    <a:bodyPr wrap="square"/>
                    <a:lstStyle/>
                    <a:p>
                      <a:pPr algn="l"/>
                      <a:r>
                        <a:rPr sz="1100" b="0" i="0">
                          <a:solidFill>
                            <a:srgbClr val="0070C0"/>
                          </a:solidFill>
                          <a:latin typeface="Calibri"/>
                        </a:rPr>
                        <a:t>16.6.</a:t>
                      </a:r>
                      <a:r>
                        <a:rPr sz="700" b="0" i="0">
                          <a:solidFill>
                            <a:srgbClr val="0070C0"/>
                          </a:solidFill>
                          <a:latin typeface="Times New Roman"/>
                        </a:rPr>
                        <a:t>  </a:t>
                      </a:r>
                      <a:r>
                        <a:rPr sz="1100" b="0" i="0">
                          <a:solidFill>
                            <a:srgbClr val="0070C0"/>
                          </a:solidFill>
                          <a:latin typeface="Calibri"/>
                        </a:rPr>
                        <a:t>Forecast Factors – Top 20 Drivers by Relevance &amp; Impact</a:t>
                      </a:r>
                      <a:endParaRPr sz="1100"/>
                    </a:p>
                  </a:txBody>
                  <a:tcPr marL="428625" marR="9525" marT="9525" marB="0" anchor="ctr"/>
                </a:tc>
              </a:tr>
              <a:tr h="175260">
                <a:tc>
                  <a:txBody>
                    <a:bodyPr wrap="square"/>
                    <a:lstStyle/>
                    <a:p>
                      <a:pPr algn="l"/>
                      <a:r>
                        <a:rPr sz="1100" b="0" i="0">
                          <a:solidFill>
                            <a:srgbClr val="0070C0"/>
                          </a:solidFill>
                          <a:latin typeface="Calibri"/>
                        </a:rPr>
                        <a:t>16.7.</a:t>
                      </a:r>
                      <a:r>
                        <a:rPr sz="700" b="0" i="0">
                          <a:solidFill>
                            <a:srgbClr val="0070C0"/>
                          </a:solidFill>
                          <a:latin typeface="Times New Roman"/>
                        </a:rPr>
                        <a:t>  </a:t>
                      </a:r>
                      <a:r>
                        <a:rPr sz="1100" b="0" i="0">
                          <a:solidFill>
                            <a:srgbClr val="0070C0"/>
                          </a:solidFill>
                          <a:latin typeface="Calibri"/>
                        </a:rPr>
                        <a:t>Regional Macro-&amp; Micro Economic Indicators</a:t>
                      </a:r>
                      <a:endParaRPr sz="1100"/>
                    </a:p>
                  </a:txBody>
                  <a:tcPr marL="428625" marR="9525" marT="9525" marB="0" anchor="ctr"/>
                </a:tc>
              </a:tr>
              <a:tr h="175260">
                <a:tc>
                  <a:txBody>
                    <a:bodyPr wrap="square"/>
                    <a:lstStyle/>
                    <a:p>
                      <a:pPr algn="l"/>
                      <a:r>
                        <a:rPr sz="1100" b="0" i="0">
                          <a:solidFill>
                            <a:srgbClr val="0070C0"/>
                          </a:solidFill>
                          <a:latin typeface="Calibri"/>
                        </a:rPr>
                        <a:t>16.8.</a:t>
                      </a:r>
                      <a:r>
                        <a:rPr sz="700" b="0" i="0">
                          <a:solidFill>
                            <a:srgbClr val="0070C0"/>
                          </a:solidFill>
                          <a:latin typeface="Times New Roman"/>
                        </a:rPr>
                        <a:t>  </a:t>
                      </a:r>
                      <a:r>
                        <a:rPr sz="1100" b="0" i="0">
                          <a:solidFill>
                            <a:srgbClr val="0070C0"/>
                          </a:solidFill>
                          <a:latin typeface="Calibri"/>
                        </a:rPr>
                        <a:t>PESTEL Analysis</a:t>
                      </a:r>
                      <a:endParaRPr sz="1100"/>
                    </a:p>
                  </a:txBody>
                  <a:tcPr marL="428625" marR="9525" marT="9525" marB="0" anchor="ctr"/>
                </a:tc>
              </a:tr>
              <a:tr h="175260">
                <a:tc>
                  <a:txBody>
                    <a:bodyPr wrap="square"/>
                    <a:lstStyle/>
                    <a:p>
                      <a:pPr algn="l"/>
                      <a:r>
                        <a:rPr sz="1100" b="0" i="0">
                          <a:solidFill>
                            <a:srgbClr val="0070C0"/>
                          </a:solidFill>
                          <a:latin typeface="Calibri"/>
                        </a:rPr>
                        <a:t>16.9.</a:t>
                      </a:r>
                      <a:r>
                        <a:rPr sz="700" b="0" i="0">
                          <a:solidFill>
                            <a:srgbClr val="0070C0"/>
                          </a:solidFill>
                          <a:latin typeface="Times New Roman"/>
                        </a:rPr>
                        <a:t>  </a:t>
                      </a:r>
                      <a:r>
                        <a:rPr sz="1100" b="0" i="0">
                          <a:solidFill>
                            <a:srgbClr val="0070C0"/>
                          </a:solidFill>
                          <a:latin typeface="Calibri"/>
                        </a:rPr>
                        <a:t>Porter’s Analysis</a:t>
                      </a:r>
                      <a:endParaRPr sz="1100"/>
                    </a:p>
                  </a:txBody>
                  <a:tcPr marL="428625" marR="9525" marT="9525" marB="0" anchor="ctr"/>
                </a:tc>
              </a:tr>
              <a:tr h="175260">
                <a:tc>
                  <a:txBody>
                    <a:bodyPr wrap="square"/>
                    <a:lstStyle/>
                    <a:p>
                      <a:pPr algn="l"/>
                      <a:r>
                        <a:rPr sz="1100" b="1" i="0">
                          <a:solidFill>
                            <a:srgbClr val="000000"/>
                          </a:solidFill>
                          <a:latin typeface="Calibri"/>
                        </a:rPr>
                        <a:t>17.</a:t>
                      </a:r>
                      <a:r>
                        <a:rPr sz="700" b="1" i="0">
                          <a:solidFill>
                            <a:srgbClr val="000000"/>
                          </a:solidFill>
                          <a:latin typeface="Times New Roman"/>
                        </a:rPr>
                        <a:t>    </a:t>
                      </a:r>
                      <a:r>
                        <a:rPr sz="1100" b="1" i="0">
                          <a:solidFill>
                            <a:srgbClr val="000000"/>
                          </a:solidFill>
                          <a:latin typeface="Calibri"/>
                        </a:rPr>
                        <a:t>Regulations</a:t>
                      </a:r>
                      <a:endParaRPr sz="1100"/>
                    </a:p>
                  </a:txBody>
                  <a:tcPr marL="171450" marR="9525" marT="9525" marB="0" anchor="ctr"/>
                </a:tc>
              </a:tr>
              <a:tr h="175260">
                <a:tc>
                  <a:txBody>
                    <a:bodyPr wrap="square"/>
                    <a:lstStyle/>
                    <a:p>
                      <a:pPr algn="l"/>
                      <a:r>
                        <a:rPr sz="1100" b="0" i="0">
                          <a:solidFill>
                            <a:srgbClr val="0070C0"/>
                          </a:solidFill>
                          <a:latin typeface="Calibri"/>
                        </a:rPr>
                        <a:t>17.1.</a:t>
                      </a:r>
                      <a:r>
                        <a:rPr sz="700" b="0" i="0">
                          <a:solidFill>
                            <a:srgbClr val="0070C0"/>
                          </a:solidFill>
                          <a:latin typeface="Times New Roman"/>
                        </a:rPr>
                        <a:t>  </a:t>
                      </a:r>
                      <a:r>
                        <a:rPr sz="1100" b="0" i="0">
                          <a:solidFill>
                            <a:srgbClr val="0070C0"/>
                          </a:solidFill>
                          <a:latin typeface="Calibri"/>
                        </a:rPr>
                        <a:t>Certifications and Certifying Agency Overview</a:t>
                      </a:r>
                      <a:endParaRPr sz="1100"/>
                    </a:p>
                  </a:txBody>
                  <a:tcPr marL="428625" marR="9525" marT="9525" marB="0" anchor="ctr"/>
                </a:tc>
              </a:tr>
              <a:tr h="175260">
                <a:tc>
                  <a:txBody>
                    <a:bodyPr wrap="square"/>
                    <a:lstStyle/>
                    <a:p>
                      <a:pPr algn="l"/>
                      <a:r>
                        <a:rPr sz="1100" b="0" i="0">
                          <a:solidFill>
                            <a:srgbClr val="0070C0"/>
                          </a:solidFill>
                          <a:latin typeface="Calibri"/>
                        </a:rPr>
                        <a:t>17.2.</a:t>
                      </a:r>
                      <a:r>
                        <a:rPr sz="700" b="0" i="0">
                          <a:solidFill>
                            <a:srgbClr val="0070C0"/>
                          </a:solidFill>
                          <a:latin typeface="Times New Roman"/>
                        </a:rPr>
                        <a:t>  </a:t>
                      </a:r>
                      <a:r>
                        <a:rPr sz="1100" b="0" i="0">
                          <a:solidFill>
                            <a:srgbClr val="0070C0"/>
                          </a:solidFill>
                          <a:latin typeface="Calibri"/>
                        </a:rPr>
                        <a:t>Import/Export Policies</a:t>
                      </a:r>
                      <a:endParaRPr sz="1100"/>
                    </a:p>
                  </a:txBody>
                  <a:tcPr marL="428625" marR="9525" marT="9525" marB="0" anchor="ctr"/>
                </a:tc>
              </a:tr>
              <a:tr h="175260">
                <a:tc>
                  <a:txBody>
                    <a:bodyPr wrap="square"/>
                    <a:lstStyle/>
                    <a:p>
                      <a:pPr algn="l"/>
                      <a:r>
                        <a:rPr sz="1100" b="0" i="0">
                          <a:solidFill>
                            <a:srgbClr val="0070C0"/>
                          </a:solidFill>
                          <a:latin typeface="Calibri"/>
                        </a:rPr>
                        <a:t>17.3.</a:t>
                      </a:r>
                      <a:r>
                        <a:rPr sz="700" b="0" i="0">
                          <a:solidFill>
                            <a:srgbClr val="0070C0"/>
                          </a:solidFill>
                          <a:latin typeface="Times New Roman"/>
                        </a:rPr>
                        <a:t>  </a:t>
                      </a:r>
                      <a:r>
                        <a:rPr sz="1100" b="0" i="0">
                          <a:solidFill>
                            <a:srgbClr val="0070C0"/>
                          </a:solidFill>
                          <a:latin typeface="Calibri"/>
                        </a:rPr>
                        <a:t>Formula Requirements</a:t>
                      </a:r>
                      <a:endParaRPr sz="1100"/>
                    </a:p>
                  </a:txBody>
                  <a:tcPr marL="428625" marR="9525" marT="9525" marB="0" anchor="ctr"/>
                </a:tc>
              </a:tr>
              <a:tr h="175260">
                <a:tc>
                  <a:txBody>
                    <a:bodyPr wrap="square"/>
                    <a:lstStyle/>
                    <a:p>
                      <a:pPr algn="l"/>
                      <a:r>
                        <a:rPr sz="1100" b="0" i="0">
                          <a:solidFill>
                            <a:srgbClr val="0070C0"/>
                          </a:solidFill>
                          <a:latin typeface="Calibri"/>
                        </a:rPr>
                        <a:t>17.4.</a:t>
                      </a:r>
                      <a:r>
                        <a:rPr sz="700" b="0" i="0">
                          <a:solidFill>
                            <a:srgbClr val="0070C0"/>
                          </a:solidFill>
                          <a:latin typeface="Times New Roman"/>
                        </a:rPr>
                        <a:t>  </a:t>
                      </a:r>
                      <a:r>
                        <a:rPr sz="1100" b="0" i="0">
                          <a:solidFill>
                            <a:srgbClr val="0070C0"/>
                          </a:solidFill>
                          <a:latin typeface="Calibri"/>
                        </a:rPr>
                        <a:t>Standards as per institutions</a:t>
                      </a:r>
                      <a:endParaRPr sz="1100"/>
                    </a:p>
                  </a:txBody>
                  <a:tcPr marL="428625" marR="9525" marT="9525" marB="0" anchor="ctr"/>
                </a:tc>
              </a:tr>
              <a:tr h="175260">
                <a:tc>
                  <a:txBody>
                    <a:bodyPr wrap="square"/>
                    <a:lstStyle/>
                    <a:p>
                      <a:pPr algn="l"/>
                      <a:r>
                        <a:rPr sz="1100" b="0" i="0">
                          <a:solidFill>
                            <a:srgbClr val="000000"/>
                          </a:solidFill>
                          <a:latin typeface="Calibri"/>
                        </a:rPr>
                        <a:t>17.4.1.</a:t>
                      </a:r>
                      <a:r>
                        <a:rPr sz="700" b="0" i="0">
                          <a:solidFill>
                            <a:srgbClr val="000000"/>
                          </a:solidFill>
                          <a:latin typeface="Times New Roman"/>
                        </a:rPr>
                        <a:t> </a:t>
                      </a:r>
                      <a:r>
                        <a:rPr sz="1100" b="0" i="0">
                          <a:solidFill>
                            <a:srgbClr val="000000"/>
                          </a:solidFill>
                          <a:latin typeface="Calibri"/>
                        </a:rPr>
                        <a:t>FDA</a:t>
                      </a:r>
                      <a:endParaRPr sz="1100"/>
                    </a:p>
                  </a:txBody>
                  <a:tcPr marL="771525" marR="9525" marT="9525" marB="0" anchor="ctr"/>
                </a:tc>
              </a:tr>
              <a:tr h="175260">
                <a:tc>
                  <a:txBody>
                    <a:bodyPr wrap="square"/>
                    <a:lstStyle/>
                    <a:p>
                      <a:pPr algn="l"/>
                      <a:r>
                        <a:rPr sz="1100" b="0" i="0">
                          <a:solidFill>
                            <a:srgbClr val="000000"/>
                          </a:solidFill>
                          <a:latin typeface="Calibri"/>
                        </a:rPr>
                        <a:t>17.4.2.</a:t>
                      </a:r>
                      <a:r>
                        <a:rPr sz="700" b="0" i="0">
                          <a:solidFill>
                            <a:srgbClr val="000000"/>
                          </a:solidFill>
                          <a:latin typeface="Times New Roman"/>
                        </a:rPr>
                        <a:t> </a:t>
                      </a:r>
                      <a:r>
                        <a:rPr sz="1100" b="0" i="0">
                          <a:solidFill>
                            <a:srgbClr val="000000"/>
                          </a:solidFill>
                          <a:latin typeface="Calibri"/>
                        </a:rPr>
                        <a:t>USDA</a:t>
                      </a:r>
                      <a:endParaRPr sz="1100"/>
                    </a:p>
                  </a:txBody>
                  <a:tcPr marL="771525" marR="9525" marT="9525" marB="0" anchor="ctr"/>
                </a:tc>
              </a:tr>
              <a:tr h="175260">
                <a:tc>
                  <a:txBody>
                    <a:bodyPr wrap="square"/>
                    <a:lstStyle/>
                    <a:p>
                      <a:pPr algn="l"/>
                      <a:r>
                        <a:rPr sz="1100" b="0" i="0">
                          <a:solidFill>
                            <a:srgbClr val="000000"/>
                          </a:solidFill>
                          <a:latin typeface="Calibri"/>
                        </a:rPr>
                        <a:t>17.4.3.</a:t>
                      </a:r>
                      <a:r>
                        <a:rPr sz="700" b="0" i="0">
                          <a:solidFill>
                            <a:srgbClr val="000000"/>
                          </a:solidFill>
                          <a:latin typeface="Times New Roman"/>
                        </a:rPr>
                        <a:t> </a:t>
                      </a:r>
                      <a:r>
                        <a:rPr sz="1100" b="0" i="0">
                          <a:solidFill>
                            <a:srgbClr val="000000"/>
                          </a:solidFill>
                          <a:latin typeface="Calibri"/>
                        </a:rPr>
                        <a:t>FASSAI</a:t>
                      </a:r>
                      <a:endParaRPr sz="1100"/>
                    </a:p>
                  </a:txBody>
                  <a:tcPr marL="771525" marR="9525" marT="9525" marB="0" anchor="ctr"/>
                </a:tc>
              </a:tr>
              <a:tr h="175260">
                <a:tc>
                  <a:txBody>
                    <a:bodyPr wrap="square"/>
                    <a:lstStyle/>
                    <a:p>
                      <a:pPr algn="l"/>
                      <a:r>
                        <a:rPr sz="1100" b="0" i="0">
                          <a:solidFill>
                            <a:srgbClr val="000000"/>
                          </a:solidFill>
                          <a:latin typeface="Calibri"/>
                        </a:rPr>
                        <a:t>17.4.4.</a:t>
                      </a:r>
                      <a:r>
                        <a:rPr sz="700" b="0" i="0">
                          <a:solidFill>
                            <a:srgbClr val="000000"/>
                          </a:solidFill>
                          <a:latin typeface="Times New Roman"/>
                        </a:rPr>
                        <a:t> </a:t>
                      </a:r>
                      <a:r>
                        <a:rPr sz="1100" b="0" i="0">
                          <a:solidFill>
                            <a:srgbClr val="000000"/>
                          </a:solidFill>
                          <a:latin typeface="Calibri"/>
                        </a:rPr>
                        <a:t>EU Commissions</a:t>
                      </a:r>
                      <a:endParaRPr sz="1100"/>
                    </a:p>
                  </a:txBody>
                  <a:tcPr marL="771525" marR="9525" marT="9525" marB="0" anchor="ctr"/>
                </a:tc>
              </a:tr>
              <a:tr h="175260">
                <a:tc>
                  <a:txBody>
                    <a:bodyPr wrap="square"/>
                    <a:lstStyle/>
                    <a:p>
                      <a:pPr algn="l"/>
                      <a:r>
                        <a:rPr sz="1100" b="1" i="0">
                          <a:solidFill>
                            <a:srgbClr val="000000"/>
                          </a:solidFill>
                          <a:latin typeface="Calibri"/>
                        </a:rPr>
                        <a:t>Section 5: Production and Trade Outlook</a:t>
                      </a:r>
                      <a:endParaRPr sz="1100"/>
                    </a:p>
                  </a:txBody>
                  <a:tcPr marL="9525" marR="9525" marT="9525" marB="0" anchor="ctr"/>
                </a:tc>
              </a:tr>
              <a:tr h="175260">
                <a:tc>
                  <a:txBody>
                    <a:bodyPr wrap="square"/>
                    <a:lstStyle/>
                    <a:p>
                      <a:pPr algn="l"/>
                      <a:r>
                        <a:rPr sz="1100" b="1" i="0">
                          <a:solidFill>
                            <a:srgbClr val="000000"/>
                          </a:solidFill>
                          <a:latin typeface="Calibri"/>
                        </a:rPr>
                        <a:t>18.</a:t>
                      </a:r>
                      <a:r>
                        <a:rPr sz="700" b="1" i="0">
                          <a:solidFill>
                            <a:srgbClr val="000000"/>
                          </a:solidFill>
                          <a:latin typeface="Times New Roman"/>
                        </a:rPr>
                        <a:t>    </a:t>
                      </a:r>
                      <a:r>
                        <a:rPr sz="1100" b="1" i="0">
                          <a:solidFill>
                            <a:srgbClr val="000000"/>
                          </a:solidFill>
                          <a:latin typeface="Calibri"/>
                        </a:rPr>
                        <a:t>Global Market- Production and Trade Analysis</a:t>
                      </a:r>
                      <a:endParaRPr sz="1100"/>
                    </a:p>
                  </a:txBody>
                  <a:tcPr marL="171450" marR="9525" marT="9525" marB="0" anchor="ctr"/>
                </a:tc>
              </a:tr>
              <a:tr h="175260">
                <a:tc>
                  <a:txBody>
                    <a:bodyPr wrap="square"/>
                    <a:lstStyle/>
                    <a:p>
                      <a:pPr algn="l"/>
                      <a:r>
                        <a:rPr sz="1100" b="0" i="0">
                          <a:solidFill>
                            <a:srgbClr val="0070C0"/>
                          </a:solidFill>
                          <a:latin typeface="Calibri"/>
                        </a:rPr>
                        <a:t>18.1.</a:t>
                      </a:r>
                      <a:r>
                        <a:rPr sz="700" b="0" i="0">
                          <a:solidFill>
                            <a:srgbClr val="0070C0"/>
                          </a:solidFill>
                          <a:latin typeface="Times New Roman"/>
                        </a:rPr>
                        <a:t>  </a:t>
                      </a:r>
                      <a:r>
                        <a:rPr sz="1100" b="0" i="0">
                          <a:solidFill>
                            <a:srgbClr val="0070C0"/>
                          </a:solidFill>
                          <a:latin typeface="Calibri"/>
                        </a:rPr>
                        <a:t>Production Volume (UNITS), (2021-2026) by Region/ Country</a:t>
                      </a:r>
                      <a:endParaRPr sz="1100"/>
                    </a:p>
                  </a:txBody>
                  <a:tcPr marL="428625" marR="9525" marT="9525" marB="0" anchor="ctr"/>
                </a:tc>
              </a:tr>
              <a:tr h="175260">
                <a:tc>
                  <a:txBody>
                    <a:bodyPr wrap="square"/>
                    <a:lstStyle/>
                    <a:p>
                      <a:pPr algn="l"/>
                      <a:r>
                        <a:rPr sz="1100" b="0" i="0">
                          <a:solidFill>
                            <a:srgbClr val="0070C0"/>
                          </a:solidFill>
                          <a:latin typeface="Calibri"/>
                        </a:rPr>
                        <a:t>18.2.</a:t>
                      </a:r>
                      <a:r>
                        <a:rPr sz="700" b="0" i="0">
                          <a:solidFill>
                            <a:srgbClr val="0070C0"/>
                          </a:solidFill>
                          <a:latin typeface="Times New Roman"/>
                        </a:rPr>
                        <a:t>  </a:t>
                      </a:r>
                      <a:r>
                        <a:rPr sz="1100" b="0" i="0">
                          <a:solidFill>
                            <a:srgbClr val="0070C0"/>
                          </a:solidFill>
                          <a:latin typeface="Calibri"/>
                        </a:rPr>
                        <a:t>Exports: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18.3.</a:t>
                      </a:r>
                      <a:r>
                        <a:rPr sz="700" b="0" i="0">
                          <a:solidFill>
                            <a:srgbClr val="0070C0"/>
                          </a:solidFill>
                          <a:latin typeface="Times New Roman"/>
                        </a:rPr>
                        <a:t>  </a:t>
                      </a:r>
                      <a:r>
                        <a:rPr sz="1100" b="0" i="0">
                          <a:solidFill>
                            <a:srgbClr val="0070C0"/>
                          </a:solidFill>
                          <a:latin typeface="Calibri"/>
                        </a:rPr>
                        <a:t>Imports: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18.4.</a:t>
                      </a:r>
                      <a:r>
                        <a:rPr sz="700" b="0" i="0">
                          <a:solidFill>
                            <a:srgbClr val="0070C0"/>
                          </a:solidFill>
                          <a:latin typeface="Times New Roman"/>
                        </a:rPr>
                        <a:t>  </a:t>
                      </a:r>
                      <a:r>
                        <a:rPr sz="1100" b="0" i="0">
                          <a:solidFill>
                            <a:srgbClr val="0070C0"/>
                          </a:solidFill>
                          <a:latin typeface="Calibri"/>
                        </a:rPr>
                        <a:t>Global Supply-Demand Overview (Prod., Sales, Import, Export)</a:t>
                      </a:r>
                      <a:endParaRPr sz="1100"/>
                    </a:p>
                  </a:txBody>
                  <a:tcPr marL="428625" marR="9525" marT="9525" marB="0" anchor="ctr"/>
                </a:tc>
              </a:tr>
              <a:tr h="175260">
                <a:tc>
                  <a:txBody>
                    <a:bodyPr wrap="square"/>
                    <a:lstStyle/>
                    <a:p>
                      <a:pPr algn="l"/>
                      <a:r>
                        <a:rPr sz="1100" b="1" i="0">
                          <a:solidFill>
                            <a:srgbClr val="000000"/>
                          </a:solidFill>
                          <a:latin typeface="Calibri"/>
                        </a:rPr>
                        <a:t>19.</a:t>
                      </a:r>
                      <a:r>
                        <a:rPr sz="700" b="1" i="0">
                          <a:solidFill>
                            <a:srgbClr val="000000"/>
                          </a:solidFill>
                          <a:latin typeface="Times New Roman"/>
                        </a:rPr>
                        <a:t>    </a:t>
                      </a:r>
                      <a:r>
                        <a:rPr sz="1100" b="1" i="0">
                          <a:solidFill>
                            <a:srgbClr val="000000"/>
                          </a:solidFill>
                          <a:latin typeface="Calibri"/>
                        </a:rPr>
                        <a:t>Value Chain Analysis</a:t>
                      </a:r>
                      <a:endParaRPr sz="1100"/>
                    </a:p>
                  </a:txBody>
                  <a:tcPr marL="171450" marR="9525" marT="9525" marB="0" anchor="ctr"/>
                </a:tc>
              </a:tr>
              <a:tr h="175260">
                <a:tc>
                  <a:txBody>
                    <a:bodyPr wrap="square"/>
                    <a:lstStyle/>
                    <a:p>
                      <a:pPr algn="l"/>
                      <a:r>
                        <a:rPr sz="1100" b="0" i="0">
                          <a:solidFill>
                            <a:srgbClr val="0070C0"/>
                          </a:solidFill>
                          <a:latin typeface="Calibri"/>
                        </a:rPr>
                        <a:t>19.1.</a:t>
                      </a:r>
                      <a:r>
                        <a:rPr sz="700" b="0" i="0">
                          <a:solidFill>
                            <a:srgbClr val="0070C0"/>
                          </a:solidFill>
                          <a:latin typeface="Times New Roman"/>
                        </a:rPr>
                        <a:t>  </a:t>
                      </a:r>
                      <a:r>
                        <a:rPr sz="1100" b="0" i="0">
                          <a:solidFill>
                            <a:srgbClr val="0070C0"/>
                          </a:solidFill>
                          <a:latin typeface="Calibri"/>
                        </a:rPr>
                        <a:t>Industry-Wide Operating Margin</a:t>
                      </a:r>
                      <a:endParaRPr sz="1100"/>
                    </a:p>
                  </a:txBody>
                  <a:tcPr marL="428625" marR="9525" marT="9525" marB="0" anchor="ctr"/>
                </a:tc>
              </a:tr>
              <a:tr h="175260">
                <a:tc>
                  <a:txBody>
                    <a:bodyPr wrap="square"/>
                    <a:lstStyle/>
                    <a:p>
                      <a:pPr algn="l"/>
                      <a:r>
                        <a:rPr sz="1100" b="0" i="0">
                          <a:solidFill>
                            <a:srgbClr val="000000"/>
                          </a:solidFill>
                          <a:latin typeface="Calibri"/>
                        </a:rPr>
                        <a:t>19.1.1.</a:t>
                      </a:r>
                      <a:r>
                        <a:rPr sz="700" b="0" i="0">
                          <a:solidFill>
                            <a:srgbClr val="000000"/>
                          </a:solidFill>
                          <a:latin typeface="Times New Roman"/>
                        </a:rPr>
                        <a:t> </a:t>
                      </a:r>
                      <a:r>
                        <a:rPr sz="1100" b="0" i="0">
                          <a:solidFill>
                            <a:srgbClr val="000000"/>
                          </a:solidFill>
                          <a:latin typeface="Calibri"/>
                        </a:rPr>
                        <a:t>Operating margins at each node of supply chain</a:t>
                      </a:r>
                      <a:endParaRPr sz="1100"/>
                    </a:p>
                  </a:txBody>
                  <a:tcPr marL="771525" marR="9525" marT="9525" marB="0" anchor="ctr"/>
                </a:tc>
              </a:tr>
              <a:tr h="175260">
                <a:tc>
                  <a:txBody>
                    <a:bodyPr wrap="square"/>
                    <a:lstStyle/>
                    <a:p>
                      <a:pPr algn="l"/>
                      <a:r>
                        <a:rPr sz="1100" b="0" i="0">
                          <a:solidFill>
                            <a:srgbClr val="000000"/>
                          </a:solidFill>
                          <a:latin typeface="Calibri"/>
                        </a:rPr>
                        <a:t>19.1.2.</a:t>
                      </a:r>
                      <a:r>
                        <a:rPr sz="700" b="0" i="0">
                          <a:solidFill>
                            <a:srgbClr val="000000"/>
                          </a:solidFill>
                          <a:latin typeface="Times New Roman"/>
                        </a:rPr>
                        <a:t> </a:t>
                      </a:r>
                      <a:r>
                        <a:rPr sz="1100" b="0" i="0">
                          <a:solidFill>
                            <a:srgbClr val="000000"/>
                          </a:solidFill>
                          <a:latin typeface="Calibri"/>
                        </a:rPr>
                        <a:t>Operating margins Comparison to Parent/Associated Market</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(6/6)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19.2.</a:t>
                      </a:r>
                      <a:r>
                        <a:rPr sz="700" b="0" i="0">
                          <a:solidFill>
                            <a:srgbClr val="0070C0"/>
                          </a:solidFill>
                          <a:latin typeface="Times New Roman"/>
                        </a:rPr>
                        <a:t>  </a:t>
                      </a:r>
                      <a:r>
                        <a:rPr sz="1100" b="0" i="0">
                          <a:solidFill>
                            <a:srgbClr val="0070C0"/>
                          </a:solidFill>
                          <a:latin typeface="Calibri"/>
                        </a:rPr>
                        <a:t>Margin Optimization Strategies</a:t>
                      </a:r>
                      <a:endParaRPr sz="1100"/>
                    </a:p>
                  </a:txBody>
                  <a:tcPr marL="428625" marR="9525" marT="9525" marB="0" anchor="ctr"/>
                </a:tc>
              </a:tr>
              <a:tr h="175260">
                <a:tc>
                  <a:txBody>
                    <a:bodyPr wrap="square"/>
                    <a:lstStyle/>
                    <a:p>
                      <a:pPr algn="l"/>
                      <a:r>
                        <a:rPr sz="1100" b="0" i="0">
                          <a:solidFill>
                            <a:srgbClr val="0070C0"/>
                          </a:solidFill>
                          <a:latin typeface="Calibri"/>
                        </a:rPr>
                        <a:t>19.3.</a:t>
                      </a:r>
                      <a:r>
                        <a:rPr sz="700" b="0" i="0">
                          <a:solidFill>
                            <a:srgbClr val="0070C0"/>
                          </a:solidFill>
                          <a:latin typeface="Times New Roman"/>
                        </a:rPr>
                        <a:t>  </a:t>
                      </a:r>
                      <a:r>
                        <a:rPr sz="1100" b="0" i="0">
                          <a:solidFill>
                            <a:srgbClr val="0070C0"/>
                          </a:solidFill>
                          <a:latin typeface="Calibri"/>
                        </a:rPr>
                        <a:t>List of Active Market Participants</a:t>
                      </a:r>
                      <a:endParaRPr sz="1100"/>
                    </a:p>
                  </a:txBody>
                  <a:tcPr marL="428625" marR="9525" marT="9525" marB="0" anchor="ctr"/>
                </a:tc>
              </a:tr>
              <a:tr h="175260">
                <a:tc>
                  <a:txBody>
                    <a:bodyPr wrap="square"/>
                    <a:lstStyle/>
                    <a:p>
                      <a:pPr algn="l"/>
                      <a:r>
                        <a:rPr sz="1100" b="0" i="0">
                          <a:solidFill>
                            <a:srgbClr val="000000"/>
                          </a:solidFill>
                          <a:latin typeface="Calibri"/>
                        </a:rPr>
                        <a:t>19.3.1.</a:t>
                      </a:r>
                      <a:r>
                        <a:rPr sz="700" b="0" i="0">
                          <a:solidFill>
                            <a:srgbClr val="000000"/>
                          </a:solidFill>
                          <a:latin typeface="Times New Roman"/>
                        </a:rPr>
                        <a:t> </a:t>
                      </a:r>
                      <a:r>
                        <a:rPr sz="1100" b="0" i="0">
                          <a:solidFill>
                            <a:srgbClr val="000000"/>
                          </a:solidFill>
                          <a:latin typeface="Calibri"/>
                        </a:rPr>
                        <a:t>Product Manufacturers/ Key Brands</a:t>
                      </a:r>
                      <a:endParaRPr sz="1100"/>
                    </a:p>
                  </a:txBody>
                  <a:tcPr marL="771525" marR="9525" marT="9525" marB="0" anchor="ctr"/>
                </a:tc>
              </a:tr>
              <a:tr h="175260">
                <a:tc>
                  <a:txBody>
                    <a:bodyPr wrap="square"/>
                    <a:lstStyle/>
                    <a:p>
                      <a:pPr algn="l"/>
                      <a:r>
                        <a:rPr sz="1100" b="0" i="0">
                          <a:solidFill>
                            <a:srgbClr val="000000"/>
                          </a:solidFill>
                          <a:latin typeface="Calibri"/>
                        </a:rPr>
                        <a:t>19.3.2.</a:t>
                      </a:r>
                      <a:r>
                        <a:rPr sz="700" b="0" i="0">
                          <a:solidFill>
                            <a:srgbClr val="000000"/>
                          </a:solidFill>
                          <a:latin typeface="Times New Roman"/>
                        </a:rPr>
                        <a:t> </a:t>
                      </a:r>
                      <a:r>
                        <a:rPr sz="1100" b="0" i="0">
                          <a:solidFill>
                            <a:srgbClr val="000000"/>
                          </a:solidFill>
                          <a:latin typeface="Calibri"/>
                        </a:rPr>
                        <a:t>Distributors/Suppliers</a:t>
                      </a:r>
                      <a:endParaRPr sz="1100"/>
                    </a:p>
                  </a:txBody>
                  <a:tcPr marL="771525" marR="9525" marT="9525" marB="0" anchor="ctr"/>
                </a:tc>
              </a:tr>
              <a:tr h="175260">
                <a:tc>
                  <a:txBody>
                    <a:bodyPr wrap="square"/>
                    <a:lstStyle/>
                    <a:p>
                      <a:pPr algn="l"/>
                      <a:r>
                        <a:rPr sz="1100" b="0" i="0">
                          <a:solidFill>
                            <a:srgbClr val="000000"/>
                          </a:solidFill>
                          <a:latin typeface="Calibri"/>
                        </a:rPr>
                        <a:t>19.3.3.</a:t>
                      </a:r>
                      <a:r>
                        <a:rPr sz="700" b="0" i="0">
                          <a:solidFill>
                            <a:srgbClr val="000000"/>
                          </a:solidFill>
                          <a:latin typeface="Times New Roman"/>
                        </a:rPr>
                        <a:t> </a:t>
                      </a:r>
                      <a:r>
                        <a:rPr sz="1100" b="0" i="0">
                          <a:solidFill>
                            <a:srgbClr val="000000"/>
                          </a:solidFill>
                          <a:latin typeface="Calibri"/>
                        </a:rPr>
                        <a:t>End Users</a:t>
                      </a:r>
                      <a:endParaRPr sz="1100"/>
                    </a:p>
                  </a:txBody>
                  <a:tcPr marL="771525" marR="9525" marT="9525" marB="0" anchor="ctr"/>
                </a:tc>
              </a:tr>
              <a:tr h="350520">
                <a:tc>
                  <a:txBody>
                    <a:bodyPr wrap="square"/>
                    <a:lstStyle/>
                    <a:p>
                      <a:pPr algn="l"/>
                      <a:r>
                        <a:rPr sz="1100" b="0" i="1">
                          <a:solidFill>
                            <a:srgbClr val="FF0000"/>
                          </a:solidFill>
                          <a:latin typeface="Calibri"/>
                        </a:rPr>
                        <a:t>Note: The section lists 20-30 active market participants. For a comprehensive list, please contact the respective sales personnel</a:t>
                      </a:r>
                      <a:endParaRPr sz="1100"/>
                    </a:p>
                  </a:txBody>
                  <a:tcPr marL="9525" marR="9525" marT="9525" marB="0" anchor="ctr"/>
                </a:tc>
              </a:tr>
              <a:tr h="175260">
                <a:tc>
                  <a:txBody>
                    <a:bodyPr wrap="square"/>
                    <a:lstStyle/>
                    <a:p>
                      <a:pPr algn="l"/>
                      <a:r>
                        <a:rPr sz="1100" b="1" i="0">
                          <a:solidFill>
                            <a:srgbClr val="000000"/>
                          </a:solidFill>
                          <a:latin typeface="Calibri"/>
                        </a:rPr>
                        <a:t>Section 7: Competition Assessment</a:t>
                      </a:r>
                      <a:endParaRPr sz="1100"/>
                    </a:p>
                  </a:txBody>
                  <a:tcPr marL="9525" marR="9525" marT="9525" marB="0" anchor="ctr"/>
                </a:tc>
              </a:tr>
              <a:tr h="175260">
                <a:tc>
                  <a:txBody>
                    <a:bodyPr wrap="square"/>
                    <a:lstStyle/>
                    <a:p>
                      <a:pPr algn="l"/>
                      <a:r>
                        <a:rPr sz="1100" b="1" i="0">
                          <a:solidFill>
                            <a:srgbClr val="000000"/>
                          </a:solidFill>
                          <a:latin typeface="Calibri"/>
                        </a:rPr>
                        <a:t>20.</a:t>
                      </a:r>
                      <a:r>
                        <a:rPr sz="700" b="1" i="0">
                          <a:solidFill>
                            <a:srgbClr val="000000"/>
                          </a:solidFill>
                          <a:latin typeface="Times New Roman"/>
                        </a:rPr>
                        <a:t>    </a:t>
                      </a:r>
                      <a:r>
                        <a:rPr sz="1100" b="1" i="0">
                          <a:solidFill>
                            <a:srgbClr val="000000"/>
                          </a:solidFill>
                          <a:latin typeface="Calibri"/>
                        </a:rPr>
                        <a:t>Competition at a Glance- a Dashboard View</a:t>
                      </a:r>
                      <a:endParaRPr sz="1100"/>
                    </a:p>
                  </a:txBody>
                  <a:tcPr marL="171450" marR="9525" marT="9525" marB="0" anchor="ctr"/>
                </a:tc>
              </a:tr>
              <a:tr h="175260">
                <a:tc>
                  <a:txBody>
                    <a:bodyPr wrap="square"/>
                    <a:lstStyle/>
                    <a:p>
                      <a:pPr algn="l"/>
                      <a:r>
                        <a:rPr sz="1100" b="1" i="0">
                          <a:solidFill>
                            <a:srgbClr val="000000"/>
                          </a:solidFill>
                          <a:latin typeface="Calibri"/>
                        </a:rPr>
                        <a:t>21.</a:t>
                      </a:r>
                      <a:r>
                        <a:rPr sz="700" b="1" i="0">
                          <a:solidFill>
                            <a:srgbClr val="000000"/>
                          </a:solidFill>
                          <a:latin typeface="Times New Roman"/>
                        </a:rPr>
                        <a:t>    </a:t>
                      </a:r>
                      <a:r>
                        <a:rPr sz="1100" b="1" i="0">
                          <a:solidFill>
                            <a:srgbClr val="000000"/>
                          </a:solidFill>
                          <a:latin typeface="Calibri"/>
                        </a:rPr>
                        <a:t>Company Share (%) Analysis, 2023, 2025, 2026</a:t>
                      </a:r>
                      <a:endParaRPr sz="1100"/>
                    </a:p>
                  </a:txBody>
                  <a:tcPr marL="171450" marR="9525" marT="9525" marB="0" anchor="ctr"/>
                </a:tc>
              </a:tr>
              <a:tr h="175260">
                <a:tc>
                  <a:txBody>
                    <a:bodyPr wrap="square"/>
                    <a:lstStyle/>
                    <a:p>
                      <a:pPr algn="l"/>
                      <a:r>
                        <a:rPr sz="1100" b="0" i="0">
                          <a:solidFill>
                            <a:srgbClr val="0070C0"/>
                          </a:solidFill>
                          <a:latin typeface="Calibri"/>
                        </a:rPr>
                        <a:t>21.1.</a:t>
                      </a:r>
                      <a:r>
                        <a:rPr sz="700" b="0" i="0">
                          <a:solidFill>
                            <a:srgbClr val="0070C0"/>
                          </a:solidFill>
                          <a:latin typeface="Times New Roman"/>
                        </a:rPr>
                        <a:t>  </a:t>
                      </a:r>
                      <a:r>
                        <a:rPr sz="1100" b="0" i="0">
                          <a:solidFill>
                            <a:srgbClr val="0070C0"/>
                          </a:solidFill>
                          <a:latin typeface="Calibri"/>
                        </a:rPr>
                        <a:t>By Region</a:t>
                      </a:r>
                      <a:endParaRPr sz="1100"/>
                    </a:p>
                  </a:txBody>
                  <a:tcPr marL="428625" marR="9525" marT="9525" marB="0" anchor="ctr"/>
                </a:tc>
              </a:tr>
              <a:tr h="175260">
                <a:tc>
                  <a:txBody>
                    <a:bodyPr wrap="square"/>
                    <a:lstStyle/>
                    <a:p>
                      <a:pPr algn="l"/>
                      <a:r>
                        <a:rPr sz="1100" b="0" i="0">
                          <a:solidFill>
                            <a:srgbClr val="0070C0"/>
                          </a:solidFill>
                          <a:latin typeface="Calibri"/>
                        </a:rPr>
                        <a:t>21.2.</a:t>
                      </a:r>
                      <a:r>
                        <a:rPr sz="700" b="0" i="0">
                          <a:solidFill>
                            <a:srgbClr val="0070C0"/>
                          </a:solidFill>
                          <a:latin typeface="Times New Roman"/>
                        </a:rPr>
                        <a:t>  </a:t>
                      </a:r>
                      <a:r>
                        <a:rPr sz="1100" b="0" i="0">
                          <a:solidFill>
                            <a:srgbClr val="0070C0"/>
                          </a:solidFill>
                          <a:latin typeface="Calibri"/>
                        </a:rPr>
                        <a:t>By Product Type</a:t>
                      </a:r>
                      <a:endParaRPr sz="1100"/>
                    </a:p>
                  </a:txBody>
                  <a:tcPr marL="428625" marR="9525" marT="9525" marB="0" anchor="ctr"/>
                </a:tc>
              </a:tr>
              <a:tr h="175260">
                <a:tc>
                  <a:txBody>
                    <a:bodyPr wrap="square"/>
                    <a:lstStyle/>
                    <a:p>
                      <a:pPr algn="l"/>
                      <a:r>
                        <a:rPr sz="1100" b="0" i="0">
                          <a:solidFill>
                            <a:srgbClr val="0070C0"/>
                          </a:solidFill>
                          <a:latin typeface="Calibri"/>
                        </a:rPr>
                        <a:t>21.3.</a:t>
                      </a:r>
                      <a:r>
                        <a:rPr sz="700" b="0" i="0">
                          <a:solidFill>
                            <a:srgbClr val="0070C0"/>
                          </a:solidFill>
                          <a:latin typeface="Times New Roman"/>
                        </a:rPr>
                        <a:t>  </a:t>
                      </a:r>
                      <a:r>
                        <a:rPr sz="1100" b="0" i="0">
                          <a:solidFill>
                            <a:srgbClr val="0070C0"/>
                          </a:solidFill>
                          <a:latin typeface="Calibri"/>
                        </a:rPr>
                        <a:t>By End Use Application/ Sales Channel</a:t>
                      </a:r>
                      <a:endParaRPr sz="1100"/>
                    </a:p>
                  </a:txBody>
                  <a:tcPr marL="428625" marR="9525" marT="9525" marB="0" anchor="ctr"/>
                </a:tc>
              </a:tr>
              <a:tr h="175260">
                <a:tc>
                  <a:txBody>
                    <a:bodyPr wrap="square"/>
                    <a:lstStyle/>
                    <a:p>
                      <a:pPr algn="l"/>
                      <a:r>
                        <a:rPr sz="1100" b="1" i="0">
                          <a:solidFill>
                            <a:srgbClr val="000000"/>
                          </a:solidFill>
                          <a:latin typeface="Calibri"/>
                        </a:rPr>
                        <a:t>22.</a:t>
                      </a:r>
                      <a:r>
                        <a:rPr sz="700" b="1" i="0">
                          <a:solidFill>
                            <a:srgbClr val="000000"/>
                          </a:solidFill>
                          <a:latin typeface="Times New Roman"/>
                        </a:rPr>
                        <a:t>    </a:t>
                      </a:r>
                      <a:r>
                        <a:rPr sz="1100" b="1" i="0">
                          <a:solidFill>
                            <a:srgbClr val="000000"/>
                          </a:solidFill>
                          <a:latin typeface="Calibri"/>
                        </a:rPr>
                        <a:t>Company Share Breakdown (2026)</a:t>
                      </a:r>
                      <a:endParaRPr sz="1100"/>
                    </a:p>
                  </a:txBody>
                  <a:tcPr marL="171450" marR="9525" marT="9525" marB="0" anchor="ctr"/>
                </a:tc>
              </a:tr>
              <a:tr h="175260">
                <a:tc>
                  <a:txBody>
                    <a:bodyPr wrap="square"/>
                    <a:lstStyle/>
                    <a:p>
                      <a:pPr algn="l"/>
                      <a:r>
                        <a:rPr sz="1100" b="0" i="0">
                          <a:solidFill>
                            <a:srgbClr val="0070C0"/>
                          </a:solidFill>
                          <a:latin typeface="Calibri"/>
                        </a:rPr>
                        <a:t>22.1.</a:t>
                      </a:r>
                      <a:r>
                        <a:rPr sz="700" b="0" i="0">
                          <a:solidFill>
                            <a:srgbClr val="0070C0"/>
                          </a:solidFill>
                          <a:latin typeface="Times New Roman"/>
                        </a:rPr>
                        <a:t>  </a:t>
                      </a:r>
                      <a:r>
                        <a:rPr sz="1100" b="0" i="0">
                          <a:solidFill>
                            <a:srgbClr val="0070C0"/>
                          </a:solidFill>
                          <a:latin typeface="Calibri"/>
                        </a:rPr>
                        <a:t>Top Players (Tier 1)</a:t>
                      </a:r>
                      <a:endParaRPr sz="1100"/>
                    </a:p>
                  </a:txBody>
                  <a:tcPr marL="428625" marR="9525" marT="9525" marB="0" anchor="ctr"/>
                </a:tc>
              </a:tr>
              <a:tr h="175260">
                <a:tc>
                  <a:txBody>
                    <a:bodyPr wrap="square"/>
                    <a:lstStyle/>
                    <a:p>
                      <a:pPr algn="l"/>
                      <a:r>
                        <a:rPr sz="1100" b="0" i="0">
                          <a:solidFill>
                            <a:srgbClr val="0070C0"/>
                          </a:solidFill>
                          <a:latin typeface="Calibri"/>
                        </a:rPr>
                        <a:t>22.2.</a:t>
                      </a:r>
                      <a:r>
                        <a:rPr sz="700" b="0" i="0">
                          <a:solidFill>
                            <a:srgbClr val="0070C0"/>
                          </a:solidFill>
                          <a:latin typeface="Times New Roman"/>
                        </a:rPr>
                        <a:t>  </a:t>
                      </a:r>
                      <a:r>
                        <a:rPr sz="1100" b="0" i="0">
                          <a:solidFill>
                            <a:srgbClr val="0070C0"/>
                          </a:solidFill>
                          <a:latin typeface="Calibri"/>
                        </a:rPr>
                        <a:t>Mid-Sized Players (Tier 2)</a:t>
                      </a:r>
                      <a:endParaRPr sz="1100"/>
                    </a:p>
                  </a:txBody>
                  <a:tcPr marL="428625" marR="9525" marT="9525" marB="0" anchor="ctr"/>
                </a:tc>
              </a:tr>
              <a:tr h="175260">
                <a:tc>
                  <a:txBody>
                    <a:bodyPr wrap="square"/>
                    <a:lstStyle/>
                    <a:p>
                      <a:pPr algn="l"/>
                      <a:r>
                        <a:rPr sz="1100" b="0" i="0">
                          <a:solidFill>
                            <a:srgbClr val="0070C0"/>
                          </a:solidFill>
                          <a:latin typeface="Calibri"/>
                        </a:rPr>
                        <a:t>22.3.</a:t>
                      </a:r>
                      <a:r>
                        <a:rPr sz="700" b="0" i="0">
                          <a:solidFill>
                            <a:srgbClr val="0070C0"/>
                          </a:solidFill>
                          <a:latin typeface="Times New Roman"/>
                        </a:rPr>
                        <a:t>  </a:t>
                      </a:r>
                      <a:r>
                        <a:rPr sz="1100" b="0" i="0">
                          <a:solidFill>
                            <a:srgbClr val="0070C0"/>
                          </a:solidFill>
                          <a:latin typeface="Calibri"/>
                        </a:rPr>
                        <a:t>Emerging/Local Players (Tier 3)</a:t>
                      </a:r>
                      <a:endParaRPr sz="1100"/>
                    </a:p>
                  </a:txBody>
                  <a:tcPr marL="428625" marR="9525" marT="9525" marB="0" anchor="ctr"/>
                </a:tc>
              </a:tr>
              <a:tr h="175260">
                <a:tc>
                  <a:txBody>
                    <a:bodyPr wrap="square"/>
                    <a:lstStyle/>
                    <a:p>
                      <a:pPr algn="l"/>
                      <a:r>
                        <a:rPr sz="1100" b="1" i="0">
                          <a:solidFill>
                            <a:srgbClr val="000000"/>
                          </a:solidFill>
                          <a:latin typeface="Calibri"/>
                        </a:rPr>
                        <a:t>23.</a:t>
                      </a:r>
                      <a:r>
                        <a:rPr sz="700" b="1" i="0">
                          <a:solidFill>
                            <a:srgbClr val="000000"/>
                          </a:solidFill>
                          <a:latin typeface="Times New Roman"/>
                        </a:rPr>
                        <a:t>    </a:t>
                      </a:r>
                      <a:r>
                        <a:rPr sz="1100" b="1" i="0">
                          <a:solidFill>
                            <a:srgbClr val="000000"/>
                          </a:solidFill>
                          <a:latin typeface="Calibri"/>
                        </a:rPr>
                        <a:t>Company Profile- MNCs</a:t>
                      </a:r>
                      <a:endParaRPr sz="1100"/>
                    </a:p>
                  </a:txBody>
                  <a:tcPr marL="171450" marR="9525" marT="9525" marB="0" anchor="ctr"/>
                </a:tc>
              </a:tr>
              <a:tr h="175260">
                <a:tc>
                  <a:txBody>
                    <a:bodyPr wrap="square"/>
                    <a:lstStyle/>
                    <a:p>
                      <a:pPr algn="l"/>
                      <a:r>
                        <a:rPr sz="1100" b="0" i="0">
                          <a:solidFill>
                            <a:srgbClr val="0070C0"/>
                          </a:solidFill>
                          <a:latin typeface="Calibri"/>
                        </a:rPr>
                        <a:t>23.1.</a:t>
                      </a:r>
                      <a:r>
                        <a:rPr sz="700" b="0" i="0">
                          <a:solidFill>
                            <a:srgbClr val="0070C0"/>
                          </a:solidFill>
                          <a:latin typeface="Times New Roman"/>
                        </a:rPr>
                        <a:t>  </a:t>
                      </a:r>
                      <a:r>
                        <a:rPr sz="1100" b="0" i="0">
                          <a:solidFill>
                            <a:srgbClr val="0070C0"/>
                          </a:solidFill>
                          <a:latin typeface="Calibri"/>
                        </a:rPr>
                        <a:t>Amcor plc</a:t>
                      </a:r>
                      <a:endParaRPr sz="1100"/>
                    </a:p>
                  </a:txBody>
                  <a:tcPr marL="428625" marR="9525" marT="9525" marB="0" anchor="ctr"/>
                </a:tc>
              </a:tr>
              <a:tr h="175260">
                <a:tc>
                  <a:txBody>
                    <a:bodyPr wrap="square"/>
                    <a:lstStyle/>
                    <a:p>
                      <a:pPr algn="l"/>
                      <a:r>
                        <a:rPr sz="1100" b="0" i="0">
                          <a:solidFill>
                            <a:srgbClr val="000000"/>
                          </a:solidFill>
                          <a:latin typeface="Calibri"/>
                        </a:rPr>
                        <a:t>23.1.1.</a:t>
                      </a:r>
                      <a:r>
                        <a:rPr sz="700" b="0" i="0">
                          <a:solidFill>
                            <a:srgbClr val="000000"/>
                          </a:solidFill>
                          <a:latin typeface="Times New Roman"/>
                        </a:rPr>
                        <a:t> </a:t>
                      </a:r>
                      <a:r>
                        <a:rPr sz="1100" b="0" i="0">
                          <a:solidFill>
                            <a:srgbClr val="000000"/>
                          </a:solidFill>
                          <a:latin typeface="Calibri"/>
                        </a:rPr>
                        <a:t>Product Portfolio</a:t>
                      </a:r>
                      <a:endParaRPr sz="1100"/>
                    </a:p>
                  </a:txBody>
                  <a:tcPr marL="771525" marR="9525" marT="9525" marB="0" anchor="ctr"/>
                </a:tc>
              </a:tr>
              <a:tr h="175260">
                <a:tc>
                  <a:txBody>
                    <a:bodyPr wrap="square"/>
                    <a:lstStyle/>
                    <a:p>
                      <a:pPr algn="l"/>
                      <a:r>
                        <a:rPr sz="1100" b="0" i="0">
                          <a:solidFill>
                            <a:srgbClr val="000000"/>
                          </a:solidFill>
                          <a:latin typeface="Calibri"/>
                        </a:rPr>
                        <a:t>23.1.2.</a:t>
                      </a:r>
                      <a:r>
                        <a:rPr sz="700" b="0" i="0">
                          <a:solidFill>
                            <a:srgbClr val="000000"/>
                          </a:solidFill>
                          <a:latin typeface="Times New Roman"/>
                        </a:rPr>
                        <a:t> </a:t>
                      </a:r>
                      <a:r>
                        <a:rPr sz="1100" b="0" i="0">
                          <a:solidFill>
                            <a:srgbClr val="000000"/>
                          </a:solidFill>
                          <a:latin typeface="Calibri"/>
                        </a:rPr>
                        <a:t>Apparent Production Volume (UNITS)</a:t>
                      </a:r>
                      <a:endParaRPr sz="1100"/>
                    </a:p>
                  </a:txBody>
                  <a:tcPr marL="771525" marR="9525" marT="9525" marB="0" anchor="ctr"/>
                </a:tc>
              </a:tr>
              <a:tr h="175260">
                <a:tc>
                  <a:txBody>
                    <a:bodyPr wrap="square"/>
                    <a:lstStyle/>
                    <a:p>
                      <a:pPr algn="l"/>
                      <a:r>
                        <a:rPr sz="1100" b="0" i="0">
                          <a:solidFill>
                            <a:srgbClr val="000000"/>
                          </a:solidFill>
                          <a:latin typeface="Calibri"/>
                        </a:rPr>
                        <a:t>23.1.3.</a:t>
                      </a:r>
                      <a:r>
                        <a:rPr sz="700" b="0" i="0">
                          <a:solidFill>
                            <a:srgbClr val="000000"/>
                          </a:solidFill>
                          <a:latin typeface="Times New Roman"/>
                        </a:rPr>
                        <a:t> </a:t>
                      </a:r>
                      <a:r>
                        <a:rPr sz="1100" b="0" i="0">
                          <a:solidFill>
                            <a:srgbClr val="000000"/>
                          </a:solidFill>
                          <a:latin typeface="Calibri"/>
                        </a:rPr>
                        <a:t>Pricing Analysis (USD Per Unit) By Product Type</a:t>
                      </a:r>
                      <a:endParaRPr sz="1100"/>
                    </a:p>
                  </a:txBody>
                  <a:tcPr marL="771525" marR="9525" marT="9525" marB="0" anchor="ctr"/>
                </a:tc>
              </a:tr>
              <a:tr h="175260">
                <a:tc>
                  <a:txBody>
                    <a:bodyPr wrap="square"/>
                    <a:lstStyle/>
                    <a:p>
                      <a:pPr algn="l"/>
                      <a:r>
                        <a:rPr sz="1100" b="0" i="0">
                          <a:solidFill>
                            <a:srgbClr val="000000"/>
                          </a:solidFill>
                          <a:latin typeface="Calibri"/>
                        </a:rPr>
                        <a:t>23.1.4.</a:t>
                      </a:r>
                      <a:r>
                        <a:rPr sz="700" b="0" i="0">
                          <a:solidFill>
                            <a:srgbClr val="000000"/>
                          </a:solidFill>
                          <a:latin typeface="Times New Roman"/>
                        </a:rPr>
                        <a:t> </a:t>
                      </a:r>
                      <a:r>
                        <a:rPr sz="1100" b="0" i="0">
                          <a:solidFill>
                            <a:srgbClr val="000000"/>
                          </a:solidFill>
                          <a:latin typeface="Calibri"/>
                        </a:rPr>
                        <a:t>Revenue (USD Mn) and Market Share by Market Segments</a:t>
                      </a:r>
                      <a:endParaRPr sz="1100"/>
                    </a:p>
                  </a:txBody>
                  <a:tcPr marL="771525" marR="9525" marT="9525" marB="0" anchor="ctr"/>
                </a:tc>
              </a:tr>
              <a:tr h="175260">
                <a:tc>
                  <a:txBody>
                    <a:bodyPr wrap="square"/>
                    <a:lstStyle/>
                    <a:p>
                      <a:pPr algn="l"/>
                      <a:r>
                        <a:rPr sz="1100" b="0" i="1">
                          <a:solidFill>
                            <a:srgbClr val="000000"/>
                          </a:solidFill>
                          <a:latin typeface="Calibri"/>
                        </a:rPr>
                        <a:t>23.1.4.1.</a:t>
                      </a:r>
                      <a:r>
                        <a:rPr sz="700" b="0" i="1">
                          <a:solidFill>
                            <a:srgbClr val="000000"/>
                          </a:solidFill>
                          <a:latin typeface="Times New Roman"/>
                        </a:rPr>
                        <a:t> </a:t>
                      </a:r>
                      <a:r>
                        <a:rPr sz="1100" b="0" i="1">
                          <a:solidFill>
                            <a:srgbClr val="000000"/>
                          </a:solidFill>
                          <a:latin typeface="Calibri"/>
                        </a:rPr>
                        <a:t>Product Sales</a:t>
                      </a:r>
                      <a:endParaRPr sz="1100"/>
                    </a:p>
                  </a:txBody>
                  <a:tcPr marL="1028700" marR="9525" marT="9525" marB="0" anchor="ctr"/>
                </a:tc>
              </a:tr>
              <a:tr h="175260">
                <a:tc>
                  <a:txBody>
                    <a:bodyPr wrap="square"/>
                    <a:lstStyle/>
                    <a:p>
                      <a:pPr algn="l"/>
                      <a:r>
                        <a:rPr sz="1100" b="0" i="1">
                          <a:solidFill>
                            <a:srgbClr val="000000"/>
                          </a:solidFill>
                          <a:latin typeface="Calibri"/>
                        </a:rPr>
                        <a:t>23.1.4.2.</a:t>
                      </a:r>
                      <a:r>
                        <a:rPr sz="700" b="0" i="1">
                          <a:solidFill>
                            <a:srgbClr val="000000"/>
                          </a:solidFill>
                          <a:latin typeface="Times New Roman"/>
                        </a:rPr>
                        <a:t> </a:t>
                      </a:r>
                      <a:r>
                        <a:rPr sz="1100" b="0" i="1">
                          <a:solidFill>
                            <a:srgbClr val="000000"/>
                          </a:solidFill>
                          <a:latin typeface="Calibri"/>
                        </a:rPr>
                        <a:t>Channel Sales</a:t>
                      </a:r>
                      <a:endParaRPr sz="1100"/>
                    </a:p>
                  </a:txBody>
                  <a:tcPr marL="1028700" marR="9525" marT="9525" marB="0" anchor="ctr"/>
                </a:tc>
              </a:tr>
              <a:tr h="175260">
                <a:tc>
                  <a:txBody>
                    <a:bodyPr wrap="square"/>
                    <a:lstStyle/>
                    <a:p>
                      <a:pPr algn="l"/>
                      <a:r>
                        <a:rPr sz="1100" b="0" i="1">
                          <a:solidFill>
                            <a:srgbClr val="000000"/>
                          </a:solidFill>
                          <a:latin typeface="Calibri"/>
                        </a:rPr>
                        <a:t>23.1.4.3.</a:t>
                      </a:r>
                      <a:r>
                        <a:rPr sz="700" b="0" i="1">
                          <a:solidFill>
                            <a:srgbClr val="000000"/>
                          </a:solidFill>
                          <a:latin typeface="Times New Roman"/>
                        </a:rPr>
                        <a:t> </a:t>
                      </a:r>
                      <a:r>
                        <a:rPr sz="1100" b="0" i="1">
                          <a:solidFill>
                            <a:srgbClr val="000000"/>
                          </a:solidFill>
                          <a:latin typeface="Calibri"/>
                        </a:rPr>
                        <a:t>Regional Sales</a:t>
                      </a:r>
                      <a:endParaRPr sz="1100"/>
                    </a:p>
                  </a:txBody>
                  <a:tcPr marL="1028700" marR="9525" marT="9525" marB="0" anchor="ctr"/>
                </a:tc>
              </a:tr>
              <a:tr h="175260">
                <a:tc>
                  <a:txBody>
                    <a:bodyPr wrap="square"/>
                    <a:lstStyle/>
                    <a:p>
                      <a:pPr algn="l"/>
                      <a:r>
                        <a:rPr sz="1100" b="0" i="0">
                          <a:solidFill>
                            <a:srgbClr val="000000"/>
                          </a:solidFill>
                          <a:latin typeface="Calibri"/>
                        </a:rPr>
                        <a:t>23.1.5.</a:t>
                      </a:r>
                      <a:r>
                        <a:rPr sz="700" b="0" i="0">
                          <a:solidFill>
                            <a:srgbClr val="000000"/>
                          </a:solidFill>
                          <a:latin typeface="Times New Roman"/>
                        </a:rPr>
                        <a:t> </a:t>
                      </a:r>
                      <a:r>
                        <a:rPr sz="1100" b="0" i="0">
                          <a:solidFill>
                            <a:srgbClr val="000000"/>
                          </a:solidFill>
                          <a:latin typeface="Calibri"/>
                        </a:rPr>
                        <a:t>Sales Footprint</a:t>
                      </a:r>
                      <a:endParaRPr sz="1100"/>
                    </a:p>
                  </a:txBody>
                  <a:tcPr marL="771525" marR="9525" marT="9525" marB="0" anchor="ctr"/>
                </a:tc>
              </a:tr>
              <a:tr h="175260">
                <a:tc>
                  <a:txBody>
                    <a:bodyPr wrap="square"/>
                    <a:lstStyle/>
                    <a:p>
                      <a:pPr algn="l"/>
                      <a:r>
                        <a:rPr sz="1100" b="0" i="0">
                          <a:solidFill>
                            <a:srgbClr val="000000"/>
                          </a:solidFill>
                          <a:latin typeface="Calibri"/>
                        </a:rPr>
                        <a:t>23.1.6.</a:t>
                      </a:r>
                      <a:r>
                        <a:rPr sz="700" b="0" i="0">
                          <a:solidFill>
                            <a:srgbClr val="000000"/>
                          </a:solidFill>
                          <a:latin typeface="Times New Roman"/>
                        </a:rPr>
                        <a:t> </a:t>
                      </a:r>
                      <a:r>
                        <a:rPr sz="1100" b="0" i="0">
                          <a:solidFill>
                            <a:srgbClr val="000000"/>
                          </a:solidFill>
                          <a:latin typeface="Calibri"/>
                        </a:rPr>
                        <a:t>Strategy Overview</a:t>
                      </a:r>
                      <a:endParaRPr sz="1100"/>
                    </a:p>
                  </a:txBody>
                  <a:tcPr marL="771525" marR="9525" marT="9525" marB="0" anchor="ctr"/>
                </a:tc>
              </a:tr>
              <a:tr h="175260">
                <a:tc>
                  <a:txBody>
                    <a:bodyPr wrap="square"/>
                    <a:lstStyle/>
                    <a:p>
                      <a:pPr algn="l"/>
                      <a:r>
                        <a:rPr sz="1100" b="0" i="1">
                          <a:solidFill>
                            <a:srgbClr val="000000"/>
                          </a:solidFill>
                          <a:latin typeface="Calibri"/>
                        </a:rPr>
                        <a:t>23.1.6.1.</a:t>
                      </a:r>
                      <a:r>
                        <a:rPr sz="700" b="0" i="1">
                          <a:solidFill>
                            <a:srgbClr val="000000"/>
                          </a:solidFill>
                          <a:latin typeface="Times New Roman"/>
                        </a:rPr>
                        <a:t> </a:t>
                      </a:r>
                      <a:r>
                        <a:rPr sz="1100" b="0" i="1">
                          <a:solidFill>
                            <a:srgbClr val="000000"/>
                          </a:solidFill>
                          <a:latin typeface="Calibri"/>
                        </a:rPr>
                        <a:t>Marketing Strategy</a:t>
                      </a:r>
                      <a:endParaRPr sz="1100"/>
                    </a:p>
                  </a:txBody>
                  <a:tcPr marL="1028700" marR="9525" marT="9525" marB="0" anchor="ctr"/>
                </a:tc>
              </a:tr>
              <a:tr h="175260">
                <a:tc>
                  <a:txBody>
                    <a:bodyPr wrap="square"/>
                    <a:lstStyle/>
                    <a:p>
                      <a:pPr algn="l"/>
                      <a:r>
                        <a:rPr sz="1100" b="0" i="1">
                          <a:solidFill>
                            <a:srgbClr val="000000"/>
                          </a:solidFill>
                          <a:latin typeface="Calibri"/>
                        </a:rPr>
                        <a:t>23.1.6.2.</a:t>
                      </a:r>
                      <a:r>
                        <a:rPr sz="700" b="0" i="1">
                          <a:solidFill>
                            <a:srgbClr val="000000"/>
                          </a:solidFill>
                          <a:latin typeface="Times New Roman"/>
                        </a:rPr>
                        <a:t> </a:t>
                      </a:r>
                      <a:r>
                        <a:rPr sz="1100" b="0" i="1">
                          <a:solidFill>
                            <a:srgbClr val="000000"/>
                          </a:solidFill>
                          <a:latin typeface="Calibri"/>
                        </a:rPr>
                        <a:t>Product Strategy</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403098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23.1.6.3.</a:t>
                      </a:r>
                      <a:r>
                        <a:rPr sz="700" b="0" i="1">
                          <a:solidFill>
                            <a:srgbClr val="000000"/>
                          </a:solidFill>
                          <a:latin typeface="Times New Roman"/>
                        </a:rPr>
                        <a:t> </a:t>
                      </a:r>
                      <a:r>
                        <a:rPr sz="1100" b="0" i="1">
                          <a:solidFill>
                            <a:srgbClr val="000000"/>
                          </a:solidFill>
                          <a:latin typeface="Calibri"/>
                        </a:rPr>
                        <a:t>Channel Strategy</a:t>
                      </a:r>
                      <a:endParaRPr sz="1100"/>
                    </a:p>
                  </a:txBody>
                  <a:tcPr marL="1028700" marR="9525" marT="9525" marB="0" anchor="ctr"/>
                </a:tc>
              </a:tr>
              <a:tr h="175260">
                <a:tc>
                  <a:txBody>
                    <a:bodyPr wrap="square"/>
                    <a:lstStyle/>
                    <a:p>
                      <a:pPr algn="l"/>
                      <a:r>
                        <a:rPr sz="1100" b="0" i="1">
                          <a:solidFill>
                            <a:srgbClr val="000000"/>
                          </a:solidFill>
                          <a:latin typeface="Calibri"/>
                        </a:rPr>
                        <a:t>23.1.6.4.</a:t>
                      </a:r>
                      <a:r>
                        <a:rPr sz="700" b="0" i="1">
                          <a:solidFill>
                            <a:srgbClr val="000000"/>
                          </a:solidFill>
                          <a:latin typeface="Times New Roman"/>
                        </a:rPr>
                        <a:t> </a:t>
                      </a:r>
                      <a:r>
                        <a:rPr sz="1100" b="0" i="1">
                          <a:solidFill>
                            <a:srgbClr val="000000"/>
                          </a:solidFill>
                          <a:latin typeface="Calibri"/>
                        </a:rPr>
                        <a:t>Pricing Strategy</a:t>
                      </a:r>
                      <a:endParaRPr sz="1100"/>
                    </a:p>
                  </a:txBody>
                  <a:tcPr marL="1028700" marR="9525" marT="9525" marB="0" anchor="ctr"/>
                </a:tc>
              </a:tr>
              <a:tr h="175260">
                <a:tc>
                  <a:txBody>
                    <a:bodyPr wrap="square"/>
                    <a:lstStyle/>
                    <a:p>
                      <a:pPr algn="l"/>
                      <a:r>
                        <a:rPr sz="1100" b="0" i="0">
                          <a:solidFill>
                            <a:srgbClr val="000000"/>
                          </a:solidFill>
                          <a:latin typeface="Calibri"/>
                        </a:rPr>
                        <a:t>23.1.7.</a:t>
                      </a:r>
                      <a:r>
                        <a:rPr sz="700" b="0" i="0">
                          <a:solidFill>
                            <a:srgbClr val="000000"/>
                          </a:solidFill>
                          <a:latin typeface="Times New Roman"/>
                        </a:rPr>
                        <a:t> </a:t>
                      </a:r>
                      <a:r>
                        <a:rPr sz="1100" b="0" i="0">
                          <a:solidFill>
                            <a:srgbClr val="000000"/>
                          </a:solidFill>
                          <a:latin typeface="Calibri"/>
                        </a:rPr>
                        <a:t>SWOT</a:t>
                      </a:r>
                      <a:endParaRPr sz="1100"/>
                    </a:p>
                  </a:txBody>
                  <a:tcPr marL="771525" marR="9525" marT="9525" marB="0" anchor="ctr"/>
                </a:tc>
              </a:tr>
              <a:tr h="175260">
                <a:tc>
                  <a:txBody>
                    <a:bodyPr wrap="square"/>
                    <a:lstStyle/>
                    <a:p>
                      <a:pPr algn="l"/>
                      <a:r>
                        <a:rPr sz="1100" b="0" i="0">
                          <a:solidFill>
                            <a:srgbClr val="000000"/>
                          </a:solidFill>
                          <a:latin typeface="Calibri"/>
                        </a:rPr>
                        <a:t>23.1.8.</a:t>
                      </a:r>
                      <a:r>
                        <a:rPr sz="700" b="0" i="0">
                          <a:solidFill>
                            <a:srgbClr val="000000"/>
                          </a:solidFill>
                          <a:latin typeface="Times New Roman"/>
                        </a:rPr>
                        <a:t> </a:t>
                      </a:r>
                      <a:r>
                        <a:rPr sz="1100" b="0" i="0">
                          <a:solidFill>
                            <a:srgbClr val="000000"/>
                          </a:solidFill>
                          <a:latin typeface="Calibri"/>
                        </a:rPr>
                        <a:t>Analyst Comment</a:t>
                      </a:r>
                      <a:endParaRPr sz="1100"/>
                    </a:p>
                  </a:txBody>
                  <a:tcPr marL="771525" marR="9525" marT="9525" marB="0" anchor="ctr"/>
                </a:tc>
              </a:tr>
              <a:tr h="175260">
                <a:tc>
                  <a:txBody>
                    <a:bodyPr wrap="square"/>
                    <a:lstStyle/>
                    <a:p>
                      <a:pPr algn="l"/>
                      <a:r>
                        <a:rPr sz="1100" b="0" i="1">
                          <a:solidFill>
                            <a:srgbClr val="EE0000"/>
                          </a:solidFill>
                          <a:latin typeface="Calibri"/>
                        </a:rPr>
                        <a:t>Note: All companies shall be indicated in similar manner</a:t>
                      </a:r>
                      <a:endParaRPr sz="1100"/>
                    </a:p>
                  </a:txBody>
                  <a:tcPr marL="9525" marR="9525" marT="9525" marB="0" anchor="ctr"/>
                </a:tc>
              </a:tr>
              <a:tr h="175260">
                <a:tc>
                  <a:txBody>
                    <a:bodyPr wrap="square"/>
                    <a:lstStyle/>
                    <a:p>
                      <a:pPr algn="l"/>
                      <a:r>
                        <a:rPr sz="1100" b="0" i="0">
                          <a:solidFill>
                            <a:srgbClr val="0070C0"/>
                          </a:solidFill>
                          <a:latin typeface="Calibri"/>
                        </a:rPr>
                        <a:t>23.2.</a:t>
                      </a:r>
                      <a:r>
                        <a:rPr sz="700" b="0" i="0">
                          <a:solidFill>
                            <a:srgbClr val="0070C0"/>
                          </a:solidFill>
                          <a:latin typeface="Times New Roman"/>
                        </a:rPr>
                        <a:t>  </a:t>
                      </a:r>
                      <a:r>
                        <a:rPr sz="1100" b="0" i="0">
                          <a:solidFill>
                            <a:srgbClr val="0070C0"/>
                          </a:solidFill>
                          <a:latin typeface="Calibri"/>
                        </a:rPr>
                        <a:t>Sealed Air Corporation</a:t>
                      </a:r>
                      <a:endParaRPr sz="1100"/>
                    </a:p>
                  </a:txBody>
                  <a:tcPr marL="428625" marR="9525" marT="9525" marB="0" anchor="ctr"/>
                </a:tc>
              </a:tr>
              <a:tr h="175260">
                <a:tc>
                  <a:txBody>
                    <a:bodyPr wrap="square"/>
                    <a:lstStyle/>
                    <a:p>
                      <a:pPr algn="l"/>
                      <a:r>
                        <a:rPr sz="1100" b="0" i="0">
                          <a:solidFill>
                            <a:srgbClr val="0070C0"/>
                          </a:solidFill>
                          <a:latin typeface="Calibri"/>
                        </a:rPr>
                        <a:t>23.3.</a:t>
                      </a:r>
                      <a:r>
                        <a:rPr sz="700" b="0" i="0">
                          <a:solidFill>
                            <a:srgbClr val="0070C0"/>
                          </a:solidFill>
                          <a:latin typeface="Times New Roman"/>
                        </a:rPr>
                        <a:t>  </a:t>
                      </a:r>
                      <a:r>
                        <a:rPr sz="1100" b="0" i="0">
                          <a:solidFill>
                            <a:srgbClr val="0070C0"/>
                          </a:solidFill>
                          <a:latin typeface="Calibri"/>
                        </a:rPr>
                        <a:t>Inteplast Group</a:t>
                      </a:r>
                      <a:endParaRPr sz="1100"/>
                    </a:p>
                  </a:txBody>
                  <a:tcPr marL="428625" marR="9525" marT="9525" marB="0" anchor="ctr"/>
                </a:tc>
              </a:tr>
              <a:tr h="175260">
                <a:tc>
                  <a:txBody>
                    <a:bodyPr wrap="square"/>
                    <a:lstStyle/>
                    <a:p>
                      <a:pPr algn="l"/>
                      <a:r>
                        <a:rPr sz="1100" b="0" i="0">
                          <a:solidFill>
                            <a:srgbClr val="0070C0"/>
                          </a:solidFill>
                          <a:latin typeface="Calibri"/>
                        </a:rPr>
                        <a:t>23.4.</a:t>
                      </a:r>
                      <a:r>
                        <a:rPr sz="700" b="0" i="0">
                          <a:solidFill>
                            <a:srgbClr val="0070C0"/>
                          </a:solidFill>
                          <a:latin typeface="Times New Roman"/>
                        </a:rPr>
                        <a:t>  </a:t>
                      </a:r>
                      <a:r>
                        <a:rPr sz="1100" b="0" i="0">
                          <a:solidFill>
                            <a:srgbClr val="0070C0"/>
                          </a:solidFill>
                          <a:latin typeface="Calibri"/>
                        </a:rPr>
                        <a:t>Novolex</a:t>
                      </a:r>
                      <a:endParaRPr sz="1100"/>
                    </a:p>
                  </a:txBody>
                  <a:tcPr marL="428625" marR="9525" marT="9525" marB="0" anchor="ctr"/>
                </a:tc>
              </a:tr>
              <a:tr h="175260">
                <a:tc>
                  <a:txBody>
                    <a:bodyPr wrap="square"/>
                    <a:lstStyle/>
                    <a:p>
                      <a:pPr algn="l"/>
                      <a:r>
                        <a:rPr sz="1100" b="0" i="0">
                          <a:solidFill>
                            <a:srgbClr val="0070C0"/>
                          </a:solidFill>
                          <a:latin typeface="Calibri"/>
                        </a:rPr>
                        <a:t>23.5.</a:t>
                      </a:r>
                      <a:r>
                        <a:rPr sz="700" b="0" i="0">
                          <a:solidFill>
                            <a:srgbClr val="0070C0"/>
                          </a:solidFill>
                          <a:latin typeface="Times New Roman"/>
                        </a:rPr>
                        <a:t>  </a:t>
                      </a:r>
                      <a:r>
                        <a:rPr sz="1100" b="0" i="0">
                          <a:solidFill>
                            <a:srgbClr val="0070C0"/>
                          </a:solidFill>
                          <a:latin typeface="Calibri"/>
                        </a:rPr>
                        <a:t>Coveris</a:t>
                      </a:r>
                      <a:endParaRPr sz="1100"/>
                    </a:p>
                  </a:txBody>
                  <a:tcPr marL="428625" marR="9525" marT="9525" marB="0" anchor="ctr"/>
                </a:tc>
              </a:tr>
              <a:tr h="175260">
                <a:tc>
                  <a:txBody>
                    <a:bodyPr wrap="square"/>
                    <a:lstStyle/>
                    <a:p>
                      <a:pPr algn="l"/>
                      <a:r>
                        <a:rPr sz="1100" b="0" i="0">
                          <a:solidFill>
                            <a:srgbClr val="0070C0"/>
                          </a:solidFill>
                          <a:latin typeface="Calibri"/>
                        </a:rPr>
                        <a:t>23.6.</a:t>
                      </a:r>
                      <a:r>
                        <a:rPr sz="700" b="0" i="0">
                          <a:solidFill>
                            <a:srgbClr val="0070C0"/>
                          </a:solidFill>
                          <a:latin typeface="Times New Roman"/>
                        </a:rPr>
                        <a:t>  </a:t>
                      </a:r>
                      <a:r>
                        <a:rPr sz="1100" b="0" i="0">
                          <a:solidFill>
                            <a:srgbClr val="0070C0"/>
                          </a:solidFill>
                          <a:latin typeface="Calibri"/>
                        </a:rPr>
                        <a:t>Printpack</a:t>
                      </a:r>
                      <a:endParaRPr sz="1100"/>
                    </a:p>
                  </a:txBody>
                  <a:tcPr marL="428625" marR="9525" marT="9525" marB="0" anchor="ctr"/>
                </a:tc>
              </a:tr>
              <a:tr h="175260">
                <a:tc>
                  <a:txBody>
                    <a:bodyPr wrap="square"/>
                    <a:lstStyle/>
                    <a:p>
                      <a:pPr algn="l"/>
                      <a:r>
                        <a:rPr sz="1100" b="0" i="0">
                          <a:solidFill>
                            <a:srgbClr val="0070C0"/>
                          </a:solidFill>
                          <a:latin typeface="Calibri"/>
                        </a:rPr>
                        <a:t>23.7.</a:t>
                      </a:r>
                      <a:r>
                        <a:rPr sz="700" b="0" i="0">
                          <a:solidFill>
                            <a:srgbClr val="0070C0"/>
                          </a:solidFill>
                          <a:latin typeface="Times New Roman"/>
                        </a:rPr>
                        <a:t>  </a:t>
                      </a:r>
                      <a:r>
                        <a:rPr sz="1100" b="0" i="0">
                          <a:solidFill>
                            <a:srgbClr val="0070C0"/>
                          </a:solidFill>
                          <a:latin typeface="Calibri"/>
                        </a:rPr>
                        <a:t>Winpak Ltd.</a:t>
                      </a:r>
                      <a:endParaRPr sz="1100"/>
                    </a:p>
                  </a:txBody>
                  <a:tcPr marL="428625" marR="9525" marT="9525" marB="0" anchor="ctr"/>
                </a:tc>
              </a:tr>
              <a:tr h="175260">
                <a:tc>
                  <a:txBody>
                    <a:bodyPr wrap="square"/>
                    <a:lstStyle/>
                    <a:p>
                      <a:pPr algn="l"/>
                      <a:r>
                        <a:rPr sz="1100" b="0" i="0">
                          <a:solidFill>
                            <a:srgbClr val="0070C0"/>
                          </a:solidFill>
                          <a:latin typeface="Calibri"/>
                        </a:rPr>
                        <a:t>23.8.</a:t>
                      </a:r>
                      <a:r>
                        <a:rPr sz="700" b="0" i="0">
                          <a:solidFill>
                            <a:srgbClr val="0070C0"/>
                          </a:solidFill>
                          <a:latin typeface="Times New Roman"/>
                        </a:rPr>
                        <a:t>  </a:t>
                      </a:r>
                      <a:r>
                        <a:rPr sz="1100" b="0" i="0">
                          <a:solidFill>
                            <a:srgbClr val="0070C0"/>
                          </a:solidFill>
                          <a:latin typeface="Calibri"/>
                        </a:rPr>
                        <a:t>Huhtamaki</a:t>
                      </a:r>
                      <a:endParaRPr sz="1100"/>
                    </a:p>
                  </a:txBody>
                  <a:tcPr marL="428625" marR="9525" marT="9525" marB="0" anchor="ctr"/>
                </a:tc>
              </a:tr>
              <a:tr h="175260">
                <a:tc>
                  <a:txBody>
                    <a:bodyPr wrap="square"/>
                    <a:lstStyle/>
                    <a:p>
                      <a:pPr algn="l"/>
                      <a:r>
                        <a:rPr sz="1100" b="0" i="0">
                          <a:solidFill>
                            <a:srgbClr val="0070C0"/>
                          </a:solidFill>
                          <a:latin typeface="Calibri"/>
                        </a:rPr>
                        <a:t>23.9.</a:t>
                      </a:r>
                      <a:r>
                        <a:rPr sz="700" b="0" i="0">
                          <a:solidFill>
                            <a:srgbClr val="0070C0"/>
                          </a:solidFill>
                          <a:latin typeface="Times New Roman"/>
                        </a:rPr>
                        <a:t>  </a:t>
                      </a:r>
                      <a:r>
                        <a:rPr sz="1100" b="0" i="0">
                          <a:solidFill>
                            <a:srgbClr val="0070C0"/>
                          </a:solidFill>
                          <a:latin typeface="Calibri"/>
                        </a:rPr>
                        <a:t>Berry Global Group</a:t>
                      </a:r>
                      <a:endParaRPr sz="1100"/>
                    </a:p>
                  </a:txBody>
                  <a:tcPr marL="428625" marR="9525" marT="9525" marB="0" anchor="ctr"/>
                </a:tc>
              </a:tr>
              <a:tr h="175260">
                <a:tc>
                  <a:txBody>
                    <a:bodyPr wrap="square"/>
                    <a:lstStyle/>
                    <a:p>
                      <a:pPr algn="l"/>
                      <a:r>
                        <a:rPr sz="1100" b="0" i="0">
                          <a:solidFill>
                            <a:srgbClr val="0070C0"/>
                          </a:solidFill>
                          <a:latin typeface="Calibri"/>
                        </a:rPr>
                        <a:t>23.10.</a:t>
                      </a:r>
                      <a:r>
                        <a:rPr sz="700" b="0" i="0">
                          <a:solidFill>
                            <a:srgbClr val="0070C0"/>
                          </a:solidFill>
                          <a:latin typeface="Times New Roman"/>
                        </a:rPr>
                        <a:t> </a:t>
                      </a:r>
                      <a:r>
                        <a:rPr sz="1100" b="0" i="0">
                          <a:solidFill>
                            <a:srgbClr val="0070C0"/>
                          </a:solidFill>
                          <a:latin typeface="Calibri"/>
                        </a:rPr>
                        <a:t>Mondi Group</a:t>
                      </a:r>
                      <a:endParaRPr sz="1100"/>
                    </a:p>
                  </a:txBody>
                  <a:tcPr marL="428625" marR="9525" marT="9525" marB="0" anchor="ctr"/>
                </a:tc>
              </a:tr>
              <a:tr h="175260">
                <a:tc>
                  <a:txBody>
                    <a:bodyPr wrap="square"/>
                    <a:lstStyle/>
                    <a:p>
                      <a:pPr algn="l"/>
                      <a:r>
                        <a:rPr sz="1100" b="0" i="0">
                          <a:solidFill>
                            <a:srgbClr val="0070C0"/>
                          </a:solidFill>
                          <a:latin typeface="Calibri"/>
                        </a:rPr>
                        <a:t>23.11.</a:t>
                      </a:r>
                      <a:r>
                        <a:rPr sz="700" b="0" i="0">
                          <a:solidFill>
                            <a:srgbClr val="0070C0"/>
                          </a:solidFill>
                          <a:latin typeface="Times New Roman"/>
                        </a:rPr>
                        <a:t> </a:t>
                      </a:r>
                      <a:r>
                        <a:rPr sz="1100" b="0" i="0">
                          <a:solidFill>
                            <a:srgbClr val="0070C0"/>
                          </a:solidFill>
                          <a:latin typeface="Calibri"/>
                        </a:rPr>
                        <a:t>Pactiv Evergreen</a:t>
                      </a:r>
                      <a:endParaRPr sz="1100"/>
                    </a:p>
                  </a:txBody>
                  <a:tcPr marL="428625" marR="9525" marT="9525" marB="0" anchor="ctr"/>
                </a:tc>
              </a:tr>
              <a:tr h="175260">
                <a:tc>
                  <a:txBody>
                    <a:bodyPr wrap="square"/>
                    <a:lstStyle/>
                    <a:p>
                      <a:pPr algn="l"/>
                      <a:r>
                        <a:rPr sz="1100" b="0" i="0">
                          <a:solidFill>
                            <a:srgbClr val="0070C0"/>
                          </a:solidFill>
                          <a:latin typeface="Calibri"/>
                        </a:rPr>
                        <a:t>23.12.</a:t>
                      </a:r>
                      <a:r>
                        <a:rPr sz="700" b="0" i="0">
                          <a:solidFill>
                            <a:srgbClr val="0070C0"/>
                          </a:solidFill>
                          <a:latin typeface="Times New Roman"/>
                        </a:rPr>
                        <a:t> </a:t>
                      </a:r>
                      <a:r>
                        <a:rPr sz="1100" b="0" i="0">
                          <a:solidFill>
                            <a:srgbClr val="0070C0"/>
                          </a:solidFill>
                          <a:latin typeface="Calibri"/>
                        </a:rPr>
                        <a:t>Sonoco Products Company</a:t>
                      </a:r>
                      <a:endParaRPr sz="1100"/>
                    </a:p>
                  </a:txBody>
                  <a:tcPr marL="428625" marR="9525" marT="9525" marB="0" anchor="ctr"/>
                </a:tc>
              </a:tr>
              <a:tr h="175260">
                <a:tc>
                  <a:txBody>
                    <a:bodyPr wrap="square"/>
                    <a:lstStyle/>
                    <a:p>
                      <a:pPr algn="l"/>
                      <a:r>
                        <a:rPr sz="1100" b="0" i="0">
                          <a:solidFill>
                            <a:srgbClr val="0070C0"/>
                          </a:solidFill>
                          <a:latin typeface="Calibri"/>
                        </a:rPr>
                        <a:t>23.13.</a:t>
                      </a:r>
                      <a:r>
                        <a:rPr sz="700" b="0" i="0">
                          <a:solidFill>
                            <a:srgbClr val="0070C0"/>
                          </a:solidFill>
                          <a:latin typeface="Times New Roman"/>
                        </a:rPr>
                        <a:t> </a:t>
                      </a:r>
                      <a:r>
                        <a:rPr sz="1100" b="0" i="0">
                          <a:solidFill>
                            <a:srgbClr val="0070C0"/>
                          </a:solidFill>
                          <a:latin typeface="Calibri"/>
                        </a:rPr>
                        <a:t>A-Pac Manufacturing Co., Inc.</a:t>
                      </a:r>
                      <a:endParaRPr sz="1100"/>
                    </a:p>
                  </a:txBody>
                  <a:tcPr marL="428625" marR="9525" marT="9525" marB="0" anchor="ctr"/>
                </a:tc>
              </a:tr>
              <a:tr h="175260">
                <a:tc>
                  <a:txBody>
                    <a:bodyPr wrap="square"/>
                    <a:lstStyle/>
                    <a:p>
                      <a:pPr algn="l"/>
                      <a:r>
                        <a:rPr sz="1100" b="0" i="0">
                          <a:solidFill>
                            <a:srgbClr val="0070C0"/>
                          </a:solidFill>
                          <a:latin typeface="Calibri"/>
                        </a:rPr>
                        <a:t>23.14.</a:t>
                      </a:r>
                      <a:r>
                        <a:rPr sz="700" b="0" i="0">
                          <a:solidFill>
                            <a:srgbClr val="0070C0"/>
                          </a:solidFill>
                          <a:latin typeface="Times New Roman"/>
                        </a:rPr>
                        <a:t> </a:t>
                      </a:r>
                      <a:r>
                        <a:rPr sz="1100" b="0" i="0">
                          <a:solidFill>
                            <a:srgbClr val="0070C0"/>
                          </a:solidFill>
                          <a:latin typeface="Calibri"/>
                        </a:rPr>
                        <a:t>PPC Flex</a:t>
                      </a:r>
                      <a:endParaRPr sz="1100"/>
                    </a:p>
                  </a:txBody>
                  <a:tcPr marL="428625" marR="9525" marT="9525" marB="0" anchor="ctr"/>
                </a:tc>
              </a:tr>
              <a:tr h="175260">
                <a:tc>
                  <a:txBody>
                    <a:bodyPr wrap="square"/>
                    <a:lstStyle/>
                    <a:p>
                      <a:pPr algn="l"/>
                      <a:r>
                        <a:rPr sz="1100" b="0" i="0">
                          <a:solidFill>
                            <a:srgbClr val="0070C0"/>
                          </a:solidFill>
                          <a:latin typeface="Calibri"/>
                        </a:rPr>
                        <a:t>23.15.</a:t>
                      </a:r>
                      <a:r>
                        <a:rPr sz="700" b="0" i="0">
                          <a:solidFill>
                            <a:srgbClr val="0070C0"/>
                          </a:solidFill>
                          <a:latin typeface="Times New Roman"/>
                        </a:rPr>
                        <a:t> </a:t>
                      </a:r>
                      <a:r>
                        <a:rPr sz="1100" b="0" i="0">
                          <a:solidFill>
                            <a:srgbClr val="0070C0"/>
                          </a:solidFill>
                          <a:latin typeface="Calibri"/>
                        </a:rPr>
                        <a:t>Arihant Packers</a:t>
                      </a:r>
                      <a:endParaRPr sz="1100"/>
                    </a:p>
                  </a:txBody>
                  <a:tcPr marL="428625" marR="9525" marT="9525" marB="0" anchor="ctr"/>
                </a:tc>
              </a:tr>
              <a:tr h="175260">
                <a:tc>
                  <a:txBody>
                    <a:bodyPr wrap="square"/>
                    <a:lstStyle/>
                    <a:p>
                      <a:pPr algn="l"/>
                      <a:r>
                        <a:rPr sz="1100" b="0" i="0">
                          <a:solidFill>
                            <a:srgbClr val="0070C0"/>
                          </a:solidFill>
                          <a:latin typeface="Calibri"/>
                        </a:rPr>
                        <a:t>23.16.</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tr>
              <a:tr h="175260">
                <a:tc>
                  <a:txBody>
                    <a:bodyPr wrap="square"/>
                    <a:lstStyle/>
                    <a:p>
                      <a:pPr algn="l"/>
                      <a:r>
                        <a:rPr sz="1100" b="1" i="0">
                          <a:solidFill>
                            <a:srgbClr val="EE0000"/>
                          </a:solidFill>
                          <a:latin typeface="Calibri"/>
                        </a:rPr>
                        <a:t>ADD SECTIONS AS PER STORY LINE</a:t>
                      </a:r>
                      <a:endParaRPr sz="1100"/>
                    </a:p>
                  </a:txBody>
                  <a:tcPr marL="9525" marR="9525" marT="9525" marB="0" anchor="ctr"/>
                </a:tc>
              </a:tr>
              <a:tr h="175260">
                <a:tc>
                  <a:txBody>
                    <a:bodyPr wrap="square"/>
                    <a:lstStyle/>
                    <a:p>
                      <a:pPr algn="l"/>
                      <a:r>
                        <a:rPr sz="1100" b="1" i="0">
                          <a:solidFill>
                            <a:srgbClr val="000000"/>
                          </a:solidFill>
                          <a:latin typeface="Calibri"/>
                        </a:rPr>
                        <a:t>24.</a:t>
                      </a:r>
                      <a:r>
                        <a:rPr sz="700" b="1" i="0">
                          <a:solidFill>
                            <a:srgbClr val="000000"/>
                          </a:solidFill>
                          <a:latin typeface="Times New Roman"/>
                        </a:rPr>
                        <a:t>    </a:t>
                      </a:r>
                      <a:r>
                        <a:rPr sz="1100" b="1" i="0">
                          <a:solidFill>
                            <a:srgbClr val="000000"/>
                          </a:solidFill>
                          <a:latin typeface="Calibri"/>
                        </a:rPr>
                        <a:t>Assumptions and Acronyms Used</a:t>
                      </a:r>
                      <a:endParaRPr sz="1100"/>
                    </a:p>
                  </a:txBody>
                  <a:tcPr marL="171450" marR="9525" marT="9525" marB="0" anchor="ctr"/>
                </a:tc>
              </a:tr>
              <a:tr h="175260">
                <a:tc>
                  <a:txBody>
                    <a:bodyPr wrap="square"/>
                    <a:lstStyle/>
                    <a:p>
                      <a:pPr algn="l"/>
                      <a:r>
                        <a:rPr sz="1100" b="1" i="0">
                          <a:solidFill>
                            <a:srgbClr val="000000"/>
                          </a:solidFill>
                          <a:latin typeface="Calibri"/>
                        </a:rPr>
                        <a:t>25.</a:t>
                      </a:r>
                      <a:r>
                        <a:rPr sz="700" b="1" i="0">
                          <a:solidFill>
                            <a:srgbClr val="000000"/>
                          </a:solidFill>
                          <a:latin typeface="Times New Roman"/>
                        </a:rPr>
                        <a:t>    </a:t>
                      </a:r>
                      <a:r>
                        <a:rPr sz="1100" b="1" i="0">
                          <a:solidFill>
                            <a:srgbClr val="000000"/>
                          </a:solidFill>
                          <a:latin typeface="Calibri"/>
                        </a:rPr>
                        <a:t>Research Methodology</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List of Figures, List of Tables</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figure in the full study, by analysis block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table in the full study, by analysis block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(1/4)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 Global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2: Global Market Value Snapshot,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3: Global Market Taxonomy by Segment, 2026</a:t>
                      </a:r>
                      <a:endParaRPr sz="1050"/>
                    </a:p>
                  </a:txBody>
                  <a:tcPr marL="9525" marR="9525" marT="9525" marB="0" anchor="ctr"/>
                </a:tc>
              </a:tr>
              <a:tr h="169606">
                <a:tc>
                  <a:txBody>
                    <a:bodyPr wrap="square"/>
                    <a:lstStyle/>
                    <a:p>
                      <a:pPr algn="l"/>
                      <a:r>
                        <a:rPr sz="1050" b="0" i="0">
                          <a:solidFill>
                            <a:srgbClr val="000000"/>
                          </a:solidFill>
                          <a:latin typeface="Calibri"/>
                        </a:rPr>
                        <a:t>Figure 4: Global Market Share by Product Format, %, 2026</a:t>
                      </a:r>
                      <a:endParaRPr sz="1050"/>
                    </a:p>
                  </a:txBody>
                  <a:tcPr marL="9525" marR="9525" marT="9525" marB="0" anchor="ctr"/>
                </a:tc>
              </a:tr>
              <a:tr h="169606">
                <a:tc>
                  <a:txBody>
                    <a:bodyPr wrap="square"/>
                    <a:lstStyle/>
                    <a:p>
                      <a:pPr algn="l"/>
                      <a:r>
                        <a:rPr sz="1050" b="0" i="0">
                          <a:solidFill>
                            <a:srgbClr val="000000"/>
                          </a:solidFill>
                          <a:latin typeface="Calibri"/>
                        </a:rPr>
                        <a:t>Figure 5: Global Market Share by Hold Level, %, 2026</a:t>
                      </a:r>
                      <a:endParaRPr sz="1050"/>
                    </a:p>
                  </a:txBody>
                  <a:tcPr marL="9525" marR="9525" marT="9525" marB="0" anchor="ctr"/>
                </a:tc>
              </a:tr>
              <a:tr h="169606">
                <a:tc>
                  <a:txBody>
                    <a:bodyPr wrap="square"/>
                    <a:lstStyle/>
                    <a:p>
                      <a:pPr algn="l"/>
                      <a:r>
                        <a:rPr sz="1050" b="0" i="0">
                          <a:solidFill>
                            <a:srgbClr val="000000"/>
                          </a:solidFill>
                          <a:latin typeface="Calibri"/>
                        </a:rPr>
                        <a:t>Figure 6: Global Market Share by Finish, %, 2026</a:t>
                      </a:r>
                      <a:endParaRPr sz="1050"/>
                    </a:p>
                  </a:txBody>
                  <a:tcPr marL="9525" marR="9525" marT="9525" marB="0" anchor="ctr"/>
                </a:tc>
              </a:tr>
              <a:tr h="169606">
                <a:tc>
                  <a:txBody>
                    <a:bodyPr wrap="square"/>
                    <a:lstStyle/>
                    <a:p>
                      <a:pPr algn="l"/>
                      <a:r>
                        <a:rPr sz="1050" b="0" i="0">
                          <a:solidFill>
                            <a:srgbClr val="000000"/>
                          </a:solidFill>
                          <a:latin typeface="Calibri"/>
                        </a:rPr>
                        <a:t>Figure 7: Global Market Share by Distribution Channel, %, 2026</a:t>
                      </a:r>
                      <a:endParaRPr sz="1050"/>
                    </a:p>
                  </a:txBody>
                  <a:tcPr marL="9525" marR="9525" marT="9525" marB="0" anchor="ctr"/>
                </a:tc>
              </a:tr>
              <a:tr h="169606">
                <a:tc>
                  <a:txBody>
                    <a:bodyPr wrap="square"/>
                    <a:lstStyle/>
                    <a:p>
                      <a:pPr algn="l"/>
                      <a:r>
                        <a:rPr sz="1050" b="0" i="0">
                          <a:solidFill>
                            <a:srgbClr val="000000"/>
                          </a:solidFill>
                          <a:latin typeface="Calibri"/>
                        </a:rPr>
                        <a:t>Figure 8: Global Market Share by Primary Styling Benefit, %, 2026</a:t>
                      </a:r>
                      <a:endParaRPr sz="1050"/>
                    </a:p>
                  </a:txBody>
                  <a:tcPr marL="9525" marR="9525" marT="9525" marB="0" anchor="ctr"/>
                </a:tc>
              </a:tr>
              <a:tr h="169606">
                <a:tc>
                  <a:txBody>
                    <a:bodyPr wrap="square"/>
                    <a:lstStyle/>
                    <a:p>
                      <a:pPr algn="l"/>
                      <a:r>
                        <a:rPr sz="1050" b="0" i="0">
                          <a:solidFill>
                            <a:srgbClr val="000000"/>
                          </a:solidFill>
                          <a:latin typeface="Calibri"/>
                        </a:rPr>
                        <a:t>Figure 9: Global Market Share by Hair Type Targeted, %, 2026</a:t>
                      </a:r>
                      <a:endParaRPr sz="1050"/>
                    </a:p>
                  </a:txBody>
                  <a:tcPr marL="9525" marR="9525" marT="9525" marB="0" anchor="ctr"/>
                </a:tc>
              </a:tr>
              <a:tr h="169606">
                <a:tc>
                  <a:txBody>
                    <a:bodyPr wrap="square"/>
                    <a:lstStyle/>
                    <a:p>
                      <a:pPr algn="l"/>
                      <a:r>
                        <a:rPr sz="1050" b="0" i="0">
                          <a:solidFill>
                            <a:srgbClr val="000000"/>
                          </a:solidFill>
                          <a:latin typeface="Calibri"/>
                        </a:rPr>
                        <a:t>Figure 10: Global Market Historical Value, US$ Mn, 2021–2025</a:t>
                      </a:r>
                      <a:endParaRPr sz="1050"/>
                    </a:p>
                  </a:txBody>
                  <a:tcPr marL="9525" marR="9525" marT="9525" marB="0" anchor="ctr"/>
                </a:tc>
              </a:tr>
              <a:tr h="169606">
                <a:tc>
                  <a:txBody>
                    <a:bodyPr wrap="square"/>
                    <a:lstStyle/>
                    <a:p>
                      <a:pPr algn="l"/>
                      <a:r>
                        <a:rPr sz="1050" b="0" i="0">
                          <a:solidFill>
                            <a:srgbClr val="000000"/>
                          </a:solidFill>
                          <a:latin typeface="Calibri"/>
                        </a:rPr>
                        <a:t>Figure 11: Global Market Forecast Value, US$ Mn, 2026–2036</a:t>
                      </a:r>
                      <a:endParaRPr sz="1050"/>
                    </a:p>
                  </a:txBody>
                  <a:tcPr marL="9525" marR="9525" marT="9525" marB="0" anchor="ctr"/>
                </a:tc>
              </a:tr>
              <a:tr h="169606">
                <a:tc>
                  <a:txBody>
                    <a:bodyPr wrap="square"/>
                    <a:lstStyle/>
                    <a:p>
                      <a:pPr algn="l"/>
                      <a:r>
                        <a:rPr sz="1050" b="0" i="0">
                          <a:solidFill>
                            <a:srgbClr val="000000"/>
                          </a:solidFill>
                          <a:latin typeface="Calibri"/>
                        </a:rPr>
                        <a:t>Figure 12: Global Market YoY Growth, %, 2021–2036</a:t>
                      </a:r>
                      <a:endParaRPr sz="1050"/>
                    </a:p>
                  </a:txBody>
                  <a:tcPr marL="9525" marR="9525" marT="9525" marB="0" anchor="ctr"/>
                </a:tc>
              </a:tr>
              <a:tr h="169606">
                <a:tc>
                  <a:txBody>
                    <a:bodyPr wrap="square"/>
                    <a:lstStyle/>
                    <a:p>
                      <a:pPr algn="l"/>
                      <a:r>
                        <a:rPr sz="1050" b="0" i="0">
                          <a:solidFill>
                            <a:srgbClr val="000000"/>
                          </a:solidFill>
                          <a:latin typeface="Calibri"/>
                        </a:rPr>
                        <a:t>Figure 13: Global Market Volume and YoY Growth, Mn Units and %, 2021–2036</a:t>
                      </a:r>
                      <a:endParaRPr sz="1050"/>
                    </a:p>
                  </a:txBody>
                  <a:tcPr marL="9525" marR="9525" marT="9525" marB="0" anchor="ctr"/>
                </a:tc>
              </a:tr>
              <a:tr h="169606">
                <a:tc>
                  <a:txBody>
                    <a:bodyPr wrap="square"/>
                    <a:lstStyle/>
                    <a:p>
                      <a:pPr algn="l"/>
                      <a:r>
                        <a:rPr sz="1050" b="0" i="0">
                          <a:solidFill>
                            <a:srgbClr val="000000"/>
                          </a:solidFill>
                          <a:latin typeface="Calibri"/>
                        </a:rPr>
                        <a:t>Figure 14: Global Market Volume vs Value CAGR Comparison, %, 2026–2036</a:t>
                      </a:r>
                      <a:endParaRPr sz="1050"/>
                    </a:p>
                  </a:txBody>
                  <a:tcPr marL="9525" marR="9525" marT="9525" marB="0" anchor="ctr"/>
                </a:tc>
              </a:tr>
              <a:tr h="169606">
                <a:tc>
                  <a:txBody>
                    <a:bodyPr wrap="square"/>
                    <a:lstStyle/>
                    <a:p>
                      <a:pPr algn="l"/>
                      <a:r>
                        <a:rPr sz="1050" b="0" i="0">
                          <a:solidFill>
                            <a:srgbClr val="000000"/>
                          </a:solidFill>
                          <a:latin typeface="Calibri"/>
                        </a:rPr>
                        <a:t>Figure 15: Global Market Average Selling Price, US$/Units, 2021–2036</a:t>
                      </a:r>
                      <a:endParaRPr sz="1050"/>
                    </a:p>
                  </a:txBody>
                  <a:tcPr marL="9525" marR="9525" marT="9525" marB="0" anchor="ctr"/>
                </a:tc>
              </a:tr>
              <a:tr h="169606">
                <a:tc>
                  <a:txBody>
                    <a:bodyPr wrap="square"/>
                    <a:lstStyle/>
                    <a:p>
                      <a:pPr algn="l"/>
                      <a:r>
                        <a:rPr sz="1050" b="0" i="0">
                          <a:solidFill>
                            <a:srgbClr val="000000"/>
                          </a:solidFill>
                          <a:latin typeface="Calibri"/>
                        </a:rPr>
                        <a:t>Figure 16: Global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17: Global Market Incremental Opportunity by Year, US$ Mn, 2026–2036</a:t>
                      </a:r>
                      <a:endParaRPr sz="1050"/>
                    </a:p>
                  </a:txBody>
                  <a:tcPr marL="9525" marR="9525" marT="9525" marB="0" anchor="ctr"/>
                </a:tc>
              </a:tr>
              <a:tr h="169606">
                <a:tc>
                  <a:txBody>
                    <a:bodyPr wrap="square"/>
                    <a:lstStyle/>
                    <a:p>
                      <a:pPr algn="l"/>
                      <a:r>
                        <a:rPr sz="1050" b="0" i="0">
                          <a:solidFill>
                            <a:srgbClr val="000000"/>
                          </a:solidFill>
                          <a:latin typeface="Calibri"/>
                        </a:rPr>
                        <a:t>Figure 18: Global Market Historical vs Forecast CAGR, %, 2021–2036</a:t>
                      </a:r>
                      <a:endParaRPr sz="1050"/>
                    </a:p>
                  </a:txBody>
                  <a:tcPr marL="9525" marR="9525" marT="9525" marB="0" anchor="ctr"/>
                </a:tc>
              </a:tr>
              <a:tr h="169606">
                <a:tc>
                  <a:txBody>
                    <a:bodyPr wrap="square"/>
                    <a:lstStyle/>
                    <a:p>
                      <a:pPr algn="l"/>
                      <a:r>
                        <a:rPr sz="1050" b="0" i="0">
                          <a:solidFill>
                            <a:srgbClr val="000000"/>
                          </a:solidFill>
                          <a:latin typeface="Calibri"/>
                        </a:rPr>
                        <a:t>Figure 19: Global Market Value by Scenario (Optimistic, Likely, Pessimistic), US$ Mn, 2026–2036</a:t>
                      </a:r>
                      <a:endParaRPr sz="1050"/>
                    </a:p>
                  </a:txBody>
                  <a:tcPr marL="9525" marR="9525" marT="9525" marB="0" anchor="ctr"/>
                </a:tc>
              </a:tr>
              <a:tr h="169606">
                <a:tc>
                  <a:txBody>
                    <a:bodyPr wrap="square"/>
                    <a:lstStyle/>
                    <a:p>
                      <a:pPr algn="l"/>
                      <a:r>
                        <a:rPr sz="1050" b="0" i="0">
                          <a:solidFill>
                            <a:srgbClr val="000000"/>
                          </a:solidFill>
                          <a:latin typeface="Calibri"/>
                        </a:rPr>
                        <a:t>Figure 20: Global Market Size Evolution Index, 2025=100, 2021–2036</a:t>
                      </a:r>
                      <a:endParaRPr sz="1050"/>
                    </a:p>
                  </a:txBody>
                  <a:tcPr marL="9525" marR="9525" marT="9525" marB="0" anchor="ctr"/>
                </a:tc>
              </a:tr>
              <a:tr h="169606">
                <a:tc>
                  <a:txBody>
                    <a:bodyPr wrap="square"/>
                    <a:lstStyle/>
                    <a:p>
                      <a:pPr algn="l"/>
                      <a:r>
                        <a:rPr sz="1050" b="0" i="0">
                          <a:solidFill>
                            <a:srgbClr val="000000"/>
                          </a:solidFill>
                          <a:latin typeface="Calibri"/>
                        </a:rPr>
                        <a:t>Figure 21: Global Market Value by Product Format, US$ Mn, 2021–2036</a:t>
                      </a:r>
                      <a:endParaRPr sz="1050"/>
                    </a:p>
                  </a:txBody>
                  <a:tcPr marL="9525" marR="9525" marT="9525" marB="0" anchor="ctr"/>
                </a:tc>
              </a:tr>
              <a:tr h="169606">
                <a:tc>
                  <a:txBody>
                    <a:bodyPr wrap="square"/>
                    <a:lstStyle/>
                    <a:p>
                      <a:pPr algn="l"/>
                      <a:r>
                        <a:rPr sz="1050" b="0" i="0">
                          <a:solidFill>
                            <a:srgbClr val="000000"/>
                          </a:solidFill>
                          <a:latin typeface="Calibri"/>
                        </a:rPr>
                        <a:t>Figure 22: Global Market Value by Hold Level, US$ Mn, 2021–2036</a:t>
                      </a:r>
                      <a:endParaRPr sz="1050"/>
                    </a:p>
                  </a:txBody>
                  <a:tcPr marL="9525" marR="9525" marT="9525" marB="0" anchor="ctr"/>
                </a:tc>
              </a:tr>
              <a:tr h="169606">
                <a:tc>
                  <a:txBody>
                    <a:bodyPr wrap="square"/>
                    <a:lstStyle/>
                    <a:p>
                      <a:pPr algn="l"/>
                      <a:r>
                        <a:rPr sz="1050" b="0" i="0">
                          <a:solidFill>
                            <a:srgbClr val="000000"/>
                          </a:solidFill>
                          <a:latin typeface="Calibri"/>
                        </a:rPr>
                        <a:t>Figure 23: Global Market Value by Finish, US$ Mn, 2021–2036</a:t>
                      </a:r>
                      <a:endParaRPr sz="1050"/>
                    </a:p>
                  </a:txBody>
                  <a:tcPr marL="9525" marR="9525" marT="9525" marB="0" anchor="ctr"/>
                </a:tc>
              </a:tr>
              <a:tr h="169606">
                <a:tc>
                  <a:txBody>
                    <a:bodyPr wrap="square"/>
                    <a:lstStyle/>
                    <a:p>
                      <a:pPr algn="l"/>
                      <a:r>
                        <a:rPr sz="1050" b="0" i="0">
                          <a:solidFill>
                            <a:srgbClr val="000000"/>
                          </a:solidFill>
                          <a:latin typeface="Calibri"/>
                        </a:rPr>
                        <a:t>Figure 24: Global Market Value by Distribution Channel, US$ Mn, 2021–2036</a:t>
                      </a:r>
                      <a:endParaRPr sz="1050"/>
                    </a:p>
                  </a:txBody>
                  <a:tcPr marL="9525" marR="9525" marT="9525" marB="0" anchor="ctr"/>
                </a:tc>
              </a:tr>
              <a:tr h="169606">
                <a:tc>
                  <a:txBody>
                    <a:bodyPr wrap="square"/>
                    <a:lstStyle/>
                    <a:p>
                      <a:pPr algn="l"/>
                      <a:r>
                        <a:rPr sz="1050" b="0" i="0">
                          <a:solidFill>
                            <a:srgbClr val="000000"/>
                          </a:solidFill>
                          <a:latin typeface="Calibri"/>
                        </a:rPr>
                        <a:t>Figure 25: Global Market Value by Primary Styling Benefit, US$ Mn, 2021–2036</a:t>
                      </a:r>
                      <a:endParaRPr sz="1050"/>
                    </a:p>
                  </a:txBody>
                  <a:tcPr marL="9525" marR="9525" marT="9525" marB="0" anchor="ctr"/>
                </a:tc>
              </a:tr>
              <a:tr h="169606">
                <a:tc>
                  <a:txBody>
                    <a:bodyPr wrap="square"/>
                    <a:lstStyle/>
                    <a:p>
                      <a:pPr algn="l"/>
                      <a:r>
                        <a:rPr sz="1050" b="0" i="0">
                          <a:solidFill>
                            <a:srgbClr val="000000"/>
                          </a:solidFill>
                          <a:latin typeface="Calibri"/>
                        </a:rPr>
                        <a:t>Figure 26: Global Market Value by Hair Type Targeted, US$ Mn, 2021–2036</a:t>
                      </a:r>
                      <a:endParaRPr sz="1050"/>
                    </a:p>
                  </a:txBody>
                  <a:tcPr marL="9525" marR="9525" marT="9525" marB="0" anchor="ctr"/>
                </a:tc>
              </a:tr>
              <a:tr h="169606">
                <a:tc>
                  <a:txBody>
                    <a:bodyPr wrap="square"/>
                    <a:lstStyle/>
                    <a:p>
                      <a:pPr algn="l"/>
                      <a:r>
                        <a:rPr sz="1050" b="0" i="0">
                          <a:solidFill>
                            <a:srgbClr val="000000"/>
                          </a:solidFill>
                          <a:latin typeface="Calibri"/>
                        </a:rPr>
                        <a:t>Figure 27: Global Market Value by Ingredient Technology, US$ Mn, 2021–2036</a:t>
                      </a:r>
                      <a:endParaRPr sz="1050"/>
                    </a:p>
                  </a:txBody>
                  <a:tcPr marL="9525" marR="9525" marT="9525" marB="0" anchor="ctr"/>
                </a:tc>
              </a:tr>
              <a:tr h="169606">
                <a:tc>
                  <a:txBody>
                    <a:bodyPr wrap="square"/>
                    <a:lstStyle/>
                    <a:p>
                      <a:pPr algn="l"/>
                      <a:r>
                        <a:rPr sz="1050" b="0" i="0">
                          <a:solidFill>
                            <a:srgbClr val="000000"/>
                          </a:solidFill>
                          <a:latin typeface="Calibri"/>
                        </a:rPr>
                        <a:t>Figure 28: Global Market Share by Product Format, %, 2026 and 2036</a:t>
                      </a:r>
                      <a:endParaRPr sz="1050"/>
                    </a:p>
                  </a:txBody>
                  <a:tcPr marL="9525" marR="9525" marT="9525" marB="0" anchor="ctr"/>
                </a:tc>
              </a:tr>
              <a:tr h="169606">
                <a:tc>
                  <a:txBody>
                    <a:bodyPr wrap="square"/>
                    <a:lstStyle/>
                    <a:p>
                      <a:pPr algn="l"/>
                      <a:r>
                        <a:rPr sz="1050" b="0" i="0">
                          <a:solidFill>
                            <a:srgbClr val="000000"/>
                          </a:solidFill>
                          <a:latin typeface="Calibri"/>
                        </a:rPr>
                        <a:t>Figure 29: Global Market Share by Hold Level, %, 2026 and 2036</a:t>
                      </a:r>
                      <a:endParaRPr sz="1050"/>
                    </a:p>
                  </a:txBody>
                  <a:tcPr marL="9525" marR="9525" marT="9525" marB="0" anchor="ctr"/>
                </a:tc>
              </a:tr>
              <a:tr h="169606">
                <a:tc>
                  <a:txBody>
                    <a:bodyPr wrap="square"/>
                    <a:lstStyle/>
                    <a:p>
                      <a:pPr algn="l"/>
                      <a:r>
                        <a:rPr sz="1050" b="0" i="0">
                          <a:solidFill>
                            <a:srgbClr val="000000"/>
                          </a:solidFill>
                          <a:latin typeface="Calibri"/>
                        </a:rPr>
                        <a:t>Figure 30: Global Market Share by Finish, %, 2026 and 2036</a:t>
                      </a:r>
                      <a:endParaRPr sz="1050"/>
                    </a:p>
                  </a:txBody>
                  <a:tcPr marL="9525" marR="9525" marT="9525" marB="0" anchor="ctr"/>
                </a:tc>
              </a:tr>
              <a:tr h="169606">
                <a:tc>
                  <a:txBody>
                    <a:bodyPr wrap="square"/>
                    <a:lstStyle/>
                    <a:p>
                      <a:pPr algn="l"/>
                      <a:r>
                        <a:rPr sz="1050" b="0" i="0">
                          <a:solidFill>
                            <a:srgbClr val="000000"/>
                          </a:solidFill>
                          <a:latin typeface="Calibri"/>
                        </a:rPr>
                        <a:t>Figure 31: Global Market Share by Distribution Channel, %,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32: Global Market Share by Primary Styling Benefit, %, 2026 and 2036</a:t>
                      </a:r>
                      <a:endParaRPr sz="1050"/>
                    </a:p>
                  </a:txBody>
                  <a:tcPr marL="9525" marR="9525" marT="9525" marB="0" anchor="ctr"/>
                </a:tc>
              </a:tr>
              <a:tr h="169606">
                <a:tc>
                  <a:txBody>
                    <a:bodyPr wrap="square"/>
                    <a:lstStyle/>
                    <a:p>
                      <a:pPr algn="l"/>
                      <a:r>
                        <a:rPr sz="1050" b="0" i="0">
                          <a:solidFill>
                            <a:srgbClr val="000000"/>
                          </a:solidFill>
                          <a:latin typeface="Calibri"/>
                        </a:rPr>
                        <a:t>Figure 33: Global Market Share by Hair Type Targeted, %, 2026 and 2036</a:t>
                      </a:r>
                      <a:endParaRPr sz="1050"/>
                    </a:p>
                  </a:txBody>
                  <a:tcPr marL="9525" marR="9525" marT="9525" marB="0" anchor="ctr"/>
                </a:tc>
              </a:tr>
              <a:tr h="169606">
                <a:tc>
                  <a:txBody>
                    <a:bodyPr wrap="square"/>
                    <a:lstStyle/>
                    <a:p>
                      <a:pPr algn="l"/>
                      <a:r>
                        <a:rPr sz="1050" b="0" i="0">
                          <a:solidFill>
                            <a:srgbClr val="000000"/>
                          </a:solidFill>
                          <a:latin typeface="Calibri"/>
                        </a:rPr>
                        <a:t>Figure 34: Global Market Share by Ingredient Technology, %, 2026 and 2036</a:t>
                      </a:r>
                      <a:endParaRPr sz="1050"/>
                    </a:p>
                  </a:txBody>
                  <a:tcPr marL="9525" marR="9525" marT="9525" marB="0" anchor="ctr"/>
                </a:tc>
              </a:tr>
              <a:tr h="169606">
                <a:tc>
                  <a:txBody>
                    <a:bodyPr wrap="square"/>
                    <a:lstStyle/>
                    <a:p>
                      <a:pPr algn="l"/>
                      <a:r>
                        <a:rPr sz="1050" b="0" i="0">
                          <a:solidFill>
                            <a:srgbClr val="000000"/>
                          </a:solidFill>
                          <a:latin typeface="Calibri"/>
                        </a:rPr>
                        <a:t>Figure 35: Global Market Absolute $ Opportunity by Product Format, US$ Mn, 2026–2036</a:t>
                      </a:r>
                      <a:endParaRPr sz="1050"/>
                    </a:p>
                  </a:txBody>
                  <a:tcPr marL="9525" marR="9525" marT="9525" marB="0" anchor="ctr"/>
                </a:tc>
              </a:tr>
              <a:tr h="169606">
                <a:tc>
                  <a:txBody>
                    <a:bodyPr wrap="square"/>
                    <a:lstStyle/>
                    <a:p>
                      <a:pPr algn="l"/>
                      <a:r>
                        <a:rPr sz="1050" b="0" i="0">
                          <a:solidFill>
                            <a:srgbClr val="000000"/>
                          </a:solidFill>
                          <a:latin typeface="Calibri"/>
                        </a:rPr>
                        <a:t>Figure 36: Global Market Absolute $ Opportunity by Hold Level, US$ Mn, 2026–2036</a:t>
                      </a:r>
                      <a:endParaRPr sz="1050"/>
                    </a:p>
                  </a:txBody>
                  <a:tcPr marL="9525" marR="9525" marT="9525" marB="0" anchor="ctr"/>
                </a:tc>
              </a:tr>
              <a:tr h="169606">
                <a:tc>
                  <a:txBody>
                    <a:bodyPr wrap="square"/>
                    <a:lstStyle/>
                    <a:p>
                      <a:pPr algn="l"/>
                      <a:r>
                        <a:rPr sz="1050" b="0" i="0">
                          <a:solidFill>
                            <a:srgbClr val="000000"/>
                          </a:solidFill>
                          <a:latin typeface="Calibri"/>
                        </a:rPr>
                        <a:t>Figure 37: Global Market Absolute $ Opportunity by Finish, US$ Mn, 2026–2036</a:t>
                      </a:r>
                      <a:endParaRPr sz="1050"/>
                    </a:p>
                  </a:txBody>
                  <a:tcPr marL="9525" marR="9525" marT="9525" marB="0" anchor="ctr"/>
                </a:tc>
              </a:tr>
              <a:tr h="169606">
                <a:tc>
                  <a:txBody>
                    <a:bodyPr wrap="square"/>
                    <a:lstStyle/>
                    <a:p>
                      <a:pPr algn="l"/>
                      <a:r>
                        <a:rPr sz="1050" b="0" i="0">
                          <a:solidFill>
                            <a:srgbClr val="000000"/>
                          </a:solidFill>
                          <a:latin typeface="Calibri"/>
                        </a:rPr>
                        <a:t>Figure 38: Global Market Absolute $ Opportunity by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Figure 39: Global Market Absolute $ Opportunity by Primary Styling Benefit, US$ Mn, 2026–2036</a:t>
                      </a:r>
                      <a:endParaRPr sz="1050"/>
                    </a:p>
                  </a:txBody>
                  <a:tcPr marL="9525" marR="9525" marT="9525" marB="0" anchor="ctr"/>
                </a:tc>
              </a:tr>
              <a:tr h="169606">
                <a:tc>
                  <a:txBody>
                    <a:bodyPr wrap="square"/>
                    <a:lstStyle/>
                    <a:p>
                      <a:pPr algn="l"/>
                      <a:r>
                        <a:rPr sz="1050" b="0" i="0">
                          <a:solidFill>
                            <a:srgbClr val="000000"/>
                          </a:solidFill>
                          <a:latin typeface="Calibri"/>
                        </a:rPr>
                        <a:t>Figure 40: Global Market Absolute $ Opportunity by Hair Type Targeted, US$ Mn, 2026–2036</a:t>
                      </a:r>
                      <a:endParaRPr sz="1050"/>
                    </a:p>
                  </a:txBody>
                  <a:tcPr marL="9525" marR="9525" marT="9525" marB="0" anchor="ctr"/>
                </a:tc>
              </a:tr>
              <a:tr h="169606">
                <a:tc>
                  <a:txBody>
                    <a:bodyPr wrap="square"/>
                    <a:lstStyle/>
                    <a:p>
                      <a:pPr algn="l"/>
                      <a:r>
                        <a:rPr sz="1050" b="0" i="0">
                          <a:solidFill>
                            <a:srgbClr val="000000"/>
                          </a:solidFill>
                          <a:latin typeface="Calibri"/>
                        </a:rPr>
                        <a:t>Figure 41: Global Market Absolute $ Opportunity by Ingredient Technology, US$ Mn, 2026–2036</a:t>
                      </a:r>
                      <a:endParaRPr sz="1050"/>
                    </a:p>
                  </a:txBody>
                  <a:tcPr marL="9525" marR="9525" marT="9525" marB="0" anchor="ctr"/>
                </a:tc>
              </a:tr>
              <a:tr h="169606">
                <a:tc>
                  <a:txBody>
                    <a:bodyPr wrap="square"/>
                    <a:lstStyle/>
                    <a:p>
                      <a:pPr algn="l"/>
                      <a:r>
                        <a:rPr sz="1050" b="0" i="0">
                          <a:solidFill>
                            <a:srgbClr val="000000"/>
                          </a:solidFill>
                          <a:latin typeface="Calibri"/>
                        </a:rPr>
                        <a:t>Figure 42: Global Market BPS Share Change by Product Format, 2026–2036</a:t>
                      </a:r>
                      <a:endParaRPr sz="1050"/>
                    </a:p>
                  </a:txBody>
                  <a:tcPr marL="9525" marR="9525" marT="9525" marB="0" anchor="ctr"/>
                </a:tc>
              </a:tr>
              <a:tr h="169606">
                <a:tc>
                  <a:txBody>
                    <a:bodyPr wrap="square"/>
                    <a:lstStyle/>
                    <a:p>
                      <a:pPr algn="l"/>
                      <a:r>
                        <a:rPr sz="1050" b="0" i="0">
                          <a:solidFill>
                            <a:srgbClr val="000000"/>
                          </a:solidFill>
                          <a:latin typeface="Calibri"/>
                        </a:rPr>
                        <a:t>Figure 43: Global Market BPS Share Change by Hold Level, 2026–2036</a:t>
                      </a:r>
                      <a:endParaRPr sz="1050"/>
                    </a:p>
                  </a:txBody>
                  <a:tcPr marL="9525" marR="9525" marT="9525" marB="0" anchor="ctr"/>
                </a:tc>
              </a:tr>
              <a:tr h="169606">
                <a:tc>
                  <a:txBody>
                    <a:bodyPr wrap="square"/>
                    <a:lstStyle/>
                    <a:p>
                      <a:pPr algn="l"/>
                      <a:r>
                        <a:rPr sz="1050" b="0" i="0">
                          <a:solidFill>
                            <a:srgbClr val="000000"/>
                          </a:solidFill>
                          <a:latin typeface="Calibri"/>
                        </a:rPr>
                        <a:t>Figure 44: Global Market BPS Share Change by Finish, 2026–2036</a:t>
                      </a:r>
                      <a:endParaRPr sz="1050"/>
                    </a:p>
                  </a:txBody>
                  <a:tcPr marL="9525" marR="9525" marT="9525" marB="0" anchor="ctr"/>
                </a:tc>
              </a:tr>
              <a:tr h="169606">
                <a:tc>
                  <a:txBody>
                    <a:bodyPr wrap="square"/>
                    <a:lstStyle/>
                    <a:p>
                      <a:pPr algn="l"/>
                      <a:r>
                        <a:rPr sz="1050" b="0" i="0">
                          <a:solidFill>
                            <a:srgbClr val="000000"/>
                          </a:solidFill>
                          <a:latin typeface="Calibri"/>
                        </a:rPr>
                        <a:t>Figure 45: Global Market BPS Share Change by Distribution Channel, 2026–2036</a:t>
                      </a:r>
                      <a:endParaRPr sz="1050"/>
                    </a:p>
                  </a:txBody>
                  <a:tcPr marL="9525" marR="9525" marT="9525" marB="0" anchor="ctr"/>
                </a:tc>
              </a:tr>
              <a:tr h="169606">
                <a:tc>
                  <a:txBody>
                    <a:bodyPr wrap="square"/>
                    <a:lstStyle/>
                    <a:p>
                      <a:pPr algn="l"/>
                      <a:r>
                        <a:rPr sz="1050" b="0" i="0">
                          <a:solidFill>
                            <a:srgbClr val="000000"/>
                          </a:solidFill>
                          <a:latin typeface="Calibri"/>
                        </a:rPr>
                        <a:t>Figure 46: Global Market BPS Share Change by Primary Styling Benefit, 2026–2036</a:t>
                      </a:r>
                      <a:endParaRPr sz="1050"/>
                    </a:p>
                  </a:txBody>
                  <a:tcPr marL="9525" marR="9525" marT="9525" marB="0" anchor="ctr"/>
                </a:tc>
              </a:tr>
              <a:tr h="169606">
                <a:tc>
                  <a:txBody>
                    <a:bodyPr wrap="square"/>
                    <a:lstStyle/>
                    <a:p>
                      <a:pPr algn="l"/>
                      <a:r>
                        <a:rPr sz="1050" b="0" i="0">
                          <a:solidFill>
                            <a:srgbClr val="000000"/>
                          </a:solidFill>
                          <a:latin typeface="Calibri"/>
                        </a:rPr>
                        <a:t>Figure 47: Global Market BPS Share Change by Hair Type Targeted, 2026–2036</a:t>
                      </a:r>
                      <a:endParaRPr sz="1050"/>
                    </a:p>
                  </a:txBody>
                  <a:tcPr marL="9525" marR="9525" marT="9525" marB="0" anchor="ctr"/>
                </a:tc>
              </a:tr>
              <a:tr h="169606">
                <a:tc>
                  <a:txBody>
                    <a:bodyPr wrap="square"/>
                    <a:lstStyle/>
                    <a:p>
                      <a:pPr algn="l"/>
                      <a:r>
                        <a:rPr sz="1050" b="0" i="0">
                          <a:solidFill>
                            <a:srgbClr val="000000"/>
                          </a:solidFill>
                          <a:latin typeface="Calibri"/>
                        </a:rPr>
                        <a:t>Figure 48: Global Market BPS Share Change by Ingredient Technology, 2026–2036</a:t>
                      </a:r>
                      <a:endParaRPr sz="1050"/>
                    </a:p>
                  </a:txBody>
                  <a:tcPr marL="9525" marR="9525" marT="9525" marB="0" anchor="ctr"/>
                </a:tc>
              </a:tr>
              <a:tr h="169606">
                <a:tc>
                  <a:txBody>
                    <a:bodyPr wrap="square"/>
                    <a:lstStyle/>
                    <a:p>
                      <a:pPr algn="l"/>
                      <a:r>
                        <a:rPr sz="1050" b="0" i="0">
                          <a:solidFill>
                            <a:srgbClr val="000000"/>
                          </a:solidFill>
                          <a:latin typeface="Calibri"/>
                        </a:rPr>
                        <a:t>Figure 49: Global Market YoY Growth by Product Format, %, 2026–2036</a:t>
                      </a:r>
                      <a:endParaRPr sz="1050"/>
                    </a:p>
                  </a:txBody>
                  <a:tcPr marL="9525" marR="9525" marT="9525" marB="0" anchor="ctr"/>
                </a:tc>
              </a:tr>
              <a:tr h="169606">
                <a:tc>
                  <a:txBody>
                    <a:bodyPr wrap="square"/>
                    <a:lstStyle/>
                    <a:p>
                      <a:pPr algn="l"/>
                      <a:r>
                        <a:rPr sz="1050" b="0" i="0">
                          <a:solidFill>
                            <a:srgbClr val="000000"/>
                          </a:solidFill>
                          <a:latin typeface="Calibri"/>
                        </a:rPr>
                        <a:t>Figure 50: Global Market YoY Growth by Hold Level, %, 2026–2036</a:t>
                      </a:r>
                      <a:endParaRPr sz="1050"/>
                    </a:p>
                  </a:txBody>
                  <a:tcPr marL="9525" marR="9525" marT="9525" marB="0" anchor="ctr"/>
                </a:tc>
              </a:tr>
              <a:tr h="169606">
                <a:tc>
                  <a:txBody>
                    <a:bodyPr wrap="square"/>
                    <a:lstStyle/>
                    <a:p>
                      <a:pPr algn="l"/>
                      <a:r>
                        <a:rPr sz="1050" b="0" i="0">
                          <a:solidFill>
                            <a:srgbClr val="000000"/>
                          </a:solidFill>
                          <a:latin typeface="Calibri"/>
                        </a:rPr>
                        <a:t>Figure 51: Global Market YoY Growth by Finish, %, 2026–2036</a:t>
                      </a:r>
                      <a:endParaRPr sz="1050"/>
                    </a:p>
                  </a:txBody>
                  <a:tcPr marL="9525" marR="9525" marT="9525" marB="0" anchor="ctr"/>
                </a:tc>
              </a:tr>
              <a:tr h="169606">
                <a:tc>
                  <a:txBody>
                    <a:bodyPr wrap="square"/>
                    <a:lstStyle/>
                    <a:p>
                      <a:pPr algn="l"/>
                      <a:r>
                        <a:rPr sz="1050" b="0" i="0">
                          <a:solidFill>
                            <a:srgbClr val="000000"/>
                          </a:solidFill>
                          <a:latin typeface="Calibri"/>
                        </a:rPr>
                        <a:t>Figure 52: Global Market YoY Growth by Distribution Channel, %, 2026–2036</a:t>
                      </a:r>
                      <a:endParaRPr sz="1050"/>
                    </a:p>
                  </a:txBody>
                  <a:tcPr marL="9525" marR="9525" marT="9525" marB="0" anchor="ctr"/>
                </a:tc>
              </a:tr>
              <a:tr h="169606">
                <a:tc>
                  <a:txBody>
                    <a:bodyPr wrap="square"/>
                    <a:lstStyle/>
                    <a:p>
                      <a:pPr algn="l"/>
                      <a:r>
                        <a:rPr sz="1050" b="0" i="0">
                          <a:solidFill>
                            <a:srgbClr val="000000"/>
                          </a:solidFill>
                          <a:latin typeface="Calibri"/>
                        </a:rPr>
                        <a:t>Figure 53: Global Market YoY Growth by Primary Styling Benefit, %, 2026–2036</a:t>
                      </a:r>
                      <a:endParaRPr sz="1050"/>
                    </a:p>
                  </a:txBody>
                  <a:tcPr marL="9525" marR="9525" marT="9525" marB="0" anchor="ctr"/>
                </a:tc>
              </a:tr>
              <a:tr h="169606">
                <a:tc>
                  <a:txBody>
                    <a:bodyPr wrap="square"/>
                    <a:lstStyle/>
                    <a:p>
                      <a:pPr algn="l"/>
                      <a:r>
                        <a:rPr sz="1050" b="0" i="0">
                          <a:solidFill>
                            <a:srgbClr val="000000"/>
                          </a:solidFill>
                          <a:latin typeface="Calibri"/>
                        </a:rPr>
                        <a:t>Figure 54: Global Market YoY Growth by Hair Type Targeted, %, 2026–2036</a:t>
                      </a:r>
                      <a:endParaRPr sz="1050"/>
                    </a:p>
                  </a:txBody>
                  <a:tcPr marL="9525" marR="9525" marT="9525" marB="0" anchor="ctr"/>
                </a:tc>
              </a:tr>
              <a:tr h="169606">
                <a:tc>
                  <a:txBody>
                    <a:bodyPr wrap="square"/>
                    <a:lstStyle/>
                    <a:p>
                      <a:pPr algn="l"/>
                      <a:r>
                        <a:rPr sz="1050" b="0" i="0">
                          <a:solidFill>
                            <a:srgbClr val="000000"/>
                          </a:solidFill>
                          <a:latin typeface="Calibri"/>
                        </a:rPr>
                        <a:t>Figure 55: Global Market YoY Growth by Ingredient Technology, %, 2026–2036</a:t>
                      </a:r>
                      <a:endParaRPr sz="1050"/>
                    </a:p>
                  </a:txBody>
                  <a:tcPr marL="9525" marR="9525" marT="9525" marB="0" anchor="ctr"/>
                </a:tc>
              </a:tr>
              <a:tr h="169606">
                <a:tc>
                  <a:txBody>
                    <a:bodyPr wrap="square"/>
                    <a:lstStyle/>
                    <a:p>
                      <a:pPr algn="l"/>
                      <a:r>
                        <a:rPr sz="1050" b="0" i="0">
                          <a:solidFill>
                            <a:srgbClr val="000000"/>
                          </a:solidFill>
                          <a:latin typeface="Calibri"/>
                        </a:rPr>
                        <a:t>Figure 56: Global Market Attractiveness by Product Format, 2026–2036</a:t>
                      </a:r>
                      <a:endParaRPr sz="1050"/>
                    </a:p>
                  </a:txBody>
                  <a:tcPr marL="9525" marR="9525" marT="9525" marB="0" anchor="ctr"/>
                </a:tc>
              </a:tr>
              <a:tr h="169606">
                <a:tc>
                  <a:txBody>
                    <a:bodyPr wrap="square"/>
                    <a:lstStyle/>
                    <a:p>
                      <a:pPr algn="l"/>
                      <a:r>
                        <a:rPr sz="1050" b="0" i="0">
                          <a:solidFill>
                            <a:srgbClr val="000000"/>
                          </a:solidFill>
                          <a:latin typeface="Calibri"/>
                        </a:rPr>
                        <a:t>Figure 57: Global Market Attractiveness by Hold Level, 2026–2036</a:t>
                      </a:r>
                      <a:endParaRPr sz="1050"/>
                    </a:p>
                  </a:txBody>
                  <a:tcPr marL="9525" marR="9525" marT="9525" marB="0" anchor="ctr"/>
                </a:tc>
              </a:tr>
              <a:tr h="169606">
                <a:tc>
                  <a:txBody>
                    <a:bodyPr wrap="square"/>
                    <a:lstStyle/>
                    <a:p>
                      <a:pPr algn="l"/>
                      <a:r>
                        <a:rPr sz="1050" b="0" i="0">
                          <a:solidFill>
                            <a:srgbClr val="000000"/>
                          </a:solidFill>
                          <a:latin typeface="Calibri"/>
                        </a:rPr>
                        <a:t>Figure 58: Global Market Attractiveness by Finish, 2026–2036</a:t>
                      </a:r>
                      <a:endParaRPr sz="1050"/>
                    </a:p>
                  </a:txBody>
                  <a:tcPr marL="9525" marR="9525" marT="9525" marB="0" anchor="ctr"/>
                </a:tc>
              </a:tr>
              <a:tr h="169606">
                <a:tc>
                  <a:txBody>
                    <a:bodyPr wrap="square"/>
                    <a:lstStyle/>
                    <a:p>
                      <a:pPr algn="l"/>
                      <a:r>
                        <a:rPr sz="1050" b="0" i="0">
                          <a:solidFill>
                            <a:srgbClr val="000000"/>
                          </a:solidFill>
                          <a:latin typeface="Calibri"/>
                        </a:rPr>
                        <a:t>Figure 59: Global Market Attractiveness by Distribution Channel, 2026–2036</a:t>
                      </a:r>
                      <a:endParaRPr sz="1050"/>
                    </a:p>
                  </a:txBody>
                  <a:tcPr marL="9525" marR="9525" marT="9525" marB="0" anchor="ctr"/>
                </a:tc>
              </a:tr>
              <a:tr h="169606">
                <a:tc>
                  <a:txBody>
                    <a:bodyPr wrap="square"/>
                    <a:lstStyle/>
                    <a:p>
                      <a:pPr algn="l"/>
                      <a:r>
                        <a:rPr sz="1050" b="0" i="0">
                          <a:solidFill>
                            <a:srgbClr val="000000"/>
                          </a:solidFill>
                          <a:latin typeface="Calibri"/>
                        </a:rPr>
                        <a:t>Figure 60: Global Market Attractiveness by Primary Styling Benefit, 2026–2036</a:t>
                      </a:r>
                      <a:endParaRPr sz="1050"/>
                    </a:p>
                  </a:txBody>
                  <a:tcPr marL="9525" marR="9525" marT="9525" marB="0" anchor="ctr"/>
                </a:tc>
              </a:tr>
              <a:tr h="169606">
                <a:tc>
                  <a:txBody>
                    <a:bodyPr wrap="square"/>
                    <a:lstStyle/>
                    <a:p>
                      <a:pPr algn="l"/>
                      <a:r>
                        <a:rPr sz="1050" b="0" i="0">
                          <a:solidFill>
                            <a:srgbClr val="000000"/>
                          </a:solidFill>
                          <a:latin typeface="Calibri"/>
                        </a:rPr>
                        <a:t>Figure 61: Global Market Attractiveness by Hair Type Targeted, 2026–2036</a:t>
                      </a:r>
                      <a:endParaRPr sz="1050"/>
                    </a:p>
                  </a:txBody>
                  <a:tcPr marL="9525" marR="9525" marT="9525" marB="0" anchor="ctr"/>
                </a:tc>
              </a:tr>
              <a:tr h="169606">
                <a:tc>
                  <a:txBody>
                    <a:bodyPr wrap="square"/>
                    <a:lstStyle/>
                    <a:p>
                      <a:pPr algn="l"/>
                      <a:r>
                        <a:rPr sz="1050" b="0" i="0">
                          <a:solidFill>
                            <a:srgbClr val="000000"/>
                          </a:solidFill>
                          <a:latin typeface="Calibri"/>
                        </a:rPr>
                        <a:t>Figure 62: Global Market Attractiveness by Ingredient Technology,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(2/4)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63: Global Market Volume by Product Format, Mn Units, 2021–2036</a:t>
                      </a:r>
                      <a:endParaRPr sz="1050"/>
                    </a:p>
                  </a:txBody>
                  <a:tcPr marL="9525" marR="9525" marT="9525" marB="0" anchor="ctr"/>
                </a:tc>
              </a:tr>
              <a:tr h="169606">
                <a:tc>
                  <a:txBody>
                    <a:bodyPr wrap="square"/>
                    <a:lstStyle/>
                    <a:p>
                      <a:pPr algn="l"/>
                      <a:r>
                        <a:rPr sz="1050" b="0" i="0">
                          <a:solidFill>
                            <a:srgbClr val="000000"/>
                          </a:solidFill>
                          <a:latin typeface="Calibri"/>
                        </a:rPr>
                        <a:t>Figure 64: Global Market Volume by Hold Level, Mn Units, 2021–2036</a:t>
                      </a:r>
                      <a:endParaRPr sz="1050"/>
                    </a:p>
                  </a:txBody>
                  <a:tcPr marL="9525" marR="9525" marT="9525" marB="0" anchor="ctr"/>
                </a:tc>
              </a:tr>
              <a:tr h="169606">
                <a:tc>
                  <a:txBody>
                    <a:bodyPr wrap="square"/>
                    <a:lstStyle/>
                    <a:p>
                      <a:pPr algn="l"/>
                      <a:r>
                        <a:rPr sz="1050" b="0" i="0">
                          <a:solidFill>
                            <a:srgbClr val="000000"/>
                          </a:solidFill>
                          <a:latin typeface="Calibri"/>
                        </a:rPr>
                        <a:t>Figure 65: Global Market Volume by Finish, Mn Units, 2021–2036</a:t>
                      </a:r>
                      <a:endParaRPr sz="1050"/>
                    </a:p>
                  </a:txBody>
                  <a:tcPr marL="9525" marR="9525" marT="9525" marB="0" anchor="ctr"/>
                </a:tc>
              </a:tr>
              <a:tr h="169606">
                <a:tc>
                  <a:txBody>
                    <a:bodyPr wrap="square"/>
                    <a:lstStyle/>
                    <a:p>
                      <a:pPr algn="l"/>
                      <a:r>
                        <a:rPr sz="1050" b="0" i="0">
                          <a:solidFill>
                            <a:srgbClr val="000000"/>
                          </a:solidFill>
                          <a:latin typeface="Calibri"/>
                        </a:rPr>
                        <a:t>Figure 66: Global Market Volume by Distribution Channel, Mn Units, 2021–2036</a:t>
                      </a:r>
                      <a:endParaRPr sz="1050"/>
                    </a:p>
                  </a:txBody>
                  <a:tcPr marL="9525" marR="9525" marT="9525" marB="0" anchor="ctr"/>
                </a:tc>
              </a:tr>
              <a:tr h="169606">
                <a:tc>
                  <a:txBody>
                    <a:bodyPr wrap="square"/>
                    <a:lstStyle/>
                    <a:p>
                      <a:pPr algn="l"/>
                      <a:r>
                        <a:rPr sz="1050" b="0" i="0">
                          <a:solidFill>
                            <a:srgbClr val="000000"/>
                          </a:solidFill>
                          <a:latin typeface="Calibri"/>
                        </a:rPr>
                        <a:t>Figure 67: Global Market Volume by Primary Styling Benefit, Mn Units, 2021–2036</a:t>
                      </a:r>
                      <a:endParaRPr sz="1050"/>
                    </a:p>
                  </a:txBody>
                  <a:tcPr marL="9525" marR="9525" marT="9525" marB="0" anchor="ctr"/>
                </a:tc>
              </a:tr>
              <a:tr h="169606">
                <a:tc>
                  <a:txBody>
                    <a:bodyPr wrap="square"/>
                    <a:lstStyle/>
                    <a:p>
                      <a:pPr algn="l"/>
                      <a:r>
                        <a:rPr sz="1050" b="0" i="0">
                          <a:solidFill>
                            <a:srgbClr val="000000"/>
                          </a:solidFill>
                          <a:latin typeface="Calibri"/>
                        </a:rPr>
                        <a:t>Figure 68: Global Market Volume by Hair Type Targeted, Mn Units, 2021–2036</a:t>
                      </a:r>
                      <a:endParaRPr sz="1050"/>
                    </a:p>
                  </a:txBody>
                  <a:tcPr marL="9525" marR="9525" marT="9525" marB="0" anchor="ctr"/>
                </a:tc>
              </a:tr>
              <a:tr h="169606">
                <a:tc>
                  <a:txBody>
                    <a:bodyPr wrap="square"/>
                    <a:lstStyle/>
                    <a:p>
                      <a:pPr algn="l"/>
                      <a:r>
                        <a:rPr sz="1050" b="0" i="0">
                          <a:solidFill>
                            <a:srgbClr val="000000"/>
                          </a:solidFill>
                          <a:latin typeface="Calibri"/>
                        </a:rPr>
                        <a:t>Figure 69: Product Format × Hold Level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70: Product Format × Finish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71: Product Format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72: Product Format × Primary Styling Benefit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73: Product Format × Hair Type Targeted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74: Product Format × Ingredient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75: Hold Level × Finish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76: Hold Level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77: Hold Level × Primary Styling Benefit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78: Hold Level × Hair Type Targeted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79: Hold Level × Ingredient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80: Finish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81: Finish × Primary Styling Benefit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82: Finish × Hair Type Targeted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83: Finish × Ingredient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84: Distribution Channel × Primary Styling Benefit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85: Distribution Channel × Hair Type Targeted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86: Distribution Channel × Ingredient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87: Primary Styling Benefit × Hair Type Targeted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88: Primary Styling Benefit × Ingredient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89: Hair Type Targeted × Ingredient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90: Global Market Value by Region, US$ Mn, 2021–2036</a:t>
                      </a:r>
                      <a:endParaRPr sz="1050"/>
                    </a:p>
                  </a:txBody>
                  <a:tcPr marL="9525" marR="9525" marT="9525" marB="0" anchor="ctr"/>
                </a:tc>
              </a:tr>
              <a:tr h="169606">
                <a:tc>
                  <a:txBody>
                    <a:bodyPr wrap="square"/>
                    <a:lstStyle/>
                    <a:p>
                      <a:pPr algn="l"/>
                      <a:r>
                        <a:rPr sz="1050" b="0" i="0">
                          <a:solidFill>
                            <a:srgbClr val="000000"/>
                          </a:solidFill>
                          <a:latin typeface="Calibri"/>
                        </a:rPr>
                        <a:t>Figure 91: Global Market Share by Region, %, 2026 and 2036</a:t>
                      </a:r>
                      <a:endParaRPr sz="1050"/>
                    </a:p>
                  </a:txBody>
                  <a:tcPr marL="9525" marR="9525" marT="9525" marB="0" anchor="ctr"/>
                </a:tc>
              </a:tr>
              <a:tr h="169606">
                <a:tc>
                  <a:txBody>
                    <a:bodyPr wrap="square"/>
                    <a:lstStyle/>
                    <a:p>
                      <a:pPr algn="l"/>
                      <a:r>
                        <a:rPr sz="1050" b="0" i="0">
                          <a:solidFill>
                            <a:srgbClr val="000000"/>
                          </a:solidFill>
                          <a:latin typeface="Calibri"/>
                        </a:rPr>
                        <a:t>Figure 92: Global Market CAGR by Region, %, 2026–2036</a:t>
                      </a:r>
                      <a:endParaRPr sz="1050"/>
                    </a:p>
                  </a:txBody>
                  <a:tcPr marL="9525" marR="9525" marT="9525" marB="0" anchor="ctr"/>
                </a:tc>
              </a:tr>
              <a:tr h="169606">
                <a:tc>
                  <a:txBody>
                    <a:bodyPr wrap="square"/>
                    <a:lstStyle/>
                    <a:p>
                      <a:pPr algn="l"/>
                      <a:r>
                        <a:rPr sz="1050" b="0" i="0">
                          <a:solidFill>
                            <a:srgbClr val="000000"/>
                          </a:solidFill>
                          <a:latin typeface="Calibri"/>
                        </a:rPr>
                        <a:t>Figure 93: Global Market Absolute $ Opportunity by Region,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94: Global Market Attractiveness by Region, 2026–2036</a:t>
                      </a:r>
                      <a:endParaRPr sz="1050"/>
                    </a:p>
                  </a:txBody>
                  <a:tcPr marL="9525" marR="9525" marT="9525" marB="0" anchor="ctr"/>
                </a:tc>
              </a:tr>
              <a:tr h="169606">
                <a:tc>
                  <a:txBody>
                    <a:bodyPr wrap="square"/>
                    <a:lstStyle/>
                    <a:p>
                      <a:pPr algn="l"/>
                      <a:r>
                        <a:rPr sz="1050" b="0" i="0">
                          <a:solidFill>
                            <a:srgbClr val="000000"/>
                          </a:solidFill>
                          <a:latin typeface="Calibri"/>
                        </a:rPr>
                        <a:t>Figure 95: Global Market BPS Share Change by Region, 2026–2036</a:t>
                      </a:r>
                      <a:endParaRPr sz="1050"/>
                    </a:p>
                  </a:txBody>
                  <a:tcPr marL="9525" marR="9525" marT="9525" marB="0" anchor="ctr"/>
                </a:tc>
              </a:tr>
              <a:tr h="169606">
                <a:tc>
                  <a:txBody>
                    <a:bodyPr wrap="square"/>
                    <a:lstStyle/>
                    <a:p>
                      <a:pPr algn="l"/>
                      <a:r>
                        <a:rPr sz="1050" b="0" i="0">
                          <a:solidFill>
                            <a:srgbClr val="000000"/>
                          </a:solidFill>
                          <a:latin typeface="Calibri"/>
                        </a:rPr>
                        <a:t>Figure 96: North America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97: Latin America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98: Europe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99: East Asia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100: South Asia &amp; Pacific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101: Middle East &amp; Africa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102: North America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103: Latin America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104: Europe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105: East Asia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106: South Asia &amp; Pacific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107: Middle East &amp; Africa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108: North America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109: Latin America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110: Europe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111: East Asia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112: South Asia &amp; Pacific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113: Middle East &amp; Africa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114: North America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115: Latin America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116: U.S.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117: U.S. Market Value by Product Format,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118: U.S. Market Value by Distribution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119: U.S. Market Share within North America, %, 2026 and 2036</a:t>
                      </a:r>
                      <a:endParaRPr sz="1050"/>
                    </a:p>
                  </a:txBody>
                  <a:tcPr marL="9525" marR="9525" marT="9525" marB="0" anchor="ctr"/>
                </a:tc>
              </a:tr>
              <a:tr h="169606">
                <a:tc>
                  <a:txBody>
                    <a:bodyPr wrap="square"/>
                    <a:lstStyle/>
                    <a:p>
                      <a:pPr algn="l"/>
                      <a:r>
                        <a:rPr sz="1050" b="0" i="0">
                          <a:solidFill>
                            <a:srgbClr val="000000"/>
                          </a:solidFill>
                          <a:latin typeface="Calibri"/>
                        </a:rPr>
                        <a:t>Figure 120: U.S. Market Value by Hold Level,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121: U.S. Market Value by Finish,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122: U.S. Market Value by Primary Styling Benefit,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123: U.S. Market Value by Hair Type Targeted,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124: China Market Value and YoY Growth, US$ Mn and %,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(3/4)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125: China Market Value by Product Format,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126: China Market Value by Distribution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127: China Market Share within East Asia, %, 2026 and 2036</a:t>
                      </a:r>
                      <a:endParaRPr sz="1050"/>
                    </a:p>
                  </a:txBody>
                  <a:tcPr marL="9525" marR="9525" marT="9525" marB="0" anchor="ctr"/>
                </a:tc>
              </a:tr>
              <a:tr h="169606">
                <a:tc>
                  <a:txBody>
                    <a:bodyPr wrap="square"/>
                    <a:lstStyle/>
                    <a:p>
                      <a:pPr algn="l"/>
                      <a:r>
                        <a:rPr sz="1050" b="0" i="0">
                          <a:solidFill>
                            <a:srgbClr val="000000"/>
                          </a:solidFill>
                          <a:latin typeface="Calibri"/>
                        </a:rPr>
                        <a:t>Figure 128: China Market Value by Hold Level,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129: China Market Value by Finish,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130: China Market Value by Primary Styling Benefit,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131: China Market Value by Hair Type Targeted,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132: Japan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133: Japan Market Value by Product Format,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134: Japan Market Value by Distribution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135: Japan Market Share within East Asia, %, 2026 and 2036</a:t>
                      </a:r>
                      <a:endParaRPr sz="1050"/>
                    </a:p>
                  </a:txBody>
                  <a:tcPr marL="9525" marR="9525" marT="9525" marB="0" anchor="ctr"/>
                </a:tc>
              </a:tr>
              <a:tr h="169606">
                <a:tc>
                  <a:txBody>
                    <a:bodyPr wrap="square"/>
                    <a:lstStyle/>
                    <a:p>
                      <a:pPr algn="l"/>
                      <a:r>
                        <a:rPr sz="1050" b="0" i="0">
                          <a:solidFill>
                            <a:srgbClr val="000000"/>
                          </a:solidFill>
                          <a:latin typeface="Calibri"/>
                        </a:rPr>
                        <a:t>Figure 136: Japan Market Value by Hold Level,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137: Japan Market Value by Finish,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138: Japan Market Value by Primary Styling Benefit,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139: Japan Market Value by Hair Type Targeted,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140: Brazil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141: Brazil Market Value by Product Format,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142: Brazil Market Value by Distribution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143: India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144: India Market Value by Product Format,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145: South Korea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146: South Korea Market Value by Product Format,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147: Canada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148: Canada Market Value by Product Format,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149: U.K.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150: U.K. Market Value by Product Format,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151: Global Market Average Selling Price Trend, US$/Units, 2021–2036</a:t>
                      </a:r>
                      <a:endParaRPr sz="1050"/>
                    </a:p>
                  </a:txBody>
                  <a:tcPr marL="9525" marR="9525" marT="9525" marB="0" anchor="ctr"/>
                </a:tc>
              </a:tr>
              <a:tr h="169606">
                <a:tc>
                  <a:txBody>
                    <a:bodyPr wrap="square"/>
                    <a:lstStyle/>
                    <a:p>
                      <a:pPr algn="l"/>
                      <a:r>
                        <a:rPr sz="1050" b="0" i="0">
                          <a:solidFill>
                            <a:srgbClr val="000000"/>
                          </a:solidFill>
                          <a:latin typeface="Calibri"/>
                        </a:rPr>
                        <a:t>Figure 152: Global Market Average Selling Price by Region,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153: Global Market Average Selling Price by Product Format,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154: Global Market Average Selling Price by Hold Level,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155: Global Market Average Selling Price by Finish, US$/Units,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156: Global Market Average Selling Price by Distribution Channel,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157: Global Market Average Selling Price by Primary Styling Benefit,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158: Global Market Average Selling Price by Hair Type Targeted,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159: Global Market Average Selling Price by Ingredient Technology,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160: Global Market Value Chain Structure, 2026</a:t>
                      </a:r>
                      <a:endParaRPr sz="1050"/>
                    </a:p>
                  </a:txBody>
                  <a:tcPr marL="9525" marR="9525" marT="9525" marB="0" anchor="ctr"/>
                </a:tc>
              </a:tr>
              <a:tr h="169606">
                <a:tc>
                  <a:txBody>
                    <a:bodyPr wrap="square"/>
                    <a:lstStyle/>
                    <a:p>
                      <a:pPr algn="l"/>
                      <a:r>
                        <a:rPr sz="1050" b="0" i="0">
                          <a:solidFill>
                            <a:srgbClr val="000000"/>
                          </a:solidFill>
                          <a:latin typeface="Calibri"/>
                        </a:rPr>
                        <a:t>Figure 161: Global Market Margin Distribution across the Value Chain, %, 2026</a:t>
                      </a:r>
                      <a:endParaRPr sz="1050"/>
                    </a:p>
                  </a:txBody>
                  <a:tcPr marL="9525" marR="9525" marT="9525" marB="0" anchor="ctr"/>
                </a:tc>
              </a:tr>
              <a:tr h="169606">
                <a:tc>
                  <a:txBody>
                    <a:bodyPr wrap="square"/>
                    <a:lstStyle/>
                    <a:p>
                      <a:pPr algn="l"/>
                      <a:r>
                        <a:rPr sz="1050" b="0" i="0">
                          <a:solidFill>
                            <a:srgbClr val="000000"/>
                          </a:solidFill>
                          <a:latin typeface="Calibri"/>
                        </a:rPr>
                        <a:t>Figure 162: Global Market Cost Structure Breakdown, %, 2026</a:t>
                      </a:r>
                      <a:endParaRPr sz="1050"/>
                    </a:p>
                  </a:txBody>
                  <a:tcPr marL="9525" marR="9525" marT="9525" marB="0" anchor="ctr"/>
                </a:tc>
              </a:tr>
              <a:tr h="169606">
                <a:tc>
                  <a:txBody>
                    <a:bodyPr wrap="square"/>
                    <a:lstStyle/>
                    <a:p>
                      <a:pPr algn="l"/>
                      <a:r>
                        <a:rPr sz="1050" b="0" i="0">
                          <a:solidFill>
                            <a:srgbClr val="000000"/>
                          </a:solidFill>
                          <a:latin typeface="Calibri"/>
                        </a:rPr>
                        <a:t>Figure 163: Global Market Pricing Pressure Assessment by Product Format, 2026–2036</a:t>
                      </a:r>
                      <a:endParaRPr sz="1050"/>
                    </a:p>
                  </a:txBody>
                  <a:tcPr marL="9525" marR="9525" marT="9525" marB="0" anchor="ctr"/>
                </a:tc>
              </a:tr>
              <a:tr h="169606">
                <a:tc>
                  <a:txBody>
                    <a:bodyPr wrap="square"/>
                    <a:lstStyle/>
                    <a:p>
                      <a:pPr algn="l"/>
                      <a:r>
                        <a:rPr sz="1050" b="0" i="0">
                          <a:solidFill>
                            <a:srgbClr val="000000"/>
                          </a:solidFill>
                          <a:latin typeface="Calibri"/>
                        </a:rPr>
                        <a:t>Figure 164: Company Market Share in the Global Market, %, 2026</a:t>
                      </a:r>
                      <a:endParaRPr sz="1050"/>
                    </a:p>
                  </a:txBody>
                  <a:tcPr marL="9525" marR="9525" marT="9525" marB="0" anchor="ctr"/>
                </a:tc>
              </a:tr>
              <a:tr h="169606">
                <a:tc>
                  <a:txBody>
                    <a:bodyPr wrap="square"/>
                    <a:lstStyle/>
                    <a:p>
                      <a:pPr algn="l"/>
                      <a:r>
                        <a:rPr sz="1050" b="0" i="0">
                          <a:solidFill>
                            <a:srgbClr val="000000"/>
                          </a:solidFill>
                          <a:latin typeface="Calibri"/>
                        </a:rPr>
                        <a:t>Figure 165: Competitive Positioning of Leading Hair Styling Products Manufacturers, 2026</a:t>
                      </a:r>
                      <a:endParaRPr sz="1050"/>
                    </a:p>
                  </a:txBody>
                  <a:tcPr marL="9525" marR="9525" marT="9525" marB="0" anchor="ctr"/>
                </a:tc>
              </a:tr>
              <a:tr h="169606">
                <a:tc>
                  <a:txBody>
                    <a:bodyPr wrap="square"/>
                    <a:lstStyle/>
                    <a:p>
                      <a:pPr algn="l"/>
                      <a:r>
                        <a:rPr sz="1050" b="0" i="0">
                          <a:solidFill>
                            <a:srgbClr val="000000"/>
                          </a:solidFill>
                          <a:latin typeface="Calibri"/>
                        </a:rPr>
                        <a:t>Figure 166: Company Revenue from the Global Market, US$ Mn, 2026</a:t>
                      </a:r>
                      <a:endParaRPr sz="1050"/>
                    </a:p>
                  </a:txBody>
                  <a:tcPr marL="9525" marR="9525" marT="9525" marB="0" anchor="ctr"/>
                </a:tc>
              </a:tr>
              <a:tr h="169606">
                <a:tc>
                  <a:txBody>
                    <a:bodyPr wrap="square"/>
                    <a:lstStyle/>
                    <a:p>
                      <a:pPr algn="l"/>
                      <a:r>
                        <a:rPr sz="1050" b="0" i="0">
                          <a:solidFill>
                            <a:srgbClr val="000000"/>
                          </a:solidFill>
                          <a:latin typeface="Calibri"/>
                        </a:rPr>
                        <a:t>Figure 167: Global Market Concentration by Company Tier, %, 2026</a:t>
                      </a:r>
                      <a:endParaRPr sz="1050"/>
                    </a:p>
                  </a:txBody>
                  <a:tcPr marL="9525" marR="9525" marT="9525" marB="0" anchor="ctr"/>
                </a:tc>
              </a:tr>
              <a:tr h="169606">
                <a:tc>
                  <a:txBody>
                    <a:bodyPr wrap="square"/>
                    <a:lstStyle/>
                    <a:p>
                      <a:pPr algn="l"/>
                      <a:r>
                        <a:rPr sz="1050" b="0" i="0">
                          <a:solidFill>
                            <a:srgbClr val="000000"/>
                          </a:solidFill>
                          <a:latin typeface="Calibri"/>
                        </a:rPr>
                        <a:t>Figure 168: Global Market Competitive Intensity Assessment, 2026</a:t>
                      </a:r>
                      <a:endParaRPr sz="1050"/>
                    </a:p>
                  </a:txBody>
                  <a:tcPr marL="9525" marR="9525" marT="9525" marB="0" anchor="ctr"/>
                </a:tc>
              </a:tr>
              <a:tr h="169606">
                <a:tc>
                  <a:txBody>
                    <a:bodyPr wrap="square"/>
                    <a:lstStyle/>
                    <a:p>
                      <a:pPr algn="l"/>
                      <a:r>
                        <a:rPr sz="1050" b="0" i="0">
                          <a:solidFill>
                            <a:srgbClr val="000000"/>
                          </a:solidFill>
                          <a:latin typeface="Calibri"/>
                        </a:rPr>
                        <a:t>Figure 169: Company Market Share in the North America Market, %, 2026</a:t>
                      </a:r>
                      <a:endParaRPr sz="1050"/>
                    </a:p>
                  </a:txBody>
                  <a:tcPr marL="9525" marR="9525" marT="9525" marB="0" anchor="ctr"/>
                </a:tc>
              </a:tr>
              <a:tr h="169606">
                <a:tc>
                  <a:txBody>
                    <a:bodyPr wrap="square"/>
                    <a:lstStyle/>
                    <a:p>
                      <a:pPr algn="l"/>
                      <a:r>
                        <a:rPr sz="1050" b="0" i="0">
                          <a:solidFill>
                            <a:srgbClr val="000000"/>
                          </a:solidFill>
                          <a:latin typeface="Calibri"/>
                        </a:rPr>
                        <a:t>Figure 170: Company Market Share in the Latin America Market, %, 2026</a:t>
                      </a:r>
                      <a:endParaRPr sz="1050"/>
                    </a:p>
                  </a:txBody>
                  <a:tcPr marL="9525" marR="9525" marT="9525" marB="0" anchor="ctr"/>
                </a:tc>
              </a:tr>
              <a:tr h="169606">
                <a:tc>
                  <a:txBody>
                    <a:bodyPr wrap="square"/>
                    <a:lstStyle/>
                    <a:p>
                      <a:pPr algn="l"/>
                      <a:r>
                        <a:rPr sz="1050" b="0" i="0">
                          <a:solidFill>
                            <a:srgbClr val="000000"/>
                          </a:solidFill>
                          <a:latin typeface="Calibri"/>
                        </a:rPr>
                        <a:t>Figure 171: Company Market Share in the Europe Market, %, 2026</a:t>
                      </a:r>
                      <a:endParaRPr sz="1050"/>
                    </a:p>
                  </a:txBody>
                  <a:tcPr marL="9525" marR="9525" marT="9525" marB="0" anchor="ctr"/>
                </a:tc>
              </a:tr>
              <a:tr h="169606">
                <a:tc>
                  <a:txBody>
                    <a:bodyPr wrap="square"/>
                    <a:lstStyle/>
                    <a:p>
                      <a:pPr algn="l"/>
                      <a:r>
                        <a:rPr sz="1050" b="0" i="0">
                          <a:solidFill>
                            <a:srgbClr val="000000"/>
                          </a:solidFill>
                          <a:latin typeface="Calibri"/>
                        </a:rPr>
                        <a:t>Figure 172: Company Market Share in the East Asia Market, %, 2026</a:t>
                      </a:r>
                      <a:endParaRPr sz="1050"/>
                    </a:p>
                  </a:txBody>
                  <a:tcPr marL="9525" marR="9525" marT="9525" marB="0" anchor="ctr"/>
                </a:tc>
              </a:tr>
              <a:tr h="169606">
                <a:tc>
                  <a:txBody>
                    <a:bodyPr wrap="square"/>
                    <a:lstStyle/>
                    <a:p>
                      <a:pPr algn="l"/>
                      <a:r>
                        <a:rPr sz="1050" b="0" i="0">
                          <a:solidFill>
                            <a:srgbClr val="000000"/>
                          </a:solidFill>
                          <a:latin typeface="Calibri"/>
                        </a:rPr>
                        <a:t>Figure 173: Company Market Share in the South Asia &amp; Pacific Market, %, 2026</a:t>
                      </a:r>
                      <a:endParaRPr sz="1050"/>
                    </a:p>
                  </a:txBody>
                  <a:tcPr marL="9525" marR="9525" marT="9525" marB="0" anchor="ctr"/>
                </a:tc>
              </a:tr>
              <a:tr h="169606">
                <a:tc>
                  <a:txBody>
                    <a:bodyPr wrap="square"/>
                    <a:lstStyle/>
                    <a:p>
                      <a:pPr algn="l"/>
                      <a:r>
                        <a:rPr sz="1050" b="0" i="0">
                          <a:solidFill>
                            <a:srgbClr val="000000"/>
                          </a:solidFill>
                          <a:latin typeface="Calibri"/>
                        </a:rPr>
                        <a:t>Figure 174: Company Market Share in the Middle East &amp; Africa Market, %, 2026</a:t>
                      </a:r>
                      <a:endParaRPr sz="1050"/>
                    </a:p>
                  </a:txBody>
                  <a:tcPr marL="9525" marR="9525" marT="9525" marB="0" anchor="ctr"/>
                </a:tc>
              </a:tr>
              <a:tr h="169606">
                <a:tc>
                  <a:txBody>
                    <a:bodyPr wrap="square"/>
                    <a:lstStyle/>
                    <a:p>
                      <a:pPr algn="l"/>
                      <a:r>
                        <a:rPr sz="1050" b="0" i="0">
                          <a:solidFill>
                            <a:srgbClr val="000000"/>
                          </a:solidFill>
                          <a:latin typeface="Calibri"/>
                        </a:rPr>
                        <a:t>Figure 175: Company A: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176: Company B: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177: Company C: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178: Company D: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179: Company E: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180: Company F: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181: Company G: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182: Company H: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183: Global Market Strategic Developments by Type, %, 2025–2026</a:t>
                      </a:r>
                      <a:endParaRPr sz="1050"/>
                    </a:p>
                  </a:txBody>
                  <a:tcPr marL="9525" marR="9525" marT="9525" marB="0" anchor="ctr"/>
                </a:tc>
              </a:tr>
              <a:tr h="169606">
                <a:tc>
                  <a:txBody>
                    <a:bodyPr wrap="square"/>
                    <a:lstStyle/>
                    <a:p>
                      <a:pPr algn="l"/>
                      <a:r>
                        <a:rPr sz="1050" b="0" i="0">
                          <a:solidFill>
                            <a:srgbClr val="000000"/>
                          </a:solidFill>
                          <a:latin typeface="Calibri"/>
                        </a:rPr>
                        <a:t>Figure 184: Global Market Company Footprint by Region, 2026</a:t>
                      </a:r>
                      <a:endParaRPr sz="1050"/>
                    </a:p>
                  </a:txBody>
                  <a:tcPr marL="9525" marR="9525" marT="9525" marB="0" anchor="ctr"/>
                </a:tc>
              </a:tr>
              <a:tr h="169606">
                <a:tc>
                  <a:txBody>
                    <a:bodyPr wrap="square"/>
                    <a:lstStyle/>
                    <a:p>
                      <a:pPr algn="l"/>
                      <a:r>
                        <a:rPr sz="1050" b="0" i="0">
                          <a:solidFill>
                            <a:srgbClr val="000000"/>
                          </a:solidFill>
                          <a:latin typeface="Calibri"/>
                        </a:rPr>
                        <a:t>Figure 185: Global Market Value Forecast by Scenario, US$ Mn, 2026–2036</a:t>
                      </a:r>
                      <a:endParaRPr sz="1050"/>
                    </a:p>
                  </a:txBody>
                  <a:tcPr marL="9525" marR="9525" marT="9525" marB="0" anchor="ctr"/>
                </a:tc>
              </a:tr>
              <a:tr h="169606">
                <a:tc>
                  <a:txBody>
                    <a:bodyPr wrap="square"/>
                    <a:lstStyle/>
                    <a:p>
                      <a:pPr algn="l"/>
                      <a:r>
                        <a:rPr sz="1050" b="0" i="0">
                          <a:solidFill>
                            <a:srgbClr val="000000"/>
                          </a:solidFill>
                          <a:latin typeface="Calibri"/>
                        </a:rPr>
                        <a:t>Figure 186: Global Market YoY Growth by Scenario, %,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(4/4)</a:t>
            </a:r>
          </a:p>
        </p:txBody>
      </p:sp>
      <p:graphicFrame>
        <p:nvGraphicFramePr>
          <p:cNvPr id="9" name="FMI Contents Table"/>
          <p:cNvGraphicFramePr>
            <a:graphicFrameLocks noGrp="1"/>
          </p:cNvGraphicFramePr>
          <p:nvPr/>
        </p:nvGraphicFramePr>
        <p:xfrm>
          <a:off x="142875" y="981075"/>
          <a:ext cx="5876925" cy="2333632"/>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Figure 187: Global Market Key Trends Impact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188: Global Market Drivers, Restraints and Opportunities Impact, 2026–2036</a:t>
                      </a:r>
                      <a:endParaRPr sz="1050"/>
                    </a:p>
                  </a:txBody>
                  <a:tcPr marL="9525" marR="9525" marT="9525" marB="0" anchor="ctr"/>
                </a:tc>
              </a:tr>
              <a:tr h="166688">
                <a:tc>
                  <a:txBody>
                    <a:bodyPr wrap="square"/>
                    <a:lstStyle/>
                    <a:p>
                      <a:pPr algn="l"/>
                      <a:r>
                        <a:rPr sz="1050" b="0" i="0">
                          <a:solidFill>
                            <a:srgbClr val="000000"/>
                          </a:solidFill>
                          <a:latin typeface="Calibri"/>
                        </a:rPr>
                        <a:t>Figure 189: Global Market Opportunity Map by Region and Product Format, 2026–2036</a:t>
                      </a:r>
                      <a:endParaRPr sz="1050"/>
                    </a:p>
                  </a:txBody>
                  <a:tcPr marL="9525" marR="9525" marT="9525" marB="0" anchor="ctr"/>
                </a:tc>
              </a:tr>
              <a:tr h="166688">
                <a:tc>
                  <a:txBody>
                    <a:bodyPr wrap="square"/>
                    <a:lstStyle/>
                    <a:p>
                      <a:pPr algn="l"/>
                      <a:r>
                        <a:rPr sz="1050" b="0" i="0">
                          <a:solidFill>
                            <a:srgbClr val="000000"/>
                          </a:solidFill>
                          <a:latin typeface="Calibri"/>
                        </a:rPr>
                        <a:t>Figure 190: Global Market Technology Adoption Roadmap, 2021–2036</a:t>
                      </a:r>
                      <a:endParaRPr sz="1050"/>
                    </a:p>
                  </a:txBody>
                  <a:tcPr marL="9525" marR="9525" marT="9525" marB="0" anchor="ctr"/>
                </a:tc>
              </a:tr>
              <a:tr h="166688">
                <a:tc>
                  <a:txBody>
                    <a:bodyPr wrap="square"/>
                    <a:lstStyle/>
                    <a:p>
                      <a:pPr algn="l"/>
                      <a:r>
                        <a:rPr sz="1050" b="0" i="0">
                          <a:solidFill>
                            <a:srgbClr val="000000"/>
                          </a:solidFill>
                          <a:latin typeface="Calibri"/>
                        </a:rPr>
                        <a:t>Figure 191: Global Market Emerging Opportunity Pockets by Product Format, US$ Mn, 2026–2036</a:t>
                      </a:r>
                      <a:endParaRPr sz="1050"/>
                    </a:p>
                  </a:txBody>
                  <a:tcPr marL="9525" marR="9525" marT="9525" marB="0" anchor="ctr"/>
                </a:tc>
              </a:tr>
              <a:tr h="166688">
                <a:tc>
                  <a:txBody>
                    <a:bodyPr wrap="square"/>
                    <a:lstStyle/>
                    <a:p>
                      <a:pPr algn="l"/>
                      <a:r>
                        <a:rPr sz="1050" b="0" i="0">
                          <a:solidFill>
                            <a:srgbClr val="000000"/>
                          </a:solidFill>
                          <a:latin typeface="Calibri"/>
                        </a:rPr>
                        <a:t>Figure 192: Global Market Risk and Sensitivity Analysis, %, 2026–2036</a:t>
                      </a:r>
                      <a:endParaRPr sz="1050"/>
                    </a:p>
                  </a:txBody>
                  <a:tcPr marL="9525" marR="9525" marT="9525" marB="0" anchor="ctr"/>
                </a:tc>
              </a:tr>
              <a:tr h="166688">
                <a:tc>
                  <a:txBody>
                    <a:bodyPr wrap="square"/>
                    <a:lstStyle/>
                    <a:p>
                      <a:pPr algn="l"/>
                      <a:r>
                        <a:rPr sz="1050" b="0" i="0">
                          <a:solidFill>
                            <a:srgbClr val="000000"/>
                          </a:solidFill>
                          <a:latin typeface="Calibri"/>
                        </a:rPr>
                        <a:t>Figure 193: Global Market Regulatory Landscape Timeline, 2021–2036</a:t>
                      </a:r>
                      <a:endParaRPr sz="1050"/>
                    </a:p>
                  </a:txBody>
                  <a:tcPr marL="9525" marR="9525" marT="9525" marB="0" anchor="ctr"/>
                </a:tc>
              </a:tr>
              <a:tr h="166688">
                <a:tc>
                  <a:txBody>
                    <a:bodyPr wrap="square"/>
                    <a:lstStyle/>
                    <a:p>
                      <a:pPr algn="l"/>
                      <a:r>
                        <a:rPr sz="1050" b="0" i="0">
                          <a:solidFill>
                            <a:srgbClr val="000000"/>
                          </a:solidFill>
                          <a:latin typeface="Calibri"/>
                        </a:rPr>
                        <a:t>Figure 194: Global Market Investment Hotspots by Region, 2026–2036</a:t>
                      </a:r>
                      <a:endParaRPr sz="1050"/>
                    </a:p>
                  </a:txBody>
                  <a:tcPr marL="9525" marR="9525" marT="9525" marB="0" anchor="ctr"/>
                </a:tc>
              </a:tr>
              <a:tr h="166688">
                <a:tc>
                  <a:txBody>
                    <a:bodyPr wrap="square"/>
                    <a:lstStyle/>
                    <a:p>
                      <a:pPr algn="l"/>
                      <a:r>
                        <a:rPr sz="1050" b="0" i="0">
                          <a:solidFill>
                            <a:srgbClr val="000000"/>
                          </a:solidFill>
                          <a:latin typeface="Calibri"/>
                        </a:rPr>
                        <a:t>Figure 195: Global Market Innovation Pipeline Assessment, 2026</a:t>
                      </a:r>
                      <a:endParaRPr sz="1050"/>
                    </a:p>
                  </a:txBody>
                  <a:tcPr marL="9525" marR="9525" marT="9525" marB="0" anchor="ctr"/>
                </a:tc>
              </a:tr>
              <a:tr h="166688">
                <a:tc>
                  <a:txBody>
                    <a:bodyPr wrap="square"/>
                    <a:lstStyle/>
                    <a:p>
                      <a:pPr algn="l"/>
                      <a:r>
                        <a:rPr sz="1050" b="0" i="0">
                          <a:solidFill>
                            <a:srgbClr val="000000"/>
                          </a:solidFill>
                          <a:latin typeface="Calibri"/>
                        </a:rPr>
                        <a:t>Figure 196: Global Market White-Space Opportunity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197: Global Market Customer Purchase Criteria Assessment, 2026</a:t>
                      </a:r>
                      <a:endParaRPr sz="1050"/>
                    </a:p>
                  </a:txBody>
                  <a:tcPr marL="9525" marR="9525" marT="9525" marB="0" anchor="ctr"/>
                </a:tc>
              </a:tr>
              <a:tr h="166688">
                <a:tc>
                  <a:txBody>
                    <a:bodyPr wrap="square"/>
                    <a:lstStyle/>
                    <a:p>
                      <a:pPr algn="l"/>
                      <a:r>
                        <a:rPr sz="1050" b="0" i="0">
                          <a:solidFill>
                            <a:srgbClr val="000000"/>
                          </a:solidFill>
                          <a:latin typeface="Calibri"/>
                        </a:rPr>
                        <a:t>Figure 198: Global Market Go-to-Market Priority by Region, 2026–2036</a:t>
                      </a:r>
                      <a:endParaRPr sz="1050"/>
                    </a:p>
                  </a:txBody>
                  <a:tcPr marL="9525" marR="9525" marT="9525" marB="0" anchor="ctr"/>
                </a:tc>
              </a:tr>
              <a:tr h="166688">
                <a:tc>
                  <a:txBody>
                    <a:bodyPr wrap="square"/>
                    <a:lstStyle/>
                    <a:p>
                      <a:pPr algn="l"/>
                      <a:r>
                        <a:rPr sz="1050" b="0" i="0">
                          <a:solidFill>
                            <a:srgbClr val="000000"/>
                          </a:solidFill>
                          <a:latin typeface="Calibri"/>
                        </a:rPr>
                        <a:t>Figure 199: Global Market Unmet Needs Analysis by Product Format, 2026</a:t>
                      </a:r>
                      <a:endParaRPr sz="1050"/>
                    </a:p>
                  </a:txBody>
                  <a:tcPr marL="9525" marR="9525" marT="9525" marB="0" anchor="ctr"/>
                </a:tc>
              </a:tr>
              <a:tr h="166688">
                <a:tc>
                  <a:txBody>
                    <a:bodyPr wrap="square"/>
                    <a:lstStyle/>
                    <a:p>
                      <a:pPr algn="l"/>
                      <a:r>
                        <a:rPr sz="1050" b="0" i="0">
                          <a:solidFill>
                            <a:srgbClr val="000000"/>
                          </a:solidFill>
                          <a:latin typeface="Calibri"/>
                        </a:rPr>
                        <a:t>Figure 200: Global Market Right-to-Win Assessment, 2026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(1/4)</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050" b="0" i="0">
                          <a:solidFill>
                            <a:srgbClr val="000000"/>
                          </a:solidFill>
                          <a:latin typeface="Calibri"/>
                        </a:rPr>
                        <a:t>Table 1: Global Market Snapshot: Value, Volume and CAGR, US$ Mn, 2025–2036</a:t>
                      </a:r>
                      <a:endParaRPr sz="1050"/>
                    </a:p>
                  </a:txBody>
                  <a:tcPr marL="9525" marR="9525" marT="9525" marB="0" anchor="ctr"/>
                </a:tc>
              </a:tr>
              <a:tr h="175260">
                <a:tc>
                  <a:txBody>
                    <a:bodyPr wrap="square"/>
                    <a:lstStyle/>
                    <a:p>
                      <a:pPr algn="l"/>
                      <a:r>
                        <a:rPr sz="1050" b="0" i="0">
                          <a:solidFill>
                            <a:srgbClr val="000000"/>
                          </a:solidFill>
                          <a:latin typeface="Calibri"/>
                        </a:rPr>
                        <a:t>Table 2: Global Market Taxonomy by Segment, 2026</a:t>
                      </a:r>
                      <a:endParaRPr sz="1050"/>
                    </a:p>
                  </a:txBody>
                  <a:tcPr marL="9525" marR="9525" marT="9525" marB="0" anchor="ctr"/>
                </a:tc>
              </a:tr>
              <a:tr h="175260">
                <a:tc>
                  <a:txBody>
                    <a:bodyPr wrap="square"/>
                    <a:lstStyle/>
                    <a:p>
                      <a:pPr algn="l"/>
                      <a:r>
                        <a:rPr sz="1050" b="0" i="0">
                          <a:solidFill>
                            <a:srgbClr val="000000"/>
                          </a:solidFill>
                          <a:latin typeface="Calibri"/>
                        </a:rPr>
                        <a:t>Table 3: Global Market Scope: Inclusions and Exclusions by Segment, 2026</a:t>
                      </a:r>
                      <a:endParaRPr sz="1050"/>
                    </a:p>
                  </a:txBody>
                  <a:tcPr marL="9525" marR="9525" marT="9525" marB="0" anchor="ctr"/>
                </a:tc>
              </a:tr>
              <a:tr h="175260">
                <a:tc>
                  <a:txBody>
                    <a:bodyPr wrap="square"/>
                    <a:lstStyle/>
                    <a:p>
                      <a:pPr algn="l"/>
                      <a:r>
                        <a:rPr sz="1050" b="0" i="0">
                          <a:solidFill>
                            <a:srgbClr val="000000"/>
                          </a:solidFill>
                          <a:latin typeface="Calibri"/>
                        </a:rPr>
                        <a:t>Table 4: Global Market Key Demand Drivers and Impact Rating, 2026–2036</a:t>
                      </a:r>
                      <a:endParaRPr sz="1050"/>
                    </a:p>
                  </a:txBody>
                  <a:tcPr marL="9525" marR="9525" marT="9525" marB="0" anchor="ctr"/>
                </a:tc>
              </a:tr>
              <a:tr h="175260">
                <a:tc>
                  <a:txBody>
                    <a:bodyPr wrap="square"/>
                    <a:lstStyle/>
                    <a:p>
                      <a:pPr algn="l"/>
                      <a:r>
                        <a:rPr sz="1050" b="0" i="0">
                          <a:solidFill>
                            <a:srgbClr val="000000"/>
                          </a:solidFill>
                          <a:latin typeface="Calibri"/>
                        </a:rPr>
                        <a:t>Table 5: Global Market Key Restraints and Impact Rating, 2026–2036</a:t>
                      </a:r>
                      <a:endParaRPr sz="1050"/>
                    </a:p>
                  </a:txBody>
                  <a:tcPr marL="9525" marR="9525" marT="9525" marB="0" anchor="ctr"/>
                </a:tc>
              </a:tr>
              <a:tr h="175260">
                <a:tc>
                  <a:txBody>
                    <a:bodyPr wrap="square"/>
                    <a:lstStyle/>
                    <a:p>
                      <a:pPr algn="l"/>
                      <a:r>
                        <a:rPr sz="1050" b="0" i="0">
                          <a:solidFill>
                            <a:srgbClr val="000000"/>
                          </a:solidFill>
                          <a:latin typeface="Calibri"/>
                        </a:rPr>
                        <a:t>Table 6: Global Market Analyst Recommendations by Segment, 2026–2036</a:t>
                      </a:r>
                      <a:endParaRPr sz="1050"/>
                    </a:p>
                  </a:txBody>
                  <a:tcPr marL="9525" marR="9525" marT="9525" marB="0" anchor="ctr"/>
                </a:tc>
              </a:tr>
              <a:tr h="175260">
                <a:tc>
                  <a:txBody>
                    <a:bodyPr wrap="square"/>
                    <a:lstStyle/>
                    <a:p>
                      <a:pPr algn="l"/>
                      <a:r>
                        <a:rPr sz="1050" b="0" i="0">
                          <a:solidFill>
                            <a:srgbClr val="000000"/>
                          </a:solidFill>
                          <a:latin typeface="Calibri"/>
                        </a:rPr>
                        <a:t>Table 7: Global Market Key Market Signals and Data Points, 2026</a:t>
                      </a:r>
                      <a:endParaRPr sz="1050"/>
                    </a:p>
                  </a:txBody>
                  <a:tcPr marL="9525" marR="9525" marT="9525" marB="0" anchor="ctr"/>
                </a:tc>
              </a:tr>
              <a:tr h="175260">
                <a:tc>
                  <a:txBody>
                    <a:bodyPr wrap="square"/>
                    <a:lstStyle/>
                    <a:p>
                      <a:pPr algn="l"/>
                      <a:r>
                        <a:rPr sz="1050" b="0" i="0">
                          <a:solidFill>
                            <a:srgbClr val="000000"/>
                          </a:solidFill>
                          <a:latin typeface="Calibri"/>
                        </a:rPr>
                        <a:t>Table 8: Global Market Value and YoY Growth, US$ Mn and %, 2021–2036</a:t>
                      </a:r>
                      <a:endParaRPr sz="1050"/>
                    </a:p>
                  </a:txBody>
                  <a:tcPr marL="9525" marR="9525" marT="9525" marB="0" anchor="ctr"/>
                </a:tc>
              </a:tr>
              <a:tr h="175260">
                <a:tc>
                  <a:txBody>
                    <a:bodyPr wrap="square"/>
                    <a:lstStyle/>
                    <a:p>
                      <a:pPr algn="l"/>
                      <a:r>
                        <a:rPr sz="1050" b="0" i="0">
                          <a:solidFill>
                            <a:srgbClr val="000000"/>
                          </a:solidFill>
                          <a:latin typeface="Calibri"/>
                        </a:rPr>
                        <a:t>Table 9: Global Market Historical Value Analysis, US$ Mn, 2021–2025</a:t>
                      </a:r>
                      <a:endParaRPr sz="1050"/>
                    </a:p>
                  </a:txBody>
                  <a:tcPr marL="9525" marR="9525" marT="9525" marB="0" anchor="ctr"/>
                </a:tc>
              </a:tr>
              <a:tr h="175260">
                <a:tc>
                  <a:txBody>
                    <a:bodyPr wrap="square"/>
                    <a:lstStyle/>
                    <a:p>
                      <a:pPr algn="l"/>
                      <a:r>
                        <a:rPr sz="1050" b="0" i="0">
                          <a:solidFill>
                            <a:srgbClr val="000000"/>
                          </a:solidFill>
                          <a:latin typeface="Calibri"/>
                        </a:rPr>
                        <a:t>Table 10: Global Market Forecast Value Analysis, US$ Mn, 2026–2036</a:t>
                      </a:r>
                      <a:endParaRPr sz="1050"/>
                    </a:p>
                  </a:txBody>
                  <a:tcPr marL="9525" marR="9525" marT="9525" marB="0" anchor="ctr"/>
                </a:tc>
              </a:tr>
              <a:tr h="175260">
                <a:tc>
                  <a:txBody>
                    <a:bodyPr wrap="square"/>
                    <a:lstStyle/>
                    <a:p>
                      <a:pPr algn="l"/>
                      <a:r>
                        <a:rPr sz="1050" b="0" i="0">
                          <a:solidFill>
                            <a:srgbClr val="000000"/>
                          </a:solidFill>
                          <a:latin typeface="Calibri"/>
                        </a:rPr>
                        <a:t>Table 11: Global Market Volume and YoY Growth, Mn Units and %, 2021–2036</a:t>
                      </a:r>
                      <a:endParaRPr sz="1050"/>
                    </a:p>
                  </a:txBody>
                  <a:tcPr marL="9525" marR="9525" marT="9525" marB="0" anchor="ctr"/>
                </a:tc>
              </a:tr>
              <a:tr h="175260">
                <a:tc>
                  <a:txBody>
                    <a:bodyPr wrap="square"/>
                    <a:lstStyle/>
                    <a:p>
                      <a:pPr algn="l"/>
                      <a:r>
                        <a:rPr sz="1050" b="0" i="0">
                          <a:solidFill>
                            <a:srgbClr val="000000"/>
                          </a:solidFill>
                          <a:latin typeface="Calibri"/>
                        </a:rPr>
                        <a:t>Table 12: Global Market Volume Forecast, Mn Units, 2026–2036</a:t>
                      </a:r>
                      <a:endParaRPr sz="1050"/>
                    </a:p>
                  </a:txBody>
                  <a:tcPr marL="9525" marR="9525" marT="9525" marB="0" anchor="ctr"/>
                </a:tc>
              </a:tr>
              <a:tr h="175260">
                <a:tc>
                  <a:txBody>
                    <a:bodyPr wrap="square"/>
                    <a:lstStyle/>
                    <a:p>
                      <a:pPr algn="l"/>
                      <a:r>
                        <a:rPr sz="1050" b="0" i="0">
                          <a:solidFill>
                            <a:srgbClr val="000000"/>
                          </a:solidFill>
                          <a:latin typeface="Calibri"/>
                        </a:rPr>
                        <a:t>Table 13: Global Market Average Selling Price, US$/Units, 2021–2036</a:t>
                      </a:r>
                      <a:endParaRPr sz="1050"/>
                    </a:p>
                  </a:txBody>
                  <a:tcPr marL="9525" marR="9525" marT="9525" marB="0" anchor="ctr"/>
                </a:tc>
              </a:tr>
              <a:tr h="175260">
                <a:tc>
                  <a:txBody>
                    <a:bodyPr wrap="square"/>
                    <a:lstStyle/>
                    <a:p>
                      <a:pPr algn="l"/>
                      <a:r>
                        <a:rPr sz="1050" b="0" i="0">
                          <a:solidFill>
                            <a:srgbClr val="000000"/>
                          </a:solidFill>
                          <a:latin typeface="Calibri"/>
                        </a:rPr>
                        <a:t>Table 14: Global Market Average Selling Price YoY Change, %, 2026–2036</a:t>
                      </a:r>
                      <a:endParaRPr sz="1050"/>
                    </a:p>
                  </a:txBody>
                  <a:tcPr marL="9525" marR="9525" marT="9525" marB="0" anchor="ctr"/>
                </a:tc>
              </a:tr>
              <a:tr h="175260">
                <a:tc>
                  <a:txBody>
                    <a:bodyPr wrap="square"/>
                    <a:lstStyle/>
                    <a:p>
                      <a:pPr algn="l"/>
                      <a:r>
                        <a:rPr sz="1050" b="0" i="0">
                          <a:solidFill>
                            <a:srgbClr val="000000"/>
                          </a:solidFill>
                          <a:latin typeface="Calibri"/>
                        </a:rPr>
                        <a:t>Table 15: Global Market CAGR and Absolute $ Opportunity, %, US$ Mn, 2026–2036</a:t>
                      </a:r>
                      <a:endParaRPr sz="1050"/>
                    </a:p>
                  </a:txBody>
                  <a:tcPr marL="9525" marR="9525" marT="9525" marB="0" anchor="ctr"/>
                </a:tc>
              </a:tr>
              <a:tr h="175260">
                <a:tc>
                  <a:txBody>
                    <a:bodyPr wrap="square"/>
                    <a:lstStyle/>
                    <a:p>
                      <a:pPr algn="l"/>
                      <a:r>
                        <a:rPr sz="1050" b="0" i="0">
                          <a:solidFill>
                            <a:srgbClr val="000000"/>
                          </a:solidFill>
                          <a:latin typeface="Calibri"/>
                        </a:rPr>
                        <a:t>Table 16: Global Market Absolute $ Opportunity by Year, US$ Mn, 2026–2036</a:t>
                      </a:r>
                      <a:endParaRPr sz="1050"/>
                    </a:p>
                  </a:txBody>
                  <a:tcPr marL="9525" marR="9525" marT="9525" marB="0" anchor="ctr"/>
                </a:tc>
              </a:tr>
              <a:tr h="175260">
                <a:tc>
                  <a:txBody>
                    <a:bodyPr wrap="square"/>
                    <a:lstStyle/>
                    <a:p>
                      <a:pPr algn="l"/>
                      <a:r>
                        <a:rPr sz="1050" b="0" i="0">
                          <a:solidFill>
                            <a:srgbClr val="000000"/>
                          </a:solidFill>
                          <a:latin typeface="Calibri"/>
                        </a:rPr>
                        <a:t>Table 17: Global Market Value by Scenario (Optimistic, Likely, Pessimistic), US$ Mn, 2026–2036</a:t>
                      </a:r>
                      <a:endParaRPr sz="1050"/>
                    </a:p>
                  </a:txBody>
                  <a:tcPr marL="9525" marR="9525" marT="9525" marB="0" anchor="ctr"/>
                </a:tc>
              </a:tr>
              <a:tr h="175260">
                <a:tc>
                  <a:txBody>
                    <a:bodyPr wrap="square"/>
                    <a:lstStyle/>
                    <a:p>
                      <a:pPr algn="l"/>
                      <a:r>
                        <a:rPr sz="1050" b="0" i="0">
                          <a:solidFill>
                            <a:srgbClr val="000000"/>
                          </a:solidFill>
                          <a:latin typeface="Calibri"/>
                        </a:rPr>
                        <a:t>Table 18: Global Market Scenario CAGR Comparison, %, 2026–2036</a:t>
                      </a:r>
                      <a:endParaRPr sz="1050"/>
                    </a:p>
                  </a:txBody>
                  <a:tcPr marL="9525" marR="9525" marT="9525" marB="0" anchor="ctr"/>
                </a:tc>
              </a:tr>
              <a:tr h="175260">
                <a:tc>
                  <a:txBody>
                    <a:bodyPr wrap="square"/>
                    <a:lstStyle/>
                    <a:p>
                      <a:pPr algn="l"/>
                      <a:r>
                        <a:rPr sz="1050" b="0" i="0">
                          <a:solidFill>
                            <a:srgbClr val="000000"/>
                          </a:solidFill>
                          <a:latin typeface="Calibri"/>
                        </a:rPr>
                        <a:t>Table 19: Global Market Historical vs Forecast Growth Comparison, %, 2021–2036</a:t>
                      </a:r>
                      <a:endParaRPr sz="1050"/>
                    </a:p>
                  </a:txBody>
                  <a:tcPr marL="9525" marR="9525" marT="9525" marB="0" anchor="ctr"/>
                </a:tc>
              </a:tr>
              <a:tr h="175260">
                <a:tc>
                  <a:txBody>
                    <a:bodyPr wrap="square"/>
                    <a:lstStyle/>
                    <a:p>
                      <a:pPr algn="l"/>
                      <a:r>
                        <a:rPr sz="1050" b="0" i="0">
                          <a:solidFill>
                            <a:srgbClr val="000000"/>
                          </a:solidFill>
                          <a:latin typeface="Calibri"/>
                        </a:rPr>
                        <a:t>Table 20: Global Market Five-Year Block Value Summary, US$ Mn, 2021–2036</a:t>
                      </a:r>
                      <a:endParaRPr sz="1050"/>
                    </a:p>
                  </a:txBody>
                  <a:tcPr marL="9525" marR="9525" marT="9525" marB="0" anchor="ctr"/>
                </a:tc>
              </a:tr>
              <a:tr h="175260">
                <a:tc>
                  <a:txBody>
                    <a:bodyPr wrap="square"/>
                    <a:lstStyle/>
                    <a:p>
                      <a:pPr algn="l"/>
                      <a:r>
                        <a:rPr sz="1050" b="0" i="0">
                          <a:solidFill>
                            <a:srgbClr val="000000"/>
                          </a:solidFill>
                          <a:latin typeface="Calibri"/>
                        </a:rPr>
                        <a:t>Table 21: Global Market Value by Product Format, US$ Mn, 2021–2036</a:t>
                      </a:r>
                      <a:endParaRPr sz="1050"/>
                    </a:p>
                  </a:txBody>
                  <a:tcPr marL="9525" marR="9525" marT="9525" marB="0" anchor="ctr"/>
                </a:tc>
              </a:tr>
              <a:tr h="175260">
                <a:tc>
                  <a:txBody>
                    <a:bodyPr wrap="square"/>
                    <a:lstStyle/>
                    <a:p>
                      <a:pPr algn="l"/>
                      <a:r>
                        <a:rPr sz="1050" b="0" i="0">
                          <a:solidFill>
                            <a:srgbClr val="000000"/>
                          </a:solidFill>
                          <a:latin typeface="Calibri"/>
                        </a:rPr>
                        <a:t>Table 22: Global Market Value by Hold Level, US$ Mn, 2021–2036</a:t>
                      </a:r>
                      <a:endParaRPr sz="1050"/>
                    </a:p>
                  </a:txBody>
                  <a:tcPr marL="9525" marR="9525" marT="9525" marB="0" anchor="ctr"/>
                </a:tc>
              </a:tr>
              <a:tr h="175260">
                <a:tc>
                  <a:txBody>
                    <a:bodyPr wrap="square"/>
                    <a:lstStyle/>
                    <a:p>
                      <a:pPr algn="l"/>
                      <a:r>
                        <a:rPr sz="1050" b="0" i="0">
                          <a:solidFill>
                            <a:srgbClr val="000000"/>
                          </a:solidFill>
                          <a:latin typeface="Calibri"/>
                        </a:rPr>
                        <a:t>Table 23: Global Market Value by Finish, US$ Mn, 2021–2036</a:t>
                      </a:r>
                      <a:endParaRPr sz="1050"/>
                    </a:p>
                  </a:txBody>
                  <a:tcPr marL="9525" marR="9525" marT="9525" marB="0" anchor="ctr"/>
                </a:tc>
              </a:tr>
              <a:tr h="175260">
                <a:tc>
                  <a:txBody>
                    <a:bodyPr wrap="square"/>
                    <a:lstStyle/>
                    <a:p>
                      <a:pPr algn="l"/>
                      <a:r>
                        <a:rPr sz="1050" b="0" i="0">
                          <a:solidFill>
                            <a:srgbClr val="000000"/>
                          </a:solidFill>
                          <a:latin typeface="Calibri"/>
                        </a:rPr>
                        <a:t>Table 24: Global Market Value by Distribution Channel, US$ Mn, 2021–2036</a:t>
                      </a:r>
                      <a:endParaRPr sz="1050"/>
                    </a:p>
                  </a:txBody>
                  <a:tcPr marL="9525" marR="9525" marT="9525" marB="0" anchor="ctr"/>
                </a:tc>
              </a:tr>
              <a:tr h="175260">
                <a:tc>
                  <a:txBody>
                    <a:bodyPr wrap="square"/>
                    <a:lstStyle/>
                    <a:p>
                      <a:pPr algn="l"/>
                      <a:r>
                        <a:rPr sz="1050" b="0" i="0">
                          <a:solidFill>
                            <a:srgbClr val="000000"/>
                          </a:solidFill>
                          <a:latin typeface="Calibri"/>
                        </a:rPr>
                        <a:t>Table 25: Global Market Value by Primary Styling Benefit, US$ Mn, 2021–2036</a:t>
                      </a:r>
                      <a:endParaRPr sz="1050"/>
                    </a:p>
                  </a:txBody>
                  <a:tcPr marL="9525" marR="9525" marT="9525" marB="0" anchor="ctr"/>
                </a:tc>
              </a:tr>
              <a:tr h="175260">
                <a:tc>
                  <a:txBody>
                    <a:bodyPr wrap="square"/>
                    <a:lstStyle/>
                    <a:p>
                      <a:pPr algn="l"/>
                      <a:r>
                        <a:rPr sz="1050" b="0" i="0">
                          <a:solidFill>
                            <a:srgbClr val="000000"/>
                          </a:solidFill>
                          <a:latin typeface="Calibri"/>
                        </a:rPr>
                        <a:t>Table 26: Global Market Value by Hair Type Targeted, US$ Mn, 2021–2036</a:t>
                      </a:r>
                      <a:endParaRPr sz="1050"/>
                    </a:p>
                  </a:txBody>
                  <a:tcPr marL="9525" marR="9525" marT="9525" marB="0" anchor="ctr"/>
                </a:tc>
              </a:tr>
              <a:tr h="175260">
                <a:tc>
                  <a:txBody>
                    <a:bodyPr wrap="square"/>
                    <a:lstStyle/>
                    <a:p>
                      <a:pPr algn="l"/>
                      <a:r>
                        <a:rPr sz="1050" b="0" i="0">
                          <a:solidFill>
                            <a:srgbClr val="000000"/>
                          </a:solidFill>
                          <a:latin typeface="Calibri"/>
                        </a:rPr>
                        <a:t>Table 27: Global Market Value by Ingredient Technology, US$ Mn, 2021–2036</a:t>
                      </a:r>
                      <a:endParaRPr sz="1050"/>
                    </a:p>
                  </a:txBody>
                  <a:tcPr marL="9525" marR="9525" marT="9525" marB="0" anchor="ctr"/>
                </a:tc>
              </a:tr>
              <a:tr h="175260">
                <a:tc>
                  <a:txBody>
                    <a:bodyPr wrap="square"/>
                    <a:lstStyle/>
                    <a:p>
                      <a:pPr algn="l"/>
                      <a:r>
                        <a:rPr sz="1050" b="0" i="0">
                          <a:solidFill>
                            <a:srgbClr val="000000"/>
                          </a:solidFill>
                          <a:latin typeface="Calibri"/>
                        </a:rPr>
                        <a:t>Table 28: Global Market CAGR and Absolute $ Opportunity by Product Format, %, US$ Mn, 2026–2036</a:t>
                      </a:r>
                      <a:endParaRPr sz="1050"/>
                    </a:p>
                  </a:txBody>
                  <a:tcPr marL="9525" marR="9525" marT="9525" marB="0" anchor="ctr"/>
                </a:tc>
              </a:tr>
              <a:tr h="175260">
                <a:tc>
                  <a:txBody>
                    <a:bodyPr wrap="square"/>
                    <a:lstStyle/>
                    <a:p>
                      <a:pPr algn="l"/>
                      <a:r>
                        <a:rPr sz="1050" b="0" i="0">
                          <a:solidFill>
                            <a:srgbClr val="000000"/>
                          </a:solidFill>
                          <a:latin typeface="Calibri"/>
                        </a:rPr>
                        <a:t>Table 29: Global Market CAGR and Absolute $ Opportunity by Hold Level, %, US$ Mn, 2026–2036</a:t>
                      </a:r>
                      <a:endParaRPr sz="1050"/>
                    </a:p>
                  </a:txBody>
                  <a:tcPr marL="9525" marR="9525" marT="9525" marB="0" anchor="ctr"/>
                </a:tc>
              </a:tr>
              <a:tr h="175260">
                <a:tc>
                  <a:txBody>
                    <a:bodyPr wrap="square"/>
                    <a:lstStyle/>
                    <a:p>
                      <a:pPr algn="l"/>
                      <a:r>
                        <a:rPr sz="1050" b="0" i="0">
                          <a:solidFill>
                            <a:srgbClr val="000000"/>
                          </a:solidFill>
                          <a:latin typeface="Calibri"/>
                        </a:rPr>
                        <a:t>Table 30: Global Market CAGR and Absolute $ Opportunity by Finish, %,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0"/>
        </p:xfrm>
        <a:graphic>
          <a:graphicData uri="http://schemas.openxmlformats.org/drawingml/2006/table">
            <a:tbl>
              <a:tblPr>
                <a:tableStyleId>{3B4B98B0-60AC-42C2-AFA5-B58CD77FA1E5}</a:tableStyleId>
              </a:tblPr>
              <a:tblGrid>
                <a:gridCol w="5876925"/>
              </a:tblGrid>
              <a:tr h="334153">
                <a:tc>
                  <a:txBody>
                    <a:bodyPr wrap="square"/>
                    <a:lstStyle/>
                    <a:p>
                      <a:pPr algn="l"/>
                      <a:r>
                        <a:rPr sz="1050" b="0" i="0">
                          <a:solidFill>
                            <a:srgbClr val="000000"/>
                          </a:solidFill>
                          <a:latin typeface="Calibri"/>
                        </a:rPr>
                        <a:t>Table 31: Global Market CAGR and Absolute $ Opportunity by Distribution Channel, %, US$ Mn, 2026–2036</a:t>
                      </a:r>
                      <a:endParaRPr sz="1050"/>
                    </a:p>
                  </a:txBody>
                  <a:tcPr marL="9525" marR="9525" marT="9525" marB="0" anchor="ctr"/>
                </a:tc>
              </a:tr>
              <a:tr h="334153">
                <a:tc>
                  <a:txBody>
                    <a:bodyPr wrap="square"/>
                    <a:lstStyle/>
                    <a:p>
                      <a:pPr algn="l"/>
                      <a:r>
                        <a:rPr sz="1050" b="0" i="0">
                          <a:solidFill>
                            <a:srgbClr val="000000"/>
                          </a:solidFill>
                          <a:latin typeface="Calibri"/>
                        </a:rPr>
                        <a:t>Table 32: Global Market CAGR and Absolute $ Opportunity by Primary Styling Benefit, %, US$ Mn, 2026–2036</a:t>
                      </a:r>
                      <a:endParaRPr sz="1050"/>
                    </a:p>
                  </a:txBody>
                  <a:tcPr marL="9525" marR="9525" marT="9525" marB="0" anchor="ctr"/>
                </a:tc>
              </a:tr>
              <a:tr h="334153">
                <a:tc>
                  <a:txBody>
                    <a:bodyPr wrap="square"/>
                    <a:lstStyle/>
                    <a:p>
                      <a:pPr algn="l"/>
                      <a:r>
                        <a:rPr sz="1050" b="0" i="0">
                          <a:solidFill>
                            <a:srgbClr val="000000"/>
                          </a:solidFill>
                          <a:latin typeface="Calibri"/>
                        </a:rPr>
                        <a:t>Table 33: Global Market CAGR and Absolute $ Opportunity by Hair Type Targeted, %, US$ Mn, 2026–2036</a:t>
                      </a:r>
                      <a:endParaRPr sz="1050"/>
                    </a:p>
                  </a:txBody>
                  <a:tcPr marL="9525" marR="9525" marT="9525" marB="0" anchor="ctr"/>
                </a:tc>
              </a:tr>
              <a:tr h="334153">
                <a:tc>
                  <a:txBody>
                    <a:bodyPr wrap="square"/>
                    <a:lstStyle/>
                    <a:p>
                      <a:pPr algn="l"/>
                      <a:r>
                        <a:rPr sz="1050" b="0" i="0">
                          <a:solidFill>
                            <a:srgbClr val="000000"/>
                          </a:solidFill>
                          <a:latin typeface="Calibri"/>
                        </a:rPr>
                        <a:t>Table 34: Global Market CAGR and Absolute $ Opportunity by Ingredient Technology, %, US$ Mn, 2026–2036</a:t>
                      </a:r>
                      <a:endParaRPr sz="1050"/>
                    </a:p>
                  </a:txBody>
                  <a:tcPr marL="9525" marR="9525" marT="9525" marB="0" anchor="ctr"/>
                </a:tc>
              </a:tr>
              <a:tr h="170486">
                <a:tc>
                  <a:txBody>
                    <a:bodyPr wrap="square"/>
                    <a:lstStyle/>
                    <a:p>
                      <a:pPr algn="l"/>
                      <a:r>
                        <a:rPr sz="1050" b="0" i="0">
                          <a:solidFill>
                            <a:srgbClr val="000000"/>
                          </a:solidFill>
                          <a:latin typeface="Calibri"/>
                        </a:rPr>
                        <a:t>Table 35: Global Market Share and BPS Change by Product Format, %, 2025, 2026 and 2036</a:t>
                      </a:r>
                      <a:endParaRPr sz="1050"/>
                    </a:p>
                  </a:txBody>
                  <a:tcPr marL="9525" marR="9525" marT="9525" marB="0" anchor="ctr"/>
                </a:tc>
              </a:tr>
              <a:tr h="170486">
                <a:tc>
                  <a:txBody>
                    <a:bodyPr wrap="square"/>
                    <a:lstStyle/>
                    <a:p>
                      <a:pPr algn="l"/>
                      <a:r>
                        <a:rPr sz="1050" b="0" i="0">
                          <a:solidFill>
                            <a:srgbClr val="000000"/>
                          </a:solidFill>
                          <a:latin typeface="Calibri"/>
                        </a:rPr>
                        <a:t>Table 36: Global Market Share and BPS Change by Hold Level, %, 2025, 2026 and 2036</a:t>
                      </a:r>
                      <a:endParaRPr sz="1050"/>
                    </a:p>
                  </a:txBody>
                  <a:tcPr marL="9525" marR="9525" marT="9525" marB="0" anchor="ctr"/>
                </a:tc>
              </a:tr>
              <a:tr h="170486">
                <a:tc>
                  <a:txBody>
                    <a:bodyPr wrap="square"/>
                    <a:lstStyle/>
                    <a:p>
                      <a:pPr algn="l"/>
                      <a:r>
                        <a:rPr sz="1050" b="0" i="0">
                          <a:solidFill>
                            <a:srgbClr val="000000"/>
                          </a:solidFill>
                          <a:latin typeface="Calibri"/>
                        </a:rPr>
                        <a:t>Table 37: Global Market Share and BPS Change by Finish, %, 2025, 2026 and 2036</a:t>
                      </a:r>
                      <a:endParaRPr sz="1050"/>
                    </a:p>
                  </a:txBody>
                  <a:tcPr marL="9525" marR="9525" marT="9525" marB="0" anchor="ctr"/>
                </a:tc>
              </a:tr>
              <a:tr h="170486">
                <a:tc>
                  <a:txBody>
                    <a:bodyPr wrap="square"/>
                    <a:lstStyle/>
                    <a:p>
                      <a:pPr algn="l"/>
                      <a:r>
                        <a:rPr sz="1050" b="0" i="0">
                          <a:solidFill>
                            <a:srgbClr val="000000"/>
                          </a:solidFill>
                          <a:latin typeface="Calibri"/>
                        </a:rPr>
                        <a:t>Table 38: Global Market Share and BPS Change by Distribution Channel, %, 2025, 2026 and 2036</a:t>
                      </a:r>
                      <a:endParaRPr sz="1050"/>
                    </a:p>
                  </a:txBody>
                  <a:tcPr marL="9525" marR="9525" marT="9525" marB="0" anchor="ctr"/>
                </a:tc>
              </a:tr>
              <a:tr h="170486">
                <a:tc>
                  <a:txBody>
                    <a:bodyPr wrap="square"/>
                    <a:lstStyle/>
                    <a:p>
                      <a:pPr algn="l"/>
                      <a:r>
                        <a:rPr sz="1050" b="0" i="0">
                          <a:solidFill>
                            <a:srgbClr val="000000"/>
                          </a:solidFill>
                          <a:latin typeface="Calibri"/>
                        </a:rPr>
                        <a:t>Table 39: Global Market Share and BPS Change by Primary Styling Benefit, %, 2025, 2026 and 2036</a:t>
                      </a:r>
                      <a:endParaRPr sz="1050"/>
                    </a:p>
                  </a:txBody>
                  <a:tcPr marL="9525" marR="9525" marT="9525" marB="0" anchor="ctr"/>
                </a:tc>
              </a:tr>
              <a:tr h="170486">
                <a:tc>
                  <a:txBody>
                    <a:bodyPr wrap="square"/>
                    <a:lstStyle/>
                    <a:p>
                      <a:pPr algn="l"/>
                      <a:r>
                        <a:rPr sz="1050" b="0" i="0">
                          <a:solidFill>
                            <a:srgbClr val="000000"/>
                          </a:solidFill>
                          <a:latin typeface="Calibri"/>
                        </a:rPr>
                        <a:t>Table 40: Global Market Share and BPS Change by Hair Type Targeted, %, 2025, 2026 and 2036</a:t>
                      </a:r>
                      <a:endParaRPr sz="1050"/>
                    </a:p>
                  </a:txBody>
                  <a:tcPr marL="9525" marR="9525" marT="9525" marB="0" anchor="ctr"/>
                </a:tc>
              </a:tr>
              <a:tr h="170486">
                <a:tc>
                  <a:txBody>
                    <a:bodyPr wrap="square"/>
                    <a:lstStyle/>
                    <a:p>
                      <a:pPr algn="l"/>
                      <a:r>
                        <a:rPr sz="1050" b="0" i="0">
                          <a:solidFill>
                            <a:srgbClr val="000000"/>
                          </a:solidFill>
                          <a:latin typeface="Calibri"/>
                        </a:rPr>
                        <a:t>Table 41: Global Market Share and BPS Change by Ingredient Technology, %, 2025, 2026 and 2036</a:t>
                      </a:r>
                      <a:endParaRPr sz="1050"/>
                    </a:p>
                  </a:txBody>
                  <a:tcPr marL="9525" marR="9525" marT="9525" marB="0" anchor="ctr"/>
                </a:tc>
              </a:tr>
              <a:tr h="170486">
                <a:tc>
                  <a:txBody>
                    <a:bodyPr wrap="square"/>
                    <a:lstStyle/>
                    <a:p>
                      <a:pPr algn="l"/>
                      <a:r>
                        <a:rPr sz="1050" b="0" i="0">
                          <a:solidFill>
                            <a:srgbClr val="000000"/>
                          </a:solidFill>
                          <a:latin typeface="Calibri"/>
                        </a:rPr>
                        <a:t>Table 42: Global Market YoY Growth by Product Format, %, 2026–2036</a:t>
                      </a:r>
                      <a:endParaRPr sz="1050"/>
                    </a:p>
                  </a:txBody>
                  <a:tcPr marL="9525" marR="9525" marT="9525" marB="0" anchor="ctr"/>
                </a:tc>
              </a:tr>
              <a:tr h="170486">
                <a:tc>
                  <a:txBody>
                    <a:bodyPr wrap="square"/>
                    <a:lstStyle/>
                    <a:p>
                      <a:pPr algn="l"/>
                      <a:r>
                        <a:rPr sz="1050" b="0" i="0">
                          <a:solidFill>
                            <a:srgbClr val="000000"/>
                          </a:solidFill>
                          <a:latin typeface="Calibri"/>
                        </a:rPr>
                        <a:t>Table 43: Global Market YoY Growth by Hold Level, %, 2026–2036</a:t>
                      </a:r>
                      <a:endParaRPr sz="1050"/>
                    </a:p>
                  </a:txBody>
                  <a:tcPr marL="9525" marR="9525" marT="9525" marB="0" anchor="ctr"/>
                </a:tc>
              </a:tr>
              <a:tr h="170486">
                <a:tc>
                  <a:txBody>
                    <a:bodyPr wrap="square"/>
                    <a:lstStyle/>
                    <a:p>
                      <a:pPr algn="l"/>
                      <a:r>
                        <a:rPr sz="1050" b="0" i="0">
                          <a:solidFill>
                            <a:srgbClr val="000000"/>
                          </a:solidFill>
                          <a:latin typeface="Calibri"/>
                        </a:rPr>
                        <a:t>Table 44: Global Market YoY Growth by Finish, %, 2026–2036</a:t>
                      </a:r>
                      <a:endParaRPr sz="1050"/>
                    </a:p>
                  </a:txBody>
                  <a:tcPr marL="9525" marR="9525" marT="9525" marB="0" anchor="ctr"/>
                </a:tc>
              </a:tr>
              <a:tr h="170486">
                <a:tc>
                  <a:txBody>
                    <a:bodyPr wrap="square"/>
                    <a:lstStyle/>
                    <a:p>
                      <a:pPr algn="l"/>
                      <a:r>
                        <a:rPr sz="1050" b="0" i="0">
                          <a:solidFill>
                            <a:srgbClr val="000000"/>
                          </a:solidFill>
                          <a:latin typeface="Calibri"/>
                        </a:rPr>
                        <a:t>Table 45: Global Market YoY Growth by Distribution Channel, %, 2026–2036</a:t>
                      </a:r>
                      <a:endParaRPr sz="1050"/>
                    </a:p>
                  </a:txBody>
                  <a:tcPr marL="9525" marR="9525" marT="9525" marB="0" anchor="ctr"/>
                </a:tc>
              </a:tr>
              <a:tr h="170486">
                <a:tc>
                  <a:txBody>
                    <a:bodyPr wrap="square"/>
                    <a:lstStyle/>
                    <a:p>
                      <a:pPr algn="l"/>
                      <a:r>
                        <a:rPr sz="1050" b="0" i="0">
                          <a:solidFill>
                            <a:srgbClr val="000000"/>
                          </a:solidFill>
                          <a:latin typeface="Calibri"/>
                        </a:rPr>
                        <a:t>Table 46: Global Market YoY Growth by Primary Styling Benefit, %, 2026–2036</a:t>
                      </a:r>
                      <a:endParaRPr sz="1050"/>
                    </a:p>
                  </a:txBody>
                  <a:tcPr marL="9525" marR="9525" marT="9525" marB="0" anchor="ctr"/>
                </a:tc>
              </a:tr>
              <a:tr h="170486">
                <a:tc>
                  <a:txBody>
                    <a:bodyPr wrap="square"/>
                    <a:lstStyle/>
                    <a:p>
                      <a:pPr algn="l"/>
                      <a:r>
                        <a:rPr sz="1050" b="0" i="0">
                          <a:solidFill>
                            <a:srgbClr val="000000"/>
                          </a:solidFill>
                          <a:latin typeface="Calibri"/>
                        </a:rPr>
                        <a:t>Table 47: Global Market YoY Growth by Hair Type Targeted, %, 2026–2036</a:t>
                      </a:r>
                      <a:endParaRPr sz="1050"/>
                    </a:p>
                  </a:txBody>
                  <a:tcPr marL="9525" marR="9525" marT="9525" marB="0" anchor="ctr"/>
                </a:tc>
              </a:tr>
              <a:tr h="170486">
                <a:tc>
                  <a:txBody>
                    <a:bodyPr wrap="square"/>
                    <a:lstStyle/>
                    <a:p>
                      <a:pPr algn="l"/>
                      <a:r>
                        <a:rPr sz="1050" b="0" i="0">
                          <a:solidFill>
                            <a:srgbClr val="000000"/>
                          </a:solidFill>
                          <a:latin typeface="Calibri"/>
                        </a:rPr>
                        <a:t>Table 48: Global Market YoY Growth by Ingredient Technology, %, 2026–2036</a:t>
                      </a:r>
                      <a:endParaRPr sz="1050"/>
                    </a:p>
                  </a:txBody>
                  <a:tcPr marL="9525" marR="9525" marT="9525" marB="0" anchor="ctr"/>
                </a:tc>
              </a:tr>
              <a:tr h="170486">
                <a:tc>
                  <a:txBody>
                    <a:bodyPr wrap="square"/>
                    <a:lstStyle/>
                    <a:p>
                      <a:pPr algn="l"/>
                      <a:r>
                        <a:rPr sz="1050" b="0" i="0">
                          <a:solidFill>
                            <a:srgbClr val="000000"/>
                          </a:solidFill>
                          <a:latin typeface="Calibri"/>
                        </a:rPr>
                        <a:t>Table 49: Global Market Volume by Product Format, Mn Units, 2021–2036</a:t>
                      </a:r>
                      <a:endParaRPr sz="1050"/>
                    </a:p>
                  </a:txBody>
                  <a:tcPr marL="9525" marR="9525" marT="9525" marB="0" anchor="ctr"/>
                </a:tc>
              </a:tr>
              <a:tr h="170486">
                <a:tc>
                  <a:txBody>
                    <a:bodyPr wrap="square"/>
                    <a:lstStyle/>
                    <a:p>
                      <a:pPr algn="l"/>
                      <a:r>
                        <a:rPr sz="1050" b="0" i="0">
                          <a:solidFill>
                            <a:srgbClr val="000000"/>
                          </a:solidFill>
                          <a:latin typeface="Calibri"/>
                        </a:rPr>
                        <a:t>Table 50: Global Market Volume by Hold Level, Mn Units, 2021–2036</a:t>
                      </a:r>
                      <a:endParaRPr sz="1050"/>
                    </a:p>
                  </a:txBody>
                  <a:tcPr marL="9525" marR="9525" marT="9525" marB="0" anchor="ctr"/>
                </a:tc>
              </a:tr>
              <a:tr h="170486">
                <a:tc>
                  <a:txBody>
                    <a:bodyPr wrap="square"/>
                    <a:lstStyle/>
                    <a:p>
                      <a:pPr algn="l"/>
                      <a:r>
                        <a:rPr sz="1050" b="0" i="0">
                          <a:solidFill>
                            <a:srgbClr val="000000"/>
                          </a:solidFill>
                          <a:latin typeface="Calibri"/>
                        </a:rPr>
                        <a:t>Table 51: Global Market Volume by Finish, Mn Units, 2021–2036</a:t>
                      </a:r>
                      <a:endParaRPr sz="1050"/>
                    </a:p>
                  </a:txBody>
                  <a:tcPr marL="9525" marR="9525" marT="9525" marB="0" anchor="ctr"/>
                </a:tc>
              </a:tr>
              <a:tr h="170486">
                <a:tc>
                  <a:txBody>
                    <a:bodyPr wrap="square"/>
                    <a:lstStyle/>
                    <a:p>
                      <a:pPr algn="l"/>
                      <a:r>
                        <a:rPr sz="1050" b="0" i="0">
                          <a:solidFill>
                            <a:srgbClr val="000000"/>
                          </a:solidFill>
                          <a:latin typeface="Calibri"/>
                        </a:rPr>
                        <a:t>Table 52: Global Market Volume by Distribution Channel, Mn Units, 2021–2036</a:t>
                      </a:r>
                      <a:endParaRPr sz="1050"/>
                    </a:p>
                  </a:txBody>
                  <a:tcPr marL="9525" marR="9525" marT="9525" marB="0" anchor="ctr"/>
                </a:tc>
              </a:tr>
              <a:tr h="170486">
                <a:tc>
                  <a:txBody>
                    <a:bodyPr wrap="square"/>
                    <a:lstStyle/>
                    <a:p>
                      <a:pPr algn="l"/>
                      <a:r>
                        <a:rPr sz="1050" b="0" i="0">
                          <a:solidFill>
                            <a:srgbClr val="000000"/>
                          </a:solidFill>
                          <a:latin typeface="Calibri"/>
                        </a:rPr>
                        <a:t>Table 53: Global Market Volume by Primary Styling Benefit, Mn Units, 2021–2036</a:t>
                      </a:r>
                      <a:endParaRPr sz="1050"/>
                    </a:p>
                  </a:txBody>
                  <a:tcPr marL="9525" marR="9525" marT="9525" marB="0" anchor="ctr"/>
                </a:tc>
              </a:tr>
              <a:tr h="170486">
                <a:tc>
                  <a:txBody>
                    <a:bodyPr wrap="square"/>
                    <a:lstStyle/>
                    <a:p>
                      <a:pPr algn="l"/>
                      <a:r>
                        <a:rPr sz="1050" b="0" i="0">
                          <a:solidFill>
                            <a:srgbClr val="000000"/>
                          </a:solidFill>
                          <a:latin typeface="Calibri"/>
                        </a:rPr>
                        <a:t>Table 54: Global Market Volume by Hair Type Targeted, Mn Units, 2021–2036</a:t>
                      </a:r>
                      <a:endParaRPr sz="1050"/>
                    </a:p>
                  </a:txBody>
                  <a:tcPr marL="9525" marR="9525" marT="9525" marB="0" anchor="ctr"/>
                </a:tc>
              </a:tr>
              <a:tr h="170486">
                <a:tc>
                  <a:txBody>
                    <a:bodyPr wrap="square"/>
                    <a:lstStyle/>
                    <a:p>
                      <a:pPr algn="l"/>
                      <a:r>
                        <a:rPr sz="1050" b="0" i="0">
                          <a:solidFill>
                            <a:srgbClr val="000000"/>
                          </a:solidFill>
                          <a:latin typeface="Calibri"/>
                        </a:rPr>
                        <a:t>Table 55: Global Market Volume by Ingredient Technology, Mn Units, 2021–2036</a:t>
                      </a:r>
                      <a:endParaRPr sz="1050"/>
                    </a:p>
                  </a:txBody>
                  <a:tcPr marL="9525" marR="9525" marT="9525" marB="0" anchor="ctr"/>
                </a:tc>
              </a:tr>
              <a:tr h="170486">
                <a:tc>
                  <a:txBody>
                    <a:bodyPr wrap="square"/>
                    <a:lstStyle/>
                    <a:p>
                      <a:pPr algn="l"/>
                      <a:r>
                        <a:rPr sz="1050" b="0" i="0">
                          <a:solidFill>
                            <a:srgbClr val="000000"/>
                          </a:solidFill>
                          <a:latin typeface="Calibri"/>
                        </a:rPr>
                        <a:t>Table 56: Global Market Average Selling Price by Product Format, US$/Units, 2021–2036</a:t>
                      </a:r>
                      <a:endParaRPr sz="1050"/>
                    </a:p>
                  </a:txBody>
                  <a:tcPr marL="9525" marR="9525" marT="9525" marB="0" anchor="ctr"/>
                </a:tc>
              </a:tr>
              <a:tr h="170486">
                <a:tc>
                  <a:txBody>
                    <a:bodyPr wrap="square"/>
                    <a:lstStyle/>
                    <a:p>
                      <a:pPr algn="l"/>
                      <a:r>
                        <a:rPr sz="1050" b="0" i="0">
                          <a:solidFill>
                            <a:srgbClr val="000000"/>
                          </a:solidFill>
                          <a:latin typeface="Calibri"/>
                        </a:rPr>
                        <a:t>Table 57: Global Market Average Selling Price by Hold Level, US$/Units,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(2/4)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58: Global Market Average Selling Price by Finish, US$/Units, 2021–2036</a:t>
                      </a:r>
                      <a:endParaRPr sz="1050"/>
                    </a:p>
                  </a:txBody>
                  <a:tcPr marL="9525" marR="9525" marT="9525" marB="0" anchor="ctr"/>
                </a:tc>
              </a:tr>
              <a:tr h="169606">
                <a:tc>
                  <a:txBody>
                    <a:bodyPr wrap="square"/>
                    <a:lstStyle/>
                    <a:p>
                      <a:pPr algn="l"/>
                      <a:r>
                        <a:rPr sz="1050" b="0" i="0">
                          <a:solidFill>
                            <a:srgbClr val="000000"/>
                          </a:solidFill>
                          <a:latin typeface="Calibri"/>
                        </a:rPr>
                        <a:t>Table 59: Global Market Average Selling Price by Distribution Channel, US$/Units, 2021–2036</a:t>
                      </a:r>
                      <a:endParaRPr sz="1050"/>
                    </a:p>
                  </a:txBody>
                  <a:tcPr marL="9525" marR="9525" marT="9525" marB="0" anchor="ctr"/>
                </a:tc>
              </a:tr>
              <a:tr h="169606">
                <a:tc>
                  <a:txBody>
                    <a:bodyPr wrap="square"/>
                    <a:lstStyle/>
                    <a:p>
                      <a:pPr algn="l"/>
                      <a:r>
                        <a:rPr sz="1050" b="0" i="0">
                          <a:solidFill>
                            <a:srgbClr val="000000"/>
                          </a:solidFill>
                          <a:latin typeface="Calibri"/>
                        </a:rPr>
                        <a:t>Table 60: Global Market Average Selling Price by Primary Styling Benefit, US$/Units, 2021–2036</a:t>
                      </a:r>
                      <a:endParaRPr sz="1050"/>
                    </a:p>
                  </a:txBody>
                  <a:tcPr marL="9525" marR="9525" marT="9525" marB="0" anchor="ctr"/>
                </a:tc>
              </a:tr>
              <a:tr h="169606">
                <a:tc>
                  <a:txBody>
                    <a:bodyPr wrap="square"/>
                    <a:lstStyle/>
                    <a:p>
                      <a:pPr algn="l"/>
                      <a:r>
                        <a:rPr sz="1050" b="0" i="0">
                          <a:solidFill>
                            <a:srgbClr val="000000"/>
                          </a:solidFill>
                          <a:latin typeface="Calibri"/>
                        </a:rPr>
                        <a:t>Table 61: Global Market Average Selling Price by Hair Type Targeted, US$/Units, 2021–2036</a:t>
                      </a:r>
                      <a:endParaRPr sz="1050"/>
                    </a:p>
                  </a:txBody>
                  <a:tcPr marL="9525" marR="9525" marT="9525" marB="0" anchor="ctr"/>
                </a:tc>
              </a:tr>
              <a:tr h="169606">
                <a:tc>
                  <a:txBody>
                    <a:bodyPr wrap="square"/>
                    <a:lstStyle/>
                    <a:p>
                      <a:pPr algn="l"/>
                      <a:r>
                        <a:rPr sz="1050" b="0" i="0">
                          <a:solidFill>
                            <a:srgbClr val="000000"/>
                          </a:solidFill>
                          <a:latin typeface="Calibri"/>
                        </a:rPr>
                        <a:t>Table 62: Global Market Average Selling Price by Ingredient Technology, US$/Units, 2021–2036</a:t>
                      </a:r>
                      <a:endParaRPr sz="1050"/>
                    </a:p>
                  </a:txBody>
                  <a:tcPr marL="9525" marR="9525" marT="9525" marB="0" anchor="ctr"/>
                </a:tc>
              </a:tr>
              <a:tr h="169606">
                <a:tc>
                  <a:txBody>
                    <a:bodyPr wrap="square"/>
                    <a:lstStyle/>
                    <a:p>
                      <a:pPr algn="l"/>
                      <a:r>
                        <a:rPr sz="1050" b="0" i="0">
                          <a:solidFill>
                            <a:srgbClr val="000000"/>
                          </a:solidFill>
                          <a:latin typeface="Calibri"/>
                        </a:rPr>
                        <a:t>Table 63: Global Market Attractiveness Index by Product Format, 2026–2036</a:t>
                      </a:r>
                      <a:endParaRPr sz="1050"/>
                    </a:p>
                  </a:txBody>
                  <a:tcPr marL="9525" marR="9525" marT="9525" marB="0" anchor="ctr"/>
                </a:tc>
              </a:tr>
              <a:tr h="169606">
                <a:tc>
                  <a:txBody>
                    <a:bodyPr wrap="square"/>
                    <a:lstStyle/>
                    <a:p>
                      <a:pPr algn="l"/>
                      <a:r>
                        <a:rPr sz="1050" b="0" i="0">
                          <a:solidFill>
                            <a:srgbClr val="000000"/>
                          </a:solidFill>
                          <a:latin typeface="Calibri"/>
                        </a:rPr>
                        <a:t>Table 64: Global Market Attractiveness Index by Hold Level, 2026–2036</a:t>
                      </a:r>
                      <a:endParaRPr sz="1050"/>
                    </a:p>
                  </a:txBody>
                  <a:tcPr marL="9525" marR="9525" marT="9525" marB="0" anchor="ctr"/>
                </a:tc>
              </a:tr>
              <a:tr h="169606">
                <a:tc>
                  <a:txBody>
                    <a:bodyPr wrap="square"/>
                    <a:lstStyle/>
                    <a:p>
                      <a:pPr algn="l"/>
                      <a:r>
                        <a:rPr sz="1050" b="0" i="0">
                          <a:solidFill>
                            <a:srgbClr val="000000"/>
                          </a:solidFill>
                          <a:latin typeface="Calibri"/>
                        </a:rPr>
                        <a:t>Table 65: Global Market Attractiveness Index by Finish, 2026–2036</a:t>
                      </a:r>
                      <a:endParaRPr sz="1050"/>
                    </a:p>
                  </a:txBody>
                  <a:tcPr marL="9525" marR="9525" marT="9525" marB="0" anchor="ctr"/>
                </a:tc>
              </a:tr>
              <a:tr h="169606">
                <a:tc>
                  <a:txBody>
                    <a:bodyPr wrap="square"/>
                    <a:lstStyle/>
                    <a:p>
                      <a:pPr algn="l"/>
                      <a:r>
                        <a:rPr sz="1050" b="0" i="0">
                          <a:solidFill>
                            <a:srgbClr val="000000"/>
                          </a:solidFill>
                          <a:latin typeface="Calibri"/>
                        </a:rPr>
                        <a:t>Table 66: Global Market Attractiveness Index by Distribution Channel, 2026–2036</a:t>
                      </a:r>
                      <a:endParaRPr sz="1050"/>
                    </a:p>
                  </a:txBody>
                  <a:tcPr marL="9525" marR="9525" marT="9525" marB="0" anchor="ctr"/>
                </a:tc>
              </a:tr>
              <a:tr h="169606">
                <a:tc>
                  <a:txBody>
                    <a:bodyPr wrap="square"/>
                    <a:lstStyle/>
                    <a:p>
                      <a:pPr algn="l"/>
                      <a:r>
                        <a:rPr sz="1050" b="0" i="0">
                          <a:solidFill>
                            <a:srgbClr val="000000"/>
                          </a:solidFill>
                          <a:latin typeface="Calibri"/>
                        </a:rPr>
                        <a:t>Table 67: Global Market Attractiveness Index by Primary Styling Benefit, 2026–2036</a:t>
                      </a:r>
                      <a:endParaRPr sz="1050"/>
                    </a:p>
                  </a:txBody>
                  <a:tcPr marL="9525" marR="9525" marT="9525" marB="0" anchor="ctr"/>
                </a:tc>
              </a:tr>
              <a:tr h="169606">
                <a:tc>
                  <a:txBody>
                    <a:bodyPr wrap="square"/>
                    <a:lstStyle/>
                    <a:p>
                      <a:pPr algn="l"/>
                      <a:r>
                        <a:rPr sz="1050" b="0" i="0">
                          <a:solidFill>
                            <a:srgbClr val="000000"/>
                          </a:solidFill>
                          <a:latin typeface="Calibri"/>
                        </a:rPr>
                        <a:t>Table 68: Global Market Attractiveness Index by Hair Type Targeted, 2026–2036</a:t>
                      </a:r>
                      <a:endParaRPr sz="1050"/>
                    </a:p>
                  </a:txBody>
                  <a:tcPr marL="9525" marR="9525" marT="9525" marB="0" anchor="ctr"/>
                </a:tc>
              </a:tr>
              <a:tr h="169606">
                <a:tc>
                  <a:txBody>
                    <a:bodyPr wrap="square"/>
                    <a:lstStyle/>
                    <a:p>
                      <a:pPr algn="l"/>
                      <a:r>
                        <a:rPr sz="1050" b="0" i="0">
                          <a:solidFill>
                            <a:srgbClr val="000000"/>
                          </a:solidFill>
                          <a:latin typeface="Calibri"/>
                        </a:rPr>
                        <a:t>Table 69: Global Market Attractiveness Index by Ingredient Technology, 2026–2036</a:t>
                      </a:r>
                      <a:endParaRPr sz="1050"/>
                    </a:p>
                  </a:txBody>
                  <a:tcPr marL="9525" marR="9525" marT="9525" marB="0" anchor="ctr"/>
                </a:tc>
              </a:tr>
              <a:tr h="169606">
                <a:tc>
                  <a:txBody>
                    <a:bodyPr wrap="square"/>
                    <a:lstStyle/>
                    <a:p>
                      <a:pPr algn="l"/>
                      <a:r>
                        <a:rPr sz="1050" b="0" i="0">
                          <a:solidFill>
                            <a:srgbClr val="000000"/>
                          </a:solidFill>
                          <a:latin typeface="Calibri"/>
                        </a:rPr>
                        <a:t>Table 70: Global Market Value of Sprays and Mists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71: Global Market Value of No Hold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72: Global Market Value of Matte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73: Global Market Value of Mass Retail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74: Global Market Value of Hold and Shape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75: Global Market Value of Straight Hair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76: Global Market Value of Film-forming and Fixative Polymers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77: Global Market Value of Mousses and Foams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78: Global Market Value of Light or Flexible Hold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79: Global Market Value of Natural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80: Global Market Value of Beauty Specialty Retail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81: Global Market Value by Product Format and Hold Level, US$ Mn, 2026–2036</a:t>
                      </a:r>
                      <a:endParaRPr sz="1050"/>
                    </a:p>
                  </a:txBody>
                  <a:tcPr marL="9525" marR="9525" marT="9525" marB="0" anchor="ctr"/>
                </a:tc>
              </a:tr>
              <a:tr h="169606">
                <a:tc>
                  <a:txBody>
                    <a:bodyPr wrap="square"/>
                    <a:lstStyle/>
                    <a:p>
                      <a:pPr algn="l"/>
                      <a:r>
                        <a:rPr sz="1050" b="0" i="0">
                          <a:solidFill>
                            <a:srgbClr val="000000"/>
                          </a:solidFill>
                          <a:latin typeface="Calibri"/>
                        </a:rPr>
                        <a:t>Table 82: Global Market Value by Product Format and Finish, US$ Mn, 2026–2036</a:t>
                      </a:r>
                      <a:endParaRPr sz="1050"/>
                    </a:p>
                  </a:txBody>
                  <a:tcPr marL="9525" marR="9525" marT="9525" marB="0" anchor="ctr"/>
                </a:tc>
              </a:tr>
              <a:tr h="169606">
                <a:tc>
                  <a:txBody>
                    <a:bodyPr wrap="square"/>
                    <a:lstStyle/>
                    <a:p>
                      <a:pPr algn="l"/>
                      <a:r>
                        <a:rPr sz="1050" b="0" i="0">
                          <a:solidFill>
                            <a:srgbClr val="000000"/>
                          </a:solidFill>
                          <a:latin typeface="Calibri"/>
                        </a:rPr>
                        <a:t>Table 83: Global Market Value by Product Format and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Table 84: Global Market Value by Product Format and Primary Styling Benefit, US$ Mn, 2026–2036</a:t>
                      </a:r>
                      <a:endParaRPr sz="1050"/>
                    </a:p>
                  </a:txBody>
                  <a:tcPr marL="9525" marR="9525" marT="9525" marB="0" anchor="ctr"/>
                </a:tc>
              </a:tr>
              <a:tr h="169606">
                <a:tc>
                  <a:txBody>
                    <a:bodyPr wrap="square"/>
                    <a:lstStyle/>
                    <a:p>
                      <a:pPr algn="l"/>
                      <a:r>
                        <a:rPr sz="1050" b="0" i="0">
                          <a:solidFill>
                            <a:srgbClr val="000000"/>
                          </a:solidFill>
                          <a:latin typeface="Calibri"/>
                        </a:rPr>
                        <a:t>Table 85: Global Market Value by Product Format and Hair Type Targeted, US$ Mn, 2026–2036</a:t>
                      </a:r>
                      <a:endParaRPr sz="1050"/>
                    </a:p>
                  </a:txBody>
                  <a:tcPr marL="9525" marR="9525" marT="9525" marB="0" anchor="ctr"/>
                </a:tc>
              </a:tr>
              <a:tr h="169606">
                <a:tc>
                  <a:txBody>
                    <a:bodyPr wrap="square"/>
                    <a:lstStyle/>
                    <a:p>
                      <a:pPr algn="l"/>
                      <a:r>
                        <a:rPr sz="1050" b="0" i="0">
                          <a:solidFill>
                            <a:srgbClr val="000000"/>
                          </a:solidFill>
                          <a:latin typeface="Calibri"/>
                        </a:rPr>
                        <a:t>Table 86: Global Market Value by Product Format and Ingredient Technology, US$ Mn, 2026–2036</a:t>
                      </a:r>
                      <a:endParaRPr sz="1050"/>
                    </a:p>
                  </a:txBody>
                  <a:tcPr marL="9525" marR="9525" marT="9525" marB="0" anchor="ctr"/>
                </a:tc>
              </a:tr>
              <a:tr h="169606">
                <a:tc>
                  <a:txBody>
                    <a:bodyPr wrap="square"/>
                    <a:lstStyle/>
                    <a:p>
                      <a:pPr algn="l"/>
                      <a:r>
                        <a:rPr sz="1050" b="0" i="0">
                          <a:solidFill>
                            <a:srgbClr val="000000"/>
                          </a:solidFill>
                          <a:latin typeface="Calibri"/>
                        </a:rPr>
                        <a:t>Table 87: Global Market Value by Hold Level and Finish, US$ Mn, 2026–2036</a:t>
                      </a:r>
                      <a:endParaRPr sz="1050"/>
                    </a:p>
                  </a:txBody>
                  <a:tcPr marL="9525" marR="9525" marT="9525" marB="0" anchor="ctr"/>
                </a:tc>
              </a:tr>
              <a:tr h="169606">
                <a:tc>
                  <a:txBody>
                    <a:bodyPr wrap="square"/>
                    <a:lstStyle/>
                    <a:p>
                      <a:pPr algn="l"/>
                      <a:r>
                        <a:rPr sz="1050" b="0" i="0">
                          <a:solidFill>
                            <a:srgbClr val="000000"/>
                          </a:solidFill>
                          <a:latin typeface="Calibri"/>
                        </a:rPr>
                        <a:t>Table 88: Global Market Value by Hold Level and Distribution Channel,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3"/>
        </p:xfrm>
        <a:graphic>
          <a:graphicData uri="http://schemas.openxmlformats.org/drawingml/2006/table">
            <a:tbl>
              <a:tblPr>
                <a:tableStyleId>{3B4B98B0-60AC-42C2-AFA5-B58CD77FA1E5}</a:tableStyleId>
              </a:tblPr>
              <a:tblGrid>
                <a:gridCol w="5876925"/>
              </a:tblGrid>
              <a:tr h="170045">
                <a:tc>
                  <a:txBody>
                    <a:bodyPr wrap="square"/>
                    <a:lstStyle/>
                    <a:p>
                      <a:pPr algn="l"/>
                      <a:r>
                        <a:rPr sz="1050" b="0" i="0">
                          <a:solidFill>
                            <a:srgbClr val="000000"/>
                          </a:solidFill>
                          <a:latin typeface="Calibri"/>
                        </a:rPr>
                        <a:t>Table 89: Global Market Value by Hold Level and Primary Styling Benefit, US$ Mn, 2026–2036</a:t>
                      </a:r>
                      <a:endParaRPr sz="1050"/>
                    </a:p>
                  </a:txBody>
                  <a:tcPr marL="9525" marR="9525" marT="9525" marB="0" anchor="ctr"/>
                </a:tc>
              </a:tr>
              <a:tr h="170045">
                <a:tc>
                  <a:txBody>
                    <a:bodyPr wrap="square"/>
                    <a:lstStyle/>
                    <a:p>
                      <a:pPr algn="l"/>
                      <a:r>
                        <a:rPr sz="1050" b="0" i="0">
                          <a:solidFill>
                            <a:srgbClr val="000000"/>
                          </a:solidFill>
                          <a:latin typeface="Calibri"/>
                        </a:rPr>
                        <a:t>Table 90: Global Market Value by Hold Level and Hair Type Targeted, US$ Mn, 2026–2036</a:t>
                      </a:r>
                      <a:endParaRPr sz="1050"/>
                    </a:p>
                  </a:txBody>
                  <a:tcPr marL="9525" marR="9525" marT="9525" marB="0" anchor="ctr"/>
                </a:tc>
              </a:tr>
              <a:tr h="170045">
                <a:tc>
                  <a:txBody>
                    <a:bodyPr wrap="square"/>
                    <a:lstStyle/>
                    <a:p>
                      <a:pPr algn="l"/>
                      <a:r>
                        <a:rPr sz="1050" b="0" i="0">
                          <a:solidFill>
                            <a:srgbClr val="000000"/>
                          </a:solidFill>
                          <a:latin typeface="Calibri"/>
                        </a:rPr>
                        <a:t>Table 91: Global Market Value by Hold Level and Ingredient Technology, US$ Mn, 2026–2036</a:t>
                      </a:r>
                      <a:endParaRPr sz="1050"/>
                    </a:p>
                  </a:txBody>
                  <a:tcPr marL="9525" marR="9525" marT="9525" marB="0" anchor="ctr"/>
                </a:tc>
              </a:tr>
              <a:tr h="170045">
                <a:tc>
                  <a:txBody>
                    <a:bodyPr wrap="square"/>
                    <a:lstStyle/>
                    <a:p>
                      <a:pPr algn="l"/>
                      <a:r>
                        <a:rPr sz="1050" b="0" i="0">
                          <a:solidFill>
                            <a:srgbClr val="000000"/>
                          </a:solidFill>
                          <a:latin typeface="Calibri"/>
                        </a:rPr>
                        <a:t>Table 92: Global Market Value by Finish and Distribution Channel, US$ Mn, 2026–2036</a:t>
                      </a:r>
                      <a:endParaRPr sz="1050"/>
                    </a:p>
                  </a:txBody>
                  <a:tcPr marL="9525" marR="9525" marT="9525" marB="0" anchor="ctr"/>
                </a:tc>
              </a:tr>
              <a:tr h="170045">
                <a:tc>
                  <a:txBody>
                    <a:bodyPr wrap="square"/>
                    <a:lstStyle/>
                    <a:p>
                      <a:pPr algn="l"/>
                      <a:r>
                        <a:rPr sz="1050" b="0" i="0">
                          <a:solidFill>
                            <a:srgbClr val="000000"/>
                          </a:solidFill>
                          <a:latin typeface="Calibri"/>
                        </a:rPr>
                        <a:t>Table 93: Global Market Value by Finish and Primary Styling Benefit, US$ Mn, 2026–2036</a:t>
                      </a:r>
                      <a:endParaRPr sz="1050"/>
                    </a:p>
                  </a:txBody>
                  <a:tcPr marL="9525" marR="9525" marT="9525" marB="0" anchor="ctr"/>
                </a:tc>
              </a:tr>
              <a:tr h="170045">
                <a:tc>
                  <a:txBody>
                    <a:bodyPr wrap="square"/>
                    <a:lstStyle/>
                    <a:p>
                      <a:pPr algn="l"/>
                      <a:r>
                        <a:rPr sz="1050" b="0" i="0">
                          <a:solidFill>
                            <a:srgbClr val="000000"/>
                          </a:solidFill>
                          <a:latin typeface="Calibri"/>
                        </a:rPr>
                        <a:t>Table 94: Global Market Value by Finish and Hair Type Targeted, US$ Mn, 2026–2036</a:t>
                      </a:r>
                      <a:endParaRPr sz="1050"/>
                    </a:p>
                  </a:txBody>
                  <a:tcPr marL="9525" marR="9525" marT="9525" marB="0" anchor="ctr"/>
                </a:tc>
              </a:tr>
              <a:tr h="170045">
                <a:tc>
                  <a:txBody>
                    <a:bodyPr wrap="square"/>
                    <a:lstStyle/>
                    <a:p>
                      <a:pPr algn="l"/>
                      <a:r>
                        <a:rPr sz="1050" b="0" i="0">
                          <a:solidFill>
                            <a:srgbClr val="000000"/>
                          </a:solidFill>
                          <a:latin typeface="Calibri"/>
                        </a:rPr>
                        <a:t>Table 95: Global Market Value by Finish and Ingredient Technology, US$ Mn, 2026–2036</a:t>
                      </a:r>
                      <a:endParaRPr sz="1050"/>
                    </a:p>
                  </a:txBody>
                  <a:tcPr marL="9525" marR="9525" marT="9525" marB="0" anchor="ctr"/>
                </a:tc>
              </a:tr>
              <a:tr h="333289">
                <a:tc>
                  <a:txBody>
                    <a:bodyPr wrap="square"/>
                    <a:lstStyle/>
                    <a:p>
                      <a:pPr algn="l"/>
                      <a:r>
                        <a:rPr sz="1050" b="0" i="0">
                          <a:solidFill>
                            <a:srgbClr val="000000"/>
                          </a:solidFill>
                          <a:latin typeface="Calibri"/>
                        </a:rPr>
                        <a:t>Table 96: Global Market Value by Distribution Channel and Primary Styling Benefit, US$ Mn, 2026–2036</a:t>
                      </a:r>
                      <a:endParaRPr sz="1050"/>
                    </a:p>
                  </a:txBody>
                  <a:tcPr marL="9525" marR="9525" marT="9525" marB="0" anchor="ctr"/>
                </a:tc>
              </a:tr>
              <a:tr h="170045">
                <a:tc>
                  <a:txBody>
                    <a:bodyPr wrap="square"/>
                    <a:lstStyle/>
                    <a:p>
                      <a:pPr algn="l"/>
                      <a:r>
                        <a:rPr sz="1050" b="0" i="0">
                          <a:solidFill>
                            <a:srgbClr val="000000"/>
                          </a:solidFill>
                          <a:latin typeface="Calibri"/>
                        </a:rPr>
                        <a:t>Table 97: Global Market Value by Distribution Channel and Hair Type Targeted, US$ Mn, 2026–2036</a:t>
                      </a:r>
                      <a:endParaRPr sz="1050"/>
                    </a:p>
                  </a:txBody>
                  <a:tcPr marL="9525" marR="9525" marT="9525" marB="0" anchor="ctr"/>
                </a:tc>
              </a:tr>
              <a:tr h="170045">
                <a:tc>
                  <a:txBody>
                    <a:bodyPr wrap="square"/>
                    <a:lstStyle/>
                    <a:p>
                      <a:pPr algn="l"/>
                      <a:r>
                        <a:rPr sz="1050" b="0" i="0">
                          <a:solidFill>
                            <a:srgbClr val="000000"/>
                          </a:solidFill>
                          <a:latin typeface="Calibri"/>
                        </a:rPr>
                        <a:t>Table 98: Global Market Value by Distribution Channel and Ingredient Technology, US$ Mn, 2026–2036</a:t>
                      </a:r>
                      <a:endParaRPr sz="1050"/>
                    </a:p>
                  </a:txBody>
                  <a:tcPr marL="9525" marR="9525" marT="9525" marB="0" anchor="ctr"/>
                </a:tc>
              </a:tr>
              <a:tr h="170045">
                <a:tc>
                  <a:txBody>
                    <a:bodyPr wrap="square"/>
                    <a:lstStyle/>
                    <a:p>
                      <a:pPr algn="l"/>
                      <a:r>
                        <a:rPr sz="1050" b="0" i="0">
                          <a:solidFill>
                            <a:srgbClr val="000000"/>
                          </a:solidFill>
                          <a:latin typeface="Calibri"/>
                        </a:rPr>
                        <a:t>Table 99: Global Market Value by Primary Styling Benefit and Hair Type Targeted, US$ Mn, 2026–2036</a:t>
                      </a:r>
                      <a:endParaRPr sz="1050"/>
                    </a:p>
                  </a:txBody>
                  <a:tcPr marL="9525" marR="9525" marT="9525" marB="0" anchor="ctr"/>
                </a:tc>
              </a:tr>
              <a:tr h="333289">
                <a:tc>
                  <a:txBody>
                    <a:bodyPr wrap="square"/>
                    <a:lstStyle/>
                    <a:p>
                      <a:pPr algn="l"/>
                      <a:r>
                        <a:rPr sz="1050" b="0" i="0">
                          <a:solidFill>
                            <a:srgbClr val="000000"/>
                          </a:solidFill>
                          <a:latin typeface="Calibri"/>
                        </a:rPr>
                        <a:t>Table 100: Global Market Value by Primary Styling Benefit and Ingredient Technology, US$ Mn, 2026–2036</a:t>
                      </a:r>
                      <a:endParaRPr sz="1050"/>
                    </a:p>
                  </a:txBody>
                  <a:tcPr marL="9525" marR="9525" marT="9525" marB="0" anchor="ctr"/>
                </a:tc>
              </a:tr>
              <a:tr h="170045">
                <a:tc>
                  <a:txBody>
                    <a:bodyPr wrap="square"/>
                    <a:lstStyle/>
                    <a:p>
                      <a:pPr algn="l"/>
                      <a:r>
                        <a:rPr sz="1050" b="0" i="0">
                          <a:solidFill>
                            <a:srgbClr val="000000"/>
                          </a:solidFill>
                          <a:latin typeface="Calibri"/>
                        </a:rPr>
                        <a:t>Table 101: Global Market Value by Hair Type Targeted and Ingredient Technology, US$ Mn, 2026–2036</a:t>
                      </a:r>
                      <a:endParaRPr sz="1050"/>
                    </a:p>
                  </a:txBody>
                  <a:tcPr marL="9525" marR="9525" marT="9525" marB="0" anchor="ctr"/>
                </a:tc>
              </a:tr>
              <a:tr h="170045">
                <a:tc>
                  <a:txBody>
                    <a:bodyPr wrap="square"/>
                    <a:lstStyle/>
                    <a:p>
                      <a:pPr algn="l"/>
                      <a:r>
                        <a:rPr sz="1050" b="0" i="0">
                          <a:solidFill>
                            <a:srgbClr val="000000"/>
                          </a:solidFill>
                          <a:latin typeface="Calibri"/>
                        </a:rPr>
                        <a:t>Table 102: Global Market Value by Region and Product Format, US$ Mn, 2026–2036</a:t>
                      </a:r>
                      <a:endParaRPr sz="1050"/>
                    </a:p>
                  </a:txBody>
                  <a:tcPr marL="9525" marR="9525" marT="9525" marB="0" anchor="ctr"/>
                </a:tc>
              </a:tr>
              <a:tr h="170045">
                <a:tc>
                  <a:txBody>
                    <a:bodyPr wrap="square"/>
                    <a:lstStyle/>
                    <a:p>
                      <a:pPr algn="l"/>
                      <a:r>
                        <a:rPr sz="1050" b="0" i="0">
                          <a:solidFill>
                            <a:srgbClr val="000000"/>
                          </a:solidFill>
                          <a:latin typeface="Calibri"/>
                        </a:rPr>
                        <a:t>Table 103: Global Market Value by Region and Hold Level, US$ Mn, 2026–2036</a:t>
                      </a:r>
                      <a:endParaRPr sz="1050"/>
                    </a:p>
                  </a:txBody>
                  <a:tcPr marL="9525" marR="9525" marT="9525" marB="0" anchor="ctr"/>
                </a:tc>
              </a:tr>
              <a:tr h="170045">
                <a:tc>
                  <a:txBody>
                    <a:bodyPr wrap="square"/>
                    <a:lstStyle/>
                    <a:p>
                      <a:pPr algn="l"/>
                      <a:r>
                        <a:rPr sz="1050" b="0" i="0">
                          <a:solidFill>
                            <a:srgbClr val="000000"/>
                          </a:solidFill>
                          <a:latin typeface="Calibri"/>
                        </a:rPr>
                        <a:t>Table 104: Global Market Value by Region and Finish, US$ Mn, 2026–2036</a:t>
                      </a:r>
                      <a:endParaRPr sz="1050"/>
                    </a:p>
                  </a:txBody>
                  <a:tcPr marL="9525" marR="9525" marT="9525" marB="0" anchor="ctr"/>
                </a:tc>
              </a:tr>
              <a:tr h="170045">
                <a:tc>
                  <a:txBody>
                    <a:bodyPr wrap="square"/>
                    <a:lstStyle/>
                    <a:p>
                      <a:pPr algn="l"/>
                      <a:r>
                        <a:rPr sz="1050" b="0" i="0">
                          <a:solidFill>
                            <a:srgbClr val="000000"/>
                          </a:solidFill>
                          <a:latin typeface="Calibri"/>
                        </a:rPr>
                        <a:t>Table 105: Global Market Value by Region and Distribution Channel, US$ Mn, 2026–2036</a:t>
                      </a:r>
                      <a:endParaRPr sz="1050"/>
                    </a:p>
                  </a:txBody>
                  <a:tcPr marL="9525" marR="9525" marT="9525" marB="0" anchor="ctr"/>
                </a:tc>
              </a:tr>
              <a:tr h="170045">
                <a:tc>
                  <a:txBody>
                    <a:bodyPr wrap="square"/>
                    <a:lstStyle/>
                    <a:p>
                      <a:pPr algn="l"/>
                      <a:r>
                        <a:rPr sz="1050" b="0" i="0">
                          <a:solidFill>
                            <a:srgbClr val="000000"/>
                          </a:solidFill>
                          <a:latin typeface="Calibri"/>
                        </a:rPr>
                        <a:t>Table 106: Global Market Value by Region and Primary Styling Benefit, US$ Mn, 2026–2036</a:t>
                      </a:r>
                      <a:endParaRPr sz="1050"/>
                    </a:p>
                  </a:txBody>
                  <a:tcPr marL="9525" marR="9525" marT="9525" marB="0" anchor="ctr"/>
                </a:tc>
              </a:tr>
              <a:tr h="170045">
                <a:tc>
                  <a:txBody>
                    <a:bodyPr wrap="square"/>
                    <a:lstStyle/>
                    <a:p>
                      <a:pPr algn="l"/>
                      <a:r>
                        <a:rPr sz="1050" b="0" i="0">
                          <a:solidFill>
                            <a:srgbClr val="000000"/>
                          </a:solidFill>
                          <a:latin typeface="Calibri"/>
                        </a:rPr>
                        <a:t>Table 107: Global Market Value by Region and Hair Type Targeted, US$ Mn, 2026–2036</a:t>
                      </a:r>
                      <a:endParaRPr sz="1050"/>
                    </a:p>
                  </a:txBody>
                  <a:tcPr marL="9525" marR="9525" marT="9525" marB="0" anchor="ctr"/>
                </a:tc>
              </a:tr>
              <a:tr h="170045">
                <a:tc>
                  <a:txBody>
                    <a:bodyPr wrap="square"/>
                    <a:lstStyle/>
                    <a:p>
                      <a:pPr algn="l"/>
                      <a:r>
                        <a:rPr sz="1050" b="0" i="0">
                          <a:solidFill>
                            <a:srgbClr val="000000"/>
                          </a:solidFill>
                          <a:latin typeface="Calibri"/>
                        </a:rPr>
                        <a:t>Table 108: Global Market Value by Region and Ingredient Technology, US$ Mn, 2026–2036</a:t>
                      </a:r>
                      <a:endParaRPr sz="1050"/>
                    </a:p>
                  </a:txBody>
                  <a:tcPr marL="9525" marR="9525" marT="9525" marB="0" anchor="ctr"/>
                </a:tc>
              </a:tr>
              <a:tr h="170045">
                <a:tc>
                  <a:txBody>
                    <a:bodyPr wrap="square"/>
                    <a:lstStyle/>
                    <a:p>
                      <a:pPr algn="l"/>
                      <a:r>
                        <a:rPr sz="1050" b="0" i="0">
                          <a:solidFill>
                            <a:srgbClr val="000000"/>
                          </a:solidFill>
                          <a:latin typeface="Calibri"/>
                        </a:rPr>
                        <a:t>Table 109: Global Market Value by Region, US$ Mn, 2021–2036</a:t>
                      </a:r>
                      <a:endParaRPr sz="1050"/>
                    </a:p>
                  </a:txBody>
                  <a:tcPr marL="9525" marR="9525" marT="9525" marB="0" anchor="ctr"/>
                </a:tc>
              </a:tr>
              <a:tr h="170045">
                <a:tc>
                  <a:txBody>
                    <a:bodyPr wrap="square"/>
                    <a:lstStyle/>
                    <a:p>
                      <a:pPr algn="l"/>
                      <a:r>
                        <a:rPr sz="1050" b="0" i="0">
                          <a:solidFill>
                            <a:srgbClr val="000000"/>
                          </a:solidFill>
                          <a:latin typeface="Calibri"/>
                        </a:rPr>
                        <a:t>Table 110: Global Market CAGR and Absolute $ Opportunity by Region, %, US$ Mn, 2026–2036</a:t>
                      </a:r>
                      <a:endParaRPr sz="1050"/>
                    </a:p>
                  </a:txBody>
                  <a:tcPr marL="9525" marR="9525" marT="9525" marB="0" anchor="ctr"/>
                </a:tc>
              </a:tr>
              <a:tr h="170045">
                <a:tc>
                  <a:txBody>
                    <a:bodyPr wrap="square"/>
                    <a:lstStyle/>
                    <a:p>
                      <a:pPr algn="l"/>
                      <a:r>
                        <a:rPr sz="1050" b="0" i="0">
                          <a:solidFill>
                            <a:srgbClr val="000000"/>
                          </a:solidFill>
                          <a:latin typeface="Calibri"/>
                        </a:rPr>
                        <a:t>Table 111: Global Market Share and BPS Change by Region, %, 2026 and 2036</a:t>
                      </a:r>
                      <a:endParaRPr sz="1050"/>
                    </a:p>
                  </a:txBody>
                  <a:tcPr marL="9525" marR="9525" marT="9525" marB="0" anchor="ctr"/>
                </a:tc>
              </a:tr>
              <a:tr h="170045">
                <a:tc>
                  <a:txBody>
                    <a:bodyPr wrap="square"/>
                    <a:lstStyle/>
                    <a:p>
                      <a:pPr algn="l"/>
                      <a:r>
                        <a:rPr sz="1050" b="0" i="0">
                          <a:solidFill>
                            <a:srgbClr val="000000"/>
                          </a:solidFill>
                          <a:latin typeface="Calibri"/>
                        </a:rPr>
                        <a:t>Table 112: Global Market Volume by Region, Mn Units, 2021–2036</a:t>
                      </a:r>
                      <a:endParaRPr sz="1050"/>
                    </a:p>
                  </a:txBody>
                  <a:tcPr marL="9525" marR="9525" marT="9525" marB="0" anchor="ctr"/>
                </a:tc>
              </a:tr>
              <a:tr h="170045">
                <a:tc>
                  <a:txBody>
                    <a:bodyPr wrap="square"/>
                    <a:lstStyle/>
                    <a:p>
                      <a:pPr algn="l"/>
                      <a:r>
                        <a:rPr sz="1050" b="0" i="0">
                          <a:solidFill>
                            <a:srgbClr val="000000"/>
                          </a:solidFill>
                          <a:latin typeface="Calibri"/>
                        </a:rPr>
                        <a:t>Table 113: North America Market Value by Country, US$ Mn, 2021–2036</a:t>
                      </a:r>
                      <a:endParaRPr sz="1050"/>
                    </a:p>
                  </a:txBody>
                  <a:tcPr marL="9525" marR="9525" marT="9525" marB="0" anchor="ctr"/>
                </a:tc>
              </a:tr>
              <a:tr h="170045">
                <a:tc>
                  <a:txBody>
                    <a:bodyPr wrap="square"/>
                    <a:lstStyle/>
                    <a:p>
                      <a:pPr algn="l"/>
                      <a:r>
                        <a:rPr sz="1050" b="0" i="0">
                          <a:solidFill>
                            <a:srgbClr val="000000"/>
                          </a:solidFill>
                          <a:latin typeface="Calibri"/>
                        </a:rPr>
                        <a:t>Table 114: Latin America Market Value by Country, US$ Mn, 2021–2036</a:t>
                      </a:r>
                      <a:endParaRPr sz="1050"/>
                    </a:p>
                  </a:txBody>
                  <a:tcPr marL="9525" marR="9525" marT="9525" marB="0" anchor="ctr"/>
                </a:tc>
              </a:tr>
              <a:tr h="170045">
                <a:tc>
                  <a:txBody>
                    <a:bodyPr wrap="square"/>
                    <a:lstStyle/>
                    <a:p>
                      <a:pPr algn="l"/>
                      <a:r>
                        <a:rPr sz="1050" b="0" i="0">
                          <a:solidFill>
                            <a:srgbClr val="000000"/>
                          </a:solidFill>
                          <a:latin typeface="Calibri"/>
                        </a:rPr>
                        <a:t>Table 115: Europe Market Value by Country, US$ Mn, 2021–2036</a:t>
                      </a:r>
                      <a:endParaRPr sz="1050"/>
                    </a:p>
                  </a:txBody>
                  <a:tcPr marL="9525" marR="9525" marT="9525" marB="0" anchor="ctr"/>
                </a:tc>
              </a:tr>
              <a:tr h="170045">
                <a:tc>
                  <a:txBody>
                    <a:bodyPr wrap="square"/>
                    <a:lstStyle/>
                    <a:p>
                      <a:pPr algn="l"/>
                      <a:r>
                        <a:rPr sz="1050" b="0" i="0">
                          <a:solidFill>
                            <a:srgbClr val="000000"/>
                          </a:solidFill>
                          <a:latin typeface="Calibri"/>
                        </a:rPr>
                        <a:t>Table 116: East Asia Market Value by Country, US$ Mn, 2021–2036</a:t>
                      </a:r>
                      <a:endParaRPr sz="1050"/>
                    </a:p>
                  </a:txBody>
                  <a:tcPr marL="9525" marR="9525" marT="9525" marB="0" anchor="ctr"/>
                </a:tc>
              </a:tr>
              <a:tr h="170045">
                <a:tc>
                  <a:txBody>
                    <a:bodyPr wrap="square"/>
                    <a:lstStyle/>
                    <a:p>
                      <a:pPr algn="l"/>
                      <a:r>
                        <a:rPr sz="1050" b="0" i="0">
                          <a:solidFill>
                            <a:srgbClr val="000000"/>
                          </a:solidFill>
                          <a:latin typeface="Calibri"/>
                        </a:rPr>
                        <a:t>Table 117: South Asia &amp; Pacific Market Value by Country, US$ Mn,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(3/4)</a:t>
            </a:r>
          </a:p>
        </p:txBody>
      </p:sp>
      <p:graphicFrame>
        <p:nvGraphicFramePr>
          <p:cNvPr id="9" name="FMI Contents Table"/>
          <p:cNvGraphicFramePr>
            <a:graphicFrameLocks noGrp="1"/>
          </p:cNvGraphicFramePr>
          <p:nvPr/>
        </p:nvGraphicFramePr>
        <p:xfrm>
          <a:off x="142875" y="981075"/>
          <a:ext cx="5876925" cy="5257810"/>
        </p:xfrm>
        <a:graphic>
          <a:graphicData uri="http://schemas.openxmlformats.org/drawingml/2006/table">
            <a:tbl>
              <a:tblPr>
                <a:tableStyleId>{3B4B98B0-60AC-42C2-AFA5-B58CD77FA1E5}</a:tableStyleId>
              </a:tblPr>
              <a:tblGrid>
                <a:gridCol w="5876925"/>
              </a:tblGrid>
              <a:tr h="170266">
                <a:tc>
                  <a:txBody>
                    <a:bodyPr wrap="square"/>
                    <a:lstStyle/>
                    <a:p>
                      <a:pPr algn="l"/>
                      <a:r>
                        <a:rPr sz="1050" b="0" i="0">
                          <a:solidFill>
                            <a:srgbClr val="000000"/>
                          </a:solidFill>
                          <a:latin typeface="Calibri"/>
                        </a:rPr>
                        <a:t>Table 118: Middle East &amp; Africa Market Value by Country, US$ Mn, 2021–2036</a:t>
                      </a:r>
                      <a:endParaRPr sz="1050"/>
                    </a:p>
                  </a:txBody>
                  <a:tcPr marL="9525" marR="9525" marT="9525" marB="0" anchor="ctr"/>
                </a:tc>
              </a:tr>
              <a:tr h="333720">
                <a:tc>
                  <a:txBody>
                    <a:bodyPr wrap="square"/>
                    <a:lstStyle/>
                    <a:p>
                      <a:pPr algn="l"/>
                      <a:r>
                        <a:rPr sz="1050" b="0" i="0">
                          <a:solidFill>
                            <a:srgbClr val="000000"/>
                          </a:solidFill>
                          <a:latin typeface="Calibri"/>
                        </a:rPr>
                        <a:t>Table 119: North America Market CAGR and Absolute $ Opportunity by Country, %, US$ Mn, 2026–2036</a:t>
                      </a:r>
                      <a:endParaRPr sz="1050"/>
                    </a:p>
                  </a:txBody>
                  <a:tcPr marL="9525" marR="9525" marT="9525" marB="0" anchor="ctr"/>
                </a:tc>
              </a:tr>
              <a:tr h="170266">
                <a:tc>
                  <a:txBody>
                    <a:bodyPr wrap="square"/>
                    <a:lstStyle/>
                    <a:p>
                      <a:pPr algn="l"/>
                      <a:r>
                        <a:rPr sz="1050" b="0" i="0">
                          <a:solidFill>
                            <a:srgbClr val="000000"/>
                          </a:solidFill>
                          <a:latin typeface="Calibri"/>
                        </a:rPr>
                        <a:t>Table 120: Latin America Market CAGR and Absolute $ Opportunity by Country, %, US$ Mn, 2026–2036</a:t>
                      </a:r>
                      <a:endParaRPr sz="1050"/>
                    </a:p>
                  </a:txBody>
                  <a:tcPr marL="9525" marR="9525" marT="9525" marB="0" anchor="ctr"/>
                </a:tc>
              </a:tr>
              <a:tr h="170266">
                <a:tc>
                  <a:txBody>
                    <a:bodyPr wrap="square"/>
                    <a:lstStyle/>
                    <a:p>
                      <a:pPr algn="l"/>
                      <a:r>
                        <a:rPr sz="1050" b="0" i="0">
                          <a:solidFill>
                            <a:srgbClr val="000000"/>
                          </a:solidFill>
                          <a:latin typeface="Calibri"/>
                        </a:rPr>
                        <a:t>Table 121: Europe Market CAGR and Absolute $ Opportunity by Country, %, US$ Mn, 2026–2036</a:t>
                      </a:r>
                      <a:endParaRPr sz="1050"/>
                    </a:p>
                  </a:txBody>
                  <a:tcPr marL="9525" marR="9525" marT="9525" marB="0" anchor="ctr"/>
                </a:tc>
              </a:tr>
              <a:tr h="170266">
                <a:tc>
                  <a:txBody>
                    <a:bodyPr wrap="square"/>
                    <a:lstStyle/>
                    <a:p>
                      <a:pPr algn="l"/>
                      <a:r>
                        <a:rPr sz="1050" b="0" i="0">
                          <a:solidFill>
                            <a:srgbClr val="000000"/>
                          </a:solidFill>
                          <a:latin typeface="Calibri"/>
                        </a:rPr>
                        <a:t>Table 122: East Asia Market CAGR and Absolute $ Opportunity by Country, %, US$ Mn, 2026–2036</a:t>
                      </a:r>
                      <a:endParaRPr sz="1050"/>
                    </a:p>
                  </a:txBody>
                  <a:tcPr marL="9525" marR="9525" marT="9525" marB="0" anchor="ctr"/>
                </a:tc>
              </a:tr>
              <a:tr h="333720">
                <a:tc>
                  <a:txBody>
                    <a:bodyPr wrap="square"/>
                    <a:lstStyle/>
                    <a:p>
                      <a:pPr algn="l"/>
                      <a:r>
                        <a:rPr sz="1050" b="0" i="0">
                          <a:solidFill>
                            <a:srgbClr val="000000"/>
                          </a:solidFill>
                          <a:latin typeface="Calibri"/>
                        </a:rPr>
                        <a:t>Table 123: South Asia &amp; Pacific Market CAGR and Absolute $ Opportunity by Country, %, US$ Mn, 2026–2036</a:t>
                      </a:r>
                      <a:endParaRPr sz="1050"/>
                    </a:p>
                  </a:txBody>
                  <a:tcPr marL="9525" marR="9525" marT="9525" marB="0" anchor="ctr"/>
                </a:tc>
              </a:tr>
              <a:tr h="333720">
                <a:tc>
                  <a:txBody>
                    <a:bodyPr wrap="square"/>
                    <a:lstStyle/>
                    <a:p>
                      <a:pPr algn="l"/>
                      <a:r>
                        <a:rPr sz="1050" b="0" i="0">
                          <a:solidFill>
                            <a:srgbClr val="000000"/>
                          </a:solidFill>
                          <a:latin typeface="Calibri"/>
                        </a:rPr>
                        <a:t>Table 124: Middle East &amp; Africa Market CAGR and Absolute $ Opportunity by Country, %, US$ Mn, 2026–2036</a:t>
                      </a:r>
                      <a:endParaRPr sz="1050"/>
                    </a:p>
                  </a:txBody>
                  <a:tcPr marL="9525" marR="9525" marT="9525" marB="0" anchor="ctr"/>
                </a:tc>
              </a:tr>
              <a:tr h="170266">
                <a:tc>
                  <a:txBody>
                    <a:bodyPr wrap="square"/>
                    <a:lstStyle/>
                    <a:p>
                      <a:pPr algn="l"/>
                      <a:r>
                        <a:rPr sz="1050" b="0" i="0">
                          <a:solidFill>
                            <a:srgbClr val="000000"/>
                          </a:solidFill>
                          <a:latin typeface="Calibri"/>
                        </a:rPr>
                        <a:t>Table 125: North America Market Value by Product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126: Latin America Market Value by Product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127: Europe Market Value by Product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128: East Asia Market Value by Product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129: South Asia &amp; Pacific Market Value by Product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130: Middle East &amp; Africa Market Value by Product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131: North America Market Value by Hold Level, US$ Mn, 2021–2036</a:t>
                      </a:r>
                      <a:endParaRPr sz="1050"/>
                    </a:p>
                  </a:txBody>
                  <a:tcPr marL="9525" marR="9525" marT="9525" marB="0" anchor="ctr"/>
                </a:tc>
              </a:tr>
              <a:tr h="170266">
                <a:tc>
                  <a:txBody>
                    <a:bodyPr wrap="square"/>
                    <a:lstStyle/>
                    <a:p>
                      <a:pPr algn="l"/>
                      <a:r>
                        <a:rPr sz="1050" b="0" i="0">
                          <a:solidFill>
                            <a:srgbClr val="000000"/>
                          </a:solidFill>
                          <a:latin typeface="Calibri"/>
                        </a:rPr>
                        <a:t>Table 132: Latin America Market Value by Hold Level, US$ Mn, 2021–2036</a:t>
                      </a:r>
                      <a:endParaRPr sz="1050"/>
                    </a:p>
                  </a:txBody>
                  <a:tcPr marL="9525" marR="9525" marT="9525" marB="0" anchor="ctr"/>
                </a:tc>
              </a:tr>
              <a:tr h="170266">
                <a:tc>
                  <a:txBody>
                    <a:bodyPr wrap="square"/>
                    <a:lstStyle/>
                    <a:p>
                      <a:pPr algn="l"/>
                      <a:r>
                        <a:rPr sz="1050" b="0" i="0">
                          <a:solidFill>
                            <a:srgbClr val="000000"/>
                          </a:solidFill>
                          <a:latin typeface="Calibri"/>
                        </a:rPr>
                        <a:t>Table 133: Europe Market Value by Hold Level, US$ Mn, 2021–2036</a:t>
                      </a:r>
                      <a:endParaRPr sz="1050"/>
                    </a:p>
                  </a:txBody>
                  <a:tcPr marL="9525" marR="9525" marT="9525" marB="0" anchor="ctr"/>
                </a:tc>
              </a:tr>
              <a:tr h="170266">
                <a:tc>
                  <a:txBody>
                    <a:bodyPr wrap="square"/>
                    <a:lstStyle/>
                    <a:p>
                      <a:pPr algn="l"/>
                      <a:r>
                        <a:rPr sz="1050" b="0" i="0">
                          <a:solidFill>
                            <a:srgbClr val="000000"/>
                          </a:solidFill>
                          <a:latin typeface="Calibri"/>
                        </a:rPr>
                        <a:t>Table 134: U.S. Market Value by Product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135: U.S. Market Historical and Forecast Growth, %, 2021–2036</a:t>
                      </a:r>
                      <a:endParaRPr sz="1050"/>
                    </a:p>
                  </a:txBody>
                  <a:tcPr marL="9525" marR="9525" marT="9525" marB="0" anchor="ctr"/>
                </a:tc>
              </a:tr>
              <a:tr h="170266">
                <a:tc>
                  <a:txBody>
                    <a:bodyPr wrap="square"/>
                    <a:lstStyle/>
                    <a:p>
                      <a:pPr algn="l"/>
                      <a:r>
                        <a:rPr sz="1050" b="0" i="0">
                          <a:solidFill>
                            <a:srgbClr val="000000"/>
                          </a:solidFill>
                          <a:latin typeface="Calibri"/>
                        </a:rPr>
                        <a:t>Table 136: U.S. Market Value by Distribution Channel, US$ Mn, 2021–2036</a:t>
                      </a:r>
                      <a:endParaRPr sz="1050"/>
                    </a:p>
                  </a:txBody>
                  <a:tcPr marL="9525" marR="9525" marT="9525" marB="0" anchor="ctr"/>
                </a:tc>
              </a:tr>
              <a:tr h="170266">
                <a:tc>
                  <a:txBody>
                    <a:bodyPr wrap="square"/>
                    <a:lstStyle/>
                    <a:p>
                      <a:pPr algn="l"/>
                      <a:r>
                        <a:rPr sz="1050" b="0" i="0">
                          <a:solidFill>
                            <a:srgbClr val="000000"/>
                          </a:solidFill>
                          <a:latin typeface="Calibri"/>
                        </a:rPr>
                        <a:t>Table 137: U.S. Market Share within North America, %, 2025, 2026 and 2036</a:t>
                      </a:r>
                      <a:endParaRPr sz="1050"/>
                    </a:p>
                  </a:txBody>
                  <a:tcPr marL="9525" marR="9525" marT="9525" marB="0" anchor="ctr"/>
                </a:tc>
              </a:tr>
              <a:tr h="170266">
                <a:tc>
                  <a:txBody>
                    <a:bodyPr wrap="square"/>
                    <a:lstStyle/>
                    <a:p>
                      <a:pPr algn="l"/>
                      <a:r>
                        <a:rPr sz="1050" b="0" i="0">
                          <a:solidFill>
                            <a:srgbClr val="000000"/>
                          </a:solidFill>
                          <a:latin typeface="Calibri"/>
                        </a:rPr>
                        <a:t>Table 138: U.S. Market Value by Hold Level, US$ Mn, 2021–2036</a:t>
                      </a:r>
                      <a:endParaRPr sz="1050"/>
                    </a:p>
                  </a:txBody>
                  <a:tcPr marL="9525" marR="9525" marT="9525" marB="0" anchor="ctr"/>
                </a:tc>
              </a:tr>
              <a:tr h="170266">
                <a:tc>
                  <a:txBody>
                    <a:bodyPr wrap="square"/>
                    <a:lstStyle/>
                    <a:p>
                      <a:pPr algn="l"/>
                      <a:r>
                        <a:rPr sz="1050" b="0" i="0">
                          <a:solidFill>
                            <a:srgbClr val="000000"/>
                          </a:solidFill>
                          <a:latin typeface="Calibri"/>
                        </a:rPr>
                        <a:t>Table 139: U.S. Market Value by Finish, US$ Mn, 2021–2036</a:t>
                      </a:r>
                      <a:endParaRPr sz="1050"/>
                    </a:p>
                  </a:txBody>
                  <a:tcPr marL="9525" marR="9525" marT="9525" marB="0" anchor="ctr"/>
                </a:tc>
              </a:tr>
              <a:tr h="170266">
                <a:tc>
                  <a:txBody>
                    <a:bodyPr wrap="square"/>
                    <a:lstStyle/>
                    <a:p>
                      <a:pPr algn="l"/>
                      <a:r>
                        <a:rPr sz="1050" b="0" i="0">
                          <a:solidFill>
                            <a:srgbClr val="000000"/>
                          </a:solidFill>
                          <a:latin typeface="Calibri"/>
                        </a:rPr>
                        <a:t>Table 140: U.S. Market Value by Primary Styling Benefit, US$ Mn, 2021–2036</a:t>
                      </a:r>
                      <a:endParaRPr sz="1050"/>
                    </a:p>
                  </a:txBody>
                  <a:tcPr marL="9525" marR="9525" marT="9525" marB="0" anchor="ctr"/>
                </a:tc>
              </a:tr>
              <a:tr h="170266">
                <a:tc>
                  <a:txBody>
                    <a:bodyPr wrap="square"/>
                    <a:lstStyle/>
                    <a:p>
                      <a:pPr algn="l"/>
                      <a:r>
                        <a:rPr sz="1050" b="0" i="0">
                          <a:solidFill>
                            <a:srgbClr val="000000"/>
                          </a:solidFill>
                          <a:latin typeface="Calibri"/>
                        </a:rPr>
                        <a:t>Table 141: U.S. Market Value by Hair Type Targeted, US$ Mn, 2021–2036</a:t>
                      </a:r>
                      <a:endParaRPr sz="1050"/>
                    </a:p>
                  </a:txBody>
                  <a:tcPr marL="9525" marR="9525" marT="9525" marB="0" anchor="ctr"/>
                </a:tc>
              </a:tr>
              <a:tr h="170266">
                <a:tc>
                  <a:txBody>
                    <a:bodyPr wrap="square"/>
                    <a:lstStyle/>
                    <a:p>
                      <a:pPr algn="l"/>
                      <a:r>
                        <a:rPr sz="1050" b="0" i="0">
                          <a:solidFill>
                            <a:srgbClr val="000000"/>
                          </a:solidFill>
                          <a:latin typeface="Calibri"/>
                        </a:rPr>
                        <a:t>Table 142: China Market Value by Product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143: China Market Historical and Forecast Growth, %, 2021–2036</a:t>
                      </a:r>
                      <a:endParaRPr sz="1050"/>
                    </a:p>
                  </a:txBody>
                  <a:tcPr marL="9525" marR="9525" marT="9525" marB="0" anchor="ctr"/>
                </a:tc>
              </a:tr>
              <a:tr h="170266">
                <a:tc>
                  <a:txBody>
                    <a:bodyPr wrap="square"/>
                    <a:lstStyle/>
                    <a:p>
                      <a:pPr algn="l"/>
                      <a:r>
                        <a:rPr sz="1050" b="0" i="0">
                          <a:solidFill>
                            <a:srgbClr val="000000"/>
                          </a:solidFill>
                          <a:latin typeface="Calibri"/>
                        </a:rPr>
                        <a:t>Table 144: China Market Value by Distribution Channel, US$ Mn, 2021–2036</a:t>
                      </a:r>
                      <a:endParaRPr sz="1050"/>
                    </a:p>
                  </a:txBody>
                  <a:tcPr marL="9525" marR="9525" marT="9525" marB="0" anchor="ctr"/>
                </a:tc>
              </a:tr>
              <a:tr h="170266">
                <a:tc>
                  <a:txBody>
                    <a:bodyPr wrap="square"/>
                    <a:lstStyle/>
                    <a:p>
                      <a:pPr algn="l"/>
                      <a:r>
                        <a:rPr sz="1050" b="0" i="0">
                          <a:solidFill>
                            <a:srgbClr val="000000"/>
                          </a:solidFill>
                          <a:latin typeface="Calibri"/>
                        </a:rPr>
                        <a:t>Table 145: China Market Share within East Asia, %, 2025,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146: China Market Value by Hold Level, US$ Mn, 2021–2036</a:t>
                      </a:r>
                      <a:endParaRPr sz="1050"/>
                    </a:p>
                  </a:txBody>
                  <a:tcPr marL="9525" marR="9525" marT="9525" marB="0" anchor="ctr"/>
                </a:tc>
              </a:tr>
              <a:tr h="169606">
                <a:tc>
                  <a:txBody>
                    <a:bodyPr wrap="square"/>
                    <a:lstStyle/>
                    <a:p>
                      <a:pPr algn="l"/>
                      <a:r>
                        <a:rPr sz="1050" b="0" i="0">
                          <a:solidFill>
                            <a:srgbClr val="000000"/>
                          </a:solidFill>
                          <a:latin typeface="Calibri"/>
                        </a:rPr>
                        <a:t>Table 147: China Market Value by Finish, US$ Mn, 2021–2036</a:t>
                      </a:r>
                      <a:endParaRPr sz="1050"/>
                    </a:p>
                  </a:txBody>
                  <a:tcPr marL="9525" marR="9525" marT="9525" marB="0" anchor="ctr"/>
                </a:tc>
              </a:tr>
              <a:tr h="169606">
                <a:tc>
                  <a:txBody>
                    <a:bodyPr wrap="square"/>
                    <a:lstStyle/>
                    <a:p>
                      <a:pPr algn="l"/>
                      <a:r>
                        <a:rPr sz="1050" b="0" i="0">
                          <a:solidFill>
                            <a:srgbClr val="000000"/>
                          </a:solidFill>
                          <a:latin typeface="Calibri"/>
                        </a:rPr>
                        <a:t>Table 148: China Market Value by Primary Styling Benefit, US$ Mn, 2021–2036</a:t>
                      </a:r>
                      <a:endParaRPr sz="1050"/>
                    </a:p>
                  </a:txBody>
                  <a:tcPr marL="9525" marR="9525" marT="9525" marB="0" anchor="ctr"/>
                </a:tc>
              </a:tr>
              <a:tr h="169606">
                <a:tc>
                  <a:txBody>
                    <a:bodyPr wrap="square"/>
                    <a:lstStyle/>
                    <a:p>
                      <a:pPr algn="l"/>
                      <a:r>
                        <a:rPr sz="1050" b="0" i="0">
                          <a:solidFill>
                            <a:srgbClr val="000000"/>
                          </a:solidFill>
                          <a:latin typeface="Calibri"/>
                        </a:rPr>
                        <a:t>Table 149: China Market Value by Hair Type Targeted, US$ Mn, 2021–2036</a:t>
                      </a:r>
                      <a:endParaRPr sz="1050"/>
                    </a:p>
                  </a:txBody>
                  <a:tcPr marL="9525" marR="9525" marT="9525" marB="0" anchor="ctr"/>
                </a:tc>
              </a:tr>
              <a:tr h="169606">
                <a:tc>
                  <a:txBody>
                    <a:bodyPr wrap="square"/>
                    <a:lstStyle/>
                    <a:p>
                      <a:pPr algn="l"/>
                      <a:r>
                        <a:rPr sz="1050" b="0" i="0">
                          <a:solidFill>
                            <a:srgbClr val="000000"/>
                          </a:solidFill>
                          <a:latin typeface="Calibri"/>
                        </a:rPr>
                        <a:t>Table 150: Japan Market Value by Product Format, US$ Mn, 2021–2036</a:t>
                      </a:r>
                      <a:endParaRPr sz="1050"/>
                    </a:p>
                  </a:txBody>
                  <a:tcPr marL="9525" marR="9525" marT="9525" marB="0" anchor="ctr"/>
                </a:tc>
              </a:tr>
              <a:tr h="169606">
                <a:tc>
                  <a:txBody>
                    <a:bodyPr wrap="square"/>
                    <a:lstStyle/>
                    <a:p>
                      <a:pPr algn="l"/>
                      <a:r>
                        <a:rPr sz="1050" b="0" i="0">
                          <a:solidFill>
                            <a:srgbClr val="000000"/>
                          </a:solidFill>
                          <a:latin typeface="Calibri"/>
                        </a:rPr>
                        <a:t>Table 151: Japan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152: Japan Market Value by Distribution Channel, US$ Mn, 2021–2036</a:t>
                      </a:r>
                      <a:endParaRPr sz="1050"/>
                    </a:p>
                  </a:txBody>
                  <a:tcPr marL="9525" marR="9525" marT="9525" marB="0" anchor="ctr"/>
                </a:tc>
              </a:tr>
              <a:tr h="169606">
                <a:tc>
                  <a:txBody>
                    <a:bodyPr wrap="square"/>
                    <a:lstStyle/>
                    <a:p>
                      <a:pPr algn="l"/>
                      <a:r>
                        <a:rPr sz="1050" b="0" i="0">
                          <a:solidFill>
                            <a:srgbClr val="000000"/>
                          </a:solidFill>
                          <a:latin typeface="Calibri"/>
                        </a:rPr>
                        <a:t>Table 153: Japan Market Share within East Asia, %, 2025, 2026 and 2036</a:t>
                      </a:r>
                      <a:endParaRPr sz="1050"/>
                    </a:p>
                  </a:txBody>
                  <a:tcPr marL="9525" marR="9525" marT="9525" marB="0" anchor="ctr"/>
                </a:tc>
              </a:tr>
              <a:tr h="169606">
                <a:tc>
                  <a:txBody>
                    <a:bodyPr wrap="square"/>
                    <a:lstStyle/>
                    <a:p>
                      <a:pPr algn="l"/>
                      <a:r>
                        <a:rPr sz="1050" b="0" i="0">
                          <a:solidFill>
                            <a:srgbClr val="000000"/>
                          </a:solidFill>
                          <a:latin typeface="Calibri"/>
                        </a:rPr>
                        <a:t>Table 154: Japan Market Value by Hold Level, US$ Mn, 2021–2036</a:t>
                      </a:r>
                      <a:endParaRPr sz="1050"/>
                    </a:p>
                  </a:txBody>
                  <a:tcPr marL="9525" marR="9525" marT="9525" marB="0" anchor="ctr"/>
                </a:tc>
              </a:tr>
              <a:tr h="169606">
                <a:tc>
                  <a:txBody>
                    <a:bodyPr wrap="square"/>
                    <a:lstStyle/>
                    <a:p>
                      <a:pPr algn="l"/>
                      <a:r>
                        <a:rPr sz="1050" b="0" i="0">
                          <a:solidFill>
                            <a:srgbClr val="000000"/>
                          </a:solidFill>
                          <a:latin typeface="Calibri"/>
                        </a:rPr>
                        <a:t>Table 155: Japan Market Value by Finish, US$ Mn, 2021–2036</a:t>
                      </a:r>
                      <a:endParaRPr sz="1050"/>
                    </a:p>
                  </a:txBody>
                  <a:tcPr marL="9525" marR="9525" marT="9525" marB="0" anchor="ctr"/>
                </a:tc>
              </a:tr>
              <a:tr h="169606">
                <a:tc>
                  <a:txBody>
                    <a:bodyPr wrap="square"/>
                    <a:lstStyle/>
                    <a:p>
                      <a:pPr algn="l"/>
                      <a:r>
                        <a:rPr sz="1050" b="0" i="0">
                          <a:solidFill>
                            <a:srgbClr val="000000"/>
                          </a:solidFill>
                          <a:latin typeface="Calibri"/>
                        </a:rPr>
                        <a:t>Table 156: Japan Market Value by Primary Styling Benefit, US$ Mn, 2021–2036</a:t>
                      </a:r>
                      <a:endParaRPr sz="1050"/>
                    </a:p>
                  </a:txBody>
                  <a:tcPr marL="9525" marR="9525" marT="9525" marB="0" anchor="ctr"/>
                </a:tc>
              </a:tr>
              <a:tr h="169606">
                <a:tc>
                  <a:txBody>
                    <a:bodyPr wrap="square"/>
                    <a:lstStyle/>
                    <a:p>
                      <a:pPr algn="l"/>
                      <a:r>
                        <a:rPr sz="1050" b="0" i="0">
                          <a:solidFill>
                            <a:srgbClr val="000000"/>
                          </a:solidFill>
                          <a:latin typeface="Calibri"/>
                        </a:rPr>
                        <a:t>Table 157: Japan Market Value by Hair Type Targeted, US$ Mn, 2021–2036</a:t>
                      </a:r>
                      <a:endParaRPr sz="1050"/>
                    </a:p>
                  </a:txBody>
                  <a:tcPr marL="9525" marR="9525" marT="9525" marB="0" anchor="ctr"/>
                </a:tc>
              </a:tr>
              <a:tr h="169606">
                <a:tc>
                  <a:txBody>
                    <a:bodyPr wrap="square"/>
                    <a:lstStyle/>
                    <a:p>
                      <a:pPr algn="l"/>
                      <a:r>
                        <a:rPr sz="1050" b="0" i="0">
                          <a:solidFill>
                            <a:srgbClr val="000000"/>
                          </a:solidFill>
                          <a:latin typeface="Calibri"/>
                        </a:rPr>
                        <a:t>Table 158: Brazil Market Value by Product Format, US$ Mn, 2021–2036</a:t>
                      </a:r>
                      <a:endParaRPr sz="1050"/>
                    </a:p>
                  </a:txBody>
                  <a:tcPr marL="9525" marR="9525" marT="9525" marB="0" anchor="ctr"/>
                </a:tc>
              </a:tr>
              <a:tr h="169606">
                <a:tc>
                  <a:txBody>
                    <a:bodyPr wrap="square"/>
                    <a:lstStyle/>
                    <a:p>
                      <a:pPr algn="l"/>
                      <a:r>
                        <a:rPr sz="1050" b="0" i="0">
                          <a:solidFill>
                            <a:srgbClr val="000000"/>
                          </a:solidFill>
                          <a:latin typeface="Calibri"/>
                        </a:rPr>
                        <a:t>Table 159: Brazil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160: India Market Value by Product Format, US$ Mn, 2021–2036</a:t>
                      </a:r>
                      <a:endParaRPr sz="1050"/>
                    </a:p>
                  </a:txBody>
                  <a:tcPr marL="9525" marR="9525" marT="9525" marB="0" anchor="ctr"/>
                </a:tc>
              </a:tr>
              <a:tr h="169606">
                <a:tc>
                  <a:txBody>
                    <a:bodyPr wrap="square"/>
                    <a:lstStyle/>
                    <a:p>
                      <a:pPr algn="l"/>
                      <a:r>
                        <a:rPr sz="1050" b="0" i="0">
                          <a:solidFill>
                            <a:srgbClr val="000000"/>
                          </a:solidFill>
                          <a:latin typeface="Calibri"/>
                        </a:rPr>
                        <a:t>Table 161: India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162: South Korea Market Value by Product Format, US$ Mn, 2021–2036</a:t>
                      </a:r>
                      <a:endParaRPr sz="1050"/>
                    </a:p>
                  </a:txBody>
                  <a:tcPr marL="9525" marR="9525" marT="9525" marB="0" anchor="ctr"/>
                </a:tc>
              </a:tr>
              <a:tr h="169606">
                <a:tc>
                  <a:txBody>
                    <a:bodyPr wrap="square"/>
                    <a:lstStyle/>
                    <a:p>
                      <a:pPr algn="l"/>
                      <a:r>
                        <a:rPr sz="1050" b="0" i="0">
                          <a:solidFill>
                            <a:srgbClr val="000000"/>
                          </a:solidFill>
                          <a:latin typeface="Calibri"/>
                        </a:rPr>
                        <a:t>Table 163: South Korea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164: Canada Market Value by Product Format, US$ Mn, 2021–2036</a:t>
                      </a:r>
                      <a:endParaRPr sz="1050"/>
                    </a:p>
                  </a:txBody>
                  <a:tcPr marL="9525" marR="9525" marT="9525" marB="0" anchor="ctr"/>
                </a:tc>
              </a:tr>
              <a:tr h="169606">
                <a:tc>
                  <a:txBody>
                    <a:bodyPr wrap="square"/>
                    <a:lstStyle/>
                    <a:p>
                      <a:pPr algn="l"/>
                      <a:r>
                        <a:rPr sz="1050" b="0" i="0">
                          <a:solidFill>
                            <a:srgbClr val="000000"/>
                          </a:solidFill>
                          <a:latin typeface="Calibri"/>
                        </a:rPr>
                        <a:t>Table 165: Canada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166: Market Product Price Comparison by Company and Product Format, US$/Units, 2026</a:t>
                      </a:r>
                      <a:endParaRPr sz="1050"/>
                    </a:p>
                  </a:txBody>
                  <a:tcPr marL="9525" marR="9525" marT="9525" marB="0" anchor="ctr"/>
                </a:tc>
              </a:tr>
              <a:tr h="169606">
                <a:tc>
                  <a:txBody>
                    <a:bodyPr wrap="square"/>
                    <a:lstStyle/>
                    <a:p>
                      <a:pPr algn="l"/>
                      <a:r>
                        <a:rPr sz="1050" b="0" i="0">
                          <a:solidFill>
                            <a:srgbClr val="000000"/>
                          </a:solidFill>
                          <a:latin typeface="Calibri"/>
                        </a:rPr>
                        <a:t>Table 167: Global Market Average Selling Price by Region, US$/Units, 2021–2036</a:t>
                      </a:r>
                      <a:endParaRPr sz="1050"/>
                    </a:p>
                  </a:txBody>
                  <a:tcPr marL="9525" marR="9525" marT="9525" marB="0" anchor="ctr"/>
                </a:tc>
              </a:tr>
              <a:tr h="169606">
                <a:tc>
                  <a:txBody>
                    <a:bodyPr wrap="square"/>
                    <a:lstStyle/>
                    <a:p>
                      <a:pPr algn="l"/>
                      <a:r>
                        <a:rPr sz="1050" b="0" i="0">
                          <a:solidFill>
                            <a:srgbClr val="000000"/>
                          </a:solidFill>
                          <a:latin typeface="Calibri"/>
                        </a:rPr>
                        <a:t>Table 168: Global Market Average Selling Price by Product Format, US$/Units, 2021–2036</a:t>
                      </a:r>
                      <a:endParaRPr sz="1050"/>
                    </a:p>
                  </a:txBody>
                  <a:tcPr marL="9525" marR="9525" marT="9525" marB="0" anchor="ctr"/>
                </a:tc>
              </a:tr>
              <a:tr h="169606">
                <a:tc>
                  <a:txBody>
                    <a:bodyPr wrap="square"/>
                    <a:lstStyle/>
                    <a:p>
                      <a:pPr algn="l"/>
                      <a:r>
                        <a:rPr sz="1050" b="0" i="0">
                          <a:solidFill>
                            <a:srgbClr val="000000"/>
                          </a:solidFill>
                          <a:latin typeface="Calibri"/>
                        </a:rPr>
                        <a:t>Table 169: Global Market Average Selling Price by Hold Level, US$/Units, 2021–2036</a:t>
                      </a:r>
                      <a:endParaRPr sz="1050"/>
                    </a:p>
                  </a:txBody>
                  <a:tcPr marL="9525" marR="9525" marT="9525" marB="0" anchor="ctr"/>
                </a:tc>
              </a:tr>
              <a:tr h="169606">
                <a:tc>
                  <a:txBody>
                    <a:bodyPr wrap="square"/>
                    <a:lstStyle/>
                    <a:p>
                      <a:pPr algn="l"/>
                      <a:r>
                        <a:rPr sz="1050" b="0" i="0">
                          <a:solidFill>
                            <a:srgbClr val="000000"/>
                          </a:solidFill>
                          <a:latin typeface="Calibri"/>
                        </a:rPr>
                        <a:t>Table 170: Global Market Average Selling Price by Finish, US$/Units, 2021–2036</a:t>
                      </a:r>
                      <a:endParaRPr sz="1050"/>
                    </a:p>
                  </a:txBody>
                  <a:tcPr marL="9525" marR="9525" marT="9525" marB="0" anchor="ctr"/>
                </a:tc>
              </a:tr>
              <a:tr h="169606">
                <a:tc>
                  <a:txBody>
                    <a:bodyPr wrap="square"/>
                    <a:lstStyle/>
                    <a:p>
                      <a:pPr algn="l"/>
                      <a:r>
                        <a:rPr sz="1050" b="0" i="0">
                          <a:solidFill>
                            <a:srgbClr val="000000"/>
                          </a:solidFill>
                          <a:latin typeface="Calibri"/>
                        </a:rPr>
                        <a:t>Table 171: Global Market Average Selling Price by Distribution Channel, US$/Units, 2021–2036</a:t>
                      </a:r>
                      <a:endParaRPr sz="1050"/>
                    </a:p>
                  </a:txBody>
                  <a:tcPr marL="9525" marR="9525" marT="9525" marB="0" anchor="ctr"/>
                </a:tc>
              </a:tr>
              <a:tr h="169606">
                <a:tc>
                  <a:txBody>
                    <a:bodyPr wrap="square"/>
                    <a:lstStyle/>
                    <a:p>
                      <a:pPr algn="l"/>
                      <a:r>
                        <a:rPr sz="1050" b="0" i="0">
                          <a:solidFill>
                            <a:srgbClr val="000000"/>
                          </a:solidFill>
                          <a:latin typeface="Calibri"/>
                        </a:rPr>
                        <a:t>Table 172: Global Market Average Selling Price by Primary Styling Benefit, US$/Units, 2021–2036</a:t>
                      </a:r>
                      <a:endParaRPr sz="1050"/>
                    </a:p>
                  </a:txBody>
                  <a:tcPr marL="9525" marR="9525" marT="9525" marB="0" anchor="ctr"/>
                </a:tc>
              </a:tr>
              <a:tr h="169606">
                <a:tc>
                  <a:txBody>
                    <a:bodyPr wrap="square"/>
                    <a:lstStyle/>
                    <a:p>
                      <a:pPr algn="l"/>
                      <a:r>
                        <a:rPr sz="1050" b="0" i="0">
                          <a:solidFill>
                            <a:srgbClr val="000000"/>
                          </a:solidFill>
                          <a:latin typeface="Calibri"/>
                        </a:rPr>
                        <a:t>Table 173: Global Market Average Selling Price by Hair Type Targeted, US$/Units, 2021–2036</a:t>
                      </a:r>
                      <a:endParaRPr sz="1050"/>
                    </a:p>
                  </a:txBody>
                  <a:tcPr marL="9525" marR="9525" marT="9525" marB="0" anchor="ctr"/>
                </a:tc>
              </a:tr>
              <a:tr h="169606">
                <a:tc>
                  <a:txBody>
                    <a:bodyPr wrap="square"/>
                    <a:lstStyle/>
                    <a:p>
                      <a:pPr algn="l"/>
                      <a:r>
                        <a:rPr sz="1050" b="0" i="0">
                          <a:solidFill>
                            <a:srgbClr val="000000"/>
                          </a:solidFill>
                          <a:latin typeface="Calibri"/>
                        </a:rPr>
                        <a:t>Table 174: Global Market Average Selling Price by Ingredient Technology, US$/Units, 2021–2036</a:t>
                      </a:r>
                      <a:endParaRPr sz="1050"/>
                    </a:p>
                  </a:txBody>
                  <a:tcPr marL="9525" marR="9525" marT="9525" marB="0" anchor="ctr"/>
                </a:tc>
              </a:tr>
              <a:tr h="169606">
                <a:tc>
                  <a:txBody>
                    <a:bodyPr wrap="square"/>
                    <a:lstStyle/>
                    <a:p>
                      <a:pPr algn="l"/>
                      <a:r>
                        <a:rPr sz="1050" b="0" i="0">
                          <a:solidFill>
                            <a:srgbClr val="000000"/>
                          </a:solidFill>
                          <a:latin typeface="Calibri"/>
                        </a:rPr>
                        <a:t>Table 175: Supplier-to-Customer Relationship Mapping in U.S., 2026</a:t>
                      </a:r>
                      <a:endParaRPr sz="1050"/>
                    </a:p>
                  </a:txBody>
                  <a:tcPr marL="9525" marR="9525" marT="9525" marB="0" anchor="ctr"/>
                </a:tc>
              </a:tr>
              <a:tr h="169606">
                <a:tc>
                  <a:txBody>
                    <a:bodyPr wrap="square"/>
                    <a:lstStyle/>
                    <a:p>
                      <a:pPr algn="l"/>
                      <a:r>
                        <a:rPr sz="1050" b="0" i="0">
                          <a:solidFill>
                            <a:srgbClr val="000000"/>
                          </a:solidFill>
                          <a:latin typeface="Calibri"/>
                        </a:rPr>
                        <a:t>Table 176: Global Market Value Chain Participants by Stage, 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(4/4)</a:t>
            </a:r>
          </a:p>
        </p:txBody>
      </p:sp>
      <p:graphicFrame>
        <p:nvGraphicFramePr>
          <p:cNvPr id="9" name="FMI Contents Table"/>
          <p:cNvGraphicFramePr>
            <a:graphicFrameLocks noGrp="1"/>
          </p:cNvGraphicFramePr>
          <p:nvPr/>
        </p:nvGraphicFramePr>
        <p:xfrm>
          <a:off x="142875" y="981075"/>
          <a:ext cx="5876925" cy="4160532"/>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Table 177: Global Market Margin Analysis by Value Chain Stage, %, 2026</a:t>
                      </a:r>
                      <a:endParaRPr sz="1050"/>
                    </a:p>
                  </a:txBody>
                  <a:tcPr marL="9525" marR="9525" marT="9525" marB="0" anchor="ctr"/>
                </a:tc>
              </a:tr>
              <a:tr h="166688">
                <a:tc>
                  <a:txBody>
                    <a:bodyPr wrap="square"/>
                    <a:lstStyle/>
                    <a:p>
                      <a:pPr algn="l"/>
                      <a:r>
                        <a:rPr sz="1050" b="0" i="0">
                          <a:solidFill>
                            <a:srgbClr val="000000"/>
                          </a:solidFill>
                          <a:latin typeface="Calibri"/>
                        </a:rPr>
                        <a:t>Table 178: Global Market Cost Structure by Component, %, 2026</a:t>
                      </a:r>
                      <a:endParaRPr sz="1050"/>
                    </a:p>
                  </a:txBody>
                  <a:tcPr marL="9525" marR="9525" marT="9525" marB="0" anchor="ctr"/>
                </a:tc>
              </a:tr>
              <a:tr h="166688">
                <a:tc>
                  <a:txBody>
                    <a:bodyPr wrap="square"/>
                    <a:lstStyle/>
                    <a:p>
                      <a:pPr algn="l"/>
                      <a:r>
                        <a:rPr sz="1050" b="0" i="0">
                          <a:solidFill>
                            <a:srgbClr val="000000"/>
                          </a:solidFill>
                          <a:latin typeface="Calibri"/>
                        </a:rPr>
                        <a:t>Table 179: Global Market Import Value by Leading Country, US$ Mn, 2021–2025</a:t>
                      </a:r>
                      <a:endParaRPr sz="1050"/>
                    </a:p>
                  </a:txBody>
                  <a:tcPr marL="9525" marR="9525" marT="9525" marB="0" anchor="ctr"/>
                </a:tc>
              </a:tr>
              <a:tr h="166688">
                <a:tc>
                  <a:txBody>
                    <a:bodyPr wrap="square"/>
                    <a:lstStyle/>
                    <a:p>
                      <a:pPr algn="l"/>
                      <a:r>
                        <a:rPr sz="1050" b="0" i="0">
                          <a:solidFill>
                            <a:srgbClr val="000000"/>
                          </a:solidFill>
                          <a:latin typeface="Calibri"/>
                        </a:rPr>
                        <a:t>Table 180: Global Market Export Value by Leading Country, US$ Mn, 2021–2025</a:t>
                      </a:r>
                      <a:endParaRPr sz="1050"/>
                    </a:p>
                  </a:txBody>
                  <a:tcPr marL="9525" marR="9525" marT="9525" marB="0" anchor="ctr"/>
                </a:tc>
              </a:tr>
              <a:tr h="326708">
                <a:tc>
                  <a:txBody>
                    <a:bodyPr wrap="square"/>
                    <a:lstStyle/>
                    <a:p>
                      <a:pPr algn="l"/>
                      <a:r>
                        <a:rPr sz="1050" b="0" i="0">
                          <a:solidFill>
                            <a:srgbClr val="000000"/>
                          </a:solidFill>
                          <a:latin typeface="Calibri"/>
                        </a:rPr>
                        <a:t>Table 181: Leading Hair Styling Products Manufacturers: Product Portfolio and Geographic Presence, 2026</a:t>
                      </a:r>
                      <a:endParaRPr sz="1050"/>
                    </a:p>
                  </a:txBody>
                  <a:tcPr marL="9525" marR="9525" marT="9525" marB="0" anchor="ctr"/>
                </a:tc>
              </a:tr>
              <a:tr h="166688">
                <a:tc>
                  <a:txBody>
                    <a:bodyPr wrap="square"/>
                    <a:lstStyle/>
                    <a:p>
                      <a:pPr algn="l"/>
                      <a:r>
                        <a:rPr sz="1050" b="0" i="0">
                          <a:solidFill>
                            <a:srgbClr val="000000"/>
                          </a:solidFill>
                          <a:latin typeface="Calibri"/>
                        </a:rPr>
                        <a:t>Table 182: Company Revenue from the Global Market, US$ Mn, 2025–2026</a:t>
                      </a:r>
                      <a:endParaRPr sz="1050"/>
                    </a:p>
                  </a:txBody>
                  <a:tcPr marL="9525" marR="9525" marT="9525" marB="0" anchor="ctr"/>
                </a:tc>
              </a:tr>
              <a:tr h="166688">
                <a:tc>
                  <a:txBody>
                    <a:bodyPr wrap="square"/>
                    <a:lstStyle/>
                    <a:p>
                      <a:pPr algn="l"/>
                      <a:r>
                        <a:rPr sz="1050" b="0" i="0">
                          <a:solidFill>
                            <a:srgbClr val="000000"/>
                          </a:solidFill>
                          <a:latin typeface="Calibri"/>
                        </a:rPr>
                        <a:t>Table 183: Company Market Share in the Global Market by Region, %, 2026</a:t>
                      </a:r>
                      <a:endParaRPr sz="1050"/>
                    </a:p>
                  </a:txBody>
                  <a:tcPr marL="9525" marR="9525" marT="9525" marB="0" anchor="ctr"/>
                </a:tc>
              </a:tr>
              <a:tr h="166688">
                <a:tc>
                  <a:txBody>
                    <a:bodyPr wrap="square"/>
                    <a:lstStyle/>
                    <a:p>
                      <a:pPr algn="l"/>
                      <a:r>
                        <a:rPr sz="1050" b="0" i="0">
                          <a:solidFill>
                            <a:srgbClr val="000000"/>
                          </a:solidFill>
                          <a:latin typeface="Calibri"/>
                        </a:rPr>
                        <a:t>Table 184: Global Market Competitive Benchmarking Matrix, 2026</a:t>
                      </a:r>
                      <a:endParaRPr sz="1050"/>
                    </a:p>
                  </a:txBody>
                  <a:tcPr marL="9525" marR="9525" marT="9525" marB="0" anchor="ctr"/>
                </a:tc>
              </a:tr>
              <a:tr h="166688">
                <a:tc>
                  <a:txBody>
                    <a:bodyPr wrap="square"/>
                    <a:lstStyle/>
                    <a:p>
                      <a:pPr algn="l"/>
                      <a:r>
                        <a:rPr sz="1050" b="0" i="0">
                          <a:solidFill>
                            <a:srgbClr val="000000"/>
                          </a:solidFill>
                          <a:latin typeface="Calibri"/>
                        </a:rPr>
                        <a:t>Table 185: Global Market Mergers, Acquisitions and Partnerships, 2021–2026</a:t>
                      </a:r>
                      <a:endParaRPr sz="1050"/>
                    </a:p>
                  </a:txBody>
                  <a:tcPr marL="9525" marR="9525" marT="9525" marB="0" anchor="ctr"/>
                </a:tc>
              </a:tr>
              <a:tr h="166688">
                <a:tc>
                  <a:txBody>
                    <a:bodyPr wrap="square"/>
                    <a:lstStyle/>
                    <a:p>
                      <a:pPr algn="l"/>
                      <a:r>
                        <a:rPr sz="1050" b="0" i="0">
                          <a:solidFill>
                            <a:srgbClr val="000000"/>
                          </a:solidFill>
                          <a:latin typeface="Calibri"/>
                        </a:rPr>
                        <a:t>Table 186: Company A: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187: Company B: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188: Company C: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189: Company D: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190: Company E: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191: Company F: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192: Company G: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193: Company H: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194: Global Market Value by Scenario and Region, US$ Mn, 2026–2036</a:t>
                      </a:r>
                      <a:endParaRPr sz="1050"/>
                    </a:p>
                  </a:txBody>
                  <a:tcPr marL="9525" marR="9525" marT="9525" marB="0" anchor="ctr"/>
                </a:tc>
              </a:tr>
              <a:tr h="166688">
                <a:tc>
                  <a:txBody>
                    <a:bodyPr wrap="square"/>
                    <a:lstStyle/>
                    <a:p>
                      <a:pPr algn="l"/>
                      <a:r>
                        <a:rPr sz="1050" b="0" i="0">
                          <a:solidFill>
                            <a:srgbClr val="000000"/>
                          </a:solidFill>
                          <a:latin typeface="Calibri"/>
                        </a:rPr>
                        <a:t>Table 195: Global Market Key Trends and Impact Rating, 2026–2036</a:t>
                      </a:r>
                      <a:endParaRPr sz="1050"/>
                    </a:p>
                  </a:txBody>
                  <a:tcPr marL="9525" marR="9525" marT="9525" marB="0" anchor="ctr"/>
                </a:tc>
              </a:tr>
              <a:tr h="166688">
                <a:tc>
                  <a:txBody>
                    <a:bodyPr wrap="square"/>
                    <a:lstStyle/>
                    <a:p>
                      <a:pPr algn="l"/>
                      <a:r>
                        <a:rPr sz="1050" b="0" i="0">
                          <a:solidFill>
                            <a:srgbClr val="000000"/>
                          </a:solidFill>
                          <a:latin typeface="Calibri"/>
                        </a:rPr>
                        <a:t>Table 196: Global Market Opportunity Assessment by Product Format, US$ Mn, 2026–2036</a:t>
                      </a:r>
                      <a:endParaRPr sz="1050"/>
                    </a:p>
                  </a:txBody>
                  <a:tcPr marL="9525" marR="9525" marT="9525" marB="0" anchor="ctr"/>
                </a:tc>
              </a:tr>
              <a:tr h="166688">
                <a:tc>
                  <a:txBody>
                    <a:bodyPr wrap="square"/>
                    <a:lstStyle/>
                    <a:p>
                      <a:pPr algn="l"/>
                      <a:r>
                        <a:rPr sz="1050" b="0" i="0">
                          <a:solidFill>
                            <a:srgbClr val="000000"/>
                          </a:solidFill>
                          <a:latin typeface="Calibri"/>
                        </a:rPr>
                        <a:t>Table 197: Global Market Scenario Assumptions, 2026–2036</a:t>
                      </a:r>
                      <a:endParaRPr sz="1050"/>
                    </a:p>
                  </a:txBody>
                  <a:tcPr marL="9525" marR="9525" marT="9525" marB="0" anchor="ctr"/>
                </a:tc>
              </a:tr>
              <a:tr h="166688">
                <a:tc>
                  <a:txBody>
                    <a:bodyPr wrap="square"/>
                    <a:lstStyle/>
                    <a:p>
                      <a:pPr algn="l"/>
                      <a:r>
                        <a:rPr sz="1050" b="0" i="0">
                          <a:solidFill>
                            <a:srgbClr val="000000"/>
                          </a:solidFill>
                          <a:latin typeface="Calibri"/>
                        </a:rPr>
                        <a:t>Table 198: Global Market Client Opportunity Prioritisation by Product Format, 2026–2036</a:t>
                      </a:r>
                      <a:endParaRPr sz="1050"/>
                    </a:p>
                  </a:txBody>
                  <a:tcPr marL="9525" marR="9525" marT="9525" marB="0" anchor="ctr"/>
                </a:tc>
              </a:tr>
              <a:tr h="166688">
                <a:tc>
                  <a:txBody>
                    <a:bodyPr wrap="square"/>
                    <a:lstStyle/>
                    <a:p>
                      <a:pPr algn="l"/>
                      <a:r>
                        <a:rPr sz="1050" b="0" i="0">
                          <a:solidFill>
                            <a:srgbClr val="000000"/>
                          </a:solidFill>
                          <a:latin typeface="Calibri"/>
                        </a:rPr>
                        <a:t>Table 199: Global Market Customer Purchase Criteria by Product Format, 2026</a:t>
                      </a:r>
                      <a:endParaRPr sz="1050"/>
                    </a:p>
                  </a:txBody>
                  <a:tcPr marL="9525" marR="9525" marT="9525" marB="0" anchor="ctr"/>
                </a:tc>
              </a:tr>
              <a:tr h="166688">
                <a:tc>
                  <a:txBody>
                    <a:bodyPr wrap="square"/>
                    <a:lstStyle/>
                    <a:p>
                      <a:pPr algn="l"/>
                      <a:r>
                        <a:rPr sz="1050" b="0" i="0">
                          <a:solidFill>
                            <a:srgbClr val="000000"/>
                          </a:solidFill>
                          <a:latin typeface="Calibri"/>
                        </a:rPr>
                        <a:t>Table 200: Global Market Strategic Recommendations and Action Plan, 2026–2036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035810"/>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2340610"/>
            <a:ext cx="7239000" cy="514350"/>
          </a:xfrm>
          <a:prstGeom prst="rect">
            <a:avLst/>
          </a:prstGeom>
          <a:noFill/>
        </p:spPr>
        <p:txBody>
          <a:bodyPr wrap="square" lIns="0" rIns="0" tIns="0">
            <a:spAutoFit/>
          </a:bodyPr>
          <a:lstStyle/>
          <a:p>
            <a:r>
              <a:rPr sz="3000" b="1" cap="all" spc="400">
                <a:solidFill>
                  <a:srgbClr val="FFFFFF"/>
                </a:solidFill>
                <a:latin typeface="Calibri"/>
              </a:rPr>
              <a:t>Global Market Outlook</a:t>
            </a:r>
          </a:p>
        </p:txBody>
      </p:sp>
      <p:sp>
        <p:nvSpPr>
          <p:cNvPr id="7" name="TextBox 6"/>
          <p:cNvSpPr txBox="1"/>
          <p:nvPr/>
        </p:nvSpPr>
        <p:spPr>
          <a:xfrm>
            <a:off x="914400" y="3045460"/>
            <a:ext cx="7124700" cy="320548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Market Analysis By Region</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Hold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Finish</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Primary Styling Benefit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Hair Type Targeted</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Ingredient Technology</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Global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Summary, By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global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(MN UNITS)</a:t>
            </a:r>
          </a:p>
          <a:p>
            <a:pPr algn="ctr">
              <a:lnSpc>
                <a:spcPct val="95000"/>
              </a:lnSpc>
            </a:pPr>
            <a:r>
              <a:rPr sz="1500" b="1">
                <a:solidFill>
                  <a:srgbClr val="0E72AE"/>
                </a:solidFill>
                <a:latin typeface="Calibri"/>
              </a:rPr>
              <a:t>7,911</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13,192</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3.9%</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5.2%</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(Mn Units)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Global hair styling products market is projected to register 1.7X increase in volume by the end of forecast period, 2036. Global hair styling products market volume stood at 7,594 Mn Units in 2025 and is expected to reach 13,192 Mn Units by 2036 end, at a CAGR of 5.2%.</a:t>
            </a:r>
          </a:p>
          <a:p>
            <a:pPr algn="l">
              <a:lnSpc>
                <a:spcPct val="110000"/>
              </a:lnSpc>
              <a:spcBef>
                <a:spcPts val="0"/>
              </a:spcBef>
              <a:spcAft>
                <a:spcPts val="500"/>
              </a:spcAft>
            </a:pPr>
            <a:r>
              <a:rPr sz="1100" b="0">
                <a:solidFill>
                  <a:srgbClr val="2E2E2E"/>
                </a:solidFill>
                <a:latin typeface="Calibri"/>
              </a:rPr>
              <a:t>Value is projected to grow faster than volume over the forecast period, owing to an increase in average selling price.</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Asia &amp; Pacific' leads regional growth at 6.7%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'Waxes, Clays, Pastes and Pomades'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region,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Format  ·  range across 2021–2036 (US$/Units)</a:t>
            </a:r>
          </a:p>
        </p:txBody>
      </p:sp>
      <p:cxnSp>
        <p:nvCxnSpPr>
          <p:cNvPr id="13" name="Connector 12"/>
          <p:cNvCxnSpPr/>
          <p:nvPr/>
        </p:nvCxnSpPr>
        <p:spPr>
          <a:xfrm>
            <a:off x="657225" y="310071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68877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27683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86488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64777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10071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68877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27683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86488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03404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0.916</a:t>
            </a:r>
          </a:p>
        </p:txBody>
      </p:sp>
      <p:sp>
        <p:nvSpPr>
          <p:cNvPr id="25" name="FMI Scale tick"/>
          <p:cNvSpPr txBox="1"/>
          <p:nvPr/>
        </p:nvSpPr>
        <p:spPr>
          <a:xfrm>
            <a:off x="219075" y="2210155"/>
            <a:ext cx="381000" cy="133350"/>
          </a:xfrm>
          <a:prstGeom prst="rect">
            <a:avLst/>
          </a:prstGeom>
          <a:noFill/>
        </p:spPr>
        <p:txBody>
          <a:bodyPr wrap="none" lIns="0" rIns="0" tIns="0" bIns="0" anchor="ctr">
            <a:spAutoFit/>
          </a:bodyPr>
          <a:lstStyle/>
          <a:p>
            <a:pPr algn="r"/>
            <a:r>
              <a:rPr sz="1100" b="0">
                <a:solidFill>
                  <a:srgbClr val="6C7A89"/>
                </a:solidFill>
                <a:latin typeface="Calibri"/>
              </a:rPr>
              <a:t>2.37</a:t>
            </a:r>
          </a:p>
        </p:txBody>
      </p:sp>
      <p:sp>
        <p:nvSpPr>
          <p:cNvPr id="26" name="FMI Scale tick"/>
          <p:cNvSpPr txBox="1"/>
          <p:nvPr/>
        </p:nvSpPr>
        <p:spPr>
          <a:xfrm>
            <a:off x="219075" y="1386270"/>
            <a:ext cx="381000" cy="133350"/>
          </a:xfrm>
          <a:prstGeom prst="rect">
            <a:avLst/>
          </a:prstGeom>
          <a:noFill/>
        </p:spPr>
        <p:txBody>
          <a:bodyPr wrap="none" lIns="0" rIns="0" tIns="0" bIns="0" anchor="ctr">
            <a:spAutoFit/>
          </a:bodyPr>
          <a:lstStyle/>
          <a:p>
            <a:pPr algn="r"/>
            <a:r>
              <a:rPr sz="1100" b="0">
                <a:solidFill>
                  <a:srgbClr val="6C7A89"/>
                </a:solidFill>
                <a:latin typeface="Calibri"/>
              </a:rPr>
              <a:t>3.83</a:t>
            </a:r>
          </a:p>
        </p:txBody>
      </p:sp>
      <p:cxnSp>
        <p:nvCxnSpPr>
          <p:cNvPr id="27" name="Connector 26"/>
          <p:cNvCxnSpPr/>
          <p:nvPr/>
        </p:nvCxnSpPr>
        <p:spPr>
          <a:xfrm flipV="1">
            <a:off x="1095375" y="2407788"/>
            <a:ext cx="0" cy="148445"/>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963930" y="255623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963930" y="240778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876300" y="2471789"/>
            <a:ext cx="438150" cy="76230"/>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876300" y="2518335"/>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255388"/>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1.94</a:t>
            </a:r>
          </a:p>
        </p:txBody>
      </p:sp>
      <p:cxnSp>
        <p:nvCxnSpPr>
          <p:cNvPr id="33" name="Connector 32"/>
          <p:cNvCxnSpPr/>
          <p:nvPr/>
        </p:nvCxnSpPr>
        <p:spPr>
          <a:xfrm flipV="1">
            <a:off x="1971675" y="2809339"/>
            <a:ext cx="0" cy="101249"/>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840230" y="291058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1840230" y="280933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752600" y="2853539"/>
            <a:ext cx="438150" cy="52021"/>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1752600" y="288526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1533525" y="265693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1.30</a:t>
            </a:r>
          </a:p>
        </p:txBody>
      </p:sp>
      <p:cxnSp>
        <p:nvCxnSpPr>
          <p:cNvPr id="39" name="Connector 38"/>
          <p:cNvCxnSpPr/>
          <p:nvPr/>
        </p:nvCxnSpPr>
        <p:spPr>
          <a:xfrm flipV="1">
            <a:off x="2847975" y="2817467"/>
            <a:ext cx="0" cy="8694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2716530" y="290441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2716530" y="281746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2628900" y="2856112"/>
            <a:ext cx="438150" cy="44572"/>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2628900" y="288348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2409825" y="2665067"/>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1.30</a:t>
            </a:r>
          </a:p>
        </p:txBody>
      </p:sp>
      <p:cxnSp>
        <p:nvCxnSpPr>
          <p:cNvPr id="45" name="Connector 44"/>
          <p:cNvCxnSpPr/>
          <p:nvPr/>
        </p:nvCxnSpPr>
        <p:spPr>
          <a:xfrm flipV="1">
            <a:off x="3724275" y="2472684"/>
            <a:ext cx="0" cy="157297"/>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3592830" y="262998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3592830" y="247268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3505200" y="2535638"/>
            <a:ext cx="438150" cy="82040"/>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3505200" y="2582832"/>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286125" y="2320284"/>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1.83</a:t>
            </a:r>
          </a:p>
        </p:txBody>
      </p:sp>
      <p:cxnSp>
        <p:nvCxnSpPr>
          <p:cNvPr id="51" name="Connector 50"/>
          <p:cNvCxnSpPr/>
          <p:nvPr/>
        </p:nvCxnSpPr>
        <p:spPr>
          <a:xfrm flipV="1">
            <a:off x="4600575" y="2095182"/>
            <a:ext cx="0" cy="187507"/>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4469130" y="228268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4469130" y="209518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4381500" y="2174096"/>
            <a:ext cx="438150" cy="9979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5" name="Connector 54"/>
          <p:cNvCxnSpPr/>
          <p:nvPr/>
        </p:nvCxnSpPr>
        <p:spPr>
          <a:xfrm>
            <a:off x="4381500" y="223298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4162425" y="1942782"/>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2.45</a:t>
            </a:r>
          </a:p>
        </p:txBody>
      </p:sp>
      <p:cxnSp>
        <p:nvCxnSpPr>
          <p:cNvPr id="57" name="Connector 56"/>
          <p:cNvCxnSpPr/>
          <p:nvPr/>
        </p:nvCxnSpPr>
        <p:spPr>
          <a:xfrm flipV="1">
            <a:off x="5476875" y="2318275"/>
            <a:ext cx="0" cy="12554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5345430" y="244381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5345430" y="231827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5257800" y="2371454"/>
            <a:ext cx="438150" cy="6443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1" name="Connector 60"/>
          <p:cNvCxnSpPr/>
          <p:nvPr/>
        </p:nvCxnSpPr>
        <p:spPr>
          <a:xfrm>
            <a:off x="5257800" y="240923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5038725" y="2165875"/>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2.14</a:t>
            </a:r>
          </a:p>
        </p:txBody>
      </p:sp>
      <p:cxnSp>
        <p:nvCxnSpPr>
          <p:cNvPr id="63" name="Connector 62"/>
          <p:cNvCxnSpPr/>
          <p:nvPr/>
        </p:nvCxnSpPr>
        <p:spPr>
          <a:xfrm flipV="1">
            <a:off x="6353175" y="1643073"/>
            <a:ext cx="0" cy="246233"/>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6221730" y="188930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6221730" y="164307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6134100" y="1758229"/>
            <a:ext cx="438150" cy="12132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7" name="Connector 66"/>
          <p:cNvCxnSpPr/>
          <p:nvPr/>
        </p:nvCxnSpPr>
        <p:spPr>
          <a:xfrm>
            <a:off x="6134100" y="1832076"/>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5915025" y="1490673"/>
            <a:ext cx="876300" cy="133350"/>
          </a:xfrm>
          <a:prstGeom prst="rect">
            <a:avLst/>
          </a:prstGeom>
          <a:noFill/>
        </p:spPr>
        <p:txBody>
          <a:bodyPr wrap="square" lIns="28575" rIns="28575" tIns="9525" bIns="9525">
            <a:spAutoFit/>
          </a:bodyPr>
          <a:lstStyle/>
          <a:p>
            <a:pPr algn="ctr"/>
            <a:r>
              <a:rPr sz="1100" b="1">
                <a:solidFill>
                  <a:srgbClr val="0B2E4A"/>
                </a:solidFill>
                <a:latin typeface="Calibri"/>
              </a:rPr>
              <a:t>3.16</a:t>
            </a:r>
          </a:p>
        </p:txBody>
      </p:sp>
      <p:cxnSp>
        <p:nvCxnSpPr>
          <p:cNvPr id="69" name="Connector 68"/>
          <p:cNvCxnSpPr/>
          <p:nvPr/>
        </p:nvCxnSpPr>
        <p:spPr>
          <a:xfrm flipV="1">
            <a:off x="7229475" y="1911276"/>
            <a:ext cx="0" cy="209995"/>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0" name="Connector 69"/>
          <p:cNvCxnSpPr/>
          <p:nvPr/>
        </p:nvCxnSpPr>
        <p:spPr>
          <a:xfrm>
            <a:off x="7098030" y="212127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1" name="Connector 70"/>
          <p:cNvCxnSpPr/>
          <p:nvPr/>
        </p:nvCxnSpPr>
        <p:spPr>
          <a:xfrm>
            <a:off x="7098030" y="191127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72" name="Rectangle 71"/>
          <p:cNvSpPr/>
          <p:nvPr/>
        </p:nvSpPr>
        <p:spPr>
          <a:xfrm>
            <a:off x="7010400" y="1993047"/>
            <a:ext cx="438150" cy="11129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3" name="Connector 72"/>
          <p:cNvCxnSpPr/>
          <p:nvPr/>
        </p:nvCxnSpPr>
        <p:spPr>
          <a:xfrm>
            <a:off x="7010400" y="2058041"/>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6791325" y="1758876"/>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2.76</a:t>
            </a:r>
          </a:p>
        </p:txBody>
      </p:sp>
      <p:sp>
        <p:nvSpPr>
          <p:cNvPr id="75" name="TextBox 74"/>
          <p:cNvSpPr txBox="1"/>
          <p:nvPr/>
        </p:nvSpPr>
        <p:spPr>
          <a:xfrm>
            <a:off x="6572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Sprays and Mists</a:t>
            </a:r>
          </a:p>
        </p:txBody>
      </p:sp>
      <p:sp>
        <p:nvSpPr>
          <p:cNvPr id="76" name="TextBox 75"/>
          <p:cNvSpPr txBox="1"/>
          <p:nvPr/>
        </p:nvSpPr>
        <p:spPr>
          <a:xfrm>
            <a:off x="15335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Mousses and Foams</a:t>
            </a:r>
          </a:p>
        </p:txBody>
      </p:sp>
      <p:sp>
        <p:nvSpPr>
          <p:cNvPr id="77" name="TextBox 76"/>
          <p:cNvSpPr txBox="1"/>
          <p:nvPr/>
        </p:nvSpPr>
        <p:spPr>
          <a:xfrm>
            <a:off x="24098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Gels and Jellies</a:t>
            </a:r>
          </a:p>
        </p:txBody>
      </p:sp>
      <p:sp>
        <p:nvSpPr>
          <p:cNvPr id="78" name="TextBox 77"/>
          <p:cNvSpPr txBox="1"/>
          <p:nvPr/>
        </p:nvSpPr>
        <p:spPr>
          <a:xfrm>
            <a:off x="32861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Creams and Lotions</a:t>
            </a:r>
          </a:p>
        </p:txBody>
      </p:sp>
      <p:sp>
        <p:nvSpPr>
          <p:cNvPr id="79" name="TextBox 78"/>
          <p:cNvSpPr txBox="1"/>
          <p:nvPr/>
        </p:nvSpPr>
        <p:spPr>
          <a:xfrm>
            <a:off x="41624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Waxes, Clays, Pastes…</a:t>
            </a:r>
          </a:p>
        </p:txBody>
      </p:sp>
      <p:sp>
        <p:nvSpPr>
          <p:cNvPr id="80" name="TextBox 79"/>
          <p:cNvSpPr txBox="1"/>
          <p:nvPr/>
        </p:nvSpPr>
        <p:spPr>
          <a:xfrm>
            <a:off x="50387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Powders</a:t>
            </a:r>
          </a:p>
        </p:txBody>
      </p:sp>
      <p:sp>
        <p:nvSpPr>
          <p:cNvPr id="81" name="TextBox 80"/>
          <p:cNvSpPr txBox="1"/>
          <p:nvPr/>
        </p:nvSpPr>
        <p:spPr>
          <a:xfrm>
            <a:off x="59150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Serums and Oils</a:t>
            </a:r>
          </a:p>
        </p:txBody>
      </p:sp>
      <p:sp>
        <p:nvSpPr>
          <p:cNvPr id="82" name="TextBox 81"/>
          <p:cNvSpPr txBox="1"/>
          <p:nvPr/>
        </p:nvSpPr>
        <p:spPr>
          <a:xfrm>
            <a:off x="67913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Sticks and Balms</a:t>
            </a:r>
          </a:p>
        </p:txBody>
      </p:sp>
      <p:sp>
        <p:nvSpPr>
          <p:cNvPr id="83" name="Rounded Rectangle 82"/>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Region vs Global  ·  2026–2036</a:t>
            </a:r>
          </a:p>
        </p:txBody>
      </p:sp>
      <p:cxnSp>
        <p:nvCxnSpPr>
          <p:cNvPr id="85" name="Connector 84"/>
          <p:cNvCxnSpPr/>
          <p:nvPr/>
        </p:nvCxnSpPr>
        <p:spPr>
          <a:xfrm>
            <a:off x="619125" y="431804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a:off x="619125" y="472891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7" name="Connector 86"/>
          <p:cNvCxnSpPr/>
          <p:nvPr/>
        </p:nvCxnSpPr>
        <p:spPr>
          <a:xfrm>
            <a:off x="619125" y="51397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8" name="Connector 87"/>
          <p:cNvCxnSpPr/>
          <p:nvPr/>
        </p:nvCxnSpPr>
        <p:spPr>
          <a:xfrm>
            <a:off x="619125" y="5550641"/>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9" name="Connector 88"/>
          <p:cNvCxnSpPr/>
          <p:nvPr/>
        </p:nvCxnSpPr>
        <p:spPr>
          <a:xfrm>
            <a:off x="619125" y="596150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90" name="Connector 89"/>
          <p:cNvCxnSpPr/>
          <p:nvPr/>
        </p:nvCxnSpPr>
        <p:spPr>
          <a:xfrm>
            <a:off x="619125" y="4318045"/>
            <a:ext cx="0" cy="1643461"/>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1" name="Connector 90"/>
          <p:cNvCxnSpPr/>
          <p:nvPr/>
        </p:nvCxnSpPr>
        <p:spPr>
          <a:xfrm>
            <a:off x="590550" y="43180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2" name="Connector 91"/>
          <p:cNvCxnSpPr/>
          <p:nvPr/>
        </p:nvCxnSpPr>
        <p:spPr>
          <a:xfrm>
            <a:off x="590550" y="472891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3" name="Connector 92"/>
          <p:cNvCxnSpPr/>
          <p:nvPr/>
        </p:nvCxnSpPr>
        <p:spPr>
          <a:xfrm>
            <a:off x="590550" y="51397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4" name="Connector 93"/>
          <p:cNvCxnSpPr/>
          <p:nvPr/>
        </p:nvCxnSpPr>
        <p:spPr>
          <a:xfrm>
            <a:off x="590550" y="5550641"/>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5" name="Connector 94"/>
          <p:cNvCxnSpPr/>
          <p:nvPr/>
        </p:nvCxnSpPr>
        <p:spPr>
          <a:xfrm>
            <a:off x="590550" y="596150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96" name="FMI Scale tick"/>
          <p:cNvSpPr txBox="1"/>
          <p:nvPr/>
        </p:nvSpPr>
        <p:spPr>
          <a:xfrm>
            <a:off x="219075" y="4251370"/>
            <a:ext cx="361950" cy="133350"/>
          </a:xfrm>
          <a:prstGeom prst="rect">
            <a:avLst/>
          </a:prstGeom>
          <a:noFill/>
        </p:spPr>
        <p:txBody>
          <a:bodyPr wrap="none" lIns="0" rIns="0" tIns="0" bIns="0" anchor="ctr">
            <a:spAutoFit/>
          </a:bodyPr>
          <a:lstStyle/>
          <a:p>
            <a:pPr algn="r"/>
            <a:r>
              <a:rPr sz="1100" b="0">
                <a:solidFill>
                  <a:srgbClr val="6C7A89"/>
                </a:solidFill>
                <a:latin typeface="Calibri"/>
              </a:rPr>
              <a:t>+49%</a:t>
            </a:r>
          </a:p>
        </p:txBody>
      </p:sp>
      <p:sp>
        <p:nvSpPr>
          <p:cNvPr id="97" name="FMI Scale tick"/>
          <p:cNvSpPr txBox="1"/>
          <p:nvPr/>
        </p:nvSpPr>
        <p:spPr>
          <a:xfrm>
            <a:off x="219075" y="4662235"/>
            <a:ext cx="361950" cy="133350"/>
          </a:xfrm>
          <a:prstGeom prst="rect">
            <a:avLst/>
          </a:prstGeom>
          <a:noFill/>
        </p:spPr>
        <p:txBody>
          <a:bodyPr wrap="none" lIns="0" rIns="0" tIns="0" bIns="0" anchor="ctr">
            <a:spAutoFit/>
          </a:bodyPr>
          <a:lstStyle/>
          <a:p>
            <a:pPr algn="r"/>
            <a:r>
              <a:rPr sz="1100" b="0">
                <a:solidFill>
                  <a:srgbClr val="6C7A89"/>
                </a:solidFill>
                <a:latin typeface="Calibri"/>
              </a:rPr>
              <a:t>+24%</a:t>
            </a:r>
          </a:p>
        </p:txBody>
      </p:sp>
      <p:sp>
        <p:nvSpPr>
          <p:cNvPr id="98" name="FMI Scale tick"/>
          <p:cNvSpPr txBox="1"/>
          <p:nvPr/>
        </p:nvSpPr>
        <p:spPr>
          <a:xfrm>
            <a:off x="107156" y="5073101"/>
            <a:ext cx="473869" cy="133350"/>
          </a:xfrm>
          <a:prstGeom prst="rect">
            <a:avLst/>
          </a:prstGeom>
          <a:noFill/>
        </p:spPr>
        <p:txBody>
          <a:bodyPr wrap="square" lIns="28575" rIns="28575" tIns="9525" bIns="9525" anchor="ctr">
            <a:spAutoFit/>
          </a:bodyPr>
          <a:lstStyle/>
          <a:p>
            <a:pPr algn="r"/>
            <a:r>
              <a:rPr sz="1100" b="1">
                <a:solidFill>
                  <a:srgbClr val="6C7A89"/>
                </a:solidFill>
                <a:latin typeface="Calibri"/>
              </a:rPr>
              <a:t>Global</a:t>
            </a:r>
          </a:p>
        </p:txBody>
      </p:sp>
      <p:sp>
        <p:nvSpPr>
          <p:cNvPr id="99" name="FMI Scale tick"/>
          <p:cNvSpPr txBox="1"/>
          <p:nvPr/>
        </p:nvSpPr>
        <p:spPr>
          <a:xfrm>
            <a:off x="219075" y="5483966"/>
            <a:ext cx="361950" cy="133350"/>
          </a:xfrm>
          <a:prstGeom prst="rect">
            <a:avLst/>
          </a:prstGeom>
          <a:noFill/>
        </p:spPr>
        <p:txBody>
          <a:bodyPr wrap="none" lIns="0" rIns="0" tIns="0" bIns="0" anchor="ctr">
            <a:spAutoFit/>
          </a:bodyPr>
          <a:lstStyle/>
          <a:p>
            <a:pPr algn="r"/>
            <a:r>
              <a:rPr sz="1100" b="0">
                <a:solidFill>
                  <a:srgbClr val="6C7A89"/>
                </a:solidFill>
                <a:latin typeface="Calibri"/>
              </a:rPr>
              <a:t>-24%</a:t>
            </a:r>
          </a:p>
        </p:txBody>
      </p:sp>
      <p:sp>
        <p:nvSpPr>
          <p:cNvPr id="100" name="FMI Scale tick"/>
          <p:cNvSpPr txBox="1"/>
          <p:nvPr/>
        </p:nvSpPr>
        <p:spPr>
          <a:xfrm>
            <a:off x="219075" y="5894831"/>
            <a:ext cx="361950" cy="133350"/>
          </a:xfrm>
          <a:prstGeom prst="rect">
            <a:avLst/>
          </a:prstGeom>
          <a:noFill/>
        </p:spPr>
        <p:txBody>
          <a:bodyPr wrap="none" lIns="0" rIns="0" tIns="0" bIns="0" anchor="ctr">
            <a:spAutoFit/>
          </a:bodyPr>
          <a:lstStyle/>
          <a:p>
            <a:pPr algn="r"/>
            <a:r>
              <a:rPr sz="1100" b="0">
                <a:solidFill>
                  <a:srgbClr val="6C7A89"/>
                </a:solidFill>
                <a:latin typeface="Calibri"/>
              </a:rPr>
              <a:t>-49%</a:t>
            </a:r>
          </a:p>
        </p:txBody>
      </p:sp>
      <p:cxnSp>
        <p:nvCxnSpPr>
          <p:cNvPr id="101" name="Connector 100"/>
          <p:cNvCxnSpPr/>
          <p:nvPr/>
        </p:nvCxnSpPr>
        <p:spPr>
          <a:xfrm>
            <a:off x="619125" y="513977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102" name="Rectangle 101"/>
          <p:cNvSpPr/>
          <p:nvPr/>
        </p:nvSpPr>
        <p:spPr>
          <a:xfrm>
            <a:off x="977900" y="4423458"/>
            <a:ext cx="457200" cy="716318"/>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FMI Data Label"/>
          <p:cNvSpPr txBox="1"/>
          <p:nvPr/>
        </p:nvSpPr>
        <p:spPr>
          <a:xfrm>
            <a:off x="619125" y="4280583"/>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+42.5%</a:t>
            </a:r>
          </a:p>
        </p:txBody>
      </p:sp>
      <p:sp>
        <p:nvSpPr>
          <p:cNvPr id="104" name="Rectangle 103"/>
          <p:cNvSpPr/>
          <p:nvPr/>
        </p:nvSpPr>
        <p:spPr>
          <a:xfrm>
            <a:off x="2152650" y="5139776"/>
            <a:ext cx="457200" cy="413878"/>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MI Data Label"/>
          <p:cNvSpPr txBox="1"/>
          <p:nvPr/>
        </p:nvSpPr>
        <p:spPr>
          <a:xfrm>
            <a:off x="1793875" y="5563179"/>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-24.5%</a:t>
            </a:r>
          </a:p>
        </p:txBody>
      </p:sp>
      <p:sp>
        <p:nvSpPr>
          <p:cNvPr id="106" name="Rectangle 105"/>
          <p:cNvSpPr/>
          <p:nvPr/>
        </p:nvSpPr>
        <p:spPr>
          <a:xfrm>
            <a:off x="3327400" y="5088938"/>
            <a:ext cx="457200" cy="50837"/>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MI Data Label"/>
          <p:cNvSpPr txBox="1"/>
          <p:nvPr/>
        </p:nvSpPr>
        <p:spPr>
          <a:xfrm>
            <a:off x="2968625" y="4946063"/>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+3.0%</a:t>
            </a:r>
          </a:p>
        </p:txBody>
      </p:sp>
      <p:sp>
        <p:nvSpPr>
          <p:cNvPr id="108" name="Rectangle 107"/>
          <p:cNvSpPr/>
          <p:nvPr/>
        </p:nvSpPr>
        <p:spPr>
          <a:xfrm>
            <a:off x="4502150" y="5139776"/>
            <a:ext cx="457200" cy="58868"/>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FMI Data Label"/>
          <p:cNvSpPr txBox="1"/>
          <p:nvPr/>
        </p:nvSpPr>
        <p:spPr>
          <a:xfrm>
            <a:off x="4143375" y="5208168"/>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-3.5%</a:t>
            </a:r>
          </a:p>
        </p:txBody>
      </p:sp>
      <p:sp>
        <p:nvSpPr>
          <p:cNvPr id="110" name="Rectangle 109"/>
          <p:cNvSpPr/>
          <p:nvPr/>
        </p:nvSpPr>
        <p:spPr>
          <a:xfrm>
            <a:off x="5676900" y="5139776"/>
            <a:ext cx="457200" cy="485837"/>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FMI Data Label"/>
          <p:cNvSpPr txBox="1"/>
          <p:nvPr/>
        </p:nvSpPr>
        <p:spPr>
          <a:xfrm>
            <a:off x="5318125" y="5635138"/>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-28.8%</a:t>
            </a:r>
          </a:p>
        </p:txBody>
      </p:sp>
      <p:sp>
        <p:nvSpPr>
          <p:cNvPr id="112" name="Rectangle 111"/>
          <p:cNvSpPr/>
          <p:nvPr/>
        </p:nvSpPr>
        <p:spPr>
          <a:xfrm>
            <a:off x="6851650" y="5139776"/>
            <a:ext cx="457200" cy="216751"/>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FMI Data Label"/>
          <p:cNvSpPr txBox="1"/>
          <p:nvPr/>
        </p:nvSpPr>
        <p:spPr>
          <a:xfrm>
            <a:off x="6492875" y="5366051"/>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-12.8%</a:t>
            </a:r>
          </a:p>
        </p:txBody>
      </p:sp>
      <p:sp>
        <p:nvSpPr>
          <p:cNvPr id="114" name="TextBox 113"/>
          <p:cNvSpPr txBox="1"/>
          <p:nvPr/>
        </p:nvSpPr>
        <p:spPr>
          <a:xfrm>
            <a:off x="619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North America</a:t>
            </a:r>
          </a:p>
        </p:txBody>
      </p:sp>
      <p:sp>
        <p:nvSpPr>
          <p:cNvPr id="115" name="TextBox 114"/>
          <p:cNvSpPr txBox="1"/>
          <p:nvPr/>
        </p:nvSpPr>
        <p:spPr>
          <a:xfrm>
            <a:off x="1793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Latin America</a:t>
            </a:r>
          </a:p>
        </p:txBody>
      </p:sp>
      <p:sp>
        <p:nvSpPr>
          <p:cNvPr id="116" name="TextBox 115"/>
          <p:cNvSpPr txBox="1"/>
          <p:nvPr/>
        </p:nvSpPr>
        <p:spPr>
          <a:xfrm>
            <a:off x="29686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Europe</a:t>
            </a:r>
          </a:p>
        </p:txBody>
      </p:sp>
      <p:sp>
        <p:nvSpPr>
          <p:cNvPr id="117" name="TextBox 116"/>
          <p:cNvSpPr txBox="1"/>
          <p:nvPr/>
        </p:nvSpPr>
        <p:spPr>
          <a:xfrm>
            <a:off x="41433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East Asia</a:t>
            </a:r>
          </a:p>
        </p:txBody>
      </p:sp>
      <p:sp>
        <p:nvSpPr>
          <p:cNvPr id="118" name="TextBox 117"/>
          <p:cNvSpPr txBox="1"/>
          <p:nvPr/>
        </p:nvSpPr>
        <p:spPr>
          <a:xfrm>
            <a:off x="5318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South Asia &amp; Pacific</a:t>
            </a:r>
          </a:p>
        </p:txBody>
      </p:sp>
      <p:sp>
        <p:nvSpPr>
          <p:cNvPr id="119" name="TextBox 118"/>
          <p:cNvSpPr txBox="1"/>
          <p:nvPr/>
        </p:nvSpPr>
        <p:spPr>
          <a:xfrm>
            <a:off x="6492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Middle East &amp; Africa</a:t>
            </a:r>
          </a:p>
        </p:txBody>
      </p:sp>
      <p:sp>
        <p:nvSpPr>
          <p:cNvPr id="120" name="Rounded Rectangle 119"/>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22" name="Rectangle 121"/>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Styling serums and oils segment is expected to command the highest average price of US$ 3.49 per Unit in 2036. Average selling price of hair styling products is estimated at US$ 2.02 per Unit in 2025 and is projected to increase to US$ 2.33 per Unit by 2036.</a:t>
            </a:r>
          </a:p>
          <a:p>
            <a:pPr algn="l">
              <a:lnSpc>
                <a:spcPct val="110000"/>
              </a:lnSpc>
              <a:spcBef>
                <a:spcPts val="0"/>
              </a:spcBef>
              <a:spcAft>
                <a:spcPts val="500"/>
              </a:spcAft>
            </a:pPr>
            <a:r>
              <a:rPr sz="1150" b="0">
                <a:solidFill>
                  <a:srgbClr val="2E2E2E"/>
                </a:solidFill>
                <a:latin typeface="Calibri"/>
              </a:rPr>
              <a:t>North America is the highest-priced region, while South Asia &amp; Pacific is the most price-competitive market. Against the global price of 2.18 US$/Units, 2 of 6 regions price above and 4 below.</a:t>
            </a:r>
          </a:p>
          <a:p>
            <a:pPr algn="l">
              <a:lnSpc>
                <a:spcPct val="110000"/>
              </a:lnSpc>
              <a:spcBef>
                <a:spcPts val="0"/>
              </a:spcBef>
              <a:spcAft>
                <a:spcPts val="500"/>
              </a:spcAft>
            </a:pPr>
            <a:r>
              <a:rPr sz="1150" b="0">
                <a:solidFill>
                  <a:srgbClr val="2E2E2E"/>
                </a:solidFill>
                <a:latin typeface="Calibri"/>
              </a:rPr>
              <a:t>'North America' is the dearest at +42.5% versus Global, 'South Asia &amp; Pacific' the cheapest at -28.8% pointing to premiumisation headroom in the lower-priced regions.</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global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16,106</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30,687</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4.3%</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6.7%</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Hair styling products market is projected to register 2.0X increase in its revenue by the end of forecast period, 2036. Global hair styling products market is expected to be valued at US$ 30,687 Mn by 2036 end.</a:t>
            </a:r>
          </a:p>
          <a:p>
            <a:pPr algn="l">
              <a:lnSpc>
                <a:spcPct val="110000"/>
              </a:lnSpc>
              <a:spcBef>
                <a:spcPts val="0"/>
              </a:spcBef>
              <a:spcAft>
                <a:spcPts val="500"/>
              </a:spcAft>
            </a:pPr>
            <a:r>
              <a:rPr sz="1150" b="0">
                <a:solidFill>
                  <a:srgbClr val="2E2E2E"/>
                </a:solidFill>
                <a:latin typeface="Calibri"/>
              </a:rPr>
              <a:t>It is projected to create overall incremental opportunity of US$ 15,354 Mn from 2025 to 2036. Rising disposable income along with product innovation is fuelling demand for hair styling products.</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Asia &amp; Pacific' leads regional growth at 7.9%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'Styling Serums and Oils'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global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4695825"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2021–2025 (Historical)</a:t>
            </a:r>
          </a:p>
        </p:txBody>
      </p:sp>
      <p:graphicFrame>
        <p:nvGraphicFramePr>
          <p:cNvPr id="13" name="Chart 12"/>
          <p:cNvGraphicFramePr>
            <a:graphicFrameLocks noGrp="1"/>
          </p:cNvGraphicFramePr>
          <p:nvPr/>
        </p:nvGraphicFramePr>
        <p:xfrm>
          <a:off x="238125" y="1266825"/>
          <a:ext cx="4505325" cy="2228850"/>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2026–2036 (Forecast)</a:t>
            </a:r>
          </a:p>
        </p:txBody>
      </p:sp>
      <p:graphicFrame>
        <p:nvGraphicFramePr>
          <p:cNvPr id="16" name="Chart 15"/>
          <p:cNvGraphicFramePr>
            <a:graphicFrameLocks noGrp="1"/>
          </p:cNvGraphicFramePr>
          <p:nvPr/>
        </p:nvGraphicFramePr>
        <p:xfrm>
          <a:off x="5086350" y="1266825"/>
          <a:ext cx="6858000" cy="22288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4.3%</a:t>
            </a:r>
          </a:p>
        </p:txBody>
      </p:sp>
      <p:sp>
        <p:nvSpPr>
          <p:cNvPr id="18" name="Rounded Rectangle 17"/>
          <p:cNvSpPr/>
          <p:nvPr/>
        </p:nvSpPr>
        <p:spPr>
          <a:xfrm>
            <a:off x="2809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6.7%</a:t>
            </a:r>
          </a:p>
        </p:txBody>
      </p:sp>
      <p:sp>
        <p:nvSpPr>
          <p:cNvPr id="19" name="Rounded Rectangle 18"/>
          <p:cNvSpPr/>
          <p:nvPr/>
        </p:nvSpPr>
        <p:spPr>
          <a:xfrm>
            <a:off x="54768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5,649 US$ Mn</a:t>
            </a:r>
          </a:p>
        </p:txBody>
      </p:sp>
      <p:sp>
        <p:nvSpPr>
          <p:cNvPr id="20" name="Rounded Rectangle 19"/>
          <p:cNvSpPr/>
          <p:nvPr/>
        </p:nvSpPr>
        <p:spPr>
          <a:xfrm>
            <a:off x="88296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14,581 US$ Mn</a:t>
            </a:r>
          </a:p>
        </p:txBody>
      </p:sp>
      <p:sp>
        <p:nvSpPr>
          <p:cNvPr id="21" name="Rounded Rectangle 20"/>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&amp; Value Analysis</a:t>
            </a:r>
          </a:p>
        </p:txBody>
      </p:sp>
      <p:sp>
        <p:nvSpPr>
          <p:cNvPr id="23" name="Rectangle 22"/>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Hair styling products market is projected to register 2.0X increase in its revenue by the end of forecast period, 2036. Global hair styling products market is expected to be valued at US$ 30,687 Mn by 2036 end. It is projected to create overall incremental opportunity of US$ 15,354 Mn from 2025 to 2036.</a:t>
            </a:r>
          </a:p>
          <a:p>
            <a:pPr algn="l">
              <a:lnSpc>
                <a:spcPct val="110000"/>
              </a:lnSpc>
              <a:spcBef>
                <a:spcPts val="0"/>
              </a:spcBef>
              <a:spcAft>
                <a:spcPts val="500"/>
              </a:spcAft>
            </a:pPr>
            <a:r>
              <a:rPr sz="1150" b="0">
                <a:solidFill>
                  <a:srgbClr val="2E2E2E"/>
                </a:solidFill>
                <a:latin typeface="Calibri"/>
              </a:rPr>
              <a:t>Rising disposable income along with product innovation is fuelling demand for hair styling products. Global hair styling products market is projected to register 1.7X increase in volume by the end of forecast period, 2036.</a:t>
            </a:r>
          </a:p>
          <a:p>
            <a:pPr algn="l">
              <a:lnSpc>
                <a:spcPct val="110000"/>
              </a:lnSpc>
              <a:spcBef>
                <a:spcPts val="0"/>
              </a:spcBef>
              <a:spcAft>
                <a:spcPts val="500"/>
              </a:spcAft>
            </a:pPr>
            <a:r>
              <a:rPr sz="1150" b="0">
                <a:solidFill>
                  <a:srgbClr val="2E2E2E"/>
                </a:solidFill>
                <a:latin typeface="Calibri"/>
              </a:rPr>
              <a:t>Global hair styling products market volume stood at 7,594 Mn Units in 2025 and is expected to reach 13,192 Mn Units by 2036 end, at a CAGR of 5.2%. Value is projected to grow faster than volume over the forecast period, owing to an increase in average selling price.</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Summary Country Indices (Value)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34125" cy="2132070"/>
        </p:xfrm>
        <a:graphic>
          <a:graphicData uri="http://schemas.openxmlformats.org/drawingml/2006/table">
            <a:tbl>
              <a:tblPr>
                <a:tableStyleId>{5C22544A-7EE6-4342-B048-85BDC9FD1C3A}</a:tableStyleId>
              </a:tblPr>
              <a:tblGrid>
                <a:gridCol w="760186"/>
                <a:gridCol w="1051530"/>
                <a:gridCol w="1051530"/>
                <a:gridCol w="1070879"/>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383361">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699.5</a:t>
                      </a:r>
                      <a:endParaRPr sz="1100"/>
                    </a:p>
                  </a:txBody>
                  <a:tcPr marL="47625" marR="38100" marT="19050" marB="19050" anchor="ctr">
                    <a:solidFill>
                      <a:srgbClr val="FFFFFF"/>
                    </a:solidFill>
                  </a:tcPr>
                </a:tc>
              </a:tr>
              <a:tr h="383361">
                <a:tc>
                  <a:txBody>
                    <a:bodyPr wrap="none"/>
                    <a:lstStyle/>
                    <a:p>
                      <a:pPr algn="l"/>
                      <a:r>
                        <a:rPr sz="1100" b="1">
                          <a:solidFill>
                            <a:srgbClr val="2E2E2E"/>
                          </a:solidFill>
                          <a:latin typeface="Calibri"/>
                        </a:rPr>
                        <a:t>Indonesia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296.4</a:t>
                      </a:r>
                      <a:endParaRPr sz="1100"/>
                    </a:p>
                  </a:txBody>
                  <a:tcPr marL="47625" marR="38100" marT="19050" marB="19050" anchor="ctr">
                    <a:solidFill>
                      <a:srgbClr val="F5F8FA"/>
                    </a:solidFill>
                  </a:tcPr>
                </a:tc>
              </a:tr>
              <a:tr h="383361">
                <a:tc>
                  <a:txBody>
                    <a:bodyPr wrap="none"/>
                    <a:lstStyle/>
                    <a:p>
                      <a:pPr algn="l"/>
                      <a:r>
                        <a:rPr sz="1100" b="1">
                          <a:solidFill>
                            <a:srgbClr val="2E2E2E"/>
                          </a:solidFill>
                          <a:latin typeface="Calibri"/>
                        </a:rPr>
                        <a:t>Turkey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FFFFF"/>
                    </a:solidFill>
                  </a:tcPr>
                </a:tc>
              </a:tr>
              <a:tr h="383361">
                <a:tc>
                  <a:txBody>
                    <a:bodyPr wrap="none"/>
                    <a:lstStyle/>
                    <a:p>
                      <a:pPr algn="l"/>
                      <a:r>
                        <a:rPr sz="1100" b="1">
                          <a:solidFill>
                            <a:srgbClr val="2E2E2E"/>
                          </a:solidFill>
                          <a:latin typeface="Calibri"/>
                        </a:rPr>
                        <a:t>Thailand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5F8FA"/>
                    </a:solidFill>
                  </a:tcPr>
                </a:tc>
              </a:tr>
              <a:tr h="383361">
                <a:tc>
                  <a:txBody>
                    <a:bodyPr wrap="none"/>
                    <a:lstStyle/>
                    <a:p>
                      <a:pPr algn="l"/>
                      <a:r>
                        <a:rPr sz="1100" b="1">
                          <a:solidFill>
                            <a:srgbClr val="2E2E2E"/>
                          </a:solidFill>
                          <a:latin typeface="Calibri"/>
                        </a:rPr>
                        <a:t>Mexico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2517354" cy="2562564"/>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8,171</a:t>
            </a:r>
          </a:p>
        </p:txBody>
      </p:sp>
      <p:sp>
        <p:nvSpPr>
          <p:cNvPr id="19" name="Rectangle 18"/>
          <p:cNvSpPr/>
          <p:nvPr/>
        </p:nvSpPr>
        <p:spPr>
          <a:xfrm>
            <a:off x="6727404" y="1293011"/>
            <a:ext cx="1225971" cy="2562564"/>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3,979</a:t>
            </a:r>
          </a:p>
        </p:txBody>
      </p:sp>
      <p:sp>
        <p:nvSpPr>
          <p:cNvPr id="20" name="Rectangle 19"/>
          <p:cNvSpPr/>
          <p:nvPr/>
        </p:nvSpPr>
        <p:spPr>
          <a:xfrm>
            <a:off x="4210050" y="3855575"/>
            <a:ext cx="1082939" cy="2023034"/>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2,775</a:t>
            </a:r>
          </a:p>
        </p:txBody>
      </p:sp>
      <p:sp>
        <p:nvSpPr>
          <p:cNvPr id="21" name="Rectangle 20"/>
          <p:cNvSpPr/>
          <p:nvPr/>
        </p:nvSpPr>
        <p:spPr>
          <a:xfrm>
            <a:off x="5292989" y="3855575"/>
            <a:ext cx="1040829" cy="1120391"/>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1,477</a:t>
            </a:r>
          </a:p>
        </p:txBody>
      </p:sp>
      <p:sp>
        <p:nvSpPr>
          <p:cNvPr id="22" name="Rectangle 21"/>
          <p:cNvSpPr/>
          <p:nvPr/>
        </p:nvSpPr>
        <p:spPr>
          <a:xfrm>
            <a:off x="5292989" y="4975966"/>
            <a:ext cx="1040829" cy="902644"/>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1,190</a:t>
            </a:r>
          </a:p>
        </p:txBody>
      </p:sp>
      <p:sp>
        <p:nvSpPr>
          <p:cNvPr id="23" name="Rectangle 22"/>
          <p:cNvSpPr/>
          <p:nvPr/>
        </p:nvSpPr>
        <p:spPr>
          <a:xfrm>
            <a:off x="6333818" y="3855575"/>
            <a:ext cx="877576" cy="924176"/>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South Korea</a:t>
            </a:r>
          </a:p>
          <a:p>
            <a:pPr algn="ctr"/>
            <a:r>
              <a:rPr sz="1100" b="0">
                <a:solidFill>
                  <a:srgbClr val="FFFFFF"/>
                </a:solidFill>
                <a:latin typeface="Calibri"/>
              </a:rPr>
              <a:t>1,027</a:t>
            </a:r>
          </a:p>
        </p:txBody>
      </p:sp>
      <p:sp>
        <p:nvSpPr>
          <p:cNvPr id="24" name="Rectangle 23"/>
          <p:cNvSpPr/>
          <p:nvPr/>
        </p:nvSpPr>
        <p:spPr>
          <a:xfrm>
            <a:off x="7211394" y="3855575"/>
            <a:ext cx="741981" cy="924176"/>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869</a:t>
            </a:r>
          </a:p>
        </p:txBody>
      </p:sp>
      <p:sp>
        <p:nvSpPr>
          <p:cNvPr id="25" name="Rectangle 24"/>
          <p:cNvSpPr/>
          <p:nvPr/>
        </p:nvSpPr>
        <p:spPr>
          <a:xfrm>
            <a:off x="6333818" y="4779751"/>
            <a:ext cx="584898" cy="1098859"/>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814</a:t>
            </a:r>
          </a:p>
        </p:txBody>
      </p:sp>
      <p:sp>
        <p:nvSpPr>
          <p:cNvPr id="26" name="Rectangle 25"/>
          <p:cNvSpPr/>
          <p:nvPr/>
        </p:nvSpPr>
        <p:spPr>
          <a:xfrm>
            <a:off x="6918716" y="4779751"/>
            <a:ext cx="1034659" cy="552979"/>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Australia</a:t>
            </a:r>
          </a:p>
          <a:p>
            <a:pPr algn="ctr"/>
            <a:r>
              <a:rPr sz="1100" b="0">
                <a:solidFill>
                  <a:srgbClr val="FFFFFF"/>
                </a:solidFill>
                <a:latin typeface="Calibri"/>
              </a:rPr>
              <a:t>725</a:t>
            </a:r>
          </a:p>
        </p:txBody>
      </p:sp>
      <p:sp>
        <p:nvSpPr>
          <p:cNvPr id="27" name="Rectangle 26"/>
          <p:cNvSpPr/>
          <p:nvPr/>
        </p:nvSpPr>
        <p:spPr>
          <a:xfrm>
            <a:off x="6918716" y="5332729"/>
            <a:ext cx="1034659" cy="545880"/>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715</a:t>
            </a:r>
          </a:p>
        </p:txBody>
      </p:sp>
      <p:sp>
        <p:nvSpPr>
          <p:cNvPr id="28" name="Rounded Rectangle 27"/>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30" name="Chart 29"/>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31" name="Rounded Rectangle 30"/>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32" name="Table 31"/>
          <p:cNvGraphicFramePr>
            <a:graphicFrameLocks noGrp="1"/>
          </p:cNvGraphicFramePr>
          <p:nvPr/>
        </p:nvGraphicFramePr>
        <p:xfrm>
          <a:off x="8096250" y="3547710"/>
          <a:ext cx="3928892" cy="2159450"/>
        </p:xfrm>
        <a:graphic>
          <a:graphicData uri="http://schemas.openxmlformats.org/drawingml/2006/table">
            <a:tbl>
              <a:tblPr>
                <a:tableStyleId>{5C22544A-7EE6-4342-B048-85BDC9FD1C3A}</a:tableStyleId>
              </a:tblPr>
              <a:tblGrid>
                <a:gridCol w="650421"/>
                <a:gridCol w="1088118"/>
                <a:gridCol w="1088118"/>
                <a:gridCol w="1102235"/>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388837">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3,600</a:t>
                      </a:r>
                      <a:endParaRPr sz="1100"/>
                    </a:p>
                  </a:txBody>
                  <a:tcPr marL="47625" marR="38100" marT="19050" marB="19050" anchor="ctr">
                    <a:solidFill>
                      <a:srgbClr val="FFFFFF"/>
                    </a:solidFill>
                  </a:tcPr>
                </a:tc>
              </a:tr>
              <a:tr h="388837">
                <a:tc>
                  <a:txBody>
                    <a:bodyPr wrap="none"/>
                    <a:lstStyle/>
                    <a:p>
                      <a:pPr algn="l"/>
                      <a:r>
                        <a:rPr sz="1100" b="1">
                          <a:solidFill>
                            <a:srgbClr val="2E2E2E"/>
                          </a:solidFill>
                          <a:latin typeface="Calibri"/>
                        </a:rPr>
                        <a:t>China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5F8FA"/>
                    </a:solidFill>
                  </a:tcPr>
                </a:tc>
              </a:tr>
              <a:tr h="388837">
                <a:tc>
                  <a:txBody>
                    <a:bodyPr wrap="none"/>
                    <a:lstStyle/>
                    <a:p>
                      <a:pPr algn="l"/>
                      <a:r>
                        <a:rPr sz="1100" b="1">
                          <a:solidFill>
                            <a:srgbClr val="2E2E2E"/>
                          </a:solidFill>
                          <a:latin typeface="Calibri"/>
                        </a:rPr>
                        <a:t>Japan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r>
              <a:tr h="388837">
                <a:tc>
                  <a:txBody>
                    <a:bodyPr wrap="none"/>
                    <a:lstStyle/>
                    <a:p>
                      <a:pPr algn="l"/>
                      <a:r>
                        <a:rPr sz="1100" b="1">
                          <a:solidFill>
                            <a:srgbClr val="2E2E2E"/>
                          </a:solidFill>
                          <a:latin typeface="Calibri"/>
                        </a:rPr>
                        <a:t>Brazil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744.8</a:t>
                      </a:r>
                      <a:endParaRPr sz="1100"/>
                    </a:p>
                  </a:txBody>
                  <a:tcPr marL="47625" marR="38100" marT="19050" marB="19050" anchor="ctr">
                    <a:solidFill>
                      <a:srgbClr val="F5F8FA"/>
                    </a:solidFill>
                  </a:tcPr>
                </a:tc>
              </a:tr>
              <a:tr h="388837">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699.5</a:t>
                      </a:r>
                      <a:endParaRPr sz="1100"/>
                    </a:p>
                  </a:txBody>
                  <a:tcPr marL="47625" marR="38100" marT="19050" marB="19050" anchor="ctr">
                    <a:solidFill>
                      <a:srgbClr val="FFFFFF"/>
                    </a:solidFill>
                  </a:tcPr>
                </a:tc>
              </a:tr>
            </a:tbl>
          </a:graphicData>
        </a:graphic>
      </p:graphicFrame>
      <p:sp>
        <p:nvSpPr>
          <p:cNvPr id="33" name="TextBox 32"/>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34" name="Rounded Rectangle 33"/>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U.S. hair styling products market is projected to register 2.1X higher value than China in 2036. Philippines posts the highest CAGR Index (144), growing at 9.6% against the global benchmark, while U.S. offers the largest absolute opportunity 3,600 US$ Mn of incremental market between 2026 and 2036 (25% of the global increment).</a:t>
            </a:r>
          </a:p>
        </p:txBody>
      </p:sp>
      <p:sp>
        <p:nvSpPr>
          <p:cNvPr id="35" name="TextBox 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Summary Country Indices (Value)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981075"/>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1" name="Table 10"/>
          <p:cNvGraphicFramePr>
            <a:graphicFrameLocks noGrp="1"/>
          </p:cNvGraphicFramePr>
          <p:nvPr/>
        </p:nvGraphicFramePr>
        <p:xfrm>
          <a:off x="152400" y="1057275"/>
          <a:ext cx="11887201" cy="1295400"/>
        </p:xfrm>
        <a:graphic>
          <a:graphicData uri="http://schemas.openxmlformats.org/drawingml/2006/table">
            <a:tbl>
              <a:tblPr>
                <a:tableStyleId>{5C22544A-7EE6-4342-B048-85BDC9FD1C3A}</a:tableStyleId>
              </a:tblPr>
              <a:tblGrid>
                <a:gridCol w="2534101"/>
                <a:gridCol w="3117700"/>
                <a:gridCol w="3117700"/>
                <a:gridCol w="3117700"/>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Saudi Arabia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China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Spain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FFFFF"/>
                    </a:solidFill>
                  </a:tcPr>
                </a:tc>
              </a:tr>
            </a:tbl>
          </a:graphicData>
        </a:graphic>
      </p:graphicFrame>
      <p:sp>
        <p:nvSpPr>
          <p:cNvPr id="12" name="TextBox 11"/>
          <p:cNvSpPr txBox="1"/>
          <p:nvPr/>
        </p:nvSpPr>
        <p:spPr>
          <a:xfrm>
            <a:off x="219075" y="2362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3" name="Rounded Rectangle 12"/>
          <p:cNvSpPr/>
          <p:nvPr/>
        </p:nvSpPr>
        <p:spPr>
          <a:xfrm>
            <a:off x="142875" y="2714625"/>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2790825"/>
          <a:ext cx="11887199" cy="1295400"/>
        </p:xfrm>
        <a:graphic>
          <a:graphicData uri="http://schemas.openxmlformats.org/drawingml/2006/table">
            <a:tbl>
              <a:tblPr>
                <a:tableStyleId>{5C22544A-7EE6-4342-B048-85BDC9FD1C3A}</a:tableStyleId>
              </a:tblPr>
              <a:tblGrid>
                <a:gridCol w="2488439"/>
                <a:gridCol w="3132920"/>
                <a:gridCol w="3132920"/>
                <a:gridCol w="3132920"/>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South Korea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France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Australia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302.0</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4095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Global hair styling products market is expected to witness 2.0X increase in revenue by 2036 end. Global hair styling products market accounted for US$ 15,333 Mn in 2025, which is expected to increase to US$ 30,687 Mn in 2036 at a CAGR of 6.7%.</a:t>
            </a:r>
          </a:p>
          <a:p>
            <a:pPr algn="l">
              <a:lnSpc>
                <a:spcPct val="110000"/>
              </a:lnSpc>
              <a:spcBef>
                <a:spcPts val="0"/>
              </a:spcBef>
              <a:spcAft>
                <a:spcPts val="500"/>
              </a:spcAft>
            </a:pPr>
            <a:r>
              <a:rPr sz="1150" b="0">
                <a:solidFill>
                  <a:srgbClr val="2E2E2E"/>
                </a:solidFill>
                <a:latin typeface="Calibri"/>
              </a:rPr>
              <a:t>The global hair styling products market has been analysed on the basis of product format, hold level, finish and distribution channel across the globe. North America is expected to remain the largest market for hair styling products, while demand in South Asia &amp; Pacific is projected to increase at the highest CAGR of 7.9% throughout the forecast period.</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is fragmented: the leading product format category 'Styling Serums and Oils' holds 19.6% of 2036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spans 6 regions and 7 segmentation lenses (8 product format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North America is the largest regional market at 29.5% of 2036 value.</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Accelerating uptake of 'Sticks and Balms' (8.3%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Fast-growing demand in South Asia &amp; Pacific (7.9%).</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Momentum in Online Marketplaces within distribution channel (8.0%).</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Slower momentum in 'Sprays and Mists' (4.6%).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Maturing demand in established categories caps the blended 6.7%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 concentration in 'Styling Serums and Oils' raises barriers for new entrants.</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'Sticks and Balms'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Asia &amp; Pacific outpacing the global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8 product format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Capacity and product development are concentrating in 'Sticks and Balms' and in South Asia &amp; Pacific, the fastest-growing region.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Portfolio expansion is tracking the shift toward higher-growth product format categories.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Commercial focus is intensifying in North America and South Asia &amp; Pacific, which together account for 41.7% of 2036 value.</a:t>
            </a:r>
          </a:p>
        </p:txBody>
      </p:sp>
      <p:sp>
        <p:nvSpPr>
          <p:cNvPr id="14" name="Rounded Rectangle 13"/>
          <p:cNvSpPr/>
          <p:nvPr/>
        </p:nvSpPr>
        <p:spPr>
          <a:xfrm>
            <a:off x="6172200"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Market value rises from 16,106 US$ Mn in 2026 to 30,687 US$ Mn in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forecast CAGR is 6.7% over 2026-2036.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'Styling Serums and Oils' is the lead product format category with 19.6%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North America is the lead region with 29.5%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incremental opportunity over 2026-2036 is 14,581 US$ Mn.</a:t>
            </a:r>
          </a:p>
        </p:txBody>
      </p:sp>
      <p:sp>
        <p:nvSpPr>
          <p:cNvPr id="18" name="Rounded Rectangle 17"/>
          <p:cNvSpPr/>
          <p:nvPr/>
        </p:nvSpPr>
        <p:spPr>
          <a:xfrm>
            <a:off x="142875"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152775"/>
            <a:ext cx="5610225" cy="12287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Investment is flowing toward 'Sticks and Balms', the fastest-growing product format category at 8.3% CAGR.</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South Asia &amp; Pacific (7.9% CAGR) is a priority region for new capacity and distribution.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Scale players are anchoring their portfolios around 'Styling Serums and Oils', which holds 19.6% share.</a:t>
            </a:r>
          </a:p>
        </p:txBody>
      </p:sp>
      <p:sp>
        <p:nvSpPr>
          <p:cNvPr id="22" name="Rounded Rectangle 21"/>
          <p:cNvSpPr/>
          <p:nvPr/>
        </p:nvSpPr>
        <p:spPr>
          <a:xfrm>
            <a:off x="6172200"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152775"/>
            <a:ext cx="5610225" cy="12287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R&amp;D programmes are focused on product design, premium formats and sustainable materials, in line with the migration toward 'Sticks and Balms'.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Development spend is targeting the product format categories that gain share through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Innovation underpins the 6.7% forecast CAGR by sustaining both volume growth and price realisation.</a:t>
            </a:r>
          </a:p>
        </p:txBody>
      </p:sp>
      <p:sp>
        <p:nvSpPr>
          <p:cNvPr id="26" name="Rounded Rectangle 25"/>
          <p:cNvSpPr/>
          <p:nvPr/>
        </p:nvSpPr>
        <p:spPr>
          <a:xfrm>
            <a:off x="142875" y="4591050"/>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648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Format Share (2036)</a:t>
            </a:r>
          </a:p>
        </p:txBody>
      </p:sp>
      <p:graphicFrame>
        <p:nvGraphicFramePr>
          <p:cNvPr id="28" name="Chart 27"/>
          <p:cNvGraphicFramePr>
            <a:graphicFrameLocks noGrp="1"/>
          </p:cNvGraphicFramePr>
          <p:nvPr/>
        </p:nvGraphicFramePr>
        <p:xfrm>
          <a:off x="238125" y="4876800"/>
          <a:ext cx="11715750" cy="1685925"/>
        </p:xfrm>
        <a:graphic>
          <a:graphicData uri="http://schemas.openxmlformats.org/drawingml/2006/chart">
            <c:chart xmlns:c="http://schemas.openxmlformats.org/drawingml/2006/chart" r:id="rId3"/>
          </a:graphicData>
        </a:graphic>
      </p:graphicFrame>
      <p:sp>
        <p:nvSpPr>
          <p:cNvPr id="29" name="TextBox 28"/>
          <p:cNvSpPr txBox="1"/>
          <p:nvPr/>
        </p:nvSpPr>
        <p:spPr>
          <a:xfrm>
            <a:off x="3935364" y="5605462"/>
            <a:ext cx="806547" cy="228600"/>
          </a:xfrm>
          <a:prstGeom prst="rect">
            <a:avLst/>
          </a:prstGeom>
          <a:noFill/>
        </p:spPr>
        <p:txBody>
          <a:bodyPr wrap="square" lIns="28575" rIns="28575" tIns="9525" bIns="9525" anchor="ctr">
            <a:spAutoFit/>
          </a:bodyPr>
          <a:lstStyle/>
          <a:p>
            <a:pPr algn="ctr"/>
            <a:r>
              <a:rPr sz="1300" b="1">
                <a:solidFill>
                  <a:srgbClr val="2E2E2E"/>
                </a:solidFill>
                <a:latin typeface="Calibri"/>
              </a:rPr>
              <a:t>2036</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scale in 'Styling Serums and Oils' with targeted growth in 'Sticks and Balms' to capture the 6.7% CAGR trajectory to 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adds 14,581 US$ Mn of demand to 2036, a 1.9x expansion on the 2026 base.</a:t>
            </a:r>
          </a:p>
        </p:txBody>
      </p:sp>
      <p:sp>
        <p:nvSpPr>
          <p:cNvPr id="14" name="Rounded Rectangle 13"/>
          <p:cNvSpPr/>
          <p:nvPr/>
        </p:nvSpPr>
        <p:spPr>
          <a:xfrm>
            <a:off x="6172200"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'Sticks and Balms' category and the 'Online Marketplaces' distribution channel route, where growth outpaces the market.</a:t>
            </a:r>
          </a:p>
        </p:txBody>
      </p:sp>
      <p:sp>
        <p:nvSpPr>
          <p:cNvPr id="18" name="Rounded Rectangle 17"/>
          <p:cNvSpPr/>
          <p:nvPr/>
        </p:nvSpPr>
        <p:spPr>
          <a:xfrm>
            <a:off x="142875"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'Sticks and Balms' (8.3% CAGR) for growth, while 'Styling Serums and Oils' anchors 19.6% of value and funds the portfolio.</a:t>
            </a:r>
          </a:p>
        </p:txBody>
      </p:sp>
      <p:sp>
        <p:nvSpPr>
          <p:cNvPr id="22" name="Rounded Rectangle 21"/>
          <p:cNvSpPr/>
          <p:nvPr/>
        </p:nvSpPr>
        <p:spPr>
          <a:xfrm>
            <a:off x="6172200"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Region</a:t>
            </a:r>
          </a:p>
        </p:txBody>
      </p:sp>
      <p:sp>
        <p:nvSpPr>
          <p:cNvPr id="24" name="Rectangle 23"/>
          <p:cNvSpPr/>
          <p:nvPr/>
        </p:nvSpPr>
        <p:spPr>
          <a:xfrm>
            <a:off x="6305550"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 with North America (29.5% of value) and capture upside in South Asia &amp; Pacific (7.9% CAGR).</a:t>
            </a:r>
          </a:p>
        </p:txBody>
      </p:sp>
      <p:sp>
        <p:nvSpPr>
          <p:cNvPr id="26" name="Rounded Rectangle 25"/>
          <p:cNvSpPr/>
          <p:nvPr/>
        </p:nvSpPr>
        <p:spPr>
          <a:xfrm>
            <a:off x="142875" y="4695825"/>
            <a:ext cx="11906250" cy="1914525"/>
          </a:xfrm>
          <a:prstGeom prst="roundRect">
            <a:avLst>
              <a:gd name="adj" fmla="val 39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81550"/>
            <a:ext cx="11639550" cy="209550"/>
          </a:xfrm>
          <a:prstGeom prst="rect">
            <a:avLst/>
          </a:prstGeom>
          <a:noFill/>
        </p:spPr>
        <p:txBody>
          <a:bodyPr wrap="square" lIns="0" rIns="19050" tIns="9525" bIns="9525">
            <a:spAutoFit/>
          </a:bodyPr>
          <a:lstStyle/>
          <a:p>
            <a:pPr algn="l"/>
            <a:r>
              <a:rPr sz="1300" b="1">
                <a:solidFill>
                  <a:srgbClr val="0B2E4A"/>
                </a:solidFill>
                <a:latin typeface="Calibri"/>
              </a:rPr>
              <a:t>FMI Analysis and Recommendation</a:t>
            </a:r>
          </a:p>
        </p:txBody>
      </p:sp>
      <p:sp>
        <p:nvSpPr>
          <p:cNvPr id="28" name="Rectangle 27"/>
          <p:cNvSpPr/>
          <p:nvPr/>
        </p:nvSpPr>
        <p:spPr>
          <a:xfrm>
            <a:off x="276225" y="5019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105400"/>
            <a:ext cx="11639550" cy="1428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 and region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'Styling Serums and Oils' as the value anchor of the portfolio.</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quality certification and brand trust into the offer to protect pricing as competition intensifies.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36,256 US$ Mn</a:t>
            </a:r>
          </a:p>
          <a:p>
            <a:pPr algn="ctr">
              <a:lnSpc>
                <a:spcPct val="95000"/>
              </a:lnSpc>
            </a:pPr>
            <a:r>
              <a:rPr sz="1100" b="0">
                <a:solidFill>
                  <a:srgbClr val="6C7A89"/>
                </a:solidFill>
                <a:latin typeface="Calibri"/>
              </a:rPr>
              <a:t>CAGR 8.2%</a:t>
            </a:r>
          </a:p>
        </p:txBody>
      </p:sp>
      <p:sp>
        <p:nvSpPr>
          <p:cNvPr id="11" name="Rounded Rectangle 10"/>
          <p:cNvSpPr/>
          <p:nvPr/>
        </p:nvSpPr>
        <p:spPr>
          <a:xfrm>
            <a:off x="4238625"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30,687 US$ Mn</a:t>
            </a:r>
          </a:p>
          <a:p>
            <a:pPr algn="ctr">
              <a:lnSpc>
                <a:spcPct val="95000"/>
              </a:lnSpc>
            </a:pPr>
            <a:r>
              <a:rPr sz="1100" b="0">
                <a:solidFill>
                  <a:srgbClr val="6C7A89"/>
                </a:solidFill>
                <a:latin typeface="Calibri"/>
              </a:rPr>
              <a:t>CAGR 6.7%</a:t>
            </a:r>
          </a:p>
        </p:txBody>
      </p:sp>
      <p:sp>
        <p:nvSpPr>
          <p:cNvPr id="12" name="Rounded Rectangle 11"/>
          <p:cNvSpPr/>
          <p:nvPr/>
        </p:nvSpPr>
        <p:spPr>
          <a:xfrm>
            <a:off x="8210550"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25,907 US$ Mn</a:t>
            </a:r>
          </a:p>
          <a:p>
            <a:pPr algn="ctr">
              <a:lnSpc>
                <a:spcPct val="95000"/>
              </a:lnSpc>
            </a:pPr>
            <a:r>
              <a:rPr sz="1100" b="0">
                <a:solidFill>
                  <a:srgbClr val="6C7A89"/>
                </a:solidFill>
                <a:latin typeface="Calibri"/>
              </a:rPr>
              <a:t>CAGR 4.8%</a:t>
            </a:r>
          </a:p>
        </p:txBody>
      </p:sp>
      <p:sp>
        <p:nvSpPr>
          <p:cNvPr id="13" name="Rounded Rectangle 12"/>
          <p:cNvSpPr/>
          <p:nvPr/>
        </p:nvSpPr>
        <p:spPr>
          <a:xfrm>
            <a:off x="142875"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Hair Styling Products Market Value (US$ Mn): Scenario Forecast, 2025 and 2036</a:t>
            </a:r>
          </a:p>
        </p:txBody>
      </p:sp>
      <p:cxnSp>
        <p:nvCxnSpPr>
          <p:cNvPr id="15" name="Connector 14"/>
          <p:cNvCxnSpPr/>
          <p:nvPr/>
        </p:nvCxnSpPr>
        <p:spPr>
          <a:xfrm>
            <a:off x="238125" y="413385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486098"/>
            <a:ext cx="635826" cy="647752"/>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39429"/>
            <a:ext cx="635826" cy="1094421"/>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837473"/>
            <a:ext cx="635826" cy="1296377"/>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602230"/>
            <a:ext cx="635826" cy="1531620"/>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906079"/>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801304"/>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4.8%</a:t>
            </a:r>
          </a:p>
        </p:txBody>
      </p:sp>
      <p:cxnSp>
        <p:nvCxnSpPr>
          <p:cNvPr id="22" name="Connector 21"/>
          <p:cNvCxnSpPr/>
          <p:nvPr/>
        </p:nvCxnSpPr>
        <p:spPr>
          <a:xfrm>
            <a:off x="1456468" y="2648904"/>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44129"/>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6.7%</a:t>
            </a:r>
          </a:p>
        </p:txBody>
      </p:sp>
      <p:cxnSp>
        <p:nvCxnSpPr>
          <p:cNvPr id="24" name="Connector 23"/>
          <p:cNvCxnSpPr/>
          <p:nvPr/>
        </p:nvCxnSpPr>
        <p:spPr>
          <a:xfrm>
            <a:off x="1456468" y="2391729"/>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286954"/>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8.2%</a:t>
            </a:r>
          </a:p>
        </p:txBody>
      </p:sp>
      <p:sp>
        <p:nvSpPr>
          <p:cNvPr id="26" name="TextBox 25"/>
          <p:cNvSpPr txBox="1"/>
          <p:nvPr/>
        </p:nvSpPr>
        <p:spPr>
          <a:xfrm>
            <a:off x="643255"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40055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40055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40055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Hair Styling Products Market Attractiveness Analysis By Region, 2026–2036</a:t>
            </a:r>
          </a:p>
        </p:txBody>
      </p:sp>
      <p:graphicFrame>
        <p:nvGraphicFramePr>
          <p:cNvPr id="36" name="Chart 35"/>
          <p:cNvGraphicFramePr>
            <a:graphicFrameLocks noGrp="1"/>
          </p:cNvGraphicFramePr>
          <p:nvPr/>
        </p:nvGraphicFramePr>
        <p:xfrm>
          <a:off x="6267450" y="2181225"/>
          <a:ext cx="5686425" cy="2409825"/>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781550"/>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191125"/>
            <a:ext cx="11639550" cy="135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Optimistic: the market reaches 36,256 US$ Mn by 2036 at 8.2% CAGR, assuming faster adoption and stronger price realisation.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Likely (base forecast): the market reaches 30,687 US$ Mn by 2036 at 6.7%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Conservative: the market reaches 25,907 US$ Mn by 2036 at 4.8% CAGR, assuming slower adoption and tighter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Scenarios flex the base forecast's year-on-year growth by plus or minus 25% across 2026-2036.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gap between the optimistic and conservative outcomes is 10,349 US$ Mn in 2036, which frames the planning range for capacity and investment decisions.</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Global Market Analysis By Region</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Global Hair Styling Products – Regional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Region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 Regional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6 regions,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Region view breaks the Global market down geographically. Each region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Region</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North America</a:t>
            </a:r>
          </a:p>
        </p:txBody>
      </p:sp>
      <p:sp>
        <p:nvSpPr>
          <p:cNvPr id="23" name="Rectangle 22"/>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5,020</a:t>
            </a:r>
          </a:p>
        </p:txBody>
      </p:sp>
      <p:sp>
        <p:nvSpPr>
          <p:cNvPr id="24" name="Rectangle 23"/>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9,040</a:t>
            </a:r>
          </a:p>
        </p:txBody>
      </p:sp>
      <p:sp>
        <p:nvSpPr>
          <p:cNvPr id="25" name="Rectangle 24"/>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6.1%</a:t>
            </a:r>
          </a:p>
        </p:txBody>
      </p:sp>
      <p:sp>
        <p:nvSpPr>
          <p:cNvPr id="26" name="Oval 25"/>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East Asia</a:t>
            </a:r>
          </a:p>
        </p:txBody>
      </p:sp>
      <p:sp>
        <p:nvSpPr>
          <p:cNvPr id="30" name="Rectangle 29"/>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4,129</a:t>
            </a:r>
          </a:p>
        </p:txBody>
      </p:sp>
      <p:sp>
        <p:nvSpPr>
          <p:cNvPr id="31" name="Rectangle 30"/>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7,782</a:t>
            </a:r>
          </a:p>
        </p:txBody>
      </p:sp>
      <p:sp>
        <p:nvSpPr>
          <p:cNvPr id="32" name="Rectangle 31"/>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6.5%</a:t>
            </a:r>
          </a:p>
        </p:txBody>
      </p:sp>
      <p:sp>
        <p:nvSpPr>
          <p:cNvPr id="33" name="Oval 32"/>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Europe</a:t>
            </a:r>
          </a:p>
        </p:txBody>
      </p:sp>
      <p:sp>
        <p:nvSpPr>
          <p:cNvPr id="37" name="Rectangle 36"/>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2,811</a:t>
            </a:r>
          </a:p>
        </p:txBody>
      </p:sp>
      <p:sp>
        <p:nvSpPr>
          <p:cNvPr id="38" name="Rectangle 37"/>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5,157</a:t>
            </a:r>
          </a:p>
        </p:txBody>
      </p:sp>
      <p:sp>
        <p:nvSpPr>
          <p:cNvPr id="39" name="Rectangle 38"/>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6.3%</a:t>
            </a:r>
          </a:p>
        </p:txBody>
      </p:sp>
      <p:sp>
        <p:nvSpPr>
          <p:cNvPr id="40" name="Oval 39"/>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South Asia &amp; Pacific</a:t>
            </a:r>
          </a:p>
        </p:txBody>
      </p:sp>
      <p:sp>
        <p:nvSpPr>
          <p:cNvPr id="44" name="Rectangle 43"/>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1,771</a:t>
            </a:r>
          </a:p>
        </p:txBody>
      </p:sp>
      <p:sp>
        <p:nvSpPr>
          <p:cNvPr id="45" name="Rectangle 44"/>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3,772</a:t>
            </a:r>
          </a:p>
        </p:txBody>
      </p:sp>
      <p:sp>
        <p:nvSpPr>
          <p:cNvPr id="46" name="Rectangle 45"/>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7.9%</a:t>
            </a:r>
          </a:p>
        </p:txBody>
      </p:sp>
      <p:sp>
        <p:nvSpPr>
          <p:cNvPr id="47" name="Oval 46"/>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Latin America</a:t>
            </a:r>
          </a:p>
        </p:txBody>
      </p:sp>
      <p:sp>
        <p:nvSpPr>
          <p:cNvPr id="51" name="Rectangle 50"/>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1,350</a:t>
            </a:r>
          </a:p>
        </p:txBody>
      </p:sp>
      <p:sp>
        <p:nvSpPr>
          <p:cNvPr id="52" name="Rectangle 51"/>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2,815</a:t>
            </a:r>
          </a:p>
        </p:txBody>
      </p:sp>
      <p:sp>
        <p:nvSpPr>
          <p:cNvPr id="53" name="Rectangle 52"/>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7.6%</a:t>
            </a:r>
          </a:p>
        </p:txBody>
      </p:sp>
      <p:sp>
        <p:nvSpPr>
          <p:cNvPr id="54" name="Oval 53"/>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Middle East &amp; Africa</a:t>
            </a:r>
          </a:p>
        </p:txBody>
      </p:sp>
      <p:sp>
        <p:nvSpPr>
          <p:cNvPr id="58" name="Rectangle 57"/>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1,026</a:t>
            </a:r>
          </a:p>
        </p:txBody>
      </p:sp>
      <p:sp>
        <p:nvSpPr>
          <p:cNvPr id="59" name="Rectangle 58"/>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2,122</a:t>
            </a:r>
          </a:p>
        </p:txBody>
      </p:sp>
      <p:sp>
        <p:nvSpPr>
          <p:cNvPr id="60" name="Rectangle 59"/>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7.5%</a:t>
            </a:r>
          </a:p>
        </p:txBody>
      </p:sp>
      <p:sp>
        <p:nvSpPr>
          <p:cNvPr id="61" name="Oval 60"/>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4" name="Rectangle 63"/>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North America hair styling products market is projected to register 1.2X higher value than East Asia in 2036. Among hair styling products by region, South Asia &amp; Pacific is expected to witness the highest CAGR of 7.9% over the forecast period.</a:t>
            </a:r>
          </a:p>
          <a:p>
            <a:pPr algn="l">
              <a:lnSpc>
                <a:spcPct val="110000"/>
              </a:lnSpc>
              <a:spcBef>
                <a:spcPts val="0"/>
              </a:spcBef>
              <a:spcAft>
                <a:spcPts val="500"/>
              </a:spcAft>
            </a:pPr>
            <a:r>
              <a:rPr sz="1100" b="0">
                <a:solidFill>
                  <a:srgbClr val="2E2E2E"/>
                </a:solidFill>
                <a:latin typeface="Calibri"/>
              </a:rPr>
              <a:t>In terms of value share by region, North America is expected to dominate the market, losing 171 BPS and accounting for 29.5% share by 2036.</a:t>
            </a:r>
          </a:p>
        </p:txBody>
      </p:sp>
      <p:sp>
        <p:nvSpPr>
          <p:cNvPr id="66" name="Rounded Rectangle 65"/>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Region Insights</a:t>
            </a:r>
          </a:p>
        </p:txBody>
      </p:sp>
      <p:sp>
        <p:nvSpPr>
          <p:cNvPr id="68" name="Rectangle 67"/>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North America: </a:t>
            </a:r>
            <a:r>
              <a:rPr sz="1100" b="0">
                <a:solidFill>
                  <a:srgbClr val="2E2E2E"/>
                </a:solidFill>
                <a:latin typeface="Calibri"/>
              </a:rPr>
              <a:t>31% of 2026 value · 6.1% CAGR leads the market.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East Asia: </a:t>
            </a:r>
            <a:r>
              <a:rPr sz="1100" b="0">
                <a:solidFill>
                  <a:srgbClr val="2E2E2E"/>
                </a:solidFill>
                <a:latin typeface="Calibri"/>
              </a:rPr>
              <a:t>26% of 2026 value · 6.5% CAGR a smaller market.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Europe: </a:t>
            </a:r>
            <a:r>
              <a:rPr sz="1100" b="0">
                <a:solidFill>
                  <a:srgbClr val="2E2E2E"/>
                </a:solidFill>
                <a:latin typeface="Calibri"/>
              </a:rPr>
              <a:t>17% of 2026 value · 6.3% CAGR a smaller market.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South Asia &amp; Pacific: </a:t>
            </a:r>
            <a:r>
              <a:rPr sz="1100" b="0">
                <a:solidFill>
                  <a:srgbClr val="2E2E2E"/>
                </a:solidFill>
                <a:latin typeface="Calibri"/>
              </a:rPr>
              <a:t>11% of 2026 value · 7.9% CAGR grows fastest.</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Latin America: </a:t>
            </a:r>
            <a:r>
              <a:rPr sz="1100" b="0">
                <a:solidFill>
                  <a:srgbClr val="2E2E2E"/>
                </a:solidFill>
                <a:latin typeface="Calibri"/>
              </a:rPr>
              <a:t>8% of 2026 value · 7.6% CAGR a smaller market.</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Middle East &amp; Africa: </a:t>
            </a:r>
            <a:r>
              <a:rPr sz="1100" b="0">
                <a:solidFill>
                  <a:srgbClr val="2E2E2E"/>
                </a:solidFill>
                <a:latin typeface="Calibri"/>
              </a:rPr>
              <a:t>6% of 2026 value · 7.5% CAGR a smaller market.</a:t>
            </a:r>
          </a:p>
        </p:txBody>
      </p:sp>
      <p:sp>
        <p:nvSpPr>
          <p:cNvPr id="70" name="Rounded Rectangle 69"/>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Region Overview</a:t>
            </a:r>
          </a:p>
        </p:txBody>
      </p:sp>
      <p:sp>
        <p:nvSpPr>
          <p:cNvPr id="72" name="Rectangle 71"/>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Region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74" name="Rectangle 73"/>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Global market is projected to grow at a CAGR of 6.7% from 2026 to 2036.</a:t>
            </a:r>
          </a:p>
        </p:txBody>
      </p:sp>
      <p:sp>
        <p:nvSpPr>
          <p:cNvPr id="76" name="TextBox 75"/>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7" name="TextBox 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Analysis, By Region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region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07346"/>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60258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2638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Middle East &amp; Africa</a:t>
            </a:r>
          </a:p>
        </p:txBody>
      </p:sp>
      <p:sp>
        <p:nvSpPr>
          <p:cNvPr id="19" name="BPS Value 1"/>
          <p:cNvSpPr txBox="1"/>
          <p:nvPr/>
        </p:nvSpPr>
        <p:spPr>
          <a:xfrm>
            <a:off x="6305550" y="1588296"/>
            <a:ext cx="514350" cy="123825"/>
          </a:xfrm>
          <a:prstGeom prst="rect">
            <a:avLst/>
          </a:prstGeom>
          <a:noFill/>
        </p:spPr>
        <p:txBody>
          <a:bodyPr wrap="none" lIns="0" rIns="0" tIns="0" bIns="0" anchor="ctr">
            <a:spAutoFit/>
          </a:bodyPr>
          <a:lstStyle/>
          <a:p>
            <a:pPr algn="r"/>
            <a:r>
              <a:rPr sz="900" b="1">
                <a:solidFill>
                  <a:srgbClr val="2E7D32"/>
                </a:solidFill>
                <a:latin typeface="Calibri"/>
              </a:rPr>
              <a:t>+57</a:t>
            </a:r>
          </a:p>
        </p:txBody>
      </p:sp>
      <p:sp>
        <p:nvSpPr>
          <p:cNvPr id="20" name="FMI Legend Chip"/>
          <p:cNvSpPr/>
          <p:nvPr/>
        </p:nvSpPr>
        <p:spPr>
          <a:xfrm>
            <a:off x="4551045" y="1973611"/>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196884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89264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Latin America</a:t>
            </a:r>
          </a:p>
        </p:txBody>
      </p:sp>
      <p:sp>
        <p:nvSpPr>
          <p:cNvPr id="23" name="BPS Value 2"/>
          <p:cNvSpPr txBox="1"/>
          <p:nvPr/>
        </p:nvSpPr>
        <p:spPr>
          <a:xfrm>
            <a:off x="6305550" y="1954561"/>
            <a:ext cx="514350" cy="123825"/>
          </a:xfrm>
          <a:prstGeom prst="rect">
            <a:avLst/>
          </a:prstGeom>
          <a:noFill/>
        </p:spPr>
        <p:txBody>
          <a:bodyPr wrap="none" lIns="0" rIns="0" tIns="0" bIns="0" anchor="ctr">
            <a:spAutoFit/>
          </a:bodyPr>
          <a:lstStyle/>
          <a:p>
            <a:pPr algn="r"/>
            <a:r>
              <a:rPr sz="900" b="1">
                <a:solidFill>
                  <a:srgbClr val="2E7D32"/>
                </a:solidFill>
                <a:latin typeface="Calibri"/>
              </a:rPr>
              <a:t>+79</a:t>
            </a:r>
          </a:p>
        </p:txBody>
      </p:sp>
      <p:sp>
        <p:nvSpPr>
          <p:cNvPr id="24" name="FMI Legend Chip"/>
          <p:cNvSpPr/>
          <p:nvPr/>
        </p:nvSpPr>
        <p:spPr>
          <a:xfrm>
            <a:off x="4551045" y="249112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248636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41016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Europe</a:t>
            </a:r>
          </a:p>
        </p:txBody>
      </p:sp>
      <p:sp>
        <p:nvSpPr>
          <p:cNvPr id="27" name="BPS Value 3"/>
          <p:cNvSpPr txBox="1"/>
          <p:nvPr/>
        </p:nvSpPr>
        <p:spPr>
          <a:xfrm>
            <a:off x="6305550" y="2472076"/>
            <a:ext cx="514350" cy="123825"/>
          </a:xfrm>
          <a:prstGeom prst="rect">
            <a:avLst/>
          </a:prstGeom>
          <a:noFill/>
        </p:spPr>
        <p:txBody>
          <a:bodyPr wrap="none" lIns="0" rIns="0" tIns="0" bIns="0" anchor="ctr">
            <a:spAutoFit/>
          </a:bodyPr>
          <a:lstStyle/>
          <a:p>
            <a:pPr algn="r"/>
            <a:r>
              <a:rPr sz="900" b="1">
                <a:solidFill>
                  <a:srgbClr val="E44D3A"/>
                </a:solidFill>
                <a:latin typeface="Calibri"/>
              </a:rPr>
              <a:t>-95</a:t>
            </a:r>
          </a:p>
        </p:txBody>
      </p:sp>
      <p:sp>
        <p:nvSpPr>
          <p:cNvPr id="28" name="FMI Legend Chip"/>
          <p:cNvSpPr/>
          <p:nvPr/>
        </p:nvSpPr>
        <p:spPr>
          <a:xfrm>
            <a:off x="4551045" y="310743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2970" y="310267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302647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Asia &amp; Pacific</a:t>
            </a:r>
          </a:p>
        </p:txBody>
      </p:sp>
      <p:sp>
        <p:nvSpPr>
          <p:cNvPr id="31" name="BPS Value 4"/>
          <p:cNvSpPr txBox="1"/>
          <p:nvPr/>
        </p:nvSpPr>
        <p:spPr>
          <a:xfrm>
            <a:off x="6305550" y="3088385"/>
            <a:ext cx="514350" cy="123825"/>
          </a:xfrm>
          <a:prstGeom prst="rect">
            <a:avLst/>
          </a:prstGeom>
          <a:noFill/>
        </p:spPr>
        <p:txBody>
          <a:bodyPr wrap="none" lIns="0" rIns="0" tIns="0" bIns="0" anchor="ctr">
            <a:spAutoFit/>
          </a:bodyPr>
          <a:lstStyle/>
          <a:p>
            <a:pPr algn="r"/>
            <a:r>
              <a:rPr sz="900" b="1">
                <a:solidFill>
                  <a:srgbClr val="2E7D32"/>
                </a:solidFill>
                <a:latin typeface="Calibri"/>
              </a:rPr>
              <a:t>+217</a:t>
            </a:r>
          </a:p>
        </p:txBody>
      </p:sp>
      <p:sp>
        <p:nvSpPr>
          <p:cNvPr id="32" name="FMI Legend Chip"/>
          <p:cNvSpPr/>
          <p:nvPr/>
        </p:nvSpPr>
        <p:spPr>
          <a:xfrm>
            <a:off x="4551045" y="3800587"/>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4712970" y="379582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71962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North America</a:t>
            </a:r>
          </a:p>
        </p:txBody>
      </p:sp>
      <p:sp>
        <p:nvSpPr>
          <p:cNvPr id="35" name="BPS Value 5"/>
          <p:cNvSpPr txBox="1"/>
          <p:nvPr/>
        </p:nvSpPr>
        <p:spPr>
          <a:xfrm>
            <a:off x="6305550" y="3781537"/>
            <a:ext cx="514350" cy="123825"/>
          </a:xfrm>
          <a:prstGeom prst="rect">
            <a:avLst/>
          </a:prstGeom>
          <a:noFill/>
        </p:spPr>
        <p:txBody>
          <a:bodyPr wrap="none" lIns="0" rIns="0" tIns="0" bIns="0" anchor="ctr">
            <a:spAutoFit/>
          </a:bodyPr>
          <a:lstStyle/>
          <a:p>
            <a:pPr algn="r"/>
            <a:r>
              <a:rPr sz="900" b="1">
                <a:solidFill>
                  <a:srgbClr val="E44D3A"/>
                </a:solidFill>
                <a:latin typeface="Calibri"/>
              </a:rPr>
              <a:t>-188</a:t>
            </a:r>
          </a:p>
        </p:txBody>
      </p:sp>
      <p:sp>
        <p:nvSpPr>
          <p:cNvPr id="36" name="FMI Legend Chip"/>
          <p:cNvSpPr/>
          <p:nvPr/>
        </p:nvSpPr>
        <p:spPr>
          <a:xfrm>
            <a:off x="4551045" y="465157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4712970" y="464681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457061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East Asia</a:t>
            </a:r>
          </a:p>
        </p:txBody>
      </p:sp>
      <p:sp>
        <p:nvSpPr>
          <p:cNvPr id="39" name="BPS Value 6"/>
          <p:cNvSpPr txBox="1"/>
          <p:nvPr/>
        </p:nvSpPr>
        <p:spPr>
          <a:xfrm>
            <a:off x="6305550" y="4632525"/>
            <a:ext cx="514350" cy="123825"/>
          </a:xfrm>
          <a:prstGeom prst="rect">
            <a:avLst/>
          </a:prstGeom>
          <a:noFill/>
        </p:spPr>
        <p:txBody>
          <a:bodyPr wrap="none" lIns="0" rIns="0" tIns="0" bIns="0" anchor="ctr">
            <a:spAutoFit/>
          </a:bodyPr>
          <a:lstStyle/>
          <a:p>
            <a:pPr algn="r"/>
            <a:r>
              <a:rPr sz="900" b="1">
                <a:solidFill>
                  <a:srgbClr val="E44D3A"/>
                </a:solidFill>
                <a:latin typeface="Calibri"/>
              </a:rPr>
              <a:t>-70</a:t>
            </a:r>
          </a:p>
        </p:txBody>
      </p:sp>
      <p:sp>
        <p:nvSpPr>
          <p:cNvPr id="40" name="Rounded Rectangle 39"/>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2" name="Rectangle 41"/>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East Asia hair styling products market is projected to register 1.3X higher volume than North America in 2036. Among hair styling products by region, South Asia &amp; Pacific is expected to witness the highest CAGR of 6.7% over the forecast period.</a:t>
            </a:r>
          </a:p>
          <a:p>
            <a:pPr algn="l">
              <a:lnSpc>
                <a:spcPct val="110000"/>
              </a:lnSpc>
              <a:spcBef>
                <a:spcPts val="0"/>
              </a:spcBef>
              <a:spcAft>
                <a:spcPts val="500"/>
              </a:spcAft>
            </a:pPr>
            <a:r>
              <a:rPr sz="1150" b="0">
                <a:solidFill>
                  <a:srgbClr val="2E2E2E"/>
                </a:solidFill>
                <a:latin typeface="Calibri"/>
              </a:rPr>
              <a:t>In terms of volume share by region, East Asia is expected to dominate the market, losing 70 BPS and accounting for 26.0% share by 2036. North America is expected to lose 188 BPS over the forecast period to account for 20.4% share by 2036.</a:t>
            </a:r>
          </a:p>
        </p:txBody>
      </p:sp>
      <p:sp>
        <p:nvSpPr>
          <p:cNvPr id="44" name="Rounded Rectangle 43"/>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(MN UNITS)</a:t>
            </a:r>
          </a:p>
          <a:p>
            <a:pPr algn="ctr">
              <a:lnSpc>
                <a:spcPct val="95000"/>
              </a:lnSpc>
            </a:pPr>
            <a:r>
              <a:rPr sz="2000" b="1">
                <a:solidFill>
                  <a:srgbClr val="0E72AE"/>
                </a:solidFill>
                <a:latin typeface="Calibri"/>
              </a:rPr>
              <a:t>7,911</a:t>
            </a:r>
          </a:p>
        </p:txBody>
      </p:sp>
      <p:sp>
        <p:nvSpPr>
          <p:cNvPr id="45" name="Rounded Rectangle 44"/>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(MN UNITS)</a:t>
            </a:r>
          </a:p>
          <a:p>
            <a:pPr algn="ctr">
              <a:lnSpc>
                <a:spcPct val="95000"/>
              </a:lnSpc>
            </a:pPr>
            <a:r>
              <a:rPr sz="2000" b="1">
                <a:solidFill>
                  <a:srgbClr val="0E72AE"/>
                </a:solidFill>
                <a:latin typeface="Calibri"/>
              </a:rPr>
              <a:t>13,192</a:t>
            </a:r>
          </a:p>
        </p:txBody>
      </p:sp>
      <p:sp>
        <p:nvSpPr>
          <p:cNvPr id="46" name="Rounded Rectangle 45"/>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5.2%</a:t>
            </a:r>
          </a:p>
        </p:txBody>
      </p:sp>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Analysis, By Region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region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88873"/>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58411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0791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Middle East &amp; Africa</a:t>
            </a:r>
          </a:p>
        </p:txBody>
      </p:sp>
      <p:sp>
        <p:nvSpPr>
          <p:cNvPr id="19" name="BPS Value 1"/>
          <p:cNvSpPr txBox="1"/>
          <p:nvPr/>
        </p:nvSpPr>
        <p:spPr>
          <a:xfrm>
            <a:off x="6305550" y="1569823"/>
            <a:ext cx="514350" cy="123825"/>
          </a:xfrm>
          <a:prstGeom prst="rect">
            <a:avLst/>
          </a:prstGeom>
          <a:noFill/>
        </p:spPr>
        <p:txBody>
          <a:bodyPr wrap="none" lIns="0" rIns="0" tIns="0" bIns="0" anchor="ctr">
            <a:spAutoFit/>
          </a:bodyPr>
          <a:lstStyle/>
          <a:p>
            <a:pPr algn="r"/>
            <a:r>
              <a:rPr sz="900" b="1">
                <a:solidFill>
                  <a:srgbClr val="2E7D32"/>
                </a:solidFill>
                <a:latin typeface="Calibri"/>
              </a:rPr>
              <a:t>+55</a:t>
            </a:r>
          </a:p>
        </p:txBody>
      </p:sp>
      <p:sp>
        <p:nvSpPr>
          <p:cNvPr id="20" name="FMI Legend Chip"/>
          <p:cNvSpPr/>
          <p:nvPr/>
        </p:nvSpPr>
        <p:spPr>
          <a:xfrm>
            <a:off x="4551045" y="188388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187911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80291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Latin America</a:t>
            </a:r>
          </a:p>
        </p:txBody>
      </p:sp>
      <p:sp>
        <p:nvSpPr>
          <p:cNvPr id="23" name="BPS Value 2"/>
          <p:cNvSpPr txBox="1"/>
          <p:nvPr/>
        </p:nvSpPr>
        <p:spPr>
          <a:xfrm>
            <a:off x="6305550" y="1864832"/>
            <a:ext cx="514350" cy="123825"/>
          </a:xfrm>
          <a:prstGeom prst="rect">
            <a:avLst/>
          </a:prstGeom>
          <a:noFill/>
        </p:spPr>
        <p:txBody>
          <a:bodyPr wrap="none" lIns="0" rIns="0" tIns="0" bIns="0" anchor="ctr">
            <a:spAutoFit/>
          </a:bodyPr>
          <a:lstStyle/>
          <a:p>
            <a:pPr algn="r"/>
            <a:r>
              <a:rPr sz="900" b="1">
                <a:solidFill>
                  <a:srgbClr val="2E7D32"/>
                </a:solidFill>
                <a:latin typeface="Calibri"/>
              </a:rPr>
              <a:t>+79</a:t>
            </a:r>
          </a:p>
        </p:txBody>
      </p:sp>
      <p:sp>
        <p:nvSpPr>
          <p:cNvPr id="24" name="FMI Legend Chip"/>
          <p:cNvSpPr/>
          <p:nvPr/>
        </p:nvSpPr>
        <p:spPr>
          <a:xfrm>
            <a:off x="4551045" y="227746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2970" y="227270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19650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Asia &amp; Pacific</a:t>
            </a:r>
          </a:p>
        </p:txBody>
      </p:sp>
      <p:sp>
        <p:nvSpPr>
          <p:cNvPr id="27" name="BPS Value 3"/>
          <p:cNvSpPr txBox="1"/>
          <p:nvPr/>
        </p:nvSpPr>
        <p:spPr>
          <a:xfrm>
            <a:off x="6305550" y="2258419"/>
            <a:ext cx="514350" cy="123825"/>
          </a:xfrm>
          <a:prstGeom prst="rect">
            <a:avLst/>
          </a:prstGeom>
          <a:noFill/>
        </p:spPr>
        <p:txBody>
          <a:bodyPr wrap="none" lIns="0" rIns="0" tIns="0" bIns="0" anchor="ctr">
            <a:spAutoFit/>
          </a:bodyPr>
          <a:lstStyle/>
          <a:p>
            <a:pPr algn="r"/>
            <a:r>
              <a:rPr sz="900" b="1">
                <a:solidFill>
                  <a:srgbClr val="2E7D32"/>
                </a:solidFill>
                <a:latin typeface="Calibri"/>
              </a:rPr>
              <a:t>+130</a:t>
            </a:r>
          </a:p>
        </p:txBody>
      </p:sp>
      <p:sp>
        <p:nvSpPr>
          <p:cNvPr id="28" name="FMI Legend Chip"/>
          <p:cNvSpPr/>
          <p:nvPr/>
        </p:nvSpPr>
        <p:spPr>
          <a:xfrm>
            <a:off x="4551045" y="281094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4712970" y="280618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72998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Europe</a:t>
            </a:r>
          </a:p>
        </p:txBody>
      </p:sp>
      <p:sp>
        <p:nvSpPr>
          <p:cNvPr id="31" name="BPS Value 4"/>
          <p:cNvSpPr txBox="1"/>
          <p:nvPr/>
        </p:nvSpPr>
        <p:spPr>
          <a:xfrm>
            <a:off x="6305550" y="2791893"/>
            <a:ext cx="514350" cy="123825"/>
          </a:xfrm>
          <a:prstGeom prst="rect">
            <a:avLst/>
          </a:prstGeom>
          <a:noFill/>
        </p:spPr>
        <p:txBody>
          <a:bodyPr wrap="none" lIns="0" rIns="0" tIns="0" bIns="0" anchor="ctr">
            <a:spAutoFit/>
          </a:bodyPr>
          <a:lstStyle/>
          <a:p>
            <a:pPr algn="r"/>
            <a:r>
              <a:rPr sz="900" b="1">
                <a:solidFill>
                  <a:srgbClr val="E44D3A"/>
                </a:solidFill>
                <a:latin typeface="Calibri"/>
              </a:rPr>
              <a:t>-65</a:t>
            </a:r>
          </a:p>
        </p:txBody>
      </p:sp>
      <p:sp>
        <p:nvSpPr>
          <p:cNvPr id="32" name="FMI Legend Chip"/>
          <p:cNvSpPr/>
          <p:nvPr/>
        </p:nvSpPr>
        <p:spPr>
          <a:xfrm>
            <a:off x="4551045" y="358401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4712970" y="357924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50304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East Asia</a:t>
            </a:r>
          </a:p>
        </p:txBody>
      </p:sp>
      <p:sp>
        <p:nvSpPr>
          <p:cNvPr id="35" name="BPS Value 5"/>
          <p:cNvSpPr txBox="1"/>
          <p:nvPr/>
        </p:nvSpPr>
        <p:spPr>
          <a:xfrm>
            <a:off x="6305550" y="3564962"/>
            <a:ext cx="514350" cy="123825"/>
          </a:xfrm>
          <a:prstGeom prst="rect">
            <a:avLst/>
          </a:prstGeom>
          <a:noFill/>
        </p:spPr>
        <p:txBody>
          <a:bodyPr wrap="none" lIns="0" rIns="0" tIns="0" bIns="0" anchor="ctr">
            <a:spAutoFit/>
          </a:bodyPr>
          <a:lstStyle/>
          <a:p>
            <a:pPr algn="r"/>
            <a:r>
              <a:rPr sz="900" b="1">
                <a:solidFill>
                  <a:srgbClr val="E44D3A"/>
                </a:solidFill>
                <a:latin typeface="Calibri"/>
              </a:rPr>
              <a:t>-28</a:t>
            </a:r>
          </a:p>
        </p:txBody>
      </p:sp>
      <p:sp>
        <p:nvSpPr>
          <p:cNvPr id="36" name="FMI Legend Chip"/>
          <p:cNvSpPr/>
          <p:nvPr/>
        </p:nvSpPr>
        <p:spPr>
          <a:xfrm>
            <a:off x="4551045" y="458909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4712970" y="458432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450812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North America</a:t>
            </a:r>
          </a:p>
        </p:txBody>
      </p:sp>
      <p:sp>
        <p:nvSpPr>
          <p:cNvPr id="39" name="BPS Value 6"/>
          <p:cNvSpPr txBox="1"/>
          <p:nvPr/>
        </p:nvSpPr>
        <p:spPr>
          <a:xfrm>
            <a:off x="6305550" y="4570042"/>
            <a:ext cx="514350" cy="123825"/>
          </a:xfrm>
          <a:prstGeom prst="rect">
            <a:avLst/>
          </a:prstGeom>
          <a:noFill/>
        </p:spPr>
        <p:txBody>
          <a:bodyPr wrap="none" lIns="0" rIns="0" tIns="0" bIns="0" anchor="ctr">
            <a:spAutoFit/>
          </a:bodyPr>
          <a:lstStyle/>
          <a:p>
            <a:pPr algn="r"/>
            <a:r>
              <a:rPr sz="900" b="1">
                <a:solidFill>
                  <a:srgbClr val="E44D3A"/>
                </a:solidFill>
                <a:latin typeface="Calibri"/>
              </a:rPr>
              <a:t>-171</a:t>
            </a:r>
          </a:p>
        </p:txBody>
      </p:sp>
      <p:sp>
        <p:nvSpPr>
          <p:cNvPr id="40" name="Rounded Rectangle 39"/>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2" name="Rectangle 41"/>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North America hair styling products market is projected to register 1.2X higher value than East Asia in 2036. Among hair styling products by region, South Asia &amp; Pacific is expected to witness the highest CAGR of 7.9% over the forecast period.</a:t>
            </a:r>
          </a:p>
          <a:p>
            <a:pPr algn="l">
              <a:lnSpc>
                <a:spcPct val="110000"/>
              </a:lnSpc>
              <a:spcBef>
                <a:spcPts val="0"/>
              </a:spcBef>
              <a:spcAft>
                <a:spcPts val="500"/>
              </a:spcAft>
            </a:pPr>
            <a:r>
              <a:rPr sz="1150" b="0">
                <a:solidFill>
                  <a:srgbClr val="2E2E2E"/>
                </a:solidFill>
                <a:latin typeface="Calibri"/>
              </a:rPr>
              <a:t>In terms of value share by region, North America is expected to dominate the market, losing 171 BPS and accounting for 29.5% share by 2036.</a:t>
            </a:r>
          </a:p>
        </p:txBody>
      </p:sp>
      <p:sp>
        <p:nvSpPr>
          <p:cNvPr id="44" name="Rounded Rectangle 43"/>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16,106</a:t>
            </a:r>
          </a:p>
        </p:txBody>
      </p:sp>
      <p:sp>
        <p:nvSpPr>
          <p:cNvPr id="45" name="Rounded Rectangle 44"/>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30,687</a:t>
            </a:r>
          </a:p>
        </p:txBody>
      </p:sp>
      <p:sp>
        <p:nvSpPr>
          <p:cNvPr id="46" name="Rounded Rectangle 45"/>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6.7%</a:t>
            </a:r>
          </a:p>
        </p:txBody>
      </p:sp>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Share Analysis, By Region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region,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Size, By Region (Mn Units)</a:t>
            </a:r>
          </a:p>
        </p:txBody>
      </p:sp>
      <p:graphicFrame>
        <p:nvGraphicFramePr>
          <p:cNvPr id="13" name="Table 12"/>
          <p:cNvGraphicFramePr>
            <a:graphicFrameLocks noGrp="1"/>
          </p:cNvGraphicFramePr>
          <p:nvPr/>
        </p:nvGraphicFramePr>
        <p:xfrm>
          <a:off x="152400" y="1238250"/>
          <a:ext cx="11887195" cy="1724024"/>
        </p:xfrm>
        <a:graphic>
          <a:graphicData uri="http://schemas.openxmlformats.org/drawingml/2006/table">
            <a:tbl>
              <a:tblPr>
                <a:tableStyleId>{5C22544A-7EE6-4342-B048-85BDC9FD1C3A}</a:tableStyleId>
              </a:tblPr>
              <a:tblGrid>
                <a:gridCol w="1475375"/>
                <a:gridCol w="612460"/>
                <a:gridCol w="612460"/>
                <a:gridCol w="612460"/>
                <a:gridCol w="612460"/>
                <a:gridCol w="612460"/>
                <a:gridCol w="612460"/>
                <a:gridCol w="612460"/>
                <a:gridCol w="612460"/>
                <a:gridCol w="612460"/>
                <a:gridCol w="612460"/>
                <a:gridCol w="612460"/>
                <a:gridCol w="612460"/>
                <a:gridCol w="612460"/>
                <a:gridCol w="612460"/>
                <a:gridCol w="612460"/>
                <a:gridCol w="612460"/>
                <a:gridCol w="612460"/>
              </a:tblGrid>
              <a:tr h="215265">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Share Read-out, By Region</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East Asia hair styling products market is projected to register 1.3X higher volume than North America in 2036. Among hair styling products by region, South Asia &amp; Pacific is expected to witness the highest CAGR of 6.7% over the forecast period.</a:t>
            </a:r>
          </a:p>
          <a:p>
            <a:pPr algn="l">
              <a:lnSpc>
                <a:spcPct val="110000"/>
              </a:lnSpc>
              <a:spcBef>
                <a:spcPts val="0"/>
              </a:spcBef>
              <a:spcAft>
                <a:spcPts val="500"/>
              </a:spcAft>
            </a:pPr>
            <a:r>
              <a:rPr sz="1150" b="0">
                <a:solidFill>
                  <a:srgbClr val="2E2E2E"/>
                </a:solidFill>
                <a:latin typeface="Calibri"/>
              </a:rPr>
              <a:t>In terms of volume share by region, East Asia is expected to dominate the market, losing 70 BPS and accounting for 26.0% share by 2036. North America is expected to lose 188 BPS over the forecast period to account for 20.4%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Share Analysis, By Region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region,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Size, By Region (US$ Mn)</a:t>
            </a:r>
          </a:p>
        </p:txBody>
      </p:sp>
      <p:graphicFrame>
        <p:nvGraphicFramePr>
          <p:cNvPr id="13" name="Table 12"/>
          <p:cNvGraphicFramePr>
            <a:graphicFrameLocks noGrp="1"/>
          </p:cNvGraphicFramePr>
          <p:nvPr/>
        </p:nvGraphicFramePr>
        <p:xfrm>
          <a:off x="152400" y="1238250"/>
          <a:ext cx="11887195" cy="1724024"/>
        </p:xfrm>
        <a:graphic>
          <a:graphicData uri="http://schemas.openxmlformats.org/drawingml/2006/table">
            <a:tbl>
              <a:tblPr>
                <a:tableStyleId>{5C22544A-7EE6-4342-B048-85BDC9FD1C3A}</a:tableStyleId>
              </a:tblPr>
              <a:tblGrid>
                <a:gridCol w="1475375"/>
                <a:gridCol w="612460"/>
                <a:gridCol w="612460"/>
                <a:gridCol w="612460"/>
                <a:gridCol w="612460"/>
                <a:gridCol w="612460"/>
                <a:gridCol w="612460"/>
                <a:gridCol w="612460"/>
                <a:gridCol w="612460"/>
                <a:gridCol w="612460"/>
                <a:gridCol w="612460"/>
                <a:gridCol w="612460"/>
                <a:gridCol w="612460"/>
                <a:gridCol w="612460"/>
                <a:gridCol w="612460"/>
                <a:gridCol w="612460"/>
                <a:gridCol w="612460"/>
                <a:gridCol w="612460"/>
              </a:tblGrid>
              <a:tr h="215265">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Share Read-out, By Region</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North America hair styling products market is projected to register 1.2X higher value than East Asia in 2036. Among hair styling products by region, South Asia &amp; Pacific is expected to witness the highest CAGR of 7.9% over the forecast period.</a:t>
            </a:r>
          </a:p>
          <a:p>
            <a:pPr algn="l">
              <a:lnSpc>
                <a:spcPct val="110000"/>
              </a:lnSpc>
              <a:spcBef>
                <a:spcPts val="0"/>
              </a:spcBef>
              <a:spcAft>
                <a:spcPts val="500"/>
              </a:spcAft>
            </a:pPr>
            <a:r>
              <a:rPr sz="1150" b="0">
                <a:solidFill>
                  <a:srgbClr val="2E2E2E"/>
                </a:solidFill>
                <a:latin typeface="Calibri"/>
              </a:rPr>
              <a:t>In terms of value share by region, North America is expected to dominate the market, losing 171 BPS and accounting for 29.5%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Trends, By Region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regional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Region (Mn Units)</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MI Dense Legend"/>
          <p:cNvSpPr txBox="1"/>
          <p:nvPr/>
        </p:nvSpPr>
        <p:spPr>
          <a:xfrm>
            <a:off x="9839325" y="1362075"/>
            <a:ext cx="2057400" cy="171450"/>
          </a:xfrm>
          <a:prstGeom prst="rect">
            <a:avLst/>
          </a:prstGeom>
          <a:noFill/>
        </p:spPr>
        <p:txBody>
          <a:bodyPr wrap="none">
            <a:spAutoFit/>
          </a:bodyPr>
          <a:lstStyle/>
          <a:p>
            <a:r>
              <a:rPr sz="850" b="1">
                <a:solidFill>
                  <a:srgbClr val="6C7A89"/>
                </a:solidFill>
                <a:latin typeface="Calibri"/>
              </a:rPr>
              <a:t>By segment</a:t>
            </a: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East Asia</a:t>
            </a:r>
          </a:p>
          <a:p>
            <a:pPr>
              <a:spcBef>
                <a:spcPts val="500"/>
              </a:spcBef>
            </a:pPr>
            <a:r>
              <a:rPr sz="900">
                <a:solidFill>
                  <a:srgbClr val="9E7E0A"/>
                </a:solidFill>
                <a:latin typeface="Calibri"/>
              </a:rPr>
              <a:t>■  </a:t>
            </a:r>
            <a:r>
              <a:rPr sz="750">
                <a:solidFill>
                  <a:srgbClr val="2E2E2E"/>
                </a:solidFill>
                <a:latin typeface="Calibri"/>
              </a:rPr>
              <a:t>   North America</a:t>
            </a:r>
          </a:p>
          <a:p>
            <a:pPr>
              <a:spcBef>
                <a:spcPts val="500"/>
              </a:spcBef>
            </a:pPr>
            <a:r>
              <a:rPr sz="900">
                <a:solidFill>
                  <a:srgbClr val="40315E"/>
                </a:solidFill>
                <a:latin typeface="Calibri"/>
              </a:rPr>
              <a:t>■  </a:t>
            </a:r>
            <a:r>
              <a:rPr sz="750">
                <a:solidFill>
                  <a:srgbClr val="2E2E2E"/>
                </a:solidFill>
                <a:latin typeface="Calibri"/>
              </a:rPr>
              <a:t>   South Asia &amp; Pacific</a:t>
            </a:r>
          </a:p>
          <a:p>
            <a:pPr>
              <a:spcBef>
                <a:spcPts val="500"/>
              </a:spcBef>
            </a:pPr>
            <a:r>
              <a:rPr sz="900">
                <a:solidFill>
                  <a:srgbClr val="008189"/>
                </a:solidFill>
                <a:latin typeface="Calibri"/>
              </a:rPr>
              <a:t>■  </a:t>
            </a:r>
            <a:r>
              <a:rPr sz="750">
                <a:solidFill>
                  <a:srgbClr val="2E2E2E"/>
                </a:solidFill>
                <a:latin typeface="Calibri"/>
              </a:rPr>
              <a:t>   Europe</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Region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MI Dense Legend"/>
          <p:cNvSpPr txBox="1"/>
          <p:nvPr/>
        </p:nvSpPr>
        <p:spPr>
          <a:xfrm>
            <a:off x="9839325" y="4248150"/>
            <a:ext cx="2057400" cy="171450"/>
          </a:xfrm>
          <a:prstGeom prst="rect">
            <a:avLst/>
          </a:prstGeom>
          <a:noFill/>
        </p:spPr>
        <p:txBody>
          <a:bodyPr wrap="none">
            <a:spAutoFit/>
          </a:bodyPr>
          <a:lstStyle/>
          <a:p>
            <a:r>
              <a:rPr sz="850" b="1">
                <a:solidFill>
                  <a:srgbClr val="6C7A89"/>
                </a:solidFill>
                <a:latin typeface="Calibri"/>
              </a:rPr>
              <a:t>By segment</a:t>
            </a: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North America</a:t>
            </a:r>
          </a:p>
          <a:p>
            <a:pPr>
              <a:spcBef>
                <a:spcPts val="500"/>
              </a:spcBef>
            </a:pPr>
            <a:r>
              <a:rPr sz="900">
                <a:solidFill>
                  <a:srgbClr val="9E7E0A"/>
                </a:solidFill>
                <a:latin typeface="Calibri"/>
              </a:rPr>
              <a:t>■  </a:t>
            </a:r>
            <a:r>
              <a:rPr sz="750">
                <a:solidFill>
                  <a:srgbClr val="2E2E2E"/>
                </a:solidFill>
                <a:latin typeface="Calibri"/>
              </a:rPr>
              <a:t>   East Asia</a:t>
            </a:r>
          </a:p>
          <a:p>
            <a:pPr>
              <a:spcBef>
                <a:spcPts val="500"/>
              </a:spcBef>
            </a:pPr>
            <a:r>
              <a:rPr sz="900">
                <a:solidFill>
                  <a:srgbClr val="008189"/>
                </a:solidFill>
                <a:latin typeface="Calibri"/>
              </a:rPr>
              <a:t>■  </a:t>
            </a:r>
            <a:r>
              <a:rPr sz="750">
                <a:solidFill>
                  <a:srgbClr val="2E2E2E"/>
                </a:solidFill>
                <a:latin typeface="Calibri"/>
              </a:rPr>
              <a:t>   Europe</a:t>
            </a:r>
          </a:p>
          <a:p>
            <a:pPr>
              <a:spcBef>
                <a:spcPts val="500"/>
              </a:spcBef>
            </a:pPr>
            <a:r>
              <a:rPr sz="900">
                <a:solidFill>
                  <a:srgbClr val="40315E"/>
                </a:solidFill>
                <a:latin typeface="Calibri"/>
              </a:rPr>
              <a:t>■  </a:t>
            </a:r>
            <a:r>
              <a:rPr sz="750">
                <a:solidFill>
                  <a:srgbClr val="2E2E2E"/>
                </a:solidFill>
                <a:latin typeface="Calibri"/>
              </a:rPr>
              <a:t>   South Asia &amp; Pacific</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Top 10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global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by country  ·  2036 (US$ Mn)  ·  tile size = market value</a:t>
            </a:r>
          </a:p>
        </p:txBody>
      </p:sp>
      <p:sp>
        <p:nvSpPr>
          <p:cNvPr id="13" name="Rectangle 12"/>
          <p:cNvSpPr/>
          <p:nvPr/>
        </p:nvSpPr>
        <p:spPr>
          <a:xfrm>
            <a:off x="238125" y="1266825"/>
            <a:ext cx="4402866"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8,171</a:t>
            </a:r>
          </a:p>
        </p:txBody>
      </p:sp>
      <p:sp>
        <p:nvSpPr>
          <p:cNvPr id="14" name="Rectangle 13"/>
          <p:cNvSpPr/>
          <p:nvPr/>
        </p:nvSpPr>
        <p:spPr>
          <a:xfrm>
            <a:off x="4640991" y="1266825"/>
            <a:ext cx="3639514" cy="3125707"/>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3,979</a:t>
            </a:r>
          </a:p>
        </p:txBody>
      </p:sp>
      <p:sp>
        <p:nvSpPr>
          <p:cNvPr id="15" name="Rectangle 14"/>
          <p:cNvSpPr/>
          <p:nvPr/>
        </p:nvSpPr>
        <p:spPr>
          <a:xfrm>
            <a:off x="4640991" y="4392532"/>
            <a:ext cx="3639514" cy="2179718"/>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2,775</a:t>
            </a:r>
          </a:p>
        </p:txBody>
      </p:sp>
      <p:sp>
        <p:nvSpPr>
          <p:cNvPr id="16" name="Rectangle 15"/>
          <p:cNvSpPr/>
          <p:nvPr/>
        </p:nvSpPr>
        <p:spPr>
          <a:xfrm>
            <a:off x="8280505" y="1266825"/>
            <a:ext cx="2034373" cy="2075652"/>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1,477</a:t>
            </a:r>
          </a:p>
        </p:txBody>
      </p:sp>
      <p:sp>
        <p:nvSpPr>
          <p:cNvPr id="17" name="Rectangle 16"/>
          <p:cNvSpPr/>
          <p:nvPr/>
        </p:nvSpPr>
        <p:spPr>
          <a:xfrm>
            <a:off x="10314878" y="1266825"/>
            <a:ext cx="1638997" cy="2075652"/>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1,190</a:t>
            </a:r>
          </a:p>
        </p:txBody>
      </p:sp>
      <p:sp>
        <p:nvSpPr>
          <p:cNvPr id="18" name="Rectangle 17"/>
          <p:cNvSpPr/>
          <p:nvPr/>
        </p:nvSpPr>
        <p:spPr>
          <a:xfrm>
            <a:off x="8280505" y="3342477"/>
            <a:ext cx="1678094" cy="1750091"/>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South Korea</a:t>
            </a:r>
          </a:p>
          <a:p>
            <a:pPr algn="ctr"/>
            <a:r>
              <a:rPr sz="1100" b="0">
                <a:solidFill>
                  <a:srgbClr val="FFFFFF"/>
                </a:solidFill>
                <a:latin typeface="Calibri"/>
              </a:rPr>
              <a:t>1,027</a:t>
            </a:r>
          </a:p>
        </p:txBody>
      </p:sp>
      <p:sp>
        <p:nvSpPr>
          <p:cNvPr id="19" name="Rectangle 18"/>
          <p:cNvSpPr/>
          <p:nvPr/>
        </p:nvSpPr>
        <p:spPr>
          <a:xfrm>
            <a:off x="8280505" y="5092568"/>
            <a:ext cx="1678094" cy="1479682"/>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869</a:t>
            </a:r>
          </a:p>
        </p:txBody>
      </p:sp>
      <p:sp>
        <p:nvSpPr>
          <p:cNvPr id="20" name="Rectangle 19"/>
          <p:cNvSpPr/>
          <p:nvPr/>
        </p:nvSpPr>
        <p:spPr>
          <a:xfrm>
            <a:off x="9958599" y="3342477"/>
            <a:ext cx="1995276" cy="1166424"/>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814</a:t>
            </a:r>
          </a:p>
        </p:txBody>
      </p:sp>
      <p:sp>
        <p:nvSpPr>
          <p:cNvPr id="21" name="Rectangle 20"/>
          <p:cNvSpPr/>
          <p:nvPr/>
        </p:nvSpPr>
        <p:spPr>
          <a:xfrm>
            <a:off x="9958599" y="4508902"/>
            <a:ext cx="1995276" cy="1038338"/>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Australia</a:t>
            </a:r>
          </a:p>
          <a:p>
            <a:pPr algn="ctr"/>
            <a:r>
              <a:rPr sz="1100" b="0">
                <a:solidFill>
                  <a:srgbClr val="FFFFFF"/>
                </a:solidFill>
                <a:latin typeface="Calibri"/>
              </a:rPr>
              <a:t>725</a:t>
            </a:r>
          </a:p>
        </p:txBody>
      </p:sp>
      <p:sp>
        <p:nvSpPr>
          <p:cNvPr id="22" name="Rectangle 21"/>
          <p:cNvSpPr/>
          <p:nvPr/>
        </p:nvSpPr>
        <p:spPr>
          <a:xfrm>
            <a:off x="9958599" y="5547240"/>
            <a:ext cx="1995276" cy="1025010"/>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715</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9653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308225"/>
            <a:ext cx="8572500" cy="514350"/>
          </a:xfrm>
          <a:prstGeom prst="rect">
            <a:avLst/>
          </a:prstGeom>
          <a:noFill/>
        </p:spPr>
        <p:txBody>
          <a:bodyPr wrap="square" lIns="0" rIns="0" tIns="0">
            <a:spAutoFit/>
          </a:bodyPr>
          <a:lstStyle/>
          <a:p>
            <a:r>
              <a:rPr sz="3000" b="1">
                <a:solidFill>
                  <a:srgbClr val="0B3C8C"/>
                </a:solidFill>
                <a:latin typeface="Calibri"/>
              </a:rPr>
              <a:t>Global Market Analysis By Segments</a:t>
            </a:r>
          </a:p>
        </p:txBody>
      </p:sp>
      <p:sp>
        <p:nvSpPr>
          <p:cNvPr id="11" name="TextBox 10"/>
          <p:cNvSpPr txBox="1"/>
          <p:nvPr/>
        </p:nvSpPr>
        <p:spPr>
          <a:xfrm>
            <a:off x="914400" y="2994025"/>
            <a:ext cx="8458200" cy="28511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Serums and Oils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2,960</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6,019</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7.4%</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Clays, Pastes and Pomades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2,814</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5,168</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6.3%</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Sprays and Mists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2,129</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3,330</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4.6%</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Sticks and Balms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2,071</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4,598</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8.3%</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product format, sticks and balms segment is expected to witness the highest CAGR of 8.3% over the forecast period. In terms of value share by product format, the styling serums and oils segment is expected to dominate the market, gaining 124 BPS and accounting for 19.6% share by 2036.</a:t>
            </a:r>
          </a:p>
          <a:p>
            <a:pPr algn="l">
              <a:lnSpc>
                <a:spcPct val="110000"/>
              </a:lnSpc>
              <a:spcBef>
                <a:spcPts val="0"/>
              </a:spcBef>
              <a:spcAft>
                <a:spcPts val="500"/>
              </a:spcAft>
            </a:pPr>
            <a:r>
              <a:rPr sz="1100" b="0">
                <a:solidFill>
                  <a:srgbClr val="2E2E2E"/>
                </a:solidFill>
                <a:latin typeface="Calibri"/>
              </a:rPr>
              <a:t>Styling serums and oils segment is projected to register 1.2X higher value than waxes, clays, pastes and pomades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Styling Serums and Oils: </a:t>
            </a:r>
            <a:r>
              <a:rPr sz="1100" b="0">
                <a:solidFill>
                  <a:srgbClr val="2E2E2E"/>
                </a:solidFill>
                <a:latin typeface="Calibri"/>
              </a:rPr>
              <a:t>18% of 2026 value · 7.4%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Waxes, Clays, Pastes and Pomades: </a:t>
            </a:r>
            <a:r>
              <a:rPr sz="1100" b="0">
                <a:solidFill>
                  <a:srgbClr val="2E2E2E"/>
                </a:solidFill>
                <a:latin typeface="Calibri"/>
              </a:rPr>
              <a:t>17% of 2026 value · 6.3%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Sprays and Mists: </a:t>
            </a:r>
            <a:r>
              <a:rPr sz="1100" b="0">
                <a:solidFill>
                  <a:srgbClr val="2E2E2E"/>
                </a:solidFill>
                <a:latin typeface="Calibri"/>
              </a:rPr>
              <a:t>13% of 2026 value · 4.6%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Sticks and Balms: </a:t>
            </a:r>
            <a:r>
              <a:rPr sz="1100" b="0">
                <a:solidFill>
                  <a:srgbClr val="2E2E2E"/>
                </a:solidFill>
                <a:latin typeface="Calibri"/>
              </a:rPr>
              <a:t>13% of 2026 value · 8.3%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Format split shows how demand is distributed across product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Format segment is projected to grow at a CAGR of 6.7%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2414588"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2414588"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Creams and Lotions</a:t>
            </a:r>
          </a:p>
        </p:txBody>
      </p:sp>
      <p:sp>
        <p:nvSpPr>
          <p:cNvPr id="22" name="Rectangle 21"/>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1,894</a:t>
            </a:r>
          </a:p>
        </p:txBody>
      </p:sp>
      <p:sp>
        <p:nvSpPr>
          <p:cNvPr id="23" name="Rectangle 22"/>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3,753</a:t>
            </a:r>
          </a:p>
        </p:txBody>
      </p:sp>
      <p:sp>
        <p:nvSpPr>
          <p:cNvPr id="24" name="Rectangle 23"/>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7.1%</a:t>
            </a:r>
          </a:p>
        </p:txBody>
      </p:sp>
      <p:sp>
        <p:nvSpPr>
          <p:cNvPr id="25" name="Oval 24"/>
          <p:cNvSpPr/>
          <p:nvPr/>
        </p:nvSpPr>
        <p:spPr>
          <a:xfrm>
            <a:off x="291226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4395788" y="1773916"/>
            <a:ext cx="2414588"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4395788" y="1992961"/>
            <a:ext cx="2414588"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Powders</a:t>
            </a:r>
          </a:p>
        </p:txBody>
      </p:sp>
      <p:sp>
        <p:nvSpPr>
          <p:cNvPr id="29" name="Rectangle 28"/>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1,596</a:t>
            </a:r>
          </a:p>
        </p:txBody>
      </p:sp>
      <p:sp>
        <p:nvSpPr>
          <p:cNvPr id="30" name="Rectangle 29"/>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3,309</a:t>
            </a:r>
          </a:p>
        </p:txBody>
      </p:sp>
      <p:sp>
        <p:nvSpPr>
          <p:cNvPr id="31" name="Rectangle 30"/>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7.6%</a:t>
            </a:r>
          </a:p>
        </p:txBody>
      </p:sp>
      <p:sp>
        <p:nvSpPr>
          <p:cNvPr id="32" name="Oval 31"/>
          <p:cNvSpPr/>
          <p:nvPr/>
        </p:nvSpPr>
        <p:spPr>
          <a:xfrm>
            <a:off x="5441156"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6924675" y="1773916"/>
            <a:ext cx="2414588"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6924675" y="1992961"/>
            <a:ext cx="2414588"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Gels and Jellies</a:t>
            </a:r>
          </a:p>
        </p:txBody>
      </p:sp>
      <p:sp>
        <p:nvSpPr>
          <p:cNvPr id="36" name="Rectangle 35"/>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1,500</a:t>
            </a:r>
          </a:p>
        </p:txBody>
      </p:sp>
      <p:sp>
        <p:nvSpPr>
          <p:cNvPr id="37" name="Rectangle 36"/>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2,612</a:t>
            </a:r>
          </a:p>
        </p:txBody>
      </p:sp>
      <p:sp>
        <p:nvSpPr>
          <p:cNvPr id="38" name="Rectangle 37"/>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5.7%</a:t>
            </a:r>
          </a:p>
        </p:txBody>
      </p:sp>
      <p:sp>
        <p:nvSpPr>
          <p:cNvPr id="39" name="Oval 38"/>
          <p:cNvSpPr/>
          <p:nvPr/>
        </p:nvSpPr>
        <p:spPr>
          <a:xfrm>
            <a:off x="7970044"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9453562"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9453562"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Mousses and Foams</a:t>
            </a:r>
          </a:p>
        </p:txBody>
      </p:sp>
      <p:sp>
        <p:nvSpPr>
          <p:cNvPr id="43" name="Rectangle 42"/>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1,143</a:t>
            </a:r>
          </a:p>
        </p:txBody>
      </p:sp>
      <p:sp>
        <p:nvSpPr>
          <p:cNvPr id="44" name="Rectangle 43"/>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1,898</a:t>
            </a:r>
          </a:p>
        </p:txBody>
      </p:sp>
      <p:sp>
        <p:nvSpPr>
          <p:cNvPr id="45" name="Rectangle 44"/>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5.2%</a:t>
            </a:r>
          </a:p>
        </p:txBody>
      </p:sp>
      <p:sp>
        <p:nvSpPr>
          <p:cNvPr id="46" name="Oval 45"/>
          <p:cNvSpPr/>
          <p:nvPr/>
        </p:nvSpPr>
        <p:spPr>
          <a:xfrm>
            <a:off x="10498931"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47" name="Rounded Rectangle 46"/>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9" name="Rectangle 48"/>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Creams and Lotions: </a:t>
            </a:r>
            <a:r>
              <a:rPr sz="1100" b="0">
                <a:solidFill>
                  <a:srgbClr val="2E2E2E"/>
                </a:solidFill>
                <a:latin typeface="Calibri"/>
              </a:rPr>
              <a:t>12% of 2026 value · 7.1%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Styling Powders: </a:t>
            </a:r>
            <a:r>
              <a:rPr sz="1100" b="0">
                <a:solidFill>
                  <a:srgbClr val="2E2E2E"/>
                </a:solidFill>
                <a:latin typeface="Calibri"/>
              </a:rPr>
              <a:t>10% of 2026 value · 7.6%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Gels and Jellies: </a:t>
            </a:r>
            <a:r>
              <a:rPr sz="1100" b="0">
                <a:solidFill>
                  <a:srgbClr val="2E2E2E"/>
                </a:solidFill>
                <a:latin typeface="Calibri"/>
              </a:rPr>
              <a:t>9% of 2026 value · 5.7% CAGR serves a niche.</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Mousses and Foams: </a:t>
            </a:r>
            <a:r>
              <a:rPr sz="1100" b="0">
                <a:solidFill>
                  <a:srgbClr val="2E2E2E"/>
                </a:solidFill>
                <a:latin typeface="Calibri"/>
              </a:rPr>
              <a:t>7% of 2026 value · 5.2% CAGR serves a niche.</a:t>
            </a:r>
          </a:p>
        </p:txBody>
      </p:sp>
      <p:sp>
        <p:nvSpPr>
          <p:cNvPr id="51" name="TextBox 50"/>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Product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Format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Styling serums and oils followed by waxes, clays, pastes and pomades are expected to be the two most attractive product format segments in the global hair styling products market in terms of value over the forecast period. Styling serums and oils and waxes, clays, pastes and pomades exhibit a CAGR index of 110.5 and 94.1 and a market share index of 147.0 and 139.8 respectively, against the segment average of 100. The mousses and foams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Product Format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Sprays and Mists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Mousses and Foams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Gels and Jellies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Creams and Lotions</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Product Format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Waxes, Clays, Pastes and Pomades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Styling Powders</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Styling Serums and Oils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Sticks and Balms</a:t>
            </a:r>
          </a:p>
        </p:txBody>
      </p:sp>
      <p:graphicFrame>
        <p:nvGraphicFramePr>
          <p:cNvPr id="21" name="Chart 20"/>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Product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Product Format (US$ Mn)</a:t>
            </a:r>
          </a:p>
        </p:txBody>
      </p:sp>
      <p:graphicFrame>
        <p:nvGraphicFramePr>
          <p:cNvPr id="13" name="Table 12"/>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248275"/>
            <a:ext cx="11906250" cy="1381125"/>
          </a:xfrm>
          <a:prstGeom prst="roundRect">
            <a:avLst>
              <a:gd name="adj" fmla="val 55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3340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Product Format</a:t>
            </a:r>
          </a:p>
        </p:txBody>
      </p:sp>
      <p:sp>
        <p:nvSpPr>
          <p:cNvPr id="17" name="Rectangle 16"/>
          <p:cNvSpPr/>
          <p:nvPr/>
        </p:nvSpPr>
        <p:spPr>
          <a:xfrm>
            <a:off x="276225" y="55721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657850"/>
            <a:ext cx="11639550" cy="8953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Styling serums and oils segment is projected to register 1.2X higher value than waxes, clays, pastes and pomades segment in 2036. Among hair styling products by product format, sticks and balms segment is expected to witness the highest CAGR of 8.3% over the forecast period.</a:t>
            </a:r>
          </a:p>
          <a:p>
            <a:pPr algn="l">
              <a:lnSpc>
                <a:spcPct val="110000"/>
              </a:lnSpc>
              <a:spcBef>
                <a:spcPts val="0"/>
              </a:spcBef>
              <a:spcAft>
                <a:spcPts val="500"/>
              </a:spcAft>
            </a:pPr>
            <a:r>
              <a:rPr sz="1100" b="0">
                <a:solidFill>
                  <a:srgbClr val="2E2E2E"/>
                </a:solidFill>
                <a:latin typeface="Calibri"/>
              </a:rPr>
              <a:t>In terms of value share by product format, the styling serums and oils segment is expected to dominate the market, gaining 124 BPS and accounting for 19.6% share by 2036. The sprays and mists segment is expected to lose 236 BPS over the forecast period to account for 10.9%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Product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12651"/>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0788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3168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Mousses and Foams</a:t>
            </a:r>
          </a:p>
        </p:txBody>
      </p:sp>
      <p:sp>
        <p:nvSpPr>
          <p:cNvPr id="19" name="BPS Value 1"/>
          <p:cNvSpPr txBox="1"/>
          <p:nvPr/>
        </p:nvSpPr>
        <p:spPr>
          <a:xfrm>
            <a:off x="6896100" y="1793601"/>
            <a:ext cx="514350" cy="123825"/>
          </a:xfrm>
          <a:prstGeom prst="rect">
            <a:avLst/>
          </a:prstGeom>
          <a:noFill/>
        </p:spPr>
        <p:txBody>
          <a:bodyPr wrap="none" lIns="0" rIns="0" tIns="0" bIns="0" anchor="ctr">
            <a:spAutoFit/>
          </a:bodyPr>
          <a:lstStyle/>
          <a:p>
            <a:pPr algn="r"/>
            <a:r>
              <a:rPr sz="900" b="1">
                <a:solidFill>
                  <a:srgbClr val="E44D3A"/>
                </a:solidFill>
                <a:latin typeface="Calibri"/>
              </a:rPr>
              <a:t>-91</a:t>
            </a:r>
          </a:p>
        </p:txBody>
      </p:sp>
      <p:sp>
        <p:nvSpPr>
          <p:cNvPr id="20" name="FMI Legend Chip"/>
          <p:cNvSpPr/>
          <p:nvPr/>
        </p:nvSpPr>
        <p:spPr>
          <a:xfrm>
            <a:off x="4928997" y="2148612"/>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14384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6764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Gels and Jellies</a:t>
            </a:r>
          </a:p>
        </p:txBody>
      </p:sp>
      <p:sp>
        <p:nvSpPr>
          <p:cNvPr id="23" name="BPS Value 2"/>
          <p:cNvSpPr txBox="1"/>
          <p:nvPr/>
        </p:nvSpPr>
        <p:spPr>
          <a:xfrm>
            <a:off x="6896100" y="2129562"/>
            <a:ext cx="514350" cy="123825"/>
          </a:xfrm>
          <a:prstGeom prst="rect">
            <a:avLst/>
          </a:prstGeom>
          <a:noFill/>
        </p:spPr>
        <p:txBody>
          <a:bodyPr wrap="none" lIns="0" rIns="0" tIns="0" bIns="0" anchor="ctr">
            <a:spAutoFit/>
          </a:bodyPr>
          <a:lstStyle/>
          <a:p>
            <a:pPr algn="r"/>
            <a:r>
              <a:rPr sz="900" b="1">
                <a:solidFill>
                  <a:srgbClr val="E44D3A"/>
                </a:solidFill>
                <a:latin typeface="Calibri"/>
              </a:rPr>
              <a:t>-80</a:t>
            </a:r>
          </a:p>
        </p:txBody>
      </p:sp>
      <p:sp>
        <p:nvSpPr>
          <p:cNvPr id="24" name="FMI Legend Chip"/>
          <p:cNvSpPr/>
          <p:nvPr/>
        </p:nvSpPr>
        <p:spPr>
          <a:xfrm>
            <a:off x="4928997" y="258968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258491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50871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Powders</a:t>
            </a:r>
          </a:p>
        </p:txBody>
      </p:sp>
      <p:sp>
        <p:nvSpPr>
          <p:cNvPr id="27" name="BPS Value 3"/>
          <p:cNvSpPr txBox="1"/>
          <p:nvPr/>
        </p:nvSpPr>
        <p:spPr>
          <a:xfrm>
            <a:off x="6896100" y="2570632"/>
            <a:ext cx="514350" cy="123825"/>
          </a:xfrm>
          <a:prstGeom prst="rect">
            <a:avLst/>
          </a:prstGeom>
          <a:noFill/>
        </p:spPr>
        <p:txBody>
          <a:bodyPr wrap="none" lIns="0" rIns="0" tIns="0" bIns="0" anchor="ctr">
            <a:spAutoFit/>
          </a:bodyPr>
          <a:lstStyle/>
          <a:p>
            <a:pPr algn="r"/>
            <a:r>
              <a:rPr sz="900" b="1">
                <a:solidFill>
                  <a:srgbClr val="2E7D32"/>
                </a:solidFill>
                <a:latin typeface="Calibri"/>
              </a:rPr>
              <a:t>+87</a:t>
            </a:r>
          </a:p>
        </p:txBody>
      </p:sp>
      <p:sp>
        <p:nvSpPr>
          <p:cNvPr id="28" name="FMI Legend Chip"/>
          <p:cNvSpPr/>
          <p:nvPr/>
        </p:nvSpPr>
        <p:spPr>
          <a:xfrm>
            <a:off x="4928997" y="3084290"/>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07952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00332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Sprays and Mists</a:t>
            </a:r>
          </a:p>
        </p:txBody>
      </p:sp>
      <p:sp>
        <p:nvSpPr>
          <p:cNvPr id="31" name="BPS Value 4"/>
          <p:cNvSpPr txBox="1"/>
          <p:nvPr/>
        </p:nvSpPr>
        <p:spPr>
          <a:xfrm>
            <a:off x="6896100" y="3065240"/>
            <a:ext cx="514350" cy="123825"/>
          </a:xfrm>
          <a:prstGeom prst="rect">
            <a:avLst/>
          </a:prstGeom>
          <a:noFill/>
        </p:spPr>
        <p:txBody>
          <a:bodyPr wrap="none" lIns="0" rIns="0" tIns="0" bIns="0" anchor="ctr">
            <a:spAutoFit/>
          </a:bodyPr>
          <a:lstStyle/>
          <a:p>
            <a:pPr algn="r"/>
            <a:r>
              <a:rPr sz="900" b="1">
                <a:solidFill>
                  <a:srgbClr val="E44D3A"/>
                </a:solidFill>
                <a:latin typeface="Calibri"/>
              </a:rPr>
              <a:t>-236</a:t>
            </a:r>
          </a:p>
        </p:txBody>
      </p:sp>
      <p:sp>
        <p:nvSpPr>
          <p:cNvPr id="32" name="FMI Legend Chip"/>
          <p:cNvSpPr/>
          <p:nvPr/>
        </p:nvSpPr>
        <p:spPr>
          <a:xfrm>
            <a:off x="4928997" y="3611987"/>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360722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53102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Creams and Lotions</a:t>
            </a:r>
          </a:p>
        </p:txBody>
      </p:sp>
      <p:sp>
        <p:nvSpPr>
          <p:cNvPr id="35" name="BPS Value 5"/>
          <p:cNvSpPr txBox="1"/>
          <p:nvPr/>
        </p:nvSpPr>
        <p:spPr>
          <a:xfrm>
            <a:off x="6896100" y="3592937"/>
            <a:ext cx="514350" cy="123825"/>
          </a:xfrm>
          <a:prstGeom prst="rect">
            <a:avLst/>
          </a:prstGeom>
          <a:noFill/>
        </p:spPr>
        <p:txBody>
          <a:bodyPr wrap="none" lIns="0" rIns="0" tIns="0" bIns="0" anchor="ctr">
            <a:spAutoFit/>
          </a:bodyPr>
          <a:lstStyle/>
          <a:p>
            <a:pPr algn="r"/>
            <a:r>
              <a:rPr sz="900" b="1">
                <a:solidFill>
                  <a:srgbClr val="2E7D32"/>
                </a:solidFill>
                <a:latin typeface="Calibri"/>
              </a:rPr>
              <a:t>+47</a:t>
            </a:r>
          </a:p>
        </p:txBody>
      </p:sp>
      <p:sp>
        <p:nvSpPr>
          <p:cNvPr id="36" name="FMI Legend Chip"/>
          <p:cNvSpPr/>
          <p:nvPr/>
        </p:nvSpPr>
        <p:spPr>
          <a:xfrm>
            <a:off x="4928997" y="423415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422939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15319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Sticks and Balms</a:t>
            </a:r>
          </a:p>
        </p:txBody>
      </p:sp>
      <p:sp>
        <p:nvSpPr>
          <p:cNvPr id="39" name="BPS Value 6"/>
          <p:cNvSpPr txBox="1"/>
          <p:nvPr/>
        </p:nvSpPr>
        <p:spPr>
          <a:xfrm>
            <a:off x="6896100" y="4215106"/>
            <a:ext cx="514350" cy="123825"/>
          </a:xfrm>
          <a:prstGeom prst="rect">
            <a:avLst/>
          </a:prstGeom>
          <a:noFill/>
        </p:spPr>
        <p:txBody>
          <a:bodyPr wrap="none" lIns="0" rIns="0" tIns="0" bIns="0" anchor="ctr">
            <a:spAutoFit/>
          </a:bodyPr>
          <a:lstStyle/>
          <a:p>
            <a:pPr algn="r"/>
            <a:r>
              <a:rPr sz="900" b="1">
                <a:solidFill>
                  <a:srgbClr val="2E7D32"/>
                </a:solidFill>
                <a:latin typeface="Calibri"/>
              </a:rPr>
              <a:t>+213</a:t>
            </a:r>
          </a:p>
        </p:txBody>
      </p:sp>
      <p:sp>
        <p:nvSpPr>
          <p:cNvPr id="40" name="FMI Legend Chip"/>
          <p:cNvSpPr/>
          <p:nvPr/>
        </p:nvSpPr>
        <p:spPr>
          <a:xfrm>
            <a:off x="4928997" y="496176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0922" y="495699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488079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Clays, Pastes and Pomades</a:t>
            </a:r>
          </a:p>
        </p:txBody>
      </p:sp>
      <p:sp>
        <p:nvSpPr>
          <p:cNvPr id="43" name="BPS Value 7"/>
          <p:cNvSpPr txBox="1"/>
          <p:nvPr/>
        </p:nvSpPr>
        <p:spPr>
          <a:xfrm>
            <a:off x="6896100" y="4942710"/>
            <a:ext cx="514350" cy="123825"/>
          </a:xfrm>
          <a:prstGeom prst="rect">
            <a:avLst/>
          </a:prstGeom>
          <a:noFill/>
        </p:spPr>
        <p:txBody>
          <a:bodyPr wrap="none" lIns="0" rIns="0" tIns="0" bIns="0" anchor="ctr">
            <a:spAutoFit/>
          </a:bodyPr>
          <a:lstStyle/>
          <a:p>
            <a:pPr algn="r"/>
            <a:r>
              <a:rPr sz="900" b="1">
                <a:solidFill>
                  <a:srgbClr val="E44D3A"/>
                </a:solidFill>
                <a:latin typeface="Calibri"/>
              </a:rPr>
              <a:t>-63</a:t>
            </a:r>
          </a:p>
        </p:txBody>
      </p:sp>
      <p:sp>
        <p:nvSpPr>
          <p:cNvPr id="44" name="FMI Legend Chip"/>
          <p:cNvSpPr/>
          <p:nvPr/>
        </p:nvSpPr>
        <p:spPr>
          <a:xfrm>
            <a:off x="4928997" y="579521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a:off x="5090922" y="579045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571425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Serums and Oils</a:t>
            </a:r>
          </a:p>
        </p:txBody>
      </p:sp>
      <p:sp>
        <p:nvSpPr>
          <p:cNvPr id="47" name="BPS Value 8"/>
          <p:cNvSpPr txBox="1"/>
          <p:nvPr/>
        </p:nvSpPr>
        <p:spPr>
          <a:xfrm>
            <a:off x="6896100" y="5776163"/>
            <a:ext cx="514350" cy="123825"/>
          </a:xfrm>
          <a:prstGeom prst="rect">
            <a:avLst/>
          </a:prstGeom>
          <a:noFill/>
        </p:spPr>
        <p:txBody>
          <a:bodyPr wrap="none" lIns="0" rIns="0" tIns="0" bIns="0" anchor="ctr">
            <a:spAutoFit/>
          </a:bodyPr>
          <a:lstStyle/>
          <a:p>
            <a:pPr algn="r"/>
            <a:r>
              <a:rPr sz="900" b="1">
                <a:solidFill>
                  <a:srgbClr val="2E7D32"/>
                </a:solidFill>
                <a:latin typeface="Calibri"/>
              </a:rPr>
              <a:t>+124</a:t>
            </a:r>
          </a:p>
        </p:txBody>
      </p:sp>
      <p:sp>
        <p:nvSpPr>
          <p:cNvPr id="48" name="Rounded Rectangle 4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Product Format</a:t>
            </a:r>
          </a:p>
        </p:txBody>
      </p:sp>
      <p:sp>
        <p:nvSpPr>
          <p:cNvPr id="50" name="Rectangle 4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product format, sticks and balms segment is expected to witness the highest CAGR of 8.3% over the forecast period. In terms of value share by product format, the styling serums and oils segment is expected to dominate the market, gaining 124 BPS and accounting for 19.6% share by 2036.</a:t>
            </a:r>
          </a:p>
          <a:p>
            <a:pPr algn="l">
              <a:lnSpc>
                <a:spcPct val="110000"/>
              </a:lnSpc>
              <a:spcBef>
                <a:spcPts val="0"/>
              </a:spcBef>
              <a:spcAft>
                <a:spcPts val="500"/>
              </a:spcAft>
            </a:pPr>
            <a:r>
              <a:rPr sz="1150" b="0">
                <a:solidFill>
                  <a:srgbClr val="2E2E2E"/>
                </a:solidFill>
                <a:latin typeface="Calibri"/>
              </a:rPr>
              <a:t>The sprays and mists segment is expected to lose 236 BPS over the forecast period to account for 10.9% share by 2036.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Product Format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Product Format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Product Format (%)  ·  light = lower, dark = higher growth</a:t>
            </a:r>
          </a:p>
        </p:txBody>
      </p:sp>
      <p:sp>
        <p:nvSpPr>
          <p:cNvPr id="12" name="TextBox 11"/>
          <p:cNvSpPr txBox="1"/>
          <p:nvPr/>
        </p:nvSpPr>
        <p:spPr>
          <a:xfrm>
            <a:off x="181886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4653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1178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5823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04695"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511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697610"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44067"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69905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36982"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83439"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2989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763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281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6926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Sprays and Mists</a:t>
            </a:r>
          </a:p>
        </p:txBody>
      </p:sp>
      <p:sp>
        <p:nvSpPr>
          <p:cNvPr id="28" name="Rectangle 27"/>
          <p:cNvSpPr/>
          <p:nvPr/>
        </p:nvSpPr>
        <p:spPr>
          <a:xfrm>
            <a:off x="1818866" y="1409700"/>
            <a:ext cx="646457" cy="344170"/>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465324" y="1409700"/>
            <a:ext cx="646457" cy="344170"/>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11781" y="1409700"/>
            <a:ext cx="646457" cy="344170"/>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58238" y="1409700"/>
            <a:ext cx="646457" cy="344170"/>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04695" y="1409700"/>
            <a:ext cx="646457" cy="344170"/>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51153" y="140970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697610" y="1409700"/>
            <a:ext cx="646457" cy="344170"/>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44067" y="1409700"/>
            <a:ext cx="646457" cy="34417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6990524" y="1409700"/>
            <a:ext cx="646457" cy="344170"/>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36982" y="1409700"/>
            <a:ext cx="646457" cy="34417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83439" y="1409700"/>
            <a:ext cx="646457" cy="34417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29896" y="1409700"/>
            <a:ext cx="646457" cy="34417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76353" y="1409700"/>
            <a:ext cx="646457" cy="34417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2811" y="1409700"/>
            <a:ext cx="646457" cy="344170"/>
          </a:xfrm>
          <a:prstGeom prst="rect">
            <a:avLst/>
          </a:prstGeom>
          <a:solidFill>
            <a:srgbClr val="A3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69268" y="140970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538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Hairsprays</a:t>
            </a:r>
          </a:p>
        </p:txBody>
      </p:sp>
      <p:sp>
        <p:nvSpPr>
          <p:cNvPr id="44" name="Rectangle 43"/>
          <p:cNvSpPr/>
          <p:nvPr/>
        </p:nvSpPr>
        <p:spPr>
          <a:xfrm>
            <a:off x="1818866" y="1753870"/>
            <a:ext cx="646457" cy="34417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465324" y="175387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11781" y="1753870"/>
            <a:ext cx="646457" cy="34417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58238" y="1753870"/>
            <a:ext cx="646457" cy="344170"/>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04695" y="1753870"/>
            <a:ext cx="646457" cy="344170"/>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51153" y="1753870"/>
            <a:ext cx="646457" cy="344170"/>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697610" y="1753870"/>
            <a:ext cx="646457" cy="344170"/>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44067" y="1753870"/>
            <a:ext cx="646457" cy="34417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6990524" y="1753870"/>
            <a:ext cx="646457" cy="34417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36982" y="1753870"/>
            <a:ext cx="646457" cy="34417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83439" y="1753870"/>
            <a:ext cx="646457" cy="344170"/>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29896" y="1753870"/>
            <a:ext cx="646457" cy="34417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76353" y="1753870"/>
            <a:ext cx="646457" cy="344170"/>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2811" y="1753870"/>
            <a:ext cx="646457" cy="34417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69268" y="1753870"/>
            <a:ext cx="646457" cy="344170"/>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980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Hairsprays</a:t>
            </a:r>
          </a:p>
        </p:txBody>
      </p:sp>
      <p:sp>
        <p:nvSpPr>
          <p:cNvPr id="60" name="Rectangle 59"/>
          <p:cNvSpPr/>
          <p:nvPr/>
        </p:nvSpPr>
        <p:spPr>
          <a:xfrm>
            <a:off x="1818866" y="2098040"/>
            <a:ext cx="646457" cy="34417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465324" y="2098040"/>
            <a:ext cx="646457" cy="344170"/>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11781" y="2098040"/>
            <a:ext cx="646457" cy="344170"/>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58238" y="2098040"/>
            <a:ext cx="646457" cy="34417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04695" y="2098040"/>
            <a:ext cx="646457" cy="344170"/>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51153" y="2098040"/>
            <a:ext cx="646457" cy="344170"/>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697610" y="2098040"/>
            <a:ext cx="646457" cy="344170"/>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44067" y="209804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6990524" y="2098040"/>
            <a:ext cx="646457" cy="344170"/>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36982" y="2098040"/>
            <a:ext cx="646457" cy="344170"/>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83439" y="209804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29896" y="2098040"/>
            <a:ext cx="646457" cy="344170"/>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76353" y="2098040"/>
            <a:ext cx="646457" cy="344170"/>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2811" y="2098040"/>
            <a:ext cx="646457" cy="344170"/>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69268" y="209804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4422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Texturizing Sprays</a:t>
            </a:r>
          </a:p>
        </p:txBody>
      </p:sp>
      <p:sp>
        <p:nvSpPr>
          <p:cNvPr id="76" name="Rectangle 75"/>
          <p:cNvSpPr/>
          <p:nvPr/>
        </p:nvSpPr>
        <p:spPr>
          <a:xfrm>
            <a:off x="1818866" y="2442210"/>
            <a:ext cx="646457" cy="34417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465324" y="244221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11781" y="2442210"/>
            <a:ext cx="646457" cy="344170"/>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58238" y="2442210"/>
            <a:ext cx="646457" cy="344170"/>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04695" y="2442210"/>
            <a:ext cx="646457" cy="344170"/>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51153" y="244221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697610" y="2442210"/>
            <a:ext cx="646457" cy="344170"/>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44067" y="244221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6990524" y="2442210"/>
            <a:ext cx="646457" cy="344170"/>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36982" y="244221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83439" y="244221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29896" y="244221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76353" y="2442210"/>
            <a:ext cx="646457" cy="34417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2811" y="2442210"/>
            <a:ext cx="646457" cy="34417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69268" y="244221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863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Sea-salt Sprays</a:t>
            </a:r>
          </a:p>
        </p:txBody>
      </p:sp>
      <p:sp>
        <p:nvSpPr>
          <p:cNvPr id="92" name="Rectangle 91"/>
          <p:cNvSpPr/>
          <p:nvPr/>
        </p:nvSpPr>
        <p:spPr>
          <a:xfrm>
            <a:off x="1818866" y="2786380"/>
            <a:ext cx="646457" cy="344170"/>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465324" y="2786380"/>
            <a:ext cx="646457" cy="34417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11781" y="2786380"/>
            <a:ext cx="646457" cy="34417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58238" y="2786380"/>
            <a:ext cx="646457" cy="34417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04695" y="2786380"/>
            <a:ext cx="646457" cy="344170"/>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51153" y="2786380"/>
            <a:ext cx="646457" cy="344170"/>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697610" y="2786380"/>
            <a:ext cx="646457" cy="344170"/>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44067" y="2786380"/>
            <a:ext cx="646457" cy="344170"/>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6990524" y="2786380"/>
            <a:ext cx="646457" cy="344170"/>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36982" y="2786380"/>
            <a:ext cx="646457" cy="344170"/>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83439" y="2786380"/>
            <a:ext cx="646457" cy="344170"/>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29896" y="2786380"/>
            <a:ext cx="646457" cy="344170"/>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76353" y="2786380"/>
            <a:ext cx="646457" cy="344170"/>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2811" y="2786380"/>
            <a:ext cx="646457" cy="344170"/>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69268" y="2786380"/>
            <a:ext cx="646457" cy="344170"/>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13055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Volumizing Sprays</a:t>
            </a:r>
          </a:p>
        </p:txBody>
      </p:sp>
      <p:sp>
        <p:nvSpPr>
          <p:cNvPr id="108" name="Rectangle 107"/>
          <p:cNvSpPr/>
          <p:nvPr/>
        </p:nvSpPr>
        <p:spPr>
          <a:xfrm>
            <a:off x="1818866" y="3130550"/>
            <a:ext cx="646457" cy="344170"/>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465324" y="3130550"/>
            <a:ext cx="646457" cy="34417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11781" y="3130550"/>
            <a:ext cx="646457" cy="34417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58238" y="3130550"/>
            <a:ext cx="646457" cy="34417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04695" y="3130550"/>
            <a:ext cx="646457" cy="34417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51153" y="3130550"/>
            <a:ext cx="646457" cy="344170"/>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697610" y="3130550"/>
            <a:ext cx="646457" cy="34417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44067" y="313055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6990524" y="3130550"/>
            <a:ext cx="646457" cy="34417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36982" y="3130550"/>
            <a:ext cx="646457" cy="344170"/>
          </a:xfrm>
          <a:prstGeom prst="rect">
            <a:avLst/>
          </a:prstGeom>
          <a:solidFill>
            <a:srgbClr val="BAD4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83439" y="3130550"/>
            <a:ext cx="646457" cy="34417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29896" y="3130550"/>
            <a:ext cx="646457" cy="34417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76353" y="313055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2811" y="313055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69268" y="3130550"/>
            <a:ext cx="646457" cy="344170"/>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47472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Mousses and Foams</a:t>
            </a:r>
          </a:p>
        </p:txBody>
      </p:sp>
      <p:sp>
        <p:nvSpPr>
          <p:cNvPr id="124" name="Rectangle 123"/>
          <p:cNvSpPr/>
          <p:nvPr/>
        </p:nvSpPr>
        <p:spPr>
          <a:xfrm>
            <a:off x="1818866" y="347472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465324" y="347472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11781" y="3474720"/>
            <a:ext cx="646457" cy="344170"/>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58238" y="3474720"/>
            <a:ext cx="646457" cy="344170"/>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04695" y="3474720"/>
            <a:ext cx="646457" cy="34417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51153" y="3474720"/>
            <a:ext cx="646457" cy="344170"/>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697610" y="3474720"/>
            <a:ext cx="646457" cy="34417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44067" y="347472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6990524" y="347472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36982" y="347472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83439" y="3474720"/>
            <a:ext cx="646457" cy="34417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29896" y="3474720"/>
            <a:ext cx="646457" cy="34417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76353" y="3474720"/>
            <a:ext cx="646457" cy="344170"/>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2811" y="3474720"/>
            <a:ext cx="646457" cy="344170"/>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69268" y="3474720"/>
            <a:ext cx="646457" cy="344170"/>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81889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Mousses</a:t>
            </a:r>
          </a:p>
        </p:txBody>
      </p:sp>
      <p:sp>
        <p:nvSpPr>
          <p:cNvPr id="140" name="Rectangle 139"/>
          <p:cNvSpPr/>
          <p:nvPr/>
        </p:nvSpPr>
        <p:spPr>
          <a:xfrm>
            <a:off x="1818866" y="3818890"/>
            <a:ext cx="646457" cy="344170"/>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465324" y="3818890"/>
            <a:ext cx="646457" cy="344170"/>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11781" y="381889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58238" y="3818890"/>
            <a:ext cx="646457" cy="34417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04695" y="381889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51153" y="3818890"/>
            <a:ext cx="646457" cy="344170"/>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697610" y="3818890"/>
            <a:ext cx="646457" cy="34417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44067" y="381889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6990524" y="3818890"/>
            <a:ext cx="646457" cy="344170"/>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36982" y="381889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83439" y="381889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29896" y="381889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76353" y="3818890"/>
            <a:ext cx="646457" cy="344170"/>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2811" y="3818890"/>
            <a:ext cx="646457" cy="344170"/>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69268" y="381889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16306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Foams</a:t>
            </a:r>
          </a:p>
        </p:txBody>
      </p:sp>
      <p:sp>
        <p:nvSpPr>
          <p:cNvPr id="156" name="Rectangle 155"/>
          <p:cNvSpPr/>
          <p:nvPr/>
        </p:nvSpPr>
        <p:spPr>
          <a:xfrm>
            <a:off x="1818866" y="4163060"/>
            <a:ext cx="646457" cy="34417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465324" y="416306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11781" y="4163060"/>
            <a:ext cx="646457" cy="344170"/>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58238" y="4163060"/>
            <a:ext cx="646457" cy="344170"/>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04695" y="4163060"/>
            <a:ext cx="646457" cy="344170"/>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51153" y="416306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697610" y="4163060"/>
            <a:ext cx="646457" cy="344170"/>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44067" y="4163060"/>
            <a:ext cx="646457" cy="344170"/>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6990524" y="4163060"/>
            <a:ext cx="646457" cy="34417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36982" y="416306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83439" y="4163060"/>
            <a:ext cx="646457" cy="344170"/>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29896" y="4163060"/>
            <a:ext cx="646457" cy="344170"/>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76353" y="4163060"/>
            <a:ext cx="646457" cy="344170"/>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2811" y="4163060"/>
            <a:ext cx="646457" cy="344170"/>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69268" y="4163060"/>
            <a:ext cx="646457" cy="344170"/>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50723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Gels and Jellies</a:t>
            </a:r>
          </a:p>
        </p:txBody>
      </p:sp>
      <p:sp>
        <p:nvSpPr>
          <p:cNvPr id="172" name="Rectangle 171"/>
          <p:cNvSpPr/>
          <p:nvPr/>
        </p:nvSpPr>
        <p:spPr>
          <a:xfrm>
            <a:off x="1818866" y="4507230"/>
            <a:ext cx="646457" cy="344170"/>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465324" y="4507230"/>
            <a:ext cx="646457" cy="344170"/>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11781" y="4507230"/>
            <a:ext cx="646457" cy="344170"/>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58238" y="4507230"/>
            <a:ext cx="646457" cy="344170"/>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04695" y="450723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51153" y="450723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697610" y="4507230"/>
            <a:ext cx="646457" cy="344170"/>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44067" y="4507230"/>
            <a:ext cx="646457" cy="344170"/>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6990524" y="4507230"/>
            <a:ext cx="646457" cy="344170"/>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36982" y="4507230"/>
            <a:ext cx="646457" cy="344170"/>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83439" y="4507230"/>
            <a:ext cx="646457" cy="344170"/>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29896" y="4507230"/>
            <a:ext cx="646457" cy="344170"/>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76353" y="4507230"/>
            <a:ext cx="646457" cy="344170"/>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2811" y="4507230"/>
            <a:ext cx="646457" cy="344170"/>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69268" y="4507230"/>
            <a:ext cx="646457" cy="344170"/>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8514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Creams and Lotions</a:t>
            </a:r>
          </a:p>
        </p:txBody>
      </p:sp>
      <p:sp>
        <p:nvSpPr>
          <p:cNvPr id="188" name="Rectangle 187"/>
          <p:cNvSpPr/>
          <p:nvPr/>
        </p:nvSpPr>
        <p:spPr>
          <a:xfrm>
            <a:off x="1818866" y="4851400"/>
            <a:ext cx="646457" cy="34417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465324" y="485140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11781" y="485140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58238" y="4851400"/>
            <a:ext cx="646457" cy="34417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04695" y="4851400"/>
            <a:ext cx="646457" cy="344170"/>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51153" y="485140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697610" y="4851400"/>
            <a:ext cx="646457" cy="344170"/>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44067" y="4851400"/>
            <a:ext cx="646457" cy="344170"/>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6990524" y="4851400"/>
            <a:ext cx="646457" cy="344170"/>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36982" y="4851400"/>
            <a:ext cx="646457" cy="344170"/>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83439" y="4851400"/>
            <a:ext cx="646457" cy="344170"/>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29896" y="4851400"/>
            <a:ext cx="646457" cy="344170"/>
          </a:xfrm>
          <a:prstGeom prst="rect">
            <a:avLst/>
          </a:prstGeom>
          <a:solidFill>
            <a:srgbClr val="10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76353" y="4851400"/>
            <a:ext cx="646457" cy="344170"/>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2811" y="4851400"/>
            <a:ext cx="646457" cy="344170"/>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69268" y="4851400"/>
            <a:ext cx="646457" cy="344170"/>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1955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Waxes, Clays, Pastes and Pomades</a:t>
            </a:r>
          </a:p>
        </p:txBody>
      </p:sp>
      <p:sp>
        <p:nvSpPr>
          <p:cNvPr id="204" name="Rectangle 203"/>
          <p:cNvSpPr/>
          <p:nvPr/>
        </p:nvSpPr>
        <p:spPr>
          <a:xfrm>
            <a:off x="1818866" y="5195570"/>
            <a:ext cx="646457" cy="344170"/>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465324" y="5195570"/>
            <a:ext cx="646457" cy="34417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11781" y="5195570"/>
            <a:ext cx="646457" cy="34417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58238" y="5195570"/>
            <a:ext cx="646457" cy="344170"/>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04695" y="519557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51153" y="5195570"/>
            <a:ext cx="646457" cy="344170"/>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697610" y="5195570"/>
            <a:ext cx="646457" cy="344170"/>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44067" y="5195570"/>
            <a:ext cx="646457" cy="344170"/>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6990524" y="5195570"/>
            <a:ext cx="646457" cy="344170"/>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36982" y="5195570"/>
            <a:ext cx="646457" cy="344170"/>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83439" y="5195570"/>
            <a:ext cx="646457" cy="344170"/>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29896" y="5195570"/>
            <a:ext cx="646457" cy="344170"/>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76353" y="5195570"/>
            <a:ext cx="646457" cy="344170"/>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2811" y="5195570"/>
            <a:ext cx="646457" cy="344170"/>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69268" y="5195570"/>
            <a:ext cx="646457" cy="344170"/>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5397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Powders</a:t>
            </a:r>
          </a:p>
        </p:txBody>
      </p:sp>
      <p:sp>
        <p:nvSpPr>
          <p:cNvPr id="220" name="Rectangle 219"/>
          <p:cNvSpPr/>
          <p:nvPr/>
        </p:nvSpPr>
        <p:spPr>
          <a:xfrm>
            <a:off x="1818866" y="5539740"/>
            <a:ext cx="646457" cy="34417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465324" y="5539740"/>
            <a:ext cx="646457" cy="344170"/>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11781" y="553974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58238" y="5539740"/>
            <a:ext cx="646457" cy="34417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04695" y="5539740"/>
            <a:ext cx="646457" cy="344170"/>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51153" y="5539740"/>
            <a:ext cx="646457" cy="344170"/>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697610" y="5539740"/>
            <a:ext cx="646457" cy="344170"/>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44067" y="5539740"/>
            <a:ext cx="646457" cy="344170"/>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6990524" y="5539740"/>
            <a:ext cx="646457" cy="344170"/>
          </a:xfrm>
          <a:prstGeom prst="rect">
            <a:avLst/>
          </a:prstGeom>
          <a:solidFill>
            <a:srgbClr val="1C7B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36982" y="5539740"/>
            <a:ext cx="646457" cy="344170"/>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83439" y="5539740"/>
            <a:ext cx="646457" cy="344170"/>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29896" y="5539740"/>
            <a:ext cx="646457" cy="344170"/>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76353" y="5539740"/>
            <a:ext cx="646457" cy="344170"/>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2811" y="5539740"/>
            <a:ext cx="646457" cy="344170"/>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69268" y="5539740"/>
            <a:ext cx="646457" cy="344170"/>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8839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Serums and Oils</a:t>
            </a:r>
          </a:p>
        </p:txBody>
      </p:sp>
      <p:sp>
        <p:nvSpPr>
          <p:cNvPr id="236" name="Rectangle 235"/>
          <p:cNvSpPr/>
          <p:nvPr/>
        </p:nvSpPr>
        <p:spPr>
          <a:xfrm>
            <a:off x="1818866" y="5883910"/>
            <a:ext cx="646457" cy="34417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465324" y="588391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11781" y="5883910"/>
            <a:ext cx="646457" cy="34417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58238" y="5883910"/>
            <a:ext cx="646457" cy="34417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04695" y="5883910"/>
            <a:ext cx="646457" cy="344170"/>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51153" y="5883910"/>
            <a:ext cx="646457" cy="344170"/>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697610" y="5883910"/>
            <a:ext cx="646457" cy="344170"/>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44067" y="5883910"/>
            <a:ext cx="646457" cy="344170"/>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6990524" y="5883910"/>
            <a:ext cx="646457" cy="344170"/>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36982" y="5883910"/>
            <a:ext cx="646457" cy="344170"/>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83439" y="5883910"/>
            <a:ext cx="646457" cy="344170"/>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29896" y="5883910"/>
            <a:ext cx="646457" cy="344170"/>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76353" y="5883910"/>
            <a:ext cx="646457" cy="344170"/>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2811" y="5883910"/>
            <a:ext cx="646457" cy="344170"/>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69268" y="5883910"/>
            <a:ext cx="646457" cy="344170"/>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62280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Sticks and Balms</a:t>
            </a:r>
          </a:p>
        </p:txBody>
      </p:sp>
      <p:sp>
        <p:nvSpPr>
          <p:cNvPr id="252" name="Rectangle 251"/>
          <p:cNvSpPr/>
          <p:nvPr/>
        </p:nvSpPr>
        <p:spPr>
          <a:xfrm>
            <a:off x="1818866" y="6228080"/>
            <a:ext cx="646457" cy="344170"/>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465324" y="6228080"/>
            <a:ext cx="646457" cy="344170"/>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11781" y="6228080"/>
            <a:ext cx="646457" cy="344170"/>
          </a:xfrm>
          <a:prstGeom prst="rect">
            <a:avLst/>
          </a:prstGeom>
          <a:solidFill>
            <a:srgbClr val="7E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58238" y="6228080"/>
            <a:ext cx="646457" cy="344170"/>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04695" y="6228080"/>
            <a:ext cx="646457" cy="344170"/>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51153" y="6228080"/>
            <a:ext cx="646457" cy="344170"/>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697610" y="6228080"/>
            <a:ext cx="646457" cy="344170"/>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44067" y="6228080"/>
            <a:ext cx="646457" cy="344170"/>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6990524" y="6228080"/>
            <a:ext cx="646457" cy="344170"/>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36982" y="6228080"/>
            <a:ext cx="646457" cy="344170"/>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83439" y="6228080"/>
            <a:ext cx="646457" cy="34417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29896" y="6228080"/>
            <a:ext cx="646457" cy="34417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76353" y="6228080"/>
            <a:ext cx="646457" cy="344170"/>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2811" y="6228080"/>
            <a:ext cx="646457" cy="344170"/>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69268" y="6228080"/>
            <a:ext cx="646457" cy="344170"/>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TextBox 30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309" name="TextBox 30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10" name="TextBox 30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311" name="TextBox 3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Hold Level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Hold Level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Hold Level,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Hold Level segment categorizes the market by hold level.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 Hold</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3,583</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6,783</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6.6%</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Strong Hold</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3,405</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6,132</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6.1%</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Light or Flexible Hold</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3,234</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6,782</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7.7%</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No Hold</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3,003</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6,033</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7.2%</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Extra-strong Hold</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2,882</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4,958</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5.6%</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hold level, light or flexible hold segment is expected to witness the highest CAGR of 7.7% over the forecast period. In terms of value share by hold level, the medium hold segment is expected to dominate the market, losing 14 BPS and accounting for 22.1% share by 2036.</a:t>
            </a:r>
          </a:p>
          <a:p>
            <a:pPr algn="l">
              <a:lnSpc>
                <a:spcPct val="110000"/>
              </a:lnSpc>
              <a:spcBef>
                <a:spcPts val="0"/>
              </a:spcBef>
              <a:spcAft>
                <a:spcPts val="500"/>
              </a:spcAft>
            </a:pPr>
            <a:r>
              <a:rPr sz="1100" b="0">
                <a:solidFill>
                  <a:srgbClr val="2E2E2E"/>
                </a:solidFill>
                <a:latin typeface="Calibri"/>
              </a:rPr>
              <a:t>Medium hold segment is projected to register 1.0X higher value than light or flexible hold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 Hold: </a:t>
            </a:r>
            <a:r>
              <a:rPr sz="1100" b="0">
                <a:solidFill>
                  <a:srgbClr val="2E2E2E"/>
                </a:solidFill>
                <a:latin typeface="Calibri"/>
              </a:rPr>
              <a:t>22% of 2026 value · 6.6%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Strong Hold: </a:t>
            </a:r>
            <a:r>
              <a:rPr sz="1100" b="0">
                <a:solidFill>
                  <a:srgbClr val="2E2E2E"/>
                </a:solidFill>
                <a:latin typeface="Calibri"/>
              </a:rPr>
              <a:t>21% of 2026 value · 6.1%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Light or Flexible Hold: </a:t>
            </a:r>
            <a:r>
              <a:rPr sz="1100" b="0">
                <a:solidFill>
                  <a:srgbClr val="2E2E2E"/>
                </a:solidFill>
                <a:latin typeface="Calibri"/>
              </a:rPr>
              <a:t>20% of 2026 value · 7.7%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No Hold: </a:t>
            </a:r>
            <a:r>
              <a:rPr sz="1100" b="0">
                <a:solidFill>
                  <a:srgbClr val="2E2E2E"/>
                </a:solidFill>
                <a:latin typeface="Calibri"/>
              </a:rPr>
              <a:t>19% of 2026 value · 7.2%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Extra-strong Hold: </a:t>
            </a:r>
            <a:r>
              <a:rPr sz="1100" b="0">
                <a:solidFill>
                  <a:srgbClr val="2E2E2E"/>
                </a:solidFill>
                <a:latin typeface="Calibri"/>
              </a:rPr>
              <a:t>18% of 2026 value · 5.6% CAGR serves a niche.</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Hold Level split shows how demand is distributed across hold level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Hold Level segment is projected to grow at a CAGR of 6.7%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Hold Level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Hold Level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Hold Level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Light or flexible hold followed by medium hold are expected to be the two most attractive hold level segments in the global hair styling products market in terms of value over the forecast period. Light or flexible hold and medium hold exhibit a CAGR index of 115.4 and 99.0 and a market share index of 100.4 and 111.2 respectively, against the segment average of 100. The extra-strong hold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Hold Level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No Hold</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Light or Flexible Hold</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Medium Hold</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Strong Hold</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Hold Level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Extra-strong Hold</a:t>
            </a:r>
          </a:p>
        </p:txBody>
      </p:sp>
      <p:graphicFrame>
        <p:nvGraphicFramePr>
          <p:cNvPr id="12" name="Chart 11"/>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Hold Level</a:t>
            </a:r>
          </a:p>
        </p:txBody>
      </p:sp>
      <p:sp>
        <p:nvSpPr>
          <p:cNvPr id="15" name="Rectangle 14"/>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390650"/>
            <a:ext cx="5610225"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light or flexible hold segment is anticipated to witness an increase of 2.1X in terms of value as compared to 2026. The light or flexible hold segment is expected to create an incremental opportunity of US$ 3,548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medium hold segment is expected to create an incremental opportunity of US$ 3,200 Mn for the overall hair styling products market from 2026 to 2036. The no hold segment is expected to create an incremental opportunity of US$ 3,030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Hold Level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Hold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Hold Level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Hold Level</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Medium hold segment is projected to register 1.0X higher value than light or flexible hold segment in 2036. Among hair styling products by hold level, light or flexible hold segment is expected to witness the highest CAGR of 7.7% over the forecast period.</a:t>
            </a:r>
          </a:p>
          <a:p>
            <a:pPr algn="l">
              <a:lnSpc>
                <a:spcPct val="110000"/>
              </a:lnSpc>
              <a:spcBef>
                <a:spcPts val="0"/>
              </a:spcBef>
              <a:spcAft>
                <a:spcPts val="500"/>
              </a:spcAft>
            </a:pPr>
            <a:r>
              <a:rPr sz="1150" b="0">
                <a:solidFill>
                  <a:srgbClr val="2E2E2E"/>
                </a:solidFill>
                <a:latin typeface="Calibri"/>
              </a:rPr>
              <a:t>In terms of value share by hold level, the medium hold segment is expected to dominate the market, losing 14 BPS and accounting for 22.1% share by 2036. The extra-strong hold segment is expected to lose 174 BPS over the forecast period to account for 16.2%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Hold Level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Hold Level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1889354"/>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8459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0839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Extra-strong Hold</a:t>
            </a:r>
          </a:p>
        </p:txBody>
      </p:sp>
      <p:sp>
        <p:nvSpPr>
          <p:cNvPr id="19" name="BPS Value 1"/>
          <p:cNvSpPr txBox="1"/>
          <p:nvPr/>
        </p:nvSpPr>
        <p:spPr>
          <a:xfrm>
            <a:off x="6896100" y="1870304"/>
            <a:ext cx="514350" cy="123825"/>
          </a:xfrm>
          <a:prstGeom prst="rect">
            <a:avLst/>
          </a:prstGeom>
          <a:noFill/>
        </p:spPr>
        <p:txBody>
          <a:bodyPr wrap="none" lIns="0" rIns="0" tIns="0" bIns="0" anchor="ctr">
            <a:spAutoFit/>
          </a:bodyPr>
          <a:lstStyle/>
          <a:p>
            <a:pPr algn="r"/>
            <a:r>
              <a:rPr sz="900" b="1">
                <a:solidFill>
                  <a:srgbClr val="E44D3A"/>
                </a:solidFill>
                <a:latin typeface="Calibri"/>
              </a:rPr>
              <a:t>-174</a:t>
            </a:r>
          </a:p>
        </p:txBody>
      </p:sp>
      <p:sp>
        <p:nvSpPr>
          <p:cNvPr id="20" name="FMI Legend Chip"/>
          <p:cNvSpPr/>
          <p:nvPr/>
        </p:nvSpPr>
        <p:spPr>
          <a:xfrm>
            <a:off x="4928997" y="273769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73292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65672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 Hold</a:t>
            </a:r>
          </a:p>
        </p:txBody>
      </p:sp>
      <p:sp>
        <p:nvSpPr>
          <p:cNvPr id="23" name="BPS Value 2"/>
          <p:cNvSpPr txBox="1"/>
          <p:nvPr/>
        </p:nvSpPr>
        <p:spPr>
          <a:xfrm>
            <a:off x="6896100" y="2718641"/>
            <a:ext cx="514350" cy="123825"/>
          </a:xfrm>
          <a:prstGeom prst="rect">
            <a:avLst/>
          </a:prstGeom>
          <a:noFill/>
        </p:spPr>
        <p:txBody>
          <a:bodyPr wrap="none" lIns="0" rIns="0" tIns="0" bIns="0" anchor="ctr">
            <a:spAutoFit/>
          </a:bodyPr>
          <a:lstStyle/>
          <a:p>
            <a:pPr algn="r"/>
            <a:r>
              <a:rPr sz="900" b="1">
                <a:solidFill>
                  <a:srgbClr val="2E7D32"/>
                </a:solidFill>
                <a:latin typeface="Calibri"/>
              </a:rPr>
              <a:t>+102</a:t>
            </a:r>
          </a:p>
        </p:txBody>
      </p:sp>
      <p:sp>
        <p:nvSpPr>
          <p:cNvPr id="24" name="FMI Legend Chip"/>
          <p:cNvSpPr/>
          <p:nvPr/>
        </p:nvSpPr>
        <p:spPr>
          <a:xfrm>
            <a:off x="4928997" y="367659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67182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5956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Strong Hold</a:t>
            </a:r>
          </a:p>
        </p:txBody>
      </p:sp>
      <p:sp>
        <p:nvSpPr>
          <p:cNvPr id="27" name="BPS Value 3"/>
          <p:cNvSpPr txBox="1"/>
          <p:nvPr/>
        </p:nvSpPr>
        <p:spPr>
          <a:xfrm>
            <a:off x="6896100" y="3657542"/>
            <a:ext cx="514350" cy="123825"/>
          </a:xfrm>
          <a:prstGeom prst="rect">
            <a:avLst/>
          </a:prstGeom>
          <a:noFill/>
        </p:spPr>
        <p:txBody>
          <a:bodyPr wrap="none" lIns="0" rIns="0" tIns="0" bIns="0" anchor="ctr">
            <a:spAutoFit/>
          </a:bodyPr>
          <a:lstStyle/>
          <a:p>
            <a:pPr algn="r"/>
            <a:r>
              <a:rPr sz="900" b="1">
                <a:solidFill>
                  <a:srgbClr val="E44D3A"/>
                </a:solidFill>
                <a:latin typeface="Calibri"/>
              </a:rPr>
              <a:t>-116</a:t>
            </a:r>
          </a:p>
        </p:txBody>
      </p:sp>
      <p:sp>
        <p:nvSpPr>
          <p:cNvPr id="28" name="FMI Legend Chip"/>
          <p:cNvSpPr/>
          <p:nvPr/>
        </p:nvSpPr>
        <p:spPr>
          <a:xfrm>
            <a:off x="4928997" y="4673254"/>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466849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59229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Light or Flexible Hold</a:t>
            </a:r>
          </a:p>
        </p:txBody>
      </p:sp>
      <p:sp>
        <p:nvSpPr>
          <p:cNvPr id="31" name="BPS Value 4"/>
          <p:cNvSpPr txBox="1"/>
          <p:nvPr/>
        </p:nvSpPr>
        <p:spPr>
          <a:xfrm>
            <a:off x="6896100" y="4654204"/>
            <a:ext cx="514350" cy="123825"/>
          </a:xfrm>
          <a:prstGeom prst="rect">
            <a:avLst/>
          </a:prstGeom>
          <a:noFill/>
        </p:spPr>
        <p:txBody>
          <a:bodyPr wrap="none" lIns="0" rIns="0" tIns="0" bIns="0" anchor="ctr">
            <a:spAutoFit/>
          </a:bodyPr>
          <a:lstStyle/>
          <a:p>
            <a:pPr algn="r"/>
            <a:r>
              <a:rPr sz="900" b="1">
                <a:solidFill>
                  <a:srgbClr val="2E7D32"/>
                </a:solidFill>
                <a:latin typeface="Calibri"/>
              </a:rPr>
              <a:t>+202</a:t>
            </a:r>
          </a:p>
        </p:txBody>
      </p:sp>
      <p:sp>
        <p:nvSpPr>
          <p:cNvPr id="32" name="FMI Legend Chip"/>
          <p:cNvSpPr/>
          <p:nvPr/>
        </p:nvSpPr>
        <p:spPr>
          <a:xfrm>
            <a:off x="4928997" y="572015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571538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3918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 Hold</a:t>
            </a:r>
          </a:p>
        </p:txBody>
      </p:sp>
      <p:sp>
        <p:nvSpPr>
          <p:cNvPr id="35" name="BPS Value 5"/>
          <p:cNvSpPr txBox="1"/>
          <p:nvPr/>
        </p:nvSpPr>
        <p:spPr>
          <a:xfrm>
            <a:off x="6896100" y="5701101"/>
            <a:ext cx="514350" cy="123825"/>
          </a:xfrm>
          <a:prstGeom prst="rect">
            <a:avLst/>
          </a:prstGeom>
          <a:noFill/>
        </p:spPr>
        <p:txBody>
          <a:bodyPr wrap="none" lIns="0" rIns="0" tIns="0" bIns="0" anchor="ctr">
            <a:spAutoFit/>
          </a:bodyPr>
          <a:lstStyle/>
          <a:p>
            <a:pPr algn="r"/>
            <a:r>
              <a:rPr sz="900" b="1">
                <a:solidFill>
                  <a:srgbClr val="E44D3A"/>
                </a:solidFill>
                <a:latin typeface="Calibri"/>
              </a:rPr>
              <a:t>-14</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Hold Level</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hold level, light or flexible hold segment is expected to witness the highest CAGR of 7.7% over the forecast period. In terms of value share by hold level, the medium hold segment is expected to dominate the market, losing 14 BPS and accounting for 22.1% share by 2036.</a:t>
            </a:r>
          </a:p>
          <a:p>
            <a:pPr algn="l">
              <a:lnSpc>
                <a:spcPct val="110000"/>
              </a:lnSpc>
              <a:spcBef>
                <a:spcPts val="0"/>
              </a:spcBef>
              <a:spcAft>
                <a:spcPts val="500"/>
              </a:spcAft>
            </a:pPr>
            <a:r>
              <a:rPr sz="1150" b="0">
                <a:solidFill>
                  <a:srgbClr val="2E2E2E"/>
                </a:solidFill>
                <a:latin typeface="Calibri"/>
              </a:rPr>
              <a:t>The extra-strong hold segment is expected to lose 174 BPS over the forecast period to account for 16.2%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Hold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Hold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Hold Level (%)  ·  light = lower, dark = higher growth</a:t>
            </a:r>
          </a:p>
        </p:txBody>
      </p:sp>
      <p:sp>
        <p:nvSpPr>
          <p:cNvPr id="17" name="TextBox 16"/>
          <p:cNvSpPr txBox="1"/>
          <p:nvPr/>
        </p:nvSpPr>
        <p:spPr>
          <a:xfrm>
            <a:off x="12532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193743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6215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305762"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398992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674089"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35825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042416"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726580"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41074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094907"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7790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463234"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1473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3156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No Hold</a:t>
            </a:r>
          </a:p>
        </p:txBody>
      </p:sp>
      <p:sp>
        <p:nvSpPr>
          <p:cNvPr id="33" name="Rectangle 32"/>
          <p:cNvSpPr/>
          <p:nvPr/>
        </p:nvSpPr>
        <p:spPr>
          <a:xfrm>
            <a:off x="1253271" y="3305175"/>
            <a:ext cx="684164"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937435" y="3305175"/>
            <a:ext cx="684164" cy="65341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621598" y="3305175"/>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305762" y="3305175"/>
            <a:ext cx="684164" cy="65341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89925" y="3305175"/>
            <a:ext cx="684164" cy="65341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74089" y="3305175"/>
            <a:ext cx="684164" cy="653415"/>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358253" y="3305175"/>
            <a:ext cx="684164" cy="653415"/>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042416" y="3305175"/>
            <a:ext cx="684164" cy="653415"/>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726580" y="3305175"/>
            <a:ext cx="684164" cy="65341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410743" y="3305175"/>
            <a:ext cx="684164" cy="653415"/>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94907" y="3305175"/>
            <a:ext cx="684164" cy="653415"/>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79071" y="3305175"/>
            <a:ext cx="684164" cy="653415"/>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63234" y="3305175"/>
            <a:ext cx="684164" cy="653415"/>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47398" y="3305175"/>
            <a:ext cx="684164" cy="653415"/>
          </a:xfrm>
          <a:prstGeom prst="rect">
            <a:avLst/>
          </a:prstGeom>
          <a:solidFill>
            <a:srgbClr val="0D5A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31561" y="3305175"/>
            <a:ext cx="684164" cy="653415"/>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Light or Flexible Hold</a:t>
            </a:r>
          </a:p>
        </p:txBody>
      </p:sp>
      <p:sp>
        <p:nvSpPr>
          <p:cNvPr id="49" name="Rectangle 48"/>
          <p:cNvSpPr/>
          <p:nvPr/>
        </p:nvSpPr>
        <p:spPr>
          <a:xfrm>
            <a:off x="1253271" y="3958590"/>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937435" y="3958590"/>
            <a:ext cx="684164"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621598" y="3958590"/>
            <a:ext cx="684164" cy="65341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305762" y="3958590"/>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89925" y="3958590"/>
            <a:ext cx="684164" cy="653415"/>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74089" y="3958590"/>
            <a:ext cx="684164" cy="653415"/>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358253" y="3958590"/>
            <a:ext cx="684164" cy="653415"/>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042416" y="3958590"/>
            <a:ext cx="684164" cy="653415"/>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726580" y="3958590"/>
            <a:ext cx="684164" cy="653415"/>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410743" y="3958590"/>
            <a:ext cx="684164" cy="653415"/>
          </a:xfrm>
          <a:prstGeom prst="rect">
            <a:avLst/>
          </a:prstGeom>
          <a:solidFill>
            <a:srgbClr val="0C4C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94907" y="3958590"/>
            <a:ext cx="684164"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79071" y="3958590"/>
            <a:ext cx="684164" cy="653415"/>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63234" y="3958590"/>
            <a:ext cx="684164" cy="653415"/>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47398" y="3958590"/>
            <a:ext cx="684164" cy="653415"/>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31561" y="3958590"/>
            <a:ext cx="684164" cy="653415"/>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Medium Hold</a:t>
            </a:r>
          </a:p>
        </p:txBody>
      </p:sp>
      <p:sp>
        <p:nvSpPr>
          <p:cNvPr id="65" name="Rectangle 64"/>
          <p:cNvSpPr/>
          <p:nvPr/>
        </p:nvSpPr>
        <p:spPr>
          <a:xfrm>
            <a:off x="1253271" y="4612005"/>
            <a:ext cx="684164" cy="653415"/>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937435" y="4612005"/>
            <a:ext cx="684164" cy="653415"/>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621598" y="4612005"/>
            <a:ext cx="684164" cy="65341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305762" y="4612005"/>
            <a:ext cx="684164" cy="65341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89925" y="4612005"/>
            <a:ext cx="684164" cy="653415"/>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74089" y="4612005"/>
            <a:ext cx="684164" cy="653415"/>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358253" y="4612005"/>
            <a:ext cx="684164" cy="653415"/>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042416" y="4612005"/>
            <a:ext cx="684164" cy="653415"/>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726580" y="4612005"/>
            <a:ext cx="684164" cy="653415"/>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410743" y="4612005"/>
            <a:ext cx="684164" cy="653415"/>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94907" y="4612005"/>
            <a:ext cx="684164" cy="653415"/>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79071" y="4612005"/>
            <a:ext cx="684164" cy="653415"/>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63234" y="4612005"/>
            <a:ext cx="684164" cy="653415"/>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47398" y="4612005"/>
            <a:ext cx="684164" cy="653415"/>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31561" y="4612005"/>
            <a:ext cx="684164" cy="653415"/>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Strong Hold</a:t>
            </a:r>
          </a:p>
        </p:txBody>
      </p:sp>
      <p:sp>
        <p:nvSpPr>
          <p:cNvPr id="81" name="Rectangle 80"/>
          <p:cNvSpPr/>
          <p:nvPr/>
        </p:nvSpPr>
        <p:spPr>
          <a:xfrm>
            <a:off x="1253271" y="5265420"/>
            <a:ext cx="684164" cy="65341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937435" y="5265420"/>
            <a:ext cx="684164" cy="653415"/>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621598" y="5265420"/>
            <a:ext cx="684164" cy="65341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305762" y="5265420"/>
            <a:ext cx="684164" cy="653415"/>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989925" y="5265420"/>
            <a:ext cx="684164" cy="65341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674089" y="5265420"/>
            <a:ext cx="684164" cy="653415"/>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358253" y="5265420"/>
            <a:ext cx="684164" cy="653415"/>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042416" y="5265420"/>
            <a:ext cx="684164" cy="65341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726580" y="5265420"/>
            <a:ext cx="684164" cy="65341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410743" y="5265420"/>
            <a:ext cx="684164" cy="653415"/>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094907" y="5265420"/>
            <a:ext cx="684164" cy="653415"/>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779071" y="5265420"/>
            <a:ext cx="684164" cy="653415"/>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463234" y="5265420"/>
            <a:ext cx="684164" cy="653415"/>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47398" y="5265420"/>
            <a:ext cx="684164" cy="653415"/>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31561" y="5265420"/>
            <a:ext cx="684164" cy="653415"/>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Extra-strong Hold</a:t>
            </a:r>
          </a:p>
        </p:txBody>
      </p:sp>
      <p:sp>
        <p:nvSpPr>
          <p:cNvPr id="97" name="Rectangle 96"/>
          <p:cNvSpPr/>
          <p:nvPr/>
        </p:nvSpPr>
        <p:spPr>
          <a:xfrm>
            <a:off x="1253271" y="5918835"/>
            <a:ext cx="684164" cy="653415"/>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937435" y="5918835"/>
            <a:ext cx="684164" cy="65341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621598" y="5918835"/>
            <a:ext cx="684164" cy="65341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305762" y="5918835"/>
            <a:ext cx="684164" cy="65341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989925" y="5918835"/>
            <a:ext cx="684164" cy="65341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674089" y="5918835"/>
            <a:ext cx="684164" cy="653415"/>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358253" y="5918835"/>
            <a:ext cx="684164" cy="65341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042416" y="5918835"/>
            <a:ext cx="684164" cy="653415"/>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726580" y="5918835"/>
            <a:ext cx="684164" cy="653415"/>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410743" y="5918835"/>
            <a:ext cx="684164" cy="653415"/>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094907" y="5918835"/>
            <a:ext cx="684164" cy="653415"/>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779071" y="5918835"/>
            <a:ext cx="684164" cy="653415"/>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463234" y="5918835"/>
            <a:ext cx="684164" cy="653415"/>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47398" y="5918835"/>
            <a:ext cx="684164" cy="653415"/>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31561" y="5918835"/>
            <a:ext cx="684164" cy="653415"/>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Finish</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Finish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Finish,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Finish segment categorizes the market by finish.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Matte</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5,413</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10,234</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6.6%</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Natural</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5,404</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9,746</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6.1%</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Glossy or Wet-look</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5,290</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10,707</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7.3%</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finish, glossy or wet-look segment is expected to witness the highest CAGR of 7.3% over the forecast period. In terms of value share by finish, the glossy or wet-look segment is expected to dominate the market, gaining 205 BPS and accounting for 34.9% share by 2036.</a:t>
            </a:r>
          </a:p>
          <a:p>
            <a:pPr algn="l">
              <a:lnSpc>
                <a:spcPct val="110000"/>
              </a:lnSpc>
              <a:spcBef>
                <a:spcPts val="0"/>
              </a:spcBef>
              <a:spcAft>
                <a:spcPts val="500"/>
              </a:spcAft>
            </a:pPr>
            <a:r>
              <a:rPr sz="1100" b="0">
                <a:solidFill>
                  <a:srgbClr val="2E2E2E"/>
                </a:solidFill>
                <a:latin typeface="Calibri"/>
              </a:rPr>
              <a:t>Glossy or wet-look segment is projected to register 1.0X higher value than matte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Matte: </a:t>
            </a:r>
            <a:r>
              <a:rPr sz="1100" b="0">
                <a:solidFill>
                  <a:srgbClr val="2E2E2E"/>
                </a:solidFill>
                <a:latin typeface="Calibri"/>
              </a:rPr>
              <a:t>34% of 2026 value · 6.6%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Natural: </a:t>
            </a:r>
            <a:r>
              <a:rPr sz="1100" b="0">
                <a:solidFill>
                  <a:srgbClr val="2E2E2E"/>
                </a:solidFill>
                <a:latin typeface="Calibri"/>
              </a:rPr>
              <a:t>34% of 2026 value · 6.1%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Glossy or Wet-look: </a:t>
            </a:r>
            <a:r>
              <a:rPr sz="1100" b="0">
                <a:solidFill>
                  <a:srgbClr val="2E2E2E"/>
                </a:solidFill>
                <a:latin typeface="Calibri"/>
              </a:rPr>
              <a:t>33% of 2026 value · 7.3% CAGR grows fastest.</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Finish split shows how demand is distributed across finish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Finish segment is projected to grow at a CAGR of 6.7%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Finish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Finish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Finish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Glossy or wet-look followed by matte are expected to be the two most attractive finish segments in the global hair styling products market in terms of value over the forecast period. Glossy or wet-look and matte exhibit a CAGR index of 109.7 and 98.8 and a market share index of 98.5 and 100.8 respectively, against the segment average of 100. The natural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Finish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Matte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Natural</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Glossy or Wet-look</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Finish</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glossy or wet-look segment is anticipated to witness an increase of 2.0X in terms of value as compared to 2026. The glossy or wet-look segment is expected to create an incremental opportunity of US$ 5,417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matte segment is expected to create an incremental opportunity of US$ 4,822 Mn for the overall hair styling products market from 2026 to 2036. The natural segment is expected to create an incremental opportunity of US$ 4,342 Mn for the overall hair styling products market from 2026 to 2036.</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Finish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Finish,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Finish (US$ Mn)</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7432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Finish</a:t>
            </a:r>
          </a:p>
        </p:txBody>
      </p:sp>
      <p:sp>
        <p:nvSpPr>
          <p:cNvPr id="17" name="Rectangle 16"/>
          <p:cNvSpPr/>
          <p:nvPr/>
        </p:nvSpPr>
        <p:spPr>
          <a:xfrm>
            <a:off x="276225" y="2981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067050"/>
            <a:ext cx="11639550" cy="3486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Glossy or wet-look segment is projected to register 1.0X higher value than matte segment in 2036. Among hair styling products by finish, glossy or wet-look segment is expected to witness the highest CAGR of 7.3% over the forecast period.</a:t>
            </a:r>
          </a:p>
          <a:p>
            <a:pPr algn="l">
              <a:lnSpc>
                <a:spcPct val="110000"/>
              </a:lnSpc>
              <a:spcBef>
                <a:spcPts val="0"/>
              </a:spcBef>
              <a:spcAft>
                <a:spcPts val="500"/>
              </a:spcAft>
            </a:pPr>
            <a:r>
              <a:rPr sz="1150" b="0">
                <a:solidFill>
                  <a:srgbClr val="2E2E2E"/>
                </a:solidFill>
                <a:latin typeface="Calibri"/>
              </a:rPr>
              <a:t>In terms of value share by finish, the glossy or wet-look segment is expected to dominate the market, gaining 205 BPS and accounting for 34.9% share by 2036. The natural segment is expected to lose 179 BPS over the forecast period to account for 31.8%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Finish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Finish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225890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25414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17794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Natural</a:t>
            </a:r>
          </a:p>
        </p:txBody>
      </p:sp>
      <p:sp>
        <p:nvSpPr>
          <p:cNvPr id="19" name="BPS Value 1"/>
          <p:cNvSpPr txBox="1"/>
          <p:nvPr/>
        </p:nvSpPr>
        <p:spPr>
          <a:xfrm>
            <a:off x="6896100" y="2239855"/>
            <a:ext cx="514350" cy="123825"/>
          </a:xfrm>
          <a:prstGeom prst="rect">
            <a:avLst/>
          </a:prstGeom>
          <a:noFill/>
        </p:spPr>
        <p:txBody>
          <a:bodyPr wrap="none" lIns="0" rIns="0" tIns="0" bIns="0" anchor="ctr">
            <a:spAutoFit/>
          </a:bodyPr>
          <a:lstStyle/>
          <a:p>
            <a:pPr algn="r"/>
            <a:r>
              <a:rPr sz="900" b="1">
                <a:solidFill>
                  <a:srgbClr val="E44D3A"/>
                </a:solidFill>
                <a:latin typeface="Calibri"/>
              </a:rPr>
              <a:t>-179</a:t>
            </a:r>
          </a:p>
        </p:txBody>
      </p:sp>
      <p:sp>
        <p:nvSpPr>
          <p:cNvPr id="20" name="FMI Legend Chip"/>
          <p:cNvSpPr/>
          <p:nvPr/>
        </p:nvSpPr>
        <p:spPr>
          <a:xfrm>
            <a:off x="4928997" y="380104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79627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72007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Matte</a:t>
            </a:r>
          </a:p>
        </p:txBody>
      </p:sp>
      <p:sp>
        <p:nvSpPr>
          <p:cNvPr id="23" name="BPS Value 2"/>
          <p:cNvSpPr txBox="1"/>
          <p:nvPr/>
        </p:nvSpPr>
        <p:spPr>
          <a:xfrm>
            <a:off x="6896100" y="3781990"/>
            <a:ext cx="514350" cy="123825"/>
          </a:xfrm>
          <a:prstGeom prst="rect">
            <a:avLst/>
          </a:prstGeom>
          <a:noFill/>
        </p:spPr>
        <p:txBody>
          <a:bodyPr wrap="none" lIns="0" rIns="0" tIns="0" bIns="0" anchor="ctr">
            <a:spAutoFit/>
          </a:bodyPr>
          <a:lstStyle/>
          <a:p>
            <a:pPr algn="r"/>
            <a:r>
              <a:rPr sz="900" b="1">
                <a:solidFill>
                  <a:srgbClr val="E44D3A"/>
                </a:solidFill>
                <a:latin typeface="Calibri"/>
              </a:rPr>
              <a:t>-25</a:t>
            </a:r>
          </a:p>
        </p:txBody>
      </p:sp>
      <p:sp>
        <p:nvSpPr>
          <p:cNvPr id="24" name="FMI Legend Chip"/>
          <p:cNvSpPr/>
          <p:nvPr/>
        </p:nvSpPr>
        <p:spPr>
          <a:xfrm>
            <a:off x="4928997" y="541728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541252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33632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Glossy or Wet-look</a:t>
            </a:r>
          </a:p>
        </p:txBody>
      </p:sp>
      <p:sp>
        <p:nvSpPr>
          <p:cNvPr id="27" name="BPS Value 3"/>
          <p:cNvSpPr txBox="1"/>
          <p:nvPr/>
        </p:nvSpPr>
        <p:spPr>
          <a:xfrm>
            <a:off x="6896100" y="5398236"/>
            <a:ext cx="514350" cy="123825"/>
          </a:xfrm>
          <a:prstGeom prst="rect">
            <a:avLst/>
          </a:prstGeom>
          <a:noFill/>
        </p:spPr>
        <p:txBody>
          <a:bodyPr wrap="none" lIns="0" rIns="0" tIns="0" bIns="0" anchor="ctr">
            <a:spAutoFit/>
          </a:bodyPr>
          <a:lstStyle/>
          <a:p>
            <a:pPr algn="r"/>
            <a:r>
              <a:rPr sz="900" b="1">
                <a:solidFill>
                  <a:srgbClr val="2E7D32"/>
                </a:solidFill>
                <a:latin typeface="Calibri"/>
              </a:rPr>
              <a:t>+205</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Finish</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finish, glossy or wet-look segment is expected to witness the highest CAGR of 7.3% over the forecast period. In terms of value share by finish, the glossy or wet-look segment is expected to dominate the market, gaining 205 BPS and accounting for 34.9% share by 2036.</a:t>
            </a:r>
          </a:p>
          <a:p>
            <a:pPr algn="l">
              <a:lnSpc>
                <a:spcPct val="110000"/>
              </a:lnSpc>
              <a:spcBef>
                <a:spcPts val="0"/>
              </a:spcBef>
              <a:spcAft>
                <a:spcPts val="500"/>
              </a:spcAft>
            </a:pPr>
            <a:r>
              <a:rPr sz="1150" b="0">
                <a:solidFill>
                  <a:srgbClr val="2E2E2E"/>
                </a:solidFill>
                <a:latin typeface="Calibri"/>
              </a:rPr>
              <a:t>The natural segment is expected to lose 179 BPS over the forecast period to account for 31.8% share by 2036.</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Finish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Finish,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5050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Finish (%)  ·  light = lower, dark = higher growth</a:t>
            </a:r>
          </a:p>
        </p:txBody>
      </p:sp>
      <p:sp>
        <p:nvSpPr>
          <p:cNvPr id="17" name="TextBox 16"/>
          <p:cNvSpPr txBox="1"/>
          <p:nvPr/>
        </p:nvSpPr>
        <p:spPr>
          <a:xfrm>
            <a:off x="115183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84276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53368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22461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91553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60646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29739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98831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67924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37016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806109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75202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44294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3387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2479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28765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Matte</a:t>
            </a:r>
          </a:p>
        </p:txBody>
      </p:sp>
      <p:sp>
        <p:nvSpPr>
          <p:cNvPr id="33" name="Rectangle 32"/>
          <p:cNvSpPr/>
          <p:nvPr/>
        </p:nvSpPr>
        <p:spPr>
          <a:xfrm>
            <a:off x="1151835" y="2876550"/>
            <a:ext cx="690926" cy="123190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842761" y="2876550"/>
            <a:ext cx="690926" cy="123190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533687" y="2876550"/>
            <a:ext cx="690926" cy="1231900"/>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224613" y="2876550"/>
            <a:ext cx="690926" cy="1231900"/>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15539" y="2876550"/>
            <a:ext cx="690926" cy="123190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06465" y="2876550"/>
            <a:ext cx="690926" cy="123190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297391" y="2876550"/>
            <a:ext cx="690926" cy="1231900"/>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988317" y="2876550"/>
            <a:ext cx="690926" cy="1231900"/>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679243" y="2876550"/>
            <a:ext cx="690926" cy="1231900"/>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370169" y="2876550"/>
            <a:ext cx="690926" cy="1231900"/>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61095" y="2876550"/>
            <a:ext cx="690926" cy="1231900"/>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52021" y="2876550"/>
            <a:ext cx="690926" cy="1231900"/>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42947" y="2876550"/>
            <a:ext cx="690926" cy="1231900"/>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33873" y="2876550"/>
            <a:ext cx="690926" cy="1231900"/>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24799" y="2876550"/>
            <a:ext cx="690926" cy="1231900"/>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084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Natural</a:t>
            </a:r>
          </a:p>
        </p:txBody>
      </p:sp>
      <p:sp>
        <p:nvSpPr>
          <p:cNvPr id="49" name="Rectangle 48"/>
          <p:cNvSpPr/>
          <p:nvPr/>
        </p:nvSpPr>
        <p:spPr>
          <a:xfrm>
            <a:off x="1151835" y="4108450"/>
            <a:ext cx="690926" cy="123190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842761" y="4108450"/>
            <a:ext cx="690926" cy="12319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533687" y="4108450"/>
            <a:ext cx="690926" cy="1231900"/>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224613" y="4108450"/>
            <a:ext cx="690926" cy="123190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15539" y="4108450"/>
            <a:ext cx="690926" cy="123190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06465" y="4108450"/>
            <a:ext cx="690926" cy="1231900"/>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297391" y="4108450"/>
            <a:ext cx="690926" cy="123190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988317" y="4108450"/>
            <a:ext cx="690926" cy="1231900"/>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679243" y="4108450"/>
            <a:ext cx="690926" cy="1231900"/>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370169" y="4108450"/>
            <a:ext cx="690926" cy="1231900"/>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61095" y="4108450"/>
            <a:ext cx="690926" cy="1231900"/>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52021" y="4108450"/>
            <a:ext cx="690926" cy="1231900"/>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42947" y="4108450"/>
            <a:ext cx="690926" cy="1231900"/>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33873" y="4108450"/>
            <a:ext cx="690926" cy="1231900"/>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24799" y="4108450"/>
            <a:ext cx="690926" cy="1231900"/>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403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Glossy or Wet-look</a:t>
            </a:r>
          </a:p>
        </p:txBody>
      </p:sp>
      <p:sp>
        <p:nvSpPr>
          <p:cNvPr id="65" name="Rectangle 64"/>
          <p:cNvSpPr/>
          <p:nvPr/>
        </p:nvSpPr>
        <p:spPr>
          <a:xfrm>
            <a:off x="1151835" y="5340350"/>
            <a:ext cx="690926" cy="1231900"/>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842761" y="5340350"/>
            <a:ext cx="690926" cy="123190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533687" y="5340350"/>
            <a:ext cx="690926" cy="12319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224613" y="5340350"/>
            <a:ext cx="690926" cy="123190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15539" y="5340350"/>
            <a:ext cx="690926" cy="123190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06465" y="5340350"/>
            <a:ext cx="690926" cy="123190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297391" y="5340350"/>
            <a:ext cx="690926" cy="1231900"/>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988317" y="5340350"/>
            <a:ext cx="690926" cy="1231900"/>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679243" y="5340350"/>
            <a:ext cx="690926" cy="1231900"/>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370169" y="5340350"/>
            <a:ext cx="690926" cy="1231900"/>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61095" y="5340350"/>
            <a:ext cx="690926" cy="1231900"/>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52021" y="5340350"/>
            <a:ext cx="690926" cy="1231900"/>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42947" y="5340350"/>
            <a:ext cx="690926" cy="12319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33873" y="5340350"/>
            <a:ext cx="690926" cy="1231900"/>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24799" y="5340350"/>
            <a:ext cx="690926" cy="1231900"/>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2914650"/>
            <a:ext cx="104775" cy="98108"/>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005138"/>
            <a:ext cx="104775" cy="98108"/>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095625"/>
            <a:ext cx="104775" cy="98108"/>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186112"/>
            <a:ext cx="104775" cy="98108"/>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276600"/>
            <a:ext cx="104775" cy="98108"/>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367088"/>
            <a:ext cx="104775" cy="98108"/>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457575"/>
            <a:ext cx="104775" cy="98108"/>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548062"/>
            <a:ext cx="104775" cy="98108"/>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638550"/>
            <a:ext cx="104775" cy="98108"/>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729038"/>
            <a:ext cx="104775" cy="98108"/>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819525"/>
            <a:ext cx="104775" cy="98108"/>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10012"/>
            <a:ext cx="104775" cy="98108"/>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00500"/>
            <a:ext cx="104775" cy="98108"/>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090988"/>
            <a:ext cx="104775" cy="98108"/>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181475"/>
            <a:ext cx="104775" cy="98108"/>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271962"/>
            <a:ext cx="104775" cy="98108"/>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362450"/>
            <a:ext cx="104775" cy="98108"/>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452938"/>
            <a:ext cx="104775" cy="98108"/>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543425"/>
            <a:ext cx="104775" cy="98108"/>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33912"/>
            <a:ext cx="104775" cy="98108"/>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24400"/>
            <a:ext cx="104775" cy="98108"/>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14888"/>
            <a:ext cx="104775" cy="98108"/>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05375"/>
            <a:ext cx="104775" cy="98108"/>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4995862"/>
            <a:ext cx="104775" cy="98108"/>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086350"/>
            <a:ext cx="104775" cy="98108"/>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176838"/>
            <a:ext cx="104775" cy="98108"/>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267325"/>
            <a:ext cx="104775" cy="98108"/>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57812"/>
            <a:ext cx="104775" cy="98108"/>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48300"/>
            <a:ext cx="104775" cy="98108"/>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38788"/>
            <a:ext cx="104775" cy="98108"/>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29275"/>
            <a:ext cx="104775" cy="98108"/>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19762"/>
            <a:ext cx="104775" cy="98108"/>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10250"/>
            <a:ext cx="104775" cy="98108"/>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00738"/>
            <a:ext cx="104775" cy="98108"/>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5991225"/>
            <a:ext cx="104775" cy="98108"/>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81712"/>
            <a:ext cx="104775" cy="98108"/>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72200"/>
            <a:ext cx="104775" cy="98108"/>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62688"/>
            <a:ext cx="104775" cy="98108"/>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3175"/>
            <a:ext cx="104775" cy="98108"/>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3662"/>
            <a:ext cx="104775" cy="98108"/>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2914650"/>
            <a:ext cx="104775" cy="36195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84797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22" name="TextBox 121"/>
          <p:cNvSpPr txBox="1"/>
          <p:nvPr/>
        </p:nvSpPr>
        <p:spPr>
          <a:xfrm>
            <a:off x="11687175" y="46577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Mass Retail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3,173</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5,348</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5.4%</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Marketplaces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2,978</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6,438</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8.0%</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Salon and Professional Distributi…</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2,971</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5,492</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6.3%</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distribution channel, online marketplaces segment is expected to witness the highest CAGR of 8.0% over the forecast period. In terms of value share by distribution channel, the online marketplaces segment is expected to dominate the market, gaining 249 BPS and accounting for 21.0% share by 2036.</a:t>
            </a:r>
          </a:p>
          <a:p>
            <a:pPr algn="l">
              <a:lnSpc>
                <a:spcPct val="110000"/>
              </a:lnSpc>
              <a:spcBef>
                <a:spcPts val="0"/>
              </a:spcBef>
              <a:spcAft>
                <a:spcPts val="500"/>
              </a:spcAft>
            </a:pPr>
            <a:r>
              <a:rPr sz="1100" b="0">
                <a:solidFill>
                  <a:srgbClr val="2E2E2E"/>
                </a:solidFill>
                <a:latin typeface="Calibri"/>
              </a:rPr>
              <a:t>Online marketplaces segment is projected to register 1.2X higher value than salon and professional distribution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Mass Retail: </a:t>
            </a:r>
            <a:r>
              <a:rPr sz="1100" b="0">
                <a:solidFill>
                  <a:srgbClr val="2E2E2E"/>
                </a:solidFill>
                <a:latin typeface="Calibri"/>
              </a:rPr>
              <a:t>20% of 2026 value · 5.4%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Online Marketplaces: </a:t>
            </a:r>
            <a:r>
              <a:rPr sz="1100" b="0">
                <a:solidFill>
                  <a:srgbClr val="2E2E2E"/>
                </a:solidFill>
                <a:latin typeface="Calibri"/>
              </a:rPr>
              <a:t>18% of 2026 value · 8.0%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Salon and Professional Distribution: </a:t>
            </a:r>
            <a:r>
              <a:rPr sz="1100" b="0">
                <a:solidFill>
                  <a:srgbClr val="2E2E2E"/>
                </a:solidFill>
                <a:latin typeface="Calibri"/>
              </a:rPr>
              <a:t>18% of 2026 value · 6.3% CAGR serves a niche.</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Distribution Channel segment is projected to grow at a CAGR of 6.7%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Beauty Specialty Retail</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2,510</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4,895</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6.9%</a:t>
            </a:r>
          </a:p>
        </p:txBody>
      </p:sp>
      <p:sp>
        <p:nvSpPr>
          <p:cNvPr id="25" name="Oval 24"/>
          <p:cNvSpPr/>
          <p:nvPr/>
        </p:nvSpPr>
        <p:spPr>
          <a:xfrm>
            <a:off x="333375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26" name="Rounded Rectangle 25"/>
          <p:cNvSpPr/>
          <p:nvPr/>
        </p:nvSpPr>
        <p:spPr>
          <a:xfrm>
            <a:off x="523875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Pharmacies and Drugstores</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2,423</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4,270</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5.8%</a:t>
            </a:r>
          </a:p>
        </p:txBody>
      </p:sp>
      <p:sp>
        <p:nvSpPr>
          <p:cNvPr id="32" name="Oval 31"/>
          <p:cNvSpPr/>
          <p:nvPr/>
        </p:nvSpPr>
        <p:spPr>
          <a:xfrm>
            <a:off x="670560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33" name="Rounded Rectangle 32"/>
          <p:cNvSpPr/>
          <p:nvPr/>
        </p:nvSpPr>
        <p:spPr>
          <a:xfrm>
            <a:off x="861060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Brand-owned Online Stores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2,051</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4,245</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7.5%</a:t>
            </a:r>
          </a:p>
        </p:txBody>
      </p:sp>
      <p:sp>
        <p:nvSpPr>
          <p:cNvPr id="39" name="Oval 38"/>
          <p:cNvSpPr/>
          <p:nvPr/>
        </p:nvSpPr>
        <p:spPr>
          <a:xfrm>
            <a:off x="1007745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Beauty Specialty Retail: </a:t>
            </a:r>
            <a:r>
              <a:rPr sz="1100" b="0">
                <a:solidFill>
                  <a:srgbClr val="2E2E2E"/>
                </a:solidFill>
                <a:latin typeface="Calibri"/>
              </a:rPr>
              <a:t>16% of 2026 value · 6.9%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Pharmacies and Drugstores: </a:t>
            </a:r>
            <a:r>
              <a:rPr sz="1100" b="0">
                <a:solidFill>
                  <a:srgbClr val="2E2E2E"/>
                </a:solidFill>
                <a:latin typeface="Calibri"/>
              </a:rPr>
              <a:t>15% of 2026 value · 5.8%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Brand-owned Online Stores: </a:t>
            </a:r>
            <a:r>
              <a:rPr sz="1100" b="0">
                <a:solidFill>
                  <a:srgbClr val="2E2E2E"/>
                </a:solidFill>
                <a:latin typeface="Calibri"/>
              </a:rPr>
              <a:t>13% of 2026 value · 7.5% CAGR serves a niche.</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Online marketplaces followed by salon and professional distribution are expected to be the two most attractive distribution channel segments in the global hair styling products market in terms of value over the forecast period. Online marketplaces and salon and professional distribution exhibit a CAGR index of 120.4 and 95.2 and a market share index of 110.9 and 110.7 respectively, against the segment average of 100. The pharmacies and drugstores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Distribution Channel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Mass Retail</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Beauty Specialty Retail</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Salon and Professional Distribution</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Pharmacies and Drugstores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Distribution Channel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Online Marketplaces</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Brand-owned Online Stores</a:t>
            </a:r>
          </a:p>
        </p:txBody>
      </p:sp>
      <p:graphicFrame>
        <p:nvGraphicFramePr>
          <p:cNvPr id="15" name="Chart 14"/>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Distribution Channel</a:t>
            </a:r>
          </a:p>
        </p:txBody>
      </p:sp>
      <p:sp>
        <p:nvSpPr>
          <p:cNvPr id="18" name="Rectangle 17"/>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online marketplaces segment is anticipated to witness an increase of 2.2X in terms of value as compared to 2026. The online marketplaces segment is expected to create an incremental opportunity of US$ 3,460 Mn for the overall hair styling products market from 2026 to 2036.</a:t>
            </a:r>
          </a:p>
          <a:p>
            <a:pPr algn="l">
              <a:lnSpc>
                <a:spcPct val="110000"/>
              </a:lnSpc>
              <a:spcBef>
                <a:spcPts val="0"/>
              </a:spcBef>
              <a:spcAft>
                <a:spcPts val="500"/>
              </a:spcAft>
            </a:pPr>
            <a:r>
              <a:rPr sz="1150" b="0">
                <a:solidFill>
                  <a:srgbClr val="2E2E2E"/>
                </a:solidFill>
                <a:latin typeface="Calibri"/>
              </a:rPr>
              <a:t>The salon and professional distribution segment is expected to create an incremental opportunity of US$ 2,522 Mn for the overall hair styling products market from 2026 to 2036. The beauty specialty retail segment is expected to create an incremental opportunity of US$ 2,385 Mn for the overall hair styling products market from 2026 to 2036.</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Distribution Channel (US$ Mn)</a:t>
            </a:r>
          </a:p>
        </p:txBody>
      </p:sp>
      <p:graphicFrame>
        <p:nvGraphicFramePr>
          <p:cNvPr id="13" name="Table 12"/>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Distribution Channel</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Online marketplaces segment is projected to register 1.2X higher value than salon and professional distribution segment in 2036. Among hair styling products by distribution channel, online marketplaces segment is expected to witness the highest CAGR of 8.0% over the forecast period.</a:t>
            </a:r>
          </a:p>
          <a:p>
            <a:pPr algn="l">
              <a:lnSpc>
                <a:spcPct val="110000"/>
              </a:lnSpc>
              <a:spcBef>
                <a:spcPts val="0"/>
              </a:spcBef>
              <a:spcAft>
                <a:spcPts val="500"/>
              </a:spcAft>
            </a:pPr>
            <a:r>
              <a:rPr sz="1150" b="0">
                <a:solidFill>
                  <a:srgbClr val="2E2E2E"/>
                </a:solidFill>
                <a:latin typeface="Calibri"/>
              </a:rPr>
              <a:t>In terms of value share by distribution channel, the online marketplaces segment is expected to dominate the market, gaining 249 BPS and accounting for 21.0% share by 2036. The mass retail segment is expected to lose 228 BPS over the forecast period to account for 17.4%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Distribution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87513"/>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8275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0655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Brand-owned Online Stores</a:t>
            </a:r>
          </a:p>
        </p:txBody>
      </p:sp>
      <p:sp>
        <p:nvSpPr>
          <p:cNvPr id="19" name="BPS Value 1"/>
          <p:cNvSpPr txBox="1"/>
          <p:nvPr/>
        </p:nvSpPr>
        <p:spPr>
          <a:xfrm>
            <a:off x="6896100" y="1968463"/>
            <a:ext cx="514350" cy="123825"/>
          </a:xfrm>
          <a:prstGeom prst="rect">
            <a:avLst/>
          </a:prstGeom>
          <a:noFill/>
        </p:spPr>
        <p:txBody>
          <a:bodyPr wrap="none" lIns="0" rIns="0" tIns="0" bIns="0" anchor="ctr">
            <a:spAutoFit/>
          </a:bodyPr>
          <a:lstStyle/>
          <a:p>
            <a:pPr algn="r"/>
            <a:r>
              <a:rPr sz="900" b="1">
                <a:solidFill>
                  <a:srgbClr val="2E7D32"/>
                </a:solidFill>
                <a:latin typeface="Calibri"/>
              </a:rPr>
              <a:t>+110</a:t>
            </a:r>
          </a:p>
        </p:txBody>
      </p:sp>
      <p:sp>
        <p:nvSpPr>
          <p:cNvPr id="20" name="FMI Legend Chip"/>
          <p:cNvSpPr/>
          <p:nvPr/>
        </p:nvSpPr>
        <p:spPr>
          <a:xfrm>
            <a:off x="4928997" y="262187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61711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54091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Pharmacies and Drugstores</a:t>
            </a:r>
          </a:p>
        </p:txBody>
      </p:sp>
      <p:sp>
        <p:nvSpPr>
          <p:cNvPr id="23" name="BPS Value 2"/>
          <p:cNvSpPr txBox="1"/>
          <p:nvPr/>
        </p:nvSpPr>
        <p:spPr>
          <a:xfrm>
            <a:off x="6896100" y="2602822"/>
            <a:ext cx="514350" cy="123825"/>
          </a:xfrm>
          <a:prstGeom prst="rect">
            <a:avLst/>
          </a:prstGeom>
          <a:noFill/>
        </p:spPr>
        <p:txBody>
          <a:bodyPr wrap="none" lIns="0" rIns="0" tIns="0" bIns="0" anchor="ctr">
            <a:spAutoFit/>
          </a:bodyPr>
          <a:lstStyle/>
          <a:p>
            <a:pPr algn="r"/>
            <a:r>
              <a:rPr sz="900" b="1">
                <a:solidFill>
                  <a:srgbClr val="E44D3A"/>
                </a:solidFill>
                <a:latin typeface="Calibri"/>
              </a:rPr>
              <a:t>-113</a:t>
            </a:r>
          </a:p>
        </p:txBody>
      </p:sp>
      <p:sp>
        <p:nvSpPr>
          <p:cNvPr id="24" name="FMI Legend Chip"/>
          <p:cNvSpPr/>
          <p:nvPr/>
        </p:nvSpPr>
        <p:spPr>
          <a:xfrm>
            <a:off x="4928997" y="3304630"/>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29986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22366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Beauty Specialty Retail</a:t>
            </a:r>
          </a:p>
        </p:txBody>
      </p:sp>
      <p:sp>
        <p:nvSpPr>
          <p:cNvPr id="27" name="BPS Value 3"/>
          <p:cNvSpPr txBox="1"/>
          <p:nvPr/>
        </p:nvSpPr>
        <p:spPr>
          <a:xfrm>
            <a:off x="6896100" y="3285580"/>
            <a:ext cx="514350" cy="123825"/>
          </a:xfrm>
          <a:prstGeom prst="rect">
            <a:avLst/>
          </a:prstGeom>
          <a:noFill/>
        </p:spPr>
        <p:txBody>
          <a:bodyPr wrap="none" lIns="0" rIns="0" tIns="0" bIns="0" anchor="ctr">
            <a:spAutoFit/>
          </a:bodyPr>
          <a:lstStyle/>
          <a:p>
            <a:pPr algn="r"/>
            <a:r>
              <a:rPr sz="900" b="1">
                <a:solidFill>
                  <a:srgbClr val="2E7D32"/>
                </a:solidFill>
                <a:latin typeface="Calibri"/>
              </a:rPr>
              <a:t>+37</a:t>
            </a:r>
          </a:p>
        </p:txBody>
      </p:sp>
      <p:sp>
        <p:nvSpPr>
          <p:cNvPr id="28" name="FMI Legend Chip"/>
          <p:cNvSpPr/>
          <p:nvPr/>
        </p:nvSpPr>
        <p:spPr>
          <a:xfrm>
            <a:off x="4928997" y="406769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06293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9867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Mass Retail</a:t>
            </a:r>
          </a:p>
        </p:txBody>
      </p:sp>
      <p:sp>
        <p:nvSpPr>
          <p:cNvPr id="31" name="BPS Value 4"/>
          <p:cNvSpPr txBox="1"/>
          <p:nvPr/>
        </p:nvSpPr>
        <p:spPr>
          <a:xfrm>
            <a:off x="6896100" y="4048646"/>
            <a:ext cx="514350" cy="123825"/>
          </a:xfrm>
          <a:prstGeom prst="rect">
            <a:avLst/>
          </a:prstGeom>
          <a:noFill/>
        </p:spPr>
        <p:txBody>
          <a:bodyPr wrap="none" lIns="0" rIns="0" tIns="0" bIns="0" anchor="ctr">
            <a:spAutoFit/>
          </a:bodyPr>
          <a:lstStyle/>
          <a:p>
            <a:pPr algn="r"/>
            <a:r>
              <a:rPr sz="900" b="1">
                <a:solidFill>
                  <a:srgbClr val="E44D3A"/>
                </a:solidFill>
                <a:latin typeface="Calibri"/>
              </a:rPr>
              <a:t>-228</a:t>
            </a:r>
          </a:p>
        </p:txBody>
      </p:sp>
      <p:sp>
        <p:nvSpPr>
          <p:cNvPr id="32" name="FMI Legend Chip"/>
          <p:cNvSpPr/>
          <p:nvPr/>
        </p:nvSpPr>
        <p:spPr>
          <a:xfrm>
            <a:off x="4928997" y="487528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487052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79432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Salon and Professional Distribution</a:t>
            </a:r>
          </a:p>
        </p:txBody>
      </p:sp>
      <p:sp>
        <p:nvSpPr>
          <p:cNvPr id="35" name="BPS Value 5"/>
          <p:cNvSpPr txBox="1"/>
          <p:nvPr/>
        </p:nvSpPr>
        <p:spPr>
          <a:xfrm>
            <a:off x="6896100" y="4856232"/>
            <a:ext cx="514350" cy="123825"/>
          </a:xfrm>
          <a:prstGeom prst="rect">
            <a:avLst/>
          </a:prstGeom>
          <a:noFill/>
        </p:spPr>
        <p:txBody>
          <a:bodyPr wrap="none" lIns="0" rIns="0" tIns="0" bIns="0" anchor="ctr">
            <a:spAutoFit/>
          </a:bodyPr>
          <a:lstStyle/>
          <a:p>
            <a:pPr algn="r"/>
            <a:r>
              <a:rPr sz="900" b="1">
                <a:solidFill>
                  <a:srgbClr val="E44D3A"/>
                </a:solidFill>
                <a:latin typeface="Calibri"/>
              </a:rPr>
              <a:t>-55</a:t>
            </a:r>
          </a:p>
        </p:txBody>
      </p:sp>
      <p:sp>
        <p:nvSpPr>
          <p:cNvPr id="36" name="FMI Legend Chip"/>
          <p:cNvSpPr/>
          <p:nvPr/>
        </p:nvSpPr>
        <p:spPr>
          <a:xfrm>
            <a:off x="4928997" y="576404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75928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68308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Marketplaces</a:t>
            </a:r>
          </a:p>
        </p:txBody>
      </p:sp>
      <p:sp>
        <p:nvSpPr>
          <p:cNvPr id="39" name="BPS Value 6"/>
          <p:cNvSpPr txBox="1"/>
          <p:nvPr/>
        </p:nvSpPr>
        <p:spPr>
          <a:xfrm>
            <a:off x="6896100" y="5744997"/>
            <a:ext cx="514350" cy="123825"/>
          </a:xfrm>
          <a:prstGeom prst="rect">
            <a:avLst/>
          </a:prstGeom>
          <a:noFill/>
        </p:spPr>
        <p:txBody>
          <a:bodyPr wrap="none" lIns="0" rIns="0" tIns="0" bIns="0" anchor="ctr">
            <a:spAutoFit/>
          </a:bodyPr>
          <a:lstStyle/>
          <a:p>
            <a:pPr algn="r"/>
            <a:r>
              <a:rPr sz="900" b="1">
                <a:solidFill>
                  <a:srgbClr val="2E7D32"/>
                </a:solidFill>
                <a:latin typeface="Calibri"/>
              </a:rPr>
              <a:t>+249</a:t>
            </a:r>
          </a:p>
        </p:txBody>
      </p:sp>
      <p:sp>
        <p:nvSpPr>
          <p:cNvPr id="40" name="Rounded Rectangle 3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Distribution Channel</a:t>
            </a:r>
          </a:p>
        </p:txBody>
      </p:sp>
      <p:sp>
        <p:nvSpPr>
          <p:cNvPr id="42" name="Rectangle 41"/>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distribution channel, online marketplaces segment is expected to witness the highest CAGR of 8.0% over the forecast period. In terms of value share by distribution channel, the online marketplaces segment is expected to dominate the market, gaining 249 BPS and accounting for 21.0% share by 2036.</a:t>
            </a:r>
          </a:p>
          <a:p>
            <a:pPr algn="l">
              <a:lnSpc>
                <a:spcPct val="110000"/>
              </a:lnSpc>
              <a:spcBef>
                <a:spcPts val="0"/>
              </a:spcBef>
              <a:spcAft>
                <a:spcPts val="500"/>
              </a:spcAft>
            </a:pPr>
            <a:r>
              <a:rPr sz="1150" b="0">
                <a:solidFill>
                  <a:srgbClr val="2E2E2E"/>
                </a:solidFill>
                <a:latin typeface="Calibri"/>
              </a:rPr>
              <a:t>The mass retail segment is expected to lose 228 BPS over the forecast period to account for 17.4% share by 2036.</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527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Distribution Channel (%)  ·  light = lower, dark = higher growth</a:t>
            </a:r>
          </a:p>
        </p:txBody>
      </p:sp>
      <p:sp>
        <p:nvSpPr>
          <p:cNvPr id="17" name="TextBox 16"/>
          <p:cNvSpPr txBox="1"/>
          <p:nvPr/>
        </p:nvSpPr>
        <p:spPr>
          <a:xfrm>
            <a:off x="185233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49655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078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501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2923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346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1768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1915"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614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036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459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3882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304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27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49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52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Mass Retail</a:t>
            </a:r>
          </a:p>
        </p:txBody>
      </p:sp>
      <p:sp>
        <p:nvSpPr>
          <p:cNvPr id="33" name="Rectangle 32"/>
          <p:cNvSpPr/>
          <p:nvPr/>
        </p:nvSpPr>
        <p:spPr>
          <a:xfrm>
            <a:off x="1852331" y="3524250"/>
            <a:ext cx="644226" cy="508000"/>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496557" y="3524250"/>
            <a:ext cx="644226" cy="508000"/>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0784" y="3524250"/>
            <a:ext cx="644226" cy="508000"/>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5010" y="3524250"/>
            <a:ext cx="644226" cy="508000"/>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29236" y="3524250"/>
            <a:ext cx="644226" cy="508000"/>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3462" y="3524250"/>
            <a:ext cx="644226" cy="508000"/>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17689" y="3524250"/>
            <a:ext cx="644226" cy="50800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1915" y="3524250"/>
            <a:ext cx="644226" cy="508000"/>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6141" y="3524250"/>
            <a:ext cx="644226" cy="508000"/>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0367" y="3524250"/>
            <a:ext cx="644226" cy="508000"/>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4594" y="3524250"/>
            <a:ext cx="644226" cy="508000"/>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38820" y="3524250"/>
            <a:ext cx="644226" cy="50800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3046" y="3524250"/>
            <a:ext cx="644226" cy="508000"/>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272" y="3524250"/>
            <a:ext cx="644226" cy="508000"/>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499" y="3524250"/>
            <a:ext cx="644226" cy="50800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32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Beauty Specialty Retail</a:t>
            </a:r>
          </a:p>
        </p:txBody>
      </p:sp>
      <p:sp>
        <p:nvSpPr>
          <p:cNvPr id="49" name="Rectangle 48"/>
          <p:cNvSpPr/>
          <p:nvPr/>
        </p:nvSpPr>
        <p:spPr>
          <a:xfrm>
            <a:off x="1852331" y="4032250"/>
            <a:ext cx="644226" cy="508000"/>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496557" y="4032250"/>
            <a:ext cx="644226" cy="50800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0784" y="4032250"/>
            <a:ext cx="644226" cy="50800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5010" y="4032250"/>
            <a:ext cx="644226" cy="50800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29236" y="4032250"/>
            <a:ext cx="644226" cy="508000"/>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3462" y="4032250"/>
            <a:ext cx="644226" cy="50800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17689" y="4032250"/>
            <a:ext cx="644226" cy="50800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1915" y="4032250"/>
            <a:ext cx="644226" cy="508000"/>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6141" y="4032250"/>
            <a:ext cx="644226" cy="508000"/>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0367" y="4032250"/>
            <a:ext cx="644226" cy="508000"/>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4594" y="4032250"/>
            <a:ext cx="644226" cy="508000"/>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38820" y="4032250"/>
            <a:ext cx="644226" cy="508000"/>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3046" y="4032250"/>
            <a:ext cx="644226" cy="508000"/>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272" y="4032250"/>
            <a:ext cx="644226" cy="508000"/>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499" y="4032250"/>
            <a:ext cx="644226" cy="508000"/>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0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Salon and Professional Distribution</a:t>
            </a:r>
          </a:p>
        </p:txBody>
      </p:sp>
      <p:sp>
        <p:nvSpPr>
          <p:cNvPr id="65" name="Rectangle 64"/>
          <p:cNvSpPr/>
          <p:nvPr/>
        </p:nvSpPr>
        <p:spPr>
          <a:xfrm>
            <a:off x="1852331" y="4540250"/>
            <a:ext cx="644226" cy="50800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496557" y="4540250"/>
            <a:ext cx="644226" cy="50800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0784" y="4540250"/>
            <a:ext cx="644226" cy="508000"/>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5010" y="4540250"/>
            <a:ext cx="644226" cy="508000"/>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29236" y="4540250"/>
            <a:ext cx="644226" cy="508000"/>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3462" y="4540250"/>
            <a:ext cx="644226" cy="50800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17689" y="4540250"/>
            <a:ext cx="644226" cy="50800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1915" y="4540250"/>
            <a:ext cx="644226" cy="50800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6141" y="4540250"/>
            <a:ext cx="644226" cy="508000"/>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0367" y="4540250"/>
            <a:ext cx="644226" cy="508000"/>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4594" y="4540250"/>
            <a:ext cx="644226" cy="508000"/>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38820" y="4540250"/>
            <a:ext cx="644226" cy="508000"/>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3046" y="4540250"/>
            <a:ext cx="644226" cy="508000"/>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272" y="4540250"/>
            <a:ext cx="644226" cy="508000"/>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499" y="4540250"/>
            <a:ext cx="644226" cy="508000"/>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48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Pharmacies and Drugstores</a:t>
            </a:r>
          </a:p>
        </p:txBody>
      </p:sp>
      <p:sp>
        <p:nvSpPr>
          <p:cNvPr id="81" name="Rectangle 80"/>
          <p:cNvSpPr/>
          <p:nvPr/>
        </p:nvSpPr>
        <p:spPr>
          <a:xfrm>
            <a:off x="1852331" y="5048250"/>
            <a:ext cx="644226" cy="50800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496557" y="5048250"/>
            <a:ext cx="644226" cy="50800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0784" y="5048250"/>
            <a:ext cx="644226" cy="508000"/>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5010" y="5048250"/>
            <a:ext cx="644226" cy="508000"/>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29236" y="5048250"/>
            <a:ext cx="644226" cy="508000"/>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3462" y="5048250"/>
            <a:ext cx="644226" cy="50800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17689" y="5048250"/>
            <a:ext cx="644226" cy="508000"/>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1915" y="5048250"/>
            <a:ext cx="644226" cy="508000"/>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6141" y="5048250"/>
            <a:ext cx="644226" cy="50800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0367" y="5048250"/>
            <a:ext cx="644226" cy="508000"/>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4594" y="5048250"/>
            <a:ext cx="644226" cy="508000"/>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38820" y="5048250"/>
            <a:ext cx="644226" cy="50800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3046" y="5048250"/>
            <a:ext cx="644226" cy="50800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272" y="5048250"/>
            <a:ext cx="644226" cy="50800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499" y="5048250"/>
            <a:ext cx="644226" cy="50800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556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Online Marketplaces</a:t>
            </a:r>
          </a:p>
        </p:txBody>
      </p:sp>
      <p:sp>
        <p:nvSpPr>
          <p:cNvPr id="97" name="Rectangle 96"/>
          <p:cNvSpPr/>
          <p:nvPr/>
        </p:nvSpPr>
        <p:spPr>
          <a:xfrm>
            <a:off x="1852331" y="5556250"/>
            <a:ext cx="644226" cy="5080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496557" y="5556250"/>
            <a:ext cx="644226" cy="50800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0784" y="5556250"/>
            <a:ext cx="644226" cy="5080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5010" y="5556250"/>
            <a:ext cx="644226" cy="50800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29236" y="5556250"/>
            <a:ext cx="644226" cy="50800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3462" y="5556250"/>
            <a:ext cx="644226" cy="508000"/>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17689" y="5556250"/>
            <a:ext cx="644226" cy="508000"/>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1915" y="5556250"/>
            <a:ext cx="644226" cy="508000"/>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6141" y="5556250"/>
            <a:ext cx="644226" cy="508000"/>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0367" y="5556250"/>
            <a:ext cx="644226" cy="508000"/>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4594" y="5556250"/>
            <a:ext cx="644226" cy="5080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38820" y="5556250"/>
            <a:ext cx="644226" cy="508000"/>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3046" y="5556250"/>
            <a:ext cx="644226" cy="508000"/>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272" y="5556250"/>
            <a:ext cx="644226" cy="508000"/>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499" y="5556250"/>
            <a:ext cx="644226" cy="508000"/>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6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Brand-owned Online Stores</a:t>
            </a:r>
          </a:p>
        </p:txBody>
      </p:sp>
      <p:sp>
        <p:nvSpPr>
          <p:cNvPr id="113" name="Rectangle 112"/>
          <p:cNvSpPr/>
          <p:nvPr/>
        </p:nvSpPr>
        <p:spPr>
          <a:xfrm>
            <a:off x="1852331" y="6064250"/>
            <a:ext cx="644226" cy="508000"/>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496557" y="6064250"/>
            <a:ext cx="644226" cy="508000"/>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0784" y="6064250"/>
            <a:ext cx="644226" cy="508000"/>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5010" y="6064250"/>
            <a:ext cx="644226" cy="508000"/>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29236" y="6064250"/>
            <a:ext cx="644226" cy="508000"/>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3462" y="6064250"/>
            <a:ext cx="644226" cy="508000"/>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17689" y="6064250"/>
            <a:ext cx="644226" cy="50800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1915" y="6064250"/>
            <a:ext cx="644226" cy="508000"/>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6141" y="6064250"/>
            <a:ext cx="644226" cy="508000"/>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0367" y="6064250"/>
            <a:ext cx="644226" cy="508000"/>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4594" y="6064250"/>
            <a:ext cx="644226" cy="508000"/>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38820" y="6064250"/>
            <a:ext cx="644226" cy="508000"/>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3046" y="6064250"/>
            <a:ext cx="644226" cy="508000"/>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272" y="6064250"/>
            <a:ext cx="644226" cy="508000"/>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499" y="6064250"/>
            <a:ext cx="644226" cy="508000"/>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562350"/>
            <a:ext cx="104775" cy="8191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636645"/>
            <a:ext cx="104775" cy="8191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710940"/>
            <a:ext cx="104775" cy="8191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785235"/>
            <a:ext cx="104775" cy="8191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3859530"/>
            <a:ext cx="104775" cy="8191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3933825"/>
            <a:ext cx="104775" cy="8191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008120"/>
            <a:ext cx="104775" cy="8191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082415"/>
            <a:ext cx="104775" cy="8191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156710"/>
            <a:ext cx="104775" cy="8191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231005"/>
            <a:ext cx="104775" cy="8191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305300"/>
            <a:ext cx="104775" cy="8191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379595"/>
            <a:ext cx="104775" cy="8191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453890"/>
            <a:ext cx="104775" cy="8191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528185"/>
            <a:ext cx="104775" cy="8191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602480"/>
            <a:ext cx="104775" cy="8191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676775"/>
            <a:ext cx="104775" cy="8191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751070"/>
            <a:ext cx="104775" cy="8191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825365"/>
            <a:ext cx="104775" cy="8191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899660"/>
            <a:ext cx="104775" cy="8191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973955"/>
            <a:ext cx="104775" cy="8191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048250"/>
            <a:ext cx="104775" cy="8191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122545"/>
            <a:ext cx="104775" cy="8191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196840"/>
            <a:ext cx="104775" cy="8191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271135"/>
            <a:ext cx="104775" cy="8191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345430"/>
            <a:ext cx="104775" cy="8191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19725"/>
            <a:ext cx="104775" cy="8191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494020"/>
            <a:ext cx="104775" cy="8191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568315"/>
            <a:ext cx="104775" cy="8191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642610"/>
            <a:ext cx="104775" cy="8191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16905"/>
            <a:ext cx="104775" cy="8191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791200"/>
            <a:ext cx="104775" cy="8191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865495"/>
            <a:ext cx="104775" cy="8191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39790"/>
            <a:ext cx="104775" cy="8191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14085"/>
            <a:ext cx="104775" cy="8191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088380"/>
            <a:ext cx="104775" cy="8191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62675"/>
            <a:ext cx="104775" cy="8191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36970"/>
            <a:ext cx="104775" cy="8191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11265"/>
            <a:ext cx="104775" cy="8191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85560"/>
            <a:ext cx="104775" cy="8191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59855"/>
            <a:ext cx="104775" cy="8191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562350"/>
            <a:ext cx="104775" cy="29718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49567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70" name="TextBox 169"/>
          <p:cNvSpPr txBox="1"/>
          <p:nvPr/>
        </p:nvSpPr>
        <p:spPr>
          <a:xfrm>
            <a:off x="11687175" y="498157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Primary Styling Benefit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Primary Styling Benefit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Primary Styling Benefit,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Primary Styling Benefit segment categorizes the market by primary styling benefit.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330779"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330779"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Smoothing and Frizz Control</a:t>
            </a:r>
          </a:p>
        </p:txBody>
      </p:sp>
      <p:sp>
        <p:nvSpPr>
          <p:cNvPr id="23" name="Rectangle 22"/>
          <p:cNvSpPr/>
          <p:nvPr/>
        </p:nvSpPr>
        <p:spPr>
          <a:xfrm>
            <a:off x="1866900"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2,625</a:t>
            </a:r>
          </a:p>
        </p:txBody>
      </p:sp>
      <p:sp>
        <p:nvSpPr>
          <p:cNvPr id="24" name="Rectangle 23"/>
          <p:cNvSpPr/>
          <p:nvPr/>
        </p:nvSpPr>
        <p:spPr>
          <a:xfrm>
            <a:off x="1866900"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5,268</a:t>
            </a:r>
          </a:p>
        </p:txBody>
      </p:sp>
      <p:sp>
        <p:nvSpPr>
          <p:cNvPr id="25" name="Rectangle 24"/>
          <p:cNvSpPr/>
          <p:nvPr/>
        </p:nvSpPr>
        <p:spPr>
          <a:xfrm>
            <a:off x="1866900"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7.2%</a:t>
            </a:r>
          </a:p>
        </p:txBody>
      </p:sp>
      <p:sp>
        <p:nvSpPr>
          <p:cNvPr id="26" name="Oval 25"/>
          <p:cNvSpPr/>
          <p:nvPr/>
        </p:nvSpPr>
        <p:spPr>
          <a:xfrm>
            <a:off x="237036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311979" y="1773916"/>
            <a:ext cx="1330779"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311979" y="1992961"/>
            <a:ext cx="1330779"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350079"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Hold and Shape</a:t>
            </a:r>
          </a:p>
        </p:txBody>
      </p:sp>
      <p:sp>
        <p:nvSpPr>
          <p:cNvPr id="30" name="Rectangle 29"/>
          <p:cNvSpPr/>
          <p:nvPr/>
        </p:nvSpPr>
        <p:spPr>
          <a:xfrm>
            <a:off x="3311979"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2,456</a:t>
            </a:r>
          </a:p>
        </p:txBody>
      </p:sp>
      <p:sp>
        <p:nvSpPr>
          <p:cNvPr id="31" name="Rectangle 30"/>
          <p:cNvSpPr/>
          <p:nvPr/>
        </p:nvSpPr>
        <p:spPr>
          <a:xfrm>
            <a:off x="3311979"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4,003</a:t>
            </a:r>
          </a:p>
        </p:txBody>
      </p:sp>
      <p:sp>
        <p:nvSpPr>
          <p:cNvPr id="32" name="Rectangle 31"/>
          <p:cNvSpPr/>
          <p:nvPr/>
        </p:nvSpPr>
        <p:spPr>
          <a:xfrm>
            <a:off x="3311979"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5.0%</a:t>
            </a:r>
          </a:p>
        </p:txBody>
      </p:sp>
      <p:sp>
        <p:nvSpPr>
          <p:cNvPr id="33" name="Oval 32"/>
          <p:cNvSpPr/>
          <p:nvPr/>
        </p:nvSpPr>
        <p:spPr>
          <a:xfrm>
            <a:off x="3815443"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4757057" y="1773916"/>
            <a:ext cx="1330779"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4757057" y="1992961"/>
            <a:ext cx="1330779"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795157"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Curl Definition</a:t>
            </a:r>
          </a:p>
        </p:txBody>
      </p:sp>
      <p:sp>
        <p:nvSpPr>
          <p:cNvPr id="37" name="Rectangle 36"/>
          <p:cNvSpPr/>
          <p:nvPr/>
        </p:nvSpPr>
        <p:spPr>
          <a:xfrm>
            <a:off x="4757057"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2,369</a:t>
            </a:r>
          </a:p>
        </p:txBody>
      </p:sp>
      <p:sp>
        <p:nvSpPr>
          <p:cNvPr id="38" name="Rectangle 37"/>
          <p:cNvSpPr/>
          <p:nvPr/>
        </p:nvSpPr>
        <p:spPr>
          <a:xfrm>
            <a:off x="4757057"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5,193</a:t>
            </a:r>
          </a:p>
        </p:txBody>
      </p:sp>
      <p:sp>
        <p:nvSpPr>
          <p:cNvPr id="39" name="Rectangle 38"/>
          <p:cNvSpPr/>
          <p:nvPr/>
        </p:nvSpPr>
        <p:spPr>
          <a:xfrm>
            <a:off x="4757057"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8.2%</a:t>
            </a:r>
          </a:p>
        </p:txBody>
      </p:sp>
      <p:sp>
        <p:nvSpPr>
          <p:cNvPr id="40" name="Oval 39"/>
          <p:cNvSpPr/>
          <p:nvPr/>
        </p:nvSpPr>
        <p:spPr>
          <a:xfrm>
            <a:off x="5260521"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202136" y="1773916"/>
            <a:ext cx="1330779"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202136" y="1992961"/>
            <a:ext cx="1330779"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240236"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Heat Styling Support</a:t>
            </a:r>
          </a:p>
        </p:txBody>
      </p:sp>
      <p:sp>
        <p:nvSpPr>
          <p:cNvPr id="44" name="Rectangle 43"/>
          <p:cNvSpPr/>
          <p:nvPr/>
        </p:nvSpPr>
        <p:spPr>
          <a:xfrm>
            <a:off x="6202136"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2,297</a:t>
            </a:r>
          </a:p>
        </p:txBody>
      </p:sp>
      <p:sp>
        <p:nvSpPr>
          <p:cNvPr id="45" name="Rectangle 44"/>
          <p:cNvSpPr/>
          <p:nvPr/>
        </p:nvSpPr>
        <p:spPr>
          <a:xfrm>
            <a:off x="6202136"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4,788</a:t>
            </a:r>
          </a:p>
        </p:txBody>
      </p:sp>
      <p:sp>
        <p:nvSpPr>
          <p:cNvPr id="46" name="Rectangle 45"/>
          <p:cNvSpPr/>
          <p:nvPr/>
        </p:nvSpPr>
        <p:spPr>
          <a:xfrm>
            <a:off x="6202136"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7.6%</a:t>
            </a:r>
          </a:p>
        </p:txBody>
      </p:sp>
      <p:sp>
        <p:nvSpPr>
          <p:cNvPr id="47" name="Oval 46"/>
          <p:cNvSpPr/>
          <p:nvPr/>
        </p:nvSpPr>
        <p:spPr>
          <a:xfrm>
            <a:off x="670560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7647214" y="1773916"/>
            <a:ext cx="1330779"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647214" y="1992961"/>
            <a:ext cx="1330779"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7685314"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Volume and Root Lift</a:t>
            </a:r>
          </a:p>
        </p:txBody>
      </p:sp>
      <p:sp>
        <p:nvSpPr>
          <p:cNvPr id="51" name="Rectangle 50"/>
          <p:cNvSpPr/>
          <p:nvPr/>
        </p:nvSpPr>
        <p:spPr>
          <a:xfrm>
            <a:off x="7647214"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2,285</a:t>
            </a:r>
          </a:p>
        </p:txBody>
      </p:sp>
      <p:sp>
        <p:nvSpPr>
          <p:cNvPr id="52" name="Rectangle 51"/>
          <p:cNvSpPr/>
          <p:nvPr/>
        </p:nvSpPr>
        <p:spPr>
          <a:xfrm>
            <a:off x="7647214"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4,087</a:t>
            </a:r>
          </a:p>
        </p:txBody>
      </p:sp>
      <p:sp>
        <p:nvSpPr>
          <p:cNvPr id="53" name="Rectangle 52"/>
          <p:cNvSpPr/>
          <p:nvPr/>
        </p:nvSpPr>
        <p:spPr>
          <a:xfrm>
            <a:off x="7647214"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6.0%</a:t>
            </a:r>
          </a:p>
        </p:txBody>
      </p:sp>
      <p:sp>
        <p:nvSpPr>
          <p:cNvPr id="54" name="Oval 53"/>
          <p:cNvSpPr/>
          <p:nvPr/>
        </p:nvSpPr>
        <p:spPr>
          <a:xfrm>
            <a:off x="815067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9092293" y="1773916"/>
            <a:ext cx="1330779"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092293" y="1992961"/>
            <a:ext cx="1330779"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130393"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Separation</a:t>
            </a:r>
          </a:p>
        </p:txBody>
      </p:sp>
      <p:sp>
        <p:nvSpPr>
          <p:cNvPr id="58" name="Rectangle 57"/>
          <p:cNvSpPr/>
          <p:nvPr/>
        </p:nvSpPr>
        <p:spPr>
          <a:xfrm>
            <a:off x="9092293"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2,226</a:t>
            </a:r>
          </a:p>
        </p:txBody>
      </p:sp>
      <p:sp>
        <p:nvSpPr>
          <p:cNvPr id="59" name="Rectangle 58"/>
          <p:cNvSpPr/>
          <p:nvPr/>
        </p:nvSpPr>
        <p:spPr>
          <a:xfrm>
            <a:off x="9092293"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4,180</a:t>
            </a:r>
          </a:p>
        </p:txBody>
      </p:sp>
      <p:sp>
        <p:nvSpPr>
          <p:cNvPr id="60" name="Rectangle 59"/>
          <p:cNvSpPr/>
          <p:nvPr/>
        </p:nvSpPr>
        <p:spPr>
          <a:xfrm>
            <a:off x="9092293"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6.5%</a:t>
            </a:r>
          </a:p>
        </p:txBody>
      </p:sp>
      <p:sp>
        <p:nvSpPr>
          <p:cNvPr id="61" name="Oval 60"/>
          <p:cNvSpPr/>
          <p:nvPr/>
        </p:nvSpPr>
        <p:spPr>
          <a:xfrm>
            <a:off x="9595757"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10537371" y="1773916"/>
            <a:ext cx="1330779"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537371" y="1992961"/>
            <a:ext cx="1330779"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10575471"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Sleek Styling and Edge Control</a:t>
            </a:r>
          </a:p>
        </p:txBody>
      </p:sp>
      <p:sp>
        <p:nvSpPr>
          <p:cNvPr id="65" name="Rectangle 64"/>
          <p:cNvSpPr/>
          <p:nvPr/>
        </p:nvSpPr>
        <p:spPr>
          <a:xfrm>
            <a:off x="10537371"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1,848</a:t>
            </a:r>
          </a:p>
        </p:txBody>
      </p:sp>
      <p:sp>
        <p:nvSpPr>
          <p:cNvPr id="66" name="Rectangle 65"/>
          <p:cNvSpPr/>
          <p:nvPr/>
        </p:nvSpPr>
        <p:spPr>
          <a:xfrm>
            <a:off x="10537371"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3,169</a:t>
            </a:r>
          </a:p>
        </p:txBody>
      </p:sp>
      <p:sp>
        <p:nvSpPr>
          <p:cNvPr id="67" name="Rectangle 66"/>
          <p:cNvSpPr/>
          <p:nvPr/>
        </p:nvSpPr>
        <p:spPr>
          <a:xfrm>
            <a:off x="10537371"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5.5%</a:t>
            </a:r>
          </a:p>
        </p:txBody>
      </p:sp>
      <p:sp>
        <p:nvSpPr>
          <p:cNvPr id="68" name="Oval 67"/>
          <p:cNvSpPr/>
          <p:nvPr/>
        </p:nvSpPr>
        <p:spPr>
          <a:xfrm>
            <a:off x="11040836"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71" name="Rectangle 70"/>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primary styling benefit, curl definition segment is expected to witness the highest CAGR of 8.2% over the forecast period. In terms of value share by primary styling benefit, the smoothing and frizz control segment is expected to dominate the market, gaining 87 BPS and accounting for 17.2% share by 2036.</a:t>
            </a:r>
          </a:p>
          <a:p>
            <a:pPr algn="l">
              <a:lnSpc>
                <a:spcPct val="110000"/>
              </a:lnSpc>
              <a:spcBef>
                <a:spcPts val="0"/>
              </a:spcBef>
              <a:spcAft>
                <a:spcPts val="500"/>
              </a:spcAft>
            </a:pPr>
            <a:r>
              <a:rPr sz="1100" b="0">
                <a:solidFill>
                  <a:srgbClr val="2E2E2E"/>
                </a:solidFill>
                <a:latin typeface="Calibri"/>
              </a:rPr>
              <a:t>Smoothing and frizz control segment is projected to register 1.0X higher value than curl definition segment in 2036.</a:t>
            </a:r>
          </a:p>
        </p:txBody>
      </p:sp>
      <p:sp>
        <p:nvSpPr>
          <p:cNvPr id="73" name="Rounded Rectangle 72"/>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75" name="Rectangle 74"/>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Smoothing and Frizz Control: </a:t>
            </a:r>
            <a:r>
              <a:rPr sz="1100" b="0">
                <a:solidFill>
                  <a:srgbClr val="2E2E2E"/>
                </a:solidFill>
                <a:latin typeface="Calibri"/>
              </a:rPr>
              <a:t>16% of 2026 value · 7.2%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Hold and Shape: </a:t>
            </a:r>
            <a:r>
              <a:rPr sz="1100" b="0">
                <a:solidFill>
                  <a:srgbClr val="2E2E2E"/>
                </a:solidFill>
                <a:latin typeface="Calibri"/>
              </a:rPr>
              <a:t>15% of 2026 value · 5.0%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Curl Definition: </a:t>
            </a:r>
            <a:r>
              <a:rPr sz="1100" b="0">
                <a:solidFill>
                  <a:srgbClr val="2E2E2E"/>
                </a:solidFill>
                <a:latin typeface="Calibri"/>
              </a:rPr>
              <a:t>15% of 2026 value · 8.2%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Heat Styling Support: </a:t>
            </a:r>
            <a:r>
              <a:rPr sz="1100" b="0">
                <a:solidFill>
                  <a:srgbClr val="2E2E2E"/>
                </a:solidFill>
                <a:latin typeface="Calibri"/>
              </a:rPr>
              <a:t>14% of 2026 value · 7.6%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Volume and Root Lift: </a:t>
            </a:r>
            <a:r>
              <a:rPr sz="1100" b="0">
                <a:solidFill>
                  <a:srgbClr val="2E2E2E"/>
                </a:solidFill>
                <a:latin typeface="Calibri"/>
              </a:rPr>
              <a:t>14% of 2026 value · 6.0%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Texture and Separation: </a:t>
            </a:r>
            <a:r>
              <a:rPr sz="1100" b="0">
                <a:solidFill>
                  <a:srgbClr val="2E2E2E"/>
                </a:solidFill>
                <a:latin typeface="Calibri"/>
              </a:rPr>
              <a:t>14% of 2026 value · 6.5%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Sleek Styling and Edge Control: </a:t>
            </a:r>
            <a:r>
              <a:rPr sz="1100" b="0">
                <a:solidFill>
                  <a:srgbClr val="2E2E2E"/>
                </a:solidFill>
                <a:latin typeface="Calibri"/>
              </a:rPr>
              <a:t>11% of 2026 value · 5.5% CAGR serves a niche.</a:t>
            </a:r>
          </a:p>
        </p:txBody>
      </p:sp>
      <p:sp>
        <p:nvSpPr>
          <p:cNvPr id="77" name="Rounded Rectangle 76"/>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9" name="Rectangle 78"/>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Primary Styling Benefit split shows how demand is distributed across primary styling benefit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81" name="Rectangle 80"/>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Primary Styling Benefit segment is projected to grow at a CAGR of 6.7% from 2026 to 2036.</a:t>
            </a:r>
          </a:p>
        </p:txBody>
      </p:sp>
      <p:sp>
        <p:nvSpPr>
          <p:cNvPr id="83" name="TextBox 82"/>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84" name="TextBox 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Primary Styling Benefit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Primary Styling Benefit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Primary Styling Benefit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Curl definition followed by smoothing and frizz control are expected to be the two most attractive primary styling benefit segments in the global hair styling products market in terms of value over the forecast period. Curl definition and smoothing and frizz control exhibit a CAGR index of 122.6 and 108.4 and a market share index of 103.0 and 114.1 respectively, against the segment average of 100. The sleek styling and edge control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Primary Styling Benefit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Hold and Shape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Curl Definition</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Volume and Root Lift</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Texture and Separation</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Primary Styling Benefit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Smoothing and Frizz Control</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Sleek Styling and Edge Control</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Heat Styling Support</a:t>
            </a:r>
          </a:p>
        </p:txBody>
      </p:sp>
      <p:graphicFrame>
        <p:nvGraphicFramePr>
          <p:cNvPr id="18" name="Chart 17"/>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Primary Styling Benefit</a:t>
            </a:r>
          </a:p>
        </p:txBody>
      </p:sp>
      <p:sp>
        <p:nvSpPr>
          <p:cNvPr id="21" name="Rectangle 20"/>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curl definition segment is anticipated to witness an increase of 2.2X in terms of value as compared to 2026. The curl definition segment is expected to create an incremental opportunity of US$ 2,824 Mn for the overall hair styling products market from 2026 to 2036.</a:t>
            </a:r>
          </a:p>
          <a:p>
            <a:pPr algn="l">
              <a:lnSpc>
                <a:spcPct val="110000"/>
              </a:lnSpc>
              <a:spcBef>
                <a:spcPts val="0"/>
              </a:spcBef>
              <a:spcAft>
                <a:spcPts val="500"/>
              </a:spcAft>
            </a:pPr>
            <a:r>
              <a:rPr sz="1150" b="0">
                <a:solidFill>
                  <a:srgbClr val="2E2E2E"/>
                </a:solidFill>
                <a:latin typeface="Calibri"/>
              </a:rPr>
              <a:t>The smoothing and frizz control segment is expected to create an incremental opportunity of US$ 2,643 Mn for the overall hair styling products market from 2026 to 2036. The heat styling support segment is expected to create an incremental opportunity of US$ 2,491 Mn for the overall hair styling products market from 2026 to 2036.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Primary Styling Benefit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Primary Styling Benefit,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Primary Styling Benefit (US$ Mn)</a:t>
            </a:r>
          </a:p>
        </p:txBody>
      </p:sp>
      <p:graphicFrame>
        <p:nvGraphicFramePr>
          <p:cNvPr id="13" name="Table 12"/>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099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Primary Styling Benefit</a:t>
            </a:r>
          </a:p>
        </p:txBody>
      </p:sp>
      <p:sp>
        <p:nvSpPr>
          <p:cNvPr id="17" name="Rectangle 16"/>
          <p:cNvSpPr/>
          <p:nvPr/>
        </p:nvSpPr>
        <p:spPr>
          <a:xfrm>
            <a:off x="276225" y="3848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33825"/>
            <a:ext cx="11639550" cy="2619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Smoothing and frizz control segment is projected to register 1.0X higher value than curl definition segment in 2036. Among hair styling products by primary styling benefit, curl definition segment is expected to witness the highest CAGR of 8.2% over the forecast period.</a:t>
            </a:r>
          </a:p>
          <a:p>
            <a:pPr algn="l">
              <a:lnSpc>
                <a:spcPct val="110000"/>
              </a:lnSpc>
              <a:spcBef>
                <a:spcPts val="0"/>
              </a:spcBef>
              <a:spcAft>
                <a:spcPts val="500"/>
              </a:spcAft>
            </a:pPr>
            <a:r>
              <a:rPr sz="1150" b="0">
                <a:solidFill>
                  <a:srgbClr val="2E2E2E"/>
                </a:solidFill>
                <a:latin typeface="Calibri"/>
              </a:rPr>
              <a:t>In terms of value share by primary styling benefit, the smoothing and frizz control segment is expected to dominate the market, gaining 87 BPS and accounting for 17.2% share by 2036. The hold and shape segment is expected to lose 220 BPS over the forecast period to account for 13.0%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Primary Styling Benefit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Primary Styling Benefit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07357"/>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0259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2639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Sleek Styling and Edge Control</a:t>
            </a:r>
          </a:p>
        </p:txBody>
      </p:sp>
      <p:sp>
        <p:nvSpPr>
          <p:cNvPr id="19" name="BPS Value 1"/>
          <p:cNvSpPr txBox="1"/>
          <p:nvPr/>
        </p:nvSpPr>
        <p:spPr>
          <a:xfrm>
            <a:off x="6896100" y="1888307"/>
            <a:ext cx="514350" cy="123825"/>
          </a:xfrm>
          <a:prstGeom prst="rect">
            <a:avLst/>
          </a:prstGeom>
          <a:noFill/>
        </p:spPr>
        <p:txBody>
          <a:bodyPr wrap="none" lIns="0" rIns="0" tIns="0" bIns="0" anchor="ctr">
            <a:spAutoFit/>
          </a:bodyPr>
          <a:lstStyle/>
          <a:p>
            <a:pPr algn="r"/>
            <a:r>
              <a:rPr sz="900" b="1">
                <a:solidFill>
                  <a:srgbClr val="E44D3A"/>
                </a:solidFill>
                <a:latin typeface="Calibri"/>
              </a:rPr>
              <a:t>-115</a:t>
            </a:r>
          </a:p>
        </p:txBody>
      </p:sp>
      <p:sp>
        <p:nvSpPr>
          <p:cNvPr id="20" name="FMI Legend Chip"/>
          <p:cNvSpPr/>
          <p:nvPr/>
        </p:nvSpPr>
        <p:spPr>
          <a:xfrm>
            <a:off x="4928997" y="2441647"/>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43688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6068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Hold and Shape</a:t>
            </a:r>
          </a:p>
        </p:txBody>
      </p:sp>
      <p:sp>
        <p:nvSpPr>
          <p:cNvPr id="23" name="BPS Value 2"/>
          <p:cNvSpPr txBox="1"/>
          <p:nvPr/>
        </p:nvSpPr>
        <p:spPr>
          <a:xfrm>
            <a:off x="6896100" y="2422597"/>
            <a:ext cx="514350" cy="123825"/>
          </a:xfrm>
          <a:prstGeom prst="rect">
            <a:avLst/>
          </a:prstGeom>
          <a:noFill/>
        </p:spPr>
        <p:txBody>
          <a:bodyPr wrap="none" lIns="0" rIns="0" tIns="0" bIns="0" anchor="ctr">
            <a:spAutoFit/>
          </a:bodyPr>
          <a:lstStyle/>
          <a:p>
            <a:pPr algn="r"/>
            <a:r>
              <a:rPr sz="900" b="1">
                <a:solidFill>
                  <a:srgbClr val="E44D3A"/>
                </a:solidFill>
                <a:latin typeface="Calibri"/>
              </a:rPr>
              <a:t>-220</a:t>
            </a:r>
          </a:p>
        </p:txBody>
      </p:sp>
      <p:sp>
        <p:nvSpPr>
          <p:cNvPr id="24" name="FMI Legend Chip"/>
          <p:cNvSpPr/>
          <p:nvPr/>
        </p:nvSpPr>
        <p:spPr>
          <a:xfrm>
            <a:off x="4928997" y="3044313"/>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03955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96335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Volume and Root Lift</a:t>
            </a:r>
          </a:p>
        </p:txBody>
      </p:sp>
      <p:sp>
        <p:nvSpPr>
          <p:cNvPr id="27" name="BPS Value 3"/>
          <p:cNvSpPr txBox="1"/>
          <p:nvPr/>
        </p:nvSpPr>
        <p:spPr>
          <a:xfrm>
            <a:off x="6896100" y="3025263"/>
            <a:ext cx="514350" cy="123825"/>
          </a:xfrm>
          <a:prstGeom prst="rect">
            <a:avLst/>
          </a:prstGeom>
          <a:noFill/>
        </p:spPr>
        <p:txBody>
          <a:bodyPr wrap="none" lIns="0" rIns="0" tIns="0" bIns="0" anchor="ctr">
            <a:spAutoFit/>
          </a:bodyPr>
          <a:lstStyle/>
          <a:p>
            <a:pPr algn="r"/>
            <a:r>
              <a:rPr sz="900" b="1">
                <a:solidFill>
                  <a:srgbClr val="E44D3A"/>
                </a:solidFill>
                <a:latin typeface="Calibri"/>
              </a:rPr>
              <a:t>-87</a:t>
            </a:r>
          </a:p>
        </p:txBody>
      </p:sp>
      <p:sp>
        <p:nvSpPr>
          <p:cNvPr id="28" name="FMI Legend Chip"/>
          <p:cNvSpPr/>
          <p:nvPr/>
        </p:nvSpPr>
        <p:spPr>
          <a:xfrm>
            <a:off x="4928997" y="3660188"/>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65542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57922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Separation</a:t>
            </a:r>
          </a:p>
        </p:txBody>
      </p:sp>
      <p:sp>
        <p:nvSpPr>
          <p:cNvPr id="31" name="BPS Value 4"/>
          <p:cNvSpPr txBox="1"/>
          <p:nvPr/>
        </p:nvSpPr>
        <p:spPr>
          <a:xfrm>
            <a:off x="6896100" y="3641138"/>
            <a:ext cx="514350" cy="123825"/>
          </a:xfrm>
          <a:prstGeom prst="rect">
            <a:avLst/>
          </a:prstGeom>
          <a:noFill/>
        </p:spPr>
        <p:txBody>
          <a:bodyPr wrap="none" lIns="0" rIns="0" tIns="0" bIns="0" anchor="ctr">
            <a:spAutoFit/>
          </a:bodyPr>
          <a:lstStyle/>
          <a:p>
            <a:pPr algn="r"/>
            <a:r>
              <a:rPr sz="900" b="1">
                <a:solidFill>
                  <a:srgbClr val="E44D3A"/>
                </a:solidFill>
                <a:latin typeface="Calibri"/>
              </a:rPr>
              <a:t>-20</a:t>
            </a:r>
          </a:p>
        </p:txBody>
      </p:sp>
      <p:sp>
        <p:nvSpPr>
          <p:cNvPr id="32" name="FMI Legend Chip"/>
          <p:cNvSpPr/>
          <p:nvPr/>
        </p:nvSpPr>
        <p:spPr>
          <a:xfrm>
            <a:off x="4928997" y="432829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432353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2473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Heat Styling Support</a:t>
            </a:r>
          </a:p>
        </p:txBody>
      </p:sp>
      <p:sp>
        <p:nvSpPr>
          <p:cNvPr id="35" name="BPS Value 5"/>
          <p:cNvSpPr txBox="1"/>
          <p:nvPr/>
        </p:nvSpPr>
        <p:spPr>
          <a:xfrm>
            <a:off x="6896100" y="4309242"/>
            <a:ext cx="514350" cy="123825"/>
          </a:xfrm>
          <a:prstGeom prst="rect">
            <a:avLst/>
          </a:prstGeom>
          <a:noFill/>
        </p:spPr>
        <p:txBody>
          <a:bodyPr wrap="none" lIns="0" rIns="0" tIns="0" bIns="0" anchor="ctr">
            <a:spAutoFit/>
          </a:bodyPr>
          <a:lstStyle/>
          <a:p>
            <a:pPr algn="r"/>
            <a:r>
              <a:rPr sz="900" b="1">
                <a:solidFill>
                  <a:srgbClr val="2E7D32"/>
                </a:solidFill>
                <a:latin typeface="Calibri"/>
              </a:rPr>
              <a:t>+134</a:t>
            </a:r>
          </a:p>
        </p:txBody>
      </p:sp>
      <p:sp>
        <p:nvSpPr>
          <p:cNvPr id="36" name="FMI Legend Chip"/>
          <p:cNvSpPr/>
          <p:nvPr/>
        </p:nvSpPr>
        <p:spPr>
          <a:xfrm>
            <a:off x="4928997" y="507187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06711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99091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 Definition</a:t>
            </a:r>
          </a:p>
        </p:txBody>
      </p:sp>
      <p:sp>
        <p:nvSpPr>
          <p:cNvPr id="39" name="BPS Value 6"/>
          <p:cNvSpPr txBox="1"/>
          <p:nvPr/>
        </p:nvSpPr>
        <p:spPr>
          <a:xfrm>
            <a:off x="6896100" y="5052825"/>
            <a:ext cx="514350" cy="123825"/>
          </a:xfrm>
          <a:prstGeom prst="rect">
            <a:avLst/>
          </a:prstGeom>
          <a:noFill/>
        </p:spPr>
        <p:txBody>
          <a:bodyPr wrap="none" lIns="0" rIns="0" tIns="0" bIns="0" anchor="ctr">
            <a:spAutoFit/>
          </a:bodyPr>
          <a:lstStyle/>
          <a:p>
            <a:pPr algn="r"/>
            <a:r>
              <a:rPr sz="900" b="1">
                <a:solidFill>
                  <a:srgbClr val="2E7D32"/>
                </a:solidFill>
                <a:latin typeface="Calibri"/>
              </a:rPr>
              <a:t>+221</a:t>
            </a:r>
          </a:p>
        </p:txBody>
      </p:sp>
      <p:sp>
        <p:nvSpPr>
          <p:cNvPr id="40" name="FMI Legend Chip"/>
          <p:cNvSpPr/>
          <p:nvPr/>
        </p:nvSpPr>
        <p:spPr>
          <a:xfrm>
            <a:off x="4928997" y="585119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584643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77023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Smoothing and Frizz Control</a:t>
            </a:r>
          </a:p>
        </p:txBody>
      </p:sp>
      <p:sp>
        <p:nvSpPr>
          <p:cNvPr id="43" name="BPS Value 7"/>
          <p:cNvSpPr txBox="1"/>
          <p:nvPr/>
        </p:nvSpPr>
        <p:spPr>
          <a:xfrm>
            <a:off x="6896100" y="5832145"/>
            <a:ext cx="514350" cy="123825"/>
          </a:xfrm>
          <a:prstGeom prst="rect">
            <a:avLst/>
          </a:prstGeom>
          <a:noFill/>
        </p:spPr>
        <p:txBody>
          <a:bodyPr wrap="none" lIns="0" rIns="0" tIns="0" bIns="0" anchor="ctr">
            <a:spAutoFit/>
          </a:bodyPr>
          <a:lstStyle/>
          <a:p>
            <a:pPr algn="r"/>
            <a:r>
              <a:rPr sz="900" b="1">
                <a:solidFill>
                  <a:srgbClr val="2E7D32"/>
                </a:solidFill>
                <a:latin typeface="Calibri"/>
              </a:rPr>
              <a:t>+87</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Primary Styling Benefit</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primary styling benefit, curl definition segment is expected to witness the highest CAGR of 8.2% over the forecast period. In terms of value share by primary styling benefit, the smoothing and frizz control segment is expected to dominate the market, gaining 87 BPS and accounting for 17.2% share by 2036.</a:t>
            </a:r>
          </a:p>
          <a:p>
            <a:pPr algn="l">
              <a:lnSpc>
                <a:spcPct val="110000"/>
              </a:lnSpc>
              <a:spcBef>
                <a:spcPts val="0"/>
              </a:spcBef>
              <a:spcAft>
                <a:spcPts val="500"/>
              </a:spcAft>
            </a:pPr>
            <a:r>
              <a:rPr sz="1150" b="0">
                <a:solidFill>
                  <a:srgbClr val="2E2E2E"/>
                </a:solidFill>
                <a:latin typeface="Calibri"/>
              </a:rPr>
              <a:t>The hold and shape segment is expected to lose 220 BPS over the forecast period to account for 13.0% share by 2036.</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Primary Styling Benefit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Primary Styling Benefit,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Primary Styling Benefit (%)  ·  light = lower, dark = higher growth</a:t>
            </a:r>
          </a:p>
        </p:txBody>
      </p:sp>
      <p:sp>
        <p:nvSpPr>
          <p:cNvPr id="17" name="TextBox 16"/>
          <p:cNvSpPr txBox="1"/>
          <p:nvPr/>
        </p:nvSpPr>
        <p:spPr>
          <a:xfrm>
            <a:off x="166143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31838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97534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632294"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28924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94619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60315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26010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91705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57401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3096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88791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4486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0182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5877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Hold and Shape</a:t>
            </a:r>
          </a:p>
        </p:txBody>
      </p:sp>
      <p:sp>
        <p:nvSpPr>
          <p:cNvPr id="33" name="Rectangle 32"/>
          <p:cNvSpPr/>
          <p:nvPr/>
        </p:nvSpPr>
        <p:spPr>
          <a:xfrm>
            <a:off x="1661437" y="3733800"/>
            <a:ext cx="656953" cy="405493"/>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318389" y="3733800"/>
            <a:ext cx="656953" cy="405493"/>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975342" y="3733800"/>
            <a:ext cx="656953" cy="405493"/>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632294" y="3733800"/>
            <a:ext cx="656953" cy="40549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289247" y="3733800"/>
            <a:ext cx="656953" cy="405493"/>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946199" y="3733800"/>
            <a:ext cx="656953" cy="405493"/>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603152" y="3733800"/>
            <a:ext cx="656953" cy="405493"/>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260105" y="3733800"/>
            <a:ext cx="656953" cy="405493"/>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17057" y="3733800"/>
            <a:ext cx="656953" cy="405493"/>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574010" y="3733800"/>
            <a:ext cx="656953" cy="405493"/>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30962" y="3733800"/>
            <a:ext cx="656953" cy="405493"/>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887915" y="3733800"/>
            <a:ext cx="656953" cy="405493"/>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44867" y="3733800"/>
            <a:ext cx="656953" cy="405493"/>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01820" y="3733800"/>
            <a:ext cx="656953" cy="405493"/>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58772" y="3733800"/>
            <a:ext cx="656953" cy="405493"/>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39293"/>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Curl Definition</a:t>
            </a:r>
          </a:p>
        </p:txBody>
      </p:sp>
      <p:sp>
        <p:nvSpPr>
          <p:cNvPr id="49" name="Rectangle 48"/>
          <p:cNvSpPr/>
          <p:nvPr/>
        </p:nvSpPr>
        <p:spPr>
          <a:xfrm>
            <a:off x="1661437" y="4139293"/>
            <a:ext cx="656953" cy="405493"/>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318389" y="4139293"/>
            <a:ext cx="656953" cy="405493"/>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975342" y="4139293"/>
            <a:ext cx="656953" cy="405493"/>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632294" y="4139293"/>
            <a:ext cx="656953" cy="405493"/>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289247" y="4139293"/>
            <a:ext cx="656953" cy="405493"/>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946199" y="4139293"/>
            <a:ext cx="656953" cy="405493"/>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603152" y="4139293"/>
            <a:ext cx="656953" cy="405493"/>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260105" y="4139293"/>
            <a:ext cx="656953" cy="40549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917057" y="4139293"/>
            <a:ext cx="656953" cy="405493"/>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574010" y="4139293"/>
            <a:ext cx="656953" cy="405493"/>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30962" y="4139293"/>
            <a:ext cx="656953" cy="40549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887915" y="4139293"/>
            <a:ext cx="656953" cy="405493"/>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44867" y="4139293"/>
            <a:ext cx="656953" cy="405493"/>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01820" y="4139293"/>
            <a:ext cx="656953" cy="405493"/>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58772" y="4139293"/>
            <a:ext cx="656953" cy="405493"/>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4786"/>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Volume and Root Lift</a:t>
            </a:r>
          </a:p>
        </p:txBody>
      </p:sp>
      <p:sp>
        <p:nvSpPr>
          <p:cNvPr id="65" name="Rectangle 64"/>
          <p:cNvSpPr/>
          <p:nvPr/>
        </p:nvSpPr>
        <p:spPr>
          <a:xfrm>
            <a:off x="1661437" y="4544786"/>
            <a:ext cx="656953" cy="405493"/>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318389" y="4544786"/>
            <a:ext cx="656953" cy="405493"/>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975342" y="4544786"/>
            <a:ext cx="656953" cy="405493"/>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632294" y="4544786"/>
            <a:ext cx="656953" cy="405493"/>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289247" y="4544786"/>
            <a:ext cx="656953" cy="405493"/>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946199" y="4544786"/>
            <a:ext cx="656953" cy="405493"/>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603152" y="4544786"/>
            <a:ext cx="656953" cy="405493"/>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260105" y="4544786"/>
            <a:ext cx="656953" cy="405493"/>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917057" y="4544786"/>
            <a:ext cx="656953" cy="405493"/>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574010" y="4544786"/>
            <a:ext cx="656953" cy="405493"/>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30962" y="4544786"/>
            <a:ext cx="656953" cy="40549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887915" y="4544786"/>
            <a:ext cx="656953" cy="405493"/>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44867" y="4544786"/>
            <a:ext cx="656953" cy="405493"/>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01820" y="4544786"/>
            <a:ext cx="656953" cy="405493"/>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58772" y="4544786"/>
            <a:ext cx="656953" cy="40549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4950279"/>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Texture and Separation</a:t>
            </a:r>
          </a:p>
        </p:txBody>
      </p:sp>
      <p:sp>
        <p:nvSpPr>
          <p:cNvPr id="81" name="Rectangle 80"/>
          <p:cNvSpPr/>
          <p:nvPr/>
        </p:nvSpPr>
        <p:spPr>
          <a:xfrm>
            <a:off x="1661437" y="4950279"/>
            <a:ext cx="656953" cy="405493"/>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318389" y="4950279"/>
            <a:ext cx="656953" cy="405493"/>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975342" y="4950279"/>
            <a:ext cx="656953" cy="405493"/>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632294" y="4950279"/>
            <a:ext cx="656953" cy="40549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289247" y="4950279"/>
            <a:ext cx="656953" cy="405493"/>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946199" y="4950279"/>
            <a:ext cx="656953" cy="405493"/>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603152" y="4950279"/>
            <a:ext cx="656953" cy="405493"/>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260105" y="4950279"/>
            <a:ext cx="656953" cy="405493"/>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917057" y="4950279"/>
            <a:ext cx="656953" cy="405493"/>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574010" y="4950279"/>
            <a:ext cx="656953" cy="405493"/>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30962" y="4950279"/>
            <a:ext cx="656953" cy="405493"/>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887915" y="4950279"/>
            <a:ext cx="656953" cy="405493"/>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44867" y="4950279"/>
            <a:ext cx="656953" cy="405493"/>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01820" y="4950279"/>
            <a:ext cx="656953" cy="405493"/>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58772" y="4950279"/>
            <a:ext cx="656953" cy="405493"/>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55771"/>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Smoothing and Frizz Control</a:t>
            </a:r>
          </a:p>
        </p:txBody>
      </p:sp>
      <p:sp>
        <p:nvSpPr>
          <p:cNvPr id="97" name="Rectangle 96"/>
          <p:cNvSpPr/>
          <p:nvPr/>
        </p:nvSpPr>
        <p:spPr>
          <a:xfrm>
            <a:off x="1661437" y="5355771"/>
            <a:ext cx="656953" cy="405493"/>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318389" y="5355771"/>
            <a:ext cx="656953" cy="40549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975342" y="5355771"/>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632294" y="5355771"/>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289247" y="5355771"/>
            <a:ext cx="656953" cy="405493"/>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946199" y="5355771"/>
            <a:ext cx="656953" cy="40549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603152" y="5355771"/>
            <a:ext cx="656953" cy="405493"/>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260105" y="5355771"/>
            <a:ext cx="656953" cy="405493"/>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917057" y="5355771"/>
            <a:ext cx="656953" cy="405493"/>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574010" y="5355771"/>
            <a:ext cx="656953" cy="405493"/>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30962" y="5355771"/>
            <a:ext cx="656953" cy="405493"/>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887915" y="5355771"/>
            <a:ext cx="656953" cy="405493"/>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44867" y="5355771"/>
            <a:ext cx="656953" cy="405493"/>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01820" y="5355771"/>
            <a:ext cx="656953" cy="405493"/>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58772" y="5355771"/>
            <a:ext cx="656953" cy="405493"/>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761264"/>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Sleek Styling and Edge Control</a:t>
            </a:r>
          </a:p>
        </p:txBody>
      </p:sp>
      <p:sp>
        <p:nvSpPr>
          <p:cNvPr id="113" name="Rectangle 112"/>
          <p:cNvSpPr/>
          <p:nvPr/>
        </p:nvSpPr>
        <p:spPr>
          <a:xfrm>
            <a:off x="1661437" y="5761264"/>
            <a:ext cx="656953" cy="405493"/>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318389" y="5761264"/>
            <a:ext cx="656953" cy="405493"/>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2975342" y="5761264"/>
            <a:ext cx="656953" cy="405493"/>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632294" y="5761264"/>
            <a:ext cx="656953" cy="40549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289247" y="5761264"/>
            <a:ext cx="656953" cy="405493"/>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4946199" y="5761264"/>
            <a:ext cx="656953" cy="405493"/>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603152" y="5761264"/>
            <a:ext cx="656953" cy="405493"/>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260105" y="5761264"/>
            <a:ext cx="656953" cy="405493"/>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6917057" y="5761264"/>
            <a:ext cx="656953" cy="405493"/>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574010" y="5761264"/>
            <a:ext cx="656953" cy="405493"/>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30962" y="5761264"/>
            <a:ext cx="656953" cy="405493"/>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887915" y="5761264"/>
            <a:ext cx="656953" cy="405493"/>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44867" y="5761264"/>
            <a:ext cx="656953" cy="405493"/>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01820" y="5761264"/>
            <a:ext cx="656953" cy="405493"/>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58772" y="5761264"/>
            <a:ext cx="656953" cy="405493"/>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166757"/>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Heat Styling Support</a:t>
            </a:r>
          </a:p>
        </p:txBody>
      </p:sp>
      <p:sp>
        <p:nvSpPr>
          <p:cNvPr id="129" name="Rectangle 128"/>
          <p:cNvSpPr/>
          <p:nvPr/>
        </p:nvSpPr>
        <p:spPr>
          <a:xfrm>
            <a:off x="1661437" y="6166757"/>
            <a:ext cx="656953" cy="405493"/>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318389" y="6166757"/>
            <a:ext cx="656953" cy="405493"/>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2975342" y="6166757"/>
            <a:ext cx="656953" cy="405493"/>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632294" y="6166757"/>
            <a:ext cx="656953" cy="405493"/>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289247" y="6166757"/>
            <a:ext cx="656953" cy="405493"/>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4946199" y="6166757"/>
            <a:ext cx="656953" cy="40549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603152" y="6166757"/>
            <a:ext cx="656953" cy="405493"/>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260105" y="6166757"/>
            <a:ext cx="656953" cy="405493"/>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6917057" y="6166757"/>
            <a:ext cx="656953" cy="405493"/>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574010" y="6166757"/>
            <a:ext cx="656953" cy="405493"/>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30962" y="6166757"/>
            <a:ext cx="656953" cy="405493"/>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887915" y="6166757"/>
            <a:ext cx="656953" cy="405493"/>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44867" y="6166757"/>
            <a:ext cx="656953" cy="405493"/>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01820" y="6166757"/>
            <a:ext cx="656953" cy="405493"/>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58772" y="6166757"/>
            <a:ext cx="656953" cy="405493"/>
          </a:xfrm>
          <a:prstGeom prst="rect">
            <a:avLst/>
          </a:prstGeom>
          <a:solidFill>
            <a:srgbClr val="0E6B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86" name="TextBox 185"/>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Hair Type Targeted</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Hair Type Targeted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Hair Type Targeted,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Hair Type Targeted segment categorizes the market by hair type targeted.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Straight Hair</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3,487</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6,007</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5.6%</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All Hair Types</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3,376</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6,119</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6.1%</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Wavy Hair</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3,148</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5,971</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6.6%</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Coily Hair</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3,070</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6,464</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7.7%</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Curly Hair</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3,025</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6,126</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7.3%</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hair type targeted, coily hair segment is expected to witness the highest CAGR of 7.7% over the forecast period. In terms of value share by hair type targeted, the coily hair segment is expected to dominate the market, gaining 200 BPS and accounting for 21.1% share by 2036.</a:t>
            </a:r>
          </a:p>
          <a:p>
            <a:pPr algn="l">
              <a:lnSpc>
                <a:spcPct val="110000"/>
              </a:lnSpc>
              <a:spcBef>
                <a:spcPts val="0"/>
              </a:spcBef>
              <a:spcAft>
                <a:spcPts val="500"/>
              </a:spcAft>
            </a:pPr>
            <a:r>
              <a:rPr sz="1100" b="0">
                <a:solidFill>
                  <a:srgbClr val="2E2E2E"/>
                </a:solidFill>
                <a:latin typeface="Calibri"/>
              </a:rPr>
              <a:t>Coily hair segment is projected to register 1.1X higher value than curly hair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Straight Hair: </a:t>
            </a:r>
            <a:r>
              <a:rPr sz="1100" b="0">
                <a:solidFill>
                  <a:srgbClr val="2E2E2E"/>
                </a:solidFill>
                <a:latin typeface="Calibri"/>
              </a:rPr>
              <a:t>22% of 2026 value · 5.6%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All Hair Types: </a:t>
            </a:r>
            <a:r>
              <a:rPr sz="1100" b="0">
                <a:solidFill>
                  <a:srgbClr val="2E2E2E"/>
                </a:solidFill>
                <a:latin typeface="Calibri"/>
              </a:rPr>
              <a:t>21% of 2026 value · 6.1%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Wavy Hair: </a:t>
            </a:r>
            <a:r>
              <a:rPr sz="1100" b="0">
                <a:solidFill>
                  <a:srgbClr val="2E2E2E"/>
                </a:solidFill>
                <a:latin typeface="Calibri"/>
              </a:rPr>
              <a:t>20% of 2026 value · 6.6%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Coily Hair: </a:t>
            </a:r>
            <a:r>
              <a:rPr sz="1100" b="0">
                <a:solidFill>
                  <a:srgbClr val="2E2E2E"/>
                </a:solidFill>
                <a:latin typeface="Calibri"/>
              </a:rPr>
              <a:t>19% of 2026 value · 7.7% CAGR grows fastest.</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Curly Hair: </a:t>
            </a:r>
            <a:r>
              <a:rPr sz="1100" b="0">
                <a:solidFill>
                  <a:srgbClr val="2E2E2E"/>
                </a:solidFill>
                <a:latin typeface="Calibri"/>
              </a:rPr>
              <a:t>19% of 2026 value · 7.3% CAGR serves a niche.</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Hair Type Targeted split shows how demand is distributed across hair type targeted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Hair Type Targeted segment is projected to grow at a CAGR of 6.7%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Hair Type Targeted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Hair Type Targeted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Hair Type Targeted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Coily hair followed by curly hair are expected to be the two most attractive hair type targeted segments in the global hair styling products market in terms of value over the forecast period. Coily hair and curly hair exhibit a CAGR index of 116.1 and 109.8 and a market share index of 95.3 and 93.9 respectively, against the segment average of 100. The straight hair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Hair Type Targeted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Straight Hair</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Wavy Hair</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Curly Hair</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Coily Hair</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Hair Type Targeted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All Hair Types</a:t>
            </a:r>
          </a:p>
        </p:txBody>
      </p:sp>
      <p:graphicFrame>
        <p:nvGraphicFramePr>
          <p:cNvPr id="12" name="Chart 11"/>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Hair Type Targeted</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coily hair segment is anticipated to witness an increase of 2.1X in terms of value as compared to 2026. The coily hair segment is expected to create an incremental opportunity of US$ 3,394 Mn for the overall hair styling products market from 2026 to 2036.</a:t>
            </a:r>
          </a:p>
          <a:p>
            <a:pPr algn="l">
              <a:lnSpc>
                <a:spcPct val="110000"/>
              </a:lnSpc>
              <a:spcBef>
                <a:spcPts val="0"/>
              </a:spcBef>
              <a:spcAft>
                <a:spcPts val="500"/>
              </a:spcAft>
            </a:pPr>
            <a:r>
              <a:rPr sz="1150" b="0">
                <a:solidFill>
                  <a:srgbClr val="2E2E2E"/>
                </a:solidFill>
                <a:latin typeface="Calibri"/>
              </a:rPr>
              <a:t>The curly hair segment is expected to create an incremental opportunity of US$ 3,102 Mn for the overall hair styling products market from 2026 to 2036. The wavy hair segment is expected to create an incremental opportunity of US$ 2,822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Hair Type Targeted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Hair Type Targeted,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Hair Type Targeted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Hair Type Targeted</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Coily hair segment is projected to register 1.1X higher value than curly hair segment in 2036. Among hair styling products by hair type targeted, coily hair segment is expected to witness the highest CAGR of 7.7% over the forecast period.</a:t>
            </a:r>
          </a:p>
          <a:p>
            <a:pPr algn="l">
              <a:lnSpc>
                <a:spcPct val="110000"/>
              </a:lnSpc>
              <a:spcBef>
                <a:spcPts val="0"/>
              </a:spcBef>
              <a:spcAft>
                <a:spcPts val="500"/>
              </a:spcAft>
            </a:pPr>
            <a:r>
              <a:rPr sz="1150" b="0">
                <a:solidFill>
                  <a:srgbClr val="2E2E2E"/>
                </a:solidFill>
                <a:latin typeface="Calibri"/>
              </a:rPr>
              <a:t>In terms of value share by hair type targeted, the coily hair segment is expected to dominate the market, gaining 200 BPS and accounting for 21.1% share by 2036. The straight hair segment is expected to lose 208 BPS over the forecast period to account for 19.6%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Hair Type Targeted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Hair Type Targeted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116069"/>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1113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03510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Wavy Hair</a:t>
            </a:r>
          </a:p>
        </p:txBody>
      </p:sp>
      <p:sp>
        <p:nvSpPr>
          <p:cNvPr id="19" name="BPS Value 1"/>
          <p:cNvSpPr txBox="1"/>
          <p:nvPr/>
        </p:nvSpPr>
        <p:spPr>
          <a:xfrm>
            <a:off x="6896100" y="2097019"/>
            <a:ext cx="514350" cy="123825"/>
          </a:xfrm>
          <a:prstGeom prst="rect">
            <a:avLst/>
          </a:prstGeom>
          <a:noFill/>
        </p:spPr>
        <p:txBody>
          <a:bodyPr wrap="none" lIns="0" rIns="0" tIns="0" bIns="0" anchor="ctr">
            <a:spAutoFit/>
          </a:bodyPr>
          <a:lstStyle/>
          <a:p>
            <a:pPr algn="r"/>
            <a:r>
              <a:rPr sz="900" b="1">
                <a:solidFill>
                  <a:srgbClr val="E44D3A"/>
                </a:solidFill>
                <a:latin typeface="Calibri"/>
              </a:rPr>
              <a:t>-9</a:t>
            </a:r>
          </a:p>
        </p:txBody>
      </p:sp>
      <p:sp>
        <p:nvSpPr>
          <p:cNvPr id="20" name="FMI Legend Chip"/>
          <p:cNvSpPr/>
          <p:nvPr/>
        </p:nvSpPr>
        <p:spPr>
          <a:xfrm>
            <a:off x="4928997" y="300843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00367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92747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Straight Hair</a:t>
            </a:r>
          </a:p>
        </p:txBody>
      </p:sp>
      <p:sp>
        <p:nvSpPr>
          <p:cNvPr id="23" name="BPS Value 2"/>
          <p:cNvSpPr txBox="1"/>
          <p:nvPr/>
        </p:nvSpPr>
        <p:spPr>
          <a:xfrm>
            <a:off x="6896100" y="2989383"/>
            <a:ext cx="514350" cy="123825"/>
          </a:xfrm>
          <a:prstGeom prst="rect">
            <a:avLst/>
          </a:prstGeom>
          <a:noFill/>
        </p:spPr>
        <p:txBody>
          <a:bodyPr wrap="none" lIns="0" rIns="0" tIns="0" bIns="0" anchor="ctr">
            <a:spAutoFit/>
          </a:bodyPr>
          <a:lstStyle/>
          <a:p>
            <a:pPr algn="r"/>
            <a:r>
              <a:rPr sz="900" b="1">
                <a:solidFill>
                  <a:srgbClr val="E44D3A"/>
                </a:solidFill>
                <a:latin typeface="Calibri"/>
              </a:rPr>
              <a:t>-208</a:t>
            </a:r>
          </a:p>
        </p:txBody>
      </p:sp>
      <p:sp>
        <p:nvSpPr>
          <p:cNvPr id="24" name="FMI Legend Chip"/>
          <p:cNvSpPr/>
          <p:nvPr/>
        </p:nvSpPr>
        <p:spPr>
          <a:xfrm>
            <a:off x="4928997" y="391184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90707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83087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All Hair Types</a:t>
            </a:r>
          </a:p>
        </p:txBody>
      </p:sp>
      <p:sp>
        <p:nvSpPr>
          <p:cNvPr id="27" name="BPS Value 3"/>
          <p:cNvSpPr txBox="1"/>
          <p:nvPr/>
        </p:nvSpPr>
        <p:spPr>
          <a:xfrm>
            <a:off x="6896100" y="3892791"/>
            <a:ext cx="514350" cy="123825"/>
          </a:xfrm>
          <a:prstGeom prst="rect">
            <a:avLst/>
          </a:prstGeom>
          <a:noFill/>
        </p:spPr>
        <p:txBody>
          <a:bodyPr wrap="none" lIns="0" rIns="0" tIns="0" bIns="0" anchor="ctr">
            <a:spAutoFit/>
          </a:bodyPr>
          <a:lstStyle/>
          <a:p>
            <a:pPr algn="r"/>
            <a:r>
              <a:rPr sz="900" b="1">
                <a:solidFill>
                  <a:srgbClr val="E44D3A"/>
                </a:solidFill>
                <a:latin typeface="Calibri"/>
              </a:rPr>
              <a:t>-102</a:t>
            </a:r>
          </a:p>
        </p:txBody>
      </p:sp>
      <p:sp>
        <p:nvSpPr>
          <p:cNvPr id="28" name="FMI Legend Chip"/>
          <p:cNvSpPr/>
          <p:nvPr/>
        </p:nvSpPr>
        <p:spPr>
          <a:xfrm>
            <a:off x="4928997" y="482410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481933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74313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Curly Hair</a:t>
            </a:r>
          </a:p>
        </p:txBody>
      </p:sp>
      <p:sp>
        <p:nvSpPr>
          <p:cNvPr id="31" name="BPS Value 4"/>
          <p:cNvSpPr txBox="1"/>
          <p:nvPr/>
        </p:nvSpPr>
        <p:spPr>
          <a:xfrm>
            <a:off x="6896100" y="4805052"/>
            <a:ext cx="514350" cy="123825"/>
          </a:xfrm>
          <a:prstGeom prst="rect">
            <a:avLst/>
          </a:prstGeom>
          <a:noFill/>
        </p:spPr>
        <p:txBody>
          <a:bodyPr wrap="none" lIns="0" rIns="0" tIns="0" bIns="0" anchor="ctr">
            <a:spAutoFit/>
          </a:bodyPr>
          <a:lstStyle/>
          <a:p>
            <a:pPr algn="r"/>
            <a:r>
              <a:rPr sz="900" b="1">
                <a:solidFill>
                  <a:srgbClr val="2E7D32"/>
                </a:solidFill>
                <a:latin typeface="Calibri"/>
              </a:rPr>
              <a:t>+119</a:t>
            </a:r>
          </a:p>
        </p:txBody>
      </p:sp>
      <p:sp>
        <p:nvSpPr>
          <p:cNvPr id="32" name="FMI Legend Chip"/>
          <p:cNvSpPr/>
          <p:nvPr/>
        </p:nvSpPr>
        <p:spPr>
          <a:xfrm>
            <a:off x="4928997" y="576207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575730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8110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Coily Hair</a:t>
            </a:r>
          </a:p>
        </p:txBody>
      </p:sp>
      <p:sp>
        <p:nvSpPr>
          <p:cNvPr id="35" name="BPS Value 5"/>
          <p:cNvSpPr txBox="1"/>
          <p:nvPr/>
        </p:nvSpPr>
        <p:spPr>
          <a:xfrm>
            <a:off x="6896100" y="5743022"/>
            <a:ext cx="514350" cy="123825"/>
          </a:xfrm>
          <a:prstGeom prst="rect">
            <a:avLst/>
          </a:prstGeom>
          <a:noFill/>
        </p:spPr>
        <p:txBody>
          <a:bodyPr wrap="none" lIns="0" rIns="0" tIns="0" bIns="0" anchor="ctr">
            <a:spAutoFit/>
          </a:bodyPr>
          <a:lstStyle/>
          <a:p>
            <a:pPr algn="r"/>
            <a:r>
              <a:rPr sz="900" b="1">
                <a:solidFill>
                  <a:srgbClr val="2E7D32"/>
                </a:solidFill>
                <a:latin typeface="Calibri"/>
              </a:rPr>
              <a:t>+200</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Hair Type Targeted</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hair type targeted, coily hair segment is expected to witness the highest CAGR of 7.7% over the forecast period. In terms of value share by hair type targeted, the coily hair segment is expected to dominate the market, gaining 200 BPS and accounting for 21.1% share by 2036.</a:t>
            </a:r>
          </a:p>
          <a:p>
            <a:pPr algn="l">
              <a:lnSpc>
                <a:spcPct val="110000"/>
              </a:lnSpc>
              <a:spcBef>
                <a:spcPts val="0"/>
              </a:spcBef>
              <a:spcAft>
                <a:spcPts val="500"/>
              </a:spcAft>
            </a:pPr>
            <a:r>
              <a:rPr sz="1150" b="0">
                <a:solidFill>
                  <a:srgbClr val="2E2E2E"/>
                </a:solidFill>
                <a:latin typeface="Calibri"/>
              </a:rPr>
              <a:t>The straight hair segment is expected to lose 208 BPS over the forecast period to account for 19.6%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Hair Type Targeted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Hair Type Targeted,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Hair Type Targeted (%)  ·  light = lower, dark = higher growth</a:t>
            </a:r>
          </a:p>
        </p:txBody>
      </p:sp>
      <p:sp>
        <p:nvSpPr>
          <p:cNvPr id="17" name="TextBox 16"/>
          <p:cNvSpPr txBox="1"/>
          <p:nvPr/>
        </p:nvSpPr>
        <p:spPr>
          <a:xfrm>
            <a:off x="917783"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62431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33084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03737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74390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45043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15696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86348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57001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27654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798307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68960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39613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0266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0919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Straight Hair</a:t>
            </a:r>
          </a:p>
        </p:txBody>
      </p:sp>
      <p:sp>
        <p:nvSpPr>
          <p:cNvPr id="33" name="Rectangle 32"/>
          <p:cNvSpPr/>
          <p:nvPr/>
        </p:nvSpPr>
        <p:spPr>
          <a:xfrm>
            <a:off x="917783" y="3305175"/>
            <a:ext cx="706529" cy="65341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624312" y="3305175"/>
            <a:ext cx="706529" cy="65341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330842" y="3305175"/>
            <a:ext cx="706529" cy="653415"/>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037371" y="3305175"/>
            <a:ext cx="706529" cy="653415"/>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743901" y="3305175"/>
            <a:ext cx="706529" cy="65341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450430" y="3305175"/>
            <a:ext cx="706529" cy="653415"/>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156960" y="3305175"/>
            <a:ext cx="706529" cy="653415"/>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863489" y="3305175"/>
            <a:ext cx="706529" cy="653415"/>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570019" y="3305175"/>
            <a:ext cx="706529" cy="653415"/>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276548" y="3305175"/>
            <a:ext cx="706529" cy="653415"/>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983078" y="3305175"/>
            <a:ext cx="706529" cy="653415"/>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689607" y="3305175"/>
            <a:ext cx="706529" cy="653415"/>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396137" y="3305175"/>
            <a:ext cx="706529" cy="65341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02666" y="3305175"/>
            <a:ext cx="706529" cy="653415"/>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09196" y="3305175"/>
            <a:ext cx="706529" cy="653415"/>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Wavy Hair</a:t>
            </a:r>
          </a:p>
        </p:txBody>
      </p:sp>
      <p:sp>
        <p:nvSpPr>
          <p:cNvPr id="49" name="Rectangle 48"/>
          <p:cNvSpPr/>
          <p:nvPr/>
        </p:nvSpPr>
        <p:spPr>
          <a:xfrm>
            <a:off x="917783" y="3958590"/>
            <a:ext cx="706529"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624312" y="3958590"/>
            <a:ext cx="706529" cy="653415"/>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330842" y="3958590"/>
            <a:ext cx="706529" cy="653415"/>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037371" y="3958590"/>
            <a:ext cx="706529" cy="653415"/>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743901" y="3958590"/>
            <a:ext cx="706529" cy="653415"/>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450430" y="3958590"/>
            <a:ext cx="706529" cy="653415"/>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156960" y="3958590"/>
            <a:ext cx="706529" cy="653415"/>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863489" y="3958590"/>
            <a:ext cx="706529" cy="653415"/>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570019" y="3958590"/>
            <a:ext cx="706529" cy="653415"/>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276548" y="3958590"/>
            <a:ext cx="706529" cy="653415"/>
          </a:xfrm>
          <a:prstGeom prst="rect">
            <a:avLst/>
          </a:prstGeom>
          <a:solidFill>
            <a:srgbClr val="5A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7983078" y="3958590"/>
            <a:ext cx="706529" cy="653415"/>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689607" y="3958590"/>
            <a:ext cx="706529" cy="653415"/>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396137" y="3958590"/>
            <a:ext cx="706529" cy="653415"/>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02666" y="3958590"/>
            <a:ext cx="706529" cy="653415"/>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09196" y="3958590"/>
            <a:ext cx="706529" cy="653415"/>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Curly Hair</a:t>
            </a:r>
          </a:p>
        </p:txBody>
      </p:sp>
      <p:sp>
        <p:nvSpPr>
          <p:cNvPr id="65" name="Rectangle 64"/>
          <p:cNvSpPr/>
          <p:nvPr/>
        </p:nvSpPr>
        <p:spPr>
          <a:xfrm>
            <a:off x="917783" y="4612005"/>
            <a:ext cx="706529"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624312" y="4612005"/>
            <a:ext cx="706529" cy="65341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330842" y="4612005"/>
            <a:ext cx="706529" cy="65341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037371" y="4612005"/>
            <a:ext cx="706529" cy="65341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743901" y="4612005"/>
            <a:ext cx="706529" cy="65341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450430" y="4612005"/>
            <a:ext cx="706529" cy="65341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156960" y="4612005"/>
            <a:ext cx="706529" cy="653415"/>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863489" y="4612005"/>
            <a:ext cx="706529" cy="653415"/>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570019" y="4612005"/>
            <a:ext cx="706529" cy="653415"/>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276548" y="4612005"/>
            <a:ext cx="706529" cy="653415"/>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7983078" y="4612005"/>
            <a:ext cx="706529" cy="653415"/>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689607" y="4612005"/>
            <a:ext cx="706529" cy="653415"/>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396137" y="4612005"/>
            <a:ext cx="706529" cy="653415"/>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02666" y="4612005"/>
            <a:ext cx="706529" cy="653415"/>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09196" y="4612005"/>
            <a:ext cx="706529" cy="653415"/>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Coily Hair</a:t>
            </a:r>
          </a:p>
        </p:txBody>
      </p:sp>
      <p:sp>
        <p:nvSpPr>
          <p:cNvPr id="81" name="Rectangle 80"/>
          <p:cNvSpPr/>
          <p:nvPr/>
        </p:nvSpPr>
        <p:spPr>
          <a:xfrm>
            <a:off x="917783" y="5265420"/>
            <a:ext cx="706529"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624312" y="5265420"/>
            <a:ext cx="706529"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330842" y="5265420"/>
            <a:ext cx="706529" cy="653415"/>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037371" y="5265420"/>
            <a:ext cx="706529"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743901" y="5265420"/>
            <a:ext cx="706529" cy="653415"/>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450430" y="5265420"/>
            <a:ext cx="706529" cy="653415"/>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156960" y="5265420"/>
            <a:ext cx="706529" cy="653415"/>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5863489" y="5265420"/>
            <a:ext cx="706529" cy="653415"/>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570019" y="5265420"/>
            <a:ext cx="706529" cy="653415"/>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276548" y="5265420"/>
            <a:ext cx="706529" cy="653415"/>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7983078" y="5265420"/>
            <a:ext cx="706529"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689607" y="5265420"/>
            <a:ext cx="706529" cy="65341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396137" y="5265420"/>
            <a:ext cx="706529" cy="653415"/>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02666" y="5265420"/>
            <a:ext cx="706529" cy="653415"/>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09196" y="5265420"/>
            <a:ext cx="706529" cy="653415"/>
          </a:xfrm>
          <a:prstGeom prst="rect">
            <a:avLst/>
          </a:prstGeom>
          <a:solidFill>
            <a:srgbClr val="0D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All Hair Types</a:t>
            </a:r>
          </a:p>
        </p:txBody>
      </p:sp>
      <p:sp>
        <p:nvSpPr>
          <p:cNvPr id="97" name="Rectangle 96"/>
          <p:cNvSpPr/>
          <p:nvPr/>
        </p:nvSpPr>
        <p:spPr>
          <a:xfrm>
            <a:off x="917783" y="5918835"/>
            <a:ext cx="706529" cy="653415"/>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624312" y="5918835"/>
            <a:ext cx="706529" cy="653415"/>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330842" y="5918835"/>
            <a:ext cx="706529" cy="653415"/>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037371" y="5918835"/>
            <a:ext cx="706529" cy="653415"/>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743901" y="5918835"/>
            <a:ext cx="706529" cy="653415"/>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450430" y="5918835"/>
            <a:ext cx="706529" cy="653415"/>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156960" y="5918835"/>
            <a:ext cx="706529" cy="653415"/>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5863489" y="5918835"/>
            <a:ext cx="706529" cy="653415"/>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570019" y="5918835"/>
            <a:ext cx="706529" cy="653415"/>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276548" y="5918835"/>
            <a:ext cx="706529" cy="653415"/>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7983078" y="5918835"/>
            <a:ext cx="706529" cy="653415"/>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689607" y="5918835"/>
            <a:ext cx="706529" cy="653415"/>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396137" y="5918835"/>
            <a:ext cx="706529" cy="65341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02666" y="5918835"/>
            <a:ext cx="706529" cy="653415"/>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09196" y="5918835"/>
            <a:ext cx="706529" cy="653415"/>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Ingredient 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Ingredient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Ingredient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Ingredient Technology segment categorizes the market by ingredient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Film-forming and Fixative Polymers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4,181</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7,360</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5.8%</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Volume Additives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4,048</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7,950</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7.0%</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Conditioning and Smoothing Agents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4,019</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7,453</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6.4%</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and Structuring Agents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3,858</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7,924</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7.5%</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ingredient technology, waxes and structuring agents segment is expected to witness the highest CAGR of 7.5% over the forecast period. In terms of value share by ingredient technology, the texture and volume additives segment is expected to dominate the market, gaining 77 BPS and accounting for 25.9% share by 2036.</a:t>
            </a:r>
          </a:p>
          <a:p>
            <a:pPr algn="l">
              <a:lnSpc>
                <a:spcPct val="110000"/>
              </a:lnSpc>
              <a:spcBef>
                <a:spcPts val="0"/>
              </a:spcBef>
              <a:spcAft>
                <a:spcPts val="500"/>
              </a:spcAft>
            </a:pPr>
            <a:r>
              <a:rPr sz="1100" b="0">
                <a:solidFill>
                  <a:srgbClr val="2E2E2E"/>
                </a:solidFill>
                <a:latin typeface="Calibri"/>
              </a:rPr>
              <a:t>Texture and volume additives segment is projected to register 1.0X higher value than waxes and structuring agents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Film-forming and Fixative Polymers: </a:t>
            </a:r>
            <a:r>
              <a:rPr sz="1100" b="0">
                <a:solidFill>
                  <a:srgbClr val="2E2E2E"/>
                </a:solidFill>
                <a:latin typeface="Calibri"/>
              </a:rPr>
              <a:t>26% of 2026 value · 5.8%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Texture and Volume Additives: </a:t>
            </a:r>
            <a:r>
              <a:rPr sz="1100" b="0">
                <a:solidFill>
                  <a:srgbClr val="2E2E2E"/>
                </a:solidFill>
                <a:latin typeface="Calibri"/>
              </a:rPr>
              <a:t>25% of 2026 value · 7.0%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Conditioning and Smoothing Agents: </a:t>
            </a:r>
            <a:r>
              <a:rPr sz="1100" b="0">
                <a:solidFill>
                  <a:srgbClr val="2E2E2E"/>
                </a:solidFill>
                <a:latin typeface="Calibri"/>
              </a:rPr>
              <a:t>25% of 2026 value · 6.4%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Waxes and Structuring Agents: </a:t>
            </a:r>
            <a:r>
              <a:rPr sz="1100" b="0">
                <a:solidFill>
                  <a:srgbClr val="2E2E2E"/>
                </a:solidFill>
                <a:latin typeface="Calibri"/>
              </a:rPr>
              <a:t>24% of 2026 value · 7.5%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Ingredient Technology split shows how demand is distributed across ingredient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Ingredient Technology segment is projected to grow at a CAGR of 6.7%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Ingredient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Ingredient Technology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Ingredient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Waxes and structuring agents followed by texture and volume additives are expected to be the two most attractive ingredient technology segments in the global hair styling products market in terms of value over the forecast period. Waxes and structuring agents and texture and volume additives exhibit a CAGR index of 112.1 and 104.9 and a market share index of 95.8 and 100.5 respectively, against the segment average of 100. The film-forming and fixative polymers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Ingredient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Film-forming and Fixative Polymers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Texture and Volume Additives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Conditioning and Smoothing Agents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Waxes and Structuring Agents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Ingredient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Ingredient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Ingredient Technology (US$ Mn)</a:t>
            </a:r>
          </a:p>
        </p:txBody>
      </p:sp>
      <p:graphicFrame>
        <p:nvGraphicFramePr>
          <p:cNvPr id="13" name="Table 12"/>
          <p:cNvGraphicFramePr>
            <a:graphicFrameLocks noGrp="1"/>
          </p:cNvGraphicFramePr>
          <p:nvPr/>
        </p:nvGraphicFramePr>
        <p:xfrm>
          <a:off x="152400" y="1238250"/>
          <a:ext cx="11887202" cy="3448050"/>
        </p:xfrm>
        <a:graphic>
          <a:graphicData uri="http://schemas.openxmlformats.org/drawingml/2006/table">
            <a:tbl>
              <a:tblPr>
                <a:tableStyleId>{5C22544A-7EE6-4342-B048-85BDC9FD1C3A}</a:tableStyleId>
              </a:tblPr>
              <a:tblGrid>
                <a:gridCol w="2784549"/>
                <a:gridCol w="532737"/>
                <a:gridCol w="532737"/>
                <a:gridCol w="532737"/>
                <a:gridCol w="532737"/>
                <a:gridCol w="532737"/>
                <a:gridCol w="532737"/>
                <a:gridCol w="532737"/>
                <a:gridCol w="532737"/>
                <a:gridCol w="532737"/>
                <a:gridCol w="532737"/>
                <a:gridCol w="532737"/>
                <a:gridCol w="532737"/>
                <a:gridCol w="532737"/>
                <a:gridCol w="532737"/>
                <a:gridCol w="532737"/>
                <a:gridCol w="532737"/>
                <a:gridCol w="57886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29200"/>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1149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Ingredient Technology</a:t>
            </a:r>
          </a:p>
        </p:txBody>
      </p:sp>
      <p:sp>
        <p:nvSpPr>
          <p:cNvPr id="17" name="Rectangle 16"/>
          <p:cNvSpPr/>
          <p:nvPr/>
        </p:nvSpPr>
        <p:spPr>
          <a:xfrm>
            <a:off x="276225" y="5353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438775"/>
            <a:ext cx="11639550"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Texture and volume additives segment is projected to register 1.0X higher value than waxes and structuring agents segment in 2036. Among hair styling products by ingredient technology, waxes and structuring agents segment is expected to witness the highest CAGR of 7.5% over the forecast period.</a:t>
            </a:r>
          </a:p>
          <a:p>
            <a:pPr algn="l">
              <a:lnSpc>
                <a:spcPct val="110000"/>
              </a:lnSpc>
              <a:spcBef>
                <a:spcPts val="0"/>
              </a:spcBef>
              <a:spcAft>
                <a:spcPts val="500"/>
              </a:spcAft>
            </a:pPr>
            <a:r>
              <a:rPr sz="1150" b="0">
                <a:solidFill>
                  <a:srgbClr val="2E2E2E"/>
                </a:solidFill>
                <a:latin typeface="Calibri"/>
              </a:rPr>
              <a:t>In terms of value share by ingredient technology, the texture and volume additives segment is expected to dominate the market, gaining 77 BPS and accounting for 25.9% share by 2036. The film-forming and fixative polymers segment is expected to lose 198 BPS over the forecast period to account for 24.0%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Ingredient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Ingredient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21958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21482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13862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Film-forming and Fixative Polymers</a:t>
            </a:r>
          </a:p>
        </p:txBody>
      </p:sp>
      <p:sp>
        <p:nvSpPr>
          <p:cNvPr id="19" name="BPS Value 1"/>
          <p:cNvSpPr txBox="1"/>
          <p:nvPr/>
        </p:nvSpPr>
        <p:spPr>
          <a:xfrm>
            <a:off x="6896100" y="2200536"/>
            <a:ext cx="514350" cy="123825"/>
          </a:xfrm>
          <a:prstGeom prst="rect">
            <a:avLst/>
          </a:prstGeom>
          <a:noFill/>
        </p:spPr>
        <p:txBody>
          <a:bodyPr wrap="none" lIns="0" rIns="0" tIns="0" bIns="0" anchor="ctr">
            <a:spAutoFit/>
          </a:bodyPr>
          <a:lstStyle/>
          <a:p>
            <a:pPr algn="r"/>
            <a:r>
              <a:rPr sz="900" b="1">
                <a:solidFill>
                  <a:srgbClr val="E44D3A"/>
                </a:solidFill>
                <a:latin typeface="Calibri"/>
              </a:rPr>
              <a:t>-198</a:t>
            </a:r>
          </a:p>
        </p:txBody>
      </p:sp>
      <p:sp>
        <p:nvSpPr>
          <p:cNvPr id="20" name="FMI Legend Chip"/>
          <p:cNvSpPr/>
          <p:nvPr/>
        </p:nvSpPr>
        <p:spPr>
          <a:xfrm>
            <a:off x="4928997" y="3323178"/>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31841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24221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Conditioning and Smoothing Agents</a:t>
            </a:r>
          </a:p>
        </p:txBody>
      </p:sp>
      <p:sp>
        <p:nvSpPr>
          <p:cNvPr id="23" name="BPS Value 2"/>
          <p:cNvSpPr txBox="1"/>
          <p:nvPr/>
        </p:nvSpPr>
        <p:spPr>
          <a:xfrm>
            <a:off x="6896100" y="3304128"/>
            <a:ext cx="514350" cy="123825"/>
          </a:xfrm>
          <a:prstGeom prst="rect">
            <a:avLst/>
          </a:prstGeom>
          <a:noFill/>
        </p:spPr>
        <p:txBody>
          <a:bodyPr wrap="none" lIns="0" rIns="0" tIns="0" bIns="0" anchor="ctr">
            <a:spAutoFit/>
          </a:bodyPr>
          <a:lstStyle/>
          <a:p>
            <a:pPr algn="r"/>
            <a:r>
              <a:rPr sz="900" b="1">
                <a:solidFill>
                  <a:srgbClr val="E44D3A"/>
                </a:solidFill>
                <a:latin typeface="Calibri"/>
              </a:rPr>
              <a:t>-67</a:t>
            </a:r>
          </a:p>
        </p:txBody>
      </p:sp>
      <p:sp>
        <p:nvSpPr>
          <p:cNvPr id="24" name="FMI Legend Chip"/>
          <p:cNvSpPr/>
          <p:nvPr/>
        </p:nvSpPr>
        <p:spPr>
          <a:xfrm>
            <a:off x="4928997" y="446874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46397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38777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and Structuring Agents</a:t>
            </a:r>
          </a:p>
        </p:txBody>
      </p:sp>
      <p:sp>
        <p:nvSpPr>
          <p:cNvPr id="27" name="BPS Value 3"/>
          <p:cNvSpPr txBox="1"/>
          <p:nvPr/>
        </p:nvSpPr>
        <p:spPr>
          <a:xfrm>
            <a:off x="6896100" y="4449690"/>
            <a:ext cx="514350" cy="123825"/>
          </a:xfrm>
          <a:prstGeom prst="rect">
            <a:avLst/>
          </a:prstGeom>
          <a:noFill/>
        </p:spPr>
        <p:txBody>
          <a:bodyPr wrap="none" lIns="0" rIns="0" tIns="0" bIns="0" anchor="ctr">
            <a:spAutoFit/>
          </a:bodyPr>
          <a:lstStyle/>
          <a:p>
            <a:pPr algn="r"/>
            <a:r>
              <a:rPr sz="900" b="1">
                <a:solidFill>
                  <a:srgbClr val="2E7D32"/>
                </a:solidFill>
                <a:latin typeface="Calibri"/>
              </a:rPr>
              <a:t>+187</a:t>
            </a:r>
          </a:p>
        </p:txBody>
      </p:sp>
      <p:sp>
        <p:nvSpPr>
          <p:cNvPr id="28" name="FMI Legend Chip"/>
          <p:cNvSpPr/>
          <p:nvPr/>
        </p:nvSpPr>
        <p:spPr>
          <a:xfrm>
            <a:off x="4928997" y="565133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64657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57037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Volume Additives</a:t>
            </a:r>
          </a:p>
        </p:txBody>
      </p:sp>
      <p:sp>
        <p:nvSpPr>
          <p:cNvPr id="31" name="BPS Value 4"/>
          <p:cNvSpPr txBox="1"/>
          <p:nvPr/>
        </p:nvSpPr>
        <p:spPr>
          <a:xfrm>
            <a:off x="6896100" y="5632289"/>
            <a:ext cx="514350" cy="123825"/>
          </a:xfrm>
          <a:prstGeom prst="rect">
            <a:avLst/>
          </a:prstGeom>
          <a:noFill/>
        </p:spPr>
        <p:txBody>
          <a:bodyPr wrap="none" lIns="0" rIns="0" tIns="0" bIns="0" anchor="ctr">
            <a:spAutoFit/>
          </a:bodyPr>
          <a:lstStyle/>
          <a:p>
            <a:pPr algn="r"/>
            <a:r>
              <a:rPr sz="900" b="1">
                <a:solidFill>
                  <a:srgbClr val="2E7D32"/>
                </a:solidFill>
                <a:latin typeface="Calibri"/>
              </a:rPr>
              <a:t>+77</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Ingredient Technology</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ingredient technology, waxes and structuring agents segment is expected to witness the highest CAGR of 7.5% over the forecast period. In terms of value share by ingredient technology, the texture and volume additives segment is expected to dominate the market, gaining 77 BPS and accounting for 25.9% share by 2036.</a:t>
            </a:r>
          </a:p>
          <a:p>
            <a:pPr algn="l">
              <a:lnSpc>
                <a:spcPct val="110000"/>
              </a:lnSpc>
              <a:spcBef>
                <a:spcPts val="0"/>
              </a:spcBef>
              <a:spcAft>
                <a:spcPts val="500"/>
              </a:spcAft>
            </a:pPr>
            <a:r>
              <a:rPr sz="1150" b="0">
                <a:solidFill>
                  <a:srgbClr val="2E2E2E"/>
                </a:solidFill>
                <a:latin typeface="Calibri"/>
              </a:rPr>
              <a:t>The film-forming and fixative polymers segment is expected to lose 198 BPS over the forecast period to account for 24.0% share by 2036.</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Ingredient Technology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695700"/>
          </a:xfrm>
          <a:prstGeom prst="roundRect">
            <a:avLst>
              <a:gd name="adj" fmla="val 20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3228975"/>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76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Ingredient Technology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Ingredient Technology (%)  ·  light = lower, dark = higher growth</a:t>
            </a:r>
          </a:p>
        </p:txBody>
      </p:sp>
      <p:sp>
        <p:nvSpPr>
          <p:cNvPr id="12" name="TextBox 11"/>
          <p:cNvSpPr txBox="1"/>
          <p:nvPr/>
        </p:nvSpPr>
        <p:spPr>
          <a:xfrm>
            <a:off x="2178532"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80101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42349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404597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66845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29093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91340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53588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15836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78084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40332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902580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64828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7076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93245"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Film-forming and Fixative Polymers</a:t>
            </a:r>
          </a:p>
        </p:txBody>
      </p:sp>
      <p:sp>
        <p:nvSpPr>
          <p:cNvPr id="28" name="Rectangle 27"/>
          <p:cNvSpPr/>
          <p:nvPr/>
        </p:nvSpPr>
        <p:spPr>
          <a:xfrm>
            <a:off x="2178532" y="1409700"/>
            <a:ext cx="622480" cy="36875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801011" y="1409700"/>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423491" y="1409700"/>
            <a:ext cx="622480" cy="36875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4045971" y="1409700"/>
            <a:ext cx="622480" cy="36875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668450" y="1409700"/>
            <a:ext cx="622480" cy="36875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290930" y="1409700"/>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409" y="1409700"/>
            <a:ext cx="622480" cy="36875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535889" y="1409700"/>
            <a:ext cx="622480" cy="36875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158368" y="1409700"/>
            <a:ext cx="622480" cy="368754"/>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780848" y="1409700"/>
            <a:ext cx="622480" cy="368754"/>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403327" y="1409700"/>
            <a:ext cx="622480" cy="368754"/>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9025807" y="1409700"/>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648286" y="1409700"/>
            <a:ext cx="622480" cy="36875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70766" y="1409700"/>
            <a:ext cx="622480" cy="36875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93245" y="1409700"/>
            <a:ext cx="622480" cy="36875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7845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Polymers</a:t>
            </a:r>
          </a:p>
        </p:txBody>
      </p:sp>
      <p:sp>
        <p:nvSpPr>
          <p:cNvPr id="44" name="Rectangle 43"/>
          <p:cNvSpPr/>
          <p:nvPr/>
        </p:nvSpPr>
        <p:spPr>
          <a:xfrm>
            <a:off x="2178532" y="1778454"/>
            <a:ext cx="622480" cy="36875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801011" y="1778454"/>
            <a:ext cx="622480" cy="36875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423491" y="1778454"/>
            <a:ext cx="622480" cy="36875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4045971" y="1778454"/>
            <a:ext cx="622480" cy="368754"/>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668450" y="1778454"/>
            <a:ext cx="622480" cy="368754"/>
          </a:xfrm>
          <a:prstGeom prst="rect">
            <a:avLst/>
          </a:prstGeom>
          <a:solidFill>
            <a:srgbClr val="E9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290930" y="1778454"/>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913409" y="1778454"/>
            <a:ext cx="622480"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535889" y="1778454"/>
            <a:ext cx="622480" cy="36875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158368" y="1778454"/>
            <a:ext cx="622480" cy="36875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780848" y="1778454"/>
            <a:ext cx="622480" cy="36875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403327" y="1778454"/>
            <a:ext cx="622480" cy="36875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9025807" y="1778454"/>
            <a:ext cx="622480" cy="36875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648286" y="1778454"/>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70766" y="1778454"/>
            <a:ext cx="622480" cy="36875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93245" y="1778454"/>
            <a:ext cx="622480" cy="36875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147207"/>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Bio-based Polymers</a:t>
            </a:r>
          </a:p>
        </p:txBody>
      </p:sp>
      <p:sp>
        <p:nvSpPr>
          <p:cNvPr id="60" name="Rectangle 59"/>
          <p:cNvSpPr/>
          <p:nvPr/>
        </p:nvSpPr>
        <p:spPr>
          <a:xfrm>
            <a:off x="2178532" y="2147207"/>
            <a:ext cx="622480" cy="36875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801011" y="2147207"/>
            <a:ext cx="622480" cy="36875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423491" y="2147207"/>
            <a:ext cx="622480" cy="36875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4045971" y="2147207"/>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668450" y="2147207"/>
            <a:ext cx="622480"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290930" y="2147207"/>
            <a:ext cx="622480" cy="368754"/>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913409" y="2147207"/>
            <a:ext cx="622480" cy="368754"/>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535889" y="2147207"/>
            <a:ext cx="622480" cy="36875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158368" y="2147207"/>
            <a:ext cx="622480" cy="36875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780848" y="2147207"/>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403327" y="2147207"/>
            <a:ext cx="622480" cy="36875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9025807" y="2147207"/>
            <a:ext cx="622480" cy="368754"/>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48286" y="2147207"/>
            <a:ext cx="622480" cy="368754"/>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70766" y="2147207"/>
            <a:ext cx="622480" cy="368754"/>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93245" y="2147207"/>
            <a:ext cx="622480" cy="36875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51596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Biodegradable Polymers</a:t>
            </a:r>
          </a:p>
        </p:txBody>
      </p:sp>
      <p:sp>
        <p:nvSpPr>
          <p:cNvPr id="76" name="Rectangle 75"/>
          <p:cNvSpPr/>
          <p:nvPr/>
        </p:nvSpPr>
        <p:spPr>
          <a:xfrm>
            <a:off x="2178532" y="2515961"/>
            <a:ext cx="622480" cy="368754"/>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801011" y="2515961"/>
            <a:ext cx="622480" cy="36875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423491" y="2515961"/>
            <a:ext cx="622480" cy="36875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4045971" y="2515961"/>
            <a:ext cx="622480" cy="36875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668450" y="2515961"/>
            <a:ext cx="622480" cy="36875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290930" y="2515961"/>
            <a:ext cx="622480" cy="36875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913409" y="2515961"/>
            <a:ext cx="622480" cy="36875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535889" y="2515961"/>
            <a:ext cx="622480" cy="368754"/>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158368" y="2515961"/>
            <a:ext cx="622480" cy="368754"/>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780848" y="2515961"/>
            <a:ext cx="622480" cy="368754"/>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403327" y="2515961"/>
            <a:ext cx="622480" cy="368754"/>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9025807" y="2515961"/>
            <a:ext cx="622480" cy="368754"/>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648286" y="2515961"/>
            <a:ext cx="622480" cy="368754"/>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70766" y="2515961"/>
            <a:ext cx="622480" cy="368754"/>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93245" y="2515961"/>
            <a:ext cx="622480" cy="368754"/>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88471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Texture and Volume Additives</a:t>
            </a:r>
          </a:p>
        </p:txBody>
      </p:sp>
      <p:sp>
        <p:nvSpPr>
          <p:cNvPr id="92" name="Rectangle 91"/>
          <p:cNvSpPr/>
          <p:nvPr/>
        </p:nvSpPr>
        <p:spPr>
          <a:xfrm>
            <a:off x="2178532" y="2884714"/>
            <a:ext cx="622480" cy="36875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801011" y="2884714"/>
            <a:ext cx="622480" cy="368754"/>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423491" y="2884714"/>
            <a:ext cx="622480" cy="36875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4045971" y="2884714"/>
            <a:ext cx="622480" cy="368754"/>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668450" y="2884714"/>
            <a:ext cx="622480" cy="36875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290930" y="2884714"/>
            <a:ext cx="622480" cy="36875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913409" y="2884714"/>
            <a:ext cx="622480" cy="36875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535889" y="2884714"/>
            <a:ext cx="622480" cy="368754"/>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158368" y="2884714"/>
            <a:ext cx="622480" cy="368754"/>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780848" y="2884714"/>
            <a:ext cx="622480" cy="36875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403327" y="2884714"/>
            <a:ext cx="622480" cy="368754"/>
          </a:xfrm>
          <a:prstGeom prst="rect">
            <a:avLst/>
          </a:prstGeom>
          <a:solidFill>
            <a:srgbClr val="37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9025807" y="2884714"/>
            <a:ext cx="622480" cy="368754"/>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648286" y="2884714"/>
            <a:ext cx="622480" cy="368754"/>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70766" y="2884714"/>
            <a:ext cx="622480" cy="368754"/>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93245" y="2884714"/>
            <a:ext cx="622480" cy="36875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253468"/>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Silica-based Additives</a:t>
            </a:r>
          </a:p>
        </p:txBody>
      </p:sp>
      <p:sp>
        <p:nvSpPr>
          <p:cNvPr id="108" name="Rectangle 107"/>
          <p:cNvSpPr/>
          <p:nvPr/>
        </p:nvSpPr>
        <p:spPr>
          <a:xfrm>
            <a:off x="2178532" y="3253468"/>
            <a:ext cx="622480" cy="368754"/>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801011" y="3253468"/>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423491" y="3253468"/>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4045971" y="3253468"/>
            <a:ext cx="622480" cy="368754"/>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668450" y="3253468"/>
            <a:ext cx="622480" cy="368754"/>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290930" y="3253468"/>
            <a:ext cx="622480" cy="36875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913409" y="3253468"/>
            <a:ext cx="622480" cy="36875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535889" y="3253468"/>
            <a:ext cx="622480" cy="368754"/>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158368" y="3253468"/>
            <a:ext cx="622480" cy="36875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780848" y="3253468"/>
            <a:ext cx="622480" cy="36875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403327" y="3253468"/>
            <a:ext cx="622480" cy="368754"/>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9025807" y="3253468"/>
            <a:ext cx="622480" cy="36875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648286" y="3253468"/>
            <a:ext cx="622480" cy="368754"/>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70766" y="3253468"/>
            <a:ext cx="622480" cy="368754"/>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93245" y="3253468"/>
            <a:ext cx="622480" cy="368754"/>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62222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Starch-based Additives</a:t>
            </a:r>
          </a:p>
        </p:txBody>
      </p:sp>
      <p:sp>
        <p:nvSpPr>
          <p:cNvPr id="124" name="Rectangle 123"/>
          <p:cNvSpPr/>
          <p:nvPr/>
        </p:nvSpPr>
        <p:spPr>
          <a:xfrm>
            <a:off x="2178532" y="3622221"/>
            <a:ext cx="622480"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801011" y="3622221"/>
            <a:ext cx="622480" cy="368754"/>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423491" y="3622221"/>
            <a:ext cx="622480" cy="36875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4045971" y="3622221"/>
            <a:ext cx="622480" cy="368754"/>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668450" y="3622221"/>
            <a:ext cx="622480" cy="36875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290930" y="3622221"/>
            <a:ext cx="622480" cy="36875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913409" y="3622221"/>
            <a:ext cx="622480" cy="368754"/>
          </a:xfrm>
          <a:prstGeom prst="rect">
            <a:avLst/>
          </a:prstGeom>
          <a:solidFill>
            <a:srgbClr val="7F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535889" y="3622221"/>
            <a:ext cx="622480" cy="368754"/>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158368" y="3622221"/>
            <a:ext cx="622480" cy="368754"/>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780848" y="3622221"/>
            <a:ext cx="622480" cy="36875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403327" y="3622221"/>
            <a:ext cx="622480" cy="368754"/>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9025807" y="3622221"/>
            <a:ext cx="622480" cy="368754"/>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648286" y="3622221"/>
            <a:ext cx="622480" cy="368754"/>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70766" y="3622221"/>
            <a:ext cx="622480" cy="368754"/>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93245" y="3622221"/>
            <a:ext cx="622480" cy="36875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990975"/>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Other Mineral and Plant-based Additives</a:t>
            </a:r>
          </a:p>
        </p:txBody>
      </p:sp>
      <p:sp>
        <p:nvSpPr>
          <p:cNvPr id="140" name="Rectangle 139"/>
          <p:cNvSpPr/>
          <p:nvPr/>
        </p:nvSpPr>
        <p:spPr>
          <a:xfrm>
            <a:off x="2178532" y="3990975"/>
            <a:ext cx="622480" cy="36875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801011" y="3990975"/>
            <a:ext cx="622480" cy="36875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423491" y="3990975"/>
            <a:ext cx="622480" cy="36875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4045971" y="3990975"/>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668450" y="3990975"/>
            <a:ext cx="622480" cy="36875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290930" y="3990975"/>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913409" y="3990975"/>
            <a:ext cx="622480" cy="36875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535889" y="3990975"/>
            <a:ext cx="622480" cy="368754"/>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158368" y="3990975"/>
            <a:ext cx="622480" cy="368754"/>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780848" y="3990975"/>
            <a:ext cx="622480" cy="368754"/>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403327" y="3990975"/>
            <a:ext cx="622480" cy="368754"/>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9025807" y="3990975"/>
            <a:ext cx="622480" cy="368754"/>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648286" y="3990975"/>
            <a:ext cx="622480" cy="36875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70766" y="3990975"/>
            <a:ext cx="622480" cy="368754"/>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93245" y="3990975"/>
            <a:ext cx="622480" cy="368754"/>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35972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Conditioning and Smoothing Agents</a:t>
            </a:r>
          </a:p>
        </p:txBody>
      </p:sp>
      <p:sp>
        <p:nvSpPr>
          <p:cNvPr id="156" name="Rectangle 155"/>
          <p:cNvSpPr/>
          <p:nvPr/>
        </p:nvSpPr>
        <p:spPr>
          <a:xfrm>
            <a:off x="2178532" y="4359729"/>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801011" y="4359729"/>
            <a:ext cx="622480" cy="36875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423491" y="4359729"/>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4045971" y="4359729"/>
            <a:ext cx="622480" cy="36875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668450" y="4359729"/>
            <a:ext cx="622480" cy="36875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90930" y="4359729"/>
            <a:ext cx="622480" cy="368754"/>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913409" y="4359729"/>
            <a:ext cx="622480" cy="368754"/>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535889" y="4359729"/>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158368" y="4359729"/>
            <a:ext cx="622480" cy="368754"/>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780848" y="4359729"/>
            <a:ext cx="622480" cy="368754"/>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403327" y="4359729"/>
            <a:ext cx="622480" cy="368754"/>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9025807" y="4359729"/>
            <a:ext cx="622480" cy="368754"/>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648286" y="4359729"/>
            <a:ext cx="622480" cy="368754"/>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70766" y="4359729"/>
            <a:ext cx="622480" cy="368754"/>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93245" y="4359729"/>
            <a:ext cx="622480" cy="36875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728482"/>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Silicone-based</a:t>
            </a:r>
          </a:p>
        </p:txBody>
      </p:sp>
      <p:sp>
        <p:nvSpPr>
          <p:cNvPr id="172" name="Rectangle 171"/>
          <p:cNvSpPr/>
          <p:nvPr/>
        </p:nvSpPr>
        <p:spPr>
          <a:xfrm>
            <a:off x="2178532" y="4728482"/>
            <a:ext cx="622480" cy="368754"/>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801011" y="4728482"/>
            <a:ext cx="622480" cy="36875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423491" y="4728482"/>
            <a:ext cx="622480" cy="368754"/>
          </a:xfrm>
          <a:prstGeom prst="rect">
            <a:avLst/>
          </a:prstGeom>
          <a:solidFill>
            <a:srgbClr val="E6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4045971" y="4728482"/>
            <a:ext cx="622480" cy="368754"/>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668450" y="4728482"/>
            <a:ext cx="622480" cy="36875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290930" y="4728482"/>
            <a:ext cx="622480" cy="36875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913409" y="4728482"/>
            <a:ext cx="622480" cy="36875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535889" y="4728482"/>
            <a:ext cx="622480" cy="36875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158368" y="4728482"/>
            <a:ext cx="622480" cy="36875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780848" y="4728482"/>
            <a:ext cx="622480" cy="368754"/>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403327" y="4728482"/>
            <a:ext cx="622480" cy="368754"/>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9025807" y="4728482"/>
            <a:ext cx="622480" cy="368754"/>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648286" y="4728482"/>
            <a:ext cx="622480" cy="36875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70766" y="4728482"/>
            <a:ext cx="622480" cy="36875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93245" y="4728482"/>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09723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Silicone-free</a:t>
            </a:r>
          </a:p>
        </p:txBody>
      </p:sp>
      <p:sp>
        <p:nvSpPr>
          <p:cNvPr id="188" name="Rectangle 187"/>
          <p:cNvSpPr/>
          <p:nvPr/>
        </p:nvSpPr>
        <p:spPr>
          <a:xfrm>
            <a:off x="2178532" y="5097236"/>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801011" y="5097236"/>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423491" y="5097236"/>
            <a:ext cx="622480" cy="36875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4045971" y="5097236"/>
            <a:ext cx="622480" cy="36875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668450" y="5097236"/>
            <a:ext cx="622480" cy="368754"/>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290930" y="5097236"/>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913409" y="5097236"/>
            <a:ext cx="622480" cy="368754"/>
          </a:xfrm>
          <a:prstGeom prst="rect">
            <a:avLst/>
          </a:prstGeom>
          <a:solidFill>
            <a:srgbClr val="7C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535889" y="5097236"/>
            <a:ext cx="622480" cy="368754"/>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158368" y="5097236"/>
            <a:ext cx="622480" cy="368754"/>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780848" y="5097236"/>
            <a:ext cx="622480" cy="368754"/>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403327" y="5097236"/>
            <a:ext cx="622480" cy="36875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9025807" y="5097236"/>
            <a:ext cx="622480" cy="36875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648286" y="5097236"/>
            <a:ext cx="622480" cy="36875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70766" y="5097236"/>
            <a:ext cx="622480" cy="36875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93245" y="5097236"/>
            <a:ext cx="622480" cy="368754"/>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46598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Waxes and Structuring Agents</a:t>
            </a:r>
          </a:p>
        </p:txBody>
      </p:sp>
      <p:sp>
        <p:nvSpPr>
          <p:cNvPr id="204" name="Rectangle 203"/>
          <p:cNvSpPr/>
          <p:nvPr/>
        </p:nvSpPr>
        <p:spPr>
          <a:xfrm>
            <a:off x="2178532" y="5465989"/>
            <a:ext cx="622480" cy="36875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801011" y="5465989"/>
            <a:ext cx="622480" cy="36875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423491" y="5465989"/>
            <a:ext cx="622480" cy="368754"/>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4045971" y="5465989"/>
            <a:ext cx="622480" cy="36875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668450" y="5465989"/>
            <a:ext cx="622480" cy="36875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290930" y="5465989"/>
            <a:ext cx="622480" cy="36875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913409" y="5465989"/>
            <a:ext cx="622480" cy="36875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535889" y="5465989"/>
            <a:ext cx="622480" cy="368754"/>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158368" y="5465989"/>
            <a:ext cx="622480" cy="368754"/>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780848" y="5465989"/>
            <a:ext cx="622480" cy="368754"/>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403327" y="5465989"/>
            <a:ext cx="622480" cy="368754"/>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9025807" y="5465989"/>
            <a:ext cx="622480" cy="368754"/>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648286" y="5465989"/>
            <a:ext cx="622480" cy="368754"/>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70766" y="5465989"/>
            <a:ext cx="622480" cy="368754"/>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93245" y="5465989"/>
            <a:ext cx="622480" cy="368754"/>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834743"/>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Waxes</a:t>
            </a:r>
          </a:p>
        </p:txBody>
      </p:sp>
      <p:sp>
        <p:nvSpPr>
          <p:cNvPr id="220" name="Rectangle 219"/>
          <p:cNvSpPr/>
          <p:nvPr/>
        </p:nvSpPr>
        <p:spPr>
          <a:xfrm>
            <a:off x="2178532" y="5834743"/>
            <a:ext cx="622480" cy="36875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801011" y="5834743"/>
            <a:ext cx="622480" cy="36875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423491" y="5834743"/>
            <a:ext cx="622480" cy="368754"/>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4045971" y="5834743"/>
            <a:ext cx="622480" cy="368754"/>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668450" y="5834743"/>
            <a:ext cx="622480" cy="36875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290930" y="5834743"/>
            <a:ext cx="622480" cy="368754"/>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913409" y="5834743"/>
            <a:ext cx="622480" cy="368754"/>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535889" y="5834743"/>
            <a:ext cx="622480" cy="368754"/>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158368" y="5834743"/>
            <a:ext cx="622480" cy="36875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780848" y="5834743"/>
            <a:ext cx="622480" cy="36875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403327" y="5834743"/>
            <a:ext cx="622480" cy="368754"/>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9025807" y="5834743"/>
            <a:ext cx="622480" cy="368754"/>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648286" y="5834743"/>
            <a:ext cx="622480" cy="368754"/>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70766" y="5834743"/>
            <a:ext cx="622480" cy="368754"/>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93245" y="5834743"/>
            <a:ext cx="622480" cy="368754"/>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620349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Plant-derived Waxes</a:t>
            </a:r>
          </a:p>
        </p:txBody>
      </p:sp>
      <p:sp>
        <p:nvSpPr>
          <p:cNvPr id="236" name="Rectangle 235"/>
          <p:cNvSpPr/>
          <p:nvPr/>
        </p:nvSpPr>
        <p:spPr>
          <a:xfrm>
            <a:off x="2178532" y="6203496"/>
            <a:ext cx="622480" cy="36875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801011" y="6203496"/>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423491" y="6203496"/>
            <a:ext cx="622480" cy="368754"/>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4045971" y="6203496"/>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668450" y="6203496"/>
            <a:ext cx="622480" cy="36875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290930" y="6203496"/>
            <a:ext cx="622480" cy="36875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913409" y="6203496"/>
            <a:ext cx="622480" cy="368754"/>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535889" y="6203496"/>
            <a:ext cx="622480" cy="368754"/>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158368" y="6203496"/>
            <a:ext cx="622480" cy="368754"/>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780848" y="6203496"/>
            <a:ext cx="622480" cy="368754"/>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403327" y="6203496"/>
            <a:ext cx="622480" cy="368754"/>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9025807" y="6203496"/>
            <a:ext cx="622480" cy="368754"/>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648286" y="6203496"/>
            <a:ext cx="622480" cy="368754"/>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70766" y="6203496"/>
            <a:ext cx="622480" cy="368754"/>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93245" y="6203496"/>
            <a:ext cx="622480" cy="368754"/>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293" name="TextBox 292"/>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94" name="TextBox 293"/>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95" name="TextBox 29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807210"/>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2112010"/>
            <a:ext cx="7239000" cy="971550"/>
          </a:xfrm>
          <a:prstGeom prst="rect">
            <a:avLst/>
          </a:prstGeom>
          <a:noFill/>
        </p:spPr>
        <p:txBody>
          <a:bodyPr wrap="square" lIns="0" rIns="0" tIns="0">
            <a:spAutoFit/>
          </a:bodyPr>
          <a:lstStyle/>
          <a:p>
            <a:r>
              <a:rPr sz="3000" b="1" cap="all" spc="400">
                <a:solidFill>
                  <a:srgbClr val="FFFFFF"/>
                </a:solidFill>
                <a:latin typeface="Calibri"/>
              </a:rPr>
              <a:t>North America Market Outlook</a:t>
            </a:r>
          </a:p>
        </p:txBody>
      </p:sp>
      <p:sp>
        <p:nvSpPr>
          <p:cNvPr id="7" name="TextBox 6"/>
          <p:cNvSpPr txBox="1"/>
          <p:nvPr/>
        </p:nvSpPr>
        <p:spPr>
          <a:xfrm>
            <a:off x="914400" y="3274060"/>
            <a:ext cx="7124700" cy="320548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Hold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Finish</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Primary Styling Benefit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Hair Type Targeted</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Ingredient Technology</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North America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Market Summary, By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(MN UNITS)</a:t>
            </a:r>
          </a:p>
          <a:p>
            <a:pPr algn="ctr">
              <a:lnSpc>
                <a:spcPct val="95000"/>
              </a:lnSpc>
            </a:pPr>
            <a:r>
              <a:rPr sz="1500" b="1">
                <a:solidFill>
                  <a:srgbClr val="0E72AE"/>
                </a:solidFill>
                <a:latin typeface="Calibri"/>
              </a:rPr>
              <a:t>1,760</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2,686</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3.2%</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4.3%</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(Mn Units)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North America hair styling products market is projected to register 1.6X increase in volume by the end of forecast period, 2036. North America hair styling products market volume stood at 1,701 Mn Units in 2025 and is expected to reach 2,686 Mn Units by 2036 end, at a CAGR of 4.3%.</a:t>
            </a:r>
          </a:p>
          <a:p>
            <a:pPr algn="l">
              <a:lnSpc>
                <a:spcPct val="110000"/>
              </a:lnSpc>
              <a:spcBef>
                <a:spcPts val="0"/>
              </a:spcBef>
              <a:spcAft>
                <a:spcPts val="500"/>
              </a:spcAft>
            </a:pPr>
            <a:r>
              <a:rPr sz="1100" b="0">
                <a:solidFill>
                  <a:srgbClr val="2E2E2E"/>
                </a:solidFill>
                <a:latin typeface="Calibri"/>
              </a:rPr>
              <a:t>Value is projected to grow faster than volume over the forecast period, owing to an increase in average selling price.</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leads regional growth at 5.0%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'Creams and Lotions'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Format  ·  range across 2021–2036 (US$/Units)</a:t>
            </a:r>
          </a:p>
        </p:txBody>
      </p:sp>
      <p:cxnSp>
        <p:nvCxnSpPr>
          <p:cNvPr id="13" name="Connector 12"/>
          <p:cNvCxnSpPr/>
          <p:nvPr/>
        </p:nvCxnSpPr>
        <p:spPr>
          <a:xfrm>
            <a:off x="657225" y="310071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68877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27683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86488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64777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10071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68877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27683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86488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034040"/>
            <a:ext cx="381000" cy="133350"/>
          </a:xfrm>
          <a:prstGeom prst="rect">
            <a:avLst/>
          </a:prstGeom>
          <a:noFill/>
        </p:spPr>
        <p:txBody>
          <a:bodyPr wrap="none" lIns="0" rIns="0" tIns="0" bIns="0" anchor="ctr">
            <a:spAutoFit/>
          </a:bodyPr>
          <a:lstStyle/>
          <a:p>
            <a:pPr algn="r"/>
            <a:r>
              <a:rPr sz="1100" b="0">
                <a:solidFill>
                  <a:srgbClr val="6C7A89"/>
                </a:solidFill>
                <a:latin typeface="Calibri"/>
              </a:rPr>
              <a:t>1.22</a:t>
            </a:r>
          </a:p>
        </p:txBody>
      </p:sp>
      <p:sp>
        <p:nvSpPr>
          <p:cNvPr id="25" name="FMI Scale tick"/>
          <p:cNvSpPr txBox="1"/>
          <p:nvPr/>
        </p:nvSpPr>
        <p:spPr>
          <a:xfrm>
            <a:off x="219075" y="2210155"/>
            <a:ext cx="381000" cy="133350"/>
          </a:xfrm>
          <a:prstGeom prst="rect">
            <a:avLst/>
          </a:prstGeom>
          <a:noFill/>
        </p:spPr>
        <p:txBody>
          <a:bodyPr wrap="none" lIns="0" rIns="0" tIns="0" bIns="0" anchor="ctr">
            <a:spAutoFit/>
          </a:bodyPr>
          <a:lstStyle/>
          <a:p>
            <a:pPr algn="r"/>
            <a:r>
              <a:rPr sz="1100" b="0">
                <a:solidFill>
                  <a:srgbClr val="6C7A89"/>
                </a:solidFill>
                <a:latin typeface="Calibri"/>
              </a:rPr>
              <a:t>3.39</a:t>
            </a:r>
          </a:p>
        </p:txBody>
      </p:sp>
      <p:sp>
        <p:nvSpPr>
          <p:cNvPr id="26" name="FMI Scale tick"/>
          <p:cNvSpPr txBox="1"/>
          <p:nvPr/>
        </p:nvSpPr>
        <p:spPr>
          <a:xfrm>
            <a:off x="219075" y="1386270"/>
            <a:ext cx="381000" cy="133350"/>
          </a:xfrm>
          <a:prstGeom prst="rect">
            <a:avLst/>
          </a:prstGeom>
          <a:noFill/>
        </p:spPr>
        <p:txBody>
          <a:bodyPr wrap="none" lIns="0" rIns="0" tIns="0" bIns="0" anchor="ctr">
            <a:spAutoFit/>
          </a:bodyPr>
          <a:lstStyle/>
          <a:p>
            <a:pPr algn="r"/>
            <a:r>
              <a:rPr sz="1100" b="0">
                <a:solidFill>
                  <a:srgbClr val="6C7A89"/>
                </a:solidFill>
                <a:latin typeface="Calibri"/>
              </a:rPr>
              <a:t>5.56</a:t>
            </a:r>
          </a:p>
        </p:txBody>
      </p:sp>
      <p:cxnSp>
        <p:nvCxnSpPr>
          <p:cNvPr id="27" name="Connector 26"/>
          <p:cNvCxnSpPr/>
          <p:nvPr/>
        </p:nvCxnSpPr>
        <p:spPr>
          <a:xfrm flipV="1">
            <a:off x="1095375" y="2439677"/>
            <a:ext cx="0" cy="152745"/>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963930" y="259242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963930" y="243967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876300" y="2501918"/>
            <a:ext cx="438150" cy="7761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876300" y="254860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287277"/>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2.67</a:t>
            </a:r>
          </a:p>
        </p:txBody>
      </p:sp>
      <p:cxnSp>
        <p:nvCxnSpPr>
          <p:cNvPr id="33" name="Connector 32"/>
          <p:cNvCxnSpPr/>
          <p:nvPr/>
        </p:nvCxnSpPr>
        <p:spPr>
          <a:xfrm flipV="1">
            <a:off x="1971675" y="2773588"/>
            <a:ext cx="0" cy="13700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840230" y="291058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1840230" y="277358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752600" y="2829572"/>
            <a:ext cx="438150" cy="6935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1752600" y="287129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1533525" y="2621188"/>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1.82</a:t>
            </a:r>
          </a:p>
        </p:txBody>
      </p:sp>
      <p:cxnSp>
        <p:nvCxnSpPr>
          <p:cNvPr id="39" name="Connector 38"/>
          <p:cNvCxnSpPr/>
          <p:nvPr/>
        </p:nvCxnSpPr>
        <p:spPr>
          <a:xfrm flipV="1">
            <a:off x="2847975" y="2768435"/>
            <a:ext cx="0" cy="116616"/>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2716530" y="288505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2716530" y="276843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2628900" y="2814835"/>
            <a:ext cx="438150" cy="59347"/>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2628900" y="284966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2409825" y="2616035"/>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1.88</a:t>
            </a:r>
          </a:p>
        </p:txBody>
      </p:sp>
      <p:cxnSp>
        <p:nvCxnSpPr>
          <p:cNvPr id="45" name="Connector 44"/>
          <p:cNvCxnSpPr/>
          <p:nvPr/>
        </p:nvCxnSpPr>
        <p:spPr>
          <a:xfrm flipV="1">
            <a:off x="3724275" y="2403845"/>
            <a:ext cx="0" cy="237392"/>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3592830" y="264123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3592830" y="240384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3505200" y="2495585"/>
            <a:ext cx="438150" cy="12232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3505200" y="256587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286125" y="2251445"/>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2.63</a:t>
            </a:r>
          </a:p>
        </p:txBody>
      </p:sp>
      <p:cxnSp>
        <p:nvCxnSpPr>
          <p:cNvPr id="51" name="Connector 50"/>
          <p:cNvCxnSpPr/>
          <p:nvPr/>
        </p:nvCxnSpPr>
        <p:spPr>
          <a:xfrm flipV="1">
            <a:off x="4600575" y="2118087"/>
            <a:ext cx="0" cy="20887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4469130" y="232696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4469130" y="211808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4381500" y="2195587"/>
            <a:ext cx="438150" cy="115180"/>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5" name="Connector 54"/>
          <p:cNvCxnSpPr/>
          <p:nvPr/>
        </p:nvCxnSpPr>
        <p:spPr>
          <a:xfrm>
            <a:off x="4381500" y="2260426"/>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4162425" y="1965687"/>
            <a:ext cx="876300" cy="133350"/>
          </a:xfrm>
          <a:prstGeom prst="rect">
            <a:avLst/>
          </a:prstGeom>
          <a:noFill/>
        </p:spPr>
        <p:txBody>
          <a:bodyPr wrap="square" lIns="28575" rIns="28575" tIns="9525" bIns="9525">
            <a:spAutoFit/>
          </a:bodyPr>
          <a:lstStyle/>
          <a:p>
            <a:pPr algn="ctr"/>
            <a:r>
              <a:rPr sz="1100" b="1">
                <a:solidFill>
                  <a:srgbClr val="0B2E4A"/>
                </a:solidFill>
                <a:latin typeface="Calibri"/>
              </a:rPr>
              <a:t>3.43</a:t>
            </a:r>
          </a:p>
        </p:txBody>
      </p:sp>
      <p:cxnSp>
        <p:nvCxnSpPr>
          <p:cNvPr id="57" name="Connector 56"/>
          <p:cNvCxnSpPr/>
          <p:nvPr/>
        </p:nvCxnSpPr>
        <p:spPr>
          <a:xfrm flipV="1">
            <a:off x="5476875" y="2385066"/>
            <a:ext cx="0" cy="87787"/>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5345430" y="247285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5345430" y="238506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5257800" y="2417839"/>
            <a:ext cx="438150" cy="4707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1" name="Connector 60"/>
          <p:cNvCxnSpPr/>
          <p:nvPr/>
        </p:nvCxnSpPr>
        <p:spPr>
          <a:xfrm>
            <a:off x="5257800" y="2444756"/>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5038725" y="2232666"/>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2.95</a:t>
            </a:r>
          </a:p>
        </p:txBody>
      </p:sp>
      <p:cxnSp>
        <p:nvCxnSpPr>
          <p:cNvPr id="63" name="Connector 62"/>
          <p:cNvCxnSpPr/>
          <p:nvPr/>
        </p:nvCxnSpPr>
        <p:spPr>
          <a:xfrm flipV="1">
            <a:off x="6353175" y="1643073"/>
            <a:ext cx="0" cy="33718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6221730" y="198026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6221730" y="164307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6134100" y="1790476"/>
            <a:ext cx="438150" cy="164636"/>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7" name="Connector 66"/>
          <p:cNvCxnSpPr/>
          <p:nvPr/>
        </p:nvCxnSpPr>
        <p:spPr>
          <a:xfrm>
            <a:off x="6134100" y="188902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5915025" y="1490673"/>
            <a:ext cx="876300" cy="133350"/>
          </a:xfrm>
          <a:prstGeom prst="rect">
            <a:avLst/>
          </a:prstGeom>
          <a:noFill/>
        </p:spPr>
        <p:txBody>
          <a:bodyPr wrap="square" lIns="28575" rIns="28575" tIns="9525" bIns="9525">
            <a:spAutoFit/>
          </a:bodyPr>
          <a:lstStyle/>
          <a:p>
            <a:pPr algn="ctr"/>
            <a:r>
              <a:rPr sz="1100" b="1">
                <a:solidFill>
                  <a:srgbClr val="0B2E4A"/>
                </a:solidFill>
                <a:latin typeface="Calibri"/>
              </a:rPr>
              <a:t>4.41</a:t>
            </a:r>
          </a:p>
        </p:txBody>
      </p:sp>
      <p:cxnSp>
        <p:nvCxnSpPr>
          <p:cNvPr id="69" name="Connector 68"/>
          <p:cNvCxnSpPr/>
          <p:nvPr/>
        </p:nvCxnSpPr>
        <p:spPr>
          <a:xfrm flipV="1">
            <a:off x="7229475" y="1899346"/>
            <a:ext cx="0" cy="29255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0" name="Connector 69"/>
          <p:cNvCxnSpPr/>
          <p:nvPr/>
        </p:nvCxnSpPr>
        <p:spPr>
          <a:xfrm>
            <a:off x="7098030" y="219189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1" name="Connector 70"/>
          <p:cNvCxnSpPr/>
          <p:nvPr/>
        </p:nvCxnSpPr>
        <p:spPr>
          <a:xfrm>
            <a:off x="7098030" y="189934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72" name="Rectangle 71"/>
          <p:cNvSpPr/>
          <p:nvPr/>
        </p:nvSpPr>
        <p:spPr>
          <a:xfrm>
            <a:off x="7010400" y="2006450"/>
            <a:ext cx="438150" cy="153642"/>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3" name="Connector 72"/>
          <p:cNvCxnSpPr/>
          <p:nvPr/>
        </p:nvCxnSpPr>
        <p:spPr>
          <a:xfrm>
            <a:off x="7010400" y="2093709"/>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6791325" y="1746946"/>
            <a:ext cx="876300" cy="133350"/>
          </a:xfrm>
          <a:prstGeom prst="rect">
            <a:avLst/>
          </a:prstGeom>
          <a:noFill/>
        </p:spPr>
        <p:txBody>
          <a:bodyPr wrap="square" lIns="28575" rIns="28575" tIns="9525" bIns="9525">
            <a:spAutoFit/>
          </a:bodyPr>
          <a:lstStyle/>
          <a:p>
            <a:pPr algn="ctr"/>
            <a:r>
              <a:rPr sz="1100" b="1">
                <a:solidFill>
                  <a:srgbClr val="0B2E4A"/>
                </a:solidFill>
                <a:latin typeface="Calibri"/>
              </a:rPr>
              <a:t>3.87</a:t>
            </a:r>
          </a:p>
        </p:txBody>
      </p:sp>
      <p:sp>
        <p:nvSpPr>
          <p:cNvPr id="75" name="TextBox 74"/>
          <p:cNvSpPr txBox="1"/>
          <p:nvPr/>
        </p:nvSpPr>
        <p:spPr>
          <a:xfrm>
            <a:off x="6572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Sprays and Mists</a:t>
            </a:r>
          </a:p>
        </p:txBody>
      </p:sp>
      <p:sp>
        <p:nvSpPr>
          <p:cNvPr id="76" name="TextBox 75"/>
          <p:cNvSpPr txBox="1"/>
          <p:nvPr/>
        </p:nvSpPr>
        <p:spPr>
          <a:xfrm>
            <a:off x="15335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Mousses and Foams</a:t>
            </a:r>
          </a:p>
        </p:txBody>
      </p:sp>
      <p:sp>
        <p:nvSpPr>
          <p:cNvPr id="77" name="TextBox 76"/>
          <p:cNvSpPr txBox="1"/>
          <p:nvPr/>
        </p:nvSpPr>
        <p:spPr>
          <a:xfrm>
            <a:off x="24098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Gels and Jellies</a:t>
            </a:r>
          </a:p>
        </p:txBody>
      </p:sp>
      <p:sp>
        <p:nvSpPr>
          <p:cNvPr id="78" name="TextBox 77"/>
          <p:cNvSpPr txBox="1"/>
          <p:nvPr/>
        </p:nvSpPr>
        <p:spPr>
          <a:xfrm>
            <a:off x="32861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Creams and Lotions</a:t>
            </a:r>
          </a:p>
        </p:txBody>
      </p:sp>
      <p:sp>
        <p:nvSpPr>
          <p:cNvPr id="79" name="TextBox 78"/>
          <p:cNvSpPr txBox="1"/>
          <p:nvPr/>
        </p:nvSpPr>
        <p:spPr>
          <a:xfrm>
            <a:off x="41624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Waxes, Clays, Pastes…</a:t>
            </a:r>
          </a:p>
        </p:txBody>
      </p:sp>
      <p:sp>
        <p:nvSpPr>
          <p:cNvPr id="80" name="TextBox 79"/>
          <p:cNvSpPr txBox="1"/>
          <p:nvPr/>
        </p:nvSpPr>
        <p:spPr>
          <a:xfrm>
            <a:off x="50387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Powders</a:t>
            </a:r>
          </a:p>
        </p:txBody>
      </p:sp>
      <p:sp>
        <p:nvSpPr>
          <p:cNvPr id="81" name="TextBox 80"/>
          <p:cNvSpPr txBox="1"/>
          <p:nvPr/>
        </p:nvSpPr>
        <p:spPr>
          <a:xfrm>
            <a:off x="59150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Serums and Oils</a:t>
            </a:r>
          </a:p>
        </p:txBody>
      </p:sp>
      <p:sp>
        <p:nvSpPr>
          <p:cNvPr id="82" name="TextBox 81"/>
          <p:cNvSpPr txBox="1"/>
          <p:nvPr/>
        </p:nvSpPr>
        <p:spPr>
          <a:xfrm>
            <a:off x="67913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Sticks and Balms</a:t>
            </a:r>
          </a:p>
        </p:txBody>
      </p:sp>
      <p:sp>
        <p:nvSpPr>
          <p:cNvPr id="83" name="Rounded Rectangle 82"/>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North America  ·  2026–2036</a:t>
            </a:r>
          </a:p>
        </p:txBody>
      </p:sp>
      <p:cxnSp>
        <p:nvCxnSpPr>
          <p:cNvPr id="85" name="Connector 84"/>
          <p:cNvCxnSpPr/>
          <p:nvPr/>
        </p:nvCxnSpPr>
        <p:spPr>
          <a:xfrm>
            <a:off x="619125" y="430367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a:off x="619125" y="474839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7" name="Connector 86"/>
          <p:cNvCxnSpPr/>
          <p:nvPr/>
        </p:nvCxnSpPr>
        <p:spPr>
          <a:xfrm>
            <a:off x="619125" y="51931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8" name="Connector 87"/>
          <p:cNvCxnSpPr/>
          <p:nvPr/>
        </p:nvCxnSpPr>
        <p:spPr>
          <a:xfrm>
            <a:off x="619125" y="563783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9" name="Connector 88"/>
          <p:cNvCxnSpPr/>
          <p:nvPr/>
        </p:nvCxnSpPr>
        <p:spPr>
          <a:xfrm>
            <a:off x="619125" y="6082561"/>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90" name="Connector 89"/>
          <p:cNvCxnSpPr/>
          <p:nvPr/>
        </p:nvCxnSpPr>
        <p:spPr>
          <a:xfrm>
            <a:off x="619125" y="4303670"/>
            <a:ext cx="0" cy="1778891"/>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1" name="Connector 90"/>
          <p:cNvCxnSpPr/>
          <p:nvPr/>
        </p:nvCxnSpPr>
        <p:spPr>
          <a:xfrm>
            <a:off x="590550" y="430367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2" name="Connector 91"/>
          <p:cNvCxnSpPr/>
          <p:nvPr/>
        </p:nvCxnSpPr>
        <p:spPr>
          <a:xfrm>
            <a:off x="590550" y="474839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3" name="Connector 92"/>
          <p:cNvCxnSpPr/>
          <p:nvPr/>
        </p:nvCxnSpPr>
        <p:spPr>
          <a:xfrm>
            <a:off x="590550" y="51931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4" name="Connector 93"/>
          <p:cNvCxnSpPr/>
          <p:nvPr/>
        </p:nvCxnSpPr>
        <p:spPr>
          <a:xfrm>
            <a:off x="590550" y="563783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5" name="Connector 94"/>
          <p:cNvCxnSpPr/>
          <p:nvPr/>
        </p:nvCxnSpPr>
        <p:spPr>
          <a:xfrm>
            <a:off x="590550" y="6082561"/>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96" name="FMI Scale tick"/>
          <p:cNvSpPr txBox="1"/>
          <p:nvPr/>
        </p:nvSpPr>
        <p:spPr>
          <a:xfrm>
            <a:off x="138112" y="4236995"/>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+1.8%</a:t>
            </a:r>
          </a:p>
        </p:txBody>
      </p:sp>
      <p:sp>
        <p:nvSpPr>
          <p:cNvPr id="97" name="FMI Scale tick"/>
          <p:cNvSpPr txBox="1"/>
          <p:nvPr/>
        </p:nvSpPr>
        <p:spPr>
          <a:xfrm>
            <a:off x="138112" y="4681718"/>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+0.9%</a:t>
            </a:r>
          </a:p>
        </p:txBody>
      </p:sp>
      <p:sp>
        <p:nvSpPr>
          <p:cNvPr id="98" name="FMI Scale tick"/>
          <p:cNvSpPr txBox="1"/>
          <p:nvPr/>
        </p:nvSpPr>
        <p:spPr>
          <a:xfrm>
            <a:off x="219075" y="512644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North America</a:t>
            </a:r>
          </a:p>
        </p:txBody>
      </p:sp>
      <p:sp>
        <p:nvSpPr>
          <p:cNvPr id="99" name="FMI Scale tick"/>
          <p:cNvSpPr txBox="1"/>
          <p:nvPr/>
        </p:nvSpPr>
        <p:spPr>
          <a:xfrm>
            <a:off x="164306" y="5571164"/>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-0.9%</a:t>
            </a:r>
          </a:p>
        </p:txBody>
      </p:sp>
      <p:sp>
        <p:nvSpPr>
          <p:cNvPr id="100" name="FMI Scale tick"/>
          <p:cNvSpPr txBox="1"/>
          <p:nvPr/>
        </p:nvSpPr>
        <p:spPr>
          <a:xfrm>
            <a:off x="164306" y="6015886"/>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-1.8%</a:t>
            </a:r>
          </a:p>
        </p:txBody>
      </p:sp>
      <p:cxnSp>
        <p:nvCxnSpPr>
          <p:cNvPr id="101" name="Connector 100"/>
          <p:cNvCxnSpPr/>
          <p:nvPr/>
        </p:nvCxnSpPr>
        <p:spPr>
          <a:xfrm>
            <a:off x="619125" y="519311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102" name="Rectangle 101"/>
          <p:cNvSpPr/>
          <p:nvPr/>
        </p:nvSpPr>
        <p:spPr>
          <a:xfrm>
            <a:off x="2152650" y="5114175"/>
            <a:ext cx="457200" cy="7894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FMI Data Label"/>
          <p:cNvSpPr txBox="1"/>
          <p:nvPr/>
        </p:nvSpPr>
        <p:spPr>
          <a:xfrm>
            <a:off x="619125" y="4971300"/>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+0.2%</a:t>
            </a:r>
          </a:p>
        </p:txBody>
      </p:sp>
      <p:sp>
        <p:nvSpPr>
          <p:cNvPr id="104" name="Rectangle 103"/>
          <p:cNvSpPr/>
          <p:nvPr/>
        </p:nvSpPr>
        <p:spPr>
          <a:xfrm>
            <a:off x="5676900" y="5193116"/>
            <a:ext cx="457200" cy="755829"/>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MI Data Label"/>
          <p:cNvSpPr txBox="1"/>
          <p:nvPr/>
        </p:nvSpPr>
        <p:spPr>
          <a:xfrm>
            <a:off x="4143375" y="5958470"/>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-1.5%</a:t>
            </a:r>
          </a:p>
        </p:txBody>
      </p:sp>
      <p:sp>
        <p:nvSpPr>
          <p:cNvPr id="106" name="TextBox 105"/>
          <p:cNvSpPr txBox="1"/>
          <p:nvPr/>
        </p:nvSpPr>
        <p:spPr>
          <a:xfrm>
            <a:off x="61912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U.S.</a:t>
            </a:r>
          </a:p>
        </p:txBody>
      </p:sp>
      <p:sp>
        <p:nvSpPr>
          <p:cNvPr id="107" name="TextBox 106"/>
          <p:cNvSpPr txBox="1"/>
          <p:nvPr/>
        </p:nvSpPr>
        <p:spPr>
          <a:xfrm>
            <a:off x="414337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Canada</a:t>
            </a:r>
          </a:p>
        </p:txBody>
      </p:sp>
      <p:sp>
        <p:nvSpPr>
          <p:cNvPr id="108" name="Rounded Rectangle 107"/>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10" name="Rectangle 109"/>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Styling serums and oils segment is expected to command the highest average price of US$ 5.06 per Unit in 2036. Average selling price of hair styling products is estimated at US$ 2.82 per Unit in 2025 and is projected to increase to US$ 3.37 per Unit by 2036.</a:t>
            </a:r>
          </a:p>
          <a:p>
            <a:pPr algn="l">
              <a:lnSpc>
                <a:spcPct val="110000"/>
              </a:lnSpc>
              <a:spcBef>
                <a:spcPts val="0"/>
              </a:spcBef>
              <a:spcAft>
                <a:spcPts val="500"/>
              </a:spcAft>
            </a:pPr>
            <a:r>
              <a:rPr sz="1150" b="0">
                <a:solidFill>
                  <a:srgbClr val="2E2E2E"/>
                </a:solidFill>
                <a:latin typeface="Calibri"/>
              </a:rPr>
              <a:t>U.S. is the highest-priced country, while Canada is the most price-competitive market. Against the North America price of 3.10 US$/Units, 1 of 2 countries price above and 1 below.</a:t>
            </a:r>
          </a:p>
          <a:p>
            <a:pPr algn="l">
              <a:lnSpc>
                <a:spcPct val="110000"/>
              </a:lnSpc>
              <a:spcBef>
                <a:spcPts val="0"/>
              </a:spcBef>
              <a:spcAft>
                <a:spcPts val="500"/>
              </a:spcAft>
            </a:pPr>
            <a:r>
              <a:rPr sz="1150" b="0">
                <a:solidFill>
                  <a:srgbClr val="2E2E2E"/>
                </a:solidFill>
                <a:latin typeface="Calibri"/>
              </a:rPr>
              <a:t>'U.S.' is the dearest at +0.2% versus North America, 'Canada' the cheapest at -1.5% pointing to premiumisation headroom in the lower-priced countries.</a:t>
            </a:r>
          </a:p>
        </p:txBody>
      </p:sp>
      <p:sp>
        <p:nvSpPr>
          <p:cNvPr id="112" name="TextBox 1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5,020</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9,040</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3.8%</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6.1%</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955981"/>
          </a:xfrm>
          <a:prstGeom prst="roundRect">
            <a:avLst>
              <a:gd name="adj" fmla="val 25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470206"/>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Hair styling products market value in North America is expected to increase 1.9X between 2025 and 2036. In 2025, the hair styling products market in North America was valued at US$ 4,799 Mn and is estimated to account for US$ 5,020 Mn by the end of 2026, reflecting a Y-o-Y growth rate of 4.6%.</a:t>
            </a:r>
          </a:p>
          <a:p>
            <a:pPr algn="l">
              <a:lnSpc>
                <a:spcPct val="100000"/>
              </a:lnSpc>
              <a:spcBef>
                <a:spcPts val="0"/>
              </a:spcBef>
              <a:spcAft>
                <a:spcPts val="300"/>
              </a:spcAft>
            </a:pPr>
            <a:r>
              <a:rPr sz="1100" b="0">
                <a:solidFill>
                  <a:srgbClr val="2E2E2E"/>
                </a:solidFill>
                <a:latin typeface="Calibri"/>
              </a:rPr>
              <a:t>The market in North America is expected to account for US$ 9,040 Mn by 2036 at a CAGR of 6.1% over the forecast period. North America is expected to create an incremental opportunity of US$ 4,240 Mn for the overall hair styling products market from 2025 to 2036.</a:t>
            </a:r>
          </a:p>
          <a:p>
            <a:pPr algn="l">
              <a:lnSpc>
                <a:spcPct val="100000"/>
              </a:lnSpc>
              <a:spcBef>
                <a:spcPts val="0"/>
              </a:spcBef>
              <a:spcAft>
                <a:spcPts val="300"/>
              </a:spcAft>
            </a:pPr>
            <a:r>
              <a:rPr sz="1100" b="0">
                <a:solidFill>
                  <a:srgbClr val="2E2E2E"/>
                </a:solidFill>
                <a:latin typeface="Calibri"/>
              </a:rPr>
              <a:t>Absolute $ value for 2026 is estimated to be US$ 220.5 Mn.</a:t>
            </a:r>
          </a:p>
        </p:txBody>
      </p:sp>
      <p:sp>
        <p:nvSpPr>
          <p:cNvPr id="25" name="Rounded Rectangle 24"/>
          <p:cNvSpPr/>
          <p:nvPr/>
        </p:nvSpPr>
        <p:spPr>
          <a:xfrm>
            <a:off x="7915275" y="4638629"/>
            <a:ext cx="4133850" cy="1917756"/>
          </a:xfrm>
          <a:prstGeom prst="roundRect">
            <a:avLst>
              <a:gd name="adj" fmla="val 39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724354"/>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962479"/>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048204"/>
            <a:ext cx="3867150" cy="143198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leads regional growth at 6.8%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'Styling Serums and Oils'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North America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4695825"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2021–2025 (Historical)</a:t>
            </a:r>
          </a:p>
        </p:txBody>
      </p:sp>
      <p:graphicFrame>
        <p:nvGraphicFramePr>
          <p:cNvPr id="13" name="Chart 12"/>
          <p:cNvGraphicFramePr>
            <a:graphicFrameLocks noGrp="1"/>
          </p:cNvGraphicFramePr>
          <p:nvPr/>
        </p:nvGraphicFramePr>
        <p:xfrm>
          <a:off x="238125" y="1266825"/>
          <a:ext cx="4505325" cy="2181225"/>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2026–2036 (Forecast)</a:t>
            </a:r>
          </a:p>
        </p:txBody>
      </p:sp>
      <p:graphicFrame>
        <p:nvGraphicFramePr>
          <p:cNvPr id="16" name="Chart 15"/>
          <p:cNvGraphicFramePr>
            <a:graphicFrameLocks noGrp="1"/>
          </p:cNvGraphicFramePr>
          <p:nvPr/>
        </p:nvGraphicFramePr>
        <p:xfrm>
          <a:off x="5086350" y="1266825"/>
          <a:ext cx="6858000" cy="21812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3.8%</a:t>
            </a:r>
          </a:p>
        </p:txBody>
      </p:sp>
      <p:sp>
        <p:nvSpPr>
          <p:cNvPr id="18" name="Rounded Rectangle 17"/>
          <p:cNvSpPr/>
          <p:nvPr/>
        </p:nvSpPr>
        <p:spPr>
          <a:xfrm>
            <a:off x="2809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6.1%</a:t>
            </a:r>
          </a:p>
        </p:txBody>
      </p:sp>
      <p:sp>
        <p:nvSpPr>
          <p:cNvPr id="19" name="Rounded Rectangle 18"/>
          <p:cNvSpPr/>
          <p:nvPr/>
        </p:nvSpPr>
        <p:spPr>
          <a:xfrm>
            <a:off x="54768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1,582 US$ Mn</a:t>
            </a:r>
          </a:p>
        </p:txBody>
      </p:sp>
      <p:sp>
        <p:nvSpPr>
          <p:cNvPr id="20" name="Rounded Rectangle 19"/>
          <p:cNvSpPr/>
          <p:nvPr/>
        </p:nvSpPr>
        <p:spPr>
          <a:xfrm>
            <a:off x="88296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4,020 US$ Mn</a:t>
            </a:r>
          </a:p>
        </p:txBody>
      </p:sp>
      <p:sp>
        <p:nvSpPr>
          <p:cNvPr id="21" name="Rounded Rectangle 20"/>
          <p:cNvSpPr/>
          <p:nvPr/>
        </p:nvSpPr>
        <p:spPr>
          <a:xfrm>
            <a:off x="142875" y="4457700"/>
            <a:ext cx="11906250" cy="2152650"/>
          </a:xfrm>
          <a:prstGeom prst="roundRect">
            <a:avLst>
              <a:gd name="adj" fmla="val 35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5434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&amp; Value Analysis</a:t>
            </a:r>
          </a:p>
        </p:txBody>
      </p:sp>
      <p:sp>
        <p:nvSpPr>
          <p:cNvPr id="23" name="Rectangle 22"/>
          <p:cNvSpPr/>
          <p:nvPr/>
        </p:nvSpPr>
        <p:spPr>
          <a:xfrm>
            <a:off x="276225" y="4781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867275"/>
            <a:ext cx="11639550" cy="1666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Hair styling products market value in North America is expected to increase 1.9X between 2025 and 2036. In 2025, the hair styling products market in North America was valued at US$ 4,799 Mn and is estimated to account for US$ 5,020 Mn by the end of 2026, reflecting a Y-o-Y growth rate of 4.6%. The market in North America is expected to account for US$ 9,040 Mn by 2036 at a CAGR of 6.1% over the forecast period.</a:t>
            </a:r>
          </a:p>
          <a:p>
            <a:pPr algn="l">
              <a:lnSpc>
                <a:spcPct val="110000"/>
              </a:lnSpc>
              <a:spcBef>
                <a:spcPts val="0"/>
              </a:spcBef>
              <a:spcAft>
                <a:spcPts val="500"/>
              </a:spcAft>
            </a:pPr>
            <a:r>
              <a:rPr sz="1150" b="0">
                <a:solidFill>
                  <a:srgbClr val="2E2E2E"/>
                </a:solidFill>
                <a:latin typeface="Calibri"/>
              </a:rPr>
              <a:t>North America is expected to create an incremental opportunity of US$ 4,240 Mn for the overall hair styling products market from 2025 to 2036. Absolute $ value for 2026 is estimated to be US$ 220.5 Mn. North America hair styling products market is projected to register 1.6X increase in volume by the end of forecast period, 2036.</a:t>
            </a:r>
          </a:p>
          <a:p>
            <a:pPr algn="l">
              <a:lnSpc>
                <a:spcPct val="110000"/>
              </a:lnSpc>
              <a:spcBef>
                <a:spcPts val="0"/>
              </a:spcBef>
              <a:spcAft>
                <a:spcPts val="500"/>
              </a:spcAft>
            </a:pPr>
            <a:r>
              <a:rPr sz="1150" b="0">
                <a:solidFill>
                  <a:srgbClr val="2E2E2E"/>
                </a:solidFill>
                <a:latin typeface="Calibri"/>
              </a:rPr>
              <a:t>North America hair styling products market volume stood at 1,701 Mn Units in 2025 and is expected to reach 2,686 Mn Units by 2036 end, at a CAGR of 4.3%. Value is projected to grow faster than volume over the forecast period, owing to an increase in average selling price.</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28892" cy="2132069"/>
        </p:xfrm>
        <a:graphic>
          <a:graphicData uri="http://schemas.openxmlformats.org/drawingml/2006/table">
            <a:tbl>
              <a:tblPr>
                <a:tableStyleId>{5C22544A-7EE6-4342-B048-85BDC9FD1C3A}</a:tableStyleId>
              </a:tblPr>
              <a:tblGrid>
                <a:gridCol w="650421"/>
                <a:gridCol w="1088118"/>
                <a:gridCol w="1088118"/>
                <a:gridCol w="1102235"/>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958402">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FFFFF"/>
                    </a:solidFill>
                  </a:tcPr>
                </a:tc>
              </a:tr>
              <a:tr h="958402">
                <a:tc>
                  <a:txBody>
                    <a:bodyPr wrap="none"/>
                    <a:lstStyle/>
                    <a:p>
                      <a:pPr algn="l"/>
                      <a:r>
                        <a:rPr sz="1100" b="1">
                          <a:solidFill>
                            <a:srgbClr val="2E2E2E"/>
                          </a:solidFill>
                          <a:latin typeface="Calibri"/>
                        </a:rPr>
                        <a:t>U.S.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3,600</a:t>
                      </a:r>
                      <a:endParaRPr sz="1100"/>
                    </a:p>
                  </a:txBody>
                  <a:tcPr marL="47625" marR="38100" marT="19050" marB="19050" anchor="ctr">
                    <a:solidFill>
                      <a:srgbClr val="F5F8FA"/>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3743325" cy="4144991"/>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8,171</a:t>
            </a:r>
          </a:p>
        </p:txBody>
      </p:sp>
      <p:sp>
        <p:nvSpPr>
          <p:cNvPr id="19" name="Rectangle 18"/>
          <p:cNvSpPr/>
          <p:nvPr/>
        </p:nvSpPr>
        <p:spPr>
          <a:xfrm>
            <a:off x="4210050" y="5438002"/>
            <a:ext cx="3743325" cy="440608"/>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869</a:t>
            </a:r>
          </a:p>
        </p:txBody>
      </p:sp>
      <p:sp>
        <p:nvSpPr>
          <p:cNvPr id="20" name="Rounded Rectangle 19"/>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2" name="Chart 21"/>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3" name="Rounded Rectangle 22"/>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24" name="Table 23"/>
          <p:cNvGraphicFramePr>
            <a:graphicFrameLocks noGrp="1"/>
          </p:cNvGraphicFramePr>
          <p:nvPr/>
        </p:nvGraphicFramePr>
        <p:xfrm>
          <a:off x="8096250" y="3547710"/>
          <a:ext cx="3928892" cy="2159449"/>
        </p:xfrm>
        <a:graphic>
          <a:graphicData uri="http://schemas.openxmlformats.org/drawingml/2006/table">
            <a:tbl>
              <a:tblPr>
                <a:tableStyleId>{5C22544A-7EE6-4342-B048-85BDC9FD1C3A}</a:tableStyleId>
              </a:tblPr>
              <a:tblGrid>
                <a:gridCol w="650421"/>
                <a:gridCol w="1088118"/>
                <a:gridCol w="1088118"/>
                <a:gridCol w="1102235"/>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972092">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3,600</a:t>
                      </a:r>
                      <a:endParaRPr sz="1100"/>
                    </a:p>
                  </a:txBody>
                  <a:tcPr marL="47625" marR="38100" marT="19050" marB="19050" anchor="ctr">
                    <a:solidFill>
                      <a:srgbClr val="FFFFFF"/>
                    </a:solidFill>
                  </a:tcPr>
                </a:tc>
              </a:tr>
              <a:tr h="972092">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5F8FA"/>
                    </a:solidFill>
                  </a:tcPr>
                </a:tc>
              </a:tr>
            </a:tbl>
          </a:graphicData>
        </a:graphic>
      </p:graphicFrame>
      <p:sp>
        <p:nvSpPr>
          <p:cNvPr id="25" name="TextBox 24"/>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6" name="Rounded Rectangle 25"/>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U.S. hair styling products market is projected to register 9.4X higher value than Canada in 2036. Canada posts the highest CAGR Index (113), growing at 6.8% against the North America benchmark, while U.S. offers the largest absolute opportunity 3,600 US$ Mn of incremental market between 2026 and 2036 (90% of the North America increment).</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Global hair styling products market is expected to witness 1.9X increase in revenue by 2036 end. Global hair styling products market accounted for US$ 4,799 Mn in 2025, which is expected to increase to US$ 9,040 Mn in 2036 at a CAGR of 6.1%.</a:t>
            </a:r>
          </a:p>
          <a:p>
            <a:pPr algn="l">
              <a:lnSpc>
                <a:spcPct val="110000"/>
              </a:lnSpc>
              <a:spcBef>
                <a:spcPts val="0"/>
              </a:spcBef>
              <a:spcAft>
                <a:spcPts val="500"/>
              </a:spcAft>
            </a:pPr>
            <a:r>
              <a:rPr sz="1150" b="0">
                <a:solidFill>
                  <a:srgbClr val="2E2E2E"/>
                </a:solidFill>
                <a:latin typeface="Calibri"/>
              </a:rPr>
              <a:t>The global hair styling products market has been analysed on the basis of product format, hold level, finish and distribution channel across the globe. U.S. is expected to remain the largest market for hair styling products, while demand in Canada is projected to increase at the highest CAGR of 6.8% throughout the forecast period.</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is moderately fragmented: the leading product format category 'Styling Serums and Oils' holds 20.8% of 2036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spans 2 countries and 7 segmentation lenses (8 product format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U.S. is the largest country market at 90.4% of 2036 value.</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Accelerating uptake of 'Sticks and Balms' (7.9%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Fast-growing demand in Canada (6.8%).</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Momentum in Online Marketplaces within distribution channel (7.4%).</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Slower momentum in 'Sprays and Mists' (3.8%).</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Maturing demand in established categories caps the blended 6.1%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 concentration in 'Styling Serums and Oils' raises barriers for new entrants.</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'Sticks and Balms'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outpacing the North America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8 product format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Capacity and product development are concentrating in 'Sticks and Balms' and in Canada, the fastest-growing country.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Portfolio expansion is tracking the shift toward higher-growth product format categories.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Commercial focus is intensifying in U.S. and Canada, the two countries that make up the North America market.</a:t>
            </a:r>
          </a:p>
        </p:txBody>
      </p:sp>
      <p:sp>
        <p:nvSpPr>
          <p:cNvPr id="14" name="Rounded Rectangle 13"/>
          <p:cNvSpPr/>
          <p:nvPr/>
        </p:nvSpPr>
        <p:spPr>
          <a:xfrm>
            <a:off x="6172200"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Market value rises from 5,020 US$ Mn in 2026 to 9,040 US$ Mn in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forecast CAGR is 6.1% over 2026-2036.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'Styling Serums and Oils' is the lead product format category with 20.8%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 is the lead country with 90.4%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incremental opportunity over 2026-2036 is 4,020 US$ Mn.</a:t>
            </a:r>
          </a:p>
        </p:txBody>
      </p:sp>
      <p:sp>
        <p:nvSpPr>
          <p:cNvPr id="18" name="Rounded Rectangle 17"/>
          <p:cNvSpPr/>
          <p:nvPr/>
        </p:nvSpPr>
        <p:spPr>
          <a:xfrm>
            <a:off x="142875"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152775"/>
            <a:ext cx="5610225" cy="1228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Investment is flowing toward 'Sticks and Balms', the fastest-growing product format category at 7.9%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(6.8% CAGR) is a priority country for new capacity and distribution.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Scale players are anchoring their portfolios around 'Styling Serums and Oils', which holds 20.8% share.</a:t>
            </a:r>
          </a:p>
        </p:txBody>
      </p:sp>
      <p:sp>
        <p:nvSpPr>
          <p:cNvPr id="22" name="Rounded Rectangle 21"/>
          <p:cNvSpPr/>
          <p:nvPr/>
        </p:nvSpPr>
        <p:spPr>
          <a:xfrm>
            <a:off x="6172200"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152775"/>
            <a:ext cx="5610225" cy="12287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R&amp;D programmes are focused on product design, premium formats and sustainable materials, in line with the migration toward 'Sticks and Balms'.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Development spend is targeting the product format categories that gain share through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Innovation underpins the 6.1% forecast CAGR by sustaining both volume growth and price realisation.</a:t>
            </a:r>
          </a:p>
        </p:txBody>
      </p:sp>
      <p:sp>
        <p:nvSpPr>
          <p:cNvPr id="26" name="Rounded Rectangle 25"/>
          <p:cNvSpPr/>
          <p:nvPr/>
        </p:nvSpPr>
        <p:spPr>
          <a:xfrm>
            <a:off x="142875" y="4591050"/>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648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Format Share (2036)</a:t>
            </a:r>
          </a:p>
        </p:txBody>
      </p:sp>
      <p:graphicFrame>
        <p:nvGraphicFramePr>
          <p:cNvPr id="28" name="Chart 27"/>
          <p:cNvGraphicFramePr>
            <a:graphicFrameLocks noGrp="1"/>
          </p:cNvGraphicFramePr>
          <p:nvPr/>
        </p:nvGraphicFramePr>
        <p:xfrm>
          <a:off x="238125" y="4876800"/>
          <a:ext cx="11715750" cy="1685925"/>
        </p:xfrm>
        <a:graphic>
          <a:graphicData uri="http://schemas.openxmlformats.org/drawingml/2006/chart">
            <c:chart xmlns:c="http://schemas.openxmlformats.org/drawingml/2006/chart" r:id="rId3"/>
          </a:graphicData>
        </a:graphic>
      </p:graphicFrame>
      <p:sp>
        <p:nvSpPr>
          <p:cNvPr id="29" name="TextBox 28"/>
          <p:cNvSpPr txBox="1"/>
          <p:nvPr/>
        </p:nvSpPr>
        <p:spPr>
          <a:xfrm>
            <a:off x="3935364" y="5605462"/>
            <a:ext cx="806547" cy="228600"/>
          </a:xfrm>
          <a:prstGeom prst="rect">
            <a:avLst/>
          </a:prstGeom>
          <a:noFill/>
        </p:spPr>
        <p:txBody>
          <a:bodyPr wrap="square" lIns="28575" rIns="28575" tIns="9525" bIns="9525" anchor="ctr">
            <a:spAutoFit/>
          </a:bodyPr>
          <a:lstStyle/>
          <a:p>
            <a:pPr algn="ctr"/>
            <a:r>
              <a:rPr sz="1300" b="1">
                <a:solidFill>
                  <a:srgbClr val="2E2E2E"/>
                </a:solidFill>
                <a:latin typeface="Calibri"/>
              </a:rPr>
              <a:t>2036</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scale in 'Styling Serums and Oils' with targeted growth in 'Sticks and Balms' to capture the 6.1% CAGR trajectory to 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adds 4,020 US$ Mn of demand to 2036, a 1.8x expansion on the 2026 base.</a:t>
            </a:r>
          </a:p>
        </p:txBody>
      </p:sp>
      <p:sp>
        <p:nvSpPr>
          <p:cNvPr id="14" name="Rounded Rectangle 13"/>
          <p:cNvSpPr/>
          <p:nvPr/>
        </p:nvSpPr>
        <p:spPr>
          <a:xfrm>
            <a:off x="6172200"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'Sticks and Balms' category and the 'Online Marketplaces' distribution channel route, where growth outpaces the market.</a:t>
            </a:r>
          </a:p>
        </p:txBody>
      </p:sp>
      <p:sp>
        <p:nvSpPr>
          <p:cNvPr id="18" name="Rounded Rectangle 17"/>
          <p:cNvSpPr/>
          <p:nvPr/>
        </p:nvSpPr>
        <p:spPr>
          <a:xfrm>
            <a:off x="142875"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'Sticks and Balms' (7.9% CAGR) for growth, while 'Styling Serums and Oils' anchors 20.8% of value and funds the portfolio.</a:t>
            </a:r>
          </a:p>
        </p:txBody>
      </p:sp>
      <p:sp>
        <p:nvSpPr>
          <p:cNvPr id="22" name="Rounded Rectangle 21"/>
          <p:cNvSpPr/>
          <p:nvPr/>
        </p:nvSpPr>
        <p:spPr>
          <a:xfrm>
            <a:off x="6172200"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 with U.S. (90.4% of value) and capture upside in Canada (6.8% CAGR).</a:t>
            </a:r>
          </a:p>
        </p:txBody>
      </p:sp>
      <p:sp>
        <p:nvSpPr>
          <p:cNvPr id="26" name="Rounded Rectangle 25"/>
          <p:cNvSpPr/>
          <p:nvPr/>
        </p:nvSpPr>
        <p:spPr>
          <a:xfrm>
            <a:off x="142875" y="4695825"/>
            <a:ext cx="11906250" cy="1914525"/>
          </a:xfrm>
          <a:prstGeom prst="roundRect">
            <a:avLst>
              <a:gd name="adj" fmla="val 39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81550"/>
            <a:ext cx="11639550" cy="209550"/>
          </a:xfrm>
          <a:prstGeom prst="rect">
            <a:avLst/>
          </a:prstGeom>
          <a:noFill/>
        </p:spPr>
        <p:txBody>
          <a:bodyPr wrap="square" lIns="0" rIns="19050" tIns="9525" bIns="9525">
            <a:spAutoFit/>
          </a:bodyPr>
          <a:lstStyle/>
          <a:p>
            <a:pPr algn="l"/>
            <a:r>
              <a:rPr sz="1300" b="1">
                <a:solidFill>
                  <a:srgbClr val="0B2E4A"/>
                </a:solidFill>
                <a:latin typeface="Calibri"/>
              </a:rPr>
              <a:t>FMI Analysis and Recommendation</a:t>
            </a:r>
          </a:p>
        </p:txBody>
      </p:sp>
      <p:sp>
        <p:nvSpPr>
          <p:cNvPr id="28" name="Rectangle 27"/>
          <p:cNvSpPr/>
          <p:nvPr/>
        </p:nvSpPr>
        <p:spPr>
          <a:xfrm>
            <a:off x="276225" y="5019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105400"/>
            <a:ext cx="11639550" cy="1428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 and country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'Styling Serums and Oils' as the value anchor of the portfolio.</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quality certification and brand trust into the offer to protect pricing as competition intensifies.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10,531 US$ Mn</a:t>
            </a:r>
          </a:p>
          <a:p>
            <a:pPr algn="ctr">
              <a:lnSpc>
                <a:spcPct val="95000"/>
              </a:lnSpc>
            </a:pPr>
            <a:r>
              <a:rPr sz="1100" b="0">
                <a:solidFill>
                  <a:srgbClr val="6C7A89"/>
                </a:solidFill>
                <a:latin typeface="Calibri"/>
              </a:rPr>
              <a:t>CAGR 7.3%</a:t>
            </a:r>
          </a:p>
        </p:txBody>
      </p:sp>
      <p:sp>
        <p:nvSpPr>
          <p:cNvPr id="11" name="Rounded Rectangle 10"/>
          <p:cNvSpPr/>
          <p:nvPr/>
        </p:nvSpPr>
        <p:spPr>
          <a:xfrm>
            <a:off x="4238625"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9,040 US$ Mn</a:t>
            </a:r>
          </a:p>
          <a:p>
            <a:pPr algn="ctr">
              <a:lnSpc>
                <a:spcPct val="95000"/>
              </a:lnSpc>
            </a:pPr>
            <a:r>
              <a:rPr sz="1100" b="0">
                <a:solidFill>
                  <a:srgbClr val="6C7A89"/>
                </a:solidFill>
                <a:latin typeface="Calibri"/>
              </a:rPr>
              <a:t>CAGR 6.1%</a:t>
            </a:r>
          </a:p>
        </p:txBody>
      </p:sp>
      <p:sp>
        <p:nvSpPr>
          <p:cNvPr id="12" name="Rounded Rectangle 11"/>
          <p:cNvSpPr/>
          <p:nvPr/>
        </p:nvSpPr>
        <p:spPr>
          <a:xfrm>
            <a:off x="8210550"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7,743 US$ Mn</a:t>
            </a:r>
          </a:p>
          <a:p>
            <a:pPr algn="ctr">
              <a:lnSpc>
                <a:spcPct val="95000"/>
              </a:lnSpc>
            </a:pPr>
            <a:r>
              <a:rPr sz="1100" b="0">
                <a:solidFill>
                  <a:srgbClr val="6C7A89"/>
                </a:solidFill>
                <a:latin typeface="Calibri"/>
              </a:rPr>
              <a:t>CAGR 4.5%</a:t>
            </a:r>
          </a:p>
        </p:txBody>
      </p:sp>
      <p:sp>
        <p:nvSpPr>
          <p:cNvPr id="13" name="Rounded Rectangle 12"/>
          <p:cNvSpPr/>
          <p:nvPr/>
        </p:nvSpPr>
        <p:spPr>
          <a:xfrm>
            <a:off x="142875"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Hair Styling Products Market Value (US$ Mn): Scenario Forecast, 2025 and 2036</a:t>
            </a:r>
          </a:p>
        </p:txBody>
      </p:sp>
      <p:cxnSp>
        <p:nvCxnSpPr>
          <p:cNvPr id="15" name="Connector 14"/>
          <p:cNvCxnSpPr/>
          <p:nvPr/>
        </p:nvCxnSpPr>
        <p:spPr>
          <a:xfrm>
            <a:off x="238125" y="413385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435839"/>
            <a:ext cx="635826" cy="698011"/>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07740"/>
            <a:ext cx="635826" cy="1126110"/>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819116"/>
            <a:ext cx="635826" cy="1314734"/>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602230"/>
            <a:ext cx="635826" cy="1531620"/>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874390"/>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769615"/>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4.5%</a:t>
            </a:r>
          </a:p>
        </p:txBody>
      </p:sp>
      <p:cxnSp>
        <p:nvCxnSpPr>
          <p:cNvPr id="22" name="Connector 21"/>
          <p:cNvCxnSpPr/>
          <p:nvPr/>
        </p:nvCxnSpPr>
        <p:spPr>
          <a:xfrm>
            <a:off x="1456468" y="2617215"/>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12440"/>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6.1%</a:t>
            </a:r>
          </a:p>
        </p:txBody>
      </p:sp>
      <p:cxnSp>
        <p:nvCxnSpPr>
          <p:cNvPr id="24" name="Connector 23"/>
          <p:cNvCxnSpPr/>
          <p:nvPr/>
        </p:nvCxnSpPr>
        <p:spPr>
          <a:xfrm>
            <a:off x="1456468" y="2360040"/>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255265"/>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7.3%</a:t>
            </a:r>
          </a:p>
        </p:txBody>
      </p:sp>
      <p:sp>
        <p:nvSpPr>
          <p:cNvPr id="26" name="TextBox 25"/>
          <p:cNvSpPr txBox="1"/>
          <p:nvPr/>
        </p:nvSpPr>
        <p:spPr>
          <a:xfrm>
            <a:off x="643255"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40055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40055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40055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Hair Styling Products Market Attractiveness Analysis By Region, 2026–2036</a:t>
            </a:r>
          </a:p>
        </p:txBody>
      </p:sp>
      <p:graphicFrame>
        <p:nvGraphicFramePr>
          <p:cNvPr id="36" name="Chart 35"/>
          <p:cNvGraphicFramePr>
            <a:graphicFrameLocks noGrp="1"/>
          </p:cNvGraphicFramePr>
          <p:nvPr/>
        </p:nvGraphicFramePr>
        <p:xfrm>
          <a:off x="6267450" y="2181225"/>
          <a:ext cx="5686425" cy="2409825"/>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781550"/>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191125"/>
            <a:ext cx="11639550" cy="135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Optimistic: the market reaches 10,531 US$ Mn by 2036 at 7.3% CAGR, assuming faster adoption and stronger price realisation.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Likely (base forecast): the market reaches 9,040 US$ Mn by 2036 at 6.1%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Conservative: the market reaches 7,743 US$ Mn by 2036 at 4.5% CAGR, assuming slower adoption and tighter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Scenarios flex the base forecast's year-on-year growth by plus or minus 25% across 2026-2036.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gap between the optimistic and conservative outcomes is 2,788 US$ Mn in 2036, which frames the planning range for capacity and investment decisions.</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North America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North America Hair Styling Products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2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North America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U.S.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4,571</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8,171</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6.0%</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Canada</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449.0</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868.6</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6.8%</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The U.S. hair styling products market is projected to register 9.4X higher value than Canada in 2036. Among hair styling products by country, Canada is expected to witness the highest CAGR of 6.8% over the forecast period.</a:t>
            </a:r>
          </a:p>
          <a:p>
            <a:pPr algn="l">
              <a:lnSpc>
                <a:spcPct val="110000"/>
              </a:lnSpc>
              <a:spcBef>
                <a:spcPts val="0"/>
              </a:spcBef>
              <a:spcAft>
                <a:spcPts val="500"/>
              </a:spcAft>
            </a:pPr>
            <a:r>
              <a:rPr sz="1100" b="0">
                <a:solidFill>
                  <a:srgbClr val="2E2E2E"/>
                </a:solidFill>
                <a:latin typeface="Calibri"/>
              </a:rPr>
              <a:t>In terms of value share by country, U.S. is expected to dominate the market, losing 66 BPS and accounting for 90.4% share by 2036.</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Country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U.S.: </a:t>
            </a:r>
            <a:r>
              <a:rPr sz="1100" b="0">
                <a:solidFill>
                  <a:srgbClr val="2E2E2E"/>
                </a:solidFill>
                <a:latin typeface="Calibri"/>
              </a:rPr>
              <a:t>91% of 2026 value · 6.0% CAGR leads the market.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Canada: </a:t>
            </a:r>
            <a:r>
              <a:rPr sz="1100" b="0">
                <a:solidFill>
                  <a:srgbClr val="2E2E2E"/>
                </a:solidFill>
                <a:latin typeface="Calibri"/>
              </a:rPr>
              <a:t>9% of 2026 value · 6.8% CAGR grows fastest.</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Country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North America market is projected to grow at a CAGR of 6.1% from 2026 to 2036.</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Market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4039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63563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5943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9" name="BPS Value 1"/>
          <p:cNvSpPr txBox="1"/>
          <p:nvPr/>
        </p:nvSpPr>
        <p:spPr>
          <a:xfrm>
            <a:off x="6305550" y="1621345"/>
            <a:ext cx="514350" cy="123825"/>
          </a:xfrm>
          <a:prstGeom prst="rect">
            <a:avLst/>
          </a:prstGeom>
          <a:noFill/>
        </p:spPr>
        <p:txBody>
          <a:bodyPr wrap="none" lIns="0" rIns="0" tIns="0" bIns="0" anchor="ctr">
            <a:spAutoFit/>
          </a:bodyPr>
          <a:lstStyle/>
          <a:p>
            <a:pPr algn="r"/>
            <a:r>
              <a:rPr sz="900" b="1">
                <a:solidFill>
                  <a:srgbClr val="2E7D32"/>
                </a:solidFill>
                <a:latin typeface="Calibri"/>
              </a:rPr>
              <a:t>+58</a:t>
            </a:r>
          </a:p>
        </p:txBody>
      </p:sp>
      <p:sp>
        <p:nvSpPr>
          <p:cNvPr id="20" name="FMI Legend Chip"/>
          <p:cNvSpPr/>
          <p:nvPr/>
        </p:nvSpPr>
        <p:spPr>
          <a:xfrm>
            <a:off x="4551045" y="347395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346919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339299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3" name="BPS Value 2"/>
          <p:cNvSpPr txBox="1"/>
          <p:nvPr/>
        </p:nvSpPr>
        <p:spPr>
          <a:xfrm>
            <a:off x="6305550" y="3454907"/>
            <a:ext cx="514350" cy="123825"/>
          </a:xfrm>
          <a:prstGeom prst="rect">
            <a:avLst/>
          </a:prstGeom>
          <a:noFill/>
        </p:spPr>
        <p:txBody>
          <a:bodyPr wrap="none" lIns="0" rIns="0" tIns="0" bIns="0" anchor="ctr">
            <a:spAutoFit/>
          </a:bodyPr>
          <a:lstStyle/>
          <a:p>
            <a:pPr algn="r"/>
            <a:r>
              <a:rPr sz="900" b="1">
                <a:solidFill>
                  <a:srgbClr val="E44D3A"/>
                </a:solidFill>
                <a:latin typeface="Calibri"/>
              </a:rPr>
              <a:t>-58</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U.S. hair styling products market is projected to register 9.3X higher volume than Canada in 2036. Among hair styling products by country, Canada is expected to witness the highest CAGR of 5.0% over the forecast period.</a:t>
            </a:r>
          </a:p>
          <a:p>
            <a:pPr algn="l">
              <a:lnSpc>
                <a:spcPct val="110000"/>
              </a:lnSpc>
              <a:spcBef>
                <a:spcPts val="0"/>
              </a:spcBef>
              <a:spcAft>
                <a:spcPts val="500"/>
              </a:spcAft>
            </a:pPr>
            <a:r>
              <a:rPr sz="1150" b="0">
                <a:solidFill>
                  <a:srgbClr val="2E2E2E"/>
                </a:solidFill>
                <a:latin typeface="Calibri"/>
              </a:rPr>
              <a:t>In terms of volume share by country, U.S. is expected to dominate the market, losing 58 BPS and accounting for 90.3% share by 2036.</a:t>
            </a: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(MN UNITS)</a:t>
            </a:r>
          </a:p>
          <a:p>
            <a:pPr algn="ctr">
              <a:lnSpc>
                <a:spcPct val="95000"/>
              </a:lnSpc>
            </a:pPr>
            <a:r>
              <a:rPr sz="2000" b="1">
                <a:solidFill>
                  <a:srgbClr val="0E72AE"/>
                </a:solidFill>
                <a:latin typeface="Calibri"/>
              </a:rPr>
              <a:t>1,760</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(MN UNITS)</a:t>
            </a:r>
          </a:p>
          <a:p>
            <a:pPr algn="ctr">
              <a:lnSpc>
                <a:spcPct val="95000"/>
              </a:lnSpc>
            </a:pPr>
            <a:r>
              <a:rPr sz="2000" b="1">
                <a:solidFill>
                  <a:srgbClr val="0E72AE"/>
                </a:solidFill>
                <a:latin typeface="Calibri"/>
              </a:rPr>
              <a:t>2,686</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4.3%</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3826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63350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5730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9" name="BPS Value 1"/>
          <p:cNvSpPr txBox="1"/>
          <p:nvPr/>
        </p:nvSpPr>
        <p:spPr>
          <a:xfrm>
            <a:off x="6305550" y="1619216"/>
            <a:ext cx="514350" cy="123825"/>
          </a:xfrm>
          <a:prstGeom prst="rect">
            <a:avLst/>
          </a:prstGeom>
          <a:noFill/>
        </p:spPr>
        <p:txBody>
          <a:bodyPr wrap="none" lIns="0" rIns="0" tIns="0" bIns="0" anchor="ctr">
            <a:spAutoFit/>
          </a:bodyPr>
          <a:lstStyle/>
          <a:p>
            <a:pPr algn="r"/>
            <a:r>
              <a:rPr sz="900" b="1">
                <a:solidFill>
                  <a:srgbClr val="2E7D32"/>
                </a:solidFill>
                <a:latin typeface="Calibri"/>
              </a:rPr>
              <a:t>+66</a:t>
            </a:r>
          </a:p>
        </p:txBody>
      </p:sp>
      <p:sp>
        <p:nvSpPr>
          <p:cNvPr id="20" name="FMI Legend Chip"/>
          <p:cNvSpPr/>
          <p:nvPr/>
        </p:nvSpPr>
        <p:spPr>
          <a:xfrm>
            <a:off x="4551045" y="347182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346706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339086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3" name="BPS Value 2"/>
          <p:cNvSpPr txBox="1"/>
          <p:nvPr/>
        </p:nvSpPr>
        <p:spPr>
          <a:xfrm>
            <a:off x="6305550" y="3452778"/>
            <a:ext cx="514350" cy="123825"/>
          </a:xfrm>
          <a:prstGeom prst="rect">
            <a:avLst/>
          </a:prstGeom>
          <a:noFill/>
        </p:spPr>
        <p:txBody>
          <a:bodyPr wrap="none" lIns="0" rIns="0" tIns="0" bIns="0" anchor="ctr">
            <a:spAutoFit/>
          </a:bodyPr>
          <a:lstStyle/>
          <a:p>
            <a:pPr algn="r"/>
            <a:r>
              <a:rPr sz="900" b="1">
                <a:solidFill>
                  <a:srgbClr val="E44D3A"/>
                </a:solidFill>
                <a:latin typeface="Calibri"/>
              </a:rPr>
              <a:t>-66</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U.S. hair styling products market is projected to register 9.4X higher value than Canada in 2036. Among hair styling products by country, Canada is expected to witness the highest CAGR of 6.8% over the forecast period.</a:t>
            </a:r>
          </a:p>
          <a:p>
            <a:pPr algn="l">
              <a:lnSpc>
                <a:spcPct val="110000"/>
              </a:lnSpc>
              <a:spcBef>
                <a:spcPts val="0"/>
              </a:spcBef>
              <a:spcAft>
                <a:spcPts val="500"/>
              </a:spcAft>
            </a:pPr>
            <a:r>
              <a:rPr sz="1150" b="0">
                <a:solidFill>
                  <a:srgbClr val="2E2E2E"/>
                </a:solidFill>
                <a:latin typeface="Calibri"/>
              </a:rPr>
              <a:t>In terms of value share by country, U.S. is expected to dominate the market, losing 66 BPS and accounting for 90.4% share by 2036.</a:t>
            </a: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5,020</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9,040</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6.1%</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Market Share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(Mn Units)</a:t>
            </a:r>
          </a:p>
        </p:txBody>
      </p:sp>
      <p:graphicFrame>
        <p:nvGraphicFramePr>
          <p:cNvPr id="13" name="Table 12"/>
          <p:cNvGraphicFramePr>
            <a:graphicFrameLocks noGrp="1"/>
          </p:cNvGraphicFramePr>
          <p:nvPr/>
        </p:nvGraphicFramePr>
        <p:xfrm>
          <a:off x="152400" y="1238250"/>
          <a:ext cx="11887200" cy="866775"/>
        </p:xfrm>
        <a:graphic>
          <a:graphicData uri="http://schemas.openxmlformats.org/drawingml/2006/table">
            <a:tbl>
              <a:tblPr>
                <a:tableStyleId>{5C22544A-7EE6-4342-B048-85BDC9FD1C3A}</a:tableStyleId>
              </a:tblPr>
              <a:tblGrid>
                <a:gridCol w="696253"/>
                <a:gridCol w="658291"/>
                <a:gridCol w="658291"/>
                <a:gridCol w="658291"/>
                <a:gridCol w="658291"/>
                <a:gridCol w="658291"/>
                <a:gridCol w="658291"/>
                <a:gridCol w="658291"/>
                <a:gridCol w="658291"/>
                <a:gridCol w="658291"/>
                <a:gridCol w="658291"/>
                <a:gridCol w="658291"/>
                <a:gridCol w="658291"/>
                <a:gridCol w="658291"/>
                <a:gridCol w="658291"/>
                <a:gridCol w="658291"/>
                <a:gridCol w="658291"/>
                <a:gridCol w="658291"/>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5336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Share Read-out, By Country</a:t>
            </a:r>
          </a:p>
        </p:txBody>
      </p:sp>
      <p:sp>
        <p:nvSpPr>
          <p:cNvPr id="17" name="Rectangle 16"/>
          <p:cNvSpPr/>
          <p:nvPr/>
        </p:nvSpPr>
        <p:spPr>
          <a:xfrm>
            <a:off x="276225" y="27717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857500"/>
            <a:ext cx="11639550" cy="36957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U.S. hair styling products market is projected to register 9.3X higher volume than Canada in 2036. Among hair styling products by country, Canada is expected to witness the highest CAGR of 5.0% over the forecast period.</a:t>
            </a:r>
          </a:p>
          <a:p>
            <a:pPr algn="l">
              <a:lnSpc>
                <a:spcPct val="110000"/>
              </a:lnSpc>
              <a:spcBef>
                <a:spcPts val="0"/>
              </a:spcBef>
              <a:spcAft>
                <a:spcPts val="500"/>
              </a:spcAft>
            </a:pPr>
            <a:r>
              <a:rPr sz="1150" b="0">
                <a:solidFill>
                  <a:srgbClr val="2E2E2E"/>
                </a:solidFill>
                <a:latin typeface="Calibri"/>
              </a:rPr>
              <a:t>In terms of volume share by country, U.S. is expected to dominate the market, losing 58 BPS and accounting for 90.3%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(US$ Mn)</a:t>
            </a:r>
          </a:p>
        </p:txBody>
      </p:sp>
      <p:graphicFrame>
        <p:nvGraphicFramePr>
          <p:cNvPr id="13" name="Table 12"/>
          <p:cNvGraphicFramePr>
            <a:graphicFrameLocks noGrp="1"/>
          </p:cNvGraphicFramePr>
          <p:nvPr/>
        </p:nvGraphicFramePr>
        <p:xfrm>
          <a:off x="152400" y="1238250"/>
          <a:ext cx="11887200" cy="866775"/>
        </p:xfrm>
        <a:graphic>
          <a:graphicData uri="http://schemas.openxmlformats.org/drawingml/2006/table">
            <a:tbl>
              <a:tblPr>
                <a:tableStyleId>{5C22544A-7EE6-4342-B048-85BDC9FD1C3A}</a:tableStyleId>
              </a:tblPr>
              <a:tblGrid>
                <a:gridCol w="696253"/>
                <a:gridCol w="658291"/>
                <a:gridCol w="658291"/>
                <a:gridCol w="658291"/>
                <a:gridCol w="658291"/>
                <a:gridCol w="658291"/>
                <a:gridCol w="658291"/>
                <a:gridCol w="658291"/>
                <a:gridCol w="658291"/>
                <a:gridCol w="658291"/>
                <a:gridCol w="658291"/>
                <a:gridCol w="658291"/>
                <a:gridCol w="658291"/>
                <a:gridCol w="658291"/>
                <a:gridCol w="658291"/>
                <a:gridCol w="658291"/>
                <a:gridCol w="658291"/>
                <a:gridCol w="658291"/>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5336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Share Read-out, By Country</a:t>
            </a:r>
          </a:p>
        </p:txBody>
      </p:sp>
      <p:sp>
        <p:nvSpPr>
          <p:cNvPr id="17" name="Rectangle 16"/>
          <p:cNvSpPr/>
          <p:nvPr/>
        </p:nvSpPr>
        <p:spPr>
          <a:xfrm>
            <a:off x="276225" y="27717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857500"/>
            <a:ext cx="11639550" cy="36957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U.S. hair styling products market is projected to register 9.4X higher value than Canada in 2036. Among hair styling products by country, Canada is expected to witness the highest CAGR of 6.8% over the forecast period.</a:t>
            </a:r>
          </a:p>
          <a:p>
            <a:pPr algn="l">
              <a:lnSpc>
                <a:spcPct val="110000"/>
              </a:lnSpc>
              <a:spcBef>
                <a:spcPts val="0"/>
              </a:spcBef>
              <a:spcAft>
                <a:spcPts val="500"/>
              </a:spcAft>
            </a:pPr>
            <a:r>
              <a:rPr sz="1150" b="0">
                <a:solidFill>
                  <a:srgbClr val="2E2E2E"/>
                </a:solidFill>
                <a:latin typeface="Calibri"/>
              </a:rPr>
              <a:t>In terms of value share by country, U.S. is expected to dominate the market, losing 66 BPS and accounting for 90.4%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Country (Mn Units)</a:t>
            </a:r>
          </a:p>
        </p:txBody>
      </p:sp>
      <p:graphicFrame>
        <p:nvGraphicFramePr>
          <p:cNvPr id="13" name="Chart 12"/>
          <p:cNvGraphicFramePr>
            <a:graphicFrameLocks noGrp="1"/>
          </p:cNvGraphicFramePr>
          <p:nvPr/>
        </p:nvGraphicFramePr>
        <p:xfrm>
          <a:off x="238125" y="1266825"/>
          <a:ext cx="1171575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Country (US$ Mn)</a:t>
            </a:r>
          </a:p>
        </p:txBody>
      </p:sp>
      <p:graphicFrame>
        <p:nvGraphicFramePr>
          <p:cNvPr id="16" name="Chart 15"/>
          <p:cNvGraphicFramePr>
            <a:graphicFrameLocks noGrp="1"/>
          </p:cNvGraphicFramePr>
          <p:nvPr/>
        </p:nvGraphicFramePr>
        <p:xfrm>
          <a:off x="238125" y="4152900"/>
          <a:ext cx="11715750" cy="24098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Market Top 2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North America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by country  ·  2036 (US$ Mn)  ·  tile size = market value</a:t>
            </a:r>
          </a:p>
        </p:txBody>
      </p:sp>
      <p:sp>
        <p:nvSpPr>
          <p:cNvPr id="13" name="Rectangle 12"/>
          <p:cNvSpPr/>
          <p:nvPr/>
        </p:nvSpPr>
        <p:spPr>
          <a:xfrm>
            <a:off x="238125" y="1266825"/>
            <a:ext cx="10590040"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8,171</a:t>
            </a:r>
          </a:p>
        </p:txBody>
      </p:sp>
      <p:sp>
        <p:nvSpPr>
          <p:cNvPr id="14" name="Rectangle 13"/>
          <p:cNvSpPr/>
          <p:nvPr/>
        </p:nvSpPr>
        <p:spPr>
          <a:xfrm>
            <a:off x="10828165" y="1266825"/>
            <a:ext cx="1125710" cy="530542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869</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9653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308225"/>
            <a:ext cx="8572500" cy="514350"/>
          </a:xfrm>
          <a:prstGeom prst="rect">
            <a:avLst/>
          </a:prstGeom>
          <a:noFill/>
        </p:spPr>
        <p:txBody>
          <a:bodyPr wrap="square" lIns="0" rIns="0" tIns="0">
            <a:spAutoFit/>
          </a:bodyPr>
          <a:lstStyle/>
          <a:p>
            <a:r>
              <a:rPr sz="3000" b="1">
                <a:solidFill>
                  <a:srgbClr val="0B3C8C"/>
                </a:solidFill>
                <a:latin typeface="Calibri"/>
              </a:rPr>
              <a:t>North America Market Analysis By Segments</a:t>
            </a:r>
          </a:p>
        </p:txBody>
      </p:sp>
      <p:sp>
        <p:nvSpPr>
          <p:cNvPr id="11" name="TextBox 10"/>
          <p:cNvSpPr txBox="1"/>
          <p:nvPr/>
        </p:nvSpPr>
        <p:spPr>
          <a:xfrm>
            <a:off x="914400" y="2994025"/>
            <a:ext cx="8458200" cy="28511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Serums and Oils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958.1</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1,881</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7.0%</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Clays, Pastes and Pomades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827.2</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1,418</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5.5%</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Sprays and Mists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713.2</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1,031</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3.8%</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Sticks and Balms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643.4</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1,375</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7.9%</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product format, sticks and balms segment is expected to witness the highest CAGR of 7.9% over the forecast period. In terms of value share by product format, the styling serums and oils segment is expected to dominate the market, gaining 172 BPS and accounting for 20.8% share by 2036.</a:t>
            </a:r>
          </a:p>
          <a:p>
            <a:pPr algn="l">
              <a:lnSpc>
                <a:spcPct val="110000"/>
              </a:lnSpc>
              <a:spcBef>
                <a:spcPts val="0"/>
              </a:spcBef>
              <a:spcAft>
                <a:spcPts val="500"/>
              </a:spcAft>
            </a:pPr>
            <a:r>
              <a:rPr sz="1100" b="0">
                <a:solidFill>
                  <a:srgbClr val="2E2E2E"/>
                </a:solidFill>
                <a:latin typeface="Calibri"/>
              </a:rPr>
              <a:t>Styling serums and oils segment is projected to register 1.3X higher value than waxes, clays, pastes and pomades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Styling Serums and Oils: </a:t>
            </a:r>
            <a:r>
              <a:rPr sz="1100" b="0">
                <a:solidFill>
                  <a:srgbClr val="2E2E2E"/>
                </a:solidFill>
                <a:latin typeface="Calibri"/>
              </a:rPr>
              <a:t>19% of 2026 value · 7.0%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Waxes, Clays, Pastes and Pomades: </a:t>
            </a:r>
            <a:r>
              <a:rPr sz="1100" b="0">
                <a:solidFill>
                  <a:srgbClr val="2E2E2E"/>
                </a:solidFill>
                <a:latin typeface="Calibri"/>
              </a:rPr>
              <a:t>16% of 2026 value · 5.5%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Sprays and Mists: </a:t>
            </a:r>
            <a:r>
              <a:rPr sz="1100" b="0">
                <a:solidFill>
                  <a:srgbClr val="2E2E2E"/>
                </a:solidFill>
                <a:latin typeface="Calibri"/>
              </a:rPr>
              <a:t>14% of 2026 value · 3.8%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Sticks and Balms: </a:t>
            </a:r>
            <a:r>
              <a:rPr sz="1100" b="0">
                <a:solidFill>
                  <a:srgbClr val="2E2E2E"/>
                </a:solidFill>
                <a:latin typeface="Calibri"/>
              </a:rPr>
              <a:t>13% of 2026 value · 7.9%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Format split shows how demand is distributed across product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Format segment is projected to grow at a CAGR of 6.1%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2414588"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2414588"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Creams and Lotions</a:t>
            </a:r>
          </a:p>
        </p:txBody>
      </p:sp>
      <p:sp>
        <p:nvSpPr>
          <p:cNvPr id="22" name="Rectangle 21"/>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591.0</a:t>
            </a:r>
          </a:p>
        </p:txBody>
      </p:sp>
      <p:sp>
        <p:nvSpPr>
          <p:cNvPr id="23" name="Rectangle 22"/>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1,140</a:t>
            </a:r>
          </a:p>
        </p:txBody>
      </p:sp>
      <p:sp>
        <p:nvSpPr>
          <p:cNvPr id="24" name="Rectangle 23"/>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6.8%</a:t>
            </a:r>
          </a:p>
        </p:txBody>
      </p:sp>
      <p:sp>
        <p:nvSpPr>
          <p:cNvPr id="25" name="Oval 24"/>
          <p:cNvSpPr/>
          <p:nvPr/>
        </p:nvSpPr>
        <p:spPr>
          <a:xfrm>
            <a:off x="291226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4395788" y="1773916"/>
            <a:ext cx="2414588"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4395788" y="1992961"/>
            <a:ext cx="2414588"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Powders</a:t>
            </a:r>
          </a:p>
        </p:txBody>
      </p:sp>
      <p:sp>
        <p:nvSpPr>
          <p:cNvPr id="29" name="Rectangle 28"/>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495.9</a:t>
            </a:r>
          </a:p>
        </p:txBody>
      </p:sp>
      <p:sp>
        <p:nvSpPr>
          <p:cNvPr id="30" name="Rectangle 29"/>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925.2</a:t>
            </a:r>
          </a:p>
        </p:txBody>
      </p:sp>
      <p:sp>
        <p:nvSpPr>
          <p:cNvPr id="31" name="Rectangle 30"/>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6.4%</a:t>
            </a:r>
          </a:p>
        </p:txBody>
      </p:sp>
      <p:sp>
        <p:nvSpPr>
          <p:cNvPr id="32" name="Oval 31"/>
          <p:cNvSpPr/>
          <p:nvPr/>
        </p:nvSpPr>
        <p:spPr>
          <a:xfrm>
            <a:off x="5441156"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6924675" y="1773916"/>
            <a:ext cx="2414588"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6924675" y="1992961"/>
            <a:ext cx="2414588"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Gels and Jellies</a:t>
            </a:r>
          </a:p>
        </p:txBody>
      </p:sp>
      <p:sp>
        <p:nvSpPr>
          <p:cNvPr id="36" name="Rectangle 35"/>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432.7</a:t>
            </a:r>
          </a:p>
        </p:txBody>
      </p:sp>
      <p:sp>
        <p:nvSpPr>
          <p:cNvPr id="37" name="Rectangle 36"/>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706.0</a:t>
            </a:r>
          </a:p>
        </p:txBody>
      </p:sp>
      <p:sp>
        <p:nvSpPr>
          <p:cNvPr id="38" name="Rectangle 37"/>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5.0%</a:t>
            </a:r>
          </a:p>
        </p:txBody>
      </p:sp>
      <p:sp>
        <p:nvSpPr>
          <p:cNvPr id="39" name="Oval 38"/>
          <p:cNvSpPr/>
          <p:nvPr/>
        </p:nvSpPr>
        <p:spPr>
          <a:xfrm>
            <a:off x="7970044"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9453562"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9453562"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Mousses and Foams</a:t>
            </a:r>
          </a:p>
        </p:txBody>
      </p:sp>
      <p:sp>
        <p:nvSpPr>
          <p:cNvPr id="43" name="Rectangle 42"/>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358.3</a:t>
            </a:r>
          </a:p>
        </p:txBody>
      </p:sp>
      <p:sp>
        <p:nvSpPr>
          <p:cNvPr id="44" name="Rectangle 43"/>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563.0</a:t>
            </a:r>
          </a:p>
        </p:txBody>
      </p:sp>
      <p:sp>
        <p:nvSpPr>
          <p:cNvPr id="45" name="Rectangle 44"/>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4.6%</a:t>
            </a:r>
          </a:p>
        </p:txBody>
      </p:sp>
      <p:sp>
        <p:nvSpPr>
          <p:cNvPr id="46" name="Oval 45"/>
          <p:cNvSpPr/>
          <p:nvPr/>
        </p:nvSpPr>
        <p:spPr>
          <a:xfrm>
            <a:off x="10498931"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47" name="Rounded Rectangle 46"/>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9" name="Rectangle 48"/>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Creams and Lotions: </a:t>
            </a:r>
            <a:r>
              <a:rPr sz="1100" b="0">
                <a:solidFill>
                  <a:srgbClr val="2E2E2E"/>
                </a:solidFill>
                <a:latin typeface="Calibri"/>
              </a:rPr>
              <a:t>12% of 2026 value · 6.8%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Styling Powders: </a:t>
            </a:r>
            <a:r>
              <a:rPr sz="1100" b="0">
                <a:solidFill>
                  <a:srgbClr val="2E2E2E"/>
                </a:solidFill>
                <a:latin typeface="Calibri"/>
              </a:rPr>
              <a:t>10% of 2026 value · 6.4%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Gels and Jellies: </a:t>
            </a:r>
            <a:r>
              <a:rPr sz="1100" b="0">
                <a:solidFill>
                  <a:srgbClr val="2E2E2E"/>
                </a:solidFill>
                <a:latin typeface="Calibri"/>
              </a:rPr>
              <a:t>9% of 2026 value · 5.0% CAGR serves a niche.</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Mousses and Foams: </a:t>
            </a:r>
            <a:r>
              <a:rPr sz="1100" b="0">
                <a:solidFill>
                  <a:srgbClr val="2E2E2E"/>
                </a:solidFill>
                <a:latin typeface="Calibri"/>
              </a:rPr>
              <a:t>7% of 2026 value · 4.6% CAGR serves a niche.</a:t>
            </a:r>
          </a:p>
        </p:txBody>
      </p:sp>
      <p:sp>
        <p:nvSpPr>
          <p:cNvPr id="51" name="TextBox 50"/>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Product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Format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Styling serums and oils followed by sticks and balms are expected to be the two most attractive product format segments in the North America hair styling products market in terms of value over the forecast period. Styling serums and oils and sticks and balms exhibit a CAGR index of 115.2 and 130.2 and a market share index of 152.7 and 102.5 respectively, against the segment average of 100. The mousses and foams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Product Format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Sprays and Mists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Mousses and Foams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Gels and Jellies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Creams and Lotions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Product Format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Waxes, Clays, Pastes and Pomades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Styling Powders</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Styling Serums and Oils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Sticks and Balms</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Product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Product Format (US$ Mn)</a:t>
            </a:r>
          </a:p>
        </p:txBody>
      </p:sp>
      <p:graphicFrame>
        <p:nvGraphicFramePr>
          <p:cNvPr id="13" name="Table 12"/>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248275"/>
            <a:ext cx="11906250" cy="1381125"/>
          </a:xfrm>
          <a:prstGeom prst="roundRect">
            <a:avLst>
              <a:gd name="adj" fmla="val 55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3340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Product Format</a:t>
            </a:r>
          </a:p>
        </p:txBody>
      </p:sp>
      <p:sp>
        <p:nvSpPr>
          <p:cNvPr id="17" name="Rectangle 16"/>
          <p:cNvSpPr/>
          <p:nvPr/>
        </p:nvSpPr>
        <p:spPr>
          <a:xfrm>
            <a:off x="276225" y="55721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657850"/>
            <a:ext cx="11639550" cy="8953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Styling serums and oils segment is projected to register 1.3X higher value than waxes, clays, pastes and pomades segment in 2036. Among hair styling products by product format, sticks and balms segment is expected to witness the highest CAGR of 7.9% over the forecast period.</a:t>
            </a:r>
          </a:p>
          <a:p>
            <a:pPr algn="l">
              <a:lnSpc>
                <a:spcPct val="110000"/>
              </a:lnSpc>
              <a:spcBef>
                <a:spcPts val="0"/>
              </a:spcBef>
              <a:spcAft>
                <a:spcPts val="500"/>
              </a:spcAft>
            </a:pPr>
            <a:r>
              <a:rPr sz="1100" b="0">
                <a:solidFill>
                  <a:srgbClr val="2E2E2E"/>
                </a:solidFill>
                <a:latin typeface="Calibri"/>
              </a:rPr>
              <a:t>In terms of value share by product format, the styling serums and oils segment is expected to dominate the market, gaining 172 BPS and accounting for 20.8% share by 2036. The sprays and mists segment is expected to lose 280 BPS over the forecast period to account for 11.4%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Product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13654"/>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0889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3269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Mousses and Foams</a:t>
            </a:r>
          </a:p>
        </p:txBody>
      </p:sp>
      <p:sp>
        <p:nvSpPr>
          <p:cNvPr id="19" name="BPS Value 1"/>
          <p:cNvSpPr txBox="1"/>
          <p:nvPr/>
        </p:nvSpPr>
        <p:spPr>
          <a:xfrm>
            <a:off x="6896100" y="1794604"/>
            <a:ext cx="514350" cy="123825"/>
          </a:xfrm>
          <a:prstGeom prst="rect">
            <a:avLst/>
          </a:prstGeom>
          <a:noFill/>
        </p:spPr>
        <p:txBody>
          <a:bodyPr wrap="none" lIns="0" rIns="0" tIns="0" bIns="0" anchor="ctr">
            <a:spAutoFit/>
          </a:bodyPr>
          <a:lstStyle/>
          <a:p>
            <a:pPr algn="r"/>
            <a:r>
              <a:rPr sz="900" b="1">
                <a:solidFill>
                  <a:srgbClr val="E44D3A"/>
                </a:solidFill>
                <a:latin typeface="Calibri"/>
              </a:rPr>
              <a:t>-91</a:t>
            </a:r>
          </a:p>
        </p:txBody>
      </p:sp>
      <p:sp>
        <p:nvSpPr>
          <p:cNvPr id="20" name="FMI Legend Chip"/>
          <p:cNvSpPr/>
          <p:nvPr/>
        </p:nvSpPr>
        <p:spPr>
          <a:xfrm>
            <a:off x="4928997" y="2134609"/>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12984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5364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Gels and Jellies</a:t>
            </a:r>
          </a:p>
        </p:txBody>
      </p:sp>
      <p:sp>
        <p:nvSpPr>
          <p:cNvPr id="23" name="BPS Value 2"/>
          <p:cNvSpPr txBox="1"/>
          <p:nvPr/>
        </p:nvSpPr>
        <p:spPr>
          <a:xfrm>
            <a:off x="6896100" y="2115559"/>
            <a:ext cx="514350" cy="123825"/>
          </a:xfrm>
          <a:prstGeom prst="rect">
            <a:avLst/>
          </a:prstGeom>
          <a:noFill/>
        </p:spPr>
        <p:txBody>
          <a:bodyPr wrap="none" lIns="0" rIns="0" tIns="0" bIns="0" anchor="ctr">
            <a:spAutoFit/>
          </a:bodyPr>
          <a:lstStyle/>
          <a:p>
            <a:pPr algn="r"/>
            <a:r>
              <a:rPr sz="900" b="1">
                <a:solidFill>
                  <a:srgbClr val="E44D3A"/>
                </a:solidFill>
                <a:latin typeface="Calibri"/>
              </a:rPr>
              <a:t>-81</a:t>
            </a:r>
          </a:p>
        </p:txBody>
      </p:sp>
      <p:sp>
        <p:nvSpPr>
          <p:cNvPr id="24" name="FMI Legend Chip"/>
          <p:cNvSpPr/>
          <p:nvPr/>
        </p:nvSpPr>
        <p:spPr>
          <a:xfrm>
            <a:off x="4928997" y="254714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254237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46617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Powders</a:t>
            </a:r>
          </a:p>
        </p:txBody>
      </p:sp>
      <p:sp>
        <p:nvSpPr>
          <p:cNvPr id="27" name="BPS Value 3"/>
          <p:cNvSpPr txBox="1"/>
          <p:nvPr/>
        </p:nvSpPr>
        <p:spPr>
          <a:xfrm>
            <a:off x="6896100" y="2528092"/>
            <a:ext cx="514350" cy="123825"/>
          </a:xfrm>
          <a:prstGeom prst="rect">
            <a:avLst/>
          </a:prstGeom>
          <a:noFill/>
        </p:spPr>
        <p:txBody>
          <a:bodyPr wrap="none" lIns="0" rIns="0" tIns="0" bIns="0" anchor="ctr">
            <a:spAutoFit/>
          </a:bodyPr>
          <a:lstStyle/>
          <a:p>
            <a:pPr algn="r"/>
            <a:r>
              <a:rPr sz="900" b="1">
                <a:solidFill>
                  <a:srgbClr val="2E7D32"/>
                </a:solidFill>
                <a:latin typeface="Calibri"/>
              </a:rPr>
              <a:t>+36</a:t>
            </a:r>
          </a:p>
        </p:txBody>
      </p:sp>
      <p:sp>
        <p:nvSpPr>
          <p:cNvPr id="28" name="FMI Legend Chip"/>
          <p:cNvSpPr/>
          <p:nvPr/>
        </p:nvSpPr>
        <p:spPr>
          <a:xfrm>
            <a:off x="4928997" y="3041967"/>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03720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96100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Sprays and Mists</a:t>
            </a:r>
          </a:p>
        </p:txBody>
      </p:sp>
      <p:sp>
        <p:nvSpPr>
          <p:cNvPr id="31" name="BPS Value 4"/>
          <p:cNvSpPr txBox="1"/>
          <p:nvPr/>
        </p:nvSpPr>
        <p:spPr>
          <a:xfrm>
            <a:off x="6896100" y="3022917"/>
            <a:ext cx="514350" cy="123825"/>
          </a:xfrm>
          <a:prstGeom prst="rect">
            <a:avLst/>
          </a:prstGeom>
          <a:noFill/>
        </p:spPr>
        <p:txBody>
          <a:bodyPr wrap="none" lIns="0" rIns="0" tIns="0" bIns="0" anchor="ctr">
            <a:spAutoFit/>
          </a:bodyPr>
          <a:lstStyle/>
          <a:p>
            <a:pPr algn="r"/>
            <a:r>
              <a:rPr sz="900" b="1">
                <a:solidFill>
                  <a:srgbClr val="E44D3A"/>
                </a:solidFill>
                <a:latin typeface="Calibri"/>
              </a:rPr>
              <a:t>-280</a:t>
            </a:r>
          </a:p>
        </p:txBody>
      </p:sp>
      <p:sp>
        <p:nvSpPr>
          <p:cNvPr id="32" name="FMI Legend Chip"/>
          <p:cNvSpPr/>
          <p:nvPr/>
        </p:nvSpPr>
        <p:spPr>
          <a:xfrm>
            <a:off x="4928997" y="3591068"/>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358630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51010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Creams and Lotions</a:t>
            </a:r>
          </a:p>
        </p:txBody>
      </p:sp>
      <p:sp>
        <p:nvSpPr>
          <p:cNvPr id="35" name="BPS Value 5"/>
          <p:cNvSpPr txBox="1"/>
          <p:nvPr/>
        </p:nvSpPr>
        <p:spPr>
          <a:xfrm>
            <a:off x="6896100" y="3572018"/>
            <a:ext cx="514350" cy="123825"/>
          </a:xfrm>
          <a:prstGeom prst="rect">
            <a:avLst/>
          </a:prstGeom>
          <a:noFill/>
        </p:spPr>
        <p:txBody>
          <a:bodyPr wrap="none" lIns="0" rIns="0" tIns="0" bIns="0" anchor="ctr">
            <a:spAutoFit/>
          </a:bodyPr>
          <a:lstStyle/>
          <a:p>
            <a:pPr algn="r"/>
            <a:r>
              <a:rPr sz="900" b="1">
                <a:solidFill>
                  <a:srgbClr val="2E7D32"/>
                </a:solidFill>
                <a:latin typeface="Calibri"/>
              </a:rPr>
              <a:t>+83</a:t>
            </a:r>
          </a:p>
        </p:txBody>
      </p:sp>
      <p:sp>
        <p:nvSpPr>
          <p:cNvPr id="36" name="FMI Legend Chip"/>
          <p:cNvSpPr/>
          <p:nvPr/>
        </p:nvSpPr>
        <p:spPr>
          <a:xfrm>
            <a:off x="4928997" y="422709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422233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14613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Sticks and Balms</a:t>
            </a:r>
          </a:p>
        </p:txBody>
      </p:sp>
      <p:sp>
        <p:nvSpPr>
          <p:cNvPr id="39" name="BPS Value 6"/>
          <p:cNvSpPr txBox="1"/>
          <p:nvPr/>
        </p:nvSpPr>
        <p:spPr>
          <a:xfrm>
            <a:off x="6896100" y="4208045"/>
            <a:ext cx="514350" cy="123825"/>
          </a:xfrm>
          <a:prstGeom prst="rect">
            <a:avLst/>
          </a:prstGeom>
          <a:noFill/>
        </p:spPr>
        <p:txBody>
          <a:bodyPr wrap="none" lIns="0" rIns="0" tIns="0" bIns="0" anchor="ctr">
            <a:spAutoFit/>
          </a:bodyPr>
          <a:lstStyle/>
          <a:p>
            <a:pPr algn="r"/>
            <a:r>
              <a:rPr sz="900" b="1">
                <a:solidFill>
                  <a:srgbClr val="2E7D32"/>
                </a:solidFill>
                <a:latin typeface="Calibri"/>
              </a:rPr>
              <a:t>+239</a:t>
            </a:r>
          </a:p>
        </p:txBody>
      </p:sp>
      <p:sp>
        <p:nvSpPr>
          <p:cNvPr id="40" name="FMI Legend Chip"/>
          <p:cNvSpPr/>
          <p:nvPr/>
        </p:nvSpPr>
        <p:spPr>
          <a:xfrm>
            <a:off x="4928997" y="493347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0922" y="492871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485251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Clays, Pastes and Pomades</a:t>
            </a:r>
          </a:p>
        </p:txBody>
      </p:sp>
      <p:sp>
        <p:nvSpPr>
          <p:cNvPr id="43" name="BPS Value 7"/>
          <p:cNvSpPr txBox="1"/>
          <p:nvPr/>
        </p:nvSpPr>
        <p:spPr>
          <a:xfrm>
            <a:off x="6896100" y="4914428"/>
            <a:ext cx="514350" cy="123825"/>
          </a:xfrm>
          <a:prstGeom prst="rect">
            <a:avLst/>
          </a:prstGeom>
          <a:noFill/>
        </p:spPr>
        <p:txBody>
          <a:bodyPr wrap="none" lIns="0" rIns="0" tIns="0" bIns="0" anchor="ctr">
            <a:spAutoFit/>
          </a:bodyPr>
          <a:lstStyle/>
          <a:p>
            <a:pPr algn="r"/>
            <a:r>
              <a:rPr sz="900" b="1">
                <a:solidFill>
                  <a:srgbClr val="E44D3A"/>
                </a:solidFill>
                <a:latin typeface="Calibri"/>
              </a:rPr>
              <a:t>-79</a:t>
            </a:r>
          </a:p>
        </p:txBody>
      </p:sp>
      <p:sp>
        <p:nvSpPr>
          <p:cNvPr id="44" name="FMI Legend Chip"/>
          <p:cNvSpPr/>
          <p:nvPr/>
        </p:nvSpPr>
        <p:spPr>
          <a:xfrm>
            <a:off x="4928997" y="576786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a:off x="5090922" y="576309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568689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Serums and Oils</a:t>
            </a:r>
          </a:p>
        </p:txBody>
      </p:sp>
      <p:sp>
        <p:nvSpPr>
          <p:cNvPr id="47" name="BPS Value 8"/>
          <p:cNvSpPr txBox="1"/>
          <p:nvPr/>
        </p:nvSpPr>
        <p:spPr>
          <a:xfrm>
            <a:off x="6896100" y="5748812"/>
            <a:ext cx="514350" cy="123825"/>
          </a:xfrm>
          <a:prstGeom prst="rect">
            <a:avLst/>
          </a:prstGeom>
          <a:noFill/>
        </p:spPr>
        <p:txBody>
          <a:bodyPr wrap="none" lIns="0" rIns="0" tIns="0" bIns="0" anchor="ctr">
            <a:spAutoFit/>
          </a:bodyPr>
          <a:lstStyle/>
          <a:p>
            <a:pPr algn="r"/>
            <a:r>
              <a:rPr sz="900" b="1">
                <a:solidFill>
                  <a:srgbClr val="2E7D32"/>
                </a:solidFill>
                <a:latin typeface="Calibri"/>
              </a:rPr>
              <a:t>+172</a:t>
            </a:r>
          </a:p>
        </p:txBody>
      </p:sp>
      <p:sp>
        <p:nvSpPr>
          <p:cNvPr id="48" name="Rounded Rectangle 4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Product Format</a:t>
            </a:r>
          </a:p>
        </p:txBody>
      </p:sp>
      <p:sp>
        <p:nvSpPr>
          <p:cNvPr id="50" name="Rectangle 4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product format, sticks and balms segment is expected to witness the highest CAGR of 7.9% over the forecast period. In terms of value share by product format, the styling serums and oils segment is expected to dominate the market, gaining 172 BPS and accounting for 20.8% share by 2036.</a:t>
            </a:r>
          </a:p>
          <a:p>
            <a:pPr algn="l">
              <a:lnSpc>
                <a:spcPct val="110000"/>
              </a:lnSpc>
              <a:spcBef>
                <a:spcPts val="0"/>
              </a:spcBef>
              <a:spcAft>
                <a:spcPts val="500"/>
              </a:spcAft>
            </a:pPr>
            <a:r>
              <a:rPr sz="1150" b="0">
                <a:solidFill>
                  <a:srgbClr val="2E2E2E"/>
                </a:solidFill>
                <a:latin typeface="Calibri"/>
              </a:rPr>
              <a:t>The sprays and mists segment is expected to lose 280 BPS over the forecast period to account for 11.4% share by 2036.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Product Format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Product Format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Product Format (%)  ·  light = lower, dark = higher growth</a:t>
            </a:r>
          </a:p>
        </p:txBody>
      </p:sp>
      <p:sp>
        <p:nvSpPr>
          <p:cNvPr id="12" name="TextBox 11"/>
          <p:cNvSpPr txBox="1"/>
          <p:nvPr/>
        </p:nvSpPr>
        <p:spPr>
          <a:xfrm>
            <a:off x="181886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4653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1178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5823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04695"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511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697610"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44067"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69905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36982"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83439"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2989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763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281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6926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Sprays and Mists</a:t>
            </a:r>
          </a:p>
        </p:txBody>
      </p:sp>
      <p:sp>
        <p:nvSpPr>
          <p:cNvPr id="28" name="Rectangle 27"/>
          <p:cNvSpPr/>
          <p:nvPr/>
        </p:nvSpPr>
        <p:spPr>
          <a:xfrm>
            <a:off x="1818866" y="1409700"/>
            <a:ext cx="646457" cy="344170"/>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465324" y="1409700"/>
            <a:ext cx="646457" cy="344170"/>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11781" y="1409700"/>
            <a:ext cx="646457" cy="344170"/>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58238" y="1409700"/>
            <a:ext cx="646457" cy="344170"/>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04695" y="1409700"/>
            <a:ext cx="646457" cy="344170"/>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51153" y="1409700"/>
            <a:ext cx="646457" cy="344170"/>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697610" y="1409700"/>
            <a:ext cx="646457" cy="34417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44067" y="1409700"/>
            <a:ext cx="646457" cy="344170"/>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6990524" y="1409700"/>
            <a:ext cx="646457" cy="344170"/>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36982" y="1409700"/>
            <a:ext cx="646457" cy="344170"/>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83439" y="1409700"/>
            <a:ext cx="646457" cy="344170"/>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29896" y="1409700"/>
            <a:ext cx="646457" cy="344170"/>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76353" y="1409700"/>
            <a:ext cx="646457" cy="344170"/>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2811" y="1409700"/>
            <a:ext cx="646457" cy="34417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69268" y="1409700"/>
            <a:ext cx="646457" cy="344170"/>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538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Hairsprays</a:t>
            </a:r>
          </a:p>
        </p:txBody>
      </p:sp>
      <p:sp>
        <p:nvSpPr>
          <p:cNvPr id="44" name="Rectangle 43"/>
          <p:cNvSpPr/>
          <p:nvPr/>
        </p:nvSpPr>
        <p:spPr>
          <a:xfrm>
            <a:off x="1818866" y="1753870"/>
            <a:ext cx="646457" cy="34417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465324" y="175387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11781" y="1753870"/>
            <a:ext cx="646457" cy="344170"/>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58238" y="175387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04695" y="1753870"/>
            <a:ext cx="646457" cy="344170"/>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51153" y="1753870"/>
            <a:ext cx="646457" cy="34417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697610" y="1753870"/>
            <a:ext cx="646457" cy="344170"/>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44067" y="1753870"/>
            <a:ext cx="646457" cy="34417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6990524" y="1753870"/>
            <a:ext cx="646457" cy="34417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36982" y="1753870"/>
            <a:ext cx="646457" cy="34417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83439" y="1753870"/>
            <a:ext cx="646457" cy="344170"/>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29896" y="1753870"/>
            <a:ext cx="646457" cy="34417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76353" y="1753870"/>
            <a:ext cx="646457" cy="344170"/>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2811" y="1753870"/>
            <a:ext cx="646457" cy="34417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69268" y="1753870"/>
            <a:ext cx="646457" cy="344170"/>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980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Hairsprays</a:t>
            </a:r>
          </a:p>
        </p:txBody>
      </p:sp>
      <p:sp>
        <p:nvSpPr>
          <p:cNvPr id="60" name="Rectangle 59"/>
          <p:cNvSpPr/>
          <p:nvPr/>
        </p:nvSpPr>
        <p:spPr>
          <a:xfrm>
            <a:off x="1818866" y="2098040"/>
            <a:ext cx="646457" cy="34417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465324" y="2098040"/>
            <a:ext cx="646457" cy="344170"/>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11781" y="2098040"/>
            <a:ext cx="646457" cy="344170"/>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58238" y="2098040"/>
            <a:ext cx="646457" cy="34417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04695" y="2098040"/>
            <a:ext cx="646457" cy="344170"/>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51153" y="2098040"/>
            <a:ext cx="646457" cy="34417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697610" y="2098040"/>
            <a:ext cx="646457" cy="344170"/>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44067" y="2098040"/>
            <a:ext cx="646457" cy="344170"/>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6990524" y="2098040"/>
            <a:ext cx="646457" cy="34417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36982" y="209804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83439" y="2098040"/>
            <a:ext cx="646457" cy="34417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29896" y="209804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76353" y="2098040"/>
            <a:ext cx="646457" cy="344170"/>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2811" y="2098040"/>
            <a:ext cx="646457" cy="344170"/>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69268" y="2098040"/>
            <a:ext cx="646457" cy="344170"/>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4422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Texturizing Sprays</a:t>
            </a:r>
          </a:p>
        </p:txBody>
      </p:sp>
      <p:sp>
        <p:nvSpPr>
          <p:cNvPr id="76" name="Rectangle 75"/>
          <p:cNvSpPr/>
          <p:nvPr/>
        </p:nvSpPr>
        <p:spPr>
          <a:xfrm>
            <a:off x="1818866" y="2442210"/>
            <a:ext cx="646457" cy="344170"/>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465324" y="2442210"/>
            <a:ext cx="646457" cy="34417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11781" y="2442210"/>
            <a:ext cx="646457" cy="344170"/>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58238" y="2442210"/>
            <a:ext cx="646457" cy="344170"/>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04695" y="2442210"/>
            <a:ext cx="646457" cy="344170"/>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51153" y="2442210"/>
            <a:ext cx="646457" cy="344170"/>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697610" y="2442210"/>
            <a:ext cx="646457" cy="344170"/>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44067" y="2442210"/>
            <a:ext cx="646457" cy="34417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6990524" y="2442210"/>
            <a:ext cx="646457" cy="34417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36982" y="2442210"/>
            <a:ext cx="646457" cy="344170"/>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83439" y="2442210"/>
            <a:ext cx="646457" cy="344170"/>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29896" y="2442210"/>
            <a:ext cx="646457" cy="34417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76353" y="2442210"/>
            <a:ext cx="646457" cy="344170"/>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2811" y="2442210"/>
            <a:ext cx="646457" cy="344170"/>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69268" y="2442210"/>
            <a:ext cx="646457" cy="34417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863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Sea-salt Sprays</a:t>
            </a:r>
          </a:p>
        </p:txBody>
      </p:sp>
      <p:sp>
        <p:nvSpPr>
          <p:cNvPr id="92" name="Rectangle 91"/>
          <p:cNvSpPr/>
          <p:nvPr/>
        </p:nvSpPr>
        <p:spPr>
          <a:xfrm>
            <a:off x="1818866" y="2786380"/>
            <a:ext cx="646457" cy="34417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465324" y="2786380"/>
            <a:ext cx="646457" cy="344170"/>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11781" y="2786380"/>
            <a:ext cx="646457" cy="34417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58238" y="278638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04695" y="278638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51153" y="278638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697610" y="278638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44067" y="2786380"/>
            <a:ext cx="646457" cy="344170"/>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6990524" y="2786380"/>
            <a:ext cx="646457" cy="344170"/>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36982" y="2786380"/>
            <a:ext cx="646457" cy="344170"/>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83439" y="2786380"/>
            <a:ext cx="646457" cy="344170"/>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29896" y="2786380"/>
            <a:ext cx="646457" cy="344170"/>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76353" y="2786380"/>
            <a:ext cx="646457" cy="344170"/>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2811" y="2786380"/>
            <a:ext cx="646457" cy="344170"/>
          </a:xfrm>
          <a:prstGeom prst="rect">
            <a:avLst/>
          </a:prstGeom>
          <a:solidFill>
            <a:srgbClr val="5A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69268" y="2786380"/>
            <a:ext cx="646457" cy="344170"/>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13055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Volumizing Sprays</a:t>
            </a:r>
          </a:p>
        </p:txBody>
      </p:sp>
      <p:sp>
        <p:nvSpPr>
          <p:cNvPr id="108" name="Rectangle 107"/>
          <p:cNvSpPr/>
          <p:nvPr/>
        </p:nvSpPr>
        <p:spPr>
          <a:xfrm>
            <a:off x="1818866" y="3130550"/>
            <a:ext cx="646457" cy="344170"/>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465324" y="3130550"/>
            <a:ext cx="646457" cy="344170"/>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11781" y="3130550"/>
            <a:ext cx="646457" cy="344170"/>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58238" y="3130550"/>
            <a:ext cx="646457" cy="344170"/>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04695" y="3130550"/>
            <a:ext cx="646457" cy="34417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51153" y="3130550"/>
            <a:ext cx="646457" cy="344170"/>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697610" y="3130550"/>
            <a:ext cx="646457" cy="34417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44067" y="3130550"/>
            <a:ext cx="646457" cy="344170"/>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6990524" y="3130550"/>
            <a:ext cx="646457" cy="344170"/>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36982" y="313055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83439" y="3130550"/>
            <a:ext cx="646457" cy="344170"/>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29896" y="3130550"/>
            <a:ext cx="646457" cy="344170"/>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76353" y="3130550"/>
            <a:ext cx="646457" cy="344170"/>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2811" y="3130550"/>
            <a:ext cx="646457" cy="344170"/>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69268" y="3130550"/>
            <a:ext cx="646457" cy="34417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47472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Mousses and Foams</a:t>
            </a:r>
          </a:p>
        </p:txBody>
      </p:sp>
      <p:sp>
        <p:nvSpPr>
          <p:cNvPr id="124" name="Rectangle 123"/>
          <p:cNvSpPr/>
          <p:nvPr/>
        </p:nvSpPr>
        <p:spPr>
          <a:xfrm>
            <a:off x="1818866" y="3474720"/>
            <a:ext cx="646457" cy="34417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465324" y="3474720"/>
            <a:ext cx="646457" cy="34417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11781" y="347472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58238" y="3474720"/>
            <a:ext cx="646457" cy="344170"/>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04695" y="3474720"/>
            <a:ext cx="646457" cy="34417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51153" y="3474720"/>
            <a:ext cx="646457" cy="344170"/>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697610" y="347472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44067" y="3474720"/>
            <a:ext cx="646457" cy="34417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6990524" y="347472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36982" y="3474720"/>
            <a:ext cx="646457" cy="344170"/>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83439" y="347472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29896" y="3474720"/>
            <a:ext cx="646457" cy="34417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76353" y="3474720"/>
            <a:ext cx="646457" cy="34417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2811" y="3474720"/>
            <a:ext cx="646457" cy="344170"/>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69268" y="3474720"/>
            <a:ext cx="646457" cy="344170"/>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81889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Mousses</a:t>
            </a:r>
          </a:p>
        </p:txBody>
      </p:sp>
      <p:sp>
        <p:nvSpPr>
          <p:cNvPr id="140" name="Rectangle 139"/>
          <p:cNvSpPr/>
          <p:nvPr/>
        </p:nvSpPr>
        <p:spPr>
          <a:xfrm>
            <a:off x="1818866" y="3818890"/>
            <a:ext cx="646457" cy="344170"/>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465324" y="3818890"/>
            <a:ext cx="646457" cy="34417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11781" y="381889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58238" y="3818890"/>
            <a:ext cx="646457" cy="34417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04695" y="3818890"/>
            <a:ext cx="646457" cy="344170"/>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51153" y="3818890"/>
            <a:ext cx="646457" cy="344170"/>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697610" y="3818890"/>
            <a:ext cx="646457" cy="34417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44067" y="381889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6990524" y="3818890"/>
            <a:ext cx="646457" cy="344170"/>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36982" y="381889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83439" y="3818890"/>
            <a:ext cx="646457" cy="344170"/>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29896" y="3818890"/>
            <a:ext cx="646457" cy="344170"/>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76353" y="3818890"/>
            <a:ext cx="646457" cy="344170"/>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2811" y="3818890"/>
            <a:ext cx="646457" cy="344170"/>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69268" y="3818890"/>
            <a:ext cx="646457" cy="344170"/>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16306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Foams</a:t>
            </a:r>
          </a:p>
        </p:txBody>
      </p:sp>
      <p:sp>
        <p:nvSpPr>
          <p:cNvPr id="156" name="Rectangle 155"/>
          <p:cNvSpPr/>
          <p:nvPr/>
        </p:nvSpPr>
        <p:spPr>
          <a:xfrm>
            <a:off x="1818866" y="4163060"/>
            <a:ext cx="646457" cy="344170"/>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465324" y="4163060"/>
            <a:ext cx="646457" cy="344170"/>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11781" y="4163060"/>
            <a:ext cx="646457" cy="344170"/>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58238" y="416306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04695" y="4163060"/>
            <a:ext cx="646457" cy="34417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51153" y="4163060"/>
            <a:ext cx="646457" cy="34417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697610" y="4163060"/>
            <a:ext cx="646457" cy="344170"/>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44067" y="416306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6990524" y="416306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36982" y="4163060"/>
            <a:ext cx="646457" cy="344170"/>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83439" y="416306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29896" y="4163060"/>
            <a:ext cx="646457" cy="34417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76353" y="4163060"/>
            <a:ext cx="646457" cy="34417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2811" y="4163060"/>
            <a:ext cx="646457" cy="344170"/>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69268" y="4163060"/>
            <a:ext cx="646457" cy="344170"/>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50723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Gels and Jellies</a:t>
            </a:r>
          </a:p>
        </p:txBody>
      </p:sp>
      <p:sp>
        <p:nvSpPr>
          <p:cNvPr id="172" name="Rectangle 171"/>
          <p:cNvSpPr/>
          <p:nvPr/>
        </p:nvSpPr>
        <p:spPr>
          <a:xfrm>
            <a:off x="1818866" y="450723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465324" y="4507230"/>
            <a:ext cx="646457" cy="344170"/>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11781" y="450723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58238" y="4507230"/>
            <a:ext cx="646457" cy="34417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04695" y="450723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51153" y="4507230"/>
            <a:ext cx="646457" cy="344170"/>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697610" y="4507230"/>
            <a:ext cx="646457" cy="344170"/>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44067" y="4507230"/>
            <a:ext cx="646457" cy="34417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6990524" y="450723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36982" y="4507230"/>
            <a:ext cx="646457" cy="344170"/>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83439" y="4507230"/>
            <a:ext cx="646457" cy="344170"/>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29896" y="4507230"/>
            <a:ext cx="646457" cy="344170"/>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76353" y="4507230"/>
            <a:ext cx="646457" cy="344170"/>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2811" y="4507230"/>
            <a:ext cx="646457" cy="344170"/>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69268" y="4507230"/>
            <a:ext cx="646457" cy="344170"/>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8514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Creams and Lotions</a:t>
            </a:r>
          </a:p>
        </p:txBody>
      </p:sp>
      <p:sp>
        <p:nvSpPr>
          <p:cNvPr id="188" name="Rectangle 187"/>
          <p:cNvSpPr/>
          <p:nvPr/>
        </p:nvSpPr>
        <p:spPr>
          <a:xfrm>
            <a:off x="1818866" y="485140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465324" y="4851400"/>
            <a:ext cx="646457" cy="34417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11781" y="485140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58238" y="485140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04695" y="4851400"/>
            <a:ext cx="646457" cy="34417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51153" y="485140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697610" y="4851400"/>
            <a:ext cx="646457" cy="344170"/>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44067" y="4851400"/>
            <a:ext cx="646457" cy="344170"/>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6990524" y="4851400"/>
            <a:ext cx="646457" cy="344170"/>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36982" y="4851400"/>
            <a:ext cx="646457" cy="344170"/>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83439" y="4851400"/>
            <a:ext cx="646457" cy="344170"/>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29896" y="4851400"/>
            <a:ext cx="646457" cy="344170"/>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76353" y="4851400"/>
            <a:ext cx="646457" cy="344170"/>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2811" y="4851400"/>
            <a:ext cx="646457" cy="344170"/>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69268" y="4851400"/>
            <a:ext cx="646457" cy="344170"/>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1955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Waxes, Clays, Pastes and Pomades</a:t>
            </a:r>
          </a:p>
        </p:txBody>
      </p:sp>
      <p:sp>
        <p:nvSpPr>
          <p:cNvPr id="204" name="Rectangle 203"/>
          <p:cNvSpPr/>
          <p:nvPr/>
        </p:nvSpPr>
        <p:spPr>
          <a:xfrm>
            <a:off x="1818866" y="5195570"/>
            <a:ext cx="646457" cy="34417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465324" y="5195570"/>
            <a:ext cx="646457" cy="344170"/>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11781" y="5195570"/>
            <a:ext cx="646457" cy="34417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58238" y="5195570"/>
            <a:ext cx="646457" cy="34417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04695" y="5195570"/>
            <a:ext cx="646457" cy="34417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51153" y="5195570"/>
            <a:ext cx="646457" cy="344170"/>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697610" y="5195570"/>
            <a:ext cx="646457" cy="344170"/>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44067" y="5195570"/>
            <a:ext cx="646457" cy="344170"/>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6990524" y="5195570"/>
            <a:ext cx="646457" cy="344170"/>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36982" y="5195570"/>
            <a:ext cx="646457" cy="344170"/>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83439" y="5195570"/>
            <a:ext cx="646457" cy="344170"/>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29896" y="5195570"/>
            <a:ext cx="646457" cy="344170"/>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76353" y="5195570"/>
            <a:ext cx="646457" cy="344170"/>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2811" y="5195570"/>
            <a:ext cx="646457" cy="344170"/>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69268" y="5195570"/>
            <a:ext cx="646457" cy="344170"/>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5397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Powders</a:t>
            </a:r>
          </a:p>
        </p:txBody>
      </p:sp>
      <p:sp>
        <p:nvSpPr>
          <p:cNvPr id="220" name="Rectangle 219"/>
          <p:cNvSpPr/>
          <p:nvPr/>
        </p:nvSpPr>
        <p:spPr>
          <a:xfrm>
            <a:off x="1818866" y="5539740"/>
            <a:ext cx="646457" cy="344170"/>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465324" y="5539740"/>
            <a:ext cx="646457" cy="34417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11781" y="553974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58238" y="5539740"/>
            <a:ext cx="646457" cy="34417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04695" y="5539740"/>
            <a:ext cx="646457" cy="344170"/>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51153" y="5539740"/>
            <a:ext cx="646457" cy="344170"/>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697610" y="5539740"/>
            <a:ext cx="646457" cy="344170"/>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44067" y="5539740"/>
            <a:ext cx="646457" cy="344170"/>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6990524" y="5539740"/>
            <a:ext cx="646457" cy="344170"/>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36982" y="5539740"/>
            <a:ext cx="646457" cy="344170"/>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83439" y="5539740"/>
            <a:ext cx="646457" cy="344170"/>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29896" y="5539740"/>
            <a:ext cx="646457" cy="344170"/>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76353" y="5539740"/>
            <a:ext cx="646457" cy="344170"/>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2811" y="5539740"/>
            <a:ext cx="646457" cy="344170"/>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69268" y="5539740"/>
            <a:ext cx="646457" cy="344170"/>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8839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Serums and Oils</a:t>
            </a:r>
          </a:p>
        </p:txBody>
      </p:sp>
      <p:sp>
        <p:nvSpPr>
          <p:cNvPr id="236" name="Rectangle 235"/>
          <p:cNvSpPr/>
          <p:nvPr/>
        </p:nvSpPr>
        <p:spPr>
          <a:xfrm>
            <a:off x="1818866" y="5883910"/>
            <a:ext cx="646457" cy="344170"/>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465324" y="5883910"/>
            <a:ext cx="646457" cy="34417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11781" y="5883910"/>
            <a:ext cx="646457" cy="34417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58238" y="5883910"/>
            <a:ext cx="646457" cy="34417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04695" y="5883910"/>
            <a:ext cx="646457" cy="344170"/>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51153" y="5883910"/>
            <a:ext cx="646457" cy="344170"/>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697610" y="5883910"/>
            <a:ext cx="646457" cy="344170"/>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44067" y="5883910"/>
            <a:ext cx="646457" cy="344170"/>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6990524" y="5883910"/>
            <a:ext cx="646457" cy="344170"/>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36982" y="5883910"/>
            <a:ext cx="646457" cy="344170"/>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83439" y="5883910"/>
            <a:ext cx="646457" cy="344170"/>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29896" y="5883910"/>
            <a:ext cx="646457" cy="344170"/>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76353" y="5883910"/>
            <a:ext cx="646457" cy="344170"/>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2811" y="5883910"/>
            <a:ext cx="646457" cy="344170"/>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69268" y="5883910"/>
            <a:ext cx="646457" cy="344170"/>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62280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Sticks and Balms</a:t>
            </a:r>
          </a:p>
        </p:txBody>
      </p:sp>
      <p:sp>
        <p:nvSpPr>
          <p:cNvPr id="252" name="Rectangle 251"/>
          <p:cNvSpPr/>
          <p:nvPr/>
        </p:nvSpPr>
        <p:spPr>
          <a:xfrm>
            <a:off x="1818866" y="6228080"/>
            <a:ext cx="646457" cy="344170"/>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465324" y="6228080"/>
            <a:ext cx="646457" cy="344170"/>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11781" y="6228080"/>
            <a:ext cx="646457" cy="344170"/>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58238" y="6228080"/>
            <a:ext cx="646457" cy="344170"/>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04695" y="6228080"/>
            <a:ext cx="646457" cy="344170"/>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51153" y="6228080"/>
            <a:ext cx="646457" cy="344170"/>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697610" y="6228080"/>
            <a:ext cx="646457" cy="344170"/>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44067" y="6228080"/>
            <a:ext cx="646457" cy="344170"/>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6990524" y="6228080"/>
            <a:ext cx="646457" cy="344170"/>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36982" y="6228080"/>
            <a:ext cx="646457" cy="34417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83439" y="6228080"/>
            <a:ext cx="646457" cy="344170"/>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29896" y="6228080"/>
            <a:ext cx="646457" cy="344170"/>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76353" y="6228080"/>
            <a:ext cx="646457" cy="344170"/>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2811" y="6228080"/>
            <a:ext cx="646457" cy="344170"/>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69268" y="6228080"/>
            <a:ext cx="646457" cy="344170"/>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TextBox 30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309" name="TextBox 30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10" name="TextBox 30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311" name="TextBox 3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Hold Level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Hold Level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Hold Level,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Hold Level segment categorizes the market by hold level.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 Hold</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1,114</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1,990</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6.0%</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Strong Hold</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1,050</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1,785</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5.5%</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Light or Flexible Hold</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1,014</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2,010</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7.1%</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No Hold</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954.1</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1,813</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6.6%</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Extra-strong Hold</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888.1</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1,441</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5.0%</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hold level, light or flexible hold segment is expected to witness the highest CAGR of 7.1% over the forecast period. In terms of value share by hold level, the light or flexible hold segment is expected to dominate the market, gaining 204 BPS and accounting for 22.2% share by 2036.</a:t>
            </a:r>
          </a:p>
          <a:p>
            <a:pPr algn="l">
              <a:lnSpc>
                <a:spcPct val="110000"/>
              </a:lnSpc>
              <a:spcBef>
                <a:spcPts val="0"/>
              </a:spcBef>
              <a:spcAft>
                <a:spcPts val="500"/>
              </a:spcAft>
            </a:pPr>
            <a:r>
              <a:rPr sz="1100" b="0">
                <a:solidFill>
                  <a:srgbClr val="2E2E2E"/>
                </a:solidFill>
                <a:latin typeface="Calibri"/>
              </a:rPr>
              <a:t>Light or flexible hold segment is projected to register 1.0X higher value than medium hold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 Hold: </a:t>
            </a:r>
            <a:r>
              <a:rPr sz="1100" b="0">
                <a:solidFill>
                  <a:srgbClr val="2E2E2E"/>
                </a:solidFill>
                <a:latin typeface="Calibri"/>
              </a:rPr>
              <a:t>22% of 2026 value · 6.0%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Strong Hold: </a:t>
            </a:r>
            <a:r>
              <a:rPr sz="1100" b="0">
                <a:solidFill>
                  <a:srgbClr val="2E2E2E"/>
                </a:solidFill>
                <a:latin typeface="Calibri"/>
              </a:rPr>
              <a:t>21% of 2026 value · 5.5%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Light or Flexible Hold: </a:t>
            </a:r>
            <a:r>
              <a:rPr sz="1100" b="0">
                <a:solidFill>
                  <a:srgbClr val="2E2E2E"/>
                </a:solidFill>
                <a:latin typeface="Calibri"/>
              </a:rPr>
              <a:t>20% of 2026 value · 7.1%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No Hold: </a:t>
            </a:r>
            <a:r>
              <a:rPr sz="1100" b="0">
                <a:solidFill>
                  <a:srgbClr val="2E2E2E"/>
                </a:solidFill>
                <a:latin typeface="Calibri"/>
              </a:rPr>
              <a:t>19% of 2026 value · 6.6%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Extra-strong Hold: </a:t>
            </a:r>
            <a:r>
              <a:rPr sz="1100" b="0">
                <a:solidFill>
                  <a:srgbClr val="2E2E2E"/>
                </a:solidFill>
                <a:latin typeface="Calibri"/>
              </a:rPr>
              <a:t>18% of 2026 value · 5.0% CAGR serves a niche.</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Hold Level split shows how demand is distributed across hold level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Hold Level segment is projected to grow at a CAGR of 6.1%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Hold Level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Hold Level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Hold Level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Light or flexible hold followed by medium hold are expected to be the two most attractive hold level segments in the North America hair styling products market in terms of value over the forecast period. Light or flexible hold and medium hold exhibit a CAGR index of 116.9 and 98.6 and a market share index of 101.0 and 110.9 respectively, against the segment average of 100. The extra-strong hold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Hold Level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No Hold</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Light or Flexible Hold</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Medium Hold</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Strong Hold</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Hold Level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Extra-strong Hold</a:t>
            </a:r>
          </a:p>
        </p:txBody>
      </p:sp>
      <p:graphicFrame>
        <p:nvGraphicFramePr>
          <p:cNvPr id="12" name="Chart 11"/>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Hold Level</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light or flexible hold segment is anticipated to witness an increase of 2.0X in terms of value as compared to 2026. The light or flexible hold segment is expected to create an incremental opportunity of US$ 996.4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medium hold segment is expected to create an incremental opportunity of US$ 876.3 Mn for the overall hair styling products market from 2026 to 2036. The no hold segment is expected to create an incremental opportunity of US$ 858.8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Hold Level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Hold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Hold Level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Hold Level</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Light or flexible hold segment is projected to register 1.0X higher value than medium hold segment in 2036. Among hair styling products by hold level, light or flexible hold segment is expected to witness the highest CAGR of 7.1% over the forecast period.</a:t>
            </a:r>
          </a:p>
          <a:p>
            <a:pPr algn="l">
              <a:lnSpc>
                <a:spcPct val="110000"/>
              </a:lnSpc>
              <a:spcBef>
                <a:spcPts val="0"/>
              </a:spcBef>
              <a:spcAft>
                <a:spcPts val="500"/>
              </a:spcAft>
            </a:pPr>
            <a:r>
              <a:rPr sz="1150" b="0">
                <a:solidFill>
                  <a:srgbClr val="2E2E2E"/>
                </a:solidFill>
                <a:latin typeface="Calibri"/>
              </a:rPr>
              <a:t>In terms of value share by hold level, the light or flexible hold segment is expected to dominate the market, gaining 204 BPS and accounting for 22.2% share by 2036. The extra-strong hold segment is expected to lose 175 BPS over the forecast period to account for 15.9%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Hold Level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Hold Level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35801"/>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3103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5483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Extra-strong Hold</a:t>
            </a:r>
          </a:p>
        </p:txBody>
      </p:sp>
      <p:sp>
        <p:nvSpPr>
          <p:cNvPr id="19" name="BPS Value 1"/>
          <p:cNvSpPr txBox="1"/>
          <p:nvPr/>
        </p:nvSpPr>
        <p:spPr>
          <a:xfrm>
            <a:off x="6896100" y="2016751"/>
            <a:ext cx="514350" cy="123825"/>
          </a:xfrm>
          <a:prstGeom prst="rect">
            <a:avLst/>
          </a:prstGeom>
          <a:noFill/>
        </p:spPr>
        <p:txBody>
          <a:bodyPr wrap="none" lIns="0" rIns="0" tIns="0" bIns="0" anchor="ctr">
            <a:spAutoFit/>
          </a:bodyPr>
          <a:lstStyle/>
          <a:p>
            <a:pPr algn="r"/>
            <a:r>
              <a:rPr sz="900" b="1">
                <a:solidFill>
                  <a:srgbClr val="E44D3A"/>
                </a:solidFill>
                <a:latin typeface="Calibri"/>
              </a:rPr>
              <a:t>-175</a:t>
            </a:r>
          </a:p>
        </p:txBody>
      </p:sp>
      <p:sp>
        <p:nvSpPr>
          <p:cNvPr id="20" name="FMI Legend Chip"/>
          <p:cNvSpPr/>
          <p:nvPr/>
        </p:nvSpPr>
        <p:spPr>
          <a:xfrm>
            <a:off x="4928997" y="285176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84699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7079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Strong Hold</a:t>
            </a:r>
          </a:p>
        </p:txBody>
      </p:sp>
      <p:sp>
        <p:nvSpPr>
          <p:cNvPr id="23" name="BPS Value 2"/>
          <p:cNvSpPr txBox="1"/>
          <p:nvPr/>
        </p:nvSpPr>
        <p:spPr>
          <a:xfrm>
            <a:off x="6896100" y="2832711"/>
            <a:ext cx="514350" cy="123825"/>
          </a:xfrm>
          <a:prstGeom prst="rect">
            <a:avLst/>
          </a:prstGeom>
          <a:noFill/>
        </p:spPr>
        <p:txBody>
          <a:bodyPr wrap="none" lIns="0" rIns="0" tIns="0" bIns="0" anchor="ctr">
            <a:spAutoFit/>
          </a:bodyPr>
          <a:lstStyle/>
          <a:p>
            <a:pPr algn="r"/>
            <a:r>
              <a:rPr sz="900" b="1">
                <a:solidFill>
                  <a:srgbClr val="E44D3A"/>
                </a:solidFill>
                <a:latin typeface="Calibri"/>
              </a:rPr>
              <a:t>-117</a:t>
            </a:r>
          </a:p>
        </p:txBody>
      </p:sp>
      <p:sp>
        <p:nvSpPr>
          <p:cNvPr id="24" name="FMI Legend Chip"/>
          <p:cNvSpPr/>
          <p:nvPr/>
        </p:nvSpPr>
        <p:spPr>
          <a:xfrm>
            <a:off x="4928997" y="376166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75690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68070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 Hold</a:t>
            </a:r>
          </a:p>
        </p:txBody>
      </p:sp>
      <p:sp>
        <p:nvSpPr>
          <p:cNvPr id="27" name="BPS Value 3"/>
          <p:cNvSpPr txBox="1"/>
          <p:nvPr/>
        </p:nvSpPr>
        <p:spPr>
          <a:xfrm>
            <a:off x="6896100" y="3742614"/>
            <a:ext cx="514350" cy="123825"/>
          </a:xfrm>
          <a:prstGeom prst="rect">
            <a:avLst/>
          </a:prstGeom>
          <a:noFill/>
        </p:spPr>
        <p:txBody>
          <a:bodyPr wrap="none" lIns="0" rIns="0" tIns="0" bIns="0" anchor="ctr">
            <a:spAutoFit/>
          </a:bodyPr>
          <a:lstStyle/>
          <a:p>
            <a:pPr algn="r"/>
            <a:r>
              <a:rPr sz="900" b="1">
                <a:solidFill>
                  <a:srgbClr val="2E7D32"/>
                </a:solidFill>
                <a:latin typeface="Calibri"/>
              </a:rPr>
              <a:t>+105</a:t>
            </a:r>
          </a:p>
        </p:txBody>
      </p:sp>
      <p:sp>
        <p:nvSpPr>
          <p:cNvPr id="28" name="FMI Legend Chip"/>
          <p:cNvSpPr/>
          <p:nvPr/>
        </p:nvSpPr>
        <p:spPr>
          <a:xfrm>
            <a:off x="4928997" y="472343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71866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64246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 Hold</a:t>
            </a:r>
          </a:p>
        </p:txBody>
      </p:sp>
      <p:sp>
        <p:nvSpPr>
          <p:cNvPr id="31" name="BPS Value 4"/>
          <p:cNvSpPr txBox="1"/>
          <p:nvPr/>
        </p:nvSpPr>
        <p:spPr>
          <a:xfrm>
            <a:off x="6896100" y="4704382"/>
            <a:ext cx="514350" cy="123825"/>
          </a:xfrm>
          <a:prstGeom prst="rect">
            <a:avLst/>
          </a:prstGeom>
          <a:noFill/>
        </p:spPr>
        <p:txBody>
          <a:bodyPr wrap="none" lIns="0" rIns="0" tIns="0" bIns="0" anchor="ctr">
            <a:spAutoFit/>
          </a:bodyPr>
          <a:lstStyle/>
          <a:p>
            <a:pPr algn="r"/>
            <a:r>
              <a:rPr sz="900" b="1">
                <a:solidFill>
                  <a:srgbClr val="E44D3A"/>
                </a:solidFill>
                <a:latin typeface="Calibri"/>
              </a:rPr>
              <a:t>-17</a:t>
            </a:r>
          </a:p>
        </p:txBody>
      </p:sp>
      <p:sp>
        <p:nvSpPr>
          <p:cNvPr id="32" name="FMI Legend Chip"/>
          <p:cNvSpPr/>
          <p:nvPr/>
        </p:nvSpPr>
        <p:spPr>
          <a:xfrm>
            <a:off x="4928997" y="573517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573041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5421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Light or Flexible Hold</a:t>
            </a:r>
          </a:p>
        </p:txBody>
      </p:sp>
      <p:sp>
        <p:nvSpPr>
          <p:cNvPr id="35" name="BPS Value 5"/>
          <p:cNvSpPr txBox="1"/>
          <p:nvPr/>
        </p:nvSpPr>
        <p:spPr>
          <a:xfrm>
            <a:off x="6896100" y="5716125"/>
            <a:ext cx="514350" cy="123825"/>
          </a:xfrm>
          <a:prstGeom prst="rect">
            <a:avLst/>
          </a:prstGeom>
          <a:noFill/>
        </p:spPr>
        <p:txBody>
          <a:bodyPr wrap="none" lIns="0" rIns="0" tIns="0" bIns="0" anchor="ctr">
            <a:spAutoFit/>
          </a:bodyPr>
          <a:lstStyle/>
          <a:p>
            <a:pPr algn="r"/>
            <a:r>
              <a:rPr sz="900" b="1">
                <a:solidFill>
                  <a:srgbClr val="2E7D32"/>
                </a:solidFill>
                <a:latin typeface="Calibri"/>
              </a:rPr>
              <a:t>+204</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Hold Level</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hold level, light or flexible hold segment is expected to witness the highest CAGR of 7.1% over the forecast period. In terms of value share by hold level, the light or flexible hold segment is expected to dominate the market, gaining 204 BPS and accounting for 22.2% share by 2036.</a:t>
            </a:r>
          </a:p>
          <a:p>
            <a:pPr algn="l">
              <a:lnSpc>
                <a:spcPct val="110000"/>
              </a:lnSpc>
              <a:spcBef>
                <a:spcPts val="0"/>
              </a:spcBef>
              <a:spcAft>
                <a:spcPts val="500"/>
              </a:spcAft>
            </a:pPr>
            <a:r>
              <a:rPr sz="1150" b="0">
                <a:solidFill>
                  <a:srgbClr val="2E2E2E"/>
                </a:solidFill>
                <a:latin typeface="Calibri"/>
              </a:rPr>
              <a:t>The extra-strong hold segment is expected to lose 175 BPS over the forecast period to account for 15.9%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Hold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Hold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Hold Level (%)  ·  light = lower, dark = higher growth</a:t>
            </a:r>
          </a:p>
        </p:txBody>
      </p:sp>
      <p:sp>
        <p:nvSpPr>
          <p:cNvPr id="17" name="TextBox 16"/>
          <p:cNvSpPr txBox="1"/>
          <p:nvPr/>
        </p:nvSpPr>
        <p:spPr>
          <a:xfrm>
            <a:off x="12532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193743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6215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305762"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398992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674089"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35825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042416"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726580"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41074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094907"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7790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463234"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1473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3156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No Hold</a:t>
            </a:r>
          </a:p>
        </p:txBody>
      </p:sp>
      <p:sp>
        <p:nvSpPr>
          <p:cNvPr id="33" name="Rectangle 32"/>
          <p:cNvSpPr/>
          <p:nvPr/>
        </p:nvSpPr>
        <p:spPr>
          <a:xfrm>
            <a:off x="1253271" y="3305175"/>
            <a:ext cx="684164" cy="65341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937435" y="3305175"/>
            <a:ext cx="684164" cy="65341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621598" y="3305175"/>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305762" y="3305175"/>
            <a:ext cx="684164" cy="65341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89925" y="3305175"/>
            <a:ext cx="684164" cy="65341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74089" y="3305175"/>
            <a:ext cx="684164" cy="65341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358253" y="3305175"/>
            <a:ext cx="684164" cy="65341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042416" y="3305175"/>
            <a:ext cx="684164" cy="653415"/>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726580" y="3305175"/>
            <a:ext cx="684164" cy="653415"/>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410743" y="3305175"/>
            <a:ext cx="684164" cy="653415"/>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94907" y="3305175"/>
            <a:ext cx="684164" cy="653415"/>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79071" y="3305175"/>
            <a:ext cx="684164" cy="653415"/>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63234" y="3305175"/>
            <a:ext cx="684164" cy="653415"/>
          </a:xfrm>
          <a:prstGeom prst="rect">
            <a:avLst/>
          </a:prstGeom>
          <a:solidFill>
            <a:srgbClr val="0D5D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47398" y="3305175"/>
            <a:ext cx="684164" cy="653415"/>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31561" y="3305175"/>
            <a:ext cx="684164" cy="653415"/>
          </a:xfrm>
          <a:prstGeom prst="rect">
            <a:avLst/>
          </a:prstGeom>
          <a:solidFill>
            <a:srgbClr val="0D5D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Light or Flexible Hold</a:t>
            </a:r>
          </a:p>
        </p:txBody>
      </p:sp>
      <p:sp>
        <p:nvSpPr>
          <p:cNvPr id="49" name="Rectangle 48"/>
          <p:cNvSpPr/>
          <p:nvPr/>
        </p:nvSpPr>
        <p:spPr>
          <a:xfrm>
            <a:off x="1253271" y="3958590"/>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937435" y="3958590"/>
            <a:ext cx="684164"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621598" y="3958590"/>
            <a:ext cx="684164" cy="65341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305762" y="3958590"/>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89925" y="3958590"/>
            <a:ext cx="684164" cy="653415"/>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74089" y="3958590"/>
            <a:ext cx="684164" cy="653415"/>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358253" y="3958590"/>
            <a:ext cx="684164" cy="653415"/>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042416" y="3958590"/>
            <a:ext cx="684164" cy="653415"/>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726580" y="3958590"/>
            <a:ext cx="684164" cy="653415"/>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410743" y="3958590"/>
            <a:ext cx="684164" cy="653415"/>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94907" y="3958590"/>
            <a:ext cx="684164"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79071" y="3958590"/>
            <a:ext cx="684164" cy="653415"/>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63234" y="3958590"/>
            <a:ext cx="684164" cy="653415"/>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47398" y="3958590"/>
            <a:ext cx="684164" cy="653415"/>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31561" y="3958590"/>
            <a:ext cx="684164" cy="653415"/>
          </a:xfrm>
          <a:prstGeom prst="rect">
            <a:avLst/>
          </a:prstGeom>
          <a:solidFill>
            <a:srgbClr val="0C4C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Medium Hold</a:t>
            </a:r>
          </a:p>
        </p:txBody>
      </p:sp>
      <p:sp>
        <p:nvSpPr>
          <p:cNvPr id="65" name="Rectangle 64"/>
          <p:cNvSpPr/>
          <p:nvPr/>
        </p:nvSpPr>
        <p:spPr>
          <a:xfrm>
            <a:off x="1253271" y="4612005"/>
            <a:ext cx="684164" cy="65341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937435" y="4612005"/>
            <a:ext cx="684164" cy="65341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621598" y="4612005"/>
            <a:ext cx="684164" cy="65341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305762" y="4612005"/>
            <a:ext cx="684164" cy="65341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89925" y="4612005"/>
            <a:ext cx="684164" cy="653415"/>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74089" y="4612005"/>
            <a:ext cx="684164" cy="653415"/>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358253" y="4612005"/>
            <a:ext cx="684164" cy="653415"/>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042416" y="4612005"/>
            <a:ext cx="684164" cy="65341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726580" y="4612005"/>
            <a:ext cx="684164" cy="653415"/>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410743" y="4612005"/>
            <a:ext cx="684164" cy="653415"/>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94907" y="4612005"/>
            <a:ext cx="684164" cy="653415"/>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79071" y="4612005"/>
            <a:ext cx="684164" cy="653415"/>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63234" y="4612005"/>
            <a:ext cx="684164" cy="653415"/>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47398" y="4612005"/>
            <a:ext cx="684164" cy="653415"/>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31561" y="4612005"/>
            <a:ext cx="684164" cy="653415"/>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Strong Hold</a:t>
            </a:r>
          </a:p>
        </p:txBody>
      </p:sp>
      <p:sp>
        <p:nvSpPr>
          <p:cNvPr id="81" name="Rectangle 80"/>
          <p:cNvSpPr/>
          <p:nvPr/>
        </p:nvSpPr>
        <p:spPr>
          <a:xfrm>
            <a:off x="1253271" y="5265420"/>
            <a:ext cx="684164" cy="65341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937435" y="5265420"/>
            <a:ext cx="684164" cy="653415"/>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621598" y="5265420"/>
            <a:ext cx="684164" cy="653415"/>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305762" y="5265420"/>
            <a:ext cx="684164" cy="65341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989925" y="5265420"/>
            <a:ext cx="684164" cy="653415"/>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674089" y="5265420"/>
            <a:ext cx="684164" cy="653415"/>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358253" y="5265420"/>
            <a:ext cx="684164" cy="653415"/>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042416" y="5265420"/>
            <a:ext cx="684164" cy="653415"/>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726580" y="5265420"/>
            <a:ext cx="684164" cy="653415"/>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410743" y="5265420"/>
            <a:ext cx="684164" cy="653415"/>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094907" y="5265420"/>
            <a:ext cx="684164" cy="653415"/>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779071" y="5265420"/>
            <a:ext cx="684164" cy="65341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463234" y="5265420"/>
            <a:ext cx="684164" cy="65341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47398" y="5265420"/>
            <a:ext cx="684164" cy="653415"/>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31561" y="5265420"/>
            <a:ext cx="684164" cy="653415"/>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Extra-strong Hold</a:t>
            </a:r>
          </a:p>
        </p:txBody>
      </p:sp>
      <p:sp>
        <p:nvSpPr>
          <p:cNvPr id="97" name="Rectangle 96"/>
          <p:cNvSpPr/>
          <p:nvPr/>
        </p:nvSpPr>
        <p:spPr>
          <a:xfrm>
            <a:off x="1253271" y="5918835"/>
            <a:ext cx="684164" cy="65341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937435" y="5918835"/>
            <a:ext cx="684164" cy="653415"/>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621598" y="5918835"/>
            <a:ext cx="684164" cy="65341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305762" y="5918835"/>
            <a:ext cx="684164" cy="65341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989925" y="5918835"/>
            <a:ext cx="684164" cy="65341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674089" y="5918835"/>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358253" y="5918835"/>
            <a:ext cx="684164" cy="65341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042416" y="5918835"/>
            <a:ext cx="684164" cy="65341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726580" y="5918835"/>
            <a:ext cx="684164" cy="653415"/>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410743" y="5918835"/>
            <a:ext cx="684164" cy="653415"/>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094907" y="5918835"/>
            <a:ext cx="684164" cy="653415"/>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779071" y="5918835"/>
            <a:ext cx="684164" cy="653415"/>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463234" y="5918835"/>
            <a:ext cx="684164" cy="653415"/>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47398" y="5918835"/>
            <a:ext cx="684164" cy="653415"/>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31561" y="5918835"/>
            <a:ext cx="684164" cy="653415"/>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Finish</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Finish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Finish,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Finish segment categorizes the market by finish.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Natural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1,713</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2,923</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5.5%</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Matte</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1,668</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2,992</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6.0%</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Glossy or Wet-look</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1,639</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3,125</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6.7%</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finish, glossy or wet-look segment is expected to witness the highest CAGR of 6.7% over the forecast period. In terms of value share by finish, the glossy or wet-look segment is expected to dominate the market, gaining 193 BPS and accounting for 34.6% share by 2036.</a:t>
            </a:r>
          </a:p>
          <a:p>
            <a:pPr algn="l">
              <a:lnSpc>
                <a:spcPct val="110000"/>
              </a:lnSpc>
              <a:spcBef>
                <a:spcPts val="0"/>
              </a:spcBef>
              <a:spcAft>
                <a:spcPts val="500"/>
              </a:spcAft>
            </a:pPr>
            <a:r>
              <a:rPr sz="1100" b="0">
                <a:solidFill>
                  <a:srgbClr val="2E2E2E"/>
                </a:solidFill>
                <a:latin typeface="Calibri"/>
              </a:rPr>
              <a:t>Glossy or wet-look segment is projected to register 1.0X higher value than matte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Natural: </a:t>
            </a:r>
            <a:r>
              <a:rPr sz="1100" b="0">
                <a:solidFill>
                  <a:srgbClr val="2E2E2E"/>
                </a:solidFill>
                <a:latin typeface="Calibri"/>
              </a:rPr>
              <a:t>34% of 2026 value · 5.5%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Matte: </a:t>
            </a:r>
            <a:r>
              <a:rPr sz="1100" b="0">
                <a:solidFill>
                  <a:srgbClr val="2E2E2E"/>
                </a:solidFill>
                <a:latin typeface="Calibri"/>
              </a:rPr>
              <a:t>33% of 2026 value · 6.0%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Glossy or Wet-look: </a:t>
            </a:r>
            <a:r>
              <a:rPr sz="1100" b="0">
                <a:solidFill>
                  <a:srgbClr val="2E2E2E"/>
                </a:solidFill>
                <a:latin typeface="Calibri"/>
              </a:rPr>
              <a:t>33% of 2026 value · 6.7% CAGR grows fastest.</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Finish split shows how demand is distributed across finish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Finish segment is projected to grow at a CAGR of 6.1%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Finish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Finish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Finish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Glossy or wet-look followed by matte are expected to be the two most attractive finish segments in the North America hair styling products market in terms of value over the forecast period. Glossy or wet-look and matte exhibit a CAGR index of 110.1 and 99.3 and a market share index of 97.9 and 99.7 respectively, against the segment average of 100. The natural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Finish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Matte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Natural</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Glossy or Wet-look</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Finish</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glossy or wet-look segment is anticipated to witness an increase of 1.9X in terms of value as compared to 2026. The glossy or wet-look segment is expected to create an incremental opportunity of US$ 1,486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matte segment is expected to create an incremental opportunity of US$ 1,323 Mn for the overall hair styling products market from 2026 to 2036. The natural segment is expected to create an incremental opportunity of US$ 1,210 Mn for the overall hair styling products market from 2026 to 2036.</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Finish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Finish,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Finish (US$ Mn)</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7432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Finish</a:t>
            </a:r>
          </a:p>
        </p:txBody>
      </p:sp>
      <p:sp>
        <p:nvSpPr>
          <p:cNvPr id="17" name="Rectangle 16"/>
          <p:cNvSpPr/>
          <p:nvPr/>
        </p:nvSpPr>
        <p:spPr>
          <a:xfrm>
            <a:off x="276225" y="2981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067050"/>
            <a:ext cx="11639550" cy="3486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Glossy or wet-look segment is projected to register 1.0X higher value than matte segment in 2036. Among hair styling products by finish, glossy or wet-look segment is expected to witness the highest CAGR of 6.7% over the forecast period.</a:t>
            </a:r>
          </a:p>
          <a:p>
            <a:pPr algn="l">
              <a:lnSpc>
                <a:spcPct val="110000"/>
              </a:lnSpc>
              <a:spcBef>
                <a:spcPts val="0"/>
              </a:spcBef>
              <a:spcAft>
                <a:spcPts val="500"/>
              </a:spcAft>
            </a:pPr>
            <a:r>
              <a:rPr sz="1150" b="0">
                <a:solidFill>
                  <a:srgbClr val="2E2E2E"/>
                </a:solidFill>
                <a:latin typeface="Calibri"/>
              </a:rPr>
              <a:t>In terms of value share by finish, the glossy or wet-look segment is expected to dominate the market, gaining 193 BPS and accounting for 34.6% share by 2036. The natural segment is expected to lose 179 BPS over the forecast period to account for 32.3%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Finish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Finish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41054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40578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32958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Natural</a:t>
            </a:r>
          </a:p>
        </p:txBody>
      </p:sp>
      <p:sp>
        <p:nvSpPr>
          <p:cNvPr id="19" name="BPS Value 1"/>
          <p:cNvSpPr txBox="1"/>
          <p:nvPr/>
        </p:nvSpPr>
        <p:spPr>
          <a:xfrm>
            <a:off x="6896100" y="2391493"/>
            <a:ext cx="514350" cy="123825"/>
          </a:xfrm>
          <a:prstGeom prst="rect">
            <a:avLst/>
          </a:prstGeom>
          <a:noFill/>
        </p:spPr>
        <p:txBody>
          <a:bodyPr wrap="none" lIns="0" rIns="0" tIns="0" bIns="0" anchor="ctr">
            <a:spAutoFit/>
          </a:bodyPr>
          <a:lstStyle/>
          <a:p>
            <a:pPr algn="r"/>
            <a:r>
              <a:rPr sz="900" b="1">
                <a:solidFill>
                  <a:srgbClr val="E44D3A"/>
                </a:solidFill>
                <a:latin typeface="Calibri"/>
              </a:rPr>
              <a:t>-179</a:t>
            </a:r>
          </a:p>
        </p:txBody>
      </p:sp>
      <p:sp>
        <p:nvSpPr>
          <p:cNvPr id="20" name="FMI Legend Chip"/>
          <p:cNvSpPr/>
          <p:nvPr/>
        </p:nvSpPr>
        <p:spPr>
          <a:xfrm>
            <a:off x="4928997" y="390643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90167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82547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Matte</a:t>
            </a:r>
          </a:p>
        </p:txBody>
      </p:sp>
      <p:sp>
        <p:nvSpPr>
          <p:cNvPr id="23" name="BPS Value 2"/>
          <p:cNvSpPr txBox="1"/>
          <p:nvPr/>
        </p:nvSpPr>
        <p:spPr>
          <a:xfrm>
            <a:off x="6896100" y="3887386"/>
            <a:ext cx="514350" cy="123825"/>
          </a:xfrm>
          <a:prstGeom prst="rect">
            <a:avLst/>
          </a:prstGeom>
          <a:noFill/>
        </p:spPr>
        <p:txBody>
          <a:bodyPr wrap="none" lIns="0" rIns="0" tIns="0" bIns="0" anchor="ctr">
            <a:spAutoFit/>
          </a:bodyPr>
          <a:lstStyle/>
          <a:p>
            <a:pPr algn="r"/>
            <a:r>
              <a:rPr sz="900" b="1">
                <a:solidFill>
                  <a:srgbClr val="E44D3A"/>
                </a:solidFill>
                <a:latin typeface="Calibri"/>
              </a:rPr>
              <a:t>-14</a:t>
            </a:r>
          </a:p>
        </p:txBody>
      </p:sp>
      <p:sp>
        <p:nvSpPr>
          <p:cNvPr id="24" name="FMI Legend Chip"/>
          <p:cNvSpPr/>
          <p:nvPr/>
        </p:nvSpPr>
        <p:spPr>
          <a:xfrm>
            <a:off x="4928997" y="545334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544857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37237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Glossy or Wet-look</a:t>
            </a:r>
          </a:p>
        </p:txBody>
      </p:sp>
      <p:sp>
        <p:nvSpPr>
          <p:cNvPr id="27" name="BPS Value 3"/>
          <p:cNvSpPr txBox="1"/>
          <p:nvPr/>
        </p:nvSpPr>
        <p:spPr>
          <a:xfrm>
            <a:off x="6896100" y="5434290"/>
            <a:ext cx="514350" cy="123825"/>
          </a:xfrm>
          <a:prstGeom prst="rect">
            <a:avLst/>
          </a:prstGeom>
          <a:noFill/>
        </p:spPr>
        <p:txBody>
          <a:bodyPr wrap="none" lIns="0" rIns="0" tIns="0" bIns="0" anchor="ctr">
            <a:spAutoFit/>
          </a:bodyPr>
          <a:lstStyle/>
          <a:p>
            <a:pPr algn="r"/>
            <a:r>
              <a:rPr sz="900" b="1">
                <a:solidFill>
                  <a:srgbClr val="2E7D32"/>
                </a:solidFill>
                <a:latin typeface="Calibri"/>
              </a:rPr>
              <a:t>+193</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Finish</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finish, glossy or wet-look segment is expected to witness the highest CAGR of 6.7% over the forecast period. In terms of value share by finish, the glossy or wet-look segment is expected to dominate the market, gaining 193 BPS and accounting for 34.6% share by 2036.</a:t>
            </a:r>
          </a:p>
          <a:p>
            <a:pPr algn="l">
              <a:lnSpc>
                <a:spcPct val="110000"/>
              </a:lnSpc>
              <a:spcBef>
                <a:spcPts val="0"/>
              </a:spcBef>
              <a:spcAft>
                <a:spcPts val="500"/>
              </a:spcAft>
            </a:pPr>
            <a:r>
              <a:rPr sz="1150" b="0">
                <a:solidFill>
                  <a:srgbClr val="2E2E2E"/>
                </a:solidFill>
                <a:latin typeface="Calibri"/>
              </a:rPr>
              <a:t>The natural segment is expected to lose 179 BPS over the forecast period to account for 32.3% share by 2036.</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Finish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Finish,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5050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Finish (%)  ·  light = lower, dark = higher growth</a:t>
            </a:r>
          </a:p>
        </p:txBody>
      </p:sp>
      <p:sp>
        <p:nvSpPr>
          <p:cNvPr id="17" name="TextBox 16"/>
          <p:cNvSpPr txBox="1"/>
          <p:nvPr/>
        </p:nvSpPr>
        <p:spPr>
          <a:xfrm>
            <a:off x="115183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84276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53368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22461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91553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60646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29739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98831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67924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37016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806109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75202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44294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3387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2479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28765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Matte</a:t>
            </a:r>
          </a:p>
        </p:txBody>
      </p:sp>
      <p:sp>
        <p:nvSpPr>
          <p:cNvPr id="33" name="Rectangle 32"/>
          <p:cNvSpPr/>
          <p:nvPr/>
        </p:nvSpPr>
        <p:spPr>
          <a:xfrm>
            <a:off x="1151835" y="2876550"/>
            <a:ext cx="690926" cy="1231900"/>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842761" y="2876550"/>
            <a:ext cx="690926" cy="123190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533687" y="2876550"/>
            <a:ext cx="690926" cy="123190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224613" y="2876550"/>
            <a:ext cx="690926" cy="1231900"/>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15539" y="2876550"/>
            <a:ext cx="690926" cy="123190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06465" y="2876550"/>
            <a:ext cx="690926" cy="123190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297391" y="2876550"/>
            <a:ext cx="690926" cy="1231900"/>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988317" y="2876550"/>
            <a:ext cx="690926" cy="1231900"/>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679243" y="2876550"/>
            <a:ext cx="690926" cy="1231900"/>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370169" y="2876550"/>
            <a:ext cx="690926" cy="1231900"/>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61095" y="2876550"/>
            <a:ext cx="690926" cy="1231900"/>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52021" y="2876550"/>
            <a:ext cx="690926" cy="1231900"/>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42947" y="2876550"/>
            <a:ext cx="690926" cy="1231900"/>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33873" y="2876550"/>
            <a:ext cx="690926" cy="1231900"/>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24799" y="2876550"/>
            <a:ext cx="690926" cy="1231900"/>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084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Natural</a:t>
            </a:r>
          </a:p>
        </p:txBody>
      </p:sp>
      <p:sp>
        <p:nvSpPr>
          <p:cNvPr id="49" name="Rectangle 48"/>
          <p:cNvSpPr/>
          <p:nvPr/>
        </p:nvSpPr>
        <p:spPr>
          <a:xfrm>
            <a:off x="1151835" y="4108450"/>
            <a:ext cx="690926" cy="1231900"/>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842761" y="4108450"/>
            <a:ext cx="690926" cy="1231900"/>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533687" y="4108450"/>
            <a:ext cx="690926" cy="123190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224613" y="4108450"/>
            <a:ext cx="690926" cy="123190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15539" y="4108450"/>
            <a:ext cx="690926" cy="123190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06465" y="4108450"/>
            <a:ext cx="690926" cy="123190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297391" y="4108450"/>
            <a:ext cx="690926" cy="123190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988317" y="4108450"/>
            <a:ext cx="690926" cy="123190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679243" y="4108450"/>
            <a:ext cx="690926" cy="1231900"/>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370169" y="4108450"/>
            <a:ext cx="690926" cy="1231900"/>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61095" y="4108450"/>
            <a:ext cx="690926" cy="1231900"/>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52021" y="4108450"/>
            <a:ext cx="690926" cy="1231900"/>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42947" y="4108450"/>
            <a:ext cx="690926" cy="1231900"/>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33873" y="4108450"/>
            <a:ext cx="690926" cy="1231900"/>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24799" y="4108450"/>
            <a:ext cx="690926" cy="1231900"/>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403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Glossy or Wet-look</a:t>
            </a:r>
          </a:p>
        </p:txBody>
      </p:sp>
      <p:sp>
        <p:nvSpPr>
          <p:cNvPr id="65" name="Rectangle 64"/>
          <p:cNvSpPr/>
          <p:nvPr/>
        </p:nvSpPr>
        <p:spPr>
          <a:xfrm>
            <a:off x="1151835" y="5340350"/>
            <a:ext cx="690926" cy="1231900"/>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842761" y="5340350"/>
            <a:ext cx="690926" cy="12319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533687" y="5340350"/>
            <a:ext cx="690926" cy="12319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224613" y="5340350"/>
            <a:ext cx="690926" cy="1231900"/>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15539" y="5340350"/>
            <a:ext cx="690926" cy="123190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06465" y="5340350"/>
            <a:ext cx="690926" cy="1231900"/>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297391" y="5340350"/>
            <a:ext cx="690926" cy="123190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988317" y="5340350"/>
            <a:ext cx="690926" cy="1231900"/>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679243" y="5340350"/>
            <a:ext cx="690926" cy="1231900"/>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370169" y="5340350"/>
            <a:ext cx="690926" cy="1231900"/>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61095" y="5340350"/>
            <a:ext cx="690926" cy="1231900"/>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52021" y="5340350"/>
            <a:ext cx="690926" cy="1231900"/>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42947" y="5340350"/>
            <a:ext cx="690926" cy="1231900"/>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33873" y="5340350"/>
            <a:ext cx="690926" cy="12319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24799" y="5340350"/>
            <a:ext cx="690926" cy="1231900"/>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2914650"/>
            <a:ext cx="104775" cy="98108"/>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005138"/>
            <a:ext cx="104775" cy="98108"/>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095625"/>
            <a:ext cx="104775" cy="98108"/>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186112"/>
            <a:ext cx="104775" cy="98108"/>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276600"/>
            <a:ext cx="104775" cy="98108"/>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367088"/>
            <a:ext cx="104775" cy="98108"/>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457575"/>
            <a:ext cx="104775" cy="98108"/>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548062"/>
            <a:ext cx="104775" cy="98108"/>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638550"/>
            <a:ext cx="104775" cy="98108"/>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729038"/>
            <a:ext cx="104775" cy="98108"/>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819525"/>
            <a:ext cx="104775" cy="98108"/>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10012"/>
            <a:ext cx="104775" cy="98108"/>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00500"/>
            <a:ext cx="104775" cy="98108"/>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090988"/>
            <a:ext cx="104775" cy="98108"/>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181475"/>
            <a:ext cx="104775" cy="98108"/>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271962"/>
            <a:ext cx="104775" cy="98108"/>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362450"/>
            <a:ext cx="104775" cy="98108"/>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452938"/>
            <a:ext cx="104775" cy="98108"/>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543425"/>
            <a:ext cx="104775" cy="98108"/>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33912"/>
            <a:ext cx="104775" cy="98108"/>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24400"/>
            <a:ext cx="104775" cy="98108"/>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14888"/>
            <a:ext cx="104775" cy="98108"/>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05375"/>
            <a:ext cx="104775" cy="98108"/>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4995862"/>
            <a:ext cx="104775" cy="98108"/>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086350"/>
            <a:ext cx="104775" cy="98108"/>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176838"/>
            <a:ext cx="104775" cy="98108"/>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267325"/>
            <a:ext cx="104775" cy="98108"/>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57812"/>
            <a:ext cx="104775" cy="98108"/>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48300"/>
            <a:ext cx="104775" cy="98108"/>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38788"/>
            <a:ext cx="104775" cy="98108"/>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29275"/>
            <a:ext cx="104775" cy="98108"/>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19762"/>
            <a:ext cx="104775" cy="98108"/>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10250"/>
            <a:ext cx="104775" cy="98108"/>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00738"/>
            <a:ext cx="104775" cy="98108"/>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5991225"/>
            <a:ext cx="104775" cy="98108"/>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81712"/>
            <a:ext cx="104775" cy="98108"/>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72200"/>
            <a:ext cx="104775" cy="98108"/>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62688"/>
            <a:ext cx="104775" cy="98108"/>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3175"/>
            <a:ext cx="104775" cy="98108"/>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3662"/>
            <a:ext cx="104775" cy="98108"/>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2914650"/>
            <a:ext cx="104775" cy="36195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84797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22" name="TextBox 121"/>
          <p:cNvSpPr txBox="1"/>
          <p:nvPr/>
        </p:nvSpPr>
        <p:spPr>
          <a:xfrm>
            <a:off x="11687175" y="465772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Salon and Professional Distributi…</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960.9</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1,683</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5.8%</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Mass Retail</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954.1</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1,516</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4.7%</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Marketplaces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947.5</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1,932</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7.4%</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distribution channel, online marketplaces segment is expected to witness the highest CAGR of 7.4% over the forecast period. In terms of value share by distribution channel, the online marketplaces segment is expected to dominate the market, gaining 250 BPS and accounting for 21.4% share by 2036.</a:t>
            </a:r>
          </a:p>
          <a:p>
            <a:pPr algn="l">
              <a:lnSpc>
                <a:spcPct val="110000"/>
              </a:lnSpc>
              <a:spcBef>
                <a:spcPts val="0"/>
              </a:spcBef>
              <a:spcAft>
                <a:spcPts val="500"/>
              </a:spcAft>
            </a:pPr>
            <a:r>
              <a:rPr sz="1100" b="0">
                <a:solidFill>
                  <a:srgbClr val="2E2E2E"/>
                </a:solidFill>
                <a:latin typeface="Calibri"/>
              </a:rPr>
              <a:t>Online marketplaces segment is projected to register 1.1X higher value than salon and professional distribution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Salon and Professional Distribution: </a:t>
            </a:r>
            <a:r>
              <a:rPr sz="1100" b="0">
                <a:solidFill>
                  <a:srgbClr val="2E2E2E"/>
                </a:solidFill>
                <a:latin typeface="Calibri"/>
              </a:rPr>
              <a:t>19% of 2026 value · 5.8%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Mass Retail: </a:t>
            </a:r>
            <a:r>
              <a:rPr sz="1100" b="0">
                <a:solidFill>
                  <a:srgbClr val="2E2E2E"/>
                </a:solidFill>
                <a:latin typeface="Calibri"/>
              </a:rPr>
              <a:t>19% of 2026 value · 4.7%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Online Marketplaces: </a:t>
            </a:r>
            <a:r>
              <a:rPr sz="1100" b="0">
                <a:solidFill>
                  <a:srgbClr val="2E2E2E"/>
                </a:solidFill>
                <a:latin typeface="Calibri"/>
              </a:rPr>
              <a:t>19% of 2026 value · 7.4% CAGR grows fastest.</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Distribution Channel segment is projected to grow at a CAGR of 6.1%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Beauty Specialty Retail</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775.4</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1,423</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6.3%</a:t>
            </a:r>
          </a:p>
        </p:txBody>
      </p:sp>
      <p:sp>
        <p:nvSpPr>
          <p:cNvPr id="25" name="Oval 24"/>
          <p:cNvSpPr/>
          <p:nvPr/>
        </p:nvSpPr>
        <p:spPr>
          <a:xfrm>
            <a:off x="333375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26" name="Rounded Rectangle 25"/>
          <p:cNvSpPr/>
          <p:nvPr/>
        </p:nvSpPr>
        <p:spPr>
          <a:xfrm>
            <a:off x="523875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Pharmacies and Drugstores</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765.2</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1,280</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5.3%</a:t>
            </a:r>
          </a:p>
        </p:txBody>
      </p:sp>
      <p:sp>
        <p:nvSpPr>
          <p:cNvPr id="32" name="Oval 31"/>
          <p:cNvSpPr/>
          <p:nvPr/>
        </p:nvSpPr>
        <p:spPr>
          <a:xfrm>
            <a:off x="670560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33" name="Rounded Rectangle 32"/>
          <p:cNvSpPr/>
          <p:nvPr/>
        </p:nvSpPr>
        <p:spPr>
          <a:xfrm>
            <a:off x="861060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Brand-owned Online Stores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616.7</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1,206</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6.9%</a:t>
            </a:r>
          </a:p>
        </p:txBody>
      </p:sp>
      <p:sp>
        <p:nvSpPr>
          <p:cNvPr id="39" name="Oval 38"/>
          <p:cNvSpPr/>
          <p:nvPr/>
        </p:nvSpPr>
        <p:spPr>
          <a:xfrm>
            <a:off x="1007745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Beauty Specialty Retail: </a:t>
            </a:r>
            <a:r>
              <a:rPr sz="1100" b="0">
                <a:solidFill>
                  <a:srgbClr val="2E2E2E"/>
                </a:solidFill>
                <a:latin typeface="Calibri"/>
              </a:rPr>
              <a:t>15% of 2026 value · 6.3%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Pharmacies and Drugstores: </a:t>
            </a:r>
            <a:r>
              <a:rPr sz="1100" b="0">
                <a:solidFill>
                  <a:srgbClr val="2E2E2E"/>
                </a:solidFill>
                <a:latin typeface="Calibri"/>
              </a:rPr>
              <a:t>15% of 2026 value · 5.3%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Brand-owned Online Stores: </a:t>
            </a:r>
            <a:r>
              <a:rPr sz="1100" b="0">
                <a:solidFill>
                  <a:srgbClr val="2E2E2E"/>
                </a:solidFill>
                <a:latin typeface="Calibri"/>
              </a:rPr>
              <a:t>12% of 2026 value · 6.9% CAGR serves a niche.</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Online marketplaces followed by salon and professional distribution are expected to be the two most attractive distribution channel segments in the North America hair styling products market in terms of value over the forecast period. Online marketplaces and salon and professional distribution exhibit a CAGR index of 121.9 and 95.2 and a market share index of 113.3 and 114.9 respectively, against the segment average of 100. The pharmacies and drugstores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Distribution Channel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Mass Retail</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Beauty Specialty Retail</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Salon and Professional Distribution</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Pharmacies and Drugstores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Distribution Channel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Online Marketplaces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Brand-owned Online Stores</a:t>
            </a:r>
          </a:p>
        </p:txBody>
      </p:sp>
      <p:graphicFrame>
        <p:nvGraphicFramePr>
          <p:cNvPr id="15" name="Chart 14"/>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Distribution Channel</a:t>
            </a:r>
          </a:p>
        </p:txBody>
      </p:sp>
      <p:sp>
        <p:nvSpPr>
          <p:cNvPr id="18" name="Rectangle 17"/>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online marketplaces segment is anticipated to witness an increase of 2.0X in terms of value as compared to 2026. The online marketplaces segment is expected to create an incremental opportunity of US$ 984.8 Mn for the overall hair styling products market from 2026 to 2036.</a:t>
            </a:r>
          </a:p>
          <a:p>
            <a:pPr algn="l">
              <a:lnSpc>
                <a:spcPct val="110000"/>
              </a:lnSpc>
              <a:spcBef>
                <a:spcPts val="0"/>
              </a:spcBef>
              <a:spcAft>
                <a:spcPts val="500"/>
              </a:spcAft>
            </a:pPr>
            <a:r>
              <a:rPr sz="1150" b="0">
                <a:solidFill>
                  <a:srgbClr val="2E2E2E"/>
                </a:solidFill>
                <a:latin typeface="Calibri"/>
              </a:rPr>
              <a:t>The salon and professional distribution segment is expected to create an incremental opportunity of US$ 722.2 Mn for the overall hair styling products market from 2026 to 2036. The beauty specialty retail segment is expected to create an incremental opportunity of US$ 647.3 Mn for the overall hair styling products market from 2026 to 2036.</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Distribution Channel (US$ Mn)</a:t>
            </a:r>
          </a:p>
        </p:txBody>
      </p:sp>
      <p:graphicFrame>
        <p:nvGraphicFramePr>
          <p:cNvPr id="13" name="Table 12"/>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Distribution Channel</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Online marketplaces segment is projected to register 1.1X higher value than salon and professional distribution segment in 2036. Among hair styling products by distribution channel, online marketplaces segment is expected to witness the highest CAGR of 7.4% over the forecast period.</a:t>
            </a:r>
          </a:p>
          <a:p>
            <a:pPr algn="l">
              <a:lnSpc>
                <a:spcPct val="110000"/>
              </a:lnSpc>
              <a:spcBef>
                <a:spcPts val="0"/>
              </a:spcBef>
              <a:spcAft>
                <a:spcPts val="500"/>
              </a:spcAft>
            </a:pPr>
            <a:r>
              <a:rPr sz="1150" b="0">
                <a:solidFill>
                  <a:srgbClr val="2E2E2E"/>
                </a:solidFill>
                <a:latin typeface="Calibri"/>
              </a:rPr>
              <a:t>In terms of value share by distribution channel, the online marketplaces segment is expected to dominate the market, gaining 250 BPS and accounting for 21.4% share by 2036. The mass retail segment is expected to lose 224 BPS over the forecast period to account for 16.8%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Distribution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76256"/>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7149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9529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Brand-owned Online Stores</a:t>
            </a:r>
          </a:p>
        </p:txBody>
      </p:sp>
      <p:sp>
        <p:nvSpPr>
          <p:cNvPr id="19" name="BPS Value 1"/>
          <p:cNvSpPr txBox="1"/>
          <p:nvPr/>
        </p:nvSpPr>
        <p:spPr>
          <a:xfrm>
            <a:off x="6896100" y="1957206"/>
            <a:ext cx="514350" cy="123825"/>
          </a:xfrm>
          <a:prstGeom prst="rect">
            <a:avLst/>
          </a:prstGeom>
          <a:noFill/>
        </p:spPr>
        <p:txBody>
          <a:bodyPr wrap="none" lIns="0" rIns="0" tIns="0" bIns="0" anchor="ctr">
            <a:spAutoFit/>
          </a:bodyPr>
          <a:lstStyle/>
          <a:p>
            <a:pPr algn="r"/>
            <a:r>
              <a:rPr sz="900" b="1">
                <a:solidFill>
                  <a:srgbClr val="2E7D32"/>
                </a:solidFill>
                <a:latin typeface="Calibri"/>
              </a:rPr>
              <a:t>+106</a:t>
            </a:r>
          </a:p>
        </p:txBody>
      </p:sp>
      <p:sp>
        <p:nvSpPr>
          <p:cNvPr id="20" name="FMI Legend Chip"/>
          <p:cNvSpPr/>
          <p:nvPr/>
        </p:nvSpPr>
        <p:spPr>
          <a:xfrm>
            <a:off x="4928997" y="2604933"/>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60017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52397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Pharmacies and Drugstores</a:t>
            </a:r>
          </a:p>
        </p:txBody>
      </p:sp>
      <p:sp>
        <p:nvSpPr>
          <p:cNvPr id="23" name="BPS Value 2"/>
          <p:cNvSpPr txBox="1"/>
          <p:nvPr/>
        </p:nvSpPr>
        <p:spPr>
          <a:xfrm>
            <a:off x="6896100" y="2585883"/>
            <a:ext cx="514350" cy="123825"/>
          </a:xfrm>
          <a:prstGeom prst="rect">
            <a:avLst/>
          </a:prstGeom>
          <a:noFill/>
        </p:spPr>
        <p:txBody>
          <a:bodyPr wrap="none" lIns="0" rIns="0" tIns="0" bIns="0" anchor="ctr">
            <a:spAutoFit/>
          </a:bodyPr>
          <a:lstStyle/>
          <a:p>
            <a:pPr algn="r"/>
            <a:r>
              <a:rPr sz="900" b="1">
                <a:solidFill>
                  <a:srgbClr val="E44D3A"/>
                </a:solidFill>
                <a:latin typeface="Calibri"/>
              </a:rPr>
              <a:t>-109</a:t>
            </a:r>
          </a:p>
        </p:txBody>
      </p:sp>
      <p:sp>
        <p:nvSpPr>
          <p:cNvPr id="24" name="FMI Legend Chip"/>
          <p:cNvSpPr/>
          <p:nvPr/>
        </p:nvSpPr>
        <p:spPr>
          <a:xfrm>
            <a:off x="4928997" y="328842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28365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20745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Beauty Specialty Retail</a:t>
            </a:r>
          </a:p>
        </p:txBody>
      </p:sp>
      <p:sp>
        <p:nvSpPr>
          <p:cNvPr id="27" name="BPS Value 3"/>
          <p:cNvSpPr txBox="1"/>
          <p:nvPr/>
        </p:nvSpPr>
        <p:spPr>
          <a:xfrm>
            <a:off x="6896100" y="3269371"/>
            <a:ext cx="514350" cy="123825"/>
          </a:xfrm>
          <a:prstGeom prst="rect">
            <a:avLst/>
          </a:prstGeom>
          <a:noFill/>
        </p:spPr>
        <p:txBody>
          <a:bodyPr wrap="none" lIns="0" rIns="0" tIns="0" bIns="0" anchor="ctr">
            <a:spAutoFit/>
          </a:bodyPr>
          <a:lstStyle/>
          <a:p>
            <a:pPr algn="r"/>
            <a:r>
              <a:rPr sz="900" b="1">
                <a:solidFill>
                  <a:srgbClr val="2E7D32"/>
                </a:solidFill>
                <a:latin typeface="Calibri"/>
              </a:rPr>
              <a:t>+29</a:t>
            </a:r>
          </a:p>
        </p:txBody>
      </p:sp>
      <p:sp>
        <p:nvSpPr>
          <p:cNvPr id="28" name="FMI Legend Chip"/>
          <p:cNvSpPr/>
          <p:nvPr/>
        </p:nvSpPr>
        <p:spPr>
          <a:xfrm>
            <a:off x="4928997" y="403157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02680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95060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Mass Retail</a:t>
            </a:r>
          </a:p>
        </p:txBody>
      </p:sp>
      <p:sp>
        <p:nvSpPr>
          <p:cNvPr id="31" name="BPS Value 4"/>
          <p:cNvSpPr txBox="1"/>
          <p:nvPr/>
        </p:nvSpPr>
        <p:spPr>
          <a:xfrm>
            <a:off x="6896100" y="4012521"/>
            <a:ext cx="514350" cy="123825"/>
          </a:xfrm>
          <a:prstGeom prst="rect">
            <a:avLst/>
          </a:prstGeom>
          <a:noFill/>
        </p:spPr>
        <p:txBody>
          <a:bodyPr wrap="none" lIns="0" rIns="0" tIns="0" bIns="0" anchor="ctr">
            <a:spAutoFit/>
          </a:bodyPr>
          <a:lstStyle/>
          <a:p>
            <a:pPr algn="r"/>
            <a:r>
              <a:rPr sz="900" b="1">
                <a:solidFill>
                  <a:srgbClr val="E44D3A"/>
                </a:solidFill>
                <a:latin typeface="Calibri"/>
              </a:rPr>
              <a:t>-224</a:t>
            </a:r>
          </a:p>
        </p:txBody>
      </p:sp>
      <p:sp>
        <p:nvSpPr>
          <p:cNvPr id="32" name="FMI Legend Chip"/>
          <p:cNvSpPr/>
          <p:nvPr/>
        </p:nvSpPr>
        <p:spPr>
          <a:xfrm>
            <a:off x="4928997" y="484057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483581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75961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Salon and Professional Distribution</a:t>
            </a:r>
          </a:p>
        </p:txBody>
      </p:sp>
      <p:sp>
        <p:nvSpPr>
          <p:cNvPr id="35" name="BPS Value 5"/>
          <p:cNvSpPr txBox="1"/>
          <p:nvPr/>
        </p:nvSpPr>
        <p:spPr>
          <a:xfrm>
            <a:off x="6896100" y="4821529"/>
            <a:ext cx="514350" cy="123825"/>
          </a:xfrm>
          <a:prstGeom prst="rect">
            <a:avLst/>
          </a:prstGeom>
          <a:noFill/>
        </p:spPr>
        <p:txBody>
          <a:bodyPr wrap="none" lIns="0" rIns="0" tIns="0" bIns="0" anchor="ctr">
            <a:spAutoFit/>
          </a:bodyPr>
          <a:lstStyle/>
          <a:p>
            <a:pPr algn="r"/>
            <a:r>
              <a:rPr sz="900" b="1">
                <a:solidFill>
                  <a:srgbClr val="E44D3A"/>
                </a:solidFill>
                <a:latin typeface="Calibri"/>
              </a:rPr>
              <a:t>-52</a:t>
            </a:r>
          </a:p>
        </p:txBody>
      </p:sp>
      <p:sp>
        <p:nvSpPr>
          <p:cNvPr id="36" name="FMI Legend Chip"/>
          <p:cNvSpPr/>
          <p:nvPr/>
        </p:nvSpPr>
        <p:spPr>
          <a:xfrm>
            <a:off x="4928997" y="575494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75018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67398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Marketplaces</a:t>
            </a:r>
          </a:p>
        </p:txBody>
      </p:sp>
      <p:sp>
        <p:nvSpPr>
          <p:cNvPr id="39" name="BPS Value 6"/>
          <p:cNvSpPr txBox="1"/>
          <p:nvPr/>
        </p:nvSpPr>
        <p:spPr>
          <a:xfrm>
            <a:off x="6896100" y="5735892"/>
            <a:ext cx="514350" cy="123825"/>
          </a:xfrm>
          <a:prstGeom prst="rect">
            <a:avLst/>
          </a:prstGeom>
          <a:noFill/>
        </p:spPr>
        <p:txBody>
          <a:bodyPr wrap="none" lIns="0" rIns="0" tIns="0" bIns="0" anchor="ctr">
            <a:spAutoFit/>
          </a:bodyPr>
          <a:lstStyle/>
          <a:p>
            <a:pPr algn="r"/>
            <a:r>
              <a:rPr sz="900" b="1">
                <a:solidFill>
                  <a:srgbClr val="2E7D32"/>
                </a:solidFill>
                <a:latin typeface="Calibri"/>
              </a:rPr>
              <a:t>+250</a:t>
            </a:r>
          </a:p>
        </p:txBody>
      </p:sp>
      <p:sp>
        <p:nvSpPr>
          <p:cNvPr id="40" name="Rounded Rectangle 3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Distribution Channel</a:t>
            </a:r>
          </a:p>
        </p:txBody>
      </p:sp>
      <p:sp>
        <p:nvSpPr>
          <p:cNvPr id="42" name="Rectangle 41"/>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distribution channel, online marketplaces segment is expected to witness the highest CAGR of 7.4% over the forecast period. In terms of value share by distribution channel, the online marketplaces segment is expected to dominate the market, gaining 250 BPS and accounting for 21.4% share by 2036.</a:t>
            </a:r>
          </a:p>
          <a:p>
            <a:pPr algn="l">
              <a:lnSpc>
                <a:spcPct val="110000"/>
              </a:lnSpc>
              <a:spcBef>
                <a:spcPts val="0"/>
              </a:spcBef>
              <a:spcAft>
                <a:spcPts val="500"/>
              </a:spcAft>
            </a:pPr>
            <a:r>
              <a:rPr sz="1150" b="0">
                <a:solidFill>
                  <a:srgbClr val="2E2E2E"/>
                </a:solidFill>
                <a:latin typeface="Calibri"/>
              </a:rPr>
              <a:t>The mass retail segment is expected to lose 224 BPS over the forecast period to account for 16.8% share by 2036.</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527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Distribution Channel (%)  ·  light = lower, dark = higher growth</a:t>
            </a:r>
          </a:p>
        </p:txBody>
      </p:sp>
      <p:sp>
        <p:nvSpPr>
          <p:cNvPr id="17" name="TextBox 16"/>
          <p:cNvSpPr txBox="1"/>
          <p:nvPr/>
        </p:nvSpPr>
        <p:spPr>
          <a:xfrm>
            <a:off x="185233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49655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078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501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2923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346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1768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1915"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614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036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459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3882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304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27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49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52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Mass Retail</a:t>
            </a:r>
          </a:p>
        </p:txBody>
      </p:sp>
      <p:sp>
        <p:nvSpPr>
          <p:cNvPr id="33" name="Rectangle 32"/>
          <p:cNvSpPr/>
          <p:nvPr/>
        </p:nvSpPr>
        <p:spPr>
          <a:xfrm>
            <a:off x="1852331" y="3524250"/>
            <a:ext cx="644226" cy="508000"/>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496557" y="3524250"/>
            <a:ext cx="644226" cy="508000"/>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0784" y="3524250"/>
            <a:ext cx="644226" cy="508000"/>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5010" y="3524250"/>
            <a:ext cx="644226" cy="50800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29236" y="3524250"/>
            <a:ext cx="644226" cy="50800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3462" y="3524250"/>
            <a:ext cx="644226" cy="508000"/>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17689" y="3524250"/>
            <a:ext cx="644226" cy="508000"/>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1915" y="3524250"/>
            <a:ext cx="644226" cy="508000"/>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6141" y="3524250"/>
            <a:ext cx="644226" cy="50800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0367" y="3524250"/>
            <a:ext cx="644226" cy="50800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4594" y="3524250"/>
            <a:ext cx="644226" cy="508000"/>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38820" y="3524250"/>
            <a:ext cx="644226" cy="508000"/>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3046" y="3524250"/>
            <a:ext cx="644226" cy="50800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272" y="3524250"/>
            <a:ext cx="644226" cy="508000"/>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499" y="3524250"/>
            <a:ext cx="644226" cy="508000"/>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32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Beauty Specialty Retail</a:t>
            </a:r>
          </a:p>
        </p:txBody>
      </p:sp>
      <p:sp>
        <p:nvSpPr>
          <p:cNvPr id="49" name="Rectangle 48"/>
          <p:cNvSpPr/>
          <p:nvPr/>
        </p:nvSpPr>
        <p:spPr>
          <a:xfrm>
            <a:off x="1852331" y="4032250"/>
            <a:ext cx="644226" cy="508000"/>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496557" y="4032250"/>
            <a:ext cx="644226" cy="50800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0784" y="4032250"/>
            <a:ext cx="644226" cy="508000"/>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5010" y="4032250"/>
            <a:ext cx="644226" cy="50800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29236" y="4032250"/>
            <a:ext cx="644226" cy="50800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3462" y="4032250"/>
            <a:ext cx="644226" cy="50800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17689" y="4032250"/>
            <a:ext cx="644226" cy="508000"/>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1915" y="4032250"/>
            <a:ext cx="644226" cy="508000"/>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6141" y="4032250"/>
            <a:ext cx="644226" cy="508000"/>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0367" y="4032250"/>
            <a:ext cx="644226" cy="508000"/>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4594" y="4032250"/>
            <a:ext cx="644226" cy="508000"/>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38820" y="4032250"/>
            <a:ext cx="644226" cy="508000"/>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3046" y="4032250"/>
            <a:ext cx="644226" cy="508000"/>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272" y="4032250"/>
            <a:ext cx="644226" cy="508000"/>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499" y="4032250"/>
            <a:ext cx="644226" cy="508000"/>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0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Salon and Professional Distribution</a:t>
            </a:r>
          </a:p>
        </p:txBody>
      </p:sp>
      <p:sp>
        <p:nvSpPr>
          <p:cNvPr id="65" name="Rectangle 64"/>
          <p:cNvSpPr/>
          <p:nvPr/>
        </p:nvSpPr>
        <p:spPr>
          <a:xfrm>
            <a:off x="1852331" y="4540250"/>
            <a:ext cx="644226" cy="50800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496557" y="4540250"/>
            <a:ext cx="644226" cy="508000"/>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0784" y="4540250"/>
            <a:ext cx="644226" cy="508000"/>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5010" y="4540250"/>
            <a:ext cx="644226" cy="508000"/>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29236" y="4540250"/>
            <a:ext cx="644226" cy="50800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3462" y="4540250"/>
            <a:ext cx="644226" cy="508000"/>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17689" y="4540250"/>
            <a:ext cx="644226" cy="50800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1915" y="4540250"/>
            <a:ext cx="644226" cy="508000"/>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6141" y="4540250"/>
            <a:ext cx="644226" cy="50800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0367" y="4540250"/>
            <a:ext cx="644226" cy="508000"/>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4594" y="4540250"/>
            <a:ext cx="644226" cy="508000"/>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38820" y="4540250"/>
            <a:ext cx="644226" cy="508000"/>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3046" y="4540250"/>
            <a:ext cx="644226" cy="508000"/>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272" y="4540250"/>
            <a:ext cx="644226" cy="508000"/>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499" y="4540250"/>
            <a:ext cx="644226" cy="508000"/>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48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Pharmacies and Drugstores</a:t>
            </a:r>
          </a:p>
        </p:txBody>
      </p:sp>
      <p:sp>
        <p:nvSpPr>
          <p:cNvPr id="81" name="Rectangle 80"/>
          <p:cNvSpPr/>
          <p:nvPr/>
        </p:nvSpPr>
        <p:spPr>
          <a:xfrm>
            <a:off x="1852331" y="5048250"/>
            <a:ext cx="644226" cy="508000"/>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496557" y="5048250"/>
            <a:ext cx="644226" cy="508000"/>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0784" y="5048250"/>
            <a:ext cx="644226" cy="508000"/>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5010" y="5048250"/>
            <a:ext cx="644226" cy="508000"/>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29236" y="5048250"/>
            <a:ext cx="644226" cy="508000"/>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3462" y="5048250"/>
            <a:ext cx="644226" cy="50800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17689" y="5048250"/>
            <a:ext cx="644226" cy="508000"/>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1915" y="5048250"/>
            <a:ext cx="644226" cy="508000"/>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6141" y="5048250"/>
            <a:ext cx="644226" cy="50800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0367" y="5048250"/>
            <a:ext cx="644226" cy="508000"/>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4594" y="5048250"/>
            <a:ext cx="644226" cy="50800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38820" y="5048250"/>
            <a:ext cx="644226" cy="508000"/>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3046" y="5048250"/>
            <a:ext cx="644226" cy="50800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272" y="5048250"/>
            <a:ext cx="644226" cy="50800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499" y="5048250"/>
            <a:ext cx="644226" cy="50800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556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Online Marketplaces</a:t>
            </a:r>
          </a:p>
        </p:txBody>
      </p:sp>
      <p:sp>
        <p:nvSpPr>
          <p:cNvPr id="97" name="Rectangle 96"/>
          <p:cNvSpPr/>
          <p:nvPr/>
        </p:nvSpPr>
        <p:spPr>
          <a:xfrm>
            <a:off x="1852331" y="5556250"/>
            <a:ext cx="644226" cy="5080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496557" y="5556250"/>
            <a:ext cx="644226" cy="50800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0784" y="5556250"/>
            <a:ext cx="644226" cy="508000"/>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5010" y="5556250"/>
            <a:ext cx="644226" cy="508000"/>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29236" y="5556250"/>
            <a:ext cx="644226" cy="50800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3462" y="5556250"/>
            <a:ext cx="644226" cy="508000"/>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17689" y="5556250"/>
            <a:ext cx="644226" cy="508000"/>
          </a:xfrm>
          <a:prstGeom prst="rect">
            <a:avLst/>
          </a:prstGeom>
          <a:solidFill>
            <a:srgbClr val="72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1915" y="5556250"/>
            <a:ext cx="644226" cy="508000"/>
          </a:xfrm>
          <a:prstGeom prst="rect">
            <a:avLst/>
          </a:prstGeom>
          <a:solidFill>
            <a:srgbClr val="44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6141" y="5556250"/>
            <a:ext cx="644226" cy="508000"/>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0367" y="5556250"/>
            <a:ext cx="644226" cy="508000"/>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4594" y="5556250"/>
            <a:ext cx="644226" cy="5080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38820" y="5556250"/>
            <a:ext cx="644226" cy="508000"/>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3046" y="5556250"/>
            <a:ext cx="644226" cy="508000"/>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272" y="5556250"/>
            <a:ext cx="644226" cy="508000"/>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499" y="5556250"/>
            <a:ext cx="644226" cy="508000"/>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6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Brand-owned Online Stores</a:t>
            </a:r>
          </a:p>
        </p:txBody>
      </p:sp>
      <p:sp>
        <p:nvSpPr>
          <p:cNvPr id="113" name="Rectangle 112"/>
          <p:cNvSpPr/>
          <p:nvPr/>
        </p:nvSpPr>
        <p:spPr>
          <a:xfrm>
            <a:off x="1852331" y="6064250"/>
            <a:ext cx="644226" cy="508000"/>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496557" y="6064250"/>
            <a:ext cx="644226" cy="508000"/>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0784" y="6064250"/>
            <a:ext cx="644226" cy="50800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5010" y="6064250"/>
            <a:ext cx="644226" cy="508000"/>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29236" y="6064250"/>
            <a:ext cx="644226" cy="508000"/>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3462" y="6064250"/>
            <a:ext cx="644226" cy="508000"/>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17689" y="6064250"/>
            <a:ext cx="644226" cy="50800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1915" y="6064250"/>
            <a:ext cx="644226" cy="508000"/>
          </a:xfrm>
          <a:prstGeom prst="rect">
            <a:avLst/>
          </a:prstGeom>
          <a:solidFill>
            <a:srgbClr val="66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6141" y="6064250"/>
            <a:ext cx="644226" cy="508000"/>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0367" y="6064250"/>
            <a:ext cx="644226" cy="508000"/>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4594" y="6064250"/>
            <a:ext cx="644226" cy="508000"/>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38820" y="6064250"/>
            <a:ext cx="644226" cy="508000"/>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3046" y="6064250"/>
            <a:ext cx="644226" cy="508000"/>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272" y="6064250"/>
            <a:ext cx="644226" cy="508000"/>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499" y="6064250"/>
            <a:ext cx="644226" cy="508000"/>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562350"/>
            <a:ext cx="104775" cy="8191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636645"/>
            <a:ext cx="104775" cy="8191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710940"/>
            <a:ext cx="104775" cy="8191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785235"/>
            <a:ext cx="104775" cy="8191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3859530"/>
            <a:ext cx="104775" cy="8191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3933825"/>
            <a:ext cx="104775" cy="8191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008120"/>
            <a:ext cx="104775" cy="8191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082415"/>
            <a:ext cx="104775" cy="8191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156710"/>
            <a:ext cx="104775" cy="8191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231005"/>
            <a:ext cx="104775" cy="8191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305300"/>
            <a:ext cx="104775" cy="8191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379595"/>
            <a:ext cx="104775" cy="8191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453890"/>
            <a:ext cx="104775" cy="8191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528185"/>
            <a:ext cx="104775" cy="8191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602480"/>
            <a:ext cx="104775" cy="8191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676775"/>
            <a:ext cx="104775" cy="8191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751070"/>
            <a:ext cx="104775" cy="8191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825365"/>
            <a:ext cx="104775" cy="8191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899660"/>
            <a:ext cx="104775" cy="8191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973955"/>
            <a:ext cx="104775" cy="8191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048250"/>
            <a:ext cx="104775" cy="8191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122545"/>
            <a:ext cx="104775" cy="8191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196840"/>
            <a:ext cx="104775" cy="8191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271135"/>
            <a:ext cx="104775" cy="8191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345430"/>
            <a:ext cx="104775" cy="8191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19725"/>
            <a:ext cx="104775" cy="8191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494020"/>
            <a:ext cx="104775" cy="8191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568315"/>
            <a:ext cx="104775" cy="8191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642610"/>
            <a:ext cx="104775" cy="8191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16905"/>
            <a:ext cx="104775" cy="8191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791200"/>
            <a:ext cx="104775" cy="8191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865495"/>
            <a:ext cx="104775" cy="8191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39790"/>
            <a:ext cx="104775" cy="8191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14085"/>
            <a:ext cx="104775" cy="8191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088380"/>
            <a:ext cx="104775" cy="8191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62675"/>
            <a:ext cx="104775" cy="8191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36970"/>
            <a:ext cx="104775" cy="8191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11265"/>
            <a:ext cx="104775" cy="8191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85560"/>
            <a:ext cx="104775" cy="8191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59855"/>
            <a:ext cx="104775" cy="8191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562350"/>
            <a:ext cx="104775" cy="29718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49567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70" name="TextBox 169"/>
          <p:cNvSpPr txBox="1"/>
          <p:nvPr/>
        </p:nvSpPr>
        <p:spPr>
          <a:xfrm>
            <a:off x="11687175" y="498157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Primary Styling Benefit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Primary Styling Benefit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Primary Styling Benefit,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Primary Styling Benefit segment categorizes the market by primary styling benefit.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330779"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330779"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Smoothing and Frizz Control</a:t>
            </a:r>
          </a:p>
        </p:txBody>
      </p:sp>
      <p:sp>
        <p:nvSpPr>
          <p:cNvPr id="23" name="Rectangle 22"/>
          <p:cNvSpPr/>
          <p:nvPr/>
        </p:nvSpPr>
        <p:spPr>
          <a:xfrm>
            <a:off x="1866900"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807.7</a:t>
            </a:r>
          </a:p>
        </p:txBody>
      </p:sp>
      <p:sp>
        <p:nvSpPr>
          <p:cNvPr id="24" name="Rectangle 23"/>
          <p:cNvSpPr/>
          <p:nvPr/>
        </p:nvSpPr>
        <p:spPr>
          <a:xfrm>
            <a:off x="1866900"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1,525</a:t>
            </a:r>
          </a:p>
        </p:txBody>
      </p:sp>
      <p:sp>
        <p:nvSpPr>
          <p:cNvPr id="25" name="Rectangle 24"/>
          <p:cNvSpPr/>
          <p:nvPr/>
        </p:nvSpPr>
        <p:spPr>
          <a:xfrm>
            <a:off x="1866900"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6.6%</a:t>
            </a:r>
          </a:p>
        </p:txBody>
      </p:sp>
      <p:sp>
        <p:nvSpPr>
          <p:cNvPr id="26" name="Oval 25"/>
          <p:cNvSpPr/>
          <p:nvPr/>
        </p:nvSpPr>
        <p:spPr>
          <a:xfrm>
            <a:off x="237036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311979" y="1773916"/>
            <a:ext cx="1330779"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311979" y="1992961"/>
            <a:ext cx="1330779"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350079"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Curl Definition</a:t>
            </a:r>
          </a:p>
        </p:txBody>
      </p:sp>
      <p:sp>
        <p:nvSpPr>
          <p:cNvPr id="30" name="Rectangle 29"/>
          <p:cNvSpPr/>
          <p:nvPr/>
        </p:nvSpPr>
        <p:spPr>
          <a:xfrm>
            <a:off x="3311979"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788.0</a:t>
            </a:r>
          </a:p>
        </p:txBody>
      </p:sp>
      <p:sp>
        <p:nvSpPr>
          <p:cNvPr id="31" name="Rectangle 30"/>
          <p:cNvSpPr/>
          <p:nvPr/>
        </p:nvSpPr>
        <p:spPr>
          <a:xfrm>
            <a:off x="3311979"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1,629</a:t>
            </a:r>
          </a:p>
        </p:txBody>
      </p:sp>
      <p:sp>
        <p:nvSpPr>
          <p:cNvPr id="32" name="Rectangle 31"/>
          <p:cNvSpPr/>
          <p:nvPr/>
        </p:nvSpPr>
        <p:spPr>
          <a:xfrm>
            <a:off x="3311979"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7.5%</a:t>
            </a:r>
          </a:p>
        </p:txBody>
      </p:sp>
      <p:sp>
        <p:nvSpPr>
          <p:cNvPr id="33" name="Oval 32"/>
          <p:cNvSpPr/>
          <p:nvPr/>
        </p:nvSpPr>
        <p:spPr>
          <a:xfrm>
            <a:off x="3815443"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4757057" y="1773916"/>
            <a:ext cx="1330779"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4757057" y="1992961"/>
            <a:ext cx="1330779"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795157"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Hold and Shape</a:t>
            </a:r>
          </a:p>
        </p:txBody>
      </p:sp>
      <p:sp>
        <p:nvSpPr>
          <p:cNvPr id="37" name="Rectangle 36"/>
          <p:cNvSpPr/>
          <p:nvPr/>
        </p:nvSpPr>
        <p:spPr>
          <a:xfrm>
            <a:off x="4757057"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754.1</a:t>
            </a:r>
          </a:p>
        </p:txBody>
      </p:sp>
      <p:sp>
        <p:nvSpPr>
          <p:cNvPr id="38" name="Rectangle 37"/>
          <p:cNvSpPr/>
          <p:nvPr/>
        </p:nvSpPr>
        <p:spPr>
          <a:xfrm>
            <a:off x="4757057"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1,158</a:t>
            </a:r>
          </a:p>
        </p:txBody>
      </p:sp>
      <p:sp>
        <p:nvSpPr>
          <p:cNvPr id="39" name="Rectangle 38"/>
          <p:cNvSpPr/>
          <p:nvPr/>
        </p:nvSpPr>
        <p:spPr>
          <a:xfrm>
            <a:off x="4757057"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4.4%</a:t>
            </a:r>
          </a:p>
        </p:txBody>
      </p:sp>
      <p:sp>
        <p:nvSpPr>
          <p:cNvPr id="40" name="Oval 39"/>
          <p:cNvSpPr/>
          <p:nvPr/>
        </p:nvSpPr>
        <p:spPr>
          <a:xfrm>
            <a:off x="5260521"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202136" y="1773916"/>
            <a:ext cx="1330779"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202136" y="1992961"/>
            <a:ext cx="1330779"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240236"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Volume and Root Lift</a:t>
            </a:r>
          </a:p>
        </p:txBody>
      </p:sp>
      <p:sp>
        <p:nvSpPr>
          <p:cNvPr id="44" name="Rectangle 43"/>
          <p:cNvSpPr/>
          <p:nvPr/>
        </p:nvSpPr>
        <p:spPr>
          <a:xfrm>
            <a:off x="6202136"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720.9</a:t>
            </a:r>
          </a:p>
        </p:txBody>
      </p:sp>
      <p:sp>
        <p:nvSpPr>
          <p:cNvPr id="45" name="Rectangle 44"/>
          <p:cNvSpPr/>
          <p:nvPr/>
        </p:nvSpPr>
        <p:spPr>
          <a:xfrm>
            <a:off x="6202136"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1,218</a:t>
            </a:r>
          </a:p>
        </p:txBody>
      </p:sp>
      <p:sp>
        <p:nvSpPr>
          <p:cNvPr id="46" name="Rectangle 45"/>
          <p:cNvSpPr/>
          <p:nvPr/>
        </p:nvSpPr>
        <p:spPr>
          <a:xfrm>
            <a:off x="6202136"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5.4%</a:t>
            </a:r>
          </a:p>
        </p:txBody>
      </p:sp>
      <p:sp>
        <p:nvSpPr>
          <p:cNvPr id="47" name="Oval 46"/>
          <p:cNvSpPr/>
          <p:nvPr/>
        </p:nvSpPr>
        <p:spPr>
          <a:xfrm>
            <a:off x="670560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7647214" y="1773916"/>
            <a:ext cx="1330779"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647214" y="1992961"/>
            <a:ext cx="1330779"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7685314"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Heat Styling Support</a:t>
            </a:r>
          </a:p>
        </p:txBody>
      </p:sp>
      <p:sp>
        <p:nvSpPr>
          <p:cNvPr id="51" name="Rectangle 50"/>
          <p:cNvSpPr/>
          <p:nvPr/>
        </p:nvSpPr>
        <p:spPr>
          <a:xfrm>
            <a:off x="7647214"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720.6</a:t>
            </a:r>
          </a:p>
        </p:txBody>
      </p:sp>
      <p:sp>
        <p:nvSpPr>
          <p:cNvPr id="52" name="Rectangle 51"/>
          <p:cNvSpPr/>
          <p:nvPr/>
        </p:nvSpPr>
        <p:spPr>
          <a:xfrm>
            <a:off x="7647214"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1,417</a:t>
            </a:r>
          </a:p>
        </p:txBody>
      </p:sp>
      <p:sp>
        <p:nvSpPr>
          <p:cNvPr id="53" name="Rectangle 52"/>
          <p:cNvSpPr/>
          <p:nvPr/>
        </p:nvSpPr>
        <p:spPr>
          <a:xfrm>
            <a:off x="7647214"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7.0%</a:t>
            </a:r>
          </a:p>
        </p:txBody>
      </p:sp>
      <p:sp>
        <p:nvSpPr>
          <p:cNvPr id="54" name="Oval 53"/>
          <p:cNvSpPr/>
          <p:nvPr/>
        </p:nvSpPr>
        <p:spPr>
          <a:xfrm>
            <a:off x="815067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9092293" y="1773916"/>
            <a:ext cx="1330779"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092293" y="1992961"/>
            <a:ext cx="1330779"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130393"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Separation</a:t>
            </a:r>
          </a:p>
        </p:txBody>
      </p:sp>
      <p:sp>
        <p:nvSpPr>
          <p:cNvPr id="58" name="Rectangle 57"/>
          <p:cNvSpPr/>
          <p:nvPr/>
        </p:nvSpPr>
        <p:spPr>
          <a:xfrm>
            <a:off x="9092293"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662.8</a:t>
            </a:r>
          </a:p>
        </p:txBody>
      </p:sp>
      <p:sp>
        <p:nvSpPr>
          <p:cNvPr id="59" name="Rectangle 58"/>
          <p:cNvSpPr/>
          <p:nvPr/>
        </p:nvSpPr>
        <p:spPr>
          <a:xfrm>
            <a:off x="9092293"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1,179</a:t>
            </a:r>
          </a:p>
        </p:txBody>
      </p:sp>
      <p:sp>
        <p:nvSpPr>
          <p:cNvPr id="60" name="Rectangle 59"/>
          <p:cNvSpPr/>
          <p:nvPr/>
        </p:nvSpPr>
        <p:spPr>
          <a:xfrm>
            <a:off x="9092293"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5.9%</a:t>
            </a:r>
          </a:p>
        </p:txBody>
      </p:sp>
      <p:sp>
        <p:nvSpPr>
          <p:cNvPr id="61" name="Oval 60"/>
          <p:cNvSpPr/>
          <p:nvPr/>
        </p:nvSpPr>
        <p:spPr>
          <a:xfrm>
            <a:off x="9595757"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10537371" y="1773916"/>
            <a:ext cx="1330779"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537371" y="1992961"/>
            <a:ext cx="1330779"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10575471"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Sleek Styling and Edge Control</a:t>
            </a:r>
          </a:p>
        </p:txBody>
      </p:sp>
      <p:sp>
        <p:nvSpPr>
          <p:cNvPr id="65" name="Rectangle 64"/>
          <p:cNvSpPr/>
          <p:nvPr/>
        </p:nvSpPr>
        <p:spPr>
          <a:xfrm>
            <a:off x="10537371"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565.8</a:t>
            </a:r>
          </a:p>
        </p:txBody>
      </p:sp>
      <p:sp>
        <p:nvSpPr>
          <p:cNvPr id="66" name="Rectangle 65"/>
          <p:cNvSpPr/>
          <p:nvPr/>
        </p:nvSpPr>
        <p:spPr>
          <a:xfrm>
            <a:off x="10537371"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914.4</a:t>
            </a:r>
          </a:p>
        </p:txBody>
      </p:sp>
      <p:sp>
        <p:nvSpPr>
          <p:cNvPr id="67" name="Rectangle 66"/>
          <p:cNvSpPr/>
          <p:nvPr/>
        </p:nvSpPr>
        <p:spPr>
          <a:xfrm>
            <a:off x="10537371"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4.9%</a:t>
            </a:r>
          </a:p>
        </p:txBody>
      </p:sp>
      <p:sp>
        <p:nvSpPr>
          <p:cNvPr id="68" name="Oval 67"/>
          <p:cNvSpPr/>
          <p:nvPr/>
        </p:nvSpPr>
        <p:spPr>
          <a:xfrm>
            <a:off x="11040836"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71" name="Rectangle 70"/>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primary styling benefit, curl definition segment is expected to witness the highest CAGR of 7.5% over the forecast period. In terms of value share by primary styling benefit, the curl definition segment is expected to dominate the market, gaining 233 BPS and accounting for 18.0% share by 2036.</a:t>
            </a:r>
          </a:p>
          <a:p>
            <a:pPr algn="l">
              <a:lnSpc>
                <a:spcPct val="110000"/>
              </a:lnSpc>
              <a:spcBef>
                <a:spcPts val="0"/>
              </a:spcBef>
              <a:spcAft>
                <a:spcPts val="500"/>
              </a:spcAft>
            </a:pPr>
            <a:r>
              <a:rPr sz="1100" b="0">
                <a:solidFill>
                  <a:srgbClr val="2E2E2E"/>
                </a:solidFill>
                <a:latin typeface="Calibri"/>
              </a:rPr>
              <a:t>Curl definition segment is projected to register 1.1X higher value than smoothing and frizz control segment in 2036.</a:t>
            </a:r>
          </a:p>
        </p:txBody>
      </p:sp>
      <p:sp>
        <p:nvSpPr>
          <p:cNvPr id="73" name="Rounded Rectangle 72"/>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75" name="Rectangle 74"/>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Smoothing and Frizz Control: </a:t>
            </a:r>
            <a:r>
              <a:rPr sz="1100" b="0">
                <a:solidFill>
                  <a:srgbClr val="2E2E2E"/>
                </a:solidFill>
                <a:latin typeface="Calibri"/>
              </a:rPr>
              <a:t>16% of 2026 value · 6.6%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Curl Definition: </a:t>
            </a:r>
            <a:r>
              <a:rPr sz="1100" b="0">
                <a:solidFill>
                  <a:srgbClr val="2E2E2E"/>
                </a:solidFill>
                <a:latin typeface="Calibri"/>
              </a:rPr>
              <a:t>16% of 2026 value · 7.5%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Hold and Shape: </a:t>
            </a:r>
            <a:r>
              <a:rPr sz="1100" b="0">
                <a:solidFill>
                  <a:srgbClr val="2E2E2E"/>
                </a:solidFill>
                <a:latin typeface="Calibri"/>
              </a:rPr>
              <a:t>15% of 2026 value · 4.4%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Volume and Root Lift: </a:t>
            </a:r>
            <a:r>
              <a:rPr sz="1100" b="0">
                <a:solidFill>
                  <a:srgbClr val="2E2E2E"/>
                </a:solidFill>
                <a:latin typeface="Calibri"/>
              </a:rPr>
              <a:t>14% of 2026 value · 5.4%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Heat Styling Support: </a:t>
            </a:r>
            <a:r>
              <a:rPr sz="1100" b="0">
                <a:solidFill>
                  <a:srgbClr val="2E2E2E"/>
                </a:solidFill>
                <a:latin typeface="Calibri"/>
              </a:rPr>
              <a:t>14% of 2026 value · 7.0%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Texture and Separation: </a:t>
            </a:r>
            <a:r>
              <a:rPr sz="1100" b="0">
                <a:solidFill>
                  <a:srgbClr val="2E2E2E"/>
                </a:solidFill>
                <a:latin typeface="Calibri"/>
              </a:rPr>
              <a:t>13% of 2026 value · 5.9%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Sleek Styling and Edge Control: </a:t>
            </a:r>
            <a:r>
              <a:rPr sz="1100" b="0">
                <a:solidFill>
                  <a:srgbClr val="2E2E2E"/>
                </a:solidFill>
                <a:latin typeface="Calibri"/>
              </a:rPr>
              <a:t>11% of 2026 value · 4.9% CAGR serves a niche.</a:t>
            </a:r>
          </a:p>
        </p:txBody>
      </p:sp>
      <p:sp>
        <p:nvSpPr>
          <p:cNvPr id="77" name="Rounded Rectangle 76"/>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9" name="Rectangle 78"/>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Primary Styling Benefit split shows how demand is distributed across primary styling benefit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81" name="Rectangle 80"/>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Primary Styling Benefit segment is projected to grow at a CAGR of 6.1% from 2026 to 2036.</a:t>
            </a:r>
          </a:p>
        </p:txBody>
      </p:sp>
      <p:sp>
        <p:nvSpPr>
          <p:cNvPr id="83" name="TextBox 82"/>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84" name="TextBox 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Primary Styling Benefit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Primary Styling Benefit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Primary Styling Benefit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Curl definition followed by smoothing and frizz control are expected to be the two most attractive primary styling benefit segments in the North America hair styling products market in terms of value over the forecast period. Curl definition and smoothing and frizz control exhibit a CAGR index of 124.4 and 108.3 and a market share index of 109.9 and 112.6 respectively, against the segment average of 100. The sleek styling and edge control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Primary Styling Benefit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Hold and Shape</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Curl Definition</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Volume and Root Lift</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Texture and Separation</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Primary Styling Benefit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Smoothing and Frizz Control</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Sleek Styling and Edge Control</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Heat Styling Support</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Primary Styling Benefit</a:t>
            </a:r>
          </a:p>
        </p:txBody>
      </p:sp>
      <p:sp>
        <p:nvSpPr>
          <p:cNvPr id="21" name="Rectangle 20"/>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curl definition segment is anticipated to witness an increase of 2.1X in terms of value as compared to 2026. The curl definition segment is expected to create an incremental opportunity of US$ 841.2 Mn for the overall hair styling products market from 2026 to 2036.</a:t>
            </a:r>
          </a:p>
          <a:p>
            <a:pPr algn="l">
              <a:lnSpc>
                <a:spcPct val="110000"/>
              </a:lnSpc>
              <a:spcBef>
                <a:spcPts val="0"/>
              </a:spcBef>
              <a:spcAft>
                <a:spcPts val="500"/>
              </a:spcAft>
            </a:pPr>
            <a:r>
              <a:rPr sz="1150" b="0">
                <a:solidFill>
                  <a:srgbClr val="2E2E2E"/>
                </a:solidFill>
                <a:latin typeface="Calibri"/>
              </a:rPr>
              <a:t>The smoothing and frizz control segment is expected to create an incremental opportunity of US$ 717.3 Mn for the overall hair styling products market from 2026 to 2036. The heat styling support segment is expected to create an incremental opportunity of US$ 696.5 Mn for the overall hair styling products market from 2026 to 2036.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Primary Styling Benefit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Primary Styling Benefit,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Primary Styling Benefit (US$ Mn)</a:t>
            </a:r>
          </a:p>
        </p:txBody>
      </p:sp>
      <p:graphicFrame>
        <p:nvGraphicFramePr>
          <p:cNvPr id="13" name="Table 12"/>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099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Primary Styling Benefit</a:t>
            </a:r>
          </a:p>
        </p:txBody>
      </p:sp>
      <p:sp>
        <p:nvSpPr>
          <p:cNvPr id="17" name="Rectangle 16"/>
          <p:cNvSpPr/>
          <p:nvPr/>
        </p:nvSpPr>
        <p:spPr>
          <a:xfrm>
            <a:off x="276225" y="3848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33825"/>
            <a:ext cx="11639550" cy="2619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Curl definition segment is projected to register 1.1X higher value than smoothing and frizz control segment in 2036. Among hair styling products by primary styling benefit, curl definition segment is expected to witness the highest CAGR of 7.5% over the forecast period.</a:t>
            </a:r>
          </a:p>
          <a:p>
            <a:pPr algn="l">
              <a:lnSpc>
                <a:spcPct val="110000"/>
              </a:lnSpc>
              <a:spcBef>
                <a:spcPts val="0"/>
              </a:spcBef>
              <a:spcAft>
                <a:spcPts val="500"/>
              </a:spcAft>
            </a:pPr>
            <a:r>
              <a:rPr sz="1150" b="0">
                <a:solidFill>
                  <a:srgbClr val="2E2E2E"/>
                </a:solidFill>
                <a:latin typeface="Calibri"/>
              </a:rPr>
              <a:t>In terms of value share by primary styling benefit, the curl definition segment is expected to dominate the market, gaining 233 BPS and accounting for 18.0% share by 2036. The hold and shape segment is expected to lose 222 BPS over the forecast period to account for 12.8%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Primary Styling Benefit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Primary Styling Benefit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02512"/>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9775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2155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Sleek Styling and Edge Control</a:t>
            </a:r>
          </a:p>
        </p:txBody>
      </p:sp>
      <p:sp>
        <p:nvSpPr>
          <p:cNvPr id="19" name="BPS Value 1"/>
          <p:cNvSpPr txBox="1"/>
          <p:nvPr/>
        </p:nvSpPr>
        <p:spPr>
          <a:xfrm>
            <a:off x="6896100" y="1883462"/>
            <a:ext cx="514350" cy="123825"/>
          </a:xfrm>
          <a:prstGeom prst="rect">
            <a:avLst/>
          </a:prstGeom>
          <a:noFill/>
        </p:spPr>
        <p:txBody>
          <a:bodyPr wrap="none" lIns="0" rIns="0" tIns="0" bIns="0" anchor="ctr">
            <a:spAutoFit/>
          </a:bodyPr>
          <a:lstStyle/>
          <a:p>
            <a:pPr algn="r"/>
            <a:r>
              <a:rPr sz="900" b="1">
                <a:solidFill>
                  <a:srgbClr val="E44D3A"/>
                </a:solidFill>
                <a:latin typeface="Calibri"/>
              </a:rPr>
              <a:t>-116</a:t>
            </a:r>
          </a:p>
        </p:txBody>
      </p:sp>
      <p:sp>
        <p:nvSpPr>
          <p:cNvPr id="20" name="FMI Legend Chip"/>
          <p:cNvSpPr/>
          <p:nvPr/>
        </p:nvSpPr>
        <p:spPr>
          <a:xfrm>
            <a:off x="4928997" y="2426526"/>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42176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4556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Hold and Shape</a:t>
            </a:r>
          </a:p>
        </p:txBody>
      </p:sp>
      <p:sp>
        <p:nvSpPr>
          <p:cNvPr id="23" name="BPS Value 2"/>
          <p:cNvSpPr txBox="1"/>
          <p:nvPr/>
        </p:nvSpPr>
        <p:spPr>
          <a:xfrm>
            <a:off x="6896100" y="2407476"/>
            <a:ext cx="514350" cy="123825"/>
          </a:xfrm>
          <a:prstGeom prst="rect">
            <a:avLst/>
          </a:prstGeom>
          <a:noFill/>
        </p:spPr>
        <p:txBody>
          <a:bodyPr wrap="none" lIns="0" rIns="0" tIns="0" bIns="0" anchor="ctr">
            <a:spAutoFit/>
          </a:bodyPr>
          <a:lstStyle/>
          <a:p>
            <a:pPr algn="r"/>
            <a:r>
              <a:rPr sz="900" b="1">
                <a:solidFill>
                  <a:srgbClr val="E44D3A"/>
                </a:solidFill>
                <a:latin typeface="Calibri"/>
              </a:rPr>
              <a:t>-222</a:t>
            </a:r>
          </a:p>
        </p:txBody>
      </p:sp>
      <p:sp>
        <p:nvSpPr>
          <p:cNvPr id="24" name="FMI Legend Chip"/>
          <p:cNvSpPr/>
          <p:nvPr/>
        </p:nvSpPr>
        <p:spPr>
          <a:xfrm>
            <a:off x="4928997" y="3017388"/>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01262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93642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Separation</a:t>
            </a:r>
          </a:p>
        </p:txBody>
      </p:sp>
      <p:sp>
        <p:nvSpPr>
          <p:cNvPr id="27" name="BPS Value 3"/>
          <p:cNvSpPr txBox="1"/>
          <p:nvPr/>
        </p:nvSpPr>
        <p:spPr>
          <a:xfrm>
            <a:off x="6896100" y="2998338"/>
            <a:ext cx="514350" cy="123825"/>
          </a:xfrm>
          <a:prstGeom prst="rect">
            <a:avLst/>
          </a:prstGeom>
          <a:noFill/>
        </p:spPr>
        <p:txBody>
          <a:bodyPr wrap="none" lIns="0" rIns="0" tIns="0" bIns="0" anchor="ctr">
            <a:spAutoFit/>
          </a:bodyPr>
          <a:lstStyle/>
          <a:p>
            <a:pPr algn="r"/>
            <a:r>
              <a:rPr sz="900" b="1">
                <a:solidFill>
                  <a:srgbClr val="E44D3A"/>
                </a:solidFill>
                <a:latin typeface="Calibri"/>
              </a:rPr>
              <a:t>-16</a:t>
            </a:r>
          </a:p>
        </p:txBody>
      </p:sp>
      <p:sp>
        <p:nvSpPr>
          <p:cNvPr id="28" name="FMI Legend Chip"/>
          <p:cNvSpPr/>
          <p:nvPr/>
        </p:nvSpPr>
        <p:spPr>
          <a:xfrm>
            <a:off x="4928997" y="3623458"/>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61869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54249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Volume and Root Lift</a:t>
            </a:r>
          </a:p>
        </p:txBody>
      </p:sp>
      <p:sp>
        <p:nvSpPr>
          <p:cNvPr id="31" name="BPS Value 4"/>
          <p:cNvSpPr txBox="1"/>
          <p:nvPr/>
        </p:nvSpPr>
        <p:spPr>
          <a:xfrm>
            <a:off x="6896100" y="3604408"/>
            <a:ext cx="514350" cy="123825"/>
          </a:xfrm>
          <a:prstGeom prst="rect">
            <a:avLst/>
          </a:prstGeom>
          <a:noFill/>
        </p:spPr>
        <p:txBody>
          <a:bodyPr wrap="none" lIns="0" rIns="0" tIns="0" bIns="0" anchor="ctr">
            <a:spAutoFit/>
          </a:bodyPr>
          <a:lstStyle/>
          <a:p>
            <a:pPr algn="r"/>
            <a:r>
              <a:rPr sz="900" b="1">
                <a:solidFill>
                  <a:srgbClr val="E44D3A"/>
                </a:solidFill>
                <a:latin typeface="Calibri"/>
              </a:rPr>
              <a:t>-89</a:t>
            </a:r>
          </a:p>
        </p:txBody>
      </p:sp>
      <p:sp>
        <p:nvSpPr>
          <p:cNvPr id="32" name="FMI Legend Chip"/>
          <p:cNvSpPr/>
          <p:nvPr/>
        </p:nvSpPr>
        <p:spPr>
          <a:xfrm>
            <a:off x="4928997" y="428982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428506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20886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Heat Styling Support</a:t>
            </a:r>
          </a:p>
        </p:txBody>
      </p:sp>
      <p:sp>
        <p:nvSpPr>
          <p:cNvPr id="35" name="BPS Value 5"/>
          <p:cNvSpPr txBox="1"/>
          <p:nvPr/>
        </p:nvSpPr>
        <p:spPr>
          <a:xfrm>
            <a:off x="6896100" y="4270775"/>
            <a:ext cx="514350" cy="123825"/>
          </a:xfrm>
          <a:prstGeom prst="rect">
            <a:avLst/>
          </a:prstGeom>
          <a:noFill/>
        </p:spPr>
        <p:txBody>
          <a:bodyPr wrap="none" lIns="0" rIns="0" tIns="0" bIns="0" anchor="ctr">
            <a:spAutoFit/>
          </a:bodyPr>
          <a:lstStyle/>
          <a:p>
            <a:pPr algn="r"/>
            <a:r>
              <a:rPr sz="900" b="1">
                <a:solidFill>
                  <a:srgbClr val="2E7D32"/>
                </a:solidFill>
                <a:latin typeface="Calibri"/>
              </a:rPr>
              <a:t>+132</a:t>
            </a:r>
          </a:p>
        </p:txBody>
      </p:sp>
      <p:sp>
        <p:nvSpPr>
          <p:cNvPr id="36" name="FMI Legend Chip"/>
          <p:cNvSpPr/>
          <p:nvPr/>
        </p:nvSpPr>
        <p:spPr>
          <a:xfrm>
            <a:off x="4928997" y="503389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02913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95293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Smoothing and Frizz Control</a:t>
            </a:r>
          </a:p>
        </p:txBody>
      </p:sp>
      <p:sp>
        <p:nvSpPr>
          <p:cNvPr id="39" name="BPS Value 6"/>
          <p:cNvSpPr txBox="1"/>
          <p:nvPr/>
        </p:nvSpPr>
        <p:spPr>
          <a:xfrm>
            <a:off x="6896100" y="5014848"/>
            <a:ext cx="514350" cy="123825"/>
          </a:xfrm>
          <a:prstGeom prst="rect">
            <a:avLst/>
          </a:prstGeom>
          <a:noFill/>
        </p:spPr>
        <p:txBody>
          <a:bodyPr wrap="none" lIns="0" rIns="0" tIns="0" bIns="0" anchor="ctr">
            <a:spAutoFit/>
          </a:bodyPr>
          <a:lstStyle/>
          <a:p>
            <a:pPr algn="r"/>
            <a:r>
              <a:rPr sz="900" b="1">
                <a:solidFill>
                  <a:srgbClr val="2E7D32"/>
                </a:solidFill>
                <a:latin typeface="Calibri"/>
              </a:rPr>
              <a:t>+78</a:t>
            </a:r>
          </a:p>
        </p:txBody>
      </p:sp>
      <p:sp>
        <p:nvSpPr>
          <p:cNvPr id="40" name="FMI Legend Chip"/>
          <p:cNvSpPr/>
          <p:nvPr/>
        </p:nvSpPr>
        <p:spPr>
          <a:xfrm>
            <a:off x="4928997" y="583160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582684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75064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 Definition</a:t>
            </a:r>
          </a:p>
        </p:txBody>
      </p:sp>
      <p:sp>
        <p:nvSpPr>
          <p:cNvPr id="43" name="BPS Value 7"/>
          <p:cNvSpPr txBox="1"/>
          <p:nvPr/>
        </p:nvSpPr>
        <p:spPr>
          <a:xfrm>
            <a:off x="6896100" y="5812553"/>
            <a:ext cx="514350" cy="123825"/>
          </a:xfrm>
          <a:prstGeom prst="rect">
            <a:avLst/>
          </a:prstGeom>
          <a:noFill/>
        </p:spPr>
        <p:txBody>
          <a:bodyPr wrap="none" lIns="0" rIns="0" tIns="0" bIns="0" anchor="ctr">
            <a:spAutoFit/>
          </a:bodyPr>
          <a:lstStyle/>
          <a:p>
            <a:pPr algn="r"/>
            <a:r>
              <a:rPr sz="900" b="1">
                <a:solidFill>
                  <a:srgbClr val="2E7D32"/>
                </a:solidFill>
                <a:latin typeface="Calibri"/>
              </a:rPr>
              <a:t>+233</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Primary Styling Benefit</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primary styling benefit, curl definition segment is expected to witness the highest CAGR of 7.5% over the forecast period. In terms of value share by primary styling benefit, the curl definition segment is expected to dominate the market, gaining 233 BPS and accounting for 18.0% share by 2036.</a:t>
            </a:r>
          </a:p>
          <a:p>
            <a:pPr algn="l">
              <a:lnSpc>
                <a:spcPct val="110000"/>
              </a:lnSpc>
              <a:spcBef>
                <a:spcPts val="0"/>
              </a:spcBef>
              <a:spcAft>
                <a:spcPts val="500"/>
              </a:spcAft>
            </a:pPr>
            <a:r>
              <a:rPr sz="1150" b="0">
                <a:solidFill>
                  <a:srgbClr val="2E2E2E"/>
                </a:solidFill>
                <a:latin typeface="Calibri"/>
              </a:rPr>
              <a:t>The hold and shape segment is expected to lose 222 BPS over the forecast period to account for 12.8% share by 2036.</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Primary Styling Benefit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Primary Styling Benefit,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Primary Styling Benefit (%)  ·  light = lower, dark = higher growth</a:t>
            </a:r>
          </a:p>
        </p:txBody>
      </p:sp>
      <p:sp>
        <p:nvSpPr>
          <p:cNvPr id="17" name="TextBox 16"/>
          <p:cNvSpPr txBox="1"/>
          <p:nvPr/>
        </p:nvSpPr>
        <p:spPr>
          <a:xfrm>
            <a:off x="166143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31838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97534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632294"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28924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94619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60315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26010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91705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57401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3096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88791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4486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0182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5877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Hold and Shape</a:t>
            </a:r>
          </a:p>
        </p:txBody>
      </p:sp>
      <p:sp>
        <p:nvSpPr>
          <p:cNvPr id="33" name="Rectangle 32"/>
          <p:cNvSpPr/>
          <p:nvPr/>
        </p:nvSpPr>
        <p:spPr>
          <a:xfrm>
            <a:off x="1661437" y="3733800"/>
            <a:ext cx="656953" cy="40549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318389" y="3733800"/>
            <a:ext cx="656953" cy="40549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975342" y="3733800"/>
            <a:ext cx="656953" cy="40549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632294" y="3733800"/>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289247" y="3733800"/>
            <a:ext cx="656953" cy="405493"/>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946199" y="3733800"/>
            <a:ext cx="656953" cy="405493"/>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603152" y="3733800"/>
            <a:ext cx="656953" cy="405493"/>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260105" y="3733800"/>
            <a:ext cx="656953" cy="405493"/>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17057" y="3733800"/>
            <a:ext cx="656953" cy="405493"/>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574010" y="3733800"/>
            <a:ext cx="656953" cy="40549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30962" y="3733800"/>
            <a:ext cx="656953" cy="405493"/>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887915" y="3733800"/>
            <a:ext cx="656953" cy="405493"/>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44867" y="3733800"/>
            <a:ext cx="656953" cy="405493"/>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01820" y="3733800"/>
            <a:ext cx="656953" cy="405493"/>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58772" y="3733800"/>
            <a:ext cx="656953" cy="405493"/>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39293"/>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Curl Definition</a:t>
            </a:r>
          </a:p>
        </p:txBody>
      </p:sp>
      <p:sp>
        <p:nvSpPr>
          <p:cNvPr id="49" name="Rectangle 48"/>
          <p:cNvSpPr/>
          <p:nvPr/>
        </p:nvSpPr>
        <p:spPr>
          <a:xfrm>
            <a:off x="1661437" y="4139293"/>
            <a:ext cx="656953" cy="405493"/>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318389" y="4139293"/>
            <a:ext cx="656953" cy="405493"/>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975342" y="4139293"/>
            <a:ext cx="656953" cy="405493"/>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632294" y="4139293"/>
            <a:ext cx="656953" cy="405493"/>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289247" y="4139293"/>
            <a:ext cx="656953" cy="405493"/>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946199" y="4139293"/>
            <a:ext cx="656953" cy="405493"/>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603152" y="4139293"/>
            <a:ext cx="656953" cy="405493"/>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260105" y="4139293"/>
            <a:ext cx="656953" cy="405493"/>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917057" y="4139293"/>
            <a:ext cx="656953" cy="405493"/>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574010" y="4139293"/>
            <a:ext cx="656953" cy="405493"/>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30962" y="4139293"/>
            <a:ext cx="656953" cy="40549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887915" y="4139293"/>
            <a:ext cx="656953" cy="405493"/>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44867" y="4139293"/>
            <a:ext cx="656953" cy="405493"/>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01820" y="4139293"/>
            <a:ext cx="656953" cy="405493"/>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58772" y="4139293"/>
            <a:ext cx="656953" cy="405493"/>
          </a:xfrm>
          <a:prstGeom prst="rect">
            <a:avLst/>
          </a:prstGeom>
          <a:solidFill>
            <a:srgbClr val="0D52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4786"/>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Volume and Root Lift</a:t>
            </a:r>
          </a:p>
        </p:txBody>
      </p:sp>
      <p:sp>
        <p:nvSpPr>
          <p:cNvPr id="65" name="Rectangle 64"/>
          <p:cNvSpPr/>
          <p:nvPr/>
        </p:nvSpPr>
        <p:spPr>
          <a:xfrm>
            <a:off x="1661437" y="4544786"/>
            <a:ext cx="656953" cy="405493"/>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318389" y="4544786"/>
            <a:ext cx="656953" cy="405493"/>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975342" y="4544786"/>
            <a:ext cx="656953" cy="405493"/>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632294" y="4544786"/>
            <a:ext cx="656953" cy="405493"/>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289247" y="4544786"/>
            <a:ext cx="656953" cy="405493"/>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946199" y="4544786"/>
            <a:ext cx="656953" cy="405493"/>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603152" y="4544786"/>
            <a:ext cx="656953" cy="405493"/>
          </a:xfrm>
          <a:prstGeom prst="rect">
            <a:avLst/>
          </a:prstGeom>
          <a:solidFill>
            <a:srgbClr val="B8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260105" y="4544786"/>
            <a:ext cx="656953" cy="405493"/>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917057" y="4544786"/>
            <a:ext cx="656953" cy="405493"/>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574010" y="4544786"/>
            <a:ext cx="656953" cy="405493"/>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30962" y="4544786"/>
            <a:ext cx="656953" cy="405493"/>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887915" y="4544786"/>
            <a:ext cx="656953" cy="405493"/>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44867" y="4544786"/>
            <a:ext cx="656953" cy="405493"/>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01820" y="4544786"/>
            <a:ext cx="656953" cy="405493"/>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58772" y="4544786"/>
            <a:ext cx="656953" cy="405493"/>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4950279"/>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Texture and Separation</a:t>
            </a:r>
          </a:p>
        </p:txBody>
      </p:sp>
      <p:sp>
        <p:nvSpPr>
          <p:cNvPr id="81" name="Rectangle 80"/>
          <p:cNvSpPr/>
          <p:nvPr/>
        </p:nvSpPr>
        <p:spPr>
          <a:xfrm>
            <a:off x="1661437" y="4950279"/>
            <a:ext cx="656953" cy="405493"/>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318389" y="4950279"/>
            <a:ext cx="656953" cy="405493"/>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975342" y="4950279"/>
            <a:ext cx="656953" cy="405493"/>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632294" y="4950279"/>
            <a:ext cx="656953" cy="405493"/>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289247" y="4950279"/>
            <a:ext cx="656953" cy="405493"/>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946199" y="4950279"/>
            <a:ext cx="656953" cy="405493"/>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603152" y="4950279"/>
            <a:ext cx="656953" cy="405493"/>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260105" y="4950279"/>
            <a:ext cx="656953" cy="405493"/>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917057" y="4950279"/>
            <a:ext cx="656953" cy="405493"/>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574010" y="4950279"/>
            <a:ext cx="656953" cy="405493"/>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30962" y="4950279"/>
            <a:ext cx="656953" cy="405493"/>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887915" y="4950279"/>
            <a:ext cx="656953" cy="405493"/>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44867" y="4950279"/>
            <a:ext cx="656953" cy="405493"/>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01820" y="4950279"/>
            <a:ext cx="656953" cy="405493"/>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58772" y="4950279"/>
            <a:ext cx="656953" cy="405493"/>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55771"/>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Smoothing and Frizz Control</a:t>
            </a:r>
          </a:p>
        </p:txBody>
      </p:sp>
      <p:sp>
        <p:nvSpPr>
          <p:cNvPr id="97" name="Rectangle 96"/>
          <p:cNvSpPr/>
          <p:nvPr/>
        </p:nvSpPr>
        <p:spPr>
          <a:xfrm>
            <a:off x="1661437" y="5355771"/>
            <a:ext cx="656953" cy="405493"/>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318389" y="5355771"/>
            <a:ext cx="656953" cy="405493"/>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975342" y="5355771"/>
            <a:ext cx="656953" cy="405493"/>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632294" y="5355771"/>
            <a:ext cx="656953" cy="40549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289247" y="5355771"/>
            <a:ext cx="656953" cy="405493"/>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946199" y="5355771"/>
            <a:ext cx="656953" cy="405493"/>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603152" y="5355771"/>
            <a:ext cx="656953" cy="405493"/>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260105" y="5355771"/>
            <a:ext cx="656953" cy="405493"/>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917057" y="5355771"/>
            <a:ext cx="656953" cy="405493"/>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574010" y="5355771"/>
            <a:ext cx="656953" cy="40549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30962" y="5355771"/>
            <a:ext cx="656953" cy="405493"/>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887915" y="5355771"/>
            <a:ext cx="656953" cy="405493"/>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44867" y="5355771"/>
            <a:ext cx="656953" cy="405493"/>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01820" y="5355771"/>
            <a:ext cx="656953" cy="405493"/>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58772" y="5355771"/>
            <a:ext cx="656953" cy="405493"/>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761264"/>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Sleek Styling and Edge Control</a:t>
            </a:r>
          </a:p>
        </p:txBody>
      </p:sp>
      <p:sp>
        <p:nvSpPr>
          <p:cNvPr id="113" name="Rectangle 112"/>
          <p:cNvSpPr/>
          <p:nvPr/>
        </p:nvSpPr>
        <p:spPr>
          <a:xfrm>
            <a:off x="1661437" y="5761264"/>
            <a:ext cx="656953" cy="405493"/>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318389" y="5761264"/>
            <a:ext cx="656953" cy="405493"/>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2975342" y="5761264"/>
            <a:ext cx="656953" cy="405493"/>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632294" y="5761264"/>
            <a:ext cx="656953" cy="40549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289247" y="5761264"/>
            <a:ext cx="656953" cy="405493"/>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4946199" y="5761264"/>
            <a:ext cx="656953" cy="405493"/>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603152" y="5761264"/>
            <a:ext cx="656953" cy="405493"/>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260105" y="5761264"/>
            <a:ext cx="656953" cy="405493"/>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6917057" y="5761264"/>
            <a:ext cx="656953" cy="405493"/>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574010" y="5761264"/>
            <a:ext cx="656953" cy="405493"/>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30962" y="5761264"/>
            <a:ext cx="656953" cy="405493"/>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887915" y="5761264"/>
            <a:ext cx="656953" cy="405493"/>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44867" y="5761264"/>
            <a:ext cx="656953" cy="405493"/>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01820" y="5761264"/>
            <a:ext cx="656953" cy="405493"/>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58772" y="5761264"/>
            <a:ext cx="656953" cy="405493"/>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166757"/>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Heat Styling Support</a:t>
            </a:r>
          </a:p>
        </p:txBody>
      </p:sp>
      <p:sp>
        <p:nvSpPr>
          <p:cNvPr id="129" name="Rectangle 128"/>
          <p:cNvSpPr/>
          <p:nvPr/>
        </p:nvSpPr>
        <p:spPr>
          <a:xfrm>
            <a:off x="1661437" y="6166757"/>
            <a:ext cx="656953" cy="405493"/>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318389" y="6166757"/>
            <a:ext cx="656953" cy="40549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2975342" y="6166757"/>
            <a:ext cx="656953" cy="405493"/>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632294" y="6166757"/>
            <a:ext cx="656953" cy="405493"/>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289247" y="6166757"/>
            <a:ext cx="656953" cy="405493"/>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4946199" y="6166757"/>
            <a:ext cx="656953" cy="405493"/>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603152" y="6166757"/>
            <a:ext cx="656953" cy="405493"/>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260105" y="6166757"/>
            <a:ext cx="656953" cy="405493"/>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6917057" y="6166757"/>
            <a:ext cx="656953" cy="40549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574010" y="6166757"/>
            <a:ext cx="656953" cy="405493"/>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30962" y="6166757"/>
            <a:ext cx="656953" cy="405493"/>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887915" y="6166757"/>
            <a:ext cx="656953" cy="405493"/>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44867" y="6166757"/>
            <a:ext cx="656953" cy="405493"/>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01820" y="6166757"/>
            <a:ext cx="656953" cy="405493"/>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58772" y="6166757"/>
            <a:ext cx="656953" cy="405493"/>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86" name="TextBox 185"/>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Hair Type Targeted</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Hair Type Targeted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Hair Type Targeted,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Hair Type Targeted segment categorizes the market by hair type targeted.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All Hair Types</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1,070</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1,828</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5.5%</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Coily Hair</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1,037</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2,058</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7.1%</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Straight Hair</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1,018</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1,655</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5.0%</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Wavy Hair</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977.8</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1,750</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6.0%</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Curly Hair</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917.9</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1,749</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6.7%</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hair type targeted, coily hair segment is expected to witness the highest CAGR of 7.1% over the forecast period. In terms of value share by hair type targeted, the coily hair segment is expected to dominate the market, gaining 212 BPS and accounting for 22.8% share by 2036.</a:t>
            </a:r>
          </a:p>
          <a:p>
            <a:pPr algn="l">
              <a:lnSpc>
                <a:spcPct val="110000"/>
              </a:lnSpc>
              <a:spcBef>
                <a:spcPts val="0"/>
              </a:spcBef>
              <a:spcAft>
                <a:spcPts val="500"/>
              </a:spcAft>
            </a:pPr>
            <a:r>
              <a:rPr sz="1100" b="0">
                <a:solidFill>
                  <a:srgbClr val="2E2E2E"/>
                </a:solidFill>
                <a:latin typeface="Calibri"/>
              </a:rPr>
              <a:t>Coily hair segment is projected to register 1.1X higher value than all hair types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All Hair Types: </a:t>
            </a:r>
            <a:r>
              <a:rPr sz="1100" b="0">
                <a:solidFill>
                  <a:srgbClr val="2E2E2E"/>
                </a:solidFill>
                <a:latin typeface="Calibri"/>
              </a:rPr>
              <a:t>21% of 2026 value · 5.5%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Coily Hair: </a:t>
            </a:r>
            <a:r>
              <a:rPr sz="1100" b="0">
                <a:solidFill>
                  <a:srgbClr val="2E2E2E"/>
                </a:solidFill>
                <a:latin typeface="Calibri"/>
              </a:rPr>
              <a:t>21% of 2026 value · 7.1%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Straight Hair: </a:t>
            </a:r>
            <a:r>
              <a:rPr sz="1100" b="0">
                <a:solidFill>
                  <a:srgbClr val="2E2E2E"/>
                </a:solidFill>
                <a:latin typeface="Calibri"/>
              </a:rPr>
              <a:t>20% of 2026 value · 5.0%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Wavy Hair: </a:t>
            </a:r>
            <a:r>
              <a:rPr sz="1100" b="0">
                <a:solidFill>
                  <a:srgbClr val="2E2E2E"/>
                </a:solidFill>
                <a:latin typeface="Calibri"/>
              </a:rPr>
              <a:t>19% of 2026 value · 6.0%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Curly Hair: </a:t>
            </a:r>
            <a:r>
              <a:rPr sz="1100" b="0">
                <a:solidFill>
                  <a:srgbClr val="2E2E2E"/>
                </a:solidFill>
                <a:latin typeface="Calibri"/>
              </a:rPr>
              <a:t>18% of 2026 value · 6.7% CAGR serves a niche.</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Hair Type Targeted split shows how demand is distributed across hair type targeted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Hair Type Targeted segment is projected to grow at a CAGR of 6.1%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Hair Type Targeted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Hair Type Targeted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Hair Type Targeted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Coily hair followed by curly hair are expected to be the two most attractive hair type targeted segments in the North America hair styling products market in terms of value over the forecast period. Coily hair and curly hair exhibit a CAGR index of 117.2 and 109.9 and a market share index of 103.2 and 91.4 respectively, against the segment average of 100. The straight hair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Hair Type Targeted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Straight Hair</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Wavy Hair</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Curly Hair</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Coily Hair</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Hair Type Targeted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All Hair Types</a:t>
            </a:r>
          </a:p>
        </p:txBody>
      </p:sp>
      <p:graphicFrame>
        <p:nvGraphicFramePr>
          <p:cNvPr id="12" name="Chart 11"/>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Hair Type Targeted</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coily hair segment is anticipated to witness an increase of 2.0X in terms of value as compared to 2026. The coily hair segment is expected to create an incremental opportunity of US$ 1,022 Mn for the overall hair styling products market from 2026 to 2036.</a:t>
            </a:r>
          </a:p>
          <a:p>
            <a:pPr algn="l">
              <a:lnSpc>
                <a:spcPct val="110000"/>
              </a:lnSpc>
              <a:spcBef>
                <a:spcPts val="0"/>
              </a:spcBef>
              <a:spcAft>
                <a:spcPts val="500"/>
              </a:spcAft>
            </a:pPr>
            <a:r>
              <a:rPr sz="1150" b="0">
                <a:solidFill>
                  <a:srgbClr val="2E2E2E"/>
                </a:solidFill>
                <a:latin typeface="Calibri"/>
              </a:rPr>
              <a:t>The curly hair segment is expected to create an incremental opportunity of US$ 831.2 Mn for the overall hair styling products market from 2026 to 2036. The wavy hair segment is expected to create an incremental opportunity of US$ 771.8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Hair Type Targeted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Hair Type Targeted,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Hair Type Targeted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Hair Type Targeted</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Coily hair segment is projected to register 1.1X higher value than all hair types segment in 2036. Among hair styling products by hair type targeted, coily hair segment is expected to witness the highest CAGR of 7.1% over the forecast period.</a:t>
            </a:r>
          </a:p>
          <a:p>
            <a:pPr algn="l">
              <a:lnSpc>
                <a:spcPct val="110000"/>
              </a:lnSpc>
              <a:spcBef>
                <a:spcPts val="0"/>
              </a:spcBef>
              <a:spcAft>
                <a:spcPts val="500"/>
              </a:spcAft>
            </a:pPr>
            <a:r>
              <a:rPr sz="1150" b="0">
                <a:solidFill>
                  <a:srgbClr val="2E2E2E"/>
                </a:solidFill>
                <a:latin typeface="Calibri"/>
              </a:rPr>
              <a:t>In terms of value share by hair type targeted, the coily hair segment is expected to dominate the market, gaining 212 BPS and accounting for 22.8% share by 2036. The straight hair segment is expected to lose 197 BPS over the forecast period to account for 18.3%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Hair Type Targeted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Hair Type Targeted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89745"/>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8498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00878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Straight Hair</a:t>
            </a:r>
          </a:p>
        </p:txBody>
      </p:sp>
      <p:sp>
        <p:nvSpPr>
          <p:cNvPr id="19" name="BPS Value 1"/>
          <p:cNvSpPr txBox="1"/>
          <p:nvPr/>
        </p:nvSpPr>
        <p:spPr>
          <a:xfrm>
            <a:off x="6896100" y="2070695"/>
            <a:ext cx="514350" cy="123825"/>
          </a:xfrm>
          <a:prstGeom prst="rect">
            <a:avLst/>
          </a:prstGeom>
          <a:noFill/>
        </p:spPr>
        <p:txBody>
          <a:bodyPr wrap="none" lIns="0" rIns="0" tIns="0" bIns="0" anchor="ctr">
            <a:spAutoFit/>
          </a:bodyPr>
          <a:lstStyle/>
          <a:p>
            <a:pPr algn="r"/>
            <a:r>
              <a:rPr sz="900" b="1">
                <a:solidFill>
                  <a:srgbClr val="E44D3A"/>
                </a:solidFill>
                <a:latin typeface="Calibri"/>
              </a:rPr>
              <a:t>-197</a:t>
            </a:r>
          </a:p>
        </p:txBody>
      </p:sp>
      <p:sp>
        <p:nvSpPr>
          <p:cNvPr id="20" name="FMI Legend Chip"/>
          <p:cNvSpPr/>
          <p:nvPr/>
        </p:nvSpPr>
        <p:spPr>
          <a:xfrm>
            <a:off x="4928997" y="295057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94580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86960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Curly Hair</a:t>
            </a:r>
          </a:p>
        </p:txBody>
      </p:sp>
      <p:sp>
        <p:nvSpPr>
          <p:cNvPr id="23" name="BPS Value 2"/>
          <p:cNvSpPr txBox="1"/>
          <p:nvPr/>
        </p:nvSpPr>
        <p:spPr>
          <a:xfrm>
            <a:off x="6896100" y="2931522"/>
            <a:ext cx="514350" cy="123825"/>
          </a:xfrm>
          <a:prstGeom prst="rect">
            <a:avLst/>
          </a:prstGeom>
          <a:noFill/>
        </p:spPr>
        <p:txBody>
          <a:bodyPr wrap="none" lIns="0" rIns="0" tIns="0" bIns="0" anchor="ctr">
            <a:spAutoFit/>
          </a:bodyPr>
          <a:lstStyle/>
          <a:p>
            <a:pPr algn="r"/>
            <a:r>
              <a:rPr sz="900" b="1">
                <a:solidFill>
                  <a:srgbClr val="2E7D32"/>
                </a:solidFill>
                <a:latin typeface="Calibri"/>
              </a:rPr>
              <a:t>+106</a:t>
            </a:r>
          </a:p>
        </p:txBody>
      </p:sp>
      <p:sp>
        <p:nvSpPr>
          <p:cNvPr id="24" name="FMI Legend Chip"/>
          <p:cNvSpPr/>
          <p:nvPr/>
        </p:nvSpPr>
        <p:spPr>
          <a:xfrm>
            <a:off x="4928997" y="383539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83063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75443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Wavy Hair</a:t>
            </a:r>
          </a:p>
        </p:txBody>
      </p:sp>
      <p:sp>
        <p:nvSpPr>
          <p:cNvPr id="27" name="BPS Value 3"/>
          <p:cNvSpPr txBox="1"/>
          <p:nvPr/>
        </p:nvSpPr>
        <p:spPr>
          <a:xfrm>
            <a:off x="6896100" y="3816345"/>
            <a:ext cx="514350" cy="123825"/>
          </a:xfrm>
          <a:prstGeom prst="rect">
            <a:avLst/>
          </a:prstGeom>
          <a:noFill/>
        </p:spPr>
        <p:txBody>
          <a:bodyPr wrap="none" lIns="0" rIns="0" tIns="0" bIns="0" anchor="ctr">
            <a:spAutoFit/>
          </a:bodyPr>
          <a:lstStyle/>
          <a:p>
            <a:pPr algn="r"/>
            <a:r>
              <a:rPr sz="900" b="1">
                <a:solidFill>
                  <a:srgbClr val="E44D3A"/>
                </a:solidFill>
                <a:latin typeface="Calibri"/>
              </a:rPr>
              <a:t>-12</a:t>
            </a:r>
          </a:p>
        </p:txBody>
      </p:sp>
      <p:sp>
        <p:nvSpPr>
          <p:cNvPr id="28" name="FMI Legend Chip"/>
          <p:cNvSpPr/>
          <p:nvPr/>
        </p:nvSpPr>
        <p:spPr>
          <a:xfrm>
            <a:off x="4928997" y="474025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73548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65928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All Hair Types</a:t>
            </a:r>
          </a:p>
        </p:txBody>
      </p:sp>
      <p:sp>
        <p:nvSpPr>
          <p:cNvPr id="31" name="BPS Value 4"/>
          <p:cNvSpPr txBox="1"/>
          <p:nvPr/>
        </p:nvSpPr>
        <p:spPr>
          <a:xfrm>
            <a:off x="6896100" y="4721201"/>
            <a:ext cx="514350" cy="123825"/>
          </a:xfrm>
          <a:prstGeom prst="rect">
            <a:avLst/>
          </a:prstGeom>
          <a:noFill/>
        </p:spPr>
        <p:txBody>
          <a:bodyPr wrap="none" lIns="0" rIns="0" tIns="0" bIns="0" anchor="ctr">
            <a:spAutoFit/>
          </a:bodyPr>
          <a:lstStyle/>
          <a:p>
            <a:pPr algn="r"/>
            <a:r>
              <a:rPr sz="900" b="1">
                <a:solidFill>
                  <a:srgbClr val="E44D3A"/>
                </a:solidFill>
                <a:latin typeface="Calibri"/>
              </a:rPr>
              <a:t>-109</a:t>
            </a:r>
          </a:p>
        </p:txBody>
      </p:sp>
      <p:sp>
        <p:nvSpPr>
          <p:cNvPr id="32" name="FMI Legend Chip"/>
          <p:cNvSpPr/>
          <p:nvPr/>
        </p:nvSpPr>
        <p:spPr>
          <a:xfrm>
            <a:off x="4928997" y="572313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571836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4216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Coily Hair</a:t>
            </a:r>
          </a:p>
        </p:txBody>
      </p:sp>
      <p:sp>
        <p:nvSpPr>
          <p:cNvPr id="35" name="BPS Value 5"/>
          <p:cNvSpPr txBox="1"/>
          <p:nvPr/>
        </p:nvSpPr>
        <p:spPr>
          <a:xfrm>
            <a:off x="6896100" y="5704080"/>
            <a:ext cx="514350" cy="123825"/>
          </a:xfrm>
          <a:prstGeom prst="rect">
            <a:avLst/>
          </a:prstGeom>
          <a:noFill/>
        </p:spPr>
        <p:txBody>
          <a:bodyPr wrap="none" lIns="0" rIns="0" tIns="0" bIns="0" anchor="ctr">
            <a:spAutoFit/>
          </a:bodyPr>
          <a:lstStyle/>
          <a:p>
            <a:pPr algn="r"/>
            <a:r>
              <a:rPr sz="900" b="1">
                <a:solidFill>
                  <a:srgbClr val="2E7D32"/>
                </a:solidFill>
                <a:latin typeface="Calibri"/>
              </a:rPr>
              <a:t>+212</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Hair Type Targeted</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hair type targeted, coily hair segment is expected to witness the highest CAGR of 7.1% over the forecast period. In terms of value share by hair type targeted, the coily hair segment is expected to dominate the market, gaining 212 BPS and accounting for 22.8% share by 2036.</a:t>
            </a:r>
          </a:p>
          <a:p>
            <a:pPr algn="l">
              <a:lnSpc>
                <a:spcPct val="110000"/>
              </a:lnSpc>
              <a:spcBef>
                <a:spcPts val="0"/>
              </a:spcBef>
              <a:spcAft>
                <a:spcPts val="500"/>
              </a:spcAft>
            </a:pPr>
            <a:r>
              <a:rPr sz="1150" b="0">
                <a:solidFill>
                  <a:srgbClr val="2E2E2E"/>
                </a:solidFill>
                <a:latin typeface="Calibri"/>
              </a:rPr>
              <a:t>The straight hair segment is expected to lose 197 BPS over the forecast period to account for 18.3%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Hair Type Targeted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Hair Type Targeted,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Hair Type Targeted (%)  ·  light = lower, dark = higher growth</a:t>
            </a:r>
          </a:p>
        </p:txBody>
      </p:sp>
      <p:sp>
        <p:nvSpPr>
          <p:cNvPr id="17" name="TextBox 16"/>
          <p:cNvSpPr txBox="1"/>
          <p:nvPr/>
        </p:nvSpPr>
        <p:spPr>
          <a:xfrm>
            <a:off x="917783"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62431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33084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03737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74390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45043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15696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86348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57001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27654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798307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68960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39613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0266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0919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Straight Hair</a:t>
            </a:r>
          </a:p>
        </p:txBody>
      </p:sp>
      <p:sp>
        <p:nvSpPr>
          <p:cNvPr id="33" name="Rectangle 32"/>
          <p:cNvSpPr/>
          <p:nvPr/>
        </p:nvSpPr>
        <p:spPr>
          <a:xfrm>
            <a:off x="917783" y="3305175"/>
            <a:ext cx="706529" cy="65341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624312" y="3305175"/>
            <a:ext cx="706529" cy="65341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330842" y="3305175"/>
            <a:ext cx="706529" cy="65341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037371" y="3305175"/>
            <a:ext cx="706529" cy="65341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743901" y="3305175"/>
            <a:ext cx="706529" cy="65341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450430" y="3305175"/>
            <a:ext cx="706529"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156960" y="3305175"/>
            <a:ext cx="706529" cy="653415"/>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863489" y="3305175"/>
            <a:ext cx="706529" cy="653415"/>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570019" y="3305175"/>
            <a:ext cx="706529" cy="653415"/>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276548" y="3305175"/>
            <a:ext cx="706529" cy="653415"/>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983078" y="3305175"/>
            <a:ext cx="706529" cy="653415"/>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689607" y="3305175"/>
            <a:ext cx="706529" cy="653415"/>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396137" y="3305175"/>
            <a:ext cx="706529" cy="653415"/>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02666" y="3305175"/>
            <a:ext cx="706529" cy="653415"/>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09196" y="3305175"/>
            <a:ext cx="706529" cy="653415"/>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Wavy Hair</a:t>
            </a:r>
          </a:p>
        </p:txBody>
      </p:sp>
      <p:sp>
        <p:nvSpPr>
          <p:cNvPr id="49" name="Rectangle 48"/>
          <p:cNvSpPr/>
          <p:nvPr/>
        </p:nvSpPr>
        <p:spPr>
          <a:xfrm>
            <a:off x="917783" y="3958590"/>
            <a:ext cx="706529" cy="65341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624312" y="3958590"/>
            <a:ext cx="706529"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330842" y="3958590"/>
            <a:ext cx="706529" cy="653415"/>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037371" y="3958590"/>
            <a:ext cx="706529" cy="65341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743901" y="3958590"/>
            <a:ext cx="706529" cy="653415"/>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450430" y="3958590"/>
            <a:ext cx="706529" cy="653415"/>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156960" y="3958590"/>
            <a:ext cx="706529" cy="653415"/>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863489" y="3958590"/>
            <a:ext cx="706529" cy="653415"/>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570019" y="3958590"/>
            <a:ext cx="706529" cy="65341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276548" y="3958590"/>
            <a:ext cx="706529" cy="653415"/>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7983078" y="3958590"/>
            <a:ext cx="706529" cy="653415"/>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689607" y="3958590"/>
            <a:ext cx="706529" cy="653415"/>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396137" y="3958590"/>
            <a:ext cx="706529" cy="653415"/>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02666" y="3958590"/>
            <a:ext cx="706529" cy="653415"/>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09196" y="3958590"/>
            <a:ext cx="706529" cy="653415"/>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Curly Hair</a:t>
            </a:r>
          </a:p>
        </p:txBody>
      </p:sp>
      <p:sp>
        <p:nvSpPr>
          <p:cNvPr id="65" name="Rectangle 64"/>
          <p:cNvSpPr/>
          <p:nvPr/>
        </p:nvSpPr>
        <p:spPr>
          <a:xfrm>
            <a:off x="917783" y="4612005"/>
            <a:ext cx="706529" cy="65341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624312" y="4612005"/>
            <a:ext cx="706529" cy="65341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330842" y="4612005"/>
            <a:ext cx="706529" cy="65341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037371" y="4612005"/>
            <a:ext cx="706529" cy="65341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743901" y="4612005"/>
            <a:ext cx="706529" cy="65341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450430" y="4612005"/>
            <a:ext cx="706529" cy="653415"/>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156960" y="4612005"/>
            <a:ext cx="706529" cy="653415"/>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863489" y="4612005"/>
            <a:ext cx="706529" cy="653415"/>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570019" y="4612005"/>
            <a:ext cx="706529" cy="653415"/>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276548" y="4612005"/>
            <a:ext cx="706529" cy="653415"/>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7983078" y="4612005"/>
            <a:ext cx="706529" cy="653415"/>
          </a:xfrm>
          <a:prstGeom prst="rect">
            <a:avLst/>
          </a:prstGeom>
          <a:solidFill>
            <a:srgbClr val="0E6E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689607" y="4612005"/>
            <a:ext cx="706529" cy="653415"/>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396137" y="4612005"/>
            <a:ext cx="706529" cy="653415"/>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02666" y="4612005"/>
            <a:ext cx="706529" cy="653415"/>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09196" y="4612005"/>
            <a:ext cx="706529" cy="653415"/>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Coily Hair</a:t>
            </a:r>
          </a:p>
        </p:txBody>
      </p:sp>
      <p:sp>
        <p:nvSpPr>
          <p:cNvPr id="81" name="Rectangle 80"/>
          <p:cNvSpPr/>
          <p:nvPr/>
        </p:nvSpPr>
        <p:spPr>
          <a:xfrm>
            <a:off x="917783" y="5265420"/>
            <a:ext cx="706529"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624312" y="5265420"/>
            <a:ext cx="706529"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330842" y="5265420"/>
            <a:ext cx="706529" cy="653415"/>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037371" y="5265420"/>
            <a:ext cx="706529"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743901" y="5265420"/>
            <a:ext cx="706529" cy="653415"/>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450430" y="5265420"/>
            <a:ext cx="706529" cy="653415"/>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156960" y="5265420"/>
            <a:ext cx="706529" cy="653415"/>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5863489" y="5265420"/>
            <a:ext cx="706529" cy="653415"/>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570019" y="5265420"/>
            <a:ext cx="706529" cy="653415"/>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276548" y="5265420"/>
            <a:ext cx="706529" cy="653415"/>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7983078" y="5265420"/>
            <a:ext cx="706529"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689607" y="5265420"/>
            <a:ext cx="706529" cy="653415"/>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396137" y="5265420"/>
            <a:ext cx="706529" cy="653415"/>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02666" y="5265420"/>
            <a:ext cx="706529" cy="653415"/>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09196" y="5265420"/>
            <a:ext cx="706529" cy="653415"/>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All Hair Types</a:t>
            </a:r>
          </a:p>
        </p:txBody>
      </p:sp>
      <p:sp>
        <p:nvSpPr>
          <p:cNvPr id="97" name="Rectangle 96"/>
          <p:cNvSpPr/>
          <p:nvPr/>
        </p:nvSpPr>
        <p:spPr>
          <a:xfrm>
            <a:off x="917783" y="5918835"/>
            <a:ext cx="706529"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624312" y="5918835"/>
            <a:ext cx="706529" cy="653415"/>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330842" y="5918835"/>
            <a:ext cx="706529" cy="653415"/>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037371" y="5918835"/>
            <a:ext cx="706529" cy="653415"/>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743901" y="5918835"/>
            <a:ext cx="706529" cy="653415"/>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450430" y="5918835"/>
            <a:ext cx="706529" cy="65341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156960" y="5918835"/>
            <a:ext cx="706529" cy="653415"/>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5863489" y="5918835"/>
            <a:ext cx="706529" cy="653415"/>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570019" y="5918835"/>
            <a:ext cx="706529" cy="653415"/>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276548" y="5918835"/>
            <a:ext cx="706529" cy="653415"/>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7983078" y="5918835"/>
            <a:ext cx="706529" cy="653415"/>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689607" y="5918835"/>
            <a:ext cx="706529" cy="653415"/>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396137" y="5918835"/>
            <a:ext cx="706529" cy="653415"/>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02666" y="5918835"/>
            <a:ext cx="706529" cy="65341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09196" y="5918835"/>
            <a:ext cx="706529" cy="653415"/>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Ingredient 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Ingredient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Ingredient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Ingredient Technology segment categorizes the market by ingredient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Film-forming and Fixative Polymers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1,302</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2,151</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5.2%</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Volume Additives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1,261</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2,346</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6.4%</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Conditioning and Smoothing Agents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1,253</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2,230</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5.9%</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and Structuring Agents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1,203</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2,312</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6.7%</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ingredient technology, waxes and structuring agents segment is expected to witness the highest CAGR of 6.7% over the forecast period. In terms of value share by ingredient technology, the texture and volume additives segment is expected to dominate the market, gaining 83 BPS and accounting for 26.0% share by 2036.</a:t>
            </a:r>
          </a:p>
          <a:p>
            <a:pPr algn="l">
              <a:lnSpc>
                <a:spcPct val="110000"/>
              </a:lnSpc>
              <a:spcBef>
                <a:spcPts val="0"/>
              </a:spcBef>
              <a:spcAft>
                <a:spcPts val="500"/>
              </a:spcAft>
            </a:pPr>
            <a:r>
              <a:rPr sz="1100" b="0">
                <a:solidFill>
                  <a:srgbClr val="2E2E2E"/>
                </a:solidFill>
                <a:latin typeface="Calibri"/>
              </a:rPr>
              <a:t>Texture and volume additives segment is projected to register 1.0X higher value than waxes and structuring agents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Film-forming and Fixative Polymers: </a:t>
            </a:r>
            <a:r>
              <a:rPr sz="1100" b="0">
                <a:solidFill>
                  <a:srgbClr val="2E2E2E"/>
                </a:solidFill>
                <a:latin typeface="Calibri"/>
              </a:rPr>
              <a:t>26% of 2026 value · 5.2%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Texture and Volume Additives: </a:t>
            </a:r>
            <a:r>
              <a:rPr sz="1100" b="0">
                <a:solidFill>
                  <a:srgbClr val="2E2E2E"/>
                </a:solidFill>
                <a:latin typeface="Calibri"/>
              </a:rPr>
              <a:t>25% of 2026 value · 6.4%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Conditioning and Smoothing Agents: </a:t>
            </a:r>
            <a:r>
              <a:rPr sz="1100" b="0">
                <a:solidFill>
                  <a:srgbClr val="2E2E2E"/>
                </a:solidFill>
                <a:latin typeface="Calibri"/>
              </a:rPr>
              <a:t>25% of 2026 value · 5.9%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Waxes and Structuring Agents: </a:t>
            </a:r>
            <a:r>
              <a:rPr sz="1100" b="0">
                <a:solidFill>
                  <a:srgbClr val="2E2E2E"/>
                </a:solidFill>
                <a:latin typeface="Calibri"/>
              </a:rPr>
              <a:t>24% of 2026 value · 6.7%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Ingredient Technology split shows how demand is distributed across ingredient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Ingredient Technology segment is projected to grow at a CAGR of 6.1%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Ingredient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Ingredient Technology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Ingredient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Waxes and structuring agents followed by texture and volume additives are expected to be the two most attractive ingredient technology segments in the North America hair styling products market in terms of value over the forecast period. Waxes and structuring agents and texture and volume additives exhibit a CAGR index of 111.4 and 105.7 and a market share index of 95.9 and 100.5 respectively, against the segment average of 100. The film-forming and fixative polymers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Ingredient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Film-forming and Fixative Polymers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Texture and Volume Additives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Conditioning and Smoothing Agents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Waxes and Structuring Agents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Ingredient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Ingredient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Ingredient Technology (US$ Mn)</a:t>
            </a:r>
          </a:p>
        </p:txBody>
      </p:sp>
      <p:graphicFrame>
        <p:nvGraphicFramePr>
          <p:cNvPr id="13" name="Table 12"/>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29200"/>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1149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Ingredient Technology</a:t>
            </a:r>
          </a:p>
        </p:txBody>
      </p:sp>
      <p:sp>
        <p:nvSpPr>
          <p:cNvPr id="17" name="Rectangle 16"/>
          <p:cNvSpPr/>
          <p:nvPr/>
        </p:nvSpPr>
        <p:spPr>
          <a:xfrm>
            <a:off x="276225" y="5353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438775"/>
            <a:ext cx="11639550"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Texture and volume additives segment is projected to register 1.0X higher value than waxes and structuring agents segment in 2036. Among hair styling products by ingredient technology, waxes and structuring agents segment is expected to witness the highest CAGR of 6.7% over the forecast period.</a:t>
            </a:r>
          </a:p>
          <a:p>
            <a:pPr algn="l">
              <a:lnSpc>
                <a:spcPct val="110000"/>
              </a:lnSpc>
              <a:spcBef>
                <a:spcPts val="0"/>
              </a:spcBef>
              <a:spcAft>
                <a:spcPts val="500"/>
              </a:spcAft>
            </a:pPr>
            <a:r>
              <a:rPr sz="1150" b="0">
                <a:solidFill>
                  <a:srgbClr val="2E2E2E"/>
                </a:solidFill>
                <a:latin typeface="Calibri"/>
              </a:rPr>
              <a:t>In terms of value share by ingredient technology, the texture and volume additives segment is expected to dominate the market, gaining 83 BPS and accounting for 26.0% share by 2036. The film-forming and fixative polymers segment is expected to lose 214 BPS over the forecast period to account for 23.8%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Ingredient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Ingredient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215357"/>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21059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13439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Film-forming and Fixative Polymers</a:t>
            </a:r>
          </a:p>
        </p:txBody>
      </p:sp>
      <p:sp>
        <p:nvSpPr>
          <p:cNvPr id="19" name="BPS Value 1"/>
          <p:cNvSpPr txBox="1"/>
          <p:nvPr/>
        </p:nvSpPr>
        <p:spPr>
          <a:xfrm>
            <a:off x="6896100" y="2196307"/>
            <a:ext cx="514350" cy="123825"/>
          </a:xfrm>
          <a:prstGeom prst="rect">
            <a:avLst/>
          </a:prstGeom>
          <a:noFill/>
        </p:spPr>
        <p:txBody>
          <a:bodyPr wrap="none" lIns="0" rIns="0" tIns="0" bIns="0" anchor="ctr">
            <a:spAutoFit/>
          </a:bodyPr>
          <a:lstStyle/>
          <a:p>
            <a:pPr algn="r"/>
            <a:r>
              <a:rPr sz="900" b="1">
                <a:solidFill>
                  <a:srgbClr val="E44D3A"/>
                </a:solidFill>
                <a:latin typeface="Calibri"/>
              </a:rPr>
              <a:t>-214</a:t>
            </a:r>
          </a:p>
        </p:txBody>
      </p:sp>
      <p:sp>
        <p:nvSpPr>
          <p:cNvPr id="20" name="FMI Legend Chip"/>
          <p:cNvSpPr/>
          <p:nvPr/>
        </p:nvSpPr>
        <p:spPr>
          <a:xfrm>
            <a:off x="4928997" y="332348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31872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24252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Conditioning and Smoothing Agents</a:t>
            </a:r>
          </a:p>
        </p:txBody>
      </p:sp>
      <p:sp>
        <p:nvSpPr>
          <p:cNvPr id="23" name="BPS Value 2"/>
          <p:cNvSpPr txBox="1"/>
          <p:nvPr/>
        </p:nvSpPr>
        <p:spPr>
          <a:xfrm>
            <a:off x="6896100" y="3304439"/>
            <a:ext cx="514350" cy="123825"/>
          </a:xfrm>
          <a:prstGeom prst="rect">
            <a:avLst/>
          </a:prstGeom>
          <a:noFill/>
        </p:spPr>
        <p:txBody>
          <a:bodyPr wrap="none" lIns="0" rIns="0" tIns="0" bIns="0" anchor="ctr">
            <a:spAutoFit/>
          </a:bodyPr>
          <a:lstStyle/>
          <a:p>
            <a:pPr algn="r"/>
            <a:r>
              <a:rPr sz="900" b="1">
                <a:solidFill>
                  <a:srgbClr val="E44D3A"/>
                </a:solidFill>
                <a:latin typeface="Calibri"/>
              </a:rPr>
              <a:t>-30</a:t>
            </a:r>
          </a:p>
        </p:txBody>
      </p:sp>
      <p:sp>
        <p:nvSpPr>
          <p:cNvPr id="24" name="FMI Legend Chip"/>
          <p:cNvSpPr/>
          <p:nvPr/>
        </p:nvSpPr>
        <p:spPr>
          <a:xfrm>
            <a:off x="4928997" y="447220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46744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39124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and Structuring Agents</a:t>
            </a:r>
          </a:p>
        </p:txBody>
      </p:sp>
      <p:sp>
        <p:nvSpPr>
          <p:cNvPr id="27" name="BPS Value 3"/>
          <p:cNvSpPr txBox="1"/>
          <p:nvPr/>
        </p:nvSpPr>
        <p:spPr>
          <a:xfrm>
            <a:off x="6896100" y="4453155"/>
            <a:ext cx="514350" cy="123825"/>
          </a:xfrm>
          <a:prstGeom prst="rect">
            <a:avLst/>
          </a:prstGeom>
          <a:noFill/>
        </p:spPr>
        <p:txBody>
          <a:bodyPr wrap="none" lIns="0" rIns="0" tIns="0" bIns="0" anchor="ctr">
            <a:spAutoFit/>
          </a:bodyPr>
          <a:lstStyle/>
          <a:p>
            <a:pPr algn="r"/>
            <a:r>
              <a:rPr sz="900" b="1">
                <a:solidFill>
                  <a:srgbClr val="2E7D32"/>
                </a:solidFill>
                <a:latin typeface="Calibri"/>
              </a:rPr>
              <a:t>+161</a:t>
            </a:r>
          </a:p>
        </p:txBody>
      </p:sp>
      <p:sp>
        <p:nvSpPr>
          <p:cNvPr id="28" name="FMI Legend Chip"/>
          <p:cNvSpPr/>
          <p:nvPr/>
        </p:nvSpPr>
        <p:spPr>
          <a:xfrm>
            <a:off x="4928997" y="565026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6455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56930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Volume Additives</a:t>
            </a:r>
          </a:p>
        </p:txBody>
      </p:sp>
      <p:sp>
        <p:nvSpPr>
          <p:cNvPr id="31" name="BPS Value 4"/>
          <p:cNvSpPr txBox="1"/>
          <p:nvPr/>
        </p:nvSpPr>
        <p:spPr>
          <a:xfrm>
            <a:off x="6896100" y="5631213"/>
            <a:ext cx="514350" cy="123825"/>
          </a:xfrm>
          <a:prstGeom prst="rect">
            <a:avLst/>
          </a:prstGeom>
          <a:noFill/>
        </p:spPr>
        <p:txBody>
          <a:bodyPr wrap="none" lIns="0" rIns="0" tIns="0" bIns="0" anchor="ctr">
            <a:spAutoFit/>
          </a:bodyPr>
          <a:lstStyle/>
          <a:p>
            <a:pPr algn="r"/>
            <a:r>
              <a:rPr sz="900" b="1">
                <a:solidFill>
                  <a:srgbClr val="2E7D32"/>
                </a:solidFill>
                <a:latin typeface="Calibri"/>
              </a:rPr>
              <a:t>+83</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Ingredient Technology</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ingredient technology, waxes and structuring agents segment is expected to witness the highest CAGR of 6.7% over the forecast period. In terms of value share by ingredient technology, the texture and volume additives segment is expected to dominate the market, gaining 83 BPS and accounting for 26.0% share by 2036.</a:t>
            </a:r>
          </a:p>
          <a:p>
            <a:pPr algn="l">
              <a:lnSpc>
                <a:spcPct val="110000"/>
              </a:lnSpc>
              <a:spcBef>
                <a:spcPts val="0"/>
              </a:spcBef>
              <a:spcAft>
                <a:spcPts val="500"/>
              </a:spcAft>
            </a:pPr>
            <a:r>
              <a:rPr sz="1150" b="0">
                <a:solidFill>
                  <a:srgbClr val="2E2E2E"/>
                </a:solidFill>
                <a:latin typeface="Calibri"/>
              </a:rPr>
              <a:t>The film-forming and fixative polymers segment is expected to lose 214 BPS over the forecast period to account for 23.8% share by 2036.</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Ingredient Technology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695700"/>
          </a:xfrm>
          <a:prstGeom prst="roundRect">
            <a:avLst>
              <a:gd name="adj" fmla="val 20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3228975"/>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76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Ingredient Technology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Ingredient Technology (%)  ·  light = lower, dark = higher growth</a:t>
            </a:r>
          </a:p>
        </p:txBody>
      </p:sp>
      <p:sp>
        <p:nvSpPr>
          <p:cNvPr id="12" name="TextBox 11"/>
          <p:cNvSpPr txBox="1"/>
          <p:nvPr/>
        </p:nvSpPr>
        <p:spPr>
          <a:xfrm>
            <a:off x="2178532"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80101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42349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404597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66845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29093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91340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53588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15836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78084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40332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902580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64828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7076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93245"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Film-forming and Fixative Polymers</a:t>
            </a:r>
          </a:p>
        </p:txBody>
      </p:sp>
      <p:sp>
        <p:nvSpPr>
          <p:cNvPr id="28" name="Rectangle 27"/>
          <p:cNvSpPr/>
          <p:nvPr/>
        </p:nvSpPr>
        <p:spPr>
          <a:xfrm>
            <a:off x="2178532" y="1409700"/>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801011" y="1409700"/>
            <a:ext cx="622480" cy="36875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423491" y="1409700"/>
            <a:ext cx="622480" cy="368754"/>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4045971" y="1409700"/>
            <a:ext cx="622480" cy="368754"/>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668450" y="1409700"/>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290930" y="1409700"/>
            <a:ext cx="622480"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409" y="1409700"/>
            <a:ext cx="622480" cy="36875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535889" y="1409700"/>
            <a:ext cx="622480" cy="368754"/>
          </a:xfrm>
          <a:prstGeom prst="rect">
            <a:avLst/>
          </a:prstGeom>
          <a:solidFill>
            <a:srgbClr val="BAD4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158368" y="1409700"/>
            <a:ext cx="622480" cy="368754"/>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780848" y="1409700"/>
            <a:ext cx="622480" cy="36875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403327" y="1409700"/>
            <a:ext cx="622480" cy="368754"/>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9025807" y="1409700"/>
            <a:ext cx="622480" cy="36875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648286" y="1409700"/>
            <a:ext cx="622480" cy="36875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70766" y="1409700"/>
            <a:ext cx="622480" cy="36875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93245" y="1409700"/>
            <a:ext cx="622480" cy="36875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7845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Polymers</a:t>
            </a:r>
          </a:p>
        </p:txBody>
      </p:sp>
      <p:sp>
        <p:nvSpPr>
          <p:cNvPr id="44" name="Rectangle 43"/>
          <p:cNvSpPr/>
          <p:nvPr/>
        </p:nvSpPr>
        <p:spPr>
          <a:xfrm>
            <a:off x="2178532" y="1778454"/>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801011" y="1778454"/>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423491" y="1778454"/>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4045971" y="1778454"/>
            <a:ext cx="622480" cy="36875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668450" y="1778454"/>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290930" y="1778454"/>
            <a:ext cx="622480" cy="368754"/>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913409" y="1778454"/>
            <a:ext cx="622480" cy="36875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535889" y="1778454"/>
            <a:ext cx="622480" cy="36875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158368" y="1778454"/>
            <a:ext cx="622480" cy="36875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780848" y="1778454"/>
            <a:ext cx="622480" cy="368754"/>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403327" y="1778454"/>
            <a:ext cx="622480" cy="36875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9025807" y="1778454"/>
            <a:ext cx="622480" cy="368754"/>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648286" y="1778454"/>
            <a:ext cx="622480" cy="368754"/>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70766" y="1778454"/>
            <a:ext cx="622480" cy="368754"/>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93245" y="1778454"/>
            <a:ext cx="622480" cy="368754"/>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147207"/>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Bio-based Polymers</a:t>
            </a:r>
          </a:p>
        </p:txBody>
      </p:sp>
      <p:sp>
        <p:nvSpPr>
          <p:cNvPr id="60" name="Rectangle 59"/>
          <p:cNvSpPr/>
          <p:nvPr/>
        </p:nvSpPr>
        <p:spPr>
          <a:xfrm>
            <a:off x="2178532" y="2147207"/>
            <a:ext cx="622480" cy="36875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801011" y="2147207"/>
            <a:ext cx="622480" cy="368754"/>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423491" y="2147207"/>
            <a:ext cx="622480" cy="36875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4045971" y="2147207"/>
            <a:ext cx="622480" cy="36875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668450" y="2147207"/>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290930" y="2147207"/>
            <a:ext cx="622480" cy="36875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913409" y="2147207"/>
            <a:ext cx="622480"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535889" y="2147207"/>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158368" y="2147207"/>
            <a:ext cx="622480" cy="368754"/>
          </a:xfrm>
          <a:prstGeom prst="rect">
            <a:avLst/>
          </a:prstGeom>
          <a:solidFill>
            <a:srgbClr val="D1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780848" y="2147207"/>
            <a:ext cx="622480" cy="36875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403327" y="2147207"/>
            <a:ext cx="622480" cy="36875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9025807" y="2147207"/>
            <a:ext cx="622480" cy="36875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48286" y="2147207"/>
            <a:ext cx="622480" cy="36875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70766" y="2147207"/>
            <a:ext cx="622480" cy="36875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93245" y="2147207"/>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51596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Biodegradable Polymers</a:t>
            </a:r>
          </a:p>
        </p:txBody>
      </p:sp>
      <p:sp>
        <p:nvSpPr>
          <p:cNvPr id="76" name="Rectangle 75"/>
          <p:cNvSpPr/>
          <p:nvPr/>
        </p:nvSpPr>
        <p:spPr>
          <a:xfrm>
            <a:off x="2178532" y="2515961"/>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801011" y="2515961"/>
            <a:ext cx="622480" cy="368754"/>
          </a:xfrm>
          <a:prstGeom prst="rect">
            <a:avLst/>
          </a:prstGeom>
          <a:solidFill>
            <a:srgbClr val="E4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423491" y="2515961"/>
            <a:ext cx="622480" cy="368754"/>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4045971" y="2515961"/>
            <a:ext cx="622480" cy="368754"/>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668450" y="2515961"/>
            <a:ext cx="622480" cy="36875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290930" y="2515961"/>
            <a:ext cx="622480" cy="36875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913409" y="2515961"/>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535889" y="2515961"/>
            <a:ext cx="622480" cy="36875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158368" y="2515961"/>
            <a:ext cx="622480" cy="368754"/>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780848" y="2515961"/>
            <a:ext cx="622480" cy="36875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403327" y="2515961"/>
            <a:ext cx="622480" cy="368754"/>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9025807" y="2515961"/>
            <a:ext cx="622480" cy="36875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648286" y="2515961"/>
            <a:ext cx="622480" cy="368754"/>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70766" y="2515961"/>
            <a:ext cx="622480" cy="368754"/>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93245" y="2515961"/>
            <a:ext cx="622480" cy="368754"/>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88471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Texture and Volume Additives</a:t>
            </a:r>
          </a:p>
        </p:txBody>
      </p:sp>
      <p:sp>
        <p:nvSpPr>
          <p:cNvPr id="92" name="Rectangle 91"/>
          <p:cNvSpPr/>
          <p:nvPr/>
        </p:nvSpPr>
        <p:spPr>
          <a:xfrm>
            <a:off x="2178532" y="2884714"/>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801011" y="2884714"/>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423491" y="2884714"/>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4045971" y="2884714"/>
            <a:ext cx="622480" cy="36875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668450" y="2884714"/>
            <a:ext cx="622480" cy="36875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290930" y="2884714"/>
            <a:ext cx="622480" cy="36875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913409" y="2884714"/>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535889" y="2884714"/>
            <a:ext cx="622480" cy="368754"/>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158368" y="2884714"/>
            <a:ext cx="622480" cy="368754"/>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780848" y="2884714"/>
            <a:ext cx="622480" cy="36875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403327" y="2884714"/>
            <a:ext cx="622480" cy="36875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9025807" y="2884714"/>
            <a:ext cx="622480" cy="36875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648286" y="2884714"/>
            <a:ext cx="622480" cy="368754"/>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70766" y="2884714"/>
            <a:ext cx="622480" cy="368754"/>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93245" y="2884714"/>
            <a:ext cx="622480" cy="36875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253468"/>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Silica-based Additives</a:t>
            </a:r>
          </a:p>
        </p:txBody>
      </p:sp>
      <p:sp>
        <p:nvSpPr>
          <p:cNvPr id="108" name="Rectangle 107"/>
          <p:cNvSpPr/>
          <p:nvPr/>
        </p:nvSpPr>
        <p:spPr>
          <a:xfrm>
            <a:off x="2178532" y="3253468"/>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801011" y="3253468"/>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423491" y="3253468"/>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4045971" y="3253468"/>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668450" y="3253468"/>
            <a:ext cx="622480" cy="368754"/>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290930" y="3253468"/>
            <a:ext cx="622480" cy="36875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913409" y="3253468"/>
            <a:ext cx="622480" cy="368754"/>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535889" y="3253468"/>
            <a:ext cx="622480" cy="368754"/>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158368" y="3253468"/>
            <a:ext cx="622480" cy="36875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780848" y="3253468"/>
            <a:ext cx="622480" cy="36875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403327" y="3253468"/>
            <a:ext cx="622480" cy="36875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9025807" y="3253468"/>
            <a:ext cx="622480" cy="36875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648286" y="3253468"/>
            <a:ext cx="622480" cy="368754"/>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70766" y="3253468"/>
            <a:ext cx="622480" cy="368754"/>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93245" y="3253468"/>
            <a:ext cx="622480" cy="368754"/>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62222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Starch-based Additives</a:t>
            </a:r>
          </a:p>
        </p:txBody>
      </p:sp>
      <p:sp>
        <p:nvSpPr>
          <p:cNvPr id="124" name="Rectangle 123"/>
          <p:cNvSpPr/>
          <p:nvPr/>
        </p:nvSpPr>
        <p:spPr>
          <a:xfrm>
            <a:off x="2178532" y="3622221"/>
            <a:ext cx="622480" cy="36875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801011" y="3622221"/>
            <a:ext cx="622480" cy="36875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423491" y="3622221"/>
            <a:ext cx="622480" cy="36875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4045971" y="3622221"/>
            <a:ext cx="622480" cy="36875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668450" y="3622221"/>
            <a:ext cx="622480" cy="36875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290930" y="3622221"/>
            <a:ext cx="622480" cy="368754"/>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913409" y="3622221"/>
            <a:ext cx="622480" cy="368754"/>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535889" y="3622221"/>
            <a:ext cx="622480" cy="36875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158368" y="3622221"/>
            <a:ext cx="622480" cy="368754"/>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780848" y="3622221"/>
            <a:ext cx="622480" cy="368754"/>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403327" y="3622221"/>
            <a:ext cx="622480" cy="368754"/>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9025807" y="3622221"/>
            <a:ext cx="622480" cy="368754"/>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648286" y="3622221"/>
            <a:ext cx="622480" cy="368754"/>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70766" y="3622221"/>
            <a:ext cx="622480" cy="368754"/>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93245" y="3622221"/>
            <a:ext cx="622480" cy="36875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990975"/>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Other Mineral and Plant-based Additives</a:t>
            </a:r>
          </a:p>
        </p:txBody>
      </p:sp>
      <p:sp>
        <p:nvSpPr>
          <p:cNvPr id="140" name="Rectangle 139"/>
          <p:cNvSpPr/>
          <p:nvPr/>
        </p:nvSpPr>
        <p:spPr>
          <a:xfrm>
            <a:off x="2178532" y="3990975"/>
            <a:ext cx="622480" cy="36875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801011" y="3990975"/>
            <a:ext cx="622480" cy="36875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423491" y="3990975"/>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4045971" y="3990975"/>
            <a:ext cx="622480" cy="368754"/>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668450" y="3990975"/>
            <a:ext cx="622480" cy="368754"/>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290930" y="3990975"/>
            <a:ext cx="622480"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913409" y="3990975"/>
            <a:ext cx="622480" cy="368754"/>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535889" y="3990975"/>
            <a:ext cx="622480" cy="368754"/>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158368" y="3990975"/>
            <a:ext cx="622480" cy="368754"/>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780848" y="3990975"/>
            <a:ext cx="622480" cy="368754"/>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403327" y="3990975"/>
            <a:ext cx="622480" cy="368754"/>
          </a:xfrm>
          <a:prstGeom prst="rect">
            <a:avLst/>
          </a:prstGeom>
          <a:solidFill>
            <a:srgbClr val="0C4A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9025807" y="3990975"/>
            <a:ext cx="622480" cy="368754"/>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648286" y="3990975"/>
            <a:ext cx="622480" cy="368754"/>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70766" y="3990975"/>
            <a:ext cx="622480" cy="36875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93245" y="3990975"/>
            <a:ext cx="622480" cy="368754"/>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35972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Conditioning and Smoothing Agents</a:t>
            </a:r>
          </a:p>
        </p:txBody>
      </p:sp>
      <p:sp>
        <p:nvSpPr>
          <p:cNvPr id="156" name="Rectangle 155"/>
          <p:cNvSpPr/>
          <p:nvPr/>
        </p:nvSpPr>
        <p:spPr>
          <a:xfrm>
            <a:off x="2178532" y="4359729"/>
            <a:ext cx="622480"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801011" y="4359729"/>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423491" y="4359729"/>
            <a:ext cx="622480"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4045971" y="4359729"/>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668450" y="4359729"/>
            <a:ext cx="622480" cy="368754"/>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90930" y="4359729"/>
            <a:ext cx="622480" cy="368754"/>
          </a:xfrm>
          <a:prstGeom prst="rect">
            <a:avLst/>
          </a:prstGeom>
          <a:solidFill>
            <a:srgbClr val="AA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913409" y="4359729"/>
            <a:ext cx="622480" cy="368754"/>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535889" y="4359729"/>
            <a:ext cx="622480" cy="368754"/>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158368" y="4359729"/>
            <a:ext cx="622480" cy="368754"/>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780848" y="4359729"/>
            <a:ext cx="622480" cy="36875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403327" y="4359729"/>
            <a:ext cx="622480" cy="368754"/>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9025807" y="4359729"/>
            <a:ext cx="622480" cy="368754"/>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648286" y="4359729"/>
            <a:ext cx="622480" cy="368754"/>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70766" y="4359729"/>
            <a:ext cx="622480" cy="368754"/>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93245" y="4359729"/>
            <a:ext cx="622480" cy="368754"/>
          </a:xfrm>
          <a:prstGeom prst="rect">
            <a:avLst/>
          </a:prstGeom>
          <a:solidFill>
            <a:srgbClr val="5B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728482"/>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Silicone-based</a:t>
            </a:r>
          </a:p>
        </p:txBody>
      </p:sp>
      <p:sp>
        <p:nvSpPr>
          <p:cNvPr id="172" name="Rectangle 171"/>
          <p:cNvSpPr/>
          <p:nvPr/>
        </p:nvSpPr>
        <p:spPr>
          <a:xfrm>
            <a:off x="2178532" y="4728482"/>
            <a:ext cx="622480" cy="368754"/>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801011" y="4728482"/>
            <a:ext cx="622480" cy="368754"/>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423491" y="4728482"/>
            <a:ext cx="622480" cy="368754"/>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4045971" y="4728482"/>
            <a:ext cx="622480" cy="368754"/>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668450" y="4728482"/>
            <a:ext cx="622480" cy="36875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290930" y="4728482"/>
            <a:ext cx="622480" cy="36875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913409" y="4728482"/>
            <a:ext cx="622480" cy="36875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535889" y="4728482"/>
            <a:ext cx="622480" cy="36875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158368" y="4728482"/>
            <a:ext cx="622480" cy="36875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780848" y="4728482"/>
            <a:ext cx="622480" cy="36875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403327" y="4728482"/>
            <a:ext cx="622480" cy="368754"/>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9025807" y="4728482"/>
            <a:ext cx="622480" cy="368754"/>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648286" y="4728482"/>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70766" y="4728482"/>
            <a:ext cx="622480" cy="36875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93245" y="4728482"/>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09723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Silicone-free</a:t>
            </a:r>
          </a:p>
        </p:txBody>
      </p:sp>
      <p:sp>
        <p:nvSpPr>
          <p:cNvPr id="188" name="Rectangle 187"/>
          <p:cNvSpPr/>
          <p:nvPr/>
        </p:nvSpPr>
        <p:spPr>
          <a:xfrm>
            <a:off x="2178532" y="5097236"/>
            <a:ext cx="622480" cy="368754"/>
          </a:xfrm>
          <a:prstGeom prst="rect">
            <a:avLst/>
          </a:prstGeom>
          <a:solidFill>
            <a:srgbClr val="D1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801011" y="5097236"/>
            <a:ext cx="622480" cy="368754"/>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423491" y="5097236"/>
            <a:ext cx="622480" cy="36875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4045971" y="5097236"/>
            <a:ext cx="622480" cy="36875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668450" y="5097236"/>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290930" y="5097236"/>
            <a:ext cx="622480" cy="368754"/>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913409" y="5097236"/>
            <a:ext cx="622480" cy="368754"/>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535889" y="5097236"/>
            <a:ext cx="622480" cy="368754"/>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158368" y="5097236"/>
            <a:ext cx="622480" cy="36875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780848" y="5097236"/>
            <a:ext cx="622480" cy="36875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403327" y="5097236"/>
            <a:ext cx="622480" cy="36875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9025807" y="5097236"/>
            <a:ext cx="622480" cy="368754"/>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648286" y="5097236"/>
            <a:ext cx="622480" cy="36875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70766" y="5097236"/>
            <a:ext cx="622480" cy="368754"/>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93245" y="5097236"/>
            <a:ext cx="622480" cy="368754"/>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46598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Waxes and Structuring Agents</a:t>
            </a:r>
          </a:p>
        </p:txBody>
      </p:sp>
      <p:sp>
        <p:nvSpPr>
          <p:cNvPr id="204" name="Rectangle 203"/>
          <p:cNvSpPr/>
          <p:nvPr/>
        </p:nvSpPr>
        <p:spPr>
          <a:xfrm>
            <a:off x="2178532" y="5465989"/>
            <a:ext cx="622480" cy="36875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801011" y="5465989"/>
            <a:ext cx="622480" cy="368754"/>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423491" y="5465989"/>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4045971" y="5465989"/>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668450" y="5465989"/>
            <a:ext cx="622480" cy="36875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290930" y="5465989"/>
            <a:ext cx="622480" cy="368754"/>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913409" y="5465989"/>
            <a:ext cx="622480" cy="368754"/>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535889" y="5465989"/>
            <a:ext cx="622480" cy="368754"/>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158368" y="5465989"/>
            <a:ext cx="622480" cy="368754"/>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780848" y="5465989"/>
            <a:ext cx="622480" cy="368754"/>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403327" y="5465989"/>
            <a:ext cx="622480" cy="36875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9025807" y="5465989"/>
            <a:ext cx="622480" cy="368754"/>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648286" y="5465989"/>
            <a:ext cx="622480" cy="368754"/>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70766" y="5465989"/>
            <a:ext cx="622480" cy="368754"/>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93245" y="5465989"/>
            <a:ext cx="622480" cy="368754"/>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834743"/>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Waxes</a:t>
            </a:r>
          </a:p>
        </p:txBody>
      </p:sp>
      <p:sp>
        <p:nvSpPr>
          <p:cNvPr id="220" name="Rectangle 219"/>
          <p:cNvSpPr/>
          <p:nvPr/>
        </p:nvSpPr>
        <p:spPr>
          <a:xfrm>
            <a:off x="2178532" y="5834743"/>
            <a:ext cx="622480" cy="36875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801011" y="5834743"/>
            <a:ext cx="622480"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423491" y="5834743"/>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4045971" y="5834743"/>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668450" y="5834743"/>
            <a:ext cx="622480" cy="36875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290930" y="5834743"/>
            <a:ext cx="622480" cy="36875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913409" y="5834743"/>
            <a:ext cx="622480" cy="368754"/>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535889" y="5834743"/>
            <a:ext cx="622480" cy="368754"/>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158368" y="5834743"/>
            <a:ext cx="622480" cy="368754"/>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780848" y="5834743"/>
            <a:ext cx="622480" cy="36875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403327" y="5834743"/>
            <a:ext cx="622480" cy="368754"/>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9025807" y="5834743"/>
            <a:ext cx="622480" cy="36875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648286" y="5834743"/>
            <a:ext cx="622480" cy="368754"/>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70766" y="5834743"/>
            <a:ext cx="622480" cy="368754"/>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93245" y="5834743"/>
            <a:ext cx="622480" cy="368754"/>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620349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Plant-derived Waxes</a:t>
            </a:r>
          </a:p>
        </p:txBody>
      </p:sp>
      <p:sp>
        <p:nvSpPr>
          <p:cNvPr id="236" name="Rectangle 235"/>
          <p:cNvSpPr/>
          <p:nvPr/>
        </p:nvSpPr>
        <p:spPr>
          <a:xfrm>
            <a:off x="2178532" y="6203496"/>
            <a:ext cx="622480" cy="36875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801011" y="6203496"/>
            <a:ext cx="622480" cy="36875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423491" y="6203496"/>
            <a:ext cx="622480" cy="36875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4045971" y="6203496"/>
            <a:ext cx="622480"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668450" y="6203496"/>
            <a:ext cx="622480" cy="36875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290930" y="6203496"/>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913409" y="6203496"/>
            <a:ext cx="622480" cy="368754"/>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535889" y="6203496"/>
            <a:ext cx="622480" cy="36875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158368" y="6203496"/>
            <a:ext cx="622480" cy="368754"/>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780848" y="6203496"/>
            <a:ext cx="622480" cy="368754"/>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403327" y="6203496"/>
            <a:ext cx="622480" cy="36875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9025807" y="6203496"/>
            <a:ext cx="622480" cy="368754"/>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648286" y="6203496"/>
            <a:ext cx="622480" cy="368754"/>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70766" y="6203496"/>
            <a:ext cx="622480" cy="368754"/>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93245" y="6203496"/>
            <a:ext cx="622480" cy="368754"/>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293" name="TextBox 292"/>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94" name="TextBox 293"/>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95" name="TextBox 29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807210"/>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2112010"/>
            <a:ext cx="7239000" cy="971550"/>
          </a:xfrm>
          <a:prstGeom prst="rect">
            <a:avLst/>
          </a:prstGeom>
          <a:noFill/>
        </p:spPr>
        <p:txBody>
          <a:bodyPr wrap="square" lIns="0" rIns="0" tIns="0">
            <a:spAutoFit/>
          </a:bodyPr>
          <a:lstStyle/>
          <a:p>
            <a:r>
              <a:rPr sz="3000" b="1" cap="all" spc="400">
                <a:solidFill>
                  <a:srgbClr val="FFFFFF"/>
                </a:solidFill>
                <a:latin typeface="Calibri"/>
              </a:rPr>
              <a:t>Latin America Market Outlook</a:t>
            </a:r>
          </a:p>
        </p:txBody>
      </p:sp>
      <p:sp>
        <p:nvSpPr>
          <p:cNvPr id="7" name="TextBox 6"/>
          <p:cNvSpPr txBox="1"/>
          <p:nvPr/>
        </p:nvSpPr>
        <p:spPr>
          <a:xfrm>
            <a:off x="914400" y="3274060"/>
            <a:ext cx="7124700" cy="320548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Latin America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Latin America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Latin America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Hold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Finish</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Primary Styling Benefit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Hair Type Targeted</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Ingredient Technology</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Latin America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Market Summary, By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Latin America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(MN UNITS)</a:t>
            </a:r>
          </a:p>
          <a:p>
            <a:pPr algn="ctr">
              <a:lnSpc>
                <a:spcPct val="95000"/>
              </a:lnSpc>
            </a:pPr>
            <a:r>
              <a:rPr sz="1500" b="1">
                <a:solidFill>
                  <a:srgbClr val="0E72AE"/>
                </a:solidFill>
                <a:latin typeface="Calibri"/>
              </a:rPr>
              <a:t>891.3</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1,590</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4.5%</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6.0%</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(Mn Units)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Latin America hair styling products market is projected to register 1.9X increase in volume by the end of forecast period, 2036. Latin America hair styling products market volume stood at 850.5 Mn Units in 2025 and is expected to reach 1,590 Mn Units by 2036 end, at a CAGR of 6.0%.</a:t>
            </a:r>
          </a:p>
          <a:p>
            <a:pPr algn="l">
              <a:lnSpc>
                <a:spcPct val="110000"/>
              </a:lnSpc>
              <a:spcBef>
                <a:spcPts val="0"/>
              </a:spcBef>
              <a:spcAft>
                <a:spcPts val="500"/>
              </a:spcAft>
            </a:pPr>
            <a:r>
              <a:rPr sz="1100" b="0">
                <a:solidFill>
                  <a:srgbClr val="2E2E2E"/>
                </a:solidFill>
                <a:latin typeface="Calibri"/>
              </a:rPr>
              <a:t>Value is projected to grow faster than volume over the forecast period, owing to an increase in average selling price.</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'Colombia' leads regional growth at 6.9%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'Creams and Lotions'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Format  ·  range across 2021–2036 (US$/Units)</a:t>
            </a:r>
          </a:p>
        </p:txBody>
      </p:sp>
      <p:cxnSp>
        <p:nvCxnSpPr>
          <p:cNvPr id="13" name="Connector 12"/>
          <p:cNvCxnSpPr/>
          <p:nvPr/>
        </p:nvCxnSpPr>
        <p:spPr>
          <a:xfrm>
            <a:off x="657225" y="310071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68877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27683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86488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64777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10071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68877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27683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86488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03404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0.658</a:t>
            </a:r>
          </a:p>
        </p:txBody>
      </p:sp>
      <p:sp>
        <p:nvSpPr>
          <p:cNvPr id="25" name="FMI Scale tick"/>
          <p:cNvSpPr txBox="1"/>
          <p:nvPr/>
        </p:nvSpPr>
        <p:spPr>
          <a:xfrm>
            <a:off x="219075" y="2210155"/>
            <a:ext cx="381000" cy="133350"/>
          </a:xfrm>
          <a:prstGeom prst="rect">
            <a:avLst/>
          </a:prstGeom>
          <a:noFill/>
        </p:spPr>
        <p:txBody>
          <a:bodyPr wrap="none" lIns="0" rIns="0" tIns="0" bIns="0" anchor="ctr">
            <a:spAutoFit/>
          </a:bodyPr>
          <a:lstStyle/>
          <a:p>
            <a:pPr algn="r"/>
            <a:r>
              <a:rPr sz="1100" b="0">
                <a:solidFill>
                  <a:srgbClr val="6C7A89"/>
                </a:solidFill>
                <a:latin typeface="Calibri"/>
              </a:rPr>
              <a:t>1.82</a:t>
            </a:r>
          </a:p>
        </p:txBody>
      </p:sp>
      <p:sp>
        <p:nvSpPr>
          <p:cNvPr id="26" name="FMI Scale tick"/>
          <p:cNvSpPr txBox="1"/>
          <p:nvPr/>
        </p:nvSpPr>
        <p:spPr>
          <a:xfrm>
            <a:off x="219075" y="1386270"/>
            <a:ext cx="381000" cy="133350"/>
          </a:xfrm>
          <a:prstGeom prst="rect">
            <a:avLst/>
          </a:prstGeom>
          <a:noFill/>
        </p:spPr>
        <p:txBody>
          <a:bodyPr wrap="none" lIns="0" rIns="0" tIns="0" bIns="0" anchor="ctr">
            <a:spAutoFit/>
          </a:bodyPr>
          <a:lstStyle/>
          <a:p>
            <a:pPr algn="r"/>
            <a:r>
              <a:rPr sz="1100" b="0">
                <a:solidFill>
                  <a:srgbClr val="6C7A89"/>
                </a:solidFill>
                <a:latin typeface="Calibri"/>
              </a:rPr>
              <a:t>2.98</a:t>
            </a:r>
          </a:p>
        </p:txBody>
      </p:sp>
      <p:cxnSp>
        <p:nvCxnSpPr>
          <p:cNvPr id="27" name="Connector 26"/>
          <p:cNvCxnSpPr/>
          <p:nvPr/>
        </p:nvCxnSpPr>
        <p:spPr>
          <a:xfrm flipV="1">
            <a:off x="1095375" y="2435069"/>
            <a:ext cx="0" cy="18192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963930" y="261699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963930" y="243506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876300" y="2509318"/>
            <a:ext cx="438150" cy="9335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876300" y="2565861"/>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28266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1.41</a:t>
            </a:r>
          </a:p>
        </p:txBody>
      </p:sp>
      <p:cxnSp>
        <p:nvCxnSpPr>
          <p:cNvPr id="33" name="Connector 32"/>
          <p:cNvCxnSpPr/>
          <p:nvPr/>
        </p:nvCxnSpPr>
        <p:spPr>
          <a:xfrm flipV="1">
            <a:off x="1971675" y="2793135"/>
            <a:ext cx="0" cy="117453"/>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840230" y="291058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1840230" y="279313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752600" y="2841079"/>
            <a:ext cx="438150" cy="6003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1752600" y="287695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1533525" y="2640735"/>
            <a:ext cx="876300" cy="133350"/>
          </a:xfrm>
          <a:prstGeom prst="rect">
            <a:avLst/>
          </a:prstGeom>
          <a:noFill/>
        </p:spPr>
        <p:txBody>
          <a:bodyPr wrap="square" lIns="28575" rIns="28575" tIns="9525" bIns="9525">
            <a:spAutoFit/>
          </a:bodyPr>
          <a:lstStyle/>
          <a:p>
            <a:pPr algn="ctr"/>
            <a:r>
              <a:rPr sz="1100" b="1">
                <a:solidFill>
                  <a:srgbClr val="0B2E4A"/>
                </a:solidFill>
                <a:latin typeface="Calibri"/>
              </a:rPr>
              <a:t>0.974</a:t>
            </a:r>
          </a:p>
        </p:txBody>
      </p:sp>
      <p:cxnSp>
        <p:nvCxnSpPr>
          <p:cNvPr id="39" name="Connector 38"/>
          <p:cNvCxnSpPr/>
          <p:nvPr/>
        </p:nvCxnSpPr>
        <p:spPr>
          <a:xfrm flipV="1">
            <a:off x="2847975" y="2792289"/>
            <a:ext cx="0" cy="9243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2716530" y="288472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2716530" y="279228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2628900" y="2830352"/>
            <a:ext cx="438150" cy="47210"/>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2628900" y="285869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2409825" y="263988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0.999</a:t>
            </a:r>
          </a:p>
        </p:txBody>
      </p:sp>
      <p:cxnSp>
        <p:nvCxnSpPr>
          <p:cNvPr id="45" name="Connector 44"/>
          <p:cNvCxnSpPr/>
          <p:nvPr/>
        </p:nvCxnSpPr>
        <p:spPr>
          <a:xfrm flipV="1">
            <a:off x="3724275" y="2520089"/>
            <a:ext cx="0" cy="106607"/>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3592830" y="262669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3592830" y="252008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3505200" y="2559109"/>
            <a:ext cx="438150" cy="5657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3505200" y="259090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286125" y="236768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1.38</a:t>
            </a:r>
          </a:p>
        </p:txBody>
      </p:sp>
      <p:cxnSp>
        <p:nvCxnSpPr>
          <p:cNvPr id="51" name="Connector 50"/>
          <p:cNvCxnSpPr/>
          <p:nvPr/>
        </p:nvCxnSpPr>
        <p:spPr>
          <a:xfrm flipV="1">
            <a:off x="4600575" y="2084766"/>
            <a:ext cx="0" cy="25037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4469130" y="233514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4469130" y="208476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4381500" y="2187327"/>
            <a:ext cx="438150" cy="12721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5" name="Connector 54"/>
          <p:cNvCxnSpPr/>
          <p:nvPr/>
        </p:nvCxnSpPr>
        <p:spPr>
          <a:xfrm>
            <a:off x="4381500" y="226338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4162425" y="1932366"/>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1.84</a:t>
            </a:r>
          </a:p>
        </p:txBody>
      </p:sp>
      <p:cxnSp>
        <p:nvCxnSpPr>
          <p:cNvPr id="57" name="Connector 56"/>
          <p:cNvCxnSpPr/>
          <p:nvPr/>
        </p:nvCxnSpPr>
        <p:spPr>
          <a:xfrm flipV="1">
            <a:off x="5476875" y="2341729"/>
            <a:ext cx="0" cy="135283"/>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5345430" y="247701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5345430" y="23417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5257800" y="2394085"/>
            <a:ext cx="438150" cy="7135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1" name="Connector 60"/>
          <p:cNvCxnSpPr/>
          <p:nvPr/>
        </p:nvCxnSpPr>
        <p:spPr>
          <a:xfrm>
            <a:off x="5257800" y="243509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5038725" y="218932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1.60</a:t>
            </a:r>
          </a:p>
        </p:txBody>
      </p:sp>
      <p:cxnSp>
        <p:nvCxnSpPr>
          <p:cNvPr id="63" name="Connector 62"/>
          <p:cNvCxnSpPr/>
          <p:nvPr/>
        </p:nvCxnSpPr>
        <p:spPr>
          <a:xfrm flipV="1">
            <a:off x="6353175" y="1643073"/>
            <a:ext cx="0" cy="332635"/>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6221730" y="197570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6221730" y="164307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6134100" y="1780123"/>
            <a:ext cx="438150" cy="16707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7" name="Connector 66"/>
          <p:cNvCxnSpPr/>
          <p:nvPr/>
        </p:nvCxnSpPr>
        <p:spPr>
          <a:xfrm>
            <a:off x="6134100" y="187945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5915025" y="1490673"/>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2.38</a:t>
            </a:r>
          </a:p>
        </p:txBody>
      </p:sp>
      <p:cxnSp>
        <p:nvCxnSpPr>
          <p:cNvPr id="69" name="Connector 68"/>
          <p:cNvCxnSpPr/>
          <p:nvPr/>
        </p:nvCxnSpPr>
        <p:spPr>
          <a:xfrm flipV="1">
            <a:off x="7229475" y="1901289"/>
            <a:ext cx="0" cy="28545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0" name="Connector 69"/>
          <p:cNvCxnSpPr/>
          <p:nvPr/>
        </p:nvCxnSpPr>
        <p:spPr>
          <a:xfrm>
            <a:off x="7098030" y="218674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1" name="Connector 70"/>
          <p:cNvCxnSpPr/>
          <p:nvPr/>
        </p:nvCxnSpPr>
        <p:spPr>
          <a:xfrm>
            <a:off x="7098030" y="190128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72" name="Rectangle 71"/>
          <p:cNvSpPr/>
          <p:nvPr/>
        </p:nvSpPr>
        <p:spPr>
          <a:xfrm>
            <a:off x="7010400" y="2008657"/>
            <a:ext cx="438150" cy="14949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3" name="Connector 72"/>
          <p:cNvCxnSpPr/>
          <p:nvPr/>
        </p:nvCxnSpPr>
        <p:spPr>
          <a:xfrm>
            <a:off x="7010400" y="209407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6791325" y="174888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2.08</a:t>
            </a:r>
          </a:p>
        </p:txBody>
      </p:sp>
      <p:sp>
        <p:nvSpPr>
          <p:cNvPr id="75" name="TextBox 74"/>
          <p:cNvSpPr txBox="1"/>
          <p:nvPr/>
        </p:nvSpPr>
        <p:spPr>
          <a:xfrm>
            <a:off x="6572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Sprays and Mists</a:t>
            </a:r>
          </a:p>
        </p:txBody>
      </p:sp>
      <p:sp>
        <p:nvSpPr>
          <p:cNvPr id="76" name="TextBox 75"/>
          <p:cNvSpPr txBox="1"/>
          <p:nvPr/>
        </p:nvSpPr>
        <p:spPr>
          <a:xfrm>
            <a:off x="15335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Mousses and Foams</a:t>
            </a:r>
          </a:p>
        </p:txBody>
      </p:sp>
      <p:sp>
        <p:nvSpPr>
          <p:cNvPr id="77" name="TextBox 76"/>
          <p:cNvSpPr txBox="1"/>
          <p:nvPr/>
        </p:nvSpPr>
        <p:spPr>
          <a:xfrm>
            <a:off x="24098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Gels and Jellies</a:t>
            </a:r>
          </a:p>
        </p:txBody>
      </p:sp>
      <p:sp>
        <p:nvSpPr>
          <p:cNvPr id="78" name="TextBox 77"/>
          <p:cNvSpPr txBox="1"/>
          <p:nvPr/>
        </p:nvSpPr>
        <p:spPr>
          <a:xfrm>
            <a:off x="32861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Creams and Lotions</a:t>
            </a:r>
          </a:p>
        </p:txBody>
      </p:sp>
      <p:sp>
        <p:nvSpPr>
          <p:cNvPr id="79" name="TextBox 78"/>
          <p:cNvSpPr txBox="1"/>
          <p:nvPr/>
        </p:nvSpPr>
        <p:spPr>
          <a:xfrm>
            <a:off x="41624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Waxes, Clays, Pastes…</a:t>
            </a:r>
          </a:p>
        </p:txBody>
      </p:sp>
      <p:sp>
        <p:nvSpPr>
          <p:cNvPr id="80" name="TextBox 79"/>
          <p:cNvSpPr txBox="1"/>
          <p:nvPr/>
        </p:nvSpPr>
        <p:spPr>
          <a:xfrm>
            <a:off x="50387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Powders</a:t>
            </a:r>
          </a:p>
        </p:txBody>
      </p:sp>
      <p:sp>
        <p:nvSpPr>
          <p:cNvPr id="81" name="TextBox 80"/>
          <p:cNvSpPr txBox="1"/>
          <p:nvPr/>
        </p:nvSpPr>
        <p:spPr>
          <a:xfrm>
            <a:off x="59150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Serums and Oils</a:t>
            </a:r>
          </a:p>
        </p:txBody>
      </p:sp>
      <p:sp>
        <p:nvSpPr>
          <p:cNvPr id="82" name="TextBox 81"/>
          <p:cNvSpPr txBox="1"/>
          <p:nvPr/>
        </p:nvSpPr>
        <p:spPr>
          <a:xfrm>
            <a:off x="67913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Sticks and Balms</a:t>
            </a:r>
          </a:p>
        </p:txBody>
      </p:sp>
      <p:sp>
        <p:nvSpPr>
          <p:cNvPr id="83" name="Rounded Rectangle 82"/>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Latin America  ·  2026–2036</a:t>
            </a:r>
          </a:p>
        </p:txBody>
      </p:sp>
      <p:cxnSp>
        <p:nvCxnSpPr>
          <p:cNvPr id="85" name="Connector 84"/>
          <p:cNvCxnSpPr/>
          <p:nvPr/>
        </p:nvCxnSpPr>
        <p:spPr>
          <a:xfrm>
            <a:off x="619125" y="432529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a:off x="619125" y="475920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7" name="Connector 86"/>
          <p:cNvCxnSpPr/>
          <p:nvPr/>
        </p:nvCxnSpPr>
        <p:spPr>
          <a:xfrm>
            <a:off x="619125" y="51931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8" name="Connector 87"/>
          <p:cNvCxnSpPr/>
          <p:nvPr/>
        </p:nvCxnSpPr>
        <p:spPr>
          <a:xfrm>
            <a:off x="619125" y="562702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9" name="Connector 88"/>
          <p:cNvCxnSpPr/>
          <p:nvPr/>
        </p:nvCxnSpPr>
        <p:spPr>
          <a:xfrm>
            <a:off x="619125" y="606093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90" name="Connector 89"/>
          <p:cNvCxnSpPr/>
          <p:nvPr/>
        </p:nvCxnSpPr>
        <p:spPr>
          <a:xfrm>
            <a:off x="619125" y="4325298"/>
            <a:ext cx="0" cy="1735635"/>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1" name="Connector 90"/>
          <p:cNvCxnSpPr/>
          <p:nvPr/>
        </p:nvCxnSpPr>
        <p:spPr>
          <a:xfrm>
            <a:off x="590550" y="432529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2" name="Connector 91"/>
          <p:cNvCxnSpPr/>
          <p:nvPr/>
        </p:nvCxnSpPr>
        <p:spPr>
          <a:xfrm>
            <a:off x="590550" y="475920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3" name="Connector 92"/>
          <p:cNvCxnSpPr/>
          <p:nvPr/>
        </p:nvCxnSpPr>
        <p:spPr>
          <a:xfrm>
            <a:off x="590550" y="51931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4" name="Connector 93"/>
          <p:cNvCxnSpPr/>
          <p:nvPr/>
        </p:nvCxnSpPr>
        <p:spPr>
          <a:xfrm>
            <a:off x="590550" y="562702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5" name="Connector 94"/>
          <p:cNvCxnSpPr/>
          <p:nvPr/>
        </p:nvCxnSpPr>
        <p:spPr>
          <a:xfrm>
            <a:off x="590550" y="606093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96" name="FMI Scale tick"/>
          <p:cNvSpPr txBox="1"/>
          <p:nvPr/>
        </p:nvSpPr>
        <p:spPr>
          <a:xfrm>
            <a:off x="219075" y="4258623"/>
            <a:ext cx="361950" cy="133350"/>
          </a:xfrm>
          <a:prstGeom prst="rect">
            <a:avLst/>
          </a:prstGeom>
          <a:noFill/>
        </p:spPr>
        <p:txBody>
          <a:bodyPr wrap="none" lIns="0" rIns="0" tIns="0" bIns="0" anchor="ctr">
            <a:spAutoFit/>
          </a:bodyPr>
          <a:lstStyle/>
          <a:p>
            <a:pPr algn="r"/>
            <a:r>
              <a:rPr sz="1100" b="0">
                <a:solidFill>
                  <a:srgbClr val="6C7A89"/>
                </a:solidFill>
                <a:latin typeface="Calibri"/>
              </a:rPr>
              <a:t>+16%</a:t>
            </a:r>
          </a:p>
        </p:txBody>
      </p:sp>
      <p:sp>
        <p:nvSpPr>
          <p:cNvPr id="97" name="FMI Scale tick"/>
          <p:cNvSpPr txBox="1"/>
          <p:nvPr/>
        </p:nvSpPr>
        <p:spPr>
          <a:xfrm>
            <a:off x="219075" y="4692532"/>
            <a:ext cx="361950" cy="133350"/>
          </a:xfrm>
          <a:prstGeom prst="rect">
            <a:avLst/>
          </a:prstGeom>
          <a:noFill/>
        </p:spPr>
        <p:txBody>
          <a:bodyPr wrap="none" lIns="0" rIns="0" tIns="0" bIns="0" anchor="ctr">
            <a:spAutoFit/>
          </a:bodyPr>
          <a:lstStyle/>
          <a:p>
            <a:pPr algn="r"/>
            <a:r>
              <a:rPr sz="1100" b="0">
                <a:solidFill>
                  <a:srgbClr val="6C7A89"/>
                </a:solidFill>
                <a:latin typeface="Calibri"/>
              </a:rPr>
              <a:t>+8%</a:t>
            </a:r>
          </a:p>
        </p:txBody>
      </p:sp>
      <p:sp>
        <p:nvSpPr>
          <p:cNvPr id="98" name="FMI Scale tick"/>
          <p:cNvSpPr txBox="1"/>
          <p:nvPr/>
        </p:nvSpPr>
        <p:spPr>
          <a:xfrm>
            <a:off x="219075" y="512644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Latin America</a:t>
            </a:r>
          </a:p>
        </p:txBody>
      </p:sp>
      <p:sp>
        <p:nvSpPr>
          <p:cNvPr id="99" name="FMI Scale tick"/>
          <p:cNvSpPr txBox="1"/>
          <p:nvPr/>
        </p:nvSpPr>
        <p:spPr>
          <a:xfrm>
            <a:off x="219075" y="5560349"/>
            <a:ext cx="361950" cy="133350"/>
          </a:xfrm>
          <a:prstGeom prst="rect">
            <a:avLst/>
          </a:prstGeom>
          <a:noFill/>
        </p:spPr>
        <p:txBody>
          <a:bodyPr wrap="none" lIns="0" rIns="0" tIns="0" bIns="0" anchor="ctr">
            <a:spAutoFit/>
          </a:bodyPr>
          <a:lstStyle/>
          <a:p>
            <a:pPr algn="r"/>
            <a:r>
              <a:rPr sz="1100" b="0">
                <a:solidFill>
                  <a:srgbClr val="6C7A89"/>
                </a:solidFill>
                <a:latin typeface="Calibri"/>
              </a:rPr>
              <a:t>-8%</a:t>
            </a:r>
          </a:p>
        </p:txBody>
      </p:sp>
      <p:sp>
        <p:nvSpPr>
          <p:cNvPr id="100" name="FMI Scale tick"/>
          <p:cNvSpPr txBox="1"/>
          <p:nvPr/>
        </p:nvSpPr>
        <p:spPr>
          <a:xfrm>
            <a:off x="219075" y="5994258"/>
            <a:ext cx="361950" cy="133350"/>
          </a:xfrm>
          <a:prstGeom prst="rect">
            <a:avLst/>
          </a:prstGeom>
          <a:noFill/>
        </p:spPr>
        <p:txBody>
          <a:bodyPr wrap="none" lIns="0" rIns="0" tIns="0" bIns="0" anchor="ctr">
            <a:spAutoFit/>
          </a:bodyPr>
          <a:lstStyle/>
          <a:p>
            <a:pPr algn="r"/>
            <a:r>
              <a:rPr sz="1100" b="0">
                <a:solidFill>
                  <a:srgbClr val="6C7A89"/>
                </a:solidFill>
                <a:latin typeface="Calibri"/>
              </a:rPr>
              <a:t>-16%</a:t>
            </a:r>
          </a:p>
        </p:txBody>
      </p:sp>
      <p:cxnSp>
        <p:nvCxnSpPr>
          <p:cNvPr id="101" name="Connector 100"/>
          <p:cNvCxnSpPr/>
          <p:nvPr/>
        </p:nvCxnSpPr>
        <p:spPr>
          <a:xfrm>
            <a:off x="619125" y="519311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102" name="Rectangle 101"/>
          <p:cNvSpPr/>
          <p:nvPr/>
        </p:nvSpPr>
        <p:spPr>
          <a:xfrm>
            <a:off x="1271588" y="4705803"/>
            <a:ext cx="457200" cy="48731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FMI Data Label"/>
          <p:cNvSpPr txBox="1"/>
          <p:nvPr/>
        </p:nvSpPr>
        <p:spPr>
          <a:xfrm>
            <a:off x="619125" y="4562928"/>
            <a:ext cx="1762125" cy="133350"/>
          </a:xfrm>
          <a:prstGeom prst="rect">
            <a:avLst/>
          </a:prstGeom>
          <a:noFill/>
        </p:spPr>
        <p:txBody>
          <a:bodyPr wrap="square" lIns="28575" rIns="28575" tIns="9525" bIns="9525">
            <a:spAutoFit/>
          </a:bodyPr>
          <a:lstStyle/>
          <a:p>
            <a:pPr algn="ctr"/>
            <a:r>
              <a:rPr sz="1100" b="1">
                <a:solidFill>
                  <a:srgbClr val="2E2E2E"/>
                </a:solidFill>
                <a:latin typeface="Calibri"/>
              </a:rPr>
              <a:t>+8.9%</a:t>
            </a:r>
          </a:p>
        </p:txBody>
      </p:sp>
      <p:sp>
        <p:nvSpPr>
          <p:cNvPr id="104" name="Rectangle 103"/>
          <p:cNvSpPr/>
          <p:nvPr/>
        </p:nvSpPr>
        <p:spPr>
          <a:xfrm>
            <a:off x="3033712" y="5193116"/>
            <a:ext cx="457200" cy="108918"/>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MI Data Label"/>
          <p:cNvSpPr txBox="1"/>
          <p:nvPr/>
        </p:nvSpPr>
        <p:spPr>
          <a:xfrm>
            <a:off x="2381250" y="5311559"/>
            <a:ext cx="1762125" cy="133350"/>
          </a:xfrm>
          <a:prstGeom prst="rect">
            <a:avLst/>
          </a:prstGeom>
          <a:noFill/>
        </p:spPr>
        <p:txBody>
          <a:bodyPr wrap="square" lIns="28575" rIns="28575" tIns="9525" bIns="9525">
            <a:spAutoFit/>
          </a:bodyPr>
          <a:lstStyle/>
          <a:p>
            <a:pPr algn="ctr"/>
            <a:r>
              <a:rPr sz="1100" b="1">
                <a:solidFill>
                  <a:srgbClr val="2E2E2E"/>
                </a:solidFill>
                <a:latin typeface="Calibri"/>
              </a:rPr>
              <a:t>-2.0%</a:t>
            </a:r>
          </a:p>
        </p:txBody>
      </p:sp>
      <p:sp>
        <p:nvSpPr>
          <p:cNvPr id="106" name="Rectangle 105"/>
          <p:cNvSpPr/>
          <p:nvPr/>
        </p:nvSpPr>
        <p:spPr>
          <a:xfrm>
            <a:off x="4795838" y="5193116"/>
            <a:ext cx="457200" cy="755829"/>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MI Data Label"/>
          <p:cNvSpPr txBox="1"/>
          <p:nvPr/>
        </p:nvSpPr>
        <p:spPr>
          <a:xfrm>
            <a:off x="4143375" y="5958470"/>
            <a:ext cx="1762125" cy="133350"/>
          </a:xfrm>
          <a:prstGeom prst="rect">
            <a:avLst/>
          </a:prstGeom>
          <a:noFill/>
        </p:spPr>
        <p:txBody>
          <a:bodyPr wrap="square" lIns="28575" rIns="28575" tIns="9525" bIns="9525">
            <a:spAutoFit/>
          </a:bodyPr>
          <a:lstStyle/>
          <a:p>
            <a:pPr algn="ctr"/>
            <a:r>
              <a:rPr sz="1100" b="1">
                <a:solidFill>
                  <a:srgbClr val="2E2E2E"/>
                </a:solidFill>
                <a:latin typeface="Calibri"/>
              </a:rPr>
              <a:t>-13.8%</a:t>
            </a:r>
          </a:p>
        </p:txBody>
      </p:sp>
      <p:sp>
        <p:nvSpPr>
          <p:cNvPr id="108" name="Rectangle 107"/>
          <p:cNvSpPr/>
          <p:nvPr/>
        </p:nvSpPr>
        <p:spPr>
          <a:xfrm>
            <a:off x="6557962" y="5193116"/>
            <a:ext cx="457200" cy="686579"/>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FMI Data Label"/>
          <p:cNvSpPr txBox="1"/>
          <p:nvPr/>
        </p:nvSpPr>
        <p:spPr>
          <a:xfrm>
            <a:off x="5905500" y="5889220"/>
            <a:ext cx="1762125" cy="133350"/>
          </a:xfrm>
          <a:prstGeom prst="rect">
            <a:avLst/>
          </a:prstGeom>
          <a:noFill/>
        </p:spPr>
        <p:txBody>
          <a:bodyPr wrap="square" lIns="28575" rIns="28575" tIns="9525" bIns="9525">
            <a:spAutoFit/>
          </a:bodyPr>
          <a:lstStyle/>
          <a:p>
            <a:pPr algn="ctr"/>
            <a:r>
              <a:rPr sz="1100" b="1">
                <a:solidFill>
                  <a:srgbClr val="2E2E2E"/>
                </a:solidFill>
                <a:latin typeface="Calibri"/>
              </a:rPr>
              <a:t>-12.6%</a:t>
            </a:r>
          </a:p>
        </p:txBody>
      </p:sp>
      <p:sp>
        <p:nvSpPr>
          <p:cNvPr id="110" name="TextBox 109"/>
          <p:cNvSpPr txBox="1"/>
          <p:nvPr/>
        </p:nvSpPr>
        <p:spPr>
          <a:xfrm>
            <a:off x="619125" y="6242060"/>
            <a:ext cx="1762125" cy="247650"/>
          </a:xfrm>
          <a:prstGeom prst="rect">
            <a:avLst/>
          </a:prstGeom>
          <a:noFill/>
        </p:spPr>
        <p:txBody>
          <a:bodyPr wrap="square" lIns="28575" rIns="28575" tIns="9525" bIns="9525">
            <a:spAutoFit/>
          </a:bodyPr>
          <a:lstStyle/>
          <a:p>
            <a:pPr algn="ctr"/>
            <a:r>
              <a:rPr sz="1100" b="0">
                <a:solidFill>
                  <a:srgbClr val="2E2E2E"/>
                </a:solidFill>
                <a:latin typeface="Calibri"/>
              </a:rPr>
              <a:t>Brazil</a:t>
            </a:r>
          </a:p>
        </p:txBody>
      </p:sp>
      <p:sp>
        <p:nvSpPr>
          <p:cNvPr id="111" name="TextBox 110"/>
          <p:cNvSpPr txBox="1"/>
          <p:nvPr/>
        </p:nvSpPr>
        <p:spPr>
          <a:xfrm>
            <a:off x="2381250" y="6242060"/>
            <a:ext cx="1762125" cy="247650"/>
          </a:xfrm>
          <a:prstGeom prst="rect">
            <a:avLst/>
          </a:prstGeom>
          <a:noFill/>
        </p:spPr>
        <p:txBody>
          <a:bodyPr wrap="square" lIns="28575" rIns="28575" tIns="9525" bIns="9525">
            <a:spAutoFit/>
          </a:bodyPr>
          <a:lstStyle/>
          <a:p>
            <a:pPr algn="ctr"/>
            <a:r>
              <a:rPr sz="1100" b="0">
                <a:solidFill>
                  <a:srgbClr val="2E2E2E"/>
                </a:solidFill>
                <a:latin typeface="Calibri"/>
              </a:rPr>
              <a:t>Mexico</a:t>
            </a:r>
          </a:p>
        </p:txBody>
      </p:sp>
      <p:sp>
        <p:nvSpPr>
          <p:cNvPr id="112" name="TextBox 111"/>
          <p:cNvSpPr txBox="1"/>
          <p:nvPr/>
        </p:nvSpPr>
        <p:spPr>
          <a:xfrm>
            <a:off x="4143375" y="6242060"/>
            <a:ext cx="1762125" cy="247650"/>
          </a:xfrm>
          <a:prstGeom prst="rect">
            <a:avLst/>
          </a:prstGeom>
          <a:noFill/>
        </p:spPr>
        <p:txBody>
          <a:bodyPr wrap="square" lIns="28575" rIns="28575" tIns="9525" bIns="9525">
            <a:spAutoFit/>
          </a:bodyPr>
          <a:lstStyle/>
          <a:p>
            <a:pPr algn="ctr"/>
            <a:r>
              <a:rPr sz="1100" b="0">
                <a:solidFill>
                  <a:srgbClr val="2E2E2E"/>
                </a:solidFill>
                <a:latin typeface="Calibri"/>
              </a:rPr>
              <a:t>Colombia</a:t>
            </a:r>
          </a:p>
        </p:txBody>
      </p:sp>
      <p:sp>
        <p:nvSpPr>
          <p:cNvPr id="113" name="TextBox 112"/>
          <p:cNvSpPr txBox="1"/>
          <p:nvPr/>
        </p:nvSpPr>
        <p:spPr>
          <a:xfrm>
            <a:off x="5905500" y="6242060"/>
            <a:ext cx="1762125" cy="247650"/>
          </a:xfrm>
          <a:prstGeom prst="rect">
            <a:avLst/>
          </a:prstGeom>
          <a:noFill/>
        </p:spPr>
        <p:txBody>
          <a:bodyPr wrap="square" lIns="28575" rIns="28575" tIns="9525" bIns="9525">
            <a:spAutoFit/>
          </a:bodyPr>
          <a:lstStyle/>
          <a:p>
            <a:pPr algn="ctr"/>
            <a:r>
              <a:rPr sz="1100" b="0">
                <a:solidFill>
                  <a:srgbClr val="2E2E2E"/>
                </a:solidFill>
                <a:latin typeface="Calibri"/>
              </a:rPr>
              <a:t>Rest of Latin America</a:t>
            </a:r>
          </a:p>
        </p:txBody>
      </p:sp>
      <p:sp>
        <p:nvSpPr>
          <p:cNvPr id="114" name="Rounded Rectangle 113"/>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16" name="Rectangle 115"/>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Styling serums and oils segment is expected to command the highest average price of US$ 2.71 per Unit in 2036. Average selling price of hair styling products is estimated at US$ 1.50 per Unit in 2025 and is projected to increase to US$ 1.77 per Unit by 2036.</a:t>
            </a:r>
          </a:p>
          <a:p>
            <a:pPr algn="l">
              <a:lnSpc>
                <a:spcPct val="110000"/>
              </a:lnSpc>
              <a:spcBef>
                <a:spcPts val="0"/>
              </a:spcBef>
              <a:spcAft>
                <a:spcPts val="500"/>
              </a:spcAft>
            </a:pPr>
            <a:r>
              <a:rPr sz="1150" b="0">
                <a:solidFill>
                  <a:srgbClr val="2E2E2E"/>
                </a:solidFill>
                <a:latin typeface="Calibri"/>
              </a:rPr>
              <a:t>Brazil is the highest-priced country, while Colombia is the most price-competitive market. Against the Latin America price of 1.64 US$/Units, 1 of 4 countries price above and 3 below.</a:t>
            </a:r>
          </a:p>
          <a:p>
            <a:pPr algn="l">
              <a:lnSpc>
                <a:spcPct val="110000"/>
              </a:lnSpc>
              <a:spcBef>
                <a:spcPts val="0"/>
              </a:spcBef>
              <a:spcAft>
                <a:spcPts val="500"/>
              </a:spcAft>
            </a:pPr>
            <a:r>
              <a:rPr sz="1150" b="0">
                <a:solidFill>
                  <a:srgbClr val="2E2E2E"/>
                </a:solidFill>
                <a:latin typeface="Calibri"/>
              </a:rPr>
              <a:t>'Brazil' is the dearest at +8.9% versus Latin America, 'Colombia' the cheapest at -13.8% pointing to premiumisation headroom in the lower-priced countries.</a:t>
            </a:r>
          </a:p>
        </p:txBody>
      </p:sp>
      <p:sp>
        <p:nvSpPr>
          <p:cNvPr id="118" name="TextBox 1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Latin America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1,350</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2,815</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5.1%</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7.6%</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955981"/>
          </a:xfrm>
          <a:prstGeom prst="roundRect">
            <a:avLst>
              <a:gd name="adj" fmla="val 25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470206"/>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Hair styling products market value in Latin America is expected to increase 2.2X between 2025 and 2036. In 2025, the hair styling products market in Latin America was valued at US$ 1,276 Mn and is estimated to account for US$ 1,350 Mn by the end of 2026, reflecting a Y-o-Y growth rate of 5.9%.</a:t>
            </a:r>
          </a:p>
          <a:p>
            <a:pPr algn="l">
              <a:lnSpc>
                <a:spcPct val="100000"/>
              </a:lnSpc>
              <a:spcBef>
                <a:spcPts val="0"/>
              </a:spcBef>
              <a:spcAft>
                <a:spcPts val="300"/>
              </a:spcAft>
            </a:pPr>
            <a:r>
              <a:rPr sz="1100" b="0">
                <a:solidFill>
                  <a:srgbClr val="2E2E2E"/>
                </a:solidFill>
                <a:latin typeface="Calibri"/>
              </a:rPr>
              <a:t>The market in Latin America is expected to account for US$ 2,815 Mn by 2036 at a CAGR of 7.6% over the forecast period. Latin America is expected to create an incremental opportunity of US$ 1,540 Mn for the overall hair styling products market from 2025 to 2036.</a:t>
            </a:r>
          </a:p>
          <a:p>
            <a:pPr algn="l">
              <a:lnSpc>
                <a:spcPct val="100000"/>
              </a:lnSpc>
              <a:spcBef>
                <a:spcPts val="0"/>
              </a:spcBef>
              <a:spcAft>
                <a:spcPts val="300"/>
              </a:spcAft>
            </a:pPr>
            <a:r>
              <a:rPr sz="1100" b="0">
                <a:solidFill>
                  <a:srgbClr val="2E2E2E"/>
                </a:solidFill>
                <a:latin typeface="Calibri"/>
              </a:rPr>
              <a:t>Absolute $ value for 2026 is estimated to be US$ 74.6 Mn.</a:t>
            </a:r>
          </a:p>
        </p:txBody>
      </p:sp>
      <p:sp>
        <p:nvSpPr>
          <p:cNvPr id="25" name="Rounded Rectangle 24"/>
          <p:cNvSpPr/>
          <p:nvPr/>
        </p:nvSpPr>
        <p:spPr>
          <a:xfrm>
            <a:off x="7915275" y="4638629"/>
            <a:ext cx="4133850" cy="1917756"/>
          </a:xfrm>
          <a:prstGeom prst="roundRect">
            <a:avLst>
              <a:gd name="adj" fmla="val 39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724354"/>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962479"/>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048204"/>
            <a:ext cx="3867150" cy="143198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'Colombia' leads regional growth at 8.4%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'Styling Serums and Oils'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Latin America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4695825"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Market, 2021–2025 (Historical)</a:t>
            </a:r>
          </a:p>
        </p:txBody>
      </p:sp>
      <p:graphicFrame>
        <p:nvGraphicFramePr>
          <p:cNvPr id="13" name="Chart 12"/>
          <p:cNvGraphicFramePr>
            <a:graphicFrameLocks noGrp="1"/>
          </p:cNvGraphicFramePr>
          <p:nvPr/>
        </p:nvGraphicFramePr>
        <p:xfrm>
          <a:off x="238125" y="1266825"/>
          <a:ext cx="4505325" cy="2181225"/>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Market, 2026–2036 (Forecast)</a:t>
            </a:r>
          </a:p>
        </p:txBody>
      </p:sp>
      <p:graphicFrame>
        <p:nvGraphicFramePr>
          <p:cNvPr id="16" name="Chart 15"/>
          <p:cNvGraphicFramePr>
            <a:graphicFrameLocks noGrp="1"/>
          </p:cNvGraphicFramePr>
          <p:nvPr/>
        </p:nvGraphicFramePr>
        <p:xfrm>
          <a:off x="5086350" y="1266825"/>
          <a:ext cx="6858000" cy="21812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5.1%</a:t>
            </a:r>
          </a:p>
        </p:txBody>
      </p:sp>
      <p:sp>
        <p:nvSpPr>
          <p:cNvPr id="18" name="Rounded Rectangle 17"/>
          <p:cNvSpPr/>
          <p:nvPr/>
        </p:nvSpPr>
        <p:spPr>
          <a:xfrm>
            <a:off x="2809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7.6%</a:t>
            </a:r>
          </a:p>
        </p:txBody>
      </p:sp>
      <p:sp>
        <p:nvSpPr>
          <p:cNvPr id="19" name="Rounded Rectangle 18"/>
          <p:cNvSpPr/>
          <p:nvPr/>
        </p:nvSpPr>
        <p:spPr>
          <a:xfrm>
            <a:off x="54768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559.1 US$ Mn</a:t>
            </a:r>
          </a:p>
        </p:txBody>
      </p:sp>
      <p:sp>
        <p:nvSpPr>
          <p:cNvPr id="20" name="Rounded Rectangle 19"/>
          <p:cNvSpPr/>
          <p:nvPr/>
        </p:nvSpPr>
        <p:spPr>
          <a:xfrm>
            <a:off x="88296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1,465 US$ Mn</a:t>
            </a:r>
          </a:p>
        </p:txBody>
      </p:sp>
      <p:sp>
        <p:nvSpPr>
          <p:cNvPr id="21" name="Rounded Rectangle 20"/>
          <p:cNvSpPr/>
          <p:nvPr/>
        </p:nvSpPr>
        <p:spPr>
          <a:xfrm>
            <a:off x="142875" y="4457700"/>
            <a:ext cx="11906250" cy="2152650"/>
          </a:xfrm>
          <a:prstGeom prst="roundRect">
            <a:avLst>
              <a:gd name="adj" fmla="val 35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543425"/>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Volume &amp; Value Analysis</a:t>
            </a:r>
          </a:p>
        </p:txBody>
      </p:sp>
      <p:sp>
        <p:nvSpPr>
          <p:cNvPr id="23" name="Rectangle 22"/>
          <p:cNvSpPr/>
          <p:nvPr/>
        </p:nvSpPr>
        <p:spPr>
          <a:xfrm>
            <a:off x="276225" y="4781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867275"/>
            <a:ext cx="11639550" cy="1666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Hair styling products market value in Latin America is expected to increase 2.2X between 2025 and 2036. In 2025, the hair styling products market in Latin America was valued at US$ 1,276 Mn and is estimated to account for US$ 1,350 Mn by the end of 2026, reflecting a Y-o-Y growth rate of 5.9%. The market in Latin America is expected to account for US$ 2,815 Mn by 2036 at a CAGR of 7.6% over the forecast period.</a:t>
            </a:r>
          </a:p>
          <a:p>
            <a:pPr algn="l">
              <a:lnSpc>
                <a:spcPct val="110000"/>
              </a:lnSpc>
              <a:spcBef>
                <a:spcPts val="0"/>
              </a:spcBef>
              <a:spcAft>
                <a:spcPts val="500"/>
              </a:spcAft>
            </a:pPr>
            <a:r>
              <a:rPr sz="1150" b="0">
                <a:solidFill>
                  <a:srgbClr val="2E2E2E"/>
                </a:solidFill>
                <a:latin typeface="Calibri"/>
              </a:rPr>
              <a:t>Latin America is expected to create an incremental opportunity of US$ 1,540 Mn for the overall hair styling products market from 2025 to 2036. Absolute $ value for 2026 is estimated to be US$ 74.6 Mn. Latin America hair styling products market is projected to register 1.9X increase in volume by the end of forecast period, 2036.</a:t>
            </a:r>
          </a:p>
          <a:p>
            <a:pPr algn="l">
              <a:lnSpc>
                <a:spcPct val="110000"/>
              </a:lnSpc>
              <a:spcBef>
                <a:spcPts val="0"/>
              </a:spcBef>
              <a:spcAft>
                <a:spcPts val="500"/>
              </a:spcAft>
            </a:pPr>
            <a:r>
              <a:rPr sz="1150" b="0">
                <a:solidFill>
                  <a:srgbClr val="2E2E2E"/>
                </a:solidFill>
                <a:latin typeface="Calibri"/>
              </a:rPr>
              <a:t>Latin America hair styling products market volume stood at 850.5 Mn Units in 2025 and is expected to reach 1,590 Mn Units by 2036 end, at a CAGR of 6.0%. Value is projected to grow faster than volume over the forecast period, owing to an increase in average selling price.</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26948" cy="2132070"/>
        </p:xfrm>
        <a:graphic>
          <a:graphicData uri="http://schemas.openxmlformats.org/drawingml/2006/table">
            <a:tbl>
              <a:tblPr>
                <a:tableStyleId>{5C22544A-7EE6-4342-B048-85BDC9FD1C3A}</a:tableStyleId>
              </a:tblPr>
              <a:tblGrid>
                <a:gridCol w="720271"/>
                <a:gridCol w="1064835"/>
                <a:gridCol w="1064835"/>
                <a:gridCol w="1077007"/>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638935">
                <a:tc>
                  <a:txBody>
                    <a:bodyPr wrap="none"/>
                    <a:lstStyle/>
                    <a:p>
                      <a:pPr algn="l"/>
                      <a:r>
                        <a:rPr sz="1100" b="1">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r>
              <a:tr h="638935">
                <a:tc>
                  <a:txBody>
                    <a:bodyPr wrap="none"/>
                    <a:lstStyle/>
                    <a:p>
                      <a:pPr algn="l"/>
                      <a:r>
                        <a:rPr sz="1100" b="1">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5F8FA"/>
                    </a:solidFill>
                  </a:tcPr>
                </a:tc>
              </a:tr>
              <a:tr h="638935">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744.8</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3743325" cy="3077313"/>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1,477</a:t>
            </a:r>
          </a:p>
        </p:txBody>
      </p:sp>
      <p:sp>
        <p:nvSpPr>
          <p:cNvPr id="19" name="Rectangle 18"/>
          <p:cNvSpPr/>
          <p:nvPr/>
        </p:nvSpPr>
        <p:spPr>
          <a:xfrm>
            <a:off x="4210050" y="4370324"/>
            <a:ext cx="2891405" cy="1508286"/>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Mexico</a:t>
            </a:r>
          </a:p>
          <a:p>
            <a:pPr algn="ctr"/>
            <a:r>
              <a:rPr sz="1100" b="0">
                <a:solidFill>
                  <a:srgbClr val="FFFFFF"/>
                </a:solidFill>
                <a:latin typeface="Calibri"/>
              </a:rPr>
              <a:t>559</a:t>
            </a:r>
          </a:p>
        </p:txBody>
      </p:sp>
      <p:sp>
        <p:nvSpPr>
          <p:cNvPr id="20" name="Rectangle 19"/>
          <p:cNvSpPr/>
          <p:nvPr/>
        </p:nvSpPr>
        <p:spPr>
          <a:xfrm>
            <a:off x="7101455" y="4370324"/>
            <a:ext cx="851920" cy="1508286"/>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Colombia</a:t>
            </a:r>
          </a:p>
          <a:p>
            <a:pPr algn="ctr"/>
            <a:r>
              <a:rPr sz="1100" b="0">
                <a:solidFill>
                  <a:srgbClr val="FFFFFF"/>
                </a:solidFill>
                <a:latin typeface="Calibri"/>
              </a:rPr>
              <a:t>165</a:t>
            </a:r>
          </a:p>
        </p:txBody>
      </p:sp>
      <p:sp>
        <p:nvSpPr>
          <p:cNvPr id="21" name="Rounded Rectangle 20"/>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3" name="Chart 22"/>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4" name="Rounded Rectangle 23"/>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25" name="Table 24"/>
          <p:cNvGraphicFramePr>
            <a:graphicFrameLocks noGrp="1"/>
          </p:cNvGraphicFramePr>
          <p:nvPr/>
        </p:nvGraphicFramePr>
        <p:xfrm>
          <a:off x="8096250" y="3547710"/>
          <a:ext cx="3926948" cy="2159448"/>
        </p:xfrm>
        <a:graphic>
          <a:graphicData uri="http://schemas.openxmlformats.org/drawingml/2006/table">
            <a:tbl>
              <a:tblPr>
                <a:tableStyleId>{5C22544A-7EE6-4342-B048-85BDC9FD1C3A}</a:tableStyleId>
              </a:tblPr>
              <a:tblGrid>
                <a:gridCol w="720271"/>
                <a:gridCol w="1064835"/>
                <a:gridCol w="1064835"/>
                <a:gridCol w="1077007"/>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648061">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744.8</a:t>
                      </a:r>
                      <a:endParaRPr sz="1100"/>
                    </a:p>
                  </a:txBody>
                  <a:tcPr marL="47625" marR="38100" marT="19050" marB="19050" anchor="ctr">
                    <a:solidFill>
                      <a:srgbClr val="FFFFFF"/>
                    </a:solidFill>
                  </a:tcPr>
                </a:tc>
              </a:tr>
              <a:tr h="648061">
                <a:tc>
                  <a:txBody>
                    <a:bodyPr wrap="none"/>
                    <a:lstStyle/>
                    <a:p>
                      <a:pPr algn="l"/>
                      <a:r>
                        <a:rPr sz="1100" b="1">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5F8FA"/>
                    </a:solidFill>
                  </a:tcPr>
                </a:tc>
              </a:tr>
              <a:tr h="648061">
                <a:tc>
                  <a:txBody>
                    <a:bodyPr wrap="none"/>
                    <a:lstStyle/>
                    <a:p>
                      <a:pPr algn="l"/>
                      <a:r>
                        <a:rPr sz="1100" b="1">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r>
            </a:tbl>
          </a:graphicData>
        </a:graphic>
      </p:graphicFrame>
      <p:sp>
        <p:nvSpPr>
          <p:cNvPr id="26" name="TextBox 25"/>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7" name="Rounded Rectangle 26"/>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Brazil hair styling products market is projected to register 2.6X higher value than Mexico in 2036. Colombia posts the highest CAGR Index (111), growing at 8.4% against the Latin America benchmark, while Brazil offers the largest absolute opportunity 744.8 US$ Mn of incremental market between 2026 and 2036 (51% of the Latin America increment).</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Global hair styling products market is expected to witness 2.2X increase in revenue by 2036 end. Global hair styling products market accounted for US$ 1,276 Mn in 2025, which is expected to increase to US$ 2,815 Mn in 2036 at a CAGR of 7.6%.</a:t>
            </a:r>
          </a:p>
          <a:p>
            <a:pPr algn="l">
              <a:lnSpc>
                <a:spcPct val="110000"/>
              </a:lnSpc>
              <a:spcBef>
                <a:spcPts val="0"/>
              </a:spcBef>
              <a:spcAft>
                <a:spcPts val="500"/>
              </a:spcAft>
            </a:pPr>
            <a:r>
              <a:rPr sz="1150" b="0">
                <a:solidFill>
                  <a:srgbClr val="2E2E2E"/>
                </a:solidFill>
                <a:latin typeface="Calibri"/>
              </a:rPr>
              <a:t>The global hair styling products market has been analysed on the basis of product format, hold level, finish and distribution channel across the globe. Brazil is expected to remain the largest market for hair styling products, while demand in Colombia is projected to increase at the highest CAGR of 8.4% throughout the forecast period.</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is moderately fragmented: the leading product format category 'Styling Serums and Oils' holds 21.5% of 2036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spans 4 countries and 7 segmentation lenses (8 product format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Brazil is the largest country market at 52.5% of 2036 value.</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Accelerating uptake of 'Sticks and Balms' (9.5%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Fast-growing demand in Colombia (8.4%).</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Momentum in Online Marketplaces within distribution channel (9.0%).</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Slower momentum in 'Sprays and Mists' (5.9%).</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Maturing demand in established categories caps the blended 7.6%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 concentration in 'Styling Serums and Oils' raises barriers for new entrants.</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'Sticks and Balms'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Colombia outpacing the Latin America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8 product format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Capacity and product development are concentrating in 'Sticks and Balms' and in Colombia, the fastest-growing country.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Portfolio expansion is tracking the shift toward higher-growth product format categories.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Commercial focus is intensifying in Brazil and Colombia, which together account for 58.3% of 2036 value.</a:t>
            </a:r>
          </a:p>
        </p:txBody>
      </p:sp>
      <p:sp>
        <p:nvSpPr>
          <p:cNvPr id="14" name="Rounded Rectangle 13"/>
          <p:cNvSpPr/>
          <p:nvPr/>
        </p:nvSpPr>
        <p:spPr>
          <a:xfrm>
            <a:off x="6172200"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Market value rises from 1,350 US$ Mn in 2026 to 2,815 US$ Mn in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forecast CAGR is 7.6% over 2026-2036.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'Styling Serums and Oils' is the lead product format category with 21.5%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Brazil is the lead country with 52.5%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incremental opportunity over 2026-2036 is 1,465 US$ Mn.</a:t>
            </a:r>
          </a:p>
        </p:txBody>
      </p:sp>
      <p:sp>
        <p:nvSpPr>
          <p:cNvPr id="18" name="Rounded Rectangle 17"/>
          <p:cNvSpPr/>
          <p:nvPr/>
        </p:nvSpPr>
        <p:spPr>
          <a:xfrm>
            <a:off x="142875"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152775"/>
            <a:ext cx="5610225" cy="1228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Investment is flowing toward 'Sticks and Balms', the fastest-growing product format category at 9.5%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Colombia (8.4% CAGR) is a priority country for new capacity and distribution.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Scale players are anchoring their portfolios around 'Styling Serums and Oils', which holds 21.5% share.</a:t>
            </a:r>
          </a:p>
        </p:txBody>
      </p:sp>
      <p:sp>
        <p:nvSpPr>
          <p:cNvPr id="22" name="Rounded Rectangle 21"/>
          <p:cNvSpPr/>
          <p:nvPr/>
        </p:nvSpPr>
        <p:spPr>
          <a:xfrm>
            <a:off x="6172200"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152775"/>
            <a:ext cx="5610225" cy="12287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R&amp;D programmes are focused on product design, premium formats and sustainable materials, in line with the migration toward 'Sticks and Balms'.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Development spend is targeting the product format categories that gain share through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Innovation underpins the 7.6% forecast CAGR by sustaining both volume growth and price realisation.</a:t>
            </a:r>
          </a:p>
        </p:txBody>
      </p:sp>
      <p:sp>
        <p:nvSpPr>
          <p:cNvPr id="26" name="Rounded Rectangle 25"/>
          <p:cNvSpPr/>
          <p:nvPr/>
        </p:nvSpPr>
        <p:spPr>
          <a:xfrm>
            <a:off x="142875" y="4591050"/>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648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Format Share (2036)</a:t>
            </a:r>
          </a:p>
        </p:txBody>
      </p:sp>
      <p:graphicFrame>
        <p:nvGraphicFramePr>
          <p:cNvPr id="28" name="Chart 27"/>
          <p:cNvGraphicFramePr>
            <a:graphicFrameLocks noGrp="1"/>
          </p:cNvGraphicFramePr>
          <p:nvPr/>
        </p:nvGraphicFramePr>
        <p:xfrm>
          <a:off x="238125" y="4876800"/>
          <a:ext cx="11715750" cy="1685925"/>
        </p:xfrm>
        <a:graphic>
          <a:graphicData uri="http://schemas.openxmlformats.org/drawingml/2006/chart">
            <c:chart xmlns:c="http://schemas.openxmlformats.org/drawingml/2006/chart" r:id="rId3"/>
          </a:graphicData>
        </a:graphic>
      </p:graphicFrame>
      <p:sp>
        <p:nvSpPr>
          <p:cNvPr id="29" name="TextBox 28"/>
          <p:cNvSpPr txBox="1"/>
          <p:nvPr/>
        </p:nvSpPr>
        <p:spPr>
          <a:xfrm>
            <a:off x="3935364" y="5605462"/>
            <a:ext cx="806547" cy="228600"/>
          </a:xfrm>
          <a:prstGeom prst="rect">
            <a:avLst/>
          </a:prstGeom>
          <a:noFill/>
        </p:spPr>
        <p:txBody>
          <a:bodyPr wrap="square" lIns="28575" rIns="28575" tIns="9525" bIns="9525" anchor="ctr">
            <a:spAutoFit/>
          </a:bodyPr>
          <a:lstStyle/>
          <a:p>
            <a:pPr algn="ctr"/>
            <a:r>
              <a:rPr sz="1300" b="1">
                <a:solidFill>
                  <a:srgbClr val="2E2E2E"/>
                </a:solidFill>
                <a:latin typeface="Calibri"/>
              </a:rPr>
              <a:t>2036</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scale in 'Styling Serums and Oils' with targeted growth in 'Sticks and Balms' to capture the 7.6% CAGR trajectory to 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adds 1,465 US$ Mn of demand to 2036, a 2.1x expansion on the 2026 base.</a:t>
            </a:r>
          </a:p>
        </p:txBody>
      </p:sp>
      <p:sp>
        <p:nvSpPr>
          <p:cNvPr id="14" name="Rounded Rectangle 13"/>
          <p:cNvSpPr/>
          <p:nvPr/>
        </p:nvSpPr>
        <p:spPr>
          <a:xfrm>
            <a:off x="6172200"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'Sticks and Balms' category and the 'Online Marketplaces' distribution channel route, where growth outpaces the market.</a:t>
            </a:r>
          </a:p>
        </p:txBody>
      </p:sp>
      <p:sp>
        <p:nvSpPr>
          <p:cNvPr id="18" name="Rounded Rectangle 17"/>
          <p:cNvSpPr/>
          <p:nvPr/>
        </p:nvSpPr>
        <p:spPr>
          <a:xfrm>
            <a:off x="142875"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'Sticks and Balms' (9.5% CAGR) for growth, while 'Styling Serums and Oils' anchors 21.5% of value and funds the portfolio.</a:t>
            </a:r>
          </a:p>
        </p:txBody>
      </p:sp>
      <p:sp>
        <p:nvSpPr>
          <p:cNvPr id="22" name="Rounded Rectangle 21"/>
          <p:cNvSpPr/>
          <p:nvPr/>
        </p:nvSpPr>
        <p:spPr>
          <a:xfrm>
            <a:off x="6172200"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 with Brazil (52.5% of value) and capture upside in Colombia (8.4% CAGR).</a:t>
            </a:r>
          </a:p>
        </p:txBody>
      </p:sp>
      <p:sp>
        <p:nvSpPr>
          <p:cNvPr id="26" name="Rounded Rectangle 25"/>
          <p:cNvSpPr/>
          <p:nvPr/>
        </p:nvSpPr>
        <p:spPr>
          <a:xfrm>
            <a:off x="142875" y="4695825"/>
            <a:ext cx="11906250" cy="1914525"/>
          </a:xfrm>
          <a:prstGeom prst="roundRect">
            <a:avLst>
              <a:gd name="adj" fmla="val 39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81550"/>
            <a:ext cx="11639550" cy="209550"/>
          </a:xfrm>
          <a:prstGeom prst="rect">
            <a:avLst/>
          </a:prstGeom>
          <a:noFill/>
        </p:spPr>
        <p:txBody>
          <a:bodyPr wrap="square" lIns="0" rIns="19050" tIns="9525" bIns="9525">
            <a:spAutoFit/>
          </a:bodyPr>
          <a:lstStyle/>
          <a:p>
            <a:pPr algn="l"/>
            <a:r>
              <a:rPr sz="1300" b="1">
                <a:solidFill>
                  <a:srgbClr val="0B2E4A"/>
                </a:solidFill>
                <a:latin typeface="Calibri"/>
              </a:rPr>
              <a:t>FMI Analysis and Recommendation</a:t>
            </a:r>
          </a:p>
        </p:txBody>
      </p:sp>
      <p:sp>
        <p:nvSpPr>
          <p:cNvPr id="28" name="Rectangle 27"/>
          <p:cNvSpPr/>
          <p:nvPr/>
        </p:nvSpPr>
        <p:spPr>
          <a:xfrm>
            <a:off x="276225" y="5019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105400"/>
            <a:ext cx="11639550" cy="1428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 and country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'Styling Serums and Oils' as the value anchor of the portfolio.</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quality certification and brand trust into the offer to protect pricing as competition intensifies.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3,402 US$ Mn</a:t>
            </a:r>
          </a:p>
          <a:p>
            <a:pPr algn="ctr">
              <a:lnSpc>
                <a:spcPct val="95000"/>
              </a:lnSpc>
            </a:pPr>
            <a:r>
              <a:rPr sz="1100" b="0">
                <a:solidFill>
                  <a:srgbClr val="6C7A89"/>
                </a:solidFill>
                <a:latin typeface="Calibri"/>
              </a:rPr>
              <a:t>CAGR 9.4%</a:t>
            </a:r>
          </a:p>
        </p:txBody>
      </p:sp>
      <p:sp>
        <p:nvSpPr>
          <p:cNvPr id="11" name="Rounded Rectangle 10"/>
          <p:cNvSpPr/>
          <p:nvPr/>
        </p:nvSpPr>
        <p:spPr>
          <a:xfrm>
            <a:off x="4238625"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2,815 US$ Mn</a:t>
            </a:r>
          </a:p>
          <a:p>
            <a:pPr algn="ctr">
              <a:lnSpc>
                <a:spcPct val="95000"/>
              </a:lnSpc>
            </a:pPr>
            <a:r>
              <a:rPr sz="1100" b="0">
                <a:solidFill>
                  <a:srgbClr val="6C7A89"/>
                </a:solidFill>
                <a:latin typeface="Calibri"/>
              </a:rPr>
              <a:t>CAGR 7.6%</a:t>
            </a:r>
          </a:p>
        </p:txBody>
      </p:sp>
      <p:sp>
        <p:nvSpPr>
          <p:cNvPr id="12" name="Rounded Rectangle 11"/>
          <p:cNvSpPr/>
          <p:nvPr/>
        </p:nvSpPr>
        <p:spPr>
          <a:xfrm>
            <a:off x="8210550"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2,322 US$ Mn</a:t>
            </a:r>
          </a:p>
          <a:p>
            <a:pPr algn="ctr">
              <a:lnSpc>
                <a:spcPct val="95000"/>
              </a:lnSpc>
            </a:pPr>
            <a:r>
              <a:rPr sz="1100" b="0">
                <a:solidFill>
                  <a:srgbClr val="6C7A89"/>
                </a:solidFill>
                <a:latin typeface="Calibri"/>
              </a:rPr>
              <a:t>CAGR 5.7%</a:t>
            </a:r>
          </a:p>
        </p:txBody>
      </p:sp>
      <p:sp>
        <p:nvSpPr>
          <p:cNvPr id="13" name="Rounded Rectangle 12"/>
          <p:cNvSpPr/>
          <p:nvPr/>
        </p:nvSpPr>
        <p:spPr>
          <a:xfrm>
            <a:off x="142875"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Hair Styling Products Market Value (US$ Mn): Scenario Forecast, 2025 and 2036</a:t>
            </a:r>
          </a:p>
        </p:txBody>
      </p:sp>
      <p:cxnSp>
        <p:nvCxnSpPr>
          <p:cNvPr id="15" name="Connector 14"/>
          <p:cNvCxnSpPr/>
          <p:nvPr/>
        </p:nvCxnSpPr>
        <p:spPr>
          <a:xfrm>
            <a:off x="238125" y="413385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523604"/>
            <a:ext cx="635826" cy="610246"/>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22978"/>
            <a:ext cx="635826" cy="1110872"/>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787065"/>
            <a:ext cx="635826" cy="1346785"/>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506504"/>
            <a:ext cx="635826" cy="1627346"/>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889628"/>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784853"/>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5.7%</a:t>
            </a:r>
          </a:p>
        </p:txBody>
      </p:sp>
      <p:cxnSp>
        <p:nvCxnSpPr>
          <p:cNvPr id="22" name="Connector 21"/>
          <p:cNvCxnSpPr/>
          <p:nvPr/>
        </p:nvCxnSpPr>
        <p:spPr>
          <a:xfrm>
            <a:off x="1456468" y="2632453"/>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27678"/>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7.6%</a:t>
            </a:r>
          </a:p>
        </p:txBody>
      </p:sp>
      <p:cxnSp>
        <p:nvCxnSpPr>
          <p:cNvPr id="24" name="Connector 23"/>
          <p:cNvCxnSpPr/>
          <p:nvPr/>
        </p:nvCxnSpPr>
        <p:spPr>
          <a:xfrm>
            <a:off x="1456468" y="2373154"/>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268379"/>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9.4%</a:t>
            </a:r>
          </a:p>
        </p:txBody>
      </p:sp>
      <p:sp>
        <p:nvSpPr>
          <p:cNvPr id="26" name="TextBox 25"/>
          <p:cNvSpPr txBox="1"/>
          <p:nvPr/>
        </p:nvSpPr>
        <p:spPr>
          <a:xfrm>
            <a:off x="643255"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40055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40055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40055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Hair Styling Products Market Attractiveness Analysis By Region, 2026–2036</a:t>
            </a:r>
          </a:p>
        </p:txBody>
      </p:sp>
      <p:graphicFrame>
        <p:nvGraphicFramePr>
          <p:cNvPr id="36" name="Chart 35"/>
          <p:cNvGraphicFramePr>
            <a:graphicFrameLocks noGrp="1"/>
          </p:cNvGraphicFramePr>
          <p:nvPr/>
        </p:nvGraphicFramePr>
        <p:xfrm>
          <a:off x="6267450" y="2181225"/>
          <a:ext cx="5686425" cy="2409825"/>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781550"/>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191125"/>
            <a:ext cx="11639550" cy="135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Optimistic: the market reaches 3,402 US$ Mn by 2036 at 9.4% CAGR, assuming faster adoption and stronger price realisation.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Likely (base forecast): the market reaches 2,815 US$ Mn by 2036 at 7.6%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Conservative: the market reaches 2,322 US$ Mn by 2036 at 5.7% CAGR, assuming slower adoption and tighter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Scenarios flex the base forecast's year-on-year growth by plus or minus 25% across 2026-2036.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gap between the optimistic and conservative outcomes is 1,080 US$ Mn in 2036, which frames the planning range for capacity and investment decisions.</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Latin America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Latin America Hair Styling Products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4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Latin America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Brazil</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732.3</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1,477</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7.3%</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Rest of Latin America</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274.7</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614.4</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8.4%</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Mexico</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270.0</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559.2</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7.6%</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Colombia</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73.2</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164.8</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8.4%</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Brazil hair styling products market is projected to register 2.6X higher value than Mexico in 2036. Among hair styling products by country, Colombia is expected to witness the highest CAGR of 8.4% over the forecast period.</a:t>
            </a:r>
          </a:p>
          <a:p>
            <a:pPr algn="l">
              <a:lnSpc>
                <a:spcPct val="110000"/>
              </a:lnSpc>
              <a:spcBef>
                <a:spcPts val="0"/>
              </a:spcBef>
              <a:spcAft>
                <a:spcPts val="500"/>
              </a:spcAft>
            </a:pPr>
            <a:r>
              <a:rPr sz="1100" b="0">
                <a:solidFill>
                  <a:srgbClr val="2E2E2E"/>
                </a:solidFill>
                <a:latin typeface="Calibri"/>
              </a:rPr>
              <a:t>In terms of value share by country, Brazil is expected to dominate the market, losing 98 BPS and accounting for 67.1% share by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Country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Brazil: </a:t>
            </a:r>
            <a:r>
              <a:rPr sz="1100" b="0">
                <a:solidFill>
                  <a:srgbClr val="2E2E2E"/>
                </a:solidFill>
                <a:latin typeface="Calibri"/>
              </a:rPr>
              <a:t>54% of 2026 value · 7.3% CAGR leads the market.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Rest of Latin America: </a:t>
            </a:r>
            <a:r>
              <a:rPr sz="1100" b="0">
                <a:solidFill>
                  <a:srgbClr val="2E2E2E"/>
                </a:solidFill>
                <a:latin typeface="Calibri"/>
              </a:rPr>
              <a:t>20% of 2026 value · 8.4% CAGR a smaller market.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Mexico: </a:t>
            </a:r>
            <a:r>
              <a:rPr sz="1100" b="0">
                <a:solidFill>
                  <a:srgbClr val="2E2E2E"/>
                </a:solidFill>
                <a:latin typeface="Calibri"/>
              </a:rPr>
              <a:t>20% of 2026 value · 7.6% CAGR a smaller market.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Colombia: </a:t>
            </a:r>
            <a:r>
              <a:rPr sz="1100" b="0">
                <a:solidFill>
                  <a:srgbClr val="2E2E2E"/>
                </a:solidFill>
                <a:latin typeface="Calibri"/>
              </a:rPr>
              <a:t>5% of 2026 value · 8.4%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Country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Latin America market is projected to grow at a CAGR of 7.6%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Market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8774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58298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0678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Colombia</a:t>
            </a:r>
          </a:p>
        </p:txBody>
      </p:sp>
      <p:sp>
        <p:nvSpPr>
          <p:cNvPr id="19" name="BPS Value 1"/>
          <p:cNvSpPr txBox="1"/>
          <p:nvPr/>
        </p:nvSpPr>
        <p:spPr>
          <a:xfrm>
            <a:off x="6305550" y="1568692"/>
            <a:ext cx="514350" cy="123825"/>
          </a:xfrm>
          <a:prstGeom prst="rect">
            <a:avLst/>
          </a:prstGeom>
          <a:noFill/>
        </p:spPr>
        <p:txBody>
          <a:bodyPr wrap="none" lIns="0" rIns="0" tIns="0" bIns="0" anchor="ctr">
            <a:spAutoFit/>
          </a:bodyPr>
          <a:lstStyle/>
          <a:p>
            <a:pPr algn="r"/>
            <a:r>
              <a:rPr sz="900" b="1">
                <a:solidFill>
                  <a:srgbClr val="2E7D32"/>
                </a:solidFill>
                <a:latin typeface="Calibri"/>
              </a:rPr>
              <a:t>+60</a:t>
            </a:r>
          </a:p>
        </p:txBody>
      </p:sp>
      <p:sp>
        <p:nvSpPr>
          <p:cNvPr id="20" name="FMI Legend Chip"/>
          <p:cNvSpPr/>
          <p:nvPr/>
        </p:nvSpPr>
        <p:spPr>
          <a:xfrm>
            <a:off x="4551045" y="2086518"/>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208175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200555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Mexico</a:t>
            </a:r>
          </a:p>
        </p:txBody>
      </p:sp>
      <p:sp>
        <p:nvSpPr>
          <p:cNvPr id="23" name="BPS Value 2"/>
          <p:cNvSpPr txBox="1"/>
          <p:nvPr/>
        </p:nvSpPr>
        <p:spPr>
          <a:xfrm>
            <a:off x="6305550" y="2067468"/>
            <a:ext cx="514350" cy="123825"/>
          </a:xfrm>
          <a:prstGeom prst="rect">
            <a:avLst/>
          </a:prstGeom>
          <a:noFill/>
        </p:spPr>
        <p:txBody>
          <a:bodyPr wrap="none" lIns="0" rIns="0" tIns="0" bIns="0" anchor="ctr">
            <a:spAutoFit/>
          </a:bodyPr>
          <a:lstStyle/>
          <a:p>
            <a:pPr algn="r"/>
            <a:r>
              <a:rPr sz="900" b="1">
                <a:solidFill>
                  <a:srgbClr val="2E7D32"/>
                </a:solidFill>
                <a:latin typeface="Calibri"/>
              </a:rPr>
              <a:t>+4</a:t>
            </a:r>
          </a:p>
        </p:txBody>
      </p:sp>
      <p:sp>
        <p:nvSpPr>
          <p:cNvPr id="24" name="FMI Legend Chip"/>
          <p:cNvSpPr/>
          <p:nvPr/>
        </p:nvSpPr>
        <p:spPr>
          <a:xfrm>
            <a:off x="4551045" y="291543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2970" y="291067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83447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Rest of Latin America</a:t>
            </a:r>
          </a:p>
        </p:txBody>
      </p:sp>
      <p:sp>
        <p:nvSpPr>
          <p:cNvPr id="27" name="BPS Value 3"/>
          <p:cNvSpPr txBox="1"/>
          <p:nvPr/>
        </p:nvSpPr>
        <p:spPr>
          <a:xfrm>
            <a:off x="6305550" y="2896385"/>
            <a:ext cx="514350" cy="123825"/>
          </a:xfrm>
          <a:prstGeom prst="rect">
            <a:avLst/>
          </a:prstGeom>
          <a:noFill/>
        </p:spPr>
        <p:txBody>
          <a:bodyPr wrap="none" lIns="0" rIns="0" tIns="0" bIns="0" anchor="ctr">
            <a:spAutoFit/>
          </a:bodyPr>
          <a:lstStyle/>
          <a:p>
            <a:pPr algn="r"/>
            <a:r>
              <a:rPr sz="900" b="1">
                <a:solidFill>
                  <a:srgbClr val="2E7D32"/>
                </a:solidFill>
                <a:latin typeface="Calibri"/>
              </a:rPr>
              <a:t>+144</a:t>
            </a:r>
          </a:p>
        </p:txBody>
      </p:sp>
      <p:sp>
        <p:nvSpPr>
          <p:cNvPr id="28" name="FMI Legend Chip"/>
          <p:cNvSpPr/>
          <p:nvPr/>
        </p:nvSpPr>
        <p:spPr>
          <a:xfrm>
            <a:off x="4551045" y="425022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4712970" y="424545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416925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Brazil</a:t>
            </a:r>
          </a:p>
        </p:txBody>
      </p:sp>
      <p:sp>
        <p:nvSpPr>
          <p:cNvPr id="31" name="BPS Value 4"/>
          <p:cNvSpPr txBox="1"/>
          <p:nvPr/>
        </p:nvSpPr>
        <p:spPr>
          <a:xfrm>
            <a:off x="6305550" y="4231172"/>
            <a:ext cx="514350" cy="123825"/>
          </a:xfrm>
          <a:prstGeom prst="rect">
            <a:avLst/>
          </a:prstGeom>
          <a:noFill/>
        </p:spPr>
        <p:txBody>
          <a:bodyPr wrap="none" lIns="0" rIns="0" tIns="0" bIns="0" anchor="ctr">
            <a:spAutoFit/>
          </a:bodyPr>
          <a:lstStyle/>
          <a:p>
            <a:pPr algn="r"/>
            <a:r>
              <a:rPr sz="900" b="1">
                <a:solidFill>
                  <a:srgbClr val="E44D3A"/>
                </a:solidFill>
                <a:latin typeface="Calibri"/>
              </a:rPr>
              <a:t>-208</a:t>
            </a:r>
          </a:p>
        </p:txBody>
      </p:sp>
      <p:sp>
        <p:nvSpPr>
          <p:cNvPr id="32" name="Rounded Rectangle 31"/>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34" name="Rectangle 33"/>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Brazil hair styling products market is projected to register 2.4X higher volume than Mexico in 2036. Among hair styling products by country, Colombia is expected to witness the highest CAGR of 6.9% over the forecast period.</a:t>
            </a:r>
          </a:p>
          <a:p>
            <a:pPr algn="l">
              <a:lnSpc>
                <a:spcPct val="110000"/>
              </a:lnSpc>
              <a:spcBef>
                <a:spcPts val="0"/>
              </a:spcBef>
              <a:spcAft>
                <a:spcPts val="500"/>
              </a:spcAft>
            </a:pPr>
            <a:r>
              <a:rPr sz="1150" b="0">
                <a:solidFill>
                  <a:srgbClr val="2E2E2E"/>
                </a:solidFill>
                <a:latin typeface="Calibri"/>
              </a:rPr>
              <a:t>In terms of volume share by country, Brazil is expected to dominate the market, losing 152 BPS and accounting for 63.8% share by 2036.</a:t>
            </a:r>
          </a:p>
        </p:txBody>
      </p:sp>
      <p:sp>
        <p:nvSpPr>
          <p:cNvPr id="36" name="Rounded Rectangle 35"/>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(MN UNITS)</a:t>
            </a:r>
          </a:p>
          <a:p>
            <a:pPr algn="ctr">
              <a:lnSpc>
                <a:spcPct val="95000"/>
              </a:lnSpc>
            </a:pPr>
            <a:r>
              <a:rPr sz="2000" b="1">
                <a:solidFill>
                  <a:srgbClr val="0E72AE"/>
                </a:solidFill>
                <a:latin typeface="Calibri"/>
              </a:rPr>
              <a:t>891.3</a:t>
            </a:r>
          </a:p>
        </p:txBody>
      </p:sp>
      <p:sp>
        <p:nvSpPr>
          <p:cNvPr id="37" name="Rounded Rectangle 36"/>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(MN UNITS)</a:t>
            </a:r>
          </a:p>
          <a:p>
            <a:pPr algn="ctr">
              <a:lnSpc>
                <a:spcPct val="95000"/>
              </a:lnSpc>
            </a:pPr>
            <a:r>
              <a:rPr sz="2000" b="1">
                <a:solidFill>
                  <a:srgbClr val="0E72AE"/>
                </a:solidFill>
                <a:latin typeface="Calibri"/>
              </a:rPr>
              <a:t>1,590</a:t>
            </a:r>
          </a:p>
        </p:txBody>
      </p:sp>
      <p:sp>
        <p:nvSpPr>
          <p:cNvPr id="38" name="Rounded Rectangle 37"/>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6.0%</a:t>
            </a:r>
          </a:p>
        </p:txBody>
      </p:sp>
      <p:sp>
        <p:nvSpPr>
          <p:cNvPr id="39" name="TextBox 3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69390"/>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56462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48842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Colombia</a:t>
            </a:r>
          </a:p>
        </p:txBody>
      </p:sp>
      <p:sp>
        <p:nvSpPr>
          <p:cNvPr id="19" name="BPS Value 1"/>
          <p:cNvSpPr txBox="1"/>
          <p:nvPr/>
        </p:nvSpPr>
        <p:spPr>
          <a:xfrm>
            <a:off x="6305550" y="1550340"/>
            <a:ext cx="514350" cy="123825"/>
          </a:xfrm>
          <a:prstGeom prst="rect">
            <a:avLst/>
          </a:prstGeom>
          <a:noFill/>
        </p:spPr>
        <p:txBody>
          <a:bodyPr wrap="none" lIns="0" rIns="0" tIns="0" bIns="0" anchor="ctr">
            <a:spAutoFit/>
          </a:bodyPr>
          <a:lstStyle/>
          <a:p>
            <a:pPr algn="r"/>
            <a:r>
              <a:rPr sz="900" b="1">
                <a:solidFill>
                  <a:srgbClr val="2E7D32"/>
                </a:solidFill>
                <a:latin typeface="Calibri"/>
              </a:rPr>
              <a:t>+43</a:t>
            </a:r>
          </a:p>
        </p:txBody>
      </p:sp>
      <p:sp>
        <p:nvSpPr>
          <p:cNvPr id="20" name="FMI Legend Chip"/>
          <p:cNvSpPr/>
          <p:nvPr/>
        </p:nvSpPr>
        <p:spPr>
          <a:xfrm>
            <a:off x="4551045" y="204087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203611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95991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Mexico</a:t>
            </a:r>
          </a:p>
        </p:txBody>
      </p:sp>
      <p:sp>
        <p:nvSpPr>
          <p:cNvPr id="23" name="BPS Value 2"/>
          <p:cNvSpPr txBox="1"/>
          <p:nvPr/>
        </p:nvSpPr>
        <p:spPr>
          <a:xfrm>
            <a:off x="6305550" y="2021825"/>
            <a:ext cx="514350" cy="123825"/>
          </a:xfrm>
          <a:prstGeom prst="rect">
            <a:avLst/>
          </a:prstGeom>
          <a:noFill/>
        </p:spPr>
        <p:txBody>
          <a:bodyPr wrap="none" lIns="0" rIns="0" tIns="0" bIns="0" anchor="ctr">
            <a:spAutoFit/>
          </a:bodyPr>
          <a:lstStyle/>
          <a:p>
            <a:pPr algn="r"/>
            <a:r>
              <a:rPr sz="900" b="1">
                <a:solidFill>
                  <a:srgbClr val="E44D3A"/>
                </a:solidFill>
                <a:latin typeface="Calibri"/>
              </a:rPr>
              <a:t>-14</a:t>
            </a:r>
          </a:p>
        </p:txBody>
      </p:sp>
      <p:sp>
        <p:nvSpPr>
          <p:cNvPr id="24" name="FMI Legend Chip"/>
          <p:cNvSpPr/>
          <p:nvPr/>
        </p:nvSpPr>
        <p:spPr>
          <a:xfrm>
            <a:off x="4551045" y="280517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2970" y="280041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72421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Rest of Latin America</a:t>
            </a:r>
          </a:p>
        </p:txBody>
      </p:sp>
      <p:sp>
        <p:nvSpPr>
          <p:cNvPr id="27" name="BPS Value 3"/>
          <p:cNvSpPr txBox="1"/>
          <p:nvPr/>
        </p:nvSpPr>
        <p:spPr>
          <a:xfrm>
            <a:off x="6305550" y="2786126"/>
            <a:ext cx="514350" cy="123825"/>
          </a:xfrm>
          <a:prstGeom prst="rect">
            <a:avLst/>
          </a:prstGeom>
          <a:noFill/>
        </p:spPr>
        <p:txBody>
          <a:bodyPr wrap="none" lIns="0" rIns="0" tIns="0" bIns="0" anchor="ctr">
            <a:spAutoFit/>
          </a:bodyPr>
          <a:lstStyle/>
          <a:p>
            <a:pPr algn="r"/>
            <a:r>
              <a:rPr sz="900" b="1">
                <a:solidFill>
                  <a:srgbClr val="2E7D32"/>
                </a:solidFill>
                <a:latin typeface="Calibri"/>
              </a:rPr>
              <a:t>+148</a:t>
            </a:r>
          </a:p>
        </p:txBody>
      </p:sp>
      <p:sp>
        <p:nvSpPr>
          <p:cNvPr id="28" name="FMI Legend Chip"/>
          <p:cNvSpPr/>
          <p:nvPr/>
        </p:nvSpPr>
        <p:spPr>
          <a:xfrm>
            <a:off x="4551045" y="416725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4712970" y="416249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408629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Brazil</a:t>
            </a:r>
          </a:p>
        </p:txBody>
      </p:sp>
      <p:sp>
        <p:nvSpPr>
          <p:cNvPr id="31" name="BPS Value 4"/>
          <p:cNvSpPr txBox="1"/>
          <p:nvPr/>
        </p:nvSpPr>
        <p:spPr>
          <a:xfrm>
            <a:off x="6305550" y="4148202"/>
            <a:ext cx="514350" cy="123825"/>
          </a:xfrm>
          <a:prstGeom prst="rect">
            <a:avLst/>
          </a:prstGeom>
          <a:noFill/>
        </p:spPr>
        <p:txBody>
          <a:bodyPr wrap="none" lIns="0" rIns="0" tIns="0" bIns="0" anchor="ctr">
            <a:spAutoFit/>
          </a:bodyPr>
          <a:lstStyle/>
          <a:p>
            <a:pPr algn="r"/>
            <a:r>
              <a:rPr sz="900" b="1">
                <a:solidFill>
                  <a:srgbClr val="E44D3A"/>
                </a:solidFill>
                <a:latin typeface="Calibri"/>
              </a:rPr>
              <a:t>-177</a:t>
            </a:r>
          </a:p>
        </p:txBody>
      </p:sp>
      <p:sp>
        <p:nvSpPr>
          <p:cNvPr id="32" name="Rounded Rectangle 31"/>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34" name="Rectangle 33"/>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Brazil hair styling products market is projected to register 2.6X higher value than Mexico in 2036. Among hair styling products by country, Colombia is expected to witness the highest CAGR of 8.4% over the forecast period.</a:t>
            </a:r>
          </a:p>
          <a:p>
            <a:pPr algn="l">
              <a:lnSpc>
                <a:spcPct val="110000"/>
              </a:lnSpc>
              <a:spcBef>
                <a:spcPts val="0"/>
              </a:spcBef>
              <a:spcAft>
                <a:spcPts val="500"/>
              </a:spcAft>
            </a:pPr>
            <a:r>
              <a:rPr sz="1150" b="0">
                <a:solidFill>
                  <a:srgbClr val="2E2E2E"/>
                </a:solidFill>
                <a:latin typeface="Calibri"/>
              </a:rPr>
              <a:t>In terms of value share by country, Brazil is expected to dominate the market, losing 98 BPS and accounting for 67.1% share by 2036.</a:t>
            </a:r>
          </a:p>
        </p:txBody>
      </p:sp>
      <p:sp>
        <p:nvSpPr>
          <p:cNvPr id="36" name="Rounded Rectangle 35"/>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1,350</a:t>
            </a:r>
          </a:p>
        </p:txBody>
      </p:sp>
      <p:sp>
        <p:nvSpPr>
          <p:cNvPr id="37" name="Rounded Rectangle 36"/>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2,815</a:t>
            </a:r>
          </a:p>
        </p:txBody>
      </p:sp>
      <p:sp>
        <p:nvSpPr>
          <p:cNvPr id="38" name="Rounded Rectangle 37"/>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7.6%</a:t>
            </a:r>
          </a:p>
        </p:txBody>
      </p:sp>
      <p:sp>
        <p:nvSpPr>
          <p:cNvPr id="39" name="TextBox 3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Market Share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Market Size, By Country (Mn Units)</a:t>
            </a:r>
          </a:p>
        </p:txBody>
      </p:sp>
      <p:graphicFrame>
        <p:nvGraphicFramePr>
          <p:cNvPr id="13" name="Table 12"/>
          <p:cNvGraphicFramePr>
            <a:graphicFrameLocks noGrp="1"/>
          </p:cNvGraphicFramePr>
          <p:nvPr/>
        </p:nvGraphicFramePr>
        <p:xfrm>
          <a:off x="152400" y="1238250"/>
          <a:ext cx="11887197" cy="1295400"/>
        </p:xfrm>
        <a:graphic>
          <a:graphicData uri="http://schemas.openxmlformats.org/drawingml/2006/table">
            <a:tbl>
              <a:tblPr>
                <a:tableStyleId>{5C22544A-7EE6-4342-B048-85BDC9FD1C3A}</a:tableStyleId>
              </a:tblPr>
              <a:tblGrid>
                <a:gridCol w="1520376"/>
                <a:gridCol w="609813"/>
                <a:gridCol w="609813"/>
                <a:gridCol w="609813"/>
                <a:gridCol w="609813"/>
                <a:gridCol w="609813"/>
                <a:gridCol w="609813"/>
                <a:gridCol w="609813"/>
                <a:gridCol w="609813"/>
                <a:gridCol w="609813"/>
                <a:gridCol w="609813"/>
                <a:gridCol w="609813"/>
                <a:gridCol w="609813"/>
                <a:gridCol w="609813"/>
                <a:gridCol w="609813"/>
                <a:gridCol w="609813"/>
                <a:gridCol w="609813"/>
                <a:gridCol w="609813"/>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Rest of 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62275"/>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Volume Share Read-out, By Country</a:t>
            </a:r>
          </a:p>
        </p:txBody>
      </p:sp>
      <p:sp>
        <p:nvSpPr>
          <p:cNvPr id="17" name="Rectangle 16"/>
          <p:cNvSpPr/>
          <p:nvPr/>
        </p:nvSpPr>
        <p:spPr>
          <a:xfrm>
            <a:off x="276225" y="3200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86125"/>
            <a:ext cx="11639550" cy="3267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Brazil hair styling products market is projected to register 2.4X higher volume than Mexico in 2036. Among hair styling products by country, Colombia is expected to witness the highest CAGR of 6.9% over the forecast period.</a:t>
            </a:r>
          </a:p>
          <a:p>
            <a:pPr algn="l">
              <a:lnSpc>
                <a:spcPct val="110000"/>
              </a:lnSpc>
              <a:spcBef>
                <a:spcPts val="0"/>
              </a:spcBef>
              <a:spcAft>
                <a:spcPts val="500"/>
              </a:spcAft>
            </a:pPr>
            <a:r>
              <a:rPr sz="1150" b="0">
                <a:solidFill>
                  <a:srgbClr val="2E2E2E"/>
                </a:solidFill>
                <a:latin typeface="Calibri"/>
              </a:rPr>
              <a:t>In terms of volume share by country, Brazil is expected to dominate the market, losing 152 BPS and accounting for 63.8%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Market Size, By Country (US$ Mn)</a:t>
            </a:r>
          </a:p>
        </p:txBody>
      </p:sp>
      <p:graphicFrame>
        <p:nvGraphicFramePr>
          <p:cNvPr id="13" name="Table 12"/>
          <p:cNvGraphicFramePr>
            <a:graphicFrameLocks noGrp="1"/>
          </p:cNvGraphicFramePr>
          <p:nvPr/>
        </p:nvGraphicFramePr>
        <p:xfrm>
          <a:off x="152400" y="1238250"/>
          <a:ext cx="11887197" cy="1295400"/>
        </p:xfrm>
        <a:graphic>
          <a:graphicData uri="http://schemas.openxmlformats.org/drawingml/2006/table">
            <a:tbl>
              <a:tblPr>
                <a:tableStyleId>{5C22544A-7EE6-4342-B048-85BDC9FD1C3A}</a:tableStyleId>
              </a:tblPr>
              <a:tblGrid>
                <a:gridCol w="1520376"/>
                <a:gridCol w="609813"/>
                <a:gridCol w="609813"/>
                <a:gridCol w="609813"/>
                <a:gridCol w="609813"/>
                <a:gridCol w="609813"/>
                <a:gridCol w="609813"/>
                <a:gridCol w="609813"/>
                <a:gridCol w="609813"/>
                <a:gridCol w="609813"/>
                <a:gridCol w="609813"/>
                <a:gridCol w="609813"/>
                <a:gridCol w="609813"/>
                <a:gridCol w="609813"/>
                <a:gridCol w="609813"/>
                <a:gridCol w="609813"/>
                <a:gridCol w="609813"/>
                <a:gridCol w="609813"/>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Rest of 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62275"/>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Share Read-out, By Country</a:t>
            </a:r>
          </a:p>
        </p:txBody>
      </p:sp>
      <p:sp>
        <p:nvSpPr>
          <p:cNvPr id="17" name="Rectangle 16"/>
          <p:cNvSpPr/>
          <p:nvPr/>
        </p:nvSpPr>
        <p:spPr>
          <a:xfrm>
            <a:off x="276225" y="3200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86125"/>
            <a:ext cx="11639550" cy="3267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Brazil hair styling products market is projected to register 2.6X higher value than Mexico in 2036. Among hair styling products by country, Colombia is expected to witness the highest CAGR of 8.4% over the forecast period.</a:t>
            </a:r>
          </a:p>
          <a:p>
            <a:pPr algn="l">
              <a:lnSpc>
                <a:spcPct val="110000"/>
              </a:lnSpc>
              <a:spcBef>
                <a:spcPts val="0"/>
              </a:spcBef>
              <a:spcAft>
                <a:spcPts val="500"/>
              </a:spcAft>
            </a:pPr>
            <a:r>
              <a:rPr sz="1150" b="0">
                <a:solidFill>
                  <a:srgbClr val="2E2E2E"/>
                </a:solidFill>
                <a:latin typeface="Calibri"/>
              </a:rPr>
              <a:t>In terms of value share by country, Brazil is expected to dominate the market, losing 98 BPS and accounting for 67.1%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By Country (Mn Units)</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MI Dense Legend"/>
          <p:cNvSpPr txBox="1"/>
          <p:nvPr/>
        </p:nvSpPr>
        <p:spPr>
          <a:xfrm>
            <a:off x="9839325" y="1362075"/>
            <a:ext cx="2057400" cy="171450"/>
          </a:xfrm>
          <a:prstGeom prst="rect">
            <a:avLst/>
          </a:prstGeom>
          <a:noFill/>
        </p:spPr>
        <p:txBody>
          <a:bodyPr wrap="none">
            <a:spAutoFit/>
          </a:bodyPr>
          <a:lstStyle/>
          <a:p>
            <a:r>
              <a:rPr sz="850" b="1">
                <a:solidFill>
                  <a:srgbClr val="6C7A89"/>
                </a:solidFill>
                <a:latin typeface="Calibri"/>
              </a:rPr>
              <a:t>By segment</a:t>
            </a: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Brazil</a:t>
            </a:r>
          </a:p>
          <a:p>
            <a:pPr>
              <a:spcBef>
                <a:spcPts val="500"/>
              </a:spcBef>
            </a:pPr>
            <a:r>
              <a:rPr sz="900">
                <a:solidFill>
                  <a:srgbClr val="9E7E0A"/>
                </a:solidFill>
                <a:latin typeface="Calibri"/>
              </a:rPr>
              <a:t>■  </a:t>
            </a:r>
            <a:r>
              <a:rPr sz="750">
                <a:solidFill>
                  <a:srgbClr val="2E2E2E"/>
                </a:solidFill>
                <a:latin typeface="Calibri"/>
              </a:rPr>
              <a:t>   Rest of Latin America</a:t>
            </a:r>
          </a:p>
          <a:p>
            <a:pPr>
              <a:spcBef>
                <a:spcPts val="500"/>
              </a:spcBef>
            </a:pPr>
            <a:r>
              <a:rPr sz="900">
                <a:solidFill>
                  <a:srgbClr val="008189"/>
                </a:solidFill>
                <a:latin typeface="Calibri"/>
              </a:rPr>
              <a:t>■  </a:t>
            </a:r>
            <a:r>
              <a:rPr sz="750">
                <a:solidFill>
                  <a:srgbClr val="2E2E2E"/>
                </a:solidFill>
                <a:latin typeface="Calibri"/>
              </a:rPr>
              <a:t>   Mexico</a:t>
            </a:r>
          </a:p>
          <a:p>
            <a:pPr>
              <a:spcBef>
                <a:spcPts val="500"/>
              </a:spcBef>
            </a:pPr>
            <a:r>
              <a:rPr sz="900">
                <a:solidFill>
                  <a:srgbClr val="40315E"/>
                </a:solidFill>
                <a:latin typeface="Calibri"/>
              </a:rPr>
              <a:t>■  </a:t>
            </a:r>
            <a:r>
              <a:rPr sz="750">
                <a:solidFill>
                  <a:srgbClr val="2E2E2E"/>
                </a:solidFill>
                <a:latin typeface="Calibri"/>
              </a:rPr>
              <a:t>   Colombia</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Country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MI Dense Legend"/>
          <p:cNvSpPr txBox="1"/>
          <p:nvPr/>
        </p:nvSpPr>
        <p:spPr>
          <a:xfrm>
            <a:off x="9839325" y="4248150"/>
            <a:ext cx="2057400" cy="171450"/>
          </a:xfrm>
          <a:prstGeom prst="rect">
            <a:avLst/>
          </a:prstGeom>
          <a:noFill/>
        </p:spPr>
        <p:txBody>
          <a:bodyPr wrap="none">
            <a:spAutoFit/>
          </a:bodyPr>
          <a:lstStyle/>
          <a:p>
            <a:r>
              <a:rPr sz="850" b="1">
                <a:solidFill>
                  <a:srgbClr val="6C7A89"/>
                </a:solidFill>
                <a:latin typeface="Calibri"/>
              </a:rPr>
              <a:t>By segment</a:t>
            </a: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Brazil</a:t>
            </a:r>
          </a:p>
          <a:p>
            <a:pPr>
              <a:spcBef>
                <a:spcPts val="500"/>
              </a:spcBef>
            </a:pPr>
            <a:r>
              <a:rPr sz="900">
                <a:solidFill>
                  <a:srgbClr val="008189"/>
                </a:solidFill>
                <a:latin typeface="Calibri"/>
              </a:rPr>
              <a:t>■  </a:t>
            </a:r>
            <a:r>
              <a:rPr sz="750">
                <a:solidFill>
                  <a:srgbClr val="2E2E2E"/>
                </a:solidFill>
                <a:latin typeface="Calibri"/>
              </a:rPr>
              <a:t>   Rest of Latin America</a:t>
            </a:r>
          </a:p>
          <a:p>
            <a:pPr>
              <a:spcBef>
                <a:spcPts val="500"/>
              </a:spcBef>
            </a:pPr>
            <a:r>
              <a:rPr sz="900">
                <a:solidFill>
                  <a:srgbClr val="9E7E0A"/>
                </a:solidFill>
                <a:latin typeface="Calibri"/>
              </a:rPr>
              <a:t>■  </a:t>
            </a:r>
            <a:r>
              <a:rPr sz="750">
                <a:solidFill>
                  <a:srgbClr val="2E2E2E"/>
                </a:solidFill>
                <a:latin typeface="Calibri"/>
              </a:rPr>
              <a:t>   Mexico</a:t>
            </a:r>
          </a:p>
          <a:p>
            <a:pPr>
              <a:spcBef>
                <a:spcPts val="500"/>
              </a:spcBef>
            </a:pPr>
            <a:r>
              <a:rPr sz="900">
                <a:solidFill>
                  <a:srgbClr val="40315E"/>
                </a:solidFill>
                <a:latin typeface="Calibri"/>
              </a:rPr>
              <a:t>■  </a:t>
            </a:r>
            <a:r>
              <a:rPr sz="750">
                <a:solidFill>
                  <a:srgbClr val="2E2E2E"/>
                </a:solidFill>
                <a:latin typeface="Calibri"/>
              </a:rPr>
              <a:t>   Colombia</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Market Top 3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Latin America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market by country  ·  2036 (US$ Mn)  ·  tile size = market value</a:t>
            </a:r>
          </a:p>
        </p:txBody>
      </p:sp>
      <p:sp>
        <p:nvSpPr>
          <p:cNvPr id="13" name="Rectangle 12"/>
          <p:cNvSpPr/>
          <p:nvPr/>
        </p:nvSpPr>
        <p:spPr>
          <a:xfrm>
            <a:off x="238125" y="1266825"/>
            <a:ext cx="7862232"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1,477</a:t>
            </a:r>
          </a:p>
        </p:txBody>
      </p:sp>
      <p:sp>
        <p:nvSpPr>
          <p:cNvPr id="14" name="Rectangle 13"/>
          <p:cNvSpPr/>
          <p:nvPr/>
        </p:nvSpPr>
        <p:spPr>
          <a:xfrm>
            <a:off x="8100357" y="1266825"/>
            <a:ext cx="3853518" cy="4098002"/>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Mexico</a:t>
            </a:r>
          </a:p>
          <a:p>
            <a:pPr algn="ctr"/>
            <a:r>
              <a:rPr sz="1100" b="0">
                <a:solidFill>
                  <a:srgbClr val="FFFFFF"/>
                </a:solidFill>
                <a:latin typeface="Calibri"/>
              </a:rPr>
              <a:t>559</a:t>
            </a:r>
          </a:p>
        </p:txBody>
      </p:sp>
      <p:sp>
        <p:nvSpPr>
          <p:cNvPr id="15" name="Rectangle 14"/>
          <p:cNvSpPr/>
          <p:nvPr/>
        </p:nvSpPr>
        <p:spPr>
          <a:xfrm>
            <a:off x="8100357" y="5364827"/>
            <a:ext cx="3853518" cy="1207423"/>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Colombia</a:t>
            </a:r>
          </a:p>
          <a:p>
            <a:pPr algn="ctr"/>
            <a:r>
              <a:rPr sz="1100" b="0">
                <a:solidFill>
                  <a:srgbClr val="FFFFFF"/>
                </a:solidFill>
                <a:latin typeface="Calibri"/>
              </a:rPr>
              <a:t>165</a:t>
            </a:r>
          </a:p>
        </p:txBody>
      </p:sp>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9653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308225"/>
            <a:ext cx="8572500" cy="514350"/>
          </a:xfrm>
          <a:prstGeom prst="rect">
            <a:avLst/>
          </a:prstGeom>
          <a:noFill/>
        </p:spPr>
        <p:txBody>
          <a:bodyPr wrap="square" lIns="0" rIns="0" tIns="0">
            <a:spAutoFit/>
          </a:bodyPr>
          <a:lstStyle/>
          <a:p>
            <a:r>
              <a:rPr sz="3000" b="1">
                <a:solidFill>
                  <a:srgbClr val="0B3C8C"/>
                </a:solidFill>
                <a:latin typeface="Calibri"/>
              </a:rPr>
              <a:t>Latin America Market Analysis By Segments</a:t>
            </a:r>
          </a:p>
        </p:txBody>
      </p:sp>
      <p:sp>
        <p:nvSpPr>
          <p:cNvPr id="11" name="TextBox 10"/>
          <p:cNvSpPr txBox="1"/>
          <p:nvPr/>
        </p:nvSpPr>
        <p:spPr>
          <a:xfrm>
            <a:off x="914400" y="2994025"/>
            <a:ext cx="8458200" cy="28511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Serums and Oils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268.9</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604.2</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8.4%</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Clays, Pastes and Pomades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212.0</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431.4</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7.4%</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Creams and Lotions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190.7</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384.7</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7.3%</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Sticks and Balms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168.8</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416.7</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9.5%</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product format, sticks and balms segment is expected to witness the highest CAGR of 9.5% over the forecast period. In terms of value share by product format, the styling serums and oils segment is expected to dominate the market, gaining 155 BPS and accounting for 21.5% share by 2036.</a:t>
            </a:r>
          </a:p>
          <a:p>
            <a:pPr algn="l">
              <a:lnSpc>
                <a:spcPct val="110000"/>
              </a:lnSpc>
              <a:spcBef>
                <a:spcPts val="0"/>
              </a:spcBef>
              <a:spcAft>
                <a:spcPts val="500"/>
              </a:spcAft>
            </a:pPr>
            <a:r>
              <a:rPr sz="1100" b="0">
                <a:solidFill>
                  <a:srgbClr val="2E2E2E"/>
                </a:solidFill>
                <a:latin typeface="Calibri"/>
              </a:rPr>
              <a:t>Styling serums and oils segment is projected to register 1.4X higher value than waxes, clays, pastes and pomades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Styling Serums and Oils: </a:t>
            </a:r>
            <a:r>
              <a:rPr sz="1100" b="0">
                <a:solidFill>
                  <a:srgbClr val="2E2E2E"/>
                </a:solidFill>
                <a:latin typeface="Calibri"/>
              </a:rPr>
              <a:t>20% of 2026 value · 8.4%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Waxes, Clays, Pastes and Pomades: </a:t>
            </a:r>
            <a:r>
              <a:rPr sz="1100" b="0">
                <a:solidFill>
                  <a:srgbClr val="2E2E2E"/>
                </a:solidFill>
                <a:latin typeface="Calibri"/>
              </a:rPr>
              <a:t>16% of 2026 value · 7.4%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Creams and Lotions: </a:t>
            </a:r>
            <a:r>
              <a:rPr sz="1100" b="0">
                <a:solidFill>
                  <a:srgbClr val="2E2E2E"/>
                </a:solidFill>
                <a:latin typeface="Calibri"/>
              </a:rPr>
              <a:t>14% of 2026 value · 7.3%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Sticks and Balms: </a:t>
            </a:r>
            <a:r>
              <a:rPr sz="1100" b="0">
                <a:solidFill>
                  <a:srgbClr val="2E2E2E"/>
                </a:solidFill>
                <a:latin typeface="Calibri"/>
              </a:rPr>
              <a:t>13% of 2026 value · 9.5%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Format split shows how demand is distributed across product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Format segment is projected to grow at a CAGR of 7.6%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2414588"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2414588"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Sprays and Mists</a:t>
            </a:r>
          </a:p>
        </p:txBody>
      </p:sp>
      <p:sp>
        <p:nvSpPr>
          <p:cNvPr id="22" name="Rectangle 21"/>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145.3</a:t>
            </a:r>
          </a:p>
        </p:txBody>
      </p:sp>
      <p:sp>
        <p:nvSpPr>
          <p:cNvPr id="23" name="Rectangle 22"/>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257.9</a:t>
            </a:r>
          </a:p>
        </p:txBody>
      </p:sp>
      <p:sp>
        <p:nvSpPr>
          <p:cNvPr id="24" name="Rectangle 23"/>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5.9%</a:t>
            </a:r>
          </a:p>
        </p:txBody>
      </p:sp>
      <p:sp>
        <p:nvSpPr>
          <p:cNvPr id="25" name="Oval 24"/>
          <p:cNvSpPr/>
          <p:nvPr/>
        </p:nvSpPr>
        <p:spPr>
          <a:xfrm>
            <a:off x="291226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4395788" y="1773916"/>
            <a:ext cx="2414588"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4395788" y="1992961"/>
            <a:ext cx="2414588"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Gels and Jellies</a:t>
            </a:r>
          </a:p>
        </p:txBody>
      </p:sp>
      <p:sp>
        <p:nvSpPr>
          <p:cNvPr id="29" name="Rectangle 28"/>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139.9</a:t>
            </a:r>
          </a:p>
        </p:txBody>
      </p:sp>
      <p:sp>
        <p:nvSpPr>
          <p:cNvPr id="30" name="Rectangle 29"/>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257.7</a:t>
            </a:r>
          </a:p>
        </p:txBody>
      </p:sp>
      <p:sp>
        <p:nvSpPr>
          <p:cNvPr id="31" name="Rectangle 30"/>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6.3%</a:t>
            </a:r>
          </a:p>
        </p:txBody>
      </p:sp>
      <p:sp>
        <p:nvSpPr>
          <p:cNvPr id="32" name="Oval 31"/>
          <p:cNvSpPr/>
          <p:nvPr/>
        </p:nvSpPr>
        <p:spPr>
          <a:xfrm>
            <a:off x="5441156"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6924675" y="1773916"/>
            <a:ext cx="2414588"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6924675" y="1992961"/>
            <a:ext cx="2414588"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Powders</a:t>
            </a:r>
          </a:p>
        </p:txBody>
      </p:sp>
      <p:sp>
        <p:nvSpPr>
          <p:cNvPr id="36" name="Rectangle 35"/>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130.6</a:t>
            </a:r>
          </a:p>
        </p:txBody>
      </p:sp>
      <p:sp>
        <p:nvSpPr>
          <p:cNvPr id="37" name="Rectangle 36"/>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291.3</a:t>
            </a:r>
          </a:p>
        </p:txBody>
      </p:sp>
      <p:sp>
        <p:nvSpPr>
          <p:cNvPr id="38" name="Rectangle 37"/>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8.4%</a:t>
            </a:r>
          </a:p>
        </p:txBody>
      </p:sp>
      <p:sp>
        <p:nvSpPr>
          <p:cNvPr id="39" name="Oval 38"/>
          <p:cNvSpPr/>
          <p:nvPr/>
        </p:nvSpPr>
        <p:spPr>
          <a:xfrm>
            <a:off x="7970044"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9453562"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9453562"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Mousses and Foams</a:t>
            </a:r>
          </a:p>
        </p:txBody>
      </p:sp>
      <p:sp>
        <p:nvSpPr>
          <p:cNvPr id="43" name="Rectangle 42"/>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94.2</a:t>
            </a:r>
          </a:p>
        </p:txBody>
      </p:sp>
      <p:sp>
        <p:nvSpPr>
          <p:cNvPr id="44" name="Rectangle 43"/>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171.6</a:t>
            </a:r>
          </a:p>
        </p:txBody>
      </p:sp>
      <p:sp>
        <p:nvSpPr>
          <p:cNvPr id="45" name="Rectangle 44"/>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6.2%</a:t>
            </a:r>
          </a:p>
        </p:txBody>
      </p:sp>
      <p:sp>
        <p:nvSpPr>
          <p:cNvPr id="46" name="Oval 45"/>
          <p:cNvSpPr/>
          <p:nvPr/>
        </p:nvSpPr>
        <p:spPr>
          <a:xfrm>
            <a:off x="10498931"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47" name="Rounded Rectangle 46"/>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9" name="Rectangle 48"/>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Sprays and Mists: </a:t>
            </a:r>
            <a:r>
              <a:rPr sz="1100" b="0">
                <a:solidFill>
                  <a:srgbClr val="2E2E2E"/>
                </a:solidFill>
                <a:latin typeface="Calibri"/>
              </a:rPr>
              <a:t>11% of 2026 value · 5.9%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Gels and Jellies: </a:t>
            </a:r>
            <a:r>
              <a:rPr sz="1100" b="0">
                <a:solidFill>
                  <a:srgbClr val="2E2E2E"/>
                </a:solidFill>
                <a:latin typeface="Calibri"/>
              </a:rPr>
              <a:t>10% of 2026 value · 6.3%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Styling Powders: </a:t>
            </a:r>
            <a:r>
              <a:rPr sz="1100" b="0">
                <a:solidFill>
                  <a:srgbClr val="2E2E2E"/>
                </a:solidFill>
                <a:latin typeface="Calibri"/>
              </a:rPr>
              <a:t>10% of 2026 value · 8.4% CAGR serves a niche.</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Mousses and Foams: </a:t>
            </a:r>
            <a:r>
              <a:rPr sz="1100" b="0">
                <a:solidFill>
                  <a:srgbClr val="2E2E2E"/>
                </a:solidFill>
                <a:latin typeface="Calibri"/>
              </a:rPr>
              <a:t>7% of 2026 value · 6.2% CAGR serves a niche.</a:t>
            </a:r>
          </a:p>
        </p:txBody>
      </p:sp>
      <p:sp>
        <p:nvSpPr>
          <p:cNvPr id="51" name="TextBox 50"/>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Structure &amp; Attractiveness, By Product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Format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Styling serums and oils followed by sticks and balms are expected to be the two most attractive product format segments in the Latin America hair styling products market in terms of value over the forecast period. Styling serums and oils and sticks and balms exhibit a CAGR index of 110.6 and 124.0 and a market share index of 159.3 and 100.0 respectively, against the segment average of 100. The mousses and foams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Product Format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Sprays and Mists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Mousses and Foams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Gels and Jellies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Creams and Lotions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Product Format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Waxes, Clays, Pastes and Pomades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Styling Powders</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Styling Serums and Oils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Sticks and Balms</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Product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Product Format (US$ Mn)</a:t>
            </a:r>
          </a:p>
        </p:txBody>
      </p:sp>
      <p:graphicFrame>
        <p:nvGraphicFramePr>
          <p:cNvPr id="13" name="Table 12"/>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248275"/>
            <a:ext cx="11906250" cy="1381125"/>
          </a:xfrm>
          <a:prstGeom prst="roundRect">
            <a:avLst>
              <a:gd name="adj" fmla="val 55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334000"/>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Analysis, By Product Format</a:t>
            </a:r>
          </a:p>
        </p:txBody>
      </p:sp>
      <p:sp>
        <p:nvSpPr>
          <p:cNvPr id="17" name="Rectangle 16"/>
          <p:cNvSpPr/>
          <p:nvPr/>
        </p:nvSpPr>
        <p:spPr>
          <a:xfrm>
            <a:off x="276225" y="55721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657850"/>
            <a:ext cx="11639550" cy="8953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Styling serums and oils segment is projected to register 1.4X higher value than waxes, clays, pastes and pomades segment in 2036. Among hair styling products by product format, sticks and balms segment is expected to witness the highest CAGR of 9.5% over the forecast period.</a:t>
            </a:r>
          </a:p>
          <a:p>
            <a:pPr algn="l">
              <a:lnSpc>
                <a:spcPct val="110000"/>
              </a:lnSpc>
              <a:spcBef>
                <a:spcPts val="0"/>
              </a:spcBef>
              <a:spcAft>
                <a:spcPts val="500"/>
              </a:spcAft>
            </a:pPr>
            <a:r>
              <a:rPr sz="1100" b="0">
                <a:solidFill>
                  <a:srgbClr val="2E2E2E"/>
                </a:solidFill>
                <a:latin typeface="Calibri"/>
              </a:rPr>
              <a:t>In terms of value share by product format, the styling serums and oils segment is expected to dominate the market, gaining 155 BPS and accounting for 21.5% share by 2036. The sprays and mists segment is expected to lose 160 BPS over the forecast period to account for 9.2%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&amp; Share Shift, By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Composition, By Product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10625"/>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0586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2966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Mousses and Foams</a:t>
            </a:r>
          </a:p>
        </p:txBody>
      </p:sp>
      <p:sp>
        <p:nvSpPr>
          <p:cNvPr id="19" name="BPS Value 1"/>
          <p:cNvSpPr txBox="1"/>
          <p:nvPr/>
        </p:nvSpPr>
        <p:spPr>
          <a:xfrm>
            <a:off x="6896100" y="1791575"/>
            <a:ext cx="514350" cy="123825"/>
          </a:xfrm>
          <a:prstGeom prst="rect">
            <a:avLst/>
          </a:prstGeom>
          <a:noFill/>
        </p:spPr>
        <p:txBody>
          <a:bodyPr wrap="none" lIns="0" rIns="0" tIns="0" bIns="0" anchor="ctr">
            <a:spAutoFit/>
          </a:bodyPr>
          <a:lstStyle/>
          <a:p>
            <a:pPr algn="r"/>
            <a:r>
              <a:rPr sz="900" b="1">
                <a:solidFill>
                  <a:srgbClr val="E44D3A"/>
                </a:solidFill>
                <a:latin typeface="Calibri"/>
              </a:rPr>
              <a:t>-88</a:t>
            </a:r>
          </a:p>
        </p:txBody>
      </p:sp>
      <p:sp>
        <p:nvSpPr>
          <p:cNvPr id="20" name="FMI Legend Chip"/>
          <p:cNvSpPr/>
          <p:nvPr/>
        </p:nvSpPr>
        <p:spPr>
          <a:xfrm>
            <a:off x="4928997" y="2159257"/>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15449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7829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Gels and Jellies</a:t>
            </a:r>
          </a:p>
        </p:txBody>
      </p:sp>
      <p:sp>
        <p:nvSpPr>
          <p:cNvPr id="23" name="BPS Value 2"/>
          <p:cNvSpPr txBox="1"/>
          <p:nvPr/>
        </p:nvSpPr>
        <p:spPr>
          <a:xfrm>
            <a:off x="6896100" y="2140207"/>
            <a:ext cx="514350" cy="123825"/>
          </a:xfrm>
          <a:prstGeom prst="rect">
            <a:avLst/>
          </a:prstGeom>
          <a:noFill/>
        </p:spPr>
        <p:txBody>
          <a:bodyPr wrap="none" lIns="0" rIns="0" tIns="0" bIns="0" anchor="ctr">
            <a:spAutoFit/>
          </a:bodyPr>
          <a:lstStyle/>
          <a:p>
            <a:pPr algn="r"/>
            <a:r>
              <a:rPr sz="900" b="1">
                <a:solidFill>
                  <a:srgbClr val="E44D3A"/>
                </a:solidFill>
                <a:latin typeface="Calibri"/>
              </a:rPr>
              <a:t>-120</a:t>
            </a:r>
          </a:p>
        </p:txBody>
      </p:sp>
      <p:sp>
        <p:nvSpPr>
          <p:cNvPr id="24" name="FMI Legend Chip"/>
          <p:cNvSpPr/>
          <p:nvPr/>
        </p:nvSpPr>
        <p:spPr>
          <a:xfrm>
            <a:off x="4928997" y="2577901"/>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257313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49693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Sprays and Mists</a:t>
            </a:r>
          </a:p>
        </p:txBody>
      </p:sp>
      <p:sp>
        <p:nvSpPr>
          <p:cNvPr id="27" name="BPS Value 3"/>
          <p:cNvSpPr txBox="1"/>
          <p:nvPr/>
        </p:nvSpPr>
        <p:spPr>
          <a:xfrm>
            <a:off x="6896100" y="2558851"/>
            <a:ext cx="514350" cy="123825"/>
          </a:xfrm>
          <a:prstGeom prst="rect">
            <a:avLst/>
          </a:prstGeom>
          <a:noFill/>
        </p:spPr>
        <p:txBody>
          <a:bodyPr wrap="none" lIns="0" rIns="0" tIns="0" bIns="0" anchor="ctr">
            <a:spAutoFit/>
          </a:bodyPr>
          <a:lstStyle/>
          <a:p>
            <a:pPr algn="r"/>
            <a:r>
              <a:rPr sz="900" b="1">
                <a:solidFill>
                  <a:srgbClr val="E44D3A"/>
                </a:solidFill>
                <a:latin typeface="Calibri"/>
              </a:rPr>
              <a:t>-160</a:t>
            </a:r>
          </a:p>
        </p:txBody>
      </p:sp>
      <p:sp>
        <p:nvSpPr>
          <p:cNvPr id="28" name="FMI Legend Chip"/>
          <p:cNvSpPr/>
          <p:nvPr/>
        </p:nvSpPr>
        <p:spPr>
          <a:xfrm>
            <a:off x="4928997" y="3023785"/>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301902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94282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Powders</a:t>
            </a:r>
          </a:p>
        </p:txBody>
      </p:sp>
      <p:sp>
        <p:nvSpPr>
          <p:cNvPr id="31" name="BPS Value 4"/>
          <p:cNvSpPr txBox="1"/>
          <p:nvPr/>
        </p:nvSpPr>
        <p:spPr>
          <a:xfrm>
            <a:off x="6896100" y="3004735"/>
            <a:ext cx="514350" cy="123825"/>
          </a:xfrm>
          <a:prstGeom prst="rect">
            <a:avLst/>
          </a:prstGeom>
          <a:noFill/>
        </p:spPr>
        <p:txBody>
          <a:bodyPr wrap="none" lIns="0" rIns="0" tIns="0" bIns="0" anchor="ctr">
            <a:spAutoFit/>
          </a:bodyPr>
          <a:lstStyle/>
          <a:p>
            <a:pPr algn="r"/>
            <a:r>
              <a:rPr sz="900" b="1">
                <a:solidFill>
                  <a:srgbClr val="2E7D32"/>
                </a:solidFill>
                <a:latin typeface="Calibri"/>
              </a:rPr>
              <a:t>+68</a:t>
            </a:r>
          </a:p>
        </p:txBody>
      </p:sp>
      <p:sp>
        <p:nvSpPr>
          <p:cNvPr id="32" name="FMI Legend Chip"/>
          <p:cNvSpPr/>
          <p:nvPr/>
        </p:nvSpPr>
        <p:spPr>
          <a:xfrm>
            <a:off x="4928997" y="357266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356789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49169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Creams and Lotions</a:t>
            </a:r>
          </a:p>
        </p:txBody>
      </p:sp>
      <p:sp>
        <p:nvSpPr>
          <p:cNvPr id="35" name="BPS Value 5"/>
          <p:cNvSpPr txBox="1"/>
          <p:nvPr/>
        </p:nvSpPr>
        <p:spPr>
          <a:xfrm>
            <a:off x="6896100" y="3553611"/>
            <a:ext cx="514350" cy="123825"/>
          </a:xfrm>
          <a:prstGeom prst="rect">
            <a:avLst/>
          </a:prstGeom>
          <a:noFill/>
        </p:spPr>
        <p:txBody>
          <a:bodyPr wrap="none" lIns="0" rIns="0" tIns="0" bIns="0" anchor="ctr">
            <a:spAutoFit/>
          </a:bodyPr>
          <a:lstStyle/>
          <a:p>
            <a:pPr algn="r"/>
            <a:r>
              <a:rPr sz="900" b="1">
                <a:solidFill>
                  <a:srgbClr val="E44D3A"/>
                </a:solidFill>
                <a:latin typeface="Calibri"/>
              </a:rPr>
              <a:t>-46</a:t>
            </a:r>
          </a:p>
        </p:txBody>
      </p:sp>
      <p:sp>
        <p:nvSpPr>
          <p:cNvPr id="36" name="FMI Legend Chip"/>
          <p:cNvSpPr/>
          <p:nvPr/>
        </p:nvSpPr>
        <p:spPr>
          <a:xfrm>
            <a:off x="4928997" y="422340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421864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14244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Sticks and Balms</a:t>
            </a:r>
          </a:p>
        </p:txBody>
      </p:sp>
      <p:sp>
        <p:nvSpPr>
          <p:cNvPr id="39" name="BPS Value 6"/>
          <p:cNvSpPr txBox="1"/>
          <p:nvPr/>
        </p:nvSpPr>
        <p:spPr>
          <a:xfrm>
            <a:off x="6896100" y="4204354"/>
            <a:ext cx="514350" cy="123825"/>
          </a:xfrm>
          <a:prstGeom prst="rect">
            <a:avLst/>
          </a:prstGeom>
          <a:noFill/>
        </p:spPr>
        <p:txBody>
          <a:bodyPr wrap="none" lIns="0" rIns="0" tIns="0" bIns="0" anchor="ctr">
            <a:spAutoFit/>
          </a:bodyPr>
          <a:lstStyle/>
          <a:p>
            <a:pPr algn="r"/>
            <a:r>
              <a:rPr sz="900" b="1">
                <a:solidFill>
                  <a:srgbClr val="2E7D32"/>
                </a:solidFill>
                <a:latin typeface="Calibri"/>
              </a:rPr>
              <a:t>+230</a:t>
            </a:r>
          </a:p>
        </p:txBody>
      </p:sp>
      <p:sp>
        <p:nvSpPr>
          <p:cNvPr id="40" name="FMI Legend Chip"/>
          <p:cNvSpPr/>
          <p:nvPr/>
        </p:nvSpPr>
        <p:spPr>
          <a:xfrm>
            <a:off x="4928997" y="491207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0922" y="490731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483111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Clays, Pastes and Pomades</a:t>
            </a:r>
          </a:p>
        </p:txBody>
      </p:sp>
      <p:sp>
        <p:nvSpPr>
          <p:cNvPr id="43" name="BPS Value 7"/>
          <p:cNvSpPr txBox="1"/>
          <p:nvPr/>
        </p:nvSpPr>
        <p:spPr>
          <a:xfrm>
            <a:off x="6896100" y="4893023"/>
            <a:ext cx="514350" cy="123825"/>
          </a:xfrm>
          <a:prstGeom prst="rect">
            <a:avLst/>
          </a:prstGeom>
          <a:noFill/>
        </p:spPr>
        <p:txBody>
          <a:bodyPr wrap="none" lIns="0" rIns="0" tIns="0" bIns="0" anchor="ctr">
            <a:spAutoFit/>
          </a:bodyPr>
          <a:lstStyle/>
          <a:p>
            <a:pPr algn="r"/>
            <a:r>
              <a:rPr sz="900" b="1">
                <a:solidFill>
                  <a:srgbClr val="E44D3A"/>
                </a:solidFill>
                <a:latin typeface="Calibri"/>
              </a:rPr>
              <a:t>-38</a:t>
            </a:r>
          </a:p>
        </p:txBody>
      </p:sp>
      <p:sp>
        <p:nvSpPr>
          <p:cNvPr id="44" name="FMI Legend Chip"/>
          <p:cNvSpPr/>
          <p:nvPr/>
        </p:nvSpPr>
        <p:spPr>
          <a:xfrm>
            <a:off x="4928997" y="575300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a:off x="5090922" y="574824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567204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Serums and Oils</a:t>
            </a:r>
          </a:p>
        </p:txBody>
      </p:sp>
      <p:sp>
        <p:nvSpPr>
          <p:cNvPr id="47" name="BPS Value 8"/>
          <p:cNvSpPr txBox="1"/>
          <p:nvPr/>
        </p:nvSpPr>
        <p:spPr>
          <a:xfrm>
            <a:off x="6896100" y="5733954"/>
            <a:ext cx="514350" cy="123825"/>
          </a:xfrm>
          <a:prstGeom prst="rect">
            <a:avLst/>
          </a:prstGeom>
          <a:noFill/>
        </p:spPr>
        <p:txBody>
          <a:bodyPr wrap="none" lIns="0" rIns="0" tIns="0" bIns="0" anchor="ctr">
            <a:spAutoFit/>
          </a:bodyPr>
          <a:lstStyle/>
          <a:p>
            <a:pPr algn="r"/>
            <a:r>
              <a:rPr sz="900" b="1">
                <a:solidFill>
                  <a:srgbClr val="2E7D32"/>
                </a:solidFill>
                <a:latin typeface="Calibri"/>
              </a:rPr>
              <a:t>+155</a:t>
            </a:r>
          </a:p>
        </p:txBody>
      </p:sp>
      <p:sp>
        <p:nvSpPr>
          <p:cNvPr id="48" name="Rounded Rectangle 4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Latin America Read-out, By Product Format</a:t>
            </a:r>
          </a:p>
        </p:txBody>
      </p:sp>
      <p:sp>
        <p:nvSpPr>
          <p:cNvPr id="50" name="Rectangle 4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product format, sticks and balms segment is expected to witness the highest CAGR of 9.5% over the forecast period. In terms of value share by product format, the styling serums and oils segment is expected to dominate the market, gaining 155 BPS and accounting for 21.5% share by 2036.</a:t>
            </a:r>
          </a:p>
          <a:p>
            <a:pPr algn="l">
              <a:lnSpc>
                <a:spcPct val="110000"/>
              </a:lnSpc>
              <a:spcBef>
                <a:spcPts val="0"/>
              </a:spcBef>
              <a:spcAft>
                <a:spcPts val="500"/>
              </a:spcAft>
            </a:pPr>
            <a:r>
              <a:rPr sz="1150" b="0">
                <a:solidFill>
                  <a:srgbClr val="2E2E2E"/>
                </a:solidFill>
                <a:latin typeface="Calibri"/>
              </a:rPr>
              <a:t>The sprays and mists segment is expected to lose 160 BPS over the forecast period to account for 9.2% share by 2036.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Product Format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Growth,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Product Format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Heatmap, By Product Format (%)  ·  light = lower, dark = higher growth</a:t>
            </a:r>
          </a:p>
        </p:txBody>
      </p:sp>
      <p:sp>
        <p:nvSpPr>
          <p:cNvPr id="12" name="TextBox 11"/>
          <p:cNvSpPr txBox="1"/>
          <p:nvPr/>
        </p:nvSpPr>
        <p:spPr>
          <a:xfrm>
            <a:off x="181886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4653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1178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5823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04695"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511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697610"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44067"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69905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36982"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83439"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2989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763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281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6926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Sprays and Mists</a:t>
            </a:r>
          </a:p>
        </p:txBody>
      </p:sp>
      <p:sp>
        <p:nvSpPr>
          <p:cNvPr id="28" name="Rectangle 27"/>
          <p:cNvSpPr/>
          <p:nvPr/>
        </p:nvSpPr>
        <p:spPr>
          <a:xfrm>
            <a:off x="1818866" y="1409700"/>
            <a:ext cx="646457" cy="34417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465324" y="1409700"/>
            <a:ext cx="646457" cy="344170"/>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11781" y="1409700"/>
            <a:ext cx="646457" cy="34417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58238" y="1409700"/>
            <a:ext cx="646457" cy="34417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04695" y="140970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51153" y="1409700"/>
            <a:ext cx="646457" cy="344170"/>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697610" y="1409700"/>
            <a:ext cx="646457" cy="34417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44067" y="1409700"/>
            <a:ext cx="646457" cy="344170"/>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6990524" y="140970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36982" y="1409700"/>
            <a:ext cx="646457" cy="34417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83439" y="1409700"/>
            <a:ext cx="646457" cy="344170"/>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29896" y="140970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76353" y="140970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2811" y="140970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69268" y="1409700"/>
            <a:ext cx="646457" cy="34417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538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Hairsprays</a:t>
            </a:r>
          </a:p>
        </p:txBody>
      </p:sp>
      <p:sp>
        <p:nvSpPr>
          <p:cNvPr id="44" name="Rectangle 43"/>
          <p:cNvSpPr/>
          <p:nvPr/>
        </p:nvSpPr>
        <p:spPr>
          <a:xfrm>
            <a:off x="1818866" y="175387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465324" y="1753870"/>
            <a:ext cx="646457" cy="344170"/>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11781" y="175387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58238" y="1753870"/>
            <a:ext cx="646457" cy="34417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04695" y="1753870"/>
            <a:ext cx="646457" cy="344170"/>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51153" y="1753870"/>
            <a:ext cx="646457" cy="344170"/>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697610" y="1753870"/>
            <a:ext cx="646457" cy="34417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44067" y="1753870"/>
            <a:ext cx="646457" cy="34417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6990524" y="1753870"/>
            <a:ext cx="646457" cy="344170"/>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36982" y="1753870"/>
            <a:ext cx="646457" cy="344170"/>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83439" y="1753870"/>
            <a:ext cx="646457" cy="344170"/>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29896" y="1753870"/>
            <a:ext cx="646457" cy="34417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76353" y="1753870"/>
            <a:ext cx="646457" cy="34417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2811" y="1753870"/>
            <a:ext cx="646457" cy="34417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69268" y="1753870"/>
            <a:ext cx="646457" cy="34417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980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Hairsprays</a:t>
            </a:r>
          </a:p>
        </p:txBody>
      </p:sp>
      <p:sp>
        <p:nvSpPr>
          <p:cNvPr id="60" name="Rectangle 59"/>
          <p:cNvSpPr/>
          <p:nvPr/>
        </p:nvSpPr>
        <p:spPr>
          <a:xfrm>
            <a:off x="1818866" y="2098040"/>
            <a:ext cx="646457" cy="344170"/>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465324" y="2098040"/>
            <a:ext cx="646457" cy="34417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11781" y="2098040"/>
            <a:ext cx="646457" cy="34417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58238" y="2098040"/>
            <a:ext cx="646457" cy="344170"/>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04695" y="2098040"/>
            <a:ext cx="646457" cy="34417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51153" y="209804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697610" y="2098040"/>
            <a:ext cx="646457" cy="34417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44067" y="2098040"/>
            <a:ext cx="646457" cy="344170"/>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6990524" y="209804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36982" y="2098040"/>
            <a:ext cx="646457" cy="344170"/>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83439" y="209804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29896" y="2098040"/>
            <a:ext cx="646457" cy="344170"/>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76353" y="2098040"/>
            <a:ext cx="646457" cy="344170"/>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2811" y="2098040"/>
            <a:ext cx="646457" cy="344170"/>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69268" y="209804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4422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Texturizing Sprays</a:t>
            </a:r>
          </a:p>
        </p:txBody>
      </p:sp>
      <p:sp>
        <p:nvSpPr>
          <p:cNvPr id="76" name="Rectangle 75"/>
          <p:cNvSpPr/>
          <p:nvPr/>
        </p:nvSpPr>
        <p:spPr>
          <a:xfrm>
            <a:off x="1818866" y="2442210"/>
            <a:ext cx="646457" cy="344170"/>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465324" y="2442210"/>
            <a:ext cx="646457" cy="344170"/>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11781" y="2442210"/>
            <a:ext cx="646457" cy="344170"/>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58238" y="244221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04695" y="2442210"/>
            <a:ext cx="646457" cy="344170"/>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51153" y="2442210"/>
            <a:ext cx="646457" cy="34417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697610" y="244221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44067" y="2442210"/>
            <a:ext cx="646457" cy="34417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6990524" y="2442210"/>
            <a:ext cx="646457" cy="34417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36982" y="2442210"/>
            <a:ext cx="646457" cy="344170"/>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83439" y="2442210"/>
            <a:ext cx="646457" cy="344170"/>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29896" y="2442210"/>
            <a:ext cx="646457" cy="344170"/>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76353" y="2442210"/>
            <a:ext cx="646457" cy="344170"/>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2811" y="2442210"/>
            <a:ext cx="646457" cy="344170"/>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69268" y="2442210"/>
            <a:ext cx="646457" cy="344170"/>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863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Sea-salt Sprays</a:t>
            </a:r>
          </a:p>
        </p:txBody>
      </p:sp>
      <p:sp>
        <p:nvSpPr>
          <p:cNvPr id="92" name="Rectangle 91"/>
          <p:cNvSpPr/>
          <p:nvPr/>
        </p:nvSpPr>
        <p:spPr>
          <a:xfrm>
            <a:off x="1818866" y="2786380"/>
            <a:ext cx="646457" cy="344170"/>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465324" y="2786380"/>
            <a:ext cx="646457" cy="34417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11781" y="2786380"/>
            <a:ext cx="646457" cy="344170"/>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58238" y="278638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04695" y="2786380"/>
            <a:ext cx="646457" cy="344170"/>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51153" y="2786380"/>
            <a:ext cx="646457" cy="344170"/>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697610" y="2786380"/>
            <a:ext cx="646457" cy="344170"/>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44067" y="2786380"/>
            <a:ext cx="646457" cy="344170"/>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6990524" y="2786380"/>
            <a:ext cx="646457" cy="344170"/>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36982" y="2786380"/>
            <a:ext cx="646457" cy="344170"/>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83439" y="2786380"/>
            <a:ext cx="646457" cy="344170"/>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29896" y="2786380"/>
            <a:ext cx="646457" cy="344170"/>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76353" y="2786380"/>
            <a:ext cx="646457" cy="344170"/>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2811" y="2786380"/>
            <a:ext cx="646457" cy="344170"/>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69268" y="2786380"/>
            <a:ext cx="646457" cy="344170"/>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13055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Volumizing Sprays</a:t>
            </a:r>
          </a:p>
        </p:txBody>
      </p:sp>
      <p:sp>
        <p:nvSpPr>
          <p:cNvPr id="108" name="Rectangle 107"/>
          <p:cNvSpPr/>
          <p:nvPr/>
        </p:nvSpPr>
        <p:spPr>
          <a:xfrm>
            <a:off x="1818866" y="3130550"/>
            <a:ext cx="646457" cy="34417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465324" y="313055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11781" y="3130550"/>
            <a:ext cx="646457" cy="34417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58238" y="313055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04695" y="3130550"/>
            <a:ext cx="646457" cy="34417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51153" y="3130550"/>
            <a:ext cx="646457" cy="34417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697610" y="3130550"/>
            <a:ext cx="646457" cy="34417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44067" y="3130550"/>
            <a:ext cx="646457" cy="344170"/>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6990524" y="3130550"/>
            <a:ext cx="646457" cy="34417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36982" y="3130550"/>
            <a:ext cx="646457" cy="344170"/>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83439" y="313055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29896" y="313055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76353" y="3130550"/>
            <a:ext cx="646457" cy="34417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2811" y="313055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69268" y="313055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47472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Mousses and Foams</a:t>
            </a:r>
          </a:p>
        </p:txBody>
      </p:sp>
      <p:sp>
        <p:nvSpPr>
          <p:cNvPr id="124" name="Rectangle 123"/>
          <p:cNvSpPr/>
          <p:nvPr/>
        </p:nvSpPr>
        <p:spPr>
          <a:xfrm>
            <a:off x="1818866" y="3474720"/>
            <a:ext cx="646457" cy="344170"/>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465324" y="3474720"/>
            <a:ext cx="646457" cy="344170"/>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11781" y="3474720"/>
            <a:ext cx="646457" cy="34417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58238" y="3474720"/>
            <a:ext cx="646457" cy="344170"/>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04695" y="3474720"/>
            <a:ext cx="646457" cy="344170"/>
          </a:xfrm>
          <a:prstGeom prst="rect">
            <a:avLst/>
          </a:prstGeom>
          <a:solidFill>
            <a:srgbClr val="C8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51153" y="3474720"/>
            <a:ext cx="646457" cy="34417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697610" y="3474720"/>
            <a:ext cx="646457" cy="34417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44067" y="3474720"/>
            <a:ext cx="646457" cy="34417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6990524" y="347472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36982" y="347472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83439" y="347472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29896" y="347472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76353" y="3474720"/>
            <a:ext cx="646457" cy="344170"/>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2811" y="347472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69268" y="3474720"/>
            <a:ext cx="646457" cy="34417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81889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Mousses</a:t>
            </a:r>
          </a:p>
        </p:txBody>
      </p:sp>
      <p:sp>
        <p:nvSpPr>
          <p:cNvPr id="140" name="Rectangle 139"/>
          <p:cNvSpPr/>
          <p:nvPr/>
        </p:nvSpPr>
        <p:spPr>
          <a:xfrm>
            <a:off x="1818866" y="3818890"/>
            <a:ext cx="646457" cy="344170"/>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465324" y="3818890"/>
            <a:ext cx="646457" cy="34417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11781" y="3818890"/>
            <a:ext cx="646457" cy="34417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58238" y="3818890"/>
            <a:ext cx="646457" cy="344170"/>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04695" y="381889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51153" y="3818890"/>
            <a:ext cx="646457" cy="34417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697610" y="3818890"/>
            <a:ext cx="646457" cy="344170"/>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44067" y="3818890"/>
            <a:ext cx="646457" cy="344170"/>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6990524" y="3818890"/>
            <a:ext cx="646457" cy="34417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36982" y="3818890"/>
            <a:ext cx="646457" cy="34417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83439" y="381889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29896" y="381889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76353" y="3818890"/>
            <a:ext cx="646457" cy="34417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2811" y="381889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69268" y="3818890"/>
            <a:ext cx="646457" cy="34417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16306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Foams</a:t>
            </a:r>
          </a:p>
        </p:txBody>
      </p:sp>
      <p:sp>
        <p:nvSpPr>
          <p:cNvPr id="156" name="Rectangle 155"/>
          <p:cNvSpPr/>
          <p:nvPr/>
        </p:nvSpPr>
        <p:spPr>
          <a:xfrm>
            <a:off x="1818866" y="4163060"/>
            <a:ext cx="646457" cy="34417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465324" y="4163060"/>
            <a:ext cx="646457" cy="344170"/>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11781" y="4163060"/>
            <a:ext cx="646457" cy="34417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58238" y="4163060"/>
            <a:ext cx="646457" cy="34417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04695" y="416306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51153" y="4163060"/>
            <a:ext cx="646457" cy="34417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697610" y="4163060"/>
            <a:ext cx="646457" cy="344170"/>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44067" y="4163060"/>
            <a:ext cx="646457" cy="344170"/>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6990524" y="416306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36982" y="4163060"/>
            <a:ext cx="646457" cy="344170"/>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83439" y="4163060"/>
            <a:ext cx="646457" cy="34417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29896" y="4163060"/>
            <a:ext cx="646457" cy="344170"/>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76353" y="4163060"/>
            <a:ext cx="646457" cy="344170"/>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2811" y="4163060"/>
            <a:ext cx="646457" cy="344170"/>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69268" y="4163060"/>
            <a:ext cx="646457" cy="344170"/>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50723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Gels and Jellies</a:t>
            </a:r>
          </a:p>
        </p:txBody>
      </p:sp>
      <p:sp>
        <p:nvSpPr>
          <p:cNvPr id="172" name="Rectangle 171"/>
          <p:cNvSpPr/>
          <p:nvPr/>
        </p:nvSpPr>
        <p:spPr>
          <a:xfrm>
            <a:off x="1818866" y="4507230"/>
            <a:ext cx="646457" cy="34417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465324" y="4507230"/>
            <a:ext cx="646457" cy="344170"/>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11781" y="450723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58238" y="4507230"/>
            <a:ext cx="646457" cy="344170"/>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04695" y="4507230"/>
            <a:ext cx="646457" cy="34417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51153" y="4507230"/>
            <a:ext cx="646457" cy="34417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697610" y="450723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44067" y="450723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6990524" y="450723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36982" y="450723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83439" y="450723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29896" y="4507230"/>
            <a:ext cx="646457" cy="344170"/>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76353" y="450723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2811" y="450723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69268" y="4507230"/>
            <a:ext cx="646457" cy="344170"/>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8514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Creams and Lotions</a:t>
            </a:r>
          </a:p>
        </p:txBody>
      </p:sp>
      <p:sp>
        <p:nvSpPr>
          <p:cNvPr id="188" name="Rectangle 187"/>
          <p:cNvSpPr/>
          <p:nvPr/>
        </p:nvSpPr>
        <p:spPr>
          <a:xfrm>
            <a:off x="1818866" y="4851400"/>
            <a:ext cx="646457" cy="344170"/>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465324" y="4851400"/>
            <a:ext cx="646457" cy="344170"/>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11781" y="4851400"/>
            <a:ext cx="646457" cy="34417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58238" y="4851400"/>
            <a:ext cx="646457" cy="34417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04695" y="4851400"/>
            <a:ext cx="646457" cy="344170"/>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51153" y="4851400"/>
            <a:ext cx="646457" cy="344170"/>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697610" y="4851400"/>
            <a:ext cx="646457" cy="344170"/>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44067" y="4851400"/>
            <a:ext cx="646457" cy="344170"/>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6990524" y="4851400"/>
            <a:ext cx="646457" cy="344170"/>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36982" y="4851400"/>
            <a:ext cx="646457" cy="344170"/>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83439" y="4851400"/>
            <a:ext cx="646457" cy="344170"/>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29896" y="4851400"/>
            <a:ext cx="646457" cy="344170"/>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76353" y="4851400"/>
            <a:ext cx="646457" cy="344170"/>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2811" y="4851400"/>
            <a:ext cx="646457" cy="344170"/>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69268" y="4851400"/>
            <a:ext cx="646457" cy="344170"/>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1955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Waxes, Clays, Pastes and Pomades</a:t>
            </a:r>
          </a:p>
        </p:txBody>
      </p:sp>
      <p:sp>
        <p:nvSpPr>
          <p:cNvPr id="204" name="Rectangle 203"/>
          <p:cNvSpPr/>
          <p:nvPr/>
        </p:nvSpPr>
        <p:spPr>
          <a:xfrm>
            <a:off x="1818866" y="519557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465324" y="5195570"/>
            <a:ext cx="646457" cy="344170"/>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11781" y="5195570"/>
            <a:ext cx="646457" cy="344170"/>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58238" y="5195570"/>
            <a:ext cx="646457" cy="34417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04695" y="519557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51153" y="5195570"/>
            <a:ext cx="646457" cy="344170"/>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697610" y="5195570"/>
            <a:ext cx="646457" cy="344170"/>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44067" y="5195570"/>
            <a:ext cx="646457" cy="344170"/>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6990524" y="5195570"/>
            <a:ext cx="646457" cy="344170"/>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36982" y="5195570"/>
            <a:ext cx="646457" cy="344170"/>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83439" y="5195570"/>
            <a:ext cx="646457" cy="344170"/>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29896" y="5195570"/>
            <a:ext cx="646457" cy="344170"/>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76353" y="5195570"/>
            <a:ext cx="646457" cy="344170"/>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2811" y="5195570"/>
            <a:ext cx="646457" cy="344170"/>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69268" y="5195570"/>
            <a:ext cx="646457" cy="344170"/>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5397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Powders</a:t>
            </a:r>
          </a:p>
        </p:txBody>
      </p:sp>
      <p:sp>
        <p:nvSpPr>
          <p:cNvPr id="220" name="Rectangle 219"/>
          <p:cNvSpPr/>
          <p:nvPr/>
        </p:nvSpPr>
        <p:spPr>
          <a:xfrm>
            <a:off x="1818866" y="5539740"/>
            <a:ext cx="646457" cy="344170"/>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465324" y="5539740"/>
            <a:ext cx="646457" cy="34417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11781" y="5539740"/>
            <a:ext cx="646457" cy="344170"/>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58238" y="5539740"/>
            <a:ext cx="646457" cy="34417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04695" y="553974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51153" y="5539740"/>
            <a:ext cx="646457" cy="344170"/>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697610" y="5539740"/>
            <a:ext cx="646457" cy="344170"/>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44067" y="5539740"/>
            <a:ext cx="646457" cy="344170"/>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6990524" y="5539740"/>
            <a:ext cx="646457" cy="344170"/>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36982" y="5539740"/>
            <a:ext cx="646457" cy="344170"/>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83439" y="5539740"/>
            <a:ext cx="646457" cy="344170"/>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29896" y="5539740"/>
            <a:ext cx="646457" cy="344170"/>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76353" y="5539740"/>
            <a:ext cx="646457" cy="344170"/>
          </a:xfrm>
          <a:prstGeom prst="rect">
            <a:avLst/>
          </a:prstGeom>
          <a:solidFill>
            <a:srgbClr val="1C7B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2811" y="5539740"/>
            <a:ext cx="646457" cy="344170"/>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69268" y="5539740"/>
            <a:ext cx="646457" cy="344170"/>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8839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Serums and Oils</a:t>
            </a:r>
          </a:p>
        </p:txBody>
      </p:sp>
      <p:sp>
        <p:nvSpPr>
          <p:cNvPr id="236" name="Rectangle 235"/>
          <p:cNvSpPr/>
          <p:nvPr/>
        </p:nvSpPr>
        <p:spPr>
          <a:xfrm>
            <a:off x="1818866" y="5883910"/>
            <a:ext cx="646457" cy="344170"/>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465324" y="588391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11781" y="5883910"/>
            <a:ext cx="646457" cy="34417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58238" y="588391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04695" y="5883910"/>
            <a:ext cx="646457" cy="34417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51153" y="5883910"/>
            <a:ext cx="646457" cy="344170"/>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697610" y="5883910"/>
            <a:ext cx="646457" cy="344170"/>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44067" y="5883910"/>
            <a:ext cx="646457" cy="344170"/>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6990524" y="5883910"/>
            <a:ext cx="646457" cy="344170"/>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36982" y="5883910"/>
            <a:ext cx="646457" cy="344170"/>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83439" y="5883910"/>
            <a:ext cx="646457" cy="344170"/>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29896" y="5883910"/>
            <a:ext cx="646457" cy="344170"/>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76353" y="5883910"/>
            <a:ext cx="646457" cy="344170"/>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2811" y="5883910"/>
            <a:ext cx="646457" cy="344170"/>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69268" y="5883910"/>
            <a:ext cx="646457" cy="344170"/>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62280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Sticks and Balms</a:t>
            </a:r>
          </a:p>
        </p:txBody>
      </p:sp>
      <p:sp>
        <p:nvSpPr>
          <p:cNvPr id="252" name="Rectangle 251"/>
          <p:cNvSpPr/>
          <p:nvPr/>
        </p:nvSpPr>
        <p:spPr>
          <a:xfrm>
            <a:off x="1818866" y="622808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465324" y="6228080"/>
            <a:ext cx="646457" cy="344170"/>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11781" y="622808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58238" y="6228080"/>
            <a:ext cx="646457" cy="344170"/>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04695" y="6228080"/>
            <a:ext cx="646457" cy="344170"/>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51153" y="6228080"/>
            <a:ext cx="646457" cy="344170"/>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697610" y="6228080"/>
            <a:ext cx="646457" cy="344170"/>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44067" y="6228080"/>
            <a:ext cx="646457" cy="344170"/>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6990524" y="6228080"/>
            <a:ext cx="646457" cy="344170"/>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36982" y="6228080"/>
            <a:ext cx="646457" cy="344170"/>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83439" y="6228080"/>
            <a:ext cx="646457" cy="344170"/>
          </a:xfrm>
          <a:prstGeom prst="rect">
            <a:avLst/>
          </a:prstGeom>
          <a:solidFill>
            <a:srgbClr val="0C41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29896" y="6228080"/>
            <a:ext cx="646457" cy="344170"/>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76353" y="6228080"/>
            <a:ext cx="646457" cy="34417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2811" y="6228080"/>
            <a:ext cx="646457" cy="344170"/>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69268" y="6228080"/>
            <a:ext cx="646457" cy="344170"/>
          </a:xfrm>
          <a:prstGeom prst="rect">
            <a:avLst/>
          </a:prstGeom>
          <a:solidFill>
            <a:srgbClr val="0C41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TextBox 30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309" name="TextBox 30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310" name="TextBox 30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311" name="TextBox 3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Hold Level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Hold Level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Hold Level,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Hold Level segment categorizes the market by hold level.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 Hold</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300.0</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619.9</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7.5%</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Strong Hold</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282.9</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556.4</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7.0%</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Light or Flexible Hold</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272.5</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625.3</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8.7%</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No Hold</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255.9</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564.2</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8.2%</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Extra-strong Hold</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239.1</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449.7</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6.5%</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hold level, light or flexible hold segment is expected to witness the highest CAGR of 8.7% over the forecast period. In terms of value share by hold level, the light or flexible hold segment is expected to dominate the market, gaining 203 BPS and accounting for 22.2% share by 2036.</a:t>
            </a:r>
          </a:p>
          <a:p>
            <a:pPr algn="l">
              <a:lnSpc>
                <a:spcPct val="110000"/>
              </a:lnSpc>
              <a:spcBef>
                <a:spcPts val="0"/>
              </a:spcBef>
              <a:spcAft>
                <a:spcPts val="500"/>
              </a:spcAft>
            </a:pPr>
            <a:r>
              <a:rPr sz="1100" b="0">
                <a:solidFill>
                  <a:srgbClr val="2E2E2E"/>
                </a:solidFill>
                <a:latin typeface="Calibri"/>
              </a:rPr>
              <a:t>Light or flexible hold segment is projected to register 1.0X higher value than medium hold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 Hold: </a:t>
            </a:r>
            <a:r>
              <a:rPr sz="1100" b="0">
                <a:solidFill>
                  <a:srgbClr val="2E2E2E"/>
                </a:solidFill>
                <a:latin typeface="Calibri"/>
              </a:rPr>
              <a:t>22% of 2026 value · 7.5%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Strong Hold: </a:t>
            </a:r>
            <a:r>
              <a:rPr sz="1100" b="0">
                <a:solidFill>
                  <a:srgbClr val="2E2E2E"/>
                </a:solidFill>
                <a:latin typeface="Calibri"/>
              </a:rPr>
              <a:t>21% of 2026 value · 7.0%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Light or Flexible Hold: </a:t>
            </a:r>
            <a:r>
              <a:rPr sz="1100" b="0">
                <a:solidFill>
                  <a:srgbClr val="2E2E2E"/>
                </a:solidFill>
                <a:latin typeface="Calibri"/>
              </a:rPr>
              <a:t>20% of 2026 value · 8.7%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No Hold: </a:t>
            </a:r>
            <a:r>
              <a:rPr sz="1100" b="0">
                <a:solidFill>
                  <a:srgbClr val="2E2E2E"/>
                </a:solidFill>
                <a:latin typeface="Calibri"/>
              </a:rPr>
              <a:t>19% of 2026 value · 8.2%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Extra-strong Hold: </a:t>
            </a:r>
            <a:r>
              <a:rPr sz="1100" b="0">
                <a:solidFill>
                  <a:srgbClr val="2E2E2E"/>
                </a:solidFill>
                <a:latin typeface="Calibri"/>
              </a:rPr>
              <a:t>18% of 2026 value · 6.5% CAGR serves a niche.</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Hold Level split shows how demand is distributed across hold level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Hold Level segment is projected to grow at a CAGR of 7.6%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Structure &amp; Attractiveness, By Hold Level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Hold Level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Hold Level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Light or flexible hold followed by medium hold are expected to be the two most attractive hold level segments in the Latin America hair styling products market in terms of value over the forecast period. Light or flexible hold and medium hold exhibit a CAGR index of 113.6 and 98.7 and a market share index of 100.9 and 111.1 respectively, against the segment average of 100. The extra-strong hold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Hold Level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No Hold</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Light or Flexible Hold</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Medium Hold</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Strong Hold</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Hold Level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Extra-strong Hold</a:t>
            </a:r>
          </a:p>
        </p:txBody>
      </p:sp>
      <p:graphicFrame>
        <p:nvGraphicFramePr>
          <p:cNvPr id="12" name="Chart 11"/>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Latin America Absolute $ Opportunity Analysis, By Hold Level</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light or flexible hold segment is anticipated to witness an increase of 2.3X in terms of value as compared to 2026. The light or flexible hold segment is expected to create an incremental opportunity of US$ 352.8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medium hold segment is expected to create an incremental opportunity of US$ 319.9 Mn for the overall hair styling products market from 2026 to 2036. The no hold segment is expected to create an incremental opportunity of US$ 308.4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Hold Level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Hold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Hold Level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Analysis, By Hold Level</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Light or flexible hold segment is projected to register 1.0X higher value than medium hold segment in 2036. Among hair styling products by hold level, light or flexible hold segment is expected to witness the highest CAGR of 8.7% over the forecast period.</a:t>
            </a:r>
          </a:p>
          <a:p>
            <a:pPr algn="l">
              <a:lnSpc>
                <a:spcPct val="110000"/>
              </a:lnSpc>
              <a:spcBef>
                <a:spcPts val="0"/>
              </a:spcBef>
              <a:spcAft>
                <a:spcPts val="500"/>
              </a:spcAft>
            </a:pPr>
            <a:r>
              <a:rPr sz="1150" b="0">
                <a:solidFill>
                  <a:srgbClr val="2E2E2E"/>
                </a:solidFill>
                <a:latin typeface="Calibri"/>
              </a:rPr>
              <a:t>In terms of value share by hold level, the light or flexible hold segment is expected to dominate the market, gaining 203 BPS and accounting for 22.2% share by 2036. The extra-strong hold segment is expected to lose 174 BPS over the forecast period to account for 16.0%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&amp; Share Shift, By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Hold Level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Composition, By Hold Level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36411"/>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3164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5544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Extra-strong Hold</a:t>
            </a:r>
          </a:p>
        </p:txBody>
      </p:sp>
      <p:sp>
        <p:nvSpPr>
          <p:cNvPr id="19" name="BPS Value 1"/>
          <p:cNvSpPr txBox="1"/>
          <p:nvPr/>
        </p:nvSpPr>
        <p:spPr>
          <a:xfrm>
            <a:off x="6896100" y="2017361"/>
            <a:ext cx="514350" cy="123825"/>
          </a:xfrm>
          <a:prstGeom prst="rect">
            <a:avLst/>
          </a:prstGeom>
          <a:noFill/>
        </p:spPr>
        <p:txBody>
          <a:bodyPr wrap="none" lIns="0" rIns="0" tIns="0" bIns="0" anchor="ctr">
            <a:spAutoFit/>
          </a:bodyPr>
          <a:lstStyle/>
          <a:p>
            <a:pPr algn="r"/>
            <a:r>
              <a:rPr sz="900" b="1">
                <a:solidFill>
                  <a:srgbClr val="E44D3A"/>
                </a:solidFill>
                <a:latin typeface="Calibri"/>
              </a:rPr>
              <a:t>-174</a:t>
            </a:r>
          </a:p>
        </p:txBody>
      </p:sp>
      <p:sp>
        <p:nvSpPr>
          <p:cNvPr id="20" name="FMI Legend Chip"/>
          <p:cNvSpPr/>
          <p:nvPr/>
        </p:nvSpPr>
        <p:spPr>
          <a:xfrm>
            <a:off x="4928997" y="2853377"/>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84861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7241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Strong Hold</a:t>
            </a:r>
          </a:p>
        </p:txBody>
      </p:sp>
      <p:sp>
        <p:nvSpPr>
          <p:cNvPr id="23" name="BPS Value 2"/>
          <p:cNvSpPr txBox="1"/>
          <p:nvPr/>
        </p:nvSpPr>
        <p:spPr>
          <a:xfrm>
            <a:off x="6896100" y="2834327"/>
            <a:ext cx="514350" cy="123825"/>
          </a:xfrm>
          <a:prstGeom prst="rect">
            <a:avLst/>
          </a:prstGeom>
          <a:noFill/>
        </p:spPr>
        <p:txBody>
          <a:bodyPr wrap="none" lIns="0" rIns="0" tIns="0" bIns="0" anchor="ctr">
            <a:spAutoFit/>
          </a:bodyPr>
          <a:lstStyle/>
          <a:p>
            <a:pPr algn="r"/>
            <a:r>
              <a:rPr sz="900" b="1">
                <a:solidFill>
                  <a:srgbClr val="E44D3A"/>
                </a:solidFill>
                <a:latin typeface="Calibri"/>
              </a:rPr>
              <a:t>-119</a:t>
            </a:r>
          </a:p>
        </p:txBody>
      </p:sp>
      <p:sp>
        <p:nvSpPr>
          <p:cNvPr id="24" name="FMI Legend Chip"/>
          <p:cNvSpPr/>
          <p:nvPr/>
        </p:nvSpPr>
        <p:spPr>
          <a:xfrm>
            <a:off x="4928997" y="376336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75860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68240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 Hold</a:t>
            </a:r>
          </a:p>
        </p:txBody>
      </p:sp>
      <p:sp>
        <p:nvSpPr>
          <p:cNvPr id="27" name="BPS Value 3"/>
          <p:cNvSpPr txBox="1"/>
          <p:nvPr/>
        </p:nvSpPr>
        <p:spPr>
          <a:xfrm>
            <a:off x="6896100" y="3744312"/>
            <a:ext cx="514350" cy="123825"/>
          </a:xfrm>
          <a:prstGeom prst="rect">
            <a:avLst/>
          </a:prstGeom>
          <a:noFill/>
        </p:spPr>
        <p:txBody>
          <a:bodyPr wrap="none" lIns="0" rIns="0" tIns="0" bIns="0" anchor="ctr">
            <a:spAutoFit/>
          </a:bodyPr>
          <a:lstStyle/>
          <a:p>
            <a:pPr algn="r"/>
            <a:r>
              <a:rPr sz="900" b="1">
                <a:solidFill>
                  <a:srgbClr val="2E7D32"/>
                </a:solidFill>
                <a:latin typeface="Calibri"/>
              </a:rPr>
              <a:t>+109</a:t>
            </a:r>
          </a:p>
        </p:txBody>
      </p:sp>
      <p:sp>
        <p:nvSpPr>
          <p:cNvPr id="28" name="FMI Legend Chip"/>
          <p:cNvSpPr/>
          <p:nvPr/>
        </p:nvSpPr>
        <p:spPr>
          <a:xfrm>
            <a:off x="4928997" y="472486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72010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64390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 Hold</a:t>
            </a:r>
          </a:p>
        </p:txBody>
      </p:sp>
      <p:sp>
        <p:nvSpPr>
          <p:cNvPr id="31" name="BPS Value 4"/>
          <p:cNvSpPr txBox="1"/>
          <p:nvPr/>
        </p:nvSpPr>
        <p:spPr>
          <a:xfrm>
            <a:off x="6896100" y="4705813"/>
            <a:ext cx="514350" cy="123825"/>
          </a:xfrm>
          <a:prstGeom prst="rect">
            <a:avLst/>
          </a:prstGeom>
          <a:noFill/>
        </p:spPr>
        <p:txBody>
          <a:bodyPr wrap="none" lIns="0" rIns="0" tIns="0" bIns="0" anchor="ctr">
            <a:spAutoFit/>
          </a:bodyPr>
          <a:lstStyle/>
          <a:p>
            <a:pPr algn="r"/>
            <a:r>
              <a:rPr sz="900" b="1">
                <a:solidFill>
                  <a:srgbClr val="E44D3A"/>
                </a:solidFill>
                <a:latin typeface="Calibri"/>
              </a:rPr>
              <a:t>-20</a:t>
            </a:r>
          </a:p>
        </p:txBody>
      </p:sp>
      <p:sp>
        <p:nvSpPr>
          <p:cNvPr id="32" name="FMI Legend Chip"/>
          <p:cNvSpPr/>
          <p:nvPr/>
        </p:nvSpPr>
        <p:spPr>
          <a:xfrm>
            <a:off x="4928997" y="573591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573115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5495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Light or Flexible Hold</a:t>
            </a:r>
          </a:p>
        </p:txBody>
      </p:sp>
      <p:sp>
        <p:nvSpPr>
          <p:cNvPr id="35" name="BPS Value 5"/>
          <p:cNvSpPr txBox="1"/>
          <p:nvPr/>
        </p:nvSpPr>
        <p:spPr>
          <a:xfrm>
            <a:off x="6896100" y="5716863"/>
            <a:ext cx="514350" cy="123825"/>
          </a:xfrm>
          <a:prstGeom prst="rect">
            <a:avLst/>
          </a:prstGeom>
          <a:noFill/>
        </p:spPr>
        <p:txBody>
          <a:bodyPr wrap="none" lIns="0" rIns="0" tIns="0" bIns="0" anchor="ctr">
            <a:spAutoFit/>
          </a:bodyPr>
          <a:lstStyle/>
          <a:p>
            <a:pPr algn="r"/>
            <a:r>
              <a:rPr sz="900" b="1">
                <a:solidFill>
                  <a:srgbClr val="2E7D32"/>
                </a:solidFill>
                <a:latin typeface="Calibri"/>
              </a:rPr>
              <a:t>+203</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Latin America Read-out, By Hold Level</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hold level, light or flexible hold segment is expected to witness the highest CAGR of 8.7% over the forecast period. In terms of value share by hold level, the light or flexible hold segment is expected to dominate the market, gaining 203 BPS and accounting for 22.2% share by 2036.</a:t>
            </a:r>
          </a:p>
          <a:p>
            <a:pPr algn="l">
              <a:lnSpc>
                <a:spcPct val="110000"/>
              </a:lnSpc>
              <a:spcBef>
                <a:spcPts val="0"/>
              </a:spcBef>
              <a:spcAft>
                <a:spcPts val="500"/>
              </a:spcAft>
            </a:pPr>
            <a:r>
              <a:rPr sz="1150" b="0">
                <a:solidFill>
                  <a:srgbClr val="2E2E2E"/>
                </a:solidFill>
                <a:latin typeface="Calibri"/>
              </a:rPr>
              <a:t>The extra-strong hold segment is expected to lose 174 BPS over the forecast period to account for 16.0%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Hold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Hold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Growth,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Heatmap, By Hold Level (%)  ·  light = lower, dark = higher growth</a:t>
            </a:r>
          </a:p>
        </p:txBody>
      </p:sp>
      <p:sp>
        <p:nvSpPr>
          <p:cNvPr id="17" name="TextBox 16"/>
          <p:cNvSpPr txBox="1"/>
          <p:nvPr/>
        </p:nvSpPr>
        <p:spPr>
          <a:xfrm>
            <a:off x="12532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193743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6215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305762"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398992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674089"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35825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042416"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726580"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41074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094907"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7790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463234"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1473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3156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No Hold</a:t>
            </a:r>
          </a:p>
        </p:txBody>
      </p:sp>
      <p:sp>
        <p:nvSpPr>
          <p:cNvPr id="33" name="Rectangle 32"/>
          <p:cNvSpPr/>
          <p:nvPr/>
        </p:nvSpPr>
        <p:spPr>
          <a:xfrm>
            <a:off x="1253271" y="3305175"/>
            <a:ext cx="684164" cy="653415"/>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937435" y="3305175"/>
            <a:ext cx="684164" cy="65341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621598" y="3305175"/>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305762" y="3305175"/>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89925" y="3305175"/>
            <a:ext cx="684164" cy="653415"/>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74089" y="3305175"/>
            <a:ext cx="684164" cy="65341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358253" y="3305175"/>
            <a:ext cx="684164" cy="653415"/>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042416" y="3305175"/>
            <a:ext cx="684164" cy="653415"/>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726580" y="3305175"/>
            <a:ext cx="684164" cy="653415"/>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410743" y="3305175"/>
            <a:ext cx="684164" cy="653415"/>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94907" y="3305175"/>
            <a:ext cx="684164" cy="653415"/>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79071" y="3305175"/>
            <a:ext cx="684164" cy="653415"/>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63234" y="3305175"/>
            <a:ext cx="684164" cy="653415"/>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47398" y="3305175"/>
            <a:ext cx="684164" cy="653415"/>
          </a:xfrm>
          <a:prstGeom prst="rect">
            <a:avLst/>
          </a:prstGeom>
          <a:solidFill>
            <a:srgbClr val="0D5D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31561" y="3305175"/>
            <a:ext cx="684164" cy="653415"/>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Light or Flexible Hold</a:t>
            </a:r>
          </a:p>
        </p:txBody>
      </p:sp>
      <p:sp>
        <p:nvSpPr>
          <p:cNvPr id="49" name="Rectangle 48"/>
          <p:cNvSpPr/>
          <p:nvPr/>
        </p:nvSpPr>
        <p:spPr>
          <a:xfrm>
            <a:off x="1253271" y="3958590"/>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937435" y="3958590"/>
            <a:ext cx="684164"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621598" y="3958590"/>
            <a:ext cx="684164" cy="65341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305762" y="3958590"/>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89925" y="3958590"/>
            <a:ext cx="684164" cy="653415"/>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74089" y="3958590"/>
            <a:ext cx="684164" cy="653415"/>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358253" y="3958590"/>
            <a:ext cx="684164" cy="653415"/>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042416" y="3958590"/>
            <a:ext cx="684164" cy="653415"/>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726580" y="3958590"/>
            <a:ext cx="684164" cy="653415"/>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410743" y="3958590"/>
            <a:ext cx="684164" cy="653415"/>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94907" y="3958590"/>
            <a:ext cx="684164"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79071" y="3958590"/>
            <a:ext cx="684164" cy="653415"/>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63234" y="3958590"/>
            <a:ext cx="684164" cy="653415"/>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47398" y="3958590"/>
            <a:ext cx="684164" cy="653415"/>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31561" y="3958590"/>
            <a:ext cx="684164" cy="653415"/>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Medium Hold</a:t>
            </a:r>
          </a:p>
        </p:txBody>
      </p:sp>
      <p:sp>
        <p:nvSpPr>
          <p:cNvPr id="65" name="Rectangle 64"/>
          <p:cNvSpPr/>
          <p:nvPr/>
        </p:nvSpPr>
        <p:spPr>
          <a:xfrm>
            <a:off x="1253271" y="4612005"/>
            <a:ext cx="684164" cy="653415"/>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937435" y="4612005"/>
            <a:ext cx="684164" cy="653415"/>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621598" y="4612005"/>
            <a:ext cx="684164" cy="653415"/>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305762" y="4612005"/>
            <a:ext cx="684164" cy="653415"/>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89925" y="4612005"/>
            <a:ext cx="684164" cy="653415"/>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74089" y="4612005"/>
            <a:ext cx="684164" cy="653415"/>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358253" y="4612005"/>
            <a:ext cx="684164" cy="653415"/>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042416" y="4612005"/>
            <a:ext cx="684164" cy="653415"/>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726580" y="4612005"/>
            <a:ext cx="684164" cy="653415"/>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410743" y="4612005"/>
            <a:ext cx="684164" cy="653415"/>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94907" y="4612005"/>
            <a:ext cx="684164" cy="653415"/>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79071" y="4612005"/>
            <a:ext cx="684164" cy="653415"/>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63234" y="4612005"/>
            <a:ext cx="684164" cy="653415"/>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47398" y="4612005"/>
            <a:ext cx="684164" cy="653415"/>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31561" y="4612005"/>
            <a:ext cx="684164" cy="653415"/>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Strong Hold</a:t>
            </a:r>
          </a:p>
        </p:txBody>
      </p:sp>
      <p:sp>
        <p:nvSpPr>
          <p:cNvPr id="81" name="Rectangle 80"/>
          <p:cNvSpPr/>
          <p:nvPr/>
        </p:nvSpPr>
        <p:spPr>
          <a:xfrm>
            <a:off x="1253271" y="5265420"/>
            <a:ext cx="684164" cy="65341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937435" y="5265420"/>
            <a:ext cx="684164" cy="65341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621598" y="5265420"/>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305762" y="5265420"/>
            <a:ext cx="684164" cy="653415"/>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989925" y="5265420"/>
            <a:ext cx="684164" cy="653415"/>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674089" y="5265420"/>
            <a:ext cx="684164" cy="653415"/>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358253" y="5265420"/>
            <a:ext cx="684164" cy="653415"/>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042416" y="5265420"/>
            <a:ext cx="684164" cy="653415"/>
          </a:xfrm>
          <a:prstGeom prst="rect">
            <a:avLst/>
          </a:prstGeom>
          <a:solidFill>
            <a:srgbClr val="93BE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726580" y="5265420"/>
            <a:ext cx="684164" cy="653415"/>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410743" y="5265420"/>
            <a:ext cx="684164" cy="653415"/>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094907" y="5265420"/>
            <a:ext cx="684164" cy="653415"/>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779071" y="5265420"/>
            <a:ext cx="684164" cy="653415"/>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463234" y="5265420"/>
            <a:ext cx="684164" cy="653415"/>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47398" y="5265420"/>
            <a:ext cx="684164" cy="653415"/>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31561" y="5265420"/>
            <a:ext cx="684164" cy="653415"/>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Extra-strong Hold</a:t>
            </a:r>
          </a:p>
        </p:txBody>
      </p:sp>
      <p:sp>
        <p:nvSpPr>
          <p:cNvPr id="97" name="Rectangle 96"/>
          <p:cNvSpPr/>
          <p:nvPr/>
        </p:nvSpPr>
        <p:spPr>
          <a:xfrm>
            <a:off x="1253271" y="5918835"/>
            <a:ext cx="684164"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937435" y="5918835"/>
            <a:ext cx="684164" cy="653415"/>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621598" y="5918835"/>
            <a:ext cx="684164" cy="65341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305762" y="5918835"/>
            <a:ext cx="684164" cy="65341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989925" y="5918835"/>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674089" y="5918835"/>
            <a:ext cx="684164" cy="65341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358253" y="5918835"/>
            <a:ext cx="684164" cy="653415"/>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042416" y="5918835"/>
            <a:ext cx="684164" cy="653415"/>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726580" y="5918835"/>
            <a:ext cx="684164" cy="653415"/>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410743" y="5918835"/>
            <a:ext cx="684164" cy="653415"/>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094907" y="5918835"/>
            <a:ext cx="684164" cy="653415"/>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779071" y="5918835"/>
            <a:ext cx="684164" cy="65341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463234" y="5918835"/>
            <a:ext cx="684164" cy="653415"/>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47398" y="5918835"/>
            <a:ext cx="684164" cy="653415"/>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31561" y="5918835"/>
            <a:ext cx="684164" cy="653415"/>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Finish</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Finish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Finish,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Finish segment categorizes the market by finish.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Glossy or Wet-look</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491.1</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1,083</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8.2%</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Natural</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434.7</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855.3</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7.0%</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Matte</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424.5</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877.4</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7.5%</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finish, glossy or wet-look segment is expected to witness the highest CAGR of 8.2% over the forecast period. In terms of value share by finish, the glossy or wet-look segment is expected to dominate the market, gaining 209 BPS and accounting for 38.5% share by 2036.</a:t>
            </a:r>
          </a:p>
          <a:p>
            <a:pPr algn="l">
              <a:lnSpc>
                <a:spcPct val="110000"/>
              </a:lnSpc>
              <a:spcBef>
                <a:spcPts val="0"/>
              </a:spcBef>
              <a:spcAft>
                <a:spcPts val="500"/>
              </a:spcAft>
            </a:pPr>
            <a:r>
              <a:rPr sz="1100" b="0">
                <a:solidFill>
                  <a:srgbClr val="2E2E2E"/>
                </a:solidFill>
                <a:latin typeface="Calibri"/>
              </a:rPr>
              <a:t>Glossy or wet-look segment is projected to register 1.2X higher value than matte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Glossy or Wet-look: </a:t>
            </a:r>
            <a:r>
              <a:rPr sz="1100" b="0">
                <a:solidFill>
                  <a:srgbClr val="2E2E2E"/>
                </a:solidFill>
                <a:latin typeface="Calibri"/>
              </a:rPr>
              <a:t>36% of 2026 value · 8.2%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Natural: </a:t>
            </a:r>
            <a:r>
              <a:rPr sz="1100" b="0">
                <a:solidFill>
                  <a:srgbClr val="2E2E2E"/>
                </a:solidFill>
                <a:latin typeface="Calibri"/>
              </a:rPr>
              <a:t>32% of 2026 value · 7.0%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Matte: </a:t>
            </a:r>
            <a:r>
              <a:rPr sz="1100" b="0">
                <a:solidFill>
                  <a:srgbClr val="2E2E2E"/>
                </a:solidFill>
                <a:latin typeface="Calibri"/>
              </a:rPr>
              <a:t>31% of 2026 value · 7.5% CAGR serves a niche.</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Finish split shows how demand is distributed across finish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Finish segment is projected to grow at a CAGR of 7.6%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Structure &amp; Attractiveness, By Finish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Finish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Finish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Glossy or wet-look followed by matte are expected to be the two most attractive finish segments in the Latin America hair styling products market in terms of value over the forecast period. Glossy or wet-look and matte exhibit a CAGR index of 107.9 and 98.8 and a market share index of 109.1 and 94.3 respectively, against the segment average of 100. The natural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Finish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Matte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Natural</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Glossy or Wet-look</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Latin America Absolute $ Opportunity Analysis, By Finish</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glossy or wet-look segment is anticipated to witness an increase of 2.2X in terms of value as compared to 2026. The glossy or wet-look segment is expected to create an incremental opportunity of US$ 591.6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matte segment is expected to create an incremental opportunity of US$ 452.9 Mn for the overall hair styling products market from 2026 to 2036. The natural segment is expected to create an incremental opportunity of US$ 420.6 Mn for the overall hair styling products market from 2026 to 2036.</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Finish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Finish,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Finish (US$ Mn)</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743200"/>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Analysis, By Finish</a:t>
            </a:r>
          </a:p>
        </p:txBody>
      </p:sp>
      <p:sp>
        <p:nvSpPr>
          <p:cNvPr id="17" name="Rectangle 16"/>
          <p:cNvSpPr/>
          <p:nvPr/>
        </p:nvSpPr>
        <p:spPr>
          <a:xfrm>
            <a:off x="276225" y="2981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067050"/>
            <a:ext cx="11639550" cy="3486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Glossy or wet-look segment is projected to register 1.2X higher value than matte segment in 2036. Among hair styling products by finish, glossy or wet-look segment is expected to witness the highest CAGR of 8.2% over the forecast period.</a:t>
            </a:r>
          </a:p>
          <a:p>
            <a:pPr algn="l">
              <a:lnSpc>
                <a:spcPct val="110000"/>
              </a:lnSpc>
              <a:spcBef>
                <a:spcPts val="0"/>
              </a:spcBef>
              <a:spcAft>
                <a:spcPts val="500"/>
              </a:spcAft>
            </a:pPr>
            <a:r>
              <a:rPr sz="1150" b="0">
                <a:solidFill>
                  <a:srgbClr val="2E2E2E"/>
                </a:solidFill>
                <a:latin typeface="Calibri"/>
              </a:rPr>
              <a:t>In terms of value share by finish, the glossy or wet-look segment is expected to dominate the market, gaining 209 BPS and accounting for 38.5% share by 2036. The natural segment is expected to lose 181 BPS over the forecast period to account for 30.4%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&amp; Share Shift,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Finish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Composition, By Finish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36577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36101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28481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Natural</a:t>
            </a:r>
          </a:p>
        </p:txBody>
      </p:sp>
      <p:sp>
        <p:nvSpPr>
          <p:cNvPr id="19" name="BPS Value 1"/>
          <p:cNvSpPr txBox="1"/>
          <p:nvPr/>
        </p:nvSpPr>
        <p:spPr>
          <a:xfrm>
            <a:off x="6896100" y="2346729"/>
            <a:ext cx="514350" cy="123825"/>
          </a:xfrm>
          <a:prstGeom prst="rect">
            <a:avLst/>
          </a:prstGeom>
          <a:noFill/>
        </p:spPr>
        <p:txBody>
          <a:bodyPr wrap="none" lIns="0" rIns="0" tIns="0" bIns="0" anchor="ctr">
            <a:spAutoFit/>
          </a:bodyPr>
          <a:lstStyle/>
          <a:p>
            <a:pPr algn="r"/>
            <a:r>
              <a:rPr sz="900" b="1">
                <a:solidFill>
                  <a:srgbClr val="E44D3A"/>
                </a:solidFill>
                <a:latin typeface="Calibri"/>
              </a:rPr>
              <a:t>-181</a:t>
            </a:r>
          </a:p>
        </p:txBody>
      </p:sp>
      <p:sp>
        <p:nvSpPr>
          <p:cNvPr id="20" name="FMI Legend Chip"/>
          <p:cNvSpPr/>
          <p:nvPr/>
        </p:nvSpPr>
        <p:spPr>
          <a:xfrm>
            <a:off x="4928997" y="377279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76803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69183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Matte</a:t>
            </a:r>
          </a:p>
        </p:txBody>
      </p:sp>
      <p:sp>
        <p:nvSpPr>
          <p:cNvPr id="23" name="BPS Value 2"/>
          <p:cNvSpPr txBox="1"/>
          <p:nvPr/>
        </p:nvSpPr>
        <p:spPr>
          <a:xfrm>
            <a:off x="6896100" y="3753746"/>
            <a:ext cx="514350" cy="123825"/>
          </a:xfrm>
          <a:prstGeom prst="rect">
            <a:avLst/>
          </a:prstGeom>
          <a:noFill/>
        </p:spPr>
        <p:txBody>
          <a:bodyPr wrap="none" lIns="0" rIns="0" tIns="0" bIns="0" anchor="ctr">
            <a:spAutoFit/>
          </a:bodyPr>
          <a:lstStyle/>
          <a:p>
            <a:pPr algn="r"/>
            <a:r>
              <a:rPr sz="900" b="1">
                <a:solidFill>
                  <a:srgbClr val="E44D3A"/>
                </a:solidFill>
                <a:latin typeface="Calibri"/>
              </a:rPr>
              <a:t>-27</a:t>
            </a:r>
          </a:p>
        </p:txBody>
      </p:sp>
      <p:sp>
        <p:nvSpPr>
          <p:cNvPr id="24" name="FMI Legend Chip"/>
          <p:cNvSpPr/>
          <p:nvPr/>
        </p:nvSpPr>
        <p:spPr>
          <a:xfrm>
            <a:off x="4928997" y="536446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535970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28350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Glossy or Wet-look</a:t>
            </a:r>
          </a:p>
        </p:txBody>
      </p:sp>
      <p:sp>
        <p:nvSpPr>
          <p:cNvPr id="27" name="BPS Value 3"/>
          <p:cNvSpPr txBox="1"/>
          <p:nvPr/>
        </p:nvSpPr>
        <p:spPr>
          <a:xfrm>
            <a:off x="6896100" y="5345414"/>
            <a:ext cx="514350" cy="123825"/>
          </a:xfrm>
          <a:prstGeom prst="rect">
            <a:avLst/>
          </a:prstGeom>
          <a:noFill/>
        </p:spPr>
        <p:txBody>
          <a:bodyPr wrap="none" lIns="0" rIns="0" tIns="0" bIns="0" anchor="ctr">
            <a:spAutoFit/>
          </a:bodyPr>
          <a:lstStyle/>
          <a:p>
            <a:pPr algn="r"/>
            <a:r>
              <a:rPr sz="900" b="1">
                <a:solidFill>
                  <a:srgbClr val="2E7D32"/>
                </a:solidFill>
                <a:latin typeface="Calibri"/>
              </a:rPr>
              <a:t>+209</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Latin America Read-out, By Finish</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finish, glossy or wet-look segment is expected to witness the highest CAGR of 8.2% over the forecast period. In terms of value share by finish, the glossy or wet-look segment is expected to dominate the market, gaining 209 BPS and accounting for 38.5% share by 2036.</a:t>
            </a:r>
          </a:p>
          <a:p>
            <a:pPr algn="l">
              <a:lnSpc>
                <a:spcPct val="110000"/>
              </a:lnSpc>
              <a:spcBef>
                <a:spcPts val="0"/>
              </a:spcBef>
              <a:spcAft>
                <a:spcPts val="500"/>
              </a:spcAft>
            </a:pPr>
            <a:r>
              <a:rPr sz="1150" b="0">
                <a:solidFill>
                  <a:srgbClr val="2E2E2E"/>
                </a:solidFill>
                <a:latin typeface="Calibri"/>
              </a:rPr>
              <a:t>The natural segment is expected to lose 181 BPS over the forecast period to account for 30.4% share by 2036.</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Finish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Finish,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Growth,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5050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Heatmap, By Finish (%)  ·  light = lower, dark = higher growth</a:t>
            </a:r>
          </a:p>
        </p:txBody>
      </p:sp>
      <p:sp>
        <p:nvSpPr>
          <p:cNvPr id="17" name="TextBox 16"/>
          <p:cNvSpPr txBox="1"/>
          <p:nvPr/>
        </p:nvSpPr>
        <p:spPr>
          <a:xfrm>
            <a:off x="115183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84276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53368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22461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91553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60646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29739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98831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67924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37016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806109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75202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44294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3387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2479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28765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Matte</a:t>
            </a:r>
          </a:p>
        </p:txBody>
      </p:sp>
      <p:sp>
        <p:nvSpPr>
          <p:cNvPr id="33" name="Rectangle 32"/>
          <p:cNvSpPr/>
          <p:nvPr/>
        </p:nvSpPr>
        <p:spPr>
          <a:xfrm>
            <a:off x="1151835" y="2876550"/>
            <a:ext cx="690926" cy="123190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842761" y="2876550"/>
            <a:ext cx="690926" cy="1231900"/>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533687" y="2876550"/>
            <a:ext cx="690926" cy="123190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224613" y="2876550"/>
            <a:ext cx="690926" cy="123190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15539" y="2876550"/>
            <a:ext cx="690926" cy="1231900"/>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06465" y="2876550"/>
            <a:ext cx="690926" cy="123190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297391" y="2876550"/>
            <a:ext cx="690926" cy="1231900"/>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988317" y="2876550"/>
            <a:ext cx="690926" cy="1231900"/>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679243" y="2876550"/>
            <a:ext cx="690926" cy="1231900"/>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370169" y="2876550"/>
            <a:ext cx="690926" cy="1231900"/>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61095" y="2876550"/>
            <a:ext cx="690926" cy="1231900"/>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52021" y="2876550"/>
            <a:ext cx="690926" cy="1231900"/>
          </a:xfrm>
          <a:prstGeom prst="rect">
            <a:avLst/>
          </a:prstGeom>
          <a:solidFill>
            <a:srgbClr val="32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42947" y="2876550"/>
            <a:ext cx="690926" cy="1231900"/>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33873" y="2876550"/>
            <a:ext cx="690926" cy="1231900"/>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24799" y="2876550"/>
            <a:ext cx="690926" cy="1231900"/>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084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Natural</a:t>
            </a:r>
          </a:p>
        </p:txBody>
      </p:sp>
      <p:sp>
        <p:nvSpPr>
          <p:cNvPr id="49" name="Rectangle 48"/>
          <p:cNvSpPr/>
          <p:nvPr/>
        </p:nvSpPr>
        <p:spPr>
          <a:xfrm>
            <a:off x="1151835" y="4108450"/>
            <a:ext cx="690926" cy="1231900"/>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842761" y="4108450"/>
            <a:ext cx="690926" cy="123190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533687" y="4108450"/>
            <a:ext cx="690926" cy="123190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224613" y="4108450"/>
            <a:ext cx="690926" cy="123190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15539" y="4108450"/>
            <a:ext cx="690926" cy="1231900"/>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06465" y="4108450"/>
            <a:ext cx="690926" cy="123190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297391" y="4108450"/>
            <a:ext cx="690926" cy="1231900"/>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988317" y="4108450"/>
            <a:ext cx="690926" cy="1231900"/>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679243" y="4108450"/>
            <a:ext cx="690926" cy="1231900"/>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370169" y="4108450"/>
            <a:ext cx="690926" cy="1231900"/>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61095" y="4108450"/>
            <a:ext cx="690926" cy="1231900"/>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52021" y="4108450"/>
            <a:ext cx="690926" cy="1231900"/>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42947" y="4108450"/>
            <a:ext cx="690926" cy="1231900"/>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33873" y="4108450"/>
            <a:ext cx="690926" cy="1231900"/>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24799" y="4108450"/>
            <a:ext cx="690926" cy="1231900"/>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403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Glossy or Wet-look</a:t>
            </a:r>
          </a:p>
        </p:txBody>
      </p:sp>
      <p:sp>
        <p:nvSpPr>
          <p:cNvPr id="65" name="Rectangle 64"/>
          <p:cNvSpPr/>
          <p:nvPr/>
        </p:nvSpPr>
        <p:spPr>
          <a:xfrm>
            <a:off x="1151835" y="5340350"/>
            <a:ext cx="690926" cy="1231900"/>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842761" y="5340350"/>
            <a:ext cx="690926" cy="123190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533687" y="5340350"/>
            <a:ext cx="690926" cy="12319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224613" y="5340350"/>
            <a:ext cx="690926" cy="123190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15539" y="5340350"/>
            <a:ext cx="690926" cy="123190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06465" y="5340350"/>
            <a:ext cx="690926" cy="123190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297391" y="5340350"/>
            <a:ext cx="690926" cy="1231900"/>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988317" y="5340350"/>
            <a:ext cx="690926" cy="1231900"/>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679243" y="5340350"/>
            <a:ext cx="690926" cy="1231900"/>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370169" y="5340350"/>
            <a:ext cx="690926" cy="1231900"/>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61095" y="5340350"/>
            <a:ext cx="690926" cy="1231900"/>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52021" y="5340350"/>
            <a:ext cx="690926" cy="1231900"/>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42947" y="5340350"/>
            <a:ext cx="690926" cy="12319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33873" y="5340350"/>
            <a:ext cx="690926" cy="1231900"/>
          </a:xfrm>
          <a:prstGeom prst="rect">
            <a:avLst/>
          </a:prstGeom>
          <a:solidFill>
            <a:srgbClr val="0B32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24799" y="5340350"/>
            <a:ext cx="690926" cy="1231900"/>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2914650"/>
            <a:ext cx="104775" cy="98108"/>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005138"/>
            <a:ext cx="104775" cy="98108"/>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095625"/>
            <a:ext cx="104775" cy="98108"/>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186112"/>
            <a:ext cx="104775" cy="98108"/>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276600"/>
            <a:ext cx="104775" cy="98108"/>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367088"/>
            <a:ext cx="104775" cy="98108"/>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457575"/>
            <a:ext cx="104775" cy="98108"/>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548062"/>
            <a:ext cx="104775" cy="98108"/>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638550"/>
            <a:ext cx="104775" cy="98108"/>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729038"/>
            <a:ext cx="104775" cy="98108"/>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819525"/>
            <a:ext cx="104775" cy="98108"/>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10012"/>
            <a:ext cx="104775" cy="98108"/>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00500"/>
            <a:ext cx="104775" cy="98108"/>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090988"/>
            <a:ext cx="104775" cy="98108"/>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181475"/>
            <a:ext cx="104775" cy="98108"/>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271962"/>
            <a:ext cx="104775" cy="98108"/>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362450"/>
            <a:ext cx="104775" cy="98108"/>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452938"/>
            <a:ext cx="104775" cy="98108"/>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543425"/>
            <a:ext cx="104775" cy="98108"/>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33912"/>
            <a:ext cx="104775" cy="98108"/>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24400"/>
            <a:ext cx="104775" cy="98108"/>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14888"/>
            <a:ext cx="104775" cy="98108"/>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05375"/>
            <a:ext cx="104775" cy="98108"/>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4995862"/>
            <a:ext cx="104775" cy="98108"/>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086350"/>
            <a:ext cx="104775" cy="98108"/>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176838"/>
            <a:ext cx="104775" cy="98108"/>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267325"/>
            <a:ext cx="104775" cy="98108"/>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57812"/>
            <a:ext cx="104775" cy="98108"/>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48300"/>
            <a:ext cx="104775" cy="98108"/>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38788"/>
            <a:ext cx="104775" cy="98108"/>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29275"/>
            <a:ext cx="104775" cy="98108"/>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19762"/>
            <a:ext cx="104775" cy="98108"/>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10250"/>
            <a:ext cx="104775" cy="98108"/>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00738"/>
            <a:ext cx="104775" cy="98108"/>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5991225"/>
            <a:ext cx="104775" cy="98108"/>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81712"/>
            <a:ext cx="104775" cy="98108"/>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72200"/>
            <a:ext cx="104775" cy="98108"/>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62688"/>
            <a:ext cx="104775" cy="98108"/>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3175"/>
            <a:ext cx="104775" cy="98108"/>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3662"/>
            <a:ext cx="104775" cy="98108"/>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2914650"/>
            <a:ext cx="104775" cy="36195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84797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22" name="TextBox 121"/>
          <p:cNvSpPr txBox="1"/>
          <p:nvPr/>
        </p:nvSpPr>
        <p:spPr>
          <a:xfrm>
            <a:off x="11687175" y="46577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Mass Retail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296.3</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549.2</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6.4%</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Salon and Professional Distributi…</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252.9</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515.6</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7.4%</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Marketplaces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220.7</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524.3</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9.0%</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distribution channel, online marketplaces segment is expected to witness the highest CAGR of 9.0% over the forecast period. In terms of value share by distribution channel, the mass retail segment is expected to dominate the market, losing 244 BPS and accounting for 19.5% share by 2036.</a:t>
            </a:r>
          </a:p>
          <a:p>
            <a:pPr algn="l">
              <a:lnSpc>
                <a:spcPct val="110000"/>
              </a:lnSpc>
              <a:spcBef>
                <a:spcPts val="0"/>
              </a:spcBef>
              <a:spcAft>
                <a:spcPts val="500"/>
              </a:spcAft>
            </a:pPr>
            <a:r>
              <a:rPr sz="1100" b="0">
                <a:solidFill>
                  <a:srgbClr val="2E2E2E"/>
                </a:solidFill>
                <a:latin typeface="Calibri"/>
              </a:rPr>
              <a:t>Mass retail segment is projected to register 1.0X higher value than online marketplaces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Mass Retail: </a:t>
            </a:r>
            <a:r>
              <a:rPr sz="1100" b="0">
                <a:solidFill>
                  <a:srgbClr val="2E2E2E"/>
                </a:solidFill>
                <a:latin typeface="Calibri"/>
              </a:rPr>
              <a:t>22% of 2026 value · 6.4%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Salon and Professional Distribution: </a:t>
            </a:r>
            <a:r>
              <a:rPr sz="1100" b="0">
                <a:solidFill>
                  <a:srgbClr val="2E2E2E"/>
                </a:solidFill>
                <a:latin typeface="Calibri"/>
              </a:rPr>
              <a:t>19% of 2026 value · 7.4%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Online Marketplaces: </a:t>
            </a:r>
            <a:r>
              <a:rPr sz="1100" b="0">
                <a:solidFill>
                  <a:srgbClr val="2E2E2E"/>
                </a:solidFill>
                <a:latin typeface="Calibri"/>
              </a:rPr>
              <a:t>16% of 2026 value · 9.0% CAGR grows fastest.</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Distribution Channel segment is projected to grow at a CAGR of 7.6%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Beauty Specialty Retail</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208.8</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446.5</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7.9%</a:t>
            </a:r>
          </a:p>
        </p:txBody>
      </p:sp>
      <p:sp>
        <p:nvSpPr>
          <p:cNvPr id="25" name="Oval 24"/>
          <p:cNvSpPr/>
          <p:nvPr/>
        </p:nvSpPr>
        <p:spPr>
          <a:xfrm>
            <a:off x="333375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26" name="Rounded Rectangle 25"/>
          <p:cNvSpPr/>
          <p:nvPr/>
        </p:nvSpPr>
        <p:spPr>
          <a:xfrm>
            <a:off x="523875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Pharmacies and Drugstores</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205.8</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401.3</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6.9%</a:t>
            </a:r>
          </a:p>
        </p:txBody>
      </p:sp>
      <p:sp>
        <p:nvSpPr>
          <p:cNvPr id="32" name="Oval 31"/>
          <p:cNvSpPr/>
          <p:nvPr/>
        </p:nvSpPr>
        <p:spPr>
          <a:xfrm>
            <a:off x="670560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33" name="Rounded Rectangle 32"/>
          <p:cNvSpPr/>
          <p:nvPr/>
        </p:nvSpPr>
        <p:spPr>
          <a:xfrm>
            <a:off x="861060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Brand-owned Online Stores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165.8</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378.6</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8.6%</a:t>
            </a:r>
          </a:p>
        </p:txBody>
      </p:sp>
      <p:sp>
        <p:nvSpPr>
          <p:cNvPr id="39" name="Oval 38"/>
          <p:cNvSpPr/>
          <p:nvPr/>
        </p:nvSpPr>
        <p:spPr>
          <a:xfrm>
            <a:off x="1007745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Beauty Specialty Retail: </a:t>
            </a:r>
            <a:r>
              <a:rPr sz="1100" b="0">
                <a:solidFill>
                  <a:srgbClr val="2E2E2E"/>
                </a:solidFill>
                <a:latin typeface="Calibri"/>
              </a:rPr>
              <a:t>15% of 2026 value · 7.9%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Pharmacies and Drugstores: </a:t>
            </a:r>
            <a:r>
              <a:rPr sz="1100" b="0">
                <a:solidFill>
                  <a:srgbClr val="2E2E2E"/>
                </a:solidFill>
                <a:latin typeface="Calibri"/>
              </a:rPr>
              <a:t>15% of 2026 value · 6.9%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Brand-owned Online Stores: </a:t>
            </a:r>
            <a:r>
              <a:rPr sz="1100" b="0">
                <a:solidFill>
                  <a:srgbClr val="2E2E2E"/>
                </a:solidFill>
                <a:latin typeface="Calibri"/>
              </a:rPr>
              <a:t>12% of 2026 value · 8.6% CAGR serves a niche.</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Online marketplaces followed by mass retail are expected to be the two most attractive distribution channel segments in the Latin America hair styling products market in terms of value over the forecast period. Online marketplaces and mass retail exhibit a CAGR index of 118.6 and 83.5 and a market share index of 98.0 and 131.7 respectively, against the segment average of 100. The pharmacies and drugstores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Distribution Channel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Mass Retail</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Beauty Specialty Retail</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Salon and Professional Distribution</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Pharmacies and Drugstores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Distribution Channel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Online Marketplaces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Brand-owned Online Stores</a:t>
            </a:r>
          </a:p>
        </p:txBody>
      </p:sp>
      <p:graphicFrame>
        <p:nvGraphicFramePr>
          <p:cNvPr id="15" name="Chart 14"/>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Latin America Absolute $ Opportunity Analysis, By Distribution Channel</a:t>
            </a:r>
          </a:p>
        </p:txBody>
      </p:sp>
      <p:sp>
        <p:nvSpPr>
          <p:cNvPr id="18" name="Rectangle 17"/>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online marketplaces segment is anticipated to witness an increase of 2.4X in terms of value as compared to 2026. The online marketplaces segment is expected to create an incremental opportunity of US$ 303.7 Mn for the overall hair styling products market from 2026 to 2036.</a:t>
            </a:r>
          </a:p>
          <a:p>
            <a:pPr algn="l">
              <a:lnSpc>
                <a:spcPct val="110000"/>
              </a:lnSpc>
              <a:spcBef>
                <a:spcPts val="0"/>
              </a:spcBef>
              <a:spcAft>
                <a:spcPts val="500"/>
              </a:spcAft>
            </a:pPr>
            <a:r>
              <a:rPr sz="1150" b="0">
                <a:solidFill>
                  <a:srgbClr val="2E2E2E"/>
                </a:solidFill>
                <a:latin typeface="Calibri"/>
              </a:rPr>
              <a:t>The salon and professional distribution segment is expected to create an incremental opportunity of US$ 262.7 Mn for the overall hair styling products market from 2026 to 2036. The mass retail segment is expected to create an incremental opportunity of US$ 252.9 Mn for the overall hair styling products market from 2026 to 2036.</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Distribution Channel (US$ Mn)</a:t>
            </a:r>
          </a:p>
        </p:txBody>
      </p:sp>
      <p:graphicFrame>
        <p:nvGraphicFramePr>
          <p:cNvPr id="13" name="Table 12"/>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Analysis, By Distribution Channel</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Mass retail segment is projected to register 1.0X higher value than online marketplaces segment in 2036. Among hair styling products by distribution channel, online marketplaces segment is expected to witness the highest CAGR of 9.0% over the forecast period.</a:t>
            </a:r>
          </a:p>
          <a:p>
            <a:pPr algn="l">
              <a:lnSpc>
                <a:spcPct val="110000"/>
              </a:lnSpc>
              <a:spcBef>
                <a:spcPts val="0"/>
              </a:spcBef>
              <a:spcAft>
                <a:spcPts val="500"/>
              </a:spcAft>
            </a:pPr>
            <a:r>
              <a:rPr sz="1150" b="0">
                <a:solidFill>
                  <a:srgbClr val="2E2E2E"/>
                </a:solidFill>
                <a:latin typeface="Calibri"/>
              </a:rPr>
              <a:t>In terms of value share by distribution channel, the mass retail segment is expected to dominate the market, losing 244 BPS and accounting for 19.5%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Composition, By Distribution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78681"/>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7391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9771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Brand-owned Online Stores</a:t>
            </a:r>
          </a:p>
        </p:txBody>
      </p:sp>
      <p:sp>
        <p:nvSpPr>
          <p:cNvPr id="19" name="BPS Value 1"/>
          <p:cNvSpPr txBox="1"/>
          <p:nvPr/>
        </p:nvSpPr>
        <p:spPr>
          <a:xfrm>
            <a:off x="6896100" y="1959631"/>
            <a:ext cx="514350" cy="123825"/>
          </a:xfrm>
          <a:prstGeom prst="rect">
            <a:avLst/>
          </a:prstGeom>
          <a:noFill/>
        </p:spPr>
        <p:txBody>
          <a:bodyPr wrap="none" lIns="0" rIns="0" tIns="0" bIns="0" anchor="ctr">
            <a:spAutoFit/>
          </a:bodyPr>
          <a:lstStyle/>
          <a:p>
            <a:pPr algn="r"/>
            <a:r>
              <a:rPr sz="900" b="1">
                <a:solidFill>
                  <a:srgbClr val="2E7D32"/>
                </a:solidFill>
                <a:latin typeface="Calibri"/>
              </a:rPr>
              <a:t>+117</a:t>
            </a:r>
          </a:p>
        </p:txBody>
      </p:sp>
      <p:sp>
        <p:nvSpPr>
          <p:cNvPr id="20" name="FMI Legend Chip"/>
          <p:cNvSpPr/>
          <p:nvPr/>
        </p:nvSpPr>
        <p:spPr>
          <a:xfrm>
            <a:off x="4928997" y="2611951"/>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60718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53098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Pharmacies and Drugstores</a:t>
            </a:r>
          </a:p>
        </p:txBody>
      </p:sp>
      <p:sp>
        <p:nvSpPr>
          <p:cNvPr id="23" name="BPS Value 2"/>
          <p:cNvSpPr txBox="1"/>
          <p:nvPr/>
        </p:nvSpPr>
        <p:spPr>
          <a:xfrm>
            <a:off x="6896100" y="2592901"/>
            <a:ext cx="514350" cy="123825"/>
          </a:xfrm>
          <a:prstGeom prst="rect">
            <a:avLst/>
          </a:prstGeom>
          <a:noFill/>
        </p:spPr>
        <p:txBody>
          <a:bodyPr wrap="none" lIns="0" rIns="0" tIns="0" bIns="0" anchor="ctr">
            <a:spAutoFit/>
          </a:bodyPr>
          <a:lstStyle/>
          <a:p>
            <a:pPr algn="r"/>
            <a:r>
              <a:rPr sz="900" b="1">
                <a:solidFill>
                  <a:srgbClr val="E44D3A"/>
                </a:solidFill>
                <a:latin typeface="Calibri"/>
              </a:rPr>
              <a:t>-99</a:t>
            </a:r>
          </a:p>
        </p:txBody>
      </p:sp>
      <p:sp>
        <p:nvSpPr>
          <p:cNvPr id="24" name="FMI Legend Chip"/>
          <p:cNvSpPr/>
          <p:nvPr/>
        </p:nvSpPr>
        <p:spPr>
          <a:xfrm>
            <a:off x="4928997" y="3300358"/>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29559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21939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Beauty Specialty Retail</a:t>
            </a:r>
          </a:p>
        </p:txBody>
      </p:sp>
      <p:sp>
        <p:nvSpPr>
          <p:cNvPr id="27" name="BPS Value 3"/>
          <p:cNvSpPr txBox="1"/>
          <p:nvPr/>
        </p:nvSpPr>
        <p:spPr>
          <a:xfrm>
            <a:off x="6896100" y="3281308"/>
            <a:ext cx="514350" cy="123825"/>
          </a:xfrm>
          <a:prstGeom prst="rect">
            <a:avLst/>
          </a:prstGeom>
          <a:noFill/>
        </p:spPr>
        <p:txBody>
          <a:bodyPr wrap="none" lIns="0" rIns="0" tIns="0" bIns="0" anchor="ctr">
            <a:spAutoFit/>
          </a:bodyPr>
          <a:lstStyle/>
          <a:p>
            <a:pPr algn="r"/>
            <a:r>
              <a:rPr sz="900" b="1">
                <a:solidFill>
                  <a:srgbClr val="2E7D32"/>
                </a:solidFill>
                <a:latin typeface="Calibri"/>
              </a:rPr>
              <a:t>+39</a:t>
            </a:r>
          </a:p>
        </p:txBody>
      </p:sp>
      <p:sp>
        <p:nvSpPr>
          <p:cNvPr id="28" name="FMI Legend Chip"/>
          <p:cNvSpPr/>
          <p:nvPr/>
        </p:nvSpPr>
        <p:spPr>
          <a:xfrm>
            <a:off x="4928997" y="408159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07683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00063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Salon and Professional Distribution</a:t>
            </a:r>
          </a:p>
        </p:txBody>
      </p:sp>
      <p:sp>
        <p:nvSpPr>
          <p:cNvPr id="31" name="BPS Value 4"/>
          <p:cNvSpPr txBox="1"/>
          <p:nvPr/>
        </p:nvSpPr>
        <p:spPr>
          <a:xfrm>
            <a:off x="6896100" y="4062544"/>
            <a:ext cx="514350" cy="123825"/>
          </a:xfrm>
          <a:prstGeom prst="rect">
            <a:avLst/>
          </a:prstGeom>
          <a:noFill/>
        </p:spPr>
        <p:txBody>
          <a:bodyPr wrap="none" lIns="0" rIns="0" tIns="0" bIns="0" anchor="ctr">
            <a:spAutoFit/>
          </a:bodyPr>
          <a:lstStyle/>
          <a:p>
            <a:pPr algn="r"/>
            <a:r>
              <a:rPr sz="900" b="1">
                <a:solidFill>
                  <a:srgbClr val="E44D3A"/>
                </a:solidFill>
                <a:latin typeface="Calibri"/>
              </a:rPr>
              <a:t>-42</a:t>
            </a:r>
          </a:p>
        </p:txBody>
      </p:sp>
      <p:sp>
        <p:nvSpPr>
          <p:cNvPr id="32" name="FMI Legend Chip"/>
          <p:cNvSpPr/>
          <p:nvPr/>
        </p:nvSpPr>
        <p:spPr>
          <a:xfrm>
            <a:off x="4928997" y="492602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492126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84506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Marketplaces</a:t>
            </a:r>
          </a:p>
        </p:txBody>
      </p:sp>
      <p:sp>
        <p:nvSpPr>
          <p:cNvPr id="35" name="BPS Value 5"/>
          <p:cNvSpPr txBox="1"/>
          <p:nvPr/>
        </p:nvSpPr>
        <p:spPr>
          <a:xfrm>
            <a:off x="6896100" y="4906978"/>
            <a:ext cx="514350" cy="123825"/>
          </a:xfrm>
          <a:prstGeom prst="rect">
            <a:avLst/>
          </a:prstGeom>
          <a:noFill/>
        </p:spPr>
        <p:txBody>
          <a:bodyPr wrap="none" lIns="0" rIns="0" tIns="0" bIns="0" anchor="ctr">
            <a:spAutoFit/>
          </a:bodyPr>
          <a:lstStyle/>
          <a:p>
            <a:pPr algn="r"/>
            <a:r>
              <a:rPr sz="900" b="1">
                <a:solidFill>
                  <a:srgbClr val="2E7D32"/>
                </a:solidFill>
                <a:latin typeface="Calibri"/>
              </a:rPr>
              <a:t>+228</a:t>
            </a:r>
          </a:p>
        </p:txBody>
      </p:sp>
      <p:sp>
        <p:nvSpPr>
          <p:cNvPr id="36" name="FMI Legend Chip"/>
          <p:cNvSpPr/>
          <p:nvPr/>
        </p:nvSpPr>
        <p:spPr>
          <a:xfrm>
            <a:off x="4928997" y="579771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5090922" y="579295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71675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Mass Retail</a:t>
            </a:r>
          </a:p>
        </p:txBody>
      </p:sp>
      <p:sp>
        <p:nvSpPr>
          <p:cNvPr id="39" name="BPS Value 6"/>
          <p:cNvSpPr txBox="1"/>
          <p:nvPr/>
        </p:nvSpPr>
        <p:spPr>
          <a:xfrm>
            <a:off x="6896100" y="5778662"/>
            <a:ext cx="514350" cy="123825"/>
          </a:xfrm>
          <a:prstGeom prst="rect">
            <a:avLst/>
          </a:prstGeom>
          <a:noFill/>
        </p:spPr>
        <p:txBody>
          <a:bodyPr wrap="none" lIns="0" rIns="0" tIns="0" bIns="0" anchor="ctr">
            <a:spAutoFit/>
          </a:bodyPr>
          <a:lstStyle/>
          <a:p>
            <a:pPr algn="r"/>
            <a:r>
              <a:rPr sz="900" b="1">
                <a:solidFill>
                  <a:srgbClr val="E44D3A"/>
                </a:solidFill>
                <a:latin typeface="Calibri"/>
              </a:rPr>
              <a:t>-244</a:t>
            </a:r>
          </a:p>
        </p:txBody>
      </p:sp>
      <p:sp>
        <p:nvSpPr>
          <p:cNvPr id="40" name="Rounded Rectangle 3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Latin America Read-out, By Distribution Channel</a:t>
            </a:r>
          </a:p>
        </p:txBody>
      </p:sp>
      <p:sp>
        <p:nvSpPr>
          <p:cNvPr id="42" name="Rectangle 41"/>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distribution channel, online marketplaces segment is expected to witness the highest CAGR of 9.0% over the forecast period.</a:t>
            </a:r>
          </a:p>
          <a:p>
            <a:pPr algn="l">
              <a:lnSpc>
                <a:spcPct val="110000"/>
              </a:lnSpc>
              <a:spcBef>
                <a:spcPts val="0"/>
              </a:spcBef>
              <a:spcAft>
                <a:spcPts val="500"/>
              </a:spcAft>
            </a:pPr>
            <a:r>
              <a:rPr sz="1150" b="0">
                <a:solidFill>
                  <a:srgbClr val="2E2E2E"/>
                </a:solidFill>
                <a:latin typeface="Calibri"/>
              </a:rPr>
              <a:t>In terms of value share by distribution channel, the mass retail segment is expected to dominate the market, losing 244 BPS and accounting for 19.5% share by 2036.</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527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Heatmap, By Distribution Channel (%)  ·  light = lower, dark = higher growth</a:t>
            </a:r>
          </a:p>
        </p:txBody>
      </p:sp>
      <p:sp>
        <p:nvSpPr>
          <p:cNvPr id="17" name="TextBox 16"/>
          <p:cNvSpPr txBox="1"/>
          <p:nvPr/>
        </p:nvSpPr>
        <p:spPr>
          <a:xfrm>
            <a:off x="185233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49655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078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501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2923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346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1768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1915"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614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036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459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3882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304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27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49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52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Mass Retail</a:t>
            </a:r>
          </a:p>
        </p:txBody>
      </p:sp>
      <p:sp>
        <p:nvSpPr>
          <p:cNvPr id="33" name="Rectangle 32"/>
          <p:cNvSpPr/>
          <p:nvPr/>
        </p:nvSpPr>
        <p:spPr>
          <a:xfrm>
            <a:off x="1852331" y="3524250"/>
            <a:ext cx="644226" cy="5080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496557" y="3524250"/>
            <a:ext cx="644226" cy="5080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0784" y="3524250"/>
            <a:ext cx="644226" cy="508000"/>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5010" y="3524250"/>
            <a:ext cx="644226" cy="50800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29236" y="3524250"/>
            <a:ext cx="644226" cy="508000"/>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3462" y="3524250"/>
            <a:ext cx="644226" cy="508000"/>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17689" y="3524250"/>
            <a:ext cx="644226" cy="50800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1915" y="3524250"/>
            <a:ext cx="644226" cy="508000"/>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6141" y="3524250"/>
            <a:ext cx="644226" cy="508000"/>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0367" y="3524250"/>
            <a:ext cx="644226" cy="50800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4594" y="3524250"/>
            <a:ext cx="644226" cy="50800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38820" y="3524250"/>
            <a:ext cx="644226" cy="50800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3046" y="3524250"/>
            <a:ext cx="644226" cy="50800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272" y="3524250"/>
            <a:ext cx="644226" cy="50800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499" y="3524250"/>
            <a:ext cx="644226" cy="50800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32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Beauty Specialty Retail</a:t>
            </a:r>
          </a:p>
        </p:txBody>
      </p:sp>
      <p:sp>
        <p:nvSpPr>
          <p:cNvPr id="49" name="Rectangle 48"/>
          <p:cNvSpPr/>
          <p:nvPr/>
        </p:nvSpPr>
        <p:spPr>
          <a:xfrm>
            <a:off x="1852331" y="4032250"/>
            <a:ext cx="644226" cy="50800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496557" y="4032250"/>
            <a:ext cx="644226" cy="50800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0784" y="4032250"/>
            <a:ext cx="644226" cy="50800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5010" y="4032250"/>
            <a:ext cx="644226" cy="50800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29236" y="4032250"/>
            <a:ext cx="644226" cy="50800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3462" y="4032250"/>
            <a:ext cx="644226" cy="50800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17689" y="4032250"/>
            <a:ext cx="644226" cy="508000"/>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1915" y="4032250"/>
            <a:ext cx="644226" cy="508000"/>
          </a:xfrm>
          <a:prstGeom prst="rect">
            <a:avLst/>
          </a:prstGeom>
          <a:solidFill>
            <a:srgbClr val="67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6141" y="4032250"/>
            <a:ext cx="644226" cy="508000"/>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0367" y="4032250"/>
            <a:ext cx="644226" cy="508000"/>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4594" y="4032250"/>
            <a:ext cx="644226" cy="508000"/>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38820" y="4032250"/>
            <a:ext cx="644226" cy="508000"/>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3046" y="4032250"/>
            <a:ext cx="644226" cy="508000"/>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272" y="4032250"/>
            <a:ext cx="644226" cy="508000"/>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499" y="4032250"/>
            <a:ext cx="644226" cy="508000"/>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0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Salon and Professional Distribution</a:t>
            </a:r>
          </a:p>
        </p:txBody>
      </p:sp>
      <p:sp>
        <p:nvSpPr>
          <p:cNvPr id="65" name="Rectangle 64"/>
          <p:cNvSpPr/>
          <p:nvPr/>
        </p:nvSpPr>
        <p:spPr>
          <a:xfrm>
            <a:off x="1852331" y="4540250"/>
            <a:ext cx="644226" cy="50800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496557" y="4540250"/>
            <a:ext cx="644226" cy="508000"/>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0784" y="4540250"/>
            <a:ext cx="644226" cy="50800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5010" y="4540250"/>
            <a:ext cx="644226" cy="50800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29236" y="4540250"/>
            <a:ext cx="644226" cy="508000"/>
          </a:xfrm>
          <a:prstGeom prst="rect">
            <a:avLst/>
          </a:prstGeom>
          <a:solidFill>
            <a:srgbClr val="C8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3462" y="4540250"/>
            <a:ext cx="644226" cy="50800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17689" y="4540250"/>
            <a:ext cx="644226" cy="508000"/>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1915" y="4540250"/>
            <a:ext cx="644226" cy="508000"/>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6141" y="4540250"/>
            <a:ext cx="644226" cy="508000"/>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0367" y="4540250"/>
            <a:ext cx="644226" cy="508000"/>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4594" y="4540250"/>
            <a:ext cx="644226" cy="508000"/>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38820" y="4540250"/>
            <a:ext cx="644226" cy="508000"/>
          </a:xfrm>
          <a:prstGeom prst="rect">
            <a:avLst/>
          </a:prstGeom>
          <a:solidFill>
            <a:srgbClr val="68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3046" y="4540250"/>
            <a:ext cx="644226" cy="508000"/>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272" y="4540250"/>
            <a:ext cx="644226" cy="508000"/>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499" y="4540250"/>
            <a:ext cx="644226" cy="508000"/>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48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Pharmacies and Drugstores</a:t>
            </a:r>
          </a:p>
        </p:txBody>
      </p:sp>
      <p:sp>
        <p:nvSpPr>
          <p:cNvPr id="81" name="Rectangle 80"/>
          <p:cNvSpPr/>
          <p:nvPr/>
        </p:nvSpPr>
        <p:spPr>
          <a:xfrm>
            <a:off x="1852331" y="5048250"/>
            <a:ext cx="644226" cy="50800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496557" y="5048250"/>
            <a:ext cx="644226" cy="50800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0784" y="5048250"/>
            <a:ext cx="644226" cy="50800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5010" y="5048250"/>
            <a:ext cx="644226" cy="508000"/>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29236" y="5048250"/>
            <a:ext cx="644226" cy="508000"/>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3462" y="5048250"/>
            <a:ext cx="644226" cy="508000"/>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17689" y="5048250"/>
            <a:ext cx="644226" cy="508000"/>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1915" y="5048250"/>
            <a:ext cx="644226" cy="50800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6141" y="5048250"/>
            <a:ext cx="644226" cy="508000"/>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0367" y="5048250"/>
            <a:ext cx="644226" cy="508000"/>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4594" y="5048250"/>
            <a:ext cx="644226" cy="508000"/>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38820" y="5048250"/>
            <a:ext cx="644226" cy="508000"/>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3046" y="5048250"/>
            <a:ext cx="644226" cy="50800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272" y="5048250"/>
            <a:ext cx="644226" cy="508000"/>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499" y="5048250"/>
            <a:ext cx="644226" cy="508000"/>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556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Online Marketplaces</a:t>
            </a:r>
          </a:p>
        </p:txBody>
      </p:sp>
      <p:sp>
        <p:nvSpPr>
          <p:cNvPr id="97" name="Rectangle 96"/>
          <p:cNvSpPr/>
          <p:nvPr/>
        </p:nvSpPr>
        <p:spPr>
          <a:xfrm>
            <a:off x="1852331" y="5556250"/>
            <a:ext cx="644226" cy="5080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496557" y="5556250"/>
            <a:ext cx="644226" cy="50800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0784" y="5556250"/>
            <a:ext cx="644226" cy="5080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5010" y="5556250"/>
            <a:ext cx="644226" cy="50800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29236" y="5556250"/>
            <a:ext cx="644226" cy="50800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3462" y="5556250"/>
            <a:ext cx="644226" cy="508000"/>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17689" y="5556250"/>
            <a:ext cx="644226" cy="508000"/>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1915" y="5556250"/>
            <a:ext cx="644226" cy="508000"/>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6141" y="5556250"/>
            <a:ext cx="644226" cy="508000"/>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0367" y="5556250"/>
            <a:ext cx="644226" cy="508000"/>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4594" y="5556250"/>
            <a:ext cx="644226" cy="5080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38820" y="5556250"/>
            <a:ext cx="644226" cy="508000"/>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3046" y="5556250"/>
            <a:ext cx="644226" cy="508000"/>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272" y="5556250"/>
            <a:ext cx="644226" cy="508000"/>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499" y="5556250"/>
            <a:ext cx="644226" cy="508000"/>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6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Brand-owned Online Stores</a:t>
            </a:r>
          </a:p>
        </p:txBody>
      </p:sp>
      <p:sp>
        <p:nvSpPr>
          <p:cNvPr id="113" name="Rectangle 112"/>
          <p:cNvSpPr/>
          <p:nvPr/>
        </p:nvSpPr>
        <p:spPr>
          <a:xfrm>
            <a:off x="1852331" y="6064250"/>
            <a:ext cx="644226" cy="508000"/>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496557" y="6064250"/>
            <a:ext cx="644226" cy="508000"/>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0784" y="6064250"/>
            <a:ext cx="644226" cy="508000"/>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5010" y="6064250"/>
            <a:ext cx="644226" cy="508000"/>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29236" y="6064250"/>
            <a:ext cx="644226" cy="50800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3462" y="6064250"/>
            <a:ext cx="644226" cy="50800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17689" y="6064250"/>
            <a:ext cx="644226" cy="50800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1915" y="6064250"/>
            <a:ext cx="644226" cy="508000"/>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6141" y="6064250"/>
            <a:ext cx="644226" cy="508000"/>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0367" y="6064250"/>
            <a:ext cx="644226" cy="508000"/>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4594" y="6064250"/>
            <a:ext cx="644226" cy="508000"/>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38820" y="6064250"/>
            <a:ext cx="644226" cy="508000"/>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3046" y="6064250"/>
            <a:ext cx="644226" cy="508000"/>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272" y="6064250"/>
            <a:ext cx="644226" cy="508000"/>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499" y="6064250"/>
            <a:ext cx="644226" cy="508000"/>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562350"/>
            <a:ext cx="104775" cy="8191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636645"/>
            <a:ext cx="104775" cy="8191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710940"/>
            <a:ext cx="104775" cy="8191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785235"/>
            <a:ext cx="104775" cy="8191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3859530"/>
            <a:ext cx="104775" cy="8191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3933825"/>
            <a:ext cx="104775" cy="8191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008120"/>
            <a:ext cx="104775" cy="8191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082415"/>
            <a:ext cx="104775" cy="8191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156710"/>
            <a:ext cx="104775" cy="8191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231005"/>
            <a:ext cx="104775" cy="8191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305300"/>
            <a:ext cx="104775" cy="8191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379595"/>
            <a:ext cx="104775" cy="8191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453890"/>
            <a:ext cx="104775" cy="8191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528185"/>
            <a:ext cx="104775" cy="8191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602480"/>
            <a:ext cx="104775" cy="8191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676775"/>
            <a:ext cx="104775" cy="8191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751070"/>
            <a:ext cx="104775" cy="8191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825365"/>
            <a:ext cx="104775" cy="8191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899660"/>
            <a:ext cx="104775" cy="8191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973955"/>
            <a:ext cx="104775" cy="8191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048250"/>
            <a:ext cx="104775" cy="8191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122545"/>
            <a:ext cx="104775" cy="8191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196840"/>
            <a:ext cx="104775" cy="8191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271135"/>
            <a:ext cx="104775" cy="8191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345430"/>
            <a:ext cx="104775" cy="8191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19725"/>
            <a:ext cx="104775" cy="8191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494020"/>
            <a:ext cx="104775" cy="8191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568315"/>
            <a:ext cx="104775" cy="8191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642610"/>
            <a:ext cx="104775" cy="8191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16905"/>
            <a:ext cx="104775" cy="8191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791200"/>
            <a:ext cx="104775" cy="8191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865495"/>
            <a:ext cx="104775" cy="8191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39790"/>
            <a:ext cx="104775" cy="8191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14085"/>
            <a:ext cx="104775" cy="8191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088380"/>
            <a:ext cx="104775" cy="8191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62675"/>
            <a:ext cx="104775" cy="8191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36970"/>
            <a:ext cx="104775" cy="8191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11265"/>
            <a:ext cx="104775" cy="8191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85560"/>
            <a:ext cx="104775" cy="8191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59855"/>
            <a:ext cx="104775" cy="8191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562350"/>
            <a:ext cx="104775" cy="29718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49567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70" name="TextBox 169"/>
          <p:cNvSpPr txBox="1"/>
          <p:nvPr/>
        </p:nvSpPr>
        <p:spPr>
          <a:xfrm>
            <a:off x="11687175" y="498157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Primary Styling Benefit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Primary Styling Benefit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Primary Styling Benefit,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Primary Styling Benefit segment categorizes the market by primary styling benefit.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330779"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330779"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Smoothing and Frizz Control</a:t>
            </a:r>
          </a:p>
        </p:txBody>
      </p:sp>
      <p:sp>
        <p:nvSpPr>
          <p:cNvPr id="23" name="Rectangle 22"/>
          <p:cNvSpPr/>
          <p:nvPr/>
        </p:nvSpPr>
        <p:spPr>
          <a:xfrm>
            <a:off x="1866900"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240.6</a:t>
            </a:r>
          </a:p>
        </p:txBody>
      </p:sp>
      <p:sp>
        <p:nvSpPr>
          <p:cNvPr id="24" name="Rectangle 23"/>
          <p:cNvSpPr/>
          <p:nvPr/>
        </p:nvSpPr>
        <p:spPr>
          <a:xfrm>
            <a:off x="1866900"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525.3</a:t>
            </a:r>
          </a:p>
        </p:txBody>
      </p:sp>
      <p:sp>
        <p:nvSpPr>
          <p:cNvPr id="25" name="Rectangle 24"/>
          <p:cNvSpPr/>
          <p:nvPr/>
        </p:nvSpPr>
        <p:spPr>
          <a:xfrm>
            <a:off x="1866900"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8.1%</a:t>
            </a:r>
          </a:p>
        </p:txBody>
      </p:sp>
      <p:sp>
        <p:nvSpPr>
          <p:cNvPr id="26" name="Oval 25"/>
          <p:cNvSpPr/>
          <p:nvPr/>
        </p:nvSpPr>
        <p:spPr>
          <a:xfrm>
            <a:off x="237036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311979" y="1773916"/>
            <a:ext cx="1330779"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311979" y="1992961"/>
            <a:ext cx="1330779"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350079"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Curl Definition</a:t>
            </a:r>
          </a:p>
        </p:txBody>
      </p:sp>
      <p:sp>
        <p:nvSpPr>
          <p:cNvPr id="30" name="Rectangle 29"/>
          <p:cNvSpPr/>
          <p:nvPr/>
        </p:nvSpPr>
        <p:spPr>
          <a:xfrm>
            <a:off x="3311979"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229.8</a:t>
            </a:r>
          </a:p>
        </p:txBody>
      </p:sp>
      <p:sp>
        <p:nvSpPr>
          <p:cNvPr id="31" name="Rectangle 30"/>
          <p:cNvSpPr/>
          <p:nvPr/>
        </p:nvSpPr>
        <p:spPr>
          <a:xfrm>
            <a:off x="3311979"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547.1</a:t>
            </a:r>
          </a:p>
        </p:txBody>
      </p:sp>
      <p:sp>
        <p:nvSpPr>
          <p:cNvPr id="32" name="Rectangle 31"/>
          <p:cNvSpPr/>
          <p:nvPr/>
        </p:nvSpPr>
        <p:spPr>
          <a:xfrm>
            <a:off x="3311979"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9.1%</a:t>
            </a:r>
          </a:p>
        </p:txBody>
      </p:sp>
      <p:sp>
        <p:nvSpPr>
          <p:cNvPr id="33" name="Oval 32"/>
          <p:cNvSpPr/>
          <p:nvPr/>
        </p:nvSpPr>
        <p:spPr>
          <a:xfrm>
            <a:off x="3815443"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4757057" y="1773916"/>
            <a:ext cx="1330779"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4757057" y="1992961"/>
            <a:ext cx="1330779"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795157"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Hold and Shape</a:t>
            </a:r>
          </a:p>
        </p:txBody>
      </p:sp>
      <p:sp>
        <p:nvSpPr>
          <p:cNvPr id="37" name="Rectangle 36"/>
          <p:cNvSpPr/>
          <p:nvPr/>
        </p:nvSpPr>
        <p:spPr>
          <a:xfrm>
            <a:off x="4757057"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193.8</a:t>
            </a:r>
          </a:p>
        </p:txBody>
      </p:sp>
      <p:sp>
        <p:nvSpPr>
          <p:cNvPr id="38" name="Rectangle 37"/>
          <p:cNvSpPr/>
          <p:nvPr/>
        </p:nvSpPr>
        <p:spPr>
          <a:xfrm>
            <a:off x="4757057"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344.1</a:t>
            </a:r>
          </a:p>
        </p:txBody>
      </p:sp>
      <p:sp>
        <p:nvSpPr>
          <p:cNvPr id="39" name="Rectangle 38"/>
          <p:cNvSpPr/>
          <p:nvPr/>
        </p:nvSpPr>
        <p:spPr>
          <a:xfrm>
            <a:off x="4757057"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5.9%</a:t>
            </a:r>
          </a:p>
        </p:txBody>
      </p:sp>
      <p:sp>
        <p:nvSpPr>
          <p:cNvPr id="40" name="Oval 39"/>
          <p:cNvSpPr/>
          <p:nvPr/>
        </p:nvSpPr>
        <p:spPr>
          <a:xfrm>
            <a:off x="5260521"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202136" y="1773916"/>
            <a:ext cx="1330779"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202136" y="1992961"/>
            <a:ext cx="1330779"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240236"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Heat Styling Support</a:t>
            </a:r>
          </a:p>
        </p:txBody>
      </p:sp>
      <p:sp>
        <p:nvSpPr>
          <p:cNvPr id="44" name="Rectangle 43"/>
          <p:cNvSpPr/>
          <p:nvPr/>
        </p:nvSpPr>
        <p:spPr>
          <a:xfrm>
            <a:off x="6202136"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178.0</a:t>
            </a:r>
          </a:p>
        </p:txBody>
      </p:sp>
      <p:sp>
        <p:nvSpPr>
          <p:cNvPr id="45" name="Rectangle 44"/>
          <p:cNvSpPr/>
          <p:nvPr/>
        </p:nvSpPr>
        <p:spPr>
          <a:xfrm>
            <a:off x="6202136"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404.3</a:t>
            </a:r>
          </a:p>
        </p:txBody>
      </p:sp>
      <p:sp>
        <p:nvSpPr>
          <p:cNvPr id="46" name="Rectangle 45"/>
          <p:cNvSpPr/>
          <p:nvPr/>
        </p:nvSpPr>
        <p:spPr>
          <a:xfrm>
            <a:off x="6202136"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8.6%</a:t>
            </a:r>
          </a:p>
        </p:txBody>
      </p:sp>
      <p:sp>
        <p:nvSpPr>
          <p:cNvPr id="47" name="Oval 46"/>
          <p:cNvSpPr/>
          <p:nvPr/>
        </p:nvSpPr>
        <p:spPr>
          <a:xfrm>
            <a:off x="670560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7647214" y="1773916"/>
            <a:ext cx="1330779"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647214" y="1992961"/>
            <a:ext cx="1330779"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7685314"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Separation</a:t>
            </a:r>
          </a:p>
        </p:txBody>
      </p:sp>
      <p:sp>
        <p:nvSpPr>
          <p:cNvPr id="51" name="Rectangle 50"/>
          <p:cNvSpPr/>
          <p:nvPr/>
        </p:nvSpPr>
        <p:spPr>
          <a:xfrm>
            <a:off x="7647214"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171.7</a:t>
            </a:r>
          </a:p>
        </p:txBody>
      </p:sp>
      <p:sp>
        <p:nvSpPr>
          <p:cNvPr id="52" name="Rectangle 51"/>
          <p:cNvSpPr/>
          <p:nvPr/>
        </p:nvSpPr>
        <p:spPr>
          <a:xfrm>
            <a:off x="7647214"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352.6</a:t>
            </a:r>
          </a:p>
        </p:txBody>
      </p:sp>
      <p:sp>
        <p:nvSpPr>
          <p:cNvPr id="53" name="Rectangle 52"/>
          <p:cNvSpPr/>
          <p:nvPr/>
        </p:nvSpPr>
        <p:spPr>
          <a:xfrm>
            <a:off x="7647214"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7.5%</a:t>
            </a:r>
          </a:p>
        </p:txBody>
      </p:sp>
      <p:sp>
        <p:nvSpPr>
          <p:cNvPr id="54" name="Oval 53"/>
          <p:cNvSpPr/>
          <p:nvPr/>
        </p:nvSpPr>
        <p:spPr>
          <a:xfrm>
            <a:off x="815067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9092293" y="1773916"/>
            <a:ext cx="1330779"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092293" y="1992961"/>
            <a:ext cx="1330779"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130393"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Volume and Root Lift</a:t>
            </a:r>
          </a:p>
        </p:txBody>
      </p:sp>
      <p:sp>
        <p:nvSpPr>
          <p:cNvPr id="58" name="Rectangle 57"/>
          <p:cNvSpPr/>
          <p:nvPr/>
        </p:nvSpPr>
        <p:spPr>
          <a:xfrm>
            <a:off x="9092293"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171.7</a:t>
            </a:r>
          </a:p>
        </p:txBody>
      </p:sp>
      <p:sp>
        <p:nvSpPr>
          <p:cNvPr id="59" name="Rectangle 58"/>
          <p:cNvSpPr/>
          <p:nvPr/>
        </p:nvSpPr>
        <p:spPr>
          <a:xfrm>
            <a:off x="9092293"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335.0</a:t>
            </a:r>
          </a:p>
        </p:txBody>
      </p:sp>
      <p:sp>
        <p:nvSpPr>
          <p:cNvPr id="60" name="Rectangle 59"/>
          <p:cNvSpPr/>
          <p:nvPr/>
        </p:nvSpPr>
        <p:spPr>
          <a:xfrm>
            <a:off x="9092293"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6.9%</a:t>
            </a:r>
          </a:p>
        </p:txBody>
      </p:sp>
      <p:sp>
        <p:nvSpPr>
          <p:cNvPr id="61" name="Oval 60"/>
          <p:cNvSpPr/>
          <p:nvPr/>
        </p:nvSpPr>
        <p:spPr>
          <a:xfrm>
            <a:off x="9595757"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10537371" y="1773916"/>
            <a:ext cx="1330779"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537371" y="1992961"/>
            <a:ext cx="1330779"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10575471"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Sleek Styling and Edge Control</a:t>
            </a:r>
          </a:p>
        </p:txBody>
      </p:sp>
      <p:sp>
        <p:nvSpPr>
          <p:cNvPr id="65" name="Rectangle 64"/>
          <p:cNvSpPr/>
          <p:nvPr/>
        </p:nvSpPr>
        <p:spPr>
          <a:xfrm>
            <a:off x="10537371"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164.8</a:t>
            </a:r>
          </a:p>
        </p:txBody>
      </p:sp>
      <p:sp>
        <p:nvSpPr>
          <p:cNvPr id="66" name="Rectangle 65"/>
          <p:cNvSpPr/>
          <p:nvPr/>
        </p:nvSpPr>
        <p:spPr>
          <a:xfrm>
            <a:off x="10537371"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307.0</a:t>
            </a:r>
          </a:p>
        </p:txBody>
      </p:sp>
      <p:sp>
        <p:nvSpPr>
          <p:cNvPr id="67" name="Rectangle 66"/>
          <p:cNvSpPr/>
          <p:nvPr/>
        </p:nvSpPr>
        <p:spPr>
          <a:xfrm>
            <a:off x="10537371"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6.4%</a:t>
            </a:r>
          </a:p>
        </p:txBody>
      </p:sp>
      <p:sp>
        <p:nvSpPr>
          <p:cNvPr id="68" name="Oval 67"/>
          <p:cNvSpPr/>
          <p:nvPr/>
        </p:nvSpPr>
        <p:spPr>
          <a:xfrm>
            <a:off x="11040836"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71" name="Rectangle 70"/>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primary styling benefit, curl definition segment is expected to witness the highest CAGR of 9.1% over the forecast period. In terms of value share by primary styling benefit, the curl definition segment is expected to dominate the market, gaining 241 BPS and accounting for 19.4% share by 2036.</a:t>
            </a:r>
          </a:p>
          <a:p>
            <a:pPr algn="l">
              <a:lnSpc>
                <a:spcPct val="110000"/>
              </a:lnSpc>
              <a:spcBef>
                <a:spcPts val="0"/>
              </a:spcBef>
              <a:spcAft>
                <a:spcPts val="500"/>
              </a:spcAft>
            </a:pPr>
            <a:r>
              <a:rPr sz="1100" b="0">
                <a:solidFill>
                  <a:srgbClr val="2E2E2E"/>
                </a:solidFill>
                <a:latin typeface="Calibri"/>
              </a:rPr>
              <a:t>Curl definition segment is projected to register 1.0X higher value than smoothing and frizz control segment in 2036.</a:t>
            </a:r>
          </a:p>
        </p:txBody>
      </p:sp>
      <p:sp>
        <p:nvSpPr>
          <p:cNvPr id="73" name="Rounded Rectangle 72"/>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75" name="Rectangle 74"/>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Smoothing and Frizz Control: </a:t>
            </a:r>
            <a:r>
              <a:rPr sz="1100" b="0">
                <a:solidFill>
                  <a:srgbClr val="2E2E2E"/>
                </a:solidFill>
                <a:latin typeface="Calibri"/>
              </a:rPr>
              <a:t>18% of 2026 value · 8.1%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Curl Definition: </a:t>
            </a:r>
            <a:r>
              <a:rPr sz="1100" b="0">
                <a:solidFill>
                  <a:srgbClr val="2E2E2E"/>
                </a:solidFill>
                <a:latin typeface="Calibri"/>
              </a:rPr>
              <a:t>17% of 2026 value · 9.1%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Hold and Shape: </a:t>
            </a:r>
            <a:r>
              <a:rPr sz="1100" b="0">
                <a:solidFill>
                  <a:srgbClr val="2E2E2E"/>
                </a:solidFill>
                <a:latin typeface="Calibri"/>
              </a:rPr>
              <a:t>14% of 2026 value · 5.9%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Heat Styling Support: </a:t>
            </a:r>
            <a:r>
              <a:rPr sz="1100" b="0">
                <a:solidFill>
                  <a:srgbClr val="2E2E2E"/>
                </a:solidFill>
                <a:latin typeface="Calibri"/>
              </a:rPr>
              <a:t>13% of 2026 value · 8.6%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Texture and Separation: </a:t>
            </a:r>
            <a:r>
              <a:rPr sz="1100" b="0">
                <a:solidFill>
                  <a:srgbClr val="2E2E2E"/>
                </a:solidFill>
                <a:latin typeface="Calibri"/>
              </a:rPr>
              <a:t>13% of 2026 value · 7.5%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Volume and Root Lift: </a:t>
            </a:r>
            <a:r>
              <a:rPr sz="1100" b="0">
                <a:solidFill>
                  <a:srgbClr val="2E2E2E"/>
                </a:solidFill>
                <a:latin typeface="Calibri"/>
              </a:rPr>
              <a:t>13% of 2026 value · 6.9%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Sleek Styling and Edge Control: </a:t>
            </a:r>
            <a:r>
              <a:rPr sz="1100" b="0">
                <a:solidFill>
                  <a:srgbClr val="2E2E2E"/>
                </a:solidFill>
                <a:latin typeface="Calibri"/>
              </a:rPr>
              <a:t>12% of 2026 value · 6.4% CAGR serves a niche.</a:t>
            </a:r>
          </a:p>
        </p:txBody>
      </p:sp>
      <p:sp>
        <p:nvSpPr>
          <p:cNvPr id="77" name="Rounded Rectangle 76"/>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9" name="Rectangle 78"/>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Primary Styling Benefit split shows how demand is distributed across primary styling benefit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81" name="Rectangle 80"/>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Primary Styling Benefit segment is projected to grow at a CAGR of 7.6% from 2026 to 2036.</a:t>
            </a:r>
          </a:p>
        </p:txBody>
      </p:sp>
      <p:sp>
        <p:nvSpPr>
          <p:cNvPr id="83" name="TextBox 82"/>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84" name="TextBox 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Structure &amp; Attractiveness, By Primary Styling Benefit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Primary Styling Benefit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Primary Styling Benefit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Curl definition followed by smoothing and frizz control are expected to be the two most attractive primary styling benefit segments in the Latin America hair styling products market in terms of value over the forecast period. Curl definition and smoothing and frizz control exhibit a CAGR index of 118.9 and 106.5 and a market share index of 119.1 and 124.7 respectively, against the segment average of 100. The sleek styling and edge control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Primary Styling Benefit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Hold and Shape</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Curl Definition</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Volume and Root Lift</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Texture and Separation</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Primary Styling Benefit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Smoothing and Frizz Control</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Sleek Styling and Edge Control</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Heat Styling Support</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Latin America Absolute $ Opportunity Analysis, By Primary Styling Benefit</a:t>
            </a:r>
          </a:p>
        </p:txBody>
      </p:sp>
      <p:sp>
        <p:nvSpPr>
          <p:cNvPr id="21" name="Rectangle 20"/>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curl definition segment is anticipated to witness an increase of 2.4X in terms of value as compared to 2026. The curl definition segment is expected to create an incremental opportunity of US$ 317.3 Mn for the overall hair styling products market from 2026 to 2036.</a:t>
            </a:r>
          </a:p>
          <a:p>
            <a:pPr algn="l">
              <a:lnSpc>
                <a:spcPct val="110000"/>
              </a:lnSpc>
              <a:spcBef>
                <a:spcPts val="0"/>
              </a:spcBef>
              <a:spcAft>
                <a:spcPts val="500"/>
              </a:spcAft>
            </a:pPr>
            <a:r>
              <a:rPr sz="1150" b="0">
                <a:solidFill>
                  <a:srgbClr val="2E2E2E"/>
                </a:solidFill>
                <a:latin typeface="Calibri"/>
              </a:rPr>
              <a:t>The smoothing and frizz control segment is expected to create an incremental opportunity of US$ 284.7 Mn for the overall hair styling products market from 2026 to 2036. The heat styling support segment is expected to create an incremental opportunity of US$ 226.3 Mn for the overall hair styling products market from 2026 to 2036.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Primary Styling Benefit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Primary Styling Benefit,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Primary Styling Benefit (US$ Mn)</a:t>
            </a:r>
          </a:p>
        </p:txBody>
      </p:sp>
      <p:graphicFrame>
        <p:nvGraphicFramePr>
          <p:cNvPr id="13" name="Table 12"/>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09975"/>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Analysis, By Primary Styling Benefit</a:t>
            </a:r>
          </a:p>
        </p:txBody>
      </p:sp>
      <p:sp>
        <p:nvSpPr>
          <p:cNvPr id="17" name="Rectangle 16"/>
          <p:cNvSpPr/>
          <p:nvPr/>
        </p:nvSpPr>
        <p:spPr>
          <a:xfrm>
            <a:off x="276225" y="3848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33825"/>
            <a:ext cx="11639550" cy="2619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Curl definition segment is projected to register 1.0X higher value than smoothing and frizz control segment in 2036. Among hair styling products by primary styling benefit, curl definition segment is expected to witness the highest CAGR of 9.1% over the forecast period.</a:t>
            </a:r>
          </a:p>
          <a:p>
            <a:pPr algn="l">
              <a:lnSpc>
                <a:spcPct val="110000"/>
              </a:lnSpc>
              <a:spcBef>
                <a:spcPts val="0"/>
              </a:spcBef>
              <a:spcAft>
                <a:spcPts val="500"/>
              </a:spcAft>
            </a:pPr>
            <a:r>
              <a:rPr sz="1150" b="0">
                <a:solidFill>
                  <a:srgbClr val="2E2E2E"/>
                </a:solidFill>
                <a:latin typeface="Calibri"/>
              </a:rPr>
              <a:t>In terms of value share by primary styling benefit, the curl definition segment is expected to dominate the market, gaining 241 BPS and accounting for 19.4% share by 2036. The hold and shape segment is expected to lose 213 BPS over the forecast period to account for 12.2%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&amp; Share Shift, By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Primary Styling Benefit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Composition, By Primary Styling Benefit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20547"/>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1578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3958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Sleek Styling and Edge Control</a:t>
            </a:r>
          </a:p>
        </p:txBody>
      </p:sp>
      <p:sp>
        <p:nvSpPr>
          <p:cNvPr id="19" name="BPS Value 1"/>
          <p:cNvSpPr txBox="1"/>
          <p:nvPr/>
        </p:nvSpPr>
        <p:spPr>
          <a:xfrm>
            <a:off x="6896100" y="1901497"/>
            <a:ext cx="514350" cy="123825"/>
          </a:xfrm>
          <a:prstGeom prst="rect">
            <a:avLst/>
          </a:prstGeom>
          <a:noFill/>
        </p:spPr>
        <p:txBody>
          <a:bodyPr wrap="none" lIns="0" rIns="0" tIns="0" bIns="0" anchor="ctr">
            <a:spAutoFit/>
          </a:bodyPr>
          <a:lstStyle/>
          <a:p>
            <a:pPr algn="r"/>
            <a:r>
              <a:rPr sz="900" b="1">
                <a:solidFill>
                  <a:srgbClr val="E44D3A"/>
                </a:solidFill>
                <a:latin typeface="Calibri"/>
              </a:rPr>
              <a:t>-130</a:t>
            </a:r>
          </a:p>
        </p:txBody>
      </p:sp>
      <p:sp>
        <p:nvSpPr>
          <p:cNvPr id="20" name="FMI Legend Chip"/>
          <p:cNvSpPr/>
          <p:nvPr/>
        </p:nvSpPr>
        <p:spPr>
          <a:xfrm>
            <a:off x="4928997" y="2441843"/>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43708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6088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Volume and Root Lift</a:t>
            </a:r>
          </a:p>
        </p:txBody>
      </p:sp>
      <p:sp>
        <p:nvSpPr>
          <p:cNvPr id="23" name="BPS Value 2"/>
          <p:cNvSpPr txBox="1"/>
          <p:nvPr/>
        </p:nvSpPr>
        <p:spPr>
          <a:xfrm>
            <a:off x="6896100" y="2422793"/>
            <a:ext cx="514350" cy="123825"/>
          </a:xfrm>
          <a:prstGeom prst="rect">
            <a:avLst/>
          </a:prstGeom>
          <a:noFill/>
        </p:spPr>
        <p:txBody>
          <a:bodyPr wrap="none" lIns="0" rIns="0" tIns="0" bIns="0" anchor="ctr">
            <a:spAutoFit/>
          </a:bodyPr>
          <a:lstStyle/>
          <a:p>
            <a:pPr algn="r"/>
            <a:r>
              <a:rPr sz="900" b="1">
                <a:solidFill>
                  <a:srgbClr val="E44D3A"/>
                </a:solidFill>
                <a:latin typeface="Calibri"/>
              </a:rPr>
              <a:t>-81</a:t>
            </a:r>
          </a:p>
        </p:txBody>
      </p:sp>
      <p:sp>
        <p:nvSpPr>
          <p:cNvPr id="24" name="FMI Legend Chip"/>
          <p:cNvSpPr/>
          <p:nvPr/>
        </p:nvSpPr>
        <p:spPr>
          <a:xfrm>
            <a:off x="4928997" y="2993269"/>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29885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91230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Hold and Shape</a:t>
            </a:r>
          </a:p>
        </p:txBody>
      </p:sp>
      <p:sp>
        <p:nvSpPr>
          <p:cNvPr id="27" name="BPS Value 3"/>
          <p:cNvSpPr txBox="1"/>
          <p:nvPr/>
        </p:nvSpPr>
        <p:spPr>
          <a:xfrm>
            <a:off x="6896100" y="2974219"/>
            <a:ext cx="514350" cy="123825"/>
          </a:xfrm>
          <a:prstGeom prst="rect">
            <a:avLst/>
          </a:prstGeom>
          <a:noFill/>
        </p:spPr>
        <p:txBody>
          <a:bodyPr wrap="none" lIns="0" rIns="0" tIns="0" bIns="0" anchor="ctr">
            <a:spAutoFit/>
          </a:bodyPr>
          <a:lstStyle/>
          <a:p>
            <a:pPr algn="r"/>
            <a:r>
              <a:rPr sz="900" b="1">
                <a:solidFill>
                  <a:srgbClr val="E44D3A"/>
                </a:solidFill>
                <a:latin typeface="Calibri"/>
              </a:rPr>
              <a:t>-213</a:t>
            </a:r>
          </a:p>
        </p:txBody>
      </p:sp>
      <p:sp>
        <p:nvSpPr>
          <p:cNvPr id="28" name="FMI Legend Chip"/>
          <p:cNvSpPr/>
          <p:nvPr/>
        </p:nvSpPr>
        <p:spPr>
          <a:xfrm>
            <a:off x="4928997" y="355898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55422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47802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Separation</a:t>
            </a:r>
          </a:p>
        </p:txBody>
      </p:sp>
      <p:sp>
        <p:nvSpPr>
          <p:cNvPr id="31" name="BPS Value 4"/>
          <p:cNvSpPr txBox="1"/>
          <p:nvPr/>
        </p:nvSpPr>
        <p:spPr>
          <a:xfrm>
            <a:off x="6896100" y="3539939"/>
            <a:ext cx="514350" cy="123825"/>
          </a:xfrm>
          <a:prstGeom prst="rect">
            <a:avLst/>
          </a:prstGeom>
          <a:noFill/>
        </p:spPr>
        <p:txBody>
          <a:bodyPr wrap="none" lIns="0" rIns="0" tIns="0" bIns="0" anchor="ctr">
            <a:spAutoFit/>
          </a:bodyPr>
          <a:lstStyle/>
          <a:p>
            <a:pPr algn="r"/>
            <a:r>
              <a:rPr sz="900" b="1">
                <a:solidFill>
                  <a:srgbClr val="E44D3A"/>
                </a:solidFill>
                <a:latin typeface="Calibri"/>
              </a:rPr>
              <a:t>-19</a:t>
            </a:r>
          </a:p>
        </p:txBody>
      </p:sp>
      <p:sp>
        <p:nvSpPr>
          <p:cNvPr id="32" name="FMI Legend Chip"/>
          <p:cNvSpPr/>
          <p:nvPr/>
        </p:nvSpPr>
        <p:spPr>
          <a:xfrm>
            <a:off x="4928997" y="417360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416883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09263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Heat Styling Support</a:t>
            </a:r>
          </a:p>
        </p:txBody>
      </p:sp>
      <p:sp>
        <p:nvSpPr>
          <p:cNvPr id="35" name="BPS Value 5"/>
          <p:cNvSpPr txBox="1"/>
          <p:nvPr/>
        </p:nvSpPr>
        <p:spPr>
          <a:xfrm>
            <a:off x="6896100" y="4154551"/>
            <a:ext cx="514350" cy="123825"/>
          </a:xfrm>
          <a:prstGeom prst="rect">
            <a:avLst/>
          </a:prstGeom>
          <a:noFill/>
        </p:spPr>
        <p:txBody>
          <a:bodyPr wrap="none" lIns="0" rIns="0" tIns="0" bIns="0" anchor="ctr">
            <a:spAutoFit/>
          </a:bodyPr>
          <a:lstStyle/>
          <a:p>
            <a:pPr algn="r"/>
            <a:r>
              <a:rPr sz="900" b="1">
                <a:solidFill>
                  <a:srgbClr val="2E7D32"/>
                </a:solidFill>
                <a:latin typeface="Calibri"/>
              </a:rPr>
              <a:t>+118</a:t>
            </a:r>
          </a:p>
        </p:txBody>
      </p:sp>
      <p:sp>
        <p:nvSpPr>
          <p:cNvPr id="36" name="FMI Legend Chip"/>
          <p:cNvSpPr/>
          <p:nvPr/>
        </p:nvSpPr>
        <p:spPr>
          <a:xfrm>
            <a:off x="4928997" y="492849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492372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84752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Smoothing and Frizz Control</a:t>
            </a:r>
          </a:p>
        </p:txBody>
      </p:sp>
      <p:sp>
        <p:nvSpPr>
          <p:cNvPr id="39" name="BPS Value 6"/>
          <p:cNvSpPr txBox="1"/>
          <p:nvPr/>
        </p:nvSpPr>
        <p:spPr>
          <a:xfrm>
            <a:off x="6896100" y="4909440"/>
            <a:ext cx="514350" cy="123825"/>
          </a:xfrm>
          <a:prstGeom prst="rect">
            <a:avLst/>
          </a:prstGeom>
          <a:noFill/>
        </p:spPr>
        <p:txBody>
          <a:bodyPr wrap="none" lIns="0" rIns="0" tIns="0" bIns="0" anchor="ctr">
            <a:spAutoFit/>
          </a:bodyPr>
          <a:lstStyle/>
          <a:p>
            <a:pPr algn="r"/>
            <a:r>
              <a:rPr sz="900" b="1">
                <a:solidFill>
                  <a:srgbClr val="2E7D32"/>
                </a:solidFill>
                <a:latin typeface="Calibri"/>
              </a:rPr>
              <a:t>+84</a:t>
            </a:r>
          </a:p>
        </p:txBody>
      </p:sp>
      <p:sp>
        <p:nvSpPr>
          <p:cNvPr id="40" name="FMI Legend Chip"/>
          <p:cNvSpPr/>
          <p:nvPr/>
        </p:nvSpPr>
        <p:spPr>
          <a:xfrm>
            <a:off x="4928997" y="579935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579459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71839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 Definition</a:t>
            </a:r>
          </a:p>
        </p:txBody>
      </p:sp>
      <p:sp>
        <p:nvSpPr>
          <p:cNvPr id="43" name="BPS Value 7"/>
          <p:cNvSpPr txBox="1"/>
          <p:nvPr/>
        </p:nvSpPr>
        <p:spPr>
          <a:xfrm>
            <a:off x="6896100" y="5780303"/>
            <a:ext cx="514350" cy="123825"/>
          </a:xfrm>
          <a:prstGeom prst="rect">
            <a:avLst/>
          </a:prstGeom>
          <a:noFill/>
        </p:spPr>
        <p:txBody>
          <a:bodyPr wrap="none" lIns="0" rIns="0" tIns="0" bIns="0" anchor="ctr">
            <a:spAutoFit/>
          </a:bodyPr>
          <a:lstStyle/>
          <a:p>
            <a:pPr algn="r"/>
            <a:r>
              <a:rPr sz="900" b="1">
                <a:solidFill>
                  <a:srgbClr val="2E7D32"/>
                </a:solidFill>
                <a:latin typeface="Calibri"/>
              </a:rPr>
              <a:t>+241</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Latin America Read-out, By Primary Styling Benefit</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primary styling benefit, curl definition segment is expected to witness the highest CAGR of 9.1% over the forecast period. In terms of value share by primary styling benefit, the curl definition segment is expected to dominate the market, gaining 241 BPS and accounting for 19.4% share by 2036.</a:t>
            </a:r>
          </a:p>
          <a:p>
            <a:pPr algn="l">
              <a:lnSpc>
                <a:spcPct val="110000"/>
              </a:lnSpc>
              <a:spcBef>
                <a:spcPts val="0"/>
              </a:spcBef>
              <a:spcAft>
                <a:spcPts val="500"/>
              </a:spcAft>
            </a:pPr>
            <a:r>
              <a:rPr sz="1150" b="0">
                <a:solidFill>
                  <a:srgbClr val="2E2E2E"/>
                </a:solidFill>
                <a:latin typeface="Calibri"/>
              </a:rPr>
              <a:t>The hold and shape segment is expected to lose 213 BPS over the forecast period to account for 12.2% share by 2036.</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Primary Styling Benefit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Primary Styling Benefit,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Growth,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Heatmap, By Primary Styling Benefit (%)  ·  light = lower, dark = higher growth</a:t>
            </a:r>
          </a:p>
        </p:txBody>
      </p:sp>
      <p:sp>
        <p:nvSpPr>
          <p:cNvPr id="17" name="TextBox 16"/>
          <p:cNvSpPr txBox="1"/>
          <p:nvPr/>
        </p:nvSpPr>
        <p:spPr>
          <a:xfrm>
            <a:off x="166143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31838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97534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632294"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28924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94619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60315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26010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91705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57401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3096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88791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4486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0182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5877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Hold and Shape</a:t>
            </a:r>
          </a:p>
        </p:txBody>
      </p:sp>
      <p:sp>
        <p:nvSpPr>
          <p:cNvPr id="33" name="Rectangle 32"/>
          <p:cNvSpPr/>
          <p:nvPr/>
        </p:nvSpPr>
        <p:spPr>
          <a:xfrm>
            <a:off x="1661437" y="3733800"/>
            <a:ext cx="656953" cy="405493"/>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318389" y="3733800"/>
            <a:ext cx="656953" cy="405493"/>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975342" y="3733800"/>
            <a:ext cx="656953" cy="405493"/>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632294" y="3733800"/>
            <a:ext cx="656953" cy="405493"/>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289247" y="3733800"/>
            <a:ext cx="656953" cy="405493"/>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946199" y="3733800"/>
            <a:ext cx="656953" cy="405493"/>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603152" y="3733800"/>
            <a:ext cx="656953" cy="405493"/>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260105" y="3733800"/>
            <a:ext cx="656953" cy="405493"/>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17057" y="3733800"/>
            <a:ext cx="656953" cy="405493"/>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574010" y="3733800"/>
            <a:ext cx="656953" cy="405493"/>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30962" y="3733800"/>
            <a:ext cx="656953" cy="40549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887915" y="3733800"/>
            <a:ext cx="656953" cy="405493"/>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44867" y="3733800"/>
            <a:ext cx="656953" cy="405493"/>
          </a:xfrm>
          <a:prstGeom prst="rect">
            <a:avLst/>
          </a:prstGeom>
          <a:solidFill>
            <a:srgbClr val="C7DA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01820" y="3733800"/>
            <a:ext cx="656953" cy="405493"/>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58772" y="3733800"/>
            <a:ext cx="656953" cy="405493"/>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39293"/>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Curl Definition</a:t>
            </a:r>
          </a:p>
        </p:txBody>
      </p:sp>
      <p:sp>
        <p:nvSpPr>
          <p:cNvPr id="49" name="Rectangle 48"/>
          <p:cNvSpPr/>
          <p:nvPr/>
        </p:nvSpPr>
        <p:spPr>
          <a:xfrm>
            <a:off x="1661437" y="4139293"/>
            <a:ext cx="656953" cy="405493"/>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318389" y="4139293"/>
            <a:ext cx="656953" cy="405493"/>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975342" y="4139293"/>
            <a:ext cx="656953" cy="405493"/>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632294" y="4139293"/>
            <a:ext cx="656953" cy="405493"/>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289247" y="4139293"/>
            <a:ext cx="656953" cy="405493"/>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946199" y="4139293"/>
            <a:ext cx="656953" cy="405493"/>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603152" y="4139293"/>
            <a:ext cx="656953" cy="405493"/>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260105" y="4139293"/>
            <a:ext cx="656953" cy="40549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917057" y="4139293"/>
            <a:ext cx="656953" cy="405493"/>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574010" y="4139293"/>
            <a:ext cx="656953" cy="405493"/>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30962" y="4139293"/>
            <a:ext cx="656953" cy="40549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887915" y="4139293"/>
            <a:ext cx="656953" cy="405493"/>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44867" y="4139293"/>
            <a:ext cx="656953" cy="405493"/>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01820" y="4139293"/>
            <a:ext cx="656953" cy="405493"/>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58772" y="4139293"/>
            <a:ext cx="656953" cy="405493"/>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4786"/>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Volume and Root Lift</a:t>
            </a:r>
          </a:p>
        </p:txBody>
      </p:sp>
      <p:sp>
        <p:nvSpPr>
          <p:cNvPr id="65" name="Rectangle 64"/>
          <p:cNvSpPr/>
          <p:nvPr/>
        </p:nvSpPr>
        <p:spPr>
          <a:xfrm>
            <a:off x="1661437" y="4544786"/>
            <a:ext cx="656953" cy="405493"/>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318389" y="4544786"/>
            <a:ext cx="656953" cy="405493"/>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975342" y="4544786"/>
            <a:ext cx="656953" cy="405493"/>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632294" y="4544786"/>
            <a:ext cx="656953" cy="405493"/>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289247" y="4544786"/>
            <a:ext cx="656953" cy="405493"/>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946199" y="4544786"/>
            <a:ext cx="656953" cy="405493"/>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603152" y="4544786"/>
            <a:ext cx="656953" cy="405493"/>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260105" y="4544786"/>
            <a:ext cx="656953" cy="405493"/>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917057" y="4544786"/>
            <a:ext cx="656953" cy="405493"/>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574010" y="4544786"/>
            <a:ext cx="656953" cy="405493"/>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30962" y="4544786"/>
            <a:ext cx="656953" cy="405493"/>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887915" y="4544786"/>
            <a:ext cx="656953" cy="405493"/>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44867" y="4544786"/>
            <a:ext cx="656953" cy="405493"/>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01820" y="4544786"/>
            <a:ext cx="656953" cy="405493"/>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58772" y="4544786"/>
            <a:ext cx="656953" cy="40549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4950279"/>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Texture and Separation</a:t>
            </a:r>
          </a:p>
        </p:txBody>
      </p:sp>
      <p:sp>
        <p:nvSpPr>
          <p:cNvPr id="81" name="Rectangle 80"/>
          <p:cNvSpPr/>
          <p:nvPr/>
        </p:nvSpPr>
        <p:spPr>
          <a:xfrm>
            <a:off x="1661437" y="4950279"/>
            <a:ext cx="656953" cy="405493"/>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318389" y="4950279"/>
            <a:ext cx="656953" cy="405493"/>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975342" y="4950279"/>
            <a:ext cx="656953" cy="40549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632294" y="4950279"/>
            <a:ext cx="656953" cy="405493"/>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289247" y="4950279"/>
            <a:ext cx="656953" cy="405493"/>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946199" y="4950279"/>
            <a:ext cx="656953" cy="405493"/>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603152" y="4950279"/>
            <a:ext cx="656953" cy="405493"/>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260105" y="4950279"/>
            <a:ext cx="656953" cy="405493"/>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917057" y="4950279"/>
            <a:ext cx="656953" cy="405493"/>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574010" y="4950279"/>
            <a:ext cx="656953" cy="405493"/>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30962" y="4950279"/>
            <a:ext cx="656953" cy="405493"/>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887915" y="4950279"/>
            <a:ext cx="656953" cy="405493"/>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44867" y="4950279"/>
            <a:ext cx="656953" cy="405493"/>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01820" y="4950279"/>
            <a:ext cx="656953" cy="405493"/>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58772" y="4950279"/>
            <a:ext cx="656953" cy="405493"/>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55771"/>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Smoothing and Frizz Control</a:t>
            </a:r>
          </a:p>
        </p:txBody>
      </p:sp>
      <p:sp>
        <p:nvSpPr>
          <p:cNvPr id="97" name="Rectangle 96"/>
          <p:cNvSpPr/>
          <p:nvPr/>
        </p:nvSpPr>
        <p:spPr>
          <a:xfrm>
            <a:off x="1661437" y="5355771"/>
            <a:ext cx="656953" cy="405493"/>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318389" y="5355771"/>
            <a:ext cx="656953" cy="405493"/>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975342" y="5355771"/>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632294" y="5355771"/>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289247" y="5355771"/>
            <a:ext cx="656953" cy="405493"/>
          </a:xfrm>
          <a:prstGeom prst="rect">
            <a:avLst/>
          </a:prstGeom>
          <a:solidFill>
            <a:srgbClr val="E6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946199" y="5355771"/>
            <a:ext cx="656953" cy="405493"/>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603152" y="5355771"/>
            <a:ext cx="656953" cy="405493"/>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260105" y="5355771"/>
            <a:ext cx="656953" cy="405493"/>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917057" y="5355771"/>
            <a:ext cx="656953" cy="405493"/>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574010" y="5355771"/>
            <a:ext cx="656953" cy="405493"/>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30962" y="5355771"/>
            <a:ext cx="656953" cy="405493"/>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887915" y="5355771"/>
            <a:ext cx="656953" cy="405493"/>
          </a:xfrm>
          <a:prstGeom prst="rect">
            <a:avLst/>
          </a:prstGeom>
          <a:solidFill>
            <a:srgbClr val="1C7B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44867" y="5355771"/>
            <a:ext cx="656953" cy="405493"/>
          </a:xfrm>
          <a:prstGeom prst="rect">
            <a:avLst/>
          </a:prstGeom>
          <a:solidFill>
            <a:srgbClr val="1A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01820" y="5355771"/>
            <a:ext cx="656953" cy="405493"/>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58772" y="5355771"/>
            <a:ext cx="656953" cy="405493"/>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761264"/>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Sleek Styling and Edge Control</a:t>
            </a:r>
          </a:p>
        </p:txBody>
      </p:sp>
      <p:sp>
        <p:nvSpPr>
          <p:cNvPr id="113" name="Rectangle 112"/>
          <p:cNvSpPr/>
          <p:nvPr/>
        </p:nvSpPr>
        <p:spPr>
          <a:xfrm>
            <a:off x="1661437" y="5761264"/>
            <a:ext cx="656953" cy="405493"/>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318389" y="5761264"/>
            <a:ext cx="656953" cy="405493"/>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2975342" y="5761264"/>
            <a:ext cx="656953" cy="405493"/>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632294" y="5761264"/>
            <a:ext cx="656953" cy="405493"/>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289247" y="5761264"/>
            <a:ext cx="656953" cy="405493"/>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4946199" y="5761264"/>
            <a:ext cx="656953" cy="405493"/>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603152" y="5761264"/>
            <a:ext cx="656953" cy="405493"/>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260105" y="5761264"/>
            <a:ext cx="656953" cy="405493"/>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6917057" y="5761264"/>
            <a:ext cx="656953" cy="405493"/>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574010" y="5761264"/>
            <a:ext cx="656953" cy="40549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30962" y="5761264"/>
            <a:ext cx="656953" cy="405493"/>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887915" y="5761264"/>
            <a:ext cx="656953" cy="405493"/>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44867" y="5761264"/>
            <a:ext cx="656953" cy="405493"/>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01820" y="5761264"/>
            <a:ext cx="656953" cy="405493"/>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58772" y="5761264"/>
            <a:ext cx="656953" cy="405493"/>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166757"/>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Heat Styling Support</a:t>
            </a:r>
          </a:p>
        </p:txBody>
      </p:sp>
      <p:sp>
        <p:nvSpPr>
          <p:cNvPr id="129" name="Rectangle 128"/>
          <p:cNvSpPr/>
          <p:nvPr/>
        </p:nvSpPr>
        <p:spPr>
          <a:xfrm>
            <a:off x="1661437" y="6166757"/>
            <a:ext cx="656953" cy="405493"/>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318389" y="6166757"/>
            <a:ext cx="656953" cy="405493"/>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2975342" y="6166757"/>
            <a:ext cx="656953" cy="405493"/>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632294" y="6166757"/>
            <a:ext cx="656953" cy="40549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289247" y="6166757"/>
            <a:ext cx="656953" cy="405493"/>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4946199" y="6166757"/>
            <a:ext cx="656953" cy="405493"/>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603152" y="6166757"/>
            <a:ext cx="656953" cy="405493"/>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260105" y="6166757"/>
            <a:ext cx="656953" cy="405493"/>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6917057" y="6166757"/>
            <a:ext cx="656953" cy="405493"/>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574010" y="6166757"/>
            <a:ext cx="656953" cy="405493"/>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30962" y="6166757"/>
            <a:ext cx="656953" cy="405493"/>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887915" y="6166757"/>
            <a:ext cx="656953" cy="405493"/>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44867" y="6166757"/>
            <a:ext cx="656953" cy="405493"/>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01820" y="6166757"/>
            <a:ext cx="656953" cy="405493"/>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58772" y="6166757"/>
            <a:ext cx="656953" cy="405493"/>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86" name="TextBox 185"/>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Hair Type Targeted</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Hair Type Targeted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Hair Type Targeted,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Hair Type Targeted segment categorizes the market by hair type targeted.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Curly Hair</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293.5</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644.6</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8.2%</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Coily Hair</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290.7</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662.6</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8.6%</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All Hair Types</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266.5</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525.4</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7.0%</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Straight Hair</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254.5</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477.5</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6.5%</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Wavy Hair</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245.3</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505.4</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7.5%</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hair type targeted, coily hair segment is expected to witness the highest CAGR of 8.6% over the forecast period. In terms of value share by hair type targeted, the coily hair segment is expected to dominate the market, gaining 201 BPS and accounting for 23.5% share by 2036.</a:t>
            </a:r>
          </a:p>
          <a:p>
            <a:pPr algn="l">
              <a:lnSpc>
                <a:spcPct val="110000"/>
              </a:lnSpc>
              <a:spcBef>
                <a:spcPts val="0"/>
              </a:spcBef>
              <a:spcAft>
                <a:spcPts val="500"/>
              </a:spcAft>
            </a:pPr>
            <a:r>
              <a:rPr sz="1100" b="0">
                <a:solidFill>
                  <a:srgbClr val="2E2E2E"/>
                </a:solidFill>
                <a:latin typeface="Calibri"/>
              </a:rPr>
              <a:t>Coily hair segment is projected to register 1.0X higher value than curly hair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Curly Hair: </a:t>
            </a:r>
            <a:r>
              <a:rPr sz="1100" b="0">
                <a:solidFill>
                  <a:srgbClr val="2E2E2E"/>
                </a:solidFill>
                <a:latin typeface="Calibri"/>
              </a:rPr>
              <a:t>22% of 2026 value · 8.2%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Coily Hair: </a:t>
            </a:r>
            <a:r>
              <a:rPr sz="1100" b="0">
                <a:solidFill>
                  <a:srgbClr val="2E2E2E"/>
                </a:solidFill>
                <a:latin typeface="Calibri"/>
              </a:rPr>
              <a:t>22% of 2026 value · 8.6%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All Hair Types: </a:t>
            </a:r>
            <a:r>
              <a:rPr sz="1100" b="0">
                <a:solidFill>
                  <a:srgbClr val="2E2E2E"/>
                </a:solidFill>
                <a:latin typeface="Calibri"/>
              </a:rPr>
              <a:t>20% of 2026 value · 7.0%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Straight Hair: </a:t>
            </a:r>
            <a:r>
              <a:rPr sz="1100" b="0">
                <a:solidFill>
                  <a:srgbClr val="2E2E2E"/>
                </a:solidFill>
                <a:latin typeface="Calibri"/>
              </a:rPr>
              <a:t>19% of 2026 value · 6.5%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Wavy Hair: </a:t>
            </a:r>
            <a:r>
              <a:rPr sz="1100" b="0">
                <a:solidFill>
                  <a:srgbClr val="2E2E2E"/>
                </a:solidFill>
                <a:latin typeface="Calibri"/>
              </a:rPr>
              <a:t>18% of 2026 value · 7.5% CAGR serves a niche.</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Hair Type Targeted split shows how demand is distributed across hair type targeted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Hair Type Targeted segment is projected to grow at a CAGR of 7.6%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Structure &amp; Attractiveness, By Hair Type Targeted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Hair Type Targeted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Hair Type Targeted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Coily hair followed by curly hair are expected to be the two most attractive hair type targeted segments in the Latin America hair styling products market in terms of value over the forecast period. Coily hair and curly hair exhibit a CAGR index of 112.7 and 107.4 and a market share index of 107.6 and 108.7 respectively, against the segment average of 100. The straight hair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Hair Type Targeted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Straight Hair</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Wavy Hair</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Curly Hair</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Coily Hair</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Hair Type Targeted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All Hair Types</a:t>
            </a:r>
          </a:p>
        </p:txBody>
      </p:sp>
      <p:graphicFrame>
        <p:nvGraphicFramePr>
          <p:cNvPr id="12" name="Chart 11"/>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Latin America Absolute $ Opportunity Analysis, By Hair Type Targeted</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coily hair segment is anticipated to witness an increase of 2.3X in terms of value as compared to 2026. The coily hair segment is expected to create an incremental opportunity of US$ 371.9 Mn for the overall hair styling products market from 2026 to 2036.</a:t>
            </a:r>
          </a:p>
          <a:p>
            <a:pPr algn="l">
              <a:lnSpc>
                <a:spcPct val="110000"/>
              </a:lnSpc>
              <a:spcBef>
                <a:spcPts val="0"/>
              </a:spcBef>
              <a:spcAft>
                <a:spcPts val="500"/>
              </a:spcAft>
            </a:pPr>
            <a:r>
              <a:rPr sz="1150" b="0">
                <a:solidFill>
                  <a:srgbClr val="2E2E2E"/>
                </a:solidFill>
                <a:latin typeface="Calibri"/>
              </a:rPr>
              <a:t>The curly hair segment is expected to create an incremental opportunity of US$ 351.1 Mn for the overall hair styling products market from 2026 to 2036. The wavy hair segment is expected to create an incremental opportunity of US$ 260.1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Hair Type Targeted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Hair Type Targeted,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Hair Type Targeted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Analysis, By Hair Type Targeted</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Coily hair segment is projected to register 1.0X higher value than curly hair segment in 2036. Among hair styling products by hair type targeted, coily hair segment is expected to witness the highest CAGR of 8.6% over the forecast period.</a:t>
            </a:r>
          </a:p>
          <a:p>
            <a:pPr algn="l">
              <a:lnSpc>
                <a:spcPct val="110000"/>
              </a:lnSpc>
              <a:spcBef>
                <a:spcPts val="0"/>
              </a:spcBef>
              <a:spcAft>
                <a:spcPts val="500"/>
              </a:spcAft>
            </a:pPr>
            <a:r>
              <a:rPr sz="1150" b="0">
                <a:solidFill>
                  <a:srgbClr val="2E2E2E"/>
                </a:solidFill>
                <a:latin typeface="Calibri"/>
              </a:rPr>
              <a:t>In terms of value share by hair type targeted, the coily hair segment is expected to dominate the market, gaining 201 BPS and accounting for 23.5% share by 2036. The straight hair segment is expected to lose 189 BPS over the forecast period to account for 17.0%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&amp; Share Shift, By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Hair Type Targeted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Composition, By Hair Type Targeted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59017"/>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5425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7805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Straight Hair</a:t>
            </a:r>
          </a:p>
        </p:txBody>
      </p:sp>
      <p:sp>
        <p:nvSpPr>
          <p:cNvPr id="19" name="BPS Value 1"/>
          <p:cNvSpPr txBox="1"/>
          <p:nvPr/>
        </p:nvSpPr>
        <p:spPr>
          <a:xfrm>
            <a:off x="6896100" y="2039967"/>
            <a:ext cx="514350" cy="123825"/>
          </a:xfrm>
          <a:prstGeom prst="rect">
            <a:avLst/>
          </a:prstGeom>
          <a:noFill/>
        </p:spPr>
        <p:txBody>
          <a:bodyPr wrap="none" lIns="0" rIns="0" tIns="0" bIns="0" anchor="ctr">
            <a:spAutoFit/>
          </a:bodyPr>
          <a:lstStyle/>
          <a:p>
            <a:pPr algn="r"/>
            <a:r>
              <a:rPr sz="900" b="1">
                <a:solidFill>
                  <a:srgbClr val="E44D3A"/>
                </a:solidFill>
                <a:latin typeface="Calibri"/>
              </a:rPr>
              <a:t>-189</a:t>
            </a:r>
          </a:p>
        </p:txBody>
      </p:sp>
      <p:sp>
        <p:nvSpPr>
          <p:cNvPr id="20" name="FMI Legend Chip"/>
          <p:cNvSpPr/>
          <p:nvPr/>
        </p:nvSpPr>
        <p:spPr>
          <a:xfrm>
            <a:off x="4928997" y="2857170"/>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8524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7620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Wavy Hair</a:t>
            </a:r>
          </a:p>
        </p:txBody>
      </p:sp>
      <p:sp>
        <p:nvSpPr>
          <p:cNvPr id="23" name="BPS Value 2"/>
          <p:cNvSpPr txBox="1"/>
          <p:nvPr/>
        </p:nvSpPr>
        <p:spPr>
          <a:xfrm>
            <a:off x="6896100" y="2838120"/>
            <a:ext cx="514350" cy="123825"/>
          </a:xfrm>
          <a:prstGeom prst="rect">
            <a:avLst/>
          </a:prstGeom>
          <a:noFill/>
        </p:spPr>
        <p:txBody>
          <a:bodyPr wrap="none" lIns="0" rIns="0" tIns="0" bIns="0" anchor="ctr">
            <a:spAutoFit/>
          </a:bodyPr>
          <a:lstStyle/>
          <a:p>
            <a:pPr algn="r"/>
            <a:r>
              <a:rPr sz="900" b="1">
                <a:solidFill>
                  <a:srgbClr val="E44D3A"/>
                </a:solidFill>
                <a:latin typeface="Calibri"/>
              </a:rPr>
              <a:t>-21</a:t>
            </a:r>
          </a:p>
        </p:txBody>
      </p:sp>
      <p:sp>
        <p:nvSpPr>
          <p:cNvPr id="24" name="FMI Legend Chip"/>
          <p:cNvSpPr/>
          <p:nvPr/>
        </p:nvSpPr>
        <p:spPr>
          <a:xfrm>
            <a:off x="4928997" y="369415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68939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61319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All Hair Types</a:t>
            </a:r>
          </a:p>
        </p:txBody>
      </p:sp>
      <p:sp>
        <p:nvSpPr>
          <p:cNvPr id="27" name="BPS Value 3"/>
          <p:cNvSpPr txBox="1"/>
          <p:nvPr/>
        </p:nvSpPr>
        <p:spPr>
          <a:xfrm>
            <a:off x="6896100" y="3675103"/>
            <a:ext cx="514350" cy="123825"/>
          </a:xfrm>
          <a:prstGeom prst="rect">
            <a:avLst/>
          </a:prstGeom>
          <a:noFill/>
        </p:spPr>
        <p:txBody>
          <a:bodyPr wrap="none" lIns="0" rIns="0" tIns="0" bIns="0" anchor="ctr">
            <a:spAutoFit/>
          </a:bodyPr>
          <a:lstStyle/>
          <a:p>
            <a:pPr algn="r"/>
            <a:r>
              <a:rPr sz="900" b="1">
                <a:solidFill>
                  <a:srgbClr val="E44D3A"/>
                </a:solidFill>
                <a:latin typeface="Calibri"/>
              </a:rPr>
              <a:t>-107</a:t>
            </a:r>
          </a:p>
        </p:txBody>
      </p:sp>
      <p:sp>
        <p:nvSpPr>
          <p:cNvPr id="28" name="FMI Legend Chip"/>
          <p:cNvSpPr/>
          <p:nvPr/>
        </p:nvSpPr>
        <p:spPr>
          <a:xfrm>
            <a:off x="4928997" y="464417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463941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56321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Curly Hair</a:t>
            </a:r>
          </a:p>
        </p:txBody>
      </p:sp>
      <p:sp>
        <p:nvSpPr>
          <p:cNvPr id="31" name="BPS Value 4"/>
          <p:cNvSpPr txBox="1"/>
          <p:nvPr/>
        </p:nvSpPr>
        <p:spPr>
          <a:xfrm>
            <a:off x="6896100" y="4625129"/>
            <a:ext cx="514350" cy="123825"/>
          </a:xfrm>
          <a:prstGeom prst="rect">
            <a:avLst/>
          </a:prstGeom>
          <a:noFill/>
        </p:spPr>
        <p:txBody>
          <a:bodyPr wrap="none" lIns="0" rIns="0" tIns="0" bIns="0" anchor="ctr">
            <a:spAutoFit/>
          </a:bodyPr>
          <a:lstStyle/>
          <a:p>
            <a:pPr algn="r"/>
            <a:r>
              <a:rPr sz="900" b="1">
                <a:solidFill>
                  <a:srgbClr val="2E7D32"/>
                </a:solidFill>
                <a:latin typeface="Calibri"/>
              </a:rPr>
              <a:t>+116</a:t>
            </a:r>
          </a:p>
        </p:txBody>
      </p:sp>
      <p:sp>
        <p:nvSpPr>
          <p:cNvPr id="32" name="FMI Legend Chip"/>
          <p:cNvSpPr/>
          <p:nvPr/>
        </p:nvSpPr>
        <p:spPr>
          <a:xfrm>
            <a:off x="4928997" y="570562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570086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2466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Coily Hair</a:t>
            </a:r>
          </a:p>
        </p:txBody>
      </p:sp>
      <p:sp>
        <p:nvSpPr>
          <p:cNvPr id="35" name="BPS Value 5"/>
          <p:cNvSpPr txBox="1"/>
          <p:nvPr/>
        </p:nvSpPr>
        <p:spPr>
          <a:xfrm>
            <a:off x="6896100" y="5686576"/>
            <a:ext cx="514350" cy="123825"/>
          </a:xfrm>
          <a:prstGeom prst="rect">
            <a:avLst/>
          </a:prstGeom>
          <a:noFill/>
        </p:spPr>
        <p:txBody>
          <a:bodyPr wrap="none" lIns="0" rIns="0" tIns="0" bIns="0" anchor="ctr">
            <a:spAutoFit/>
          </a:bodyPr>
          <a:lstStyle/>
          <a:p>
            <a:pPr algn="r"/>
            <a:r>
              <a:rPr sz="900" b="1">
                <a:solidFill>
                  <a:srgbClr val="2E7D32"/>
                </a:solidFill>
                <a:latin typeface="Calibri"/>
              </a:rPr>
              <a:t>+201</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Latin America Read-out, By Hair Type Targeted</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hair type targeted, coily hair segment is expected to witness the highest CAGR of 8.6% over the forecast period. In terms of value share by hair type targeted, the coily hair segment is expected to dominate the market, gaining 201 BPS and accounting for 23.5% share by 2036.</a:t>
            </a:r>
          </a:p>
          <a:p>
            <a:pPr algn="l">
              <a:lnSpc>
                <a:spcPct val="110000"/>
              </a:lnSpc>
              <a:spcBef>
                <a:spcPts val="0"/>
              </a:spcBef>
              <a:spcAft>
                <a:spcPts val="500"/>
              </a:spcAft>
            </a:pPr>
            <a:r>
              <a:rPr sz="1150" b="0">
                <a:solidFill>
                  <a:srgbClr val="2E2E2E"/>
                </a:solidFill>
                <a:latin typeface="Calibri"/>
              </a:rPr>
              <a:t>The straight hair segment is expected to lose 189 BPS over the forecast period to account for 17.0%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Hair Type Targeted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Hair Type Targeted,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Growth,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Heatmap, By Hair Type Targeted (%)  ·  light = lower, dark = higher growth</a:t>
            </a:r>
          </a:p>
        </p:txBody>
      </p:sp>
      <p:sp>
        <p:nvSpPr>
          <p:cNvPr id="17" name="TextBox 16"/>
          <p:cNvSpPr txBox="1"/>
          <p:nvPr/>
        </p:nvSpPr>
        <p:spPr>
          <a:xfrm>
            <a:off x="917783"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62431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33084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03737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74390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45043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15696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86348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57001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27654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798307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68960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39613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0266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0919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Straight Hair</a:t>
            </a:r>
          </a:p>
        </p:txBody>
      </p:sp>
      <p:sp>
        <p:nvSpPr>
          <p:cNvPr id="33" name="Rectangle 32"/>
          <p:cNvSpPr/>
          <p:nvPr/>
        </p:nvSpPr>
        <p:spPr>
          <a:xfrm>
            <a:off x="917783" y="3305175"/>
            <a:ext cx="706529" cy="65341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624312" y="3305175"/>
            <a:ext cx="706529" cy="653415"/>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330842" y="3305175"/>
            <a:ext cx="706529" cy="65341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037371" y="3305175"/>
            <a:ext cx="706529" cy="65341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743901" y="3305175"/>
            <a:ext cx="706529" cy="653415"/>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450430" y="3305175"/>
            <a:ext cx="706529" cy="65341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156960" y="3305175"/>
            <a:ext cx="706529" cy="653415"/>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863489" y="3305175"/>
            <a:ext cx="706529" cy="653415"/>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570019" y="3305175"/>
            <a:ext cx="706529" cy="653415"/>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276548" y="3305175"/>
            <a:ext cx="706529" cy="653415"/>
          </a:xfrm>
          <a:prstGeom prst="rect">
            <a:avLst/>
          </a:prstGeom>
          <a:solidFill>
            <a:srgbClr val="A3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983078" y="3305175"/>
            <a:ext cx="706529" cy="653415"/>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689607" y="3305175"/>
            <a:ext cx="706529" cy="653415"/>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396137" y="3305175"/>
            <a:ext cx="706529" cy="65341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02666" y="3305175"/>
            <a:ext cx="706529" cy="653415"/>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09196" y="3305175"/>
            <a:ext cx="706529" cy="653415"/>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Wavy Hair</a:t>
            </a:r>
          </a:p>
        </p:txBody>
      </p:sp>
      <p:sp>
        <p:nvSpPr>
          <p:cNvPr id="49" name="Rectangle 48"/>
          <p:cNvSpPr/>
          <p:nvPr/>
        </p:nvSpPr>
        <p:spPr>
          <a:xfrm>
            <a:off x="917783" y="3958590"/>
            <a:ext cx="706529" cy="653415"/>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624312" y="3958590"/>
            <a:ext cx="706529" cy="65341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330842" y="3958590"/>
            <a:ext cx="706529" cy="653415"/>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037371" y="3958590"/>
            <a:ext cx="706529" cy="653415"/>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743901" y="3958590"/>
            <a:ext cx="706529" cy="65341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450430" y="3958590"/>
            <a:ext cx="706529" cy="653415"/>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156960" y="3958590"/>
            <a:ext cx="706529" cy="653415"/>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863489" y="3958590"/>
            <a:ext cx="706529" cy="653415"/>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570019" y="3958590"/>
            <a:ext cx="706529" cy="653415"/>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276548" y="3958590"/>
            <a:ext cx="706529" cy="653415"/>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7983078" y="3958590"/>
            <a:ext cx="706529" cy="653415"/>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689607" y="3958590"/>
            <a:ext cx="706529" cy="653415"/>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396137" y="3958590"/>
            <a:ext cx="706529" cy="653415"/>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02666" y="3958590"/>
            <a:ext cx="706529" cy="653415"/>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09196" y="3958590"/>
            <a:ext cx="706529" cy="653415"/>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Curly Hair</a:t>
            </a:r>
          </a:p>
        </p:txBody>
      </p:sp>
      <p:sp>
        <p:nvSpPr>
          <p:cNvPr id="65" name="Rectangle 64"/>
          <p:cNvSpPr/>
          <p:nvPr/>
        </p:nvSpPr>
        <p:spPr>
          <a:xfrm>
            <a:off x="917783" y="4612005"/>
            <a:ext cx="706529" cy="65341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624312" y="4612005"/>
            <a:ext cx="706529" cy="65341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330842" y="4612005"/>
            <a:ext cx="706529" cy="65341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037371" y="4612005"/>
            <a:ext cx="706529" cy="65341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743901" y="4612005"/>
            <a:ext cx="706529" cy="65341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450430" y="4612005"/>
            <a:ext cx="706529" cy="653415"/>
          </a:xfrm>
          <a:prstGeom prst="rect">
            <a:avLst/>
          </a:prstGeom>
          <a:solidFill>
            <a:srgbClr val="C8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156960" y="4612005"/>
            <a:ext cx="706529" cy="653415"/>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863489" y="4612005"/>
            <a:ext cx="706529" cy="653415"/>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570019" y="4612005"/>
            <a:ext cx="706529" cy="653415"/>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276548" y="4612005"/>
            <a:ext cx="706529" cy="653415"/>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7983078" y="4612005"/>
            <a:ext cx="706529" cy="653415"/>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689607" y="4612005"/>
            <a:ext cx="706529" cy="653415"/>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396137" y="4612005"/>
            <a:ext cx="706529" cy="653415"/>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02666" y="4612005"/>
            <a:ext cx="706529" cy="653415"/>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09196" y="4612005"/>
            <a:ext cx="706529" cy="653415"/>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Coily Hair</a:t>
            </a:r>
          </a:p>
        </p:txBody>
      </p:sp>
      <p:sp>
        <p:nvSpPr>
          <p:cNvPr id="81" name="Rectangle 80"/>
          <p:cNvSpPr/>
          <p:nvPr/>
        </p:nvSpPr>
        <p:spPr>
          <a:xfrm>
            <a:off x="917783" y="5265420"/>
            <a:ext cx="706529"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624312" y="5265420"/>
            <a:ext cx="706529"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330842" y="5265420"/>
            <a:ext cx="706529" cy="65341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037371" y="5265420"/>
            <a:ext cx="706529"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743901" y="5265420"/>
            <a:ext cx="706529" cy="653415"/>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450430" y="5265420"/>
            <a:ext cx="706529" cy="653415"/>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156960" y="5265420"/>
            <a:ext cx="706529" cy="653415"/>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5863489" y="5265420"/>
            <a:ext cx="706529" cy="653415"/>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570019" y="5265420"/>
            <a:ext cx="706529" cy="653415"/>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276548" y="5265420"/>
            <a:ext cx="706529" cy="653415"/>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7983078" y="5265420"/>
            <a:ext cx="706529"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689607" y="5265420"/>
            <a:ext cx="706529" cy="653415"/>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396137" y="5265420"/>
            <a:ext cx="706529" cy="653415"/>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02666" y="5265420"/>
            <a:ext cx="706529" cy="653415"/>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09196" y="5265420"/>
            <a:ext cx="706529" cy="653415"/>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All Hair Types</a:t>
            </a:r>
          </a:p>
        </p:txBody>
      </p:sp>
      <p:sp>
        <p:nvSpPr>
          <p:cNvPr id="97" name="Rectangle 96"/>
          <p:cNvSpPr/>
          <p:nvPr/>
        </p:nvSpPr>
        <p:spPr>
          <a:xfrm>
            <a:off x="917783" y="5918835"/>
            <a:ext cx="706529" cy="65341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624312" y="5918835"/>
            <a:ext cx="706529" cy="65341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330842" y="5918835"/>
            <a:ext cx="706529" cy="653415"/>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037371" y="5918835"/>
            <a:ext cx="706529" cy="65341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743901" y="5918835"/>
            <a:ext cx="706529" cy="65341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450430" y="5918835"/>
            <a:ext cx="706529" cy="653415"/>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156960" y="5918835"/>
            <a:ext cx="706529" cy="653415"/>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5863489" y="5918835"/>
            <a:ext cx="706529" cy="653415"/>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570019" y="5918835"/>
            <a:ext cx="706529" cy="653415"/>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276548" y="5918835"/>
            <a:ext cx="706529" cy="653415"/>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7983078" y="5918835"/>
            <a:ext cx="706529" cy="65341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689607" y="5918835"/>
            <a:ext cx="706529" cy="65341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396137" y="5918835"/>
            <a:ext cx="706529" cy="653415"/>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02666" y="5918835"/>
            <a:ext cx="706529" cy="653415"/>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09196" y="5918835"/>
            <a:ext cx="706529" cy="653415"/>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Ingredient 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Ingredient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Ingredient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Ingredient Technology segment categorizes the market by ingredient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Film-forming and Fixative Polymers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350.8</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680.1</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6.8%</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Volume Additives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339.4</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739.8</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8.1%</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Conditioning and Smoothing Agents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336.9</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678.0</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7.2%</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and Structuring Agents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323.3</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717.6</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8.3%</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ingredient technology, waxes and structuring agents segment is expected to witness the highest CAGR of 8.3% over the forecast period. In terms of value share by ingredient technology, the texture and volume additives segment is expected to dominate the market, gaining 114 BPS and accounting for 26.3% share by 2036.</a:t>
            </a:r>
          </a:p>
          <a:p>
            <a:pPr algn="l">
              <a:lnSpc>
                <a:spcPct val="110000"/>
              </a:lnSpc>
              <a:spcBef>
                <a:spcPts val="0"/>
              </a:spcBef>
              <a:spcAft>
                <a:spcPts val="500"/>
              </a:spcAft>
            </a:pPr>
            <a:r>
              <a:rPr sz="1100" b="0">
                <a:solidFill>
                  <a:srgbClr val="2E2E2E"/>
                </a:solidFill>
                <a:latin typeface="Calibri"/>
              </a:rPr>
              <a:t>Texture and volume additives segment is projected to register 1.0X higher value than waxes and structuring agents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Film-forming and Fixative Polymers: </a:t>
            </a:r>
            <a:r>
              <a:rPr sz="1100" b="0">
                <a:solidFill>
                  <a:srgbClr val="2E2E2E"/>
                </a:solidFill>
                <a:latin typeface="Calibri"/>
              </a:rPr>
              <a:t>26% of 2026 value · 6.8%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Texture and Volume Additives: </a:t>
            </a:r>
            <a:r>
              <a:rPr sz="1100" b="0">
                <a:solidFill>
                  <a:srgbClr val="2E2E2E"/>
                </a:solidFill>
                <a:latin typeface="Calibri"/>
              </a:rPr>
              <a:t>25% of 2026 value · 8.1%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Conditioning and Smoothing Agents: </a:t>
            </a:r>
            <a:r>
              <a:rPr sz="1100" b="0">
                <a:solidFill>
                  <a:srgbClr val="2E2E2E"/>
                </a:solidFill>
                <a:latin typeface="Calibri"/>
              </a:rPr>
              <a:t>25% of 2026 value · 7.2%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Waxes and Structuring Agents: </a:t>
            </a:r>
            <a:r>
              <a:rPr sz="1100" b="0">
                <a:solidFill>
                  <a:srgbClr val="2E2E2E"/>
                </a:solidFill>
                <a:latin typeface="Calibri"/>
              </a:rPr>
              <a:t>24% of 2026 value · 8.3%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Ingredient Technology split shows how demand is distributed across ingredient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Ingredient Technology segment is projected to grow at a CAGR of 7.6%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Structure &amp; Attractiveness, By Ingredient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Ingredient Technology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Ingredient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Texture and volume additives followed by waxes and structuring agents are expected to be the two most attractive ingredient technology segments in the Latin America hair styling products market in terms of value over the forecast period. Texture and volume additives and waxes and structuring agents exhibit a CAGR index of 106.3 and 108.9 and a market share index of 100.5 and 95.8 respectively, against the segment average of 100. The film-forming and fixative polymers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Ingredient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Film-forming and Fixative Polymers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Texture and Volume Additives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Conditioning and Smoothing Agents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Waxes and Structuring Agents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Ingredient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Ingredient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Ingredient Technology (US$ Mn)</a:t>
            </a:r>
          </a:p>
        </p:txBody>
      </p:sp>
      <p:graphicFrame>
        <p:nvGraphicFramePr>
          <p:cNvPr id="13" name="Table 12"/>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29200"/>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114925"/>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Analysis, By Ingredient Technology</a:t>
            </a:r>
          </a:p>
        </p:txBody>
      </p:sp>
      <p:sp>
        <p:nvSpPr>
          <p:cNvPr id="17" name="Rectangle 16"/>
          <p:cNvSpPr/>
          <p:nvPr/>
        </p:nvSpPr>
        <p:spPr>
          <a:xfrm>
            <a:off x="276225" y="5353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438775"/>
            <a:ext cx="11639550"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Texture and volume additives segment is projected to register 1.0X higher value than waxes and structuring agents segment in 2036. Among hair styling products by ingredient technology, waxes and structuring agents segment is expected to witness the highest CAGR of 8.3% over the forecast period.</a:t>
            </a:r>
          </a:p>
          <a:p>
            <a:pPr algn="l">
              <a:lnSpc>
                <a:spcPct val="110000"/>
              </a:lnSpc>
              <a:spcBef>
                <a:spcPts val="0"/>
              </a:spcBef>
              <a:spcAft>
                <a:spcPts val="500"/>
              </a:spcAft>
            </a:pPr>
            <a:r>
              <a:rPr sz="1150" b="0">
                <a:solidFill>
                  <a:srgbClr val="2E2E2E"/>
                </a:solidFill>
                <a:latin typeface="Calibri"/>
              </a:rPr>
              <a:t>In terms of value share by ingredient technology, the texture and volume additives segment is expected to dominate the market, gaining 114 BPS and accounting for 26.3% share by 2036. The film-forming and fixative polymers segment is expected to lose 182 BPS over the forecast period to account for 24.2%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&amp; Share Shift,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Ingredient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Composition, By Ingredient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22180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21704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14084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Conditioning and Smoothing Agents</a:t>
            </a:r>
          </a:p>
        </p:txBody>
      </p:sp>
      <p:sp>
        <p:nvSpPr>
          <p:cNvPr id="19" name="BPS Value 1"/>
          <p:cNvSpPr txBox="1"/>
          <p:nvPr/>
        </p:nvSpPr>
        <p:spPr>
          <a:xfrm>
            <a:off x="6896100" y="2202756"/>
            <a:ext cx="514350" cy="123825"/>
          </a:xfrm>
          <a:prstGeom prst="rect">
            <a:avLst/>
          </a:prstGeom>
          <a:noFill/>
        </p:spPr>
        <p:txBody>
          <a:bodyPr wrap="none" lIns="0" rIns="0" tIns="0" bIns="0" anchor="ctr">
            <a:spAutoFit/>
          </a:bodyPr>
          <a:lstStyle/>
          <a:p>
            <a:pPr algn="r"/>
            <a:r>
              <a:rPr sz="900" b="1">
                <a:solidFill>
                  <a:srgbClr val="E44D3A"/>
                </a:solidFill>
                <a:latin typeface="Calibri"/>
              </a:rPr>
              <a:t>-87</a:t>
            </a:r>
          </a:p>
        </p:txBody>
      </p:sp>
      <p:sp>
        <p:nvSpPr>
          <p:cNvPr id="20" name="FMI Legend Chip"/>
          <p:cNvSpPr/>
          <p:nvPr/>
        </p:nvSpPr>
        <p:spPr>
          <a:xfrm>
            <a:off x="4928997" y="332456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31980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24360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Film-forming and Fixative Polymers</a:t>
            </a:r>
          </a:p>
        </p:txBody>
      </p:sp>
      <p:sp>
        <p:nvSpPr>
          <p:cNvPr id="23" name="BPS Value 2"/>
          <p:cNvSpPr txBox="1"/>
          <p:nvPr/>
        </p:nvSpPr>
        <p:spPr>
          <a:xfrm>
            <a:off x="6896100" y="3305519"/>
            <a:ext cx="514350" cy="123825"/>
          </a:xfrm>
          <a:prstGeom prst="rect">
            <a:avLst/>
          </a:prstGeom>
          <a:noFill/>
        </p:spPr>
        <p:txBody>
          <a:bodyPr wrap="none" lIns="0" rIns="0" tIns="0" bIns="0" anchor="ctr">
            <a:spAutoFit/>
          </a:bodyPr>
          <a:lstStyle/>
          <a:p>
            <a:pPr algn="r"/>
            <a:r>
              <a:rPr sz="900" b="1">
                <a:solidFill>
                  <a:srgbClr val="E44D3A"/>
                </a:solidFill>
                <a:latin typeface="Calibri"/>
              </a:rPr>
              <a:t>-182</a:t>
            </a:r>
          </a:p>
        </p:txBody>
      </p:sp>
      <p:sp>
        <p:nvSpPr>
          <p:cNvPr id="24" name="FMI Legend Chip"/>
          <p:cNvSpPr/>
          <p:nvPr/>
        </p:nvSpPr>
        <p:spPr>
          <a:xfrm>
            <a:off x="4928997" y="445951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45474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37854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and Structuring Agents</a:t>
            </a:r>
          </a:p>
        </p:txBody>
      </p:sp>
      <p:sp>
        <p:nvSpPr>
          <p:cNvPr id="27" name="BPS Value 3"/>
          <p:cNvSpPr txBox="1"/>
          <p:nvPr/>
        </p:nvSpPr>
        <p:spPr>
          <a:xfrm>
            <a:off x="6896100" y="4440461"/>
            <a:ext cx="514350" cy="123825"/>
          </a:xfrm>
          <a:prstGeom prst="rect">
            <a:avLst/>
          </a:prstGeom>
          <a:noFill/>
        </p:spPr>
        <p:txBody>
          <a:bodyPr wrap="none" lIns="0" rIns="0" tIns="0" bIns="0" anchor="ctr">
            <a:spAutoFit/>
          </a:bodyPr>
          <a:lstStyle/>
          <a:p>
            <a:pPr algn="r"/>
            <a:r>
              <a:rPr sz="900" b="1">
                <a:solidFill>
                  <a:srgbClr val="2E7D32"/>
                </a:solidFill>
                <a:latin typeface="Calibri"/>
              </a:rPr>
              <a:t>+155</a:t>
            </a:r>
          </a:p>
        </p:txBody>
      </p:sp>
      <p:sp>
        <p:nvSpPr>
          <p:cNvPr id="28" name="FMI Legend Chip"/>
          <p:cNvSpPr/>
          <p:nvPr/>
        </p:nvSpPr>
        <p:spPr>
          <a:xfrm>
            <a:off x="4928997" y="564293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63817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56197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Volume Additives</a:t>
            </a:r>
          </a:p>
        </p:txBody>
      </p:sp>
      <p:sp>
        <p:nvSpPr>
          <p:cNvPr id="31" name="BPS Value 4"/>
          <p:cNvSpPr txBox="1"/>
          <p:nvPr/>
        </p:nvSpPr>
        <p:spPr>
          <a:xfrm>
            <a:off x="6896100" y="5623888"/>
            <a:ext cx="514350" cy="123825"/>
          </a:xfrm>
          <a:prstGeom prst="rect">
            <a:avLst/>
          </a:prstGeom>
          <a:noFill/>
        </p:spPr>
        <p:txBody>
          <a:bodyPr wrap="none" lIns="0" rIns="0" tIns="0" bIns="0" anchor="ctr">
            <a:spAutoFit/>
          </a:bodyPr>
          <a:lstStyle/>
          <a:p>
            <a:pPr algn="r"/>
            <a:r>
              <a:rPr sz="900" b="1">
                <a:solidFill>
                  <a:srgbClr val="2E7D32"/>
                </a:solidFill>
                <a:latin typeface="Calibri"/>
              </a:rPr>
              <a:t>+114</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Latin America Read-out, By Ingredient Technology</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ingredient technology, waxes and structuring agents segment is expected to witness the highest CAGR of 8.3% over the forecast period. In terms of value share by ingredient technology, the texture and volume additives segment is expected to dominate the market, gaining 114 BPS and accounting for 26.3% share by 2036.</a:t>
            </a:r>
          </a:p>
          <a:p>
            <a:pPr algn="l">
              <a:lnSpc>
                <a:spcPct val="110000"/>
              </a:lnSpc>
              <a:spcBef>
                <a:spcPts val="0"/>
              </a:spcBef>
              <a:spcAft>
                <a:spcPts val="500"/>
              </a:spcAft>
            </a:pPr>
            <a:r>
              <a:rPr sz="1150" b="0">
                <a:solidFill>
                  <a:srgbClr val="2E2E2E"/>
                </a:solidFill>
                <a:latin typeface="Calibri"/>
              </a:rPr>
              <a:t>The film-forming and fixative polymers segment is expected to lose 182 BPS over the forecast period to account for 24.2% share by 2036.</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Ingredient Technology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3695700"/>
          </a:xfrm>
          <a:prstGeom prst="roundRect">
            <a:avLst>
              <a:gd name="adj" fmla="val 20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Growth,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3228975"/>
        </p:xfrm>
        <a:graphic>
          <a:graphicData uri="http://schemas.openxmlformats.org/drawingml/2006/table">
            <a:tbl>
              <a:tblPr>
                <a:tableStyleId>{5C22544A-7EE6-4342-B048-85BDC9FD1C3A}</a:tableStyleId>
              </a:tblPr>
              <a:tblGrid>
                <a:gridCol w="2750382"/>
                <a:gridCol w="583789"/>
                <a:gridCol w="583789"/>
                <a:gridCol w="583789"/>
                <a:gridCol w="583789"/>
                <a:gridCol w="583789"/>
                <a:gridCol w="583789"/>
                <a:gridCol w="583789"/>
                <a:gridCol w="583789"/>
                <a:gridCol w="583789"/>
                <a:gridCol w="583789"/>
                <a:gridCol w="659786"/>
                <a:gridCol w="659786"/>
                <a:gridCol w="659786"/>
                <a:gridCol w="659786"/>
                <a:gridCol w="65978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76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Ingredient Technology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Heatmap, By Ingredient Technology (%)  ·  light = lower, dark = higher growth</a:t>
            </a:r>
          </a:p>
        </p:txBody>
      </p:sp>
      <p:sp>
        <p:nvSpPr>
          <p:cNvPr id="12" name="TextBox 11"/>
          <p:cNvSpPr txBox="1"/>
          <p:nvPr/>
        </p:nvSpPr>
        <p:spPr>
          <a:xfrm>
            <a:off x="2178532"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80101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42349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404597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66845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29093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91340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53588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15836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78084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40332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902580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64828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7076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93245"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Film-forming and Fixative Polymers</a:t>
            </a:r>
          </a:p>
        </p:txBody>
      </p:sp>
      <p:sp>
        <p:nvSpPr>
          <p:cNvPr id="28" name="Rectangle 27"/>
          <p:cNvSpPr/>
          <p:nvPr/>
        </p:nvSpPr>
        <p:spPr>
          <a:xfrm>
            <a:off x="2178532" y="1409700"/>
            <a:ext cx="622480" cy="36875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801011" y="1409700"/>
            <a:ext cx="622480" cy="36875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423491" y="1409700"/>
            <a:ext cx="622480" cy="36875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4045971" y="1409700"/>
            <a:ext cx="622480" cy="368754"/>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668450" y="1409700"/>
            <a:ext cx="622480"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290930" y="1409700"/>
            <a:ext cx="622480" cy="36875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409" y="1409700"/>
            <a:ext cx="622480" cy="368754"/>
          </a:xfrm>
          <a:prstGeom prst="rect">
            <a:avLst/>
          </a:prstGeom>
          <a:solidFill>
            <a:srgbClr val="B8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535889" y="1409700"/>
            <a:ext cx="622480" cy="368754"/>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158368" y="1409700"/>
            <a:ext cx="622480" cy="368754"/>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780848" y="1409700"/>
            <a:ext cx="622480" cy="36875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403327" y="1409700"/>
            <a:ext cx="622480" cy="368754"/>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9025807" y="1409700"/>
            <a:ext cx="622480" cy="368754"/>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648286" y="1409700"/>
            <a:ext cx="622480" cy="368754"/>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70766" y="1409700"/>
            <a:ext cx="622480" cy="368754"/>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93245" y="1409700"/>
            <a:ext cx="622480" cy="368754"/>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7845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Polymers</a:t>
            </a:r>
          </a:p>
        </p:txBody>
      </p:sp>
      <p:sp>
        <p:nvSpPr>
          <p:cNvPr id="44" name="Rectangle 43"/>
          <p:cNvSpPr/>
          <p:nvPr/>
        </p:nvSpPr>
        <p:spPr>
          <a:xfrm>
            <a:off x="2178532" y="1778454"/>
            <a:ext cx="622480" cy="368754"/>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801011" y="1778454"/>
            <a:ext cx="622480" cy="368754"/>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423491" y="1778454"/>
            <a:ext cx="622480" cy="368754"/>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4045971" y="1778454"/>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668450" y="1778454"/>
            <a:ext cx="622480" cy="368754"/>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290930" y="1778454"/>
            <a:ext cx="622480" cy="368754"/>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913409" y="1778454"/>
            <a:ext cx="622480" cy="36875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535889" y="1778454"/>
            <a:ext cx="622480" cy="36875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158368" y="1778454"/>
            <a:ext cx="622480" cy="36875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780848" y="1778454"/>
            <a:ext cx="622480" cy="368754"/>
          </a:xfrm>
          <a:prstGeom prst="rect">
            <a:avLst/>
          </a:prstGeom>
          <a:solidFill>
            <a:srgbClr val="C8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403327" y="1778454"/>
            <a:ext cx="622480" cy="36875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9025807" y="1778454"/>
            <a:ext cx="622480" cy="36875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648286" y="1778454"/>
            <a:ext cx="622480" cy="36875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70766" y="1778454"/>
            <a:ext cx="622480" cy="36875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93245" y="1778454"/>
            <a:ext cx="622480" cy="368754"/>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147207"/>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Bio-based Polymers</a:t>
            </a:r>
          </a:p>
        </p:txBody>
      </p:sp>
      <p:sp>
        <p:nvSpPr>
          <p:cNvPr id="60" name="Rectangle 59"/>
          <p:cNvSpPr/>
          <p:nvPr/>
        </p:nvSpPr>
        <p:spPr>
          <a:xfrm>
            <a:off x="2178532" y="2147207"/>
            <a:ext cx="622480" cy="368754"/>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801011" y="2147207"/>
            <a:ext cx="622480" cy="36875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423491" y="2147207"/>
            <a:ext cx="622480"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4045971" y="2147207"/>
            <a:ext cx="622480" cy="368754"/>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668450" y="2147207"/>
            <a:ext cx="622480" cy="36875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290930" y="2147207"/>
            <a:ext cx="622480" cy="36875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913409" y="2147207"/>
            <a:ext cx="622480" cy="36875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535889" y="2147207"/>
            <a:ext cx="622480" cy="368754"/>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158368" y="2147207"/>
            <a:ext cx="622480" cy="368754"/>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780848" y="2147207"/>
            <a:ext cx="622480" cy="368754"/>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403327" y="2147207"/>
            <a:ext cx="622480" cy="36875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9025807" y="2147207"/>
            <a:ext cx="622480" cy="368754"/>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48286" y="2147207"/>
            <a:ext cx="622480" cy="368754"/>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70766" y="2147207"/>
            <a:ext cx="622480" cy="368754"/>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93245" y="2147207"/>
            <a:ext cx="622480" cy="368754"/>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51596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Biodegradable Polymers</a:t>
            </a:r>
          </a:p>
        </p:txBody>
      </p:sp>
      <p:sp>
        <p:nvSpPr>
          <p:cNvPr id="76" name="Rectangle 75"/>
          <p:cNvSpPr/>
          <p:nvPr/>
        </p:nvSpPr>
        <p:spPr>
          <a:xfrm>
            <a:off x="2178532" y="2515961"/>
            <a:ext cx="622480" cy="368754"/>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801011" y="2515961"/>
            <a:ext cx="622480" cy="368754"/>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423491" y="2515961"/>
            <a:ext cx="622480"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4045971" y="2515961"/>
            <a:ext cx="622480" cy="36875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668450" y="2515961"/>
            <a:ext cx="622480" cy="36875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290930" y="2515961"/>
            <a:ext cx="622480" cy="36875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913409" y="2515961"/>
            <a:ext cx="622480" cy="36875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535889" y="2515961"/>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158368" y="2515961"/>
            <a:ext cx="622480" cy="368754"/>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780848" y="2515961"/>
            <a:ext cx="622480" cy="368754"/>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403327" y="2515961"/>
            <a:ext cx="622480" cy="368754"/>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9025807" y="2515961"/>
            <a:ext cx="622480" cy="368754"/>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648286" y="2515961"/>
            <a:ext cx="622480" cy="368754"/>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70766" y="2515961"/>
            <a:ext cx="622480" cy="368754"/>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93245" y="2515961"/>
            <a:ext cx="622480" cy="368754"/>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88471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Texture and Volume Additives</a:t>
            </a:r>
          </a:p>
        </p:txBody>
      </p:sp>
      <p:sp>
        <p:nvSpPr>
          <p:cNvPr id="92" name="Rectangle 91"/>
          <p:cNvSpPr/>
          <p:nvPr/>
        </p:nvSpPr>
        <p:spPr>
          <a:xfrm>
            <a:off x="2178532" y="2884714"/>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801011" y="2884714"/>
            <a:ext cx="622480"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423491" y="2884714"/>
            <a:ext cx="622480" cy="368754"/>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4045971" y="2884714"/>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668450" y="2884714"/>
            <a:ext cx="622480" cy="36875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290930" y="2884714"/>
            <a:ext cx="622480" cy="36875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913409" y="2884714"/>
            <a:ext cx="622480" cy="368754"/>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535889" y="2884714"/>
            <a:ext cx="622480" cy="368754"/>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158368" y="2884714"/>
            <a:ext cx="622480" cy="368754"/>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780848" y="2884714"/>
            <a:ext cx="622480" cy="368754"/>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403327" y="2884714"/>
            <a:ext cx="622480" cy="368754"/>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9025807" y="2884714"/>
            <a:ext cx="622480" cy="368754"/>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648286" y="2884714"/>
            <a:ext cx="622480" cy="368754"/>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70766" y="2884714"/>
            <a:ext cx="622480" cy="368754"/>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93245" y="2884714"/>
            <a:ext cx="622480" cy="36875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253468"/>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Silica-based Additives</a:t>
            </a:r>
          </a:p>
        </p:txBody>
      </p:sp>
      <p:sp>
        <p:nvSpPr>
          <p:cNvPr id="108" name="Rectangle 107"/>
          <p:cNvSpPr/>
          <p:nvPr/>
        </p:nvSpPr>
        <p:spPr>
          <a:xfrm>
            <a:off x="2178532" y="3253468"/>
            <a:ext cx="622480" cy="36875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801011" y="3253468"/>
            <a:ext cx="622480" cy="36875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423491" y="3253468"/>
            <a:ext cx="622480" cy="368754"/>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4045971" y="3253468"/>
            <a:ext cx="622480"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668450" y="3253468"/>
            <a:ext cx="622480" cy="36875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290930" y="3253468"/>
            <a:ext cx="622480" cy="368754"/>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913409" y="3253468"/>
            <a:ext cx="622480" cy="36875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535889" y="3253468"/>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158368" y="3253468"/>
            <a:ext cx="622480" cy="368754"/>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780848" y="3253468"/>
            <a:ext cx="622480" cy="368754"/>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403327" y="3253468"/>
            <a:ext cx="622480" cy="368754"/>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9025807" y="3253468"/>
            <a:ext cx="622480" cy="36875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648286" y="3253468"/>
            <a:ext cx="622480" cy="368754"/>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70766" y="3253468"/>
            <a:ext cx="622480" cy="368754"/>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93245" y="3253468"/>
            <a:ext cx="622480" cy="368754"/>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62222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Starch-based Additives</a:t>
            </a:r>
          </a:p>
        </p:txBody>
      </p:sp>
      <p:sp>
        <p:nvSpPr>
          <p:cNvPr id="124" name="Rectangle 123"/>
          <p:cNvSpPr/>
          <p:nvPr/>
        </p:nvSpPr>
        <p:spPr>
          <a:xfrm>
            <a:off x="2178532" y="3622221"/>
            <a:ext cx="622480" cy="36875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801011" y="3622221"/>
            <a:ext cx="622480" cy="36875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423491" y="3622221"/>
            <a:ext cx="622480" cy="36875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4045971" y="3622221"/>
            <a:ext cx="622480" cy="36875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668450" y="3622221"/>
            <a:ext cx="622480" cy="368754"/>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290930" y="3622221"/>
            <a:ext cx="622480" cy="368754"/>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913409" y="3622221"/>
            <a:ext cx="622480" cy="36875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535889" y="3622221"/>
            <a:ext cx="622480" cy="368754"/>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158368" y="3622221"/>
            <a:ext cx="622480" cy="368754"/>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780848" y="3622221"/>
            <a:ext cx="622480" cy="36875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403327" y="3622221"/>
            <a:ext cx="622480" cy="368754"/>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9025807" y="3622221"/>
            <a:ext cx="622480" cy="36875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648286" y="3622221"/>
            <a:ext cx="622480" cy="36875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70766" y="3622221"/>
            <a:ext cx="622480" cy="36875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93245" y="3622221"/>
            <a:ext cx="622480" cy="368754"/>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990975"/>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Other Mineral and Plant-based Additives</a:t>
            </a:r>
          </a:p>
        </p:txBody>
      </p:sp>
      <p:sp>
        <p:nvSpPr>
          <p:cNvPr id="140" name="Rectangle 139"/>
          <p:cNvSpPr/>
          <p:nvPr/>
        </p:nvSpPr>
        <p:spPr>
          <a:xfrm>
            <a:off x="2178532" y="3990975"/>
            <a:ext cx="622480" cy="368754"/>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801011" y="3990975"/>
            <a:ext cx="622480" cy="36875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423491" y="3990975"/>
            <a:ext cx="622480" cy="36875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4045971" y="3990975"/>
            <a:ext cx="622480" cy="36875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668450" y="3990975"/>
            <a:ext cx="622480" cy="36875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290930" y="3990975"/>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913409" y="3990975"/>
            <a:ext cx="622480" cy="368754"/>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535889" y="3990975"/>
            <a:ext cx="622480" cy="368754"/>
          </a:xfrm>
          <a:prstGeom prst="rect">
            <a:avLst/>
          </a:prstGeom>
          <a:solidFill>
            <a:srgbClr val="44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158368" y="3990975"/>
            <a:ext cx="622480" cy="368754"/>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780848" y="3990975"/>
            <a:ext cx="622480" cy="368754"/>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403327" y="3990975"/>
            <a:ext cx="622480" cy="368754"/>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9025807" y="3990975"/>
            <a:ext cx="622480" cy="36875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648286" y="3990975"/>
            <a:ext cx="622480" cy="36875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70766" y="3990975"/>
            <a:ext cx="622480" cy="368754"/>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93245" y="3990975"/>
            <a:ext cx="622480" cy="368754"/>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35972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Conditioning and Smoothing Agents</a:t>
            </a:r>
          </a:p>
        </p:txBody>
      </p:sp>
      <p:sp>
        <p:nvSpPr>
          <p:cNvPr id="156" name="Rectangle 155"/>
          <p:cNvSpPr/>
          <p:nvPr/>
        </p:nvSpPr>
        <p:spPr>
          <a:xfrm>
            <a:off x="2178532" y="4359729"/>
            <a:ext cx="622480" cy="368754"/>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801011" y="4359729"/>
            <a:ext cx="622480" cy="36875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423491" y="4359729"/>
            <a:ext cx="622480" cy="368754"/>
          </a:xfrm>
          <a:prstGeom prst="rect">
            <a:avLst/>
          </a:prstGeom>
          <a:solidFill>
            <a:srgbClr val="D6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4045971" y="4359729"/>
            <a:ext cx="622480" cy="36875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668450" y="4359729"/>
            <a:ext cx="622480" cy="36875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90930" y="4359729"/>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913409" y="4359729"/>
            <a:ext cx="622480" cy="368754"/>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535889" y="4359729"/>
            <a:ext cx="622480" cy="36875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158368" y="4359729"/>
            <a:ext cx="622480" cy="36875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780848" y="4359729"/>
            <a:ext cx="622480" cy="368754"/>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403327" y="4359729"/>
            <a:ext cx="622480" cy="368754"/>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9025807" y="4359729"/>
            <a:ext cx="622480" cy="368754"/>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648286" y="4359729"/>
            <a:ext cx="622480" cy="368754"/>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70766" y="4359729"/>
            <a:ext cx="622480" cy="368754"/>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93245" y="4359729"/>
            <a:ext cx="622480" cy="368754"/>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728482"/>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Silicone-based</a:t>
            </a:r>
          </a:p>
        </p:txBody>
      </p:sp>
      <p:sp>
        <p:nvSpPr>
          <p:cNvPr id="172" name="Rectangle 171"/>
          <p:cNvSpPr/>
          <p:nvPr/>
        </p:nvSpPr>
        <p:spPr>
          <a:xfrm>
            <a:off x="2178532" y="4728482"/>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801011" y="4728482"/>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423491" y="4728482"/>
            <a:ext cx="622480"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4045971" y="4728482"/>
            <a:ext cx="622480" cy="36875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668450" y="4728482"/>
            <a:ext cx="622480" cy="36875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290930" y="4728482"/>
            <a:ext cx="622480" cy="36875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913409" y="4728482"/>
            <a:ext cx="622480" cy="36875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535889" y="4728482"/>
            <a:ext cx="622480" cy="36875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158368" y="4728482"/>
            <a:ext cx="622480" cy="36875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780848" y="4728482"/>
            <a:ext cx="622480" cy="36875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403327" y="4728482"/>
            <a:ext cx="622480" cy="368754"/>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9025807" y="4728482"/>
            <a:ext cx="622480" cy="36875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648286" y="4728482"/>
            <a:ext cx="622480" cy="36875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70766" y="4728482"/>
            <a:ext cx="622480" cy="36875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93245" y="4728482"/>
            <a:ext cx="622480" cy="368754"/>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09723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Silicone-free</a:t>
            </a:r>
          </a:p>
        </p:txBody>
      </p:sp>
      <p:sp>
        <p:nvSpPr>
          <p:cNvPr id="188" name="Rectangle 187"/>
          <p:cNvSpPr/>
          <p:nvPr/>
        </p:nvSpPr>
        <p:spPr>
          <a:xfrm>
            <a:off x="2178532" y="5097236"/>
            <a:ext cx="622480" cy="36875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801011" y="5097236"/>
            <a:ext cx="622480" cy="36875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423491" y="5097236"/>
            <a:ext cx="622480" cy="36875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4045971" y="5097236"/>
            <a:ext cx="622480" cy="36875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668450" y="5097236"/>
            <a:ext cx="622480" cy="368754"/>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290930" y="5097236"/>
            <a:ext cx="622480" cy="36875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913409" y="5097236"/>
            <a:ext cx="622480" cy="368754"/>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535889" y="5097236"/>
            <a:ext cx="622480" cy="36875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158368" y="5097236"/>
            <a:ext cx="622480" cy="368754"/>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780848" y="5097236"/>
            <a:ext cx="622480" cy="36875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403327" y="5097236"/>
            <a:ext cx="622480" cy="368754"/>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9025807" y="5097236"/>
            <a:ext cx="622480" cy="368754"/>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648286" y="5097236"/>
            <a:ext cx="622480" cy="368754"/>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70766" y="5097236"/>
            <a:ext cx="622480" cy="36875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93245" y="5097236"/>
            <a:ext cx="622480" cy="36875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46598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Waxes and Structuring Agents</a:t>
            </a:r>
          </a:p>
        </p:txBody>
      </p:sp>
      <p:sp>
        <p:nvSpPr>
          <p:cNvPr id="204" name="Rectangle 203"/>
          <p:cNvSpPr/>
          <p:nvPr/>
        </p:nvSpPr>
        <p:spPr>
          <a:xfrm>
            <a:off x="2178532" y="5465989"/>
            <a:ext cx="622480" cy="368754"/>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801011" y="5465989"/>
            <a:ext cx="622480" cy="36875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423491" y="5465989"/>
            <a:ext cx="622480" cy="368754"/>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4045971" y="5465989"/>
            <a:ext cx="622480"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668450" y="5465989"/>
            <a:ext cx="622480" cy="36875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290930" y="5465989"/>
            <a:ext cx="622480" cy="368754"/>
          </a:xfrm>
          <a:prstGeom prst="rect">
            <a:avLst/>
          </a:prstGeom>
          <a:solidFill>
            <a:srgbClr val="A9C9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913409" y="5465989"/>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535889" y="5465989"/>
            <a:ext cx="622480" cy="368754"/>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158368" y="5465989"/>
            <a:ext cx="622480" cy="36875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780848" y="5465989"/>
            <a:ext cx="622480" cy="368754"/>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403327" y="5465989"/>
            <a:ext cx="622480" cy="368754"/>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9025807" y="5465989"/>
            <a:ext cx="622480" cy="368754"/>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648286" y="5465989"/>
            <a:ext cx="622480" cy="368754"/>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70766" y="5465989"/>
            <a:ext cx="622480" cy="36875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93245" y="5465989"/>
            <a:ext cx="622480" cy="36875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834743"/>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Waxes</a:t>
            </a:r>
          </a:p>
        </p:txBody>
      </p:sp>
      <p:sp>
        <p:nvSpPr>
          <p:cNvPr id="220" name="Rectangle 219"/>
          <p:cNvSpPr/>
          <p:nvPr/>
        </p:nvSpPr>
        <p:spPr>
          <a:xfrm>
            <a:off x="2178532" y="5834743"/>
            <a:ext cx="622480" cy="368754"/>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801011" y="5834743"/>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423491" y="5834743"/>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4045971" y="5834743"/>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668450" y="5834743"/>
            <a:ext cx="622480" cy="36875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290930" y="5834743"/>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913409" y="5834743"/>
            <a:ext cx="622480" cy="368754"/>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535889" y="5834743"/>
            <a:ext cx="622480" cy="368754"/>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158368" y="5834743"/>
            <a:ext cx="622480" cy="36875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780848" y="5834743"/>
            <a:ext cx="622480" cy="368754"/>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403327" y="5834743"/>
            <a:ext cx="622480" cy="368754"/>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9025807" y="5834743"/>
            <a:ext cx="622480" cy="368754"/>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648286" y="5834743"/>
            <a:ext cx="622480" cy="36875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70766" y="5834743"/>
            <a:ext cx="622480" cy="368754"/>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93245" y="5834743"/>
            <a:ext cx="622480" cy="368754"/>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620349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Plant-derived Waxes</a:t>
            </a:r>
          </a:p>
        </p:txBody>
      </p:sp>
      <p:sp>
        <p:nvSpPr>
          <p:cNvPr id="236" name="Rectangle 235"/>
          <p:cNvSpPr/>
          <p:nvPr/>
        </p:nvSpPr>
        <p:spPr>
          <a:xfrm>
            <a:off x="2178532" y="6203496"/>
            <a:ext cx="622480" cy="36875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801011" y="6203496"/>
            <a:ext cx="622480" cy="36875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423491" y="6203496"/>
            <a:ext cx="622480" cy="36875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4045971" y="6203496"/>
            <a:ext cx="622480" cy="368754"/>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668450" y="6203496"/>
            <a:ext cx="622480" cy="36875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290930" y="6203496"/>
            <a:ext cx="622480" cy="368754"/>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913409" y="6203496"/>
            <a:ext cx="622480" cy="368754"/>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535889" y="6203496"/>
            <a:ext cx="622480" cy="368754"/>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158368" y="6203496"/>
            <a:ext cx="622480" cy="36875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780848" y="6203496"/>
            <a:ext cx="622480" cy="368754"/>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403327" y="6203496"/>
            <a:ext cx="622480" cy="368754"/>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9025807" y="6203496"/>
            <a:ext cx="622480" cy="368754"/>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648286" y="6203496"/>
            <a:ext cx="622480" cy="368754"/>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70766" y="6203496"/>
            <a:ext cx="622480" cy="368754"/>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93245" y="6203496"/>
            <a:ext cx="622480" cy="368754"/>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293" name="TextBox 292"/>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94" name="TextBox 293"/>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95" name="TextBox 29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9.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035810"/>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2340610"/>
            <a:ext cx="7239000" cy="514350"/>
          </a:xfrm>
          <a:prstGeom prst="rect">
            <a:avLst/>
          </a:prstGeom>
          <a:noFill/>
        </p:spPr>
        <p:txBody>
          <a:bodyPr wrap="square" lIns="0" rIns="0" tIns="0">
            <a:spAutoFit/>
          </a:bodyPr>
          <a:lstStyle/>
          <a:p>
            <a:r>
              <a:rPr sz="3000" b="1" cap="all" spc="400">
                <a:solidFill>
                  <a:srgbClr val="FFFFFF"/>
                </a:solidFill>
                <a:latin typeface="Calibri"/>
              </a:rPr>
              <a:t>Europe Market Outlook</a:t>
            </a:r>
          </a:p>
        </p:txBody>
      </p:sp>
      <p:sp>
        <p:nvSpPr>
          <p:cNvPr id="7" name="TextBox 6"/>
          <p:cNvSpPr txBox="1"/>
          <p:nvPr/>
        </p:nvSpPr>
        <p:spPr>
          <a:xfrm>
            <a:off x="914400" y="3045460"/>
            <a:ext cx="7124700" cy="320548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Europe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Europe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Europe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Hold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Finish</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Primary Styling Benefit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Hair Type Targeted</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Ingredient Technology</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31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Europe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Summary, By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Europe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(MN UNITS)</a:t>
            </a:r>
          </a:p>
          <a:p>
            <a:pPr algn="ctr">
              <a:lnSpc>
                <a:spcPct val="95000"/>
              </a:lnSpc>
            </a:pPr>
            <a:r>
              <a:rPr sz="1500" b="1">
                <a:solidFill>
                  <a:srgbClr val="0E72AE"/>
                </a:solidFill>
                <a:latin typeface="Calibri"/>
              </a:rPr>
              <a:t>1,355</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2,133</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3.5%</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4.6%</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(Mn Units)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Europe hair styling products market is projected to register 1.6X increase in volume by the end of forecast period, 2036. Europe hair styling products market volume stood at 1,306 Mn Units in 2025 and is expected to reach 2,133 Mn Units by 2036 end, at a CAGR of 4.6%.</a:t>
            </a:r>
          </a:p>
          <a:p>
            <a:pPr algn="l">
              <a:lnSpc>
                <a:spcPct val="110000"/>
              </a:lnSpc>
              <a:spcBef>
                <a:spcPts val="0"/>
              </a:spcBef>
              <a:spcAft>
                <a:spcPts val="500"/>
              </a:spcAft>
            </a:pPr>
            <a:r>
              <a:rPr sz="1100" b="0">
                <a:solidFill>
                  <a:srgbClr val="2E2E2E"/>
                </a:solidFill>
                <a:latin typeface="Calibri"/>
              </a:rPr>
              <a:t>Value is projected to grow faster than volume over the forecast period, owing to an increase in average selling price.</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'Poland' leads regional growth at 6.2%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'Waxes, Clays, Pastes and Pomades'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Format  ·  range across 2021–2036 (US$/Units)</a:t>
            </a:r>
          </a:p>
        </p:txBody>
      </p:sp>
      <p:cxnSp>
        <p:nvCxnSpPr>
          <p:cNvPr id="13" name="Connector 12"/>
          <p:cNvCxnSpPr/>
          <p:nvPr/>
        </p:nvCxnSpPr>
        <p:spPr>
          <a:xfrm>
            <a:off x="657225" y="310071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68877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27683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86488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64777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10071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68877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27683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86488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03404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0.915</a:t>
            </a:r>
          </a:p>
        </p:txBody>
      </p:sp>
      <p:sp>
        <p:nvSpPr>
          <p:cNvPr id="25" name="FMI Scale tick"/>
          <p:cNvSpPr txBox="1"/>
          <p:nvPr/>
        </p:nvSpPr>
        <p:spPr>
          <a:xfrm>
            <a:off x="219075" y="2210155"/>
            <a:ext cx="381000" cy="133350"/>
          </a:xfrm>
          <a:prstGeom prst="rect">
            <a:avLst/>
          </a:prstGeom>
          <a:noFill/>
        </p:spPr>
        <p:txBody>
          <a:bodyPr wrap="none" lIns="0" rIns="0" tIns="0" bIns="0" anchor="ctr">
            <a:spAutoFit/>
          </a:bodyPr>
          <a:lstStyle/>
          <a:p>
            <a:pPr algn="r"/>
            <a:r>
              <a:rPr sz="1100" b="0">
                <a:solidFill>
                  <a:srgbClr val="6C7A89"/>
                </a:solidFill>
                <a:latin typeface="Calibri"/>
              </a:rPr>
              <a:t>2.41</a:t>
            </a:r>
          </a:p>
        </p:txBody>
      </p:sp>
      <p:sp>
        <p:nvSpPr>
          <p:cNvPr id="26" name="FMI Scale tick"/>
          <p:cNvSpPr txBox="1"/>
          <p:nvPr/>
        </p:nvSpPr>
        <p:spPr>
          <a:xfrm>
            <a:off x="219075" y="1386270"/>
            <a:ext cx="381000" cy="133350"/>
          </a:xfrm>
          <a:prstGeom prst="rect">
            <a:avLst/>
          </a:prstGeom>
          <a:noFill/>
        </p:spPr>
        <p:txBody>
          <a:bodyPr wrap="none" lIns="0" rIns="0" tIns="0" bIns="0" anchor="ctr">
            <a:spAutoFit/>
          </a:bodyPr>
          <a:lstStyle/>
          <a:p>
            <a:pPr algn="r"/>
            <a:r>
              <a:rPr sz="1100" b="0">
                <a:solidFill>
                  <a:srgbClr val="6C7A89"/>
                </a:solidFill>
                <a:latin typeface="Calibri"/>
              </a:rPr>
              <a:t>3.91</a:t>
            </a:r>
          </a:p>
        </p:txBody>
      </p:sp>
      <p:cxnSp>
        <p:nvCxnSpPr>
          <p:cNvPr id="27" name="Connector 26"/>
          <p:cNvCxnSpPr/>
          <p:nvPr/>
        </p:nvCxnSpPr>
        <p:spPr>
          <a:xfrm flipV="1">
            <a:off x="1095375" y="2394757"/>
            <a:ext cx="0" cy="203082"/>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963930" y="259783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963930" y="239475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876300" y="2476316"/>
            <a:ext cx="438150" cy="10351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876300" y="253798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242357"/>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1.94</a:t>
            </a:r>
          </a:p>
        </p:txBody>
      </p:sp>
      <p:cxnSp>
        <p:nvCxnSpPr>
          <p:cNvPr id="33" name="Connector 32"/>
          <p:cNvCxnSpPr/>
          <p:nvPr/>
        </p:nvCxnSpPr>
        <p:spPr>
          <a:xfrm flipV="1">
            <a:off x="1971675" y="2795520"/>
            <a:ext cx="0" cy="11506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840230" y="291058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1840230" y="2795520"/>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752600" y="2841732"/>
            <a:ext cx="438150" cy="59542"/>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1752600" y="287694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1533525" y="2643120"/>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1.32</a:t>
            </a:r>
          </a:p>
        </p:txBody>
      </p:sp>
      <p:cxnSp>
        <p:nvCxnSpPr>
          <p:cNvPr id="39" name="Connector 38"/>
          <p:cNvCxnSpPr/>
          <p:nvPr/>
        </p:nvCxnSpPr>
        <p:spPr>
          <a:xfrm flipV="1">
            <a:off x="2847975" y="2745308"/>
            <a:ext cx="0" cy="13885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2716530" y="288416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2716530" y="274530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2628900" y="2800305"/>
            <a:ext cx="438150" cy="7206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2628900" y="2842349"/>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2409825" y="2592908"/>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1.38</a:t>
            </a:r>
          </a:p>
        </p:txBody>
      </p:sp>
      <p:cxnSp>
        <p:nvCxnSpPr>
          <p:cNvPr id="45" name="Connector 44"/>
          <p:cNvCxnSpPr/>
          <p:nvPr/>
        </p:nvCxnSpPr>
        <p:spPr>
          <a:xfrm flipV="1">
            <a:off x="3724275" y="2474712"/>
            <a:ext cx="0" cy="133656"/>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3592830" y="260836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3592830" y="247471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3505200" y="2526546"/>
            <a:ext cx="438150" cy="69954"/>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3505200" y="256708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286125" y="2322312"/>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1.89</a:t>
            </a:r>
          </a:p>
        </p:txBody>
      </p:sp>
      <p:cxnSp>
        <p:nvCxnSpPr>
          <p:cNvPr id="51" name="Connector 50"/>
          <p:cNvCxnSpPr/>
          <p:nvPr/>
        </p:nvCxnSpPr>
        <p:spPr>
          <a:xfrm flipV="1">
            <a:off x="4600575" y="2044528"/>
            <a:ext cx="0" cy="24505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4469130" y="228958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4469130" y="204452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4381500" y="2143614"/>
            <a:ext cx="438150" cy="125481"/>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5" name="Connector 54"/>
          <p:cNvCxnSpPr/>
          <p:nvPr/>
        </p:nvCxnSpPr>
        <p:spPr>
          <a:xfrm>
            <a:off x="4381500" y="2217465"/>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4162425" y="1892128"/>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2.52</a:t>
            </a:r>
          </a:p>
        </p:txBody>
      </p:sp>
      <p:cxnSp>
        <p:nvCxnSpPr>
          <p:cNvPr id="57" name="Connector 56"/>
          <p:cNvCxnSpPr/>
          <p:nvPr/>
        </p:nvCxnSpPr>
        <p:spPr>
          <a:xfrm flipV="1">
            <a:off x="5476875" y="2269559"/>
            <a:ext cx="0" cy="175955"/>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5345430" y="244551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5345430" y="226955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5257800" y="2339943"/>
            <a:ext cx="438150" cy="9112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1" name="Connector 60"/>
          <p:cNvCxnSpPr/>
          <p:nvPr/>
        </p:nvCxnSpPr>
        <p:spPr>
          <a:xfrm>
            <a:off x="5257800" y="2393385"/>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5038725" y="211715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2.20</a:t>
            </a:r>
          </a:p>
        </p:txBody>
      </p:sp>
      <p:cxnSp>
        <p:nvCxnSpPr>
          <p:cNvPr id="63" name="Connector 62"/>
          <p:cNvCxnSpPr/>
          <p:nvPr/>
        </p:nvCxnSpPr>
        <p:spPr>
          <a:xfrm flipV="1">
            <a:off x="6353175" y="1643073"/>
            <a:ext cx="0" cy="265076"/>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6221730" y="190814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6221730" y="164307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6134100" y="1744118"/>
            <a:ext cx="438150" cy="13827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7" name="Connector 66"/>
          <p:cNvCxnSpPr/>
          <p:nvPr/>
        </p:nvCxnSpPr>
        <p:spPr>
          <a:xfrm>
            <a:off x="6134100" y="182423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5915025" y="1490673"/>
            <a:ext cx="876300" cy="133350"/>
          </a:xfrm>
          <a:prstGeom prst="rect">
            <a:avLst/>
          </a:prstGeom>
          <a:noFill/>
        </p:spPr>
        <p:txBody>
          <a:bodyPr wrap="square" lIns="28575" rIns="28575" tIns="9525" bIns="9525">
            <a:spAutoFit/>
          </a:bodyPr>
          <a:lstStyle/>
          <a:p>
            <a:pPr algn="ctr"/>
            <a:r>
              <a:rPr sz="1100" b="1">
                <a:solidFill>
                  <a:srgbClr val="0B2E4A"/>
                </a:solidFill>
                <a:latin typeface="Calibri"/>
              </a:rPr>
              <a:t>3.24</a:t>
            </a:r>
          </a:p>
        </p:txBody>
      </p:sp>
      <p:cxnSp>
        <p:nvCxnSpPr>
          <p:cNvPr id="69" name="Connector 68"/>
          <p:cNvCxnSpPr/>
          <p:nvPr/>
        </p:nvCxnSpPr>
        <p:spPr>
          <a:xfrm flipV="1">
            <a:off x="7229475" y="1898473"/>
            <a:ext cx="0" cy="22792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0" name="Connector 69"/>
          <p:cNvCxnSpPr/>
          <p:nvPr/>
        </p:nvCxnSpPr>
        <p:spPr>
          <a:xfrm>
            <a:off x="7098030" y="212639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1" name="Connector 70"/>
          <p:cNvCxnSpPr/>
          <p:nvPr/>
        </p:nvCxnSpPr>
        <p:spPr>
          <a:xfrm>
            <a:off x="7098030" y="189847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72" name="Rectangle 71"/>
          <p:cNvSpPr/>
          <p:nvPr/>
        </p:nvSpPr>
        <p:spPr>
          <a:xfrm>
            <a:off x="7010400" y="1993247"/>
            <a:ext cx="438150" cy="11616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3" name="Connector 72"/>
          <p:cNvCxnSpPr/>
          <p:nvPr/>
        </p:nvCxnSpPr>
        <p:spPr>
          <a:xfrm>
            <a:off x="7010400" y="206156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6791325" y="1746073"/>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2.81</a:t>
            </a:r>
          </a:p>
        </p:txBody>
      </p:sp>
      <p:sp>
        <p:nvSpPr>
          <p:cNvPr id="75" name="TextBox 74"/>
          <p:cNvSpPr txBox="1"/>
          <p:nvPr/>
        </p:nvSpPr>
        <p:spPr>
          <a:xfrm>
            <a:off x="6572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Sprays and Mists</a:t>
            </a:r>
          </a:p>
        </p:txBody>
      </p:sp>
      <p:sp>
        <p:nvSpPr>
          <p:cNvPr id="76" name="TextBox 75"/>
          <p:cNvSpPr txBox="1"/>
          <p:nvPr/>
        </p:nvSpPr>
        <p:spPr>
          <a:xfrm>
            <a:off x="15335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Mousses and Foams</a:t>
            </a:r>
          </a:p>
        </p:txBody>
      </p:sp>
      <p:sp>
        <p:nvSpPr>
          <p:cNvPr id="77" name="TextBox 76"/>
          <p:cNvSpPr txBox="1"/>
          <p:nvPr/>
        </p:nvSpPr>
        <p:spPr>
          <a:xfrm>
            <a:off x="24098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Gels and Jellies</a:t>
            </a:r>
          </a:p>
        </p:txBody>
      </p:sp>
      <p:sp>
        <p:nvSpPr>
          <p:cNvPr id="78" name="TextBox 77"/>
          <p:cNvSpPr txBox="1"/>
          <p:nvPr/>
        </p:nvSpPr>
        <p:spPr>
          <a:xfrm>
            <a:off x="32861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Creams and Lotions</a:t>
            </a:r>
          </a:p>
        </p:txBody>
      </p:sp>
      <p:sp>
        <p:nvSpPr>
          <p:cNvPr id="79" name="TextBox 78"/>
          <p:cNvSpPr txBox="1"/>
          <p:nvPr/>
        </p:nvSpPr>
        <p:spPr>
          <a:xfrm>
            <a:off x="41624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Waxes, Clays, Pastes…</a:t>
            </a:r>
          </a:p>
        </p:txBody>
      </p:sp>
      <p:sp>
        <p:nvSpPr>
          <p:cNvPr id="80" name="TextBox 79"/>
          <p:cNvSpPr txBox="1"/>
          <p:nvPr/>
        </p:nvSpPr>
        <p:spPr>
          <a:xfrm>
            <a:off x="50387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Powders</a:t>
            </a:r>
          </a:p>
        </p:txBody>
      </p:sp>
      <p:sp>
        <p:nvSpPr>
          <p:cNvPr id="81" name="TextBox 80"/>
          <p:cNvSpPr txBox="1"/>
          <p:nvPr/>
        </p:nvSpPr>
        <p:spPr>
          <a:xfrm>
            <a:off x="59150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Serums and Oils</a:t>
            </a:r>
          </a:p>
        </p:txBody>
      </p:sp>
      <p:sp>
        <p:nvSpPr>
          <p:cNvPr id="82" name="TextBox 81"/>
          <p:cNvSpPr txBox="1"/>
          <p:nvPr/>
        </p:nvSpPr>
        <p:spPr>
          <a:xfrm>
            <a:off x="67913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Sticks and Balms</a:t>
            </a:r>
          </a:p>
        </p:txBody>
      </p:sp>
      <p:sp>
        <p:nvSpPr>
          <p:cNvPr id="83" name="Rounded Rectangle 82"/>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Europe  ·  2026–2036</a:t>
            </a:r>
          </a:p>
        </p:txBody>
      </p:sp>
      <p:cxnSp>
        <p:nvCxnSpPr>
          <p:cNvPr id="85" name="Connector 84"/>
          <p:cNvCxnSpPr/>
          <p:nvPr/>
        </p:nvCxnSpPr>
        <p:spPr>
          <a:xfrm>
            <a:off x="619125" y="431781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a:off x="619125" y="472879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7" name="Connector 86"/>
          <p:cNvCxnSpPr/>
          <p:nvPr/>
        </p:nvCxnSpPr>
        <p:spPr>
          <a:xfrm>
            <a:off x="619125" y="51397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8" name="Connector 87"/>
          <p:cNvCxnSpPr/>
          <p:nvPr/>
        </p:nvCxnSpPr>
        <p:spPr>
          <a:xfrm>
            <a:off x="619125" y="555075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9" name="Connector 88"/>
          <p:cNvCxnSpPr/>
          <p:nvPr/>
        </p:nvCxnSpPr>
        <p:spPr>
          <a:xfrm>
            <a:off x="619125" y="596173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90" name="Connector 89"/>
          <p:cNvCxnSpPr/>
          <p:nvPr/>
        </p:nvCxnSpPr>
        <p:spPr>
          <a:xfrm>
            <a:off x="619125" y="4317818"/>
            <a:ext cx="0" cy="1643915"/>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1" name="Connector 90"/>
          <p:cNvCxnSpPr/>
          <p:nvPr/>
        </p:nvCxnSpPr>
        <p:spPr>
          <a:xfrm>
            <a:off x="590550" y="431781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2" name="Connector 91"/>
          <p:cNvCxnSpPr/>
          <p:nvPr/>
        </p:nvCxnSpPr>
        <p:spPr>
          <a:xfrm>
            <a:off x="590550" y="472879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3" name="Connector 92"/>
          <p:cNvCxnSpPr/>
          <p:nvPr/>
        </p:nvCxnSpPr>
        <p:spPr>
          <a:xfrm>
            <a:off x="590550" y="51397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4" name="Connector 93"/>
          <p:cNvCxnSpPr/>
          <p:nvPr/>
        </p:nvCxnSpPr>
        <p:spPr>
          <a:xfrm>
            <a:off x="590550" y="555075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5" name="Connector 94"/>
          <p:cNvCxnSpPr/>
          <p:nvPr/>
        </p:nvCxnSpPr>
        <p:spPr>
          <a:xfrm>
            <a:off x="590550" y="596173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96" name="FMI Scale tick"/>
          <p:cNvSpPr txBox="1"/>
          <p:nvPr/>
        </p:nvSpPr>
        <p:spPr>
          <a:xfrm>
            <a:off x="219075" y="4251143"/>
            <a:ext cx="361950" cy="133350"/>
          </a:xfrm>
          <a:prstGeom prst="rect">
            <a:avLst/>
          </a:prstGeom>
          <a:noFill/>
        </p:spPr>
        <p:txBody>
          <a:bodyPr wrap="none" lIns="0" rIns="0" tIns="0" bIns="0" anchor="ctr">
            <a:spAutoFit/>
          </a:bodyPr>
          <a:lstStyle/>
          <a:p>
            <a:pPr algn="r"/>
            <a:r>
              <a:rPr sz="1100" b="0">
                <a:solidFill>
                  <a:srgbClr val="6C7A89"/>
                </a:solidFill>
                <a:latin typeface="Calibri"/>
              </a:rPr>
              <a:t>+75%</a:t>
            </a:r>
          </a:p>
        </p:txBody>
      </p:sp>
      <p:sp>
        <p:nvSpPr>
          <p:cNvPr id="97" name="FMI Scale tick"/>
          <p:cNvSpPr txBox="1"/>
          <p:nvPr/>
        </p:nvSpPr>
        <p:spPr>
          <a:xfrm>
            <a:off x="219075" y="4662122"/>
            <a:ext cx="361950" cy="133350"/>
          </a:xfrm>
          <a:prstGeom prst="rect">
            <a:avLst/>
          </a:prstGeom>
          <a:noFill/>
        </p:spPr>
        <p:txBody>
          <a:bodyPr wrap="none" lIns="0" rIns="0" tIns="0" bIns="0" anchor="ctr">
            <a:spAutoFit/>
          </a:bodyPr>
          <a:lstStyle/>
          <a:p>
            <a:pPr algn="r"/>
            <a:r>
              <a:rPr sz="1100" b="0">
                <a:solidFill>
                  <a:srgbClr val="6C7A89"/>
                </a:solidFill>
                <a:latin typeface="Calibri"/>
              </a:rPr>
              <a:t>+38%</a:t>
            </a:r>
          </a:p>
        </p:txBody>
      </p:sp>
      <p:sp>
        <p:nvSpPr>
          <p:cNvPr id="98" name="FMI Scale tick"/>
          <p:cNvSpPr txBox="1"/>
          <p:nvPr/>
        </p:nvSpPr>
        <p:spPr>
          <a:xfrm>
            <a:off x="66675" y="5073101"/>
            <a:ext cx="514350" cy="133350"/>
          </a:xfrm>
          <a:prstGeom prst="rect">
            <a:avLst/>
          </a:prstGeom>
          <a:noFill/>
        </p:spPr>
        <p:txBody>
          <a:bodyPr wrap="square" lIns="28575" rIns="28575" tIns="9525" bIns="9525" anchor="ctr">
            <a:spAutoFit/>
          </a:bodyPr>
          <a:lstStyle/>
          <a:p>
            <a:pPr algn="r"/>
            <a:r>
              <a:rPr sz="1100" b="1">
                <a:solidFill>
                  <a:srgbClr val="6C7A89"/>
                </a:solidFill>
                <a:latin typeface="Calibri"/>
              </a:rPr>
              <a:t>Europe</a:t>
            </a:r>
          </a:p>
        </p:txBody>
      </p:sp>
      <p:sp>
        <p:nvSpPr>
          <p:cNvPr id="99" name="FMI Scale tick"/>
          <p:cNvSpPr txBox="1"/>
          <p:nvPr/>
        </p:nvSpPr>
        <p:spPr>
          <a:xfrm>
            <a:off x="219075" y="5484080"/>
            <a:ext cx="361950" cy="133350"/>
          </a:xfrm>
          <a:prstGeom prst="rect">
            <a:avLst/>
          </a:prstGeom>
          <a:noFill/>
        </p:spPr>
        <p:txBody>
          <a:bodyPr wrap="none" lIns="0" rIns="0" tIns="0" bIns="0" anchor="ctr">
            <a:spAutoFit/>
          </a:bodyPr>
          <a:lstStyle/>
          <a:p>
            <a:pPr algn="r"/>
            <a:r>
              <a:rPr sz="1100" b="0">
                <a:solidFill>
                  <a:srgbClr val="6C7A89"/>
                </a:solidFill>
                <a:latin typeface="Calibri"/>
              </a:rPr>
              <a:t>-38%</a:t>
            </a:r>
          </a:p>
        </p:txBody>
      </p:sp>
      <p:sp>
        <p:nvSpPr>
          <p:cNvPr id="100" name="FMI Scale tick"/>
          <p:cNvSpPr txBox="1"/>
          <p:nvPr/>
        </p:nvSpPr>
        <p:spPr>
          <a:xfrm>
            <a:off x="219075" y="5895058"/>
            <a:ext cx="361950" cy="133350"/>
          </a:xfrm>
          <a:prstGeom prst="rect">
            <a:avLst/>
          </a:prstGeom>
          <a:noFill/>
        </p:spPr>
        <p:txBody>
          <a:bodyPr wrap="none" lIns="0" rIns="0" tIns="0" bIns="0" anchor="ctr">
            <a:spAutoFit/>
          </a:bodyPr>
          <a:lstStyle/>
          <a:p>
            <a:pPr algn="r"/>
            <a:r>
              <a:rPr sz="1100" b="0">
                <a:solidFill>
                  <a:srgbClr val="6C7A89"/>
                </a:solidFill>
                <a:latin typeface="Calibri"/>
              </a:rPr>
              <a:t>-75%</a:t>
            </a:r>
          </a:p>
        </p:txBody>
      </p:sp>
      <p:cxnSp>
        <p:nvCxnSpPr>
          <p:cNvPr id="101" name="Connector 100"/>
          <p:cNvCxnSpPr/>
          <p:nvPr/>
        </p:nvCxnSpPr>
        <p:spPr>
          <a:xfrm>
            <a:off x="619125" y="513977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102" name="Rectangle 101"/>
          <p:cNvSpPr/>
          <p:nvPr/>
        </p:nvSpPr>
        <p:spPr>
          <a:xfrm>
            <a:off x="718979" y="5139776"/>
            <a:ext cx="387668" cy="13806"/>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FMI Data Label"/>
          <p:cNvSpPr txBox="1"/>
          <p:nvPr/>
        </p:nvSpPr>
        <p:spPr>
          <a:xfrm>
            <a:off x="619125" y="5163107"/>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-1.3%</a:t>
            </a:r>
          </a:p>
        </p:txBody>
      </p:sp>
      <p:sp>
        <p:nvSpPr>
          <p:cNvPr id="104" name="Rectangle 103"/>
          <p:cNvSpPr/>
          <p:nvPr/>
        </p:nvSpPr>
        <p:spPr>
          <a:xfrm>
            <a:off x="1306354" y="5012762"/>
            <a:ext cx="387668" cy="12701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MI Data Label"/>
          <p:cNvSpPr txBox="1"/>
          <p:nvPr/>
        </p:nvSpPr>
        <p:spPr>
          <a:xfrm>
            <a:off x="1206500" y="4869887"/>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+11.7%</a:t>
            </a:r>
          </a:p>
        </p:txBody>
      </p:sp>
      <p:sp>
        <p:nvSpPr>
          <p:cNvPr id="106" name="Rectangle 105"/>
          <p:cNvSpPr/>
          <p:nvPr/>
        </p:nvSpPr>
        <p:spPr>
          <a:xfrm>
            <a:off x="1893729" y="4986108"/>
            <a:ext cx="387668" cy="153668"/>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MI Data Label"/>
          <p:cNvSpPr txBox="1"/>
          <p:nvPr/>
        </p:nvSpPr>
        <p:spPr>
          <a:xfrm>
            <a:off x="1793875" y="4843233"/>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+14.1%</a:t>
            </a:r>
          </a:p>
        </p:txBody>
      </p:sp>
      <p:sp>
        <p:nvSpPr>
          <p:cNvPr id="108" name="Rectangle 107"/>
          <p:cNvSpPr/>
          <p:nvPr/>
        </p:nvSpPr>
        <p:spPr>
          <a:xfrm>
            <a:off x="2481104" y="5139776"/>
            <a:ext cx="387668" cy="9610"/>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FMI Data Label"/>
          <p:cNvSpPr txBox="1"/>
          <p:nvPr/>
        </p:nvSpPr>
        <p:spPr>
          <a:xfrm>
            <a:off x="2381250" y="5158911"/>
            <a:ext cx="587375" cy="133350"/>
          </a:xfrm>
          <a:prstGeom prst="rect">
            <a:avLst/>
          </a:prstGeom>
          <a:noFill/>
        </p:spPr>
        <p:txBody>
          <a:bodyPr wrap="square" lIns="28575" rIns="28575" tIns="9525" bIns="9525">
            <a:spAutoFit/>
          </a:bodyPr>
          <a:lstStyle/>
          <a:p>
            <a:pPr algn="ctr"/>
            <a:r>
              <a:rPr sz="1100" b="1">
                <a:solidFill>
                  <a:srgbClr val="2E2E2E"/>
                </a:solidFill>
                <a:latin typeface="Calibri"/>
              </a:rPr>
              <a:t>-0.9%</a:t>
            </a:r>
          </a:p>
        </p:txBody>
      </p:sp>
      <p:sp>
        <p:nvSpPr>
          <p:cNvPr id="110" name="Rectangle 109"/>
          <p:cNvSpPr/>
          <p:nvPr/>
        </p:nvSpPr>
        <p:spPr>
          <a:xfrm>
            <a:off x="3068479" y="5139776"/>
            <a:ext cx="387668" cy="74933"/>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FMI Data Label"/>
          <p:cNvSpPr txBox="1"/>
          <p:nvPr/>
        </p:nvSpPr>
        <p:spPr>
          <a:xfrm>
            <a:off x="2968625" y="5224234"/>
            <a:ext cx="587375" cy="133350"/>
          </a:xfrm>
          <a:prstGeom prst="rect">
            <a:avLst/>
          </a:prstGeom>
          <a:noFill/>
        </p:spPr>
        <p:txBody>
          <a:bodyPr wrap="square" lIns="28575" rIns="28575" tIns="9525" bIns="9525">
            <a:spAutoFit/>
          </a:bodyPr>
          <a:lstStyle/>
          <a:p>
            <a:pPr algn="ctr"/>
            <a:r>
              <a:rPr sz="1100" b="1">
                <a:solidFill>
                  <a:srgbClr val="2E2E2E"/>
                </a:solidFill>
                <a:latin typeface="Calibri"/>
              </a:rPr>
              <a:t>-6.9%</a:t>
            </a:r>
          </a:p>
        </p:txBody>
      </p:sp>
      <p:sp>
        <p:nvSpPr>
          <p:cNvPr id="112" name="Rectangle 111"/>
          <p:cNvSpPr/>
          <p:nvPr/>
        </p:nvSpPr>
        <p:spPr>
          <a:xfrm>
            <a:off x="3655854" y="5069324"/>
            <a:ext cx="387668" cy="7045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FMI Data Label"/>
          <p:cNvSpPr txBox="1"/>
          <p:nvPr/>
        </p:nvSpPr>
        <p:spPr>
          <a:xfrm>
            <a:off x="3556000" y="4926449"/>
            <a:ext cx="587375" cy="133350"/>
          </a:xfrm>
          <a:prstGeom prst="rect">
            <a:avLst/>
          </a:prstGeom>
          <a:noFill/>
        </p:spPr>
        <p:txBody>
          <a:bodyPr wrap="square" lIns="28575" rIns="28575" tIns="9525" bIns="9525">
            <a:spAutoFit/>
          </a:bodyPr>
          <a:lstStyle/>
          <a:p>
            <a:pPr algn="ctr"/>
            <a:r>
              <a:rPr sz="1100" b="1">
                <a:solidFill>
                  <a:srgbClr val="2E2E2E"/>
                </a:solidFill>
                <a:latin typeface="Calibri"/>
              </a:rPr>
              <a:t>+6.5%</a:t>
            </a:r>
          </a:p>
        </p:txBody>
      </p:sp>
      <p:sp>
        <p:nvSpPr>
          <p:cNvPr id="114" name="Rectangle 113"/>
          <p:cNvSpPr/>
          <p:nvPr/>
        </p:nvSpPr>
        <p:spPr>
          <a:xfrm>
            <a:off x="4243229" y="5032159"/>
            <a:ext cx="387668" cy="107616"/>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FMI Data Label"/>
          <p:cNvSpPr txBox="1"/>
          <p:nvPr/>
        </p:nvSpPr>
        <p:spPr>
          <a:xfrm>
            <a:off x="4143375" y="4889284"/>
            <a:ext cx="587375" cy="133350"/>
          </a:xfrm>
          <a:prstGeom prst="rect">
            <a:avLst/>
          </a:prstGeom>
          <a:noFill/>
        </p:spPr>
        <p:txBody>
          <a:bodyPr wrap="square" lIns="28575" rIns="28575" tIns="9525" bIns="9525">
            <a:spAutoFit/>
          </a:bodyPr>
          <a:lstStyle/>
          <a:p>
            <a:pPr algn="ctr"/>
            <a:r>
              <a:rPr sz="1100" b="1">
                <a:solidFill>
                  <a:srgbClr val="2E2E2E"/>
                </a:solidFill>
                <a:latin typeface="Calibri"/>
              </a:rPr>
              <a:t>+9.9%</a:t>
            </a:r>
          </a:p>
        </p:txBody>
      </p:sp>
      <p:sp>
        <p:nvSpPr>
          <p:cNvPr id="116" name="Rectangle 115"/>
          <p:cNvSpPr/>
          <p:nvPr/>
        </p:nvSpPr>
        <p:spPr>
          <a:xfrm>
            <a:off x="4830604" y="4784349"/>
            <a:ext cx="387668" cy="355427"/>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FMI Data Label"/>
          <p:cNvSpPr txBox="1"/>
          <p:nvPr/>
        </p:nvSpPr>
        <p:spPr>
          <a:xfrm>
            <a:off x="4730750" y="4641474"/>
            <a:ext cx="587375" cy="133350"/>
          </a:xfrm>
          <a:prstGeom prst="rect">
            <a:avLst/>
          </a:prstGeom>
          <a:noFill/>
        </p:spPr>
        <p:txBody>
          <a:bodyPr wrap="square" lIns="28575" rIns="28575" tIns="9525" bIns="9525">
            <a:spAutoFit/>
          </a:bodyPr>
          <a:lstStyle/>
          <a:p>
            <a:pPr algn="ctr"/>
            <a:r>
              <a:rPr sz="1100" b="1">
                <a:solidFill>
                  <a:srgbClr val="2E2E2E"/>
                </a:solidFill>
                <a:latin typeface="Calibri"/>
              </a:rPr>
              <a:t>+32.6%</a:t>
            </a:r>
          </a:p>
        </p:txBody>
      </p:sp>
      <p:sp>
        <p:nvSpPr>
          <p:cNvPr id="118" name="Rectangle 117"/>
          <p:cNvSpPr/>
          <p:nvPr/>
        </p:nvSpPr>
        <p:spPr>
          <a:xfrm>
            <a:off x="5417979" y="4423458"/>
            <a:ext cx="387668" cy="716318"/>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FMI Data Label"/>
          <p:cNvSpPr txBox="1"/>
          <p:nvPr/>
        </p:nvSpPr>
        <p:spPr>
          <a:xfrm>
            <a:off x="5318125" y="4280583"/>
            <a:ext cx="587375" cy="133350"/>
          </a:xfrm>
          <a:prstGeom prst="rect">
            <a:avLst/>
          </a:prstGeom>
          <a:noFill/>
        </p:spPr>
        <p:txBody>
          <a:bodyPr wrap="square" lIns="28575" rIns="28575" tIns="9525" bIns="9525">
            <a:spAutoFit/>
          </a:bodyPr>
          <a:lstStyle/>
          <a:p>
            <a:pPr algn="ctr"/>
            <a:r>
              <a:rPr sz="1100" b="1">
                <a:solidFill>
                  <a:srgbClr val="2E2E2E"/>
                </a:solidFill>
                <a:latin typeface="Calibri"/>
              </a:rPr>
              <a:t>+65.7%</a:t>
            </a:r>
          </a:p>
        </p:txBody>
      </p:sp>
      <p:sp>
        <p:nvSpPr>
          <p:cNvPr id="120" name="Rectangle 119"/>
          <p:cNvSpPr/>
          <p:nvPr/>
        </p:nvSpPr>
        <p:spPr>
          <a:xfrm>
            <a:off x="6005354" y="5139776"/>
            <a:ext cx="387668" cy="357203"/>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FMI Data Label"/>
          <p:cNvSpPr txBox="1"/>
          <p:nvPr/>
        </p:nvSpPr>
        <p:spPr>
          <a:xfrm>
            <a:off x="5905500" y="5506504"/>
            <a:ext cx="587375" cy="133350"/>
          </a:xfrm>
          <a:prstGeom prst="rect">
            <a:avLst/>
          </a:prstGeom>
          <a:noFill/>
        </p:spPr>
        <p:txBody>
          <a:bodyPr wrap="square" lIns="28575" rIns="28575" tIns="9525" bIns="9525">
            <a:spAutoFit/>
          </a:bodyPr>
          <a:lstStyle/>
          <a:p>
            <a:pPr algn="ctr"/>
            <a:r>
              <a:rPr sz="1100" b="1">
                <a:solidFill>
                  <a:srgbClr val="2E2E2E"/>
                </a:solidFill>
                <a:latin typeface="Calibri"/>
              </a:rPr>
              <a:t>-32.8%</a:t>
            </a:r>
          </a:p>
        </p:txBody>
      </p:sp>
      <p:sp>
        <p:nvSpPr>
          <p:cNvPr id="122" name="Rectangle 121"/>
          <p:cNvSpPr/>
          <p:nvPr/>
        </p:nvSpPr>
        <p:spPr>
          <a:xfrm>
            <a:off x="6592729" y="5139776"/>
            <a:ext cx="387668" cy="276987"/>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FMI Data Label"/>
          <p:cNvSpPr txBox="1"/>
          <p:nvPr/>
        </p:nvSpPr>
        <p:spPr>
          <a:xfrm>
            <a:off x="6492875" y="5426288"/>
            <a:ext cx="587375" cy="133350"/>
          </a:xfrm>
          <a:prstGeom prst="rect">
            <a:avLst/>
          </a:prstGeom>
          <a:noFill/>
        </p:spPr>
        <p:txBody>
          <a:bodyPr wrap="square" lIns="28575" rIns="28575" tIns="9525" bIns="9525">
            <a:spAutoFit/>
          </a:bodyPr>
          <a:lstStyle/>
          <a:p>
            <a:pPr algn="ctr"/>
            <a:r>
              <a:rPr sz="1100" b="1">
                <a:solidFill>
                  <a:srgbClr val="2E2E2E"/>
                </a:solidFill>
                <a:latin typeface="Calibri"/>
              </a:rPr>
              <a:t>-25.4%</a:t>
            </a:r>
          </a:p>
        </p:txBody>
      </p:sp>
      <p:sp>
        <p:nvSpPr>
          <p:cNvPr id="124" name="Rectangle 123"/>
          <p:cNvSpPr/>
          <p:nvPr/>
        </p:nvSpPr>
        <p:spPr>
          <a:xfrm>
            <a:off x="7180104" y="5139776"/>
            <a:ext cx="387668" cy="169589"/>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FMI Data Label"/>
          <p:cNvSpPr txBox="1"/>
          <p:nvPr/>
        </p:nvSpPr>
        <p:spPr>
          <a:xfrm>
            <a:off x="7080250" y="5318890"/>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-15.6%</a:t>
            </a:r>
          </a:p>
        </p:txBody>
      </p:sp>
      <p:sp>
        <p:nvSpPr>
          <p:cNvPr id="126" name="TextBox 125"/>
          <p:cNvSpPr txBox="1"/>
          <p:nvPr/>
        </p:nvSpPr>
        <p:spPr>
          <a:xfrm>
            <a:off x="603250" y="6135380"/>
            <a:ext cx="619125" cy="247650"/>
          </a:xfrm>
          <a:prstGeom prst="rect">
            <a:avLst/>
          </a:prstGeom>
          <a:noFill/>
        </p:spPr>
        <p:txBody>
          <a:bodyPr wrap="square" lIns="28575" rIns="28575" tIns="9525" bIns="9525">
            <a:spAutoFit/>
          </a:bodyPr>
          <a:lstStyle/>
          <a:p>
            <a:pPr algn="ctr"/>
            <a:r>
              <a:rPr sz="1100" b="0">
                <a:solidFill>
                  <a:srgbClr val="2E2E2E"/>
                </a:solidFill>
                <a:latin typeface="Calibri"/>
              </a:rPr>
              <a:t>Germany</a:t>
            </a:r>
          </a:p>
        </p:txBody>
      </p:sp>
      <p:sp>
        <p:nvSpPr>
          <p:cNvPr id="127" name="TextBox 126"/>
          <p:cNvSpPr txBox="1"/>
          <p:nvPr/>
        </p:nvSpPr>
        <p:spPr>
          <a:xfrm>
            <a:off x="1206500" y="6135380"/>
            <a:ext cx="587375" cy="247650"/>
          </a:xfrm>
          <a:prstGeom prst="rect">
            <a:avLst/>
          </a:prstGeom>
          <a:noFill/>
        </p:spPr>
        <p:txBody>
          <a:bodyPr wrap="none" lIns="0" rIns="0" tIns="0" bIns="0">
            <a:spAutoFit/>
          </a:bodyPr>
          <a:lstStyle/>
          <a:p>
            <a:pPr algn="ctr"/>
            <a:r>
              <a:rPr sz="1100" b="0">
                <a:solidFill>
                  <a:srgbClr val="2E2E2E"/>
                </a:solidFill>
                <a:latin typeface="Calibri"/>
              </a:rPr>
              <a:t>U.K.</a:t>
            </a:r>
          </a:p>
        </p:txBody>
      </p:sp>
      <p:sp>
        <p:nvSpPr>
          <p:cNvPr id="128" name="TextBox 127"/>
          <p:cNvSpPr txBox="1"/>
          <p:nvPr/>
        </p:nvSpPr>
        <p:spPr>
          <a:xfrm>
            <a:off x="1793875"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France</a:t>
            </a:r>
          </a:p>
        </p:txBody>
      </p:sp>
      <p:sp>
        <p:nvSpPr>
          <p:cNvPr id="129" name="TextBox 128"/>
          <p:cNvSpPr txBox="1"/>
          <p:nvPr/>
        </p:nvSpPr>
        <p:spPr>
          <a:xfrm>
            <a:off x="2381250"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Italy</a:t>
            </a:r>
          </a:p>
        </p:txBody>
      </p:sp>
      <p:sp>
        <p:nvSpPr>
          <p:cNvPr id="130" name="TextBox 129"/>
          <p:cNvSpPr txBox="1"/>
          <p:nvPr/>
        </p:nvSpPr>
        <p:spPr>
          <a:xfrm>
            <a:off x="2968625"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Spain</a:t>
            </a:r>
          </a:p>
        </p:txBody>
      </p:sp>
      <p:sp>
        <p:nvSpPr>
          <p:cNvPr id="131" name="TextBox 130"/>
          <p:cNvSpPr txBox="1"/>
          <p:nvPr/>
        </p:nvSpPr>
        <p:spPr>
          <a:xfrm>
            <a:off x="3556000"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Belgium</a:t>
            </a:r>
          </a:p>
        </p:txBody>
      </p:sp>
      <p:sp>
        <p:nvSpPr>
          <p:cNvPr id="132" name="TextBox 131"/>
          <p:cNvSpPr txBox="1"/>
          <p:nvPr/>
        </p:nvSpPr>
        <p:spPr>
          <a:xfrm>
            <a:off x="4038203" y="6135380"/>
            <a:ext cx="797719" cy="247650"/>
          </a:xfrm>
          <a:prstGeom prst="rect">
            <a:avLst/>
          </a:prstGeom>
          <a:noFill/>
        </p:spPr>
        <p:txBody>
          <a:bodyPr wrap="square" lIns="28575" rIns="28575" tIns="9525" bIns="9525">
            <a:spAutoFit/>
          </a:bodyPr>
          <a:lstStyle/>
          <a:p>
            <a:pPr algn="ctr"/>
            <a:r>
              <a:rPr sz="1100" b="0">
                <a:solidFill>
                  <a:srgbClr val="2E2E2E"/>
                </a:solidFill>
                <a:latin typeface="Calibri"/>
              </a:rPr>
              <a:t>Netherlands</a:t>
            </a:r>
          </a:p>
        </p:txBody>
      </p:sp>
      <p:sp>
        <p:nvSpPr>
          <p:cNvPr id="133" name="TextBox 132"/>
          <p:cNvSpPr txBox="1"/>
          <p:nvPr/>
        </p:nvSpPr>
        <p:spPr>
          <a:xfrm>
            <a:off x="4730750"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Nordic</a:t>
            </a:r>
          </a:p>
        </p:txBody>
      </p:sp>
      <p:sp>
        <p:nvSpPr>
          <p:cNvPr id="134" name="TextBox 133"/>
          <p:cNvSpPr txBox="1"/>
          <p:nvPr/>
        </p:nvSpPr>
        <p:spPr>
          <a:xfrm>
            <a:off x="5230813" y="6135380"/>
            <a:ext cx="762000" cy="247650"/>
          </a:xfrm>
          <a:prstGeom prst="rect">
            <a:avLst/>
          </a:prstGeom>
          <a:noFill/>
        </p:spPr>
        <p:txBody>
          <a:bodyPr wrap="square" lIns="28575" rIns="28575" tIns="9525" bIns="9525">
            <a:spAutoFit/>
          </a:bodyPr>
          <a:lstStyle/>
          <a:p>
            <a:pPr algn="ctr"/>
            <a:r>
              <a:rPr sz="1100" b="0">
                <a:solidFill>
                  <a:srgbClr val="2E2E2E"/>
                </a:solidFill>
                <a:latin typeface="Calibri"/>
              </a:rPr>
              <a:t>Switzerland</a:t>
            </a:r>
          </a:p>
        </p:txBody>
      </p:sp>
      <p:sp>
        <p:nvSpPr>
          <p:cNvPr id="135" name="TextBox 134"/>
          <p:cNvSpPr txBox="1"/>
          <p:nvPr/>
        </p:nvSpPr>
        <p:spPr>
          <a:xfrm>
            <a:off x="5905500"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Russia</a:t>
            </a:r>
          </a:p>
        </p:txBody>
      </p:sp>
      <p:sp>
        <p:nvSpPr>
          <p:cNvPr id="136" name="TextBox 135"/>
          <p:cNvSpPr txBox="1"/>
          <p:nvPr/>
        </p:nvSpPr>
        <p:spPr>
          <a:xfrm>
            <a:off x="6492875"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Poland</a:t>
            </a:r>
          </a:p>
        </p:txBody>
      </p:sp>
      <p:sp>
        <p:nvSpPr>
          <p:cNvPr id="137" name="TextBox 136"/>
          <p:cNvSpPr txBox="1"/>
          <p:nvPr/>
        </p:nvSpPr>
        <p:spPr>
          <a:xfrm>
            <a:off x="7080250"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Rest of Europe</a:t>
            </a:r>
          </a:p>
        </p:txBody>
      </p:sp>
      <p:sp>
        <p:nvSpPr>
          <p:cNvPr id="138" name="Rounded Rectangle 137"/>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40" name="Rectangle 139"/>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Styling serums and oils segment is expected to command the highest average price of US$ 3.57 per Unit in 2036. Average selling price of hair styling products is estimated at US$ 2.05 per Unit in 2025 and is projected to increase to US$ 2.42 per Unit by 2036.</a:t>
            </a:r>
          </a:p>
          <a:p>
            <a:pPr algn="l">
              <a:lnSpc>
                <a:spcPct val="110000"/>
              </a:lnSpc>
              <a:spcBef>
                <a:spcPts val="0"/>
              </a:spcBef>
              <a:spcAft>
                <a:spcPts val="500"/>
              </a:spcAft>
            </a:pPr>
            <a:r>
              <a:rPr sz="1150" b="0">
                <a:solidFill>
                  <a:srgbClr val="2E2E2E"/>
                </a:solidFill>
                <a:latin typeface="Calibri"/>
              </a:rPr>
              <a:t>Switzerland is the highest-priced country, while Russia is the most price-competitive market. Against the Europe price of 2.24 US$/Units, 6 of 12 countries price above and 6 below.</a:t>
            </a:r>
          </a:p>
          <a:p>
            <a:pPr algn="l">
              <a:lnSpc>
                <a:spcPct val="110000"/>
              </a:lnSpc>
              <a:spcBef>
                <a:spcPts val="0"/>
              </a:spcBef>
              <a:spcAft>
                <a:spcPts val="500"/>
              </a:spcAft>
            </a:pPr>
            <a:r>
              <a:rPr sz="1150" b="0">
                <a:solidFill>
                  <a:srgbClr val="2E2E2E"/>
                </a:solidFill>
                <a:latin typeface="Calibri"/>
              </a:rPr>
              <a:t>'Switzerland' is the dearest at +65.7% versus Europe, 'Russia' the cheapest at -32.8% pointing to premiumisation headroom in the lower-priced countries.</a:t>
            </a:r>
          </a:p>
        </p:txBody>
      </p:sp>
      <p:sp>
        <p:nvSpPr>
          <p:cNvPr id="142" name="TextBox 14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Europe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2,811</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5,157</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4.0%</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6.3%</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955981"/>
          </a:xfrm>
          <a:prstGeom prst="roundRect">
            <a:avLst>
              <a:gd name="adj" fmla="val 25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470206"/>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Hair styling products market value in Europe is expected to increase 1.9X between 2025 and 2036. In 2025, the hair styling products market in Europe was valued at US$ 2,683 Mn and is estimated to account for US$ 2,811 Mn by the end of 2026, reflecting a Y-o-Y growth rate of 4.8%.</a:t>
            </a:r>
          </a:p>
          <a:p>
            <a:pPr algn="l">
              <a:lnSpc>
                <a:spcPct val="100000"/>
              </a:lnSpc>
              <a:spcBef>
                <a:spcPts val="0"/>
              </a:spcBef>
              <a:spcAft>
                <a:spcPts val="300"/>
              </a:spcAft>
            </a:pPr>
            <a:r>
              <a:rPr sz="1100" b="0">
                <a:solidFill>
                  <a:srgbClr val="2E2E2E"/>
                </a:solidFill>
                <a:latin typeface="Calibri"/>
              </a:rPr>
              <a:t>The market in Europe is expected to account for US$ 5,157 Mn by 2036 at a CAGR of 6.3% over the forecast period. Europe is expected to create an incremental opportunity of US$ 2,473 Mn for the overall hair styling products market from 2025 to 2036.</a:t>
            </a:r>
          </a:p>
          <a:p>
            <a:pPr algn="l">
              <a:lnSpc>
                <a:spcPct val="100000"/>
              </a:lnSpc>
              <a:spcBef>
                <a:spcPts val="0"/>
              </a:spcBef>
              <a:spcAft>
                <a:spcPts val="300"/>
              </a:spcAft>
            </a:pPr>
            <a:r>
              <a:rPr sz="1100" b="0">
                <a:solidFill>
                  <a:srgbClr val="2E2E2E"/>
                </a:solidFill>
                <a:latin typeface="Calibri"/>
              </a:rPr>
              <a:t>Absolute $ value for 2026 is estimated to be US$ 127.7 Mn.</a:t>
            </a:r>
          </a:p>
        </p:txBody>
      </p:sp>
      <p:sp>
        <p:nvSpPr>
          <p:cNvPr id="25" name="Rounded Rectangle 24"/>
          <p:cNvSpPr/>
          <p:nvPr/>
        </p:nvSpPr>
        <p:spPr>
          <a:xfrm>
            <a:off x="7915275" y="4638629"/>
            <a:ext cx="4133850" cy="1917756"/>
          </a:xfrm>
          <a:prstGeom prst="roundRect">
            <a:avLst>
              <a:gd name="adj" fmla="val 39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724354"/>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962479"/>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048204"/>
            <a:ext cx="3867150" cy="143198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'Netherlands' leads regional growth at 7.8%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'Styling Serums and Oils'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Europe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4695825"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Market, 2021–2025 (Historical)</a:t>
            </a:r>
          </a:p>
        </p:txBody>
      </p:sp>
      <p:graphicFrame>
        <p:nvGraphicFramePr>
          <p:cNvPr id="13" name="Chart 12"/>
          <p:cNvGraphicFramePr>
            <a:graphicFrameLocks noGrp="1"/>
          </p:cNvGraphicFramePr>
          <p:nvPr/>
        </p:nvGraphicFramePr>
        <p:xfrm>
          <a:off x="238125" y="1266825"/>
          <a:ext cx="4505325" cy="2181225"/>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Market, 2026–2036 (Forecast)</a:t>
            </a:r>
          </a:p>
        </p:txBody>
      </p:sp>
      <p:graphicFrame>
        <p:nvGraphicFramePr>
          <p:cNvPr id="16" name="Chart 15"/>
          <p:cNvGraphicFramePr>
            <a:graphicFrameLocks noGrp="1"/>
          </p:cNvGraphicFramePr>
          <p:nvPr/>
        </p:nvGraphicFramePr>
        <p:xfrm>
          <a:off x="5086350" y="1266825"/>
          <a:ext cx="6858000" cy="21812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4.0%</a:t>
            </a:r>
          </a:p>
        </p:txBody>
      </p:sp>
      <p:sp>
        <p:nvSpPr>
          <p:cNvPr id="18" name="Rounded Rectangle 17"/>
          <p:cNvSpPr/>
          <p:nvPr/>
        </p:nvSpPr>
        <p:spPr>
          <a:xfrm>
            <a:off x="2809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6.3%</a:t>
            </a:r>
          </a:p>
        </p:txBody>
      </p:sp>
      <p:sp>
        <p:nvSpPr>
          <p:cNvPr id="19" name="Rounded Rectangle 18"/>
          <p:cNvSpPr/>
          <p:nvPr/>
        </p:nvSpPr>
        <p:spPr>
          <a:xfrm>
            <a:off x="54768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922.1 US$ Mn</a:t>
            </a:r>
          </a:p>
        </p:txBody>
      </p:sp>
      <p:sp>
        <p:nvSpPr>
          <p:cNvPr id="20" name="Rounded Rectangle 19"/>
          <p:cNvSpPr/>
          <p:nvPr/>
        </p:nvSpPr>
        <p:spPr>
          <a:xfrm>
            <a:off x="88296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2,346 US$ Mn</a:t>
            </a:r>
          </a:p>
        </p:txBody>
      </p:sp>
      <p:sp>
        <p:nvSpPr>
          <p:cNvPr id="21" name="Rounded Rectangle 20"/>
          <p:cNvSpPr/>
          <p:nvPr/>
        </p:nvSpPr>
        <p:spPr>
          <a:xfrm>
            <a:off x="142875" y="4457700"/>
            <a:ext cx="11906250" cy="2152650"/>
          </a:xfrm>
          <a:prstGeom prst="roundRect">
            <a:avLst>
              <a:gd name="adj" fmla="val 35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543425"/>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Volume &amp; Value Analysis</a:t>
            </a:r>
          </a:p>
        </p:txBody>
      </p:sp>
      <p:sp>
        <p:nvSpPr>
          <p:cNvPr id="23" name="Rectangle 22"/>
          <p:cNvSpPr/>
          <p:nvPr/>
        </p:nvSpPr>
        <p:spPr>
          <a:xfrm>
            <a:off x="276225" y="4781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867275"/>
            <a:ext cx="11639550" cy="1666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Hair styling products market value in Europe is expected to increase 1.9X between 2025 and 2036. In 2025, the hair styling products market in Europe was valued at US$ 2,683 Mn and is estimated to account for US$ 2,811 Mn by the end of 2026, reflecting a Y-o-Y growth rate of 4.8%. The market in Europe is expected to account for US$ 5,157 Mn by 2036 at a CAGR of 6.3% over the forecast period.</a:t>
            </a:r>
          </a:p>
          <a:p>
            <a:pPr algn="l">
              <a:lnSpc>
                <a:spcPct val="110000"/>
              </a:lnSpc>
              <a:spcBef>
                <a:spcPts val="0"/>
              </a:spcBef>
              <a:spcAft>
                <a:spcPts val="500"/>
              </a:spcAft>
            </a:pPr>
            <a:r>
              <a:rPr sz="1150" b="0">
                <a:solidFill>
                  <a:srgbClr val="2E2E2E"/>
                </a:solidFill>
                <a:latin typeface="Calibri"/>
              </a:rPr>
              <a:t>Europe is expected to create an incremental opportunity of US$ 2,473 Mn for the overall hair styling products market from 2025 to 2036. Absolute $ value for 2026 is estimated to be US$ 127.7 Mn. Europe hair styling products market is projected to register 1.6X increase in volume by the end of forecast period, 2036.</a:t>
            </a:r>
          </a:p>
          <a:p>
            <a:pPr algn="l">
              <a:lnSpc>
                <a:spcPct val="110000"/>
              </a:lnSpc>
              <a:spcBef>
                <a:spcPts val="0"/>
              </a:spcBef>
              <a:spcAft>
                <a:spcPts val="500"/>
              </a:spcAft>
            </a:pPr>
            <a:r>
              <a:rPr sz="1150" b="0">
                <a:solidFill>
                  <a:srgbClr val="2E2E2E"/>
                </a:solidFill>
                <a:latin typeface="Calibri"/>
              </a:rPr>
              <a:t>Europe hair styling products market volume stood at 1,306 Mn Units in 2025 and is expected to reach 2,133 Mn Units by 2036 end, at a CAGR of 4.6%. Value is projected to grow faster than volume over the forecast period, owing to an increase in average selling price.</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Summary Country Indices (Value)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70"/>
        </p:xfrm>
        <a:graphic>
          <a:graphicData uri="http://schemas.openxmlformats.org/drawingml/2006/table">
            <a:tbl>
              <a:tblPr>
                <a:tableStyleId>{5C22544A-7EE6-4342-B048-85BDC9FD1C3A}</a:tableStyleId>
              </a:tblPr>
              <a:tblGrid>
                <a:gridCol w="1013910"/>
                <a:gridCol w="969873"/>
                <a:gridCol w="661933"/>
                <a:gridCol w="1269060"/>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383361">
                <a:tc>
                  <a:txBody>
                    <a:bodyPr wrap="none"/>
                    <a:lstStyle/>
                    <a:p>
                      <a:pPr algn="l"/>
                      <a:r>
                        <a:rPr sz="1100" b="1">
                          <a:solidFill>
                            <a:srgbClr val="2E2E2E"/>
                          </a:solidFill>
                          <a:latin typeface="Calibri"/>
                        </a:rPr>
                        <a:t>Netherlands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r>
              <a:tr h="383361">
                <a:tc>
                  <a:txBody>
                    <a:bodyPr wrap="none"/>
                    <a:lstStyle/>
                    <a:p>
                      <a:pPr algn="l"/>
                      <a:r>
                        <a:rPr sz="1100" b="1">
                          <a:solidFill>
                            <a:srgbClr val="2E2E2E"/>
                          </a:solidFill>
                          <a:latin typeface="Calibri"/>
                        </a:rPr>
                        <a:t>Poland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r>
              <a:tr h="383361">
                <a:tc>
                  <a:txBody>
                    <a:bodyPr wrap="none"/>
                    <a:lstStyle/>
                    <a:p>
                      <a:pPr algn="l"/>
                      <a:r>
                        <a:rPr sz="1100" b="1">
                          <a:solidFill>
                            <a:srgbClr val="2E2E2E"/>
                          </a:solidFill>
                          <a:latin typeface="Calibri"/>
                        </a:rPr>
                        <a:t>Belgium</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r>
              <a:tr h="383361">
                <a:tc>
                  <a:txBody>
                    <a:bodyPr wrap="none"/>
                    <a:lstStyle/>
                    <a:p>
                      <a:pPr algn="l"/>
                      <a:r>
                        <a:rPr sz="1100" b="1">
                          <a:solidFill>
                            <a:srgbClr val="2E2E2E"/>
                          </a:solidFill>
                          <a:latin typeface="Calibri"/>
                        </a:rPr>
                        <a:t>Spain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5F8FA"/>
                    </a:solidFill>
                  </a:tcPr>
                </a:tc>
              </a:tr>
              <a:tr h="383361">
                <a:tc>
                  <a:txBody>
                    <a:bodyPr wrap="none"/>
                    <a:lstStyle/>
                    <a:p>
                      <a:pPr algn="l"/>
                      <a:r>
                        <a:rPr sz="1100" b="1">
                          <a:solidFill>
                            <a:srgbClr val="2E2E2E"/>
                          </a:solidFill>
                          <a:latin typeface="Calibri"/>
                        </a:rPr>
                        <a:t>Italy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1992440" cy="1624872"/>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814</a:t>
            </a:r>
          </a:p>
        </p:txBody>
      </p:sp>
      <p:sp>
        <p:nvSpPr>
          <p:cNvPr id="19" name="Rectangle 18"/>
          <p:cNvSpPr/>
          <p:nvPr/>
        </p:nvSpPr>
        <p:spPr>
          <a:xfrm>
            <a:off x="6202490" y="1293011"/>
            <a:ext cx="1750885" cy="1624872"/>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715</a:t>
            </a:r>
          </a:p>
        </p:txBody>
      </p:sp>
      <p:sp>
        <p:nvSpPr>
          <p:cNvPr id="20" name="Rectangle 19"/>
          <p:cNvSpPr/>
          <p:nvPr/>
        </p:nvSpPr>
        <p:spPr>
          <a:xfrm>
            <a:off x="4210050" y="2917884"/>
            <a:ext cx="1585274" cy="1738883"/>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693</a:t>
            </a:r>
          </a:p>
        </p:txBody>
      </p:sp>
      <p:sp>
        <p:nvSpPr>
          <p:cNvPr id="21" name="Rectangle 20"/>
          <p:cNvSpPr/>
          <p:nvPr/>
        </p:nvSpPr>
        <p:spPr>
          <a:xfrm>
            <a:off x="4210050" y="4656767"/>
            <a:ext cx="1585274" cy="1221843"/>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Italy</a:t>
            </a:r>
          </a:p>
          <a:p>
            <a:pPr algn="ctr"/>
            <a:r>
              <a:rPr sz="1100" b="0">
                <a:solidFill>
                  <a:srgbClr val="FFFFFF"/>
                </a:solidFill>
                <a:latin typeface="Calibri"/>
              </a:rPr>
              <a:t>487</a:t>
            </a:r>
          </a:p>
        </p:txBody>
      </p:sp>
      <p:sp>
        <p:nvSpPr>
          <p:cNvPr id="22" name="Rectangle 21"/>
          <p:cNvSpPr/>
          <p:nvPr/>
        </p:nvSpPr>
        <p:spPr>
          <a:xfrm>
            <a:off x="5795324" y="2917884"/>
            <a:ext cx="1144675" cy="1374028"/>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Nordic</a:t>
            </a:r>
          </a:p>
          <a:p>
            <a:pPr algn="ctr"/>
            <a:r>
              <a:rPr sz="1100" b="0">
                <a:solidFill>
                  <a:srgbClr val="FFFFFF"/>
                </a:solidFill>
                <a:latin typeface="Calibri"/>
              </a:rPr>
              <a:t>396</a:t>
            </a:r>
          </a:p>
        </p:txBody>
      </p:sp>
      <p:sp>
        <p:nvSpPr>
          <p:cNvPr id="23" name="Rectangle 22"/>
          <p:cNvSpPr/>
          <p:nvPr/>
        </p:nvSpPr>
        <p:spPr>
          <a:xfrm>
            <a:off x="6939999" y="2917884"/>
            <a:ext cx="1013376" cy="1374028"/>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Spain</a:t>
            </a:r>
          </a:p>
          <a:p>
            <a:pPr algn="ctr"/>
            <a:r>
              <a:rPr sz="1100" b="0">
                <a:solidFill>
                  <a:srgbClr val="FFFFFF"/>
                </a:solidFill>
                <a:latin typeface="Calibri"/>
              </a:rPr>
              <a:t>350</a:t>
            </a:r>
          </a:p>
        </p:txBody>
      </p:sp>
      <p:sp>
        <p:nvSpPr>
          <p:cNvPr id="24" name="Rectangle 23"/>
          <p:cNvSpPr/>
          <p:nvPr/>
        </p:nvSpPr>
        <p:spPr>
          <a:xfrm>
            <a:off x="5795324" y="4291912"/>
            <a:ext cx="779997" cy="1586698"/>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Russia</a:t>
            </a:r>
          </a:p>
          <a:p>
            <a:pPr algn="ctr"/>
            <a:r>
              <a:rPr sz="1100" b="0">
                <a:solidFill>
                  <a:srgbClr val="FFFFFF"/>
                </a:solidFill>
                <a:latin typeface="Calibri"/>
              </a:rPr>
              <a:t>311</a:t>
            </a:r>
          </a:p>
        </p:txBody>
      </p:sp>
      <p:sp>
        <p:nvSpPr>
          <p:cNvPr id="25" name="Rectangle 24"/>
          <p:cNvSpPr/>
          <p:nvPr/>
        </p:nvSpPr>
        <p:spPr>
          <a:xfrm>
            <a:off x="6575321" y="4291912"/>
            <a:ext cx="760365" cy="1120568"/>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Netherlands</a:t>
            </a:r>
          </a:p>
          <a:p>
            <a:pPr algn="ctr"/>
            <a:r>
              <a:rPr sz="1100" b="0">
                <a:solidFill>
                  <a:srgbClr val="FFFFFF"/>
                </a:solidFill>
                <a:latin typeface="Calibri"/>
              </a:rPr>
              <a:t>214</a:t>
            </a:r>
          </a:p>
        </p:txBody>
      </p:sp>
      <p:sp>
        <p:nvSpPr>
          <p:cNvPr id="26" name="Rectangle 25"/>
          <p:cNvSpPr/>
          <p:nvPr/>
        </p:nvSpPr>
        <p:spPr>
          <a:xfrm>
            <a:off x="7335686" y="4291912"/>
            <a:ext cx="617689" cy="1120568"/>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Switzerland</a:t>
            </a:r>
          </a:p>
          <a:p>
            <a:pPr algn="ctr"/>
            <a:r>
              <a:rPr sz="1100" b="0">
                <a:solidFill>
                  <a:srgbClr val="FFFFFF"/>
                </a:solidFill>
                <a:latin typeface="Calibri"/>
              </a:rPr>
              <a:t>174</a:t>
            </a:r>
          </a:p>
        </p:txBody>
      </p:sp>
      <p:sp>
        <p:nvSpPr>
          <p:cNvPr id="27" name="Rectangle 26"/>
          <p:cNvSpPr/>
          <p:nvPr/>
        </p:nvSpPr>
        <p:spPr>
          <a:xfrm>
            <a:off x="6575321" y="5412480"/>
            <a:ext cx="1378054" cy="466129"/>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Poland</a:t>
            </a:r>
          </a:p>
          <a:p>
            <a:pPr algn="ctr"/>
            <a:r>
              <a:rPr sz="1100" b="0">
                <a:solidFill>
                  <a:srgbClr val="FFFFFF"/>
                </a:solidFill>
                <a:latin typeface="Calibri"/>
              </a:rPr>
              <a:t>162</a:t>
            </a:r>
          </a:p>
        </p:txBody>
      </p:sp>
      <p:sp>
        <p:nvSpPr>
          <p:cNvPr id="28" name="Rounded Rectangle 27"/>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30" name="Chart 29"/>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31" name="Rounded Rectangle 30"/>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32" name="Table 31"/>
          <p:cNvGraphicFramePr>
            <a:graphicFrameLocks noGrp="1"/>
          </p:cNvGraphicFramePr>
          <p:nvPr/>
        </p:nvGraphicFramePr>
        <p:xfrm>
          <a:off x="8096250" y="3547710"/>
          <a:ext cx="3927746" cy="2159450"/>
        </p:xfrm>
        <a:graphic>
          <a:graphicData uri="http://schemas.openxmlformats.org/drawingml/2006/table">
            <a:tbl>
              <a:tblPr>
                <a:tableStyleId>{5C22544A-7EE6-4342-B048-85BDC9FD1C3A}</a:tableStyleId>
              </a:tblPr>
              <a:tblGrid>
                <a:gridCol w="710293"/>
                <a:gridCol w="1068161"/>
                <a:gridCol w="1068161"/>
                <a:gridCol w="1081131"/>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388837">
                <a:tc>
                  <a:txBody>
                    <a:bodyPr wrap="none"/>
                    <a:lstStyle/>
                    <a:p>
                      <a:pPr algn="l"/>
                      <a:r>
                        <a:rPr sz="1100" b="1">
                          <a:solidFill>
                            <a:srgbClr val="2E2E2E"/>
                          </a:solidFill>
                          <a:latin typeface="Calibri"/>
                        </a:rPr>
                        <a:t>U.K.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349.4</a:t>
                      </a:r>
                      <a:endParaRPr sz="1100"/>
                    </a:p>
                  </a:txBody>
                  <a:tcPr marL="47625" marR="38100" marT="19050" marB="19050" anchor="ctr">
                    <a:solidFill>
                      <a:srgbClr val="FFFFFF"/>
                    </a:solidFill>
                  </a:tcPr>
                </a:tc>
              </a:tr>
              <a:tr h="388837">
                <a:tc>
                  <a:txBody>
                    <a:bodyPr wrap="none"/>
                    <a:lstStyle/>
                    <a:p>
                      <a:pPr algn="l"/>
                      <a:r>
                        <a:rPr sz="1100" b="1">
                          <a:solidFill>
                            <a:srgbClr val="2E2E2E"/>
                          </a:solidFill>
                          <a:latin typeface="Calibri"/>
                        </a:rPr>
                        <a:t>France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325.8</a:t>
                      </a:r>
                      <a:endParaRPr sz="1100"/>
                    </a:p>
                  </a:txBody>
                  <a:tcPr marL="47625" marR="38100" marT="19050" marB="19050" anchor="ctr">
                    <a:solidFill>
                      <a:srgbClr val="F5F8FA"/>
                    </a:solidFill>
                  </a:tcPr>
                </a:tc>
              </a:tr>
              <a:tr h="388837">
                <a:tc>
                  <a:txBody>
                    <a:bodyPr wrap="none"/>
                    <a:lstStyle/>
                    <a:p>
                      <a:pPr algn="l"/>
                      <a:r>
                        <a:rPr sz="1100" b="1">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271.4</a:t>
                      </a:r>
                      <a:endParaRPr sz="1100"/>
                    </a:p>
                  </a:txBody>
                  <a:tcPr marL="47625" marR="38100" marT="19050" marB="19050" anchor="ctr">
                    <a:solidFill>
                      <a:srgbClr val="FFFFFF"/>
                    </a:solidFill>
                  </a:tcPr>
                </a:tc>
              </a:tr>
              <a:tr h="388837">
                <a:tc>
                  <a:txBody>
                    <a:bodyPr wrap="none"/>
                    <a:lstStyle/>
                    <a:p>
                      <a:pPr algn="l"/>
                      <a:r>
                        <a:rPr sz="1100" b="1">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5F8FA"/>
                    </a:solidFill>
                  </a:tcPr>
                </a:tc>
              </a:tr>
              <a:tr h="388837">
                <a:tc>
                  <a:txBody>
                    <a:bodyPr wrap="none"/>
                    <a:lstStyle/>
                    <a:p>
                      <a:pPr algn="l"/>
                      <a:r>
                        <a:rPr sz="1100" b="1">
                          <a:solidFill>
                            <a:srgbClr val="2E2E2E"/>
                          </a:solidFill>
                          <a:latin typeface="Calibri"/>
                        </a:rPr>
                        <a:t>Nordic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FFFFF"/>
                    </a:solidFill>
                  </a:tcPr>
                </a:tc>
              </a:tr>
            </a:tbl>
          </a:graphicData>
        </a:graphic>
      </p:graphicFrame>
      <p:sp>
        <p:nvSpPr>
          <p:cNvPr id="33" name="TextBox 32"/>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34" name="Rounded Rectangle 33"/>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U.K. hair styling products market is projected to register 1.1X higher value than France in 2036. Netherlands posts the highest CAGR Index (124), growing at 7.8% against the Europe benchmark, while U.K. offers the largest absolute opportunity 349.4 US$ Mn of incremental market between 2026 and 2036 (15% of the Europe increment).</a:t>
            </a:r>
          </a:p>
        </p:txBody>
      </p:sp>
      <p:sp>
        <p:nvSpPr>
          <p:cNvPr id="35" name="TextBox 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Summary Country Indices (Value)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981075"/>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1" name="Table 10"/>
          <p:cNvGraphicFramePr>
            <a:graphicFrameLocks noGrp="1"/>
          </p:cNvGraphicFramePr>
          <p:nvPr/>
        </p:nvGraphicFramePr>
        <p:xfrm>
          <a:off x="152400" y="1057275"/>
          <a:ext cx="11887200" cy="1295400"/>
        </p:xfrm>
        <a:graphic>
          <a:graphicData uri="http://schemas.openxmlformats.org/drawingml/2006/table">
            <a:tbl>
              <a:tblPr>
                <a:tableStyleId>{5C22544A-7EE6-4342-B048-85BDC9FD1C3A}</a:tableStyleId>
              </a:tblPr>
              <a:tblGrid>
                <a:gridCol w="2407698"/>
                <a:gridCol w="3159834"/>
                <a:gridCol w="3159834"/>
                <a:gridCol w="3159834"/>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Nordic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France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Russia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Switzerland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r>
            </a:tbl>
          </a:graphicData>
        </a:graphic>
      </p:graphicFrame>
      <p:sp>
        <p:nvSpPr>
          <p:cNvPr id="12" name="TextBox 11"/>
          <p:cNvSpPr txBox="1"/>
          <p:nvPr/>
        </p:nvSpPr>
        <p:spPr>
          <a:xfrm>
            <a:off x="219075" y="2362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3" name="Rounded Rectangle 12"/>
          <p:cNvSpPr/>
          <p:nvPr/>
        </p:nvSpPr>
        <p:spPr>
          <a:xfrm>
            <a:off x="142875" y="2714625"/>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2790825"/>
          <a:ext cx="11887200" cy="1295400"/>
        </p:xfrm>
        <a:graphic>
          <a:graphicData uri="http://schemas.openxmlformats.org/drawingml/2006/table">
            <a:tbl>
              <a:tblPr>
                <a:tableStyleId>{5C22544A-7EE6-4342-B048-85BDC9FD1C3A}</a:tableStyleId>
              </a:tblPr>
              <a:tblGrid>
                <a:gridCol w="2499963"/>
                <a:gridCol w="3129079"/>
                <a:gridCol w="3129079"/>
                <a:gridCol w="3129079"/>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Spain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Russia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Netherlands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Poland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Switzerland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4095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Global hair styling products market is expected to witness 1.9X increase in revenue by 2036 end. Global hair styling products market accounted for US$ 2,683 Mn in 2025, which is expected to increase to US$ 5,157 Mn in 2036 at a CAGR of 6.3%.</a:t>
            </a:r>
          </a:p>
          <a:p>
            <a:pPr algn="l">
              <a:lnSpc>
                <a:spcPct val="110000"/>
              </a:lnSpc>
              <a:spcBef>
                <a:spcPts val="0"/>
              </a:spcBef>
              <a:spcAft>
                <a:spcPts val="500"/>
              </a:spcAft>
            </a:pPr>
            <a:r>
              <a:rPr sz="1150" b="0">
                <a:solidFill>
                  <a:srgbClr val="2E2E2E"/>
                </a:solidFill>
                <a:latin typeface="Calibri"/>
              </a:rPr>
              <a:t>The global hair styling products market has been analysed on the basis of product format, hold level, finish and distribution channel across the globe. U.K. is expected to remain the largest market for hair styling products, while demand in Netherlands is projected to increase at the highest CAGR of 7.8% throughout the forecast period.</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is fragmented: the leading product format category 'Styling Serums and Oils' holds 19.4% of 2036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spans 12 countries and 7 segmentation lenses (8 product format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U.K. is the largest country market at 15.8% of 2036 value.</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Accelerating uptake of 'Sticks and Balms' (7.9%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Fast-growing demand in Netherlands (7.8%).</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Momentum in Online Marketplaces within distribution channel (7.6%).</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Slower momentum in 'Sprays and Mists' (4.4%).</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Maturing demand in established categories caps the blended 6.3%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 concentration in 'Styling Serums and Oils' raises barriers for new entrants.</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'Sticks and Balms'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Netherlands outpacing the Europe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8 product format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Capacity and product development are concentrating in 'Sticks and Balms' and in Netherlands, the fastest-growing country.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Portfolio expansion is tracking the shift toward higher-growth product format categories.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Commercial focus is intensifying in U.K. and Netherlands, which together account for 19.9% of 2036 value.</a:t>
            </a:r>
          </a:p>
        </p:txBody>
      </p:sp>
      <p:sp>
        <p:nvSpPr>
          <p:cNvPr id="14" name="Rounded Rectangle 13"/>
          <p:cNvSpPr/>
          <p:nvPr/>
        </p:nvSpPr>
        <p:spPr>
          <a:xfrm>
            <a:off x="6172200"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Market value rises from 2,811 US$ Mn in 2026 to 5,157 US$ Mn in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forecast CAGR is 6.3% over 2026-2036.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'Styling Serums and Oils' is the lead product format category with 19.4%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U.K. is the lead country with 15.8%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incremental opportunity over 2026-2036 is 2,346 US$ Mn.</a:t>
            </a:r>
          </a:p>
        </p:txBody>
      </p:sp>
      <p:sp>
        <p:nvSpPr>
          <p:cNvPr id="18" name="Rounded Rectangle 17"/>
          <p:cNvSpPr/>
          <p:nvPr/>
        </p:nvSpPr>
        <p:spPr>
          <a:xfrm>
            <a:off x="142875"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152775"/>
            <a:ext cx="5610225" cy="1228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Investment is flowing toward 'Sticks and Balms', the fastest-growing product format category at 7.9%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Netherlands (7.8% CAGR) is a priority country for new capacity and distribution.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Scale players are anchoring their portfolios around 'Styling Serums and Oils', which holds 19.4% share.</a:t>
            </a:r>
          </a:p>
        </p:txBody>
      </p:sp>
      <p:sp>
        <p:nvSpPr>
          <p:cNvPr id="22" name="Rounded Rectangle 21"/>
          <p:cNvSpPr/>
          <p:nvPr/>
        </p:nvSpPr>
        <p:spPr>
          <a:xfrm>
            <a:off x="6172200"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152775"/>
            <a:ext cx="5610225" cy="12287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R&amp;D programmes are focused on product design, premium formats and sustainable materials, in line with the migration toward 'Sticks and Balms'.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Development spend is targeting the product format categories that gain share through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Innovation underpins the 6.3% forecast CAGR by sustaining both volume growth and price realisation.</a:t>
            </a:r>
          </a:p>
        </p:txBody>
      </p:sp>
      <p:sp>
        <p:nvSpPr>
          <p:cNvPr id="26" name="Rounded Rectangle 25"/>
          <p:cNvSpPr/>
          <p:nvPr/>
        </p:nvSpPr>
        <p:spPr>
          <a:xfrm>
            <a:off x="142875" y="4591050"/>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648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Format Share (2036)</a:t>
            </a:r>
          </a:p>
        </p:txBody>
      </p:sp>
      <p:graphicFrame>
        <p:nvGraphicFramePr>
          <p:cNvPr id="28" name="Chart 27"/>
          <p:cNvGraphicFramePr>
            <a:graphicFrameLocks noGrp="1"/>
          </p:cNvGraphicFramePr>
          <p:nvPr/>
        </p:nvGraphicFramePr>
        <p:xfrm>
          <a:off x="238125" y="4876800"/>
          <a:ext cx="11715750" cy="1685925"/>
        </p:xfrm>
        <a:graphic>
          <a:graphicData uri="http://schemas.openxmlformats.org/drawingml/2006/chart">
            <c:chart xmlns:c="http://schemas.openxmlformats.org/drawingml/2006/chart" r:id="rId3"/>
          </a:graphicData>
        </a:graphic>
      </p:graphicFrame>
      <p:sp>
        <p:nvSpPr>
          <p:cNvPr id="29" name="TextBox 28"/>
          <p:cNvSpPr txBox="1"/>
          <p:nvPr/>
        </p:nvSpPr>
        <p:spPr>
          <a:xfrm>
            <a:off x="3935364" y="5605462"/>
            <a:ext cx="806547" cy="228600"/>
          </a:xfrm>
          <a:prstGeom prst="rect">
            <a:avLst/>
          </a:prstGeom>
          <a:noFill/>
        </p:spPr>
        <p:txBody>
          <a:bodyPr wrap="square" lIns="28575" rIns="28575" tIns="9525" bIns="9525" anchor="ctr">
            <a:spAutoFit/>
          </a:bodyPr>
          <a:lstStyle/>
          <a:p>
            <a:pPr algn="ctr"/>
            <a:r>
              <a:rPr sz="1300" b="1">
                <a:solidFill>
                  <a:srgbClr val="2E2E2E"/>
                </a:solidFill>
                <a:latin typeface="Calibri"/>
              </a:rPr>
              <a:t>2036</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scale in 'Styling Serums and Oils' with targeted growth in 'Sticks and Balms' to capture the 6.3% CAGR trajectory to 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adds 2,346 US$ Mn of demand to 2036, a 1.8x expansion on the 2026 base.</a:t>
            </a:r>
          </a:p>
        </p:txBody>
      </p:sp>
      <p:sp>
        <p:nvSpPr>
          <p:cNvPr id="14" name="Rounded Rectangle 13"/>
          <p:cNvSpPr/>
          <p:nvPr/>
        </p:nvSpPr>
        <p:spPr>
          <a:xfrm>
            <a:off x="6172200"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'Sticks and Balms' category and the 'Online Marketplaces' distribution channel route, where growth outpaces the market.</a:t>
            </a:r>
          </a:p>
        </p:txBody>
      </p:sp>
      <p:sp>
        <p:nvSpPr>
          <p:cNvPr id="18" name="Rounded Rectangle 17"/>
          <p:cNvSpPr/>
          <p:nvPr/>
        </p:nvSpPr>
        <p:spPr>
          <a:xfrm>
            <a:off x="142875"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'Sticks and Balms' (7.9% CAGR) for growth, while 'Styling Serums and Oils' anchors 19.4% of value and funds the portfolio.</a:t>
            </a:r>
          </a:p>
        </p:txBody>
      </p:sp>
      <p:sp>
        <p:nvSpPr>
          <p:cNvPr id="22" name="Rounded Rectangle 21"/>
          <p:cNvSpPr/>
          <p:nvPr/>
        </p:nvSpPr>
        <p:spPr>
          <a:xfrm>
            <a:off x="6172200"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 with U.K. (15.8% of value) and capture upside in Netherlands (7.8% CAGR).</a:t>
            </a:r>
          </a:p>
        </p:txBody>
      </p:sp>
      <p:sp>
        <p:nvSpPr>
          <p:cNvPr id="26" name="Rounded Rectangle 25"/>
          <p:cNvSpPr/>
          <p:nvPr/>
        </p:nvSpPr>
        <p:spPr>
          <a:xfrm>
            <a:off x="142875" y="4695825"/>
            <a:ext cx="11906250" cy="1914525"/>
          </a:xfrm>
          <a:prstGeom prst="roundRect">
            <a:avLst>
              <a:gd name="adj" fmla="val 39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81550"/>
            <a:ext cx="11639550" cy="209550"/>
          </a:xfrm>
          <a:prstGeom prst="rect">
            <a:avLst/>
          </a:prstGeom>
          <a:noFill/>
        </p:spPr>
        <p:txBody>
          <a:bodyPr wrap="square" lIns="0" rIns="19050" tIns="9525" bIns="9525">
            <a:spAutoFit/>
          </a:bodyPr>
          <a:lstStyle/>
          <a:p>
            <a:pPr algn="l"/>
            <a:r>
              <a:rPr sz="1300" b="1">
                <a:solidFill>
                  <a:srgbClr val="0B2E4A"/>
                </a:solidFill>
                <a:latin typeface="Calibri"/>
              </a:rPr>
              <a:t>FMI Analysis and Recommendation</a:t>
            </a:r>
          </a:p>
        </p:txBody>
      </p:sp>
      <p:sp>
        <p:nvSpPr>
          <p:cNvPr id="28" name="Rectangle 27"/>
          <p:cNvSpPr/>
          <p:nvPr/>
        </p:nvSpPr>
        <p:spPr>
          <a:xfrm>
            <a:off x="276225" y="5019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105400"/>
            <a:ext cx="11639550" cy="1428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 and country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'Styling Serums and Oils' as the value anchor of the portfolio.</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quality certification and brand trust into the offer to protect pricing as competition intensifies.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6,035 US$ Mn</a:t>
            </a:r>
          </a:p>
          <a:p>
            <a:pPr algn="ctr">
              <a:lnSpc>
                <a:spcPct val="95000"/>
              </a:lnSpc>
            </a:pPr>
            <a:r>
              <a:rPr sz="1100" b="0">
                <a:solidFill>
                  <a:srgbClr val="6C7A89"/>
                </a:solidFill>
                <a:latin typeface="Calibri"/>
              </a:rPr>
              <a:t>CAGR 7.6%</a:t>
            </a:r>
          </a:p>
        </p:txBody>
      </p:sp>
      <p:sp>
        <p:nvSpPr>
          <p:cNvPr id="11" name="Rounded Rectangle 10"/>
          <p:cNvSpPr/>
          <p:nvPr/>
        </p:nvSpPr>
        <p:spPr>
          <a:xfrm>
            <a:off x="4238625"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5,157 US$ Mn</a:t>
            </a:r>
          </a:p>
          <a:p>
            <a:pPr algn="ctr">
              <a:lnSpc>
                <a:spcPct val="95000"/>
              </a:lnSpc>
            </a:pPr>
            <a:r>
              <a:rPr sz="1100" b="0">
                <a:solidFill>
                  <a:srgbClr val="6C7A89"/>
                </a:solidFill>
                <a:latin typeface="Calibri"/>
              </a:rPr>
              <a:t>CAGR 6.3%</a:t>
            </a:r>
          </a:p>
        </p:txBody>
      </p:sp>
      <p:sp>
        <p:nvSpPr>
          <p:cNvPr id="12" name="Rounded Rectangle 11"/>
          <p:cNvSpPr/>
          <p:nvPr/>
        </p:nvSpPr>
        <p:spPr>
          <a:xfrm>
            <a:off x="8210550"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4,396 US$ Mn</a:t>
            </a:r>
          </a:p>
          <a:p>
            <a:pPr algn="ctr">
              <a:lnSpc>
                <a:spcPct val="95000"/>
              </a:lnSpc>
            </a:pPr>
            <a:r>
              <a:rPr sz="1100" b="0">
                <a:solidFill>
                  <a:srgbClr val="6C7A89"/>
                </a:solidFill>
                <a:latin typeface="Calibri"/>
              </a:rPr>
              <a:t>CAGR 4.6%</a:t>
            </a:r>
          </a:p>
        </p:txBody>
      </p:sp>
      <p:sp>
        <p:nvSpPr>
          <p:cNvPr id="13" name="Rounded Rectangle 12"/>
          <p:cNvSpPr/>
          <p:nvPr/>
        </p:nvSpPr>
        <p:spPr>
          <a:xfrm>
            <a:off x="142875"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Hair Styling Products Market Value (US$ Mn): Scenario Forecast, 2025 and 2036</a:t>
            </a:r>
          </a:p>
        </p:txBody>
      </p:sp>
      <p:cxnSp>
        <p:nvCxnSpPr>
          <p:cNvPr id="15" name="Connector 14"/>
          <p:cNvCxnSpPr/>
          <p:nvPr/>
        </p:nvCxnSpPr>
        <p:spPr>
          <a:xfrm>
            <a:off x="238125" y="413385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452930"/>
            <a:ext cx="635826" cy="680920"/>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18372"/>
            <a:ext cx="635826" cy="1115478"/>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825249"/>
            <a:ext cx="635826" cy="1308601"/>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602230"/>
            <a:ext cx="635826" cy="1531620"/>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885022"/>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780247"/>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4.6%</a:t>
            </a:r>
          </a:p>
        </p:txBody>
      </p:sp>
      <p:cxnSp>
        <p:nvCxnSpPr>
          <p:cNvPr id="22" name="Connector 21"/>
          <p:cNvCxnSpPr/>
          <p:nvPr/>
        </p:nvCxnSpPr>
        <p:spPr>
          <a:xfrm>
            <a:off x="1456468" y="2627847"/>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23072"/>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6.3%</a:t>
            </a:r>
          </a:p>
        </p:txBody>
      </p:sp>
      <p:cxnSp>
        <p:nvCxnSpPr>
          <p:cNvPr id="24" name="Connector 23"/>
          <p:cNvCxnSpPr/>
          <p:nvPr/>
        </p:nvCxnSpPr>
        <p:spPr>
          <a:xfrm>
            <a:off x="1456468" y="2370672"/>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265897"/>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7.6%</a:t>
            </a:r>
          </a:p>
        </p:txBody>
      </p:sp>
      <p:sp>
        <p:nvSpPr>
          <p:cNvPr id="26" name="TextBox 25"/>
          <p:cNvSpPr txBox="1"/>
          <p:nvPr/>
        </p:nvSpPr>
        <p:spPr>
          <a:xfrm>
            <a:off x="643255"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40055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40055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40055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Hair Styling Products Market Attractiveness Analysis By Region, 2026–2036</a:t>
            </a:r>
          </a:p>
        </p:txBody>
      </p:sp>
      <p:graphicFrame>
        <p:nvGraphicFramePr>
          <p:cNvPr id="36" name="Chart 35"/>
          <p:cNvGraphicFramePr>
            <a:graphicFrameLocks noGrp="1"/>
          </p:cNvGraphicFramePr>
          <p:nvPr/>
        </p:nvGraphicFramePr>
        <p:xfrm>
          <a:off x="6267450" y="2181225"/>
          <a:ext cx="5686425" cy="2409825"/>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781550"/>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191125"/>
            <a:ext cx="11639550" cy="135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Optimistic: the market reaches 6,035 US$ Mn by 2036 at 7.6% CAGR, assuming faster adoption and stronger price realisation.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Likely (base forecast): the market reaches 5,157 US$ Mn by 2036 at 6.3%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Conservative: the market reaches 4,396 US$ Mn by 2036 at 4.6% CAGR, assuming slower adoption and tighter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Scenarios flex the base forecast's year-on-year growth by plus or minus 25% across 2026-2036.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gap between the optimistic and conservative outcomes is 1,640 US$ Mn in 2036, which frames the planning range for capacity and investment decisions.</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Europe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Europe Hair Styling Products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12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Europe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728662"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728662"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652462" cy="438089"/>
          </a:xfrm>
          <a:prstGeom prst="rect">
            <a:avLst/>
          </a:prstGeom>
          <a:noFill/>
        </p:spPr>
        <p:txBody>
          <a:bodyPr wrap="none" lIns="0" rIns="0" tIns="0" bIns="0" anchor="ctr">
            <a:spAutoFit/>
          </a:bodyPr>
          <a:lstStyle/>
          <a:p>
            <a:pPr algn="ctr"/>
            <a:r>
              <a:rPr sz="1100" b="1">
                <a:solidFill>
                  <a:srgbClr val="FFFFFF"/>
                </a:solidFill>
                <a:latin typeface="Calibri"/>
              </a:rPr>
              <a:t>U.K.</a:t>
            </a:r>
          </a:p>
        </p:txBody>
      </p:sp>
      <p:sp>
        <p:nvSpPr>
          <p:cNvPr id="23" name="Rectangle 22"/>
          <p:cNvSpPr/>
          <p:nvPr/>
        </p:nvSpPr>
        <p:spPr>
          <a:xfrm>
            <a:off x="1866900"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464.7</a:t>
            </a:r>
          </a:p>
        </p:txBody>
      </p:sp>
      <p:sp>
        <p:nvSpPr>
          <p:cNvPr id="24" name="Rectangle 23"/>
          <p:cNvSpPr/>
          <p:nvPr/>
        </p:nvSpPr>
        <p:spPr>
          <a:xfrm>
            <a:off x="1866900"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814.1</a:t>
            </a:r>
          </a:p>
        </p:txBody>
      </p:sp>
      <p:sp>
        <p:nvSpPr>
          <p:cNvPr id="25" name="Rectangle 24"/>
          <p:cNvSpPr/>
          <p:nvPr/>
        </p:nvSpPr>
        <p:spPr>
          <a:xfrm>
            <a:off x="1866900"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5.8%</a:t>
            </a:r>
          </a:p>
        </p:txBody>
      </p:sp>
      <p:sp>
        <p:nvSpPr>
          <p:cNvPr id="26" name="Oval 25"/>
          <p:cNvSpPr/>
          <p:nvPr/>
        </p:nvSpPr>
        <p:spPr>
          <a:xfrm>
            <a:off x="2069306"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2709862" y="1773916"/>
            <a:ext cx="728662"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2709862" y="1992961"/>
            <a:ext cx="728662"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47962"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Germany</a:t>
            </a:r>
          </a:p>
        </p:txBody>
      </p:sp>
      <p:sp>
        <p:nvSpPr>
          <p:cNvPr id="30" name="Rectangle 29"/>
          <p:cNvSpPr/>
          <p:nvPr/>
        </p:nvSpPr>
        <p:spPr>
          <a:xfrm>
            <a:off x="2709862"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421.7</a:t>
            </a:r>
          </a:p>
        </p:txBody>
      </p:sp>
      <p:sp>
        <p:nvSpPr>
          <p:cNvPr id="31" name="Rectangle 30"/>
          <p:cNvSpPr/>
          <p:nvPr/>
        </p:nvSpPr>
        <p:spPr>
          <a:xfrm>
            <a:off x="2709862"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693.2</a:t>
            </a:r>
          </a:p>
        </p:txBody>
      </p:sp>
      <p:sp>
        <p:nvSpPr>
          <p:cNvPr id="32" name="Rectangle 31"/>
          <p:cNvSpPr/>
          <p:nvPr/>
        </p:nvSpPr>
        <p:spPr>
          <a:xfrm>
            <a:off x="2709862"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5.1%</a:t>
            </a:r>
          </a:p>
        </p:txBody>
      </p:sp>
      <p:sp>
        <p:nvSpPr>
          <p:cNvPr id="33" name="Oval 32"/>
          <p:cNvSpPr/>
          <p:nvPr/>
        </p:nvSpPr>
        <p:spPr>
          <a:xfrm>
            <a:off x="2912269"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552825" y="1773916"/>
            <a:ext cx="728662"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552825" y="1992961"/>
            <a:ext cx="728662"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590925"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France</a:t>
            </a:r>
          </a:p>
        </p:txBody>
      </p:sp>
      <p:sp>
        <p:nvSpPr>
          <p:cNvPr id="37" name="Rectangle 36"/>
          <p:cNvSpPr/>
          <p:nvPr/>
        </p:nvSpPr>
        <p:spPr>
          <a:xfrm>
            <a:off x="3552825"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389.6</a:t>
            </a:r>
          </a:p>
        </p:txBody>
      </p:sp>
      <p:sp>
        <p:nvSpPr>
          <p:cNvPr id="38" name="Rectangle 37"/>
          <p:cNvSpPr/>
          <p:nvPr/>
        </p:nvSpPr>
        <p:spPr>
          <a:xfrm>
            <a:off x="3552825"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715.4</a:t>
            </a:r>
          </a:p>
        </p:txBody>
      </p:sp>
      <p:sp>
        <p:nvSpPr>
          <p:cNvPr id="39" name="Rectangle 38"/>
          <p:cNvSpPr/>
          <p:nvPr/>
        </p:nvSpPr>
        <p:spPr>
          <a:xfrm>
            <a:off x="3552825"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6.3%</a:t>
            </a:r>
          </a:p>
        </p:txBody>
      </p:sp>
      <p:sp>
        <p:nvSpPr>
          <p:cNvPr id="40" name="Oval 39"/>
          <p:cNvSpPr/>
          <p:nvPr/>
        </p:nvSpPr>
        <p:spPr>
          <a:xfrm>
            <a:off x="3755231"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4395788" y="1773916"/>
            <a:ext cx="728662"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4395788" y="1992961"/>
            <a:ext cx="728662"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433888"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Rest of Europe</a:t>
            </a:r>
          </a:p>
        </p:txBody>
      </p:sp>
      <p:sp>
        <p:nvSpPr>
          <p:cNvPr id="44" name="Rectangle 43"/>
          <p:cNvSpPr/>
          <p:nvPr/>
        </p:nvSpPr>
        <p:spPr>
          <a:xfrm>
            <a:off x="4395788"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367.3</a:t>
            </a:r>
          </a:p>
        </p:txBody>
      </p:sp>
      <p:sp>
        <p:nvSpPr>
          <p:cNvPr id="45" name="Rectangle 44"/>
          <p:cNvSpPr/>
          <p:nvPr/>
        </p:nvSpPr>
        <p:spPr>
          <a:xfrm>
            <a:off x="4395788"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710.2</a:t>
            </a:r>
          </a:p>
        </p:txBody>
      </p:sp>
      <p:sp>
        <p:nvSpPr>
          <p:cNvPr id="46" name="Rectangle 45"/>
          <p:cNvSpPr/>
          <p:nvPr/>
        </p:nvSpPr>
        <p:spPr>
          <a:xfrm>
            <a:off x="4395788"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6.8%</a:t>
            </a:r>
          </a:p>
        </p:txBody>
      </p:sp>
      <p:sp>
        <p:nvSpPr>
          <p:cNvPr id="47" name="Oval 46"/>
          <p:cNvSpPr/>
          <p:nvPr/>
        </p:nvSpPr>
        <p:spPr>
          <a:xfrm>
            <a:off x="4598194"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5238750" y="1773916"/>
            <a:ext cx="728662"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238750" y="1992961"/>
            <a:ext cx="728662"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5276850"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Italy</a:t>
            </a:r>
          </a:p>
        </p:txBody>
      </p:sp>
      <p:sp>
        <p:nvSpPr>
          <p:cNvPr id="51" name="Rectangle 50"/>
          <p:cNvSpPr/>
          <p:nvPr/>
        </p:nvSpPr>
        <p:spPr>
          <a:xfrm>
            <a:off x="5238750"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260.9</a:t>
            </a:r>
          </a:p>
        </p:txBody>
      </p:sp>
      <p:sp>
        <p:nvSpPr>
          <p:cNvPr id="52" name="Rectangle 51"/>
          <p:cNvSpPr/>
          <p:nvPr/>
        </p:nvSpPr>
        <p:spPr>
          <a:xfrm>
            <a:off x="5238750"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487.1</a:t>
            </a:r>
          </a:p>
        </p:txBody>
      </p:sp>
      <p:sp>
        <p:nvSpPr>
          <p:cNvPr id="53" name="Rectangle 52"/>
          <p:cNvSpPr/>
          <p:nvPr/>
        </p:nvSpPr>
        <p:spPr>
          <a:xfrm>
            <a:off x="5238750"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6.4%</a:t>
            </a:r>
          </a:p>
        </p:txBody>
      </p:sp>
      <p:sp>
        <p:nvSpPr>
          <p:cNvPr id="54" name="Oval 53"/>
          <p:cNvSpPr/>
          <p:nvPr/>
        </p:nvSpPr>
        <p:spPr>
          <a:xfrm>
            <a:off x="5441156"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6081712" y="1773916"/>
            <a:ext cx="728662"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081712" y="1992961"/>
            <a:ext cx="728662"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6119812"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Nordic</a:t>
            </a:r>
          </a:p>
        </p:txBody>
      </p:sp>
      <p:sp>
        <p:nvSpPr>
          <p:cNvPr id="58" name="Rectangle 57"/>
          <p:cNvSpPr/>
          <p:nvPr/>
        </p:nvSpPr>
        <p:spPr>
          <a:xfrm>
            <a:off x="6081712"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214.8</a:t>
            </a:r>
          </a:p>
        </p:txBody>
      </p:sp>
      <p:sp>
        <p:nvSpPr>
          <p:cNvPr id="59" name="Rectangle 58"/>
          <p:cNvSpPr/>
          <p:nvPr/>
        </p:nvSpPr>
        <p:spPr>
          <a:xfrm>
            <a:off x="6081712"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395.5</a:t>
            </a:r>
          </a:p>
        </p:txBody>
      </p:sp>
      <p:sp>
        <p:nvSpPr>
          <p:cNvPr id="60" name="Rectangle 59"/>
          <p:cNvSpPr/>
          <p:nvPr/>
        </p:nvSpPr>
        <p:spPr>
          <a:xfrm>
            <a:off x="6081712"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6.3%</a:t>
            </a:r>
          </a:p>
        </p:txBody>
      </p:sp>
      <p:sp>
        <p:nvSpPr>
          <p:cNvPr id="61" name="Oval 60"/>
          <p:cNvSpPr/>
          <p:nvPr/>
        </p:nvSpPr>
        <p:spPr>
          <a:xfrm>
            <a:off x="6284119"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6924675" y="1773916"/>
            <a:ext cx="728662"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6924675" y="1992961"/>
            <a:ext cx="728662"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6962775"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Spain</a:t>
            </a:r>
          </a:p>
        </p:txBody>
      </p:sp>
      <p:sp>
        <p:nvSpPr>
          <p:cNvPr id="65" name="Rectangle 64"/>
          <p:cNvSpPr/>
          <p:nvPr/>
        </p:nvSpPr>
        <p:spPr>
          <a:xfrm>
            <a:off x="6924675"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177.2</a:t>
            </a:r>
          </a:p>
        </p:txBody>
      </p:sp>
      <p:sp>
        <p:nvSpPr>
          <p:cNvPr id="66" name="Rectangle 65"/>
          <p:cNvSpPr/>
          <p:nvPr/>
        </p:nvSpPr>
        <p:spPr>
          <a:xfrm>
            <a:off x="6924675"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350.1</a:t>
            </a:r>
          </a:p>
        </p:txBody>
      </p:sp>
      <p:sp>
        <p:nvSpPr>
          <p:cNvPr id="67" name="Rectangle 66"/>
          <p:cNvSpPr/>
          <p:nvPr/>
        </p:nvSpPr>
        <p:spPr>
          <a:xfrm>
            <a:off x="6924675"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7.0%</a:t>
            </a:r>
          </a:p>
        </p:txBody>
      </p:sp>
      <p:sp>
        <p:nvSpPr>
          <p:cNvPr id="68" name="Oval 67"/>
          <p:cNvSpPr/>
          <p:nvPr/>
        </p:nvSpPr>
        <p:spPr>
          <a:xfrm>
            <a:off x="7127081"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7767638" y="1773916"/>
            <a:ext cx="728662"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7767638" y="1992961"/>
            <a:ext cx="728662"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805738"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Russia</a:t>
            </a:r>
          </a:p>
        </p:txBody>
      </p:sp>
      <p:sp>
        <p:nvSpPr>
          <p:cNvPr id="72" name="Rectangle 71"/>
          <p:cNvSpPr/>
          <p:nvPr/>
        </p:nvSpPr>
        <p:spPr>
          <a:xfrm>
            <a:off x="7767638"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169.6</a:t>
            </a:r>
          </a:p>
        </p:txBody>
      </p:sp>
      <p:sp>
        <p:nvSpPr>
          <p:cNvPr id="73" name="Rectangle 72"/>
          <p:cNvSpPr/>
          <p:nvPr/>
        </p:nvSpPr>
        <p:spPr>
          <a:xfrm>
            <a:off x="7767638"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311.2</a:t>
            </a:r>
          </a:p>
        </p:txBody>
      </p:sp>
      <p:sp>
        <p:nvSpPr>
          <p:cNvPr id="74" name="Rectangle 73"/>
          <p:cNvSpPr/>
          <p:nvPr/>
        </p:nvSpPr>
        <p:spPr>
          <a:xfrm>
            <a:off x="7767638"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6.3%</a:t>
            </a:r>
          </a:p>
        </p:txBody>
      </p:sp>
      <p:sp>
        <p:nvSpPr>
          <p:cNvPr id="75" name="Oval 74"/>
          <p:cNvSpPr/>
          <p:nvPr/>
        </p:nvSpPr>
        <p:spPr>
          <a:xfrm>
            <a:off x="797004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76" name="Rounded Rectangle 75"/>
          <p:cNvSpPr/>
          <p:nvPr/>
        </p:nvSpPr>
        <p:spPr>
          <a:xfrm>
            <a:off x="8610600" y="1773916"/>
            <a:ext cx="728662"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8610600" y="1992961"/>
            <a:ext cx="728662"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585597" y="1773916"/>
            <a:ext cx="778669" cy="438089"/>
          </a:xfrm>
          <a:prstGeom prst="rect">
            <a:avLst/>
          </a:prstGeom>
          <a:noFill/>
        </p:spPr>
        <p:txBody>
          <a:bodyPr wrap="square" lIns="28575" rIns="28575" tIns="9525" bIns="9525" anchor="ctr">
            <a:spAutoFit/>
          </a:bodyPr>
          <a:lstStyle/>
          <a:p>
            <a:pPr algn="ctr"/>
            <a:r>
              <a:rPr sz="1100" b="1">
                <a:solidFill>
                  <a:srgbClr val="FFFFFF"/>
                </a:solidFill>
                <a:latin typeface="Calibri"/>
              </a:rPr>
              <a:t>Switzerland</a:t>
            </a:r>
          </a:p>
        </p:txBody>
      </p:sp>
      <p:sp>
        <p:nvSpPr>
          <p:cNvPr id="79" name="Rectangle 78"/>
          <p:cNvSpPr/>
          <p:nvPr/>
        </p:nvSpPr>
        <p:spPr>
          <a:xfrm>
            <a:off x="8610600"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103.9</a:t>
            </a:r>
          </a:p>
        </p:txBody>
      </p:sp>
      <p:sp>
        <p:nvSpPr>
          <p:cNvPr id="80" name="Rectangle 79"/>
          <p:cNvSpPr/>
          <p:nvPr/>
        </p:nvSpPr>
        <p:spPr>
          <a:xfrm>
            <a:off x="8610600"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174.1</a:t>
            </a:r>
          </a:p>
        </p:txBody>
      </p:sp>
      <p:sp>
        <p:nvSpPr>
          <p:cNvPr id="81" name="Rectangle 80"/>
          <p:cNvSpPr/>
          <p:nvPr/>
        </p:nvSpPr>
        <p:spPr>
          <a:xfrm>
            <a:off x="8610600"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5.3%</a:t>
            </a:r>
          </a:p>
        </p:txBody>
      </p:sp>
      <p:sp>
        <p:nvSpPr>
          <p:cNvPr id="82" name="Oval 81"/>
          <p:cNvSpPr/>
          <p:nvPr/>
        </p:nvSpPr>
        <p:spPr>
          <a:xfrm>
            <a:off x="881300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9</a:t>
            </a:r>
          </a:p>
        </p:txBody>
      </p:sp>
      <p:sp>
        <p:nvSpPr>
          <p:cNvPr id="83" name="Rounded Rectangle 82"/>
          <p:cNvSpPr/>
          <p:nvPr/>
        </p:nvSpPr>
        <p:spPr>
          <a:xfrm>
            <a:off x="9453562" y="1773916"/>
            <a:ext cx="728662"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9453562" y="1992961"/>
            <a:ext cx="728662"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9409509" y="1773916"/>
            <a:ext cx="816769" cy="438089"/>
          </a:xfrm>
          <a:prstGeom prst="rect">
            <a:avLst/>
          </a:prstGeom>
          <a:noFill/>
        </p:spPr>
        <p:txBody>
          <a:bodyPr wrap="square" lIns="28575" rIns="28575" tIns="9525" bIns="9525" anchor="ctr">
            <a:spAutoFit/>
          </a:bodyPr>
          <a:lstStyle/>
          <a:p>
            <a:pPr algn="ctr"/>
            <a:r>
              <a:rPr sz="1100" b="1">
                <a:solidFill>
                  <a:srgbClr val="FFFFFF"/>
                </a:solidFill>
                <a:latin typeface="Calibri"/>
              </a:rPr>
              <a:t>Netherlands</a:t>
            </a:r>
          </a:p>
        </p:txBody>
      </p:sp>
      <p:sp>
        <p:nvSpPr>
          <p:cNvPr id="86" name="Rectangle 85"/>
          <p:cNvSpPr/>
          <p:nvPr/>
        </p:nvSpPr>
        <p:spPr>
          <a:xfrm>
            <a:off x="9453562"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101.5</a:t>
            </a:r>
          </a:p>
        </p:txBody>
      </p:sp>
      <p:sp>
        <p:nvSpPr>
          <p:cNvPr id="87" name="Rectangle 86"/>
          <p:cNvSpPr/>
          <p:nvPr/>
        </p:nvSpPr>
        <p:spPr>
          <a:xfrm>
            <a:off x="9453562"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214.3</a:t>
            </a:r>
          </a:p>
        </p:txBody>
      </p:sp>
      <p:sp>
        <p:nvSpPr>
          <p:cNvPr id="88" name="Rectangle 87"/>
          <p:cNvSpPr/>
          <p:nvPr/>
        </p:nvSpPr>
        <p:spPr>
          <a:xfrm>
            <a:off x="9453562"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7.8%</a:t>
            </a:r>
          </a:p>
        </p:txBody>
      </p:sp>
      <p:sp>
        <p:nvSpPr>
          <p:cNvPr id="89" name="Oval 88"/>
          <p:cNvSpPr/>
          <p:nvPr/>
        </p:nvSpPr>
        <p:spPr>
          <a:xfrm>
            <a:off x="9655969"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10</a:t>
            </a:r>
          </a:p>
        </p:txBody>
      </p:sp>
      <p:sp>
        <p:nvSpPr>
          <p:cNvPr id="90" name="Rounded Rectangle 89"/>
          <p:cNvSpPr/>
          <p:nvPr/>
        </p:nvSpPr>
        <p:spPr>
          <a:xfrm>
            <a:off x="10296525" y="1773916"/>
            <a:ext cx="728662"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0296525" y="1992961"/>
            <a:ext cx="728662"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10334625"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Poland</a:t>
            </a:r>
          </a:p>
        </p:txBody>
      </p:sp>
      <p:sp>
        <p:nvSpPr>
          <p:cNvPr id="93" name="Rectangle 92"/>
          <p:cNvSpPr/>
          <p:nvPr/>
        </p:nvSpPr>
        <p:spPr>
          <a:xfrm>
            <a:off x="10296525"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76.7</a:t>
            </a:r>
          </a:p>
        </p:txBody>
      </p:sp>
      <p:sp>
        <p:nvSpPr>
          <p:cNvPr id="94" name="Rectangle 93"/>
          <p:cNvSpPr/>
          <p:nvPr/>
        </p:nvSpPr>
        <p:spPr>
          <a:xfrm>
            <a:off x="10296525"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161.5</a:t>
            </a:r>
          </a:p>
        </p:txBody>
      </p:sp>
      <p:sp>
        <p:nvSpPr>
          <p:cNvPr id="95" name="Rectangle 94"/>
          <p:cNvSpPr/>
          <p:nvPr/>
        </p:nvSpPr>
        <p:spPr>
          <a:xfrm>
            <a:off x="10296525"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7.7%</a:t>
            </a:r>
          </a:p>
        </p:txBody>
      </p:sp>
      <p:sp>
        <p:nvSpPr>
          <p:cNvPr id="96" name="Oval 95"/>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11</a:t>
            </a:r>
          </a:p>
        </p:txBody>
      </p:sp>
      <p:sp>
        <p:nvSpPr>
          <p:cNvPr id="97" name="Rounded Rectangle 96"/>
          <p:cNvSpPr/>
          <p:nvPr/>
        </p:nvSpPr>
        <p:spPr>
          <a:xfrm>
            <a:off x="11139488" y="1773916"/>
            <a:ext cx="728662"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139488" y="1992961"/>
            <a:ext cx="728662"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1177588"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Belgium</a:t>
            </a:r>
          </a:p>
        </p:txBody>
      </p:sp>
      <p:sp>
        <p:nvSpPr>
          <p:cNvPr id="100" name="Rectangle 99"/>
          <p:cNvSpPr/>
          <p:nvPr/>
        </p:nvSpPr>
        <p:spPr>
          <a:xfrm>
            <a:off x="11139488"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63.0</a:t>
            </a:r>
          </a:p>
        </p:txBody>
      </p:sp>
      <p:sp>
        <p:nvSpPr>
          <p:cNvPr id="101" name="Rectangle 100"/>
          <p:cNvSpPr/>
          <p:nvPr/>
        </p:nvSpPr>
        <p:spPr>
          <a:xfrm>
            <a:off x="11139488"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130.0</a:t>
            </a:r>
          </a:p>
        </p:txBody>
      </p:sp>
      <p:sp>
        <p:nvSpPr>
          <p:cNvPr id="102" name="Rectangle 101"/>
          <p:cNvSpPr/>
          <p:nvPr/>
        </p:nvSpPr>
        <p:spPr>
          <a:xfrm>
            <a:off x="11139488"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7.5%</a:t>
            </a:r>
          </a:p>
        </p:txBody>
      </p:sp>
      <p:sp>
        <p:nvSpPr>
          <p:cNvPr id="103" name="Oval 102"/>
          <p:cNvSpPr/>
          <p:nvPr/>
        </p:nvSpPr>
        <p:spPr>
          <a:xfrm>
            <a:off x="11341894"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12</a:t>
            </a:r>
          </a:p>
        </p:txBody>
      </p:sp>
      <p:sp>
        <p:nvSpPr>
          <p:cNvPr id="104" name="Rounded Rectangle 10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106" name="Rectangle 10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The U.K. hair styling products market is projected to register 1.1X higher value than France in 2036. Among hair styling products by country, Netherlands is expected to witness the highest CAGR of 7.8% over the forecast period.</a:t>
            </a:r>
          </a:p>
          <a:p>
            <a:pPr algn="l">
              <a:lnSpc>
                <a:spcPct val="110000"/>
              </a:lnSpc>
              <a:spcBef>
                <a:spcPts val="0"/>
              </a:spcBef>
              <a:spcAft>
                <a:spcPts val="500"/>
              </a:spcAft>
            </a:pPr>
            <a:r>
              <a:rPr sz="1100" b="0">
                <a:solidFill>
                  <a:srgbClr val="2E2E2E"/>
                </a:solidFill>
                <a:latin typeface="Calibri"/>
              </a:rPr>
              <a:t>In terms of value share by country, U.K. is expected to dominate the market, losing 71 BPS and accounting for 18.3% share by 2036. Germany is expected to lose 167 BPS over the forecast period to account for 15.6% share by 2036.</a:t>
            </a:r>
          </a:p>
        </p:txBody>
      </p:sp>
      <p:sp>
        <p:nvSpPr>
          <p:cNvPr id="108" name="Rounded Rectangle 10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Country Insights</a:t>
            </a:r>
          </a:p>
        </p:txBody>
      </p:sp>
      <p:sp>
        <p:nvSpPr>
          <p:cNvPr id="110" name="Rectangle 10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3810000" y="4219912"/>
            <a:ext cx="421005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B2E4A"/>
                </a:solidFill>
                <a:latin typeface="Calibri"/>
              </a:rPr>
              <a:t>●  </a:t>
            </a:r>
            <a:r>
              <a:rPr sz="1100" b="1">
                <a:solidFill>
                  <a:srgbClr val="0B2E4A"/>
                </a:solidFill>
                <a:latin typeface="Calibri"/>
              </a:rPr>
              <a:t>U.K.: </a:t>
            </a:r>
            <a:r>
              <a:rPr sz="1100" b="0">
                <a:solidFill>
                  <a:srgbClr val="2E2E2E"/>
                </a:solidFill>
                <a:latin typeface="Calibri"/>
              </a:rPr>
              <a:t>17% of 2026 value · 5.8% CAGR leads the market.</a:t>
            </a:r>
          </a:p>
          <a:p>
            <a:pPr algn="l">
              <a:lnSpc>
                <a:spcPct val="105000"/>
              </a:lnSpc>
              <a:spcBef>
                <a:spcPts val="0"/>
              </a:spcBef>
              <a:spcAft>
                <a:spcPts val="300"/>
              </a:spcAft>
            </a:pPr>
            <a:r>
              <a:rPr sz="1100" b="0">
                <a:solidFill>
                  <a:srgbClr val="0E72AE"/>
                </a:solidFill>
                <a:latin typeface="Calibri"/>
              </a:rPr>
              <a:t>●  </a:t>
            </a:r>
            <a:r>
              <a:rPr sz="1100" b="1">
                <a:solidFill>
                  <a:srgbClr val="0E72AE"/>
                </a:solidFill>
                <a:latin typeface="Calibri"/>
              </a:rPr>
              <a:t>Germany: </a:t>
            </a:r>
            <a:r>
              <a:rPr sz="1100" b="0">
                <a:solidFill>
                  <a:srgbClr val="2E2E2E"/>
                </a:solidFill>
                <a:latin typeface="Calibri"/>
              </a:rPr>
              <a:t>15% of 2026 value · 5.1% CAGR a smaller market.</a:t>
            </a:r>
          </a:p>
          <a:p>
            <a:pPr algn="l">
              <a:lnSpc>
                <a:spcPct val="105000"/>
              </a:lnSpc>
              <a:spcBef>
                <a:spcPts val="0"/>
              </a:spcBef>
              <a:spcAft>
                <a:spcPts val="300"/>
              </a:spcAft>
            </a:pPr>
            <a:r>
              <a:rPr sz="1100" b="0">
                <a:solidFill>
                  <a:srgbClr val="008189"/>
                </a:solidFill>
                <a:latin typeface="Calibri"/>
              </a:rPr>
              <a:t>●  </a:t>
            </a:r>
            <a:r>
              <a:rPr sz="1100" b="1">
                <a:solidFill>
                  <a:srgbClr val="008189"/>
                </a:solidFill>
                <a:latin typeface="Calibri"/>
              </a:rPr>
              <a:t>France: </a:t>
            </a:r>
            <a:r>
              <a:rPr sz="1100" b="0">
                <a:solidFill>
                  <a:srgbClr val="2E2E2E"/>
                </a:solidFill>
                <a:latin typeface="Calibri"/>
              </a:rPr>
              <a:t>14% of 2026 value · 6.3% CAGR a smaller market.</a:t>
            </a:r>
          </a:p>
          <a:p>
            <a:pPr algn="l">
              <a:lnSpc>
                <a:spcPct val="105000"/>
              </a:lnSpc>
              <a:spcBef>
                <a:spcPts val="0"/>
              </a:spcBef>
              <a:spcAft>
                <a:spcPts val="300"/>
              </a:spcAft>
            </a:pPr>
            <a:r>
              <a:rPr sz="1100" b="0">
                <a:solidFill>
                  <a:srgbClr val="6F3CC2"/>
                </a:solidFill>
                <a:latin typeface="Calibri"/>
              </a:rPr>
              <a:t>●  </a:t>
            </a:r>
            <a:r>
              <a:rPr sz="1100" b="1">
                <a:solidFill>
                  <a:srgbClr val="6F3CC2"/>
                </a:solidFill>
                <a:latin typeface="Calibri"/>
              </a:rPr>
              <a:t>Rest of Europe: </a:t>
            </a:r>
            <a:r>
              <a:rPr sz="1100" b="0">
                <a:solidFill>
                  <a:srgbClr val="2E2E2E"/>
                </a:solidFill>
                <a:latin typeface="Calibri"/>
              </a:rPr>
              <a:t>13% of 2026 value · 6.8% CAGR a smaller market.</a:t>
            </a:r>
          </a:p>
          <a:p>
            <a:pPr algn="l">
              <a:lnSpc>
                <a:spcPct val="105000"/>
              </a:lnSpc>
              <a:spcBef>
                <a:spcPts val="0"/>
              </a:spcBef>
              <a:spcAft>
                <a:spcPts val="300"/>
              </a:spcAft>
            </a:pPr>
            <a:r>
              <a:rPr sz="1100" b="0">
                <a:solidFill>
                  <a:srgbClr val="A86F00"/>
                </a:solidFill>
                <a:latin typeface="Calibri"/>
              </a:rPr>
              <a:t>●  </a:t>
            </a:r>
            <a:r>
              <a:rPr sz="1100" b="1">
                <a:solidFill>
                  <a:srgbClr val="A86F00"/>
                </a:solidFill>
                <a:latin typeface="Calibri"/>
              </a:rPr>
              <a:t>Italy: </a:t>
            </a:r>
            <a:r>
              <a:rPr sz="1100" b="0">
                <a:solidFill>
                  <a:srgbClr val="2E2E2E"/>
                </a:solidFill>
                <a:latin typeface="Calibri"/>
              </a:rPr>
              <a:t>9% of 2026 value · 6.4% CAGR a smaller market.</a:t>
            </a:r>
          </a:p>
          <a:p>
            <a:pPr algn="l">
              <a:lnSpc>
                <a:spcPct val="105000"/>
              </a:lnSpc>
              <a:spcBef>
                <a:spcPts val="0"/>
              </a:spcBef>
              <a:spcAft>
                <a:spcPts val="300"/>
              </a:spcAft>
            </a:pPr>
            <a:r>
              <a:rPr sz="1100" b="0">
                <a:solidFill>
                  <a:srgbClr val="A35313"/>
                </a:solidFill>
                <a:latin typeface="Calibri"/>
              </a:rPr>
              <a:t>●  </a:t>
            </a:r>
            <a:r>
              <a:rPr sz="1100" b="1">
                <a:solidFill>
                  <a:srgbClr val="A35313"/>
                </a:solidFill>
                <a:latin typeface="Calibri"/>
              </a:rPr>
              <a:t>Nordic: </a:t>
            </a:r>
            <a:r>
              <a:rPr sz="1100" b="0">
                <a:solidFill>
                  <a:srgbClr val="2E2E2E"/>
                </a:solidFill>
                <a:latin typeface="Calibri"/>
              </a:rPr>
              <a:t>8% of 2026 value · 6.3% CAGR a smaller market.</a:t>
            </a:r>
          </a:p>
          <a:p>
            <a:pPr algn="l">
              <a:lnSpc>
                <a:spcPct val="105000"/>
              </a:lnSpc>
              <a:spcBef>
                <a:spcPts val="0"/>
              </a:spcBef>
              <a:spcAft>
                <a:spcPts val="300"/>
              </a:spcAft>
            </a:pPr>
            <a:r>
              <a:rPr sz="1100" b="0">
                <a:solidFill>
                  <a:srgbClr val="6C7A89"/>
                </a:solidFill>
                <a:latin typeface="Calibri"/>
              </a:rPr>
              <a:t>●  </a:t>
            </a:r>
            <a:r>
              <a:rPr sz="1100" b="1">
                <a:solidFill>
                  <a:srgbClr val="6C7A89"/>
                </a:solidFill>
                <a:latin typeface="Calibri"/>
              </a:rPr>
              <a:t>Spain: </a:t>
            </a:r>
            <a:r>
              <a:rPr sz="1100" b="0">
                <a:solidFill>
                  <a:srgbClr val="2E2E2E"/>
                </a:solidFill>
                <a:latin typeface="Calibri"/>
              </a:rPr>
              <a:t>6% of 2026 value · 7.0% CAGR a smaller market.</a:t>
            </a:r>
          </a:p>
          <a:p>
            <a:pPr algn="l">
              <a:lnSpc>
                <a:spcPct val="105000"/>
              </a:lnSpc>
              <a:spcBef>
                <a:spcPts val="0"/>
              </a:spcBef>
              <a:spcAft>
                <a:spcPts val="300"/>
              </a:spcAft>
            </a:pPr>
            <a:r>
              <a:rPr sz="1100" b="0">
                <a:solidFill>
                  <a:srgbClr val="0B2E4A"/>
                </a:solidFill>
                <a:latin typeface="Calibri"/>
              </a:rPr>
              <a:t>●  </a:t>
            </a:r>
            <a:r>
              <a:rPr sz="1100" b="1">
                <a:solidFill>
                  <a:srgbClr val="0B2E4A"/>
                </a:solidFill>
                <a:latin typeface="Calibri"/>
              </a:rPr>
              <a:t>Russia: </a:t>
            </a:r>
            <a:r>
              <a:rPr sz="1100" b="0">
                <a:solidFill>
                  <a:srgbClr val="2E2E2E"/>
                </a:solidFill>
                <a:latin typeface="Calibri"/>
              </a:rPr>
              <a:t>6% of 2026 value · 6.3% CAGR a smaller market.</a:t>
            </a:r>
          </a:p>
          <a:p>
            <a:pPr algn="l">
              <a:lnSpc>
                <a:spcPct val="105000"/>
              </a:lnSpc>
              <a:spcBef>
                <a:spcPts val="0"/>
              </a:spcBef>
              <a:spcAft>
                <a:spcPts val="300"/>
              </a:spcAft>
            </a:pPr>
            <a:r>
              <a:rPr sz="1100" b="0">
                <a:solidFill>
                  <a:srgbClr val="0E72AE"/>
                </a:solidFill>
                <a:latin typeface="Calibri"/>
              </a:rPr>
              <a:t>●  </a:t>
            </a:r>
            <a:r>
              <a:rPr sz="1100" b="1">
                <a:solidFill>
                  <a:srgbClr val="0E72AE"/>
                </a:solidFill>
                <a:latin typeface="Calibri"/>
              </a:rPr>
              <a:t>Switzerland: </a:t>
            </a:r>
            <a:r>
              <a:rPr sz="1100" b="0">
                <a:solidFill>
                  <a:srgbClr val="2E2E2E"/>
                </a:solidFill>
                <a:latin typeface="Calibri"/>
              </a:rPr>
              <a:t>4% of 2026 value · 5.3% CAGR a smaller market.</a:t>
            </a:r>
          </a:p>
          <a:p>
            <a:pPr algn="l">
              <a:lnSpc>
                <a:spcPct val="105000"/>
              </a:lnSpc>
              <a:spcBef>
                <a:spcPts val="0"/>
              </a:spcBef>
              <a:spcAft>
                <a:spcPts val="300"/>
              </a:spcAft>
            </a:pPr>
            <a:r>
              <a:rPr sz="1100" b="0">
                <a:solidFill>
                  <a:srgbClr val="008189"/>
                </a:solidFill>
                <a:latin typeface="Calibri"/>
              </a:rPr>
              <a:t>●  </a:t>
            </a:r>
            <a:r>
              <a:rPr sz="1100" b="1">
                <a:solidFill>
                  <a:srgbClr val="008189"/>
                </a:solidFill>
                <a:latin typeface="Calibri"/>
              </a:rPr>
              <a:t>Netherlands: </a:t>
            </a:r>
            <a:r>
              <a:rPr sz="1100" b="0">
                <a:solidFill>
                  <a:srgbClr val="2E2E2E"/>
                </a:solidFill>
                <a:latin typeface="Calibri"/>
              </a:rPr>
              <a:t>4% of 2026 value · 7.8% CAGR grows fastest.</a:t>
            </a:r>
          </a:p>
          <a:p>
            <a:pPr algn="l">
              <a:lnSpc>
                <a:spcPct val="105000"/>
              </a:lnSpc>
              <a:spcBef>
                <a:spcPts val="0"/>
              </a:spcBef>
              <a:spcAft>
                <a:spcPts val="300"/>
              </a:spcAft>
            </a:pPr>
            <a:r>
              <a:rPr sz="1100" b="0">
                <a:solidFill>
                  <a:srgbClr val="6F3CC2"/>
                </a:solidFill>
                <a:latin typeface="Calibri"/>
              </a:rPr>
              <a:t>●  </a:t>
            </a:r>
            <a:r>
              <a:rPr sz="1100" b="1">
                <a:solidFill>
                  <a:srgbClr val="6F3CC2"/>
                </a:solidFill>
                <a:latin typeface="Calibri"/>
              </a:rPr>
              <a:t>Poland: </a:t>
            </a:r>
            <a:r>
              <a:rPr sz="1100" b="0">
                <a:solidFill>
                  <a:srgbClr val="2E2E2E"/>
                </a:solidFill>
                <a:latin typeface="Calibri"/>
              </a:rPr>
              <a:t>3% of 2026 value · 7.7% CAGR a smaller market.</a:t>
            </a:r>
          </a:p>
          <a:p>
            <a:pPr algn="l">
              <a:lnSpc>
                <a:spcPct val="105000"/>
              </a:lnSpc>
              <a:spcBef>
                <a:spcPts val="0"/>
              </a:spcBef>
              <a:spcAft>
                <a:spcPts val="300"/>
              </a:spcAft>
            </a:pPr>
            <a:r>
              <a:rPr sz="1100" b="0">
                <a:solidFill>
                  <a:srgbClr val="A86F00"/>
                </a:solidFill>
                <a:latin typeface="Calibri"/>
              </a:rPr>
              <a:t>●  </a:t>
            </a:r>
            <a:r>
              <a:rPr sz="1100" b="1">
                <a:solidFill>
                  <a:srgbClr val="A86F00"/>
                </a:solidFill>
                <a:latin typeface="Calibri"/>
              </a:rPr>
              <a:t>Belgium: </a:t>
            </a:r>
            <a:r>
              <a:rPr sz="1100" b="0">
                <a:solidFill>
                  <a:srgbClr val="2E2E2E"/>
                </a:solidFill>
                <a:latin typeface="Calibri"/>
              </a:rPr>
              <a:t>2% of 2026 value · 7.5% CAGR a smaller market.</a:t>
            </a:r>
          </a:p>
        </p:txBody>
      </p:sp>
      <p:sp>
        <p:nvSpPr>
          <p:cNvPr id="112" name="Rounded Rectangle 11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Country Overview</a:t>
            </a:r>
          </a:p>
        </p:txBody>
      </p:sp>
      <p:sp>
        <p:nvSpPr>
          <p:cNvPr id="114" name="Rectangle 11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116" name="Rectangle 11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Europe market is projected to grow at a CAGR of 6.3% from 2026 to 2036.</a:t>
            </a:r>
          </a:p>
        </p:txBody>
      </p:sp>
      <p:sp>
        <p:nvSpPr>
          <p:cNvPr id="118" name="TextBox 11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119" name="TextBox 1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2401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7732" y="162401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811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Rest of Europe</a:t>
            </a:r>
          </a:p>
        </p:txBody>
      </p:sp>
      <p:sp>
        <p:nvSpPr>
          <p:cNvPr id="19" name="BPS Value 1"/>
          <p:cNvSpPr txBox="1"/>
          <p:nvPr/>
        </p:nvSpPr>
        <p:spPr>
          <a:xfrm>
            <a:off x="6305550" y="1581150"/>
            <a:ext cx="514350" cy="171450"/>
          </a:xfrm>
          <a:prstGeom prst="rect">
            <a:avLst/>
          </a:prstGeom>
          <a:noFill/>
        </p:spPr>
        <p:txBody>
          <a:bodyPr wrap="none" lIns="0" rIns="0" tIns="0" bIns="0" anchor="ctr">
            <a:spAutoFit/>
          </a:bodyPr>
          <a:lstStyle/>
          <a:p>
            <a:pPr algn="r"/>
            <a:r>
              <a:rPr sz="900" b="1">
                <a:solidFill>
                  <a:srgbClr val="2E7D32"/>
                </a:solidFill>
                <a:latin typeface="Calibri"/>
              </a:rPr>
              <a:t>+85</a:t>
            </a:r>
          </a:p>
        </p:txBody>
      </p:sp>
      <p:sp>
        <p:nvSpPr>
          <p:cNvPr id="20" name="FMI Legend Chip"/>
          <p:cNvSpPr/>
          <p:nvPr/>
        </p:nvSpPr>
        <p:spPr>
          <a:xfrm>
            <a:off x="4551045" y="1795462"/>
            <a:ext cx="85725" cy="8572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7732" y="179546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7526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Poland</a:t>
            </a:r>
          </a:p>
        </p:txBody>
      </p:sp>
      <p:sp>
        <p:nvSpPr>
          <p:cNvPr id="23" name="BPS Value 2"/>
          <p:cNvSpPr txBox="1"/>
          <p:nvPr/>
        </p:nvSpPr>
        <p:spPr>
          <a:xfrm>
            <a:off x="6305550" y="1752600"/>
            <a:ext cx="514350" cy="171450"/>
          </a:xfrm>
          <a:prstGeom prst="rect">
            <a:avLst/>
          </a:prstGeom>
          <a:noFill/>
        </p:spPr>
        <p:txBody>
          <a:bodyPr wrap="none" lIns="0" rIns="0" tIns="0" bIns="0" anchor="ctr">
            <a:spAutoFit/>
          </a:bodyPr>
          <a:lstStyle/>
          <a:p>
            <a:pPr algn="r"/>
            <a:r>
              <a:rPr sz="900" b="1">
                <a:solidFill>
                  <a:srgbClr val="2E7D32"/>
                </a:solidFill>
                <a:latin typeface="Calibri"/>
              </a:rPr>
              <a:t>+58</a:t>
            </a:r>
          </a:p>
        </p:txBody>
      </p:sp>
      <p:sp>
        <p:nvSpPr>
          <p:cNvPr id="24" name="FMI Legend Chip"/>
          <p:cNvSpPr/>
          <p:nvPr/>
        </p:nvSpPr>
        <p:spPr>
          <a:xfrm>
            <a:off x="4551045" y="1966912"/>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7732" y="196691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19240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Spain</a:t>
            </a:r>
          </a:p>
        </p:txBody>
      </p:sp>
      <p:sp>
        <p:nvSpPr>
          <p:cNvPr id="27" name="BPS Value 3"/>
          <p:cNvSpPr txBox="1"/>
          <p:nvPr/>
        </p:nvSpPr>
        <p:spPr>
          <a:xfrm>
            <a:off x="6305550" y="1924050"/>
            <a:ext cx="514350" cy="171450"/>
          </a:xfrm>
          <a:prstGeom prst="rect">
            <a:avLst/>
          </a:prstGeom>
          <a:noFill/>
        </p:spPr>
        <p:txBody>
          <a:bodyPr wrap="none" lIns="0" rIns="0" tIns="0" bIns="0" anchor="ctr">
            <a:spAutoFit/>
          </a:bodyPr>
          <a:lstStyle/>
          <a:p>
            <a:pPr algn="r"/>
            <a:r>
              <a:rPr sz="900" b="1">
                <a:solidFill>
                  <a:srgbClr val="2E7D32"/>
                </a:solidFill>
                <a:latin typeface="Calibri"/>
              </a:rPr>
              <a:t>+41</a:t>
            </a:r>
          </a:p>
        </p:txBody>
      </p:sp>
      <p:sp>
        <p:nvSpPr>
          <p:cNvPr id="28" name="FMI Legend Chip"/>
          <p:cNvSpPr/>
          <p:nvPr/>
        </p:nvSpPr>
        <p:spPr>
          <a:xfrm>
            <a:off x="4551045" y="2138362"/>
            <a:ext cx="85725" cy="85725"/>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7732" y="213836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0955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Netherlands</a:t>
            </a:r>
          </a:p>
        </p:txBody>
      </p:sp>
      <p:sp>
        <p:nvSpPr>
          <p:cNvPr id="31" name="BPS Value 4"/>
          <p:cNvSpPr txBox="1"/>
          <p:nvPr/>
        </p:nvSpPr>
        <p:spPr>
          <a:xfrm>
            <a:off x="6305550" y="2095500"/>
            <a:ext cx="514350" cy="171450"/>
          </a:xfrm>
          <a:prstGeom prst="rect">
            <a:avLst/>
          </a:prstGeom>
          <a:noFill/>
        </p:spPr>
        <p:txBody>
          <a:bodyPr wrap="none" lIns="0" rIns="0" tIns="0" bIns="0" anchor="ctr">
            <a:spAutoFit/>
          </a:bodyPr>
          <a:lstStyle/>
          <a:p>
            <a:pPr algn="r"/>
            <a:r>
              <a:rPr sz="900" b="1">
                <a:solidFill>
                  <a:srgbClr val="2E7D32"/>
                </a:solidFill>
                <a:latin typeface="Calibri"/>
              </a:rPr>
              <a:t>+41</a:t>
            </a:r>
          </a:p>
        </p:txBody>
      </p:sp>
      <p:sp>
        <p:nvSpPr>
          <p:cNvPr id="32" name="FMI Legend Chip"/>
          <p:cNvSpPr/>
          <p:nvPr/>
        </p:nvSpPr>
        <p:spPr>
          <a:xfrm>
            <a:off x="4551045" y="2309812"/>
            <a:ext cx="85725" cy="85725"/>
          </a:xfrm>
          <a:prstGeom prst="rect">
            <a:avLst/>
          </a:prstGeom>
          <a:solidFill>
            <a:srgbClr val="B2B2B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7732" y="230981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22669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Belgium</a:t>
            </a:r>
          </a:p>
        </p:txBody>
      </p:sp>
      <p:sp>
        <p:nvSpPr>
          <p:cNvPr id="35" name="BPS Value 5"/>
          <p:cNvSpPr txBox="1"/>
          <p:nvPr/>
        </p:nvSpPr>
        <p:spPr>
          <a:xfrm>
            <a:off x="6305550" y="2266950"/>
            <a:ext cx="514350" cy="171450"/>
          </a:xfrm>
          <a:prstGeom prst="rect">
            <a:avLst/>
          </a:prstGeom>
          <a:noFill/>
        </p:spPr>
        <p:txBody>
          <a:bodyPr wrap="none" lIns="0" rIns="0" tIns="0" bIns="0" anchor="ctr">
            <a:spAutoFit/>
          </a:bodyPr>
          <a:lstStyle/>
          <a:p>
            <a:pPr algn="r"/>
            <a:r>
              <a:rPr sz="900" b="1">
                <a:solidFill>
                  <a:srgbClr val="2E7D32"/>
                </a:solidFill>
                <a:latin typeface="Calibri"/>
              </a:rPr>
              <a:t>+24</a:t>
            </a:r>
          </a:p>
        </p:txBody>
      </p:sp>
      <p:sp>
        <p:nvSpPr>
          <p:cNvPr id="36" name="FMI Legend Chip"/>
          <p:cNvSpPr/>
          <p:nvPr/>
        </p:nvSpPr>
        <p:spPr>
          <a:xfrm>
            <a:off x="4551045" y="248126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4717732" y="248126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24384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Italy</a:t>
            </a:r>
          </a:p>
        </p:txBody>
      </p:sp>
      <p:sp>
        <p:nvSpPr>
          <p:cNvPr id="39" name="BPS Value 6"/>
          <p:cNvSpPr txBox="1"/>
          <p:nvPr/>
        </p:nvSpPr>
        <p:spPr>
          <a:xfrm>
            <a:off x="6305550" y="2438400"/>
            <a:ext cx="514350" cy="171450"/>
          </a:xfrm>
          <a:prstGeom prst="rect">
            <a:avLst/>
          </a:prstGeom>
          <a:noFill/>
        </p:spPr>
        <p:txBody>
          <a:bodyPr wrap="none" lIns="0" rIns="0" tIns="0" bIns="0" anchor="ctr">
            <a:spAutoFit/>
          </a:bodyPr>
          <a:lstStyle/>
          <a:p>
            <a:pPr algn="r"/>
            <a:r>
              <a:rPr sz="900" b="1">
                <a:solidFill>
                  <a:srgbClr val="2E7D32"/>
                </a:solidFill>
                <a:latin typeface="Calibri"/>
              </a:rPr>
              <a:t>+9</a:t>
            </a:r>
          </a:p>
        </p:txBody>
      </p:sp>
      <p:sp>
        <p:nvSpPr>
          <p:cNvPr id="40" name="FMI Legend Chip"/>
          <p:cNvSpPr/>
          <p:nvPr/>
        </p:nvSpPr>
        <p:spPr>
          <a:xfrm>
            <a:off x="4551045" y="2652712"/>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4717732" y="265271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4855845" y="26098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Nordic</a:t>
            </a:r>
          </a:p>
        </p:txBody>
      </p:sp>
      <p:sp>
        <p:nvSpPr>
          <p:cNvPr id="43" name="BPS Value 7"/>
          <p:cNvSpPr txBox="1"/>
          <p:nvPr/>
        </p:nvSpPr>
        <p:spPr>
          <a:xfrm>
            <a:off x="6305550" y="2609850"/>
            <a:ext cx="514350" cy="171450"/>
          </a:xfrm>
          <a:prstGeom prst="rect">
            <a:avLst/>
          </a:prstGeom>
          <a:noFill/>
        </p:spPr>
        <p:txBody>
          <a:bodyPr wrap="none" lIns="0" rIns="0" tIns="0" bIns="0" anchor="ctr">
            <a:spAutoFit/>
          </a:bodyPr>
          <a:lstStyle/>
          <a:p>
            <a:pPr algn="r"/>
            <a:r>
              <a:rPr sz="900" b="1">
                <a:solidFill>
                  <a:srgbClr val="E44D3A"/>
                </a:solidFill>
                <a:latin typeface="Calibri"/>
              </a:rPr>
              <a:t>-4</a:t>
            </a:r>
          </a:p>
        </p:txBody>
      </p:sp>
      <p:sp>
        <p:nvSpPr>
          <p:cNvPr id="44" name="FMI Legend Chip"/>
          <p:cNvSpPr/>
          <p:nvPr/>
        </p:nvSpPr>
        <p:spPr>
          <a:xfrm>
            <a:off x="4551045" y="2824162"/>
            <a:ext cx="85725" cy="85725"/>
          </a:xfrm>
          <a:prstGeom prst="rect">
            <a:avLst/>
          </a:prstGeom>
          <a:solidFill>
            <a:srgbClr val="5F5F5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rot="10800000">
            <a:off x="4717732" y="282416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4855845" y="27813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Switzerland</a:t>
            </a:r>
          </a:p>
        </p:txBody>
      </p:sp>
      <p:sp>
        <p:nvSpPr>
          <p:cNvPr id="47" name="BPS Value 8"/>
          <p:cNvSpPr txBox="1"/>
          <p:nvPr/>
        </p:nvSpPr>
        <p:spPr>
          <a:xfrm>
            <a:off x="6305550" y="2781300"/>
            <a:ext cx="514350" cy="171450"/>
          </a:xfrm>
          <a:prstGeom prst="rect">
            <a:avLst/>
          </a:prstGeom>
          <a:noFill/>
        </p:spPr>
        <p:txBody>
          <a:bodyPr wrap="none" lIns="0" rIns="0" tIns="0" bIns="0" anchor="ctr">
            <a:spAutoFit/>
          </a:bodyPr>
          <a:lstStyle/>
          <a:p>
            <a:pPr algn="r"/>
            <a:r>
              <a:rPr sz="900" b="1">
                <a:solidFill>
                  <a:srgbClr val="E44D3A"/>
                </a:solidFill>
                <a:latin typeface="Calibri"/>
              </a:rPr>
              <a:t>-12</a:t>
            </a:r>
          </a:p>
        </p:txBody>
      </p:sp>
      <p:sp>
        <p:nvSpPr>
          <p:cNvPr id="48" name="FMI Legend Chip"/>
          <p:cNvSpPr/>
          <p:nvPr/>
        </p:nvSpPr>
        <p:spPr>
          <a:xfrm>
            <a:off x="4551045" y="299561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Isosceles Triangle 48"/>
          <p:cNvSpPr/>
          <p:nvPr/>
        </p:nvSpPr>
        <p:spPr>
          <a:xfrm rot="10800000">
            <a:off x="4717732" y="299561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BPS Name 9"/>
          <p:cNvSpPr txBox="1"/>
          <p:nvPr/>
        </p:nvSpPr>
        <p:spPr>
          <a:xfrm>
            <a:off x="4855845" y="29527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Russia</a:t>
            </a:r>
          </a:p>
        </p:txBody>
      </p:sp>
      <p:sp>
        <p:nvSpPr>
          <p:cNvPr id="51" name="BPS Value 9"/>
          <p:cNvSpPr txBox="1"/>
          <p:nvPr/>
        </p:nvSpPr>
        <p:spPr>
          <a:xfrm>
            <a:off x="6305550" y="2952750"/>
            <a:ext cx="514350" cy="171450"/>
          </a:xfrm>
          <a:prstGeom prst="rect">
            <a:avLst/>
          </a:prstGeom>
          <a:noFill/>
        </p:spPr>
        <p:txBody>
          <a:bodyPr wrap="none" lIns="0" rIns="0" tIns="0" bIns="0" anchor="ctr">
            <a:spAutoFit/>
          </a:bodyPr>
          <a:lstStyle/>
          <a:p>
            <a:pPr algn="r"/>
            <a:r>
              <a:rPr sz="900" b="1">
                <a:solidFill>
                  <a:srgbClr val="E44D3A"/>
                </a:solidFill>
                <a:latin typeface="Calibri"/>
              </a:rPr>
              <a:t>-21</a:t>
            </a:r>
          </a:p>
        </p:txBody>
      </p:sp>
      <p:sp>
        <p:nvSpPr>
          <p:cNvPr id="52" name="FMI Legend Chip"/>
          <p:cNvSpPr/>
          <p:nvPr/>
        </p:nvSpPr>
        <p:spPr>
          <a:xfrm>
            <a:off x="4551045" y="316706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Isosceles Triangle 52"/>
          <p:cNvSpPr/>
          <p:nvPr/>
        </p:nvSpPr>
        <p:spPr>
          <a:xfrm rot="10800000">
            <a:off x="4717732" y="316706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BPS Name 10"/>
          <p:cNvSpPr txBox="1"/>
          <p:nvPr/>
        </p:nvSpPr>
        <p:spPr>
          <a:xfrm>
            <a:off x="4855845" y="31242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France</a:t>
            </a:r>
          </a:p>
        </p:txBody>
      </p:sp>
      <p:sp>
        <p:nvSpPr>
          <p:cNvPr id="55" name="BPS Value 10"/>
          <p:cNvSpPr txBox="1"/>
          <p:nvPr/>
        </p:nvSpPr>
        <p:spPr>
          <a:xfrm>
            <a:off x="6305550" y="3124200"/>
            <a:ext cx="514350" cy="171450"/>
          </a:xfrm>
          <a:prstGeom prst="rect">
            <a:avLst/>
          </a:prstGeom>
          <a:noFill/>
        </p:spPr>
        <p:txBody>
          <a:bodyPr wrap="none" lIns="0" rIns="0" tIns="0" bIns="0" anchor="ctr">
            <a:spAutoFit/>
          </a:bodyPr>
          <a:lstStyle/>
          <a:p>
            <a:pPr algn="r"/>
            <a:r>
              <a:rPr sz="900" b="1">
                <a:solidFill>
                  <a:srgbClr val="E44D3A"/>
                </a:solidFill>
                <a:latin typeface="Calibri"/>
              </a:rPr>
              <a:t>-23</a:t>
            </a:r>
          </a:p>
        </p:txBody>
      </p:sp>
      <p:sp>
        <p:nvSpPr>
          <p:cNvPr id="56" name="FMI Legend Chip"/>
          <p:cNvSpPr/>
          <p:nvPr/>
        </p:nvSpPr>
        <p:spPr>
          <a:xfrm>
            <a:off x="4551045" y="333851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Isosceles Triangle 56"/>
          <p:cNvSpPr/>
          <p:nvPr/>
        </p:nvSpPr>
        <p:spPr>
          <a:xfrm rot="10800000">
            <a:off x="4717732" y="333851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BPS Name 11"/>
          <p:cNvSpPr txBox="1"/>
          <p:nvPr/>
        </p:nvSpPr>
        <p:spPr>
          <a:xfrm>
            <a:off x="4855845" y="32956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U.K.</a:t>
            </a:r>
          </a:p>
        </p:txBody>
      </p:sp>
      <p:sp>
        <p:nvSpPr>
          <p:cNvPr id="59" name="BPS Value 11"/>
          <p:cNvSpPr txBox="1"/>
          <p:nvPr/>
        </p:nvSpPr>
        <p:spPr>
          <a:xfrm>
            <a:off x="6305550" y="3295650"/>
            <a:ext cx="514350" cy="171450"/>
          </a:xfrm>
          <a:prstGeom prst="rect">
            <a:avLst/>
          </a:prstGeom>
          <a:noFill/>
        </p:spPr>
        <p:txBody>
          <a:bodyPr wrap="none" lIns="0" rIns="0" tIns="0" bIns="0" anchor="ctr">
            <a:spAutoFit/>
          </a:bodyPr>
          <a:lstStyle/>
          <a:p>
            <a:pPr algn="r"/>
            <a:r>
              <a:rPr sz="900" b="1">
                <a:solidFill>
                  <a:srgbClr val="E44D3A"/>
                </a:solidFill>
                <a:latin typeface="Calibri"/>
              </a:rPr>
              <a:t>-58</a:t>
            </a:r>
          </a:p>
        </p:txBody>
      </p:sp>
      <p:sp>
        <p:nvSpPr>
          <p:cNvPr id="60" name="FMI Legend Chip"/>
          <p:cNvSpPr/>
          <p:nvPr/>
        </p:nvSpPr>
        <p:spPr>
          <a:xfrm>
            <a:off x="4551045" y="350996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Isosceles Triangle 60"/>
          <p:cNvSpPr/>
          <p:nvPr/>
        </p:nvSpPr>
        <p:spPr>
          <a:xfrm rot="10800000">
            <a:off x="4717732" y="350996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BPS Name 12"/>
          <p:cNvSpPr txBox="1"/>
          <p:nvPr/>
        </p:nvSpPr>
        <p:spPr>
          <a:xfrm>
            <a:off x="4855845" y="34671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Germany</a:t>
            </a:r>
          </a:p>
        </p:txBody>
      </p:sp>
      <p:sp>
        <p:nvSpPr>
          <p:cNvPr id="63" name="BPS Value 12"/>
          <p:cNvSpPr txBox="1"/>
          <p:nvPr/>
        </p:nvSpPr>
        <p:spPr>
          <a:xfrm>
            <a:off x="6305550" y="3467100"/>
            <a:ext cx="514350" cy="171450"/>
          </a:xfrm>
          <a:prstGeom prst="rect">
            <a:avLst/>
          </a:prstGeom>
          <a:noFill/>
        </p:spPr>
        <p:txBody>
          <a:bodyPr wrap="none" lIns="0" rIns="0" tIns="0" bIns="0" anchor="ctr">
            <a:spAutoFit/>
          </a:bodyPr>
          <a:lstStyle/>
          <a:p>
            <a:pPr algn="r"/>
            <a:r>
              <a:rPr sz="900" b="1">
                <a:solidFill>
                  <a:srgbClr val="E44D3A"/>
                </a:solidFill>
                <a:latin typeface="Calibri"/>
              </a:rPr>
              <a:t>-139</a:t>
            </a:r>
          </a:p>
        </p:txBody>
      </p:sp>
      <p:sp>
        <p:nvSpPr>
          <p:cNvPr id="64" name="Rounded Rectangle 6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66" name="Rectangle 6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U.K. hair styling products market is projected to register 1.0X higher volume than Germany in 2036. Among hair styling products by country, Poland is expected to witness the highest CAGR of 6.2% over the forecast period.</a:t>
            </a:r>
          </a:p>
          <a:p>
            <a:pPr algn="l">
              <a:lnSpc>
                <a:spcPct val="110000"/>
              </a:lnSpc>
              <a:spcBef>
                <a:spcPts val="0"/>
              </a:spcBef>
              <a:spcAft>
                <a:spcPts val="500"/>
              </a:spcAft>
            </a:pPr>
            <a:r>
              <a:rPr sz="1150" b="0">
                <a:solidFill>
                  <a:srgbClr val="2E2E2E"/>
                </a:solidFill>
                <a:latin typeface="Calibri"/>
              </a:rPr>
              <a:t>In terms of volume share by country, U.K. is expected to dominate the market, losing 52 BPS and accounting for 16.9% share by 2036. Germany is expected to lose 149 BPS over the forecast period to account for 16.4% share by 2036.</a:t>
            </a:r>
          </a:p>
        </p:txBody>
      </p:sp>
      <p:sp>
        <p:nvSpPr>
          <p:cNvPr id="68" name="Rounded Rectangle 6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(MN UNITS)</a:t>
            </a:r>
          </a:p>
          <a:p>
            <a:pPr algn="ctr">
              <a:lnSpc>
                <a:spcPct val="95000"/>
              </a:lnSpc>
            </a:pPr>
            <a:r>
              <a:rPr sz="2000" b="1">
                <a:solidFill>
                  <a:srgbClr val="0E72AE"/>
                </a:solidFill>
                <a:latin typeface="Calibri"/>
              </a:rPr>
              <a:t>1,355</a:t>
            </a:r>
          </a:p>
        </p:txBody>
      </p:sp>
      <p:sp>
        <p:nvSpPr>
          <p:cNvPr id="69" name="Rounded Rectangle 6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(MN UNITS)</a:t>
            </a:r>
          </a:p>
          <a:p>
            <a:pPr algn="ctr">
              <a:lnSpc>
                <a:spcPct val="95000"/>
              </a:lnSpc>
            </a:pPr>
            <a:r>
              <a:rPr sz="2000" b="1">
                <a:solidFill>
                  <a:srgbClr val="0E72AE"/>
                </a:solidFill>
                <a:latin typeface="Calibri"/>
              </a:rPr>
              <a:t>2,133</a:t>
            </a:r>
          </a:p>
        </p:txBody>
      </p:sp>
      <p:sp>
        <p:nvSpPr>
          <p:cNvPr id="70" name="Rounded Rectangle 6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4.6%</a:t>
            </a:r>
          </a:p>
        </p:txBody>
      </p:sp>
      <p:sp>
        <p:nvSpPr>
          <p:cNvPr id="71" name="TextBox 7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2401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7732" y="162401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811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Rest of Europe</a:t>
            </a:r>
          </a:p>
        </p:txBody>
      </p:sp>
      <p:sp>
        <p:nvSpPr>
          <p:cNvPr id="19" name="BPS Value 1"/>
          <p:cNvSpPr txBox="1"/>
          <p:nvPr/>
        </p:nvSpPr>
        <p:spPr>
          <a:xfrm>
            <a:off x="6305550" y="1581150"/>
            <a:ext cx="514350" cy="171450"/>
          </a:xfrm>
          <a:prstGeom prst="rect">
            <a:avLst/>
          </a:prstGeom>
          <a:noFill/>
        </p:spPr>
        <p:txBody>
          <a:bodyPr wrap="none" lIns="0" rIns="0" tIns="0" bIns="0" anchor="ctr">
            <a:spAutoFit/>
          </a:bodyPr>
          <a:lstStyle/>
          <a:p>
            <a:pPr algn="r"/>
            <a:r>
              <a:rPr sz="900" b="1">
                <a:solidFill>
                  <a:srgbClr val="2E7D32"/>
                </a:solidFill>
                <a:latin typeface="Calibri"/>
              </a:rPr>
              <a:t>+71</a:t>
            </a:r>
          </a:p>
        </p:txBody>
      </p:sp>
      <p:sp>
        <p:nvSpPr>
          <p:cNvPr id="20" name="FMI Legend Chip"/>
          <p:cNvSpPr/>
          <p:nvPr/>
        </p:nvSpPr>
        <p:spPr>
          <a:xfrm>
            <a:off x="4551045" y="1795462"/>
            <a:ext cx="85725" cy="8572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7732" y="179546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7526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Netherlands</a:t>
            </a:r>
          </a:p>
        </p:txBody>
      </p:sp>
      <p:sp>
        <p:nvSpPr>
          <p:cNvPr id="23" name="BPS Value 2"/>
          <p:cNvSpPr txBox="1"/>
          <p:nvPr/>
        </p:nvSpPr>
        <p:spPr>
          <a:xfrm>
            <a:off x="6305550" y="1752600"/>
            <a:ext cx="514350" cy="171450"/>
          </a:xfrm>
          <a:prstGeom prst="rect">
            <a:avLst/>
          </a:prstGeom>
          <a:noFill/>
        </p:spPr>
        <p:txBody>
          <a:bodyPr wrap="none" lIns="0" rIns="0" tIns="0" bIns="0" anchor="ctr">
            <a:spAutoFit/>
          </a:bodyPr>
          <a:lstStyle/>
          <a:p>
            <a:pPr algn="r"/>
            <a:r>
              <a:rPr sz="900" b="1">
                <a:solidFill>
                  <a:srgbClr val="2E7D32"/>
                </a:solidFill>
                <a:latin typeface="Calibri"/>
              </a:rPr>
              <a:t>+55</a:t>
            </a:r>
          </a:p>
        </p:txBody>
      </p:sp>
      <p:sp>
        <p:nvSpPr>
          <p:cNvPr id="24" name="FMI Legend Chip"/>
          <p:cNvSpPr/>
          <p:nvPr/>
        </p:nvSpPr>
        <p:spPr>
          <a:xfrm>
            <a:off x="4551045" y="1966912"/>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7732" y="196691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19240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Spain</a:t>
            </a:r>
          </a:p>
        </p:txBody>
      </p:sp>
      <p:sp>
        <p:nvSpPr>
          <p:cNvPr id="27" name="BPS Value 3"/>
          <p:cNvSpPr txBox="1"/>
          <p:nvPr/>
        </p:nvSpPr>
        <p:spPr>
          <a:xfrm>
            <a:off x="6305550" y="1924050"/>
            <a:ext cx="514350" cy="171450"/>
          </a:xfrm>
          <a:prstGeom prst="rect">
            <a:avLst/>
          </a:prstGeom>
          <a:noFill/>
        </p:spPr>
        <p:txBody>
          <a:bodyPr wrap="none" lIns="0" rIns="0" tIns="0" bIns="0" anchor="ctr">
            <a:spAutoFit/>
          </a:bodyPr>
          <a:lstStyle/>
          <a:p>
            <a:pPr algn="r"/>
            <a:r>
              <a:rPr sz="900" b="1">
                <a:solidFill>
                  <a:srgbClr val="2E7D32"/>
                </a:solidFill>
                <a:latin typeface="Calibri"/>
              </a:rPr>
              <a:t>+49</a:t>
            </a:r>
          </a:p>
        </p:txBody>
      </p:sp>
      <p:sp>
        <p:nvSpPr>
          <p:cNvPr id="28" name="FMI Legend Chip"/>
          <p:cNvSpPr/>
          <p:nvPr/>
        </p:nvSpPr>
        <p:spPr>
          <a:xfrm>
            <a:off x="4551045" y="2138362"/>
            <a:ext cx="85725" cy="85725"/>
          </a:xfrm>
          <a:prstGeom prst="rect">
            <a:avLst/>
          </a:prstGeom>
          <a:solidFill>
            <a:srgbClr val="B2B2B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7732" y="213836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0955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Poland</a:t>
            </a:r>
          </a:p>
        </p:txBody>
      </p:sp>
      <p:sp>
        <p:nvSpPr>
          <p:cNvPr id="31" name="BPS Value 4"/>
          <p:cNvSpPr txBox="1"/>
          <p:nvPr/>
        </p:nvSpPr>
        <p:spPr>
          <a:xfrm>
            <a:off x="6305550" y="2095500"/>
            <a:ext cx="514350" cy="171450"/>
          </a:xfrm>
          <a:prstGeom prst="rect">
            <a:avLst/>
          </a:prstGeom>
          <a:noFill/>
        </p:spPr>
        <p:txBody>
          <a:bodyPr wrap="none" lIns="0" rIns="0" tIns="0" bIns="0" anchor="ctr">
            <a:spAutoFit/>
          </a:bodyPr>
          <a:lstStyle/>
          <a:p>
            <a:pPr algn="r"/>
            <a:r>
              <a:rPr sz="900" b="1">
                <a:solidFill>
                  <a:srgbClr val="2E7D32"/>
                </a:solidFill>
                <a:latin typeface="Calibri"/>
              </a:rPr>
              <a:t>+40</a:t>
            </a:r>
          </a:p>
        </p:txBody>
      </p:sp>
      <p:sp>
        <p:nvSpPr>
          <p:cNvPr id="32" name="FMI Legend Chip"/>
          <p:cNvSpPr/>
          <p:nvPr/>
        </p:nvSpPr>
        <p:spPr>
          <a:xfrm>
            <a:off x="4551045" y="2309812"/>
            <a:ext cx="85725" cy="85725"/>
          </a:xfrm>
          <a:prstGeom prst="rect">
            <a:avLst/>
          </a:prstGeom>
          <a:solidFill>
            <a:srgbClr val="5F5F5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7732" y="230981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22669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Belgium</a:t>
            </a:r>
          </a:p>
        </p:txBody>
      </p:sp>
      <p:sp>
        <p:nvSpPr>
          <p:cNvPr id="35" name="BPS Value 5"/>
          <p:cNvSpPr txBox="1"/>
          <p:nvPr/>
        </p:nvSpPr>
        <p:spPr>
          <a:xfrm>
            <a:off x="6305550" y="2266950"/>
            <a:ext cx="514350" cy="171450"/>
          </a:xfrm>
          <a:prstGeom prst="rect">
            <a:avLst/>
          </a:prstGeom>
          <a:noFill/>
        </p:spPr>
        <p:txBody>
          <a:bodyPr wrap="none" lIns="0" rIns="0" tIns="0" bIns="0" anchor="ctr">
            <a:spAutoFit/>
          </a:bodyPr>
          <a:lstStyle/>
          <a:p>
            <a:pPr algn="r"/>
            <a:r>
              <a:rPr sz="900" b="1">
                <a:solidFill>
                  <a:srgbClr val="2E7D32"/>
                </a:solidFill>
                <a:latin typeface="Calibri"/>
              </a:rPr>
              <a:t>+28</a:t>
            </a:r>
          </a:p>
        </p:txBody>
      </p:sp>
      <p:sp>
        <p:nvSpPr>
          <p:cNvPr id="36" name="FMI Legend Chip"/>
          <p:cNvSpPr/>
          <p:nvPr/>
        </p:nvSpPr>
        <p:spPr>
          <a:xfrm>
            <a:off x="4551045" y="248126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4717732" y="248126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24384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Italy</a:t>
            </a:r>
          </a:p>
        </p:txBody>
      </p:sp>
      <p:sp>
        <p:nvSpPr>
          <p:cNvPr id="39" name="BPS Value 6"/>
          <p:cNvSpPr txBox="1"/>
          <p:nvPr/>
        </p:nvSpPr>
        <p:spPr>
          <a:xfrm>
            <a:off x="6305550" y="2438400"/>
            <a:ext cx="514350" cy="171450"/>
          </a:xfrm>
          <a:prstGeom prst="rect">
            <a:avLst/>
          </a:prstGeom>
          <a:noFill/>
        </p:spPr>
        <p:txBody>
          <a:bodyPr wrap="none" lIns="0" rIns="0" tIns="0" bIns="0" anchor="ctr">
            <a:spAutoFit/>
          </a:bodyPr>
          <a:lstStyle/>
          <a:p>
            <a:pPr algn="r"/>
            <a:r>
              <a:rPr sz="900" b="1">
                <a:solidFill>
                  <a:srgbClr val="2E7D32"/>
                </a:solidFill>
                <a:latin typeface="Calibri"/>
              </a:rPr>
              <a:t>+16</a:t>
            </a:r>
          </a:p>
        </p:txBody>
      </p:sp>
      <p:sp>
        <p:nvSpPr>
          <p:cNvPr id="40" name="FMI Legend Chip"/>
          <p:cNvSpPr/>
          <p:nvPr/>
        </p:nvSpPr>
        <p:spPr>
          <a:xfrm>
            <a:off x="4551045" y="265271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4717732" y="265271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4855845" y="26098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Nordic</a:t>
            </a:r>
          </a:p>
        </p:txBody>
      </p:sp>
      <p:sp>
        <p:nvSpPr>
          <p:cNvPr id="43" name="BPS Value 7"/>
          <p:cNvSpPr txBox="1"/>
          <p:nvPr/>
        </p:nvSpPr>
        <p:spPr>
          <a:xfrm>
            <a:off x="6305550" y="2609850"/>
            <a:ext cx="514350" cy="171450"/>
          </a:xfrm>
          <a:prstGeom prst="rect">
            <a:avLst/>
          </a:prstGeom>
          <a:noFill/>
        </p:spPr>
        <p:txBody>
          <a:bodyPr wrap="none" lIns="0" rIns="0" tIns="0" bIns="0" anchor="ctr">
            <a:spAutoFit/>
          </a:bodyPr>
          <a:lstStyle/>
          <a:p>
            <a:pPr algn="r"/>
            <a:r>
              <a:rPr sz="900" b="1">
                <a:solidFill>
                  <a:srgbClr val="2E7D32"/>
                </a:solidFill>
                <a:latin typeface="Calibri"/>
              </a:rPr>
              <a:t>+3</a:t>
            </a:r>
          </a:p>
        </p:txBody>
      </p:sp>
      <p:sp>
        <p:nvSpPr>
          <p:cNvPr id="44" name="FMI Legend Chip"/>
          <p:cNvSpPr/>
          <p:nvPr/>
        </p:nvSpPr>
        <p:spPr>
          <a:xfrm>
            <a:off x="4551045" y="282416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a:off x="4717732" y="282416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4855845" y="27813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France</a:t>
            </a:r>
          </a:p>
        </p:txBody>
      </p:sp>
      <p:sp>
        <p:nvSpPr>
          <p:cNvPr id="47" name="BPS Value 8"/>
          <p:cNvSpPr txBox="1"/>
          <p:nvPr/>
        </p:nvSpPr>
        <p:spPr>
          <a:xfrm>
            <a:off x="6305550" y="2781300"/>
            <a:ext cx="514350" cy="171450"/>
          </a:xfrm>
          <a:prstGeom prst="rect">
            <a:avLst/>
          </a:prstGeom>
          <a:noFill/>
        </p:spPr>
        <p:txBody>
          <a:bodyPr wrap="none" lIns="0" rIns="0" tIns="0" bIns="0" anchor="ctr">
            <a:spAutoFit/>
          </a:bodyPr>
          <a:lstStyle/>
          <a:p>
            <a:pPr algn="r"/>
            <a:r>
              <a:rPr sz="900" b="1">
                <a:solidFill>
                  <a:srgbClr val="2E7D32"/>
                </a:solidFill>
                <a:latin typeface="Calibri"/>
              </a:rPr>
              <a:t>+1</a:t>
            </a:r>
          </a:p>
        </p:txBody>
      </p:sp>
      <p:sp>
        <p:nvSpPr>
          <p:cNvPr id="48" name="FMI Legend Chip"/>
          <p:cNvSpPr/>
          <p:nvPr/>
        </p:nvSpPr>
        <p:spPr>
          <a:xfrm>
            <a:off x="4551045" y="2995612"/>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Isosceles Triangle 48"/>
          <p:cNvSpPr/>
          <p:nvPr/>
        </p:nvSpPr>
        <p:spPr>
          <a:xfrm>
            <a:off x="4717732" y="299561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BPS Name 9"/>
          <p:cNvSpPr txBox="1"/>
          <p:nvPr/>
        </p:nvSpPr>
        <p:spPr>
          <a:xfrm>
            <a:off x="4855845" y="29527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Russia</a:t>
            </a:r>
          </a:p>
        </p:txBody>
      </p:sp>
      <p:sp>
        <p:nvSpPr>
          <p:cNvPr id="51" name="BPS Value 9"/>
          <p:cNvSpPr txBox="1"/>
          <p:nvPr/>
        </p:nvSpPr>
        <p:spPr>
          <a:xfrm>
            <a:off x="6305550" y="2952750"/>
            <a:ext cx="514350" cy="171450"/>
          </a:xfrm>
          <a:prstGeom prst="rect">
            <a:avLst/>
          </a:prstGeom>
          <a:noFill/>
        </p:spPr>
        <p:txBody>
          <a:bodyPr wrap="none" lIns="0" rIns="0" tIns="0" bIns="0" anchor="ctr">
            <a:spAutoFit/>
          </a:bodyPr>
          <a:lstStyle/>
          <a:p>
            <a:pPr algn="r"/>
            <a:r>
              <a:rPr sz="900" b="1">
                <a:solidFill>
                  <a:srgbClr val="2E7D32"/>
                </a:solidFill>
                <a:latin typeface="Calibri"/>
              </a:rPr>
              <a:t>+0</a:t>
            </a:r>
          </a:p>
        </p:txBody>
      </p:sp>
      <p:sp>
        <p:nvSpPr>
          <p:cNvPr id="52" name="FMI Legend Chip"/>
          <p:cNvSpPr/>
          <p:nvPr/>
        </p:nvSpPr>
        <p:spPr>
          <a:xfrm>
            <a:off x="4551045" y="3167062"/>
            <a:ext cx="85725" cy="85725"/>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Isosceles Triangle 52"/>
          <p:cNvSpPr/>
          <p:nvPr/>
        </p:nvSpPr>
        <p:spPr>
          <a:xfrm rot="10800000">
            <a:off x="4717732" y="316706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BPS Name 10"/>
          <p:cNvSpPr txBox="1"/>
          <p:nvPr/>
        </p:nvSpPr>
        <p:spPr>
          <a:xfrm>
            <a:off x="4855845" y="31242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Switzerland</a:t>
            </a:r>
          </a:p>
        </p:txBody>
      </p:sp>
      <p:sp>
        <p:nvSpPr>
          <p:cNvPr id="55" name="BPS Value 10"/>
          <p:cNvSpPr txBox="1"/>
          <p:nvPr/>
        </p:nvSpPr>
        <p:spPr>
          <a:xfrm>
            <a:off x="6305550" y="3124200"/>
            <a:ext cx="514350" cy="171450"/>
          </a:xfrm>
          <a:prstGeom prst="rect">
            <a:avLst/>
          </a:prstGeom>
          <a:noFill/>
        </p:spPr>
        <p:txBody>
          <a:bodyPr wrap="none" lIns="0" rIns="0" tIns="0" bIns="0" anchor="ctr">
            <a:spAutoFit/>
          </a:bodyPr>
          <a:lstStyle/>
          <a:p>
            <a:pPr algn="r"/>
            <a:r>
              <a:rPr sz="900" b="1">
                <a:solidFill>
                  <a:srgbClr val="E44D3A"/>
                </a:solidFill>
                <a:latin typeface="Calibri"/>
              </a:rPr>
              <a:t>-32</a:t>
            </a:r>
          </a:p>
        </p:txBody>
      </p:sp>
      <p:sp>
        <p:nvSpPr>
          <p:cNvPr id="56" name="FMI Legend Chip"/>
          <p:cNvSpPr/>
          <p:nvPr/>
        </p:nvSpPr>
        <p:spPr>
          <a:xfrm>
            <a:off x="4551045" y="333851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Isosceles Triangle 56"/>
          <p:cNvSpPr/>
          <p:nvPr/>
        </p:nvSpPr>
        <p:spPr>
          <a:xfrm rot="10800000">
            <a:off x="4717732" y="333851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BPS Name 11"/>
          <p:cNvSpPr txBox="1"/>
          <p:nvPr/>
        </p:nvSpPr>
        <p:spPr>
          <a:xfrm>
            <a:off x="4855845" y="32956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U.K.</a:t>
            </a:r>
          </a:p>
        </p:txBody>
      </p:sp>
      <p:sp>
        <p:nvSpPr>
          <p:cNvPr id="59" name="BPS Value 11"/>
          <p:cNvSpPr txBox="1"/>
          <p:nvPr/>
        </p:nvSpPr>
        <p:spPr>
          <a:xfrm>
            <a:off x="6305550" y="3295650"/>
            <a:ext cx="514350" cy="171450"/>
          </a:xfrm>
          <a:prstGeom prst="rect">
            <a:avLst/>
          </a:prstGeom>
          <a:noFill/>
        </p:spPr>
        <p:txBody>
          <a:bodyPr wrap="none" lIns="0" rIns="0" tIns="0" bIns="0" anchor="ctr">
            <a:spAutoFit/>
          </a:bodyPr>
          <a:lstStyle/>
          <a:p>
            <a:pPr algn="r"/>
            <a:r>
              <a:rPr sz="900" b="1">
                <a:solidFill>
                  <a:srgbClr val="E44D3A"/>
                </a:solidFill>
                <a:latin typeface="Calibri"/>
              </a:rPr>
              <a:t>-74</a:t>
            </a:r>
          </a:p>
        </p:txBody>
      </p:sp>
      <p:sp>
        <p:nvSpPr>
          <p:cNvPr id="60" name="FMI Legend Chip"/>
          <p:cNvSpPr/>
          <p:nvPr/>
        </p:nvSpPr>
        <p:spPr>
          <a:xfrm>
            <a:off x="4551045" y="350996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Isosceles Triangle 60"/>
          <p:cNvSpPr/>
          <p:nvPr/>
        </p:nvSpPr>
        <p:spPr>
          <a:xfrm rot="10800000">
            <a:off x="4717732" y="350996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BPS Name 12"/>
          <p:cNvSpPr txBox="1"/>
          <p:nvPr/>
        </p:nvSpPr>
        <p:spPr>
          <a:xfrm>
            <a:off x="4855845" y="34671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Germany</a:t>
            </a:r>
          </a:p>
        </p:txBody>
      </p:sp>
      <p:sp>
        <p:nvSpPr>
          <p:cNvPr id="63" name="BPS Value 12"/>
          <p:cNvSpPr txBox="1"/>
          <p:nvPr/>
        </p:nvSpPr>
        <p:spPr>
          <a:xfrm>
            <a:off x="6305550" y="3467100"/>
            <a:ext cx="514350" cy="171450"/>
          </a:xfrm>
          <a:prstGeom prst="rect">
            <a:avLst/>
          </a:prstGeom>
          <a:noFill/>
        </p:spPr>
        <p:txBody>
          <a:bodyPr wrap="none" lIns="0" rIns="0" tIns="0" bIns="0" anchor="ctr">
            <a:spAutoFit/>
          </a:bodyPr>
          <a:lstStyle/>
          <a:p>
            <a:pPr algn="r"/>
            <a:r>
              <a:rPr sz="900" b="1">
                <a:solidFill>
                  <a:srgbClr val="E44D3A"/>
                </a:solidFill>
                <a:latin typeface="Calibri"/>
              </a:rPr>
              <a:t>-156</a:t>
            </a:r>
          </a:p>
        </p:txBody>
      </p:sp>
      <p:sp>
        <p:nvSpPr>
          <p:cNvPr id="64" name="Rounded Rectangle 6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66" name="Rectangle 6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U.K. hair styling products market is projected to register 1.1X higher value than France in 2036. Among hair styling products by country, Netherlands is expected to witness the highest CAGR of 7.8% over the forecast period.</a:t>
            </a:r>
          </a:p>
          <a:p>
            <a:pPr algn="l">
              <a:lnSpc>
                <a:spcPct val="110000"/>
              </a:lnSpc>
              <a:spcBef>
                <a:spcPts val="0"/>
              </a:spcBef>
              <a:spcAft>
                <a:spcPts val="500"/>
              </a:spcAft>
            </a:pPr>
            <a:r>
              <a:rPr sz="1150" b="0">
                <a:solidFill>
                  <a:srgbClr val="2E2E2E"/>
                </a:solidFill>
                <a:latin typeface="Calibri"/>
              </a:rPr>
              <a:t>In terms of value share by country, U.K. is expected to dominate the market, losing 71 BPS and accounting for 18.3% share by 2036. Germany is expected to lose 167 BPS over the forecast period to account for 15.6% share by 2036.</a:t>
            </a:r>
          </a:p>
        </p:txBody>
      </p:sp>
      <p:sp>
        <p:nvSpPr>
          <p:cNvPr id="68" name="Rounded Rectangle 6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2,811</a:t>
            </a:r>
          </a:p>
        </p:txBody>
      </p:sp>
      <p:sp>
        <p:nvSpPr>
          <p:cNvPr id="69" name="Rounded Rectangle 6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5,157</a:t>
            </a:r>
          </a:p>
        </p:txBody>
      </p:sp>
      <p:sp>
        <p:nvSpPr>
          <p:cNvPr id="70" name="Rounded Rectangle 6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6.3%</a:t>
            </a:r>
          </a:p>
        </p:txBody>
      </p:sp>
      <p:sp>
        <p:nvSpPr>
          <p:cNvPr id="71" name="TextBox 7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Share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Market Size, By Country (Mn Units)</a:t>
            </a:r>
          </a:p>
        </p:txBody>
      </p:sp>
      <p:graphicFrame>
        <p:nvGraphicFramePr>
          <p:cNvPr id="13" name="Table 12"/>
          <p:cNvGraphicFramePr>
            <a:graphicFrameLocks noGrp="1"/>
          </p:cNvGraphicFramePr>
          <p:nvPr/>
        </p:nvGraphicFramePr>
        <p:xfrm>
          <a:off x="152400" y="1238250"/>
          <a:ext cx="11887203" cy="3019430"/>
        </p:xfrm>
        <a:graphic>
          <a:graphicData uri="http://schemas.openxmlformats.org/drawingml/2006/table">
            <a:tbl>
              <a:tblPr>
                <a:tableStyleId>{5C22544A-7EE6-4342-B048-85BDC9FD1C3A}</a:tableStyleId>
              </a:tblPr>
              <a:tblGrid>
                <a:gridCol w="1129144"/>
                <a:gridCol w="632827"/>
                <a:gridCol w="632827"/>
                <a:gridCol w="632827"/>
                <a:gridCol w="632827"/>
                <a:gridCol w="632827"/>
                <a:gridCol w="632827"/>
                <a:gridCol w="632827"/>
                <a:gridCol w="632827"/>
                <a:gridCol w="632827"/>
                <a:gridCol w="632827"/>
                <a:gridCol w="632827"/>
                <a:gridCol w="632827"/>
                <a:gridCol w="632827"/>
                <a:gridCol w="632827"/>
                <a:gridCol w="632827"/>
                <a:gridCol w="632827"/>
                <a:gridCol w="632827"/>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Spain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Belgium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Netherlands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Nordic</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Switzerland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Russia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Poland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Rest of 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8630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Volume Share Read-out, By Country</a:t>
            </a:r>
          </a:p>
        </p:txBody>
      </p:sp>
      <p:sp>
        <p:nvSpPr>
          <p:cNvPr id="17" name="Rectangle 16"/>
          <p:cNvSpPr/>
          <p:nvPr/>
        </p:nvSpPr>
        <p:spPr>
          <a:xfrm>
            <a:off x="276225" y="4924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10150"/>
            <a:ext cx="116395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U.K. hair styling products market is projected to register 1.0X higher volume than Germany in 2036. Among hair styling products by country, Poland is expected to witness the highest CAGR of 6.2% over the forecast period.</a:t>
            </a:r>
          </a:p>
          <a:p>
            <a:pPr algn="l">
              <a:lnSpc>
                <a:spcPct val="110000"/>
              </a:lnSpc>
              <a:spcBef>
                <a:spcPts val="0"/>
              </a:spcBef>
              <a:spcAft>
                <a:spcPts val="500"/>
              </a:spcAft>
            </a:pPr>
            <a:r>
              <a:rPr sz="1150" b="0">
                <a:solidFill>
                  <a:srgbClr val="2E2E2E"/>
                </a:solidFill>
                <a:latin typeface="Calibri"/>
              </a:rPr>
              <a:t>In terms of volume share by country, U.K. is expected to dominate the market, losing 52 BPS and accounting for 16.9% share by 2036. Germany is expected to lose 149 BPS over the forecast period to account for 16.4%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Market Size, By Country (US$ Mn)</a:t>
            </a:r>
          </a:p>
        </p:txBody>
      </p:sp>
      <p:graphicFrame>
        <p:nvGraphicFramePr>
          <p:cNvPr id="13" name="Table 12"/>
          <p:cNvGraphicFramePr>
            <a:graphicFrameLocks noGrp="1"/>
          </p:cNvGraphicFramePr>
          <p:nvPr/>
        </p:nvGraphicFramePr>
        <p:xfrm>
          <a:off x="152400" y="1238250"/>
          <a:ext cx="11887203" cy="3019430"/>
        </p:xfrm>
        <a:graphic>
          <a:graphicData uri="http://schemas.openxmlformats.org/drawingml/2006/table">
            <a:tbl>
              <a:tblPr>
                <a:tableStyleId>{5C22544A-7EE6-4342-B048-85BDC9FD1C3A}</a:tableStyleId>
              </a:tblPr>
              <a:tblGrid>
                <a:gridCol w="1129144"/>
                <a:gridCol w="632827"/>
                <a:gridCol w="632827"/>
                <a:gridCol w="632827"/>
                <a:gridCol w="632827"/>
                <a:gridCol w="632827"/>
                <a:gridCol w="632827"/>
                <a:gridCol w="632827"/>
                <a:gridCol w="632827"/>
                <a:gridCol w="632827"/>
                <a:gridCol w="632827"/>
                <a:gridCol w="632827"/>
                <a:gridCol w="632827"/>
                <a:gridCol w="632827"/>
                <a:gridCol w="632827"/>
                <a:gridCol w="632827"/>
                <a:gridCol w="632827"/>
                <a:gridCol w="632827"/>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Spain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Belgium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Netherlands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Nordic</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Switzerland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Russia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Poland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Rest of 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8630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Share Read-out, By Country</a:t>
            </a:r>
          </a:p>
        </p:txBody>
      </p:sp>
      <p:sp>
        <p:nvSpPr>
          <p:cNvPr id="17" name="Rectangle 16"/>
          <p:cNvSpPr/>
          <p:nvPr/>
        </p:nvSpPr>
        <p:spPr>
          <a:xfrm>
            <a:off x="276225" y="4924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10150"/>
            <a:ext cx="116395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U.K. hair styling products market is projected to register 1.1X higher value than France in 2036. Among hair styling products by country, Netherlands is expected to witness the highest CAGR of 7.8% over the forecast period.</a:t>
            </a:r>
          </a:p>
          <a:p>
            <a:pPr algn="l">
              <a:lnSpc>
                <a:spcPct val="110000"/>
              </a:lnSpc>
              <a:spcBef>
                <a:spcPts val="0"/>
              </a:spcBef>
              <a:spcAft>
                <a:spcPts val="500"/>
              </a:spcAft>
            </a:pPr>
            <a:r>
              <a:rPr sz="1150" b="0">
                <a:solidFill>
                  <a:srgbClr val="2E2E2E"/>
                </a:solidFill>
                <a:latin typeface="Calibri"/>
              </a:rPr>
              <a:t>In terms of value share by country, U.K. is expected to dominate the market, losing 71 BPS and accounting for 18.3% share by 2036. Germany is expected to lose 167 BPS over the forecast period to account for 15.6%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By Country (Mn Units)</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MI Dense Legend"/>
          <p:cNvSpPr txBox="1"/>
          <p:nvPr/>
        </p:nvSpPr>
        <p:spPr>
          <a:xfrm>
            <a:off x="9839325" y="1362075"/>
            <a:ext cx="2057400" cy="171450"/>
          </a:xfrm>
          <a:prstGeom prst="rect">
            <a:avLst/>
          </a:prstGeom>
          <a:noFill/>
        </p:spPr>
        <p:txBody>
          <a:bodyPr wrap="none">
            <a:spAutoFit/>
          </a:bodyPr>
          <a:lstStyle/>
          <a:p>
            <a:r>
              <a:rPr sz="850" b="1">
                <a:solidFill>
                  <a:srgbClr val="6C7A89"/>
                </a:solidFill>
                <a:latin typeface="Calibri"/>
              </a:rPr>
              <a:t>By segment</a:t>
            </a: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220"/>
              </a:spcBef>
            </a:pPr>
            <a:r>
              <a:rPr sz="750">
                <a:solidFill>
                  <a:srgbClr val="9E7E0A"/>
                </a:solidFill>
                <a:latin typeface="Calibri"/>
              </a:rPr>
              <a:t>■  </a:t>
            </a:r>
            <a:r>
              <a:rPr sz="680">
                <a:solidFill>
                  <a:srgbClr val="2E2E2E"/>
                </a:solidFill>
                <a:latin typeface="Calibri"/>
              </a:rPr>
              <a:t>   Rest of Europe</a:t>
            </a:r>
          </a:p>
          <a:p>
            <a:pPr>
              <a:spcBef>
                <a:spcPts val="220"/>
              </a:spcBef>
            </a:pPr>
            <a:r>
              <a:rPr sz="750">
                <a:solidFill>
                  <a:srgbClr val="008189"/>
                </a:solidFill>
                <a:latin typeface="Calibri"/>
              </a:rPr>
              <a:t>■  </a:t>
            </a:r>
            <a:r>
              <a:rPr sz="680">
                <a:solidFill>
                  <a:srgbClr val="2E2E2E"/>
                </a:solidFill>
                <a:latin typeface="Calibri"/>
              </a:rPr>
              <a:t>   U.K.</a:t>
            </a:r>
          </a:p>
          <a:p>
            <a:pPr>
              <a:spcBef>
                <a:spcPts val="220"/>
              </a:spcBef>
            </a:pPr>
            <a:r>
              <a:rPr sz="750">
                <a:solidFill>
                  <a:srgbClr val="3D85C6"/>
                </a:solidFill>
                <a:latin typeface="Calibri"/>
              </a:rPr>
              <a:t>■  </a:t>
            </a:r>
            <a:r>
              <a:rPr sz="680">
                <a:solidFill>
                  <a:srgbClr val="2E2E2E"/>
                </a:solidFill>
                <a:latin typeface="Calibri"/>
              </a:rPr>
              <a:t>   Germany</a:t>
            </a:r>
          </a:p>
          <a:p>
            <a:pPr>
              <a:spcBef>
                <a:spcPts val="220"/>
              </a:spcBef>
            </a:pPr>
            <a:r>
              <a:rPr sz="750">
                <a:solidFill>
                  <a:srgbClr val="40315E"/>
                </a:solidFill>
                <a:latin typeface="Calibri"/>
              </a:rPr>
              <a:t>■  </a:t>
            </a:r>
            <a:r>
              <a:rPr sz="680">
                <a:solidFill>
                  <a:srgbClr val="2E2E2E"/>
                </a:solidFill>
                <a:latin typeface="Calibri"/>
              </a:rPr>
              <a:t>   France</a:t>
            </a:r>
          </a:p>
          <a:p>
            <a:pPr>
              <a:spcBef>
                <a:spcPts val="220"/>
              </a:spcBef>
            </a:pPr>
            <a:r>
              <a:rPr sz="750">
                <a:solidFill>
                  <a:srgbClr val="A35313"/>
                </a:solidFill>
                <a:latin typeface="Calibri"/>
              </a:rPr>
              <a:t>■  </a:t>
            </a:r>
            <a:r>
              <a:rPr sz="680">
                <a:solidFill>
                  <a:srgbClr val="2E2E2E"/>
                </a:solidFill>
                <a:latin typeface="Calibri"/>
              </a:rPr>
              <a:t>   Italy</a:t>
            </a:r>
          </a:p>
          <a:p>
            <a:pPr>
              <a:spcBef>
                <a:spcPts val="220"/>
              </a:spcBef>
            </a:pPr>
            <a:r>
              <a:rPr sz="750">
                <a:solidFill>
                  <a:srgbClr val="808080"/>
                </a:solidFill>
                <a:latin typeface="Calibri"/>
              </a:rPr>
              <a:t>■  </a:t>
            </a:r>
            <a:r>
              <a:rPr sz="680">
                <a:solidFill>
                  <a:srgbClr val="2E2E2E"/>
                </a:solidFill>
                <a:latin typeface="Calibri"/>
              </a:rPr>
              <a:t>   Russia</a:t>
            </a:r>
          </a:p>
          <a:p>
            <a:pPr>
              <a:spcBef>
                <a:spcPts val="220"/>
              </a:spcBef>
            </a:pPr>
            <a:r>
              <a:rPr sz="750">
                <a:solidFill>
                  <a:srgbClr val="0E72AE"/>
                </a:solidFill>
                <a:latin typeface="Calibri"/>
              </a:rPr>
              <a:t>■  </a:t>
            </a:r>
            <a:r>
              <a:rPr sz="680">
                <a:solidFill>
                  <a:srgbClr val="2E2E2E"/>
                </a:solidFill>
                <a:latin typeface="Calibri"/>
              </a:rPr>
              <a:t>   Spain</a:t>
            </a:r>
          </a:p>
          <a:p>
            <a:pPr>
              <a:spcBef>
                <a:spcPts val="220"/>
              </a:spcBef>
            </a:pPr>
            <a:r>
              <a:rPr sz="750">
                <a:solidFill>
                  <a:srgbClr val="A86F00"/>
                </a:solidFill>
                <a:latin typeface="Calibri"/>
              </a:rPr>
              <a:t>■  </a:t>
            </a:r>
            <a:r>
              <a:rPr sz="680">
                <a:solidFill>
                  <a:srgbClr val="2E2E2E"/>
                </a:solidFill>
                <a:latin typeface="Calibri"/>
              </a:rPr>
              <a:t>   Nordic</a:t>
            </a:r>
          </a:p>
          <a:p>
            <a:pPr>
              <a:spcBef>
                <a:spcPts val="220"/>
              </a:spcBef>
            </a:pPr>
            <a:r>
              <a:rPr sz="750">
                <a:solidFill>
                  <a:srgbClr val="0B2E4A"/>
                </a:solidFill>
                <a:latin typeface="Calibri"/>
              </a:rPr>
              <a:t>■  </a:t>
            </a:r>
            <a:r>
              <a:rPr sz="680">
                <a:solidFill>
                  <a:srgbClr val="2E2E2E"/>
                </a:solidFill>
                <a:latin typeface="Calibri"/>
              </a:rPr>
              <a:t>   Poland</a:t>
            </a:r>
          </a:p>
          <a:p>
            <a:pPr>
              <a:spcBef>
                <a:spcPts val="220"/>
              </a:spcBef>
            </a:pPr>
            <a:r>
              <a:rPr sz="750">
                <a:solidFill>
                  <a:srgbClr val="6C7A89"/>
                </a:solidFill>
                <a:latin typeface="Calibri"/>
              </a:rPr>
              <a:t>■  </a:t>
            </a:r>
            <a:r>
              <a:rPr sz="680">
                <a:solidFill>
                  <a:srgbClr val="2E2E2E"/>
                </a:solidFill>
                <a:latin typeface="Calibri"/>
              </a:rPr>
              <a:t>   Netherlands</a:t>
            </a:r>
          </a:p>
          <a:p>
            <a:pPr>
              <a:spcBef>
                <a:spcPts val="220"/>
              </a:spcBef>
            </a:pPr>
            <a:r>
              <a:rPr sz="750">
                <a:solidFill>
                  <a:srgbClr val="5F5F5F"/>
                </a:solidFill>
                <a:latin typeface="Calibri"/>
              </a:rPr>
              <a:t>■  </a:t>
            </a:r>
            <a:r>
              <a:rPr sz="680">
                <a:solidFill>
                  <a:srgbClr val="2E2E2E"/>
                </a:solidFill>
                <a:latin typeface="Calibri"/>
              </a:rPr>
              <a:t>   Belgium</a:t>
            </a:r>
          </a:p>
          <a:p>
            <a:pPr>
              <a:spcBef>
                <a:spcPts val="220"/>
              </a:spcBef>
            </a:pPr>
            <a:r>
              <a:rPr sz="750">
                <a:solidFill>
                  <a:srgbClr val="B2B2B2"/>
                </a:solidFill>
                <a:latin typeface="Calibri"/>
              </a:rPr>
              <a:t>■  </a:t>
            </a:r>
            <a:r>
              <a:rPr sz="680">
                <a:solidFill>
                  <a:srgbClr val="2E2E2E"/>
                </a:solidFill>
                <a:latin typeface="Calibri"/>
              </a:rPr>
              <a:t>   Switzerland</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Country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MI Dense Legend"/>
          <p:cNvSpPr txBox="1"/>
          <p:nvPr/>
        </p:nvSpPr>
        <p:spPr>
          <a:xfrm>
            <a:off x="9839325" y="4248150"/>
            <a:ext cx="2057400" cy="171450"/>
          </a:xfrm>
          <a:prstGeom prst="rect">
            <a:avLst/>
          </a:prstGeom>
          <a:noFill/>
        </p:spPr>
        <p:txBody>
          <a:bodyPr wrap="none">
            <a:spAutoFit/>
          </a:bodyPr>
          <a:lstStyle/>
          <a:p>
            <a:r>
              <a:rPr sz="850" b="1">
                <a:solidFill>
                  <a:srgbClr val="6C7A89"/>
                </a:solidFill>
                <a:latin typeface="Calibri"/>
              </a:rPr>
              <a:t>By segment</a:t>
            </a: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220"/>
              </a:spcBef>
            </a:pPr>
            <a:r>
              <a:rPr sz="750">
                <a:solidFill>
                  <a:srgbClr val="3D85C6"/>
                </a:solidFill>
                <a:latin typeface="Calibri"/>
              </a:rPr>
              <a:t>■  </a:t>
            </a:r>
            <a:r>
              <a:rPr sz="680">
                <a:solidFill>
                  <a:srgbClr val="2E2E2E"/>
                </a:solidFill>
                <a:latin typeface="Calibri"/>
              </a:rPr>
              <a:t>   U.K.</a:t>
            </a:r>
          </a:p>
          <a:p>
            <a:pPr>
              <a:spcBef>
                <a:spcPts val="220"/>
              </a:spcBef>
            </a:pPr>
            <a:r>
              <a:rPr sz="750">
                <a:solidFill>
                  <a:srgbClr val="008189"/>
                </a:solidFill>
                <a:latin typeface="Calibri"/>
              </a:rPr>
              <a:t>■  </a:t>
            </a:r>
            <a:r>
              <a:rPr sz="680">
                <a:solidFill>
                  <a:srgbClr val="2E2E2E"/>
                </a:solidFill>
                <a:latin typeface="Calibri"/>
              </a:rPr>
              <a:t>   France</a:t>
            </a:r>
          </a:p>
          <a:p>
            <a:pPr>
              <a:spcBef>
                <a:spcPts val="220"/>
              </a:spcBef>
            </a:pPr>
            <a:r>
              <a:rPr sz="750">
                <a:solidFill>
                  <a:srgbClr val="40315E"/>
                </a:solidFill>
                <a:latin typeface="Calibri"/>
              </a:rPr>
              <a:t>■  </a:t>
            </a:r>
            <a:r>
              <a:rPr sz="680">
                <a:solidFill>
                  <a:srgbClr val="2E2E2E"/>
                </a:solidFill>
                <a:latin typeface="Calibri"/>
              </a:rPr>
              <a:t>   Rest of Europe</a:t>
            </a:r>
          </a:p>
          <a:p>
            <a:pPr>
              <a:spcBef>
                <a:spcPts val="220"/>
              </a:spcBef>
            </a:pPr>
            <a:r>
              <a:rPr sz="750">
                <a:solidFill>
                  <a:srgbClr val="9E7E0A"/>
                </a:solidFill>
                <a:latin typeface="Calibri"/>
              </a:rPr>
              <a:t>■  </a:t>
            </a:r>
            <a:r>
              <a:rPr sz="680">
                <a:solidFill>
                  <a:srgbClr val="2E2E2E"/>
                </a:solidFill>
                <a:latin typeface="Calibri"/>
              </a:rPr>
              <a:t>   Germany</a:t>
            </a:r>
          </a:p>
          <a:p>
            <a:pPr>
              <a:spcBef>
                <a:spcPts val="220"/>
              </a:spcBef>
            </a:pPr>
            <a:r>
              <a:rPr sz="750">
                <a:solidFill>
                  <a:srgbClr val="A35313"/>
                </a:solidFill>
                <a:latin typeface="Calibri"/>
              </a:rPr>
              <a:t>■  </a:t>
            </a:r>
            <a:r>
              <a:rPr sz="680">
                <a:solidFill>
                  <a:srgbClr val="2E2E2E"/>
                </a:solidFill>
                <a:latin typeface="Calibri"/>
              </a:rPr>
              <a:t>   Italy</a:t>
            </a:r>
          </a:p>
          <a:p>
            <a:pPr>
              <a:spcBef>
                <a:spcPts val="220"/>
              </a:spcBef>
            </a:pPr>
            <a:r>
              <a:rPr sz="750">
                <a:solidFill>
                  <a:srgbClr val="808080"/>
                </a:solidFill>
                <a:latin typeface="Calibri"/>
              </a:rPr>
              <a:t>■  </a:t>
            </a:r>
            <a:r>
              <a:rPr sz="680">
                <a:solidFill>
                  <a:srgbClr val="2E2E2E"/>
                </a:solidFill>
                <a:latin typeface="Calibri"/>
              </a:rPr>
              <a:t>   Nordic</a:t>
            </a:r>
          </a:p>
          <a:p>
            <a:pPr>
              <a:spcBef>
                <a:spcPts val="220"/>
              </a:spcBef>
            </a:pPr>
            <a:r>
              <a:rPr sz="750">
                <a:solidFill>
                  <a:srgbClr val="0E72AE"/>
                </a:solidFill>
                <a:latin typeface="Calibri"/>
              </a:rPr>
              <a:t>■  </a:t>
            </a:r>
            <a:r>
              <a:rPr sz="680">
                <a:solidFill>
                  <a:srgbClr val="2E2E2E"/>
                </a:solidFill>
                <a:latin typeface="Calibri"/>
              </a:rPr>
              <a:t>   Spain</a:t>
            </a:r>
          </a:p>
          <a:p>
            <a:pPr>
              <a:spcBef>
                <a:spcPts val="220"/>
              </a:spcBef>
            </a:pPr>
            <a:r>
              <a:rPr sz="750">
                <a:solidFill>
                  <a:srgbClr val="A86F00"/>
                </a:solidFill>
                <a:latin typeface="Calibri"/>
              </a:rPr>
              <a:t>■  </a:t>
            </a:r>
            <a:r>
              <a:rPr sz="680">
                <a:solidFill>
                  <a:srgbClr val="2E2E2E"/>
                </a:solidFill>
                <a:latin typeface="Calibri"/>
              </a:rPr>
              <a:t>   Russia</a:t>
            </a:r>
          </a:p>
          <a:p>
            <a:pPr>
              <a:spcBef>
                <a:spcPts val="220"/>
              </a:spcBef>
            </a:pPr>
            <a:r>
              <a:rPr sz="750">
                <a:solidFill>
                  <a:srgbClr val="6C7A89"/>
                </a:solidFill>
                <a:latin typeface="Calibri"/>
              </a:rPr>
              <a:t>■  </a:t>
            </a:r>
            <a:r>
              <a:rPr sz="680">
                <a:solidFill>
                  <a:srgbClr val="2E2E2E"/>
                </a:solidFill>
                <a:latin typeface="Calibri"/>
              </a:rPr>
              <a:t>   Netherlands</a:t>
            </a:r>
          </a:p>
          <a:p>
            <a:pPr>
              <a:spcBef>
                <a:spcPts val="220"/>
              </a:spcBef>
            </a:pPr>
            <a:r>
              <a:rPr sz="750">
                <a:solidFill>
                  <a:srgbClr val="0B2E4A"/>
                </a:solidFill>
                <a:latin typeface="Calibri"/>
              </a:rPr>
              <a:t>■  </a:t>
            </a:r>
            <a:r>
              <a:rPr sz="680">
                <a:solidFill>
                  <a:srgbClr val="2E2E2E"/>
                </a:solidFill>
                <a:latin typeface="Calibri"/>
              </a:rPr>
              <a:t>   Switzerland</a:t>
            </a:r>
          </a:p>
          <a:p>
            <a:pPr>
              <a:spcBef>
                <a:spcPts val="220"/>
              </a:spcBef>
            </a:pPr>
            <a:r>
              <a:rPr sz="750">
                <a:solidFill>
                  <a:srgbClr val="B2B2B2"/>
                </a:solidFill>
                <a:latin typeface="Calibri"/>
              </a:rPr>
              <a:t>■  </a:t>
            </a:r>
            <a:r>
              <a:rPr sz="680">
                <a:solidFill>
                  <a:srgbClr val="2E2E2E"/>
                </a:solidFill>
                <a:latin typeface="Calibri"/>
              </a:rPr>
              <a:t>   Poland</a:t>
            </a:r>
          </a:p>
          <a:p>
            <a:pPr>
              <a:spcBef>
                <a:spcPts val="220"/>
              </a:spcBef>
            </a:pPr>
            <a:r>
              <a:rPr sz="750">
                <a:solidFill>
                  <a:srgbClr val="5F5F5F"/>
                </a:solidFill>
                <a:latin typeface="Calibri"/>
              </a:rPr>
              <a:t>■  </a:t>
            </a:r>
            <a:r>
              <a:rPr sz="680">
                <a:solidFill>
                  <a:srgbClr val="2E2E2E"/>
                </a:solidFill>
                <a:latin typeface="Calibri"/>
              </a:rPr>
              <a:t>   Belgium</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Top 10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Europe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market by country  ·  2036 (US$ Mn)  ·  tile size = market value</a:t>
            </a:r>
          </a:p>
        </p:txBody>
      </p:sp>
      <p:sp>
        <p:nvSpPr>
          <p:cNvPr id="13" name="Rectangle 12"/>
          <p:cNvSpPr/>
          <p:nvPr/>
        </p:nvSpPr>
        <p:spPr>
          <a:xfrm>
            <a:off x="238125" y="1266825"/>
            <a:ext cx="4151389" cy="2823893"/>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814</a:t>
            </a:r>
          </a:p>
        </p:txBody>
      </p:sp>
      <p:sp>
        <p:nvSpPr>
          <p:cNvPr id="14" name="Rectangle 13"/>
          <p:cNvSpPr/>
          <p:nvPr/>
        </p:nvSpPr>
        <p:spPr>
          <a:xfrm>
            <a:off x="238125" y="4090718"/>
            <a:ext cx="4151389" cy="2481532"/>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715</a:t>
            </a:r>
          </a:p>
        </p:txBody>
      </p:sp>
      <p:sp>
        <p:nvSpPr>
          <p:cNvPr id="15" name="Rectangle 14"/>
          <p:cNvSpPr/>
          <p:nvPr/>
        </p:nvSpPr>
        <p:spPr>
          <a:xfrm>
            <a:off x="4389514" y="1266825"/>
            <a:ext cx="3203457" cy="3115964"/>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693</a:t>
            </a:r>
          </a:p>
        </p:txBody>
      </p:sp>
      <p:sp>
        <p:nvSpPr>
          <p:cNvPr id="16" name="Rectangle 15"/>
          <p:cNvSpPr/>
          <p:nvPr/>
        </p:nvSpPr>
        <p:spPr>
          <a:xfrm>
            <a:off x="4389514" y="4382789"/>
            <a:ext cx="3203457" cy="2189461"/>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Italy</a:t>
            </a:r>
          </a:p>
          <a:p>
            <a:pPr algn="ctr"/>
            <a:r>
              <a:rPr sz="1100" b="0">
                <a:solidFill>
                  <a:srgbClr val="FFFFFF"/>
                </a:solidFill>
                <a:latin typeface="Calibri"/>
              </a:rPr>
              <a:t>487</a:t>
            </a:r>
          </a:p>
        </p:txBody>
      </p:sp>
      <p:sp>
        <p:nvSpPr>
          <p:cNvPr id="17" name="Rectangle 16"/>
          <p:cNvSpPr/>
          <p:nvPr/>
        </p:nvSpPr>
        <p:spPr>
          <a:xfrm>
            <a:off x="7592972" y="1266825"/>
            <a:ext cx="2313117" cy="2462163"/>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Nordic</a:t>
            </a:r>
          </a:p>
          <a:p>
            <a:pPr algn="ctr"/>
            <a:r>
              <a:rPr sz="1100" b="0">
                <a:solidFill>
                  <a:srgbClr val="FFFFFF"/>
                </a:solidFill>
                <a:latin typeface="Calibri"/>
              </a:rPr>
              <a:t>396</a:t>
            </a:r>
          </a:p>
        </p:txBody>
      </p:sp>
      <p:sp>
        <p:nvSpPr>
          <p:cNvPr id="18" name="Rectangle 17"/>
          <p:cNvSpPr/>
          <p:nvPr/>
        </p:nvSpPr>
        <p:spPr>
          <a:xfrm>
            <a:off x="9906089" y="1266825"/>
            <a:ext cx="2047786" cy="2462163"/>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Spain</a:t>
            </a:r>
          </a:p>
          <a:p>
            <a:pPr algn="ctr"/>
            <a:r>
              <a:rPr sz="1100" b="0">
                <a:solidFill>
                  <a:srgbClr val="FFFFFF"/>
                </a:solidFill>
                <a:latin typeface="Calibri"/>
              </a:rPr>
              <a:t>350</a:t>
            </a:r>
          </a:p>
        </p:txBody>
      </p:sp>
      <p:sp>
        <p:nvSpPr>
          <p:cNvPr id="19" name="Rectangle 18"/>
          <p:cNvSpPr/>
          <p:nvPr/>
        </p:nvSpPr>
        <p:spPr>
          <a:xfrm>
            <a:off x="7592972" y="3728988"/>
            <a:ext cx="1576183" cy="2843262"/>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Russia</a:t>
            </a:r>
          </a:p>
          <a:p>
            <a:pPr algn="ctr"/>
            <a:r>
              <a:rPr sz="1100" b="0">
                <a:solidFill>
                  <a:srgbClr val="FFFFFF"/>
                </a:solidFill>
                <a:latin typeface="Calibri"/>
              </a:rPr>
              <a:t>311</a:t>
            </a:r>
          </a:p>
        </p:txBody>
      </p:sp>
      <p:sp>
        <p:nvSpPr>
          <p:cNvPr id="20" name="Rectangle 19"/>
          <p:cNvSpPr/>
          <p:nvPr/>
        </p:nvSpPr>
        <p:spPr>
          <a:xfrm>
            <a:off x="9169154" y="3728988"/>
            <a:ext cx="1536513" cy="2007986"/>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Netherlands</a:t>
            </a:r>
          </a:p>
          <a:p>
            <a:pPr algn="ctr"/>
            <a:r>
              <a:rPr sz="1100" b="0">
                <a:solidFill>
                  <a:srgbClr val="FFFFFF"/>
                </a:solidFill>
                <a:latin typeface="Calibri"/>
              </a:rPr>
              <a:t>214</a:t>
            </a:r>
          </a:p>
        </p:txBody>
      </p:sp>
      <p:sp>
        <p:nvSpPr>
          <p:cNvPr id="21" name="Rectangle 20"/>
          <p:cNvSpPr/>
          <p:nvPr/>
        </p:nvSpPr>
        <p:spPr>
          <a:xfrm>
            <a:off x="10705668" y="3728988"/>
            <a:ext cx="1248207" cy="2007986"/>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Switzerland</a:t>
            </a:r>
          </a:p>
          <a:p>
            <a:pPr algn="ctr"/>
            <a:r>
              <a:rPr sz="1100" b="0">
                <a:solidFill>
                  <a:srgbClr val="FFFFFF"/>
                </a:solidFill>
                <a:latin typeface="Calibri"/>
              </a:rPr>
              <a:t>174</a:t>
            </a:r>
          </a:p>
        </p:txBody>
      </p:sp>
      <p:sp>
        <p:nvSpPr>
          <p:cNvPr id="22" name="Rectangle 21"/>
          <p:cNvSpPr/>
          <p:nvPr/>
        </p:nvSpPr>
        <p:spPr>
          <a:xfrm>
            <a:off x="9169154" y="5736974"/>
            <a:ext cx="2784721" cy="835276"/>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Poland</a:t>
            </a:r>
          </a:p>
          <a:p>
            <a:pPr algn="ctr"/>
            <a:r>
              <a:rPr sz="1100" b="0">
                <a:solidFill>
                  <a:srgbClr val="FFFFFF"/>
                </a:solidFill>
                <a:latin typeface="Calibri"/>
              </a:rPr>
              <a:t>162</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9653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308225"/>
            <a:ext cx="8572500" cy="514350"/>
          </a:xfrm>
          <a:prstGeom prst="rect">
            <a:avLst/>
          </a:prstGeom>
          <a:noFill/>
        </p:spPr>
        <p:txBody>
          <a:bodyPr wrap="square" lIns="0" rIns="0" tIns="0">
            <a:spAutoFit/>
          </a:bodyPr>
          <a:lstStyle/>
          <a:p>
            <a:r>
              <a:rPr sz="3000" b="1">
                <a:solidFill>
                  <a:srgbClr val="0B3C8C"/>
                </a:solidFill>
                <a:latin typeface="Calibri"/>
              </a:rPr>
              <a:t>Europe Market Analysis By Segments</a:t>
            </a:r>
          </a:p>
        </p:txBody>
      </p:sp>
      <p:sp>
        <p:nvSpPr>
          <p:cNvPr id="11" name="TextBox 10"/>
          <p:cNvSpPr txBox="1"/>
          <p:nvPr/>
        </p:nvSpPr>
        <p:spPr>
          <a:xfrm>
            <a:off x="914400" y="2994025"/>
            <a:ext cx="8458200" cy="28511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16.1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Serums and Oils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515.0</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998.1</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6.8%</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Clays, Pastes and Pomades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464.1</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833.2</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6.0%</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Sprays and Mists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406.5</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627.6</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4.4%</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Sticks and Balms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357.9</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765.1</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7.9%</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product format, sticks and balms segment is expected to witness the highest CAGR of 7.9% over the forecast period. In terms of value share by product format, the styling serums and oils segment is expected to dominate the market, gaining 104 BPS and accounting for 19.4% share by 2036.</a:t>
            </a:r>
          </a:p>
          <a:p>
            <a:pPr algn="l">
              <a:lnSpc>
                <a:spcPct val="110000"/>
              </a:lnSpc>
              <a:spcBef>
                <a:spcPts val="0"/>
              </a:spcBef>
              <a:spcAft>
                <a:spcPts val="500"/>
              </a:spcAft>
            </a:pPr>
            <a:r>
              <a:rPr sz="1100" b="0">
                <a:solidFill>
                  <a:srgbClr val="2E2E2E"/>
                </a:solidFill>
                <a:latin typeface="Calibri"/>
              </a:rPr>
              <a:t>Styling serums and oils segment is projected to register 1.2X higher value than waxes, clays, pastes and pomades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Styling Serums and Oils: </a:t>
            </a:r>
            <a:r>
              <a:rPr sz="1100" b="0">
                <a:solidFill>
                  <a:srgbClr val="2E2E2E"/>
                </a:solidFill>
                <a:latin typeface="Calibri"/>
              </a:rPr>
              <a:t>18% of 2026 value · 6.8%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Waxes, Clays, Pastes and Pomades: </a:t>
            </a:r>
            <a:r>
              <a:rPr sz="1100" b="0">
                <a:solidFill>
                  <a:srgbClr val="2E2E2E"/>
                </a:solidFill>
                <a:latin typeface="Calibri"/>
              </a:rPr>
              <a:t>17% of 2026 value · 6.0%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Sprays and Mists: </a:t>
            </a:r>
            <a:r>
              <a:rPr sz="1100" b="0">
                <a:solidFill>
                  <a:srgbClr val="2E2E2E"/>
                </a:solidFill>
                <a:latin typeface="Calibri"/>
              </a:rPr>
              <a:t>14% of 2026 value · 4.4%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Sticks and Balms: </a:t>
            </a:r>
            <a:r>
              <a:rPr sz="1100" b="0">
                <a:solidFill>
                  <a:srgbClr val="2E2E2E"/>
                </a:solidFill>
                <a:latin typeface="Calibri"/>
              </a:rPr>
              <a:t>13% of 2026 value · 7.9%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Format split shows how demand is distributed across product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Format segment is projected to grow at a CAGR of 6.3%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2414588"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2414588"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Creams and Lotions</a:t>
            </a:r>
          </a:p>
        </p:txBody>
      </p:sp>
      <p:sp>
        <p:nvSpPr>
          <p:cNvPr id="22" name="Rectangle 21"/>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319.1</a:t>
            </a:r>
          </a:p>
        </p:txBody>
      </p:sp>
      <p:sp>
        <p:nvSpPr>
          <p:cNvPr id="23" name="Rectangle 22"/>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586.1</a:t>
            </a:r>
          </a:p>
        </p:txBody>
      </p:sp>
      <p:sp>
        <p:nvSpPr>
          <p:cNvPr id="24" name="Rectangle 23"/>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6.3%</a:t>
            </a:r>
          </a:p>
        </p:txBody>
      </p:sp>
      <p:sp>
        <p:nvSpPr>
          <p:cNvPr id="25" name="Oval 24"/>
          <p:cNvSpPr/>
          <p:nvPr/>
        </p:nvSpPr>
        <p:spPr>
          <a:xfrm>
            <a:off x="291226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4395788" y="1773916"/>
            <a:ext cx="2414588"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4395788" y="1992961"/>
            <a:ext cx="2414588"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Powders</a:t>
            </a:r>
          </a:p>
        </p:txBody>
      </p:sp>
      <p:sp>
        <p:nvSpPr>
          <p:cNvPr id="29" name="Rectangle 28"/>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286.7</a:t>
            </a:r>
          </a:p>
        </p:txBody>
      </p:sp>
      <p:sp>
        <p:nvSpPr>
          <p:cNvPr id="30" name="Rectangle 29"/>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584.2</a:t>
            </a:r>
          </a:p>
        </p:txBody>
      </p:sp>
      <p:sp>
        <p:nvSpPr>
          <p:cNvPr id="31" name="Rectangle 30"/>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7.4%</a:t>
            </a:r>
          </a:p>
        </p:txBody>
      </p:sp>
      <p:sp>
        <p:nvSpPr>
          <p:cNvPr id="32" name="Oval 31"/>
          <p:cNvSpPr/>
          <p:nvPr/>
        </p:nvSpPr>
        <p:spPr>
          <a:xfrm>
            <a:off x="5441156"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6924675" y="1773916"/>
            <a:ext cx="2414588"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6924675" y="1992961"/>
            <a:ext cx="2414588"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Gels and Jellies</a:t>
            </a:r>
          </a:p>
        </p:txBody>
      </p:sp>
      <p:sp>
        <p:nvSpPr>
          <p:cNvPr id="36" name="Rectangle 35"/>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251.8</a:t>
            </a:r>
          </a:p>
        </p:txBody>
      </p:sp>
      <p:sp>
        <p:nvSpPr>
          <p:cNvPr id="37" name="Rectangle 36"/>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432.1</a:t>
            </a:r>
          </a:p>
        </p:txBody>
      </p:sp>
      <p:sp>
        <p:nvSpPr>
          <p:cNvPr id="38" name="Rectangle 37"/>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5.5%</a:t>
            </a:r>
          </a:p>
        </p:txBody>
      </p:sp>
      <p:sp>
        <p:nvSpPr>
          <p:cNvPr id="39" name="Oval 38"/>
          <p:cNvSpPr/>
          <p:nvPr/>
        </p:nvSpPr>
        <p:spPr>
          <a:xfrm>
            <a:off x="7970044"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9453562"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9453562"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Mousses and Foams</a:t>
            </a:r>
          </a:p>
        </p:txBody>
      </p:sp>
      <p:sp>
        <p:nvSpPr>
          <p:cNvPr id="43" name="Rectangle 42"/>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209.9</a:t>
            </a:r>
          </a:p>
        </p:txBody>
      </p:sp>
      <p:sp>
        <p:nvSpPr>
          <p:cNvPr id="44" name="Rectangle 43"/>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330.2</a:t>
            </a:r>
          </a:p>
        </p:txBody>
      </p:sp>
      <p:sp>
        <p:nvSpPr>
          <p:cNvPr id="45" name="Rectangle 44"/>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4.6%</a:t>
            </a:r>
          </a:p>
        </p:txBody>
      </p:sp>
      <p:sp>
        <p:nvSpPr>
          <p:cNvPr id="46" name="Oval 45"/>
          <p:cNvSpPr/>
          <p:nvPr/>
        </p:nvSpPr>
        <p:spPr>
          <a:xfrm>
            <a:off x="10498931"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47" name="Rounded Rectangle 46"/>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9" name="Rectangle 48"/>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Creams and Lotions: </a:t>
            </a:r>
            <a:r>
              <a:rPr sz="1100" b="0">
                <a:solidFill>
                  <a:srgbClr val="2E2E2E"/>
                </a:solidFill>
                <a:latin typeface="Calibri"/>
              </a:rPr>
              <a:t>11% of 2026 value · 6.3%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Styling Powders: </a:t>
            </a:r>
            <a:r>
              <a:rPr sz="1100" b="0">
                <a:solidFill>
                  <a:srgbClr val="2E2E2E"/>
                </a:solidFill>
                <a:latin typeface="Calibri"/>
              </a:rPr>
              <a:t>10% of 2026 value · 7.4%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Gels and Jellies: </a:t>
            </a:r>
            <a:r>
              <a:rPr sz="1100" b="0">
                <a:solidFill>
                  <a:srgbClr val="2E2E2E"/>
                </a:solidFill>
                <a:latin typeface="Calibri"/>
              </a:rPr>
              <a:t>9% of 2026 value · 5.5% CAGR serves a niche.</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Mousses and Foams: </a:t>
            </a:r>
            <a:r>
              <a:rPr sz="1100" b="0">
                <a:solidFill>
                  <a:srgbClr val="2E2E2E"/>
                </a:solidFill>
                <a:latin typeface="Calibri"/>
              </a:rPr>
              <a:t>7% of 2026 value · 4.6% CAGR serves a niche.</a:t>
            </a:r>
          </a:p>
        </p:txBody>
      </p:sp>
      <p:sp>
        <p:nvSpPr>
          <p:cNvPr id="51" name="TextBox 50"/>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Structure &amp; Attractiveness, By Product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Format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Styling serums and oils followed by waxes, clays, pastes and pomades are expected to be the two most attractive product format segments in the Europe hair styling products market in terms of value over the forecast period. Styling serums and oils and waxes, clays, pastes and pomades exhibit a CAGR index of 109.4 and 96.3 and a market share index of 146.6 and 132.1 respectively, against the segment average of 100. The mousses and foams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Product Format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Sprays and Mists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Mousses and Foams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Gels and Jellies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Creams and Lotions</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Product Format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Waxes, Clays, Pastes and Pomades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Styling Powders</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Styling Serums and Oils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Sticks and Balms</a:t>
            </a:r>
          </a:p>
        </p:txBody>
      </p:sp>
      <p:graphicFrame>
        <p:nvGraphicFramePr>
          <p:cNvPr id="21" name="Chart 20"/>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Product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Product Format (US$ Mn)</a:t>
            </a:r>
          </a:p>
        </p:txBody>
      </p:sp>
      <p:graphicFrame>
        <p:nvGraphicFramePr>
          <p:cNvPr id="13" name="Table 12"/>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248275"/>
            <a:ext cx="11906250" cy="1381125"/>
          </a:xfrm>
          <a:prstGeom prst="roundRect">
            <a:avLst>
              <a:gd name="adj" fmla="val 55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33400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Analysis, By Product Format</a:t>
            </a:r>
          </a:p>
        </p:txBody>
      </p:sp>
      <p:sp>
        <p:nvSpPr>
          <p:cNvPr id="17" name="Rectangle 16"/>
          <p:cNvSpPr/>
          <p:nvPr/>
        </p:nvSpPr>
        <p:spPr>
          <a:xfrm>
            <a:off x="276225" y="55721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657850"/>
            <a:ext cx="11639550" cy="8953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Styling serums and oils segment is projected to register 1.2X higher value than waxes, clays, pastes and pomades segment in 2036. Among hair styling products by product format, sticks and balms segment is expected to witness the highest CAGR of 7.9% over the forecast period.</a:t>
            </a:r>
          </a:p>
          <a:p>
            <a:pPr algn="l">
              <a:lnSpc>
                <a:spcPct val="110000"/>
              </a:lnSpc>
              <a:spcBef>
                <a:spcPts val="0"/>
              </a:spcBef>
              <a:spcAft>
                <a:spcPts val="500"/>
              </a:spcAft>
            </a:pPr>
            <a:r>
              <a:rPr sz="1100" b="0">
                <a:solidFill>
                  <a:srgbClr val="2E2E2E"/>
                </a:solidFill>
                <a:latin typeface="Calibri"/>
              </a:rPr>
              <a:t>In terms of value share by product format, the styling serums and oils segment is expected to dominate the market, gaining 104 BPS and accounting for 19.4% share by 2036. The sprays and mists segment is expected to lose 229 BPS over the forecast period to account for 12.2%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&amp; Share Shift, By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Composition, By Product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17656"/>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1289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3669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Mousses and Foams</a:t>
            </a:r>
          </a:p>
        </p:txBody>
      </p:sp>
      <p:sp>
        <p:nvSpPr>
          <p:cNvPr id="19" name="BPS Value 1"/>
          <p:cNvSpPr txBox="1"/>
          <p:nvPr/>
        </p:nvSpPr>
        <p:spPr>
          <a:xfrm>
            <a:off x="6896100" y="1798606"/>
            <a:ext cx="514350" cy="123825"/>
          </a:xfrm>
          <a:prstGeom prst="rect">
            <a:avLst/>
          </a:prstGeom>
          <a:noFill/>
        </p:spPr>
        <p:txBody>
          <a:bodyPr wrap="none" lIns="0" rIns="0" tIns="0" bIns="0" anchor="ctr">
            <a:spAutoFit/>
          </a:bodyPr>
          <a:lstStyle/>
          <a:p>
            <a:pPr algn="r"/>
            <a:r>
              <a:rPr sz="900" b="1">
                <a:solidFill>
                  <a:srgbClr val="E44D3A"/>
                </a:solidFill>
                <a:latin typeface="Calibri"/>
              </a:rPr>
              <a:t>-106</a:t>
            </a:r>
          </a:p>
        </p:txBody>
      </p:sp>
      <p:sp>
        <p:nvSpPr>
          <p:cNvPr id="20" name="FMI Legend Chip"/>
          <p:cNvSpPr/>
          <p:nvPr/>
        </p:nvSpPr>
        <p:spPr>
          <a:xfrm>
            <a:off x="4928997" y="2155628"/>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15086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7466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Gels and Jellies</a:t>
            </a:r>
          </a:p>
        </p:txBody>
      </p:sp>
      <p:sp>
        <p:nvSpPr>
          <p:cNvPr id="23" name="BPS Value 2"/>
          <p:cNvSpPr txBox="1"/>
          <p:nvPr/>
        </p:nvSpPr>
        <p:spPr>
          <a:xfrm>
            <a:off x="6896100" y="2136578"/>
            <a:ext cx="514350" cy="123825"/>
          </a:xfrm>
          <a:prstGeom prst="rect">
            <a:avLst/>
          </a:prstGeom>
          <a:noFill/>
        </p:spPr>
        <p:txBody>
          <a:bodyPr wrap="none" lIns="0" rIns="0" tIns="0" bIns="0" anchor="ctr">
            <a:spAutoFit/>
          </a:bodyPr>
          <a:lstStyle/>
          <a:p>
            <a:pPr algn="r"/>
            <a:r>
              <a:rPr sz="900" b="1">
                <a:solidFill>
                  <a:srgbClr val="E44D3A"/>
                </a:solidFill>
                <a:latin typeface="Calibri"/>
              </a:rPr>
              <a:t>-58</a:t>
            </a:r>
          </a:p>
        </p:txBody>
      </p:sp>
      <p:sp>
        <p:nvSpPr>
          <p:cNvPr id="24" name="FMI Legend Chip"/>
          <p:cNvSpPr/>
          <p:nvPr/>
        </p:nvSpPr>
        <p:spPr>
          <a:xfrm>
            <a:off x="4928997" y="2606219"/>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260145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52525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Powders</a:t>
            </a:r>
          </a:p>
        </p:txBody>
      </p:sp>
      <p:sp>
        <p:nvSpPr>
          <p:cNvPr id="27" name="BPS Value 3"/>
          <p:cNvSpPr txBox="1"/>
          <p:nvPr/>
        </p:nvSpPr>
        <p:spPr>
          <a:xfrm>
            <a:off x="6896100" y="2587169"/>
            <a:ext cx="514350" cy="123825"/>
          </a:xfrm>
          <a:prstGeom prst="rect">
            <a:avLst/>
          </a:prstGeom>
          <a:noFill/>
        </p:spPr>
        <p:txBody>
          <a:bodyPr wrap="none" lIns="0" rIns="0" tIns="0" bIns="0" anchor="ctr">
            <a:spAutoFit/>
          </a:bodyPr>
          <a:lstStyle/>
          <a:p>
            <a:pPr algn="r"/>
            <a:r>
              <a:rPr sz="900" b="1">
                <a:solidFill>
                  <a:srgbClr val="2E7D32"/>
                </a:solidFill>
                <a:latin typeface="Calibri"/>
              </a:rPr>
              <a:t>+113</a:t>
            </a:r>
          </a:p>
        </p:txBody>
      </p:sp>
      <p:sp>
        <p:nvSpPr>
          <p:cNvPr id="28" name="FMI Legend Chip"/>
          <p:cNvSpPr/>
          <p:nvPr/>
        </p:nvSpPr>
        <p:spPr>
          <a:xfrm>
            <a:off x="4928997" y="3125079"/>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312031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04411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Creams and Lotions</a:t>
            </a:r>
          </a:p>
        </p:txBody>
      </p:sp>
      <p:sp>
        <p:nvSpPr>
          <p:cNvPr id="31" name="BPS Value 4"/>
          <p:cNvSpPr txBox="1"/>
          <p:nvPr/>
        </p:nvSpPr>
        <p:spPr>
          <a:xfrm>
            <a:off x="6896100" y="3106029"/>
            <a:ext cx="514350" cy="123825"/>
          </a:xfrm>
          <a:prstGeom prst="rect">
            <a:avLst/>
          </a:prstGeom>
          <a:noFill/>
        </p:spPr>
        <p:txBody>
          <a:bodyPr wrap="none" lIns="0" rIns="0" tIns="0" bIns="0" anchor="ctr">
            <a:spAutoFit/>
          </a:bodyPr>
          <a:lstStyle/>
          <a:p>
            <a:pPr algn="r"/>
            <a:r>
              <a:rPr sz="900" b="1">
                <a:solidFill>
                  <a:srgbClr val="2E7D32"/>
                </a:solidFill>
                <a:latin typeface="Calibri"/>
              </a:rPr>
              <a:t>+1</a:t>
            </a:r>
          </a:p>
        </p:txBody>
      </p:sp>
      <p:sp>
        <p:nvSpPr>
          <p:cNvPr id="32" name="FMI Legend Chip"/>
          <p:cNvSpPr/>
          <p:nvPr/>
        </p:nvSpPr>
        <p:spPr>
          <a:xfrm>
            <a:off x="4928997" y="366316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365840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58220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Sprays and Mists</a:t>
            </a:r>
          </a:p>
        </p:txBody>
      </p:sp>
      <p:sp>
        <p:nvSpPr>
          <p:cNvPr id="35" name="BPS Value 5"/>
          <p:cNvSpPr txBox="1"/>
          <p:nvPr/>
        </p:nvSpPr>
        <p:spPr>
          <a:xfrm>
            <a:off x="6896100" y="3644115"/>
            <a:ext cx="514350" cy="123825"/>
          </a:xfrm>
          <a:prstGeom prst="rect">
            <a:avLst/>
          </a:prstGeom>
          <a:noFill/>
        </p:spPr>
        <p:txBody>
          <a:bodyPr wrap="none" lIns="0" rIns="0" tIns="0" bIns="0" anchor="ctr">
            <a:spAutoFit/>
          </a:bodyPr>
          <a:lstStyle/>
          <a:p>
            <a:pPr algn="r"/>
            <a:r>
              <a:rPr sz="900" b="1">
                <a:solidFill>
                  <a:srgbClr val="E44D3A"/>
                </a:solidFill>
                <a:latin typeface="Calibri"/>
              </a:rPr>
              <a:t>-229</a:t>
            </a:r>
          </a:p>
        </p:txBody>
      </p:sp>
      <p:sp>
        <p:nvSpPr>
          <p:cNvPr id="36" name="FMI Legend Chip"/>
          <p:cNvSpPr/>
          <p:nvPr/>
        </p:nvSpPr>
        <p:spPr>
          <a:xfrm>
            <a:off x="4928997" y="428060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427584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19964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Sticks and Balms</a:t>
            </a:r>
          </a:p>
        </p:txBody>
      </p:sp>
      <p:sp>
        <p:nvSpPr>
          <p:cNvPr id="39" name="BPS Value 6"/>
          <p:cNvSpPr txBox="1"/>
          <p:nvPr/>
        </p:nvSpPr>
        <p:spPr>
          <a:xfrm>
            <a:off x="6896100" y="4261555"/>
            <a:ext cx="514350" cy="123825"/>
          </a:xfrm>
          <a:prstGeom prst="rect">
            <a:avLst/>
          </a:prstGeom>
          <a:noFill/>
        </p:spPr>
        <p:txBody>
          <a:bodyPr wrap="none" lIns="0" rIns="0" tIns="0" bIns="0" anchor="ctr">
            <a:spAutoFit/>
          </a:bodyPr>
          <a:lstStyle/>
          <a:p>
            <a:pPr algn="r"/>
            <a:r>
              <a:rPr sz="900" b="1">
                <a:solidFill>
                  <a:srgbClr val="2E7D32"/>
                </a:solidFill>
                <a:latin typeface="Calibri"/>
              </a:rPr>
              <a:t>+210</a:t>
            </a:r>
          </a:p>
        </p:txBody>
      </p:sp>
      <p:sp>
        <p:nvSpPr>
          <p:cNvPr id="40" name="FMI Legend Chip"/>
          <p:cNvSpPr/>
          <p:nvPr/>
        </p:nvSpPr>
        <p:spPr>
          <a:xfrm>
            <a:off x="4928997" y="498920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0922" y="498444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490824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Clays, Pastes and Pomades</a:t>
            </a:r>
          </a:p>
        </p:txBody>
      </p:sp>
      <p:sp>
        <p:nvSpPr>
          <p:cNvPr id="43" name="BPS Value 7"/>
          <p:cNvSpPr txBox="1"/>
          <p:nvPr/>
        </p:nvSpPr>
        <p:spPr>
          <a:xfrm>
            <a:off x="6896100" y="4970155"/>
            <a:ext cx="514350" cy="123825"/>
          </a:xfrm>
          <a:prstGeom prst="rect">
            <a:avLst/>
          </a:prstGeom>
          <a:noFill/>
        </p:spPr>
        <p:txBody>
          <a:bodyPr wrap="none" lIns="0" rIns="0" tIns="0" bIns="0" anchor="ctr">
            <a:spAutoFit/>
          </a:bodyPr>
          <a:lstStyle/>
          <a:p>
            <a:pPr algn="r"/>
            <a:r>
              <a:rPr sz="900" b="1">
                <a:solidFill>
                  <a:srgbClr val="E44D3A"/>
                </a:solidFill>
                <a:latin typeface="Calibri"/>
              </a:rPr>
              <a:t>-35</a:t>
            </a:r>
          </a:p>
        </p:txBody>
      </p:sp>
      <p:sp>
        <p:nvSpPr>
          <p:cNvPr id="44" name="FMI Legend Chip"/>
          <p:cNvSpPr/>
          <p:nvPr/>
        </p:nvSpPr>
        <p:spPr>
          <a:xfrm>
            <a:off x="4928997" y="580112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a:off x="5090922" y="579636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572016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Serums and Oils</a:t>
            </a:r>
          </a:p>
        </p:txBody>
      </p:sp>
      <p:sp>
        <p:nvSpPr>
          <p:cNvPr id="47" name="BPS Value 8"/>
          <p:cNvSpPr txBox="1"/>
          <p:nvPr/>
        </p:nvSpPr>
        <p:spPr>
          <a:xfrm>
            <a:off x="6896100" y="5782074"/>
            <a:ext cx="514350" cy="123825"/>
          </a:xfrm>
          <a:prstGeom prst="rect">
            <a:avLst/>
          </a:prstGeom>
          <a:noFill/>
        </p:spPr>
        <p:txBody>
          <a:bodyPr wrap="none" lIns="0" rIns="0" tIns="0" bIns="0" anchor="ctr">
            <a:spAutoFit/>
          </a:bodyPr>
          <a:lstStyle/>
          <a:p>
            <a:pPr algn="r"/>
            <a:r>
              <a:rPr sz="900" b="1">
                <a:solidFill>
                  <a:srgbClr val="2E7D32"/>
                </a:solidFill>
                <a:latin typeface="Calibri"/>
              </a:rPr>
              <a:t>+104</a:t>
            </a:r>
          </a:p>
        </p:txBody>
      </p:sp>
      <p:sp>
        <p:nvSpPr>
          <p:cNvPr id="48" name="Rounded Rectangle 4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Europe Read-out, By Product Format</a:t>
            </a:r>
          </a:p>
        </p:txBody>
      </p:sp>
      <p:sp>
        <p:nvSpPr>
          <p:cNvPr id="50" name="Rectangle 4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product format, sticks and balms segment is expected to witness the highest CAGR of 7.9% over the forecast period. In terms of value share by product format, the styling serums and oils segment is expected to dominate the market, gaining 104 BPS and accounting for 19.4% share by 2036.</a:t>
            </a:r>
          </a:p>
          <a:p>
            <a:pPr algn="l">
              <a:lnSpc>
                <a:spcPct val="110000"/>
              </a:lnSpc>
              <a:spcBef>
                <a:spcPts val="0"/>
              </a:spcBef>
              <a:spcAft>
                <a:spcPts val="500"/>
              </a:spcAft>
            </a:pPr>
            <a:r>
              <a:rPr sz="1150" b="0">
                <a:solidFill>
                  <a:srgbClr val="2E2E2E"/>
                </a:solidFill>
                <a:latin typeface="Calibri"/>
              </a:rPr>
              <a:t>The sprays and mists segment is expected to lose 229 BPS over the forecast period to account for 12.2% share by 2036.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Product Format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Growth,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Product Format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Heatmap, By Product Format (%)  ·  light = lower, dark = higher growth</a:t>
            </a:r>
          </a:p>
        </p:txBody>
      </p:sp>
      <p:sp>
        <p:nvSpPr>
          <p:cNvPr id="12" name="TextBox 11"/>
          <p:cNvSpPr txBox="1"/>
          <p:nvPr/>
        </p:nvSpPr>
        <p:spPr>
          <a:xfrm>
            <a:off x="181886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4653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1178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5823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04695"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511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697610"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44067"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69905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36982"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83439"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2989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763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281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6926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Sprays and Mists</a:t>
            </a:r>
          </a:p>
        </p:txBody>
      </p:sp>
      <p:sp>
        <p:nvSpPr>
          <p:cNvPr id="28" name="Rectangle 27"/>
          <p:cNvSpPr/>
          <p:nvPr/>
        </p:nvSpPr>
        <p:spPr>
          <a:xfrm>
            <a:off x="1818866" y="1409700"/>
            <a:ext cx="646457" cy="344170"/>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465324" y="1409700"/>
            <a:ext cx="646457" cy="34417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11781" y="1409700"/>
            <a:ext cx="646457" cy="34417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58238" y="1409700"/>
            <a:ext cx="646457" cy="34417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04695" y="1409700"/>
            <a:ext cx="646457" cy="34417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51153" y="140970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697610" y="1409700"/>
            <a:ext cx="646457" cy="344170"/>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44067" y="1409700"/>
            <a:ext cx="646457" cy="344170"/>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6990524" y="1409700"/>
            <a:ext cx="646457" cy="34417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36982" y="1409700"/>
            <a:ext cx="646457" cy="344170"/>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83439" y="140970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29896" y="140970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76353" y="140970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2811" y="1409700"/>
            <a:ext cx="646457" cy="344170"/>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69268" y="1409700"/>
            <a:ext cx="646457" cy="344170"/>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538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Hairsprays</a:t>
            </a:r>
          </a:p>
        </p:txBody>
      </p:sp>
      <p:sp>
        <p:nvSpPr>
          <p:cNvPr id="44" name="Rectangle 43"/>
          <p:cNvSpPr/>
          <p:nvPr/>
        </p:nvSpPr>
        <p:spPr>
          <a:xfrm>
            <a:off x="1818866" y="1753870"/>
            <a:ext cx="646457" cy="34417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465324" y="175387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11781" y="1753870"/>
            <a:ext cx="646457" cy="34417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58238" y="1753870"/>
            <a:ext cx="646457" cy="34417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04695" y="1753870"/>
            <a:ext cx="646457" cy="344170"/>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51153" y="1753870"/>
            <a:ext cx="646457" cy="344170"/>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697610" y="1753870"/>
            <a:ext cx="646457" cy="34417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44067" y="1753870"/>
            <a:ext cx="646457" cy="344170"/>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6990524" y="1753870"/>
            <a:ext cx="646457" cy="344170"/>
          </a:xfrm>
          <a:prstGeom prst="rect">
            <a:avLst/>
          </a:prstGeom>
          <a:solidFill>
            <a:srgbClr val="E9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36982" y="1753870"/>
            <a:ext cx="646457" cy="344170"/>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83439" y="1753870"/>
            <a:ext cx="646457" cy="344170"/>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29896" y="1753870"/>
            <a:ext cx="646457" cy="344170"/>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76353" y="1753870"/>
            <a:ext cx="646457" cy="34417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2811" y="1753870"/>
            <a:ext cx="646457" cy="34417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69268" y="1753870"/>
            <a:ext cx="646457" cy="34417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980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Hairsprays</a:t>
            </a:r>
          </a:p>
        </p:txBody>
      </p:sp>
      <p:sp>
        <p:nvSpPr>
          <p:cNvPr id="60" name="Rectangle 59"/>
          <p:cNvSpPr/>
          <p:nvPr/>
        </p:nvSpPr>
        <p:spPr>
          <a:xfrm>
            <a:off x="1818866" y="209804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465324" y="2098040"/>
            <a:ext cx="646457" cy="344170"/>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11781" y="2098040"/>
            <a:ext cx="646457" cy="344170"/>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58238" y="2098040"/>
            <a:ext cx="646457" cy="344170"/>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04695" y="2098040"/>
            <a:ext cx="646457" cy="344170"/>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51153" y="2098040"/>
            <a:ext cx="646457" cy="344170"/>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697610" y="2098040"/>
            <a:ext cx="646457" cy="34417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44067" y="2098040"/>
            <a:ext cx="646457" cy="344170"/>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6990524" y="2098040"/>
            <a:ext cx="646457" cy="344170"/>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36982" y="209804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83439" y="2098040"/>
            <a:ext cx="646457" cy="344170"/>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29896" y="2098040"/>
            <a:ext cx="646457" cy="34417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76353" y="2098040"/>
            <a:ext cx="646457" cy="344170"/>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2811" y="2098040"/>
            <a:ext cx="646457" cy="344170"/>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69268" y="2098040"/>
            <a:ext cx="646457" cy="34417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4422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Texturizing Sprays</a:t>
            </a:r>
          </a:p>
        </p:txBody>
      </p:sp>
      <p:sp>
        <p:nvSpPr>
          <p:cNvPr id="76" name="Rectangle 75"/>
          <p:cNvSpPr/>
          <p:nvPr/>
        </p:nvSpPr>
        <p:spPr>
          <a:xfrm>
            <a:off x="1818866" y="2442210"/>
            <a:ext cx="646457" cy="34417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465324" y="2442210"/>
            <a:ext cx="646457" cy="344170"/>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11781" y="2442210"/>
            <a:ext cx="646457" cy="344170"/>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58238" y="2442210"/>
            <a:ext cx="646457" cy="34417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04695" y="244221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51153" y="2442210"/>
            <a:ext cx="646457" cy="344170"/>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697610" y="2442210"/>
            <a:ext cx="646457" cy="344170"/>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44067" y="244221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6990524" y="2442210"/>
            <a:ext cx="646457" cy="344170"/>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36982" y="2442210"/>
            <a:ext cx="646457" cy="34417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83439" y="2442210"/>
            <a:ext cx="646457" cy="34417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29896" y="244221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76353" y="2442210"/>
            <a:ext cx="646457" cy="344170"/>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2811" y="2442210"/>
            <a:ext cx="646457" cy="344170"/>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69268" y="2442210"/>
            <a:ext cx="646457" cy="344170"/>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863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Sea-salt Sprays</a:t>
            </a:r>
          </a:p>
        </p:txBody>
      </p:sp>
      <p:sp>
        <p:nvSpPr>
          <p:cNvPr id="92" name="Rectangle 91"/>
          <p:cNvSpPr/>
          <p:nvPr/>
        </p:nvSpPr>
        <p:spPr>
          <a:xfrm>
            <a:off x="1818866" y="2786380"/>
            <a:ext cx="646457" cy="344170"/>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465324" y="2786380"/>
            <a:ext cx="646457" cy="34417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11781" y="2786380"/>
            <a:ext cx="646457" cy="344170"/>
          </a:xfrm>
          <a:prstGeom prst="rect">
            <a:avLst/>
          </a:prstGeom>
          <a:solidFill>
            <a:srgbClr val="C8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58238" y="2786380"/>
            <a:ext cx="646457" cy="344170"/>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04695" y="2786380"/>
            <a:ext cx="646457" cy="34417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51153" y="278638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697610" y="2786380"/>
            <a:ext cx="646457" cy="34417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44067" y="2786380"/>
            <a:ext cx="646457" cy="344170"/>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6990524" y="2786380"/>
            <a:ext cx="646457" cy="344170"/>
          </a:xfrm>
          <a:prstGeom prst="rect">
            <a:avLst/>
          </a:prstGeom>
          <a:solidFill>
            <a:srgbClr val="5A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36982" y="2786380"/>
            <a:ext cx="646457" cy="344170"/>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83439" y="2786380"/>
            <a:ext cx="646457" cy="344170"/>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29896" y="2786380"/>
            <a:ext cx="646457" cy="344170"/>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76353" y="2786380"/>
            <a:ext cx="646457" cy="344170"/>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2811" y="2786380"/>
            <a:ext cx="646457" cy="344170"/>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69268" y="2786380"/>
            <a:ext cx="646457" cy="344170"/>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13055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Volumizing Sprays</a:t>
            </a:r>
          </a:p>
        </p:txBody>
      </p:sp>
      <p:sp>
        <p:nvSpPr>
          <p:cNvPr id="108" name="Rectangle 107"/>
          <p:cNvSpPr/>
          <p:nvPr/>
        </p:nvSpPr>
        <p:spPr>
          <a:xfrm>
            <a:off x="1818866" y="3130550"/>
            <a:ext cx="646457" cy="344170"/>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465324" y="3130550"/>
            <a:ext cx="646457" cy="34417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11781" y="3130550"/>
            <a:ext cx="646457" cy="34417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58238" y="3130550"/>
            <a:ext cx="646457" cy="344170"/>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04695" y="3130550"/>
            <a:ext cx="646457" cy="34417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51153" y="3130550"/>
            <a:ext cx="646457" cy="34417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697610" y="3130550"/>
            <a:ext cx="646457" cy="34417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44067" y="3130550"/>
            <a:ext cx="646457" cy="344170"/>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6990524" y="3130550"/>
            <a:ext cx="646457" cy="344170"/>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36982" y="3130550"/>
            <a:ext cx="646457" cy="34417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83439" y="3130550"/>
            <a:ext cx="646457" cy="344170"/>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29896" y="313055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76353" y="313055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2811" y="3130550"/>
            <a:ext cx="646457" cy="34417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69268" y="313055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47472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Mousses and Foams</a:t>
            </a:r>
          </a:p>
        </p:txBody>
      </p:sp>
      <p:sp>
        <p:nvSpPr>
          <p:cNvPr id="124" name="Rectangle 123"/>
          <p:cNvSpPr/>
          <p:nvPr/>
        </p:nvSpPr>
        <p:spPr>
          <a:xfrm>
            <a:off x="1818866" y="3474720"/>
            <a:ext cx="646457" cy="34417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465324" y="347472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11781" y="347472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58238" y="3474720"/>
            <a:ext cx="646457" cy="344170"/>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04695" y="3474720"/>
            <a:ext cx="646457" cy="344170"/>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51153" y="347472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697610" y="3474720"/>
            <a:ext cx="646457" cy="34417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44067" y="3474720"/>
            <a:ext cx="646457" cy="34417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6990524" y="3474720"/>
            <a:ext cx="646457" cy="344170"/>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36982" y="347472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83439" y="3474720"/>
            <a:ext cx="646457" cy="34417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29896" y="3474720"/>
            <a:ext cx="646457" cy="34417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76353" y="3474720"/>
            <a:ext cx="646457" cy="344170"/>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2811" y="3474720"/>
            <a:ext cx="646457" cy="344170"/>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69268" y="3474720"/>
            <a:ext cx="646457" cy="344170"/>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81889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Mousses</a:t>
            </a:r>
          </a:p>
        </p:txBody>
      </p:sp>
      <p:sp>
        <p:nvSpPr>
          <p:cNvPr id="140" name="Rectangle 139"/>
          <p:cNvSpPr/>
          <p:nvPr/>
        </p:nvSpPr>
        <p:spPr>
          <a:xfrm>
            <a:off x="1818866" y="3818890"/>
            <a:ext cx="646457" cy="34417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465324" y="3818890"/>
            <a:ext cx="646457" cy="344170"/>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11781" y="3818890"/>
            <a:ext cx="646457" cy="344170"/>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58238" y="3818890"/>
            <a:ext cx="646457" cy="344170"/>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04695" y="3818890"/>
            <a:ext cx="646457" cy="34417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51153" y="381889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697610" y="3818890"/>
            <a:ext cx="646457" cy="344170"/>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44067" y="3818890"/>
            <a:ext cx="646457" cy="344170"/>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6990524" y="3818890"/>
            <a:ext cx="646457" cy="34417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36982" y="3818890"/>
            <a:ext cx="646457" cy="344170"/>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83439" y="3818890"/>
            <a:ext cx="646457" cy="344170"/>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29896" y="3818890"/>
            <a:ext cx="646457" cy="34417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76353" y="3818890"/>
            <a:ext cx="646457" cy="34417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2811" y="3818890"/>
            <a:ext cx="646457" cy="34417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69268" y="3818890"/>
            <a:ext cx="646457" cy="34417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16306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Foams</a:t>
            </a:r>
          </a:p>
        </p:txBody>
      </p:sp>
      <p:sp>
        <p:nvSpPr>
          <p:cNvPr id="156" name="Rectangle 155"/>
          <p:cNvSpPr/>
          <p:nvPr/>
        </p:nvSpPr>
        <p:spPr>
          <a:xfrm>
            <a:off x="1818866" y="4163060"/>
            <a:ext cx="646457" cy="344170"/>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465324" y="416306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11781" y="4163060"/>
            <a:ext cx="646457" cy="344170"/>
          </a:xfrm>
          <a:prstGeom prst="rect">
            <a:avLst/>
          </a:prstGeom>
          <a:solidFill>
            <a:srgbClr val="D1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58238" y="4163060"/>
            <a:ext cx="646457" cy="344170"/>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04695" y="4163060"/>
            <a:ext cx="646457" cy="344170"/>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51153" y="4163060"/>
            <a:ext cx="646457" cy="344170"/>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697610" y="4163060"/>
            <a:ext cx="646457" cy="344170"/>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44067" y="416306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6990524" y="4163060"/>
            <a:ext cx="646457" cy="34417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36982" y="4163060"/>
            <a:ext cx="646457" cy="34417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83439" y="4163060"/>
            <a:ext cx="646457" cy="34417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29896" y="4163060"/>
            <a:ext cx="646457" cy="344170"/>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76353" y="4163060"/>
            <a:ext cx="646457" cy="344170"/>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2811" y="4163060"/>
            <a:ext cx="646457" cy="344170"/>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69268" y="4163060"/>
            <a:ext cx="646457" cy="344170"/>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50723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Gels and Jellies</a:t>
            </a:r>
          </a:p>
        </p:txBody>
      </p:sp>
      <p:sp>
        <p:nvSpPr>
          <p:cNvPr id="172" name="Rectangle 171"/>
          <p:cNvSpPr/>
          <p:nvPr/>
        </p:nvSpPr>
        <p:spPr>
          <a:xfrm>
            <a:off x="1818866" y="4507230"/>
            <a:ext cx="646457" cy="34417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465324" y="4507230"/>
            <a:ext cx="646457" cy="344170"/>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11781" y="450723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58238" y="4507230"/>
            <a:ext cx="646457" cy="344170"/>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04695" y="4507230"/>
            <a:ext cx="646457" cy="344170"/>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51153" y="4507230"/>
            <a:ext cx="646457" cy="344170"/>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697610" y="4507230"/>
            <a:ext cx="646457" cy="344170"/>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44067" y="4507230"/>
            <a:ext cx="646457" cy="344170"/>
          </a:xfrm>
          <a:prstGeom prst="rect">
            <a:avLst/>
          </a:prstGeom>
          <a:solidFill>
            <a:srgbClr val="7E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6990524" y="4507230"/>
            <a:ext cx="646457" cy="344170"/>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36982" y="4507230"/>
            <a:ext cx="646457" cy="344170"/>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83439" y="4507230"/>
            <a:ext cx="646457" cy="344170"/>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29896" y="4507230"/>
            <a:ext cx="646457" cy="344170"/>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76353" y="4507230"/>
            <a:ext cx="646457" cy="344170"/>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2811" y="4507230"/>
            <a:ext cx="646457" cy="344170"/>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69268" y="4507230"/>
            <a:ext cx="646457" cy="344170"/>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8514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Creams and Lotions</a:t>
            </a:r>
          </a:p>
        </p:txBody>
      </p:sp>
      <p:sp>
        <p:nvSpPr>
          <p:cNvPr id="188" name="Rectangle 187"/>
          <p:cNvSpPr/>
          <p:nvPr/>
        </p:nvSpPr>
        <p:spPr>
          <a:xfrm>
            <a:off x="1818866" y="4851400"/>
            <a:ext cx="646457" cy="344170"/>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465324" y="4851400"/>
            <a:ext cx="646457" cy="34417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11781" y="4851400"/>
            <a:ext cx="646457" cy="344170"/>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58238" y="4851400"/>
            <a:ext cx="646457" cy="34417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04695" y="4851400"/>
            <a:ext cx="646457" cy="344170"/>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51153" y="4851400"/>
            <a:ext cx="646457" cy="344170"/>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697610" y="4851400"/>
            <a:ext cx="646457" cy="344170"/>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44067" y="4851400"/>
            <a:ext cx="646457" cy="344170"/>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6990524" y="4851400"/>
            <a:ext cx="646457" cy="344170"/>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36982" y="4851400"/>
            <a:ext cx="646457" cy="344170"/>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83439" y="4851400"/>
            <a:ext cx="646457" cy="344170"/>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29896" y="4851400"/>
            <a:ext cx="646457" cy="344170"/>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76353" y="4851400"/>
            <a:ext cx="646457" cy="344170"/>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2811" y="4851400"/>
            <a:ext cx="646457" cy="344170"/>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69268" y="4851400"/>
            <a:ext cx="646457" cy="344170"/>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1955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Waxes, Clays, Pastes and Pomades</a:t>
            </a:r>
          </a:p>
        </p:txBody>
      </p:sp>
      <p:sp>
        <p:nvSpPr>
          <p:cNvPr id="204" name="Rectangle 203"/>
          <p:cNvSpPr/>
          <p:nvPr/>
        </p:nvSpPr>
        <p:spPr>
          <a:xfrm>
            <a:off x="1818866" y="5195570"/>
            <a:ext cx="646457" cy="34417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465324" y="5195570"/>
            <a:ext cx="646457" cy="344170"/>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11781" y="5195570"/>
            <a:ext cx="646457" cy="34417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58238" y="5195570"/>
            <a:ext cx="646457" cy="34417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04695" y="519557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51153" y="5195570"/>
            <a:ext cx="646457" cy="344170"/>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697610" y="5195570"/>
            <a:ext cx="646457" cy="344170"/>
          </a:xfrm>
          <a:prstGeom prst="rect">
            <a:avLst/>
          </a:prstGeom>
          <a:solidFill>
            <a:srgbClr val="71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44067" y="5195570"/>
            <a:ext cx="646457" cy="344170"/>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6990524" y="5195570"/>
            <a:ext cx="646457" cy="344170"/>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36982" y="5195570"/>
            <a:ext cx="646457" cy="344170"/>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83439" y="5195570"/>
            <a:ext cx="646457" cy="344170"/>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29896" y="5195570"/>
            <a:ext cx="646457" cy="344170"/>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76353" y="5195570"/>
            <a:ext cx="646457" cy="344170"/>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2811" y="5195570"/>
            <a:ext cx="646457" cy="344170"/>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69268" y="5195570"/>
            <a:ext cx="646457" cy="344170"/>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5397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Powders</a:t>
            </a:r>
          </a:p>
        </p:txBody>
      </p:sp>
      <p:sp>
        <p:nvSpPr>
          <p:cNvPr id="220" name="Rectangle 219"/>
          <p:cNvSpPr/>
          <p:nvPr/>
        </p:nvSpPr>
        <p:spPr>
          <a:xfrm>
            <a:off x="1818866" y="5539740"/>
            <a:ext cx="646457" cy="34417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465324" y="553974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11781" y="5539740"/>
            <a:ext cx="646457" cy="34417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58238" y="553974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04695" y="5539740"/>
            <a:ext cx="646457" cy="344170"/>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51153" y="5539740"/>
            <a:ext cx="646457" cy="344170"/>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697610" y="5539740"/>
            <a:ext cx="646457" cy="344170"/>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44067" y="5539740"/>
            <a:ext cx="646457" cy="344170"/>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6990524" y="5539740"/>
            <a:ext cx="646457" cy="344170"/>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36982" y="5539740"/>
            <a:ext cx="646457" cy="344170"/>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83439" y="5539740"/>
            <a:ext cx="646457" cy="344170"/>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29896" y="5539740"/>
            <a:ext cx="646457" cy="344170"/>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76353" y="5539740"/>
            <a:ext cx="646457" cy="344170"/>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2811" y="5539740"/>
            <a:ext cx="646457" cy="344170"/>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69268" y="5539740"/>
            <a:ext cx="646457" cy="344170"/>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8839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Serums and Oils</a:t>
            </a:r>
          </a:p>
        </p:txBody>
      </p:sp>
      <p:sp>
        <p:nvSpPr>
          <p:cNvPr id="236" name="Rectangle 235"/>
          <p:cNvSpPr/>
          <p:nvPr/>
        </p:nvSpPr>
        <p:spPr>
          <a:xfrm>
            <a:off x="1818866" y="5883910"/>
            <a:ext cx="646457" cy="34417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465324" y="5883910"/>
            <a:ext cx="646457" cy="34417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11781" y="5883910"/>
            <a:ext cx="646457" cy="34417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58238" y="588391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04695" y="5883910"/>
            <a:ext cx="646457" cy="344170"/>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51153" y="5883910"/>
            <a:ext cx="646457" cy="344170"/>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697610" y="5883910"/>
            <a:ext cx="646457" cy="344170"/>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44067" y="5883910"/>
            <a:ext cx="646457" cy="344170"/>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6990524" y="5883910"/>
            <a:ext cx="646457" cy="344170"/>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36982" y="5883910"/>
            <a:ext cx="646457" cy="344170"/>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83439" y="5883910"/>
            <a:ext cx="646457" cy="344170"/>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29896" y="5883910"/>
            <a:ext cx="646457" cy="344170"/>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76353" y="5883910"/>
            <a:ext cx="646457" cy="344170"/>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2811" y="5883910"/>
            <a:ext cx="646457" cy="344170"/>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69268" y="5883910"/>
            <a:ext cx="646457" cy="344170"/>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62280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Sticks and Balms</a:t>
            </a:r>
          </a:p>
        </p:txBody>
      </p:sp>
      <p:sp>
        <p:nvSpPr>
          <p:cNvPr id="252" name="Rectangle 251"/>
          <p:cNvSpPr/>
          <p:nvPr/>
        </p:nvSpPr>
        <p:spPr>
          <a:xfrm>
            <a:off x="1818866" y="6228080"/>
            <a:ext cx="646457" cy="344170"/>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465324" y="6228080"/>
            <a:ext cx="646457" cy="344170"/>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11781" y="6228080"/>
            <a:ext cx="646457" cy="344170"/>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58238" y="6228080"/>
            <a:ext cx="646457" cy="344170"/>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04695" y="6228080"/>
            <a:ext cx="646457" cy="344170"/>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51153" y="6228080"/>
            <a:ext cx="646457" cy="344170"/>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697610" y="6228080"/>
            <a:ext cx="646457" cy="344170"/>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44067" y="6228080"/>
            <a:ext cx="646457" cy="344170"/>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6990524" y="6228080"/>
            <a:ext cx="646457" cy="344170"/>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36982" y="6228080"/>
            <a:ext cx="646457" cy="344170"/>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83439" y="6228080"/>
            <a:ext cx="646457" cy="34417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29896" y="6228080"/>
            <a:ext cx="646457" cy="344170"/>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76353" y="6228080"/>
            <a:ext cx="646457" cy="344170"/>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2811" y="6228080"/>
            <a:ext cx="646457" cy="344170"/>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69268" y="6228080"/>
            <a:ext cx="646457" cy="344170"/>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TextBox 30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309" name="TextBox 30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10" name="TextBox 30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311" name="TextBox 3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16.2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Hold Level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Hold Level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Hold Level,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Hold Level segment categorizes the market by hold level.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 Hold</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617.3</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1,125</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6.2%</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Strong Hold</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606.6</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1,051</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5.7%</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Light or Flexible Hold</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561.7</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1,136</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7.3%</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Extra-strong Hold</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514.4</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851.2</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5.2%</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No Hold</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511.0</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992.3</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6.9%</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hold level, light or flexible hold segment is expected to witness the highest CAGR of 7.3% over the forecast period. In terms of value share by hold level, the light or flexible hold segment is expected to dominate the market, gaining 206 BPS and accounting for 22.0% share by 2036.</a:t>
            </a:r>
          </a:p>
          <a:p>
            <a:pPr algn="l">
              <a:lnSpc>
                <a:spcPct val="110000"/>
              </a:lnSpc>
              <a:spcBef>
                <a:spcPts val="0"/>
              </a:spcBef>
              <a:spcAft>
                <a:spcPts val="500"/>
              </a:spcAft>
            </a:pPr>
            <a:r>
              <a:rPr sz="1100" b="0">
                <a:solidFill>
                  <a:srgbClr val="2E2E2E"/>
                </a:solidFill>
                <a:latin typeface="Calibri"/>
              </a:rPr>
              <a:t>Light or flexible hold segment is projected to register 1.0X higher value than medium hold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 Hold: </a:t>
            </a:r>
            <a:r>
              <a:rPr sz="1100" b="0">
                <a:solidFill>
                  <a:srgbClr val="2E2E2E"/>
                </a:solidFill>
                <a:latin typeface="Calibri"/>
              </a:rPr>
              <a:t>22% of 2026 value · 6.2%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Strong Hold: </a:t>
            </a:r>
            <a:r>
              <a:rPr sz="1100" b="0">
                <a:solidFill>
                  <a:srgbClr val="2E2E2E"/>
                </a:solidFill>
                <a:latin typeface="Calibri"/>
              </a:rPr>
              <a:t>22% of 2026 value · 5.7%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Light or Flexible Hold: </a:t>
            </a:r>
            <a:r>
              <a:rPr sz="1100" b="0">
                <a:solidFill>
                  <a:srgbClr val="2E2E2E"/>
                </a:solidFill>
                <a:latin typeface="Calibri"/>
              </a:rPr>
              <a:t>20% of 2026 value · 7.3%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Extra-strong Hold: </a:t>
            </a:r>
            <a:r>
              <a:rPr sz="1100" b="0">
                <a:solidFill>
                  <a:srgbClr val="2E2E2E"/>
                </a:solidFill>
                <a:latin typeface="Calibri"/>
              </a:rPr>
              <a:t>18% of 2026 value · 5.2%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No Hold: </a:t>
            </a:r>
            <a:r>
              <a:rPr sz="1100" b="0">
                <a:solidFill>
                  <a:srgbClr val="2E2E2E"/>
                </a:solidFill>
                <a:latin typeface="Calibri"/>
              </a:rPr>
              <a:t>18% of 2026 value · 6.9% CAGR serves a niche.</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Hold Level split shows how demand is distributed across hold level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Hold Level segment is projected to grow at a CAGR of 6.3%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Structure &amp; Attractiveness, By Hold Level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Hold Level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Hold Level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Light or flexible hold followed by medium hold are expected to be the two most attractive hold level segments in the Europe hair styling products market in terms of value over the forecast period. Light or flexible hold and medium hold exhibit a CAGR index of 116.7 and 99.0 and a market share index of 99.9 and 109.8 respectively, against the segment average of 100. The extra-strong hold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Hold Level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No Hold</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Light or Flexible Hold</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Medium Hold</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Strong Hold</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Hold Level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Extra-strong Hold</a:t>
            </a:r>
          </a:p>
        </p:txBody>
      </p:sp>
      <p:graphicFrame>
        <p:nvGraphicFramePr>
          <p:cNvPr id="12" name="Chart 11"/>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Europe Absolute $ Opportunity Analysis, By Hold Level</a:t>
            </a:r>
          </a:p>
        </p:txBody>
      </p:sp>
      <p:sp>
        <p:nvSpPr>
          <p:cNvPr id="15" name="Rectangle 14"/>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390650"/>
            <a:ext cx="5610225"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light or flexible hold segment is anticipated to witness an increase of 2.0X in terms of value as compared to 2026. The light or flexible hold segment is expected to create an incremental opportunity of US$ 574.7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medium hold segment is expected to create an incremental opportunity of US$ 508.2 Mn for the overall hair styling products market from 2026 to 2036. The no hold segment is expected to create an incremental opportunity of US$ 481.4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Hold Level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Hold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Hold Level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Analysis, By Hold Level</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Light or flexible hold segment is projected to register 1.0X higher value than medium hold segment in 2036. Among hair styling products by hold level, light or flexible hold segment is expected to witness the highest CAGR of 7.3% over the forecast period.</a:t>
            </a:r>
          </a:p>
          <a:p>
            <a:pPr algn="l">
              <a:lnSpc>
                <a:spcPct val="110000"/>
              </a:lnSpc>
              <a:spcBef>
                <a:spcPts val="0"/>
              </a:spcBef>
              <a:spcAft>
                <a:spcPts val="500"/>
              </a:spcAft>
            </a:pPr>
            <a:r>
              <a:rPr sz="1150" b="0">
                <a:solidFill>
                  <a:srgbClr val="2E2E2E"/>
                </a:solidFill>
                <a:latin typeface="Calibri"/>
              </a:rPr>
              <a:t>In terms of value share by hold level, the light or flexible hold segment is expected to dominate the market, gaining 206 BPS and accounting for 22.0% share by 2036. The extra-strong hold segment is expected to lose 179 BPS over the forecast period to account for 16.5%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&amp; Share Shift, By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Hold Level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Composition, By Hold Level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1897626"/>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9286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1666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Extra-strong Hold</a:t>
            </a:r>
          </a:p>
        </p:txBody>
      </p:sp>
      <p:sp>
        <p:nvSpPr>
          <p:cNvPr id="19" name="BPS Value 1"/>
          <p:cNvSpPr txBox="1"/>
          <p:nvPr/>
        </p:nvSpPr>
        <p:spPr>
          <a:xfrm>
            <a:off x="6896100" y="1878576"/>
            <a:ext cx="514350" cy="123825"/>
          </a:xfrm>
          <a:prstGeom prst="rect">
            <a:avLst/>
          </a:prstGeom>
          <a:noFill/>
        </p:spPr>
        <p:txBody>
          <a:bodyPr wrap="none" lIns="0" rIns="0" tIns="0" bIns="0" anchor="ctr">
            <a:spAutoFit/>
          </a:bodyPr>
          <a:lstStyle/>
          <a:p>
            <a:pPr algn="r"/>
            <a:r>
              <a:rPr sz="900" b="1">
                <a:solidFill>
                  <a:srgbClr val="E44D3A"/>
                </a:solidFill>
                <a:latin typeface="Calibri"/>
              </a:rPr>
              <a:t>-179</a:t>
            </a:r>
          </a:p>
        </p:txBody>
      </p:sp>
      <p:sp>
        <p:nvSpPr>
          <p:cNvPr id="20" name="FMI Legend Chip"/>
          <p:cNvSpPr/>
          <p:nvPr/>
        </p:nvSpPr>
        <p:spPr>
          <a:xfrm>
            <a:off x="4928997" y="274437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73960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66340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 Hold</a:t>
            </a:r>
          </a:p>
        </p:txBody>
      </p:sp>
      <p:sp>
        <p:nvSpPr>
          <p:cNvPr id="23" name="BPS Value 2"/>
          <p:cNvSpPr txBox="1"/>
          <p:nvPr/>
        </p:nvSpPr>
        <p:spPr>
          <a:xfrm>
            <a:off x="6896100" y="2725321"/>
            <a:ext cx="514350" cy="123825"/>
          </a:xfrm>
          <a:prstGeom prst="rect">
            <a:avLst/>
          </a:prstGeom>
          <a:noFill/>
        </p:spPr>
        <p:txBody>
          <a:bodyPr wrap="none" lIns="0" rIns="0" tIns="0" bIns="0" anchor="ctr">
            <a:spAutoFit/>
          </a:bodyPr>
          <a:lstStyle/>
          <a:p>
            <a:pPr algn="r"/>
            <a:r>
              <a:rPr sz="900" b="1">
                <a:solidFill>
                  <a:srgbClr val="2E7D32"/>
                </a:solidFill>
                <a:latin typeface="Calibri"/>
              </a:rPr>
              <a:t>+107</a:t>
            </a:r>
          </a:p>
        </p:txBody>
      </p:sp>
      <p:sp>
        <p:nvSpPr>
          <p:cNvPr id="24" name="FMI Legend Chip"/>
          <p:cNvSpPr/>
          <p:nvPr/>
        </p:nvSpPr>
        <p:spPr>
          <a:xfrm>
            <a:off x="4928997" y="368301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67825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60205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Strong Hold</a:t>
            </a:r>
          </a:p>
        </p:txBody>
      </p:sp>
      <p:sp>
        <p:nvSpPr>
          <p:cNvPr id="27" name="BPS Value 3"/>
          <p:cNvSpPr txBox="1"/>
          <p:nvPr/>
        </p:nvSpPr>
        <p:spPr>
          <a:xfrm>
            <a:off x="6896100" y="3663969"/>
            <a:ext cx="514350" cy="123825"/>
          </a:xfrm>
          <a:prstGeom prst="rect">
            <a:avLst/>
          </a:prstGeom>
          <a:noFill/>
        </p:spPr>
        <p:txBody>
          <a:bodyPr wrap="none" lIns="0" rIns="0" tIns="0" bIns="0" anchor="ctr">
            <a:spAutoFit/>
          </a:bodyPr>
          <a:lstStyle/>
          <a:p>
            <a:pPr algn="r"/>
            <a:r>
              <a:rPr sz="900" b="1">
                <a:solidFill>
                  <a:srgbClr val="E44D3A"/>
                </a:solidFill>
                <a:latin typeface="Calibri"/>
              </a:rPr>
              <a:t>-119</a:t>
            </a:r>
          </a:p>
        </p:txBody>
      </p:sp>
      <p:sp>
        <p:nvSpPr>
          <p:cNvPr id="28" name="FMI Legend Chip"/>
          <p:cNvSpPr/>
          <p:nvPr/>
        </p:nvSpPr>
        <p:spPr>
          <a:xfrm>
            <a:off x="4928997" y="468281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67805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60185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 Hold</a:t>
            </a:r>
          </a:p>
        </p:txBody>
      </p:sp>
      <p:sp>
        <p:nvSpPr>
          <p:cNvPr id="31" name="BPS Value 4"/>
          <p:cNvSpPr txBox="1"/>
          <p:nvPr/>
        </p:nvSpPr>
        <p:spPr>
          <a:xfrm>
            <a:off x="6896100" y="4663765"/>
            <a:ext cx="514350" cy="123825"/>
          </a:xfrm>
          <a:prstGeom prst="rect">
            <a:avLst/>
          </a:prstGeom>
          <a:noFill/>
        </p:spPr>
        <p:txBody>
          <a:bodyPr wrap="none" lIns="0" rIns="0" tIns="0" bIns="0" anchor="ctr">
            <a:spAutoFit/>
          </a:bodyPr>
          <a:lstStyle/>
          <a:p>
            <a:pPr algn="r"/>
            <a:r>
              <a:rPr sz="900" b="1">
                <a:solidFill>
                  <a:srgbClr val="E44D3A"/>
                </a:solidFill>
                <a:latin typeface="Calibri"/>
              </a:rPr>
              <a:t>-14</a:t>
            </a:r>
          </a:p>
        </p:txBody>
      </p:sp>
      <p:sp>
        <p:nvSpPr>
          <p:cNvPr id="32" name="FMI Legend Chip"/>
          <p:cNvSpPr/>
          <p:nvPr/>
        </p:nvSpPr>
        <p:spPr>
          <a:xfrm>
            <a:off x="4928997" y="572169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571692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407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Light or Flexible Hold</a:t>
            </a:r>
          </a:p>
        </p:txBody>
      </p:sp>
      <p:sp>
        <p:nvSpPr>
          <p:cNvPr id="35" name="BPS Value 5"/>
          <p:cNvSpPr txBox="1"/>
          <p:nvPr/>
        </p:nvSpPr>
        <p:spPr>
          <a:xfrm>
            <a:off x="6896100" y="5702641"/>
            <a:ext cx="514350" cy="123825"/>
          </a:xfrm>
          <a:prstGeom prst="rect">
            <a:avLst/>
          </a:prstGeom>
          <a:noFill/>
        </p:spPr>
        <p:txBody>
          <a:bodyPr wrap="none" lIns="0" rIns="0" tIns="0" bIns="0" anchor="ctr">
            <a:spAutoFit/>
          </a:bodyPr>
          <a:lstStyle/>
          <a:p>
            <a:pPr algn="r"/>
            <a:r>
              <a:rPr sz="900" b="1">
                <a:solidFill>
                  <a:srgbClr val="2E7D32"/>
                </a:solidFill>
                <a:latin typeface="Calibri"/>
              </a:rPr>
              <a:t>+206</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Europe Read-out, By Hold Level</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hold level, light or flexible hold segment is expected to witness the highest CAGR of 7.3% over the forecast period. In terms of value share by hold level, the light or flexible hold segment is expected to dominate the market, gaining 206 BPS and accounting for 22.0% share by 2036.</a:t>
            </a:r>
          </a:p>
          <a:p>
            <a:pPr algn="l">
              <a:lnSpc>
                <a:spcPct val="110000"/>
              </a:lnSpc>
              <a:spcBef>
                <a:spcPts val="0"/>
              </a:spcBef>
              <a:spcAft>
                <a:spcPts val="500"/>
              </a:spcAft>
            </a:pPr>
            <a:r>
              <a:rPr sz="1150" b="0">
                <a:solidFill>
                  <a:srgbClr val="2E2E2E"/>
                </a:solidFill>
                <a:latin typeface="Calibri"/>
              </a:rPr>
              <a:t>The extra-strong hold segment is expected to lose 179 BPS over the forecast period to account for 16.5%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Hold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Hold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Growth,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Heatmap, By Hold Level (%)  ·  light = lower, dark = higher growth</a:t>
            </a:r>
          </a:p>
        </p:txBody>
      </p:sp>
      <p:sp>
        <p:nvSpPr>
          <p:cNvPr id="17" name="TextBox 16"/>
          <p:cNvSpPr txBox="1"/>
          <p:nvPr/>
        </p:nvSpPr>
        <p:spPr>
          <a:xfrm>
            <a:off x="12532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193743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6215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305762"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398992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674089"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35825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042416"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726580"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41074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094907"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7790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463234"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1473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3156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No Hold</a:t>
            </a:r>
          </a:p>
        </p:txBody>
      </p:sp>
      <p:sp>
        <p:nvSpPr>
          <p:cNvPr id="33" name="Rectangle 32"/>
          <p:cNvSpPr/>
          <p:nvPr/>
        </p:nvSpPr>
        <p:spPr>
          <a:xfrm>
            <a:off x="1253271" y="3305175"/>
            <a:ext cx="684164"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937435" y="3305175"/>
            <a:ext cx="684164" cy="65341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621598" y="3305175"/>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305762" y="3305175"/>
            <a:ext cx="684164" cy="65341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89925" y="3305175"/>
            <a:ext cx="684164" cy="65341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74089" y="3305175"/>
            <a:ext cx="684164" cy="653415"/>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358253" y="3305175"/>
            <a:ext cx="684164" cy="653415"/>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042416" y="3305175"/>
            <a:ext cx="684164" cy="653415"/>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726580" y="3305175"/>
            <a:ext cx="684164" cy="653415"/>
          </a:xfrm>
          <a:prstGeom prst="rect">
            <a:avLst/>
          </a:prstGeom>
          <a:solidFill>
            <a:srgbClr val="39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410743" y="3305175"/>
            <a:ext cx="684164" cy="653415"/>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94907" y="3305175"/>
            <a:ext cx="684164" cy="653415"/>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79071" y="3305175"/>
            <a:ext cx="684164" cy="653415"/>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63234" y="3305175"/>
            <a:ext cx="684164" cy="653415"/>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47398" y="3305175"/>
            <a:ext cx="684164" cy="653415"/>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31561" y="3305175"/>
            <a:ext cx="684164" cy="653415"/>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Light or Flexible Hold</a:t>
            </a:r>
          </a:p>
        </p:txBody>
      </p:sp>
      <p:sp>
        <p:nvSpPr>
          <p:cNvPr id="49" name="Rectangle 48"/>
          <p:cNvSpPr/>
          <p:nvPr/>
        </p:nvSpPr>
        <p:spPr>
          <a:xfrm>
            <a:off x="1253271" y="3958590"/>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937435" y="3958590"/>
            <a:ext cx="684164"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621598" y="3958590"/>
            <a:ext cx="684164" cy="65341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305762" y="3958590"/>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89925" y="3958590"/>
            <a:ext cx="684164" cy="653415"/>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74089" y="3958590"/>
            <a:ext cx="684164" cy="65341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358253" y="3958590"/>
            <a:ext cx="684164" cy="653415"/>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042416" y="3958590"/>
            <a:ext cx="684164" cy="653415"/>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726580" y="3958590"/>
            <a:ext cx="684164" cy="653415"/>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410743" y="3958590"/>
            <a:ext cx="684164" cy="653415"/>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94907" y="3958590"/>
            <a:ext cx="684164"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79071" y="3958590"/>
            <a:ext cx="684164" cy="653415"/>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63234" y="3958590"/>
            <a:ext cx="684164" cy="653415"/>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47398" y="3958590"/>
            <a:ext cx="684164" cy="653415"/>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31561" y="3958590"/>
            <a:ext cx="684164" cy="653415"/>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Medium Hold</a:t>
            </a:r>
          </a:p>
        </p:txBody>
      </p:sp>
      <p:sp>
        <p:nvSpPr>
          <p:cNvPr id="65" name="Rectangle 64"/>
          <p:cNvSpPr/>
          <p:nvPr/>
        </p:nvSpPr>
        <p:spPr>
          <a:xfrm>
            <a:off x="1253271" y="4612005"/>
            <a:ext cx="684164" cy="65341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937435" y="4612005"/>
            <a:ext cx="684164" cy="65341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621598" y="4612005"/>
            <a:ext cx="684164" cy="65341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305762" y="4612005"/>
            <a:ext cx="684164" cy="65341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89925" y="4612005"/>
            <a:ext cx="684164" cy="653415"/>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74089" y="4612005"/>
            <a:ext cx="684164" cy="653415"/>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358253" y="4612005"/>
            <a:ext cx="684164" cy="653415"/>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042416" y="4612005"/>
            <a:ext cx="684164" cy="653415"/>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726580" y="4612005"/>
            <a:ext cx="684164" cy="653415"/>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410743" y="4612005"/>
            <a:ext cx="684164" cy="653415"/>
          </a:xfrm>
          <a:prstGeom prst="rect">
            <a:avLst/>
          </a:prstGeom>
          <a:solidFill>
            <a:srgbClr val="68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94907" y="4612005"/>
            <a:ext cx="684164" cy="653415"/>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79071" y="4612005"/>
            <a:ext cx="684164" cy="653415"/>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63234" y="4612005"/>
            <a:ext cx="684164" cy="653415"/>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47398" y="4612005"/>
            <a:ext cx="684164" cy="653415"/>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31561" y="4612005"/>
            <a:ext cx="684164" cy="653415"/>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Strong Hold</a:t>
            </a:r>
          </a:p>
        </p:txBody>
      </p:sp>
      <p:sp>
        <p:nvSpPr>
          <p:cNvPr id="81" name="Rectangle 80"/>
          <p:cNvSpPr/>
          <p:nvPr/>
        </p:nvSpPr>
        <p:spPr>
          <a:xfrm>
            <a:off x="1253271" y="5265420"/>
            <a:ext cx="684164" cy="65341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937435" y="5265420"/>
            <a:ext cx="684164" cy="65341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621598" y="5265420"/>
            <a:ext cx="684164" cy="653415"/>
          </a:xfrm>
          <a:prstGeom prst="rect">
            <a:avLst/>
          </a:prstGeom>
          <a:solidFill>
            <a:srgbClr val="E4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305762" y="5265420"/>
            <a:ext cx="684164" cy="65341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989925" y="5265420"/>
            <a:ext cx="684164" cy="65341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674089" y="5265420"/>
            <a:ext cx="684164" cy="653415"/>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358253" y="5265420"/>
            <a:ext cx="684164" cy="653415"/>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042416" y="5265420"/>
            <a:ext cx="684164" cy="653415"/>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726580" y="5265420"/>
            <a:ext cx="684164" cy="65341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410743" y="5265420"/>
            <a:ext cx="684164" cy="653415"/>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094907" y="5265420"/>
            <a:ext cx="684164" cy="653415"/>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779071" y="5265420"/>
            <a:ext cx="684164" cy="65341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463234" y="5265420"/>
            <a:ext cx="684164" cy="65341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47398" y="5265420"/>
            <a:ext cx="684164" cy="653415"/>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31561" y="5265420"/>
            <a:ext cx="684164" cy="653415"/>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Extra-strong Hold</a:t>
            </a:r>
          </a:p>
        </p:txBody>
      </p:sp>
      <p:sp>
        <p:nvSpPr>
          <p:cNvPr id="97" name="Rectangle 96"/>
          <p:cNvSpPr/>
          <p:nvPr/>
        </p:nvSpPr>
        <p:spPr>
          <a:xfrm>
            <a:off x="1253271" y="5918835"/>
            <a:ext cx="684164" cy="65341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937435" y="5918835"/>
            <a:ext cx="684164" cy="65341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621598" y="5918835"/>
            <a:ext cx="684164"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305762" y="5918835"/>
            <a:ext cx="684164" cy="65341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989925" y="5918835"/>
            <a:ext cx="684164" cy="653415"/>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674089" y="5918835"/>
            <a:ext cx="684164"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358253" y="5918835"/>
            <a:ext cx="684164" cy="653415"/>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042416" y="5918835"/>
            <a:ext cx="684164" cy="65341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726580" y="5918835"/>
            <a:ext cx="684164" cy="653415"/>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410743" y="5918835"/>
            <a:ext cx="684164" cy="653415"/>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094907" y="5918835"/>
            <a:ext cx="684164" cy="653415"/>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779071" y="5918835"/>
            <a:ext cx="684164" cy="653415"/>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463234" y="5918835"/>
            <a:ext cx="684164" cy="653415"/>
          </a:xfrm>
          <a:prstGeom prst="rect">
            <a:avLst/>
          </a:prstGeom>
          <a:solidFill>
            <a:srgbClr val="A3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47398" y="5918835"/>
            <a:ext cx="684164" cy="653415"/>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31561" y="5918835"/>
            <a:ext cx="684164" cy="653415"/>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16.3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Finish</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Finish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Finish,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Finish segment categorizes the market by finish.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Natural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948.0</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1,647</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5.7%</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Matte</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947.6</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1,729</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6.2%</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Glossy or Wet-look</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915.3</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1,781</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6.9%</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finish, glossy or wet-look segment is expected to witness the highest CAGR of 6.9% over the forecast period. In terms of value share by finish, the glossy or wet-look segment is expected to dominate the market, gaining 197 BPS and accounting for 34.5% share by 2036.</a:t>
            </a:r>
          </a:p>
          <a:p>
            <a:pPr algn="l">
              <a:lnSpc>
                <a:spcPct val="110000"/>
              </a:lnSpc>
              <a:spcBef>
                <a:spcPts val="0"/>
              </a:spcBef>
              <a:spcAft>
                <a:spcPts val="500"/>
              </a:spcAft>
            </a:pPr>
            <a:r>
              <a:rPr sz="1100" b="0">
                <a:solidFill>
                  <a:srgbClr val="2E2E2E"/>
                </a:solidFill>
                <a:latin typeface="Calibri"/>
              </a:rPr>
              <a:t>Glossy or wet-look segment is projected to register 1.0X higher value than matte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Natural: </a:t>
            </a:r>
            <a:r>
              <a:rPr sz="1100" b="0">
                <a:solidFill>
                  <a:srgbClr val="2E2E2E"/>
                </a:solidFill>
                <a:latin typeface="Calibri"/>
              </a:rPr>
              <a:t>34% of 2026 value · 5.7%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Matte: </a:t>
            </a:r>
            <a:r>
              <a:rPr sz="1100" b="0">
                <a:solidFill>
                  <a:srgbClr val="2E2E2E"/>
                </a:solidFill>
                <a:latin typeface="Calibri"/>
              </a:rPr>
              <a:t>34% of 2026 value · 6.2%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Glossy or Wet-look: </a:t>
            </a:r>
            <a:r>
              <a:rPr sz="1100" b="0">
                <a:solidFill>
                  <a:srgbClr val="2E2E2E"/>
                </a:solidFill>
                <a:latin typeface="Calibri"/>
              </a:rPr>
              <a:t>33% of 2026 value · 6.9% CAGR grows fastest.</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Finish split shows how demand is distributed across finish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Finish segment is projected to grow at a CAGR of 6.3%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Structure &amp; Attractiveness, By Finish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Finish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Finish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Glossy or wet-look followed by matte are expected to be the two most attractive finish segments in the Europe hair styling products market in terms of value over the forecast period. Glossy or wet-look and matte exhibit a CAGR index of 110.0 and 99.1 and a market share index of 97.7 and 101.1 respectively, against the segment average of 100. The natural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Finish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Matte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Natural</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Glossy or Wet-look</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Europe Absolute $ Opportunity Analysis, By Finish</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glossy or wet-look segment is anticipated to witness an increase of 1.9X in terms of value as compared to 2026. The glossy or wet-look segment is expected to create an incremental opportunity of US$ 865.2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matte segment is expected to create an incremental opportunity of US$ 781.2 Mn for the overall hair styling products market from 2026 to 2036. The natural segment is expected to create an incremental opportunity of US$ 699.3 Mn for the overall hair styling products market from 2026 to 2036.</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Finish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Finish,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Finish (US$ Mn)</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74320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Analysis, By Finish</a:t>
            </a:r>
          </a:p>
        </p:txBody>
      </p:sp>
      <p:sp>
        <p:nvSpPr>
          <p:cNvPr id="17" name="Rectangle 16"/>
          <p:cNvSpPr/>
          <p:nvPr/>
        </p:nvSpPr>
        <p:spPr>
          <a:xfrm>
            <a:off x="276225" y="2981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067050"/>
            <a:ext cx="11639550" cy="3486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Glossy or wet-look segment is projected to register 1.0X higher value than matte segment in 2036. Among hair styling products by finish, glossy or wet-look segment is expected to witness the highest CAGR of 6.9% over the forecast period.</a:t>
            </a:r>
          </a:p>
          <a:p>
            <a:pPr algn="l">
              <a:lnSpc>
                <a:spcPct val="110000"/>
              </a:lnSpc>
              <a:spcBef>
                <a:spcPts val="0"/>
              </a:spcBef>
              <a:spcAft>
                <a:spcPts val="500"/>
              </a:spcAft>
            </a:pPr>
            <a:r>
              <a:rPr sz="1150" b="0">
                <a:solidFill>
                  <a:srgbClr val="2E2E2E"/>
                </a:solidFill>
                <a:latin typeface="Calibri"/>
              </a:rPr>
              <a:t>In terms of value share by finish, the glossy or wet-look segment is expected to dominate the market, gaining 197 BPS and accounting for 34.5% share by 2036. The natural segment is expected to lose 178 BPS over the forecast period to account for 31.9%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&amp; Share Shift,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Finish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Composition, By Finish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226328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25852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18232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Natural</a:t>
            </a:r>
          </a:p>
        </p:txBody>
      </p:sp>
      <p:sp>
        <p:nvSpPr>
          <p:cNvPr id="19" name="BPS Value 1"/>
          <p:cNvSpPr txBox="1"/>
          <p:nvPr/>
        </p:nvSpPr>
        <p:spPr>
          <a:xfrm>
            <a:off x="6896100" y="2244232"/>
            <a:ext cx="514350" cy="123825"/>
          </a:xfrm>
          <a:prstGeom prst="rect">
            <a:avLst/>
          </a:prstGeom>
          <a:noFill/>
        </p:spPr>
        <p:txBody>
          <a:bodyPr wrap="none" lIns="0" rIns="0" tIns="0" bIns="0" anchor="ctr">
            <a:spAutoFit/>
          </a:bodyPr>
          <a:lstStyle/>
          <a:p>
            <a:pPr algn="r"/>
            <a:r>
              <a:rPr sz="900" b="1">
                <a:solidFill>
                  <a:srgbClr val="E44D3A"/>
                </a:solidFill>
                <a:latin typeface="Calibri"/>
              </a:rPr>
              <a:t>-178</a:t>
            </a:r>
          </a:p>
        </p:txBody>
      </p:sp>
      <p:sp>
        <p:nvSpPr>
          <p:cNvPr id="20" name="FMI Legend Chip"/>
          <p:cNvSpPr/>
          <p:nvPr/>
        </p:nvSpPr>
        <p:spPr>
          <a:xfrm>
            <a:off x="4928997" y="381397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80921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73301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Matte</a:t>
            </a:r>
          </a:p>
        </p:txBody>
      </p:sp>
      <p:sp>
        <p:nvSpPr>
          <p:cNvPr id="23" name="BPS Value 2"/>
          <p:cNvSpPr txBox="1"/>
          <p:nvPr/>
        </p:nvSpPr>
        <p:spPr>
          <a:xfrm>
            <a:off x="6896100" y="3794923"/>
            <a:ext cx="514350" cy="123825"/>
          </a:xfrm>
          <a:prstGeom prst="rect">
            <a:avLst/>
          </a:prstGeom>
          <a:noFill/>
        </p:spPr>
        <p:txBody>
          <a:bodyPr wrap="none" lIns="0" rIns="0" tIns="0" bIns="0" anchor="ctr">
            <a:spAutoFit/>
          </a:bodyPr>
          <a:lstStyle/>
          <a:p>
            <a:pPr algn="r"/>
            <a:r>
              <a:rPr sz="900" b="1">
                <a:solidFill>
                  <a:srgbClr val="E44D3A"/>
                </a:solidFill>
                <a:latin typeface="Calibri"/>
              </a:rPr>
              <a:t>-18</a:t>
            </a:r>
          </a:p>
        </p:txBody>
      </p:sp>
      <p:sp>
        <p:nvSpPr>
          <p:cNvPr id="24" name="FMI Legend Chip"/>
          <p:cNvSpPr/>
          <p:nvPr/>
        </p:nvSpPr>
        <p:spPr>
          <a:xfrm>
            <a:off x="4928997" y="542584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542108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34488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Glossy or Wet-look</a:t>
            </a:r>
          </a:p>
        </p:txBody>
      </p:sp>
      <p:sp>
        <p:nvSpPr>
          <p:cNvPr id="27" name="BPS Value 3"/>
          <p:cNvSpPr txBox="1"/>
          <p:nvPr/>
        </p:nvSpPr>
        <p:spPr>
          <a:xfrm>
            <a:off x="6896100" y="5406792"/>
            <a:ext cx="514350" cy="123825"/>
          </a:xfrm>
          <a:prstGeom prst="rect">
            <a:avLst/>
          </a:prstGeom>
          <a:noFill/>
        </p:spPr>
        <p:txBody>
          <a:bodyPr wrap="none" lIns="0" rIns="0" tIns="0" bIns="0" anchor="ctr">
            <a:spAutoFit/>
          </a:bodyPr>
          <a:lstStyle/>
          <a:p>
            <a:pPr algn="r"/>
            <a:r>
              <a:rPr sz="900" b="1">
                <a:solidFill>
                  <a:srgbClr val="2E7D32"/>
                </a:solidFill>
                <a:latin typeface="Calibri"/>
              </a:rPr>
              <a:t>+197</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Europe Read-out, By Finish</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finish, glossy or wet-look segment is expected to witness the highest CAGR of 6.9% over the forecast period. In terms of value share by finish, the glossy or wet-look segment is expected to dominate the market, gaining 197 BPS and accounting for 34.5% share by 2036.</a:t>
            </a:r>
          </a:p>
          <a:p>
            <a:pPr algn="l">
              <a:lnSpc>
                <a:spcPct val="110000"/>
              </a:lnSpc>
              <a:spcBef>
                <a:spcPts val="0"/>
              </a:spcBef>
              <a:spcAft>
                <a:spcPts val="500"/>
              </a:spcAft>
            </a:pPr>
            <a:r>
              <a:rPr sz="1150" b="0">
                <a:solidFill>
                  <a:srgbClr val="2E2E2E"/>
                </a:solidFill>
                <a:latin typeface="Calibri"/>
              </a:rPr>
              <a:t>The natural segment is expected to lose 178 BPS over the forecast period to account for 31.9% share by 2036.</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Finish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Finish,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Growth,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5050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Heatmap, By Finish (%)  ·  light = lower, dark = higher growth</a:t>
            </a:r>
          </a:p>
        </p:txBody>
      </p:sp>
      <p:sp>
        <p:nvSpPr>
          <p:cNvPr id="17" name="TextBox 16"/>
          <p:cNvSpPr txBox="1"/>
          <p:nvPr/>
        </p:nvSpPr>
        <p:spPr>
          <a:xfrm>
            <a:off x="115183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84276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53368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22461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91553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60646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29739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98831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67924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37016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806109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75202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44294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3387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2479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28765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Matte</a:t>
            </a:r>
          </a:p>
        </p:txBody>
      </p:sp>
      <p:sp>
        <p:nvSpPr>
          <p:cNvPr id="33" name="Rectangle 32"/>
          <p:cNvSpPr/>
          <p:nvPr/>
        </p:nvSpPr>
        <p:spPr>
          <a:xfrm>
            <a:off x="1151835" y="2876550"/>
            <a:ext cx="690926" cy="1231900"/>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842761" y="2876550"/>
            <a:ext cx="690926" cy="123190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533687" y="2876550"/>
            <a:ext cx="690926" cy="123190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224613" y="2876550"/>
            <a:ext cx="690926" cy="1231900"/>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15539" y="2876550"/>
            <a:ext cx="690926" cy="123190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06465" y="2876550"/>
            <a:ext cx="690926" cy="123190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297391" y="2876550"/>
            <a:ext cx="690926" cy="1231900"/>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988317" y="2876550"/>
            <a:ext cx="690926" cy="1231900"/>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679243" y="2876550"/>
            <a:ext cx="690926" cy="1231900"/>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370169" y="2876550"/>
            <a:ext cx="690926" cy="1231900"/>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61095" y="2876550"/>
            <a:ext cx="690926" cy="1231900"/>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52021" y="2876550"/>
            <a:ext cx="690926" cy="1231900"/>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42947" y="2876550"/>
            <a:ext cx="690926" cy="1231900"/>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33873" y="2876550"/>
            <a:ext cx="690926" cy="1231900"/>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24799" y="2876550"/>
            <a:ext cx="690926" cy="1231900"/>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084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Natural</a:t>
            </a:r>
          </a:p>
        </p:txBody>
      </p:sp>
      <p:sp>
        <p:nvSpPr>
          <p:cNvPr id="49" name="Rectangle 48"/>
          <p:cNvSpPr/>
          <p:nvPr/>
        </p:nvSpPr>
        <p:spPr>
          <a:xfrm>
            <a:off x="1151835" y="4108450"/>
            <a:ext cx="690926" cy="123190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842761" y="4108450"/>
            <a:ext cx="690926" cy="1231900"/>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533687" y="4108450"/>
            <a:ext cx="690926" cy="123190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224613" y="4108450"/>
            <a:ext cx="690926" cy="123190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15539" y="4108450"/>
            <a:ext cx="690926" cy="123190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06465" y="4108450"/>
            <a:ext cx="690926" cy="123190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297391" y="4108450"/>
            <a:ext cx="690926" cy="1231900"/>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988317" y="4108450"/>
            <a:ext cx="690926" cy="1231900"/>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679243" y="4108450"/>
            <a:ext cx="690926" cy="1231900"/>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370169" y="4108450"/>
            <a:ext cx="690926" cy="1231900"/>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61095" y="4108450"/>
            <a:ext cx="690926" cy="1231900"/>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52021" y="4108450"/>
            <a:ext cx="690926" cy="1231900"/>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42947" y="4108450"/>
            <a:ext cx="690926" cy="1231900"/>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33873" y="4108450"/>
            <a:ext cx="690926" cy="1231900"/>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24799" y="4108450"/>
            <a:ext cx="690926" cy="1231900"/>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403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Glossy or Wet-look</a:t>
            </a:r>
          </a:p>
        </p:txBody>
      </p:sp>
      <p:sp>
        <p:nvSpPr>
          <p:cNvPr id="65" name="Rectangle 64"/>
          <p:cNvSpPr/>
          <p:nvPr/>
        </p:nvSpPr>
        <p:spPr>
          <a:xfrm>
            <a:off x="1151835" y="5340350"/>
            <a:ext cx="690926" cy="1231900"/>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842761" y="5340350"/>
            <a:ext cx="690926" cy="123190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533687" y="5340350"/>
            <a:ext cx="690926" cy="12319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224613" y="5340350"/>
            <a:ext cx="690926" cy="1231900"/>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15539" y="5340350"/>
            <a:ext cx="690926" cy="1231900"/>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06465" y="5340350"/>
            <a:ext cx="690926" cy="1231900"/>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297391" y="5340350"/>
            <a:ext cx="690926" cy="123190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988317" y="5340350"/>
            <a:ext cx="690926" cy="1231900"/>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679243" y="5340350"/>
            <a:ext cx="690926" cy="1231900"/>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370169" y="5340350"/>
            <a:ext cx="690926" cy="1231900"/>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61095" y="5340350"/>
            <a:ext cx="690926" cy="1231900"/>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52021" y="5340350"/>
            <a:ext cx="690926" cy="1231900"/>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42947" y="5340350"/>
            <a:ext cx="690926" cy="12319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33873" y="5340350"/>
            <a:ext cx="690926" cy="1231900"/>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24799" y="5340350"/>
            <a:ext cx="690926" cy="1231900"/>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2914650"/>
            <a:ext cx="104775" cy="98108"/>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005138"/>
            <a:ext cx="104775" cy="98108"/>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095625"/>
            <a:ext cx="104775" cy="98108"/>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186112"/>
            <a:ext cx="104775" cy="98108"/>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276600"/>
            <a:ext cx="104775" cy="98108"/>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367088"/>
            <a:ext cx="104775" cy="98108"/>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457575"/>
            <a:ext cx="104775" cy="98108"/>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548062"/>
            <a:ext cx="104775" cy="98108"/>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638550"/>
            <a:ext cx="104775" cy="98108"/>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729038"/>
            <a:ext cx="104775" cy="98108"/>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819525"/>
            <a:ext cx="104775" cy="98108"/>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10012"/>
            <a:ext cx="104775" cy="98108"/>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00500"/>
            <a:ext cx="104775" cy="98108"/>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090988"/>
            <a:ext cx="104775" cy="98108"/>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181475"/>
            <a:ext cx="104775" cy="98108"/>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271962"/>
            <a:ext cx="104775" cy="98108"/>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362450"/>
            <a:ext cx="104775" cy="98108"/>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452938"/>
            <a:ext cx="104775" cy="98108"/>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543425"/>
            <a:ext cx="104775" cy="98108"/>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33912"/>
            <a:ext cx="104775" cy="98108"/>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24400"/>
            <a:ext cx="104775" cy="98108"/>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14888"/>
            <a:ext cx="104775" cy="98108"/>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05375"/>
            <a:ext cx="104775" cy="98108"/>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4995862"/>
            <a:ext cx="104775" cy="98108"/>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086350"/>
            <a:ext cx="104775" cy="98108"/>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176838"/>
            <a:ext cx="104775" cy="98108"/>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267325"/>
            <a:ext cx="104775" cy="98108"/>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57812"/>
            <a:ext cx="104775" cy="98108"/>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48300"/>
            <a:ext cx="104775" cy="98108"/>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38788"/>
            <a:ext cx="104775" cy="98108"/>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29275"/>
            <a:ext cx="104775" cy="98108"/>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19762"/>
            <a:ext cx="104775" cy="98108"/>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10250"/>
            <a:ext cx="104775" cy="98108"/>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00738"/>
            <a:ext cx="104775" cy="98108"/>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5991225"/>
            <a:ext cx="104775" cy="98108"/>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81712"/>
            <a:ext cx="104775" cy="98108"/>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72200"/>
            <a:ext cx="104775" cy="98108"/>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62688"/>
            <a:ext cx="104775" cy="98108"/>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3175"/>
            <a:ext cx="104775" cy="98108"/>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3662"/>
            <a:ext cx="104775" cy="98108"/>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2914650"/>
            <a:ext cx="104775" cy="36195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84797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22" name="TextBox 121"/>
          <p:cNvSpPr txBox="1"/>
          <p:nvPr/>
        </p:nvSpPr>
        <p:spPr>
          <a:xfrm>
            <a:off x="11687175" y="465772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16.4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Mass Retail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550.9</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892.8</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4.9%</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Salon and Professional Distributi…</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530.6</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948.9</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6.0%</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Marketplaces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490.7</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1,023</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7.6%</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distribution channel, online marketplaces segment is expected to witness the highest CAGR of 7.6% over the forecast period. In terms of value share by distribution channel, the online marketplaces segment is expected to dominate the market, gaining 238 BPS and accounting for 19.8% share by 2036.</a:t>
            </a:r>
          </a:p>
          <a:p>
            <a:pPr algn="l">
              <a:lnSpc>
                <a:spcPct val="110000"/>
              </a:lnSpc>
              <a:spcBef>
                <a:spcPts val="0"/>
              </a:spcBef>
              <a:spcAft>
                <a:spcPts val="500"/>
              </a:spcAft>
            </a:pPr>
            <a:r>
              <a:rPr sz="1100" b="0">
                <a:solidFill>
                  <a:srgbClr val="2E2E2E"/>
                </a:solidFill>
                <a:latin typeface="Calibri"/>
              </a:rPr>
              <a:t>Online marketplaces segment is projected to register 1.1X higher value than salon and professional distribution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Mass Retail: </a:t>
            </a:r>
            <a:r>
              <a:rPr sz="1100" b="0">
                <a:solidFill>
                  <a:srgbClr val="2E2E2E"/>
                </a:solidFill>
                <a:latin typeface="Calibri"/>
              </a:rPr>
              <a:t>20% of 2026 value · 4.9%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Salon and Professional Distribution: </a:t>
            </a:r>
            <a:r>
              <a:rPr sz="1100" b="0">
                <a:solidFill>
                  <a:srgbClr val="2E2E2E"/>
                </a:solidFill>
                <a:latin typeface="Calibri"/>
              </a:rPr>
              <a:t>19% of 2026 value · 6.0%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Online Marketplaces: </a:t>
            </a:r>
            <a:r>
              <a:rPr sz="1100" b="0">
                <a:solidFill>
                  <a:srgbClr val="2E2E2E"/>
                </a:solidFill>
                <a:latin typeface="Calibri"/>
              </a:rPr>
              <a:t>17% of 2026 value · 7.6% CAGR grows fastest.</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Distribution Channel segment is projected to grow at a CAGR of 6.3%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Beauty Specialty Retail</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448.5</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840.3</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6.5%</a:t>
            </a:r>
          </a:p>
        </p:txBody>
      </p:sp>
      <p:sp>
        <p:nvSpPr>
          <p:cNvPr id="25" name="Oval 24"/>
          <p:cNvSpPr/>
          <p:nvPr/>
        </p:nvSpPr>
        <p:spPr>
          <a:xfrm>
            <a:off x="333375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26" name="Rounded Rectangle 25"/>
          <p:cNvSpPr/>
          <p:nvPr/>
        </p:nvSpPr>
        <p:spPr>
          <a:xfrm>
            <a:off x="523875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Pharmacies and Drugstores</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436.0</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743.8</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5.5%</a:t>
            </a:r>
          </a:p>
        </p:txBody>
      </p:sp>
      <p:sp>
        <p:nvSpPr>
          <p:cNvPr id="32" name="Oval 31"/>
          <p:cNvSpPr/>
          <p:nvPr/>
        </p:nvSpPr>
        <p:spPr>
          <a:xfrm>
            <a:off x="670560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33" name="Rounded Rectangle 32"/>
          <p:cNvSpPr/>
          <p:nvPr/>
        </p:nvSpPr>
        <p:spPr>
          <a:xfrm>
            <a:off x="861060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Brand-owned Online Stores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354.4</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707.9</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7.2%</a:t>
            </a:r>
          </a:p>
        </p:txBody>
      </p:sp>
      <p:sp>
        <p:nvSpPr>
          <p:cNvPr id="39" name="Oval 38"/>
          <p:cNvSpPr/>
          <p:nvPr/>
        </p:nvSpPr>
        <p:spPr>
          <a:xfrm>
            <a:off x="1007745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Beauty Specialty Retail: </a:t>
            </a:r>
            <a:r>
              <a:rPr sz="1100" b="0">
                <a:solidFill>
                  <a:srgbClr val="2E2E2E"/>
                </a:solidFill>
                <a:latin typeface="Calibri"/>
              </a:rPr>
              <a:t>16% of 2026 value · 6.5%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Pharmacies and Drugstores: </a:t>
            </a:r>
            <a:r>
              <a:rPr sz="1100" b="0">
                <a:solidFill>
                  <a:srgbClr val="2E2E2E"/>
                </a:solidFill>
                <a:latin typeface="Calibri"/>
              </a:rPr>
              <a:t>16% of 2026 value · 5.5%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Brand-owned Online Stores: </a:t>
            </a:r>
            <a:r>
              <a:rPr sz="1100" b="0">
                <a:solidFill>
                  <a:srgbClr val="2E2E2E"/>
                </a:solidFill>
                <a:latin typeface="Calibri"/>
              </a:rPr>
              <a:t>13% of 2026 value · 7.2% CAGR serves a niche.</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Online marketplaces followed by salon and professional distribution are expected to be the two most attractive distribution channel segments in the Europe hair styling products market in terms of value over the forecast period. Online marketplaces and salon and professional distribution exhibit a CAGR index of 121.9 and 95.7 and a market share index of 104.7 and 113.2 respectively, against the segment average of 100. The pharmacies and drugstores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Distribution Channel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Mass Retail</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Beauty Specialty Retail</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Salon and Professional Distribution</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Pharmacies and Drugstores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Distribution Channel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Online Marketplaces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Brand-owned Online Stores</a:t>
            </a:r>
          </a:p>
        </p:txBody>
      </p:sp>
      <p:graphicFrame>
        <p:nvGraphicFramePr>
          <p:cNvPr id="15" name="Chart 14"/>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Europe Absolute $ Opportunity Analysis, By Distribution Channel</a:t>
            </a:r>
          </a:p>
        </p:txBody>
      </p:sp>
      <p:sp>
        <p:nvSpPr>
          <p:cNvPr id="18" name="Rectangle 17"/>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online marketplaces segment is anticipated to witness an increase of 2.1X in terms of value as compared to 2026. The online marketplaces segment is expected to create an incremental opportunity of US$ 532.3 Mn for the overall hair styling products market from 2026 to 2036.</a:t>
            </a:r>
          </a:p>
          <a:p>
            <a:pPr algn="l">
              <a:lnSpc>
                <a:spcPct val="110000"/>
              </a:lnSpc>
              <a:spcBef>
                <a:spcPts val="0"/>
              </a:spcBef>
              <a:spcAft>
                <a:spcPts val="500"/>
              </a:spcAft>
            </a:pPr>
            <a:r>
              <a:rPr sz="1150" b="0">
                <a:solidFill>
                  <a:srgbClr val="2E2E2E"/>
                </a:solidFill>
                <a:latin typeface="Calibri"/>
              </a:rPr>
              <a:t>The salon and professional distribution segment is expected to create an incremental opportunity of US$ 418.4 Mn for the overall hair styling products market from 2026 to 2036. The beauty specialty retail segment is expected to create an incremental opportunity of US$ 391.9 Mn for the overall hair styling products market from 2026 to 2036.</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Distribution Channel (US$ Mn)</a:t>
            </a:r>
          </a:p>
        </p:txBody>
      </p:sp>
      <p:graphicFrame>
        <p:nvGraphicFramePr>
          <p:cNvPr id="13" name="Table 12"/>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Analysis, By Distribution Channel</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Online marketplaces segment is projected to register 1.1X higher value than salon and professional distribution segment in 2036. Among hair styling products by distribution channel, online marketplaces segment is expected to witness the highest CAGR of 7.6% over the forecast period.</a:t>
            </a:r>
          </a:p>
          <a:p>
            <a:pPr algn="l">
              <a:lnSpc>
                <a:spcPct val="110000"/>
              </a:lnSpc>
              <a:spcBef>
                <a:spcPts val="0"/>
              </a:spcBef>
              <a:spcAft>
                <a:spcPts val="500"/>
              </a:spcAft>
            </a:pPr>
            <a:r>
              <a:rPr sz="1150" b="0">
                <a:solidFill>
                  <a:srgbClr val="2E2E2E"/>
                </a:solidFill>
                <a:latin typeface="Calibri"/>
              </a:rPr>
              <a:t>In terms of value share by distribution channel, the online marketplaces segment is expected to dominate the market, gaining 238 BPS and accounting for 19.8% share by 2036. The mass retail segment is expected to lose 228 BPS over the forecast period to account for 17.3%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Composition, By Distribution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85088"/>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8032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0412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Brand-owned Online Stores</a:t>
            </a:r>
          </a:p>
        </p:txBody>
      </p:sp>
      <p:sp>
        <p:nvSpPr>
          <p:cNvPr id="19" name="BPS Value 1"/>
          <p:cNvSpPr txBox="1"/>
          <p:nvPr/>
        </p:nvSpPr>
        <p:spPr>
          <a:xfrm>
            <a:off x="6896100" y="1966038"/>
            <a:ext cx="514350" cy="123825"/>
          </a:xfrm>
          <a:prstGeom prst="rect">
            <a:avLst/>
          </a:prstGeom>
          <a:noFill/>
        </p:spPr>
        <p:txBody>
          <a:bodyPr wrap="none" lIns="0" rIns="0" tIns="0" bIns="0" anchor="ctr">
            <a:spAutoFit/>
          </a:bodyPr>
          <a:lstStyle/>
          <a:p>
            <a:pPr algn="r"/>
            <a:r>
              <a:rPr sz="900" b="1">
                <a:solidFill>
                  <a:srgbClr val="2E7D32"/>
                </a:solidFill>
                <a:latin typeface="Calibri"/>
              </a:rPr>
              <a:t>+112</a:t>
            </a:r>
          </a:p>
        </p:txBody>
      </p:sp>
      <p:sp>
        <p:nvSpPr>
          <p:cNvPr id="20" name="FMI Legend Chip"/>
          <p:cNvSpPr/>
          <p:nvPr/>
        </p:nvSpPr>
        <p:spPr>
          <a:xfrm>
            <a:off x="4928997" y="2628696"/>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62393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54773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Pharmacies and Drugstores</a:t>
            </a:r>
          </a:p>
        </p:txBody>
      </p:sp>
      <p:sp>
        <p:nvSpPr>
          <p:cNvPr id="23" name="BPS Value 2"/>
          <p:cNvSpPr txBox="1"/>
          <p:nvPr/>
        </p:nvSpPr>
        <p:spPr>
          <a:xfrm>
            <a:off x="6896100" y="2609646"/>
            <a:ext cx="514350" cy="123825"/>
          </a:xfrm>
          <a:prstGeom prst="rect">
            <a:avLst/>
          </a:prstGeom>
          <a:noFill/>
        </p:spPr>
        <p:txBody>
          <a:bodyPr wrap="none" lIns="0" rIns="0" tIns="0" bIns="0" anchor="ctr">
            <a:spAutoFit/>
          </a:bodyPr>
          <a:lstStyle/>
          <a:p>
            <a:pPr algn="r"/>
            <a:r>
              <a:rPr sz="900" b="1">
                <a:solidFill>
                  <a:srgbClr val="E44D3A"/>
                </a:solidFill>
                <a:latin typeface="Calibri"/>
              </a:rPr>
              <a:t>-108</a:t>
            </a:r>
          </a:p>
        </p:txBody>
      </p:sp>
      <p:sp>
        <p:nvSpPr>
          <p:cNvPr id="24" name="FMI Legend Chip"/>
          <p:cNvSpPr/>
          <p:nvPr/>
        </p:nvSpPr>
        <p:spPr>
          <a:xfrm>
            <a:off x="4928997" y="333102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32625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25005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Beauty Specialty Retail</a:t>
            </a:r>
          </a:p>
        </p:txBody>
      </p:sp>
      <p:sp>
        <p:nvSpPr>
          <p:cNvPr id="27" name="BPS Value 3"/>
          <p:cNvSpPr txBox="1"/>
          <p:nvPr/>
        </p:nvSpPr>
        <p:spPr>
          <a:xfrm>
            <a:off x="6896100" y="3311971"/>
            <a:ext cx="514350" cy="123825"/>
          </a:xfrm>
          <a:prstGeom prst="rect">
            <a:avLst/>
          </a:prstGeom>
          <a:noFill/>
        </p:spPr>
        <p:txBody>
          <a:bodyPr wrap="none" lIns="0" rIns="0" tIns="0" bIns="0" anchor="ctr">
            <a:spAutoFit/>
          </a:bodyPr>
          <a:lstStyle/>
          <a:p>
            <a:pPr algn="r"/>
            <a:r>
              <a:rPr sz="900" b="1">
                <a:solidFill>
                  <a:srgbClr val="2E7D32"/>
                </a:solidFill>
                <a:latin typeface="Calibri"/>
              </a:rPr>
              <a:t>+34</a:t>
            </a:r>
          </a:p>
        </p:txBody>
      </p:sp>
      <p:sp>
        <p:nvSpPr>
          <p:cNvPr id="28" name="FMI Legend Chip"/>
          <p:cNvSpPr/>
          <p:nvPr/>
        </p:nvSpPr>
        <p:spPr>
          <a:xfrm>
            <a:off x="4928997" y="409938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09462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01842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Mass Retail</a:t>
            </a:r>
          </a:p>
        </p:txBody>
      </p:sp>
      <p:sp>
        <p:nvSpPr>
          <p:cNvPr id="31" name="BPS Value 4"/>
          <p:cNvSpPr txBox="1"/>
          <p:nvPr/>
        </p:nvSpPr>
        <p:spPr>
          <a:xfrm>
            <a:off x="6896100" y="4080334"/>
            <a:ext cx="514350" cy="123825"/>
          </a:xfrm>
          <a:prstGeom prst="rect">
            <a:avLst/>
          </a:prstGeom>
          <a:noFill/>
        </p:spPr>
        <p:txBody>
          <a:bodyPr wrap="none" lIns="0" rIns="0" tIns="0" bIns="0" anchor="ctr">
            <a:spAutoFit/>
          </a:bodyPr>
          <a:lstStyle/>
          <a:p>
            <a:pPr algn="r"/>
            <a:r>
              <a:rPr sz="900" b="1">
                <a:solidFill>
                  <a:srgbClr val="E44D3A"/>
                </a:solidFill>
                <a:latin typeface="Calibri"/>
              </a:rPr>
              <a:t>-228</a:t>
            </a:r>
          </a:p>
        </p:txBody>
      </p:sp>
      <p:sp>
        <p:nvSpPr>
          <p:cNvPr id="32" name="FMI Legend Chip"/>
          <p:cNvSpPr/>
          <p:nvPr/>
        </p:nvSpPr>
        <p:spPr>
          <a:xfrm>
            <a:off x="4928997" y="491589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491113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83493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Salon and Professional Distribution</a:t>
            </a:r>
          </a:p>
        </p:txBody>
      </p:sp>
      <p:sp>
        <p:nvSpPr>
          <p:cNvPr id="35" name="BPS Value 5"/>
          <p:cNvSpPr txBox="1"/>
          <p:nvPr/>
        </p:nvSpPr>
        <p:spPr>
          <a:xfrm>
            <a:off x="6896100" y="4896849"/>
            <a:ext cx="514350" cy="123825"/>
          </a:xfrm>
          <a:prstGeom prst="rect">
            <a:avLst/>
          </a:prstGeom>
          <a:noFill/>
        </p:spPr>
        <p:txBody>
          <a:bodyPr wrap="none" lIns="0" rIns="0" tIns="0" bIns="0" anchor="ctr">
            <a:spAutoFit/>
          </a:bodyPr>
          <a:lstStyle/>
          <a:p>
            <a:pPr algn="r"/>
            <a:r>
              <a:rPr sz="900" b="1">
                <a:solidFill>
                  <a:srgbClr val="E44D3A"/>
                </a:solidFill>
                <a:latin typeface="Calibri"/>
              </a:rPr>
              <a:t>-47</a:t>
            </a:r>
          </a:p>
        </p:txBody>
      </p:sp>
      <p:sp>
        <p:nvSpPr>
          <p:cNvPr id="36" name="FMI Legend Chip"/>
          <p:cNvSpPr/>
          <p:nvPr/>
        </p:nvSpPr>
        <p:spPr>
          <a:xfrm>
            <a:off x="4928997" y="579011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78535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70915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Marketplaces</a:t>
            </a:r>
          </a:p>
        </p:txBody>
      </p:sp>
      <p:sp>
        <p:nvSpPr>
          <p:cNvPr id="39" name="BPS Value 6"/>
          <p:cNvSpPr txBox="1"/>
          <p:nvPr/>
        </p:nvSpPr>
        <p:spPr>
          <a:xfrm>
            <a:off x="6896100" y="5771069"/>
            <a:ext cx="514350" cy="123825"/>
          </a:xfrm>
          <a:prstGeom prst="rect">
            <a:avLst/>
          </a:prstGeom>
          <a:noFill/>
        </p:spPr>
        <p:txBody>
          <a:bodyPr wrap="none" lIns="0" rIns="0" tIns="0" bIns="0" anchor="ctr">
            <a:spAutoFit/>
          </a:bodyPr>
          <a:lstStyle/>
          <a:p>
            <a:pPr algn="r"/>
            <a:r>
              <a:rPr sz="900" b="1">
                <a:solidFill>
                  <a:srgbClr val="2E7D32"/>
                </a:solidFill>
                <a:latin typeface="Calibri"/>
              </a:rPr>
              <a:t>+238</a:t>
            </a:r>
          </a:p>
        </p:txBody>
      </p:sp>
      <p:sp>
        <p:nvSpPr>
          <p:cNvPr id="40" name="Rounded Rectangle 3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Europe Read-out, By Distribution Channel</a:t>
            </a:r>
          </a:p>
        </p:txBody>
      </p:sp>
      <p:sp>
        <p:nvSpPr>
          <p:cNvPr id="42" name="Rectangle 41"/>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distribution channel, online marketplaces segment is expected to witness the highest CAGR of 7.6% over the forecast period. In terms of value share by distribution channel, the online marketplaces segment is expected to dominate the market, gaining 238 BPS and accounting for 19.8% share by 2036.</a:t>
            </a:r>
          </a:p>
          <a:p>
            <a:pPr algn="l">
              <a:lnSpc>
                <a:spcPct val="110000"/>
              </a:lnSpc>
              <a:spcBef>
                <a:spcPts val="0"/>
              </a:spcBef>
              <a:spcAft>
                <a:spcPts val="500"/>
              </a:spcAft>
            </a:pPr>
            <a:r>
              <a:rPr sz="1150" b="0">
                <a:solidFill>
                  <a:srgbClr val="2E2E2E"/>
                </a:solidFill>
                <a:latin typeface="Calibri"/>
              </a:rPr>
              <a:t>The mass retail segment is expected to lose 228 BPS over the forecast period to account for 17.3% share by 2036.</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527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Heatmap, By Distribution Channel (%)  ·  light = lower, dark = higher growth</a:t>
            </a:r>
          </a:p>
        </p:txBody>
      </p:sp>
      <p:sp>
        <p:nvSpPr>
          <p:cNvPr id="17" name="TextBox 16"/>
          <p:cNvSpPr txBox="1"/>
          <p:nvPr/>
        </p:nvSpPr>
        <p:spPr>
          <a:xfrm>
            <a:off x="185233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49655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078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501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2923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346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1768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1915"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614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036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459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3882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304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27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49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52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Mass Retail</a:t>
            </a:r>
          </a:p>
        </p:txBody>
      </p:sp>
      <p:sp>
        <p:nvSpPr>
          <p:cNvPr id="33" name="Rectangle 32"/>
          <p:cNvSpPr/>
          <p:nvPr/>
        </p:nvSpPr>
        <p:spPr>
          <a:xfrm>
            <a:off x="1852331" y="3524250"/>
            <a:ext cx="644226" cy="508000"/>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496557" y="3524250"/>
            <a:ext cx="644226" cy="508000"/>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0784" y="3524250"/>
            <a:ext cx="644226" cy="508000"/>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5010" y="3524250"/>
            <a:ext cx="644226" cy="508000"/>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29236" y="3524250"/>
            <a:ext cx="644226" cy="50800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3462" y="3524250"/>
            <a:ext cx="644226" cy="50800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17689" y="3524250"/>
            <a:ext cx="644226" cy="50800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1915" y="3524250"/>
            <a:ext cx="644226" cy="50800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6141" y="3524250"/>
            <a:ext cx="644226" cy="50800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0367" y="3524250"/>
            <a:ext cx="644226" cy="50800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4594" y="3524250"/>
            <a:ext cx="644226" cy="508000"/>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38820" y="3524250"/>
            <a:ext cx="644226" cy="50800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3046" y="3524250"/>
            <a:ext cx="644226" cy="508000"/>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272" y="3524250"/>
            <a:ext cx="644226" cy="508000"/>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499" y="3524250"/>
            <a:ext cx="644226" cy="50800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32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Beauty Specialty Retail</a:t>
            </a:r>
          </a:p>
        </p:txBody>
      </p:sp>
      <p:sp>
        <p:nvSpPr>
          <p:cNvPr id="49" name="Rectangle 48"/>
          <p:cNvSpPr/>
          <p:nvPr/>
        </p:nvSpPr>
        <p:spPr>
          <a:xfrm>
            <a:off x="1852331" y="4032250"/>
            <a:ext cx="644226" cy="508000"/>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496557" y="4032250"/>
            <a:ext cx="644226" cy="50800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0784" y="4032250"/>
            <a:ext cx="644226" cy="50800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5010" y="4032250"/>
            <a:ext cx="644226" cy="508000"/>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29236" y="4032250"/>
            <a:ext cx="644226" cy="50800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3462" y="4032250"/>
            <a:ext cx="644226" cy="50800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17689" y="4032250"/>
            <a:ext cx="644226" cy="508000"/>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1915" y="4032250"/>
            <a:ext cx="644226" cy="508000"/>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6141" y="4032250"/>
            <a:ext cx="644226" cy="508000"/>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0367" y="4032250"/>
            <a:ext cx="644226" cy="508000"/>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4594" y="4032250"/>
            <a:ext cx="644226" cy="508000"/>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38820" y="4032250"/>
            <a:ext cx="644226" cy="508000"/>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3046" y="4032250"/>
            <a:ext cx="644226" cy="508000"/>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272" y="4032250"/>
            <a:ext cx="644226" cy="508000"/>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499" y="4032250"/>
            <a:ext cx="644226" cy="508000"/>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0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Salon and Professional Distribution</a:t>
            </a:r>
          </a:p>
        </p:txBody>
      </p:sp>
      <p:sp>
        <p:nvSpPr>
          <p:cNvPr id="65" name="Rectangle 64"/>
          <p:cNvSpPr/>
          <p:nvPr/>
        </p:nvSpPr>
        <p:spPr>
          <a:xfrm>
            <a:off x="1852331" y="4540250"/>
            <a:ext cx="644226" cy="50800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496557" y="4540250"/>
            <a:ext cx="644226" cy="508000"/>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0784" y="4540250"/>
            <a:ext cx="644226" cy="508000"/>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5010" y="4540250"/>
            <a:ext cx="644226" cy="50800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29236" y="4540250"/>
            <a:ext cx="644226" cy="50800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3462" y="4540250"/>
            <a:ext cx="644226" cy="508000"/>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17689" y="4540250"/>
            <a:ext cx="644226" cy="50800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1915" y="4540250"/>
            <a:ext cx="644226" cy="508000"/>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6141" y="4540250"/>
            <a:ext cx="644226" cy="50800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0367" y="4540250"/>
            <a:ext cx="644226" cy="508000"/>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4594" y="4540250"/>
            <a:ext cx="644226" cy="508000"/>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38820" y="4540250"/>
            <a:ext cx="644226" cy="508000"/>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3046" y="4540250"/>
            <a:ext cx="644226" cy="508000"/>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272" y="4540250"/>
            <a:ext cx="644226" cy="508000"/>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499" y="4540250"/>
            <a:ext cx="644226" cy="508000"/>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48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Pharmacies and Drugstores</a:t>
            </a:r>
          </a:p>
        </p:txBody>
      </p:sp>
      <p:sp>
        <p:nvSpPr>
          <p:cNvPr id="81" name="Rectangle 80"/>
          <p:cNvSpPr/>
          <p:nvPr/>
        </p:nvSpPr>
        <p:spPr>
          <a:xfrm>
            <a:off x="1852331" y="5048250"/>
            <a:ext cx="644226" cy="50800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496557" y="5048250"/>
            <a:ext cx="644226" cy="50800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0784" y="5048250"/>
            <a:ext cx="644226" cy="508000"/>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5010" y="5048250"/>
            <a:ext cx="644226" cy="508000"/>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29236" y="5048250"/>
            <a:ext cx="644226" cy="508000"/>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3462" y="5048250"/>
            <a:ext cx="644226" cy="508000"/>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17689" y="5048250"/>
            <a:ext cx="644226" cy="50800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1915" y="5048250"/>
            <a:ext cx="644226" cy="508000"/>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6141" y="5048250"/>
            <a:ext cx="644226" cy="50800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0367" y="5048250"/>
            <a:ext cx="644226" cy="50800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4594" y="5048250"/>
            <a:ext cx="644226" cy="50800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38820" y="5048250"/>
            <a:ext cx="644226" cy="508000"/>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3046" y="5048250"/>
            <a:ext cx="644226" cy="50800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272" y="5048250"/>
            <a:ext cx="644226" cy="50800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499" y="5048250"/>
            <a:ext cx="644226" cy="50800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556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Online Marketplaces</a:t>
            </a:r>
          </a:p>
        </p:txBody>
      </p:sp>
      <p:sp>
        <p:nvSpPr>
          <p:cNvPr id="97" name="Rectangle 96"/>
          <p:cNvSpPr/>
          <p:nvPr/>
        </p:nvSpPr>
        <p:spPr>
          <a:xfrm>
            <a:off x="1852331" y="5556250"/>
            <a:ext cx="644226" cy="5080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496557" y="5556250"/>
            <a:ext cx="644226" cy="50800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0784" y="5556250"/>
            <a:ext cx="644226" cy="508000"/>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5010" y="5556250"/>
            <a:ext cx="644226" cy="50800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29236" y="5556250"/>
            <a:ext cx="644226" cy="508000"/>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3462" y="5556250"/>
            <a:ext cx="644226" cy="50800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17689" y="5556250"/>
            <a:ext cx="644226" cy="508000"/>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1915" y="5556250"/>
            <a:ext cx="644226" cy="508000"/>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6141" y="5556250"/>
            <a:ext cx="644226" cy="508000"/>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0367" y="5556250"/>
            <a:ext cx="644226" cy="508000"/>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4594" y="5556250"/>
            <a:ext cx="644226" cy="5080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38820" y="5556250"/>
            <a:ext cx="644226" cy="508000"/>
          </a:xfrm>
          <a:prstGeom prst="rect">
            <a:avLst/>
          </a:prstGeom>
          <a:solidFill>
            <a:srgbClr val="0B39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3046" y="5556250"/>
            <a:ext cx="644226" cy="508000"/>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272" y="5556250"/>
            <a:ext cx="644226" cy="508000"/>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499" y="5556250"/>
            <a:ext cx="644226" cy="508000"/>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6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Brand-owned Online Stores</a:t>
            </a:r>
          </a:p>
        </p:txBody>
      </p:sp>
      <p:sp>
        <p:nvSpPr>
          <p:cNvPr id="113" name="Rectangle 112"/>
          <p:cNvSpPr/>
          <p:nvPr/>
        </p:nvSpPr>
        <p:spPr>
          <a:xfrm>
            <a:off x="1852331" y="6064250"/>
            <a:ext cx="644226" cy="508000"/>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496557" y="6064250"/>
            <a:ext cx="644226" cy="508000"/>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0784" y="6064250"/>
            <a:ext cx="644226" cy="50800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5010" y="6064250"/>
            <a:ext cx="644226" cy="508000"/>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29236" y="6064250"/>
            <a:ext cx="644226" cy="50800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3462" y="6064250"/>
            <a:ext cx="644226" cy="50800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17689" y="6064250"/>
            <a:ext cx="644226" cy="50800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1915" y="6064250"/>
            <a:ext cx="644226" cy="508000"/>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6141" y="6064250"/>
            <a:ext cx="644226" cy="508000"/>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0367" y="6064250"/>
            <a:ext cx="644226" cy="508000"/>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4594" y="6064250"/>
            <a:ext cx="644226" cy="508000"/>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38820" y="6064250"/>
            <a:ext cx="644226" cy="508000"/>
          </a:xfrm>
          <a:prstGeom prst="rect">
            <a:avLst/>
          </a:prstGeom>
          <a:solidFill>
            <a:srgbClr val="0D61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3046" y="6064250"/>
            <a:ext cx="644226" cy="508000"/>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272" y="6064250"/>
            <a:ext cx="644226" cy="508000"/>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499" y="6064250"/>
            <a:ext cx="644226" cy="508000"/>
          </a:xfrm>
          <a:prstGeom prst="rect">
            <a:avLst/>
          </a:prstGeom>
          <a:solidFill>
            <a:srgbClr val="0D63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562350"/>
            <a:ext cx="104775" cy="8191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636645"/>
            <a:ext cx="104775" cy="8191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710940"/>
            <a:ext cx="104775" cy="8191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785235"/>
            <a:ext cx="104775" cy="8191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3859530"/>
            <a:ext cx="104775" cy="8191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3933825"/>
            <a:ext cx="104775" cy="8191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008120"/>
            <a:ext cx="104775" cy="8191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082415"/>
            <a:ext cx="104775" cy="8191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156710"/>
            <a:ext cx="104775" cy="8191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231005"/>
            <a:ext cx="104775" cy="8191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305300"/>
            <a:ext cx="104775" cy="8191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379595"/>
            <a:ext cx="104775" cy="8191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453890"/>
            <a:ext cx="104775" cy="8191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528185"/>
            <a:ext cx="104775" cy="8191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602480"/>
            <a:ext cx="104775" cy="8191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676775"/>
            <a:ext cx="104775" cy="8191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751070"/>
            <a:ext cx="104775" cy="8191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825365"/>
            <a:ext cx="104775" cy="8191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899660"/>
            <a:ext cx="104775" cy="8191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973955"/>
            <a:ext cx="104775" cy="8191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048250"/>
            <a:ext cx="104775" cy="8191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122545"/>
            <a:ext cx="104775" cy="8191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196840"/>
            <a:ext cx="104775" cy="8191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271135"/>
            <a:ext cx="104775" cy="8191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345430"/>
            <a:ext cx="104775" cy="8191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19725"/>
            <a:ext cx="104775" cy="8191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494020"/>
            <a:ext cx="104775" cy="8191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568315"/>
            <a:ext cx="104775" cy="8191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642610"/>
            <a:ext cx="104775" cy="8191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16905"/>
            <a:ext cx="104775" cy="8191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791200"/>
            <a:ext cx="104775" cy="8191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865495"/>
            <a:ext cx="104775" cy="8191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39790"/>
            <a:ext cx="104775" cy="8191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14085"/>
            <a:ext cx="104775" cy="8191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088380"/>
            <a:ext cx="104775" cy="8191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62675"/>
            <a:ext cx="104775" cy="8191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36970"/>
            <a:ext cx="104775" cy="8191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11265"/>
            <a:ext cx="104775" cy="8191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85560"/>
            <a:ext cx="104775" cy="8191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59855"/>
            <a:ext cx="104775" cy="8191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562350"/>
            <a:ext cx="104775" cy="29718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49567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70" name="TextBox 169"/>
          <p:cNvSpPr txBox="1"/>
          <p:nvPr/>
        </p:nvSpPr>
        <p:spPr>
          <a:xfrm>
            <a:off x="11687175" y="498157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16.5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Primary Styling Benefit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Primary Styling Benefit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Primary Styling Benefit,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Primary Styling Benefit segment categorizes the market by primary styling benefit.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330779"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330779"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Smoothing and Frizz Control</a:t>
            </a:r>
          </a:p>
        </p:txBody>
      </p:sp>
      <p:sp>
        <p:nvSpPr>
          <p:cNvPr id="23" name="Rectangle 22"/>
          <p:cNvSpPr/>
          <p:nvPr/>
        </p:nvSpPr>
        <p:spPr>
          <a:xfrm>
            <a:off x="1866900"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456.4</a:t>
            </a:r>
          </a:p>
        </p:txBody>
      </p:sp>
      <p:sp>
        <p:nvSpPr>
          <p:cNvPr id="24" name="Rectangle 23"/>
          <p:cNvSpPr/>
          <p:nvPr/>
        </p:nvSpPr>
        <p:spPr>
          <a:xfrm>
            <a:off x="1866900"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882.9</a:t>
            </a:r>
          </a:p>
        </p:txBody>
      </p:sp>
      <p:sp>
        <p:nvSpPr>
          <p:cNvPr id="25" name="Rectangle 24"/>
          <p:cNvSpPr/>
          <p:nvPr/>
        </p:nvSpPr>
        <p:spPr>
          <a:xfrm>
            <a:off x="1866900"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6.8%</a:t>
            </a:r>
          </a:p>
        </p:txBody>
      </p:sp>
      <p:sp>
        <p:nvSpPr>
          <p:cNvPr id="26" name="Oval 25"/>
          <p:cNvSpPr/>
          <p:nvPr/>
        </p:nvSpPr>
        <p:spPr>
          <a:xfrm>
            <a:off x="237036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311979" y="1773916"/>
            <a:ext cx="1330779"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311979" y="1992961"/>
            <a:ext cx="1330779"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350079"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Hold and Shape</a:t>
            </a:r>
          </a:p>
        </p:txBody>
      </p:sp>
      <p:sp>
        <p:nvSpPr>
          <p:cNvPr id="30" name="Rectangle 29"/>
          <p:cNvSpPr/>
          <p:nvPr/>
        </p:nvSpPr>
        <p:spPr>
          <a:xfrm>
            <a:off x="3311979"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442.7</a:t>
            </a:r>
          </a:p>
        </p:txBody>
      </p:sp>
      <p:sp>
        <p:nvSpPr>
          <p:cNvPr id="31" name="Rectangle 30"/>
          <p:cNvSpPr/>
          <p:nvPr/>
        </p:nvSpPr>
        <p:spPr>
          <a:xfrm>
            <a:off x="3311979"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695.1</a:t>
            </a:r>
          </a:p>
        </p:txBody>
      </p:sp>
      <p:sp>
        <p:nvSpPr>
          <p:cNvPr id="32" name="Rectangle 31"/>
          <p:cNvSpPr/>
          <p:nvPr/>
        </p:nvSpPr>
        <p:spPr>
          <a:xfrm>
            <a:off x="3311979"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4.6%</a:t>
            </a:r>
          </a:p>
        </p:txBody>
      </p:sp>
      <p:sp>
        <p:nvSpPr>
          <p:cNvPr id="33" name="Oval 32"/>
          <p:cNvSpPr/>
          <p:nvPr/>
        </p:nvSpPr>
        <p:spPr>
          <a:xfrm>
            <a:off x="3815443"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4757057" y="1773916"/>
            <a:ext cx="1330779"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4757057" y="1992961"/>
            <a:ext cx="1330779"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795157"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Separation</a:t>
            </a:r>
          </a:p>
        </p:txBody>
      </p:sp>
      <p:sp>
        <p:nvSpPr>
          <p:cNvPr id="37" name="Rectangle 36"/>
          <p:cNvSpPr/>
          <p:nvPr/>
        </p:nvSpPr>
        <p:spPr>
          <a:xfrm>
            <a:off x="4757057"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406.3</a:t>
            </a:r>
          </a:p>
        </p:txBody>
      </p:sp>
      <p:sp>
        <p:nvSpPr>
          <p:cNvPr id="38" name="Rectangle 37"/>
          <p:cNvSpPr/>
          <p:nvPr/>
        </p:nvSpPr>
        <p:spPr>
          <a:xfrm>
            <a:off x="4757057"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737.9</a:t>
            </a:r>
          </a:p>
        </p:txBody>
      </p:sp>
      <p:sp>
        <p:nvSpPr>
          <p:cNvPr id="39" name="Rectangle 38"/>
          <p:cNvSpPr/>
          <p:nvPr/>
        </p:nvSpPr>
        <p:spPr>
          <a:xfrm>
            <a:off x="4757057"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6.1%</a:t>
            </a:r>
          </a:p>
        </p:txBody>
      </p:sp>
      <p:sp>
        <p:nvSpPr>
          <p:cNvPr id="40" name="Oval 39"/>
          <p:cNvSpPr/>
          <p:nvPr/>
        </p:nvSpPr>
        <p:spPr>
          <a:xfrm>
            <a:off x="5260521"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202136" y="1773916"/>
            <a:ext cx="1330779"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202136" y="1992961"/>
            <a:ext cx="1330779"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240236"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Curl Definition</a:t>
            </a:r>
          </a:p>
        </p:txBody>
      </p:sp>
      <p:sp>
        <p:nvSpPr>
          <p:cNvPr id="44" name="Rectangle 43"/>
          <p:cNvSpPr/>
          <p:nvPr/>
        </p:nvSpPr>
        <p:spPr>
          <a:xfrm>
            <a:off x="6202136"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394.6</a:t>
            </a:r>
          </a:p>
        </p:txBody>
      </p:sp>
      <p:sp>
        <p:nvSpPr>
          <p:cNvPr id="45" name="Rectangle 44"/>
          <p:cNvSpPr/>
          <p:nvPr/>
        </p:nvSpPr>
        <p:spPr>
          <a:xfrm>
            <a:off x="6202136"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834.6</a:t>
            </a:r>
          </a:p>
        </p:txBody>
      </p:sp>
      <p:sp>
        <p:nvSpPr>
          <p:cNvPr id="46" name="Rectangle 45"/>
          <p:cNvSpPr/>
          <p:nvPr/>
        </p:nvSpPr>
        <p:spPr>
          <a:xfrm>
            <a:off x="6202136"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7.8%</a:t>
            </a:r>
          </a:p>
        </p:txBody>
      </p:sp>
      <p:sp>
        <p:nvSpPr>
          <p:cNvPr id="47" name="Oval 46"/>
          <p:cNvSpPr/>
          <p:nvPr/>
        </p:nvSpPr>
        <p:spPr>
          <a:xfrm>
            <a:off x="670560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7647214" y="1773916"/>
            <a:ext cx="1330779"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647214" y="1992961"/>
            <a:ext cx="1330779"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7685314"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Volume and Root Lift</a:t>
            </a:r>
          </a:p>
        </p:txBody>
      </p:sp>
      <p:sp>
        <p:nvSpPr>
          <p:cNvPr id="51" name="Rectangle 50"/>
          <p:cNvSpPr/>
          <p:nvPr/>
        </p:nvSpPr>
        <p:spPr>
          <a:xfrm>
            <a:off x="7647214"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391.6</a:t>
            </a:r>
          </a:p>
        </p:txBody>
      </p:sp>
      <p:sp>
        <p:nvSpPr>
          <p:cNvPr id="52" name="Rectangle 51"/>
          <p:cNvSpPr/>
          <p:nvPr/>
        </p:nvSpPr>
        <p:spPr>
          <a:xfrm>
            <a:off x="7647214"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676.9</a:t>
            </a:r>
          </a:p>
        </p:txBody>
      </p:sp>
      <p:sp>
        <p:nvSpPr>
          <p:cNvPr id="53" name="Rectangle 52"/>
          <p:cNvSpPr/>
          <p:nvPr/>
        </p:nvSpPr>
        <p:spPr>
          <a:xfrm>
            <a:off x="7647214"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5.6%</a:t>
            </a:r>
          </a:p>
        </p:txBody>
      </p:sp>
      <p:sp>
        <p:nvSpPr>
          <p:cNvPr id="54" name="Oval 53"/>
          <p:cNvSpPr/>
          <p:nvPr/>
        </p:nvSpPr>
        <p:spPr>
          <a:xfrm>
            <a:off x="815067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9092293" y="1773916"/>
            <a:ext cx="1330779"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092293" y="1992961"/>
            <a:ext cx="1330779"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130393"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Heat Styling Support</a:t>
            </a:r>
          </a:p>
        </p:txBody>
      </p:sp>
      <p:sp>
        <p:nvSpPr>
          <p:cNvPr id="58" name="Rectangle 57"/>
          <p:cNvSpPr/>
          <p:nvPr/>
        </p:nvSpPr>
        <p:spPr>
          <a:xfrm>
            <a:off x="9092293"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389.8</a:t>
            </a:r>
          </a:p>
        </p:txBody>
      </p:sp>
      <p:sp>
        <p:nvSpPr>
          <p:cNvPr id="59" name="Rectangle 58"/>
          <p:cNvSpPr/>
          <p:nvPr/>
        </p:nvSpPr>
        <p:spPr>
          <a:xfrm>
            <a:off x="9092293"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784.3</a:t>
            </a:r>
          </a:p>
        </p:txBody>
      </p:sp>
      <p:sp>
        <p:nvSpPr>
          <p:cNvPr id="60" name="Rectangle 59"/>
          <p:cNvSpPr/>
          <p:nvPr/>
        </p:nvSpPr>
        <p:spPr>
          <a:xfrm>
            <a:off x="9092293"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7.2%</a:t>
            </a:r>
          </a:p>
        </p:txBody>
      </p:sp>
      <p:sp>
        <p:nvSpPr>
          <p:cNvPr id="61" name="Oval 60"/>
          <p:cNvSpPr/>
          <p:nvPr/>
        </p:nvSpPr>
        <p:spPr>
          <a:xfrm>
            <a:off x="9595757"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10537371" y="1773916"/>
            <a:ext cx="1330779"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537371" y="1992961"/>
            <a:ext cx="1330779"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10575471"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Sleek Styling and Edge Control</a:t>
            </a:r>
          </a:p>
        </p:txBody>
      </p:sp>
      <p:sp>
        <p:nvSpPr>
          <p:cNvPr id="65" name="Rectangle 64"/>
          <p:cNvSpPr/>
          <p:nvPr/>
        </p:nvSpPr>
        <p:spPr>
          <a:xfrm>
            <a:off x="10537371"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329.6</a:t>
            </a:r>
          </a:p>
        </p:txBody>
      </p:sp>
      <p:sp>
        <p:nvSpPr>
          <p:cNvPr id="66" name="Rectangle 65"/>
          <p:cNvSpPr/>
          <p:nvPr/>
        </p:nvSpPr>
        <p:spPr>
          <a:xfrm>
            <a:off x="10537371"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545.0</a:t>
            </a:r>
          </a:p>
        </p:txBody>
      </p:sp>
      <p:sp>
        <p:nvSpPr>
          <p:cNvPr id="67" name="Rectangle 66"/>
          <p:cNvSpPr/>
          <p:nvPr/>
        </p:nvSpPr>
        <p:spPr>
          <a:xfrm>
            <a:off x="10537371"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5.2%</a:t>
            </a:r>
          </a:p>
        </p:txBody>
      </p:sp>
      <p:sp>
        <p:nvSpPr>
          <p:cNvPr id="68" name="Oval 67"/>
          <p:cNvSpPr/>
          <p:nvPr/>
        </p:nvSpPr>
        <p:spPr>
          <a:xfrm>
            <a:off x="11040836"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71" name="Rectangle 70"/>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primary styling benefit, curl definition segment is expected to witness the highest CAGR of 7.8% over the forecast period. In terms of value share by primary styling benefit, the smoothing and frizz control segment is expected to dominate the market, gaining 88 BPS and accounting for 17.1% share by 2036.</a:t>
            </a:r>
          </a:p>
          <a:p>
            <a:pPr algn="l">
              <a:lnSpc>
                <a:spcPct val="110000"/>
              </a:lnSpc>
              <a:spcBef>
                <a:spcPts val="0"/>
              </a:spcBef>
              <a:spcAft>
                <a:spcPts val="500"/>
              </a:spcAft>
            </a:pPr>
            <a:r>
              <a:rPr sz="1100" b="0">
                <a:solidFill>
                  <a:srgbClr val="2E2E2E"/>
                </a:solidFill>
                <a:latin typeface="Calibri"/>
              </a:rPr>
              <a:t>Smoothing and frizz control segment is projected to register 1.1X higher value than curl definition segment in 2036.</a:t>
            </a:r>
          </a:p>
        </p:txBody>
      </p:sp>
      <p:sp>
        <p:nvSpPr>
          <p:cNvPr id="73" name="Rounded Rectangle 72"/>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75" name="Rectangle 74"/>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Smoothing and Frizz Control: </a:t>
            </a:r>
            <a:r>
              <a:rPr sz="1100" b="0">
                <a:solidFill>
                  <a:srgbClr val="2E2E2E"/>
                </a:solidFill>
                <a:latin typeface="Calibri"/>
              </a:rPr>
              <a:t>16% of 2026 value · 6.8%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Hold and Shape: </a:t>
            </a:r>
            <a:r>
              <a:rPr sz="1100" b="0">
                <a:solidFill>
                  <a:srgbClr val="2E2E2E"/>
                </a:solidFill>
                <a:latin typeface="Calibri"/>
              </a:rPr>
              <a:t>16% of 2026 value · 4.6%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Texture and Separation: </a:t>
            </a:r>
            <a:r>
              <a:rPr sz="1100" b="0">
                <a:solidFill>
                  <a:srgbClr val="2E2E2E"/>
                </a:solidFill>
                <a:latin typeface="Calibri"/>
              </a:rPr>
              <a:t>14% of 2026 value · 6.1%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Curl Definition: </a:t>
            </a:r>
            <a:r>
              <a:rPr sz="1100" b="0">
                <a:solidFill>
                  <a:srgbClr val="2E2E2E"/>
                </a:solidFill>
                <a:latin typeface="Calibri"/>
              </a:rPr>
              <a:t>14% of 2026 value · 7.8% CAGR grows fastest.</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Volume and Root Lift: </a:t>
            </a:r>
            <a:r>
              <a:rPr sz="1100" b="0">
                <a:solidFill>
                  <a:srgbClr val="2E2E2E"/>
                </a:solidFill>
                <a:latin typeface="Calibri"/>
              </a:rPr>
              <a:t>14% of 2026 value · 5.6%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Heat Styling Support: </a:t>
            </a:r>
            <a:r>
              <a:rPr sz="1100" b="0">
                <a:solidFill>
                  <a:srgbClr val="2E2E2E"/>
                </a:solidFill>
                <a:latin typeface="Calibri"/>
              </a:rPr>
              <a:t>14% of 2026 value · 7.2%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Sleek Styling and Edge Control: </a:t>
            </a:r>
            <a:r>
              <a:rPr sz="1100" b="0">
                <a:solidFill>
                  <a:srgbClr val="2E2E2E"/>
                </a:solidFill>
                <a:latin typeface="Calibri"/>
              </a:rPr>
              <a:t>12% of 2026 value · 5.2% CAGR serves a niche.</a:t>
            </a:r>
          </a:p>
        </p:txBody>
      </p:sp>
      <p:sp>
        <p:nvSpPr>
          <p:cNvPr id="77" name="Rounded Rectangle 76"/>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9" name="Rectangle 78"/>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Primary Styling Benefit split shows how demand is distributed across primary styling benefit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81" name="Rectangle 80"/>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Primary Styling Benefit segment is projected to grow at a CAGR of 6.3% from 2026 to 2036.</a:t>
            </a:r>
          </a:p>
        </p:txBody>
      </p:sp>
      <p:sp>
        <p:nvSpPr>
          <p:cNvPr id="83" name="TextBox 82"/>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84" name="TextBox 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Structure &amp; Attractiveness, By Primary Styling Benefit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Primary Styling Benefit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Primary Styling Benefit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Smoothing and frizz control followed by curl definition are expected to be the two most attractive primary styling benefit segments in the Europe hair styling products market in terms of value over the forecast period. Smoothing and frizz control and curl definition exhibit a CAGR index of 109.0 and 124.4 and a market share index of 113.7 and 98.3 respectively, against the segment average of 100. The sleek styling and edge control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Primary Styling Benefit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Hold and Shape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Curl Definition</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Volume and Root Lift</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Texture and Separation</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Primary Styling Benefit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Smoothing and Frizz Control</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Sleek Styling and Edge Control</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Heat Styling Support</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Europe Absolute $ Opportunity Analysis, By Primary Styling Benefit</a:t>
            </a:r>
          </a:p>
        </p:txBody>
      </p:sp>
      <p:sp>
        <p:nvSpPr>
          <p:cNvPr id="21" name="Rectangle 20"/>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curl definition segment is anticipated to witness an increase of 2.1X in terms of value as compared to 2026. The curl definition segment is expected to create an incremental opportunity of US$ 440.1 Mn for the overall hair styling products market from 2026 to 2036.</a:t>
            </a:r>
          </a:p>
          <a:p>
            <a:pPr algn="l">
              <a:lnSpc>
                <a:spcPct val="110000"/>
              </a:lnSpc>
              <a:spcBef>
                <a:spcPts val="0"/>
              </a:spcBef>
              <a:spcAft>
                <a:spcPts val="500"/>
              </a:spcAft>
            </a:pPr>
            <a:r>
              <a:rPr sz="1150" b="0">
                <a:solidFill>
                  <a:srgbClr val="2E2E2E"/>
                </a:solidFill>
                <a:latin typeface="Calibri"/>
              </a:rPr>
              <a:t>The smoothing and frizz control segment is expected to create an incremental opportunity of US$ 426.5 Mn for the overall hair styling products market from 2026 to 2036. The heat styling support segment is expected to create an incremental opportunity of US$ 394.5 Mn for the overall hair styling products market from 2026 to 2036.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Primary Styling Benefit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Primary Styling Benefit,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Primary Styling Benefit (US$ Mn)</a:t>
            </a:r>
          </a:p>
        </p:txBody>
      </p:sp>
      <p:graphicFrame>
        <p:nvGraphicFramePr>
          <p:cNvPr id="13" name="Table 12"/>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09975"/>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Analysis, By Primary Styling Benefit</a:t>
            </a:r>
          </a:p>
        </p:txBody>
      </p:sp>
      <p:sp>
        <p:nvSpPr>
          <p:cNvPr id="17" name="Rectangle 16"/>
          <p:cNvSpPr/>
          <p:nvPr/>
        </p:nvSpPr>
        <p:spPr>
          <a:xfrm>
            <a:off x="276225" y="3848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33825"/>
            <a:ext cx="11639550" cy="2619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Smoothing and frizz control segment is projected to register 1.1X higher value than curl definition segment in 2036. Among hair styling products by primary styling benefit, curl definition segment is expected to witness the highest CAGR of 7.8% over the forecast period.</a:t>
            </a:r>
          </a:p>
          <a:p>
            <a:pPr algn="l">
              <a:lnSpc>
                <a:spcPct val="110000"/>
              </a:lnSpc>
              <a:spcBef>
                <a:spcPts val="0"/>
              </a:spcBef>
              <a:spcAft>
                <a:spcPts val="500"/>
              </a:spcAft>
            </a:pPr>
            <a:r>
              <a:rPr sz="1150" b="0">
                <a:solidFill>
                  <a:srgbClr val="2E2E2E"/>
                </a:solidFill>
                <a:latin typeface="Calibri"/>
              </a:rPr>
              <a:t>In terms of value share by primary styling benefit, the smoothing and frizz control segment is expected to dominate the market, gaining 88 BPS and accounting for 17.1% share by 2036. The hold and shape segment is expected to lose 227 BPS over the forecast period to account for 13.5%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&amp; Share Shift, By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Primary Styling Benefit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Composition, By Primary Styling Benefit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12864"/>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0810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3190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Sleek Styling and Edge Control</a:t>
            </a:r>
          </a:p>
        </p:txBody>
      </p:sp>
      <p:sp>
        <p:nvSpPr>
          <p:cNvPr id="19" name="BPS Value 1"/>
          <p:cNvSpPr txBox="1"/>
          <p:nvPr/>
        </p:nvSpPr>
        <p:spPr>
          <a:xfrm>
            <a:off x="6896100" y="1893814"/>
            <a:ext cx="514350" cy="123825"/>
          </a:xfrm>
          <a:prstGeom prst="rect">
            <a:avLst/>
          </a:prstGeom>
          <a:noFill/>
        </p:spPr>
        <p:txBody>
          <a:bodyPr wrap="none" lIns="0" rIns="0" tIns="0" bIns="0" anchor="ctr">
            <a:spAutoFit/>
          </a:bodyPr>
          <a:lstStyle/>
          <a:p>
            <a:pPr algn="r"/>
            <a:r>
              <a:rPr sz="900" b="1">
                <a:solidFill>
                  <a:srgbClr val="E44D3A"/>
                </a:solidFill>
                <a:latin typeface="Calibri"/>
              </a:rPr>
              <a:t>-116</a:t>
            </a:r>
          </a:p>
        </p:txBody>
      </p:sp>
      <p:sp>
        <p:nvSpPr>
          <p:cNvPr id="20" name="FMI Legend Chip"/>
          <p:cNvSpPr/>
          <p:nvPr/>
        </p:nvSpPr>
        <p:spPr>
          <a:xfrm>
            <a:off x="4928997" y="2454566"/>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44980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7360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Volume and Root Lift</a:t>
            </a:r>
          </a:p>
        </p:txBody>
      </p:sp>
      <p:sp>
        <p:nvSpPr>
          <p:cNvPr id="23" name="BPS Value 2"/>
          <p:cNvSpPr txBox="1"/>
          <p:nvPr/>
        </p:nvSpPr>
        <p:spPr>
          <a:xfrm>
            <a:off x="6896100" y="2435516"/>
            <a:ext cx="514350" cy="123825"/>
          </a:xfrm>
          <a:prstGeom prst="rect">
            <a:avLst/>
          </a:prstGeom>
          <a:noFill/>
        </p:spPr>
        <p:txBody>
          <a:bodyPr wrap="none" lIns="0" rIns="0" tIns="0" bIns="0" anchor="ctr">
            <a:spAutoFit/>
          </a:bodyPr>
          <a:lstStyle/>
          <a:p>
            <a:pPr algn="r"/>
            <a:r>
              <a:rPr sz="900" b="1">
                <a:solidFill>
                  <a:srgbClr val="E44D3A"/>
                </a:solidFill>
                <a:latin typeface="Calibri"/>
              </a:rPr>
              <a:t>-80</a:t>
            </a:r>
          </a:p>
        </p:txBody>
      </p:sp>
      <p:sp>
        <p:nvSpPr>
          <p:cNvPr id="24" name="FMI Legend Chip"/>
          <p:cNvSpPr/>
          <p:nvPr/>
        </p:nvSpPr>
        <p:spPr>
          <a:xfrm>
            <a:off x="4928997" y="3062849"/>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05808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98188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Hold and Shape</a:t>
            </a:r>
          </a:p>
        </p:txBody>
      </p:sp>
      <p:sp>
        <p:nvSpPr>
          <p:cNvPr id="27" name="BPS Value 3"/>
          <p:cNvSpPr txBox="1"/>
          <p:nvPr/>
        </p:nvSpPr>
        <p:spPr>
          <a:xfrm>
            <a:off x="6896100" y="3043799"/>
            <a:ext cx="514350" cy="123825"/>
          </a:xfrm>
          <a:prstGeom prst="rect">
            <a:avLst/>
          </a:prstGeom>
          <a:noFill/>
        </p:spPr>
        <p:txBody>
          <a:bodyPr wrap="none" lIns="0" rIns="0" tIns="0" bIns="0" anchor="ctr">
            <a:spAutoFit/>
          </a:bodyPr>
          <a:lstStyle/>
          <a:p>
            <a:pPr algn="r"/>
            <a:r>
              <a:rPr sz="900" b="1">
                <a:solidFill>
                  <a:srgbClr val="E44D3A"/>
                </a:solidFill>
                <a:latin typeface="Calibri"/>
              </a:rPr>
              <a:t>-227</a:t>
            </a:r>
          </a:p>
        </p:txBody>
      </p:sp>
      <p:sp>
        <p:nvSpPr>
          <p:cNvPr id="28" name="FMI Legend Chip"/>
          <p:cNvSpPr/>
          <p:nvPr/>
        </p:nvSpPr>
        <p:spPr>
          <a:xfrm>
            <a:off x="4928997" y="369816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69339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61719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Separation</a:t>
            </a:r>
          </a:p>
        </p:txBody>
      </p:sp>
      <p:sp>
        <p:nvSpPr>
          <p:cNvPr id="31" name="BPS Value 4"/>
          <p:cNvSpPr txBox="1"/>
          <p:nvPr/>
        </p:nvSpPr>
        <p:spPr>
          <a:xfrm>
            <a:off x="6896100" y="3679112"/>
            <a:ext cx="514350" cy="123825"/>
          </a:xfrm>
          <a:prstGeom prst="rect">
            <a:avLst/>
          </a:prstGeom>
          <a:noFill/>
        </p:spPr>
        <p:txBody>
          <a:bodyPr wrap="none" lIns="0" rIns="0" tIns="0" bIns="0" anchor="ctr">
            <a:spAutoFit/>
          </a:bodyPr>
          <a:lstStyle/>
          <a:p>
            <a:pPr algn="r"/>
            <a:r>
              <a:rPr sz="900" b="1">
                <a:solidFill>
                  <a:srgbClr val="E44D3A"/>
                </a:solidFill>
                <a:latin typeface="Calibri"/>
              </a:rPr>
              <a:t>-15</a:t>
            </a:r>
          </a:p>
        </p:txBody>
      </p:sp>
      <p:sp>
        <p:nvSpPr>
          <p:cNvPr id="32" name="FMI Legend Chip"/>
          <p:cNvSpPr/>
          <p:nvPr/>
        </p:nvSpPr>
        <p:spPr>
          <a:xfrm>
            <a:off x="4928997" y="437298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436822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29202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Heat Styling Support</a:t>
            </a:r>
          </a:p>
        </p:txBody>
      </p:sp>
      <p:sp>
        <p:nvSpPr>
          <p:cNvPr id="35" name="BPS Value 5"/>
          <p:cNvSpPr txBox="1"/>
          <p:nvPr/>
        </p:nvSpPr>
        <p:spPr>
          <a:xfrm>
            <a:off x="6896100" y="4353939"/>
            <a:ext cx="514350" cy="123825"/>
          </a:xfrm>
          <a:prstGeom prst="rect">
            <a:avLst/>
          </a:prstGeom>
          <a:noFill/>
        </p:spPr>
        <p:txBody>
          <a:bodyPr wrap="none" lIns="0" rIns="0" tIns="0" bIns="0" anchor="ctr">
            <a:spAutoFit/>
          </a:bodyPr>
          <a:lstStyle/>
          <a:p>
            <a:pPr algn="r"/>
            <a:r>
              <a:rPr sz="900" b="1">
                <a:solidFill>
                  <a:srgbClr val="2E7D32"/>
                </a:solidFill>
                <a:latin typeface="Calibri"/>
              </a:rPr>
              <a:t>+134</a:t>
            </a:r>
          </a:p>
        </p:txBody>
      </p:sp>
      <p:sp>
        <p:nvSpPr>
          <p:cNvPr id="36" name="FMI Legend Chip"/>
          <p:cNvSpPr/>
          <p:nvPr/>
        </p:nvSpPr>
        <p:spPr>
          <a:xfrm>
            <a:off x="4928997" y="509072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08596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00976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 Definition</a:t>
            </a:r>
          </a:p>
        </p:txBody>
      </p:sp>
      <p:sp>
        <p:nvSpPr>
          <p:cNvPr id="39" name="BPS Value 6"/>
          <p:cNvSpPr txBox="1"/>
          <p:nvPr/>
        </p:nvSpPr>
        <p:spPr>
          <a:xfrm>
            <a:off x="6896100" y="5071672"/>
            <a:ext cx="514350" cy="123825"/>
          </a:xfrm>
          <a:prstGeom prst="rect">
            <a:avLst/>
          </a:prstGeom>
          <a:noFill/>
        </p:spPr>
        <p:txBody>
          <a:bodyPr wrap="none" lIns="0" rIns="0" tIns="0" bIns="0" anchor="ctr">
            <a:spAutoFit/>
          </a:bodyPr>
          <a:lstStyle/>
          <a:p>
            <a:pPr algn="r"/>
            <a:r>
              <a:rPr sz="900" b="1">
                <a:solidFill>
                  <a:srgbClr val="2E7D32"/>
                </a:solidFill>
                <a:latin typeface="Calibri"/>
              </a:rPr>
              <a:t>+215</a:t>
            </a:r>
          </a:p>
        </p:txBody>
      </p:sp>
      <p:sp>
        <p:nvSpPr>
          <p:cNvPr id="40" name="FMI Legend Chip"/>
          <p:cNvSpPr/>
          <p:nvPr/>
        </p:nvSpPr>
        <p:spPr>
          <a:xfrm>
            <a:off x="4928997" y="585219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584743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7712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Smoothing and Frizz Control</a:t>
            </a:r>
          </a:p>
        </p:txBody>
      </p:sp>
      <p:sp>
        <p:nvSpPr>
          <p:cNvPr id="43" name="BPS Value 7"/>
          <p:cNvSpPr txBox="1"/>
          <p:nvPr/>
        </p:nvSpPr>
        <p:spPr>
          <a:xfrm>
            <a:off x="6896100" y="5833145"/>
            <a:ext cx="514350" cy="123825"/>
          </a:xfrm>
          <a:prstGeom prst="rect">
            <a:avLst/>
          </a:prstGeom>
          <a:noFill/>
        </p:spPr>
        <p:txBody>
          <a:bodyPr wrap="none" lIns="0" rIns="0" tIns="0" bIns="0" anchor="ctr">
            <a:spAutoFit/>
          </a:bodyPr>
          <a:lstStyle/>
          <a:p>
            <a:pPr algn="r"/>
            <a:r>
              <a:rPr sz="900" b="1">
                <a:solidFill>
                  <a:srgbClr val="2E7D32"/>
                </a:solidFill>
                <a:latin typeface="Calibri"/>
              </a:rPr>
              <a:t>+88</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Europe Read-out, By Primary Styling Benefit</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primary styling benefit, curl definition segment is expected to witness the highest CAGR of 7.8% over the forecast period. In terms of value share by primary styling benefit, the smoothing and frizz control segment is expected to dominate the market, gaining 88 BPS and accounting for 17.1% share by 2036.</a:t>
            </a:r>
          </a:p>
          <a:p>
            <a:pPr algn="l">
              <a:lnSpc>
                <a:spcPct val="110000"/>
              </a:lnSpc>
              <a:spcBef>
                <a:spcPts val="0"/>
              </a:spcBef>
              <a:spcAft>
                <a:spcPts val="500"/>
              </a:spcAft>
            </a:pPr>
            <a:r>
              <a:rPr sz="1150" b="0">
                <a:solidFill>
                  <a:srgbClr val="2E2E2E"/>
                </a:solidFill>
                <a:latin typeface="Calibri"/>
              </a:rPr>
              <a:t>The hold and shape segment is expected to lose 227 BPS over the forecast period to account for 13.5% share by 2036.</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Primary Styling Benefit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Primary Styling Benefit,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Growth,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Heatmap, By Primary Styling Benefit (%)  ·  light = lower, dark = higher growth</a:t>
            </a:r>
          </a:p>
        </p:txBody>
      </p:sp>
      <p:sp>
        <p:nvSpPr>
          <p:cNvPr id="17" name="TextBox 16"/>
          <p:cNvSpPr txBox="1"/>
          <p:nvPr/>
        </p:nvSpPr>
        <p:spPr>
          <a:xfrm>
            <a:off x="166143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31838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97534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632294"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28924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94619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60315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26010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91705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57401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3096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88791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4486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0182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5877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Hold and Shape</a:t>
            </a:r>
          </a:p>
        </p:txBody>
      </p:sp>
      <p:sp>
        <p:nvSpPr>
          <p:cNvPr id="33" name="Rectangle 32"/>
          <p:cNvSpPr/>
          <p:nvPr/>
        </p:nvSpPr>
        <p:spPr>
          <a:xfrm>
            <a:off x="1661437" y="3733800"/>
            <a:ext cx="656953" cy="40549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318389" y="3733800"/>
            <a:ext cx="656953" cy="40549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975342" y="3733800"/>
            <a:ext cx="656953" cy="40549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632294" y="3733800"/>
            <a:ext cx="656953" cy="40549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289247" y="3733800"/>
            <a:ext cx="656953" cy="405493"/>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946199" y="3733800"/>
            <a:ext cx="656953" cy="405493"/>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603152" y="3733800"/>
            <a:ext cx="656953" cy="405493"/>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260105" y="3733800"/>
            <a:ext cx="656953" cy="40549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17057" y="3733800"/>
            <a:ext cx="656953" cy="405493"/>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574010" y="3733800"/>
            <a:ext cx="656953" cy="405493"/>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30962" y="3733800"/>
            <a:ext cx="656953" cy="405493"/>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887915" y="3733800"/>
            <a:ext cx="656953" cy="405493"/>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44867" y="3733800"/>
            <a:ext cx="656953" cy="405493"/>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01820" y="3733800"/>
            <a:ext cx="656953" cy="405493"/>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58772" y="3733800"/>
            <a:ext cx="656953" cy="405493"/>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39293"/>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Curl Definition</a:t>
            </a:r>
          </a:p>
        </p:txBody>
      </p:sp>
      <p:sp>
        <p:nvSpPr>
          <p:cNvPr id="49" name="Rectangle 48"/>
          <p:cNvSpPr/>
          <p:nvPr/>
        </p:nvSpPr>
        <p:spPr>
          <a:xfrm>
            <a:off x="1661437" y="4139293"/>
            <a:ext cx="656953" cy="405493"/>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318389" y="4139293"/>
            <a:ext cx="656953" cy="405493"/>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975342" y="4139293"/>
            <a:ext cx="656953" cy="405493"/>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632294" y="4139293"/>
            <a:ext cx="656953" cy="405493"/>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289247" y="4139293"/>
            <a:ext cx="656953" cy="405493"/>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946199" y="4139293"/>
            <a:ext cx="656953" cy="405493"/>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603152" y="4139293"/>
            <a:ext cx="656953" cy="405493"/>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260105" y="4139293"/>
            <a:ext cx="656953" cy="40549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917057" y="4139293"/>
            <a:ext cx="656953" cy="405493"/>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574010" y="4139293"/>
            <a:ext cx="656953" cy="405493"/>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30962" y="4139293"/>
            <a:ext cx="656953" cy="40549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887915" y="4139293"/>
            <a:ext cx="656953" cy="405493"/>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44867" y="4139293"/>
            <a:ext cx="656953" cy="405493"/>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01820" y="4139293"/>
            <a:ext cx="656953" cy="405493"/>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58772" y="4139293"/>
            <a:ext cx="656953" cy="405493"/>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4786"/>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Volume and Root Lift</a:t>
            </a:r>
          </a:p>
        </p:txBody>
      </p:sp>
      <p:sp>
        <p:nvSpPr>
          <p:cNvPr id="65" name="Rectangle 64"/>
          <p:cNvSpPr/>
          <p:nvPr/>
        </p:nvSpPr>
        <p:spPr>
          <a:xfrm>
            <a:off x="1661437" y="4544786"/>
            <a:ext cx="656953" cy="405493"/>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318389" y="4544786"/>
            <a:ext cx="656953" cy="405493"/>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975342" y="4544786"/>
            <a:ext cx="656953" cy="405493"/>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632294" y="4544786"/>
            <a:ext cx="656953" cy="405493"/>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289247" y="4544786"/>
            <a:ext cx="656953" cy="40549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946199" y="4544786"/>
            <a:ext cx="656953" cy="405493"/>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603152" y="4544786"/>
            <a:ext cx="656953" cy="405493"/>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260105" y="4544786"/>
            <a:ext cx="656953" cy="405493"/>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917057" y="4544786"/>
            <a:ext cx="656953" cy="405493"/>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574010" y="4544786"/>
            <a:ext cx="656953" cy="405493"/>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30962" y="4544786"/>
            <a:ext cx="656953" cy="405493"/>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887915" y="4544786"/>
            <a:ext cx="656953" cy="405493"/>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44867" y="4544786"/>
            <a:ext cx="656953" cy="405493"/>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01820" y="4544786"/>
            <a:ext cx="656953" cy="405493"/>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58772" y="4544786"/>
            <a:ext cx="656953" cy="405493"/>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4950279"/>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Texture and Separation</a:t>
            </a:r>
          </a:p>
        </p:txBody>
      </p:sp>
      <p:sp>
        <p:nvSpPr>
          <p:cNvPr id="81" name="Rectangle 80"/>
          <p:cNvSpPr/>
          <p:nvPr/>
        </p:nvSpPr>
        <p:spPr>
          <a:xfrm>
            <a:off x="1661437" y="4950279"/>
            <a:ext cx="656953" cy="405493"/>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318389" y="4950279"/>
            <a:ext cx="656953" cy="405493"/>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975342" y="4950279"/>
            <a:ext cx="656953" cy="405493"/>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632294" y="4950279"/>
            <a:ext cx="656953" cy="40549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289247" y="4950279"/>
            <a:ext cx="656953" cy="405493"/>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946199" y="4950279"/>
            <a:ext cx="656953" cy="405493"/>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603152" y="4950279"/>
            <a:ext cx="656953" cy="40549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260105" y="4950279"/>
            <a:ext cx="656953" cy="405493"/>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917057" y="4950279"/>
            <a:ext cx="656953" cy="405493"/>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574010" y="4950279"/>
            <a:ext cx="656953" cy="405493"/>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30962" y="4950279"/>
            <a:ext cx="656953" cy="405493"/>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887915" y="4950279"/>
            <a:ext cx="656953" cy="405493"/>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44867" y="4950279"/>
            <a:ext cx="656953" cy="405493"/>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01820" y="4950279"/>
            <a:ext cx="656953" cy="405493"/>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58772" y="4950279"/>
            <a:ext cx="656953" cy="405493"/>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55771"/>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Smoothing and Frizz Control</a:t>
            </a:r>
          </a:p>
        </p:txBody>
      </p:sp>
      <p:sp>
        <p:nvSpPr>
          <p:cNvPr id="97" name="Rectangle 96"/>
          <p:cNvSpPr/>
          <p:nvPr/>
        </p:nvSpPr>
        <p:spPr>
          <a:xfrm>
            <a:off x="1661437" y="5355771"/>
            <a:ext cx="656953" cy="405493"/>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318389" y="5355771"/>
            <a:ext cx="656953" cy="405493"/>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975342" y="5355771"/>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632294" y="5355771"/>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289247" y="5355771"/>
            <a:ext cx="656953" cy="405493"/>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946199" y="5355771"/>
            <a:ext cx="656953" cy="40549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603152" y="5355771"/>
            <a:ext cx="656953" cy="405493"/>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260105" y="5355771"/>
            <a:ext cx="656953" cy="405493"/>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917057" y="5355771"/>
            <a:ext cx="656953" cy="405493"/>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574010" y="5355771"/>
            <a:ext cx="656953" cy="405493"/>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30962" y="5355771"/>
            <a:ext cx="656953" cy="405493"/>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887915" y="5355771"/>
            <a:ext cx="656953" cy="405493"/>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44867" y="5355771"/>
            <a:ext cx="656953" cy="405493"/>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01820" y="5355771"/>
            <a:ext cx="656953" cy="405493"/>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58772" y="5355771"/>
            <a:ext cx="656953" cy="405493"/>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761264"/>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Sleek Styling and Edge Control</a:t>
            </a:r>
          </a:p>
        </p:txBody>
      </p:sp>
      <p:sp>
        <p:nvSpPr>
          <p:cNvPr id="113" name="Rectangle 112"/>
          <p:cNvSpPr/>
          <p:nvPr/>
        </p:nvSpPr>
        <p:spPr>
          <a:xfrm>
            <a:off x="1661437" y="5761264"/>
            <a:ext cx="656953" cy="405493"/>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318389" y="5761264"/>
            <a:ext cx="656953" cy="405493"/>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2975342" y="5761264"/>
            <a:ext cx="656953" cy="40549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632294" y="5761264"/>
            <a:ext cx="656953" cy="405493"/>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289247" y="5761264"/>
            <a:ext cx="656953" cy="405493"/>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4946199" y="5761264"/>
            <a:ext cx="656953" cy="405493"/>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603152" y="5761264"/>
            <a:ext cx="656953" cy="405493"/>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260105" y="5761264"/>
            <a:ext cx="656953" cy="405493"/>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6917057" y="5761264"/>
            <a:ext cx="656953" cy="405493"/>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574010" y="5761264"/>
            <a:ext cx="656953" cy="405493"/>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30962" y="5761264"/>
            <a:ext cx="656953" cy="405493"/>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887915" y="5761264"/>
            <a:ext cx="656953" cy="405493"/>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44867" y="5761264"/>
            <a:ext cx="656953" cy="405493"/>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01820" y="5761264"/>
            <a:ext cx="656953" cy="405493"/>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58772" y="5761264"/>
            <a:ext cx="656953" cy="405493"/>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166757"/>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Heat Styling Support</a:t>
            </a:r>
          </a:p>
        </p:txBody>
      </p:sp>
      <p:sp>
        <p:nvSpPr>
          <p:cNvPr id="129" name="Rectangle 128"/>
          <p:cNvSpPr/>
          <p:nvPr/>
        </p:nvSpPr>
        <p:spPr>
          <a:xfrm>
            <a:off x="1661437" y="6166757"/>
            <a:ext cx="656953" cy="405493"/>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318389" y="6166757"/>
            <a:ext cx="656953" cy="405493"/>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2975342" y="6166757"/>
            <a:ext cx="656953" cy="405493"/>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632294" y="6166757"/>
            <a:ext cx="656953" cy="405493"/>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289247" y="6166757"/>
            <a:ext cx="656953" cy="405493"/>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4946199" y="6166757"/>
            <a:ext cx="656953" cy="405493"/>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603152" y="6166757"/>
            <a:ext cx="656953" cy="405493"/>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260105" y="6166757"/>
            <a:ext cx="656953" cy="405493"/>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6917057" y="6166757"/>
            <a:ext cx="656953" cy="405493"/>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574010" y="6166757"/>
            <a:ext cx="656953" cy="405493"/>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30962" y="6166757"/>
            <a:ext cx="656953" cy="405493"/>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887915" y="6166757"/>
            <a:ext cx="656953" cy="405493"/>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44867" y="6166757"/>
            <a:ext cx="656953" cy="405493"/>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01820" y="6166757"/>
            <a:ext cx="656953" cy="405493"/>
          </a:xfrm>
          <a:prstGeom prst="rect">
            <a:avLst/>
          </a:prstGeom>
          <a:solidFill>
            <a:srgbClr val="0E6D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58772" y="6166757"/>
            <a:ext cx="656953" cy="405493"/>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86" name="TextBox 185"/>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16.6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Hair Type Targeted</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Hair Type Targeted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Hair Type Targeted,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Hair Type Targeted segment categorizes the market by hair type targeted.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All Hair Types</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612.1</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1,069</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5.7%</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Straight Hair</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590.5</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981.2</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5.2%</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Wavy Hair</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568.4</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1,039</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6.2%</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Curly Hair</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534.1</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1,040</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6.9%</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Coily Hair</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505.8</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1,027</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7.3%</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hair type targeted, coily hair segment is expected to witness the highest CAGR of 7.3% over the forecast period. In terms of value share by hair type targeted, the all hair types segment is expected to dominate the market, losing 105 BPS and accounting for 20.7% share by 2036.</a:t>
            </a:r>
          </a:p>
          <a:p>
            <a:pPr algn="l">
              <a:lnSpc>
                <a:spcPct val="110000"/>
              </a:lnSpc>
              <a:spcBef>
                <a:spcPts val="0"/>
              </a:spcBef>
              <a:spcAft>
                <a:spcPts val="500"/>
              </a:spcAft>
            </a:pPr>
            <a:r>
              <a:rPr sz="1100" b="0">
                <a:solidFill>
                  <a:srgbClr val="2E2E2E"/>
                </a:solidFill>
                <a:latin typeface="Calibri"/>
              </a:rPr>
              <a:t>All hair types segment is projected to register 1.0X higher value than curly hair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All Hair Types: </a:t>
            </a:r>
            <a:r>
              <a:rPr sz="1100" b="0">
                <a:solidFill>
                  <a:srgbClr val="2E2E2E"/>
                </a:solidFill>
                <a:latin typeface="Calibri"/>
              </a:rPr>
              <a:t>22% of 2026 value · 5.7%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Straight Hair: </a:t>
            </a:r>
            <a:r>
              <a:rPr sz="1100" b="0">
                <a:solidFill>
                  <a:srgbClr val="2E2E2E"/>
                </a:solidFill>
                <a:latin typeface="Calibri"/>
              </a:rPr>
              <a:t>21% of 2026 value · 5.2%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Wavy Hair: </a:t>
            </a:r>
            <a:r>
              <a:rPr sz="1100" b="0">
                <a:solidFill>
                  <a:srgbClr val="2E2E2E"/>
                </a:solidFill>
                <a:latin typeface="Calibri"/>
              </a:rPr>
              <a:t>20% of 2026 value · 6.2%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Curly Hair: </a:t>
            </a:r>
            <a:r>
              <a:rPr sz="1100" b="0">
                <a:solidFill>
                  <a:srgbClr val="2E2E2E"/>
                </a:solidFill>
                <a:latin typeface="Calibri"/>
              </a:rPr>
              <a:t>19% of 2026 value · 6.9%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Coily Hair: </a:t>
            </a:r>
            <a:r>
              <a:rPr sz="1100" b="0">
                <a:solidFill>
                  <a:srgbClr val="2E2E2E"/>
                </a:solidFill>
                <a:latin typeface="Calibri"/>
              </a:rPr>
              <a:t>18% of 2026 value · 7.3% CAGR grows fastest.</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Hair Type Targeted split shows how demand is distributed across hair type targeted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Hair Type Targeted segment is projected to grow at a CAGR of 6.3%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Structure &amp; Attractiveness, By Hair Type Targeted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Hair Type Targeted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Hair Type Targeted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Coily hair followed by curly hair are expected to be the two most attractive hair type targeted segments in the Europe hair styling products market in terms of value over the forecast period. Coily hair and curly hair exhibit a CAGR index of 117.4 and 110.2 and a market share index of 90.0 and 95.0 respectively, against the segment average of 100. The straight hair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Hair Type Targeted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Straight Hair</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Wavy Hair</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Curly Hair</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Coily Hair</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Hair Type Targeted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All Hair Types</a:t>
            </a:r>
          </a:p>
        </p:txBody>
      </p:sp>
      <p:graphicFrame>
        <p:nvGraphicFramePr>
          <p:cNvPr id="12" name="Chart 11"/>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Europe Absolute $ Opportunity Analysis, By Hair Type Targeted</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coily hair segment is anticipated to witness an increase of 2.0X in terms of value as compared to 2026. The coily hair segment is expected to create an incremental opportunity of US$ 521.5 Mn for the overall hair styling products market from 2026 to 2036.</a:t>
            </a:r>
          </a:p>
          <a:p>
            <a:pPr algn="l">
              <a:lnSpc>
                <a:spcPct val="110000"/>
              </a:lnSpc>
              <a:spcBef>
                <a:spcPts val="0"/>
              </a:spcBef>
              <a:spcAft>
                <a:spcPts val="500"/>
              </a:spcAft>
            </a:pPr>
            <a:r>
              <a:rPr sz="1150" b="0">
                <a:solidFill>
                  <a:srgbClr val="2E2E2E"/>
                </a:solidFill>
                <a:latin typeface="Calibri"/>
              </a:rPr>
              <a:t>The curly hair segment is expected to create an incremental opportunity of US$ 506.3 Mn for the overall hair styling products market from 2026 to 2036. The wavy hair segment is expected to create an incremental opportunity of US$ 470.5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Hair Type Targeted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Hair Type Targeted,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Hair Type Targeted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Analysis, By Hair Type Targeted</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All hair types segment is projected to register 1.0X higher value than curly hair segment in 2036. Among hair styling products by hair type targeted, coily hair segment is expected to witness the highest CAGR of 7.3% over the forecast period.</a:t>
            </a:r>
          </a:p>
          <a:p>
            <a:pPr algn="l">
              <a:lnSpc>
                <a:spcPct val="110000"/>
              </a:lnSpc>
              <a:spcBef>
                <a:spcPts val="0"/>
              </a:spcBef>
              <a:spcAft>
                <a:spcPts val="500"/>
              </a:spcAft>
            </a:pPr>
            <a:r>
              <a:rPr sz="1150" b="0">
                <a:solidFill>
                  <a:srgbClr val="2E2E2E"/>
                </a:solidFill>
                <a:latin typeface="Calibri"/>
              </a:rPr>
              <a:t>In terms of value share by hair type targeted, the all hair types segment is expected to dominate the market, losing 105 BPS and accounting for 20.7% share by 2036. The straight hair segment is expected to lose 198 BPS over the forecast period to account for 19.0%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&amp; Share Shift, By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Hair Type Targeted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Composition, By Hair Type Targeted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106249"/>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10148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02528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Straight Hair</a:t>
            </a:r>
          </a:p>
        </p:txBody>
      </p:sp>
      <p:sp>
        <p:nvSpPr>
          <p:cNvPr id="19" name="BPS Value 1"/>
          <p:cNvSpPr txBox="1"/>
          <p:nvPr/>
        </p:nvSpPr>
        <p:spPr>
          <a:xfrm>
            <a:off x="6896100" y="2087199"/>
            <a:ext cx="514350" cy="123825"/>
          </a:xfrm>
          <a:prstGeom prst="rect">
            <a:avLst/>
          </a:prstGeom>
          <a:noFill/>
        </p:spPr>
        <p:txBody>
          <a:bodyPr wrap="none" lIns="0" rIns="0" tIns="0" bIns="0" anchor="ctr">
            <a:spAutoFit/>
          </a:bodyPr>
          <a:lstStyle/>
          <a:p>
            <a:pPr algn="r"/>
            <a:r>
              <a:rPr sz="900" b="1">
                <a:solidFill>
                  <a:srgbClr val="E44D3A"/>
                </a:solidFill>
                <a:latin typeface="Calibri"/>
              </a:rPr>
              <a:t>-198</a:t>
            </a:r>
          </a:p>
        </p:txBody>
      </p:sp>
      <p:sp>
        <p:nvSpPr>
          <p:cNvPr id="20" name="FMI Legend Chip"/>
          <p:cNvSpPr/>
          <p:nvPr/>
        </p:nvSpPr>
        <p:spPr>
          <a:xfrm>
            <a:off x="4928997" y="299670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99194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91574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Coily Hair</a:t>
            </a:r>
          </a:p>
        </p:txBody>
      </p:sp>
      <p:sp>
        <p:nvSpPr>
          <p:cNvPr id="23" name="BPS Value 2"/>
          <p:cNvSpPr txBox="1"/>
          <p:nvPr/>
        </p:nvSpPr>
        <p:spPr>
          <a:xfrm>
            <a:off x="6896100" y="2977655"/>
            <a:ext cx="514350" cy="123825"/>
          </a:xfrm>
          <a:prstGeom prst="rect">
            <a:avLst/>
          </a:prstGeom>
          <a:noFill/>
        </p:spPr>
        <p:txBody>
          <a:bodyPr wrap="none" lIns="0" rIns="0" tIns="0" bIns="0" anchor="ctr">
            <a:spAutoFit/>
          </a:bodyPr>
          <a:lstStyle/>
          <a:p>
            <a:pPr algn="r"/>
            <a:r>
              <a:rPr sz="900" b="1">
                <a:solidFill>
                  <a:srgbClr val="2E7D32"/>
                </a:solidFill>
                <a:latin typeface="Calibri"/>
              </a:rPr>
              <a:t>+193</a:t>
            </a:r>
          </a:p>
        </p:txBody>
      </p:sp>
      <p:sp>
        <p:nvSpPr>
          <p:cNvPr id="24" name="FMI Legend Chip"/>
          <p:cNvSpPr/>
          <p:nvPr/>
        </p:nvSpPr>
        <p:spPr>
          <a:xfrm>
            <a:off x="4928997" y="391275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90799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83179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Wavy Hair</a:t>
            </a:r>
          </a:p>
        </p:txBody>
      </p:sp>
      <p:sp>
        <p:nvSpPr>
          <p:cNvPr id="27" name="BPS Value 3"/>
          <p:cNvSpPr txBox="1"/>
          <p:nvPr/>
        </p:nvSpPr>
        <p:spPr>
          <a:xfrm>
            <a:off x="6896100" y="3893709"/>
            <a:ext cx="514350" cy="123825"/>
          </a:xfrm>
          <a:prstGeom prst="rect">
            <a:avLst/>
          </a:prstGeom>
          <a:noFill/>
        </p:spPr>
        <p:txBody>
          <a:bodyPr wrap="none" lIns="0" rIns="0" tIns="0" bIns="0" anchor="ctr">
            <a:spAutoFit/>
          </a:bodyPr>
          <a:lstStyle/>
          <a:p>
            <a:pPr algn="r"/>
            <a:r>
              <a:rPr sz="900" b="1">
                <a:solidFill>
                  <a:srgbClr val="E44D3A"/>
                </a:solidFill>
                <a:latin typeface="Calibri"/>
              </a:rPr>
              <a:t>-8</a:t>
            </a:r>
          </a:p>
        </p:txBody>
      </p:sp>
      <p:sp>
        <p:nvSpPr>
          <p:cNvPr id="28" name="FMI Legend Chip"/>
          <p:cNvSpPr/>
          <p:nvPr/>
        </p:nvSpPr>
        <p:spPr>
          <a:xfrm>
            <a:off x="4928997" y="483461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482984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75364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Curly Hair</a:t>
            </a:r>
          </a:p>
        </p:txBody>
      </p:sp>
      <p:sp>
        <p:nvSpPr>
          <p:cNvPr id="31" name="BPS Value 4"/>
          <p:cNvSpPr txBox="1"/>
          <p:nvPr/>
        </p:nvSpPr>
        <p:spPr>
          <a:xfrm>
            <a:off x="6896100" y="4815561"/>
            <a:ext cx="514350" cy="123825"/>
          </a:xfrm>
          <a:prstGeom prst="rect">
            <a:avLst/>
          </a:prstGeom>
          <a:noFill/>
        </p:spPr>
        <p:txBody>
          <a:bodyPr wrap="none" lIns="0" rIns="0" tIns="0" bIns="0" anchor="ctr">
            <a:spAutoFit/>
          </a:bodyPr>
          <a:lstStyle/>
          <a:p>
            <a:pPr algn="r"/>
            <a:r>
              <a:rPr sz="900" b="1">
                <a:solidFill>
                  <a:srgbClr val="2E7D32"/>
                </a:solidFill>
                <a:latin typeface="Calibri"/>
              </a:rPr>
              <a:t>+117</a:t>
            </a:r>
          </a:p>
        </p:txBody>
      </p:sp>
      <p:sp>
        <p:nvSpPr>
          <p:cNvPr id="32" name="FMI Legend Chip"/>
          <p:cNvSpPr/>
          <p:nvPr/>
        </p:nvSpPr>
        <p:spPr>
          <a:xfrm>
            <a:off x="4928997" y="576975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576499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8879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All Hair Types</a:t>
            </a:r>
          </a:p>
        </p:txBody>
      </p:sp>
      <p:sp>
        <p:nvSpPr>
          <p:cNvPr id="35" name="BPS Value 5"/>
          <p:cNvSpPr txBox="1"/>
          <p:nvPr/>
        </p:nvSpPr>
        <p:spPr>
          <a:xfrm>
            <a:off x="6896100" y="5750705"/>
            <a:ext cx="514350" cy="123825"/>
          </a:xfrm>
          <a:prstGeom prst="rect">
            <a:avLst/>
          </a:prstGeom>
          <a:noFill/>
        </p:spPr>
        <p:txBody>
          <a:bodyPr wrap="none" lIns="0" rIns="0" tIns="0" bIns="0" anchor="ctr">
            <a:spAutoFit/>
          </a:bodyPr>
          <a:lstStyle/>
          <a:p>
            <a:pPr algn="r"/>
            <a:r>
              <a:rPr sz="900" b="1">
                <a:solidFill>
                  <a:srgbClr val="E44D3A"/>
                </a:solidFill>
                <a:latin typeface="Calibri"/>
              </a:rPr>
              <a:t>-105</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Europe Read-out, By Hair Type Targeted</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hair type targeted, coily hair segment is expected to witness the highest CAGR of 7.3% over the forecast period. In terms of value share by hair type targeted, the all hair types segment is expected to dominate the market, losing 105 BPS and accounting for 20.7% share by 2036.</a:t>
            </a:r>
          </a:p>
          <a:p>
            <a:pPr algn="l">
              <a:lnSpc>
                <a:spcPct val="110000"/>
              </a:lnSpc>
              <a:spcBef>
                <a:spcPts val="0"/>
              </a:spcBef>
              <a:spcAft>
                <a:spcPts val="500"/>
              </a:spcAft>
            </a:pPr>
            <a:r>
              <a:rPr sz="1150" b="0">
                <a:solidFill>
                  <a:srgbClr val="2E2E2E"/>
                </a:solidFill>
                <a:latin typeface="Calibri"/>
              </a:rPr>
              <a:t>The straight hair segment is expected to lose 198 BPS over the forecast period to account for 19.0%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Hair Type Targeted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Hair Type Targeted,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Growth,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Heatmap, By Hair Type Targeted (%)  ·  light = lower, dark = higher growth</a:t>
            </a:r>
          </a:p>
        </p:txBody>
      </p:sp>
      <p:sp>
        <p:nvSpPr>
          <p:cNvPr id="17" name="TextBox 16"/>
          <p:cNvSpPr txBox="1"/>
          <p:nvPr/>
        </p:nvSpPr>
        <p:spPr>
          <a:xfrm>
            <a:off x="917783"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62431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33084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03737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74390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45043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15696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86348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57001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27654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798307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68960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39613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0266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0919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Straight Hair</a:t>
            </a:r>
          </a:p>
        </p:txBody>
      </p:sp>
      <p:sp>
        <p:nvSpPr>
          <p:cNvPr id="33" name="Rectangle 32"/>
          <p:cNvSpPr/>
          <p:nvPr/>
        </p:nvSpPr>
        <p:spPr>
          <a:xfrm>
            <a:off x="917783" y="3305175"/>
            <a:ext cx="706529" cy="65341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624312" y="3305175"/>
            <a:ext cx="706529" cy="65341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330842" y="3305175"/>
            <a:ext cx="706529" cy="65341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037371" y="3305175"/>
            <a:ext cx="706529" cy="65341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743901" y="3305175"/>
            <a:ext cx="706529" cy="65341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450430" y="3305175"/>
            <a:ext cx="706529" cy="653415"/>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156960" y="3305175"/>
            <a:ext cx="706529" cy="65341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863489" y="3305175"/>
            <a:ext cx="706529" cy="653415"/>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570019" y="3305175"/>
            <a:ext cx="706529" cy="653415"/>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276548" y="3305175"/>
            <a:ext cx="706529" cy="653415"/>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983078" y="3305175"/>
            <a:ext cx="706529" cy="653415"/>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689607" y="3305175"/>
            <a:ext cx="706529" cy="653415"/>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396137" y="3305175"/>
            <a:ext cx="706529" cy="653415"/>
          </a:xfrm>
          <a:prstGeom prst="rect">
            <a:avLst/>
          </a:prstGeom>
          <a:solidFill>
            <a:srgbClr val="A3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02666" y="3305175"/>
            <a:ext cx="706529" cy="653415"/>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09196" y="3305175"/>
            <a:ext cx="706529" cy="653415"/>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Wavy Hair</a:t>
            </a:r>
          </a:p>
        </p:txBody>
      </p:sp>
      <p:sp>
        <p:nvSpPr>
          <p:cNvPr id="49" name="Rectangle 48"/>
          <p:cNvSpPr/>
          <p:nvPr/>
        </p:nvSpPr>
        <p:spPr>
          <a:xfrm>
            <a:off x="917783" y="3958590"/>
            <a:ext cx="706529" cy="65341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624312" y="3958590"/>
            <a:ext cx="706529" cy="653415"/>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330842" y="3958590"/>
            <a:ext cx="706529" cy="653415"/>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037371" y="3958590"/>
            <a:ext cx="706529" cy="65341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743901" y="3958590"/>
            <a:ext cx="706529" cy="653415"/>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450430" y="3958590"/>
            <a:ext cx="706529" cy="653415"/>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156960" y="3958590"/>
            <a:ext cx="706529" cy="65341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863489" y="3958590"/>
            <a:ext cx="706529" cy="65341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570019" y="3958590"/>
            <a:ext cx="706529" cy="653415"/>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276548" y="3958590"/>
            <a:ext cx="706529" cy="653415"/>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7983078" y="3958590"/>
            <a:ext cx="706529" cy="653415"/>
          </a:xfrm>
          <a:prstGeom prst="rect">
            <a:avLst/>
          </a:prstGeom>
          <a:solidFill>
            <a:srgbClr val="5A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689607" y="3958590"/>
            <a:ext cx="706529" cy="653415"/>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396137" y="3958590"/>
            <a:ext cx="706529" cy="653415"/>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02666" y="3958590"/>
            <a:ext cx="706529" cy="653415"/>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09196" y="3958590"/>
            <a:ext cx="706529" cy="653415"/>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Curly Hair</a:t>
            </a:r>
          </a:p>
        </p:txBody>
      </p:sp>
      <p:sp>
        <p:nvSpPr>
          <p:cNvPr id="65" name="Rectangle 64"/>
          <p:cNvSpPr/>
          <p:nvPr/>
        </p:nvSpPr>
        <p:spPr>
          <a:xfrm>
            <a:off x="917783" y="4612005"/>
            <a:ext cx="706529" cy="65341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624312" y="4612005"/>
            <a:ext cx="706529" cy="65341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330842" y="4612005"/>
            <a:ext cx="706529" cy="65341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037371" y="4612005"/>
            <a:ext cx="706529" cy="65341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743901" y="4612005"/>
            <a:ext cx="706529" cy="653415"/>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450430" y="4612005"/>
            <a:ext cx="706529" cy="653415"/>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156960" y="4612005"/>
            <a:ext cx="706529" cy="653415"/>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863489" y="4612005"/>
            <a:ext cx="706529" cy="65341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570019" y="4612005"/>
            <a:ext cx="706529" cy="653415"/>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276548" y="4612005"/>
            <a:ext cx="706529" cy="653415"/>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7983078" y="4612005"/>
            <a:ext cx="706529" cy="653415"/>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689607" y="4612005"/>
            <a:ext cx="706529" cy="653415"/>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396137" y="4612005"/>
            <a:ext cx="706529" cy="653415"/>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02666" y="4612005"/>
            <a:ext cx="706529" cy="653415"/>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09196" y="4612005"/>
            <a:ext cx="706529" cy="653415"/>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Coily Hair</a:t>
            </a:r>
          </a:p>
        </p:txBody>
      </p:sp>
      <p:sp>
        <p:nvSpPr>
          <p:cNvPr id="81" name="Rectangle 80"/>
          <p:cNvSpPr/>
          <p:nvPr/>
        </p:nvSpPr>
        <p:spPr>
          <a:xfrm>
            <a:off x="917783" y="5265420"/>
            <a:ext cx="706529"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624312" y="5265420"/>
            <a:ext cx="706529"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330842" y="5265420"/>
            <a:ext cx="706529" cy="65341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037371" y="5265420"/>
            <a:ext cx="706529"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743901" y="5265420"/>
            <a:ext cx="706529" cy="653415"/>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450430" y="5265420"/>
            <a:ext cx="706529" cy="653415"/>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156960" y="5265420"/>
            <a:ext cx="706529" cy="65341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5863489" y="5265420"/>
            <a:ext cx="706529" cy="653415"/>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570019" y="5265420"/>
            <a:ext cx="706529" cy="653415"/>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276548" y="5265420"/>
            <a:ext cx="706529" cy="653415"/>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7983078" y="5265420"/>
            <a:ext cx="706529"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689607" y="5265420"/>
            <a:ext cx="706529" cy="653415"/>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396137" y="5265420"/>
            <a:ext cx="706529" cy="653415"/>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02666" y="5265420"/>
            <a:ext cx="706529" cy="653415"/>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09196" y="5265420"/>
            <a:ext cx="706529" cy="653415"/>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All Hair Types</a:t>
            </a:r>
          </a:p>
        </p:txBody>
      </p:sp>
      <p:sp>
        <p:nvSpPr>
          <p:cNvPr id="97" name="Rectangle 96"/>
          <p:cNvSpPr/>
          <p:nvPr/>
        </p:nvSpPr>
        <p:spPr>
          <a:xfrm>
            <a:off x="917783" y="5918835"/>
            <a:ext cx="706529" cy="653415"/>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624312" y="5918835"/>
            <a:ext cx="706529" cy="653415"/>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330842" y="5918835"/>
            <a:ext cx="706529" cy="65341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037371" y="5918835"/>
            <a:ext cx="706529" cy="653415"/>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743901" y="5918835"/>
            <a:ext cx="706529" cy="653415"/>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450430" y="5918835"/>
            <a:ext cx="706529" cy="65341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156960" y="5918835"/>
            <a:ext cx="706529" cy="653415"/>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5863489" y="5918835"/>
            <a:ext cx="706529" cy="653415"/>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570019" y="5918835"/>
            <a:ext cx="706529" cy="65341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276548" y="5918835"/>
            <a:ext cx="706529" cy="65341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7983078" y="5918835"/>
            <a:ext cx="706529" cy="653415"/>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689607" y="5918835"/>
            <a:ext cx="706529" cy="653415"/>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396137" y="5918835"/>
            <a:ext cx="706529" cy="653415"/>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02666" y="5918835"/>
            <a:ext cx="706529" cy="653415"/>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09196" y="5918835"/>
            <a:ext cx="706529" cy="653415"/>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16.7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Ingredient 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Ingredient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Ingredient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Ingredient Technology segment categorizes the market by ingredient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Film-forming and Fixative Polymers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729.4</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1,234</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5.4%</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Volume Additives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706.1</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1,333</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6.6%</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Conditioning and Smoothing Agents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701.1</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1,251</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6.0%</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and Structuring Agents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674.4</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1,339</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7.1%</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ingredient technology, waxes and structuring agents segment is expected to witness the highest CAGR of 7.1% over the forecast period. In terms of value share by ingredient technology, the waxes and structuring agents segment is expected to dominate the market, gaining 197 BPS and accounting for 26.0% share by 2036.</a:t>
            </a:r>
          </a:p>
          <a:p>
            <a:pPr algn="l">
              <a:lnSpc>
                <a:spcPct val="110000"/>
              </a:lnSpc>
              <a:spcBef>
                <a:spcPts val="0"/>
              </a:spcBef>
              <a:spcAft>
                <a:spcPts val="500"/>
              </a:spcAft>
            </a:pPr>
            <a:r>
              <a:rPr sz="1100" b="0">
                <a:solidFill>
                  <a:srgbClr val="2E2E2E"/>
                </a:solidFill>
                <a:latin typeface="Calibri"/>
              </a:rPr>
              <a:t>Waxes and structuring agents segment is projected to register 1.0X higher value than texture and volume additives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Film-forming and Fixative Polymers: </a:t>
            </a:r>
            <a:r>
              <a:rPr sz="1100" b="0">
                <a:solidFill>
                  <a:srgbClr val="2E2E2E"/>
                </a:solidFill>
                <a:latin typeface="Calibri"/>
              </a:rPr>
              <a:t>26% of 2026 value · 5.4%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Texture and Volume Additives: </a:t>
            </a:r>
            <a:r>
              <a:rPr sz="1100" b="0">
                <a:solidFill>
                  <a:srgbClr val="2E2E2E"/>
                </a:solidFill>
                <a:latin typeface="Calibri"/>
              </a:rPr>
              <a:t>25% of 2026 value · 6.6%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Conditioning and Smoothing Agents: </a:t>
            </a:r>
            <a:r>
              <a:rPr sz="1100" b="0">
                <a:solidFill>
                  <a:srgbClr val="2E2E2E"/>
                </a:solidFill>
                <a:latin typeface="Calibri"/>
              </a:rPr>
              <a:t>25% of 2026 value · 6.0%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Waxes and Structuring Agents: </a:t>
            </a:r>
            <a:r>
              <a:rPr sz="1100" b="0">
                <a:solidFill>
                  <a:srgbClr val="2E2E2E"/>
                </a:solidFill>
                <a:latin typeface="Calibri"/>
              </a:rPr>
              <a:t>24% of 2026 value · 7.1%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Ingredient Technology split shows how demand is distributed across ingredient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Ingredient Technology segment is projected to grow at a CAGR of 6.3%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Structure &amp; Attractiveness, By Ingredient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Ingredient Technology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Ingredient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Waxes and structuring agents followed by texture and volume additives are expected to be the two most attractive ingredient technology segments in the Europe hair styling products market in terms of value over the forecast period. Waxes and structuring agents and texture and volume additives exhibit a CAGR index of 113.4 and 104.9 and a market share index of 96.0 and 100.5 respectively, against the segment average of 100. The film-forming and fixative polymers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Ingredient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Film-forming and Fixative Polymers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Texture and Volume Additives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Conditioning and Smoothing Agents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Waxes and Structuring Agents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Ingredient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Ingredient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Ingredient Technology (US$ Mn)</a:t>
            </a:r>
          </a:p>
        </p:txBody>
      </p:sp>
      <p:graphicFrame>
        <p:nvGraphicFramePr>
          <p:cNvPr id="13" name="Table 12"/>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29200"/>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114925"/>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Analysis, By Ingredient Technology</a:t>
            </a:r>
          </a:p>
        </p:txBody>
      </p:sp>
      <p:sp>
        <p:nvSpPr>
          <p:cNvPr id="17" name="Rectangle 16"/>
          <p:cNvSpPr/>
          <p:nvPr/>
        </p:nvSpPr>
        <p:spPr>
          <a:xfrm>
            <a:off x="276225" y="5353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438775"/>
            <a:ext cx="11639550"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Waxes and structuring agents segment is projected to register 1.0X higher value than texture and volume additives segment in 2036. Among hair styling products by ingredient technology, waxes and structuring agents segment is expected to witness the highest CAGR of 7.1% over the forecast period.</a:t>
            </a:r>
          </a:p>
          <a:p>
            <a:pPr algn="l">
              <a:lnSpc>
                <a:spcPct val="110000"/>
              </a:lnSpc>
              <a:spcBef>
                <a:spcPts val="0"/>
              </a:spcBef>
              <a:spcAft>
                <a:spcPts val="500"/>
              </a:spcAft>
            </a:pPr>
            <a:r>
              <a:rPr sz="1150" b="0">
                <a:solidFill>
                  <a:srgbClr val="2E2E2E"/>
                </a:solidFill>
                <a:latin typeface="Calibri"/>
              </a:rPr>
              <a:t>In terms of value share by ingredient technology, the waxes and structuring agents segment is expected to dominate the market, gaining 197 BPS and accounting for 26.0% share by 2036. The film-forming and fixative polymers segment is expected to lose 201 BPS over the forecast period to account for 23.9%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&amp; Share Shift,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Ingredient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Composition, By Ingredient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21844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21368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13748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Film-forming and Fixative Polymers</a:t>
            </a:r>
          </a:p>
        </p:txBody>
      </p:sp>
      <p:sp>
        <p:nvSpPr>
          <p:cNvPr id="19" name="BPS Value 1"/>
          <p:cNvSpPr txBox="1"/>
          <p:nvPr/>
        </p:nvSpPr>
        <p:spPr>
          <a:xfrm>
            <a:off x="6896100" y="2199395"/>
            <a:ext cx="514350" cy="123825"/>
          </a:xfrm>
          <a:prstGeom prst="rect">
            <a:avLst/>
          </a:prstGeom>
          <a:noFill/>
        </p:spPr>
        <p:txBody>
          <a:bodyPr wrap="none" lIns="0" rIns="0" tIns="0" bIns="0" anchor="ctr">
            <a:spAutoFit/>
          </a:bodyPr>
          <a:lstStyle/>
          <a:p>
            <a:pPr algn="r"/>
            <a:r>
              <a:rPr sz="900" b="1">
                <a:solidFill>
                  <a:srgbClr val="E44D3A"/>
                </a:solidFill>
                <a:latin typeface="Calibri"/>
              </a:rPr>
              <a:t>-201</a:t>
            </a:r>
          </a:p>
        </p:txBody>
      </p:sp>
      <p:sp>
        <p:nvSpPr>
          <p:cNvPr id="20" name="FMI Legend Chip"/>
          <p:cNvSpPr/>
          <p:nvPr/>
        </p:nvSpPr>
        <p:spPr>
          <a:xfrm>
            <a:off x="4928997" y="332006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31530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23910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Conditioning and Smoothing Agents</a:t>
            </a:r>
          </a:p>
        </p:txBody>
      </p:sp>
      <p:sp>
        <p:nvSpPr>
          <p:cNvPr id="23" name="BPS Value 2"/>
          <p:cNvSpPr txBox="1"/>
          <p:nvPr/>
        </p:nvSpPr>
        <p:spPr>
          <a:xfrm>
            <a:off x="6896100" y="3301012"/>
            <a:ext cx="514350" cy="123825"/>
          </a:xfrm>
          <a:prstGeom prst="rect">
            <a:avLst/>
          </a:prstGeom>
          <a:noFill/>
        </p:spPr>
        <p:txBody>
          <a:bodyPr wrap="none" lIns="0" rIns="0" tIns="0" bIns="0" anchor="ctr">
            <a:spAutoFit/>
          </a:bodyPr>
          <a:lstStyle/>
          <a:p>
            <a:pPr algn="r"/>
            <a:r>
              <a:rPr sz="900" b="1">
                <a:solidFill>
                  <a:srgbClr val="E44D3A"/>
                </a:solidFill>
                <a:latin typeface="Calibri"/>
              </a:rPr>
              <a:t>-69</a:t>
            </a:r>
          </a:p>
        </p:txBody>
      </p:sp>
      <p:sp>
        <p:nvSpPr>
          <p:cNvPr id="24" name="FMI Legend Chip"/>
          <p:cNvSpPr/>
          <p:nvPr/>
        </p:nvSpPr>
        <p:spPr>
          <a:xfrm>
            <a:off x="4928997" y="446555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46079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38459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Volume Additives</a:t>
            </a:r>
          </a:p>
        </p:txBody>
      </p:sp>
      <p:sp>
        <p:nvSpPr>
          <p:cNvPr id="27" name="BPS Value 3"/>
          <p:cNvSpPr txBox="1"/>
          <p:nvPr/>
        </p:nvSpPr>
        <p:spPr>
          <a:xfrm>
            <a:off x="6896100" y="4446505"/>
            <a:ext cx="514350" cy="123825"/>
          </a:xfrm>
          <a:prstGeom prst="rect">
            <a:avLst/>
          </a:prstGeom>
          <a:noFill/>
        </p:spPr>
        <p:txBody>
          <a:bodyPr wrap="none" lIns="0" rIns="0" tIns="0" bIns="0" anchor="ctr">
            <a:spAutoFit/>
          </a:bodyPr>
          <a:lstStyle/>
          <a:p>
            <a:pPr algn="r"/>
            <a:r>
              <a:rPr sz="900" b="1">
                <a:solidFill>
                  <a:srgbClr val="2E7D32"/>
                </a:solidFill>
                <a:latin typeface="Calibri"/>
              </a:rPr>
              <a:t>+73</a:t>
            </a:r>
          </a:p>
        </p:txBody>
      </p:sp>
      <p:sp>
        <p:nvSpPr>
          <p:cNvPr id="28" name="FMI Legend Chip"/>
          <p:cNvSpPr/>
          <p:nvPr/>
        </p:nvSpPr>
        <p:spPr>
          <a:xfrm>
            <a:off x="4928997" y="565012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64536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56916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and Structuring Agents</a:t>
            </a:r>
          </a:p>
        </p:txBody>
      </p:sp>
      <p:sp>
        <p:nvSpPr>
          <p:cNvPr id="31" name="BPS Value 4"/>
          <p:cNvSpPr txBox="1"/>
          <p:nvPr/>
        </p:nvSpPr>
        <p:spPr>
          <a:xfrm>
            <a:off x="6896100" y="5631079"/>
            <a:ext cx="514350" cy="123825"/>
          </a:xfrm>
          <a:prstGeom prst="rect">
            <a:avLst/>
          </a:prstGeom>
          <a:noFill/>
        </p:spPr>
        <p:txBody>
          <a:bodyPr wrap="none" lIns="0" rIns="0" tIns="0" bIns="0" anchor="ctr">
            <a:spAutoFit/>
          </a:bodyPr>
          <a:lstStyle/>
          <a:p>
            <a:pPr algn="r"/>
            <a:r>
              <a:rPr sz="900" b="1">
                <a:solidFill>
                  <a:srgbClr val="2E7D32"/>
                </a:solidFill>
                <a:latin typeface="Calibri"/>
              </a:rPr>
              <a:t>+197</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Europe Read-out, By Ingredient Technology</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ingredient technology, waxes and structuring agents segment is expected to witness the highest CAGR of 7.1% over the forecast period. In terms of value share by ingredient technology, the waxes and structuring agents segment is expected to dominate the market, gaining 197 BPS and accounting for 26.0% share by 2036.</a:t>
            </a:r>
          </a:p>
          <a:p>
            <a:pPr algn="l">
              <a:lnSpc>
                <a:spcPct val="110000"/>
              </a:lnSpc>
              <a:spcBef>
                <a:spcPts val="0"/>
              </a:spcBef>
              <a:spcAft>
                <a:spcPts val="500"/>
              </a:spcAft>
            </a:pPr>
            <a:r>
              <a:rPr sz="1150" b="0">
                <a:solidFill>
                  <a:srgbClr val="2E2E2E"/>
                </a:solidFill>
                <a:latin typeface="Calibri"/>
              </a:rPr>
              <a:t>The film-forming and fixative polymers segment is expected to lose 201 BPS over the forecast period to account for 23.9% share by 2036.</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Ingredient Technology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695700"/>
          </a:xfrm>
          <a:prstGeom prst="roundRect">
            <a:avLst>
              <a:gd name="adj" fmla="val 20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Growth,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3228975"/>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76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Ingredient Technology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Heatmap, By Ingredient Technology (%)  ·  light = lower, dark = higher growth</a:t>
            </a:r>
          </a:p>
        </p:txBody>
      </p:sp>
      <p:sp>
        <p:nvSpPr>
          <p:cNvPr id="12" name="TextBox 11"/>
          <p:cNvSpPr txBox="1"/>
          <p:nvPr/>
        </p:nvSpPr>
        <p:spPr>
          <a:xfrm>
            <a:off x="2178532"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80101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42349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404597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66845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29093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91340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53588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15836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78084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40332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902580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64828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7076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93245"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Film-forming and Fixative Polymers</a:t>
            </a:r>
          </a:p>
        </p:txBody>
      </p:sp>
      <p:sp>
        <p:nvSpPr>
          <p:cNvPr id="28" name="Rectangle 27"/>
          <p:cNvSpPr/>
          <p:nvPr/>
        </p:nvSpPr>
        <p:spPr>
          <a:xfrm>
            <a:off x="2178532" y="1409700"/>
            <a:ext cx="622480" cy="36875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801011" y="1409700"/>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423491" y="1409700"/>
            <a:ext cx="622480" cy="36875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4045971" y="1409700"/>
            <a:ext cx="622480" cy="36875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668450" y="1409700"/>
            <a:ext cx="622480" cy="368754"/>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290930" y="1409700"/>
            <a:ext cx="622480" cy="368754"/>
          </a:xfrm>
          <a:prstGeom prst="rect">
            <a:avLst/>
          </a:prstGeom>
          <a:solidFill>
            <a:srgbClr val="D6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409" y="1409700"/>
            <a:ext cx="622480" cy="36875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535889" y="1409700"/>
            <a:ext cx="622480" cy="36875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158368" y="1409700"/>
            <a:ext cx="622480" cy="36875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780848" y="1409700"/>
            <a:ext cx="622480" cy="368754"/>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403327" y="1409700"/>
            <a:ext cx="622480" cy="36875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9025807" y="1409700"/>
            <a:ext cx="622480" cy="36875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648286" y="1409700"/>
            <a:ext cx="622480" cy="368754"/>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70766" y="1409700"/>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93245" y="1409700"/>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7845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Polymers</a:t>
            </a:r>
          </a:p>
        </p:txBody>
      </p:sp>
      <p:sp>
        <p:nvSpPr>
          <p:cNvPr id="44" name="Rectangle 43"/>
          <p:cNvSpPr/>
          <p:nvPr/>
        </p:nvSpPr>
        <p:spPr>
          <a:xfrm>
            <a:off x="2178532" y="1778454"/>
            <a:ext cx="622480" cy="368754"/>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801011" y="1778454"/>
            <a:ext cx="622480" cy="368754"/>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423491" y="1778454"/>
            <a:ext cx="622480" cy="368754"/>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4045971" y="1778454"/>
            <a:ext cx="622480" cy="368754"/>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668450" y="1778454"/>
            <a:ext cx="622480" cy="36875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290930" y="1778454"/>
            <a:ext cx="622480" cy="36875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913409" y="1778454"/>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535889" y="1778454"/>
            <a:ext cx="622480"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158368" y="1778454"/>
            <a:ext cx="622480" cy="36875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780848" y="1778454"/>
            <a:ext cx="622480" cy="36875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403327" y="1778454"/>
            <a:ext cx="622480" cy="36875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9025807" y="1778454"/>
            <a:ext cx="622480" cy="368754"/>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648286" y="1778454"/>
            <a:ext cx="622480" cy="36875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70766" y="1778454"/>
            <a:ext cx="622480" cy="368754"/>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93245" y="1778454"/>
            <a:ext cx="622480" cy="36875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147207"/>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Bio-based Polymers</a:t>
            </a:r>
          </a:p>
        </p:txBody>
      </p:sp>
      <p:sp>
        <p:nvSpPr>
          <p:cNvPr id="60" name="Rectangle 59"/>
          <p:cNvSpPr/>
          <p:nvPr/>
        </p:nvSpPr>
        <p:spPr>
          <a:xfrm>
            <a:off x="2178532" y="2147207"/>
            <a:ext cx="622480" cy="36875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801011" y="2147207"/>
            <a:ext cx="622480" cy="36875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423491" y="2147207"/>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4045971" y="2147207"/>
            <a:ext cx="622480" cy="36875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668450" y="2147207"/>
            <a:ext cx="622480" cy="36875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290930" y="2147207"/>
            <a:ext cx="622480" cy="36875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913409" y="2147207"/>
            <a:ext cx="622480" cy="368754"/>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535889" y="2147207"/>
            <a:ext cx="622480" cy="368754"/>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158368" y="2147207"/>
            <a:ext cx="622480" cy="368754"/>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780848" y="2147207"/>
            <a:ext cx="622480" cy="36875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403327" y="2147207"/>
            <a:ext cx="622480" cy="368754"/>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9025807" y="2147207"/>
            <a:ext cx="622480" cy="368754"/>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48286" y="2147207"/>
            <a:ext cx="622480" cy="36875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70766" y="2147207"/>
            <a:ext cx="622480" cy="36875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93245" y="2147207"/>
            <a:ext cx="622480" cy="36875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51596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Biodegradable Polymers</a:t>
            </a:r>
          </a:p>
        </p:txBody>
      </p:sp>
      <p:sp>
        <p:nvSpPr>
          <p:cNvPr id="76" name="Rectangle 75"/>
          <p:cNvSpPr/>
          <p:nvPr/>
        </p:nvSpPr>
        <p:spPr>
          <a:xfrm>
            <a:off x="2178532" y="2515961"/>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801011" y="2515961"/>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423491" y="2515961"/>
            <a:ext cx="622480" cy="36875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4045971" y="2515961"/>
            <a:ext cx="622480" cy="368754"/>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668450" y="2515961"/>
            <a:ext cx="622480" cy="36875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290930" y="2515961"/>
            <a:ext cx="622480" cy="36875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913409" y="2515961"/>
            <a:ext cx="622480" cy="36875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535889" y="2515961"/>
            <a:ext cx="622480" cy="368754"/>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158368" y="2515961"/>
            <a:ext cx="622480" cy="368754"/>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780848" y="2515961"/>
            <a:ext cx="622480" cy="368754"/>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403327" y="2515961"/>
            <a:ext cx="622480" cy="36875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9025807" y="2515961"/>
            <a:ext cx="622480" cy="36875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648286" y="2515961"/>
            <a:ext cx="622480" cy="368754"/>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70766" y="2515961"/>
            <a:ext cx="622480" cy="368754"/>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93245" y="2515961"/>
            <a:ext cx="622480" cy="36875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88471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Texture and Volume Additives</a:t>
            </a:r>
          </a:p>
        </p:txBody>
      </p:sp>
      <p:sp>
        <p:nvSpPr>
          <p:cNvPr id="92" name="Rectangle 91"/>
          <p:cNvSpPr/>
          <p:nvPr/>
        </p:nvSpPr>
        <p:spPr>
          <a:xfrm>
            <a:off x="2178532" y="2884714"/>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801011" y="2884714"/>
            <a:ext cx="622480" cy="368754"/>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423491" y="2884714"/>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4045971" y="2884714"/>
            <a:ext cx="622480" cy="368754"/>
          </a:xfrm>
          <a:prstGeom prst="rect">
            <a:avLst/>
          </a:prstGeom>
          <a:solidFill>
            <a:srgbClr val="DF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668450" y="2884714"/>
            <a:ext cx="622480" cy="36875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290930" y="2884714"/>
            <a:ext cx="622480" cy="36875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913409" y="2884714"/>
            <a:ext cx="622480" cy="368754"/>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535889" y="2884714"/>
            <a:ext cx="622480" cy="368754"/>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158368" y="2884714"/>
            <a:ext cx="622480" cy="368754"/>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780848" y="2884714"/>
            <a:ext cx="622480" cy="36875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403327" y="2884714"/>
            <a:ext cx="622480" cy="368754"/>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9025807" y="2884714"/>
            <a:ext cx="622480" cy="368754"/>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648286" y="2884714"/>
            <a:ext cx="622480" cy="368754"/>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70766" y="2884714"/>
            <a:ext cx="622480" cy="36875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93245" y="2884714"/>
            <a:ext cx="622480" cy="36875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253468"/>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Silica-based Additives</a:t>
            </a:r>
          </a:p>
        </p:txBody>
      </p:sp>
      <p:sp>
        <p:nvSpPr>
          <p:cNvPr id="108" name="Rectangle 107"/>
          <p:cNvSpPr/>
          <p:nvPr/>
        </p:nvSpPr>
        <p:spPr>
          <a:xfrm>
            <a:off x="2178532" y="3253468"/>
            <a:ext cx="622480"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801011" y="3253468"/>
            <a:ext cx="622480"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423491" y="3253468"/>
            <a:ext cx="622480"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4045971" y="3253468"/>
            <a:ext cx="622480" cy="36875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668450" y="3253468"/>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290930" y="3253468"/>
            <a:ext cx="622480" cy="36875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913409" y="3253468"/>
            <a:ext cx="622480" cy="36875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535889" y="3253468"/>
            <a:ext cx="622480" cy="36875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158368" y="3253468"/>
            <a:ext cx="622480" cy="368754"/>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780848" y="3253468"/>
            <a:ext cx="622480" cy="368754"/>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403327" y="3253468"/>
            <a:ext cx="622480" cy="368754"/>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9025807" y="3253468"/>
            <a:ext cx="622480" cy="368754"/>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648286" y="3253468"/>
            <a:ext cx="622480" cy="36875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70766" y="3253468"/>
            <a:ext cx="622480" cy="368754"/>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93245" y="3253468"/>
            <a:ext cx="622480" cy="368754"/>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62222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Starch-based Additives</a:t>
            </a:r>
          </a:p>
        </p:txBody>
      </p:sp>
      <p:sp>
        <p:nvSpPr>
          <p:cNvPr id="124" name="Rectangle 123"/>
          <p:cNvSpPr/>
          <p:nvPr/>
        </p:nvSpPr>
        <p:spPr>
          <a:xfrm>
            <a:off x="2178532" y="3622221"/>
            <a:ext cx="622480" cy="36875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801011" y="3622221"/>
            <a:ext cx="622480" cy="36875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423491" y="3622221"/>
            <a:ext cx="622480" cy="36875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4045971" y="3622221"/>
            <a:ext cx="622480" cy="36875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668450" y="3622221"/>
            <a:ext cx="622480" cy="368754"/>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290930" y="3622221"/>
            <a:ext cx="622480" cy="36875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913409" y="3622221"/>
            <a:ext cx="622480" cy="368754"/>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535889" y="3622221"/>
            <a:ext cx="622480" cy="368754"/>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158368" y="3622221"/>
            <a:ext cx="622480" cy="368754"/>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780848" y="3622221"/>
            <a:ext cx="622480" cy="368754"/>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403327" y="3622221"/>
            <a:ext cx="622480" cy="368754"/>
          </a:xfrm>
          <a:prstGeom prst="rect">
            <a:avLst/>
          </a:prstGeom>
          <a:solidFill>
            <a:srgbClr val="36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9025807" y="3622221"/>
            <a:ext cx="622480" cy="368754"/>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648286" y="3622221"/>
            <a:ext cx="622480" cy="368754"/>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70766" y="3622221"/>
            <a:ext cx="622480" cy="36875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93245" y="3622221"/>
            <a:ext cx="622480" cy="36875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990975"/>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Other Mineral and Plant-based Additives</a:t>
            </a:r>
          </a:p>
        </p:txBody>
      </p:sp>
      <p:sp>
        <p:nvSpPr>
          <p:cNvPr id="140" name="Rectangle 139"/>
          <p:cNvSpPr/>
          <p:nvPr/>
        </p:nvSpPr>
        <p:spPr>
          <a:xfrm>
            <a:off x="2178532" y="3990975"/>
            <a:ext cx="622480" cy="36875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801011" y="3990975"/>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423491" y="3990975"/>
            <a:ext cx="622480" cy="36875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4045971" y="3990975"/>
            <a:ext cx="622480" cy="36875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668450" y="3990975"/>
            <a:ext cx="622480"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290930" y="3990975"/>
            <a:ext cx="622480" cy="368754"/>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913409" y="3990975"/>
            <a:ext cx="622480" cy="36875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535889" y="3990975"/>
            <a:ext cx="622480" cy="368754"/>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158368" y="3990975"/>
            <a:ext cx="622480" cy="368754"/>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780848" y="3990975"/>
            <a:ext cx="622480" cy="368754"/>
          </a:xfrm>
          <a:prstGeom prst="rect">
            <a:avLst/>
          </a:prstGeom>
          <a:solidFill>
            <a:srgbClr val="0E6B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403327" y="3990975"/>
            <a:ext cx="622480" cy="368754"/>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9025807" y="3990975"/>
            <a:ext cx="622480" cy="368754"/>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648286" y="3990975"/>
            <a:ext cx="622480" cy="36875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70766" y="3990975"/>
            <a:ext cx="622480" cy="368754"/>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93245" y="3990975"/>
            <a:ext cx="622480" cy="368754"/>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35972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Conditioning and Smoothing Agents</a:t>
            </a:r>
          </a:p>
        </p:txBody>
      </p:sp>
      <p:sp>
        <p:nvSpPr>
          <p:cNvPr id="156" name="Rectangle 155"/>
          <p:cNvSpPr/>
          <p:nvPr/>
        </p:nvSpPr>
        <p:spPr>
          <a:xfrm>
            <a:off x="2178532" y="4359729"/>
            <a:ext cx="622480" cy="368754"/>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801011" y="4359729"/>
            <a:ext cx="622480" cy="36875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423491" y="4359729"/>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4045971" y="4359729"/>
            <a:ext cx="622480" cy="368754"/>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668450" y="4359729"/>
            <a:ext cx="622480" cy="36875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90930" y="4359729"/>
            <a:ext cx="622480"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913409" y="4359729"/>
            <a:ext cx="622480" cy="368754"/>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535889" y="4359729"/>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158368" y="4359729"/>
            <a:ext cx="622480" cy="368754"/>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780848" y="4359729"/>
            <a:ext cx="622480" cy="368754"/>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403327" y="4359729"/>
            <a:ext cx="622480" cy="368754"/>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9025807" y="4359729"/>
            <a:ext cx="622480" cy="368754"/>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648286" y="4359729"/>
            <a:ext cx="622480" cy="368754"/>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70766" y="4359729"/>
            <a:ext cx="622480" cy="368754"/>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93245" y="4359729"/>
            <a:ext cx="622480" cy="368754"/>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728482"/>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Silicone-based</a:t>
            </a:r>
          </a:p>
        </p:txBody>
      </p:sp>
      <p:sp>
        <p:nvSpPr>
          <p:cNvPr id="172" name="Rectangle 171"/>
          <p:cNvSpPr/>
          <p:nvPr/>
        </p:nvSpPr>
        <p:spPr>
          <a:xfrm>
            <a:off x="2178532" y="4728482"/>
            <a:ext cx="622480" cy="36875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801011" y="4728482"/>
            <a:ext cx="622480" cy="368754"/>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423491" y="4728482"/>
            <a:ext cx="622480" cy="36875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4045971" y="4728482"/>
            <a:ext cx="622480" cy="36875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668450" y="4728482"/>
            <a:ext cx="622480"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290930" y="4728482"/>
            <a:ext cx="622480" cy="36875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913409" y="4728482"/>
            <a:ext cx="622480" cy="36875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535889" y="4728482"/>
            <a:ext cx="622480" cy="368754"/>
          </a:xfrm>
          <a:prstGeom prst="rect">
            <a:avLst/>
          </a:prstGeom>
          <a:solidFill>
            <a:srgbClr val="AA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158368" y="4728482"/>
            <a:ext cx="622480" cy="368754"/>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780848" y="4728482"/>
            <a:ext cx="622480" cy="368754"/>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403327" y="4728482"/>
            <a:ext cx="622480" cy="36875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9025807" y="4728482"/>
            <a:ext cx="622480" cy="36875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648286" y="4728482"/>
            <a:ext cx="622480" cy="368754"/>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70766" y="4728482"/>
            <a:ext cx="622480" cy="368754"/>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93245" y="4728482"/>
            <a:ext cx="622480" cy="36875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09723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Silicone-free</a:t>
            </a:r>
          </a:p>
        </p:txBody>
      </p:sp>
      <p:sp>
        <p:nvSpPr>
          <p:cNvPr id="188" name="Rectangle 187"/>
          <p:cNvSpPr/>
          <p:nvPr/>
        </p:nvSpPr>
        <p:spPr>
          <a:xfrm>
            <a:off x="2178532" y="5097236"/>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801011" y="5097236"/>
            <a:ext cx="622480"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423491" y="5097236"/>
            <a:ext cx="622480" cy="36875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4045971" y="5097236"/>
            <a:ext cx="622480" cy="36875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668450" y="5097236"/>
            <a:ext cx="622480" cy="368754"/>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290930" y="5097236"/>
            <a:ext cx="622480" cy="36875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913409" y="5097236"/>
            <a:ext cx="622480" cy="368754"/>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535889" y="5097236"/>
            <a:ext cx="622480" cy="368754"/>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158368" y="5097236"/>
            <a:ext cx="622480" cy="368754"/>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780848" y="5097236"/>
            <a:ext cx="622480" cy="36875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403327" y="5097236"/>
            <a:ext cx="622480" cy="368754"/>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9025807" y="5097236"/>
            <a:ext cx="622480" cy="368754"/>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648286" y="5097236"/>
            <a:ext cx="622480" cy="36875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70766" y="5097236"/>
            <a:ext cx="622480" cy="368754"/>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93245" y="5097236"/>
            <a:ext cx="622480" cy="368754"/>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46598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Waxes and Structuring Agents</a:t>
            </a:r>
          </a:p>
        </p:txBody>
      </p:sp>
      <p:sp>
        <p:nvSpPr>
          <p:cNvPr id="204" name="Rectangle 203"/>
          <p:cNvSpPr/>
          <p:nvPr/>
        </p:nvSpPr>
        <p:spPr>
          <a:xfrm>
            <a:off x="2178532" y="5465989"/>
            <a:ext cx="622480" cy="368754"/>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801011" y="5465989"/>
            <a:ext cx="622480" cy="368754"/>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423491" y="5465989"/>
            <a:ext cx="622480" cy="36875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4045971" y="5465989"/>
            <a:ext cx="622480" cy="368754"/>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668450" y="5465989"/>
            <a:ext cx="622480" cy="36875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290930" y="5465989"/>
            <a:ext cx="622480" cy="368754"/>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913409" y="5465989"/>
            <a:ext cx="622480" cy="368754"/>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535889" y="5465989"/>
            <a:ext cx="622480" cy="368754"/>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158368" y="5465989"/>
            <a:ext cx="622480" cy="368754"/>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780848" y="5465989"/>
            <a:ext cx="622480" cy="368754"/>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403327" y="5465989"/>
            <a:ext cx="622480" cy="368754"/>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9025807" y="5465989"/>
            <a:ext cx="622480" cy="368754"/>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648286" y="5465989"/>
            <a:ext cx="622480" cy="368754"/>
          </a:xfrm>
          <a:prstGeom prst="rect">
            <a:avLst/>
          </a:prstGeom>
          <a:solidFill>
            <a:srgbClr val="0E70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70766" y="5465989"/>
            <a:ext cx="622480" cy="36875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93245" y="5465989"/>
            <a:ext cx="622480" cy="368754"/>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834743"/>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Waxes</a:t>
            </a:r>
          </a:p>
        </p:txBody>
      </p:sp>
      <p:sp>
        <p:nvSpPr>
          <p:cNvPr id="220" name="Rectangle 219"/>
          <p:cNvSpPr/>
          <p:nvPr/>
        </p:nvSpPr>
        <p:spPr>
          <a:xfrm>
            <a:off x="2178532" y="5834743"/>
            <a:ext cx="622480" cy="36875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801011" y="5834743"/>
            <a:ext cx="622480" cy="36875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423491" y="5834743"/>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4045971" y="5834743"/>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668450" y="5834743"/>
            <a:ext cx="622480" cy="36875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290930" y="5834743"/>
            <a:ext cx="622480" cy="368754"/>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913409" y="5834743"/>
            <a:ext cx="622480" cy="368754"/>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535889" y="5834743"/>
            <a:ext cx="622480" cy="368754"/>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158368" y="5834743"/>
            <a:ext cx="622480" cy="36875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780848" y="5834743"/>
            <a:ext cx="622480" cy="368754"/>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403327" y="5834743"/>
            <a:ext cx="622480" cy="368754"/>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9025807" y="5834743"/>
            <a:ext cx="622480" cy="36875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648286" y="5834743"/>
            <a:ext cx="622480" cy="36875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70766" y="5834743"/>
            <a:ext cx="622480" cy="36875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93245" y="5834743"/>
            <a:ext cx="622480" cy="368754"/>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620349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Plant-derived Waxes</a:t>
            </a:r>
          </a:p>
        </p:txBody>
      </p:sp>
      <p:sp>
        <p:nvSpPr>
          <p:cNvPr id="236" name="Rectangle 235"/>
          <p:cNvSpPr/>
          <p:nvPr/>
        </p:nvSpPr>
        <p:spPr>
          <a:xfrm>
            <a:off x="2178532" y="6203496"/>
            <a:ext cx="622480" cy="36875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801011" y="6203496"/>
            <a:ext cx="622480" cy="36875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423491" y="6203496"/>
            <a:ext cx="622480" cy="368754"/>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4045971" y="6203496"/>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668450" y="6203496"/>
            <a:ext cx="622480"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290930" y="6203496"/>
            <a:ext cx="622480" cy="368754"/>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913409" y="6203496"/>
            <a:ext cx="622480" cy="368754"/>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535889" y="6203496"/>
            <a:ext cx="622480" cy="368754"/>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158368" y="6203496"/>
            <a:ext cx="622480" cy="368754"/>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780848" y="6203496"/>
            <a:ext cx="622480" cy="368754"/>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403327" y="6203496"/>
            <a:ext cx="622480" cy="368754"/>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9025807" y="6203496"/>
            <a:ext cx="622480" cy="368754"/>
          </a:xfrm>
          <a:prstGeom prst="rect">
            <a:avLst/>
          </a:prstGeom>
          <a:solidFill>
            <a:srgbClr val="0C3F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648286" y="6203496"/>
            <a:ext cx="622480" cy="368754"/>
          </a:xfrm>
          <a:prstGeom prst="rect">
            <a:avLst/>
          </a:prstGeom>
          <a:solidFill>
            <a:srgbClr val="0C41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70766" y="6203496"/>
            <a:ext cx="622480" cy="368754"/>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93245" y="6203496"/>
            <a:ext cx="622480" cy="368754"/>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293" name="TextBox 292"/>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94" name="TextBox 293"/>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95" name="TextBox 29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4.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807210"/>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2112010"/>
            <a:ext cx="7239000" cy="971550"/>
          </a:xfrm>
          <a:prstGeom prst="rect">
            <a:avLst/>
          </a:prstGeom>
          <a:noFill/>
        </p:spPr>
        <p:txBody>
          <a:bodyPr wrap="square" lIns="0" rIns="0" tIns="0">
            <a:spAutoFit/>
          </a:bodyPr>
          <a:lstStyle/>
          <a:p>
            <a:r>
              <a:rPr sz="3000" b="1" cap="all" spc="400">
                <a:solidFill>
                  <a:srgbClr val="FFFFFF"/>
                </a:solidFill>
                <a:latin typeface="Calibri"/>
              </a:rPr>
              <a:t>East Asia Market Outlook</a:t>
            </a:r>
          </a:p>
        </p:txBody>
      </p:sp>
      <p:sp>
        <p:nvSpPr>
          <p:cNvPr id="7" name="TextBox 6"/>
          <p:cNvSpPr txBox="1"/>
          <p:nvPr/>
        </p:nvSpPr>
        <p:spPr>
          <a:xfrm>
            <a:off x="914400" y="3274060"/>
            <a:ext cx="7124700" cy="320548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East Asia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East Asia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East Asia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Hold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Finish</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Primary Styling Benefit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Hair Type Targeted</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Ingredient Technology</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40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East Asia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Market Summary, By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East Asia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(MN UNITS)</a:t>
            </a:r>
          </a:p>
          <a:p>
            <a:pPr algn="ctr">
              <a:lnSpc>
                <a:spcPct val="95000"/>
              </a:lnSpc>
            </a:pPr>
            <a:r>
              <a:rPr sz="1500" b="1">
                <a:solidFill>
                  <a:srgbClr val="0E72AE"/>
                </a:solidFill>
                <a:latin typeface="Calibri"/>
              </a:rPr>
              <a:t>2,116</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3,436</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3.7%</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5.0%</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(Mn Units)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East Asia hair styling products market is projected to register 1.7X increase in volume by the end of forecast period, 2036. East Asia hair styling products market volume stood at 2,035 Mn Units in 2025 and is expected to reach 3,436 Mn Units by 2036 end, at a CAGR of 5.0%.</a:t>
            </a:r>
          </a:p>
          <a:p>
            <a:pPr algn="l">
              <a:lnSpc>
                <a:spcPct val="110000"/>
              </a:lnSpc>
              <a:spcBef>
                <a:spcPts val="0"/>
              </a:spcBef>
              <a:spcAft>
                <a:spcPts val="500"/>
              </a:spcAft>
            </a:pPr>
            <a:r>
              <a:rPr sz="1100" b="0">
                <a:solidFill>
                  <a:srgbClr val="2E2E2E"/>
                </a:solidFill>
                <a:latin typeface="Calibri"/>
              </a:rPr>
              <a:t>Value is projected to grow faster than volume over the forecast period, owing to an increase in average selling price.</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'China' leads regional growth at 5.4%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'Waxes, Clays, Pastes and Pomades'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Format  ·  range across 2021–2036 (US$/Units)</a:t>
            </a:r>
          </a:p>
        </p:txBody>
      </p:sp>
      <p:cxnSp>
        <p:nvCxnSpPr>
          <p:cNvPr id="13" name="Connector 12"/>
          <p:cNvCxnSpPr/>
          <p:nvPr/>
        </p:nvCxnSpPr>
        <p:spPr>
          <a:xfrm>
            <a:off x="657225" y="310071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68877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27683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86488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64777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10071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68877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27683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86488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03404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0.856</a:t>
            </a:r>
          </a:p>
        </p:txBody>
      </p:sp>
      <p:sp>
        <p:nvSpPr>
          <p:cNvPr id="25" name="FMI Scale tick"/>
          <p:cNvSpPr txBox="1"/>
          <p:nvPr/>
        </p:nvSpPr>
        <p:spPr>
          <a:xfrm>
            <a:off x="219075" y="2210155"/>
            <a:ext cx="381000" cy="133350"/>
          </a:xfrm>
          <a:prstGeom prst="rect">
            <a:avLst/>
          </a:prstGeom>
          <a:noFill/>
        </p:spPr>
        <p:txBody>
          <a:bodyPr wrap="none" lIns="0" rIns="0" tIns="0" bIns="0" anchor="ctr">
            <a:spAutoFit/>
          </a:bodyPr>
          <a:lstStyle/>
          <a:p>
            <a:pPr algn="r"/>
            <a:r>
              <a:rPr sz="1100" b="0">
                <a:solidFill>
                  <a:srgbClr val="6C7A89"/>
                </a:solidFill>
                <a:latin typeface="Calibri"/>
              </a:rPr>
              <a:t>2.25</a:t>
            </a:r>
          </a:p>
        </p:txBody>
      </p:sp>
      <p:sp>
        <p:nvSpPr>
          <p:cNvPr id="26" name="FMI Scale tick"/>
          <p:cNvSpPr txBox="1"/>
          <p:nvPr/>
        </p:nvSpPr>
        <p:spPr>
          <a:xfrm>
            <a:off x="219075" y="1386270"/>
            <a:ext cx="381000" cy="133350"/>
          </a:xfrm>
          <a:prstGeom prst="rect">
            <a:avLst/>
          </a:prstGeom>
          <a:noFill/>
        </p:spPr>
        <p:txBody>
          <a:bodyPr wrap="none" lIns="0" rIns="0" tIns="0" bIns="0" anchor="ctr">
            <a:spAutoFit/>
          </a:bodyPr>
          <a:lstStyle/>
          <a:p>
            <a:pPr algn="r"/>
            <a:r>
              <a:rPr sz="1100" b="0">
                <a:solidFill>
                  <a:srgbClr val="6C7A89"/>
                </a:solidFill>
                <a:latin typeface="Calibri"/>
              </a:rPr>
              <a:t>3.64</a:t>
            </a:r>
          </a:p>
        </p:txBody>
      </p:sp>
      <p:cxnSp>
        <p:nvCxnSpPr>
          <p:cNvPr id="27" name="Connector 26"/>
          <p:cNvCxnSpPr/>
          <p:nvPr/>
        </p:nvCxnSpPr>
        <p:spPr>
          <a:xfrm flipV="1">
            <a:off x="1095375" y="2428855"/>
            <a:ext cx="0" cy="168292"/>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963930" y="259714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963930" y="242885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876300" y="2499593"/>
            <a:ext cx="438150" cy="8621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876300" y="2551626"/>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276455"/>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1.78</a:t>
            </a:r>
          </a:p>
        </p:txBody>
      </p:sp>
      <p:cxnSp>
        <p:nvCxnSpPr>
          <p:cNvPr id="33" name="Connector 32"/>
          <p:cNvCxnSpPr/>
          <p:nvPr/>
        </p:nvCxnSpPr>
        <p:spPr>
          <a:xfrm flipV="1">
            <a:off x="1971675" y="2793834"/>
            <a:ext cx="0" cy="116754"/>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840230" y="291058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1840230" y="279383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752600" y="2843336"/>
            <a:ext cx="438150" cy="59211"/>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1752600" y="287871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1533525" y="2641434"/>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1.23</a:t>
            </a:r>
          </a:p>
        </p:txBody>
      </p:sp>
      <p:cxnSp>
        <p:nvCxnSpPr>
          <p:cNvPr id="39" name="Connector 38"/>
          <p:cNvCxnSpPr/>
          <p:nvPr/>
        </p:nvCxnSpPr>
        <p:spPr>
          <a:xfrm flipV="1">
            <a:off x="2847975" y="2766789"/>
            <a:ext cx="0" cy="107132"/>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2716530" y="287392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2716530" y="276678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2628900" y="2813513"/>
            <a:ext cx="438150" cy="54367"/>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2628900" y="2847081"/>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2409825" y="261438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1.28</a:t>
            </a:r>
          </a:p>
        </p:txBody>
      </p:sp>
      <p:cxnSp>
        <p:nvCxnSpPr>
          <p:cNvPr id="45" name="Connector 44"/>
          <p:cNvCxnSpPr/>
          <p:nvPr/>
        </p:nvCxnSpPr>
        <p:spPr>
          <a:xfrm flipV="1">
            <a:off x="3724275" y="2424142"/>
            <a:ext cx="0" cy="194147"/>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3592830" y="261828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3592830" y="242414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3505200" y="2505624"/>
            <a:ext cx="438150" cy="9884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3505200" y="2564621"/>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286125" y="2271742"/>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1.76</a:t>
            </a:r>
          </a:p>
        </p:txBody>
      </p:sp>
      <p:cxnSp>
        <p:nvCxnSpPr>
          <p:cNvPr id="51" name="Connector 50"/>
          <p:cNvCxnSpPr/>
          <p:nvPr/>
        </p:nvCxnSpPr>
        <p:spPr>
          <a:xfrm flipV="1">
            <a:off x="4600575" y="2032370"/>
            <a:ext cx="0" cy="211793"/>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4469130" y="224416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4469130" y="2032370"/>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4381500" y="2121295"/>
            <a:ext cx="438150" cy="10884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5" name="Connector 54"/>
          <p:cNvCxnSpPr/>
          <p:nvPr/>
        </p:nvCxnSpPr>
        <p:spPr>
          <a:xfrm>
            <a:off x="4381500" y="2186082"/>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4162425" y="1879970"/>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2.40</a:t>
            </a:r>
          </a:p>
        </p:txBody>
      </p:sp>
      <p:cxnSp>
        <p:nvCxnSpPr>
          <p:cNvPr id="57" name="Connector 56"/>
          <p:cNvCxnSpPr/>
          <p:nvPr/>
        </p:nvCxnSpPr>
        <p:spPr>
          <a:xfrm flipV="1">
            <a:off x="5476875" y="2255388"/>
            <a:ext cx="0" cy="19665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5345430" y="245203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5345430" y="225538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5257800" y="2338744"/>
            <a:ext cx="438150" cy="9844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1" name="Connector 60"/>
          <p:cNvCxnSpPr/>
          <p:nvPr/>
        </p:nvCxnSpPr>
        <p:spPr>
          <a:xfrm>
            <a:off x="5257800" y="239686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5038725" y="2102988"/>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2.05</a:t>
            </a:r>
          </a:p>
        </p:txBody>
      </p:sp>
      <p:cxnSp>
        <p:nvCxnSpPr>
          <p:cNvPr id="63" name="Connector 62"/>
          <p:cNvCxnSpPr/>
          <p:nvPr/>
        </p:nvCxnSpPr>
        <p:spPr>
          <a:xfrm flipV="1">
            <a:off x="6353175" y="1643073"/>
            <a:ext cx="0" cy="269906"/>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6221730" y="191297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6221730" y="164307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6134100" y="1768145"/>
            <a:ext cx="438150" cy="13107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7" name="Connector 66"/>
          <p:cNvCxnSpPr/>
          <p:nvPr/>
        </p:nvCxnSpPr>
        <p:spPr>
          <a:xfrm>
            <a:off x="6134100" y="185029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5915025" y="1490673"/>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2.97</a:t>
            </a:r>
          </a:p>
        </p:txBody>
      </p:sp>
      <p:cxnSp>
        <p:nvCxnSpPr>
          <p:cNvPr id="69" name="Connector 68"/>
          <p:cNvCxnSpPr/>
          <p:nvPr/>
        </p:nvCxnSpPr>
        <p:spPr>
          <a:xfrm flipV="1">
            <a:off x="7229475" y="1890193"/>
            <a:ext cx="0" cy="195003"/>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0" name="Connector 69"/>
          <p:cNvCxnSpPr/>
          <p:nvPr/>
        </p:nvCxnSpPr>
        <p:spPr>
          <a:xfrm>
            <a:off x="7098030" y="208519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1" name="Connector 70"/>
          <p:cNvCxnSpPr/>
          <p:nvPr/>
        </p:nvCxnSpPr>
        <p:spPr>
          <a:xfrm>
            <a:off x="7098030" y="189019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72" name="Rectangle 71"/>
          <p:cNvSpPr/>
          <p:nvPr/>
        </p:nvSpPr>
        <p:spPr>
          <a:xfrm>
            <a:off x="7010400" y="1976430"/>
            <a:ext cx="438150" cy="98116"/>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3" name="Connector 72"/>
          <p:cNvCxnSpPr/>
          <p:nvPr/>
        </p:nvCxnSpPr>
        <p:spPr>
          <a:xfrm>
            <a:off x="7010400" y="2037572"/>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6791325" y="1737793"/>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2.65</a:t>
            </a:r>
          </a:p>
        </p:txBody>
      </p:sp>
      <p:sp>
        <p:nvSpPr>
          <p:cNvPr id="75" name="TextBox 74"/>
          <p:cNvSpPr txBox="1"/>
          <p:nvPr/>
        </p:nvSpPr>
        <p:spPr>
          <a:xfrm>
            <a:off x="6572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Sprays and Mists</a:t>
            </a:r>
          </a:p>
        </p:txBody>
      </p:sp>
      <p:sp>
        <p:nvSpPr>
          <p:cNvPr id="76" name="TextBox 75"/>
          <p:cNvSpPr txBox="1"/>
          <p:nvPr/>
        </p:nvSpPr>
        <p:spPr>
          <a:xfrm>
            <a:off x="15335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Mousses and Foams</a:t>
            </a:r>
          </a:p>
        </p:txBody>
      </p:sp>
      <p:sp>
        <p:nvSpPr>
          <p:cNvPr id="77" name="TextBox 76"/>
          <p:cNvSpPr txBox="1"/>
          <p:nvPr/>
        </p:nvSpPr>
        <p:spPr>
          <a:xfrm>
            <a:off x="24098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Gels and Jellies</a:t>
            </a:r>
          </a:p>
        </p:txBody>
      </p:sp>
      <p:sp>
        <p:nvSpPr>
          <p:cNvPr id="78" name="TextBox 77"/>
          <p:cNvSpPr txBox="1"/>
          <p:nvPr/>
        </p:nvSpPr>
        <p:spPr>
          <a:xfrm>
            <a:off x="32861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Creams and Lotions</a:t>
            </a:r>
          </a:p>
        </p:txBody>
      </p:sp>
      <p:sp>
        <p:nvSpPr>
          <p:cNvPr id="79" name="TextBox 78"/>
          <p:cNvSpPr txBox="1"/>
          <p:nvPr/>
        </p:nvSpPr>
        <p:spPr>
          <a:xfrm>
            <a:off x="41624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Waxes, Clays, Pastes…</a:t>
            </a:r>
          </a:p>
        </p:txBody>
      </p:sp>
      <p:sp>
        <p:nvSpPr>
          <p:cNvPr id="80" name="TextBox 79"/>
          <p:cNvSpPr txBox="1"/>
          <p:nvPr/>
        </p:nvSpPr>
        <p:spPr>
          <a:xfrm>
            <a:off x="50387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Powders</a:t>
            </a:r>
          </a:p>
        </p:txBody>
      </p:sp>
      <p:sp>
        <p:nvSpPr>
          <p:cNvPr id="81" name="TextBox 80"/>
          <p:cNvSpPr txBox="1"/>
          <p:nvPr/>
        </p:nvSpPr>
        <p:spPr>
          <a:xfrm>
            <a:off x="59150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Serums and Oils</a:t>
            </a:r>
          </a:p>
        </p:txBody>
      </p:sp>
      <p:sp>
        <p:nvSpPr>
          <p:cNvPr id="82" name="TextBox 81"/>
          <p:cNvSpPr txBox="1"/>
          <p:nvPr/>
        </p:nvSpPr>
        <p:spPr>
          <a:xfrm>
            <a:off x="67913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Sticks and Balms</a:t>
            </a:r>
          </a:p>
        </p:txBody>
      </p:sp>
      <p:sp>
        <p:nvSpPr>
          <p:cNvPr id="83" name="Rounded Rectangle 82"/>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East Asia  ·  2026–2036</a:t>
            </a:r>
          </a:p>
        </p:txBody>
      </p:sp>
      <p:cxnSp>
        <p:nvCxnSpPr>
          <p:cNvPr id="85" name="Connector 84"/>
          <p:cNvCxnSpPr/>
          <p:nvPr/>
        </p:nvCxnSpPr>
        <p:spPr>
          <a:xfrm>
            <a:off x="619125" y="432527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a:off x="619125" y="475919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7" name="Connector 86"/>
          <p:cNvCxnSpPr/>
          <p:nvPr/>
        </p:nvCxnSpPr>
        <p:spPr>
          <a:xfrm>
            <a:off x="619125" y="51931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8" name="Connector 87"/>
          <p:cNvCxnSpPr/>
          <p:nvPr/>
        </p:nvCxnSpPr>
        <p:spPr>
          <a:xfrm>
            <a:off x="619125" y="562703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9" name="Connector 88"/>
          <p:cNvCxnSpPr/>
          <p:nvPr/>
        </p:nvCxnSpPr>
        <p:spPr>
          <a:xfrm>
            <a:off x="619125" y="606095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90" name="Connector 89"/>
          <p:cNvCxnSpPr/>
          <p:nvPr/>
        </p:nvCxnSpPr>
        <p:spPr>
          <a:xfrm>
            <a:off x="619125" y="4325278"/>
            <a:ext cx="0" cy="1735675"/>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1" name="Connector 90"/>
          <p:cNvCxnSpPr/>
          <p:nvPr/>
        </p:nvCxnSpPr>
        <p:spPr>
          <a:xfrm>
            <a:off x="590550" y="432527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2" name="Connector 91"/>
          <p:cNvCxnSpPr/>
          <p:nvPr/>
        </p:nvCxnSpPr>
        <p:spPr>
          <a:xfrm>
            <a:off x="590550" y="475919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3" name="Connector 92"/>
          <p:cNvCxnSpPr/>
          <p:nvPr/>
        </p:nvCxnSpPr>
        <p:spPr>
          <a:xfrm>
            <a:off x="590550" y="51931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4" name="Connector 93"/>
          <p:cNvCxnSpPr/>
          <p:nvPr/>
        </p:nvCxnSpPr>
        <p:spPr>
          <a:xfrm>
            <a:off x="590550" y="562703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5" name="Connector 94"/>
          <p:cNvCxnSpPr/>
          <p:nvPr/>
        </p:nvCxnSpPr>
        <p:spPr>
          <a:xfrm>
            <a:off x="590550" y="606095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96" name="FMI Scale tick"/>
          <p:cNvSpPr txBox="1"/>
          <p:nvPr/>
        </p:nvSpPr>
        <p:spPr>
          <a:xfrm>
            <a:off x="219075" y="4258603"/>
            <a:ext cx="361950" cy="133350"/>
          </a:xfrm>
          <a:prstGeom prst="rect">
            <a:avLst/>
          </a:prstGeom>
          <a:noFill/>
        </p:spPr>
        <p:txBody>
          <a:bodyPr wrap="none" lIns="0" rIns="0" tIns="0" bIns="0" anchor="ctr">
            <a:spAutoFit/>
          </a:bodyPr>
          <a:lstStyle/>
          <a:p>
            <a:pPr algn="r"/>
            <a:r>
              <a:rPr sz="1100" b="0">
                <a:solidFill>
                  <a:srgbClr val="6C7A89"/>
                </a:solidFill>
                <a:latin typeface="Calibri"/>
              </a:rPr>
              <a:t>+70%</a:t>
            </a:r>
          </a:p>
        </p:txBody>
      </p:sp>
      <p:sp>
        <p:nvSpPr>
          <p:cNvPr id="97" name="FMI Scale tick"/>
          <p:cNvSpPr txBox="1"/>
          <p:nvPr/>
        </p:nvSpPr>
        <p:spPr>
          <a:xfrm>
            <a:off x="219075" y="4692522"/>
            <a:ext cx="361950" cy="133350"/>
          </a:xfrm>
          <a:prstGeom prst="rect">
            <a:avLst/>
          </a:prstGeom>
          <a:noFill/>
        </p:spPr>
        <p:txBody>
          <a:bodyPr wrap="none" lIns="0" rIns="0" tIns="0" bIns="0" anchor="ctr">
            <a:spAutoFit/>
          </a:bodyPr>
          <a:lstStyle/>
          <a:p>
            <a:pPr algn="r"/>
            <a:r>
              <a:rPr sz="1100" b="0">
                <a:solidFill>
                  <a:srgbClr val="6C7A89"/>
                </a:solidFill>
                <a:latin typeface="Calibri"/>
              </a:rPr>
              <a:t>+35%</a:t>
            </a:r>
          </a:p>
        </p:txBody>
      </p:sp>
      <p:sp>
        <p:nvSpPr>
          <p:cNvPr id="98" name="FMI Scale tick"/>
          <p:cNvSpPr txBox="1"/>
          <p:nvPr/>
        </p:nvSpPr>
        <p:spPr>
          <a:xfrm>
            <a:off x="219075" y="512644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East Asia</a:t>
            </a:r>
          </a:p>
        </p:txBody>
      </p:sp>
      <p:sp>
        <p:nvSpPr>
          <p:cNvPr id="99" name="FMI Scale tick"/>
          <p:cNvSpPr txBox="1"/>
          <p:nvPr/>
        </p:nvSpPr>
        <p:spPr>
          <a:xfrm>
            <a:off x="219075" y="5560359"/>
            <a:ext cx="361950" cy="133350"/>
          </a:xfrm>
          <a:prstGeom prst="rect">
            <a:avLst/>
          </a:prstGeom>
          <a:noFill/>
        </p:spPr>
        <p:txBody>
          <a:bodyPr wrap="none" lIns="0" rIns="0" tIns="0" bIns="0" anchor="ctr">
            <a:spAutoFit/>
          </a:bodyPr>
          <a:lstStyle/>
          <a:p>
            <a:pPr algn="r"/>
            <a:r>
              <a:rPr sz="1100" b="0">
                <a:solidFill>
                  <a:srgbClr val="6C7A89"/>
                </a:solidFill>
                <a:latin typeface="Calibri"/>
              </a:rPr>
              <a:t>-35%</a:t>
            </a:r>
          </a:p>
        </p:txBody>
      </p:sp>
      <p:sp>
        <p:nvSpPr>
          <p:cNvPr id="100" name="FMI Scale tick"/>
          <p:cNvSpPr txBox="1"/>
          <p:nvPr/>
        </p:nvSpPr>
        <p:spPr>
          <a:xfrm>
            <a:off x="219075" y="5994278"/>
            <a:ext cx="361950" cy="133350"/>
          </a:xfrm>
          <a:prstGeom prst="rect">
            <a:avLst/>
          </a:prstGeom>
          <a:noFill/>
        </p:spPr>
        <p:txBody>
          <a:bodyPr wrap="none" lIns="0" rIns="0" tIns="0" bIns="0" anchor="ctr">
            <a:spAutoFit/>
          </a:bodyPr>
          <a:lstStyle/>
          <a:p>
            <a:pPr algn="r"/>
            <a:r>
              <a:rPr sz="1100" b="0">
                <a:solidFill>
                  <a:srgbClr val="6C7A89"/>
                </a:solidFill>
                <a:latin typeface="Calibri"/>
              </a:rPr>
              <a:t>-70%</a:t>
            </a:r>
          </a:p>
        </p:txBody>
      </p:sp>
      <p:cxnSp>
        <p:nvCxnSpPr>
          <p:cNvPr id="101" name="Connector 100"/>
          <p:cNvCxnSpPr/>
          <p:nvPr/>
        </p:nvCxnSpPr>
        <p:spPr>
          <a:xfrm>
            <a:off x="619125" y="519311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102" name="Rectangle 101"/>
          <p:cNvSpPr/>
          <p:nvPr/>
        </p:nvSpPr>
        <p:spPr>
          <a:xfrm>
            <a:off x="1565275" y="5193116"/>
            <a:ext cx="457200" cy="318715"/>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FMI Data Label"/>
          <p:cNvSpPr txBox="1"/>
          <p:nvPr/>
        </p:nvSpPr>
        <p:spPr>
          <a:xfrm>
            <a:off x="619125" y="5521356"/>
            <a:ext cx="2349500" cy="133350"/>
          </a:xfrm>
          <a:prstGeom prst="rect">
            <a:avLst/>
          </a:prstGeom>
          <a:noFill/>
        </p:spPr>
        <p:txBody>
          <a:bodyPr wrap="square" lIns="28575" rIns="28575" tIns="9525" bIns="9525">
            <a:spAutoFit/>
          </a:bodyPr>
          <a:lstStyle/>
          <a:p>
            <a:pPr algn="ctr"/>
            <a:r>
              <a:rPr sz="1100" b="1">
                <a:solidFill>
                  <a:srgbClr val="2E2E2E"/>
                </a:solidFill>
                <a:latin typeface="Calibri"/>
              </a:rPr>
              <a:t>-25.7%</a:t>
            </a:r>
          </a:p>
        </p:txBody>
      </p:sp>
      <p:sp>
        <p:nvSpPr>
          <p:cNvPr id="104" name="Rectangle 103"/>
          <p:cNvSpPr/>
          <p:nvPr/>
        </p:nvSpPr>
        <p:spPr>
          <a:xfrm>
            <a:off x="3914775" y="4437287"/>
            <a:ext cx="457200" cy="75582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MI Data Label"/>
          <p:cNvSpPr txBox="1"/>
          <p:nvPr/>
        </p:nvSpPr>
        <p:spPr>
          <a:xfrm>
            <a:off x="2968625" y="4294412"/>
            <a:ext cx="2349500" cy="133350"/>
          </a:xfrm>
          <a:prstGeom prst="rect">
            <a:avLst/>
          </a:prstGeom>
          <a:noFill/>
        </p:spPr>
        <p:txBody>
          <a:bodyPr wrap="square" lIns="28575" rIns="28575" tIns="9525" bIns="9525">
            <a:spAutoFit/>
          </a:bodyPr>
          <a:lstStyle/>
          <a:p>
            <a:pPr algn="ctr"/>
            <a:r>
              <a:rPr sz="1100" b="1">
                <a:solidFill>
                  <a:srgbClr val="2E2E2E"/>
                </a:solidFill>
                <a:latin typeface="Calibri"/>
              </a:rPr>
              <a:t>+60.9%</a:t>
            </a:r>
          </a:p>
        </p:txBody>
      </p:sp>
      <p:sp>
        <p:nvSpPr>
          <p:cNvPr id="106" name="Rectangle 105"/>
          <p:cNvSpPr/>
          <p:nvPr/>
        </p:nvSpPr>
        <p:spPr>
          <a:xfrm>
            <a:off x="6264275" y="4860342"/>
            <a:ext cx="457200" cy="33277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MI Data Label"/>
          <p:cNvSpPr txBox="1"/>
          <p:nvPr/>
        </p:nvSpPr>
        <p:spPr>
          <a:xfrm>
            <a:off x="5318125" y="4717467"/>
            <a:ext cx="2349500" cy="133350"/>
          </a:xfrm>
          <a:prstGeom prst="rect">
            <a:avLst/>
          </a:prstGeom>
          <a:noFill/>
        </p:spPr>
        <p:txBody>
          <a:bodyPr wrap="square" lIns="28575" rIns="28575" tIns="9525" bIns="9525">
            <a:spAutoFit/>
          </a:bodyPr>
          <a:lstStyle/>
          <a:p>
            <a:pPr algn="ctr"/>
            <a:r>
              <a:rPr sz="1100" b="1">
                <a:solidFill>
                  <a:srgbClr val="2E2E2E"/>
                </a:solidFill>
                <a:latin typeface="Calibri"/>
              </a:rPr>
              <a:t>+26.8%</a:t>
            </a:r>
          </a:p>
        </p:txBody>
      </p:sp>
      <p:sp>
        <p:nvSpPr>
          <p:cNvPr id="108" name="TextBox 107"/>
          <p:cNvSpPr txBox="1"/>
          <p:nvPr/>
        </p:nvSpPr>
        <p:spPr>
          <a:xfrm>
            <a:off x="619125" y="6242060"/>
            <a:ext cx="2349500" cy="247650"/>
          </a:xfrm>
          <a:prstGeom prst="rect">
            <a:avLst/>
          </a:prstGeom>
          <a:noFill/>
        </p:spPr>
        <p:txBody>
          <a:bodyPr wrap="square" lIns="28575" rIns="28575" tIns="9525" bIns="9525">
            <a:spAutoFit/>
          </a:bodyPr>
          <a:lstStyle/>
          <a:p>
            <a:pPr algn="ctr"/>
            <a:r>
              <a:rPr sz="1100" b="0">
                <a:solidFill>
                  <a:srgbClr val="2E2E2E"/>
                </a:solidFill>
                <a:latin typeface="Calibri"/>
              </a:rPr>
              <a:t>China</a:t>
            </a:r>
          </a:p>
        </p:txBody>
      </p:sp>
      <p:sp>
        <p:nvSpPr>
          <p:cNvPr id="109" name="TextBox 108"/>
          <p:cNvSpPr txBox="1"/>
          <p:nvPr/>
        </p:nvSpPr>
        <p:spPr>
          <a:xfrm>
            <a:off x="2968625" y="6242060"/>
            <a:ext cx="2349500" cy="247650"/>
          </a:xfrm>
          <a:prstGeom prst="rect">
            <a:avLst/>
          </a:prstGeom>
          <a:noFill/>
        </p:spPr>
        <p:txBody>
          <a:bodyPr wrap="square" lIns="28575" rIns="28575" tIns="9525" bIns="9525">
            <a:spAutoFit/>
          </a:bodyPr>
          <a:lstStyle/>
          <a:p>
            <a:pPr algn="ctr"/>
            <a:r>
              <a:rPr sz="1100" b="0">
                <a:solidFill>
                  <a:srgbClr val="2E2E2E"/>
                </a:solidFill>
                <a:latin typeface="Calibri"/>
              </a:rPr>
              <a:t>Japan</a:t>
            </a:r>
          </a:p>
        </p:txBody>
      </p:sp>
      <p:sp>
        <p:nvSpPr>
          <p:cNvPr id="110" name="TextBox 109"/>
          <p:cNvSpPr txBox="1"/>
          <p:nvPr/>
        </p:nvSpPr>
        <p:spPr>
          <a:xfrm>
            <a:off x="5318125" y="6242060"/>
            <a:ext cx="2349500" cy="247650"/>
          </a:xfrm>
          <a:prstGeom prst="rect">
            <a:avLst/>
          </a:prstGeom>
          <a:noFill/>
        </p:spPr>
        <p:txBody>
          <a:bodyPr wrap="square" lIns="28575" rIns="28575" tIns="9525" bIns="9525">
            <a:spAutoFit/>
          </a:bodyPr>
          <a:lstStyle/>
          <a:p>
            <a:pPr algn="ctr"/>
            <a:r>
              <a:rPr sz="1100" b="0">
                <a:solidFill>
                  <a:srgbClr val="2E2E2E"/>
                </a:solidFill>
                <a:latin typeface="Calibri"/>
              </a:rPr>
              <a:t>South Korea</a:t>
            </a:r>
          </a:p>
        </p:txBody>
      </p:sp>
      <p:sp>
        <p:nvSpPr>
          <p:cNvPr id="111" name="Rounded Rectangle 110"/>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13" name="Rectangle 112"/>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Styling serums and oils segment is expected to command the highest average price of US$ 3.32 per Unit in 2036. Average selling price of hair styling products is estimated at US$ 1.93 per Unit in 2025 and is projected to increase to US$ 2.26 per Unit by 2036.</a:t>
            </a:r>
          </a:p>
          <a:p>
            <a:pPr algn="l">
              <a:lnSpc>
                <a:spcPct val="110000"/>
              </a:lnSpc>
              <a:spcBef>
                <a:spcPts val="0"/>
              </a:spcBef>
              <a:spcAft>
                <a:spcPts val="500"/>
              </a:spcAft>
            </a:pPr>
            <a:r>
              <a:rPr sz="1150" b="0">
                <a:solidFill>
                  <a:srgbClr val="2E2E2E"/>
                </a:solidFill>
                <a:latin typeface="Calibri"/>
              </a:rPr>
              <a:t>Japan is the highest-priced country, while China is the most price-competitive market. Against the East Asia price of 2.10 US$/Units, 2 of 3 countries price above and 1 below.</a:t>
            </a:r>
          </a:p>
          <a:p>
            <a:pPr algn="l">
              <a:lnSpc>
                <a:spcPct val="110000"/>
              </a:lnSpc>
              <a:spcBef>
                <a:spcPts val="0"/>
              </a:spcBef>
              <a:spcAft>
                <a:spcPts val="500"/>
              </a:spcAft>
            </a:pPr>
            <a:r>
              <a:rPr sz="1150" b="0">
                <a:solidFill>
                  <a:srgbClr val="2E2E2E"/>
                </a:solidFill>
                <a:latin typeface="Calibri"/>
              </a:rPr>
              <a:t>'Japan' is the dearest at +60.9% versus East Asia, 'China' the cheapest at -25.7% pointing to premiumisation headroom in the lower-priced countries.</a:t>
            </a:r>
          </a:p>
        </p:txBody>
      </p:sp>
      <p:sp>
        <p:nvSpPr>
          <p:cNvPr id="115" name="TextBox 1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East Asia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4,129</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7,782</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4.2%</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6.5%</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955981"/>
          </a:xfrm>
          <a:prstGeom prst="roundRect">
            <a:avLst>
              <a:gd name="adj" fmla="val 25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470206"/>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Hair styling products market value in East Asia is expected to increase 2.0X between 2025 and 2036. In 2025, the hair styling products market in East Asia was valued at US$ 3,935 Mn and is estimated to account for US$ 4,129 Mn by the end of 2026, reflecting a Y-o-Y growth rate of 4.9%.</a:t>
            </a:r>
          </a:p>
          <a:p>
            <a:pPr algn="l">
              <a:lnSpc>
                <a:spcPct val="100000"/>
              </a:lnSpc>
              <a:spcBef>
                <a:spcPts val="0"/>
              </a:spcBef>
              <a:spcAft>
                <a:spcPts val="300"/>
              </a:spcAft>
            </a:pPr>
            <a:r>
              <a:rPr sz="1100" b="0">
                <a:solidFill>
                  <a:srgbClr val="2E2E2E"/>
                </a:solidFill>
                <a:latin typeface="Calibri"/>
              </a:rPr>
              <a:t>The market in East Asia is expected to account for US$ 7,782 Mn by 2036 at a CAGR of 6.5% over the forecast period. East Asia is expected to create an incremental opportunity of US$ 3,847 Mn for the overall hair styling products market from 2025 to 2036.</a:t>
            </a:r>
          </a:p>
          <a:p>
            <a:pPr algn="l">
              <a:lnSpc>
                <a:spcPct val="100000"/>
              </a:lnSpc>
              <a:spcBef>
                <a:spcPts val="0"/>
              </a:spcBef>
              <a:spcAft>
                <a:spcPts val="300"/>
              </a:spcAft>
            </a:pPr>
            <a:r>
              <a:rPr sz="1100" b="0">
                <a:solidFill>
                  <a:srgbClr val="2E2E2E"/>
                </a:solidFill>
                <a:latin typeface="Calibri"/>
              </a:rPr>
              <a:t>Absolute $ value for 2026 is estimated to be US$ 193.8 Mn.</a:t>
            </a:r>
          </a:p>
        </p:txBody>
      </p:sp>
      <p:sp>
        <p:nvSpPr>
          <p:cNvPr id="25" name="Rounded Rectangle 24"/>
          <p:cNvSpPr/>
          <p:nvPr/>
        </p:nvSpPr>
        <p:spPr>
          <a:xfrm>
            <a:off x="7915275" y="4638629"/>
            <a:ext cx="4133850" cy="1917756"/>
          </a:xfrm>
          <a:prstGeom prst="roundRect">
            <a:avLst>
              <a:gd name="adj" fmla="val 39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724354"/>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962479"/>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048204"/>
            <a:ext cx="3867150" cy="143198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'China' leads regional growth at 7.5%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'Waxes, Clays, Pastes and Pomades'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East Asia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4695825"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Market, 2021–2025 (Historical)</a:t>
            </a:r>
          </a:p>
        </p:txBody>
      </p:sp>
      <p:graphicFrame>
        <p:nvGraphicFramePr>
          <p:cNvPr id="13" name="Chart 12"/>
          <p:cNvGraphicFramePr>
            <a:graphicFrameLocks noGrp="1"/>
          </p:cNvGraphicFramePr>
          <p:nvPr/>
        </p:nvGraphicFramePr>
        <p:xfrm>
          <a:off x="238125" y="1266825"/>
          <a:ext cx="4505325" cy="2181225"/>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Market, 2026–2036 (Forecast)</a:t>
            </a:r>
          </a:p>
        </p:txBody>
      </p:sp>
      <p:graphicFrame>
        <p:nvGraphicFramePr>
          <p:cNvPr id="16" name="Chart 15"/>
          <p:cNvGraphicFramePr>
            <a:graphicFrameLocks noGrp="1"/>
          </p:cNvGraphicFramePr>
          <p:nvPr/>
        </p:nvGraphicFramePr>
        <p:xfrm>
          <a:off x="5086350" y="1266825"/>
          <a:ext cx="6858000" cy="21812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4.2%</a:t>
            </a:r>
          </a:p>
        </p:txBody>
      </p:sp>
      <p:sp>
        <p:nvSpPr>
          <p:cNvPr id="18" name="Rounded Rectangle 17"/>
          <p:cNvSpPr/>
          <p:nvPr/>
        </p:nvSpPr>
        <p:spPr>
          <a:xfrm>
            <a:off x="2809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6.5%</a:t>
            </a:r>
          </a:p>
        </p:txBody>
      </p:sp>
      <p:sp>
        <p:nvSpPr>
          <p:cNvPr id="19" name="Rounded Rectangle 18"/>
          <p:cNvSpPr/>
          <p:nvPr/>
        </p:nvSpPr>
        <p:spPr>
          <a:xfrm>
            <a:off x="54768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1,413 US$ Mn</a:t>
            </a:r>
          </a:p>
        </p:txBody>
      </p:sp>
      <p:sp>
        <p:nvSpPr>
          <p:cNvPr id="20" name="Rounded Rectangle 19"/>
          <p:cNvSpPr/>
          <p:nvPr/>
        </p:nvSpPr>
        <p:spPr>
          <a:xfrm>
            <a:off x="88296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3,653 US$ Mn</a:t>
            </a:r>
          </a:p>
        </p:txBody>
      </p:sp>
      <p:sp>
        <p:nvSpPr>
          <p:cNvPr id="21" name="Rounded Rectangle 20"/>
          <p:cNvSpPr/>
          <p:nvPr/>
        </p:nvSpPr>
        <p:spPr>
          <a:xfrm>
            <a:off x="142875" y="4457700"/>
            <a:ext cx="11906250" cy="2152650"/>
          </a:xfrm>
          <a:prstGeom prst="roundRect">
            <a:avLst>
              <a:gd name="adj" fmla="val 35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543425"/>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Volume &amp; Value Analysis</a:t>
            </a:r>
          </a:p>
        </p:txBody>
      </p:sp>
      <p:sp>
        <p:nvSpPr>
          <p:cNvPr id="23" name="Rectangle 22"/>
          <p:cNvSpPr/>
          <p:nvPr/>
        </p:nvSpPr>
        <p:spPr>
          <a:xfrm>
            <a:off x="276225" y="4781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867275"/>
            <a:ext cx="11639550" cy="1666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Hair styling products market value in East Asia is expected to increase 2.0X between 2025 and 2036. In 2025, the hair styling products market in East Asia was valued at US$ 3,935 Mn and is estimated to account for US$ 4,129 Mn by the end of 2026, reflecting a Y-o-Y growth rate of 4.9%. The market in East Asia is expected to account for US$ 7,782 Mn by 2036 at a CAGR of 6.5% over the forecast period.</a:t>
            </a:r>
          </a:p>
          <a:p>
            <a:pPr algn="l">
              <a:lnSpc>
                <a:spcPct val="110000"/>
              </a:lnSpc>
              <a:spcBef>
                <a:spcPts val="0"/>
              </a:spcBef>
              <a:spcAft>
                <a:spcPts val="500"/>
              </a:spcAft>
            </a:pPr>
            <a:r>
              <a:rPr sz="1150" b="0">
                <a:solidFill>
                  <a:srgbClr val="2E2E2E"/>
                </a:solidFill>
                <a:latin typeface="Calibri"/>
              </a:rPr>
              <a:t>East Asia is expected to create an incremental opportunity of US$ 3,847 Mn for the overall hair styling products market from 2025 to 2036. Absolute $ value for 2026 is estimated to be US$ 193.8 Mn. East Asia hair styling products market is projected to register 1.7X increase in volume by the end of forecast period, 2036.</a:t>
            </a:r>
          </a:p>
          <a:p>
            <a:pPr algn="l">
              <a:lnSpc>
                <a:spcPct val="110000"/>
              </a:lnSpc>
              <a:spcBef>
                <a:spcPts val="0"/>
              </a:spcBef>
              <a:spcAft>
                <a:spcPts val="500"/>
              </a:spcAft>
            </a:pPr>
            <a:r>
              <a:rPr sz="1150" b="0">
                <a:solidFill>
                  <a:srgbClr val="2E2E2E"/>
                </a:solidFill>
                <a:latin typeface="Calibri"/>
              </a:rPr>
              <a:t>East Asia hair styling products market volume stood at 2,035 Mn Units in 2025 and is expected to reach 3,436 Mn Units by 2036 end, at a CAGR of 5.0%. Value is projected to grow faster than volume over the forecast period, owing to an increase in average selling price.</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5" cy="2132070"/>
        </p:xfrm>
        <a:graphic>
          <a:graphicData uri="http://schemas.openxmlformats.org/drawingml/2006/table">
            <a:tbl>
              <a:tblPr>
                <a:tableStyleId>{5C22544A-7EE6-4342-B048-85BDC9FD1C3A}</a:tableStyleId>
              </a:tblPr>
              <a:tblGrid>
                <a:gridCol w="1009523"/>
                <a:gridCol w="971339"/>
                <a:gridCol w="662934"/>
                <a:gridCol w="1270979"/>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638935">
                <a:tc>
                  <a:txBody>
                    <a:bodyPr wrap="none"/>
                    <a:lstStyle/>
                    <a:p>
                      <a:pPr algn="l"/>
                      <a:r>
                        <a:rPr sz="1100" b="1">
                          <a:solidFill>
                            <a:srgbClr val="2E2E2E"/>
                          </a:solidFill>
                          <a:latin typeface="Calibri"/>
                        </a:rPr>
                        <a:t>China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FFFFF"/>
                    </a:solidFill>
                  </a:tcPr>
                </a:tc>
              </a:tr>
              <a:tr h="638935">
                <a:tc>
                  <a:txBody>
                    <a:bodyPr wrap="none"/>
                    <a:lstStyle/>
                    <a:p>
                      <a:pPr algn="l"/>
                      <a:r>
                        <a:rPr sz="1100" b="1">
                          <a:solidFill>
                            <a:srgbClr val="2E2E2E"/>
                          </a:solidFill>
                          <a:latin typeface="Calibri"/>
                        </a:rPr>
                        <a:t>South Korea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457.2</a:t>
                      </a:r>
                      <a:endParaRPr sz="1100"/>
                    </a:p>
                  </a:txBody>
                  <a:tcPr marL="47625" marR="38100" marT="19050" marB="19050" anchor="ctr">
                    <a:solidFill>
                      <a:srgbClr val="F5F8FA"/>
                    </a:solidFill>
                  </a:tcPr>
                </a:tc>
              </a:tr>
              <a:tr h="638935">
                <a:tc>
                  <a:txBody>
                    <a:bodyPr wrap="none"/>
                    <a:lstStyle/>
                    <a:p>
                      <a:pPr algn="l"/>
                      <a:r>
                        <a:rPr sz="1100" b="1">
                          <a:solidFill>
                            <a:srgbClr val="2E2E2E"/>
                          </a:solidFill>
                          <a:latin typeface="Calibri"/>
                        </a:rPr>
                        <a:t>Japan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3743325" cy="2344963"/>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3,979</a:t>
            </a:r>
          </a:p>
        </p:txBody>
      </p:sp>
      <p:sp>
        <p:nvSpPr>
          <p:cNvPr id="19" name="Rectangle 18"/>
          <p:cNvSpPr/>
          <p:nvPr/>
        </p:nvSpPr>
        <p:spPr>
          <a:xfrm>
            <a:off x="4210050" y="3637974"/>
            <a:ext cx="2731963" cy="224063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2,775</a:t>
            </a:r>
          </a:p>
        </p:txBody>
      </p:sp>
      <p:sp>
        <p:nvSpPr>
          <p:cNvPr id="20" name="Rectangle 19"/>
          <p:cNvSpPr/>
          <p:nvPr/>
        </p:nvSpPr>
        <p:spPr>
          <a:xfrm>
            <a:off x="6942013" y="3637974"/>
            <a:ext cx="1011362" cy="2240635"/>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South Korea</a:t>
            </a:r>
          </a:p>
          <a:p>
            <a:pPr algn="ctr"/>
            <a:r>
              <a:rPr sz="1100" b="0">
                <a:solidFill>
                  <a:srgbClr val="FFFFFF"/>
                </a:solidFill>
                <a:latin typeface="Calibri"/>
              </a:rPr>
              <a:t>1,027</a:t>
            </a:r>
          </a:p>
        </p:txBody>
      </p:sp>
      <p:sp>
        <p:nvSpPr>
          <p:cNvPr id="21" name="Rounded Rectangle 20"/>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3" name="Chart 22"/>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4" name="Rounded Rectangle 23"/>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25" name="Table 24"/>
          <p:cNvGraphicFramePr>
            <a:graphicFrameLocks noGrp="1"/>
          </p:cNvGraphicFramePr>
          <p:nvPr/>
        </p:nvGraphicFramePr>
        <p:xfrm>
          <a:off x="8096250" y="3547710"/>
          <a:ext cx="3914775" cy="2159448"/>
        </p:xfrm>
        <a:graphic>
          <a:graphicData uri="http://schemas.openxmlformats.org/drawingml/2006/table">
            <a:tbl>
              <a:tblPr>
                <a:tableStyleId>{5C22544A-7EE6-4342-B048-85BDC9FD1C3A}</a:tableStyleId>
              </a:tblPr>
              <a:tblGrid>
                <a:gridCol w="951003"/>
                <a:gridCol w="1141964"/>
                <a:gridCol w="624505"/>
                <a:gridCol w="1197303"/>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648061">
                <a:tc>
                  <a:txBody>
                    <a:bodyPr wrap="none"/>
                    <a:lstStyle/>
                    <a:p>
                      <a:pPr algn="l"/>
                      <a:r>
                        <a:rPr sz="1100" b="1">
                          <a:solidFill>
                            <a:srgbClr val="2E2E2E"/>
                          </a:solidFill>
                          <a:latin typeface="Calibri"/>
                        </a:rPr>
                        <a:t>China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FFFFF"/>
                    </a:solidFill>
                  </a:tcPr>
                </a:tc>
              </a:tr>
              <a:tr h="648061">
                <a:tc>
                  <a:txBody>
                    <a:bodyPr wrap="none"/>
                    <a:lstStyle/>
                    <a:p>
                      <a:pPr algn="l"/>
                      <a:r>
                        <a:rPr sz="1100" b="1">
                          <a:solidFill>
                            <a:srgbClr val="2E2E2E"/>
                          </a:solidFill>
                          <a:latin typeface="Calibri"/>
                        </a:rPr>
                        <a:t>Japan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r>
              <a:tr h="648061">
                <a:tc>
                  <a:txBody>
                    <a:bodyPr wrap="none"/>
                    <a:lstStyle/>
                    <a:p>
                      <a:pPr algn="l"/>
                      <a:r>
                        <a:rPr sz="1100" b="1">
                          <a:solidFill>
                            <a:srgbClr val="2E2E2E"/>
                          </a:solidFill>
                          <a:latin typeface="Calibri"/>
                        </a:rPr>
                        <a:t>South Korea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457.2</a:t>
                      </a:r>
                      <a:endParaRPr sz="1100"/>
                    </a:p>
                  </a:txBody>
                  <a:tcPr marL="47625" marR="38100" marT="19050" marB="19050" anchor="ctr">
                    <a:solidFill>
                      <a:srgbClr val="FFFFFF"/>
                    </a:solidFill>
                  </a:tcPr>
                </a:tc>
              </a:tr>
            </a:tbl>
          </a:graphicData>
        </a:graphic>
      </p:graphicFrame>
      <p:sp>
        <p:nvSpPr>
          <p:cNvPr id="26" name="TextBox 25"/>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7" name="Rounded Rectangle 26"/>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China hair styling products market is projected to register 1.4X higher value than Japan in 2036. China posts the highest CAGR Index (114), growing at 7.5% against the East Asia benchmark, while China offers the largest absolute opportunity 2,044 US$ Mn of incremental market between 2026 and 2036 (56% of the East Asia increment).</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Global hair styling products market is expected to witness 2.0X increase in revenue by 2036 end. Global hair styling products market accounted for US$ 3,935 Mn in 2025, which is expected to increase to US$ 7,782 Mn in 2036 at a CAGR of 6.5%.</a:t>
            </a:r>
          </a:p>
          <a:p>
            <a:pPr algn="l">
              <a:lnSpc>
                <a:spcPct val="110000"/>
              </a:lnSpc>
              <a:spcBef>
                <a:spcPts val="0"/>
              </a:spcBef>
              <a:spcAft>
                <a:spcPts val="500"/>
              </a:spcAft>
            </a:pPr>
            <a:r>
              <a:rPr sz="1150" b="0">
                <a:solidFill>
                  <a:srgbClr val="2E2E2E"/>
                </a:solidFill>
                <a:latin typeface="Calibri"/>
              </a:rPr>
              <a:t>The global hair styling products market has been analysed on the basis of product format, hold level, finish and distribution channel across the globe. China is expected to remain the largest market for hair styling products, while demand in China is projected to increase at the highest CAGR of 7.5% throughout the forecast period.</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is fragmented: the leading product format category 'Waxes, Clays, Pastes and Pomades' holds 19.0% of 2036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spans 3 countries and 7 segmentation lenses (8 product format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China is the largest country market at 51.1% of 2036 value.</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Accelerating uptake of 'Sticks and Balms' (8.0%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Fast-growing demand in China (7.5%).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Momentum in Online Marketplaces within distribution channel (8.0%).</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Slower momentum in 'Sprays and Mists' (4.7%).</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Maturing demand in established categories caps the blended 6.5%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 concentration in 'Waxes, Clays, Pastes and Pomades' raises barriers for new entrants.</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'Sticks and Balms'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China outpacing the East Asia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8 product format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52600"/>
          </a:xfrm>
          <a:prstGeom prst="roundRect">
            <a:avLst>
              <a:gd name="adj" fmla="val 434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668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Capacity and product development are concentrating in 'Sticks and Balms' and in China, the fastest-growing country.</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Portfolio expansion is tracking the shift toward higher-growth product format categories.</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Commercial focus is intensifying in China, which accounts for 51.1% of 2036 value.</a:t>
            </a:r>
          </a:p>
        </p:txBody>
      </p:sp>
      <p:sp>
        <p:nvSpPr>
          <p:cNvPr id="14" name="Rounded Rectangle 13"/>
          <p:cNvSpPr/>
          <p:nvPr/>
        </p:nvSpPr>
        <p:spPr>
          <a:xfrm>
            <a:off x="6172200" y="981075"/>
            <a:ext cx="5876925" cy="1752600"/>
          </a:xfrm>
          <a:prstGeom prst="roundRect">
            <a:avLst>
              <a:gd name="adj" fmla="val 434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668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Market value rises from 4,129 US$ Mn in 2026 to 7,782 US$ Mn in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forecast CAGR is 6.5% over 2026-2036.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'Waxes, Clays, Pastes and Pomades' is the lead product format category with 19.0%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China is the lead country with 51.1%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incremental opportunity over 2026-2036 is 3,653 US$ Mn.</a:t>
            </a:r>
          </a:p>
        </p:txBody>
      </p:sp>
      <p:sp>
        <p:nvSpPr>
          <p:cNvPr id="18" name="Rounded Rectangle 17"/>
          <p:cNvSpPr/>
          <p:nvPr/>
        </p:nvSpPr>
        <p:spPr>
          <a:xfrm>
            <a:off x="142875" y="2867025"/>
            <a:ext cx="5876925"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52750"/>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19087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76600"/>
            <a:ext cx="5610225"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Investment is flowing toward 'Sticks and Balms', the fastest-growing product format category at 8.0%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China (7.5% CAGR) is a priority country for new capacity and distribution.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Scale players are anchoring their portfolios around 'Waxes, Clays, Pastes and Pomades', which holds 19.0% share.</a:t>
            </a:r>
          </a:p>
        </p:txBody>
      </p:sp>
      <p:sp>
        <p:nvSpPr>
          <p:cNvPr id="22" name="Rounded Rectangle 21"/>
          <p:cNvSpPr/>
          <p:nvPr/>
        </p:nvSpPr>
        <p:spPr>
          <a:xfrm>
            <a:off x="6172200" y="2867025"/>
            <a:ext cx="5876925"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52750"/>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19087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76600"/>
            <a:ext cx="5610225" cy="11906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R&amp;D programmes are focused on product design, premium formats and sustainable materials, in line with the migration toward 'Sticks and Balms'.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Development spend is targeting the product format categories that gain share through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Innovation underpins the 6.5% forecast CAGR by sustaining both volume growth and price realisation.</a:t>
            </a:r>
          </a:p>
        </p:txBody>
      </p:sp>
      <p:sp>
        <p:nvSpPr>
          <p:cNvPr id="26" name="Rounded Rectangle 25"/>
          <p:cNvSpPr/>
          <p:nvPr/>
        </p:nvSpPr>
        <p:spPr>
          <a:xfrm>
            <a:off x="142875" y="4676775"/>
            <a:ext cx="11906250" cy="1933575"/>
          </a:xfrm>
          <a:prstGeom prst="roundRect">
            <a:avLst>
              <a:gd name="adj" fmla="val 39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7339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Format Share (2036)</a:t>
            </a:r>
          </a:p>
        </p:txBody>
      </p:sp>
      <p:graphicFrame>
        <p:nvGraphicFramePr>
          <p:cNvPr id="28" name="Chart 27"/>
          <p:cNvGraphicFramePr>
            <a:graphicFrameLocks noGrp="1"/>
          </p:cNvGraphicFramePr>
          <p:nvPr/>
        </p:nvGraphicFramePr>
        <p:xfrm>
          <a:off x="238125" y="4962525"/>
          <a:ext cx="11715750" cy="1590675"/>
        </p:xfrm>
        <a:graphic>
          <a:graphicData uri="http://schemas.openxmlformats.org/drawingml/2006/chart">
            <c:chart xmlns:c="http://schemas.openxmlformats.org/drawingml/2006/chart" r:id="rId3"/>
          </a:graphicData>
        </a:graphic>
      </p:graphicFrame>
      <p:sp>
        <p:nvSpPr>
          <p:cNvPr id="29" name="TextBox 28"/>
          <p:cNvSpPr txBox="1"/>
          <p:nvPr/>
        </p:nvSpPr>
        <p:spPr>
          <a:xfrm>
            <a:off x="3958148" y="5643562"/>
            <a:ext cx="760979" cy="228600"/>
          </a:xfrm>
          <a:prstGeom prst="rect">
            <a:avLst/>
          </a:prstGeom>
          <a:noFill/>
        </p:spPr>
        <p:txBody>
          <a:bodyPr wrap="square" lIns="28575" rIns="28575" tIns="9525" bIns="9525" anchor="ctr">
            <a:spAutoFit/>
          </a:bodyPr>
          <a:lstStyle/>
          <a:p>
            <a:pPr algn="ctr"/>
            <a:r>
              <a:rPr sz="1300" b="1">
                <a:solidFill>
                  <a:srgbClr val="2E2E2E"/>
                </a:solidFill>
                <a:latin typeface="Calibri"/>
              </a:rPr>
              <a:t>2036</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scale in 'Waxes, Clays, Pastes and Pomades' with targeted growth in 'Sticks and Balms' to capture the 6.5% CAGR trajectory to 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adds 3,653 US$ Mn of demand to 2036, a 1.9x expansion on the 2026 base.</a:t>
            </a:r>
          </a:p>
        </p:txBody>
      </p:sp>
      <p:sp>
        <p:nvSpPr>
          <p:cNvPr id="14" name="Rounded Rectangle 13"/>
          <p:cNvSpPr/>
          <p:nvPr/>
        </p:nvSpPr>
        <p:spPr>
          <a:xfrm>
            <a:off x="6172200"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'Sticks and Balms' category and the 'Online Marketplaces' distribution channel route, where growth outpaces the market.</a:t>
            </a:r>
          </a:p>
        </p:txBody>
      </p:sp>
      <p:sp>
        <p:nvSpPr>
          <p:cNvPr id="18" name="Rounded Rectangle 17"/>
          <p:cNvSpPr/>
          <p:nvPr/>
        </p:nvSpPr>
        <p:spPr>
          <a:xfrm>
            <a:off x="142875"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'Sticks and Balms' (8.0% CAGR) for growth, while 'Waxes, Clays, Pastes and Pomades' anchors 19.0% of value and funds the portfolio.</a:t>
            </a:r>
          </a:p>
        </p:txBody>
      </p:sp>
      <p:sp>
        <p:nvSpPr>
          <p:cNvPr id="22" name="Rounded Rectangle 21"/>
          <p:cNvSpPr/>
          <p:nvPr/>
        </p:nvSpPr>
        <p:spPr>
          <a:xfrm>
            <a:off x="6172200"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 with China, which holds 51.1% of value and grows fastest at 7.5% CAGR, while building positions in the next-largest countries.</a:t>
            </a:r>
          </a:p>
        </p:txBody>
      </p:sp>
      <p:sp>
        <p:nvSpPr>
          <p:cNvPr id="26" name="Rounded Rectangle 25"/>
          <p:cNvSpPr/>
          <p:nvPr/>
        </p:nvSpPr>
        <p:spPr>
          <a:xfrm>
            <a:off x="142875" y="4695825"/>
            <a:ext cx="11906250" cy="1914525"/>
          </a:xfrm>
          <a:prstGeom prst="roundRect">
            <a:avLst>
              <a:gd name="adj" fmla="val 39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81550"/>
            <a:ext cx="11639550" cy="209550"/>
          </a:xfrm>
          <a:prstGeom prst="rect">
            <a:avLst/>
          </a:prstGeom>
          <a:noFill/>
        </p:spPr>
        <p:txBody>
          <a:bodyPr wrap="square" lIns="0" rIns="19050" tIns="9525" bIns="9525">
            <a:spAutoFit/>
          </a:bodyPr>
          <a:lstStyle/>
          <a:p>
            <a:pPr algn="l"/>
            <a:r>
              <a:rPr sz="1300" b="1">
                <a:solidFill>
                  <a:srgbClr val="0B2E4A"/>
                </a:solidFill>
                <a:latin typeface="Calibri"/>
              </a:rPr>
              <a:t>FMI Analysis and Recommendation</a:t>
            </a:r>
          </a:p>
        </p:txBody>
      </p:sp>
      <p:sp>
        <p:nvSpPr>
          <p:cNvPr id="28" name="Rectangle 27"/>
          <p:cNvSpPr/>
          <p:nvPr/>
        </p:nvSpPr>
        <p:spPr>
          <a:xfrm>
            <a:off x="276225" y="5019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105400"/>
            <a:ext cx="11639550" cy="1428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 and country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'Waxes, Clays, Pastes and Pomades' as the value anchor of the portfolio.</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quality certification and brand trust into the offer to protect pricing as competition intensifies.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9,169 US$ Mn</a:t>
            </a:r>
          </a:p>
          <a:p>
            <a:pPr algn="ctr">
              <a:lnSpc>
                <a:spcPct val="95000"/>
              </a:lnSpc>
            </a:pPr>
            <a:r>
              <a:rPr sz="1100" b="0">
                <a:solidFill>
                  <a:srgbClr val="6C7A89"/>
                </a:solidFill>
                <a:latin typeface="Calibri"/>
              </a:rPr>
              <a:t>CAGR 7.9%</a:t>
            </a:r>
          </a:p>
        </p:txBody>
      </p:sp>
      <p:sp>
        <p:nvSpPr>
          <p:cNvPr id="11" name="Rounded Rectangle 10"/>
          <p:cNvSpPr/>
          <p:nvPr/>
        </p:nvSpPr>
        <p:spPr>
          <a:xfrm>
            <a:off x="4238625"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7,782 US$ Mn</a:t>
            </a:r>
          </a:p>
          <a:p>
            <a:pPr algn="ctr">
              <a:lnSpc>
                <a:spcPct val="95000"/>
              </a:lnSpc>
            </a:pPr>
            <a:r>
              <a:rPr sz="1100" b="0">
                <a:solidFill>
                  <a:srgbClr val="6C7A89"/>
                </a:solidFill>
                <a:latin typeface="Calibri"/>
              </a:rPr>
              <a:t>CAGR 6.5%</a:t>
            </a:r>
          </a:p>
        </p:txBody>
      </p:sp>
      <p:sp>
        <p:nvSpPr>
          <p:cNvPr id="12" name="Rounded Rectangle 11"/>
          <p:cNvSpPr/>
          <p:nvPr/>
        </p:nvSpPr>
        <p:spPr>
          <a:xfrm>
            <a:off x="8210550"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6,588 US$ Mn</a:t>
            </a:r>
          </a:p>
          <a:p>
            <a:pPr algn="ctr">
              <a:lnSpc>
                <a:spcPct val="95000"/>
              </a:lnSpc>
            </a:pPr>
            <a:r>
              <a:rPr sz="1100" b="0">
                <a:solidFill>
                  <a:srgbClr val="6C7A89"/>
                </a:solidFill>
                <a:latin typeface="Calibri"/>
              </a:rPr>
              <a:t>CAGR 4.9%</a:t>
            </a:r>
          </a:p>
        </p:txBody>
      </p:sp>
      <p:sp>
        <p:nvSpPr>
          <p:cNvPr id="13" name="Rounded Rectangle 12"/>
          <p:cNvSpPr/>
          <p:nvPr/>
        </p:nvSpPr>
        <p:spPr>
          <a:xfrm>
            <a:off x="142875"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Hair Styling Products Market Value (US$ Mn): Scenario Forecast, 2025 and 2036</a:t>
            </a:r>
          </a:p>
        </p:txBody>
      </p:sp>
      <p:cxnSp>
        <p:nvCxnSpPr>
          <p:cNvPr id="15" name="Connector 14"/>
          <p:cNvCxnSpPr/>
          <p:nvPr/>
        </p:nvCxnSpPr>
        <p:spPr>
          <a:xfrm>
            <a:off x="238125" y="413385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476538"/>
            <a:ext cx="635826" cy="657312"/>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33292"/>
            <a:ext cx="635826" cy="1100558"/>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833897"/>
            <a:ext cx="635826" cy="1299953"/>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602230"/>
            <a:ext cx="635826" cy="1531620"/>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899942"/>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795167"/>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4.9%</a:t>
            </a:r>
          </a:p>
        </p:txBody>
      </p:sp>
      <p:cxnSp>
        <p:nvCxnSpPr>
          <p:cNvPr id="22" name="Connector 21"/>
          <p:cNvCxnSpPr/>
          <p:nvPr/>
        </p:nvCxnSpPr>
        <p:spPr>
          <a:xfrm>
            <a:off x="1456468" y="2642767"/>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37992"/>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6.5%</a:t>
            </a:r>
          </a:p>
        </p:txBody>
      </p:sp>
      <p:cxnSp>
        <p:nvCxnSpPr>
          <p:cNvPr id="24" name="Connector 23"/>
          <p:cNvCxnSpPr/>
          <p:nvPr/>
        </p:nvCxnSpPr>
        <p:spPr>
          <a:xfrm>
            <a:off x="1456468" y="2385592"/>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280817"/>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7.9%</a:t>
            </a:r>
          </a:p>
        </p:txBody>
      </p:sp>
      <p:sp>
        <p:nvSpPr>
          <p:cNvPr id="26" name="TextBox 25"/>
          <p:cNvSpPr txBox="1"/>
          <p:nvPr/>
        </p:nvSpPr>
        <p:spPr>
          <a:xfrm>
            <a:off x="643255"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40055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40055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40055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Hair Styling Products Market Attractiveness Analysis By Region, 2026–2036</a:t>
            </a:r>
          </a:p>
        </p:txBody>
      </p:sp>
      <p:graphicFrame>
        <p:nvGraphicFramePr>
          <p:cNvPr id="36" name="Chart 35"/>
          <p:cNvGraphicFramePr>
            <a:graphicFrameLocks noGrp="1"/>
          </p:cNvGraphicFramePr>
          <p:nvPr/>
        </p:nvGraphicFramePr>
        <p:xfrm>
          <a:off x="6267450" y="2181225"/>
          <a:ext cx="5686425" cy="2409825"/>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781550"/>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191125"/>
            <a:ext cx="11639550" cy="135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Optimistic: the market reaches 9,169 US$ Mn by 2036 at 7.9% CAGR, assuming faster adoption and stronger price realisation.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Likely (base forecast): the market reaches 7,782 US$ Mn by 2036 at 6.5%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Conservative: the market reaches 6,588 US$ Mn by 2036 at 4.9% CAGR, assuming slower adoption and tighter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Scenarios flex the base forecast's year-on-year growth by plus or minus 25% across 2026-2036.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gap between the optimistic and conservative outcomes is 2,580 US$ Mn in 2036, which frames the planning range for capacity and investment decisions.</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East Asia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East Asia Hair Styling Products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3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East Asia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China</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1,936</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3,979</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7.5%</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Japan</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1,623</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2,775</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5.5%</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South Korea</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570.2</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1,027</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6.1%</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China hair styling products market is projected to register 1.4X higher value than Japan in 2036. Among hair styling products by country, China is expected to witness the highest CAGR of 7.5% over the forecast period.</a:t>
            </a:r>
          </a:p>
          <a:p>
            <a:pPr algn="l">
              <a:lnSpc>
                <a:spcPct val="110000"/>
              </a:lnSpc>
              <a:spcBef>
                <a:spcPts val="0"/>
              </a:spcBef>
              <a:spcAft>
                <a:spcPts val="500"/>
              </a:spcAft>
            </a:pPr>
            <a:r>
              <a:rPr sz="1100" b="0">
                <a:solidFill>
                  <a:srgbClr val="2E2E2E"/>
                </a:solidFill>
                <a:latin typeface="Calibri"/>
              </a:rPr>
              <a:t>In terms of value share by country, China is expected to dominate the market, gaining 425 BPS and accounting for 51.1% share by 2036. Japan is expected to lose 365 BPS over the forecast period to account for 35.7% share by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Country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China: </a:t>
            </a:r>
            <a:r>
              <a:rPr sz="1100" b="0">
                <a:solidFill>
                  <a:srgbClr val="2E2E2E"/>
                </a:solidFill>
                <a:latin typeface="Calibri"/>
              </a:rPr>
              <a:t>47% of 2026 value · 7.5% CAGR leads the market.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Japan: </a:t>
            </a:r>
            <a:r>
              <a:rPr sz="1100" b="0">
                <a:solidFill>
                  <a:srgbClr val="2E2E2E"/>
                </a:solidFill>
                <a:latin typeface="Calibri"/>
              </a:rPr>
              <a:t>39% of 2026 value · 5.5% CAGR a smaller market.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South Korea: </a:t>
            </a:r>
            <a:r>
              <a:rPr sz="1100" b="0">
                <a:solidFill>
                  <a:srgbClr val="2E2E2E"/>
                </a:solidFill>
                <a:latin typeface="Calibri"/>
              </a:rPr>
              <a:t>14% of 2026 value · 6.1% CAGR a smaller market.</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Country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East Asia market is projected to grow at a CAGR of 6.5%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Market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5528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65052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7432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Korea</a:t>
            </a:r>
          </a:p>
        </p:txBody>
      </p:sp>
      <p:sp>
        <p:nvSpPr>
          <p:cNvPr id="19" name="BPS Value 1"/>
          <p:cNvSpPr txBox="1"/>
          <p:nvPr/>
        </p:nvSpPr>
        <p:spPr>
          <a:xfrm>
            <a:off x="6305550" y="1636232"/>
            <a:ext cx="514350" cy="123825"/>
          </a:xfrm>
          <a:prstGeom prst="rect">
            <a:avLst/>
          </a:prstGeom>
          <a:noFill/>
        </p:spPr>
        <p:txBody>
          <a:bodyPr wrap="none" lIns="0" rIns="0" tIns="0" bIns="0" anchor="ctr">
            <a:spAutoFit/>
          </a:bodyPr>
          <a:lstStyle/>
          <a:p>
            <a:pPr algn="r"/>
            <a:r>
              <a:rPr sz="900" b="1">
                <a:solidFill>
                  <a:srgbClr val="E44D3A"/>
                </a:solidFill>
                <a:latin typeface="Calibri"/>
              </a:rPr>
              <a:t>-24</a:t>
            </a:r>
          </a:p>
        </p:txBody>
      </p:sp>
      <p:sp>
        <p:nvSpPr>
          <p:cNvPr id="20" name="FMI Legend Chip"/>
          <p:cNvSpPr/>
          <p:nvPr/>
        </p:nvSpPr>
        <p:spPr>
          <a:xfrm>
            <a:off x="4551045" y="225557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22508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217460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Japan</a:t>
            </a:r>
          </a:p>
        </p:txBody>
      </p:sp>
      <p:sp>
        <p:nvSpPr>
          <p:cNvPr id="23" name="BPS Value 2"/>
          <p:cNvSpPr txBox="1"/>
          <p:nvPr/>
        </p:nvSpPr>
        <p:spPr>
          <a:xfrm>
            <a:off x="6305550" y="2236520"/>
            <a:ext cx="514350" cy="123825"/>
          </a:xfrm>
          <a:prstGeom prst="rect">
            <a:avLst/>
          </a:prstGeom>
          <a:noFill/>
        </p:spPr>
        <p:txBody>
          <a:bodyPr wrap="none" lIns="0" rIns="0" tIns="0" bIns="0" anchor="ctr">
            <a:spAutoFit/>
          </a:bodyPr>
          <a:lstStyle/>
          <a:p>
            <a:pPr algn="r"/>
            <a:r>
              <a:rPr sz="900" b="1">
                <a:solidFill>
                  <a:srgbClr val="E44D3A"/>
                </a:solidFill>
                <a:latin typeface="Calibri"/>
              </a:rPr>
              <a:t>-221</a:t>
            </a:r>
          </a:p>
        </p:txBody>
      </p:sp>
      <p:sp>
        <p:nvSpPr>
          <p:cNvPr id="24" name="FMI Legend Chip"/>
          <p:cNvSpPr/>
          <p:nvPr/>
        </p:nvSpPr>
        <p:spPr>
          <a:xfrm>
            <a:off x="4551045" y="389593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2970" y="389117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381497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China</a:t>
            </a:r>
          </a:p>
        </p:txBody>
      </p:sp>
      <p:sp>
        <p:nvSpPr>
          <p:cNvPr id="27" name="BPS Value 3"/>
          <p:cNvSpPr txBox="1"/>
          <p:nvPr/>
        </p:nvSpPr>
        <p:spPr>
          <a:xfrm>
            <a:off x="6305550" y="3876888"/>
            <a:ext cx="514350" cy="123825"/>
          </a:xfrm>
          <a:prstGeom prst="rect">
            <a:avLst/>
          </a:prstGeom>
          <a:noFill/>
        </p:spPr>
        <p:txBody>
          <a:bodyPr wrap="none" lIns="0" rIns="0" tIns="0" bIns="0" anchor="ctr">
            <a:spAutoFit/>
          </a:bodyPr>
          <a:lstStyle/>
          <a:p>
            <a:pPr algn="r"/>
            <a:r>
              <a:rPr sz="900" b="1">
                <a:solidFill>
                  <a:srgbClr val="2E7D32"/>
                </a:solidFill>
                <a:latin typeface="Calibri"/>
              </a:rPr>
              <a:t>+245</a:t>
            </a:r>
          </a:p>
        </p:txBody>
      </p:sp>
      <p:sp>
        <p:nvSpPr>
          <p:cNvPr id="28" name="Rounded Rectangle 27"/>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30" name="Rectangle 29"/>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China hair styling products market is projected to register 3.0X higher volume than Japan in 2036. Among hair styling products by country, China is expected to witness the highest CAGR of 5.4% over the forecast period.</a:t>
            </a:r>
          </a:p>
          <a:p>
            <a:pPr algn="l">
              <a:lnSpc>
                <a:spcPct val="110000"/>
              </a:lnSpc>
              <a:spcBef>
                <a:spcPts val="0"/>
              </a:spcBef>
              <a:spcAft>
                <a:spcPts val="500"/>
              </a:spcAft>
            </a:pPr>
            <a:r>
              <a:rPr sz="1150" b="0">
                <a:solidFill>
                  <a:srgbClr val="2E2E2E"/>
                </a:solidFill>
                <a:latin typeface="Calibri"/>
              </a:rPr>
              <a:t>In terms of volume share by country, China is expected to dominate the market, gaining 245 BPS and accounting for 67.3% share by 2036. Japan is expected to lose 221 BPS over the forecast period to account for 22.2% share by 2036.</a:t>
            </a:r>
          </a:p>
        </p:txBody>
      </p:sp>
      <p:sp>
        <p:nvSpPr>
          <p:cNvPr id="32" name="Rounded Rectangle 31"/>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(MN UNITS)</a:t>
            </a:r>
          </a:p>
          <a:p>
            <a:pPr algn="ctr">
              <a:lnSpc>
                <a:spcPct val="95000"/>
              </a:lnSpc>
            </a:pPr>
            <a:r>
              <a:rPr sz="2000" b="1">
                <a:solidFill>
                  <a:srgbClr val="0E72AE"/>
                </a:solidFill>
                <a:latin typeface="Calibri"/>
              </a:rPr>
              <a:t>2,116</a:t>
            </a:r>
          </a:p>
        </p:txBody>
      </p:sp>
      <p:sp>
        <p:nvSpPr>
          <p:cNvPr id="33" name="Rounded Rectangle 32"/>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(MN UNITS)</a:t>
            </a:r>
          </a:p>
          <a:p>
            <a:pPr algn="ctr">
              <a:lnSpc>
                <a:spcPct val="95000"/>
              </a:lnSpc>
            </a:pPr>
            <a:r>
              <a:rPr sz="2000" b="1">
                <a:solidFill>
                  <a:srgbClr val="0E72AE"/>
                </a:solidFill>
                <a:latin typeface="Calibri"/>
              </a:rPr>
              <a:t>3,436</a:t>
            </a:r>
          </a:p>
        </p:txBody>
      </p:sp>
      <p:sp>
        <p:nvSpPr>
          <p:cNvPr id="34" name="Rounded Rectangle 33"/>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5.0%</a:t>
            </a:r>
          </a:p>
        </p:txBody>
      </p:sp>
      <p:sp>
        <p:nvSpPr>
          <p:cNvPr id="35" name="TextBox 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70414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69938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62318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Korea</a:t>
            </a:r>
          </a:p>
        </p:txBody>
      </p:sp>
      <p:sp>
        <p:nvSpPr>
          <p:cNvPr id="19" name="BPS Value 1"/>
          <p:cNvSpPr txBox="1"/>
          <p:nvPr/>
        </p:nvSpPr>
        <p:spPr>
          <a:xfrm>
            <a:off x="6305550" y="1685096"/>
            <a:ext cx="514350" cy="123825"/>
          </a:xfrm>
          <a:prstGeom prst="rect">
            <a:avLst/>
          </a:prstGeom>
          <a:noFill/>
        </p:spPr>
        <p:txBody>
          <a:bodyPr wrap="none" lIns="0" rIns="0" tIns="0" bIns="0" anchor="ctr">
            <a:spAutoFit/>
          </a:bodyPr>
          <a:lstStyle/>
          <a:p>
            <a:pPr algn="r"/>
            <a:r>
              <a:rPr sz="900" b="1">
                <a:solidFill>
                  <a:srgbClr val="E44D3A"/>
                </a:solidFill>
                <a:latin typeface="Calibri"/>
              </a:rPr>
              <a:t>-61</a:t>
            </a:r>
          </a:p>
        </p:txBody>
      </p:sp>
      <p:sp>
        <p:nvSpPr>
          <p:cNvPr id="20" name="FMI Legend Chip"/>
          <p:cNvSpPr/>
          <p:nvPr/>
        </p:nvSpPr>
        <p:spPr>
          <a:xfrm>
            <a:off x="4551045" y="260007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25953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251910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Japan</a:t>
            </a:r>
          </a:p>
        </p:txBody>
      </p:sp>
      <p:sp>
        <p:nvSpPr>
          <p:cNvPr id="23" name="BPS Value 2"/>
          <p:cNvSpPr txBox="1"/>
          <p:nvPr/>
        </p:nvSpPr>
        <p:spPr>
          <a:xfrm>
            <a:off x="6305550" y="2581020"/>
            <a:ext cx="514350" cy="123825"/>
          </a:xfrm>
          <a:prstGeom prst="rect">
            <a:avLst/>
          </a:prstGeom>
          <a:noFill/>
        </p:spPr>
        <p:txBody>
          <a:bodyPr wrap="none" lIns="0" rIns="0" tIns="0" bIns="0" anchor="ctr">
            <a:spAutoFit/>
          </a:bodyPr>
          <a:lstStyle/>
          <a:p>
            <a:pPr algn="r"/>
            <a:r>
              <a:rPr sz="900" b="1">
                <a:solidFill>
                  <a:srgbClr val="E44D3A"/>
                </a:solidFill>
                <a:latin typeface="Calibri"/>
              </a:rPr>
              <a:t>-365</a:t>
            </a:r>
          </a:p>
        </p:txBody>
      </p:sp>
      <p:sp>
        <p:nvSpPr>
          <p:cNvPr id="24" name="FMI Legend Chip"/>
          <p:cNvSpPr/>
          <p:nvPr/>
        </p:nvSpPr>
        <p:spPr>
          <a:xfrm>
            <a:off x="4551045" y="419157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2970" y="418681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411061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China</a:t>
            </a:r>
          </a:p>
        </p:txBody>
      </p:sp>
      <p:sp>
        <p:nvSpPr>
          <p:cNvPr id="27" name="BPS Value 3"/>
          <p:cNvSpPr txBox="1"/>
          <p:nvPr/>
        </p:nvSpPr>
        <p:spPr>
          <a:xfrm>
            <a:off x="6305550" y="4172523"/>
            <a:ext cx="514350" cy="123825"/>
          </a:xfrm>
          <a:prstGeom prst="rect">
            <a:avLst/>
          </a:prstGeom>
          <a:noFill/>
        </p:spPr>
        <p:txBody>
          <a:bodyPr wrap="none" lIns="0" rIns="0" tIns="0" bIns="0" anchor="ctr">
            <a:spAutoFit/>
          </a:bodyPr>
          <a:lstStyle/>
          <a:p>
            <a:pPr algn="r"/>
            <a:r>
              <a:rPr sz="900" b="1">
                <a:solidFill>
                  <a:srgbClr val="2E7D32"/>
                </a:solidFill>
                <a:latin typeface="Calibri"/>
              </a:rPr>
              <a:t>+425</a:t>
            </a:r>
          </a:p>
        </p:txBody>
      </p:sp>
      <p:sp>
        <p:nvSpPr>
          <p:cNvPr id="28" name="Rounded Rectangle 27"/>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30" name="Rectangle 29"/>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China hair styling products market is projected to register 1.4X higher value than Japan in 2036. Among hair styling products by country, China is expected to witness the highest CAGR of 7.5% over the forecast period.</a:t>
            </a:r>
          </a:p>
          <a:p>
            <a:pPr algn="l">
              <a:lnSpc>
                <a:spcPct val="110000"/>
              </a:lnSpc>
              <a:spcBef>
                <a:spcPts val="0"/>
              </a:spcBef>
              <a:spcAft>
                <a:spcPts val="500"/>
              </a:spcAft>
            </a:pPr>
            <a:r>
              <a:rPr sz="1150" b="0">
                <a:solidFill>
                  <a:srgbClr val="2E2E2E"/>
                </a:solidFill>
                <a:latin typeface="Calibri"/>
              </a:rPr>
              <a:t>In terms of value share by country, China is expected to dominate the market, gaining 425 BPS and accounting for 51.1% share by 2036. Japan is expected to lose 365 BPS over the forecast period to account for 35.7% share by 2036.</a:t>
            </a:r>
          </a:p>
        </p:txBody>
      </p:sp>
      <p:sp>
        <p:nvSpPr>
          <p:cNvPr id="32" name="Rounded Rectangle 31"/>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4,129</a:t>
            </a:r>
          </a:p>
        </p:txBody>
      </p:sp>
      <p:sp>
        <p:nvSpPr>
          <p:cNvPr id="33" name="Rounded Rectangle 32"/>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7,782</a:t>
            </a:r>
          </a:p>
        </p:txBody>
      </p:sp>
      <p:sp>
        <p:nvSpPr>
          <p:cNvPr id="34" name="Rounded Rectangle 33"/>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6.5%</a:t>
            </a:r>
          </a:p>
        </p:txBody>
      </p:sp>
      <p:sp>
        <p:nvSpPr>
          <p:cNvPr id="35" name="TextBox 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Market Share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Market Size, By Country (Mn Units)</a:t>
            </a:r>
          </a:p>
        </p:txBody>
      </p:sp>
      <p:graphicFrame>
        <p:nvGraphicFramePr>
          <p:cNvPr id="13" name="Table 12"/>
          <p:cNvGraphicFramePr>
            <a:graphicFrameLocks noGrp="1"/>
          </p:cNvGraphicFramePr>
          <p:nvPr/>
        </p:nvGraphicFramePr>
        <p:xfrm>
          <a:off x="152400" y="1238250"/>
          <a:ext cx="11887199" cy="1076325"/>
        </p:xfrm>
        <a:graphic>
          <a:graphicData uri="http://schemas.openxmlformats.org/drawingml/2006/table">
            <a:tbl>
              <a:tblPr>
                <a:tableStyleId>{5C22544A-7EE6-4342-B048-85BDC9FD1C3A}</a:tableStyleId>
              </a:tblPr>
              <a:tblGrid>
                <a:gridCol w="977279"/>
                <a:gridCol w="641760"/>
                <a:gridCol w="641760"/>
                <a:gridCol w="641760"/>
                <a:gridCol w="641760"/>
                <a:gridCol w="641760"/>
                <a:gridCol w="641760"/>
                <a:gridCol w="641760"/>
                <a:gridCol w="641760"/>
                <a:gridCol w="641760"/>
                <a:gridCol w="641760"/>
                <a:gridCol w="641760"/>
                <a:gridCol w="641760"/>
                <a:gridCol w="641760"/>
                <a:gridCol w="641760"/>
                <a:gridCol w="641760"/>
                <a:gridCol w="641760"/>
                <a:gridCol w="641760"/>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China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Japan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South Korea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74320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Volume Share Read-out, By Country</a:t>
            </a:r>
          </a:p>
        </p:txBody>
      </p:sp>
      <p:sp>
        <p:nvSpPr>
          <p:cNvPr id="17" name="Rectangle 16"/>
          <p:cNvSpPr/>
          <p:nvPr/>
        </p:nvSpPr>
        <p:spPr>
          <a:xfrm>
            <a:off x="276225" y="2981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067050"/>
            <a:ext cx="11639550" cy="3486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China hair styling products market is projected to register 3.0X higher volume than Japan in 2036. Among hair styling products by country, China is expected to witness the highest CAGR of 5.4% over the forecast period.</a:t>
            </a:r>
          </a:p>
          <a:p>
            <a:pPr algn="l">
              <a:lnSpc>
                <a:spcPct val="110000"/>
              </a:lnSpc>
              <a:spcBef>
                <a:spcPts val="0"/>
              </a:spcBef>
              <a:spcAft>
                <a:spcPts val="500"/>
              </a:spcAft>
            </a:pPr>
            <a:r>
              <a:rPr sz="1150" b="0">
                <a:solidFill>
                  <a:srgbClr val="2E2E2E"/>
                </a:solidFill>
                <a:latin typeface="Calibri"/>
              </a:rPr>
              <a:t>In terms of volume share by country, China is expected to dominate the market, gaining 245 BPS and accounting for 67.3% share by 2036. Japan is expected to lose 221 BPS over the forecast period to account for 22.2%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Market Size, By Country (US$ Mn)</a:t>
            </a:r>
          </a:p>
        </p:txBody>
      </p:sp>
      <p:graphicFrame>
        <p:nvGraphicFramePr>
          <p:cNvPr id="13" name="Table 12"/>
          <p:cNvGraphicFramePr>
            <a:graphicFrameLocks noGrp="1"/>
          </p:cNvGraphicFramePr>
          <p:nvPr/>
        </p:nvGraphicFramePr>
        <p:xfrm>
          <a:off x="152400" y="1238250"/>
          <a:ext cx="11887199" cy="1076325"/>
        </p:xfrm>
        <a:graphic>
          <a:graphicData uri="http://schemas.openxmlformats.org/drawingml/2006/table">
            <a:tbl>
              <a:tblPr>
                <a:tableStyleId>{5C22544A-7EE6-4342-B048-85BDC9FD1C3A}</a:tableStyleId>
              </a:tblPr>
              <a:tblGrid>
                <a:gridCol w="977279"/>
                <a:gridCol w="641760"/>
                <a:gridCol w="641760"/>
                <a:gridCol w="641760"/>
                <a:gridCol w="641760"/>
                <a:gridCol w="641760"/>
                <a:gridCol w="641760"/>
                <a:gridCol w="641760"/>
                <a:gridCol w="641760"/>
                <a:gridCol w="641760"/>
                <a:gridCol w="641760"/>
                <a:gridCol w="641760"/>
                <a:gridCol w="641760"/>
                <a:gridCol w="641760"/>
                <a:gridCol w="641760"/>
                <a:gridCol w="641760"/>
                <a:gridCol w="641760"/>
                <a:gridCol w="641760"/>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China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Japan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South Korea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74320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Share Read-out, By Country</a:t>
            </a:r>
          </a:p>
        </p:txBody>
      </p:sp>
      <p:sp>
        <p:nvSpPr>
          <p:cNvPr id="17" name="Rectangle 16"/>
          <p:cNvSpPr/>
          <p:nvPr/>
        </p:nvSpPr>
        <p:spPr>
          <a:xfrm>
            <a:off x="276225" y="2981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067050"/>
            <a:ext cx="11639550" cy="3486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China hair styling products market is projected to register 1.4X higher value than Japan in 2036. Among hair styling products by country, China is expected to witness the highest CAGR of 7.5% over the forecast period.</a:t>
            </a:r>
          </a:p>
          <a:p>
            <a:pPr algn="l">
              <a:lnSpc>
                <a:spcPct val="110000"/>
              </a:lnSpc>
              <a:spcBef>
                <a:spcPts val="0"/>
              </a:spcBef>
              <a:spcAft>
                <a:spcPts val="500"/>
              </a:spcAft>
            </a:pPr>
            <a:r>
              <a:rPr sz="1150" b="0">
                <a:solidFill>
                  <a:srgbClr val="2E2E2E"/>
                </a:solidFill>
                <a:latin typeface="Calibri"/>
              </a:rPr>
              <a:t>In terms of value share by country, China is expected to dominate the market, gaining 425 BPS and accounting for 51.1% share by 2036. Japan is expected to lose 365 BPS over the forecast period to account for 35.7%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By Country (Mn Units)</a:t>
            </a:r>
          </a:p>
        </p:txBody>
      </p:sp>
      <p:graphicFrame>
        <p:nvGraphicFramePr>
          <p:cNvPr id="13" name="Chart 12"/>
          <p:cNvGraphicFramePr>
            <a:graphicFrameLocks noGrp="1"/>
          </p:cNvGraphicFramePr>
          <p:nvPr/>
        </p:nvGraphicFramePr>
        <p:xfrm>
          <a:off x="238125" y="1266825"/>
          <a:ext cx="1171575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Country (US$ Mn)</a:t>
            </a:r>
          </a:p>
        </p:txBody>
      </p:sp>
      <p:graphicFrame>
        <p:nvGraphicFramePr>
          <p:cNvPr id="16" name="Chart 15"/>
          <p:cNvGraphicFramePr>
            <a:graphicFrameLocks noGrp="1"/>
          </p:cNvGraphicFramePr>
          <p:nvPr/>
        </p:nvGraphicFramePr>
        <p:xfrm>
          <a:off x="238125" y="4152900"/>
          <a:ext cx="11715750" cy="24098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Market Top 3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East Asia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market by country  ·  2036 (US$ Mn)  ·  tile size = market value</a:t>
            </a:r>
          </a:p>
        </p:txBody>
      </p:sp>
      <p:sp>
        <p:nvSpPr>
          <p:cNvPr id="13" name="Rectangle 12"/>
          <p:cNvSpPr/>
          <p:nvPr/>
        </p:nvSpPr>
        <p:spPr>
          <a:xfrm>
            <a:off x="238125" y="1266825"/>
            <a:ext cx="5991148"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3,979</a:t>
            </a:r>
          </a:p>
        </p:txBody>
      </p:sp>
      <p:sp>
        <p:nvSpPr>
          <p:cNvPr id="14" name="Rectangle 13"/>
          <p:cNvSpPr/>
          <p:nvPr/>
        </p:nvSpPr>
        <p:spPr>
          <a:xfrm>
            <a:off x="6229273" y="1266825"/>
            <a:ext cx="4177940" cy="530542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2,775</a:t>
            </a:r>
          </a:p>
        </p:txBody>
      </p:sp>
      <p:sp>
        <p:nvSpPr>
          <p:cNvPr id="15" name="Rectangle 14"/>
          <p:cNvSpPr/>
          <p:nvPr/>
        </p:nvSpPr>
        <p:spPr>
          <a:xfrm>
            <a:off x="10407213" y="1266825"/>
            <a:ext cx="1546662" cy="5305425"/>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South Korea</a:t>
            </a:r>
          </a:p>
          <a:p>
            <a:pPr algn="ctr"/>
            <a:r>
              <a:rPr sz="1100" b="0">
                <a:solidFill>
                  <a:srgbClr val="FFFFFF"/>
                </a:solidFill>
                <a:latin typeface="Calibri"/>
              </a:rPr>
              <a:t>1,027</a:t>
            </a:r>
          </a:p>
        </p:txBody>
      </p:sp>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9653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308225"/>
            <a:ext cx="8572500" cy="514350"/>
          </a:xfrm>
          <a:prstGeom prst="rect">
            <a:avLst/>
          </a:prstGeom>
          <a:noFill/>
        </p:spPr>
        <p:txBody>
          <a:bodyPr wrap="square" lIns="0" rIns="0" tIns="0">
            <a:spAutoFit/>
          </a:bodyPr>
          <a:lstStyle/>
          <a:p>
            <a:r>
              <a:rPr sz="3000" b="1">
                <a:solidFill>
                  <a:srgbClr val="0B3C8C"/>
                </a:solidFill>
                <a:latin typeface="Calibri"/>
              </a:rPr>
              <a:t>East Asia Market Analysis By Segments</a:t>
            </a:r>
          </a:p>
        </p:txBody>
      </p:sp>
      <p:sp>
        <p:nvSpPr>
          <p:cNvPr id="11" name="TextBox 10"/>
          <p:cNvSpPr txBox="1"/>
          <p:nvPr/>
        </p:nvSpPr>
        <p:spPr>
          <a:xfrm>
            <a:off x="914400" y="2994025"/>
            <a:ext cx="8458200" cy="28511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19.1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Clays, Pastes and Pomades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822.7</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1,478</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6.0%</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Serums and Oils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697.8</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1,400</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7.2%</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Sprays and Mists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546.1</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866.9</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4.7%</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Sticks and Balms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543.7</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1,168</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8.0%</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product format, sticks and balms segment is expected to witness the highest CAGR of 8.0% over the forecast period. In terms of value share by product format, the waxes, clays, pastes and pomades segment is expected to dominate the market, losing 94 BPS and accounting for 19.0% share by 2036.</a:t>
            </a:r>
          </a:p>
          <a:p>
            <a:pPr algn="l">
              <a:lnSpc>
                <a:spcPct val="110000"/>
              </a:lnSpc>
              <a:spcBef>
                <a:spcPts val="0"/>
              </a:spcBef>
              <a:spcAft>
                <a:spcPts val="500"/>
              </a:spcAft>
            </a:pPr>
            <a:r>
              <a:rPr sz="1100" b="0">
                <a:solidFill>
                  <a:srgbClr val="2E2E2E"/>
                </a:solidFill>
                <a:latin typeface="Calibri"/>
              </a:rPr>
              <a:t>Waxes, clays, pastes and pomades segment is projected to register 1.1X higher value than styling serums and oils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Waxes, Clays, Pastes and Pomades: </a:t>
            </a:r>
            <a:r>
              <a:rPr sz="1100" b="0">
                <a:solidFill>
                  <a:srgbClr val="2E2E2E"/>
                </a:solidFill>
                <a:latin typeface="Calibri"/>
              </a:rPr>
              <a:t>20% of 2026 value · 6.0%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Styling Serums and Oils: </a:t>
            </a:r>
            <a:r>
              <a:rPr sz="1100" b="0">
                <a:solidFill>
                  <a:srgbClr val="2E2E2E"/>
                </a:solidFill>
                <a:latin typeface="Calibri"/>
              </a:rPr>
              <a:t>17% of 2026 value · 7.2%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Sprays and Mists: </a:t>
            </a:r>
            <a:r>
              <a:rPr sz="1100" b="0">
                <a:solidFill>
                  <a:srgbClr val="2E2E2E"/>
                </a:solidFill>
                <a:latin typeface="Calibri"/>
              </a:rPr>
              <a:t>13% of 2026 value · 4.7%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Sticks and Balms: </a:t>
            </a:r>
            <a:r>
              <a:rPr sz="1100" b="0">
                <a:solidFill>
                  <a:srgbClr val="2E2E2E"/>
                </a:solidFill>
                <a:latin typeface="Calibri"/>
              </a:rPr>
              <a:t>13% of 2026 value · 8.0%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Format split shows how demand is distributed across product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Format segment is projected to grow at a CAGR of 6.5%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2414588"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2414588"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Creams and Lotions</a:t>
            </a:r>
          </a:p>
        </p:txBody>
      </p:sp>
      <p:sp>
        <p:nvSpPr>
          <p:cNvPr id="22" name="Rectangle 21"/>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440.2</a:t>
            </a:r>
          </a:p>
        </p:txBody>
      </p:sp>
      <p:sp>
        <p:nvSpPr>
          <p:cNvPr id="23" name="Rectangle 22"/>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870.0</a:t>
            </a:r>
          </a:p>
        </p:txBody>
      </p:sp>
      <p:sp>
        <p:nvSpPr>
          <p:cNvPr id="24" name="Rectangle 23"/>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7.1%</a:t>
            </a:r>
          </a:p>
        </p:txBody>
      </p:sp>
      <p:sp>
        <p:nvSpPr>
          <p:cNvPr id="25" name="Oval 24"/>
          <p:cNvSpPr/>
          <p:nvPr/>
        </p:nvSpPr>
        <p:spPr>
          <a:xfrm>
            <a:off x="291226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4395788" y="1773916"/>
            <a:ext cx="2414588"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4395788" y="1992961"/>
            <a:ext cx="2414588"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Powders</a:t>
            </a:r>
          </a:p>
        </p:txBody>
      </p:sp>
      <p:sp>
        <p:nvSpPr>
          <p:cNvPr id="29" name="Rectangle 28"/>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409.4</a:t>
            </a:r>
          </a:p>
        </p:txBody>
      </p:sp>
      <p:sp>
        <p:nvSpPr>
          <p:cNvPr id="30" name="Rectangle 29"/>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868.1</a:t>
            </a:r>
          </a:p>
        </p:txBody>
      </p:sp>
      <p:sp>
        <p:nvSpPr>
          <p:cNvPr id="31" name="Rectangle 30"/>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7.8%</a:t>
            </a:r>
          </a:p>
        </p:txBody>
      </p:sp>
      <p:sp>
        <p:nvSpPr>
          <p:cNvPr id="32" name="Oval 31"/>
          <p:cNvSpPr/>
          <p:nvPr/>
        </p:nvSpPr>
        <p:spPr>
          <a:xfrm>
            <a:off x="5441156"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6924675" y="1773916"/>
            <a:ext cx="2414588"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6924675" y="1992961"/>
            <a:ext cx="2414588"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Gels and Jellies</a:t>
            </a:r>
          </a:p>
        </p:txBody>
      </p:sp>
      <p:sp>
        <p:nvSpPr>
          <p:cNvPr id="36" name="Rectangle 35"/>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384.0</a:t>
            </a:r>
          </a:p>
        </p:txBody>
      </p:sp>
      <p:sp>
        <p:nvSpPr>
          <p:cNvPr id="37" name="Rectangle 36"/>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654.5</a:t>
            </a:r>
          </a:p>
        </p:txBody>
      </p:sp>
      <p:sp>
        <p:nvSpPr>
          <p:cNvPr id="38" name="Rectangle 37"/>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5.5%</a:t>
            </a:r>
          </a:p>
        </p:txBody>
      </p:sp>
      <p:sp>
        <p:nvSpPr>
          <p:cNvPr id="39" name="Oval 38"/>
          <p:cNvSpPr/>
          <p:nvPr/>
        </p:nvSpPr>
        <p:spPr>
          <a:xfrm>
            <a:off x="7970044"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9453562"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9453562"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Mousses and Foams</a:t>
            </a:r>
          </a:p>
        </p:txBody>
      </p:sp>
      <p:sp>
        <p:nvSpPr>
          <p:cNvPr id="43" name="Rectangle 42"/>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284.7</a:t>
            </a:r>
          </a:p>
        </p:txBody>
      </p:sp>
      <p:sp>
        <p:nvSpPr>
          <p:cNvPr id="44" name="Rectangle 43"/>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475.8</a:t>
            </a:r>
          </a:p>
        </p:txBody>
      </p:sp>
      <p:sp>
        <p:nvSpPr>
          <p:cNvPr id="45" name="Rectangle 44"/>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5.3%</a:t>
            </a:r>
          </a:p>
        </p:txBody>
      </p:sp>
      <p:sp>
        <p:nvSpPr>
          <p:cNvPr id="46" name="Oval 45"/>
          <p:cNvSpPr/>
          <p:nvPr/>
        </p:nvSpPr>
        <p:spPr>
          <a:xfrm>
            <a:off x="10498931"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47" name="Rounded Rectangle 46"/>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9" name="Rectangle 48"/>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Creams and Lotions: </a:t>
            </a:r>
            <a:r>
              <a:rPr sz="1100" b="0">
                <a:solidFill>
                  <a:srgbClr val="2E2E2E"/>
                </a:solidFill>
                <a:latin typeface="Calibri"/>
              </a:rPr>
              <a:t>11% of 2026 value · 7.1%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Styling Powders: </a:t>
            </a:r>
            <a:r>
              <a:rPr sz="1100" b="0">
                <a:solidFill>
                  <a:srgbClr val="2E2E2E"/>
                </a:solidFill>
                <a:latin typeface="Calibri"/>
              </a:rPr>
              <a:t>10% of 2026 value · 7.8%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Gels and Jellies: </a:t>
            </a:r>
            <a:r>
              <a:rPr sz="1100" b="0">
                <a:solidFill>
                  <a:srgbClr val="2E2E2E"/>
                </a:solidFill>
                <a:latin typeface="Calibri"/>
              </a:rPr>
              <a:t>9% of 2026 value · 5.5% CAGR serves a niche.</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Mousses and Foams: </a:t>
            </a:r>
            <a:r>
              <a:rPr sz="1100" b="0">
                <a:solidFill>
                  <a:srgbClr val="2E2E2E"/>
                </a:solidFill>
                <a:latin typeface="Calibri"/>
              </a:rPr>
              <a:t>7% of 2026 value · 5.3% CAGR serves a niche.</a:t>
            </a:r>
          </a:p>
        </p:txBody>
      </p:sp>
      <p:sp>
        <p:nvSpPr>
          <p:cNvPr id="51" name="TextBox 50"/>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Structure &amp; Attractiveness, By Product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Format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Waxes, clays, pastes and pomades followed by styling serums and oils are expected to be the two most attractive product format segments in the East Asia hair styling products market in terms of value over the forecast period. Waxes, clays, pastes and pomades and styling serums and oils exhibit a CAGR index of 92.2 and 110.3 and a market share index of 159.4 and 135.2 respectively, against the segment average of 100. The mousses and foams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Product Format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Sprays and Mists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Mousses and Foams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Gels and Jellies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Creams and Lotions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Product Format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Waxes, Clays, Pastes and Pomades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Styling Powders</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Styling Serums and Oils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Sticks and Balms</a:t>
            </a:r>
          </a:p>
        </p:txBody>
      </p:sp>
      <p:graphicFrame>
        <p:nvGraphicFramePr>
          <p:cNvPr id="21" name="Chart 20"/>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Product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Product Format (US$ Mn)</a:t>
            </a:r>
          </a:p>
        </p:txBody>
      </p:sp>
      <p:graphicFrame>
        <p:nvGraphicFramePr>
          <p:cNvPr id="13" name="Table 12"/>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248275"/>
            <a:ext cx="11906250" cy="1381125"/>
          </a:xfrm>
          <a:prstGeom prst="roundRect">
            <a:avLst>
              <a:gd name="adj" fmla="val 55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33400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Analysis, By Product Format</a:t>
            </a:r>
          </a:p>
        </p:txBody>
      </p:sp>
      <p:sp>
        <p:nvSpPr>
          <p:cNvPr id="17" name="Rectangle 16"/>
          <p:cNvSpPr/>
          <p:nvPr/>
        </p:nvSpPr>
        <p:spPr>
          <a:xfrm>
            <a:off x="276225" y="55721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657850"/>
            <a:ext cx="11639550" cy="8953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Waxes, clays, pastes and pomades segment is projected to register 1.1X higher value than styling serums and oils segment in 2036. Among hair styling products by product format, sticks and balms segment is expected to witness the highest CAGR of 8.0% over the forecast period.</a:t>
            </a:r>
          </a:p>
          <a:p>
            <a:pPr algn="l">
              <a:lnSpc>
                <a:spcPct val="110000"/>
              </a:lnSpc>
              <a:spcBef>
                <a:spcPts val="0"/>
              </a:spcBef>
              <a:spcAft>
                <a:spcPts val="500"/>
              </a:spcAft>
            </a:pPr>
            <a:r>
              <a:rPr sz="1100" b="0">
                <a:solidFill>
                  <a:srgbClr val="2E2E2E"/>
                </a:solidFill>
                <a:latin typeface="Calibri"/>
              </a:rPr>
              <a:t>In terms of value share by product format, the waxes, clays, pastes and pomades segment is expected to dominate the market, losing 94 BPS and accounting for 19.0% share by 2036. The sprays and mists segment is expected to lose 209 BPS over the forecast period to account for 11.1%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&amp; Share Shift, By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Composition, By Product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11055"/>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0629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3009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Mousses and Foams</a:t>
            </a:r>
          </a:p>
        </p:txBody>
      </p:sp>
      <p:sp>
        <p:nvSpPr>
          <p:cNvPr id="19" name="BPS Value 1"/>
          <p:cNvSpPr txBox="1"/>
          <p:nvPr/>
        </p:nvSpPr>
        <p:spPr>
          <a:xfrm>
            <a:off x="6896100" y="1792005"/>
            <a:ext cx="514350" cy="123825"/>
          </a:xfrm>
          <a:prstGeom prst="rect">
            <a:avLst/>
          </a:prstGeom>
          <a:noFill/>
        </p:spPr>
        <p:txBody>
          <a:bodyPr wrap="none" lIns="0" rIns="0" tIns="0" bIns="0" anchor="ctr">
            <a:spAutoFit/>
          </a:bodyPr>
          <a:lstStyle/>
          <a:p>
            <a:pPr algn="r"/>
            <a:r>
              <a:rPr sz="900" b="1">
                <a:solidFill>
                  <a:srgbClr val="E44D3A"/>
                </a:solidFill>
                <a:latin typeface="Calibri"/>
              </a:rPr>
              <a:t>-78</a:t>
            </a:r>
          </a:p>
        </p:txBody>
      </p:sp>
      <p:sp>
        <p:nvSpPr>
          <p:cNvPr id="20" name="FMI Legend Chip"/>
          <p:cNvSpPr/>
          <p:nvPr/>
        </p:nvSpPr>
        <p:spPr>
          <a:xfrm>
            <a:off x="4928997" y="2143133"/>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13837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6217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Gels and Jellies</a:t>
            </a:r>
          </a:p>
        </p:txBody>
      </p:sp>
      <p:sp>
        <p:nvSpPr>
          <p:cNvPr id="23" name="BPS Value 2"/>
          <p:cNvSpPr txBox="1"/>
          <p:nvPr/>
        </p:nvSpPr>
        <p:spPr>
          <a:xfrm>
            <a:off x="6896100" y="2124083"/>
            <a:ext cx="514350" cy="123825"/>
          </a:xfrm>
          <a:prstGeom prst="rect">
            <a:avLst/>
          </a:prstGeom>
          <a:noFill/>
        </p:spPr>
        <p:txBody>
          <a:bodyPr wrap="none" lIns="0" rIns="0" tIns="0" bIns="0" anchor="ctr">
            <a:spAutoFit/>
          </a:bodyPr>
          <a:lstStyle/>
          <a:p>
            <a:pPr algn="r"/>
            <a:r>
              <a:rPr sz="900" b="1">
                <a:solidFill>
                  <a:srgbClr val="E44D3A"/>
                </a:solidFill>
                <a:latin typeface="Calibri"/>
              </a:rPr>
              <a:t>-89</a:t>
            </a:r>
          </a:p>
        </p:txBody>
      </p:sp>
      <p:sp>
        <p:nvSpPr>
          <p:cNvPr id="24" name="FMI Legend Chip"/>
          <p:cNvSpPr/>
          <p:nvPr/>
        </p:nvSpPr>
        <p:spPr>
          <a:xfrm>
            <a:off x="4928997" y="2590095"/>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258533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5091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Sprays and Mists</a:t>
            </a:r>
          </a:p>
        </p:txBody>
      </p:sp>
      <p:sp>
        <p:nvSpPr>
          <p:cNvPr id="27" name="BPS Value 3"/>
          <p:cNvSpPr txBox="1"/>
          <p:nvPr/>
        </p:nvSpPr>
        <p:spPr>
          <a:xfrm>
            <a:off x="6896100" y="2571045"/>
            <a:ext cx="514350" cy="123825"/>
          </a:xfrm>
          <a:prstGeom prst="rect">
            <a:avLst/>
          </a:prstGeom>
          <a:noFill/>
        </p:spPr>
        <p:txBody>
          <a:bodyPr wrap="none" lIns="0" rIns="0" tIns="0" bIns="0" anchor="ctr">
            <a:spAutoFit/>
          </a:bodyPr>
          <a:lstStyle/>
          <a:p>
            <a:pPr algn="r"/>
            <a:r>
              <a:rPr sz="900" b="1">
                <a:solidFill>
                  <a:srgbClr val="E44D3A"/>
                </a:solidFill>
                <a:latin typeface="Calibri"/>
              </a:rPr>
              <a:t>-209</a:t>
            </a:r>
          </a:p>
        </p:txBody>
      </p:sp>
      <p:sp>
        <p:nvSpPr>
          <p:cNvPr id="28" name="FMI Legend Chip"/>
          <p:cNvSpPr/>
          <p:nvPr/>
        </p:nvSpPr>
        <p:spPr>
          <a:xfrm>
            <a:off x="4928997" y="3099816"/>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309505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01885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Powders</a:t>
            </a:r>
          </a:p>
        </p:txBody>
      </p:sp>
      <p:sp>
        <p:nvSpPr>
          <p:cNvPr id="31" name="BPS Value 4"/>
          <p:cNvSpPr txBox="1"/>
          <p:nvPr/>
        </p:nvSpPr>
        <p:spPr>
          <a:xfrm>
            <a:off x="6896100" y="3080766"/>
            <a:ext cx="514350" cy="123825"/>
          </a:xfrm>
          <a:prstGeom prst="rect">
            <a:avLst/>
          </a:prstGeom>
          <a:noFill/>
        </p:spPr>
        <p:txBody>
          <a:bodyPr wrap="none" lIns="0" rIns="0" tIns="0" bIns="0" anchor="ctr">
            <a:spAutoFit/>
          </a:bodyPr>
          <a:lstStyle/>
          <a:p>
            <a:pPr algn="r"/>
            <a:r>
              <a:rPr sz="900" b="1">
                <a:solidFill>
                  <a:srgbClr val="2E7D32"/>
                </a:solidFill>
                <a:latin typeface="Calibri"/>
              </a:rPr>
              <a:t>+124</a:t>
            </a:r>
          </a:p>
        </p:txBody>
      </p:sp>
      <p:sp>
        <p:nvSpPr>
          <p:cNvPr id="32" name="FMI Legend Chip"/>
          <p:cNvSpPr/>
          <p:nvPr/>
        </p:nvSpPr>
        <p:spPr>
          <a:xfrm>
            <a:off x="4928997" y="361045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360569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52949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Creams and Lotions</a:t>
            </a:r>
          </a:p>
        </p:txBody>
      </p:sp>
      <p:sp>
        <p:nvSpPr>
          <p:cNvPr id="35" name="BPS Value 5"/>
          <p:cNvSpPr txBox="1"/>
          <p:nvPr/>
        </p:nvSpPr>
        <p:spPr>
          <a:xfrm>
            <a:off x="6896100" y="3591409"/>
            <a:ext cx="514350" cy="123825"/>
          </a:xfrm>
          <a:prstGeom prst="rect">
            <a:avLst/>
          </a:prstGeom>
          <a:noFill/>
        </p:spPr>
        <p:txBody>
          <a:bodyPr wrap="none" lIns="0" rIns="0" tIns="0" bIns="0" anchor="ctr">
            <a:spAutoFit/>
          </a:bodyPr>
          <a:lstStyle/>
          <a:p>
            <a:pPr algn="r"/>
            <a:r>
              <a:rPr sz="900" b="1">
                <a:solidFill>
                  <a:srgbClr val="2E7D32"/>
                </a:solidFill>
                <a:latin typeface="Calibri"/>
              </a:rPr>
              <a:t>+52</a:t>
            </a:r>
          </a:p>
        </p:txBody>
      </p:sp>
      <p:sp>
        <p:nvSpPr>
          <p:cNvPr id="36" name="FMI Legend Chip"/>
          <p:cNvSpPr/>
          <p:nvPr/>
        </p:nvSpPr>
        <p:spPr>
          <a:xfrm>
            <a:off x="4928997" y="420934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420458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12838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Sticks and Balms</a:t>
            </a:r>
          </a:p>
        </p:txBody>
      </p:sp>
      <p:sp>
        <p:nvSpPr>
          <p:cNvPr id="39" name="BPS Value 6"/>
          <p:cNvSpPr txBox="1"/>
          <p:nvPr/>
        </p:nvSpPr>
        <p:spPr>
          <a:xfrm>
            <a:off x="6896100" y="4190293"/>
            <a:ext cx="514350" cy="123825"/>
          </a:xfrm>
          <a:prstGeom prst="rect">
            <a:avLst/>
          </a:prstGeom>
          <a:noFill/>
        </p:spPr>
        <p:txBody>
          <a:bodyPr wrap="none" lIns="0" rIns="0" tIns="0" bIns="0" anchor="ctr">
            <a:spAutoFit/>
          </a:bodyPr>
          <a:lstStyle/>
          <a:p>
            <a:pPr algn="r"/>
            <a:r>
              <a:rPr sz="900" b="1">
                <a:solidFill>
                  <a:srgbClr val="2E7D32"/>
                </a:solidFill>
                <a:latin typeface="Calibri"/>
              </a:rPr>
              <a:t>+185</a:t>
            </a:r>
          </a:p>
        </p:txBody>
      </p:sp>
      <p:sp>
        <p:nvSpPr>
          <p:cNvPr id="40" name="FMI Legend Chip"/>
          <p:cNvSpPr/>
          <p:nvPr/>
        </p:nvSpPr>
        <p:spPr>
          <a:xfrm>
            <a:off x="4928997" y="496404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495927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488307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Serums and Oils</a:t>
            </a:r>
          </a:p>
        </p:txBody>
      </p:sp>
      <p:sp>
        <p:nvSpPr>
          <p:cNvPr id="43" name="BPS Value 7"/>
          <p:cNvSpPr txBox="1"/>
          <p:nvPr/>
        </p:nvSpPr>
        <p:spPr>
          <a:xfrm>
            <a:off x="6896100" y="4944990"/>
            <a:ext cx="514350" cy="123825"/>
          </a:xfrm>
          <a:prstGeom prst="rect">
            <a:avLst/>
          </a:prstGeom>
          <a:noFill/>
        </p:spPr>
        <p:txBody>
          <a:bodyPr wrap="none" lIns="0" rIns="0" tIns="0" bIns="0" anchor="ctr">
            <a:spAutoFit/>
          </a:bodyPr>
          <a:lstStyle/>
          <a:p>
            <a:pPr algn="r"/>
            <a:r>
              <a:rPr sz="900" b="1">
                <a:solidFill>
                  <a:srgbClr val="2E7D32"/>
                </a:solidFill>
                <a:latin typeface="Calibri"/>
              </a:rPr>
              <a:t>+109</a:t>
            </a:r>
          </a:p>
        </p:txBody>
      </p:sp>
      <p:sp>
        <p:nvSpPr>
          <p:cNvPr id="44" name="FMI Legend Chip"/>
          <p:cNvSpPr/>
          <p:nvPr/>
        </p:nvSpPr>
        <p:spPr>
          <a:xfrm>
            <a:off x="4928997" y="580954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rot="10800000">
            <a:off x="5090922" y="580478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572858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Clays, Pastes and Pomades</a:t>
            </a:r>
          </a:p>
        </p:txBody>
      </p:sp>
      <p:sp>
        <p:nvSpPr>
          <p:cNvPr id="47" name="BPS Value 8"/>
          <p:cNvSpPr txBox="1"/>
          <p:nvPr/>
        </p:nvSpPr>
        <p:spPr>
          <a:xfrm>
            <a:off x="6896100" y="5790499"/>
            <a:ext cx="514350" cy="123825"/>
          </a:xfrm>
          <a:prstGeom prst="rect">
            <a:avLst/>
          </a:prstGeom>
          <a:noFill/>
        </p:spPr>
        <p:txBody>
          <a:bodyPr wrap="none" lIns="0" rIns="0" tIns="0" bIns="0" anchor="ctr">
            <a:spAutoFit/>
          </a:bodyPr>
          <a:lstStyle/>
          <a:p>
            <a:pPr algn="r"/>
            <a:r>
              <a:rPr sz="900" b="1">
                <a:solidFill>
                  <a:srgbClr val="E44D3A"/>
                </a:solidFill>
                <a:latin typeface="Calibri"/>
              </a:rPr>
              <a:t>-94</a:t>
            </a:r>
          </a:p>
        </p:txBody>
      </p:sp>
      <p:sp>
        <p:nvSpPr>
          <p:cNvPr id="48" name="Rounded Rectangle 4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East Asia Read-out, By Product Format</a:t>
            </a:r>
          </a:p>
        </p:txBody>
      </p:sp>
      <p:sp>
        <p:nvSpPr>
          <p:cNvPr id="50" name="Rectangle 4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product format, sticks and balms segment is expected to witness the highest CAGR of 8.0% over the forecast period. In terms of value share by product format, the waxes, clays, pastes and pomades segment is expected to dominate the market, losing 94 BPS and accounting for 19.0% share by 2036.</a:t>
            </a:r>
          </a:p>
          <a:p>
            <a:pPr algn="l">
              <a:lnSpc>
                <a:spcPct val="110000"/>
              </a:lnSpc>
              <a:spcBef>
                <a:spcPts val="0"/>
              </a:spcBef>
              <a:spcAft>
                <a:spcPts val="500"/>
              </a:spcAft>
            </a:pPr>
            <a:r>
              <a:rPr sz="1150" b="0">
                <a:solidFill>
                  <a:srgbClr val="2E2E2E"/>
                </a:solidFill>
                <a:latin typeface="Calibri"/>
              </a:rPr>
              <a:t>The sprays and mists segment is expected to lose 209 BPS over the forecast period to account for 11.1% share by 2036.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Product Format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Growth,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Product Format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Heatmap, By Product Format (%)  ·  light = lower, dark = higher growth</a:t>
            </a:r>
          </a:p>
        </p:txBody>
      </p:sp>
      <p:sp>
        <p:nvSpPr>
          <p:cNvPr id="12" name="TextBox 11"/>
          <p:cNvSpPr txBox="1"/>
          <p:nvPr/>
        </p:nvSpPr>
        <p:spPr>
          <a:xfrm>
            <a:off x="181886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4653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1178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5823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04695"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511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697610"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44067"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69905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36982"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83439"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2989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763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281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6926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Sprays and Mists</a:t>
            </a:r>
          </a:p>
        </p:txBody>
      </p:sp>
      <p:sp>
        <p:nvSpPr>
          <p:cNvPr id="28" name="Rectangle 27"/>
          <p:cNvSpPr/>
          <p:nvPr/>
        </p:nvSpPr>
        <p:spPr>
          <a:xfrm>
            <a:off x="1818866" y="1409700"/>
            <a:ext cx="646457" cy="344170"/>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465324" y="1409700"/>
            <a:ext cx="646457" cy="344170"/>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11781" y="1409700"/>
            <a:ext cx="646457" cy="344170"/>
          </a:xfrm>
          <a:prstGeom prst="rect">
            <a:avLst/>
          </a:prstGeom>
          <a:solidFill>
            <a:srgbClr val="E4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58238" y="1409700"/>
            <a:ext cx="646457" cy="344170"/>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04695" y="1409700"/>
            <a:ext cx="646457" cy="344170"/>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51153" y="1409700"/>
            <a:ext cx="646457" cy="34417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697610" y="140970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44067" y="1409700"/>
            <a:ext cx="646457" cy="34417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6990524" y="1409700"/>
            <a:ext cx="646457" cy="34417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36982" y="140970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83439" y="140970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29896" y="1409700"/>
            <a:ext cx="646457" cy="344170"/>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76353" y="140970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2811" y="1409700"/>
            <a:ext cx="646457" cy="34417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69268" y="1409700"/>
            <a:ext cx="646457" cy="344170"/>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538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Hairsprays</a:t>
            </a:r>
          </a:p>
        </p:txBody>
      </p:sp>
      <p:sp>
        <p:nvSpPr>
          <p:cNvPr id="44" name="Rectangle 43"/>
          <p:cNvSpPr/>
          <p:nvPr/>
        </p:nvSpPr>
        <p:spPr>
          <a:xfrm>
            <a:off x="1818866" y="1753870"/>
            <a:ext cx="646457" cy="34417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465324" y="175387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11781" y="1753870"/>
            <a:ext cx="646457" cy="34417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58238" y="1753870"/>
            <a:ext cx="646457" cy="344170"/>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04695" y="1753870"/>
            <a:ext cx="646457" cy="344170"/>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51153" y="1753870"/>
            <a:ext cx="646457" cy="34417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697610" y="1753870"/>
            <a:ext cx="646457" cy="34417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44067" y="1753870"/>
            <a:ext cx="646457" cy="34417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6990524" y="1753870"/>
            <a:ext cx="646457" cy="34417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36982" y="1753870"/>
            <a:ext cx="646457" cy="344170"/>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83439" y="1753870"/>
            <a:ext cx="646457" cy="344170"/>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29896" y="1753870"/>
            <a:ext cx="646457" cy="344170"/>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76353" y="1753870"/>
            <a:ext cx="646457" cy="344170"/>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2811" y="1753870"/>
            <a:ext cx="646457" cy="34417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69268" y="1753870"/>
            <a:ext cx="646457" cy="34417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980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Hairsprays</a:t>
            </a:r>
          </a:p>
        </p:txBody>
      </p:sp>
      <p:sp>
        <p:nvSpPr>
          <p:cNvPr id="60" name="Rectangle 59"/>
          <p:cNvSpPr/>
          <p:nvPr/>
        </p:nvSpPr>
        <p:spPr>
          <a:xfrm>
            <a:off x="1818866" y="2098040"/>
            <a:ext cx="646457" cy="344170"/>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465324" y="2098040"/>
            <a:ext cx="646457" cy="34417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11781" y="2098040"/>
            <a:ext cx="646457" cy="344170"/>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58238" y="2098040"/>
            <a:ext cx="646457" cy="34417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04695" y="209804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51153" y="2098040"/>
            <a:ext cx="646457" cy="344170"/>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697610" y="2098040"/>
            <a:ext cx="646457" cy="344170"/>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44067" y="2098040"/>
            <a:ext cx="646457" cy="34417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6990524" y="2098040"/>
            <a:ext cx="646457" cy="344170"/>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36982" y="2098040"/>
            <a:ext cx="646457" cy="344170"/>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83439" y="2098040"/>
            <a:ext cx="646457" cy="344170"/>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29896" y="2098040"/>
            <a:ext cx="646457" cy="34417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76353" y="2098040"/>
            <a:ext cx="646457" cy="34417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2811" y="2098040"/>
            <a:ext cx="646457" cy="34417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69268" y="209804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4422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Texturizing Sprays</a:t>
            </a:r>
          </a:p>
        </p:txBody>
      </p:sp>
      <p:sp>
        <p:nvSpPr>
          <p:cNvPr id="76" name="Rectangle 75"/>
          <p:cNvSpPr/>
          <p:nvPr/>
        </p:nvSpPr>
        <p:spPr>
          <a:xfrm>
            <a:off x="1818866" y="2442210"/>
            <a:ext cx="646457" cy="344170"/>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465324" y="2442210"/>
            <a:ext cx="646457" cy="344170"/>
          </a:xfrm>
          <a:prstGeom prst="rect">
            <a:avLst/>
          </a:prstGeom>
          <a:solidFill>
            <a:srgbClr val="C8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11781" y="2442210"/>
            <a:ext cx="646457" cy="344170"/>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58238" y="244221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04695" y="2442210"/>
            <a:ext cx="646457" cy="34417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51153" y="2442210"/>
            <a:ext cx="646457" cy="344170"/>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697610" y="244221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44067" y="2442210"/>
            <a:ext cx="646457" cy="344170"/>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6990524" y="2442210"/>
            <a:ext cx="646457" cy="344170"/>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36982" y="2442210"/>
            <a:ext cx="646457" cy="344170"/>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83439" y="2442210"/>
            <a:ext cx="646457" cy="344170"/>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29896" y="2442210"/>
            <a:ext cx="646457" cy="344170"/>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76353" y="2442210"/>
            <a:ext cx="646457" cy="344170"/>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2811" y="2442210"/>
            <a:ext cx="646457" cy="344170"/>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69268" y="2442210"/>
            <a:ext cx="646457" cy="344170"/>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863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Sea-salt Sprays</a:t>
            </a:r>
          </a:p>
        </p:txBody>
      </p:sp>
      <p:sp>
        <p:nvSpPr>
          <p:cNvPr id="92" name="Rectangle 91"/>
          <p:cNvSpPr/>
          <p:nvPr/>
        </p:nvSpPr>
        <p:spPr>
          <a:xfrm>
            <a:off x="1818866" y="2786380"/>
            <a:ext cx="646457" cy="34417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465324" y="2786380"/>
            <a:ext cx="646457" cy="34417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11781" y="2786380"/>
            <a:ext cx="646457" cy="34417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58238" y="2786380"/>
            <a:ext cx="646457" cy="34417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04695" y="2786380"/>
            <a:ext cx="646457" cy="34417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51153" y="2786380"/>
            <a:ext cx="646457" cy="34417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697610" y="2786380"/>
            <a:ext cx="646457" cy="344170"/>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44067" y="2786380"/>
            <a:ext cx="646457" cy="344170"/>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6990524" y="2786380"/>
            <a:ext cx="646457" cy="344170"/>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36982" y="2786380"/>
            <a:ext cx="646457" cy="344170"/>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83439" y="2786380"/>
            <a:ext cx="646457" cy="344170"/>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29896" y="2786380"/>
            <a:ext cx="646457" cy="344170"/>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76353" y="2786380"/>
            <a:ext cx="646457" cy="344170"/>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2811" y="2786380"/>
            <a:ext cx="646457" cy="344170"/>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69268" y="2786380"/>
            <a:ext cx="646457" cy="344170"/>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13055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Volumizing Sprays</a:t>
            </a:r>
          </a:p>
        </p:txBody>
      </p:sp>
      <p:sp>
        <p:nvSpPr>
          <p:cNvPr id="108" name="Rectangle 107"/>
          <p:cNvSpPr/>
          <p:nvPr/>
        </p:nvSpPr>
        <p:spPr>
          <a:xfrm>
            <a:off x="1818866" y="3130550"/>
            <a:ext cx="646457" cy="344170"/>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465324" y="3130550"/>
            <a:ext cx="646457" cy="344170"/>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11781" y="3130550"/>
            <a:ext cx="646457" cy="344170"/>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58238" y="3130550"/>
            <a:ext cx="646457" cy="344170"/>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04695" y="3130550"/>
            <a:ext cx="646457" cy="344170"/>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51153" y="3130550"/>
            <a:ext cx="646457" cy="344170"/>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697610" y="3130550"/>
            <a:ext cx="646457" cy="344170"/>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44067" y="313055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6990524" y="3130550"/>
            <a:ext cx="646457" cy="34417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36982" y="3130550"/>
            <a:ext cx="646457" cy="34417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83439" y="3130550"/>
            <a:ext cx="646457" cy="344170"/>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29896" y="313055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76353" y="3130550"/>
            <a:ext cx="646457" cy="34417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2811" y="313055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69268" y="3130550"/>
            <a:ext cx="646457" cy="34417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47472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Mousses and Foams</a:t>
            </a:r>
          </a:p>
        </p:txBody>
      </p:sp>
      <p:sp>
        <p:nvSpPr>
          <p:cNvPr id="124" name="Rectangle 123"/>
          <p:cNvSpPr/>
          <p:nvPr/>
        </p:nvSpPr>
        <p:spPr>
          <a:xfrm>
            <a:off x="1818866" y="3474720"/>
            <a:ext cx="646457" cy="34417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465324" y="3474720"/>
            <a:ext cx="646457" cy="34417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11781" y="3474720"/>
            <a:ext cx="646457" cy="344170"/>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58238" y="3474720"/>
            <a:ext cx="646457" cy="344170"/>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04695" y="3474720"/>
            <a:ext cx="646457" cy="344170"/>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51153" y="347472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697610" y="347472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44067" y="347472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6990524" y="3474720"/>
            <a:ext cx="646457" cy="344170"/>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36982" y="3474720"/>
            <a:ext cx="646457" cy="344170"/>
          </a:xfrm>
          <a:prstGeom prst="rect">
            <a:avLst/>
          </a:prstGeom>
          <a:solidFill>
            <a:srgbClr val="93BE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83439" y="347472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29896" y="3474720"/>
            <a:ext cx="646457" cy="344170"/>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76353" y="3474720"/>
            <a:ext cx="646457" cy="344170"/>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2811" y="3474720"/>
            <a:ext cx="646457" cy="344170"/>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69268" y="3474720"/>
            <a:ext cx="646457" cy="344170"/>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81889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Mousses</a:t>
            </a:r>
          </a:p>
        </p:txBody>
      </p:sp>
      <p:sp>
        <p:nvSpPr>
          <p:cNvPr id="140" name="Rectangle 139"/>
          <p:cNvSpPr/>
          <p:nvPr/>
        </p:nvSpPr>
        <p:spPr>
          <a:xfrm>
            <a:off x="1818866" y="3818890"/>
            <a:ext cx="646457" cy="344170"/>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465324" y="3818890"/>
            <a:ext cx="646457" cy="34417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11781" y="3818890"/>
            <a:ext cx="646457" cy="344170"/>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58238" y="381889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04695" y="381889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51153" y="3818890"/>
            <a:ext cx="646457" cy="344170"/>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697610" y="3818890"/>
            <a:ext cx="646457" cy="344170"/>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44067" y="3818890"/>
            <a:ext cx="646457" cy="344170"/>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6990524" y="3818890"/>
            <a:ext cx="646457" cy="34417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36982" y="381889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83439" y="3818890"/>
            <a:ext cx="646457" cy="34417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29896" y="3818890"/>
            <a:ext cx="646457" cy="34417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76353" y="3818890"/>
            <a:ext cx="646457" cy="344170"/>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2811" y="3818890"/>
            <a:ext cx="646457" cy="344170"/>
          </a:xfrm>
          <a:prstGeom prst="rect">
            <a:avLst/>
          </a:prstGeom>
          <a:solidFill>
            <a:srgbClr val="A3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69268" y="381889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16306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Foams</a:t>
            </a:r>
          </a:p>
        </p:txBody>
      </p:sp>
      <p:sp>
        <p:nvSpPr>
          <p:cNvPr id="156" name="Rectangle 155"/>
          <p:cNvSpPr/>
          <p:nvPr/>
        </p:nvSpPr>
        <p:spPr>
          <a:xfrm>
            <a:off x="1818866" y="4163060"/>
            <a:ext cx="646457" cy="344170"/>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465324" y="4163060"/>
            <a:ext cx="646457" cy="34417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11781" y="4163060"/>
            <a:ext cx="646457" cy="344170"/>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58238" y="4163060"/>
            <a:ext cx="646457" cy="34417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04695" y="416306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51153" y="416306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697610" y="4163060"/>
            <a:ext cx="646457" cy="34417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44067" y="4163060"/>
            <a:ext cx="646457" cy="344170"/>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6990524" y="4163060"/>
            <a:ext cx="646457" cy="344170"/>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36982" y="4163060"/>
            <a:ext cx="646457" cy="344170"/>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83439" y="4163060"/>
            <a:ext cx="646457" cy="344170"/>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29896" y="4163060"/>
            <a:ext cx="646457" cy="344170"/>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76353" y="4163060"/>
            <a:ext cx="646457" cy="344170"/>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2811" y="4163060"/>
            <a:ext cx="646457" cy="344170"/>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69268" y="4163060"/>
            <a:ext cx="646457" cy="344170"/>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50723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Gels and Jellies</a:t>
            </a:r>
          </a:p>
        </p:txBody>
      </p:sp>
      <p:sp>
        <p:nvSpPr>
          <p:cNvPr id="172" name="Rectangle 171"/>
          <p:cNvSpPr/>
          <p:nvPr/>
        </p:nvSpPr>
        <p:spPr>
          <a:xfrm>
            <a:off x="1818866" y="450723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465324" y="4507230"/>
            <a:ext cx="646457" cy="344170"/>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11781" y="4507230"/>
            <a:ext cx="646457" cy="344170"/>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58238" y="4507230"/>
            <a:ext cx="646457" cy="34417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04695" y="4507230"/>
            <a:ext cx="646457" cy="344170"/>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51153" y="4507230"/>
            <a:ext cx="646457" cy="34417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697610" y="4507230"/>
            <a:ext cx="646457" cy="344170"/>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44067" y="4507230"/>
            <a:ext cx="646457" cy="344170"/>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6990524" y="4507230"/>
            <a:ext cx="646457" cy="344170"/>
          </a:xfrm>
          <a:prstGeom prst="rect">
            <a:avLst/>
          </a:prstGeom>
          <a:solidFill>
            <a:srgbClr val="87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36982" y="4507230"/>
            <a:ext cx="646457" cy="344170"/>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83439" y="4507230"/>
            <a:ext cx="646457" cy="344170"/>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29896" y="4507230"/>
            <a:ext cx="646457" cy="344170"/>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76353" y="4507230"/>
            <a:ext cx="646457" cy="344170"/>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2811" y="4507230"/>
            <a:ext cx="646457" cy="344170"/>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69268" y="4507230"/>
            <a:ext cx="646457" cy="344170"/>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8514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Creams and Lotions</a:t>
            </a:r>
          </a:p>
        </p:txBody>
      </p:sp>
      <p:sp>
        <p:nvSpPr>
          <p:cNvPr id="188" name="Rectangle 187"/>
          <p:cNvSpPr/>
          <p:nvPr/>
        </p:nvSpPr>
        <p:spPr>
          <a:xfrm>
            <a:off x="1818866" y="4851400"/>
            <a:ext cx="646457" cy="34417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465324" y="485140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11781" y="485140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58238" y="4851400"/>
            <a:ext cx="646457" cy="34417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04695" y="4851400"/>
            <a:ext cx="646457" cy="344170"/>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51153" y="485140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697610" y="4851400"/>
            <a:ext cx="646457" cy="344170"/>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44067" y="4851400"/>
            <a:ext cx="646457" cy="344170"/>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6990524" y="4851400"/>
            <a:ext cx="646457" cy="344170"/>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36982" y="4851400"/>
            <a:ext cx="646457" cy="344170"/>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83439" y="4851400"/>
            <a:ext cx="646457" cy="344170"/>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29896" y="4851400"/>
            <a:ext cx="646457" cy="344170"/>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76353" y="4851400"/>
            <a:ext cx="646457" cy="344170"/>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2811" y="4851400"/>
            <a:ext cx="646457" cy="344170"/>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69268" y="4851400"/>
            <a:ext cx="646457" cy="344170"/>
          </a:xfrm>
          <a:prstGeom prst="rect">
            <a:avLst/>
          </a:prstGeom>
          <a:solidFill>
            <a:srgbClr val="0E69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1955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Waxes, Clays, Pastes and Pomades</a:t>
            </a:r>
          </a:p>
        </p:txBody>
      </p:sp>
      <p:sp>
        <p:nvSpPr>
          <p:cNvPr id="204" name="Rectangle 203"/>
          <p:cNvSpPr/>
          <p:nvPr/>
        </p:nvSpPr>
        <p:spPr>
          <a:xfrm>
            <a:off x="1818866" y="519557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465324" y="519557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11781" y="5195570"/>
            <a:ext cx="646457" cy="344170"/>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58238" y="5195570"/>
            <a:ext cx="646457" cy="34417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04695" y="519557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51153" y="5195570"/>
            <a:ext cx="646457" cy="34417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697610" y="5195570"/>
            <a:ext cx="646457" cy="344170"/>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44067" y="5195570"/>
            <a:ext cx="646457" cy="344170"/>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6990524" y="5195570"/>
            <a:ext cx="646457" cy="344170"/>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36982" y="5195570"/>
            <a:ext cx="646457" cy="344170"/>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83439" y="5195570"/>
            <a:ext cx="646457" cy="344170"/>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29896" y="5195570"/>
            <a:ext cx="646457" cy="344170"/>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76353" y="5195570"/>
            <a:ext cx="646457" cy="344170"/>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2811" y="5195570"/>
            <a:ext cx="646457" cy="344170"/>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69268" y="5195570"/>
            <a:ext cx="646457" cy="344170"/>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5397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Powders</a:t>
            </a:r>
          </a:p>
        </p:txBody>
      </p:sp>
      <p:sp>
        <p:nvSpPr>
          <p:cNvPr id="220" name="Rectangle 219"/>
          <p:cNvSpPr/>
          <p:nvPr/>
        </p:nvSpPr>
        <p:spPr>
          <a:xfrm>
            <a:off x="1818866" y="5539740"/>
            <a:ext cx="646457" cy="344170"/>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465324" y="553974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11781" y="5539740"/>
            <a:ext cx="646457" cy="344170"/>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58238" y="5539740"/>
            <a:ext cx="646457" cy="344170"/>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04695" y="5539740"/>
            <a:ext cx="646457" cy="344170"/>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51153" y="5539740"/>
            <a:ext cx="646457" cy="344170"/>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697610" y="5539740"/>
            <a:ext cx="646457" cy="344170"/>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44067" y="5539740"/>
            <a:ext cx="646457" cy="344170"/>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6990524" y="5539740"/>
            <a:ext cx="646457" cy="344170"/>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36982" y="5539740"/>
            <a:ext cx="646457" cy="344170"/>
          </a:xfrm>
          <a:prstGeom prst="rect">
            <a:avLst/>
          </a:prstGeom>
          <a:solidFill>
            <a:srgbClr val="0D50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83439" y="5539740"/>
            <a:ext cx="646457" cy="344170"/>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29896" y="5539740"/>
            <a:ext cx="646457" cy="344170"/>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76353" y="5539740"/>
            <a:ext cx="646457" cy="344170"/>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2811" y="5539740"/>
            <a:ext cx="646457" cy="344170"/>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69268" y="5539740"/>
            <a:ext cx="646457" cy="344170"/>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8839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Serums and Oils</a:t>
            </a:r>
          </a:p>
        </p:txBody>
      </p:sp>
      <p:sp>
        <p:nvSpPr>
          <p:cNvPr id="236" name="Rectangle 235"/>
          <p:cNvSpPr/>
          <p:nvPr/>
        </p:nvSpPr>
        <p:spPr>
          <a:xfrm>
            <a:off x="1818866" y="5883910"/>
            <a:ext cx="646457" cy="34417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465324" y="588391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11781" y="588391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58238" y="588391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04695" y="5883910"/>
            <a:ext cx="646457" cy="344170"/>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51153" y="5883910"/>
            <a:ext cx="646457" cy="344170"/>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697610" y="5883910"/>
            <a:ext cx="646457" cy="344170"/>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44067" y="5883910"/>
            <a:ext cx="646457" cy="344170"/>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6990524" y="5883910"/>
            <a:ext cx="646457" cy="344170"/>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36982" y="5883910"/>
            <a:ext cx="646457" cy="344170"/>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83439" y="5883910"/>
            <a:ext cx="646457" cy="344170"/>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29896" y="5883910"/>
            <a:ext cx="646457" cy="344170"/>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76353" y="5883910"/>
            <a:ext cx="646457" cy="344170"/>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2811" y="5883910"/>
            <a:ext cx="646457" cy="344170"/>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69268" y="5883910"/>
            <a:ext cx="646457" cy="344170"/>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62280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Sticks and Balms</a:t>
            </a:r>
          </a:p>
        </p:txBody>
      </p:sp>
      <p:sp>
        <p:nvSpPr>
          <p:cNvPr id="252" name="Rectangle 251"/>
          <p:cNvSpPr/>
          <p:nvPr/>
        </p:nvSpPr>
        <p:spPr>
          <a:xfrm>
            <a:off x="1818866" y="6228080"/>
            <a:ext cx="646457" cy="344170"/>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465324" y="622808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11781" y="6228080"/>
            <a:ext cx="646457" cy="34417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58238" y="622808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04695" y="6228080"/>
            <a:ext cx="646457" cy="344170"/>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51153" y="6228080"/>
            <a:ext cx="646457" cy="344170"/>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697610" y="6228080"/>
            <a:ext cx="646457" cy="344170"/>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44067" y="6228080"/>
            <a:ext cx="646457" cy="344170"/>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6990524" y="6228080"/>
            <a:ext cx="646457" cy="344170"/>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36982" y="6228080"/>
            <a:ext cx="646457" cy="344170"/>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83439" y="6228080"/>
            <a:ext cx="646457" cy="344170"/>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29896" y="6228080"/>
            <a:ext cx="646457" cy="344170"/>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76353" y="6228080"/>
            <a:ext cx="646457" cy="34417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2811" y="6228080"/>
            <a:ext cx="646457" cy="344170"/>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69268" y="6228080"/>
            <a:ext cx="646457" cy="344170"/>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TextBox 30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309" name="TextBox 30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10" name="TextBox 30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311" name="TextBox 3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19.2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Hold Level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Hold Level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Hold Level,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Hold Level segment categorizes the market by hold level.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 Hold</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916.3</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1,713</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6.5%</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Strong Hold</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863.8</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1,537</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5.9%</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Light or Flexible Hold</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833.8</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1,730</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7.6%</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No Hold</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784.1</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1,560</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7.1%</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Extra-strong Hold</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730.6</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1,241</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5.4%</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hold level, light or flexible hold segment is expected to witness the highest CAGR of 7.6% over the forecast period. In terms of value share by hold level, the light or flexible hold segment is expected to dominate the market, gaining 204 BPS and accounting for 22.2% share by 2036.</a:t>
            </a:r>
          </a:p>
          <a:p>
            <a:pPr algn="l">
              <a:lnSpc>
                <a:spcPct val="110000"/>
              </a:lnSpc>
              <a:spcBef>
                <a:spcPts val="0"/>
              </a:spcBef>
              <a:spcAft>
                <a:spcPts val="500"/>
              </a:spcAft>
            </a:pPr>
            <a:r>
              <a:rPr sz="1100" b="0">
                <a:solidFill>
                  <a:srgbClr val="2E2E2E"/>
                </a:solidFill>
                <a:latin typeface="Calibri"/>
              </a:rPr>
              <a:t>Light or flexible hold segment is projected to register 1.0X higher value than medium hold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 Hold: </a:t>
            </a:r>
            <a:r>
              <a:rPr sz="1100" b="0">
                <a:solidFill>
                  <a:srgbClr val="2E2E2E"/>
                </a:solidFill>
                <a:latin typeface="Calibri"/>
              </a:rPr>
              <a:t>22% of 2026 value · 6.5%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Strong Hold: </a:t>
            </a:r>
            <a:r>
              <a:rPr sz="1100" b="0">
                <a:solidFill>
                  <a:srgbClr val="2E2E2E"/>
                </a:solidFill>
                <a:latin typeface="Calibri"/>
              </a:rPr>
              <a:t>21% of 2026 value · 5.9%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Light or Flexible Hold: </a:t>
            </a:r>
            <a:r>
              <a:rPr sz="1100" b="0">
                <a:solidFill>
                  <a:srgbClr val="2E2E2E"/>
                </a:solidFill>
                <a:latin typeface="Calibri"/>
              </a:rPr>
              <a:t>20% of 2026 value · 7.6%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No Hold: </a:t>
            </a:r>
            <a:r>
              <a:rPr sz="1100" b="0">
                <a:solidFill>
                  <a:srgbClr val="2E2E2E"/>
                </a:solidFill>
                <a:latin typeface="Calibri"/>
              </a:rPr>
              <a:t>19% of 2026 value · 7.1%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Extra-strong Hold: </a:t>
            </a:r>
            <a:r>
              <a:rPr sz="1100" b="0">
                <a:solidFill>
                  <a:srgbClr val="2E2E2E"/>
                </a:solidFill>
                <a:latin typeface="Calibri"/>
              </a:rPr>
              <a:t>18% of 2026 value · 5.4% CAGR serves a niche.</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Hold Level split shows how demand is distributed across hold level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Hold Level segment is projected to grow at a CAGR of 6.5%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Structure &amp; Attractiveness, By Hold Level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Hold Level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Hold Level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Light or flexible hold followed by medium hold are expected to be the two most attractive hold level segments in the East Asia hair styling products market in terms of value over the forecast period. Light or flexible hold and medium hold exhibit a CAGR index of 115.7 and 98.7 and a market share index of 101.0 and 111.0 respectively, against the segment average of 100. The extra-strong hold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Hold Level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No Hold</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Light or Flexible Hold</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Medium Hold</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Strong Hold</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Hold Level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Extra-strong Hold</a:t>
            </a:r>
          </a:p>
        </p:txBody>
      </p:sp>
      <p:graphicFrame>
        <p:nvGraphicFramePr>
          <p:cNvPr id="12" name="Chart 11"/>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East Asia Absolute $ Opportunity Analysis, By Hold Level</a:t>
            </a:r>
          </a:p>
        </p:txBody>
      </p:sp>
      <p:sp>
        <p:nvSpPr>
          <p:cNvPr id="15" name="Rectangle 14"/>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390650"/>
            <a:ext cx="5610225"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light or flexible hold segment is anticipated to witness an increase of 2.1X in terms of value as compared to 2026. The light or flexible hold segment is expected to create an incremental opportunity of US$ 896.2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medium hold segment is expected to create an incremental opportunity of US$ 796.8 Mn for the overall hair styling products market from 2026 to 2036. The no hold segment is expected to create an incremental opportunity of US$ 776.2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Hold Level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Hold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Hold Level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Analysis, By Hold Level</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Light or flexible hold segment is projected to register 1.0X higher value than medium hold segment in 2036. Among hair styling products by hold level, light or flexible hold segment is expected to witness the highest CAGR of 7.6% over the forecast period.</a:t>
            </a:r>
          </a:p>
          <a:p>
            <a:pPr algn="l">
              <a:lnSpc>
                <a:spcPct val="110000"/>
              </a:lnSpc>
              <a:spcBef>
                <a:spcPts val="0"/>
              </a:spcBef>
              <a:spcAft>
                <a:spcPts val="500"/>
              </a:spcAft>
            </a:pPr>
            <a:r>
              <a:rPr sz="1150" b="0">
                <a:solidFill>
                  <a:srgbClr val="2E2E2E"/>
                </a:solidFill>
                <a:latin typeface="Calibri"/>
              </a:rPr>
              <a:t>In terms of value share by hold level, the light or flexible hold segment is expected to dominate the market, gaining 204 BPS and accounting for 22.2% share by 2036. The extra-strong hold segment is expected to lose 174 BPS over the forecast period to account for 16.0%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&amp; Share Shift, By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Hold Level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Composition, By Hold Level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35980"/>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3121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5501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Extra-strong Hold</a:t>
            </a:r>
          </a:p>
        </p:txBody>
      </p:sp>
      <p:sp>
        <p:nvSpPr>
          <p:cNvPr id="19" name="BPS Value 1"/>
          <p:cNvSpPr txBox="1"/>
          <p:nvPr/>
        </p:nvSpPr>
        <p:spPr>
          <a:xfrm>
            <a:off x="6896100" y="2016930"/>
            <a:ext cx="514350" cy="123825"/>
          </a:xfrm>
          <a:prstGeom prst="rect">
            <a:avLst/>
          </a:prstGeom>
          <a:noFill/>
        </p:spPr>
        <p:txBody>
          <a:bodyPr wrap="none" lIns="0" rIns="0" tIns="0" bIns="0" anchor="ctr">
            <a:spAutoFit/>
          </a:bodyPr>
          <a:lstStyle/>
          <a:p>
            <a:pPr algn="r"/>
            <a:r>
              <a:rPr sz="900" b="1">
                <a:solidFill>
                  <a:srgbClr val="E44D3A"/>
                </a:solidFill>
                <a:latin typeface="Calibri"/>
              </a:rPr>
              <a:t>-174</a:t>
            </a:r>
          </a:p>
        </p:txBody>
      </p:sp>
      <p:sp>
        <p:nvSpPr>
          <p:cNvPr id="20" name="FMI Legend Chip"/>
          <p:cNvSpPr/>
          <p:nvPr/>
        </p:nvSpPr>
        <p:spPr>
          <a:xfrm>
            <a:off x="4928997" y="285223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84747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7127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Strong Hold</a:t>
            </a:r>
          </a:p>
        </p:txBody>
      </p:sp>
      <p:sp>
        <p:nvSpPr>
          <p:cNvPr id="23" name="BPS Value 2"/>
          <p:cNvSpPr txBox="1"/>
          <p:nvPr/>
        </p:nvSpPr>
        <p:spPr>
          <a:xfrm>
            <a:off x="6896100" y="2833185"/>
            <a:ext cx="514350" cy="123825"/>
          </a:xfrm>
          <a:prstGeom prst="rect">
            <a:avLst/>
          </a:prstGeom>
          <a:noFill/>
        </p:spPr>
        <p:txBody>
          <a:bodyPr wrap="none" lIns="0" rIns="0" tIns="0" bIns="0" anchor="ctr">
            <a:spAutoFit/>
          </a:bodyPr>
          <a:lstStyle/>
          <a:p>
            <a:pPr algn="r"/>
            <a:r>
              <a:rPr sz="900" b="1">
                <a:solidFill>
                  <a:srgbClr val="E44D3A"/>
                </a:solidFill>
                <a:latin typeface="Calibri"/>
              </a:rPr>
              <a:t>-117</a:t>
            </a:r>
          </a:p>
        </p:txBody>
      </p:sp>
      <p:sp>
        <p:nvSpPr>
          <p:cNvPr id="24" name="FMI Legend Chip"/>
          <p:cNvSpPr/>
          <p:nvPr/>
        </p:nvSpPr>
        <p:spPr>
          <a:xfrm>
            <a:off x="4928997" y="376216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75740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68120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 Hold</a:t>
            </a:r>
          </a:p>
        </p:txBody>
      </p:sp>
      <p:sp>
        <p:nvSpPr>
          <p:cNvPr id="27" name="BPS Value 3"/>
          <p:cNvSpPr txBox="1"/>
          <p:nvPr/>
        </p:nvSpPr>
        <p:spPr>
          <a:xfrm>
            <a:off x="6896100" y="3743112"/>
            <a:ext cx="514350" cy="123825"/>
          </a:xfrm>
          <a:prstGeom prst="rect">
            <a:avLst/>
          </a:prstGeom>
          <a:noFill/>
        </p:spPr>
        <p:txBody>
          <a:bodyPr wrap="none" lIns="0" rIns="0" tIns="0" bIns="0" anchor="ctr">
            <a:spAutoFit/>
          </a:bodyPr>
          <a:lstStyle/>
          <a:p>
            <a:pPr algn="r"/>
            <a:r>
              <a:rPr sz="900" b="1">
                <a:solidFill>
                  <a:srgbClr val="2E7D32"/>
                </a:solidFill>
                <a:latin typeface="Calibri"/>
              </a:rPr>
              <a:t>+106</a:t>
            </a:r>
          </a:p>
        </p:txBody>
      </p:sp>
      <p:sp>
        <p:nvSpPr>
          <p:cNvPr id="28" name="FMI Legend Chip"/>
          <p:cNvSpPr/>
          <p:nvPr/>
        </p:nvSpPr>
        <p:spPr>
          <a:xfrm>
            <a:off x="4928997" y="472385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71908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64288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 Hold</a:t>
            </a:r>
          </a:p>
        </p:txBody>
      </p:sp>
      <p:sp>
        <p:nvSpPr>
          <p:cNvPr id="31" name="BPS Value 4"/>
          <p:cNvSpPr txBox="1"/>
          <p:nvPr/>
        </p:nvSpPr>
        <p:spPr>
          <a:xfrm>
            <a:off x="6896100" y="4704802"/>
            <a:ext cx="514350" cy="123825"/>
          </a:xfrm>
          <a:prstGeom prst="rect">
            <a:avLst/>
          </a:prstGeom>
          <a:noFill/>
        </p:spPr>
        <p:txBody>
          <a:bodyPr wrap="none" lIns="0" rIns="0" tIns="0" bIns="0" anchor="ctr">
            <a:spAutoFit/>
          </a:bodyPr>
          <a:lstStyle/>
          <a:p>
            <a:pPr algn="r"/>
            <a:r>
              <a:rPr sz="900" b="1">
                <a:solidFill>
                  <a:srgbClr val="E44D3A"/>
                </a:solidFill>
                <a:latin typeface="Calibri"/>
              </a:rPr>
              <a:t>-18</a:t>
            </a:r>
          </a:p>
        </p:txBody>
      </p:sp>
      <p:sp>
        <p:nvSpPr>
          <p:cNvPr id="32" name="FMI Legend Chip"/>
          <p:cNvSpPr/>
          <p:nvPr/>
        </p:nvSpPr>
        <p:spPr>
          <a:xfrm>
            <a:off x="4928997" y="573539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573062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544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Light or Flexible Hold</a:t>
            </a:r>
          </a:p>
        </p:txBody>
      </p:sp>
      <p:sp>
        <p:nvSpPr>
          <p:cNvPr id="35" name="BPS Value 5"/>
          <p:cNvSpPr txBox="1"/>
          <p:nvPr/>
        </p:nvSpPr>
        <p:spPr>
          <a:xfrm>
            <a:off x="6896100" y="5716341"/>
            <a:ext cx="514350" cy="123825"/>
          </a:xfrm>
          <a:prstGeom prst="rect">
            <a:avLst/>
          </a:prstGeom>
          <a:noFill/>
        </p:spPr>
        <p:txBody>
          <a:bodyPr wrap="none" lIns="0" rIns="0" tIns="0" bIns="0" anchor="ctr">
            <a:spAutoFit/>
          </a:bodyPr>
          <a:lstStyle/>
          <a:p>
            <a:pPr algn="r"/>
            <a:r>
              <a:rPr sz="900" b="1">
                <a:solidFill>
                  <a:srgbClr val="2E7D32"/>
                </a:solidFill>
                <a:latin typeface="Calibri"/>
              </a:rPr>
              <a:t>+204</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East Asia Read-out, By Hold Level</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hold level, light or flexible hold segment is expected to witness the highest CAGR of 7.6% over the forecast period. In terms of value share by hold level, the light or flexible hold segment is expected to dominate the market, gaining 204 BPS and accounting for 22.2% share by 2036.</a:t>
            </a:r>
          </a:p>
          <a:p>
            <a:pPr algn="l">
              <a:lnSpc>
                <a:spcPct val="110000"/>
              </a:lnSpc>
              <a:spcBef>
                <a:spcPts val="0"/>
              </a:spcBef>
              <a:spcAft>
                <a:spcPts val="500"/>
              </a:spcAft>
            </a:pPr>
            <a:r>
              <a:rPr sz="1150" b="0">
                <a:solidFill>
                  <a:srgbClr val="2E2E2E"/>
                </a:solidFill>
                <a:latin typeface="Calibri"/>
              </a:rPr>
              <a:t>The extra-strong hold segment is expected to lose 174 BPS over the forecast period to account for 16.0%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Hold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Hold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Growth,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Heatmap, By Hold Level (%)  ·  light = lower, dark = higher growth</a:t>
            </a:r>
          </a:p>
        </p:txBody>
      </p:sp>
      <p:sp>
        <p:nvSpPr>
          <p:cNvPr id="17" name="TextBox 16"/>
          <p:cNvSpPr txBox="1"/>
          <p:nvPr/>
        </p:nvSpPr>
        <p:spPr>
          <a:xfrm>
            <a:off x="12532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193743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6215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305762"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398992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674089"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35825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042416"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726580"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41074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094907"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7790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463234"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1473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3156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No Hold</a:t>
            </a:r>
          </a:p>
        </p:txBody>
      </p:sp>
      <p:sp>
        <p:nvSpPr>
          <p:cNvPr id="33" name="Rectangle 32"/>
          <p:cNvSpPr/>
          <p:nvPr/>
        </p:nvSpPr>
        <p:spPr>
          <a:xfrm>
            <a:off x="1253271" y="3305175"/>
            <a:ext cx="684164"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937435" y="3305175"/>
            <a:ext cx="684164" cy="65341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621598" y="3305175"/>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305762" y="3305175"/>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89925" y="3305175"/>
            <a:ext cx="684164" cy="65341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74089" y="3305175"/>
            <a:ext cx="684164" cy="65341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358253" y="3305175"/>
            <a:ext cx="684164" cy="653415"/>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042416" y="3305175"/>
            <a:ext cx="684164" cy="653415"/>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726580" y="3305175"/>
            <a:ext cx="684164" cy="653415"/>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410743" y="3305175"/>
            <a:ext cx="684164" cy="653415"/>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94907" y="3305175"/>
            <a:ext cx="684164" cy="653415"/>
          </a:xfrm>
          <a:prstGeom prst="rect">
            <a:avLst/>
          </a:prstGeom>
          <a:solidFill>
            <a:srgbClr val="0E6D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79071" y="3305175"/>
            <a:ext cx="684164" cy="653415"/>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63234" y="3305175"/>
            <a:ext cx="684164" cy="653415"/>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47398" y="3305175"/>
            <a:ext cx="684164" cy="653415"/>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31561" y="3305175"/>
            <a:ext cx="684164" cy="653415"/>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Light or Flexible Hold</a:t>
            </a:r>
          </a:p>
        </p:txBody>
      </p:sp>
      <p:sp>
        <p:nvSpPr>
          <p:cNvPr id="49" name="Rectangle 48"/>
          <p:cNvSpPr/>
          <p:nvPr/>
        </p:nvSpPr>
        <p:spPr>
          <a:xfrm>
            <a:off x="1253271" y="3958590"/>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937435" y="3958590"/>
            <a:ext cx="684164"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621598" y="3958590"/>
            <a:ext cx="684164" cy="653415"/>
          </a:xfrm>
          <a:prstGeom prst="rect">
            <a:avLst/>
          </a:prstGeom>
          <a:solidFill>
            <a:srgbClr val="E9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305762" y="3958590"/>
            <a:ext cx="684164" cy="65341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89925" y="3958590"/>
            <a:ext cx="684164" cy="653415"/>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74089" y="3958590"/>
            <a:ext cx="684164" cy="653415"/>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358253" y="3958590"/>
            <a:ext cx="684164" cy="653415"/>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042416" y="3958590"/>
            <a:ext cx="684164" cy="653415"/>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726580" y="3958590"/>
            <a:ext cx="684164" cy="653415"/>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410743" y="3958590"/>
            <a:ext cx="684164" cy="653415"/>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94907" y="3958590"/>
            <a:ext cx="684164"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79071" y="3958590"/>
            <a:ext cx="684164" cy="65341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63234" y="3958590"/>
            <a:ext cx="684164" cy="653415"/>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47398" y="3958590"/>
            <a:ext cx="684164" cy="653415"/>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31561" y="3958590"/>
            <a:ext cx="684164" cy="653415"/>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Medium Hold</a:t>
            </a:r>
          </a:p>
        </p:txBody>
      </p:sp>
      <p:sp>
        <p:nvSpPr>
          <p:cNvPr id="65" name="Rectangle 64"/>
          <p:cNvSpPr/>
          <p:nvPr/>
        </p:nvSpPr>
        <p:spPr>
          <a:xfrm>
            <a:off x="1253271" y="4612005"/>
            <a:ext cx="684164" cy="65341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937435" y="4612005"/>
            <a:ext cx="684164" cy="65341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621598" y="4612005"/>
            <a:ext cx="684164" cy="653415"/>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305762" y="4612005"/>
            <a:ext cx="684164" cy="65341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89925" y="4612005"/>
            <a:ext cx="684164" cy="653415"/>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74089" y="4612005"/>
            <a:ext cx="684164" cy="653415"/>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358253" y="4612005"/>
            <a:ext cx="684164" cy="653415"/>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042416" y="4612005"/>
            <a:ext cx="684164" cy="653415"/>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726580" y="4612005"/>
            <a:ext cx="684164" cy="653415"/>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410743" y="4612005"/>
            <a:ext cx="684164" cy="653415"/>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94907" y="4612005"/>
            <a:ext cx="684164" cy="653415"/>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79071" y="4612005"/>
            <a:ext cx="684164" cy="653415"/>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63234" y="4612005"/>
            <a:ext cx="684164" cy="653415"/>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47398" y="4612005"/>
            <a:ext cx="684164" cy="653415"/>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31561" y="4612005"/>
            <a:ext cx="684164" cy="653415"/>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Strong Hold</a:t>
            </a:r>
          </a:p>
        </p:txBody>
      </p:sp>
      <p:sp>
        <p:nvSpPr>
          <p:cNvPr id="81" name="Rectangle 80"/>
          <p:cNvSpPr/>
          <p:nvPr/>
        </p:nvSpPr>
        <p:spPr>
          <a:xfrm>
            <a:off x="1253271" y="5265420"/>
            <a:ext cx="684164" cy="65341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937435" y="5265420"/>
            <a:ext cx="684164" cy="65341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621598" y="5265420"/>
            <a:ext cx="684164" cy="653415"/>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305762" y="5265420"/>
            <a:ext cx="684164" cy="653415"/>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989925" y="5265420"/>
            <a:ext cx="684164" cy="65341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674089" y="5265420"/>
            <a:ext cx="684164" cy="653415"/>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358253" y="5265420"/>
            <a:ext cx="684164" cy="653415"/>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042416" y="5265420"/>
            <a:ext cx="684164" cy="653415"/>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726580" y="5265420"/>
            <a:ext cx="684164" cy="653415"/>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410743" y="5265420"/>
            <a:ext cx="684164" cy="653415"/>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094907" y="5265420"/>
            <a:ext cx="684164" cy="653415"/>
          </a:xfrm>
          <a:prstGeom prst="rect">
            <a:avLst/>
          </a:prstGeom>
          <a:solidFill>
            <a:srgbClr val="87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779071" y="5265420"/>
            <a:ext cx="684164" cy="653415"/>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463234" y="5265420"/>
            <a:ext cx="684164" cy="653415"/>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47398" y="5265420"/>
            <a:ext cx="684164" cy="653415"/>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31561" y="5265420"/>
            <a:ext cx="684164" cy="653415"/>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Extra-strong Hold</a:t>
            </a:r>
          </a:p>
        </p:txBody>
      </p:sp>
      <p:sp>
        <p:nvSpPr>
          <p:cNvPr id="97" name="Rectangle 96"/>
          <p:cNvSpPr/>
          <p:nvPr/>
        </p:nvSpPr>
        <p:spPr>
          <a:xfrm>
            <a:off x="1253271" y="5918835"/>
            <a:ext cx="684164" cy="653415"/>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937435" y="5918835"/>
            <a:ext cx="684164" cy="65341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621598" y="5918835"/>
            <a:ext cx="684164" cy="65341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305762" y="5918835"/>
            <a:ext cx="684164" cy="65341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989925" y="5918835"/>
            <a:ext cx="684164" cy="653415"/>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674089" y="5918835"/>
            <a:ext cx="684164"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358253" y="5918835"/>
            <a:ext cx="684164" cy="65341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042416" y="5918835"/>
            <a:ext cx="684164" cy="653415"/>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726580" y="5918835"/>
            <a:ext cx="684164" cy="653415"/>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410743" y="5918835"/>
            <a:ext cx="684164" cy="653415"/>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094907" y="5918835"/>
            <a:ext cx="684164" cy="653415"/>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779071" y="5918835"/>
            <a:ext cx="684164" cy="653415"/>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463234" y="5918835"/>
            <a:ext cx="684164" cy="653415"/>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47398" y="5918835"/>
            <a:ext cx="684164" cy="653415"/>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31561" y="5918835"/>
            <a:ext cx="684164" cy="653415"/>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19.3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Finish</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Finish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Finish,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Finish segment categorizes the market by finish.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Matte</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1,455</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2,717</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6.4%</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Natural</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1,366</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2,446</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6.0%</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Glossy or Wet-look</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1,308</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2,619</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7.2%</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finish, glossy or wet-look segment is expected to witness the highest CAGR of 7.2% over the forecast period. In terms of value share by finish, the matte segment is expected to dominate the market, losing 34 BPS and accounting for 34.9% share by 2036.</a:t>
            </a:r>
          </a:p>
          <a:p>
            <a:pPr algn="l">
              <a:lnSpc>
                <a:spcPct val="110000"/>
              </a:lnSpc>
              <a:spcBef>
                <a:spcPts val="0"/>
              </a:spcBef>
              <a:spcAft>
                <a:spcPts val="500"/>
              </a:spcAft>
            </a:pPr>
            <a:r>
              <a:rPr sz="1100" b="0">
                <a:solidFill>
                  <a:srgbClr val="2E2E2E"/>
                </a:solidFill>
                <a:latin typeface="Calibri"/>
              </a:rPr>
              <a:t>Matte segment is projected to register 1.0X higher value than glossy or wet-look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Matte: </a:t>
            </a:r>
            <a:r>
              <a:rPr sz="1100" b="0">
                <a:solidFill>
                  <a:srgbClr val="2E2E2E"/>
                </a:solidFill>
                <a:latin typeface="Calibri"/>
              </a:rPr>
              <a:t>35% of 2026 value · 6.4%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Natural: </a:t>
            </a:r>
            <a:r>
              <a:rPr sz="1100" b="0">
                <a:solidFill>
                  <a:srgbClr val="2E2E2E"/>
                </a:solidFill>
                <a:latin typeface="Calibri"/>
              </a:rPr>
              <a:t>33% of 2026 value · 6.0%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Glossy or Wet-look: </a:t>
            </a:r>
            <a:r>
              <a:rPr sz="1100" b="0">
                <a:solidFill>
                  <a:srgbClr val="2E2E2E"/>
                </a:solidFill>
                <a:latin typeface="Calibri"/>
              </a:rPr>
              <a:t>32% of 2026 value · 7.2% CAGR grows fastest.</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Finish split shows how demand is distributed across finish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Finish segment is projected to grow at a CAGR of 6.5%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Structure &amp; Attractiveness, By Finish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Finish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Finish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Glossy or wet-look followed by matte are expected to be the two most attractive finish segments in the East Asia hair styling products market in terms of value over the forecast period. Glossy or wet-look and matte exhibit a CAGR index of 109.9 and 98.4 and a market share index of 95.0 and 105.8 respectively, against the segment average of 100. The natural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Finish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Matte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Natural</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Glossy or Wet-look</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East Asia Absolute $ Opportunity Analysis, By Finish</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glossy or wet-look segment is anticipated to witness an increase of 2.0X in terms of value as compared to 2026. The glossy or wet-look segment is expected to create an incremental opportunity of US$ 1,311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matte segment is expected to create an incremental opportunity of US$ 1,261 Mn for the overall hair styling products market from 2026 to 2036. The natural segment is expected to create an incremental opportunity of US$ 1,080 Mn for the overall hair styling products market from 2026 to 2036.</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Finish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Finish,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Finish (US$ Mn)</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74320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Analysis, By Finish</a:t>
            </a:r>
          </a:p>
        </p:txBody>
      </p:sp>
      <p:sp>
        <p:nvSpPr>
          <p:cNvPr id="17" name="Rectangle 16"/>
          <p:cNvSpPr/>
          <p:nvPr/>
        </p:nvSpPr>
        <p:spPr>
          <a:xfrm>
            <a:off x="276225" y="2981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067050"/>
            <a:ext cx="11639550" cy="3486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Matte segment is projected to register 1.0X higher value than glossy or wet-look segment in 2036. Among hair styling products by finish, glossy or wet-look segment is expected to witness the highest CAGR of 7.2% over the forecast period.</a:t>
            </a:r>
          </a:p>
          <a:p>
            <a:pPr algn="l">
              <a:lnSpc>
                <a:spcPct val="110000"/>
              </a:lnSpc>
              <a:spcBef>
                <a:spcPts val="0"/>
              </a:spcBef>
              <a:spcAft>
                <a:spcPts val="500"/>
              </a:spcAft>
            </a:pPr>
            <a:r>
              <a:rPr sz="1150" b="0">
                <a:solidFill>
                  <a:srgbClr val="2E2E2E"/>
                </a:solidFill>
                <a:latin typeface="Calibri"/>
              </a:rPr>
              <a:t>In terms of value share by finish, the matte segment is expected to dominate the market, losing 34 BPS and accounting for 34.9% share by 2036. The natural segment is expected to lose 164 BPS over the forecast period to account for 31.4%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&amp; Share Shift,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Finish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Composition, By Finish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225109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24633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1701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Natural</a:t>
            </a:r>
          </a:p>
        </p:txBody>
      </p:sp>
      <p:sp>
        <p:nvSpPr>
          <p:cNvPr id="19" name="BPS Value 1"/>
          <p:cNvSpPr txBox="1"/>
          <p:nvPr/>
        </p:nvSpPr>
        <p:spPr>
          <a:xfrm>
            <a:off x="6896100" y="2232045"/>
            <a:ext cx="514350" cy="123825"/>
          </a:xfrm>
          <a:prstGeom prst="rect">
            <a:avLst/>
          </a:prstGeom>
          <a:noFill/>
        </p:spPr>
        <p:txBody>
          <a:bodyPr wrap="none" lIns="0" rIns="0" tIns="0" bIns="0" anchor="ctr">
            <a:spAutoFit/>
          </a:bodyPr>
          <a:lstStyle/>
          <a:p>
            <a:pPr algn="r"/>
            <a:r>
              <a:rPr sz="900" b="1">
                <a:solidFill>
                  <a:srgbClr val="E44D3A"/>
                </a:solidFill>
                <a:latin typeface="Calibri"/>
              </a:rPr>
              <a:t>-164</a:t>
            </a:r>
          </a:p>
        </p:txBody>
      </p:sp>
      <p:sp>
        <p:nvSpPr>
          <p:cNvPr id="20" name="FMI Legend Chip"/>
          <p:cNvSpPr/>
          <p:nvPr/>
        </p:nvSpPr>
        <p:spPr>
          <a:xfrm>
            <a:off x="4928997" y="3792697"/>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378793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71173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Glossy or Wet-look</a:t>
            </a:r>
          </a:p>
        </p:txBody>
      </p:sp>
      <p:sp>
        <p:nvSpPr>
          <p:cNvPr id="23" name="BPS Value 2"/>
          <p:cNvSpPr txBox="1"/>
          <p:nvPr/>
        </p:nvSpPr>
        <p:spPr>
          <a:xfrm>
            <a:off x="6896100" y="3773647"/>
            <a:ext cx="514350" cy="123825"/>
          </a:xfrm>
          <a:prstGeom prst="rect">
            <a:avLst/>
          </a:prstGeom>
          <a:noFill/>
        </p:spPr>
        <p:txBody>
          <a:bodyPr wrap="none" lIns="0" rIns="0" tIns="0" bIns="0" anchor="ctr">
            <a:spAutoFit/>
          </a:bodyPr>
          <a:lstStyle/>
          <a:p>
            <a:pPr algn="r"/>
            <a:r>
              <a:rPr sz="900" b="1">
                <a:solidFill>
                  <a:srgbClr val="2E7D32"/>
                </a:solidFill>
                <a:latin typeface="Calibri"/>
              </a:rPr>
              <a:t>+198</a:t>
            </a:r>
          </a:p>
        </p:txBody>
      </p:sp>
      <p:sp>
        <p:nvSpPr>
          <p:cNvPr id="24" name="FMI Legend Chip"/>
          <p:cNvSpPr/>
          <p:nvPr/>
        </p:nvSpPr>
        <p:spPr>
          <a:xfrm>
            <a:off x="4928997" y="541675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541199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33579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Matte</a:t>
            </a:r>
          </a:p>
        </p:txBody>
      </p:sp>
      <p:sp>
        <p:nvSpPr>
          <p:cNvPr id="27" name="BPS Value 3"/>
          <p:cNvSpPr txBox="1"/>
          <p:nvPr/>
        </p:nvSpPr>
        <p:spPr>
          <a:xfrm>
            <a:off x="6896100" y="5397703"/>
            <a:ext cx="514350" cy="123825"/>
          </a:xfrm>
          <a:prstGeom prst="rect">
            <a:avLst/>
          </a:prstGeom>
          <a:noFill/>
        </p:spPr>
        <p:txBody>
          <a:bodyPr wrap="none" lIns="0" rIns="0" tIns="0" bIns="0" anchor="ctr">
            <a:spAutoFit/>
          </a:bodyPr>
          <a:lstStyle/>
          <a:p>
            <a:pPr algn="r"/>
            <a:r>
              <a:rPr sz="900" b="1">
                <a:solidFill>
                  <a:srgbClr val="E44D3A"/>
                </a:solidFill>
                <a:latin typeface="Calibri"/>
              </a:rPr>
              <a:t>-34</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East Asia Read-out, By Finish</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finish, glossy or wet-look segment is expected to witness the highest CAGR of 7.2% over the forecast period. In terms of value share by finish, the matte segment is expected to dominate the market, losing 34 BPS and accounting for 34.9% share by 2036.</a:t>
            </a:r>
          </a:p>
          <a:p>
            <a:pPr algn="l">
              <a:lnSpc>
                <a:spcPct val="110000"/>
              </a:lnSpc>
              <a:spcBef>
                <a:spcPts val="0"/>
              </a:spcBef>
              <a:spcAft>
                <a:spcPts val="500"/>
              </a:spcAft>
            </a:pPr>
            <a:r>
              <a:rPr sz="1150" b="0">
                <a:solidFill>
                  <a:srgbClr val="2E2E2E"/>
                </a:solidFill>
                <a:latin typeface="Calibri"/>
              </a:rPr>
              <a:t>The natural segment is expected to lose 164 BPS over the forecast period to account for 31.4% share by 2036.</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Finish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Finish,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Growth,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5050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Heatmap, By Finish (%)  ·  light = lower, dark = higher growth</a:t>
            </a:r>
          </a:p>
        </p:txBody>
      </p:sp>
      <p:sp>
        <p:nvSpPr>
          <p:cNvPr id="17" name="TextBox 16"/>
          <p:cNvSpPr txBox="1"/>
          <p:nvPr/>
        </p:nvSpPr>
        <p:spPr>
          <a:xfrm>
            <a:off x="115183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84276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53368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22461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91553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60646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29739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98831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67924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37016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806109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75202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44294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3387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2479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28765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Matte</a:t>
            </a:r>
          </a:p>
        </p:txBody>
      </p:sp>
      <p:sp>
        <p:nvSpPr>
          <p:cNvPr id="33" name="Rectangle 32"/>
          <p:cNvSpPr/>
          <p:nvPr/>
        </p:nvSpPr>
        <p:spPr>
          <a:xfrm>
            <a:off x="1151835" y="2876550"/>
            <a:ext cx="690926" cy="1231900"/>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842761" y="2876550"/>
            <a:ext cx="690926" cy="123190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533687" y="2876550"/>
            <a:ext cx="690926" cy="1231900"/>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224613" y="2876550"/>
            <a:ext cx="690926" cy="1231900"/>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15539" y="2876550"/>
            <a:ext cx="690926" cy="123190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06465" y="2876550"/>
            <a:ext cx="690926" cy="123190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297391" y="2876550"/>
            <a:ext cx="690926" cy="1231900"/>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988317" y="2876550"/>
            <a:ext cx="690926" cy="1231900"/>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679243" y="2876550"/>
            <a:ext cx="690926" cy="1231900"/>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370169" y="2876550"/>
            <a:ext cx="690926" cy="1231900"/>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61095" y="2876550"/>
            <a:ext cx="690926" cy="1231900"/>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52021" y="2876550"/>
            <a:ext cx="690926" cy="1231900"/>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42947" y="2876550"/>
            <a:ext cx="690926" cy="1231900"/>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33873" y="2876550"/>
            <a:ext cx="690926" cy="1231900"/>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24799" y="2876550"/>
            <a:ext cx="690926" cy="1231900"/>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084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Natural</a:t>
            </a:r>
          </a:p>
        </p:txBody>
      </p:sp>
      <p:sp>
        <p:nvSpPr>
          <p:cNvPr id="49" name="Rectangle 48"/>
          <p:cNvSpPr/>
          <p:nvPr/>
        </p:nvSpPr>
        <p:spPr>
          <a:xfrm>
            <a:off x="1151835" y="4108450"/>
            <a:ext cx="690926" cy="123190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842761" y="4108450"/>
            <a:ext cx="690926" cy="12319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533687" y="4108450"/>
            <a:ext cx="690926" cy="1231900"/>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224613" y="4108450"/>
            <a:ext cx="690926" cy="123190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15539" y="4108450"/>
            <a:ext cx="690926" cy="123190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06465" y="4108450"/>
            <a:ext cx="690926" cy="123190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297391" y="4108450"/>
            <a:ext cx="690926" cy="123190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988317" y="4108450"/>
            <a:ext cx="690926" cy="1231900"/>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679243" y="4108450"/>
            <a:ext cx="690926" cy="1231900"/>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370169" y="4108450"/>
            <a:ext cx="690926" cy="1231900"/>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61095" y="4108450"/>
            <a:ext cx="690926" cy="1231900"/>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52021" y="4108450"/>
            <a:ext cx="690926" cy="1231900"/>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42947" y="4108450"/>
            <a:ext cx="690926" cy="1231900"/>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33873" y="4108450"/>
            <a:ext cx="690926" cy="1231900"/>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24799" y="4108450"/>
            <a:ext cx="690926" cy="1231900"/>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403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Glossy or Wet-look</a:t>
            </a:r>
          </a:p>
        </p:txBody>
      </p:sp>
      <p:sp>
        <p:nvSpPr>
          <p:cNvPr id="65" name="Rectangle 64"/>
          <p:cNvSpPr/>
          <p:nvPr/>
        </p:nvSpPr>
        <p:spPr>
          <a:xfrm>
            <a:off x="1151835" y="5340350"/>
            <a:ext cx="690926" cy="1231900"/>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842761" y="5340350"/>
            <a:ext cx="690926" cy="123190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533687" y="5340350"/>
            <a:ext cx="690926" cy="12319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224613" y="5340350"/>
            <a:ext cx="690926" cy="123190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15539" y="5340350"/>
            <a:ext cx="690926" cy="1231900"/>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06465" y="5340350"/>
            <a:ext cx="690926" cy="123190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297391" y="5340350"/>
            <a:ext cx="690926" cy="123190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988317" y="5340350"/>
            <a:ext cx="690926" cy="1231900"/>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679243" y="5340350"/>
            <a:ext cx="690926" cy="1231900"/>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370169" y="5340350"/>
            <a:ext cx="690926" cy="1231900"/>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61095" y="5340350"/>
            <a:ext cx="690926" cy="1231900"/>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52021" y="5340350"/>
            <a:ext cx="690926" cy="1231900"/>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42947" y="5340350"/>
            <a:ext cx="690926" cy="1231900"/>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33873" y="5340350"/>
            <a:ext cx="690926" cy="12319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24799" y="5340350"/>
            <a:ext cx="690926" cy="1231900"/>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2914650"/>
            <a:ext cx="104775" cy="98108"/>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005138"/>
            <a:ext cx="104775" cy="98108"/>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095625"/>
            <a:ext cx="104775" cy="98108"/>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186112"/>
            <a:ext cx="104775" cy="98108"/>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276600"/>
            <a:ext cx="104775" cy="98108"/>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367088"/>
            <a:ext cx="104775" cy="98108"/>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457575"/>
            <a:ext cx="104775" cy="98108"/>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548062"/>
            <a:ext cx="104775" cy="98108"/>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638550"/>
            <a:ext cx="104775" cy="98108"/>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729038"/>
            <a:ext cx="104775" cy="98108"/>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819525"/>
            <a:ext cx="104775" cy="98108"/>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10012"/>
            <a:ext cx="104775" cy="98108"/>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00500"/>
            <a:ext cx="104775" cy="98108"/>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090988"/>
            <a:ext cx="104775" cy="98108"/>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181475"/>
            <a:ext cx="104775" cy="98108"/>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271962"/>
            <a:ext cx="104775" cy="98108"/>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362450"/>
            <a:ext cx="104775" cy="98108"/>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452938"/>
            <a:ext cx="104775" cy="98108"/>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543425"/>
            <a:ext cx="104775" cy="98108"/>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33912"/>
            <a:ext cx="104775" cy="98108"/>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24400"/>
            <a:ext cx="104775" cy="98108"/>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14888"/>
            <a:ext cx="104775" cy="98108"/>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05375"/>
            <a:ext cx="104775" cy="98108"/>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4995862"/>
            <a:ext cx="104775" cy="98108"/>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086350"/>
            <a:ext cx="104775" cy="98108"/>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176838"/>
            <a:ext cx="104775" cy="98108"/>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267325"/>
            <a:ext cx="104775" cy="98108"/>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57812"/>
            <a:ext cx="104775" cy="98108"/>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48300"/>
            <a:ext cx="104775" cy="98108"/>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38788"/>
            <a:ext cx="104775" cy="98108"/>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29275"/>
            <a:ext cx="104775" cy="98108"/>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19762"/>
            <a:ext cx="104775" cy="98108"/>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10250"/>
            <a:ext cx="104775" cy="98108"/>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00738"/>
            <a:ext cx="104775" cy="98108"/>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5991225"/>
            <a:ext cx="104775" cy="98108"/>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81712"/>
            <a:ext cx="104775" cy="98108"/>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72200"/>
            <a:ext cx="104775" cy="98108"/>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62688"/>
            <a:ext cx="104775" cy="98108"/>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3175"/>
            <a:ext cx="104775" cy="98108"/>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3662"/>
            <a:ext cx="104775" cy="98108"/>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2914650"/>
            <a:ext cx="104775" cy="36195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84797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22" name="TextBox 121"/>
          <p:cNvSpPr txBox="1"/>
          <p:nvPr/>
        </p:nvSpPr>
        <p:spPr>
          <a:xfrm>
            <a:off x="11687175" y="46577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19.4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Marketplaces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824.2</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1,773</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8.0%</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Mass Retail</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759.8</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1,240</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5.0%</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Salon and Professional Distributi…</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716.8</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1,303</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6.2%</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distribution channel, online marketplaces segment is expected to witness the highest CAGR of 8.0% over the forecast period. In terms of value share by distribution channel, the online marketplaces segment is expected to dominate the market, gaining 281 BPS and accounting for 22.8% share by 2036.</a:t>
            </a:r>
          </a:p>
          <a:p>
            <a:pPr algn="l">
              <a:lnSpc>
                <a:spcPct val="110000"/>
              </a:lnSpc>
              <a:spcBef>
                <a:spcPts val="0"/>
              </a:spcBef>
              <a:spcAft>
                <a:spcPts val="500"/>
              </a:spcAft>
            </a:pPr>
            <a:r>
              <a:rPr sz="1100" b="0">
                <a:solidFill>
                  <a:srgbClr val="2E2E2E"/>
                </a:solidFill>
                <a:latin typeface="Calibri"/>
              </a:rPr>
              <a:t>Online marketplaces segment is projected to register 1.4X higher value than salon and professional distribution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Online Marketplaces: </a:t>
            </a:r>
            <a:r>
              <a:rPr sz="1100" b="0">
                <a:solidFill>
                  <a:srgbClr val="2E2E2E"/>
                </a:solidFill>
                <a:latin typeface="Calibri"/>
              </a:rPr>
              <a:t>20% of 2026 value · 8.0%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Mass Retail: </a:t>
            </a:r>
            <a:r>
              <a:rPr sz="1100" b="0">
                <a:solidFill>
                  <a:srgbClr val="2E2E2E"/>
                </a:solidFill>
                <a:latin typeface="Calibri"/>
              </a:rPr>
              <a:t>18% of 2026 value · 5.0%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Salon and Professional Distribution: </a:t>
            </a:r>
            <a:r>
              <a:rPr sz="1100" b="0">
                <a:solidFill>
                  <a:srgbClr val="2E2E2E"/>
                </a:solidFill>
                <a:latin typeface="Calibri"/>
              </a:rPr>
              <a:t>17% of 2026 value · 6.2% CAGR serves a niche.</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Distribution Channel segment is projected to grow at a CAGR of 6.5%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Beauty Specialty Retail</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653.3</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1,261</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6.8%</a:t>
            </a:r>
          </a:p>
        </p:txBody>
      </p:sp>
      <p:sp>
        <p:nvSpPr>
          <p:cNvPr id="25" name="Oval 24"/>
          <p:cNvSpPr/>
          <p:nvPr/>
        </p:nvSpPr>
        <p:spPr>
          <a:xfrm>
            <a:off x="333375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26" name="Rounded Rectangle 25"/>
          <p:cNvSpPr/>
          <p:nvPr/>
        </p:nvSpPr>
        <p:spPr>
          <a:xfrm>
            <a:off x="523875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Pharmacies and Drugstores</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609.2</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1,050</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5.6%</a:t>
            </a:r>
          </a:p>
        </p:txBody>
      </p:sp>
      <p:sp>
        <p:nvSpPr>
          <p:cNvPr id="32" name="Oval 31"/>
          <p:cNvSpPr/>
          <p:nvPr/>
        </p:nvSpPr>
        <p:spPr>
          <a:xfrm>
            <a:off x="670560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33" name="Rounded Rectangle 32"/>
          <p:cNvSpPr/>
          <p:nvPr/>
        </p:nvSpPr>
        <p:spPr>
          <a:xfrm>
            <a:off x="861060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Brand-owned Online Stores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565.3</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1,154</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7.4%</a:t>
            </a:r>
          </a:p>
        </p:txBody>
      </p:sp>
      <p:sp>
        <p:nvSpPr>
          <p:cNvPr id="39" name="Oval 38"/>
          <p:cNvSpPr/>
          <p:nvPr/>
        </p:nvSpPr>
        <p:spPr>
          <a:xfrm>
            <a:off x="1007745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Beauty Specialty Retail: </a:t>
            </a:r>
            <a:r>
              <a:rPr sz="1100" b="0">
                <a:solidFill>
                  <a:srgbClr val="2E2E2E"/>
                </a:solidFill>
                <a:latin typeface="Calibri"/>
              </a:rPr>
              <a:t>16% of 2026 value · 6.8%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Pharmacies and Drugstores: </a:t>
            </a:r>
            <a:r>
              <a:rPr sz="1100" b="0">
                <a:solidFill>
                  <a:srgbClr val="2E2E2E"/>
                </a:solidFill>
                <a:latin typeface="Calibri"/>
              </a:rPr>
              <a:t>15% of 2026 value · 5.6%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Brand-owned Online Stores: </a:t>
            </a:r>
            <a:r>
              <a:rPr sz="1100" b="0">
                <a:solidFill>
                  <a:srgbClr val="2E2E2E"/>
                </a:solidFill>
                <a:latin typeface="Calibri"/>
              </a:rPr>
              <a:t>14% of 2026 value · 7.4% CAGR serves a niche.</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Online marketplaces followed by beauty specialty retail are expected to be the two most attractive distribution channel segments in the East Asia hair styling products market in terms of value over the forecast period. Online marketplaces and beauty specialty retail exhibit a CAGR index of 121.6 and 103.9 and a market share index of 119.8 and 94.9 respectively, against the segment average of 100. The pharmacies and drugstores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Distribution Channel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Mass Retail</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Beauty Specialty Retail</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Salon and Professional Distribution</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Pharmacies and Drugstores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Distribution Channel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Online Marketplaces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Brand-owned Online Stores</a:t>
            </a:r>
          </a:p>
        </p:txBody>
      </p:sp>
      <p:graphicFrame>
        <p:nvGraphicFramePr>
          <p:cNvPr id="15" name="Chart 14"/>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East Asia Absolute $ Opportunity Analysis, By Distribution Channel</a:t>
            </a:r>
          </a:p>
        </p:txBody>
      </p:sp>
      <p:sp>
        <p:nvSpPr>
          <p:cNvPr id="18" name="Rectangle 17"/>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online marketplaces segment is anticipated to witness an increase of 2.2X in terms of value as compared to 2026. The online marketplaces segment is expected to create an incremental opportunity of US$ 948.3 Mn for the overall hair styling products market from 2026 to 2036.</a:t>
            </a:r>
          </a:p>
          <a:p>
            <a:pPr algn="l">
              <a:lnSpc>
                <a:spcPct val="110000"/>
              </a:lnSpc>
              <a:spcBef>
                <a:spcPts val="0"/>
              </a:spcBef>
              <a:spcAft>
                <a:spcPts val="500"/>
              </a:spcAft>
            </a:pPr>
            <a:r>
              <a:rPr sz="1150" b="0">
                <a:solidFill>
                  <a:srgbClr val="2E2E2E"/>
                </a:solidFill>
                <a:latin typeface="Calibri"/>
              </a:rPr>
              <a:t>The beauty specialty retail segment is expected to create an incremental opportunity of US$ 608.1 Mn for the overall hair styling products market from 2026 to 2036. The brand-owned online stores segment is expected to create an incremental opportunity of US$ 589.1 Mn for the overall hair styling products market from 2026 to 2036.</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Distribution Channel (US$ Mn)</a:t>
            </a:r>
          </a:p>
        </p:txBody>
      </p:sp>
      <p:graphicFrame>
        <p:nvGraphicFramePr>
          <p:cNvPr id="13" name="Table 12"/>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Analysis, By Distribution Channel</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Online marketplaces segment is projected to register 1.4X higher value than salon and professional distribution segment in 2036. Among hair styling products by distribution channel, online marketplaces segment is expected to witness the highest CAGR of 8.0% over the forecast period.</a:t>
            </a:r>
          </a:p>
          <a:p>
            <a:pPr algn="l">
              <a:lnSpc>
                <a:spcPct val="110000"/>
              </a:lnSpc>
              <a:spcBef>
                <a:spcPts val="0"/>
              </a:spcBef>
              <a:spcAft>
                <a:spcPts val="500"/>
              </a:spcAft>
            </a:pPr>
            <a:r>
              <a:rPr sz="1150" b="0">
                <a:solidFill>
                  <a:srgbClr val="2E2E2E"/>
                </a:solidFill>
                <a:latin typeface="Calibri"/>
              </a:rPr>
              <a:t>In terms of value share by distribution channel, the online marketplaces segment is expected to dominate the market, gaining 281 BPS and accounting for 22.8% share by 2036. The mass retail segment is expected to lose 247 BPS over the forecast period to account for 15.9%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Composition, By Distribution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79856"/>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7509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9889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Pharmacies and Drugstores</a:t>
            </a:r>
          </a:p>
        </p:txBody>
      </p:sp>
      <p:sp>
        <p:nvSpPr>
          <p:cNvPr id="19" name="BPS Value 1"/>
          <p:cNvSpPr txBox="1"/>
          <p:nvPr/>
        </p:nvSpPr>
        <p:spPr>
          <a:xfrm>
            <a:off x="6896100" y="1960806"/>
            <a:ext cx="514350" cy="123825"/>
          </a:xfrm>
          <a:prstGeom prst="rect">
            <a:avLst/>
          </a:prstGeom>
          <a:noFill/>
        </p:spPr>
        <p:txBody>
          <a:bodyPr wrap="none" lIns="0" rIns="0" tIns="0" bIns="0" anchor="ctr">
            <a:spAutoFit/>
          </a:bodyPr>
          <a:lstStyle/>
          <a:p>
            <a:pPr algn="r"/>
            <a:r>
              <a:rPr sz="900" b="1">
                <a:solidFill>
                  <a:srgbClr val="E44D3A"/>
                </a:solidFill>
                <a:latin typeface="Calibri"/>
              </a:rPr>
              <a:t>-126</a:t>
            </a:r>
          </a:p>
        </p:txBody>
      </p:sp>
      <p:sp>
        <p:nvSpPr>
          <p:cNvPr id="20" name="FMI Legend Chip"/>
          <p:cNvSpPr/>
          <p:nvPr/>
        </p:nvSpPr>
        <p:spPr>
          <a:xfrm>
            <a:off x="4928997" y="2627601"/>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62283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54663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Brand-owned Online Stores</a:t>
            </a:r>
          </a:p>
        </p:txBody>
      </p:sp>
      <p:sp>
        <p:nvSpPr>
          <p:cNvPr id="23" name="BPS Value 2"/>
          <p:cNvSpPr txBox="1"/>
          <p:nvPr/>
        </p:nvSpPr>
        <p:spPr>
          <a:xfrm>
            <a:off x="6896100" y="2608551"/>
            <a:ext cx="514350" cy="123825"/>
          </a:xfrm>
          <a:prstGeom prst="rect">
            <a:avLst/>
          </a:prstGeom>
          <a:noFill/>
        </p:spPr>
        <p:txBody>
          <a:bodyPr wrap="none" lIns="0" rIns="0" tIns="0" bIns="0" anchor="ctr">
            <a:spAutoFit/>
          </a:bodyPr>
          <a:lstStyle/>
          <a:p>
            <a:pPr algn="r"/>
            <a:r>
              <a:rPr sz="900" b="1">
                <a:solidFill>
                  <a:srgbClr val="2E7D32"/>
                </a:solidFill>
                <a:latin typeface="Calibri"/>
              </a:rPr>
              <a:t>+114</a:t>
            </a:r>
          </a:p>
        </p:txBody>
      </p:sp>
      <p:sp>
        <p:nvSpPr>
          <p:cNvPr id="24" name="FMI Legend Chip"/>
          <p:cNvSpPr/>
          <p:nvPr/>
        </p:nvSpPr>
        <p:spPr>
          <a:xfrm>
            <a:off x="4928997" y="333093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32617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24997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Mass Retail</a:t>
            </a:r>
          </a:p>
        </p:txBody>
      </p:sp>
      <p:sp>
        <p:nvSpPr>
          <p:cNvPr id="27" name="BPS Value 3"/>
          <p:cNvSpPr txBox="1"/>
          <p:nvPr/>
        </p:nvSpPr>
        <p:spPr>
          <a:xfrm>
            <a:off x="6896100" y="3311885"/>
            <a:ext cx="514350" cy="123825"/>
          </a:xfrm>
          <a:prstGeom prst="rect">
            <a:avLst/>
          </a:prstGeom>
          <a:noFill/>
        </p:spPr>
        <p:txBody>
          <a:bodyPr wrap="none" lIns="0" rIns="0" tIns="0" bIns="0" anchor="ctr">
            <a:spAutoFit/>
          </a:bodyPr>
          <a:lstStyle/>
          <a:p>
            <a:pPr algn="r"/>
            <a:r>
              <a:rPr sz="900" b="1">
                <a:solidFill>
                  <a:srgbClr val="E44D3A"/>
                </a:solidFill>
                <a:latin typeface="Calibri"/>
              </a:rPr>
              <a:t>-247</a:t>
            </a:r>
          </a:p>
        </p:txBody>
      </p:sp>
      <p:sp>
        <p:nvSpPr>
          <p:cNvPr id="28" name="FMI Legend Chip"/>
          <p:cNvSpPr/>
          <p:nvPr/>
        </p:nvSpPr>
        <p:spPr>
          <a:xfrm>
            <a:off x="4928997" y="406570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406094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98474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Beauty Specialty Retail</a:t>
            </a:r>
          </a:p>
        </p:txBody>
      </p:sp>
      <p:sp>
        <p:nvSpPr>
          <p:cNvPr id="31" name="BPS Value 4"/>
          <p:cNvSpPr txBox="1"/>
          <p:nvPr/>
        </p:nvSpPr>
        <p:spPr>
          <a:xfrm>
            <a:off x="6896100" y="4046656"/>
            <a:ext cx="514350" cy="123825"/>
          </a:xfrm>
          <a:prstGeom prst="rect">
            <a:avLst/>
          </a:prstGeom>
          <a:noFill/>
        </p:spPr>
        <p:txBody>
          <a:bodyPr wrap="none" lIns="0" rIns="0" tIns="0" bIns="0" anchor="ctr">
            <a:spAutoFit/>
          </a:bodyPr>
          <a:lstStyle/>
          <a:p>
            <a:pPr algn="r"/>
            <a:r>
              <a:rPr sz="900" b="1">
                <a:solidFill>
                  <a:srgbClr val="2E7D32"/>
                </a:solidFill>
                <a:latin typeface="Calibri"/>
              </a:rPr>
              <a:t>+39</a:t>
            </a:r>
          </a:p>
        </p:txBody>
      </p:sp>
      <p:sp>
        <p:nvSpPr>
          <p:cNvPr id="32" name="FMI Legend Chip"/>
          <p:cNvSpPr/>
          <p:nvPr/>
        </p:nvSpPr>
        <p:spPr>
          <a:xfrm>
            <a:off x="4928997" y="481921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481445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73825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Salon and Professional Distribution</a:t>
            </a:r>
          </a:p>
        </p:txBody>
      </p:sp>
      <p:sp>
        <p:nvSpPr>
          <p:cNvPr id="35" name="BPS Value 5"/>
          <p:cNvSpPr txBox="1"/>
          <p:nvPr/>
        </p:nvSpPr>
        <p:spPr>
          <a:xfrm>
            <a:off x="6896100" y="4800162"/>
            <a:ext cx="514350" cy="123825"/>
          </a:xfrm>
          <a:prstGeom prst="rect">
            <a:avLst/>
          </a:prstGeom>
          <a:noFill/>
        </p:spPr>
        <p:txBody>
          <a:bodyPr wrap="none" lIns="0" rIns="0" tIns="0" bIns="0" anchor="ctr">
            <a:spAutoFit/>
          </a:bodyPr>
          <a:lstStyle/>
          <a:p>
            <a:pPr algn="r"/>
            <a:r>
              <a:rPr sz="900" b="1">
                <a:solidFill>
                  <a:srgbClr val="E44D3A"/>
                </a:solidFill>
                <a:latin typeface="Calibri"/>
              </a:rPr>
              <a:t>-61</a:t>
            </a:r>
          </a:p>
        </p:txBody>
      </p:sp>
      <p:sp>
        <p:nvSpPr>
          <p:cNvPr id="36" name="FMI Legend Chip"/>
          <p:cNvSpPr/>
          <p:nvPr/>
        </p:nvSpPr>
        <p:spPr>
          <a:xfrm>
            <a:off x="4928997" y="572288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71812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64192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Marketplaces</a:t>
            </a:r>
          </a:p>
        </p:txBody>
      </p:sp>
      <p:sp>
        <p:nvSpPr>
          <p:cNvPr id="39" name="BPS Value 6"/>
          <p:cNvSpPr txBox="1"/>
          <p:nvPr/>
        </p:nvSpPr>
        <p:spPr>
          <a:xfrm>
            <a:off x="6896100" y="5703837"/>
            <a:ext cx="514350" cy="123825"/>
          </a:xfrm>
          <a:prstGeom prst="rect">
            <a:avLst/>
          </a:prstGeom>
          <a:noFill/>
        </p:spPr>
        <p:txBody>
          <a:bodyPr wrap="none" lIns="0" rIns="0" tIns="0" bIns="0" anchor="ctr">
            <a:spAutoFit/>
          </a:bodyPr>
          <a:lstStyle/>
          <a:p>
            <a:pPr algn="r"/>
            <a:r>
              <a:rPr sz="900" b="1">
                <a:solidFill>
                  <a:srgbClr val="2E7D32"/>
                </a:solidFill>
                <a:latin typeface="Calibri"/>
              </a:rPr>
              <a:t>+281</a:t>
            </a:r>
          </a:p>
        </p:txBody>
      </p:sp>
      <p:sp>
        <p:nvSpPr>
          <p:cNvPr id="40" name="Rounded Rectangle 3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East Asia Read-out, By Distribution Channel</a:t>
            </a:r>
          </a:p>
        </p:txBody>
      </p:sp>
      <p:sp>
        <p:nvSpPr>
          <p:cNvPr id="42" name="Rectangle 41"/>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distribution channel, online marketplaces segment is expected to witness the highest CAGR of 8.0% over the forecast period. In terms of value share by distribution channel, the online marketplaces segment is expected to dominate the market, gaining 281 BPS and accounting for 22.8% share by 2036.</a:t>
            </a:r>
          </a:p>
          <a:p>
            <a:pPr algn="l">
              <a:lnSpc>
                <a:spcPct val="110000"/>
              </a:lnSpc>
              <a:spcBef>
                <a:spcPts val="0"/>
              </a:spcBef>
              <a:spcAft>
                <a:spcPts val="500"/>
              </a:spcAft>
            </a:pPr>
            <a:r>
              <a:rPr sz="1150" b="0">
                <a:solidFill>
                  <a:srgbClr val="2E2E2E"/>
                </a:solidFill>
                <a:latin typeface="Calibri"/>
              </a:rPr>
              <a:t>The mass retail segment is expected to lose 247 BPS over the forecast period to account for 15.9% share by 2036.</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527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Heatmap, By Distribution Channel (%)  ·  light = lower, dark = higher growth</a:t>
            </a:r>
          </a:p>
        </p:txBody>
      </p:sp>
      <p:sp>
        <p:nvSpPr>
          <p:cNvPr id="17" name="TextBox 16"/>
          <p:cNvSpPr txBox="1"/>
          <p:nvPr/>
        </p:nvSpPr>
        <p:spPr>
          <a:xfrm>
            <a:off x="185233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49655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078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501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2923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346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1768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1915"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614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036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459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3882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304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27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49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52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Mass Retail</a:t>
            </a:r>
          </a:p>
        </p:txBody>
      </p:sp>
      <p:sp>
        <p:nvSpPr>
          <p:cNvPr id="33" name="Rectangle 32"/>
          <p:cNvSpPr/>
          <p:nvPr/>
        </p:nvSpPr>
        <p:spPr>
          <a:xfrm>
            <a:off x="1852331" y="3524250"/>
            <a:ext cx="644226" cy="508000"/>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496557" y="3524250"/>
            <a:ext cx="644226" cy="508000"/>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0784" y="3524250"/>
            <a:ext cx="644226" cy="50800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5010" y="3524250"/>
            <a:ext cx="644226" cy="508000"/>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29236" y="3524250"/>
            <a:ext cx="644226" cy="508000"/>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3462" y="3524250"/>
            <a:ext cx="644226" cy="50800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17689" y="3524250"/>
            <a:ext cx="644226" cy="50800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1915" y="3524250"/>
            <a:ext cx="644226" cy="508000"/>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6141" y="3524250"/>
            <a:ext cx="644226" cy="50800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0367" y="3524250"/>
            <a:ext cx="644226" cy="50800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4594" y="3524250"/>
            <a:ext cx="644226" cy="508000"/>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38820" y="3524250"/>
            <a:ext cx="644226" cy="508000"/>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3046" y="3524250"/>
            <a:ext cx="644226" cy="50800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272" y="3524250"/>
            <a:ext cx="644226" cy="50800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499" y="3524250"/>
            <a:ext cx="644226" cy="508000"/>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32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Beauty Specialty Retail</a:t>
            </a:r>
          </a:p>
        </p:txBody>
      </p:sp>
      <p:sp>
        <p:nvSpPr>
          <p:cNvPr id="49" name="Rectangle 48"/>
          <p:cNvSpPr/>
          <p:nvPr/>
        </p:nvSpPr>
        <p:spPr>
          <a:xfrm>
            <a:off x="1852331" y="4032250"/>
            <a:ext cx="644226" cy="50800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496557" y="4032250"/>
            <a:ext cx="644226" cy="50800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0784" y="4032250"/>
            <a:ext cx="644226" cy="508000"/>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5010" y="4032250"/>
            <a:ext cx="644226" cy="50800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29236" y="4032250"/>
            <a:ext cx="644226" cy="508000"/>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3462" y="4032250"/>
            <a:ext cx="644226" cy="50800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17689" y="4032250"/>
            <a:ext cx="644226" cy="508000"/>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1915" y="4032250"/>
            <a:ext cx="644226" cy="508000"/>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6141" y="4032250"/>
            <a:ext cx="644226" cy="508000"/>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0367" y="4032250"/>
            <a:ext cx="644226" cy="508000"/>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4594" y="4032250"/>
            <a:ext cx="644226" cy="508000"/>
          </a:xfrm>
          <a:prstGeom prst="rect">
            <a:avLst/>
          </a:prstGeom>
          <a:solidFill>
            <a:srgbClr val="44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38820" y="4032250"/>
            <a:ext cx="644226" cy="508000"/>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3046" y="4032250"/>
            <a:ext cx="644226" cy="508000"/>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272" y="4032250"/>
            <a:ext cx="644226" cy="508000"/>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499" y="4032250"/>
            <a:ext cx="644226" cy="508000"/>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0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Salon and Professional Distribution</a:t>
            </a:r>
          </a:p>
        </p:txBody>
      </p:sp>
      <p:sp>
        <p:nvSpPr>
          <p:cNvPr id="65" name="Rectangle 64"/>
          <p:cNvSpPr/>
          <p:nvPr/>
        </p:nvSpPr>
        <p:spPr>
          <a:xfrm>
            <a:off x="1852331" y="4540250"/>
            <a:ext cx="644226" cy="508000"/>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496557" y="4540250"/>
            <a:ext cx="644226" cy="50800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0784" y="4540250"/>
            <a:ext cx="644226" cy="508000"/>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5010" y="4540250"/>
            <a:ext cx="644226" cy="50800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29236" y="4540250"/>
            <a:ext cx="644226" cy="50800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3462" y="4540250"/>
            <a:ext cx="644226" cy="50800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17689" y="4540250"/>
            <a:ext cx="644226" cy="50800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1915" y="4540250"/>
            <a:ext cx="644226" cy="508000"/>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6141" y="4540250"/>
            <a:ext cx="644226" cy="508000"/>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0367" y="4540250"/>
            <a:ext cx="644226" cy="508000"/>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4594" y="4540250"/>
            <a:ext cx="644226" cy="508000"/>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38820" y="4540250"/>
            <a:ext cx="644226" cy="508000"/>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3046" y="4540250"/>
            <a:ext cx="644226" cy="508000"/>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272" y="4540250"/>
            <a:ext cx="644226" cy="508000"/>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499" y="4540250"/>
            <a:ext cx="644226" cy="508000"/>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48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Pharmacies and Drugstores</a:t>
            </a:r>
          </a:p>
        </p:txBody>
      </p:sp>
      <p:sp>
        <p:nvSpPr>
          <p:cNvPr id="81" name="Rectangle 80"/>
          <p:cNvSpPr/>
          <p:nvPr/>
        </p:nvSpPr>
        <p:spPr>
          <a:xfrm>
            <a:off x="1852331" y="5048250"/>
            <a:ext cx="644226" cy="508000"/>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496557" y="5048250"/>
            <a:ext cx="644226" cy="508000"/>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0784" y="5048250"/>
            <a:ext cx="644226" cy="508000"/>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5010" y="5048250"/>
            <a:ext cx="644226" cy="508000"/>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29236" y="5048250"/>
            <a:ext cx="644226" cy="508000"/>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3462" y="5048250"/>
            <a:ext cx="644226" cy="50800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17689" y="5048250"/>
            <a:ext cx="644226" cy="508000"/>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1915" y="5048250"/>
            <a:ext cx="644226" cy="50800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6141" y="5048250"/>
            <a:ext cx="644226" cy="50800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0367" y="5048250"/>
            <a:ext cx="644226" cy="50800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4594" y="5048250"/>
            <a:ext cx="644226" cy="50800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38820" y="5048250"/>
            <a:ext cx="644226" cy="50800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3046" y="5048250"/>
            <a:ext cx="644226" cy="50800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272" y="5048250"/>
            <a:ext cx="644226" cy="50800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499" y="5048250"/>
            <a:ext cx="644226" cy="50800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556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Online Marketplaces</a:t>
            </a:r>
          </a:p>
        </p:txBody>
      </p:sp>
      <p:sp>
        <p:nvSpPr>
          <p:cNvPr id="97" name="Rectangle 96"/>
          <p:cNvSpPr/>
          <p:nvPr/>
        </p:nvSpPr>
        <p:spPr>
          <a:xfrm>
            <a:off x="1852331" y="5556250"/>
            <a:ext cx="644226" cy="5080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496557" y="5556250"/>
            <a:ext cx="644226" cy="50800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0784" y="5556250"/>
            <a:ext cx="644226" cy="5080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5010" y="5556250"/>
            <a:ext cx="644226" cy="50800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29236" y="5556250"/>
            <a:ext cx="644226" cy="50800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3462" y="5556250"/>
            <a:ext cx="644226" cy="50800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17689" y="5556250"/>
            <a:ext cx="644226" cy="508000"/>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1915" y="5556250"/>
            <a:ext cx="644226" cy="508000"/>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6141" y="5556250"/>
            <a:ext cx="644226" cy="508000"/>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0367" y="5556250"/>
            <a:ext cx="644226" cy="508000"/>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4594" y="5556250"/>
            <a:ext cx="644226" cy="5080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38820" y="5556250"/>
            <a:ext cx="644226" cy="508000"/>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3046" y="5556250"/>
            <a:ext cx="644226" cy="508000"/>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272" y="5556250"/>
            <a:ext cx="644226" cy="508000"/>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499" y="5556250"/>
            <a:ext cx="644226" cy="508000"/>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6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Brand-owned Online Stores</a:t>
            </a:r>
          </a:p>
        </p:txBody>
      </p:sp>
      <p:sp>
        <p:nvSpPr>
          <p:cNvPr id="113" name="Rectangle 112"/>
          <p:cNvSpPr/>
          <p:nvPr/>
        </p:nvSpPr>
        <p:spPr>
          <a:xfrm>
            <a:off x="1852331" y="6064250"/>
            <a:ext cx="644226" cy="508000"/>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496557" y="6064250"/>
            <a:ext cx="644226" cy="50800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0784" y="6064250"/>
            <a:ext cx="644226" cy="508000"/>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5010" y="6064250"/>
            <a:ext cx="644226" cy="5080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29236" y="6064250"/>
            <a:ext cx="644226" cy="508000"/>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3462" y="6064250"/>
            <a:ext cx="644226" cy="50800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17689" y="6064250"/>
            <a:ext cx="644226" cy="508000"/>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1915" y="6064250"/>
            <a:ext cx="644226" cy="508000"/>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6141" y="6064250"/>
            <a:ext cx="644226" cy="508000"/>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0367" y="6064250"/>
            <a:ext cx="644226" cy="508000"/>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4594" y="6064250"/>
            <a:ext cx="644226" cy="508000"/>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38820" y="6064250"/>
            <a:ext cx="644226" cy="508000"/>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3046" y="6064250"/>
            <a:ext cx="644226" cy="508000"/>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272" y="6064250"/>
            <a:ext cx="644226" cy="508000"/>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499" y="6064250"/>
            <a:ext cx="644226" cy="508000"/>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562350"/>
            <a:ext cx="104775" cy="8191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636645"/>
            <a:ext cx="104775" cy="8191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710940"/>
            <a:ext cx="104775" cy="8191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785235"/>
            <a:ext cx="104775" cy="8191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3859530"/>
            <a:ext cx="104775" cy="8191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3933825"/>
            <a:ext cx="104775" cy="8191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008120"/>
            <a:ext cx="104775" cy="8191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082415"/>
            <a:ext cx="104775" cy="8191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156710"/>
            <a:ext cx="104775" cy="8191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231005"/>
            <a:ext cx="104775" cy="8191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305300"/>
            <a:ext cx="104775" cy="8191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379595"/>
            <a:ext cx="104775" cy="8191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453890"/>
            <a:ext cx="104775" cy="8191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528185"/>
            <a:ext cx="104775" cy="8191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602480"/>
            <a:ext cx="104775" cy="8191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676775"/>
            <a:ext cx="104775" cy="8191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751070"/>
            <a:ext cx="104775" cy="8191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825365"/>
            <a:ext cx="104775" cy="8191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899660"/>
            <a:ext cx="104775" cy="8191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973955"/>
            <a:ext cx="104775" cy="8191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048250"/>
            <a:ext cx="104775" cy="8191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122545"/>
            <a:ext cx="104775" cy="8191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196840"/>
            <a:ext cx="104775" cy="8191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271135"/>
            <a:ext cx="104775" cy="8191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345430"/>
            <a:ext cx="104775" cy="8191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19725"/>
            <a:ext cx="104775" cy="8191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494020"/>
            <a:ext cx="104775" cy="8191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568315"/>
            <a:ext cx="104775" cy="8191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642610"/>
            <a:ext cx="104775" cy="8191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16905"/>
            <a:ext cx="104775" cy="8191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791200"/>
            <a:ext cx="104775" cy="8191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865495"/>
            <a:ext cx="104775" cy="8191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39790"/>
            <a:ext cx="104775" cy="8191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14085"/>
            <a:ext cx="104775" cy="8191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088380"/>
            <a:ext cx="104775" cy="8191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62675"/>
            <a:ext cx="104775" cy="8191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36970"/>
            <a:ext cx="104775" cy="8191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11265"/>
            <a:ext cx="104775" cy="8191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85560"/>
            <a:ext cx="104775" cy="8191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59855"/>
            <a:ext cx="104775" cy="8191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562350"/>
            <a:ext cx="104775" cy="29718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49567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70" name="TextBox 169"/>
          <p:cNvSpPr txBox="1"/>
          <p:nvPr/>
        </p:nvSpPr>
        <p:spPr>
          <a:xfrm>
            <a:off x="11687175" y="498157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19.5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Primary Styling Benefit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Primary Styling Benefit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Primary Styling Benefit,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Primary Styling Benefit segment categorizes the market by primary styling benefit.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330779"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330779"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Smoothing and Frizz Control</a:t>
            </a:r>
          </a:p>
        </p:txBody>
      </p:sp>
      <p:sp>
        <p:nvSpPr>
          <p:cNvPr id="23" name="Rectangle 22"/>
          <p:cNvSpPr/>
          <p:nvPr/>
        </p:nvSpPr>
        <p:spPr>
          <a:xfrm>
            <a:off x="1866900"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667.5</a:t>
            </a:r>
          </a:p>
        </p:txBody>
      </p:sp>
      <p:sp>
        <p:nvSpPr>
          <p:cNvPr id="24" name="Rectangle 23"/>
          <p:cNvSpPr/>
          <p:nvPr/>
        </p:nvSpPr>
        <p:spPr>
          <a:xfrm>
            <a:off x="1866900"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1,331</a:t>
            </a:r>
          </a:p>
        </p:txBody>
      </p:sp>
      <p:sp>
        <p:nvSpPr>
          <p:cNvPr id="25" name="Rectangle 24"/>
          <p:cNvSpPr/>
          <p:nvPr/>
        </p:nvSpPr>
        <p:spPr>
          <a:xfrm>
            <a:off x="1866900"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7.1%</a:t>
            </a:r>
          </a:p>
        </p:txBody>
      </p:sp>
      <p:sp>
        <p:nvSpPr>
          <p:cNvPr id="26" name="Oval 25"/>
          <p:cNvSpPr/>
          <p:nvPr/>
        </p:nvSpPr>
        <p:spPr>
          <a:xfrm>
            <a:off x="237036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311979" y="1773916"/>
            <a:ext cx="1330779"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311979" y="1992961"/>
            <a:ext cx="1330779"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350079"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Volume and Root Lift</a:t>
            </a:r>
          </a:p>
        </p:txBody>
      </p:sp>
      <p:sp>
        <p:nvSpPr>
          <p:cNvPr id="30" name="Rectangle 29"/>
          <p:cNvSpPr/>
          <p:nvPr/>
        </p:nvSpPr>
        <p:spPr>
          <a:xfrm>
            <a:off x="3311979"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620.3</a:t>
            </a:r>
          </a:p>
        </p:txBody>
      </p:sp>
      <p:sp>
        <p:nvSpPr>
          <p:cNvPr id="31" name="Rectangle 30"/>
          <p:cNvSpPr/>
          <p:nvPr/>
        </p:nvSpPr>
        <p:spPr>
          <a:xfrm>
            <a:off x="3311979"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1,103</a:t>
            </a:r>
          </a:p>
        </p:txBody>
      </p:sp>
      <p:sp>
        <p:nvSpPr>
          <p:cNvPr id="32" name="Rectangle 31"/>
          <p:cNvSpPr/>
          <p:nvPr/>
        </p:nvSpPr>
        <p:spPr>
          <a:xfrm>
            <a:off x="3311979"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5.9%</a:t>
            </a:r>
          </a:p>
        </p:txBody>
      </p:sp>
      <p:sp>
        <p:nvSpPr>
          <p:cNvPr id="33" name="Oval 32"/>
          <p:cNvSpPr/>
          <p:nvPr/>
        </p:nvSpPr>
        <p:spPr>
          <a:xfrm>
            <a:off x="3815443"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4757057" y="1773916"/>
            <a:ext cx="1330779"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4757057" y="1992961"/>
            <a:ext cx="1330779"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795157"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Heat Styling Support</a:t>
            </a:r>
          </a:p>
        </p:txBody>
      </p:sp>
      <p:sp>
        <p:nvSpPr>
          <p:cNvPr id="37" name="Rectangle 36"/>
          <p:cNvSpPr/>
          <p:nvPr/>
        </p:nvSpPr>
        <p:spPr>
          <a:xfrm>
            <a:off x="4757057"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614.2</a:t>
            </a:r>
          </a:p>
        </p:txBody>
      </p:sp>
      <p:sp>
        <p:nvSpPr>
          <p:cNvPr id="38" name="Rectangle 37"/>
          <p:cNvSpPr/>
          <p:nvPr/>
        </p:nvSpPr>
        <p:spPr>
          <a:xfrm>
            <a:off x="4757057"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1,276</a:t>
            </a:r>
          </a:p>
        </p:txBody>
      </p:sp>
      <p:sp>
        <p:nvSpPr>
          <p:cNvPr id="39" name="Rectangle 38"/>
          <p:cNvSpPr/>
          <p:nvPr/>
        </p:nvSpPr>
        <p:spPr>
          <a:xfrm>
            <a:off x="4757057"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7.6%</a:t>
            </a:r>
          </a:p>
        </p:txBody>
      </p:sp>
      <p:sp>
        <p:nvSpPr>
          <p:cNvPr id="40" name="Oval 39"/>
          <p:cNvSpPr/>
          <p:nvPr/>
        </p:nvSpPr>
        <p:spPr>
          <a:xfrm>
            <a:off x="5260521"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202136" y="1773916"/>
            <a:ext cx="1330779"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202136" y="1992961"/>
            <a:ext cx="1330779"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240236"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Hold and Shape</a:t>
            </a:r>
          </a:p>
        </p:txBody>
      </p:sp>
      <p:sp>
        <p:nvSpPr>
          <p:cNvPr id="44" name="Rectangle 43"/>
          <p:cNvSpPr/>
          <p:nvPr/>
        </p:nvSpPr>
        <p:spPr>
          <a:xfrm>
            <a:off x="6202136"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613.4</a:t>
            </a:r>
          </a:p>
        </p:txBody>
      </p:sp>
      <p:sp>
        <p:nvSpPr>
          <p:cNvPr id="45" name="Rectangle 44"/>
          <p:cNvSpPr/>
          <p:nvPr/>
        </p:nvSpPr>
        <p:spPr>
          <a:xfrm>
            <a:off x="6202136"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986.9</a:t>
            </a:r>
          </a:p>
        </p:txBody>
      </p:sp>
      <p:sp>
        <p:nvSpPr>
          <p:cNvPr id="46" name="Rectangle 45"/>
          <p:cNvSpPr/>
          <p:nvPr/>
        </p:nvSpPr>
        <p:spPr>
          <a:xfrm>
            <a:off x="6202136"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4.9%</a:t>
            </a:r>
          </a:p>
        </p:txBody>
      </p:sp>
      <p:sp>
        <p:nvSpPr>
          <p:cNvPr id="47" name="Oval 46"/>
          <p:cNvSpPr/>
          <p:nvPr/>
        </p:nvSpPr>
        <p:spPr>
          <a:xfrm>
            <a:off x="670560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7647214" y="1773916"/>
            <a:ext cx="1330779"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647214" y="1992961"/>
            <a:ext cx="1330779"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7685314"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Separation</a:t>
            </a:r>
          </a:p>
        </p:txBody>
      </p:sp>
      <p:sp>
        <p:nvSpPr>
          <p:cNvPr id="51" name="Rectangle 50"/>
          <p:cNvSpPr/>
          <p:nvPr/>
        </p:nvSpPr>
        <p:spPr>
          <a:xfrm>
            <a:off x="7647214"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604.4</a:t>
            </a:r>
          </a:p>
        </p:txBody>
      </p:sp>
      <p:sp>
        <p:nvSpPr>
          <p:cNvPr id="52" name="Rectangle 51"/>
          <p:cNvSpPr/>
          <p:nvPr/>
        </p:nvSpPr>
        <p:spPr>
          <a:xfrm>
            <a:off x="7647214"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1,116</a:t>
            </a:r>
          </a:p>
        </p:txBody>
      </p:sp>
      <p:sp>
        <p:nvSpPr>
          <p:cNvPr id="53" name="Rectangle 52"/>
          <p:cNvSpPr/>
          <p:nvPr/>
        </p:nvSpPr>
        <p:spPr>
          <a:xfrm>
            <a:off x="7647214"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6.3%</a:t>
            </a:r>
          </a:p>
        </p:txBody>
      </p:sp>
      <p:sp>
        <p:nvSpPr>
          <p:cNvPr id="54" name="Oval 53"/>
          <p:cNvSpPr/>
          <p:nvPr/>
        </p:nvSpPr>
        <p:spPr>
          <a:xfrm>
            <a:off x="815067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9092293" y="1773916"/>
            <a:ext cx="1330779"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092293" y="1992961"/>
            <a:ext cx="1330779"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130393"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Curl Definition</a:t>
            </a:r>
          </a:p>
        </p:txBody>
      </p:sp>
      <p:sp>
        <p:nvSpPr>
          <p:cNvPr id="58" name="Rectangle 57"/>
          <p:cNvSpPr/>
          <p:nvPr/>
        </p:nvSpPr>
        <p:spPr>
          <a:xfrm>
            <a:off x="9092293"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548.8</a:t>
            </a:r>
          </a:p>
        </p:txBody>
      </p:sp>
      <p:sp>
        <p:nvSpPr>
          <p:cNvPr id="59" name="Rectangle 58"/>
          <p:cNvSpPr/>
          <p:nvPr/>
        </p:nvSpPr>
        <p:spPr>
          <a:xfrm>
            <a:off x="9092293"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1,189</a:t>
            </a:r>
          </a:p>
        </p:txBody>
      </p:sp>
      <p:sp>
        <p:nvSpPr>
          <p:cNvPr id="60" name="Rectangle 59"/>
          <p:cNvSpPr/>
          <p:nvPr/>
        </p:nvSpPr>
        <p:spPr>
          <a:xfrm>
            <a:off x="9092293"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8.0%</a:t>
            </a:r>
          </a:p>
        </p:txBody>
      </p:sp>
      <p:sp>
        <p:nvSpPr>
          <p:cNvPr id="61" name="Oval 60"/>
          <p:cNvSpPr/>
          <p:nvPr/>
        </p:nvSpPr>
        <p:spPr>
          <a:xfrm>
            <a:off x="9595757"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10537371" y="1773916"/>
            <a:ext cx="1330779"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537371" y="1992961"/>
            <a:ext cx="1330779"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10575471"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Sleek Styling and Edge Control</a:t>
            </a:r>
          </a:p>
        </p:txBody>
      </p:sp>
      <p:sp>
        <p:nvSpPr>
          <p:cNvPr id="65" name="Rectangle 64"/>
          <p:cNvSpPr/>
          <p:nvPr/>
        </p:nvSpPr>
        <p:spPr>
          <a:xfrm>
            <a:off x="10537371"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459.9</a:t>
            </a:r>
          </a:p>
        </p:txBody>
      </p:sp>
      <p:sp>
        <p:nvSpPr>
          <p:cNvPr id="66" name="Rectangle 65"/>
          <p:cNvSpPr/>
          <p:nvPr/>
        </p:nvSpPr>
        <p:spPr>
          <a:xfrm>
            <a:off x="10537371"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779.6</a:t>
            </a:r>
          </a:p>
        </p:txBody>
      </p:sp>
      <p:sp>
        <p:nvSpPr>
          <p:cNvPr id="67" name="Rectangle 66"/>
          <p:cNvSpPr/>
          <p:nvPr/>
        </p:nvSpPr>
        <p:spPr>
          <a:xfrm>
            <a:off x="10537371"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5.4%</a:t>
            </a:r>
          </a:p>
        </p:txBody>
      </p:sp>
      <p:sp>
        <p:nvSpPr>
          <p:cNvPr id="68" name="Oval 67"/>
          <p:cNvSpPr/>
          <p:nvPr/>
        </p:nvSpPr>
        <p:spPr>
          <a:xfrm>
            <a:off x="11040836"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71" name="Rectangle 70"/>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primary styling benefit, curl definition segment is expected to witness the highest CAGR of 8.0% over the forecast period. In terms of value share by primary styling benefit, the smoothing and frizz control segment is expected to dominate the market, gaining 94 BPS and accounting for 17.1% share by 2036.</a:t>
            </a:r>
          </a:p>
          <a:p>
            <a:pPr algn="l">
              <a:lnSpc>
                <a:spcPct val="110000"/>
              </a:lnSpc>
              <a:spcBef>
                <a:spcPts val="0"/>
              </a:spcBef>
              <a:spcAft>
                <a:spcPts val="500"/>
              </a:spcAft>
            </a:pPr>
            <a:r>
              <a:rPr sz="1100" b="0">
                <a:solidFill>
                  <a:srgbClr val="2E2E2E"/>
                </a:solidFill>
                <a:latin typeface="Calibri"/>
              </a:rPr>
              <a:t>Smoothing and frizz control segment is projected to register 1.0X higher value than heat styling support segment in 2036.</a:t>
            </a:r>
          </a:p>
        </p:txBody>
      </p:sp>
      <p:sp>
        <p:nvSpPr>
          <p:cNvPr id="73" name="Rounded Rectangle 72"/>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75" name="Rectangle 74"/>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Smoothing and Frizz Control: </a:t>
            </a:r>
            <a:r>
              <a:rPr sz="1100" b="0">
                <a:solidFill>
                  <a:srgbClr val="2E2E2E"/>
                </a:solidFill>
                <a:latin typeface="Calibri"/>
              </a:rPr>
              <a:t>16% of 2026 value · 7.1%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Volume and Root Lift: </a:t>
            </a:r>
            <a:r>
              <a:rPr sz="1100" b="0">
                <a:solidFill>
                  <a:srgbClr val="2E2E2E"/>
                </a:solidFill>
                <a:latin typeface="Calibri"/>
              </a:rPr>
              <a:t>15% of 2026 value · 5.9%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Heat Styling Support: </a:t>
            </a:r>
            <a:r>
              <a:rPr sz="1100" b="0">
                <a:solidFill>
                  <a:srgbClr val="2E2E2E"/>
                </a:solidFill>
                <a:latin typeface="Calibri"/>
              </a:rPr>
              <a:t>15% of 2026 value · 7.6%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Hold and Shape: </a:t>
            </a:r>
            <a:r>
              <a:rPr sz="1100" b="0">
                <a:solidFill>
                  <a:srgbClr val="2E2E2E"/>
                </a:solidFill>
                <a:latin typeface="Calibri"/>
              </a:rPr>
              <a:t>15% of 2026 value · 4.9%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Texture and Separation: </a:t>
            </a:r>
            <a:r>
              <a:rPr sz="1100" b="0">
                <a:solidFill>
                  <a:srgbClr val="2E2E2E"/>
                </a:solidFill>
                <a:latin typeface="Calibri"/>
              </a:rPr>
              <a:t>15% of 2026 value · 6.3%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Curl Definition: </a:t>
            </a:r>
            <a:r>
              <a:rPr sz="1100" b="0">
                <a:solidFill>
                  <a:srgbClr val="2E2E2E"/>
                </a:solidFill>
                <a:latin typeface="Calibri"/>
              </a:rPr>
              <a:t>13% of 2026 value · 8.0% CAGR grows fastest.</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Sleek Styling and Edge Control: </a:t>
            </a:r>
            <a:r>
              <a:rPr sz="1100" b="0">
                <a:solidFill>
                  <a:srgbClr val="2E2E2E"/>
                </a:solidFill>
                <a:latin typeface="Calibri"/>
              </a:rPr>
              <a:t>11% of 2026 value · 5.4% CAGR serves a niche.</a:t>
            </a:r>
          </a:p>
        </p:txBody>
      </p:sp>
      <p:sp>
        <p:nvSpPr>
          <p:cNvPr id="77" name="Rounded Rectangle 76"/>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9" name="Rectangle 78"/>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Primary Styling Benefit split shows how demand is distributed across primary styling benefit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81" name="Rectangle 80"/>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Primary Styling Benefit segment is projected to grow at a CAGR of 6.5% from 2026 to 2036.</a:t>
            </a:r>
          </a:p>
        </p:txBody>
      </p:sp>
      <p:sp>
        <p:nvSpPr>
          <p:cNvPr id="83" name="TextBox 82"/>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84" name="TextBox 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Structure &amp; Attractiveness, By Primary Styling Benefit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Primary Styling Benefit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Primary Styling Benefit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Smoothing and frizz control followed by heat styling support are expected to be the two most attractive primary styling benefit segments in the East Asia hair styling products market in terms of value over the forecast period. Smoothing and frizz control and heat styling support exhibit a CAGR index of 109.2 and 115.9 and a market share index of 113.2 and 104.1 respectively, against the segment average of 100. The sleek styling and edge control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Primary Styling Benefit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Hold and Shape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Curl Definition</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Volume and Root Lift</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Texture and Separation</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Primary Styling Benefit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Smoothing and Frizz Control</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Sleek Styling and Edge Control</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Heat Styling Support</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East Asia Absolute $ Opportunity Analysis, By Primary Styling Benefit</a:t>
            </a:r>
          </a:p>
        </p:txBody>
      </p:sp>
      <p:sp>
        <p:nvSpPr>
          <p:cNvPr id="21" name="Rectangle 20"/>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smoothing and frizz control segment is anticipated to witness an increase of 2.0X in terms of value as compared to 2026. The smoothing and frizz control segment is expected to create an incremental opportunity of US$ 663.9 Mn for the overall hair styling products market from 2026 to 2036.</a:t>
            </a:r>
          </a:p>
          <a:p>
            <a:pPr algn="l">
              <a:lnSpc>
                <a:spcPct val="110000"/>
              </a:lnSpc>
              <a:spcBef>
                <a:spcPts val="0"/>
              </a:spcBef>
              <a:spcAft>
                <a:spcPts val="500"/>
              </a:spcAft>
            </a:pPr>
            <a:r>
              <a:rPr sz="1150" b="0">
                <a:solidFill>
                  <a:srgbClr val="2E2E2E"/>
                </a:solidFill>
                <a:latin typeface="Calibri"/>
              </a:rPr>
              <a:t>The heat styling support segment is expected to create an incremental opportunity of US$ 661.6 Mn for the overall hair styling products market from 2026 to 2036. The curl definition segment is expected to create an incremental opportunity of US$ 640.2 Mn for the overall hair styling products market from 2026 to 2036.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Primary Styling Benefit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Primary Styling Benefit,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Primary Styling Benefit (US$ Mn)</a:t>
            </a:r>
          </a:p>
        </p:txBody>
      </p:sp>
      <p:graphicFrame>
        <p:nvGraphicFramePr>
          <p:cNvPr id="13" name="Table 12"/>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09975"/>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Analysis, By Primary Styling Benefit</a:t>
            </a:r>
          </a:p>
        </p:txBody>
      </p:sp>
      <p:sp>
        <p:nvSpPr>
          <p:cNvPr id="17" name="Rectangle 16"/>
          <p:cNvSpPr/>
          <p:nvPr/>
        </p:nvSpPr>
        <p:spPr>
          <a:xfrm>
            <a:off x="276225" y="3848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33825"/>
            <a:ext cx="11639550" cy="2619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Smoothing and frizz control segment is projected to register 1.0X higher value than heat styling support segment in 2036. Among hair styling products by primary styling benefit, curl definition segment is expected to witness the highest CAGR of 8.0% over the forecast period.</a:t>
            </a:r>
          </a:p>
          <a:p>
            <a:pPr algn="l">
              <a:lnSpc>
                <a:spcPct val="110000"/>
              </a:lnSpc>
              <a:spcBef>
                <a:spcPts val="0"/>
              </a:spcBef>
              <a:spcAft>
                <a:spcPts val="500"/>
              </a:spcAft>
            </a:pPr>
            <a:r>
              <a:rPr sz="1150" b="0">
                <a:solidFill>
                  <a:srgbClr val="2E2E2E"/>
                </a:solidFill>
                <a:latin typeface="Calibri"/>
              </a:rPr>
              <a:t>In terms of value share by primary styling benefit, the smoothing and frizz control segment is expected to dominate the market, gaining 94 BPS and accounting for 17.1% share by 2036. The hold and shape segment is expected to lose 218 BPS over the forecast period to account for 12.7%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&amp; Share Shift, By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Primary Styling Benefit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Composition, By Primary Styling Benefit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00287"/>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9552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1932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Sleek Styling and Edge Control</a:t>
            </a:r>
          </a:p>
        </p:txBody>
      </p:sp>
      <p:sp>
        <p:nvSpPr>
          <p:cNvPr id="19" name="BPS Value 1"/>
          <p:cNvSpPr txBox="1"/>
          <p:nvPr/>
        </p:nvSpPr>
        <p:spPr>
          <a:xfrm>
            <a:off x="6896100" y="1881237"/>
            <a:ext cx="514350" cy="123825"/>
          </a:xfrm>
          <a:prstGeom prst="rect">
            <a:avLst/>
          </a:prstGeom>
          <a:noFill/>
        </p:spPr>
        <p:txBody>
          <a:bodyPr wrap="none" lIns="0" rIns="0" tIns="0" bIns="0" anchor="ctr">
            <a:spAutoFit/>
          </a:bodyPr>
          <a:lstStyle/>
          <a:p>
            <a:pPr algn="r"/>
            <a:r>
              <a:rPr sz="900" b="1">
                <a:solidFill>
                  <a:srgbClr val="E44D3A"/>
                </a:solidFill>
                <a:latin typeface="Calibri"/>
              </a:rPr>
              <a:t>-112</a:t>
            </a:r>
          </a:p>
        </p:txBody>
      </p:sp>
      <p:sp>
        <p:nvSpPr>
          <p:cNvPr id="20" name="FMI Legend Chip"/>
          <p:cNvSpPr/>
          <p:nvPr/>
        </p:nvSpPr>
        <p:spPr>
          <a:xfrm>
            <a:off x="4928997" y="241926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41450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3830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Hold and Shape</a:t>
            </a:r>
          </a:p>
        </p:txBody>
      </p:sp>
      <p:sp>
        <p:nvSpPr>
          <p:cNvPr id="23" name="BPS Value 2"/>
          <p:cNvSpPr txBox="1"/>
          <p:nvPr/>
        </p:nvSpPr>
        <p:spPr>
          <a:xfrm>
            <a:off x="6896100" y="2400212"/>
            <a:ext cx="514350" cy="123825"/>
          </a:xfrm>
          <a:prstGeom prst="rect">
            <a:avLst/>
          </a:prstGeom>
          <a:noFill/>
        </p:spPr>
        <p:txBody>
          <a:bodyPr wrap="none" lIns="0" rIns="0" tIns="0" bIns="0" anchor="ctr">
            <a:spAutoFit/>
          </a:bodyPr>
          <a:lstStyle/>
          <a:p>
            <a:pPr algn="r"/>
            <a:r>
              <a:rPr sz="900" b="1">
                <a:solidFill>
                  <a:srgbClr val="E44D3A"/>
                </a:solidFill>
                <a:latin typeface="Calibri"/>
              </a:rPr>
              <a:t>-218</a:t>
            </a:r>
          </a:p>
        </p:txBody>
      </p:sp>
      <p:sp>
        <p:nvSpPr>
          <p:cNvPr id="24" name="FMI Legend Chip"/>
          <p:cNvSpPr/>
          <p:nvPr/>
        </p:nvSpPr>
        <p:spPr>
          <a:xfrm>
            <a:off x="4928997" y="3033259"/>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02849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95229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Volume and Root Lift</a:t>
            </a:r>
          </a:p>
        </p:txBody>
      </p:sp>
      <p:sp>
        <p:nvSpPr>
          <p:cNvPr id="27" name="BPS Value 3"/>
          <p:cNvSpPr txBox="1"/>
          <p:nvPr/>
        </p:nvSpPr>
        <p:spPr>
          <a:xfrm>
            <a:off x="6896100" y="3014209"/>
            <a:ext cx="514350" cy="123825"/>
          </a:xfrm>
          <a:prstGeom prst="rect">
            <a:avLst/>
          </a:prstGeom>
          <a:noFill/>
        </p:spPr>
        <p:txBody>
          <a:bodyPr wrap="none" lIns="0" rIns="0" tIns="0" bIns="0" anchor="ctr">
            <a:spAutoFit/>
          </a:bodyPr>
          <a:lstStyle/>
          <a:p>
            <a:pPr algn="r"/>
            <a:r>
              <a:rPr sz="900" b="1">
                <a:solidFill>
                  <a:srgbClr val="E44D3A"/>
                </a:solidFill>
                <a:latin typeface="Calibri"/>
              </a:rPr>
              <a:t>-85</a:t>
            </a:r>
          </a:p>
        </p:txBody>
      </p:sp>
      <p:sp>
        <p:nvSpPr>
          <p:cNvPr id="28" name="FMI Legend Chip"/>
          <p:cNvSpPr/>
          <p:nvPr/>
        </p:nvSpPr>
        <p:spPr>
          <a:xfrm>
            <a:off x="4928997" y="3685190"/>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68042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60422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Separation</a:t>
            </a:r>
          </a:p>
        </p:txBody>
      </p:sp>
      <p:sp>
        <p:nvSpPr>
          <p:cNvPr id="31" name="BPS Value 4"/>
          <p:cNvSpPr txBox="1"/>
          <p:nvPr/>
        </p:nvSpPr>
        <p:spPr>
          <a:xfrm>
            <a:off x="6896100" y="3666140"/>
            <a:ext cx="514350" cy="123825"/>
          </a:xfrm>
          <a:prstGeom prst="rect">
            <a:avLst/>
          </a:prstGeom>
          <a:noFill/>
        </p:spPr>
        <p:txBody>
          <a:bodyPr wrap="none" lIns="0" rIns="0" tIns="0" bIns="0" anchor="ctr">
            <a:spAutoFit/>
          </a:bodyPr>
          <a:lstStyle/>
          <a:p>
            <a:pPr algn="r"/>
            <a:r>
              <a:rPr sz="900" b="1">
                <a:solidFill>
                  <a:srgbClr val="E44D3A"/>
                </a:solidFill>
                <a:latin typeface="Calibri"/>
              </a:rPr>
              <a:t>-30</a:t>
            </a:r>
          </a:p>
        </p:txBody>
      </p:sp>
      <p:sp>
        <p:nvSpPr>
          <p:cNvPr id="32" name="FMI Legend Chip"/>
          <p:cNvSpPr/>
          <p:nvPr/>
        </p:nvSpPr>
        <p:spPr>
          <a:xfrm>
            <a:off x="4928997" y="436237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435761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28141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 Definition</a:t>
            </a:r>
          </a:p>
        </p:txBody>
      </p:sp>
      <p:sp>
        <p:nvSpPr>
          <p:cNvPr id="35" name="BPS Value 5"/>
          <p:cNvSpPr txBox="1"/>
          <p:nvPr/>
        </p:nvSpPr>
        <p:spPr>
          <a:xfrm>
            <a:off x="6896100" y="4343329"/>
            <a:ext cx="514350" cy="123825"/>
          </a:xfrm>
          <a:prstGeom prst="rect">
            <a:avLst/>
          </a:prstGeom>
          <a:noFill/>
        </p:spPr>
        <p:txBody>
          <a:bodyPr wrap="none" lIns="0" rIns="0" tIns="0" bIns="0" anchor="ctr">
            <a:spAutoFit/>
          </a:bodyPr>
          <a:lstStyle/>
          <a:p>
            <a:pPr algn="r"/>
            <a:r>
              <a:rPr sz="900" b="1">
                <a:solidFill>
                  <a:srgbClr val="2E7D32"/>
                </a:solidFill>
                <a:latin typeface="Calibri"/>
              </a:rPr>
              <a:t>+199</a:t>
            </a:r>
          </a:p>
        </p:txBody>
      </p:sp>
      <p:sp>
        <p:nvSpPr>
          <p:cNvPr id="36" name="FMI Legend Chip"/>
          <p:cNvSpPr/>
          <p:nvPr/>
        </p:nvSpPr>
        <p:spPr>
          <a:xfrm>
            <a:off x="4928997" y="508651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08174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00554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Heat Styling Support</a:t>
            </a:r>
          </a:p>
        </p:txBody>
      </p:sp>
      <p:sp>
        <p:nvSpPr>
          <p:cNvPr id="39" name="BPS Value 6"/>
          <p:cNvSpPr txBox="1"/>
          <p:nvPr/>
        </p:nvSpPr>
        <p:spPr>
          <a:xfrm>
            <a:off x="6896100" y="5067462"/>
            <a:ext cx="514350" cy="123825"/>
          </a:xfrm>
          <a:prstGeom prst="rect">
            <a:avLst/>
          </a:prstGeom>
          <a:noFill/>
        </p:spPr>
        <p:txBody>
          <a:bodyPr wrap="none" lIns="0" rIns="0" tIns="0" bIns="0" anchor="ctr">
            <a:spAutoFit/>
          </a:bodyPr>
          <a:lstStyle/>
          <a:p>
            <a:pPr algn="r"/>
            <a:r>
              <a:rPr sz="900" b="1">
                <a:solidFill>
                  <a:srgbClr val="2E7D32"/>
                </a:solidFill>
                <a:latin typeface="Calibri"/>
              </a:rPr>
              <a:t>+152</a:t>
            </a:r>
          </a:p>
        </p:txBody>
      </p:sp>
      <p:sp>
        <p:nvSpPr>
          <p:cNvPr id="40" name="FMI Legend Chip"/>
          <p:cNvSpPr/>
          <p:nvPr/>
        </p:nvSpPr>
        <p:spPr>
          <a:xfrm>
            <a:off x="4928997" y="585248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584772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77152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Smoothing and Frizz Control</a:t>
            </a:r>
          </a:p>
        </p:txBody>
      </p:sp>
      <p:sp>
        <p:nvSpPr>
          <p:cNvPr id="43" name="BPS Value 7"/>
          <p:cNvSpPr txBox="1"/>
          <p:nvPr/>
        </p:nvSpPr>
        <p:spPr>
          <a:xfrm>
            <a:off x="6896100" y="5833435"/>
            <a:ext cx="514350" cy="123825"/>
          </a:xfrm>
          <a:prstGeom prst="rect">
            <a:avLst/>
          </a:prstGeom>
          <a:noFill/>
        </p:spPr>
        <p:txBody>
          <a:bodyPr wrap="none" lIns="0" rIns="0" tIns="0" bIns="0" anchor="ctr">
            <a:spAutoFit/>
          </a:bodyPr>
          <a:lstStyle/>
          <a:p>
            <a:pPr algn="r"/>
            <a:r>
              <a:rPr sz="900" b="1">
                <a:solidFill>
                  <a:srgbClr val="2E7D32"/>
                </a:solidFill>
                <a:latin typeface="Calibri"/>
              </a:rPr>
              <a:t>+94</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East Asia Read-out, By Primary Styling Benefit</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primary styling benefit, curl definition segment is expected to witness the highest CAGR of 8.0% over the forecast period. In terms of value share by primary styling benefit, the smoothing and frizz control segment is expected to dominate the market, gaining 94 BPS and accounting for 17.1% share by 2036.</a:t>
            </a:r>
          </a:p>
          <a:p>
            <a:pPr algn="l">
              <a:lnSpc>
                <a:spcPct val="110000"/>
              </a:lnSpc>
              <a:spcBef>
                <a:spcPts val="0"/>
              </a:spcBef>
              <a:spcAft>
                <a:spcPts val="500"/>
              </a:spcAft>
            </a:pPr>
            <a:r>
              <a:rPr sz="1150" b="0">
                <a:solidFill>
                  <a:srgbClr val="2E2E2E"/>
                </a:solidFill>
                <a:latin typeface="Calibri"/>
              </a:rPr>
              <a:t>The hold and shape segment is expected to lose 218 BPS over the forecast period to account for 12.7% share by 2036.</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Primary Styling Benefit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Primary Styling Benefit,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Growth,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Heatmap, By Primary Styling Benefit (%)  ·  light = lower, dark = higher growth</a:t>
            </a:r>
          </a:p>
        </p:txBody>
      </p:sp>
      <p:sp>
        <p:nvSpPr>
          <p:cNvPr id="17" name="TextBox 16"/>
          <p:cNvSpPr txBox="1"/>
          <p:nvPr/>
        </p:nvSpPr>
        <p:spPr>
          <a:xfrm>
            <a:off x="166143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31838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97534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632294"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28924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94619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60315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26010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91705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57401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3096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88791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4486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0182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5877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Hold and Shape</a:t>
            </a:r>
          </a:p>
        </p:txBody>
      </p:sp>
      <p:sp>
        <p:nvSpPr>
          <p:cNvPr id="33" name="Rectangle 32"/>
          <p:cNvSpPr/>
          <p:nvPr/>
        </p:nvSpPr>
        <p:spPr>
          <a:xfrm>
            <a:off x="1661437" y="3733800"/>
            <a:ext cx="656953" cy="40549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318389" y="3733800"/>
            <a:ext cx="656953" cy="405493"/>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975342" y="3733800"/>
            <a:ext cx="656953" cy="40549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632294" y="3733800"/>
            <a:ext cx="656953" cy="405493"/>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289247" y="3733800"/>
            <a:ext cx="656953" cy="405493"/>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946199" y="3733800"/>
            <a:ext cx="656953" cy="405493"/>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603152" y="3733800"/>
            <a:ext cx="656953" cy="405493"/>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260105" y="3733800"/>
            <a:ext cx="656953" cy="405493"/>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17057" y="3733800"/>
            <a:ext cx="656953" cy="405493"/>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574010" y="3733800"/>
            <a:ext cx="656953" cy="405493"/>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30962" y="3733800"/>
            <a:ext cx="656953" cy="405493"/>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887915" y="3733800"/>
            <a:ext cx="656953" cy="405493"/>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44867" y="3733800"/>
            <a:ext cx="656953" cy="405493"/>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01820" y="3733800"/>
            <a:ext cx="656953" cy="405493"/>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58772" y="3733800"/>
            <a:ext cx="656953" cy="405493"/>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39293"/>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Curl Definition</a:t>
            </a:r>
          </a:p>
        </p:txBody>
      </p:sp>
      <p:sp>
        <p:nvSpPr>
          <p:cNvPr id="49" name="Rectangle 48"/>
          <p:cNvSpPr/>
          <p:nvPr/>
        </p:nvSpPr>
        <p:spPr>
          <a:xfrm>
            <a:off x="1661437" y="4139293"/>
            <a:ext cx="656953" cy="405493"/>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318389" y="4139293"/>
            <a:ext cx="656953" cy="405493"/>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975342" y="4139293"/>
            <a:ext cx="656953" cy="405493"/>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632294" y="4139293"/>
            <a:ext cx="656953" cy="405493"/>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289247" y="4139293"/>
            <a:ext cx="656953" cy="405493"/>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946199" y="4139293"/>
            <a:ext cx="656953" cy="405493"/>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603152" y="4139293"/>
            <a:ext cx="656953" cy="405493"/>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260105" y="4139293"/>
            <a:ext cx="656953" cy="405493"/>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917057" y="4139293"/>
            <a:ext cx="656953" cy="405493"/>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574010" y="4139293"/>
            <a:ext cx="656953" cy="405493"/>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30962" y="4139293"/>
            <a:ext cx="656953" cy="40549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887915" y="4139293"/>
            <a:ext cx="656953" cy="405493"/>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44867" y="4139293"/>
            <a:ext cx="656953" cy="405493"/>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01820" y="4139293"/>
            <a:ext cx="656953" cy="405493"/>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58772" y="4139293"/>
            <a:ext cx="656953" cy="405493"/>
          </a:xfrm>
          <a:prstGeom prst="rect">
            <a:avLst/>
          </a:prstGeom>
          <a:solidFill>
            <a:srgbClr val="0D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4786"/>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Volume and Root Lift</a:t>
            </a:r>
          </a:p>
        </p:txBody>
      </p:sp>
      <p:sp>
        <p:nvSpPr>
          <p:cNvPr id="65" name="Rectangle 64"/>
          <p:cNvSpPr/>
          <p:nvPr/>
        </p:nvSpPr>
        <p:spPr>
          <a:xfrm>
            <a:off x="1661437" y="4544786"/>
            <a:ext cx="656953" cy="405493"/>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318389" y="4544786"/>
            <a:ext cx="656953" cy="405493"/>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975342" y="4544786"/>
            <a:ext cx="656953" cy="405493"/>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632294" y="4544786"/>
            <a:ext cx="656953" cy="405493"/>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289247" y="4544786"/>
            <a:ext cx="656953" cy="40549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946199" y="4544786"/>
            <a:ext cx="656953" cy="405493"/>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603152" y="4544786"/>
            <a:ext cx="656953" cy="405493"/>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260105" y="4544786"/>
            <a:ext cx="656953" cy="405493"/>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917057" y="4544786"/>
            <a:ext cx="656953" cy="405493"/>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574010" y="4544786"/>
            <a:ext cx="656953" cy="40549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30962" y="4544786"/>
            <a:ext cx="656953" cy="405493"/>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887915" y="4544786"/>
            <a:ext cx="656953" cy="405493"/>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44867" y="4544786"/>
            <a:ext cx="656953" cy="405493"/>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01820" y="4544786"/>
            <a:ext cx="656953" cy="405493"/>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58772" y="4544786"/>
            <a:ext cx="656953" cy="405493"/>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4950279"/>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Texture and Separation</a:t>
            </a:r>
          </a:p>
        </p:txBody>
      </p:sp>
      <p:sp>
        <p:nvSpPr>
          <p:cNvPr id="81" name="Rectangle 80"/>
          <p:cNvSpPr/>
          <p:nvPr/>
        </p:nvSpPr>
        <p:spPr>
          <a:xfrm>
            <a:off x="1661437" y="4950279"/>
            <a:ext cx="656953" cy="405493"/>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318389" y="4950279"/>
            <a:ext cx="656953" cy="405493"/>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975342" y="4950279"/>
            <a:ext cx="656953" cy="40549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632294" y="4950279"/>
            <a:ext cx="656953" cy="405493"/>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289247" y="4950279"/>
            <a:ext cx="656953" cy="405493"/>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946199" y="4950279"/>
            <a:ext cx="656953" cy="405493"/>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603152" y="4950279"/>
            <a:ext cx="656953" cy="405493"/>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260105" y="4950279"/>
            <a:ext cx="656953" cy="405493"/>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917057" y="4950279"/>
            <a:ext cx="656953" cy="405493"/>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574010" y="4950279"/>
            <a:ext cx="656953" cy="405493"/>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30962" y="4950279"/>
            <a:ext cx="656953" cy="405493"/>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887915" y="4950279"/>
            <a:ext cx="656953" cy="405493"/>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44867" y="4950279"/>
            <a:ext cx="656953" cy="405493"/>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01820" y="4950279"/>
            <a:ext cx="656953" cy="405493"/>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58772" y="4950279"/>
            <a:ext cx="656953" cy="405493"/>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55771"/>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Smoothing and Frizz Control</a:t>
            </a:r>
          </a:p>
        </p:txBody>
      </p:sp>
      <p:sp>
        <p:nvSpPr>
          <p:cNvPr id="97" name="Rectangle 96"/>
          <p:cNvSpPr/>
          <p:nvPr/>
        </p:nvSpPr>
        <p:spPr>
          <a:xfrm>
            <a:off x="1661437" y="5355771"/>
            <a:ext cx="656953" cy="405493"/>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318389" y="5355771"/>
            <a:ext cx="656953" cy="40549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975342" y="5355771"/>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632294" y="5355771"/>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289247" y="5355771"/>
            <a:ext cx="656953" cy="405493"/>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946199" y="5355771"/>
            <a:ext cx="656953" cy="40549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603152" y="5355771"/>
            <a:ext cx="656953" cy="405493"/>
          </a:xfrm>
          <a:prstGeom prst="rect">
            <a:avLst/>
          </a:prstGeom>
          <a:solidFill>
            <a:srgbClr val="A9C9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260105" y="5355771"/>
            <a:ext cx="656953" cy="405493"/>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917057" y="5355771"/>
            <a:ext cx="656953" cy="405493"/>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574010" y="5355771"/>
            <a:ext cx="656953" cy="405493"/>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30962" y="5355771"/>
            <a:ext cx="656953" cy="405493"/>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887915" y="5355771"/>
            <a:ext cx="656953" cy="405493"/>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44867" y="5355771"/>
            <a:ext cx="656953" cy="405493"/>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01820" y="5355771"/>
            <a:ext cx="656953" cy="405493"/>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58772" y="5355771"/>
            <a:ext cx="656953" cy="405493"/>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761264"/>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Sleek Styling and Edge Control</a:t>
            </a:r>
          </a:p>
        </p:txBody>
      </p:sp>
      <p:sp>
        <p:nvSpPr>
          <p:cNvPr id="113" name="Rectangle 112"/>
          <p:cNvSpPr/>
          <p:nvPr/>
        </p:nvSpPr>
        <p:spPr>
          <a:xfrm>
            <a:off x="1661437" y="5761264"/>
            <a:ext cx="656953" cy="405493"/>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318389" y="5761264"/>
            <a:ext cx="656953" cy="405493"/>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2975342" y="5761264"/>
            <a:ext cx="656953" cy="40549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632294" y="5761264"/>
            <a:ext cx="656953" cy="40549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289247" y="5761264"/>
            <a:ext cx="656953" cy="405493"/>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4946199" y="5761264"/>
            <a:ext cx="656953" cy="405493"/>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603152" y="5761264"/>
            <a:ext cx="656953" cy="405493"/>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260105" y="5761264"/>
            <a:ext cx="656953" cy="405493"/>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6917057" y="5761264"/>
            <a:ext cx="656953" cy="405493"/>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574010" y="5761264"/>
            <a:ext cx="656953" cy="405493"/>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30962" y="5761264"/>
            <a:ext cx="656953" cy="405493"/>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887915" y="5761264"/>
            <a:ext cx="656953" cy="405493"/>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44867" y="5761264"/>
            <a:ext cx="656953" cy="405493"/>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01820" y="5761264"/>
            <a:ext cx="656953" cy="405493"/>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58772" y="5761264"/>
            <a:ext cx="656953" cy="405493"/>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166757"/>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Heat Styling Support</a:t>
            </a:r>
          </a:p>
        </p:txBody>
      </p:sp>
      <p:sp>
        <p:nvSpPr>
          <p:cNvPr id="129" name="Rectangle 128"/>
          <p:cNvSpPr/>
          <p:nvPr/>
        </p:nvSpPr>
        <p:spPr>
          <a:xfrm>
            <a:off x="1661437" y="6166757"/>
            <a:ext cx="656953" cy="405493"/>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318389" y="6166757"/>
            <a:ext cx="656953" cy="405493"/>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2975342" y="6166757"/>
            <a:ext cx="656953" cy="405493"/>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632294" y="6166757"/>
            <a:ext cx="656953" cy="405493"/>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289247" y="6166757"/>
            <a:ext cx="656953" cy="405493"/>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4946199" y="6166757"/>
            <a:ext cx="656953" cy="405493"/>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603152" y="6166757"/>
            <a:ext cx="656953" cy="405493"/>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260105" y="6166757"/>
            <a:ext cx="656953" cy="405493"/>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6917057" y="6166757"/>
            <a:ext cx="656953" cy="405493"/>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574010" y="6166757"/>
            <a:ext cx="656953" cy="405493"/>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30962" y="6166757"/>
            <a:ext cx="656953" cy="405493"/>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887915" y="6166757"/>
            <a:ext cx="656953" cy="405493"/>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44867" y="6166757"/>
            <a:ext cx="656953" cy="405493"/>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01820" y="6166757"/>
            <a:ext cx="656953" cy="405493"/>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58772" y="6166757"/>
            <a:ext cx="656953" cy="405493"/>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86" name="TextBox 185"/>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19.6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Hair Type Targeted</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Hair Type Targeted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Hair Type Targeted,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Hair Type Targeted segment categorizes the market by hair type targeted.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Straight Hair</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1,038</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1,773</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5.5%</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All Hair Types</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833.0</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1,507</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6.1%</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Wavy Hair</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795.5</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1,501</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6.6%</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Curly Hair</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747.0</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1,502</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7.2%</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Coily Hair</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715.3</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1,500</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7.7%</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hair type targeted, coily hair segment is expected to witness the highest CAGR of 7.7% over the forecast period. In terms of value share by hair type targeted, the straight hair segment is expected to dominate the market, losing 235 BPS and accounting for 22.8% share by 2036.</a:t>
            </a:r>
          </a:p>
          <a:p>
            <a:pPr algn="l">
              <a:lnSpc>
                <a:spcPct val="110000"/>
              </a:lnSpc>
              <a:spcBef>
                <a:spcPts val="0"/>
              </a:spcBef>
              <a:spcAft>
                <a:spcPts val="500"/>
              </a:spcAft>
            </a:pPr>
            <a:r>
              <a:rPr sz="1100" b="0">
                <a:solidFill>
                  <a:srgbClr val="2E2E2E"/>
                </a:solidFill>
                <a:latin typeface="Calibri"/>
              </a:rPr>
              <a:t>Straight hair segment is projected to register 1.2X higher value than all hair types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Straight Hair: </a:t>
            </a:r>
            <a:r>
              <a:rPr sz="1100" b="0">
                <a:solidFill>
                  <a:srgbClr val="2E2E2E"/>
                </a:solidFill>
                <a:latin typeface="Calibri"/>
              </a:rPr>
              <a:t>25% of 2026 value · 5.5%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All Hair Types: </a:t>
            </a:r>
            <a:r>
              <a:rPr sz="1100" b="0">
                <a:solidFill>
                  <a:srgbClr val="2E2E2E"/>
                </a:solidFill>
                <a:latin typeface="Calibri"/>
              </a:rPr>
              <a:t>20% of 2026 value · 6.1%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Wavy Hair: </a:t>
            </a:r>
            <a:r>
              <a:rPr sz="1100" b="0">
                <a:solidFill>
                  <a:srgbClr val="2E2E2E"/>
                </a:solidFill>
                <a:latin typeface="Calibri"/>
              </a:rPr>
              <a:t>19% of 2026 value · 6.6%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Curly Hair: </a:t>
            </a:r>
            <a:r>
              <a:rPr sz="1100" b="0">
                <a:solidFill>
                  <a:srgbClr val="2E2E2E"/>
                </a:solidFill>
                <a:latin typeface="Calibri"/>
              </a:rPr>
              <a:t>18% of 2026 value · 7.2%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Coily Hair: </a:t>
            </a:r>
            <a:r>
              <a:rPr sz="1100" b="0">
                <a:solidFill>
                  <a:srgbClr val="2E2E2E"/>
                </a:solidFill>
                <a:latin typeface="Calibri"/>
              </a:rPr>
              <a:t>17% of 2026 value · 7.7% CAGR grows fastest.</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Hair Type Targeted split shows how demand is distributed across hair type targeted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Hair Type Targeted segment is projected to grow at a CAGR of 6.5%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Structure &amp; Attractiveness, By Hair Type Targeted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Hair Type Targeted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Hair Type Targeted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Straight hair followed by coily hair are expected to be the two most attractive hair type targeted segments in the East Asia hair styling products market in terms of value over the forecast period. Straight hair and coily hair exhibit a CAGR index of 84.1 and 117.4 and a market share index of 125.7 and 86.6 respectively, against the segment average of 100. The all hair types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Hair Type Targeted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Straight Hair</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Wavy Hair</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Curly Hair</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Coily Hair</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Hair Type Targeted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All Hair Types</a:t>
            </a:r>
          </a:p>
        </p:txBody>
      </p:sp>
      <p:graphicFrame>
        <p:nvGraphicFramePr>
          <p:cNvPr id="12" name="Chart 11"/>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East Asia Absolute $ Opportunity Analysis, By Hair Type Targeted</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coily hair segment is anticipated to witness an increase of 2.1X in terms of value as compared to 2026. The coily hair segment is expected to create an incremental opportunity of US$ 784.3 Mn for the overall hair styling products market from 2026 to 2036.</a:t>
            </a:r>
          </a:p>
          <a:p>
            <a:pPr algn="l">
              <a:lnSpc>
                <a:spcPct val="110000"/>
              </a:lnSpc>
              <a:spcBef>
                <a:spcPts val="0"/>
              </a:spcBef>
              <a:spcAft>
                <a:spcPts val="500"/>
              </a:spcAft>
            </a:pPr>
            <a:r>
              <a:rPr sz="1150" b="0">
                <a:solidFill>
                  <a:srgbClr val="2E2E2E"/>
                </a:solidFill>
                <a:latin typeface="Calibri"/>
              </a:rPr>
              <a:t>The curly hair segment is expected to create an incremental opportunity of US$ 754.7 Mn for the overall hair styling products market from 2026 to 2036. The straight hair segment is expected to create an incremental opportunity of US$ 735.1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Hair Type Targeted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Hair Type Targeted,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Hair Type Targeted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Analysis, By Hair Type Targeted</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Straight hair segment is projected to register 1.2X higher value than all hair types segment in 2036. Among hair styling products by hair type targeted, coily hair segment is expected to witness the highest CAGR of 7.7% over the forecast period.</a:t>
            </a:r>
          </a:p>
          <a:p>
            <a:pPr algn="l">
              <a:lnSpc>
                <a:spcPct val="110000"/>
              </a:lnSpc>
              <a:spcBef>
                <a:spcPts val="0"/>
              </a:spcBef>
              <a:spcAft>
                <a:spcPts val="500"/>
              </a:spcAft>
            </a:pPr>
            <a:r>
              <a:rPr sz="1150" b="0">
                <a:solidFill>
                  <a:srgbClr val="2E2E2E"/>
                </a:solidFill>
                <a:latin typeface="Calibri"/>
              </a:rPr>
              <a:t>In terms of value share by hair type targeted, the straight hair segment is expected to dominate the market, losing 235 BPS and accounting for 22.8%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&amp; Share Shift, By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Hair Type Targeted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Composition, By Hair Type Targeted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111811"/>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210704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03084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Coily Hair</a:t>
            </a:r>
          </a:p>
        </p:txBody>
      </p:sp>
      <p:sp>
        <p:nvSpPr>
          <p:cNvPr id="19" name="BPS Value 1"/>
          <p:cNvSpPr txBox="1"/>
          <p:nvPr/>
        </p:nvSpPr>
        <p:spPr>
          <a:xfrm>
            <a:off x="6896100" y="2092761"/>
            <a:ext cx="514350" cy="123825"/>
          </a:xfrm>
          <a:prstGeom prst="rect">
            <a:avLst/>
          </a:prstGeom>
          <a:noFill/>
        </p:spPr>
        <p:txBody>
          <a:bodyPr wrap="none" lIns="0" rIns="0" tIns="0" bIns="0" anchor="ctr">
            <a:spAutoFit/>
          </a:bodyPr>
          <a:lstStyle/>
          <a:p>
            <a:pPr algn="r"/>
            <a:r>
              <a:rPr sz="900" b="1">
                <a:solidFill>
                  <a:srgbClr val="2E7D32"/>
                </a:solidFill>
                <a:latin typeface="Calibri"/>
              </a:rPr>
              <a:t>+195</a:t>
            </a:r>
          </a:p>
        </p:txBody>
      </p:sp>
      <p:sp>
        <p:nvSpPr>
          <p:cNvPr id="20" name="FMI Legend Chip"/>
          <p:cNvSpPr/>
          <p:nvPr/>
        </p:nvSpPr>
        <p:spPr>
          <a:xfrm>
            <a:off x="4928997" y="2993200"/>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98843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91223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Wavy Hair</a:t>
            </a:r>
          </a:p>
        </p:txBody>
      </p:sp>
      <p:sp>
        <p:nvSpPr>
          <p:cNvPr id="23" name="BPS Value 2"/>
          <p:cNvSpPr txBox="1"/>
          <p:nvPr/>
        </p:nvSpPr>
        <p:spPr>
          <a:xfrm>
            <a:off x="6896100" y="2974150"/>
            <a:ext cx="514350" cy="123825"/>
          </a:xfrm>
          <a:prstGeom prst="rect">
            <a:avLst/>
          </a:prstGeom>
          <a:noFill/>
        </p:spPr>
        <p:txBody>
          <a:bodyPr wrap="none" lIns="0" rIns="0" tIns="0" bIns="0" anchor="ctr">
            <a:spAutoFit/>
          </a:bodyPr>
          <a:lstStyle/>
          <a:p>
            <a:pPr algn="r"/>
            <a:r>
              <a:rPr sz="900" b="1">
                <a:solidFill>
                  <a:srgbClr val="2E7D32"/>
                </a:solidFill>
                <a:latin typeface="Calibri"/>
              </a:rPr>
              <a:t>+1</a:t>
            </a:r>
          </a:p>
        </p:txBody>
      </p:sp>
      <p:sp>
        <p:nvSpPr>
          <p:cNvPr id="24" name="FMI Legend Chip"/>
          <p:cNvSpPr/>
          <p:nvPr/>
        </p:nvSpPr>
        <p:spPr>
          <a:xfrm>
            <a:off x="4928997" y="387520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87044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79424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Curly Hair</a:t>
            </a:r>
          </a:p>
        </p:txBody>
      </p:sp>
      <p:sp>
        <p:nvSpPr>
          <p:cNvPr id="27" name="BPS Value 3"/>
          <p:cNvSpPr txBox="1"/>
          <p:nvPr/>
        </p:nvSpPr>
        <p:spPr>
          <a:xfrm>
            <a:off x="6896100" y="3856159"/>
            <a:ext cx="514350" cy="123825"/>
          </a:xfrm>
          <a:prstGeom prst="rect">
            <a:avLst/>
          </a:prstGeom>
          <a:noFill/>
        </p:spPr>
        <p:txBody>
          <a:bodyPr wrap="none" lIns="0" rIns="0" tIns="0" bIns="0" anchor="ctr">
            <a:spAutoFit/>
          </a:bodyPr>
          <a:lstStyle/>
          <a:p>
            <a:pPr algn="r"/>
            <a:r>
              <a:rPr sz="900" b="1">
                <a:solidFill>
                  <a:srgbClr val="2E7D32"/>
                </a:solidFill>
                <a:latin typeface="Calibri"/>
              </a:rPr>
              <a:t>+120</a:t>
            </a:r>
          </a:p>
        </p:txBody>
      </p:sp>
      <p:sp>
        <p:nvSpPr>
          <p:cNvPr id="28" name="FMI Legend Chip"/>
          <p:cNvSpPr/>
          <p:nvPr/>
        </p:nvSpPr>
        <p:spPr>
          <a:xfrm>
            <a:off x="4928997" y="475914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75438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67818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All Hair Types</a:t>
            </a:r>
          </a:p>
        </p:txBody>
      </p:sp>
      <p:sp>
        <p:nvSpPr>
          <p:cNvPr id="31" name="BPS Value 4"/>
          <p:cNvSpPr txBox="1"/>
          <p:nvPr/>
        </p:nvSpPr>
        <p:spPr>
          <a:xfrm>
            <a:off x="6896100" y="4740099"/>
            <a:ext cx="514350" cy="123825"/>
          </a:xfrm>
          <a:prstGeom prst="rect">
            <a:avLst/>
          </a:prstGeom>
          <a:noFill/>
        </p:spPr>
        <p:txBody>
          <a:bodyPr wrap="none" lIns="0" rIns="0" tIns="0" bIns="0" anchor="ctr">
            <a:spAutoFit/>
          </a:bodyPr>
          <a:lstStyle/>
          <a:p>
            <a:pPr algn="r"/>
            <a:r>
              <a:rPr sz="900" b="1">
                <a:solidFill>
                  <a:srgbClr val="E44D3A"/>
                </a:solidFill>
                <a:latin typeface="Calibri"/>
              </a:rPr>
              <a:t>-81</a:t>
            </a:r>
          </a:p>
        </p:txBody>
      </p:sp>
      <p:sp>
        <p:nvSpPr>
          <p:cNvPr id="32" name="FMI Legend Chip"/>
          <p:cNvSpPr/>
          <p:nvPr/>
        </p:nvSpPr>
        <p:spPr>
          <a:xfrm>
            <a:off x="4928997" y="572277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571801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4181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Straight Hair</a:t>
            </a:r>
          </a:p>
        </p:txBody>
      </p:sp>
      <p:sp>
        <p:nvSpPr>
          <p:cNvPr id="35" name="BPS Value 5"/>
          <p:cNvSpPr txBox="1"/>
          <p:nvPr/>
        </p:nvSpPr>
        <p:spPr>
          <a:xfrm>
            <a:off x="6896100" y="5703727"/>
            <a:ext cx="514350" cy="123825"/>
          </a:xfrm>
          <a:prstGeom prst="rect">
            <a:avLst/>
          </a:prstGeom>
          <a:noFill/>
        </p:spPr>
        <p:txBody>
          <a:bodyPr wrap="none" lIns="0" rIns="0" tIns="0" bIns="0" anchor="ctr">
            <a:spAutoFit/>
          </a:bodyPr>
          <a:lstStyle/>
          <a:p>
            <a:pPr algn="r"/>
            <a:r>
              <a:rPr sz="900" b="1">
                <a:solidFill>
                  <a:srgbClr val="E44D3A"/>
                </a:solidFill>
                <a:latin typeface="Calibri"/>
              </a:rPr>
              <a:t>-235</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East Asia Read-out, By Hair Type Targeted</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hair type targeted, coily hair segment is expected to witness the highest CAGR of 7.7% over the forecast period.</a:t>
            </a:r>
          </a:p>
          <a:p>
            <a:pPr algn="l">
              <a:lnSpc>
                <a:spcPct val="110000"/>
              </a:lnSpc>
              <a:spcBef>
                <a:spcPts val="0"/>
              </a:spcBef>
              <a:spcAft>
                <a:spcPts val="500"/>
              </a:spcAft>
            </a:pPr>
            <a:r>
              <a:rPr sz="1150" b="0">
                <a:solidFill>
                  <a:srgbClr val="2E2E2E"/>
                </a:solidFill>
                <a:latin typeface="Calibri"/>
              </a:rPr>
              <a:t>In terms of value share by hair type targeted, the straight hair segment is expected to dominate the market, losing 235 BPS and accounting for 22.8%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Hair Type Targeted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Hair Type Targeted,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Growth,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Heatmap, By Hair Type Targeted (%)  ·  light = lower, dark = higher growth</a:t>
            </a:r>
          </a:p>
        </p:txBody>
      </p:sp>
      <p:sp>
        <p:nvSpPr>
          <p:cNvPr id="17" name="TextBox 16"/>
          <p:cNvSpPr txBox="1"/>
          <p:nvPr/>
        </p:nvSpPr>
        <p:spPr>
          <a:xfrm>
            <a:off x="917783"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62431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33084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03737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74390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45043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15696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86348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57001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27654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798307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68960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39613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0266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0919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Straight Hair</a:t>
            </a:r>
          </a:p>
        </p:txBody>
      </p:sp>
      <p:sp>
        <p:nvSpPr>
          <p:cNvPr id="33" name="Rectangle 32"/>
          <p:cNvSpPr/>
          <p:nvPr/>
        </p:nvSpPr>
        <p:spPr>
          <a:xfrm>
            <a:off x="917783" y="3305175"/>
            <a:ext cx="706529" cy="65341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624312" y="3305175"/>
            <a:ext cx="706529" cy="65341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330842" y="3305175"/>
            <a:ext cx="706529" cy="653415"/>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037371" y="3305175"/>
            <a:ext cx="706529" cy="65341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743901" y="3305175"/>
            <a:ext cx="706529" cy="65341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450430" y="3305175"/>
            <a:ext cx="706529" cy="653415"/>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156960" y="3305175"/>
            <a:ext cx="706529" cy="65341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863489" y="3305175"/>
            <a:ext cx="706529" cy="653415"/>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570019" y="3305175"/>
            <a:ext cx="706529" cy="653415"/>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276548" y="3305175"/>
            <a:ext cx="706529" cy="653415"/>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983078" y="3305175"/>
            <a:ext cx="706529" cy="653415"/>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689607" y="3305175"/>
            <a:ext cx="706529" cy="653415"/>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396137" y="3305175"/>
            <a:ext cx="706529" cy="653415"/>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02666" y="3305175"/>
            <a:ext cx="706529" cy="65341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09196" y="3305175"/>
            <a:ext cx="706529" cy="65341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Wavy Hair</a:t>
            </a:r>
          </a:p>
        </p:txBody>
      </p:sp>
      <p:sp>
        <p:nvSpPr>
          <p:cNvPr id="49" name="Rectangle 48"/>
          <p:cNvSpPr/>
          <p:nvPr/>
        </p:nvSpPr>
        <p:spPr>
          <a:xfrm>
            <a:off x="917783" y="3958590"/>
            <a:ext cx="706529" cy="65341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624312" y="3958590"/>
            <a:ext cx="706529" cy="65341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330842" y="3958590"/>
            <a:ext cx="706529" cy="653415"/>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037371" y="3958590"/>
            <a:ext cx="706529" cy="65341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743901" y="3958590"/>
            <a:ext cx="706529" cy="653415"/>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450430" y="3958590"/>
            <a:ext cx="706529" cy="65341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156960" y="3958590"/>
            <a:ext cx="706529" cy="653415"/>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863489" y="3958590"/>
            <a:ext cx="706529" cy="65341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570019" y="3958590"/>
            <a:ext cx="706529" cy="653415"/>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276548" y="3958590"/>
            <a:ext cx="706529" cy="653415"/>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7983078" y="3958590"/>
            <a:ext cx="706529" cy="653415"/>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689607" y="3958590"/>
            <a:ext cx="706529" cy="653415"/>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396137" y="3958590"/>
            <a:ext cx="706529" cy="653415"/>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02666" y="3958590"/>
            <a:ext cx="706529" cy="653415"/>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09196" y="3958590"/>
            <a:ext cx="706529" cy="653415"/>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Curly Hair</a:t>
            </a:r>
          </a:p>
        </p:txBody>
      </p:sp>
      <p:sp>
        <p:nvSpPr>
          <p:cNvPr id="65" name="Rectangle 64"/>
          <p:cNvSpPr/>
          <p:nvPr/>
        </p:nvSpPr>
        <p:spPr>
          <a:xfrm>
            <a:off x="917783" y="4612005"/>
            <a:ext cx="706529" cy="65341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624312" y="4612005"/>
            <a:ext cx="706529" cy="65341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330842" y="4612005"/>
            <a:ext cx="706529" cy="65341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037371" y="4612005"/>
            <a:ext cx="706529" cy="65341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743901" y="4612005"/>
            <a:ext cx="706529" cy="65341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450430" y="4612005"/>
            <a:ext cx="706529" cy="65341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156960" y="4612005"/>
            <a:ext cx="706529" cy="653415"/>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863489" y="4612005"/>
            <a:ext cx="706529" cy="653415"/>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570019" y="4612005"/>
            <a:ext cx="706529" cy="65341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276548" y="4612005"/>
            <a:ext cx="706529" cy="653415"/>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7983078" y="4612005"/>
            <a:ext cx="706529" cy="653415"/>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689607" y="4612005"/>
            <a:ext cx="706529" cy="653415"/>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396137" y="4612005"/>
            <a:ext cx="706529" cy="653415"/>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02666" y="4612005"/>
            <a:ext cx="706529" cy="653415"/>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09196" y="4612005"/>
            <a:ext cx="706529" cy="653415"/>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Coily Hair</a:t>
            </a:r>
          </a:p>
        </p:txBody>
      </p:sp>
      <p:sp>
        <p:nvSpPr>
          <p:cNvPr id="81" name="Rectangle 80"/>
          <p:cNvSpPr/>
          <p:nvPr/>
        </p:nvSpPr>
        <p:spPr>
          <a:xfrm>
            <a:off x="917783" y="5265420"/>
            <a:ext cx="706529"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624312" y="5265420"/>
            <a:ext cx="706529"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330842" y="5265420"/>
            <a:ext cx="706529" cy="65341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037371" y="5265420"/>
            <a:ext cx="706529"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743901" y="5265420"/>
            <a:ext cx="706529" cy="653415"/>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450430" y="5265420"/>
            <a:ext cx="706529" cy="653415"/>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156960" y="5265420"/>
            <a:ext cx="706529" cy="653415"/>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5863489" y="5265420"/>
            <a:ext cx="706529" cy="653415"/>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570019" y="5265420"/>
            <a:ext cx="706529" cy="653415"/>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276548" y="5265420"/>
            <a:ext cx="706529" cy="653415"/>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7983078" y="5265420"/>
            <a:ext cx="706529"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689607" y="5265420"/>
            <a:ext cx="706529" cy="65341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396137" y="5265420"/>
            <a:ext cx="706529" cy="653415"/>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02666" y="5265420"/>
            <a:ext cx="706529" cy="653415"/>
          </a:xfrm>
          <a:prstGeom prst="rect">
            <a:avLst/>
          </a:prstGeom>
          <a:solidFill>
            <a:srgbClr val="0C43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09196" y="5265420"/>
            <a:ext cx="706529" cy="653415"/>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All Hair Types</a:t>
            </a:r>
          </a:p>
        </p:txBody>
      </p:sp>
      <p:sp>
        <p:nvSpPr>
          <p:cNvPr id="97" name="Rectangle 96"/>
          <p:cNvSpPr/>
          <p:nvPr/>
        </p:nvSpPr>
        <p:spPr>
          <a:xfrm>
            <a:off x="917783" y="5918835"/>
            <a:ext cx="706529" cy="653415"/>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624312" y="5918835"/>
            <a:ext cx="706529" cy="65341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330842" y="5918835"/>
            <a:ext cx="706529" cy="65341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037371" y="5918835"/>
            <a:ext cx="706529" cy="65341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743901" y="5918835"/>
            <a:ext cx="706529" cy="653415"/>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450430" y="5918835"/>
            <a:ext cx="706529" cy="65341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156960" y="5918835"/>
            <a:ext cx="706529" cy="653415"/>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5863489" y="5918835"/>
            <a:ext cx="706529" cy="65341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570019" y="5918835"/>
            <a:ext cx="706529" cy="653415"/>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276548" y="5918835"/>
            <a:ext cx="706529" cy="65341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7983078" y="5918835"/>
            <a:ext cx="706529" cy="653415"/>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689607" y="5918835"/>
            <a:ext cx="706529" cy="65341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396137" y="5918835"/>
            <a:ext cx="706529" cy="653415"/>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02666" y="5918835"/>
            <a:ext cx="706529" cy="65341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09196" y="5918835"/>
            <a:ext cx="706529" cy="653415"/>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19.7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Ingredient 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Ingredient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Ingredient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Ingredient Technology segment categorizes the market by ingredient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Film-forming and Fixative Polymers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1,073</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1,881</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5.8%</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Volume Additives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1,037</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1,998</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6.8%</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Conditioning and Smoothing Agents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1,030</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1,880</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6.2%</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and Structuring Agents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988.5</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2,023</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7.4%</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ingredient technology, waxes and structuring agents segment is expected to witness the highest CAGR of 7.4% over the forecast period. In terms of value share by ingredient technology, the waxes and structuring agents segment is expected to dominate the market, gaining 206 BPS and accounting for 26.0% share by 2036.</a:t>
            </a:r>
          </a:p>
          <a:p>
            <a:pPr algn="l">
              <a:lnSpc>
                <a:spcPct val="110000"/>
              </a:lnSpc>
              <a:spcBef>
                <a:spcPts val="0"/>
              </a:spcBef>
              <a:spcAft>
                <a:spcPts val="500"/>
              </a:spcAft>
            </a:pPr>
            <a:r>
              <a:rPr sz="1100" b="0">
                <a:solidFill>
                  <a:srgbClr val="2E2E2E"/>
                </a:solidFill>
                <a:latin typeface="Calibri"/>
              </a:rPr>
              <a:t>Waxes and structuring agents segment is projected to register 1.0X higher value than texture and volume additives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Film-forming and Fixative Polymers: </a:t>
            </a:r>
            <a:r>
              <a:rPr sz="1100" b="0">
                <a:solidFill>
                  <a:srgbClr val="2E2E2E"/>
                </a:solidFill>
                <a:latin typeface="Calibri"/>
              </a:rPr>
              <a:t>26% of 2026 value · 5.8%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Texture and Volume Additives: </a:t>
            </a:r>
            <a:r>
              <a:rPr sz="1100" b="0">
                <a:solidFill>
                  <a:srgbClr val="2E2E2E"/>
                </a:solidFill>
                <a:latin typeface="Calibri"/>
              </a:rPr>
              <a:t>25% of 2026 value · 6.8%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Conditioning and Smoothing Agents: </a:t>
            </a:r>
            <a:r>
              <a:rPr sz="1100" b="0">
                <a:solidFill>
                  <a:srgbClr val="2E2E2E"/>
                </a:solidFill>
                <a:latin typeface="Calibri"/>
              </a:rPr>
              <a:t>25% of 2026 value · 6.2%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Waxes and Structuring Agents: </a:t>
            </a:r>
            <a:r>
              <a:rPr sz="1100" b="0">
                <a:solidFill>
                  <a:srgbClr val="2E2E2E"/>
                </a:solidFill>
                <a:latin typeface="Calibri"/>
              </a:rPr>
              <a:t>24% of 2026 value · 7.4%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Ingredient Technology split shows how demand is distributed across ingredient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Ingredient Technology segment is projected to grow at a CAGR of 6.5%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Structure &amp; Attractiveness, By Ingredient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Ingredient Technology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Ingredient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Waxes and structuring agents followed by texture and volume additives are expected to be the two most attractive ingredient technology segments in the East Asia hair styling products market in terms of value over the forecast period. Waxes and structuring agents and texture and volume additives exhibit a CAGR index of 113.5 and 103.5 and a market share index of 95.8 and 100.5 respectively, against the segment average of 100. The film-forming and fixative polymers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Ingredient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Film-forming and Fixative Polymers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Texture and Volume Additives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Conditioning and Smoothing Agents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Waxes and Structuring Agents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Ingredient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Ingredient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Ingredient Technology (US$ Mn)</a:t>
            </a:r>
          </a:p>
        </p:txBody>
      </p:sp>
      <p:graphicFrame>
        <p:nvGraphicFramePr>
          <p:cNvPr id="13" name="Table 12"/>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29200"/>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114925"/>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Analysis, By Ingredient Technology</a:t>
            </a:r>
          </a:p>
        </p:txBody>
      </p:sp>
      <p:sp>
        <p:nvSpPr>
          <p:cNvPr id="17" name="Rectangle 16"/>
          <p:cNvSpPr/>
          <p:nvPr/>
        </p:nvSpPr>
        <p:spPr>
          <a:xfrm>
            <a:off x="276225" y="5353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438775"/>
            <a:ext cx="11639550"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Waxes and structuring agents segment is projected to register 1.0X higher value than texture and volume additives segment in 2036. Among hair styling products by ingredient technology, waxes and structuring agents segment is expected to witness the highest CAGR of 7.4% over the forecast period.</a:t>
            </a:r>
          </a:p>
          <a:p>
            <a:pPr algn="l">
              <a:lnSpc>
                <a:spcPct val="110000"/>
              </a:lnSpc>
              <a:spcBef>
                <a:spcPts val="0"/>
              </a:spcBef>
              <a:spcAft>
                <a:spcPts val="500"/>
              </a:spcAft>
            </a:pPr>
            <a:r>
              <a:rPr sz="1150" b="0">
                <a:solidFill>
                  <a:srgbClr val="2E2E2E"/>
                </a:solidFill>
                <a:latin typeface="Calibri"/>
              </a:rPr>
              <a:t>In terms of value share by ingredient technology, the waxes and structuring agents segment is expected to dominate the market, gaining 206 BPS and accounting for 26.0% share by 2036. The film-forming and fixative polymers segment is expected to lose 182 BPS over the forecast period to account for 24.2%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&amp; Share Shift,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Ingredient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Composition, By Ingredient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22369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21893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1427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Conditioning and Smoothing Agents</a:t>
            </a:r>
          </a:p>
        </p:txBody>
      </p:sp>
      <p:sp>
        <p:nvSpPr>
          <p:cNvPr id="19" name="BPS Value 1"/>
          <p:cNvSpPr txBox="1"/>
          <p:nvPr/>
        </p:nvSpPr>
        <p:spPr>
          <a:xfrm>
            <a:off x="6896100" y="2204642"/>
            <a:ext cx="514350" cy="123825"/>
          </a:xfrm>
          <a:prstGeom prst="rect">
            <a:avLst/>
          </a:prstGeom>
          <a:noFill/>
        </p:spPr>
        <p:txBody>
          <a:bodyPr wrap="none" lIns="0" rIns="0" tIns="0" bIns="0" anchor="ctr">
            <a:spAutoFit/>
          </a:bodyPr>
          <a:lstStyle/>
          <a:p>
            <a:pPr algn="r"/>
            <a:r>
              <a:rPr sz="900" b="1">
                <a:solidFill>
                  <a:srgbClr val="E44D3A"/>
                </a:solidFill>
                <a:latin typeface="Calibri"/>
              </a:rPr>
              <a:t>-78</a:t>
            </a:r>
          </a:p>
        </p:txBody>
      </p:sp>
      <p:sp>
        <p:nvSpPr>
          <p:cNvPr id="20" name="FMI Legend Chip"/>
          <p:cNvSpPr/>
          <p:nvPr/>
        </p:nvSpPr>
        <p:spPr>
          <a:xfrm>
            <a:off x="4928997" y="332862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32386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24766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Film-forming and Fixative Polymers</a:t>
            </a:r>
          </a:p>
        </p:txBody>
      </p:sp>
      <p:sp>
        <p:nvSpPr>
          <p:cNvPr id="23" name="BPS Value 2"/>
          <p:cNvSpPr txBox="1"/>
          <p:nvPr/>
        </p:nvSpPr>
        <p:spPr>
          <a:xfrm>
            <a:off x="6896100" y="3309576"/>
            <a:ext cx="514350" cy="123825"/>
          </a:xfrm>
          <a:prstGeom prst="rect">
            <a:avLst/>
          </a:prstGeom>
          <a:noFill/>
        </p:spPr>
        <p:txBody>
          <a:bodyPr wrap="none" lIns="0" rIns="0" tIns="0" bIns="0" anchor="ctr">
            <a:spAutoFit/>
          </a:bodyPr>
          <a:lstStyle/>
          <a:p>
            <a:pPr algn="r"/>
            <a:r>
              <a:rPr sz="900" b="1">
                <a:solidFill>
                  <a:srgbClr val="E44D3A"/>
                </a:solidFill>
                <a:latin typeface="Calibri"/>
              </a:rPr>
              <a:t>-182</a:t>
            </a:r>
          </a:p>
        </p:txBody>
      </p:sp>
      <p:sp>
        <p:nvSpPr>
          <p:cNvPr id="24" name="FMI Legend Chip"/>
          <p:cNvSpPr/>
          <p:nvPr/>
        </p:nvSpPr>
        <p:spPr>
          <a:xfrm>
            <a:off x="4928997" y="446798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46322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38702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Volume Additives</a:t>
            </a:r>
          </a:p>
        </p:txBody>
      </p:sp>
      <p:sp>
        <p:nvSpPr>
          <p:cNvPr id="27" name="BPS Value 3"/>
          <p:cNvSpPr txBox="1"/>
          <p:nvPr/>
        </p:nvSpPr>
        <p:spPr>
          <a:xfrm>
            <a:off x="6896100" y="4448939"/>
            <a:ext cx="514350" cy="123825"/>
          </a:xfrm>
          <a:prstGeom prst="rect">
            <a:avLst/>
          </a:prstGeom>
          <a:noFill/>
        </p:spPr>
        <p:txBody>
          <a:bodyPr wrap="none" lIns="0" rIns="0" tIns="0" bIns="0" anchor="ctr">
            <a:spAutoFit/>
          </a:bodyPr>
          <a:lstStyle/>
          <a:p>
            <a:pPr algn="r"/>
            <a:r>
              <a:rPr sz="900" b="1">
                <a:solidFill>
                  <a:srgbClr val="2E7D32"/>
                </a:solidFill>
                <a:latin typeface="Calibri"/>
              </a:rPr>
              <a:t>+54</a:t>
            </a:r>
          </a:p>
        </p:txBody>
      </p:sp>
      <p:sp>
        <p:nvSpPr>
          <p:cNvPr id="28" name="FMI Legend Chip"/>
          <p:cNvSpPr/>
          <p:nvPr/>
        </p:nvSpPr>
        <p:spPr>
          <a:xfrm>
            <a:off x="4928997" y="564924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64448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56828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and Structuring Agents</a:t>
            </a:r>
          </a:p>
        </p:txBody>
      </p:sp>
      <p:sp>
        <p:nvSpPr>
          <p:cNvPr id="31" name="BPS Value 4"/>
          <p:cNvSpPr txBox="1"/>
          <p:nvPr/>
        </p:nvSpPr>
        <p:spPr>
          <a:xfrm>
            <a:off x="6896100" y="5630196"/>
            <a:ext cx="514350" cy="123825"/>
          </a:xfrm>
          <a:prstGeom prst="rect">
            <a:avLst/>
          </a:prstGeom>
          <a:noFill/>
        </p:spPr>
        <p:txBody>
          <a:bodyPr wrap="none" lIns="0" rIns="0" tIns="0" bIns="0" anchor="ctr">
            <a:spAutoFit/>
          </a:bodyPr>
          <a:lstStyle/>
          <a:p>
            <a:pPr algn="r"/>
            <a:r>
              <a:rPr sz="900" b="1">
                <a:solidFill>
                  <a:srgbClr val="2E7D32"/>
                </a:solidFill>
                <a:latin typeface="Calibri"/>
              </a:rPr>
              <a:t>+206</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East Asia Read-out, By Ingredient Technology</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ingredient technology, waxes and structuring agents segment is expected to witness the highest CAGR of 7.4% over the forecast period. In terms of value share by ingredient technology, the waxes and structuring agents segment is expected to dominate the market, gaining 206 BPS and accounting for 26.0% share by 2036.</a:t>
            </a:r>
          </a:p>
          <a:p>
            <a:pPr algn="l">
              <a:lnSpc>
                <a:spcPct val="110000"/>
              </a:lnSpc>
              <a:spcBef>
                <a:spcPts val="0"/>
              </a:spcBef>
              <a:spcAft>
                <a:spcPts val="500"/>
              </a:spcAft>
            </a:pPr>
            <a:r>
              <a:rPr sz="1150" b="0">
                <a:solidFill>
                  <a:srgbClr val="2E2E2E"/>
                </a:solidFill>
                <a:latin typeface="Calibri"/>
              </a:rPr>
              <a:t>The film-forming and fixative polymers segment is expected to lose 182 BPS over the forecast period to account for 24.2% share by 2036.</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Ingredient Technology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3695700"/>
          </a:xfrm>
          <a:prstGeom prst="roundRect">
            <a:avLst>
              <a:gd name="adj" fmla="val 20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Growth,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3228975"/>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76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Ingredient Technology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Heatmap, By Ingredient Technology (%)  ·  light = lower, dark = higher growth</a:t>
            </a:r>
          </a:p>
        </p:txBody>
      </p:sp>
      <p:sp>
        <p:nvSpPr>
          <p:cNvPr id="12" name="TextBox 11"/>
          <p:cNvSpPr txBox="1"/>
          <p:nvPr/>
        </p:nvSpPr>
        <p:spPr>
          <a:xfrm>
            <a:off x="2178532"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80101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42349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404597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66845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29093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91340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53588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15836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78084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40332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902580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64828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7076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93245"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Film-forming and Fixative Polymers</a:t>
            </a:r>
          </a:p>
        </p:txBody>
      </p:sp>
      <p:sp>
        <p:nvSpPr>
          <p:cNvPr id="28" name="Rectangle 27"/>
          <p:cNvSpPr/>
          <p:nvPr/>
        </p:nvSpPr>
        <p:spPr>
          <a:xfrm>
            <a:off x="2178532" y="1409700"/>
            <a:ext cx="622480" cy="36875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801011" y="1409700"/>
            <a:ext cx="622480" cy="36875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423491" y="1409700"/>
            <a:ext cx="622480" cy="36875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4045971" y="1409700"/>
            <a:ext cx="622480" cy="36875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668450" y="1409700"/>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290930" y="1409700"/>
            <a:ext cx="622480"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409" y="1409700"/>
            <a:ext cx="622480" cy="36875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535889" y="1409700"/>
            <a:ext cx="622480" cy="368754"/>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158368" y="1409700"/>
            <a:ext cx="622480" cy="36875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780848" y="1409700"/>
            <a:ext cx="622480" cy="368754"/>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403327" y="1409700"/>
            <a:ext cx="622480" cy="368754"/>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9025807" y="1409700"/>
            <a:ext cx="622480" cy="36875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648286" y="1409700"/>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70766" y="1409700"/>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93245" y="1409700"/>
            <a:ext cx="622480" cy="36875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7845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Polymers</a:t>
            </a:r>
          </a:p>
        </p:txBody>
      </p:sp>
      <p:sp>
        <p:nvSpPr>
          <p:cNvPr id="44" name="Rectangle 43"/>
          <p:cNvSpPr/>
          <p:nvPr/>
        </p:nvSpPr>
        <p:spPr>
          <a:xfrm>
            <a:off x="2178532" y="1778454"/>
            <a:ext cx="622480" cy="36875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801011" y="1778454"/>
            <a:ext cx="622480" cy="36875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423491" y="1778454"/>
            <a:ext cx="622480" cy="36875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4045971" y="1778454"/>
            <a:ext cx="622480" cy="36875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668450" y="1778454"/>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290930" y="1778454"/>
            <a:ext cx="622480" cy="368754"/>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913409" y="1778454"/>
            <a:ext cx="622480" cy="36875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535889" y="1778454"/>
            <a:ext cx="622480" cy="368754"/>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158368" y="1778454"/>
            <a:ext cx="622480" cy="36875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780848" y="1778454"/>
            <a:ext cx="622480" cy="36875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403327" y="1778454"/>
            <a:ext cx="622480" cy="36875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9025807" y="1778454"/>
            <a:ext cx="622480" cy="368754"/>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648286" y="1778454"/>
            <a:ext cx="622480" cy="36875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70766" y="1778454"/>
            <a:ext cx="622480" cy="368754"/>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93245" y="1778454"/>
            <a:ext cx="622480" cy="368754"/>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147207"/>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Bio-based Polymers</a:t>
            </a:r>
          </a:p>
        </p:txBody>
      </p:sp>
      <p:sp>
        <p:nvSpPr>
          <p:cNvPr id="60" name="Rectangle 59"/>
          <p:cNvSpPr/>
          <p:nvPr/>
        </p:nvSpPr>
        <p:spPr>
          <a:xfrm>
            <a:off x="2178532" y="2147207"/>
            <a:ext cx="622480" cy="368754"/>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801011" y="2147207"/>
            <a:ext cx="622480" cy="36875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423491" y="2147207"/>
            <a:ext cx="622480" cy="36875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4045971" y="2147207"/>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668450" y="2147207"/>
            <a:ext cx="622480" cy="368754"/>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290930" y="2147207"/>
            <a:ext cx="622480" cy="36875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913409" y="2147207"/>
            <a:ext cx="622480" cy="36875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535889" y="2147207"/>
            <a:ext cx="622480" cy="36875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158368" y="2147207"/>
            <a:ext cx="622480" cy="368754"/>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780848" y="2147207"/>
            <a:ext cx="622480"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403327" y="2147207"/>
            <a:ext cx="622480" cy="36875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9025807" y="2147207"/>
            <a:ext cx="622480" cy="368754"/>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48286" y="2147207"/>
            <a:ext cx="622480" cy="36875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70766" y="2147207"/>
            <a:ext cx="622480" cy="36875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93245" y="2147207"/>
            <a:ext cx="622480" cy="36875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51596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Biodegradable Polymers</a:t>
            </a:r>
          </a:p>
        </p:txBody>
      </p:sp>
      <p:sp>
        <p:nvSpPr>
          <p:cNvPr id="76" name="Rectangle 75"/>
          <p:cNvSpPr/>
          <p:nvPr/>
        </p:nvSpPr>
        <p:spPr>
          <a:xfrm>
            <a:off x="2178532" y="2515961"/>
            <a:ext cx="622480" cy="36875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801011" y="2515961"/>
            <a:ext cx="622480" cy="368754"/>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423491" y="2515961"/>
            <a:ext cx="622480" cy="36875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4045971" y="2515961"/>
            <a:ext cx="622480"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668450" y="2515961"/>
            <a:ext cx="622480" cy="36875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290930" y="2515961"/>
            <a:ext cx="622480" cy="36875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913409" y="2515961"/>
            <a:ext cx="622480" cy="36875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535889" y="2515961"/>
            <a:ext cx="622480" cy="36875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158368" y="2515961"/>
            <a:ext cx="622480" cy="368754"/>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780848" y="2515961"/>
            <a:ext cx="622480" cy="368754"/>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403327" y="2515961"/>
            <a:ext cx="622480" cy="36875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9025807" y="2515961"/>
            <a:ext cx="622480" cy="368754"/>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648286" y="2515961"/>
            <a:ext cx="622480" cy="368754"/>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70766" y="2515961"/>
            <a:ext cx="622480" cy="36875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93245" y="2515961"/>
            <a:ext cx="622480" cy="36875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88471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Texture and Volume Additives</a:t>
            </a:r>
          </a:p>
        </p:txBody>
      </p:sp>
      <p:sp>
        <p:nvSpPr>
          <p:cNvPr id="92" name="Rectangle 91"/>
          <p:cNvSpPr/>
          <p:nvPr/>
        </p:nvSpPr>
        <p:spPr>
          <a:xfrm>
            <a:off x="2178532" y="2884714"/>
            <a:ext cx="622480"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801011" y="2884714"/>
            <a:ext cx="622480" cy="368754"/>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423491" y="2884714"/>
            <a:ext cx="622480" cy="36875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4045971" y="2884714"/>
            <a:ext cx="622480" cy="368754"/>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668450" y="2884714"/>
            <a:ext cx="622480" cy="36875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290930" y="2884714"/>
            <a:ext cx="622480" cy="36875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913409" y="2884714"/>
            <a:ext cx="622480" cy="368754"/>
          </a:xfrm>
          <a:prstGeom prst="rect">
            <a:avLst/>
          </a:prstGeom>
          <a:solidFill>
            <a:srgbClr val="A2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535889" y="2884714"/>
            <a:ext cx="622480" cy="368754"/>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158368" y="2884714"/>
            <a:ext cx="622480" cy="368754"/>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780848" y="2884714"/>
            <a:ext cx="622480" cy="368754"/>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403327" y="2884714"/>
            <a:ext cx="622480" cy="368754"/>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9025807" y="2884714"/>
            <a:ext cx="622480" cy="36875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648286" y="2884714"/>
            <a:ext cx="622480" cy="368754"/>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70766" y="2884714"/>
            <a:ext cx="622480" cy="368754"/>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93245" y="2884714"/>
            <a:ext cx="622480" cy="368754"/>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253468"/>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Silica-based Additives</a:t>
            </a:r>
          </a:p>
        </p:txBody>
      </p:sp>
      <p:sp>
        <p:nvSpPr>
          <p:cNvPr id="108" name="Rectangle 107"/>
          <p:cNvSpPr/>
          <p:nvPr/>
        </p:nvSpPr>
        <p:spPr>
          <a:xfrm>
            <a:off x="2178532" y="3253468"/>
            <a:ext cx="622480" cy="368754"/>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801011" y="3253468"/>
            <a:ext cx="622480" cy="368754"/>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423491" y="3253468"/>
            <a:ext cx="622480" cy="368754"/>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4045971" y="3253468"/>
            <a:ext cx="622480" cy="36875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668450" y="3253468"/>
            <a:ext cx="622480"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290930" y="3253468"/>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913409" y="3253468"/>
            <a:ext cx="622480" cy="36875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535889" y="3253468"/>
            <a:ext cx="622480" cy="368754"/>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158368" y="3253468"/>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780848" y="3253468"/>
            <a:ext cx="622480" cy="36875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403327" y="3253468"/>
            <a:ext cx="622480" cy="36875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9025807" y="3253468"/>
            <a:ext cx="622480" cy="36875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648286" y="3253468"/>
            <a:ext cx="622480" cy="36875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70766" y="3253468"/>
            <a:ext cx="622480" cy="368754"/>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93245" y="3253468"/>
            <a:ext cx="622480" cy="368754"/>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62222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Starch-based Additives</a:t>
            </a:r>
          </a:p>
        </p:txBody>
      </p:sp>
      <p:sp>
        <p:nvSpPr>
          <p:cNvPr id="124" name="Rectangle 123"/>
          <p:cNvSpPr/>
          <p:nvPr/>
        </p:nvSpPr>
        <p:spPr>
          <a:xfrm>
            <a:off x="2178532" y="3622221"/>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801011" y="3622221"/>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423491" y="3622221"/>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4045971" y="3622221"/>
            <a:ext cx="622480" cy="36875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668450" y="3622221"/>
            <a:ext cx="622480" cy="36875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290930" y="3622221"/>
            <a:ext cx="622480" cy="36875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913409" y="3622221"/>
            <a:ext cx="622480" cy="36875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535889" y="3622221"/>
            <a:ext cx="622480" cy="368754"/>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158368" y="3622221"/>
            <a:ext cx="622480" cy="36875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780848" y="3622221"/>
            <a:ext cx="622480" cy="368754"/>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403327" y="3622221"/>
            <a:ext cx="622480" cy="36875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9025807" y="3622221"/>
            <a:ext cx="622480" cy="368754"/>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648286" y="3622221"/>
            <a:ext cx="622480" cy="368754"/>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70766" y="3622221"/>
            <a:ext cx="622480" cy="368754"/>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93245" y="3622221"/>
            <a:ext cx="622480" cy="368754"/>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990975"/>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Other Mineral and Plant-based Additives</a:t>
            </a:r>
          </a:p>
        </p:txBody>
      </p:sp>
      <p:sp>
        <p:nvSpPr>
          <p:cNvPr id="140" name="Rectangle 139"/>
          <p:cNvSpPr/>
          <p:nvPr/>
        </p:nvSpPr>
        <p:spPr>
          <a:xfrm>
            <a:off x="2178532" y="3990975"/>
            <a:ext cx="622480" cy="368754"/>
          </a:xfrm>
          <a:prstGeom prst="rect">
            <a:avLst/>
          </a:prstGeom>
          <a:solidFill>
            <a:srgbClr val="E6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801011" y="3990975"/>
            <a:ext cx="622480" cy="36875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423491" y="3990975"/>
            <a:ext cx="622480" cy="368754"/>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4045971" y="3990975"/>
            <a:ext cx="622480" cy="36875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668450" y="3990975"/>
            <a:ext cx="622480" cy="36875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290930" y="3990975"/>
            <a:ext cx="622480" cy="36875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913409" y="3990975"/>
            <a:ext cx="622480" cy="36875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535889" y="3990975"/>
            <a:ext cx="622480" cy="368754"/>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158368" y="3990975"/>
            <a:ext cx="622480" cy="368754"/>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780848" y="3990975"/>
            <a:ext cx="622480" cy="36875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403327" y="3990975"/>
            <a:ext cx="622480" cy="368754"/>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9025807" y="3990975"/>
            <a:ext cx="622480" cy="368754"/>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648286" y="3990975"/>
            <a:ext cx="622480" cy="368754"/>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70766" y="3990975"/>
            <a:ext cx="622480" cy="36875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93245" y="3990975"/>
            <a:ext cx="622480" cy="368754"/>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35972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Conditioning and Smoothing Agents</a:t>
            </a:r>
          </a:p>
        </p:txBody>
      </p:sp>
      <p:sp>
        <p:nvSpPr>
          <p:cNvPr id="156" name="Rectangle 155"/>
          <p:cNvSpPr/>
          <p:nvPr/>
        </p:nvSpPr>
        <p:spPr>
          <a:xfrm>
            <a:off x="2178532" y="4359729"/>
            <a:ext cx="622480" cy="368754"/>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801011" y="4359729"/>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423491" y="4359729"/>
            <a:ext cx="622480" cy="368754"/>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4045971" y="4359729"/>
            <a:ext cx="622480" cy="36875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668450" y="4359729"/>
            <a:ext cx="622480" cy="36875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90930" y="4359729"/>
            <a:ext cx="622480" cy="368754"/>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913409" y="4359729"/>
            <a:ext cx="622480" cy="36875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535889" y="4359729"/>
            <a:ext cx="622480" cy="36875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158368" y="4359729"/>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780848" y="4359729"/>
            <a:ext cx="622480" cy="368754"/>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403327" y="4359729"/>
            <a:ext cx="622480" cy="368754"/>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9025807" y="4359729"/>
            <a:ext cx="622480" cy="368754"/>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648286" y="4359729"/>
            <a:ext cx="622480" cy="368754"/>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70766" y="4359729"/>
            <a:ext cx="622480" cy="368754"/>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93245" y="4359729"/>
            <a:ext cx="622480" cy="368754"/>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728482"/>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Silicone-based</a:t>
            </a:r>
          </a:p>
        </p:txBody>
      </p:sp>
      <p:sp>
        <p:nvSpPr>
          <p:cNvPr id="172" name="Rectangle 171"/>
          <p:cNvSpPr/>
          <p:nvPr/>
        </p:nvSpPr>
        <p:spPr>
          <a:xfrm>
            <a:off x="2178532" y="4728482"/>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801011" y="4728482"/>
            <a:ext cx="622480" cy="36875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423491" y="4728482"/>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4045971" y="4728482"/>
            <a:ext cx="622480" cy="36875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668450" y="4728482"/>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290930" y="4728482"/>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913409" y="4728482"/>
            <a:ext cx="622480" cy="36875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535889" y="4728482"/>
            <a:ext cx="622480" cy="36875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158368" y="4728482"/>
            <a:ext cx="622480" cy="36875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780848" y="4728482"/>
            <a:ext cx="622480" cy="36875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403327" y="4728482"/>
            <a:ext cx="622480" cy="36875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9025807" y="4728482"/>
            <a:ext cx="622480" cy="36875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648286" y="4728482"/>
            <a:ext cx="622480" cy="368754"/>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70766" y="4728482"/>
            <a:ext cx="622480" cy="368754"/>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93245" y="4728482"/>
            <a:ext cx="622480" cy="368754"/>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09723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Silicone-free</a:t>
            </a:r>
          </a:p>
        </p:txBody>
      </p:sp>
      <p:sp>
        <p:nvSpPr>
          <p:cNvPr id="188" name="Rectangle 187"/>
          <p:cNvSpPr/>
          <p:nvPr/>
        </p:nvSpPr>
        <p:spPr>
          <a:xfrm>
            <a:off x="2178532" y="5097236"/>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801011" y="5097236"/>
            <a:ext cx="622480" cy="368754"/>
          </a:xfrm>
          <a:prstGeom prst="rect">
            <a:avLst/>
          </a:prstGeom>
          <a:solidFill>
            <a:srgbClr val="D6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423491" y="5097236"/>
            <a:ext cx="622480" cy="36875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4045971" y="5097236"/>
            <a:ext cx="622480" cy="36875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668450" y="5097236"/>
            <a:ext cx="622480" cy="36875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290930" y="5097236"/>
            <a:ext cx="622480" cy="368754"/>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913409" y="5097236"/>
            <a:ext cx="622480" cy="368754"/>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535889" y="5097236"/>
            <a:ext cx="622480" cy="368754"/>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158368" y="5097236"/>
            <a:ext cx="622480" cy="368754"/>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780848" y="5097236"/>
            <a:ext cx="622480" cy="368754"/>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403327" y="5097236"/>
            <a:ext cx="622480" cy="36875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9025807" y="5097236"/>
            <a:ext cx="622480" cy="36875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648286" y="5097236"/>
            <a:ext cx="622480" cy="368754"/>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70766" y="5097236"/>
            <a:ext cx="622480" cy="36875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93245" y="5097236"/>
            <a:ext cx="622480" cy="368754"/>
          </a:xfrm>
          <a:prstGeom prst="rect">
            <a:avLst/>
          </a:prstGeom>
          <a:solidFill>
            <a:srgbClr val="43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46598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Waxes and Structuring Agents</a:t>
            </a:r>
          </a:p>
        </p:txBody>
      </p:sp>
      <p:sp>
        <p:nvSpPr>
          <p:cNvPr id="204" name="Rectangle 203"/>
          <p:cNvSpPr/>
          <p:nvPr/>
        </p:nvSpPr>
        <p:spPr>
          <a:xfrm>
            <a:off x="2178532" y="5465989"/>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801011" y="5465989"/>
            <a:ext cx="622480" cy="368754"/>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423491" y="5465989"/>
            <a:ext cx="622480" cy="36875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4045971" y="5465989"/>
            <a:ext cx="622480" cy="368754"/>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668450" y="5465989"/>
            <a:ext cx="622480" cy="36875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290930" y="5465989"/>
            <a:ext cx="622480" cy="368754"/>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913409" y="5465989"/>
            <a:ext cx="622480" cy="368754"/>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535889" y="5465989"/>
            <a:ext cx="622480" cy="368754"/>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158368" y="5465989"/>
            <a:ext cx="622480" cy="368754"/>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780848" y="5465989"/>
            <a:ext cx="622480" cy="368754"/>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403327" y="5465989"/>
            <a:ext cx="622480" cy="368754"/>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9025807" y="5465989"/>
            <a:ext cx="622480" cy="368754"/>
          </a:xfrm>
          <a:prstGeom prst="rect">
            <a:avLst/>
          </a:prstGeom>
          <a:solidFill>
            <a:srgbClr val="0E6A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648286" y="5465989"/>
            <a:ext cx="622480" cy="368754"/>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70766" y="5465989"/>
            <a:ext cx="622480" cy="368754"/>
          </a:xfrm>
          <a:prstGeom prst="rect">
            <a:avLst/>
          </a:prstGeom>
          <a:solidFill>
            <a:srgbClr val="0E6C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93245" y="5465989"/>
            <a:ext cx="622480" cy="368754"/>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834743"/>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Waxes</a:t>
            </a:r>
          </a:p>
        </p:txBody>
      </p:sp>
      <p:sp>
        <p:nvSpPr>
          <p:cNvPr id="220" name="Rectangle 219"/>
          <p:cNvSpPr/>
          <p:nvPr/>
        </p:nvSpPr>
        <p:spPr>
          <a:xfrm>
            <a:off x="2178532" y="5834743"/>
            <a:ext cx="622480" cy="36875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801011" y="5834743"/>
            <a:ext cx="622480" cy="36875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423491" y="5834743"/>
            <a:ext cx="622480" cy="368754"/>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4045971" y="5834743"/>
            <a:ext cx="622480" cy="368754"/>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668450" y="5834743"/>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290930" y="5834743"/>
            <a:ext cx="622480" cy="36875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913409" y="5834743"/>
            <a:ext cx="622480" cy="368754"/>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535889" y="5834743"/>
            <a:ext cx="622480" cy="368754"/>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158368" y="5834743"/>
            <a:ext cx="622480" cy="36875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780848" y="5834743"/>
            <a:ext cx="622480" cy="368754"/>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403327" y="5834743"/>
            <a:ext cx="622480" cy="36875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9025807" y="5834743"/>
            <a:ext cx="622480" cy="368754"/>
          </a:xfrm>
          <a:prstGeom prst="rect">
            <a:avLst/>
          </a:prstGeom>
          <a:solidFill>
            <a:srgbClr val="2B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648286" y="5834743"/>
            <a:ext cx="622480" cy="36875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70766" y="5834743"/>
            <a:ext cx="622480" cy="36875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93245" y="5834743"/>
            <a:ext cx="622480" cy="368754"/>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620349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Plant-derived Waxes</a:t>
            </a:r>
          </a:p>
        </p:txBody>
      </p:sp>
      <p:sp>
        <p:nvSpPr>
          <p:cNvPr id="236" name="Rectangle 235"/>
          <p:cNvSpPr/>
          <p:nvPr/>
        </p:nvSpPr>
        <p:spPr>
          <a:xfrm>
            <a:off x="2178532" y="6203496"/>
            <a:ext cx="622480" cy="36875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801011" y="6203496"/>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423491" y="6203496"/>
            <a:ext cx="622480" cy="368754"/>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4045971" y="6203496"/>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668450" y="6203496"/>
            <a:ext cx="622480"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290930" y="6203496"/>
            <a:ext cx="622480" cy="368754"/>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913409" y="6203496"/>
            <a:ext cx="622480" cy="368754"/>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535889" y="6203496"/>
            <a:ext cx="622480" cy="368754"/>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158368" y="6203496"/>
            <a:ext cx="622480" cy="368754"/>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780848" y="6203496"/>
            <a:ext cx="622480" cy="368754"/>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403327" y="6203496"/>
            <a:ext cx="622480" cy="36875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9025807" y="6203496"/>
            <a:ext cx="622480" cy="368754"/>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648286" y="6203496"/>
            <a:ext cx="622480" cy="368754"/>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70766" y="6203496"/>
            <a:ext cx="622480" cy="368754"/>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93245" y="6203496"/>
            <a:ext cx="622480" cy="368754"/>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293" name="TextBox 292"/>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94" name="TextBox 293"/>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95" name="TextBox 29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8.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807210"/>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2112010"/>
            <a:ext cx="7239000" cy="971550"/>
          </a:xfrm>
          <a:prstGeom prst="rect">
            <a:avLst/>
          </a:prstGeom>
          <a:noFill/>
        </p:spPr>
        <p:txBody>
          <a:bodyPr wrap="square" lIns="0" rIns="0" tIns="0">
            <a:spAutoFit/>
          </a:bodyPr>
          <a:lstStyle/>
          <a:p>
            <a:r>
              <a:rPr sz="3000" b="1" cap="all" spc="400">
                <a:solidFill>
                  <a:srgbClr val="FFFFFF"/>
                </a:solidFill>
                <a:latin typeface="Calibri"/>
              </a:rPr>
              <a:t>South Asia &amp; Pacific Market Outlook</a:t>
            </a:r>
          </a:p>
        </p:txBody>
      </p:sp>
      <p:sp>
        <p:nvSpPr>
          <p:cNvPr id="7" name="TextBox 6"/>
          <p:cNvSpPr txBox="1"/>
          <p:nvPr/>
        </p:nvSpPr>
        <p:spPr>
          <a:xfrm>
            <a:off x="914400" y="3274060"/>
            <a:ext cx="7124700" cy="320548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South Asia &amp; Pacific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South Asia &amp; Pacific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South Asia &amp; Pacific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Hold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Finish</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Primary Styling Benefit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Hair Type Targeted</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Ingredient Technology</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49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South Asia &amp; Pacific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Market Summary, By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South Asia &amp; Pacific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(MN UNITS)</a:t>
            </a:r>
          </a:p>
          <a:p>
            <a:pPr algn="ctr">
              <a:lnSpc>
                <a:spcPct val="95000"/>
              </a:lnSpc>
            </a:pPr>
            <a:r>
              <a:rPr sz="1500" b="1">
                <a:solidFill>
                  <a:srgbClr val="0E72AE"/>
                </a:solidFill>
                <a:latin typeface="Calibri"/>
              </a:rPr>
              <a:t>1,208</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2,301</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5.0%</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6.7%</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(Mn Units)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South Asia &amp; Pacific hair styling products market is projected to register 2.0X increase in volume by the end of forecast period, 2036. South Asia &amp; Pacific hair styling products market volume stood at 1,147 Mn Units in 2025 and is expected to reach 2,301 Mn Units by 2036 end, at a CAGR of 6.7%.</a:t>
            </a:r>
          </a:p>
          <a:p>
            <a:pPr algn="l">
              <a:lnSpc>
                <a:spcPct val="110000"/>
              </a:lnSpc>
              <a:spcBef>
                <a:spcPts val="0"/>
              </a:spcBef>
              <a:spcAft>
                <a:spcPts val="500"/>
              </a:spcAft>
            </a:pPr>
            <a:r>
              <a:rPr sz="1100" b="0">
                <a:solidFill>
                  <a:srgbClr val="2E2E2E"/>
                </a:solidFill>
                <a:latin typeface="Calibri"/>
              </a:rPr>
              <a:t>Value is projected to grow faster than volume over the forecast period, owing to an increase in average selling price.</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'Philippines' leads regional growth at 7.7%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'Gels and Jellies'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Format  ·  range across 2021–2036 (US$/Units)</a:t>
            </a:r>
          </a:p>
        </p:txBody>
      </p:sp>
      <p:cxnSp>
        <p:nvCxnSpPr>
          <p:cNvPr id="13" name="Connector 12"/>
          <p:cNvCxnSpPr/>
          <p:nvPr/>
        </p:nvCxnSpPr>
        <p:spPr>
          <a:xfrm>
            <a:off x="657225" y="310071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68877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27683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86488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64777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10071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68877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27683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86488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03404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0.666</a:t>
            </a:r>
          </a:p>
        </p:txBody>
      </p:sp>
      <p:sp>
        <p:nvSpPr>
          <p:cNvPr id="25" name="FMI Scale tick"/>
          <p:cNvSpPr txBox="1"/>
          <p:nvPr/>
        </p:nvSpPr>
        <p:spPr>
          <a:xfrm>
            <a:off x="219075" y="2210155"/>
            <a:ext cx="381000" cy="133350"/>
          </a:xfrm>
          <a:prstGeom prst="rect">
            <a:avLst/>
          </a:prstGeom>
          <a:noFill/>
        </p:spPr>
        <p:txBody>
          <a:bodyPr wrap="none" lIns="0" rIns="0" tIns="0" bIns="0" anchor="ctr">
            <a:spAutoFit/>
          </a:bodyPr>
          <a:lstStyle/>
          <a:p>
            <a:pPr algn="r"/>
            <a:r>
              <a:rPr sz="1100" b="0">
                <a:solidFill>
                  <a:srgbClr val="6C7A89"/>
                </a:solidFill>
                <a:latin typeface="Calibri"/>
              </a:rPr>
              <a:t>1.67</a:t>
            </a:r>
          </a:p>
        </p:txBody>
      </p:sp>
      <p:sp>
        <p:nvSpPr>
          <p:cNvPr id="26" name="FMI Scale tick"/>
          <p:cNvSpPr txBox="1"/>
          <p:nvPr/>
        </p:nvSpPr>
        <p:spPr>
          <a:xfrm>
            <a:off x="219075" y="1386270"/>
            <a:ext cx="381000" cy="133350"/>
          </a:xfrm>
          <a:prstGeom prst="rect">
            <a:avLst/>
          </a:prstGeom>
          <a:noFill/>
        </p:spPr>
        <p:txBody>
          <a:bodyPr wrap="none" lIns="0" rIns="0" tIns="0" bIns="0" anchor="ctr">
            <a:spAutoFit/>
          </a:bodyPr>
          <a:lstStyle/>
          <a:p>
            <a:pPr algn="r"/>
            <a:r>
              <a:rPr sz="1100" b="0">
                <a:solidFill>
                  <a:srgbClr val="6C7A89"/>
                </a:solidFill>
                <a:latin typeface="Calibri"/>
              </a:rPr>
              <a:t>2.66</a:t>
            </a:r>
          </a:p>
        </p:txBody>
      </p:sp>
      <p:cxnSp>
        <p:nvCxnSpPr>
          <p:cNvPr id="27" name="Connector 26"/>
          <p:cNvCxnSpPr/>
          <p:nvPr/>
        </p:nvCxnSpPr>
        <p:spPr>
          <a:xfrm flipV="1">
            <a:off x="1095375" y="2348329"/>
            <a:ext cx="0" cy="106262"/>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963930" y="245459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963930" y="2348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876300" y="2401396"/>
            <a:ext cx="438150" cy="4945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876300" y="243667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19592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1.47</a:t>
            </a:r>
          </a:p>
        </p:txBody>
      </p:sp>
      <p:cxnSp>
        <p:nvCxnSpPr>
          <p:cNvPr id="33" name="Connector 32"/>
          <p:cNvCxnSpPr/>
          <p:nvPr/>
        </p:nvCxnSpPr>
        <p:spPr>
          <a:xfrm flipV="1">
            <a:off x="1971675" y="2813843"/>
            <a:ext cx="0" cy="74064"/>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840230" y="288790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1840230" y="281384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752600" y="2850524"/>
            <a:ext cx="438150" cy="34680"/>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1752600" y="2874605"/>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1533525" y="2661443"/>
            <a:ext cx="876300" cy="133350"/>
          </a:xfrm>
          <a:prstGeom prst="rect">
            <a:avLst/>
          </a:prstGeom>
          <a:noFill/>
        </p:spPr>
        <p:txBody>
          <a:bodyPr wrap="square" lIns="28575" rIns="28575" tIns="9525" bIns="9525">
            <a:spAutoFit/>
          </a:bodyPr>
          <a:lstStyle/>
          <a:p>
            <a:pPr algn="ctr"/>
            <a:r>
              <a:rPr sz="1100" b="1">
                <a:solidFill>
                  <a:srgbClr val="0B2E4A"/>
                </a:solidFill>
                <a:latin typeface="Calibri"/>
              </a:rPr>
              <a:t>0.941</a:t>
            </a:r>
          </a:p>
        </p:txBody>
      </p:sp>
      <p:cxnSp>
        <p:nvCxnSpPr>
          <p:cNvPr id="39" name="Connector 38"/>
          <p:cNvCxnSpPr/>
          <p:nvPr/>
        </p:nvCxnSpPr>
        <p:spPr>
          <a:xfrm flipV="1">
            <a:off x="2847975" y="2839667"/>
            <a:ext cx="0" cy="70921"/>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2716530" y="291058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2716530" y="283966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2628900" y="2875672"/>
            <a:ext cx="438150" cy="33454"/>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2628900" y="2898756"/>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2409825" y="2687267"/>
            <a:ext cx="876300" cy="133350"/>
          </a:xfrm>
          <a:prstGeom prst="rect">
            <a:avLst/>
          </a:prstGeom>
          <a:noFill/>
        </p:spPr>
        <p:txBody>
          <a:bodyPr wrap="square" lIns="28575" rIns="28575" tIns="9525" bIns="9525">
            <a:spAutoFit/>
          </a:bodyPr>
          <a:lstStyle/>
          <a:p>
            <a:pPr algn="ctr"/>
            <a:r>
              <a:rPr sz="1100" b="1">
                <a:solidFill>
                  <a:srgbClr val="0B2E4A"/>
                </a:solidFill>
                <a:latin typeface="Calibri"/>
              </a:rPr>
              <a:t>0.911</a:t>
            </a:r>
          </a:p>
        </p:txBody>
      </p:sp>
      <p:cxnSp>
        <p:nvCxnSpPr>
          <p:cNvPr id="45" name="Connector 44"/>
          <p:cNvCxnSpPr/>
          <p:nvPr/>
        </p:nvCxnSpPr>
        <p:spPr>
          <a:xfrm flipV="1">
            <a:off x="3724275" y="2454812"/>
            <a:ext cx="0" cy="14949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3592830" y="260430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3592830" y="245481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3505200" y="2517772"/>
            <a:ext cx="438150" cy="79217"/>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3505200" y="256392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286125" y="2302412"/>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1.32</a:t>
            </a:r>
          </a:p>
        </p:txBody>
      </p:sp>
      <p:cxnSp>
        <p:nvCxnSpPr>
          <p:cNvPr id="51" name="Connector 50"/>
          <p:cNvCxnSpPr/>
          <p:nvPr/>
        </p:nvCxnSpPr>
        <p:spPr>
          <a:xfrm flipV="1">
            <a:off x="4600575" y="2073934"/>
            <a:ext cx="0" cy="172636"/>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4469130" y="2246570"/>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4469130" y="207393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4381500" y="2152320"/>
            <a:ext cx="438150" cy="91151"/>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5" name="Connector 54"/>
          <p:cNvCxnSpPr/>
          <p:nvPr/>
        </p:nvCxnSpPr>
        <p:spPr>
          <a:xfrm>
            <a:off x="4381500" y="220765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4162425" y="1921534"/>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1.75</a:t>
            </a:r>
          </a:p>
        </p:txBody>
      </p:sp>
      <p:cxnSp>
        <p:nvCxnSpPr>
          <p:cNvPr id="57" name="Connector 56"/>
          <p:cNvCxnSpPr/>
          <p:nvPr/>
        </p:nvCxnSpPr>
        <p:spPr>
          <a:xfrm flipV="1">
            <a:off x="5476875" y="2236679"/>
            <a:ext cx="0" cy="150426"/>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5345430" y="238710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5345430" y="223667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5257800" y="2306581"/>
            <a:ext cx="438150" cy="75434"/>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1" name="Connector 60"/>
          <p:cNvCxnSpPr/>
          <p:nvPr/>
        </p:nvCxnSpPr>
        <p:spPr>
          <a:xfrm>
            <a:off x="5257800" y="235218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5038725" y="208427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1.57</a:t>
            </a:r>
          </a:p>
        </p:txBody>
      </p:sp>
      <p:cxnSp>
        <p:nvCxnSpPr>
          <p:cNvPr id="63" name="Connector 62"/>
          <p:cNvCxnSpPr/>
          <p:nvPr/>
        </p:nvCxnSpPr>
        <p:spPr>
          <a:xfrm flipV="1">
            <a:off x="6353175" y="1643073"/>
            <a:ext cx="0" cy="144852"/>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6221730" y="178792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6221730" y="164307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6134100" y="1720155"/>
            <a:ext cx="438150" cy="6053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7" name="Connector 66"/>
          <p:cNvCxnSpPr/>
          <p:nvPr/>
        </p:nvCxnSpPr>
        <p:spPr>
          <a:xfrm>
            <a:off x="6134100" y="176380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5915025" y="1490673"/>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2.29</a:t>
            </a:r>
          </a:p>
        </p:txBody>
      </p:sp>
      <p:cxnSp>
        <p:nvCxnSpPr>
          <p:cNvPr id="69" name="Connector 68"/>
          <p:cNvCxnSpPr/>
          <p:nvPr/>
        </p:nvCxnSpPr>
        <p:spPr>
          <a:xfrm flipV="1">
            <a:off x="7229475" y="1905664"/>
            <a:ext cx="0" cy="161154"/>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0" name="Connector 69"/>
          <p:cNvCxnSpPr/>
          <p:nvPr/>
        </p:nvCxnSpPr>
        <p:spPr>
          <a:xfrm>
            <a:off x="7098030" y="206681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1" name="Connector 70"/>
          <p:cNvCxnSpPr/>
          <p:nvPr/>
        </p:nvCxnSpPr>
        <p:spPr>
          <a:xfrm>
            <a:off x="7098030" y="190566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72" name="Rectangle 71"/>
          <p:cNvSpPr/>
          <p:nvPr/>
        </p:nvSpPr>
        <p:spPr>
          <a:xfrm>
            <a:off x="7010400" y="1974871"/>
            <a:ext cx="438150" cy="8636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3" name="Connector 72"/>
          <p:cNvCxnSpPr/>
          <p:nvPr/>
        </p:nvCxnSpPr>
        <p:spPr>
          <a:xfrm>
            <a:off x="7010400" y="202669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6791325" y="1753264"/>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1.97</a:t>
            </a:r>
          </a:p>
        </p:txBody>
      </p:sp>
      <p:sp>
        <p:nvSpPr>
          <p:cNvPr id="75" name="TextBox 74"/>
          <p:cNvSpPr txBox="1"/>
          <p:nvPr/>
        </p:nvSpPr>
        <p:spPr>
          <a:xfrm>
            <a:off x="6572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Sprays and Mists</a:t>
            </a:r>
          </a:p>
        </p:txBody>
      </p:sp>
      <p:sp>
        <p:nvSpPr>
          <p:cNvPr id="76" name="TextBox 75"/>
          <p:cNvSpPr txBox="1"/>
          <p:nvPr/>
        </p:nvSpPr>
        <p:spPr>
          <a:xfrm>
            <a:off x="15335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Mousses and Foams</a:t>
            </a:r>
          </a:p>
        </p:txBody>
      </p:sp>
      <p:sp>
        <p:nvSpPr>
          <p:cNvPr id="77" name="TextBox 76"/>
          <p:cNvSpPr txBox="1"/>
          <p:nvPr/>
        </p:nvSpPr>
        <p:spPr>
          <a:xfrm>
            <a:off x="24098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Gels and Jellies</a:t>
            </a:r>
          </a:p>
        </p:txBody>
      </p:sp>
      <p:sp>
        <p:nvSpPr>
          <p:cNvPr id="78" name="TextBox 77"/>
          <p:cNvSpPr txBox="1"/>
          <p:nvPr/>
        </p:nvSpPr>
        <p:spPr>
          <a:xfrm>
            <a:off x="32861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Creams and Lotions</a:t>
            </a:r>
          </a:p>
        </p:txBody>
      </p:sp>
      <p:sp>
        <p:nvSpPr>
          <p:cNvPr id="79" name="TextBox 78"/>
          <p:cNvSpPr txBox="1"/>
          <p:nvPr/>
        </p:nvSpPr>
        <p:spPr>
          <a:xfrm>
            <a:off x="41624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Waxes, Clays, Pastes…</a:t>
            </a:r>
          </a:p>
        </p:txBody>
      </p:sp>
      <p:sp>
        <p:nvSpPr>
          <p:cNvPr id="80" name="TextBox 79"/>
          <p:cNvSpPr txBox="1"/>
          <p:nvPr/>
        </p:nvSpPr>
        <p:spPr>
          <a:xfrm>
            <a:off x="50387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Powders</a:t>
            </a:r>
          </a:p>
        </p:txBody>
      </p:sp>
      <p:sp>
        <p:nvSpPr>
          <p:cNvPr id="81" name="TextBox 80"/>
          <p:cNvSpPr txBox="1"/>
          <p:nvPr/>
        </p:nvSpPr>
        <p:spPr>
          <a:xfrm>
            <a:off x="59150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Serums and Oils</a:t>
            </a:r>
          </a:p>
        </p:txBody>
      </p:sp>
      <p:sp>
        <p:nvSpPr>
          <p:cNvPr id="82" name="TextBox 81"/>
          <p:cNvSpPr txBox="1"/>
          <p:nvPr/>
        </p:nvSpPr>
        <p:spPr>
          <a:xfrm>
            <a:off x="67913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Sticks and Balms</a:t>
            </a:r>
          </a:p>
        </p:txBody>
      </p:sp>
      <p:sp>
        <p:nvSpPr>
          <p:cNvPr id="83" name="Rounded Rectangle 82"/>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South Asia &amp; Pacific  ·  2026–2036</a:t>
            </a:r>
          </a:p>
        </p:txBody>
      </p:sp>
      <p:cxnSp>
        <p:nvCxnSpPr>
          <p:cNvPr id="85" name="Connector 84"/>
          <p:cNvCxnSpPr/>
          <p:nvPr/>
        </p:nvCxnSpPr>
        <p:spPr>
          <a:xfrm>
            <a:off x="619125" y="431777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a:off x="619125" y="472877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7" name="Connector 86"/>
          <p:cNvCxnSpPr/>
          <p:nvPr/>
        </p:nvCxnSpPr>
        <p:spPr>
          <a:xfrm>
            <a:off x="619125" y="51397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8" name="Connector 87"/>
          <p:cNvCxnSpPr/>
          <p:nvPr/>
        </p:nvCxnSpPr>
        <p:spPr>
          <a:xfrm>
            <a:off x="619125" y="555077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9" name="Connector 88"/>
          <p:cNvCxnSpPr/>
          <p:nvPr/>
        </p:nvCxnSpPr>
        <p:spPr>
          <a:xfrm>
            <a:off x="619125" y="596177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90" name="Connector 89"/>
          <p:cNvCxnSpPr/>
          <p:nvPr/>
        </p:nvCxnSpPr>
        <p:spPr>
          <a:xfrm>
            <a:off x="619125" y="4317774"/>
            <a:ext cx="0" cy="1644003"/>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1" name="Connector 90"/>
          <p:cNvCxnSpPr/>
          <p:nvPr/>
        </p:nvCxnSpPr>
        <p:spPr>
          <a:xfrm>
            <a:off x="590550" y="431777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2" name="Connector 91"/>
          <p:cNvCxnSpPr/>
          <p:nvPr/>
        </p:nvCxnSpPr>
        <p:spPr>
          <a:xfrm>
            <a:off x="590550" y="472877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3" name="Connector 92"/>
          <p:cNvCxnSpPr/>
          <p:nvPr/>
        </p:nvCxnSpPr>
        <p:spPr>
          <a:xfrm>
            <a:off x="590550" y="51397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4" name="Connector 93"/>
          <p:cNvCxnSpPr/>
          <p:nvPr/>
        </p:nvCxnSpPr>
        <p:spPr>
          <a:xfrm>
            <a:off x="590550" y="555077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5" name="Connector 94"/>
          <p:cNvCxnSpPr/>
          <p:nvPr/>
        </p:nvCxnSpPr>
        <p:spPr>
          <a:xfrm>
            <a:off x="590550" y="596177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96" name="FMI Scale tick"/>
          <p:cNvSpPr txBox="1"/>
          <p:nvPr/>
        </p:nvSpPr>
        <p:spPr>
          <a:xfrm>
            <a:off x="102394" y="4251099"/>
            <a:ext cx="478631" cy="133350"/>
          </a:xfrm>
          <a:prstGeom prst="rect">
            <a:avLst/>
          </a:prstGeom>
          <a:noFill/>
        </p:spPr>
        <p:txBody>
          <a:bodyPr wrap="square" lIns="28575" rIns="28575" tIns="9525" bIns="9525" anchor="ctr">
            <a:spAutoFit/>
          </a:bodyPr>
          <a:lstStyle/>
          <a:p>
            <a:pPr algn="r"/>
            <a:r>
              <a:rPr sz="1100" b="0">
                <a:solidFill>
                  <a:srgbClr val="6C7A89"/>
                </a:solidFill>
                <a:latin typeface="Calibri"/>
              </a:rPr>
              <a:t>+147%</a:t>
            </a:r>
          </a:p>
        </p:txBody>
      </p:sp>
      <p:sp>
        <p:nvSpPr>
          <p:cNvPr id="97" name="FMI Scale tick"/>
          <p:cNvSpPr txBox="1"/>
          <p:nvPr/>
        </p:nvSpPr>
        <p:spPr>
          <a:xfrm>
            <a:off x="219075" y="4662100"/>
            <a:ext cx="361950" cy="133350"/>
          </a:xfrm>
          <a:prstGeom prst="rect">
            <a:avLst/>
          </a:prstGeom>
          <a:noFill/>
        </p:spPr>
        <p:txBody>
          <a:bodyPr wrap="none" lIns="0" rIns="0" tIns="0" bIns="0" anchor="ctr">
            <a:spAutoFit/>
          </a:bodyPr>
          <a:lstStyle/>
          <a:p>
            <a:pPr algn="r"/>
            <a:r>
              <a:rPr sz="1100" b="0">
                <a:solidFill>
                  <a:srgbClr val="6C7A89"/>
                </a:solidFill>
                <a:latin typeface="Calibri"/>
              </a:rPr>
              <a:t>+74%</a:t>
            </a:r>
          </a:p>
        </p:txBody>
      </p:sp>
      <p:sp>
        <p:nvSpPr>
          <p:cNvPr id="98" name="FMI Scale tick"/>
          <p:cNvSpPr txBox="1"/>
          <p:nvPr/>
        </p:nvSpPr>
        <p:spPr>
          <a:xfrm>
            <a:off x="219075" y="507310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South Asia &amp; Pacific</a:t>
            </a:r>
          </a:p>
        </p:txBody>
      </p:sp>
      <p:sp>
        <p:nvSpPr>
          <p:cNvPr id="99" name="FMI Scale tick"/>
          <p:cNvSpPr txBox="1"/>
          <p:nvPr/>
        </p:nvSpPr>
        <p:spPr>
          <a:xfrm>
            <a:off x="219075" y="5484102"/>
            <a:ext cx="361950" cy="133350"/>
          </a:xfrm>
          <a:prstGeom prst="rect">
            <a:avLst/>
          </a:prstGeom>
          <a:noFill/>
        </p:spPr>
        <p:txBody>
          <a:bodyPr wrap="none" lIns="0" rIns="0" tIns="0" bIns="0" anchor="ctr">
            <a:spAutoFit/>
          </a:bodyPr>
          <a:lstStyle/>
          <a:p>
            <a:pPr algn="r"/>
            <a:r>
              <a:rPr sz="1100" b="0">
                <a:solidFill>
                  <a:srgbClr val="6C7A89"/>
                </a:solidFill>
                <a:latin typeface="Calibri"/>
              </a:rPr>
              <a:t>-74%</a:t>
            </a:r>
          </a:p>
        </p:txBody>
      </p:sp>
      <p:sp>
        <p:nvSpPr>
          <p:cNvPr id="100" name="FMI Scale tick"/>
          <p:cNvSpPr txBox="1"/>
          <p:nvPr/>
        </p:nvSpPr>
        <p:spPr>
          <a:xfrm>
            <a:off x="128588" y="5895102"/>
            <a:ext cx="452438" cy="133350"/>
          </a:xfrm>
          <a:prstGeom prst="rect">
            <a:avLst/>
          </a:prstGeom>
          <a:noFill/>
        </p:spPr>
        <p:txBody>
          <a:bodyPr wrap="square" lIns="28575" rIns="28575" tIns="9525" bIns="9525" anchor="ctr">
            <a:spAutoFit/>
          </a:bodyPr>
          <a:lstStyle/>
          <a:p>
            <a:pPr algn="r"/>
            <a:r>
              <a:rPr sz="1100" b="0">
                <a:solidFill>
                  <a:srgbClr val="6C7A89"/>
                </a:solidFill>
                <a:latin typeface="Calibri"/>
              </a:rPr>
              <a:t>-147%</a:t>
            </a:r>
          </a:p>
        </p:txBody>
      </p:sp>
      <p:cxnSp>
        <p:nvCxnSpPr>
          <p:cNvPr id="101" name="Connector 100"/>
          <p:cNvCxnSpPr/>
          <p:nvPr/>
        </p:nvCxnSpPr>
        <p:spPr>
          <a:xfrm>
            <a:off x="619125" y="513977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102" name="Rectangle 101"/>
          <p:cNvSpPr/>
          <p:nvPr/>
        </p:nvSpPr>
        <p:spPr>
          <a:xfrm>
            <a:off x="782108" y="5139776"/>
            <a:ext cx="457200" cy="157454"/>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FMI Data Label"/>
          <p:cNvSpPr txBox="1"/>
          <p:nvPr/>
        </p:nvSpPr>
        <p:spPr>
          <a:xfrm>
            <a:off x="619125" y="5306755"/>
            <a:ext cx="783167" cy="133350"/>
          </a:xfrm>
          <a:prstGeom prst="rect">
            <a:avLst/>
          </a:prstGeom>
          <a:noFill/>
        </p:spPr>
        <p:txBody>
          <a:bodyPr wrap="square" lIns="28575" rIns="28575" tIns="9525" bIns="9525">
            <a:spAutoFit/>
          </a:bodyPr>
          <a:lstStyle/>
          <a:p>
            <a:pPr algn="ctr"/>
            <a:r>
              <a:rPr sz="1100" b="1">
                <a:solidFill>
                  <a:srgbClr val="2E2E2E"/>
                </a:solidFill>
                <a:latin typeface="Calibri"/>
              </a:rPr>
              <a:t>-28.2%</a:t>
            </a:r>
          </a:p>
        </p:txBody>
      </p:sp>
      <p:sp>
        <p:nvSpPr>
          <p:cNvPr id="104" name="Rectangle 103"/>
          <p:cNvSpPr/>
          <p:nvPr/>
        </p:nvSpPr>
        <p:spPr>
          <a:xfrm>
            <a:off x="1565275" y="5115964"/>
            <a:ext cx="457200" cy="2381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MI Data Label"/>
          <p:cNvSpPr txBox="1"/>
          <p:nvPr/>
        </p:nvSpPr>
        <p:spPr>
          <a:xfrm>
            <a:off x="1402292" y="4973089"/>
            <a:ext cx="783167" cy="133350"/>
          </a:xfrm>
          <a:prstGeom prst="rect">
            <a:avLst/>
          </a:prstGeom>
          <a:noFill/>
        </p:spPr>
        <p:txBody>
          <a:bodyPr wrap="square" lIns="28575" rIns="28575" tIns="9525" bIns="9525">
            <a:spAutoFit/>
          </a:bodyPr>
          <a:lstStyle/>
          <a:p>
            <a:pPr algn="ctr"/>
            <a:r>
              <a:rPr sz="1100" b="1">
                <a:solidFill>
                  <a:srgbClr val="2E2E2E"/>
                </a:solidFill>
                <a:latin typeface="Calibri"/>
              </a:rPr>
              <a:t>+4.3%</a:t>
            </a:r>
          </a:p>
        </p:txBody>
      </p:sp>
      <p:sp>
        <p:nvSpPr>
          <p:cNvPr id="106" name="Rectangle 105"/>
          <p:cNvSpPr/>
          <p:nvPr/>
        </p:nvSpPr>
        <p:spPr>
          <a:xfrm>
            <a:off x="2348442" y="5088872"/>
            <a:ext cx="457200" cy="5090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MI Data Label"/>
          <p:cNvSpPr txBox="1"/>
          <p:nvPr/>
        </p:nvSpPr>
        <p:spPr>
          <a:xfrm>
            <a:off x="2185458" y="4945997"/>
            <a:ext cx="783167" cy="133350"/>
          </a:xfrm>
          <a:prstGeom prst="rect">
            <a:avLst/>
          </a:prstGeom>
          <a:noFill/>
        </p:spPr>
        <p:txBody>
          <a:bodyPr wrap="square" lIns="28575" rIns="28575" tIns="9525" bIns="9525">
            <a:spAutoFit/>
          </a:bodyPr>
          <a:lstStyle/>
          <a:p>
            <a:pPr algn="ctr"/>
            <a:r>
              <a:rPr sz="1100" b="1">
                <a:solidFill>
                  <a:srgbClr val="2E2E2E"/>
                </a:solidFill>
                <a:latin typeface="Calibri"/>
              </a:rPr>
              <a:t>+9.1%</a:t>
            </a:r>
          </a:p>
        </p:txBody>
      </p:sp>
      <p:sp>
        <p:nvSpPr>
          <p:cNvPr id="108" name="Rectangle 107"/>
          <p:cNvSpPr/>
          <p:nvPr/>
        </p:nvSpPr>
        <p:spPr>
          <a:xfrm>
            <a:off x="3131608" y="5139776"/>
            <a:ext cx="457200" cy="98606"/>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FMI Data Label"/>
          <p:cNvSpPr txBox="1"/>
          <p:nvPr/>
        </p:nvSpPr>
        <p:spPr>
          <a:xfrm>
            <a:off x="2968625" y="5247907"/>
            <a:ext cx="783167" cy="133350"/>
          </a:xfrm>
          <a:prstGeom prst="rect">
            <a:avLst/>
          </a:prstGeom>
          <a:noFill/>
        </p:spPr>
        <p:txBody>
          <a:bodyPr wrap="square" lIns="28575" rIns="28575" tIns="9525" bIns="9525">
            <a:spAutoFit/>
          </a:bodyPr>
          <a:lstStyle/>
          <a:p>
            <a:pPr algn="ctr"/>
            <a:r>
              <a:rPr sz="1100" b="1">
                <a:solidFill>
                  <a:srgbClr val="2E2E2E"/>
                </a:solidFill>
                <a:latin typeface="Calibri"/>
              </a:rPr>
              <a:t>-17.6%</a:t>
            </a:r>
          </a:p>
        </p:txBody>
      </p:sp>
      <p:sp>
        <p:nvSpPr>
          <p:cNvPr id="110" name="Rectangle 109"/>
          <p:cNvSpPr/>
          <p:nvPr/>
        </p:nvSpPr>
        <p:spPr>
          <a:xfrm>
            <a:off x="3914775" y="4423458"/>
            <a:ext cx="457200" cy="716318"/>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FMI Data Label"/>
          <p:cNvSpPr txBox="1"/>
          <p:nvPr/>
        </p:nvSpPr>
        <p:spPr>
          <a:xfrm>
            <a:off x="3751792" y="4280583"/>
            <a:ext cx="783167" cy="133350"/>
          </a:xfrm>
          <a:prstGeom prst="rect">
            <a:avLst/>
          </a:prstGeom>
          <a:noFill/>
        </p:spPr>
        <p:txBody>
          <a:bodyPr wrap="square" lIns="28575" rIns="28575" tIns="9525" bIns="9525">
            <a:spAutoFit/>
          </a:bodyPr>
          <a:lstStyle/>
          <a:p>
            <a:pPr algn="ctr"/>
            <a:r>
              <a:rPr sz="1100" b="1">
                <a:solidFill>
                  <a:srgbClr val="2E2E2E"/>
                </a:solidFill>
                <a:latin typeface="Calibri"/>
              </a:rPr>
              <a:t>+128.1%</a:t>
            </a:r>
          </a:p>
        </p:txBody>
      </p:sp>
      <p:sp>
        <p:nvSpPr>
          <p:cNvPr id="112" name="Rectangle 111"/>
          <p:cNvSpPr/>
          <p:nvPr/>
        </p:nvSpPr>
        <p:spPr>
          <a:xfrm>
            <a:off x="4697942" y="5139776"/>
            <a:ext cx="457200" cy="72740"/>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FMI Data Label"/>
          <p:cNvSpPr txBox="1"/>
          <p:nvPr/>
        </p:nvSpPr>
        <p:spPr>
          <a:xfrm>
            <a:off x="4534958" y="5222041"/>
            <a:ext cx="783167" cy="133350"/>
          </a:xfrm>
          <a:prstGeom prst="rect">
            <a:avLst/>
          </a:prstGeom>
          <a:noFill/>
        </p:spPr>
        <p:txBody>
          <a:bodyPr wrap="square" lIns="28575" rIns="28575" tIns="9525" bIns="9525">
            <a:spAutoFit/>
          </a:bodyPr>
          <a:lstStyle/>
          <a:p>
            <a:pPr algn="ctr"/>
            <a:r>
              <a:rPr sz="1100" b="1">
                <a:solidFill>
                  <a:srgbClr val="2E2E2E"/>
                </a:solidFill>
                <a:latin typeface="Calibri"/>
              </a:rPr>
              <a:t>-13.0%</a:t>
            </a:r>
          </a:p>
        </p:txBody>
      </p:sp>
      <p:sp>
        <p:nvSpPr>
          <p:cNvPr id="114" name="Rectangle 113"/>
          <p:cNvSpPr/>
          <p:nvPr/>
        </p:nvSpPr>
        <p:spPr>
          <a:xfrm>
            <a:off x="5481108" y="4513063"/>
            <a:ext cx="457200" cy="62671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FMI Data Label"/>
          <p:cNvSpPr txBox="1"/>
          <p:nvPr/>
        </p:nvSpPr>
        <p:spPr>
          <a:xfrm>
            <a:off x="5318125" y="4370188"/>
            <a:ext cx="783167" cy="133350"/>
          </a:xfrm>
          <a:prstGeom prst="rect">
            <a:avLst/>
          </a:prstGeom>
          <a:noFill/>
        </p:spPr>
        <p:txBody>
          <a:bodyPr wrap="square" lIns="28575" rIns="28575" tIns="9525" bIns="9525">
            <a:spAutoFit/>
          </a:bodyPr>
          <a:lstStyle/>
          <a:p>
            <a:pPr algn="ctr"/>
            <a:r>
              <a:rPr sz="1100" b="1">
                <a:solidFill>
                  <a:srgbClr val="2E2E2E"/>
                </a:solidFill>
                <a:latin typeface="Calibri"/>
              </a:rPr>
              <a:t>+112.1%</a:t>
            </a:r>
          </a:p>
        </p:txBody>
      </p:sp>
      <p:sp>
        <p:nvSpPr>
          <p:cNvPr id="116" name="Rectangle 115"/>
          <p:cNvSpPr/>
          <p:nvPr/>
        </p:nvSpPr>
        <p:spPr>
          <a:xfrm>
            <a:off x="6264275" y="4532481"/>
            <a:ext cx="457200" cy="60729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FMI Data Label"/>
          <p:cNvSpPr txBox="1"/>
          <p:nvPr/>
        </p:nvSpPr>
        <p:spPr>
          <a:xfrm>
            <a:off x="6101292" y="4389606"/>
            <a:ext cx="783167" cy="133350"/>
          </a:xfrm>
          <a:prstGeom prst="rect">
            <a:avLst/>
          </a:prstGeom>
          <a:noFill/>
        </p:spPr>
        <p:txBody>
          <a:bodyPr wrap="square" lIns="28575" rIns="28575" tIns="9525" bIns="9525">
            <a:spAutoFit/>
          </a:bodyPr>
          <a:lstStyle/>
          <a:p>
            <a:pPr algn="ctr"/>
            <a:r>
              <a:rPr sz="1100" b="1">
                <a:solidFill>
                  <a:srgbClr val="2E2E2E"/>
                </a:solidFill>
                <a:latin typeface="Calibri"/>
              </a:rPr>
              <a:t>+108.6%</a:t>
            </a:r>
          </a:p>
        </p:txBody>
      </p:sp>
      <p:sp>
        <p:nvSpPr>
          <p:cNvPr id="118" name="Rectangle 117"/>
          <p:cNvSpPr/>
          <p:nvPr/>
        </p:nvSpPr>
        <p:spPr>
          <a:xfrm>
            <a:off x="7047442" y="5139776"/>
            <a:ext cx="457200" cy="80583"/>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FMI Data Label"/>
          <p:cNvSpPr txBox="1"/>
          <p:nvPr/>
        </p:nvSpPr>
        <p:spPr>
          <a:xfrm>
            <a:off x="6884458" y="5229884"/>
            <a:ext cx="783167" cy="133350"/>
          </a:xfrm>
          <a:prstGeom prst="rect">
            <a:avLst/>
          </a:prstGeom>
          <a:noFill/>
        </p:spPr>
        <p:txBody>
          <a:bodyPr wrap="square" lIns="28575" rIns="28575" tIns="9525" bIns="9525">
            <a:spAutoFit/>
          </a:bodyPr>
          <a:lstStyle/>
          <a:p>
            <a:pPr algn="ctr"/>
            <a:r>
              <a:rPr sz="1100" b="1">
                <a:solidFill>
                  <a:srgbClr val="2E2E2E"/>
                </a:solidFill>
                <a:latin typeface="Calibri"/>
              </a:rPr>
              <a:t>-14.4%</a:t>
            </a:r>
          </a:p>
        </p:txBody>
      </p:sp>
      <p:sp>
        <p:nvSpPr>
          <p:cNvPr id="120" name="TextBox 119"/>
          <p:cNvSpPr txBox="1"/>
          <p:nvPr/>
        </p:nvSpPr>
        <p:spPr>
          <a:xfrm>
            <a:off x="619125"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India</a:t>
            </a:r>
          </a:p>
        </p:txBody>
      </p:sp>
      <p:sp>
        <p:nvSpPr>
          <p:cNvPr id="121" name="TextBox 120"/>
          <p:cNvSpPr txBox="1"/>
          <p:nvPr/>
        </p:nvSpPr>
        <p:spPr>
          <a:xfrm>
            <a:off x="1402292"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Thailand</a:t>
            </a:r>
          </a:p>
        </p:txBody>
      </p:sp>
      <p:sp>
        <p:nvSpPr>
          <p:cNvPr id="122" name="TextBox 121"/>
          <p:cNvSpPr txBox="1"/>
          <p:nvPr/>
        </p:nvSpPr>
        <p:spPr>
          <a:xfrm>
            <a:off x="2185458"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Malaysia</a:t>
            </a:r>
          </a:p>
        </p:txBody>
      </p:sp>
      <p:sp>
        <p:nvSpPr>
          <p:cNvPr id="123" name="TextBox 122"/>
          <p:cNvSpPr txBox="1"/>
          <p:nvPr/>
        </p:nvSpPr>
        <p:spPr>
          <a:xfrm>
            <a:off x="2968625"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Indonesia</a:t>
            </a:r>
          </a:p>
        </p:txBody>
      </p:sp>
      <p:sp>
        <p:nvSpPr>
          <p:cNvPr id="124" name="TextBox 123"/>
          <p:cNvSpPr txBox="1"/>
          <p:nvPr/>
        </p:nvSpPr>
        <p:spPr>
          <a:xfrm>
            <a:off x="3751792"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Singapore</a:t>
            </a:r>
          </a:p>
        </p:txBody>
      </p:sp>
      <p:sp>
        <p:nvSpPr>
          <p:cNvPr id="125" name="TextBox 124"/>
          <p:cNvSpPr txBox="1"/>
          <p:nvPr/>
        </p:nvSpPr>
        <p:spPr>
          <a:xfrm>
            <a:off x="4534958"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Philippines</a:t>
            </a:r>
          </a:p>
        </p:txBody>
      </p:sp>
      <p:sp>
        <p:nvSpPr>
          <p:cNvPr id="126" name="TextBox 125"/>
          <p:cNvSpPr txBox="1"/>
          <p:nvPr/>
        </p:nvSpPr>
        <p:spPr>
          <a:xfrm>
            <a:off x="5318125"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Australia</a:t>
            </a:r>
          </a:p>
        </p:txBody>
      </p:sp>
      <p:sp>
        <p:nvSpPr>
          <p:cNvPr id="127" name="TextBox 126"/>
          <p:cNvSpPr txBox="1"/>
          <p:nvPr/>
        </p:nvSpPr>
        <p:spPr>
          <a:xfrm>
            <a:off x="6101292"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New Zealand</a:t>
            </a:r>
          </a:p>
        </p:txBody>
      </p:sp>
      <p:sp>
        <p:nvSpPr>
          <p:cNvPr id="128" name="TextBox 127"/>
          <p:cNvSpPr txBox="1"/>
          <p:nvPr/>
        </p:nvSpPr>
        <p:spPr>
          <a:xfrm>
            <a:off x="6884458"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Rest of South Asia</a:t>
            </a:r>
          </a:p>
        </p:txBody>
      </p:sp>
      <p:sp>
        <p:nvSpPr>
          <p:cNvPr id="129" name="Rounded Rectangle 128"/>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31" name="Rectangle 130"/>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Styling serums and oils segment is expected to command the highest average price of US$ 2.43 per Unit in 2036. Average selling price of hair styling products is estimated at US$ 1.46 per Unit in 2025 and is projected to increase to US$ 1.64 per Unit by 2036.</a:t>
            </a:r>
          </a:p>
          <a:p>
            <a:pPr algn="l">
              <a:lnSpc>
                <a:spcPct val="110000"/>
              </a:lnSpc>
              <a:spcBef>
                <a:spcPts val="0"/>
              </a:spcBef>
              <a:spcAft>
                <a:spcPts val="500"/>
              </a:spcAft>
            </a:pPr>
            <a:r>
              <a:rPr sz="1150" b="0">
                <a:solidFill>
                  <a:srgbClr val="2E2E2E"/>
                </a:solidFill>
                <a:latin typeface="Calibri"/>
              </a:rPr>
              <a:t>Singapore is the highest-priced country, while India is the most price-competitive market. Against the South Asia &amp; Pacific price of 1.55 US$/Units, 5 of 9 countries price above and 4 below.</a:t>
            </a:r>
          </a:p>
          <a:p>
            <a:pPr algn="l">
              <a:lnSpc>
                <a:spcPct val="110000"/>
              </a:lnSpc>
              <a:spcBef>
                <a:spcPts val="0"/>
              </a:spcBef>
              <a:spcAft>
                <a:spcPts val="500"/>
              </a:spcAft>
            </a:pPr>
            <a:r>
              <a:rPr sz="1150" b="0">
                <a:solidFill>
                  <a:srgbClr val="2E2E2E"/>
                </a:solidFill>
                <a:latin typeface="Calibri"/>
              </a:rPr>
              <a:t>'Singapore' is the dearest at +128.1% versus South Asia &amp; Pacific, 'India' the cheapest at -28.2% pointing to premiumisation headroom in the lower-priced countries.</a:t>
            </a:r>
          </a:p>
        </p:txBody>
      </p:sp>
      <p:sp>
        <p:nvSpPr>
          <p:cNvPr id="133" name="TextBox 1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South Asia &amp; Pacific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1,771</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3,772</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5.1%</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7.9%</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3051231"/>
          </a:xfrm>
          <a:prstGeom prst="roundRect">
            <a:avLst>
              <a:gd name="adj" fmla="val 24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565456"/>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Hair styling products market value in South Asia &amp; Pacific is expected to increase 2.3X between 2025 and 2036. In 2025, the hair styling products market in South Asia &amp; Pacific was valued at US$ 1,671 Mn and is estimated to account for US$ 1,771 Mn by the end of 2026, reflecting a Y-o-Y growth rate of 6.0%.</a:t>
            </a:r>
          </a:p>
          <a:p>
            <a:pPr algn="l">
              <a:lnSpc>
                <a:spcPct val="100000"/>
              </a:lnSpc>
              <a:spcBef>
                <a:spcPts val="0"/>
              </a:spcBef>
              <a:spcAft>
                <a:spcPts val="300"/>
              </a:spcAft>
            </a:pPr>
            <a:r>
              <a:rPr sz="1100" b="0">
                <a:solidFill>
                  <a:srgbClr val="2E2E2E"/>
                </a:solidFill>
                <a:latin typeface="Calibri"/>
              </a:rPr>
              <a:t>The market in South Asia &amp; Pacific is expected to account for US$ 3,772 Mn by 2036 at a CAGR of 7.9% over the forecast period. South Asia &amp; Pacific is expected to create an incremental opportunity of US$ 2,101 Mn for the overall hair styling products market from 2025 to 2036.</a:t>
            </a:r>
          </a:p>
          <a:p>
            <a:pPr algn="l">
              <a:lnSpc>
                <a:spcPct val="100000"/>
              </a:lnSpc>
              <a:spcBef>
                <a:spcPts val="0"/>
              </a:spcBef>
              <a:spcAft>
                <a:spcPts val="300"/>
              </a:spcAft>
            </a:pPr>
            <a:r>
              <a:rPr sz="1100" b="0">
                <a:solidFill>
                  <a:srgbClr val="2E2E2E"/>
                </a:solidFill>
                <a:latin typeface="Calibri"/>
              </a:rPr>
              <a:t>Absolute $ value for 2026 is estimated to be US$ 99.9 Mn.</a:t>
            </a:r>
          </a:p>
        </p:txBody>
      </p:sp>
      <p:sp>
        <p:nvSpPr>
          <p:cNvPr id="25" name="Rounded Rectangle 24"/>
          <p:cNvSpPr/>
          <p:nvPr/>
        </p:nvSpPr>
        <p:spPr>
          <a:xfrm>
            <a:off x="7915275" y="4733879"/>
            <a:ext cx="4133850" cy="1822506"/>
          </a:xfrm>
          <a:prstGeom prst="roundRect">
            <a:avLst>
              <a:gd name="adj" fmla="val 418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819604"/>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5057729"/>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143454"/>
            <a:ext cx="3867150" cy="133673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'Philippines' leads regional growth at 9.6%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'Styling Serums and Oils'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South Asia &amp; Pacific market and the incremental $ opportunity it creates…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4695825"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Market, 2021–2025 (Historical)</a:t>
            </a:r>
          </a:p>
        </p:txBody>
      </p:sp>
      <p:graphicFrame>
        <p:nvGraphicFramePr>
          <p:cNvPr id="13" name="Chart 12"/>
          <p:cNvGraphicFramePr>
            <a:graphicFrameLocks noGrp="1"/>
          </p:cNvGraphicFramePr>
          <p:nvPr/>
        </p:nvGraphicFramePr>
        <p:xfrm>
          <a:off x="238125" y="1266825"/>
          <a:ext cx="4505325" cy="2181225"/>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Market, 2026–2036 (Forecast)</a:t>
            </a:r>
          </a:p>
        </p:txBody>
      </p:sp>
      <p:graphicFrame>
        <p:nvGraphicFramePr>
          <p:cNvPr id="16" name="Chart 15"/>
          <p:cNvGraphicFramePr>
            <a:graphicFrameLocks noGrp="1"/>
          </p:cNvGraphicFramePr>
          <p:nvPr/>
        </p:nvGraphicFramePr>
        <p:xfrm>
          <a:off x="5086350" y="1266825"/>
          <a:ext cx="6858000" cy="21812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5.1%</a:t>
            </a:r>
          </a:p>
        </p:txBody>
      </p:sp>
      <p:sp>
        <p:nvSpPr>
          <p:cNvPr id="18" name="Rounded Rectangle 17"/>
          <p:cNvSpPr/>
          <p:nvPr/>
        </p:nvSpPr>
        <p:spPr>
          <a:xfrm>
            <a:off x="2809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7.9%</a:t>
            </a:r>
          </a:p>
        </p:txBody>
      </p:sp>
      <p:sp>
        <p:nvSpPr>
          <p:cNvPr id="19" name="Rounded Rectangle 18"/>
          <p:cNvSpPr/>
          <p:nvPr/>
        </p:nvSpPr>
        <p:spPr>
          <a:xfrm>
            <a:off x="54768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752.7 US$ Mn</a:t>
            </a:r>
          </a:p>
        </p:txBody>
      </p:sp>
      <p:sp>
        <p:nvSpPr>
          <p:cNvPr id="20" name="Rounded Rectangle 19"/>
          <p:cNvSpPr/>
          <p:nvPr/>
        </p:nvSpPr>
        <p:spPr>
          <a:xfrm>
            <a:off x="88296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2,001 US$ Mn</a:t>
            </a:r>
          </a:p>
        </p:txBody>
      </p:sp>
      <p:sp>
        <p:nvSpPr>
          <p:cNvPr id="21" name="Rounded Rectangle 20"/>
          <p:cNvSpPr/>
          <p:nvPr/>
        </p:nvSpPr>
        <p:spPr>
          <a:xfrm>
            <a:off x="142875" y="4457700"/>
            <a:ext cx="11906250" cy="2152650"/>
          </a:xfrm>
          <a:prstGeom prst="roundRect">
            <a:avLst>
              <a:gd name="adj" fmla="val 35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543425"/>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Volume &amp; Value Analysis</a:t>
            </a:r>
          </a:p>
        </p:txBody>
      </p:sp>
      <p:sp>
        <p:nvSpPr>
          <p:cNvPr id="23" name="Rectangle 22"/>
          <p:cNvSpPr/>
          <p:nvPr/>
        </p:nvSpPr>
        <p:spPr>
          <a:xfrm>
            <a:off x="276225" y="4781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867275"/>
            <a:ext cx="11639550" cy="1666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Hair styling products market value in South Asia &amp; Pacific is expected to increase 2.3X between 2025 and 2036. In 2025, the hair styling products market in South Asia &amp; Pacific was valued at US$ 1,671 Mn and is estimated to account for US$ 1,771 Mn by the end of 2026, reflecting a Y-o-Y growth rate of 6.0%. The market in South Asia &amp; Pacific is expected to account for US$ 3,772 Mn by 2036 at a CAGR of 7.9% over the forecast period.</a:t>
            </a:r>
          </a:p>
          <a:p>
            <a:pPr algn="l">
              <a:lnSpc>
                <a:spcPct val="110000"/>
              </a:lnSpc>
              <a:spcBef>
                <a:spcPts val="0"/>
              </a:spcBef>
              <a:spcAft>
                <a:spcPts val="500"/>
              </a:spcAft>
            </a:pPr>
            <a:r>
              <a:rPr sz="1150" b="0">
                <a:solidFill>
                  <a:srgbClr val="2E2E2E"/>
                </a:solidFill>
                <a:latin typeface="Calibri"/>
              </a:rPr>
              <a:t>South Asia &amp; Pacific is expected to create an incremental opportunity of US$ 2,101 Mn for the overall hair styling products market from 2025 to 2036. Absolute $ value for 2026 is estimated to be US$ 99.9 Mn. South Asia &amp; Pacific hair styling products market is projected to register 2.0X increase in volume by the end of forecast period, 2036.</a:t>
            </a:r>
          </a:p>
          <a:p>
            <a:pPr algn="l">
              <a:lnSpc>
                <a:spcPct val="110000"/>
              </a:lnSpc>
              <a:spcBef>
                <a:spcPts val="0"/>
              </a:spcBef>
              <a:spcAft>
                <a:spcPts val="500"/>
              </a:spcAft>
            </a:pPr>
            <a:r>
              <a:rPr sz="1150" b="0">
                <a:solidFill>
                  <a:srgbClr val="2E2E2E"/>
                </a:solidFill>
                <a:latin typeface="Calibri"/>
              </a:rPr>
              <a:t>South Asia &amp; Pacific hair styling products market volume stood at 1,147 Mn Units in 2025 and is expected to reach 2,301 Mn Units by 2036 end, at a CAGR of 6.7%. Value is projected to grow faster than volume over the forecast period, owing to an increase in average selling price.</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4" cy="2132065"/>
        </p:xfrm>
        <a:graphic>
          <a:graphicData uri="http://schemas.openxmlformats.org/drawingml/2006/table">
            <a:tbl>
              <a:tblPr>
                <a:tableStyleId>{5C22544A-7EE6-4342-B048-85BDC9FD1C3A}</a:tableStyleId>
              </a:tblPr>
              <a:tblGrid>
                <a:gridCol w="1050389"/>
                <a:gridCol w="957676"/>
                <a:gridCol w="653608"/>
                <a:gridCol w="1253101"/>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239600">
                <a:tc>
                  <a:txBody>
                    <a:bodyPr wrap="none"/>
                    <a:lstStyle/>
                    <a:p>
                      <a:pPr algn="l"/>
                      <a:r>
                        <a:rPr sz="1100" b="1">
                          <a:solidFill>
                            <a:srgbClr val="2E2E2E"/>
                          </a:solidFill>
                          <a:latin typeface="Calibri"/>
                        </a:rPr>
                        <a:t>Philippines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FFFFF"/>
                    </a:solidFill>
                  </a:tcPr>
                </a:tc>
              </a:tr>
              <a:tr h="239600">
                <a:tc>
                  <a:txBody>
                    <a:bodyPr wrap="none"/>
                    <a:lstStyle/>
                    <a:p>
                      <a:pPr algn="l"/>
                      <a:r>
                        <a:rPr sz="1100" b="1">
                          <a:solidFill>
                            <a:srgbClr val="2E2E2E"/>
                          </a:solidFill>
                          <a:latin typeface="Calibri"/>
                        </a:rPr>
                        <a:t>India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699.5</a:t>
                      </a:r>
                      <a:endParaRPr sz="1100"/>
                    </a:p>
                  </a:txBody>
                  <a:tcPr marL="47625" marR="38100" marT="19050" marB="19050" anchor="ctr">
                    <a:solidFill>
                      <a:srgbClr val="F5F8FA"/>
                    </a:solidFill>
                  </a:tcPr>
                </a:tc>
              </a:tr>
              <a:tr h="239600">
                <a:tc>
                  <a:txBody>
                    <a:bodyPr wrap="none"/>
                    <a:lstStyle/>
                    <a:p>
                      <a:pPr algn="l"/>
                      <a:r>
                        <a:rPr sz="1100" b="1">
                          <a:solidFill>
                            <a:srgbClr val="2E2E2E"/>
                          </a:solidFill>
                          <a:latin typeface="Calibri"/>
                        </a:rPr>
                        <a:t>Indonesia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296.4</a:t>
                      </a:r>
                      <a:endParaRPr sz="1100"/>
                    </a:p>
                  </a:txBody>
                  <a:tcPr marL="47625" marR="38100" marT="19050" marB="19050" anchor="ctr">
                    <a:solidFill>
                      <a:srgbClr val="FFFFFF"/>
                    </a:solidFill>
                  </a:tcPr>
                </a:tc>
              </a:tr>
              <a:tr h="239600">
                <a:tc>
                  <a:txBody>
                    <a:bodyPr wrap="none"/>
                    <a:lstStyle/>
                    <a:p>
                      <a:pPr algn="l"/>
                      <a:r>
                        <a:rPr sz="1100" b="1">
                          <a:solidFill>
                            <a:srgbClr val="2E2E2E"/>
                          </a:solidFill>
                          <a:latin typeface="Calibri"/>
                        </a:rPr>
                        <a:t>Thailand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5F8FA"/>
                    </a:solidFill>
                  </a:tcPr>
                </a:tc>
              </a:tr>
              <a:tr h="239600">
                <a:tc>
                  <a:txBody>
                    <a:bodyPr wrap="none"/>
                    <a:lstStyle/>
                    <a:p>
                      <a:pPr algn="l"/>
                      <a:r>
                        <a:rPr sz="1100" b="1">
                          <a:solidFill>
                            <a:srgbClr val="2E2E2E"/>
                          </a:solidFill>
                          <a:latin typeface="Calibri"/>
                        </a:rPr>
                        <a:t>Malaysia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r>
              <a:tr h="239600">
                <a:tc>
                  <a:txBody>
                    <a:bodyPr wrap="none"/>
                    <a:lstStyle/>
                    <a:p>
                      <a:pPr algn="l"/>
                      <a:r>
                        <a:rPr sz="1100" b="1">
                          <a:solidFill>
                            <a:srgbClr val="2E2E2E"/>
                          </a:solidFill>
                          <a:latin typeface="Calibri"/>
                        </a:rPr>
                        <a:t>Singapore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r>
              <a:tr h="239600">
                <a:tc>
                  <a:txBody>
                    <a:bodyPr wrap="none"/>
                    <a:lstStyle/>
                    <a:p>
                      <a:pPr algn="l"/>
                      <a:r>
                        <a:rPr sz="1100" b="1">
                          <a:solidFill>
                            <a:srgbClr val="2E2E2E"/>
                          </a:solidFill>
                          <a:latin typeface="Calibri"/>
                        </a:rPr>
                        <a:t>Australia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302.0</a:t>
                      </a:r>
                      <a:endParaRPr sz="1100"/>
                    </a:p>
                  </a:txBody>
                  <a:tcPr marL="47625" marR="38100" marT="19050" marB="19050" anchor="ctr">
                    <a:solidFill>
                      <a:srgbClr val="FFFFFF"/>
                    </a:solidFill>
                  </a:tcPr>
                </a:tc>
              </a:tr>
              <a:tr h="239600">
                <a:tc>
                  <a:txBody>
                    <a:bodyPr wrap="none"/>
                    <a:lstStyle/>
                    <a:p>
                      <a:pPr algn="l"/>
                      <a:r>
                        <a:rPr sz="1100" b="1">
                          <a:solidFill>
                            <a:srgbClr val="2E2E2E"/>
                          </a:solidFill>
                          <a:latin typeface="Calibri"/>
                        </a:rPr>
                        <a:t>New Zealand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2326507" cy="254070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1,190</a:t>
            </a:r>
          </a:p>
        </p:txBody>
      </p:sp>
      <p:sp>
        <p:nvSpPr>
          <p:cNvPr id="19" name="Rectangle 18"/>
          <p:cNvSpPr/>
          <p:nvPr/>
        </p:nvSpPr>
        <p:spPr>
          <a:xfrm>
            <a:off x="6536557" y="1293011"/>
            <a:ext cx="1416818" cy="254070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Australia</a:t>
            </a:r>
          </a:p>
          <a:p>
            <a:pPr algn="ctr"/>
            <a:r>
              <a:rPr sz="1100" b="0">
                <a:solidFill>
                  <a:srgbClr val="FFFFFF"/>
                </a:solidFill>
                <a:latin typeface="Calibri"/>
              </a:rPr>
              <a:t>725</a:t>
            </a:r>
          </a:p>
        </p:txBody>
      </p:sp>
      <p:sp>
        <p:nvSpPr>
          <p:cNvPr id="20" name="Rectangle 19"/>
          <p:cNvSpPr/>
          <p:nvPr/>
        </p:nvSpPr>
        <p:spPr>
          <a:xfrm>
            <a:off x="4210050" y="3833716"/>
            <a:ext cx="1226635" cy="2044893"/>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Indonesia</a:t>
            </a:r>
          </a:p>
          <a:p>
            <a:pPr algn="ctr"/>
            <a:r>
              <a:rPr sz="1100" b="0">
                <a:solidFill>
                  <a:srgbClr val="FFFFFF"/>
                </a:solidFill>
                <a:latin typeface="Calibri"/>
              </a:rPr>
              <a:t>505</a:t>
            </a:r>
          </a:p>
        </p:txBody>
      </p:sp>
      <p:sp>
        <p:nvSpPr>
          <p:cNvPr id="21" name="Rectangle 20"/>
          <p:cNvSpPr/>
          <p:nvPr/>
        </p:nvSpPr>
        <p:spPr>
          <a:xfrm>
            <a:off x="5436685" y="3833716"/>
            <a:ext cx="1321151" cy="1145615"/>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Thailand</a:t>
            </a:r>
          </a:p>
          <a:p>
            <a:pPr algn="ctr"/>
            <a:r>
              <a:rPr sz="1100" b="0">
                <a:solidFill>
                  <a:srgbClr val="FFFFFF"/>
                </a:solidFill>
                <a:latin typeface="Calibri"/>
              </a:rPr>
              <a:t>305</a:t>
            </a:r>
          </a:p>
        </p:txBody>
      </p:sp>
      <p:sp>
        <p:nvSpPr>
          <p:cNvPr id="22" name="Rectangle 21"/>
          <p:cNvSpPr/>
          <p:nvPr/>
        </p:nvSpPr>
        <p:spPr>
          <a:xfrm>
            <a:off x="5436685" y="4979331"/>
            <a:ext cx="1321151" cy="899279"/>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Philippines</a:t>
            </a:r>
          </a:p>
          <a:p>
            <a:pPr algn="ctr"/>
            <a:r>
              <a:rPr sz="1100" b="0">
                <a:solidFill>
                  <a:srgbClr val="FFFFFF"/>
                </a:solidFill>
                <a:latin typeface="Calibri"/>
              </a:rPr>
              <a:t>239</a:t>
            </a:r>
          </a:p>
        </p:txBody>
      </p:sp>
      <p:sp>
        <p:nvSpPr>
          <p:cNvPr id="23" name="Rectangle 22"/>
          <p:cNvSpPr/>
          <p:nvPr/>
        </p:nvSpPr>
        <p:spPr>
          <a:xfrm>
            <a:off x="6757836" y="3833716"/>
            <a:ext cx="1195539" cy="786237"/>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Malaysia</a:t>
            </a:r>
          </a:p>
          <a:p>
            <a:pPr algn="ctr"/>
            <a:r>
              <a:rPr sz="1100" b="0">
                <a:solidFill>
                  <a:srgbClr val="FFFFFF"/>
                </a:solidFill>
                <a:latin typeface="Calibri"/>
              </a:rPr>
              <a:t>189</a:t>
            </a:r>
          </a:p>
        </p:txBody>
      </p:sp>
      <p:sp>
        <p:nvSpPr>
          <p:cNvPr id="24" name="Rectangle 23"/>
          <p:cNvSpPr/>
          <p:nvPr/>
        </p:nvSpPr>
        <p:spPr>
          <a:xfrm>
            <a:off x="6757836" y="4619953"/>
            <a:ext cx="1195539" cy="752688"/>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Singapore</a:t>
            </a:r>
          </a:p>
          <a:p>
            <a:pPr algn="ctr"/>
            <a:r>
              <a:rPr sz="1100" b="0">
                <a:solidFill>
                  <a:srgbClr val="FFFFFF"/>
                </a:solidFill>
                <a:latin typeface="Calibri"/>
              </a:rPr>
              <a:t>181</a:t>
            </a:r>
          </a:p>
        </p:txBody>
      </p:sp>
      <p:sp>
        <p:nvSpPr>
          <p:cNvPr id="25" name="Rectangle 24"/>
          <p:cNvSpPr/>
          <p:nvPr/>
        </p:nvSpPr>
        <p:spPr>
          <a:xfrm>
            <a:off x="6757836" y="5372642"/>
            <a:ext cx="1195539" cy="505968"/>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New Zealand</a:t>
            </a:r>
          </a:p>
          <a:p>
            <a:pPr algn="ctr"/>
            <a:r>
              <a:rPr sz="1100" b="0">
                <a:solidFill>
                  <a:srgbClr val="FFFFFF"/>
                </a:solidFill>
                <a:latin typeface="Calibri"/>
              </a:rPr>
              <a:t>122</a:t>
            </a:r>
          </a:p>
        </p:txBody>
      </p:sp>
      <p:sp>
        <p:nvSpPr>
          <p:cNvPr id="26" name="Rounded Rectangle 25"/>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8" name="Chart 27"/>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9" name="Rounded Rectangle 28"/>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30" name="Table 29"/>
          <p:cNvGraphicFramePr>
            <a:graphicFrameLocks noGrp="1"/>
          </p:cNvGraphicFramePr>
          <p:nvPr/>
        </p:nvGraphicFramePr>
        <p:xfrm>
          <a:off x="8096250" y="3547710"/>
          <a:ext cx="3914776" cy="2159449"/>
        </p:xfrm>
        <a:graphic>
          <a:graphicData uri="http://schemas.openxmlformats.org/drawingml/2006/table">
            <a:tbl>
              <a:tblPr>
                <a:tableStyleId>{5C22544A-7EE6-4342-B048-85BDC9FD1C3A}</a:tableStyleId>
              </a:tblPr>
              <a:tblGrid>
                <a:gridCol w="990308"/>
                <a:gridCol w="1126820"/>
                <a:gridCol w="616223"/>
                <a:gridCol w="1181425"/>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243023">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699.5</a:t>
                      </a:r>
                      <a:endParaRPr sz="1100"/>
                    </a:p>
                  </a:txBody>
                  <a:tcPr marL="47625" marR="38100" marT="19050" marB="19050" anchor="ctr">
                    <a:solidFill>
                      <a:srgbClr val="FFFFFF"/>
                    </a:solidFill>
                  </a:tcPr>
                </a:tc>
              </a:tr>
              <a:tr h="243023">
                <a:tc>
                  <a:txBody>
                    <a:bodyPr wrap="none"/>
                    <a:lstStyle/>
                    <a:p>
                      <a:pPr algn="l"/>
                      <a:r>
                        <a:rPr sz="1100" b="1">
                          <a:solidFill>
                            <a:srgbClr val="2E2E2E"/>
                          </a:solidFill>
                          <a:latin typeface="Calibri"/>
                        </a:rPr>
                        <a:t>Australia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302.0</a:t>
                      </a:r>
                      <a:endParaRPr sz="1100"/>
                    </a:p>
                  </a:txBody>
                  <a:tcPr marL="47625" marR="38100" marT="19050" marB="19050" anchor="ctr">
                    <a:solidFill>
                      <a:srgbClr val="F5F8FA"/>
                    </a:solidFill>
                  </a:tcPr>
                </a:tc>
              </a:tr>
              <a:tr h="243023">
                <a:tc>
                  <a:txBody>
                    <a:bodyPr wrap="none"/>
                    <a:lstStyle/>
                    <a:p>
                      <a:pPr algn="l"/>
                      <a:r>
                        <a:rPr sz="1100" b="1">
                          <a:solidFill>
                            <a:srgbClr val="2E2E2E"/>
                          </a:solidFill>
                          <a:latin typeface="Calibri"/>
                        </a:rPr>
                        <a:t>Indonesia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296.4</a:t>
                      </a:r>
                      <a:endParaRPr sz="1100"/>
                    </a:p>
                  </a:txBody>
                  <a:tcPr marL="47625" marR="38100" marT="19050" marB="19050" anchor="ctr">
                    <a:solidFill>
                      <a:srgbClr val="FFFFFF"/>
                    </a:solidFill>
                  </a:tcPr>
                </a:tc>
              </a:tr>
              <a:tr h="243023">
                <a:tc>
                  <a:txBody>
                    <a:bodyPr wrap="none"/>
                    <a:lstStyle/>
                    <a:p>
                      <a:pPr algn="l"/>
                      <a:r>
                        <a:rPr sz="1100" b="1">
                          <a:solidFill>
                            <a:srgbClr val="2E2E2E"/>
                          </a:solidFill>
                          <a:latin typeface="Calibri"/>
                        </a:rPr>
                        <a:t>Thailand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5F8FA"/>
                    </a:solidFill>
                  </a:tcPr>
                </a:tc>
              </a:tr>
              <a:tr h="243023">
                <a:tc>
                  <a:txBody>
                    <a:bodyPr wrap="none"/>
                    <a:lstStyle/>
                    <a:p>
                      <a:pPr algn="l"/>
                      <a:r>
                        <a:rPr sz="1100" b="1">
                          <a:solidFill>
                            <a:srgbClr val="2E2E2E"/>
                          </a:solidFill>
                          <a:latin typeface="Calibri"/>
                        </a:rPr>
                        <a:t>Philippines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FFFFF"/>
                    </a:solidFill>
                  </a:tcPr>
                </a:tc>
              </a:tr>
              <a:tr h="243023">
                <a:tc>
                  <a:txBody>
                    <a:bodyPr wrap="none"/>
                    <a:lstStyle/>
                    <a:p>
                      <a:pPr algn="l"/>
                      <a:r>
                        <a:rPr sz="1100" b="1">
                          <a:solidFill>
                            <a:srgbClr val="2E2E2E"/>
                          </a:solidFill>
                          <a:latin typeface="Calibri"/>
                        </a:rPr>
                        <a:t>Malaysia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r>
              <a:tr h="243023">
                <a:tc>
                  <a:txBody>
                    <a:bodyPr wrap="none"/>
                    <a:lstStyle/>
                    <a:p>
                      <a:pPr algn="l"/>
                      <a:r>
                        <a:rPr sz="1100" b="1">
                          <a:solidFill>
                            <a:srgbClr val="2E2E2E"/>
                          </a:solidFill>
                          <a:latin typeface="Calibri"/>
                        </a:rPr>
                        <a:t>Singapore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r>
              <a:tr h="243023">
                <a:tc>
                  <a:txBody>
                    <a:bodyPr wrap="none"/>
                    <a:lstStyle/>
                    <a:p>
                      <a:pPr algn="l"/>
                      <a:r>
                        <a:rPr sz="1100" b="1">
                          <a:solidFill>
                            <a:srgbClr val="2E2E2E"/>
                          </a:solidFill>
                          <a:latin typeface="Calibri"/>
                        </a:rPr>
                        <a:t>New Zealand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r>
            </a:tbl>
          </a:graphicData>
        </a:graphic>
      </p:graphicFrame>
      <p:sp>
        <p:nvSpPr>
          <p:cNvPr id="31" name="TextBox 30"/>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32" name="Rounded Rectangle 31"/>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India hair styling products market is projected to register 1.6X higher value than Australia in 2036. Philippines posts the highest CAGR Index (122), growing at 9.6% against the South Asia &amp; Pacific benchmark, while India offers the largest absolute opportunity 699.5 US$ Mn of incremental market between 2026 and 2036 (35% of the South Asia &amp; Pacific increment).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Global hair styling products market is expected to witness 2.3X increase in revenue by 2036 end. Global hair styling products market accounted for US$ 1,671 Mn in 2025, which is expected to increase to US$ 3,772 Mn in 2036 at a CAGR of 7.9%.</a:t>
            </a:r>
          </a:p>
          <a:p>
            <a:pPr algn="l">
              <a:lnSpc>
                <a:spcPct val="110000"/>
              </a:lnSpc>
              <a:spcBef>
                <a:spcPts val="0"/>
              </a:spcBef>
              <a:spcAft>
                <a:spcPts val="500"/>
              </a:spcAft>
            </a:pPr>
            <a:r>
              <a:rPr sz="1150" b="0">
                <a:solidFill>
                  <a:srgbClr val="2E2E2E"/>
                </a:solidFill>
                <a:latin typeface="Calibri"/>
              </a:rPr>
              <a:t>The global hair styling products market has been analysed on the basis of product format, hold level, finish and distribution channel across the globe. India is expected to remain the largest market for hair styling products, while demand in Philippines is projected to increase at the highest CAGR of 9.6% throughout the forecast period.</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is fragmented: the leading product format category 'Styling Serums and Oils' holds 18.6% of 2036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spans 9 countries and 7 segmentation lenses (8 product format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India is the largest country market at 31.6% of 2036 value.</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Accelerating uptake of 'Sticks and Balms' (9.5%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Fast-growing demand in Philippines (9.6%).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Momentum in Online Marketplaces within distribution channel (9.2%).</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Slower momentum in 'Sprays and Mists' (5.5%).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Maturing demand in established categories caps the blended 7.9%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 concentration in 'Styling Serums and Oils' raises barriers for new entrants.</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'Sticks and Balms'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Philippines outpacing the South Asia &amp; Pacific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8 product format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Capacity and product development are concentrating in 'Sticks and Balms' and in Philippines, the fastest-growing country.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Portfolio expansion is tracking the shift toward higher-growth product format categories.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Commercial focus is intensifying in India and Philippines, which together account for 37.9% of 2036 value.</a:t>
            </a:r>
          </a:p>
        </p:txBody>
      </p:sp>
      <p:sp>
        <p:nvSpPr>
          <p:cNvPr id="14" name="Rounded Rectangle 13"/>
          <p:cNvSpPr/>
          <p:nvPr/>
        </p:nvSpPr>
        <p:spPr>
          <a:xfrm>
            <a:off x="6172200"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Market value rises from 1,771 US$ Mn in 2026 to 3,772 US$ Mn in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forecast CAGR is 7.9% over 2026-2036.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'Styling Serums and Oils' is the lead product format category with 18.6%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India is the lead country with 31.6%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incremental opportunity over 2026-2036 is 2,001 US$ Mn.</a:t>
            </a:r>
          </a:p>
        </p:txBody>
      </p:sp>
      <p:sp>
        <p:nvSpPr>
          <p:cNvPr id="18" name="Rounded Rectangle 17"/>
          <p:cNvSpPr/>
          <p:nvPr/>
        </p:nvSpPr>
        <p:spPr>
          <a:xfrm>
            <a:off x="142875"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152775"/>
            <a:ext cx="5610225" cy="1228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Investment is flowing toward 'Sticks and Balms', the fastest-growing product format category at 9.5%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Philippines (9.6% CAGR) is a priority country for new capacity and distribution.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Scale players are anchoring their portfolios around 'Styling Serums and Oils', which holds 18.6% share.</a:t>
            </a:r>
          </a:p>
        </p:txBody>
      </p:sp>
      <p:sp>
        <p:nvSpPr>
          <p:cNvPr id="22" name="Rounded Rectangle 21"/>
          <p:cNvSpPr/>
          <p:nvPr/>
        </p:nvSpPr>
        <p:spPr>
          <a:xfrm>
            <a:off x="6172200"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152775"/>
            <a:ext cx="5610225" cy="12287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R&amp;D programmes are focused on product design, premium formats and sustainable materials, in line with the migration toward 'Sticks and Balms'.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Development spend is targeting the product format categories that gain share through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Innovation underpins the 7.9% forecast CAGR by sustaining both volume growth and price realisation.</a:t>
            </a:r>
          </a:p>
        </p:txBody>
      </p:sp>
      <p:sp>
        <p:nvSpPr>
          <p:cNvPr id="26" name="Rounded Rectangle 25"/>
          <p:cNvSpPr/>
          <p:nvPr/>
        </p:nvSpPr>
        <p:spPr>
          <a:xfrm>
            <a:off x="142875" y="4591050"/>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648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Format Share (2036)</a:t>
            </a:r>
          </a:p>
        </p:txBody>
      </p:sp>
      <p:graphicFrame>
        <p:nvGraphicFramePr>
          <p:cNvPr id="28" name="Chart 27"/>
          <p:cNvGraphicFramePr>
            <a:graphicFrameLocks noGrp="1"/>
          </p:cNvGraphicFramePr>
          <p:nvPr/>
        </p:nvGraphicFramePr>
        <p:xfrm>
          <a:off x="238125" y="4876800"/>
          <a:ext cx="11715750" cy="1685925"/>
        </p:xfrm>
        <a:graphic>
          <a:graphicData uri="http://schemas.openxmlformats.org/drawingml/2006/chart">
            <c:chart xmlns:c="http://schemas.openxmlformats.org/drawingml/2006/chart" r:id="rId3"/>
          </a:graphicData>
        </a:graphic>
      </p:graphicFrame>
      <p:sp>
        <p:nvSpPr>
          <p:cNvPr id="29" name="TextBox 28"/>
          <p:cNvSpPr txBox="1"/>
          <p:nvPr/>
        </p:nvSpPr>
        <p:spPr>
          <a:xfrm>
            <a:off x="3935364" y="5605462"/>
            <a:ext cx="806547" cy="228600"/>
          </a:xfrm>
          <a:prstGeom prst="rect">
            <a:avLst/>
          </a:prstGeom>
          <a:noFill/>
        </p:spPr>
        <p:txBody>
          <a:bodyPr wrap="square" lIns="28575" rIns="28575" tIns="9525" bIns="9525" anchor="ctr">
            <a:spAutoFit/>
          </a:bodyPr>
          <a:lstStyle/>
          <a:p>
            <a:pPr algn="ctr"/>
            <a:r>
              <a:rPr sz="1300" b="1">
                <a:solidFill>
                  <a:srgbClr val="2E2E2E"/>
                </a:solidFill>
                <a:latin typeface="Calibri"/>
              </a:rPr>
              <a:t>2036</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scale in 'Styling Serums and Oils' with targeted growth in 'Sticks and Balms' to capture the 7.9% CAGR trajectory to 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adds 2,001 US$ Mn of demand to 2036, a 2.1x expansion on the 2026 base.</a:t>
            </a:r>
          </a:p>
        </p:txBody>
      </p:sp>
      <p:sp>
        <p:nvSpPr>
          <p:cNvPr id="14" name="Rounded Rectangle 13"/>
          <p:cNvSpPr/>
          <p:nvPr/>
        </p:nvSpPr>
        <p:spPr>
          <a:xfrm>
            <a:off x="6172200"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'Sticks and Balms' category and the 'Online Marketplaces' distribution channel route, where growth outpaces the market.</a:t>
            </a:r>
          </a:p>
        </p:txBody>
      </p:sp>
      <p:sp>
        <p:nvSpPr>
          <p:cNvPr id="18" name="Rounded Rectangle 17"/>
          <p:cNvSpPr/>
          <p:nvPr/>
        </p:nvSpPr>
        <p:spPr>
          <a:xfrm>
            <a:off x="142875"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'Sticks and Balms' (9.5% CAGR) for growth, while 'Styling Serums and Oils' anchors 18.6% of value and funds the portfolio.</a:t>
            </a:r>
          </a:p>
        </p:txBody>
      </p:sp>
      <p:sp>
        <p:nvSpPr>
          <p:cNvPr id="22" name="Rounded Rectangle 21"/>
          <p:cNvSpPr/>
          <p:nvPr/>
        </p:nvSpPr>
        <p:spPr>
          <a:xfrm>
            <a:off x="6172200"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 with India (31.6% of value) and capture upside in Philippines (9.6% CAGR).</a:t>
            </a:r>
          </a:p>
        </p:txBody>
      </p:sp>
      <p:sp>
        <p:nvSpPr>
          <p:cNvPr id="26" name="Rounded Rectangle 25"/>
          <p:cNvSpPr/>
          <p:nvPr/>
        </p:nvSpPr>
        <p:spPr>
          <a:xfrm>
            <a:off x="142875" y="4695825"/>
            <a:ext cx="11906250" cy="1914525"/>
          </a:xfrm>
          <a:prstGeom prst="roundRect">
            <a:avLst>
              <a:gd name="adj" fmla="val 39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81550"/>
            <a:ext cx="11639550" cy="209550"/>
          </a:xfrm>
          <a:prstGeom prst="rect">
            <a:avLst/>
          </a:prstGeom>
          <a:noFill/>
        </p:spPr>
        <p:txBody>
          <a:bodyPr wrap="square" lIns="0" rIns="19050" tIns="9525" bIns="9525">
            <a:spAutoFit/>
          </a:bodyPr>
          <a:lstStyle/>
          <a:p>
            <a:pPr algn="l"/>
            <a:r>
              <a:rPr sz="1300" b="1">
                <a:solidFill>
                  <a:srgbClr val="0B2E4A"/>
                </a:solidFill>
                <a:latin typeface="Calibri"/>
              </a:rPr>
              <a:t>FMI Analysis and Recommendation</a:t>
            </a:r>
          </a:p>
        </p:txBody>
      </p:sp>
      <p:sp>
        <p:nvSpPr>
          <p:cNvPr id="28" name="Rectangle 27"/>
          <p:cNvSpPr/>
          <p:nvPr/>
        </p:nvSpPr>
        <p:spPr>
          <a:xfrm>
            <a:off x="276225" y="5019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105400"/>
            <a:ext cx="11639550" cy="1428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 and country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'Styling Serums and Oils' as the value anchor of the portfolio.</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quality certification and brand trust into the offer to protect pricing as competition intensifies.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4,581 US$ Mn</a:t>
            </a:r>
          </a:p>
          <a:p>
            <a:pPr algn="ctr">
              <a:lnSpc>
                <a:spcPct val="95000"/>
              </a:lnSpc>
            </a:pPr>
            <a:r>
              <a:rPr sz="1100" b="0">
                <a:solidFill>
                  <a:srgbClr val="6C7A89"/>
                </a:solidFill>
                <a:latin typeface="Calibri"/>
              </a:rPr>
              <a:t>CAGR 9.6%</a:t>
            </a:r>
          </a:p>
        </p:txBody>
      </p:sp>
      <p:sp>
        <p:nvSpPr>
          <p:cNvPr id="11" name="Rounded Rectangle 10"/>
          <p:cNvSpPr/>
          <p:nvPr/>
        </p:nvSpPr>
        <p:spPr>
          <a:xfrm>
            <a:off x="4238625"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3,772 US$ Mn</a:t>
            </a:r>
          </a:p>
          <a:p>
            <a:pPr algn="ctr">
              <a:lnSpc>
                <a:spcPct val="95000"/>
              </a:lnSpc>
            </a:pPr>
            <a:r>
              <a:rPr sz="1100" b="0">
                <a:solidFill>
                  <a:srgbClr val="6C7A89"/>
                </a:solidFill>
                <a:latin typeface="Calibri"/>
              </a:rPr>
              <a:t>CAGR 7.9%</a:t>
            </a:r>
          </a:p>
        </p:txBody>
      </p:sp>
      <p:sp>
        <p:nvSpPr>
          <p:cNvPr id="12" name="Rounded Rectangle 11"/>
          <p:cNvSpPr/>
          <p:nvPr/>
        </p:nvSpPr>
        <p:spPr>
          <a:xfrm>
            <a:off x="8210550"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3,095 US$ Mn</a:t>
            </a:r>
          </a:p>
          <a:p>
            <a:pPr algn="ctr">
              <a:lnSpc>
                <a:spcPct val="95000"/>
              </a:lnSpc>
            </a:pPr>
            <a:r>
              <a:rPr sz="1100" b="0">
                <a:solidFill>
                  <a:srgbClr val="6C7A89"/>
                </a:solidFill>
                <a:latin typeface="Calibri"/>
              </a:rPr>
              <a:t>CAGR 5.7%</a:t>
            </a:r>
          </a:p>
        </p:txBody>
      </p:sp>
      <p:sp>
        <p:nvSpPr>
          <p:cNvPr id="13" name="Rounded Rectangle 12"/>
          <p:cNvSpPr/>
          <p:nvPr/>
        </p:nvSpPr>
        <p:spPr>
          <a:xfrm>
            <a:off x="142875"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Hair Styling Products Market Value (US$ Mn): Scenario Forecast, 2025 and 2036</a:t>
            </a:r>
          </a:p>
        </p:txBody>
      </p:sp>
      <p:cxnSp>
        <p:nvCxnSpPr>
          <p:cNvPr id="15" name="Connector 14"/>
          <p:cNvCxnSpPr/>
          <p:nvPr/>
        </p:nvCxnSpPr>
        <p:spPr>
          <a:xfrm>
            <a:off x="238125" y="413385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540258"/>
            <a:ext cx="635826" cy="593592"/>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34534"/>
            <a:ext cx="635826" cy="1099316"/>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793962"/>
            <a:ext cx="635826" cy="1339888"/>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506504"/>
            <a:ext cx="635826" cy="1627346"/>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901184"/>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796409"/>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5.7%</a:t>
            </a:r>
          </a:p>
        </p:txBody>
      </p:sp>
      <p:cxnSp>
        <p:nvCxnSpPr>
          <p:cNvPr id="22" name="Connector 21"/>
          <p:cNvCxnSpPr/>
          <p:nvPr/>
        </p:nvCxnSpPr>
        <p:spPr>
          <a:xfrm>
            <a:off x="1456468" y="2644009"/>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39234"/>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7.9%</a:t>
            </a:r>
          </a:p>
        </p:txBody>
      </p:sp>
      <p:cxnSp>
        <p:nvCxnSpPr>
          <p:cNvPr id="24" name="Connector 23"/>
          <p:cNvCxnSpPr/>
          <p:nvPr/>
        </p:nvCxnSpPr>
        <p:spPr>
          <a:xfrm>
            <a:off x="1456468" y="2373154"/>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268379"/>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9.6%</a:t>
            </a:r>
          </a:p>
        </p:txBody>
      </p:sp>
      <p:sp>
        <p:nvSpPr>
          <p:cNvPr id="26" name="TextBox 25"/>
          <p:cNvSpPr txBox="1"/>
          <p:nvPr/>
        </p:nvSpPr>
        <p:spPr>
          <a:xfrm>
            <a:off x="643255"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40055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40055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40055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Hair Styling Products Market Attractiveness Analysis By Region, 2026–2036</a:t>
            </a:r>
          </a:p>
        </p:txBody>
      </p:sp>
      <p:graphicFrame>
        <p:nvGraphicFramePr>
          <p:cNvPr id="36" name="Chart 35"/>
          <p:cNvGraphicFramePr>
            <a:graphicFrameLocks noGrp="1"/>
          </p:cNvGraphicFramePr>
          <p:nvPr/>
        </p:nvGraphicFramePr>
        <p:xfrm>
          <a:off x="6267450" y="2181225"/>
          <a:ext cx="5686425" cy="2409825"/>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781550"/>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191125"/>
            <a:ext cx="11639550" cy="135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Optimistic: the market reaches 4,581 US$ Mn by 2036 at 9.6% CAGR, assuming faster adoption and stronger price realisation.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Likely (base forecast): the market reaches 3,772 US$ Mn by 2036 at 7.9%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Conservative: the market reaches 3,095 US$ Mn by 2036 at 5.7% CAGR, assuming slower adoption and tighter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Scenarios flex the base forecast's year-on-year growth by plus or minus 25% across 2026-2036.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gap between the optimistic and conservative outcomes is 1,486 US$ Mn in 2036, which frames the planning range for capacity and investment decisions.</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South Asia &amp; Pacific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South Asia &amp; Pacific Hair Styling Products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9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South Asia &amp; Pacific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0096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0096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India</a:t>
            </a:r>
          </a:p>
        </p:txBody>
      </p:sp>
      <p:sp>
        <p:nvSpPr>
          <p:cNvPr id="23" name="Rectangle 22"/>
          <p:cNvSpPr/>
          <p:nvPr/>
        </p:nvSpPr>
        <p:spPr>
          <a:xfrm>
            <a:off x="186690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490.5</a:t>
            </a:r>
          </a:p>
        </p:txBody>
      </p:sp>
      <p:sp>
        <p:nvSpPr>
          <p:cNvPr id="24" name="Rectangle 23"/>
          <p:cNvSpPr/>
          <p:nvPr/>
        </p:nvSpPr>
        <p:spPr>
          <a:xfrm>
            <a:off x="186690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1,190</a:t>
            </a:r>
          </a:p>
        </p:txBody>
      </p:sp>
      <p:sp>
        <p:nvSpPr>
          <p:cNvPr id="25" name="Rectangle 24"/>
          <p:cNvSpPr/>
          <p:nvPr/>
        </p:nvSpPr>
        <p:spPr>
          <a:xfrm>
            <a:off x="186690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9.3%</a:t>
            </a:r>
          </a:p>
        </p:txBody>
      </p:sp>
      <p:sp>
        <p:nvSpPr>
          <p:cNvPr id="26" name="Oval 25"/>
          <p:cNvSpPr/>
          <p:nvPr/>
        </p:nvSpPr>
        <p:spPr>
          <a:xfrm>
            <a:off x="220980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2990850" y="1773916"/>
            <a:ext cx="10096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2990850" y="1992961"/>
            <a:ext cx="10096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02895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Australia</a:t>
            </a:r>
          </a:p>
        </p:txBody>
      </p:sp>
      <p:sp>
        <p:nvSpPr>
          <p:cNvPr id="30" name="Rectangle 29"/>
          <p:cNvSpPr/>
          <p:nvPr/>
        </p:nvSpPr>
        <p:spPr>
          <a:xfrm>
            <a:off x="299085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422.7</a:t>
            </a:r>
          </a:p>
        </p:txBody>
      </p:sp>
      <p:sp>
        <p:nvSpPr>
          <p:cNvPr id="31" name="Rectangle 30"/>
          <p:cNvSpPr/>
          <p:nvPr/>
        </p:nvSpPr>
        <p:spPr>
          <a:xfrm>
            <a:off x="299085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724.7</a:t>
            </a:r>
          </a:p>
        </p:txBody>
      </p:sp>
      <p:sp>
        <p:nvSpPr>
          <p:cNvPr id="32" name="Rectangle 31"/>
          <p:cNvSpPr/>
          <p:nvPr/>
        </p:nvSpPr>
        <p:spPr>
          <a:xfrm>
            <a:off x="299085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5.5%</a:t>
            </a:r>
          </a:p>
        </p:txBody>
      </p:sp>
      <p:sp>
        <p:nvSpPr>
          <p:cNvPr id="33" name="Oval 32"/>
          <p:cNvSpPr/>
          <p:nvPr/>
        </p:nvSpPr>
        <p:spPr>
          <a:xfrm>
            <a:off x="333375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4114800" y="1773916"/>
            <a:ext cx="10096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4114800" y="1992961"/>
            <a:ext cx="10096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15290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Indonesia</a:t>
            </a:r>
          </a:p>
        </p:txBody>
      </p:sp>
      <p:sp>
        <p:nvSpPr>
          <p:cNvPr id="37" name="Rectangle 36"/>
          <p:cNvSpPr/>
          <p:nvPr/>
        </p:nvSpPr>
        <p:spPr>
          <a:xfrm>
            <a:off x="411480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208.6</a:t>
            </a:r>
          </a:p>
        </p:txBody>
      </p:sp>
      <p:sp>
        <p:nvSpPr>
          <p:cNvPr id="38" name="Rectangle 37"/>
          <p:cNvSpPr/>
          <p:nvPr/>
        </p:nvSpPr>
        <p:spPr>
          <a:xfrm>
            <a:off x="411480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505.0</a:t>
            </a:r>
          </a:p>
        </p:txBody>
      </p:sp>
      <p:sp>
        <p:nvSpPr>
          <p:cNvPr id="39" name="Rectangle 38"/>
          <p:cNvSpPr/>
          <p:nvPr/>
        </p:nvSpPr>
        <p:spPr>
          <a:xfrm>
            <a:off x="411480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9.2%</a:t>
            </a:r>
          </a:p>
        </p:txBody>
      </p:sp>
      <p:sp>
        <p:nvSpPr>
          <p:cNvPr id="40" name="Oval 39"/>
          <p:cNvSpPr/>
          <p:nvPr/>
        </p:nvSpPr>
        <p:spPr>
          <a:xfrm>
            <a:off x="44577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5238750" y="1773916"/>
            <a:ext cx="100965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5238750" y="1992961"/>
            <a:ext cx="100965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527685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Rest of South Asia</a:t>
            </a:r>
          </a:p>
        </p:txBody>
      </p:sp>
      <p:sp>
        <p:nvSpPr>
          <p:cNvPr id="44" name="Rectangle 43"/>
          <p:cNvSpPr/>
          <p:nvPr/>
        </p:nvSpPr>
        <p:spPr>
          <a:xfrm>
            <a:off x="523875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145.9</a:t>
            </a:r>
          </a:p>
        </p:txBody>
      </p:sp>
      <p:sp>
        <p:nvSpPr>
          <p:cNvPr id="45" name="Rectangle 44"/>
          <p:cNvSpPr/>
          <p:nvPr/>
        </p:nvSpPr>
        <p:spPr>
          <a:xfrm>
            <a:off x="523875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315.9</a:t>
            </a:r>
          </a:p>
        </p:txBody>
      </p:sp>
      <p:sp>
        <p:nvSpPr>
          <p:cNvPr id="46" name="Rectangle 45"/>
          <p:cNvSpPr/>
          <p:nvPr/>
        </p:nvSpPr>
        <p:spPr>
          <a:xfrm>
            <a:off x="523875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8.0%</a:t>
            </a:r>
          </a:p>
        </p:txBody>
      </p:sp>
      <p:sp>
        <p:nvSpPr>
          <p:cNvPr id="47" name="Oval 46"/>
          <p:cNvSpPr/>
          <p:nvPr/>
        </p:nvSpPr>
        <p:spPr>
          <a:xfrm>
            <a:off x="558165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6362700" y="1773916"/>
            <a:ext cx="10096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6362700" y="1992961"/>
            <a:ext cx="10096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640080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Thailand</a:t>
            </a:r>
          </a:p>
        </p:txBody>
      </p:sp>
      <p:sp>
        <p:nvSpPr>
          <p:cNvPr id="51" name="Rectangle 50"/>
          <p:cNvSpPr/>
          <p:nvPr/>
        </p:nvSpPr>
        <p:spPr>
          <a:xfrm>
            <a:off x="636270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143.3</a:t>
            </a:r>
          </a:p>
        </p:txBody>
      </p:sp>
      <p:sp>
        <p:nvSpPr>
          <p:cNvPr id="52" name="Rectangle 51"/>
          <p:cNvSpPr/>
          <p:nvPr/>
        </p:nvSpPr>
        <p:spPr>
          <a:xfrm>
            <a:off x="636270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304.7</a:t>
            </a:r>
          </a:p>
        </p:txBody>
      </p:sp>
      <p:sp>
        <p:nvSpPr>
          <p:cNvPr id="53" name="Rectangle 52"/>
          <p:cNvSpPr/>
          <p:nvPr/>
        </p:nvSpPr>
        <p:spPr>
          <a:xfrm>
            <a:off x="636270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7.8%</a:t>
            </a:r>
          </a:p>
        </p:txBody>
      </p:sp>
      <p:sp>
        <p:nvSpPr>
          <p:cNvPr id="54" name="Oval 53"/>
          <p:cNvSpPr/>
          <p:nvPr/>
        </p:nvSpPr>
        <p:spPr>
          <a:xfrm>
            <a:off x="670560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7486650" y="1773916"/>
            <a:ext cx="10096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7486650" y="1992961"/>
            <a:ext cx="10096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752475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Singapore</a:t>
            </a:r>
          </a:p>
        </p:txBody>
      </p:sp>
      <p:sp>
        <p:nvSpPr>
          <p:cNvPr id="58" name="Rectangle 57"/>
          <p:cNvSpPr/>
          <p:nvPr/>
        </p:nvSpPr>
        <p:spPr>
          <a:xfrm>
            <a:off x="748665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99.9</a:t>
            </a:r>
          </a:p>
        </p:txBody>
      </p:sp>
      <p:sp>
        <p:nvSpPr>
          <p:cNvPr id="59" name="Rectangle 58"/>
          <p:cNvSpPr/>
          <p:nvPr/>
        </p:nvSpPr>
        <p:spPr>
          <a:xfrm>
            <a:off x="748665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181.2</a:t>
            </a:r>
          </a:p>
        </p:txBody>
      </p:sp>
      <p:sp>
        <p:nvSpPr>
          <p:cNvPr id="60" name="Rectangle 59"/>
          <p:cNvSpPr/>
          <p:nvPr/>
        </p:nvSpPr>
        <p:spPr>
          <a:xfrm>
            <a:off x="748665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6.1%</a:t>
            </a:r>
          </a:p>
        </p:txBody>
      </p:sp>
      <p:sp>
        <p:nvSpPr>
          <p:cNvPr id="61" name="Oval 60"/>
          <p:cNvSpPr/>
          <p:nvPr/>
        </p:nvSpPr>
        <p:spPr>
          <a:xfrm>
            <a:off x="782955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8610600" y="1773916"/>
            <a:ext cx="100965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8610600" y="1992961"/>
            <a:ext cx="100965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64870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Philippines</a:t>
            </a:r>
          </a:p>
        </p:txBody>
      </p:sp>
      <p:sp>
        <p:nvSpPr>
          <p:cNvPr id="65" name="Rectangle 64"/>
          <p:cNvSpPr/>
          <p:nvPr/>
        </p:nvSpPr>
        <p:spPr>
          <a:xfrm>
            <a:off x="861060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95.8</a:t>
            </a:r>
          </a:p>
        </p:txBody>
      </p:sp>
      <p:sp>
        <p:nvSpPr>
          <p:cNvPr id="66" name="Rectangle 65"/>
          <p:cNvSpPr/>
          <p:nvPr/>
        </p:nvSpPr>
        <p:spPr>
          <a:xfrm>
            <a:off x="861060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239.2</a:t>
            </a:r>
          </a:p>
        </p:txBody>
      </p:sp>
      <p:sp>
        <p:nvSpPr>
          <p:cNvPr id="67" name="Rectangle 66"/>
          <p:cNvSpPr/>
          <p:nvPr/>
        </p:nvSpPr>
        <p:spPr>
          <a:xfrm>
            <a:off x="861060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9.6%</a:t>
            </a:r>
          </a:p>
        </p:txBody>
      </p:sp>
      <p:sp>
        <p:nvSpPr>
          <p:cNvPr id="68" name="Oval 67"/>
          <p:cNvSpPr/>
          <p:nvPr/>
        </p:nvSpPr>
        <p:spPr>
          <a:xfrm>
            <a:off x="895350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9734550" y="1773916"/>
            <a:ext cx="10096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9734550" y="1992961"/>
            <a:ext cx="10096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977265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Malaysia</a:t>
            </a:r>
          </a:p>
        </p:txBody>
      </p:sp>
      <p:sp>
        <p:nvSpPr>
          <p:cNvPr id="72" name="Rectangle 71"/>
          <p:cNvSpPr/>
          <p:nvPr/>
        </p:nvSpPr>
        <p:spPr>
          <a:xfrm>
            <a:off x="973455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89.5</a:t>
            </a:r>
          </a:p>
        </p:txBody>
      </p:sp>
      <p:sp>
        <p:nvSpPr>
          <p:cNvPr id="73" name="Rectangle 72"/>
          <p:cNvSpPr/>
          <p:nvPr/>
        </p:nvSpPr>
        <p:spPr>
          <a:xfrm>
            <a:off x="973455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189.2</a:t>
            </a:r>
          </a:p>
        </p:txBody>
      </p:sp>
      <p:sp>
        <p:nvSpPr>
          <p:cNvPr id="74" name="Rectangle 73"/>
          <p:cNvSpPr/>
          <p:nvPr/>
        </p:nvSpPr>
        <p:spPr>
          <a:xfrm>
            <a:off x="973455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7.8%</a:t>
            </a:r>
          </a:p>
        </p:txBody>
      </p:sp>
      <p:sp>
        <p:nvSpPr>
          <p:cNvPr id="75" name="Oval 74"/>
          <p:cNvSpPr/>
          <p:nvPr/>
        </p:nvSpPr>
        <p:spPr>
          <a:xfrm>
            <a:off x="100774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76" name="Rounded Rectangle 75"/>
          <p:cNvSpPr/>
          <p:nvPr/>
        </p:nvSpPr>
        <p:spPr>
          <a:xfrm>
            <a:off x="10858500" y="1773916"/>
            <a:ext cx="10096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0858500" y="1992961"/>
            <a:ext cx="10096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1089660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New Zealand</a:t>
            </a:r>
          </a:p>
        </p:txBody>
      </p:sp>
      <p:sp>
        <p:nvSpPr>
          <p:cNvPr id="79" name="Rectangle 78"/>
          <p:cNvSpPr/>
          <p:nvPr/>
        </p:nvSpPr>
        <p:spPr>
          <a:xfrm>
            <a:off x="1085850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74.7</a:t>
            </a:r>
          </a:p>
        </p:txBody>
      </p:sp>
      <p:sp>
        <p:nvSpPr>
          <p:cNvPr id="80" name="Rectangle 79"/>
          <p:cNvSpPr/>
          <p:nvPr/>
        </p:nvSpPr>
        <p:spPr>
          <a:xfrm>
            <a:off x="1085850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121.8</a:t>
            </a:r>
          </a:p>
        </p:txBody>
      </p:sp>
      <p:sp>
        <p:nvSpPr>
          <p:cNvPr id="81" name="Rectangle 80"/>
          <p:cNvSpPr/>
          <p:nvPr/>
        </p:nvSpPr>
        <p:spPr>
          <a:xfrm>
            <a:off x="1085850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5.0%</a:t>
            </a:r>
          </a:p>
        </p:txBody>
      </p:sp>
      <p:sp>
        <p:nvSpPr>
          <p:cNvPr id="82" name="Oval 81"/>
          <p:cNvSpPr/>
          <p:nvPr/>
        </p:nvSpPr>
        <p:spPr>
          <a:xfrm>
            <a:off x="112014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9</a:t>
            </a:r>
          </a:p>
        </p:txBody>
      </p:sp>
      <p:sp>
        <p:nvSpPr>
          <p:cNvPr id="83" name="Rounded Rectangle 82"/>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85" name="Rectangle 84"/>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India hair styling products market is projected to register 1.6X higher value than Australia in 2036. Among hair styling products by country, Philippines is expected to witness the highest CAGR of 9.6% over the forecast period.</a:t>
            </a:r>
          </a:p>
          <a:p>
            <a:pPr algn="l">
              <a:lnSpc>
                <a:spcPct val="110000"/>
              </a:lnSpc>
              <a:spcBef>
                <a:spcPts val="0"/>
              </a:spcBef>
              <a:spcAft>
                <a:spcPts val="500"/>
              </a:spcAft>
            </a:pPr>
            <a:r>
              <a:rPr sz="1100" b="0">
                <a:solidFill>
                  <a:srgbClr val="2E2E2E"/>
                </a:solidFill>
                <a:latin typeface="Calibri"/>
              </a:rPr>
              <a:t>In terms of value share by country, India is expected to dominate the market, gaining 425 BPS and accounting for 34.4% share by 2036. Australia is expected to lose 504 BPS over the forecast period to account for 21.0% share by 2036.</a:t>
            </a:r>
          </a:p>
        </p:txBody>
      </p:sp>
      <p:sp>
        <p:nvSpPr>
          <p:cNvPr id="87" name="Rounded Rectangle 86"/>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Country Insights</a:t>
            </a:r>
          </a:p>
        </p:txBody>
      </p:sp>
      <p:sp>
        <p:nvSpPr>
          <p:cNvPr id="89" name="Rectangle 88"/>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TextBox 89"/>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India: </a:t>
            </a:r>
            <a:r>
              <a:rPr sz="1100" b="0">
                <a:solidFill>
                  <a:srgbClr val="2E2E2E"/>
                </a:solidFill>
                <a:latin typeface="Calibri"/>
              </a:rPr>
              <a:t>28% of 2026 value · 9.3% CAGR leads the market.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Australia: </a:t>
            </a:r>
            <a:r>
              <a:rPr sz="1100" b="0">
                <a:solidFill>
                  <a:srgbClr val="2E2E2E"/>
                </a:solidFill>
                <a:latin typeface="Calibri"/>
              </a:rPr>
              <a:t>24% of 2026 value · 5.5% CAGR a smaller market.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Indonesia: </a:t>
            </a:r>
            <a:r>
              <a:rPr sz="1100" b="0">
                <a:solidFill>
                  <a:srgbClr val="2E2E2E"/>
                </a:solidFill>
                <a:latin typeface="Calibri"/>
              </a:rPr>
              <a:t>12% of 2026 value · 9.2% CAGR a smaller market.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Rest of South Asia: </a:t>
            </a:r>
            <a:r>
              <a:rPr sz="1100" b="0">
                <a:solidFill>
                  <a:srgbClr val="2E2E2E"/>
                </a:solidFill>
                <a:latin typeface="Calibri"/>
              </a:rPr>
              <a:t>8% of 2026 value · 8.0% CAGR a smaller market.</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Thailand: </a:t>
            </a:r>
            <a:r>
              <a:rPr sz="1100" b="0">
                <a:solidFill>
                  <a:srgbClr val="2E2E2E"/>
                </a:solidFill>
                <a:latin typeface="Calibri"/>
              </a:rPr>
              <a:t>8% of 2026 value · 7.8% CAGR a smaller market.</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Singapore: </a:t>
            </a:r>
            <a:r>
              <a:rPr sz="1100" b="0">
                <a:solidFill>
                  <a:srgbClr val="2E2E2E"/>
                </a:solidFill>
                <a:latin typeface="Calibri"/>
              </a:rPr>
              <a:t>6% of 2026 value · 6.1% CAGR a smaller market.</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Philippines: </a:t>
            </a:r>
            <a:r>
              <a:rPr sz="1100" b="0">
                <a:solidFill>
                  <a:srgbClr val="2E2E2E"/>
                </a:solidFill>
                <a:latin typeface="Calibri"/>
              </a:rPr>
              <a:t>5% of 2026 value · 9.6% CAGR grows fastest.</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Malaysia: </a:t>
            </a:r>
            <a:r>
              <a:rPr sz="1100" b="0">
                <a:solidFill>
                  <a:srgbClr val="2E2E2E"/>
                </a:solidFill>
                <a:latin typeface="Calibri"/>
              </a:rPr>
              <a:t>5% of 2026 value · 7.8% CAGR a smaller market.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New Zealand: </a:t>
            </a:r>
            <a:r>
              <a:rPr sz="1100" b="0">
                <a:solidFill>
                  <a:srgbClr val="2E2E2E"/>
                </a:solidFill>
                <a:latin typeface="Calibri"/>
              </a:rPr>
              <a:t>4% of 2026 value · 5.0% CAGR a smaller market.</a:t>
            </a:r>
          </a:p>
        </p:txBody>
      </p:sp>
      <p:sp>
        <p:nvSpPr>
          <p:cNvPr id="91" name="Rounded Rectangle 90"/>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Country Overview</a:t>
            </a:r>
          </a:p>
        </p:txBody>
      </p:sp>
      <p:sp>
        <p:nvSpPr>
          <p:cNvPr id="93" name="Rectangle 92"/>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TextBox 93"/>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95" name="Rectangle 94"/>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South Asia &amp; Pacific market is projected to grow at a CAGR of 7.9% from 2026 to 2036.</a:t>
            </a:r>
          </a:p>
        </p:txBody>
      </p:sp>
      <p:sp>
        <p:nvSpPr>
          <p:cNvPr id="97" name="TextBox 96"/>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98" name="TextBox 9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Market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490040"/>
            <a:ext cx="85725" cy="8572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48527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409078"/>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New Zealand</a:t>
            </a:r>
          </a:p>
        </p:txBody>
      </p:sp>
      <p:sp>
        <p:nvSpPr>
          <p:cNvPr id="19" name="BPS Value 1"/>
          <p:cNvSpPr txBox="1"/>
          <p:nvPr/>
        </p:nvSpPr>
        <p:spPr>
          <a:xfrm>
            <a:off x="6305550" y="1470990"/>
            <a:ext cx="514350" cy="123825"/>
          </a:xfrm>
          <a:prstGeom prst="rect">
            <a:avLst/>
          </a:prstGeom>
          <a:noFill/>
        </p:spPr>
        <p:txBody>
          <a:bodyPr wrap="none" lIns="0" rIns="0" tIns="0" bIns="0" anchor="ctr">
            <a:spAutoFit/>
          </a:bodyPr>
          <a:lstStyle/>
          <a:p>
            <a:pPr algn="r"/>
            <a:r>
              <a:rPr sz="900" b="1">
                <a:solidFill>
                  <a:srgbClr val="E44D3A"/>
                </a:solidFill>
                <a:latin typeface="Calibri"/>
              </a:rPr>
              <a:t>-52</a:t>
            </a:r>
          </a:p>
        </p:txBody>
      </p:sp>
      <p:sp>
        <p:nvSpPr>
          <p:cNvPr id="20" name="FMI Legend Chip"/>
          <p:cNvSpPr/>
          <p:nvPr/>
        </p:nvSpPr>
        <p:spPr>
          <a:xfrm>
            <a:off x="4551045" y="1613865"/>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160910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53290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Singapore</a:t>
            </a:r>
          </a:p>
        </p:txBody>
      </p:sp>
      <p:sp>
        <p:nvSpPr>
          <p:cNvPr id="23" name="BPS Value 2"/>
          <p:cNvSpPr txBox="1"/>
          <p:nvPr/>
        </p:nvSpPr>
        <p:spPr>
          <a:xfrm>
            <a:off x="6305550" y="1594815"/>
            <a:ext cx="514350" cy="123825"/>
          </a:xfrm>
          <a:prstGeom prst="rect">
            <a:avLst/>
          </a:prstGeom>
          <a:noFill/>
        </p:spPr>
        <p:txBody>
          <a:bodyPr wrap="none" lIns="0" rIns="0" tIns="0" bIns="0" anchor="ctr">
            <a:spAutoFit/>
          </a:bodyPr>
          <a:lstStyle/>
          <a:p>
            <a:pPr algn="r"/>
            <a:r>
              <a:rPr sz="900" b="1">
                <a:solidFill>
                  <a:srgbClr val="E44D3A"/>
                </a:solidFill>
                <a:latin typeface="Calibri"/>
              </a:rPr>
              <a:t>-50</a:t>
            </a:r>
          </a:p>
        </p:txBody>
      </p:sp>
      <p:sp>
        <p:nvSpPr>
          <p:cNvPr id="24" name="FMI Legend Chip"/>
          <p:cNvSpPr/>
          <p:nvPr/>
        </p:nvSpPr>
        <p:spPr>
          <a:xfrm>
            <a:off x="4551045" y="1737690"/>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173292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1656728"/>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Malaysia</a:t>
            </a:r>
          </a:p>
        </p:txBody>
      </p:sp>
      <p:sp>
        <p:nvSpPr>
          <p:cNvPr id="27" name="BPS Value 3"/>
          <p:cNvSpPr txBox="1"/>
          <p:nvPr/>
        </p:nvSpPr>
        <p:spPr>
          <a:xfrm>
            <a:off x="6305550" y="1718640"/>
            <a:ext cx="514350" cy="123825"/>
          </a:xfrm>
          <a:prstGeom prst="rect">
            <a:avLst/>
          </a:prstGeom>
          <a:noFill/>
        </p:spPr>
        <p:txBody>
          <a:bodyPr wrap="none" lIns="0" rIns="0" tIns="0" bIns="0" anchor="ctr">
            <a:spAutoFit/>
          </a:bodyPr>
          <a:lstStyle/>
          <a:p>
            <a:pPr algn="r"/>
            <a:r>
              <a:rPr sz="900" b="1">
                <a:solidFill>
                  <a:srgbClr val="E44D3A"/>
                </a:solidFill>
                <a:latin typeface="Calibri"/>
              </a:rPr>
              <a:t>-13</a:t>
            </a:r>
          </a:p>
        </p:txBody>
      </p:sp>
      <p:sp>
        <p:nvSpPr>
          <p:cNvPr id="28" name="FMI Legend Chip"/>
          <p:cNvSpPr/>
          <p:nvPr/>
        </p:nvSpPr>
        <p:spPr>
          <a:xfrm>
            <a:off x="4551045" y="1890527"/>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2970" y="188576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180956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Philippines</a:t>
            </a:r>
          </a:p>
        </p:txBody>
      </p:sp>
      <p:sp>
        <p:nvSpPr>
          <p:cNvPr id="31" name="BPS Value 4"/>
          <p:cNvSpPr txBox="1"/>
          <p:nvPr/>
        </p:nvSpPr>
        <p:spPr>
          <a:xfrm>
            <a:off x="6305550" y="1871477"/>
            <a:ext cx="514350" cy="123825"/>
          </a:xfrm>
          <a:prstGeom prst="rect">
            <a:avLst/>
          </a:prstGeom>
          <a:noFill/>
        </p:spPr>
        <p:txBody>
          <a:bodyPr wrap="none" lIns="0" rIns="0" tIns="0" bIns="0" anchor="ctr">
            <a:spAutoFit/>
          </a:bodyPr>
          <a:lstStyle/>
          <a:p>
            <a:pPr algn="r"/>
            <a:r>
              <a:rPr sz="900" b="1">
                <a:solidFill>
                  <a:srgbClr val="2E7D32"/>
                </a:solidFill>
                <a:latin typeface="Calibri"/>
              </a:rPr>
              <a:t>+65</a:t>
            </a:r>
          </a:p>
        </p:txBody>
      </p:sp>
      <p:sp>
        <p:nvSpPr>
          <p:cNvPr id="32" name="FMI Legend Chip"/>
          <p:cNvSpPr/>
          <p:nvPr/>
        </p:nvSpPr>
        <p:spPr>
          <a:xfrm>
            <a:off x="4551045" y="215892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4712970" y="215415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207795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Thailand</a:t>
            </a:r>
          </a:p>
        </p:txBody>
      </p:sp>
      <p:sp>
        <p:nvSpPr>
          <p:cNvPr id="35" name="BPS Value 5"/>
          <p:cNvSpPr txBox="1"/>
          <p:nvPr/>
        </p:nvSpPr>
        <p:spPr>
          <a:xfrm>
            <a:off x="6305550" y="2139872"/>
            <a:ext cx="514350" cy="123825"/>
          </a:xfrm>
          <a:prstGeom prst="rect">
            <a:avLst/>
          </a:prstGeom>
          <a:noFill/>
        </p:spPr>
        <p:txBody>
          <a:bodyPr wrap="none" lIns="0" rIns="0" tIns="0" bIns="0" anchor="ctr">
            <a:spAutoFit/>
          </a:bodyPr>
          <a:lstStyle/>
          <a:p>
            <a:pPr algn="r"/>
            <a:r>
              <a:rPr sz="900" b="1">
                <a:solidFill>
                  <a:srgbClr val="E44D3A"/>
                </a:solidFill>
                <a:latin typeface="Calibri"/>
              </a:rPr>
              <a:t>-52</a:t>
            </a:r>
          </a:p>
        </p:txBody>
      </p:sp>
      <p:sp>
        <p:nvSpPr>
          <p:cNvPr id="36" name="FMI Legend Chip"/>
          <p:cNvSpPr/>
          <p:nvPr/>
        </p:nvSpPr>
        <p:spPr>
          <a:xfrm>
            <a:off x="4551045" y="246011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4712970" y="245535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237915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Australia</a:t>
            </a:r>
          </a:p>
        </p:txBody>
      </p:sp>
      <p:sp>
        <p:nvSpPr>
          <p:cNvPr id="39" name="BPS Value 6"/>
          <p:cNvSpPr txBox="1"/>
          <p:nvPr/>
        </p:nvSpPr>
        <p:spPr>
          <a:xfrm>
            <a:off x="6305550" y="2441063"/>
            <a:ext cx="514350" cy="123825"/>
          </a:xfrm>
          <a:prstGeom prst="rect">
            <a:avLst/>
          </a:prstGeom>
          <a:noFill/>
        </p:spPr>
        <p:txBody>
          <a:bodyPr wrap="none" lIns="0" rIns="0" tIns="0" bIns="0" anchor="ctr">
            <a:spAutoFit/>
          </a:bodyPr>
          <a:lstStyle/>
          <a:p>
            <a:pPr algn="r"/>
            <a:r>
              <a:rPr sz="900" b="1">
                <a:solidFill>
                  <a:srgbClr val="E44D3A"/>
                </a:solidFill>
                <a:latin typeface="Calibri"/>
              </a:rPr>
              <a:t>-257</a:t>
            </a:r>
          </a:p>
        </p:txBody>
      </p:sp>
      <p:sp>
        <p:nvSpPr>
          <p:cNvPr id="40" name="FMI Legend Chip"/>
          <p:cNvSpPr/>
          <p:nvPr/>
        </p:nvSpPr>
        <p:spPr>
          <a:xfrm>
            <a:off x="4551045" y="2799267"/>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4712970" y="279450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4855845" y="271830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Rest of South Asia</a:t>
            </a:r>
          </a:p>
        </p:txBody>
      </p:sp>
      <p:sp>
        <p:nvSpPr>
          <p:cNvPr id="43" name="BPS Value 7"/>
          <p:cNvSpPr txBox="1"/>
          <p:nvPr/>
        </p:nvSpPr>
        <p:spPr>
          <a:xfrm>
            <a:off x="6305550" y="2780217"/>
            <a:ext cx="514350" cy="123825"/>
          </a:xfrm>
          <a:prstGeom prst="rect">
            <a:avLst/>
          </a:prstGeom>
          <a:noFill/>
        </p:spPr>
        <p:txBody>
          <a:bodyPr wrap="none" lIns="0" rIns="0" tIns="0" bIns="0" anchor="ctr">
            <a:spAutoFit/>
          </a:bodyPr>
          <a:lstStyle/>
          <a:p>
            <a:pPr algn="r"/>
            <a:r>
              <a:rPr sz="900" b="1">
                <a:solidFill>
                  <a:srgbClr val="E44D3A"/>
                </a:solidFill>
                <a:latin typeface="Calibri"/>
              </a:rPr>
              <a:t>-28</a:t>
            </a:r>
          </a:p>
        </p:txBody>
      </p:sp>
      <p:sp>
        <p:nvSpPr>
          <p:cNvPr id="44" name="FMI Legend Chip"/>
          <p:cNvSpPr/>
          <p:nvPr/>
        </p:nvSpPr>
        <p:spPr>
          <a:xfrm>
            <a:off x="4551045" y="326555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a:off x="4712970" y="326079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4855845" y="318459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Indonesia</a:t>
            </a:r>
          </a:p>
        </p:txBody>
      </p:sp>
      <p:sp>
        <p:nvSpPr>
          <p:cNvPr id="47" name="BPS Value 8"/>
          <p:cNvSpPr txBox="1"/>
          <p:nvPr/>
        </p:nvSpPr>
        <p:spPr>
          <a:xfrm>
            <a:off x="6305550" y="3246508"/>
            <a:ext cx="514350" cy="123825"/>
          </a:xfrm>
          <a:prstGeom prst="rect">
            <a:avLst/>
          </a:prstGeom>
          <a:noFill/>
        </p:spPr>
        <p:txBody>
          <a:bodyPr wrap="none" lIns="0" rIns="0" tIns="0" bIns="0" anchor="ctr">
            <a:spAutoFit/>
          </a:bodyPr>
          <a:lstStyle/>
          <a:p>
            <a:pPr algn="r"/>
            <a:r>
              <a:rPr sz="900" b="1">
                <a:solidFill>
                  <a:srgbClr val="2E7D32"/>
                </a:solidFill>
                <a:latin typeface="Calibri"/>
              </a:rPr>
              <a:t>+95</a:t>
            </a:r>
          </a:p>
        </p:txBody>
      </p:sp>
      <p:sp>
        <p:nvSpPr>
          <p:cNvPr id="48" name="FMI Legend Chip"/>
          <p:cNvSpPr/>
          <p:nvPr/>
        </p:nvSpPr>
        <p:spPr>
          <a:xfrm>
            <a:off x="4551045" y="434246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Isosceles Triangle 48"/>
          <p:cNvSpPr/>
          <p:nvPr/>
        </p:nvSpPr>
        <p:spPr>
          <a:xfrm>
            <a:off x="4712970" y="433770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BPS Name 9"/>
          <p:cNvSpPr txBox="1"/>
          <p:nvPr/>
        </p:nvSpPr>
        <p:spPr>
          <a:xfrm>
            <a:off x="4855845" y="426150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India</a:t>
            </a:r>
          </a:p>
        </p:txBody>
      </p:sp>
      <p:sp>
        <p:nvSpPr>
          <p:cNvPr id="51" name="BPS Value 9"/>
          <p:cNvSpPr txBox="1"/>
          <p:nvPr/>
        </p:nvSpPr>
        <p:spPr>
          <a:xfrm>
            <a:off x="6305550" y="4323413"/>
            <a:ext cx="514350" cy="123825"/>
          </a:xfrm>
          <a:prstGeom prst="rect">
            <a:avLst/>
          </a:prstGeom>
          <a:noFill/>
        </p:spPr>
        <p:txBody>
          <a:bodyPr wrap="none" lIns="0" rIns="0" tIns="0" bIns="0" anchor="ctr">
            <a:spAutoFit/>
          </a:bodyPr>
          <a:lstStyle/>
          <a:p>
            <a:pPr algn="r"/>
            <a:r>
              <a:rPr sz="900" b="1">
                <a:solidFill>
                  <a:srgbClr val="2E7D32"/>
                </a:solidFill>
                <a:latin typeface="Calibri"/>
              </a:rPr>
              <a:t>+293</a:t>
            </a:r>
          </a:p>
        </p:txBody>
      </p:sp>
      <p:sp>
        <p:nvSpPr>
          <p:cNvPr id="52" name="Rounded Rectangle 51"/>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54" name="Rectangle 53"/>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India hair styling products market is projected to register 2.7X higher volume than Indonesia in 2036. Among hair styling products by country, Philippines is expected to witness the highest CAGR of 7.7% over the forecast period.</a:t>
            </a:r>
          </a:p>
          <a:p>
            <a:pPr algn="l">
              <a:lnSpc>
                <a:spcPct val="110000"/>
              </a:lnSpc>
              <a:spcBef>
                <a:spcPts val="0"/>
              </a:spcBef>
              <a:spcAft>
                <a:spcPts val="500"/>
              </a:spcAft>
            </a:pPr>
            <a:r>
              <a:rPr sz="1150" b="0">
                <a:solidFill>
                  <a:srgbClr val="2E2E2E"/>
                </a:solidFill>
                <a:latin typeface="Calibri"/>
              </a:rPr>
              <a:t>In terms of volume share by country, India is expected to dominate the market, gaining 311 BPS and accounting for 47.5% share by 2036. Australia is expected to lose 288 BPS over the forecast period to account for 9.8% share by 2036.</a:t>
            </a:r>
          </a:p>
        </p:txBody>
      </p:sp>
      <p:sp>
        <p:nvSpPr>
          <p:cNvPr id="56" name="Rounded Rectangle 55"/>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(MN UNITS)</a:t>
            </a:r>
          </a:p>
          <a:p>
            <a:pPr algn="ctr">
              <a:lnSpc>
                <a:spcPct val="95000"/>
              </a:lnSpc>
            </a:pPr>
            <a:r>
              <a:rPr sz="2000" b="1">
                <a:solidFill>
                  <a:srgbClr val="0E72AE"/>
                </a:solidFill>
                <a:latin typeface="Calibri"/>
              </a:rPr>
              <a:t>1,208</a:t>
            </a:r>
          </a:p>
        </p:txBody>
      </p:sp>
      <p:sp>
        <p:nvSpPr>
          <p:cNvPr id="57" name="Rounded Rectangle 56"/>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(MN UNITS)</a:t>
            </a:r>
          </a:p>
          <a:p>
            <a:pPr algn="ctr">
              <a:lnSpc>
                <a:spcPct val="95000"/>
              </a:lnSpc>
            </a:pPr>
            <a:r>
              <a:rPr sz="2000" b="1">
                <a:solidFill>
                  <a:srgbClr val="0E72AE"/>
                </a:solidFill>
                <a:latin typeface="Calibri"/>
              </a:rPr>
              <a:t>2,301</a:t>
            </a:r>
          </a:p>
        </p:txBody>
      </p:sp>
      <p:sp>
        <p:nvSpPr>
          <p:cNvPr id="58" name="Rounded Rectangle 57"/>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6.7%</a:t>
            </a:r>
          </a:p>
        </p:txBody>
      </p:sp>
      <p:sp>
        <p:nvSpPr>
          <p:cNvPr id="59" name="TextBox 5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21288"/>
            <a:ext cx="85725" cy="8572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51652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44032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New Zealand</a:t>
            </a:r>
          </a:p>
        </p:txBody>
      </p:sp>
      <p:sp>
        <p:nvSpPr>
          <p:cNvPr id="19" name="BPS Value 1"/>
          <p:cNvSpPr txBox="1"/>
          <p:nvPr/>
        </p:nvSpPr>
        <p:spPr>
          <a:xfrm>
            <a:off x="6305550" y="1502238"/>
            <a:ext cx="514350" cy="123825"/>
          </a:xfrm>
          <a:prstGeom prst="rect">
            <a:avLst/>
          </a:prstGeom>
          <a:noFill/>
        </p:spPr>
        <p:txBody>
          <a:bodyPr wrap="none" lIns="0" rIns="0" tIns="0" bIns="0" anchor="ctr">
            <a:spAutoFit/>
          </a:bodyPr>
          <a:lstStyle/>
          <a:p>
            <a:pPr algn="r"/>
            <a:r>
              <a:rPr sz="900" b="1">
                <a:solidFill>
                  <a:srgbClr val="E44D3A"/>
                </a:solidFill>
                <a:latin typeface="Calibri"/>
              </a:rPr>
              <a:t>-99</a:t>
            </a:r>
          </a:p>
        </p:txBody>
      </p:sp>
      <p:sp>
        <p:nvSpPr>
          <p:cNvPr id="20" name="FMI Legend Chip"/>
          <p:cNvSpPr/>
          <p:nvPr/>
        </p:nvSpPr>
        <p:spPr>
          <a:xfrm>
            <a:off x="4551045" y="1668559"/>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166379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58759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Singapore</a:t>
            </a:r>
          </a:p>
        </p:txBody>
      </p:sp>
      <p:sp>
        <p:nvSpPr>
          <p:cNvPr id="23" name="BPS Value 2"/>
          <p:cNvSpPr txBox="1"/>
          <p:nvPr/>
        </p:nvSpPr>
        <p:spPr>
          <a:xfrm>
            <a:off x="6305550" y="1649509"/>
            <a:ext cx="514350" cy="123825"/>
          </a:xfrm>
          <a:prstGeom prst="rect">
            <a:avLst/>
          </a:prstGeom>
          <a:noFill/>
        </p:spPr>
        <p:txBody>
          <a:bodyPr wrap="none" lIns="0" rIns="0" tIns="0" bIns="0" anchor="ctr">
            <a:spAutoFit/>
          </a:bodyPr>
          <a:lstStyle/>
          <a:p>
            <a:pPr algn="r"/>
            <a:r>
              <a:rPr sz="900" b="1">
                <a:solidFill>
                  <a:srgbClr val="E44D3A"/>
                </a:solidFill>
                <a:latin typeface="Calibri"/>
              </a:rPr>
              <a:t>-84</a:t>
            </a:r>
          </a:p>
        </p:txBody>
      </p:sp>
      <p:sp>
        <p:nvSpPr>
          <p:cNvPr id="24" name="FMI Legend Chip"/>
          <p:cNvSpPr/>
          <p:nvPr/>
        </p:nvSpPr>
        <p:spPr>
          <a:xfrm>
            <a:off x="4551045" y="1848626"/>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184386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176766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Malaysia</a:t>
            </a:r>
          </a:p>
        </p:txBody>
      </p:sp>
      <p:sp>
        <p:nvSpPr>
          <p:cNvPr id="27" name="BPS Value 3"/>
          <p:cNvSpPr txBox="1"/>
          <p:nvPr/>
        </p:nvSpPr>
        <p:spPr>
          <a:xfrm>
            <a:off x="6305550" y="1829576"/>
            <a:ext cx="514350" cy="123825"/>
          </a:xfrm>
          <a:prstGeom prst="rect">
            <a:avLst/>
          </a:prstGeom>
          <a:noFill/>
        </p:spPr>
        <p:txBody>
          <a:bodyPr wrap="none" lIns="0" rIns="0" tIns="0" bIns="0" anchor="ctr">
            <a:spAutoFit/>
          </a:bodyPr>
          <a:lstStyle/>
          <a:p>
            <a:pPr algn="r"/>
            <a:r>
              <a:rPr sz="900" b="1">
                <a:solidFill>
                  <a:srgbClr val="E44D3A"/>
                </a:solidFill>
                <a:latin typeface="Calibri"/>
              </a:rPr>
              <a:t>-3</a:t>
            </a:r>
          </a:p>
        </p:txBody>
      </p:sp>
      <p:sp>
        <p:nvSpPr>
          <p:cNvPr id="28" name="FMI Legend Chip"/>
          <p:cNvSpPr/>
          <p:nvPr/>
        </p:nvSpPr>
        <p:spPr>
          <a:xfrm>
            <a:off x="4551045" y="2056899"/>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2970" y="205213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197593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Philippines</a:t>
            </a:r>
          </a:p>
        </p:txBody>
      </p:sp>
      <p:sp>
        <p:nvSpPr>
          <p:cNvPr id="31" name="BPS Value 4"/>
          <p:cNvSpPr txBox="1"/>
          <p:nvPr/>
        </p:nvSpPr>
        <p:spPr>
          <a:xfrm>
            <a:off x="6305550" y="2037849"/>
            <a:ext cx="514350" cy="123825"/>
          </a:xfrm>
          <a:prstGeom prst="rect">
            <a:avLst/>
          </a:prstGeom>
          <a:noFill/>
        </p:spPr>
        <p:txBody>
          <a:bodyPr wrap="none" lIns="0" rIns="0" tIns="0" bIns="0" anchor="ctr">
            <a:spAutoFit/>
          </a:bodyPr>
          <a:lstStyle/>
          <a:p>
            <a:pPr algn="r"/>
            <a:r>
              <a:rPr sz="900" b="1">
                <a:solidFill>
                  <a:srgbClr val="2E7D32"/>
                </a:solidFill>
                <a:latin typeface="Calibri"/>
              </a:rPr>
              <a:t>+93</a:t>
            </a:r>
          </a:p>
        </p:txBody>
      </p:sp>
      <p:sp>
        <p:nvSpPr>
          <p:cNvPr id="32" name="FMI Legend Chip"/>
          <p:cNvSpPr/>
          <p:nvPr/>
        </p:nvSpPr>
        <p:spPr>
          <a:xfrm>
            <a:off x="4551045" y="2321305"/>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4712970" y="231654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224034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Thailand</a:t>
            </a:r>
          </a:p>
        </p:txBody>
      </p:sp>
      <p:sp>
        <p:nvSpPr>
          <p:cNvPr id="35" name="BPS Value 5"/>
          <p:cNvSpPr txBox="1"/>
          <p:nvPr/>
        </p:nvSpPr>
        <p:spPr>
          <a:xfrm>
            <a:off x="6305550" y="2302255"/>
            <a:ext cx="514350" cy="123825"/>
          </a:xfrm>
          <a:prstGeom prst="rect">
            <a:avLst/>
          </a:prstGeom>
          <a:noFill/>
        </p:spPr>
        <p:txBody>
          <a:bodyPr wrap="none" lIns="0" rIns="0" tIns="0" bIns="0" anchor="ctr">
            <a:spAutoFit/>
          </a:bodyPr>
          <a:lstStyle/>
          <a:p>
            <a:pPr algn="r"/>
            <a:r>
              <a:rPr sz="900" b="1">
                <a:solidFill>
                  <a:srgbClr val="E44D3A"/>
                </a:solidFill>
                <a:latin typeface="Calibri"/>
              </a:rPr>
              <a:t>-1</a:t>
            </a:r>
          </a:p>
        </p:txBody>
      </p:sp>
      <p:sp>
        <p:nvSpPr>
          <p:cNvPr id="36" name="FMI Legend Chip"/>
          <p:cNvSpPr/>
          <p:nvPr/>
        </p:nvSpPr>
        <p:spPr>
          <a:xfrm>
            <a:off x="4551045" y="2623024"/>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4712970" y="261826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254206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Rest of South Asia</a:t>
            </a:r>
          </a:p>
        </p:txBody>
      </p:sp>
      <p:sp>
        <p:nvSpPr>
          <p:cNvPr id="39" name="BPS Value 6"/>
          <p:cNvSpPr txBox="1"/>
          <p:nvPr/>
        </p:nvSpPr>
        <p:spPr>
          <a:xfrm>
            <a:off x="6305550" y="2603974"/>
            <a:ext cx="514350" cy="123825"/>
          </a:xfrm>
          <a:prstGeom prst="rect">
            <a:avLst/>
          </a:prstGeom>
          <a:noFill/>
        </p:spPr>
        <p:txBody>
          <a:bodyPr wrap="none" lIns="0" rIns="0" tIns="0" bIns="0" anchor="ctr">
            <a:spAutoFit/>
          </a:bodyPr>
          <a:lstStyle/>
          <a:p>
            <a:pPr algn="r"/>
            <a:r>
              <a:rPr sz="900" b="1">
                <a:solidFill>
                  <a:srgbClr val="2E7D32"/>
                </a:solidFill>
                <a:latin typeface="Calibri"/>
              </a:rPr>
              <a:t>+14</a:t>
            </a:r>
          </a:p>
        </p:txBody>
      </p:sp>
      <p:sp>
        <p:nvSpPr>
          <p:cNvPr id="40" name="FMI Legend Chip"/>
          <p:cNvSpPr/>
          <p:nvPr/>
        </p:nvSpPr>
        <p:spPr>
          <a:xfrm>
            <a:off x="4551045" y="302210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4712970" y="301734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4855845" y="294114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Indonesia</a:t>
            </a:r>
          </a:p>
        </p:txBody>
      </p:sp>
      <p:sp>
        <p:nvSpPr>
          <p:cNvPr id="43" name="BPS Value 7"/>
          <p:cNvSpPr txBox="1"/>
          <p:nvPr/>
        </p:nvSpPr>
        <p:spPr>
          <a:xfrm>
            <a:off x="6305550" y="3003056"/>
            <a:ext cx="514350" cy="123825"/>
          </a:xfrm>
          <a:prstGeom prst="rect">
            <a:avLst/>
          </a:prstGeom>
          <a:noFill/>
        </p:spPr>
        <p:txBody>
          <a:bodyPr wrap="none" lIns="0" rIns="0" tIns="0" bIns="0" anchor="ctr">
            <a:spAutoFit/>
          </a:bodyPr>
          <a:lstStyle/>
          <a:p>
            <a:pPr algn="r"/>
            <a:r>
              <a:rPr sz="900" b="1">
                <a:solidFill>
                  <a:srgbClr val="2E7D32"/>
                </a:solidFill>
                <a:latin typeface="Calibri"/>
              </a:rPr>
              <a:t>+161</a:t>
            </a:r>
          </a:p>
        </p:txBody>
      </p:sp>
      <p:sp>
        <p:nvSpPr>
          <p:cNvPr id="44" name="FMI Legend Chip"/>
          <p:cNvSpPr/>
          <p:nvPr/>
        </p:nvSpPr>
        <p:spPr>
          <a:xfrm>
            <a:off x="4551045" y="361990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rot="10800000">
            <a:off x="4712970" y="361513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4855845" y="353893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Australia</a:t>
            </a:r>
          </a:p>
        </p:txBody>
      </p:sp>
      <p:sp>
        <p:nvSpPr>
          <p:cNvPr id="47" name="BPS Value 8"/>
          <p:cNvSpPr txBox="1"/>
          <p:nvPr/>
        </p:nvSpPr>
        <p:spPr>
          <a:xfrm>
            <a:off x="6305550" y="3600850"/>
            <a:ext cx="514350" cy="123825"/>
          </a:xfrm>
          <a:prstGeom prst="rect">
            <a:avLst/>
          </a:prstGeom>
          <a:noFill/>
        </p:spPr>
        <p:txBody>
          <a:bodyPr wrap="none" lIns="0" rIns="0" tIns="0" bIns="0" anchor="ctr">
            <a:spAutoFit/>
          </a:bodyPr>
          <a:lstStyle/>
          <a:p>
            <a:pPr algn="r"/>
            <a:r>
              <a:rPr sz="900" b="1">
                <a:solidFill>
                  <a:srgbClr val="E44D3A"/>
                </a:solidFill>
                <a:latin typeface="Calibri"/>
              </a:rPr>
              <a:t>-466</a:t>
            </a:r>
          </a:p>
        </p:txBody>
      </p:sp>
      <p:sp>
        <p:nvSpPr>
          <p:cNvPr id="48" name="FMI Legend Chip"/>
          <p:cNvSpPr/>
          <p:nvPr/>
        </p:nvSpPr>
        <p:spPr>
          <a:xfrm>
            <a:off x="4551045" y="455070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Isosceles Triangle 48"/>
          <p:cNvSpPr/>
          <p:nvPr/>
        </p:nvSpPr>
        <p:spPr>
          <a:xfrm>
            <a:off x="4712970" y="454594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BPS Name 9"/>
          <p:cNvSpPr txBox="1"/>
          <p:nvPr/>
        </p:nvSpPr>
        <p:spPr>
          <a:xfrm>
            <a:off x="4855845" y="446974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India</a:t>
            </a:r>
          </a:p>
        </p:txBody>
      </p:sp>
      <p:sp>
        <p:nvSpPr>
          <p:cNvPr id="51" name="BPS Value 9"/>
          <p:cNvSpPr txBox="1"/>
          <p:nvPr/>
        </p:nvSpPr>
        <p:spPr>
          <a:xfrm>
            <a:off x="6305550" y="4531658"/>
            <a:ext cx="514350" cy="123825"/>
          </a:xfrm>
          <a:prstGeom prst="rect">
            <a:avLst/>
          </a:prstGeom>
          <a:noFill/>
        </p:spPr>
        <p:txBody>
          <a:bodyPr wrap="none" lIns="0" rIns="0" tIns="0" bIns="0" anchor="ctr">
            <a:spAutoFit/>
          </a:bodyPr>
          <a:lstStyle/>
          <a:p>
            <a:pPr algn="r"/>
            <a:r>
              <a:rPr sz="900" b="1">
                <a:solidFill>
                  <a:srgbClr val="2E7D32"/>
                </a:solidFill>
                <a:latin typeface="Calibri"/>
              </a:rPr>
              <a:t>+385</a:t>
            </a:r>
          </a:p>
        </p:txBody>
      </p:sp>
      <p:sp>
        <p:nvSpPr>
          <p:cNvPr id="52" name="Rounded Rectangle 51"/>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54" name="Rectangle 53"/>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India hair styling products market is projected to register 1.6X higher value than Australia in 2036. Among hair styling products by country, Philippines is expected to witness the highest CAGR of 9.6% over the forecast period.</a:t>
            </a:r>
          </a:p>
          <a:p>
            <a:pPr algn="l">
              <a:lnSpc>
                <a:spcPct val="110000"/>
              </a:lnSpc>
              <a:spcBef>
                <a:spcPts val="0"/>
              </a:spcBef>
              <a:spcAft>
                <a:spcPts val="500"/>
              </a:spcAft>
            </a:pPr>
            <a:r>
              <a:rPr sz="1150" b="0">
                <a:solidFill>
                  <a:srgbClr val="2E2E2E"/>
                </a:solidFill>
                <a:latin typeface="Calibri"/>
              </a:rPr>
              <a:t>In terms of value share by country, India is expected to dominate the market, gaining 425 BPS and accounting for 34.4% share by 2036. Australia is expected to lose 504 BPS over the forecast period to account for 21.0% share by 2036.</a:t>
            </a:r>
          </a:p>
        </p:txBody>
      </p:sp>
      <p:sp>
        <p:nvSpPr>
          <p:cNvPr id="56" name="Rounded Rectangle 55"/>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1,771</a:t>
            </a:r>
          </a:p>
        </p:txBody>
      </p:sp>
      <p:sp>
        <p:nvSpPr>
          <p:cNvPr id="57" name="Rounded Rectangle 56"/>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3,772</a:t>
            </a:r>
          </a:p>
        </p:txBody>
      </p:sp>
      <p:sp>
        <p:nvSpPr>
          <p:cNvPr id="58" name="Rounded Rectangle 57"/>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7.9%</a:t>
            </a:r>
          </a:p>
        </p:txBody>
      </p:sp>
      <p:sp>
        <p:nvSpPr>
          <p:cNvPr id="59" name="TextBox 5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Market Share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2838450"/>
          </a:xfrm>
          <a:prstGeom prst="roundRect">
            <a:avLst>
              <a:gd name="adj" fmla="val 268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Market Size, By Country (Mn Units)</a:t>
            </a:r>
          </a:p>
        </p:txBody>
      </p:sp>
      <p:graphicFrame>
        <p:nvGraphicFramePr>
          <p:cNvPr id="13" name="Table 12"/>
          <p:cNvGraphicFramePr>
            <a:graphicFrameLocks noGrp="1"/>
          </p:cNvGraphicFramePr>
          <p:nvPr/>
        </p:nvGraphicFramePr>
        <p:xfrm>
          <a:off x="152400" y="1238250"/>
          <a:ext cx="11887195" cy="2371725"/>
        </p:xfrm>
        <a:graphic>
          <a:graphicData uri="http://schemas.openxmlformats.org/drawingml/2006/table">
            <a:tbl>
              <a:tblPr>
                <a:tableStyleId>{5C22544A-7EE6-4342-B048-85BDC9FD1C3A}</a:tableStyleId>
              </a:tblPr>
              <a:tblGrid>
                <a:gridCol w="1338151"/>
                <a:gridCol w="620532"/>
                <a:gridCol w="620532"/>
                <a:gridCol w="620532"/>
                <a:gridCol w="620532"/>
                <a:gridCol w="620532"/>
                <a:gridCol w="620532"/>
                <a:gridCol w="620532"/>
                <a:gridCol w="620532"/>
                <a:gridCol w="620532"/>
                <a:gridCol w="620532"/>
                <a:gridCol w="620532"/>
                <a:gridCol w="620532"/>
                <a:gridCol w="620532"/>
                <a:gridCol w="620532"/>
                <a:gridCol w="620532"/>
                <a:gridCol w="620532"/>
                <a:gridCol w="620532"/>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46">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Thailand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Malaysia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Indonesia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Singapore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Philippines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Australia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New Zealand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Rest of South Asia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619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952875"/>
            <a:ext cx="11906250" cy="2676525"/>
          </a:xfrm>
          <a:prstGeom prst="roundRect">
            <a:avLst>
              <a:gd name="adj" fmla="val 2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03860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Volume Share Read-out, By Country</a:t>
            </a:r>
          </a:p>
        </p:txBody>
      </p:sp>
      <p:sp>
        <p:nvSpPr>
          <p:cNvPr id="17" name="Rectangle 16"/>
          <p:cNvSpPr/>
          <p:nvPr/>
        </p:nvSpPr>
        <p:spPr>
          <a:xfrm>
            <a:off x="276225" y="4276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362450"/>
            <a:ext cx="11639550" cy="21907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India hair styling products market is projected to register 2.7X higher volume than Indonesia in 2036. Among hair styling products by country, Philippines is expected to witness the highest CAGR of 7.7% over the forecast period.</a:t>
            </a:r>
          </a:p>
          <a:p>
            <a:pPr algn="l">
              <a:lnSpc>
                <a:spcPct val="110000"/>
              </a:lnSpc>
              <a:spcBef>
                <a:spcPts val="0"/>
              </a:spcBef>
              <a:spcAft>
                <a:spcPts val="500"/>
              </a:spcAft>
            </a:pPr>
            <a:r>
              <a:rPr sz="1150" b="0">
                <a:solidFill>
                  <a:srgbClr val="2E2E2E"/>
                </a:solidFill>
                <a:latin typeface="Calibri"/>
              </a:rPr>
              <a:t>In terms of volume share by country, India is expected to dominate the market, gaining 311 BPS and accounting for 47.5% share by 2036. Australia is expected to lose 288 BPS over the forecast period to account for 9.8%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2838450"/>
          </a:xfrm>
          <a:prstGeom prst="roundRect">
            <a:avLst>
              <a:gd name="adj" fmla="val 268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Market Size, By Country (US$ Mn)</a:t>
            </a:r>
          </a:p>
        </p:txBody>
      </p:sp>
      <p:graphicFrame>
        <p:nvGraphicFramePr>
          <p:cNvPr id="13" name="Table 12"/>
          <p:cNvGraphicFramePr>
            <a:graphicFrameLocks noGrp="1"/>
          </p:cNvGraphicFramePr>
          <p:nvPr/>
        </p:nvGraphicFramePr>
        <p:xfrm>
          <a:off x="152400" y="1238250"/>
          <a:ext cx="11887195" cy="2371725"/>
        </p:xfrm>
        <a:graphic>
          <a:graphicData uri="http://schemas.openxmlformats.org/drawingml/2006/table">
            <a:tbl>
              <a:tblPr>
                <a:tableStyleId>{5C22544A-7EE6-4342-B048-85BDC9FD1C3A}</a:tableStyleId>
              </a:tblPr>
              <a:tblGrid>
                <a:gridCol w="1338151"/>
                <a:gridCol w="620532"/>
                <a:gridCol w="620532"/>
                <a:gridCol w="620532"/>
                <a:gridCol w="620532"/>
                <a:gridCol w="620532"/>
                <a:gridCol w="620532"/>
                <a:gridCol w="620532"/>
                <a:gridCol w="620532"/>
                <a:gridCol w="620532"/>
                <a:gridCol w="620532"/>
                <a:gridCol w="620532"/>
                <a:gridCol w="620532"/>
                <a:gridCol w="620532"/>
                <a:gridCol w="620532"/>
                <a:gridCol w="620532"/>
                <a:gridCol w="620532"/>
                <a:gridCol w="620532"/>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46">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Thailand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Malaysia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Indonesia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Singapore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Philippines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Australia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New Zealand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Rest of South Asia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619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952875"/>
            <a:ext cx="11906250" cy="2676525"/>
          </a:xfrm>
          <a:prstGeom prst="roundRect">
            <a:avLst>
              <a:gd name="adj" fmla="val 2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03860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Share Read-out, By Country</a:t>
            </a:r>
          </a:p>
        </p:txBody>
      </p:sp>
      <p:sp>
        <p:nvSpPr>
          <p:cNvPr id="17" name="Rectangle 16"/>
          <p:cNvSpPr/>
          <p:nvPr/>
        </p:nvSpPr>
        <p:spPr>
          <a:xfrm>
            <a:off x="276225" y="4276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362450"/>
            <a:ext cx="11639550" cy="21907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India hair styling products market is projected to register 1.6X higher value than Australia in 2036. Among hair styling products by country, Philippines is expected to witness the highest CAGR of 9.6% over the forecast period.</a:t>
            </a:r>
          </a:p>
          <a:p>
            <a:pPr algn="l">
              <a:lnSpc>
                <a:spcPct val="110000"/>
              </a:lnSpc>
              <a:spcBef>
                <a:spcPts val="0"/>
              </a:spcBef>
              <a:spcAft>
                <a:spcPts val="500"/>
              </a:spcAft>
            </a:pPr>
            <a:r>
              <a:rPr sz="1150" b="0">
                <a:solidFill>
                  <a:srgbClr val="2E2E2E"/>
                </a:solidFill>
                <a:latin typeface="Calibri"/>
              </a:rPr>
              <a:t>In terms of value share by country, India is expected to dominate the market, gaining 425 BPS and accounting for 34.4% share by 2036. Australia is expected to lose 504 BPS over the forecast period to account for 21.0%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By Country (Mn Units)</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MI Dense Legend"/>
          <p:cNvSpPr txBox="1"/>
          <p:nvPr/>
        </p:nvSpPr>
        <p:spPr>
          <a:xfrm>
            <a:off x="9839325" y="1362075"/>
            <a:ext cx="2057400" cy="171450"/>
          </a:xfrm>
          <a:prstGeom prst="rect">
            <a:avLst/>
          </a:prstGeom>
          <a:noFill/>
        </p:spPr>
        <p:txBody>
          <a:bodyPr wrap="none">
            <a:spAutoFit/>
          </a:bodyPr>
          <a:lstStyle/>
          <a:p>
            <a:r>
              <a:rPr sz="850" b="1">
                <a:solidFill>
                  <a:srgbClr val="6C7A89"/>
                </a:solidFill>
                <a:latin typeface="Calibri"/>
              </a:rPr>
              <a:t>By segment</a:t>
            </a: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India</a:t>
            </a:r>
          </a:p>
          <a:p>
            <a:pPr>
              <a:spcBef>
                <a:spcPts val="500"/>
              </a:spcBef>
            </a:pPr>
            <a:r>
              <a:rPr sz="900">
                <a:solidFill>
                  <a:srgbClr val="9E7E0A"/>
                </a:solidFill>
                <a:latin typeface="Calibri"/>
              </a:rPr>
              <a:t>■  </a:t>
            </a:r>
            <a:r>
              <a:rPr sz="750">
                <a:solidFill>
                  <a:srgbClr val="2E2E2E"/>
                </a:solidFill>
                <a:latin typeface="Calibri"/>
              </a:rPr>
              <a:t>   Indonesia</a:t>
            </a:r>
          </a:p>
          <a:p>
            <a:pPr>
              <a:spcBef>
                <a:spcPts val="500"/>
              </a:spcBef>
            </a:pPr>
            <a:r>
              <a:rPr sz="900">
                <a:solidFill>
                  <a:srgbClr val="40315E"/>
                </a:solidFill>
                <a:latin typeface="Calibri"/>
              </a:rPr>
              <a:t>■  </a:t>
            </a:r>
            <a:r>
              <a:rPr sz="750">
                <a:solidFill>
                  <a:srgbClr val="2E2E2E"/>
                </a:solidFill>
                <a:latin typeface="Calibri"/>
              </a:rPr>
              <a:t>   Rest of South Asia</a:t>
            </a:r>
          </a:p>
          <a:p>
            <a:pPr>
              <a:spcBef>
                <a:spcPts val="500"/>
              </a:spcBef>
            </a:pPr>
            <a:r>
              <a:rPr sz="900">
                <a:solidFill>
                  <a:srgbClr val="008189"/>
                </a:solidFill>
                <a:latin typeface="Calibri"/>
              </a:rPr>
              <a:t>■  </a:t>
            </a:r>
            <a:r>
              <a:rPr sz="750">
                <a:solidFill>
                  <a:srgbClr val="2E2E2E"/>
                </a:solidFill>
                <a:latin typeface="Calibri"/>
              </a:rPr>
              <a:t>   Australia</a:t>
            </a:r>
          </a:p>
          <a:p>
            <a:pPr>
              <a:spcBef>
                <a:spcPts val="500"/>
              </a:spcBef>
            </a:pPr>
            <a:r>
              <a:rPr sz="900">
                <a:solidFill>
                  <a:srgbClr val="A35313"/>
                </a:solidFill>
                <a:latin typeface="Calibri"/>
              </a:rPr>
              <a:t>■  </a:t>
            </a:r>
            <a:r>
              <a:rPr sz="750">
                <a:solidFill>
                  <a:srgbClr val="2E2E2E"/>
                </a:solidFill>
                <a:latin typeface="Calibri"/>
              </a:rPr>
              <a:t>   Thailand</a:t>
            </a:r>
          </a:p>
          <a:p>
            <a:pPr>
              <a:spcBef>
                <a:spcPts val="500"/>
              </a:spcBef>
            </a:pPr>
            <a:r>
              <a:rPr sz="900">
                <a:solidFill>
                  <a:srgbClr val="808080"/>
                </a:solidFill>
                <a:latin typeface="Calibri"/>
              </a:rPr>
              <a:t>■  </a:t>
            </a:r>
            <a:r>
              <a:rPr sz="750">
                <a:solidFill>
                  <a:srgbClr val="2E2E2E"/>
                </a:solidFill>
                <a:latin typeface="Calibri"/>
              </a:rPr>
              <a:t>   Philippines</a:t>
            </a:r>
          </a:p>
          <a:p>
            <a:pPr>
              <a:spcBef>
                <a:spcPts val="500"/>
              </a:spcBef>
            </a:pPr>
            <a:r>
              <a:rPr sz="900">
                <a:solidFill>
                  <a:srgbClr val="0E72AE"/>
                </a:solidFill>
                <a:latin typeface="Calibri"/>
              </a:rPr>
              <a:t>■  </a:t>
            </a:r>
            <a:r>
              <a:rPr sz="750">
                <a:solidFill>
                  <a:srgbClr val="2E2E2E"/>
                </a:solidFill>
                <a:latin typeface="Calibri"/>
              </a:rPr>
              <a:t>   Malaysia</a:t>
            </a:r>
          </a:p>
          <a:p>
            <a:pPr>
              <a:spcBef>
                <a:spcPts val="500"/>
              </a:spcBef>
            </a:pPr>
            <a:r>
              <a:rPr sz="900">
                <a:solidFill>
                  <a:srgbClr val="A86F00"/>
                </a:solidFill>
                <a:latin typeface="Calibri"/>
              </a:rPr>
              <a:t>■  </a:t>
            </a:r>
            <a:r>
              <a:rPr sz="750">
                <a:solidFill>
                  <a:srgbClr val="2E2E2E"/>
                </a:solidFill>
                <a:latin typeface="Calibri"/>
              </a:rPr>
              <a:t>   Singapore</a:t>
            </a:r>
          </a:p>
          <a:p>
            <a:pPr>
              <a:spcBef>
                <a:spcPts val="500"/>
              </a:spcBef>
            </a:pPr>
            <a:r>
              <a:rPr sz="900">
                <a:solidFill>
                  <a:srgbClr val="0B2E4A"/>
                </a:solidFill>
                <a:latin typeface="Calibri"/>
              </a:rPr>
              <a:t>■  </a:t>
            </a:r>
            <a:r>
              <a:rPr sz="750">
                <a:solidFill>
                  <a:srgbClr val="2E2E2E"/>
                </a:solidFill>
                <a:latin typeface="Calibri"/>
              </a:rPr>
              <a:t>   New Zealand</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Country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MI Dense Legend"/>
          <p:cNvSpPr txBox="1"/>
          <p:nvPr/>
        </p:nvSpPr>
        <p:spPr>
          <a:xfrm>
            <a:off x="9839325" y="4248150"/>
            <a:ext cx="2057400" cy="171450"/>
          </a:xfrm>
          <a:prstGeom prst="rect">
            <a:avLst/>
          </a:prstGeom>
          <a:noFill/>
        </p:spPr>
        <p:txBody>
          <a:bodyPr wrap="none">
            <a:spAutoFit/>
          </a:bodyPr>
          <a:lstStyle/>
          <a:p>
            <a:r>
              <a:rPr sz="850" b="1">
                <a:solidFill>
                  <a:srgbClr val="6C7A89"/>
                </a:solidFill>
                <a:latin typeface="Calibri"/>
              </a:rPr>
              <a:t>By segment</a:t>
            </a: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India</a:t>
            </a:r>
          </a:p>
          <a:p>
            <a:pPr>
              <a:spcBef>
                <a:spcPts val="500"/>
              </a:spcBef>
            </a:pPr>
            <a:r>
              <a:rPr sz="900">
                <a:solidFill>
                  <a:srgbClr val="9E7E0A"/>
                </a:solidFill>
                <a:latin typeface="Calibri"/>
              </a:rPr>
              <a:t>■  </a:t>
            </a:r>
            <a:r>
              <a:rPr sz="750">
                <a:solidFill>
                  <a:srgbClr val="2E2E2E"/>
                </a:solidFill>
                <a:latin typeface="Calibri"/>
              </a:rPr>
              <a:t>   Australia</a:t>
            </a:r>
          </a:p>
          <a:p>
            <a:pPr>
              <a:spcBef>
                <a:spcPts val="500"/>
              </a:spcBef>
            </a:pPr>
            <a:r>
              <a:rPr sz="900">
                <a:solidFill>
                  <a:srgbClr val="008189"/>
                </a:solidFill>
                <a:latin typeface="Calibri"/>
              </a:rPr>
              <a:t>■  </a:t>
            </a:r>
            <a:r>
              <a:rPr sz="750">
                <a:solidFill>
                  <a:srgbClr val="2E2E2E"/>
                </a:solidFill>
                <a:latin typeface="Calibri"/>
              </a:rPr>
              <a:t>   Indonesia</a:t>
            </a:r>
          </a:p>
          <a:p>
            <a:pPr>
              <a:spcBef>
                <a:spcPts val="500"/>
              </a:spcBef>
            </a:pPr>
            <a:r>
              <a:rPr sz="900">
                <a:solidFill>
                  <a:srgbClr val="40315E"/>
                </a:solidFill>
                <a:latin typeface="Calibri"/>
              </a:rPr>
              <a:t>■  </a:t>
            </a:r>
            <a:r>
              <a:rPr sz="750">
                <a:solidFill>
                  <a:srgbClr val="2E2E2E"/>
                </a:solidFill>
                <a:latin typeface="Calibri"/>
              </a:rPr>
              <a:t>   Rest of South Asia</a:t>
            </a:r>
          </a:p>
          <a:p>
            <a:pPr>
              <a:spcBef>
                <a:spcPts val="500"/>
              </a:spcBef>
            </a:pPr>
            <a:r>
              <a:rPr sz="900">
                <a:solidFill>
                  <a:srgbClr val="A35313"/>
                </a:solidFill>
                <a:latin typeface="Calibri"/>
              </a:rPr>
              <a:t>■  </a:t>
            </a:r>
            <a:r>
              <a:rPr sz="750">
                <a:solidFill>
                  <a:srgbClr val="2E2E2E"/>
                </a:solidFill>
                <a:latin typeface="Calibri"/>
              </a:rPr>
              <a:t>   Thailand</a:t>
            </a:r>
          </a:p>
          <a:p>
            <a:pPr>
              <a:spcBef>
                <a:spcPts val="500"/>
              </a:spcBef>
            </a:pPr>
            <a:r>
              <a:rPr sz="900">
                <a:solidFill>
                  <a:srgbClr val="0E72AE"/>
                </a:solidFill>
                <a:latin typeface="Calibri"/>
              </a:rPr>
              <a:t>■  </a:t>
            </a:r>
            <a:r>
              <a:rPr sz="750">
                <a:solidFill>
                  <a:srgbClr val="2E2E2E"/>
                </a:solidFill>
                <a:latin typeface="Calibri"/>
              </a:rPr>
              <a:t>   Philippines</a:t>
            </a:r>
          </a:p>
          <a:p>
            <a:pPr>
              <a:spcBef>
                <a:spcPts val="500"/>
              </a:spcBef>
            </a:pPr>
            <a:r>
              <a:rPr sz="900">
                <a:solidFill>
                  <a:srgbClr val="A86F00"/>
                </a:solidFill>
                <a:latin typeface="Calibri"/>
              </a:rPr>
              <a:t>■  </a:t>
            </a:r>
            <a:r>
              <a:rPr sz="750">
                <a:solidFill>
                  <a:srgbClr val="2E2E2E"/>
                </a:solidFill>
                <a:latin typeface="Calibri"/>
              </a:rPr>
              <a:t>   Malaysia</a:t>
            </a:r>
          </a:p>
          <a:p>
            <a:pPr>
              <a:spcBef>
                <a:spcPts val="500"/>
              </a:spcBef>
            </a:pPr>
            <a:r>
              <a:rPr sz="900">
                <a:solidFill>
                  <a:srgbClr val="808080"/>
                </a:solidFill>
                <a:latin typeface="Calibri"/>
              </a:rPr>
              <a:t>■  </a:t>
            </a:r>
            <a:r>
              <a:rPr sz="750">
                <a:solidFill>
                  <a:srgbClr val="2E2E2E"/>
                </a:solidFill>
                <a:latin typeface="Calibri"/>
              </a:rPr>
              <a:t>   Singapore</a:t>
            </a:r>
          </a:p>
          <a:p>
            <a:pPr>
              <a:spcBef>
                <a:spcPts val="500"/>
              </a:spcBef>
            </a:pPr>
            <a:r>
              <a:rPr sz="900">
                <a:solidFill>
                  <a:srgbClr val="0B2E4A"/>
                </a:solidFill>
                <a:latin typeface="Calibri"/>
              </a:rPr>
              <a:t>■  </a:t>
            </a:r>
            <a:r>
              <a:rPr sz="750">
                <a:solidFill>
                  <a:srgbClr val="2E2E2E"/>
                </a:solidFill>
                <a:latin typeface="Calibri"/>
              </a:rPr>
              <a:t>   New Zealand</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Market Top 8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South Asia &amp; Pacific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market by country  ·  2036 (US$ Mn)  ·  tile size = market value</a:t>
            </a:r>
          </a:p>
        </p:txBody>
      </p:sp>
      <p:sp>
        <p:nvSpPr>
          <p:cNvPr id="13" name="Rectangle 12"/>
          <p:cNvSpPr/>
          <p:nvPr/>
        </p:nvSpPr>
        <p:spPr>
          <a:xfrm>
            <a:off x="238125" y="1266825"/>
            <a:ext cx="4034364"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1,190</a:t>
            </a:r>
          </a:p>
        </p:txBody>
      </p:sp>
      <p:sp>
        <p:nvSpPr>
          <p:cNvPr id="14" name="Rectangle 13"/>
          <p:cNvSpPr/>
          <p:nvPr/>
        </p:nvSpPr>
        <p:spPr>
          <a:xfrm>
            <a:off x="4272489" y="1266825"/>
            <a:ext cx="4168881" cy="3126689"/>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Australia</a:t>
            </a:r>
          </a:p>
          <a:p>
            <a:pPr algn="ctr"/>
            <a:r>
              <a:rPr sz="1100" b="0">
                <a:solidFill>
                  <a:srgbClr val="FFFFFF"/>
                </a:solidFill>
                <a:latin typeface="Calibri"/>
              </a:rPr>
              <a:t>725</a:t>
            </a:r>
          </a:p>
        </p:txBody>
      </p:sp>
      <p:sp>
        <p:nvSpPr>
          <p:cNvPr id="15" name="Rectangle 14"/>
          <p:cNvSpPr/>
          <p:nvPr/>
        </p:nvSpPr>
        <p:spPr>
          <a:xfrm>
            <a:off x="4272489" y="4393514"/>
            <a:ext cx="4168881" cy="2178736"/>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Indonesia</a:t>
            </a:r>
          </a:p>
          <a:p>
            <a:pPr algn="ctr"/>
            <a:r>
              <a:rPr sz="1100" b="0">
                <a:solidFill>
                  <a:srgbClr val="FFFFFF"/>
                </a:solidFill>
                <a:latin typeface="Calibri"/>
              </a:rPr>
              <a:t>505</a:t>
            </a:r>
          </a:p>
        </p:txBody>
      </p:sp>
      <p:sp>
        <p:nvSpPr>
          <p:cNvPr id="16" name="Rectangle 15"/>
          <p:cNvSpPr/>
          <p:nvPr/>
        </p:nvSpPr>
        <p:spPr>
          <a:xfrm>
            <a:off x="8441370" y="1266825"/>
            <a:ext cx="1967814" cy="2785115"/>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Thailand</a:t>
            </a:r>
          </a:p>
          <a:p>
            <a:pPr algn="ctr"/>
            <a:r>
              <a:rPr sz="1100" b="0">
                <a:solidFill>
                  <a:srgbClr val="FFFFFF"/>
                </a:solidFill>
                <a:latin typeface="Calibri"/>
              </a:rPr>
              <a:t>305</a:t>
            </a:r>
          </a:p>
        </p:txBody>
      </p:sp>
      <p:sp>
        <p:nvSpPr>
          <p:cNvPr id="17" name="Rectangle 16"/>
          <p:cNvSpPr/>
          <p:nvPr/>
        </p:nvSpPr>
        <p:spPr>
          <a:xfrm>
            <a:off x="10409184" y="1266825"/>
            <a:ext cx="1544691" cy="2785115"/>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Philippines</a:t>
            </a:r>
          </a:p>
          <a:p>
            <a:pPr algn="ctr"/>
            <a:r>
              <a:rPr sz="1100" b="0">
                <a:solidFill>
                  <a:srgbClr val="FFFFFF"/>
                </a:solidFill>
                <a:latin typeface="Calibri"/>
              </a:rPr>
              <a:t>239</a:t>
            </a:r>
          </a:p>
        </p:txBody>
      </p:sp>
      <p:sp>
        <p:nvSpPr>
          <p:cNvPr id="18" name="Rectangle 17"/>
          <p:cNvSpPr/>
          <p:nvPr/>
        </p:nvSpPr>
        <p:spPr>
          <a:xfrm>
            <a:off x="8441370" y="4051940"/>
            <a:ext cx="1350524" cy="2520310"/>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Malaysia</a:t>
            </a:r>
          </a:p>
          <a:p>
            <a:pPr algn="ctr"/>
            <a:r>
              <a:rPr sz="1100" b="0">
                <a:solidFill>
                  <a:srgbClr val="FFFFFF"/>
                </a:solidFill>
                <a:latin typeface="Calibri"/>
              </a:rPr>
              <a:t>189</a:t>
            </a:r>
          </a:p>
        </p:txBody>
      </p:sp>
      <p:sp>
        <p:nvSpPr>
          <p:cNvPr id="19" name="Rectangle 18"/>
          <p:cNvSpPr/>
          <p:nvPr/>
        </p:nvSpPr>
        <p:spPr>
          <a:xfrm>
            <a:off x="9791894" y="4051940"/>
            <a:ext cx="2161981" cy="1507183"/>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Singapore</a:t>
            </a:r>
          </a:p>
          <a:p>
            <a:pPr algn="ctr"/>
            <a:r>
              <a:rPr sz="1100" b="0">
                <a:solidFill>
                  <a:srgbClr val="FFFFFF"/>
                </a:solidFill>
                <a:latin typeface="Calibri"/>
              </a:rPr>
              <a:t>181</a:t>
            </a:r>
          </a:p>
        </p:txBody>
      </p:sp>
      <p:sp>
        <p:nvSpPr>
          <p:cNvPr id="20" name="Rectangle 19"/>
          <p:cNvSpPr/>
          <p:nvPr/>
        </p:nvSpPr>
        <p:spPr>
          <a:xfrm>
            <a:off x="9791894" y="5559123"/>
            <a:ext cx="2161981" cy="1013127"/>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New Zealand</a:t>
            </a:r>
          </a:p>
          <a:p>
            <a:pPr algn="ctr"/>
            <a:r>
              <a:rPr sz="1100" b="0">
                <a:solidFill>
                  <a:srgbClr val="FFFFFF"/>
                </a:solidFill>
                <a:latin typeface="Calibri"/>
              </a:rPr>
              <a:t>122</a:t>
            </a:r>
          </a:p>
        </p:txBody>
      </p:sp>
      <p:sp>
        <p:nvSpPr>
          <p:cNvPr id="21" name="TextBox 2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9653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308225"/>
            <a:ext cx="8572500" cy="514350"/>
          </a:xfrm>
          <a:prstGeom prst="rect">
            <a:avLst/>
          </a:prstGeom>
          <a:noFill/>
        </p:spPr>
        <p:txBody>
          <a:bodyPr wrap="square" lIns="0" rIns="0" tIns="0">
            <a:spAutoFit/>
          </a:bodyPr>
          <a:lstStyle/>
          <a:p>
            <a:r>
              <a:rPr sz="3000" b="1">
                <a:solidFill>
                  <a:srgbClr val="0B3C8C"/>
                </a:solidFill>
                <a:latin typeface="Calibri"/>
              </a:rPr>
              <a:t>South Asia &amp; Pacific Market Analysis By Segments</a:t>
            </a:r>
          </a:p>
        </p:txBody>
      </p:sp>
      <p:sp>
        <p:nvSpPr>
          <p:cNvPr id="11" name="TextBox 10"/>
          <p:cNvSpPr txBox="1"/>
          <p:nvPr/>
        </p:nvSpPr>
        <p:spPr>
          <a:xfrm>
            <a:off x="914400" y="2994025"/>
            <a:ext cx="8458200" cy="28511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22.1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Serums and Oils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319.8</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702.4</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8.2%</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Clays, Pastes and Pomades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314.4</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652.8</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7.6%</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Sticks and Balms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229.4</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566.6</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9.5%</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Creams and Lotions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222.3</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498.3</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8.4%</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product format, sticks and balms segment is expected to witness the highest CAGR of 9.5% over the forecast period. In terms of value share by product format, the styling serums and oils segment is expected to dominate the market, gaining 56 BPS and accounting for 18.6% share by 2036.</a:t>
            </a:r>
          </a:p>
          <a:p>
            <a:pPr algn="l">
              <a:lnSpc>
                <a:spcPct val="110000"/>
              </a:lnSpc>
              <a:spcBef>
                <a:spcPts val="0"/>
              </a:spcBef>
              <a:spcAft>
                <a:spcPts val="500"/>
              </a:spcAft>
            </a:pPr>
            <a:r>
              <a:rPr sz="1100" b="0">
                <a:solidFill>
                  <a:srgbClr val="2E2E2E"/>
                </a:solidFill>
                <a:latin typeface="Calibri"/>
              </a:rPr>
              <a:t>Styling serums and oils segment is projected to register 1.1X higher value than waxes, clays, pastes and pomades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Styling Serums and Oils: </a:t>
            </a:r>
            <a:r>
              <a:rPr sz="1100" b="0">
                <a:solidFill>
                  <a:srgbClr val="2E2E2E"/>
                </a:solidFill>
                <a:latin typeface="Calibri"/>
              </a:rPr>
              <a:t>18% of 2026 value · 8.2%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Waxes, Clays, Pastes and Pomades: </a:t>
            </a:r>
            <a:r>
              <a:rPr sz="1100" b="0">
                <a:solidFill>
                  <a:srgbClr val="2E2E2E"/>
                </a:solidFill>
                <a:latin typeface="Calibri"/>
              </a:rPr>
              <a:t>18% of 2026 value · 7.6%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Sticks and Balms: </a:t>
            </a:r>
            <a:r>
              <a:rPr sz="1100" b="0">
                <a:solidFill>
                  <a:srgbClr val="2E2E2E"/>
                </a:solidFill>
                <a:latin typeface="Calibri"/>
              </a:rPr>
              <a:t>13% of 2026 value · 9.5%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Creams and Lotions: </a:t>
            </a:r>
            <a:r>
              <a:rPr sz="1100" b="0">
                <a:solidFill>
                  <a:srgbClr val="2E2E2E"/>
                </a:solidFill>
                <a:latin typeface="Calibri"/>
              </a:rPr>
              <a:t>13% of 2026 value · 8.4% CAGR serves a niche.</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Format split shows how demand is distributed across product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Format segment is projected to grow at a CAGR of 7.9%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2414588"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2414588"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Sprays and Mists</a:t>
            </a:r>
          </a:p>
        </p:txBody>
      </p:sp>
      <p:sp>
        <p:nvSpPr>
          <p:cNvPr id="22" name="Rectangle 21"/>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197.3</a:t>
            </a:r>
          </a:p>
        </p:txBody>
      </p:sp>
      <p:sp>
        <p:nvSpPr>
          <p:cNvPr id="23" name="Rectangle 22"/>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337.4</a:t>
            </a:r>
          </a:p>
        </p:txBody>
      </p:sp>
      <p:sp>
        <p:nvSpPr>
          <p:cNvPr id="24" name="Rectangle 23"/>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5.5%</a:t>
            </a:r>
          </a:p>
        </p:txBody>
      </p:sp>
      <p:sp>
        <p:nvSpPr>
          <p:cNvPr id="25" name="Oval 24"/>
          <p:cNvSpPr/>
          <p:nvPr/>
        </p:nvSpPr>
        <p:spPr>
          <a:xfrm>
            <a:off x="291226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4395788" y="1773916"/>
            <a:ext cx="2414588"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4395788" y="1992961"/>
            <a:ext cx="2414588"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Gels and Jellies</a:t>
            </a:r>
          </a:p>
        </p:txBody>
      </p:sp>
      <p:sp>
        <p:nvSpPr>
          <p:cNvPr id="29" name="Rectangle 28"/>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190.2</a:t>
            </a:r>
          </a:p>
        </p:txBody>
      </p:sp>
      <p:sp>
        <p:nvSpPr>
          <p:cNvPr id="30" name="Rectangle 29"/>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372.0</a:t>
            </a:r>
          </a:p>
        </p:txBody>
      </p:sp>
      <p:sp>
        <p:nvSpPr>
          <p:cNvPr id="31" name="Rectangle 30"/>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6.9%</a:t>
            </a:r>
          </a:p>
        </p:txBody>
      </p:sp>
      <p:sp>
        <p:nvSpPr>
          <p:cNvPr id="32" name="Oval 31"/>
          <p:cNvSpPr/>
          <p:nvPr/>
        </p:nvSpPr>
        <p:spPr>
          <a:xfrm>
            <a:off x="5441156"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6924675" y="1773916"/>
            <a:ext cx="2414588"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6924675" y="1992961"/>
            <a:ext cx="2414588"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Powders</a:t>
            </a:r>
          </a:p>
        </p:txBody>
      </p:sp>
      <p:sp>
        <p:nvSpPr>
          <p:cNvPr id="36" name="Rectangle 35"/>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173.4</a:t>
            </a:r>
          </a:p>
        </p:txBody>
      </p:sp>
      <p:sp>
        <p:nvSpPr>
          <p:cNvPr id="37" name="Rectangle 36"/>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413.8</a:t>
            </a:r>
          </a:p>
        </p:txBody>
      </p:sp>
      <p:sp>
        <p:nvSpPr>
          <p:cNvPr id="38" name="Rectangle 37"/>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9.1%</a:t>
            </a:r>
          </a:p>
        </p:txBody>
      </p:sp>
      <p:sp>
        <p:nvSpPr>
          <p:cNvPr id="39" name="Oval 38"/>
          <p:cNvSpPr/>
          <p:nvPr/>
        </p:nvSpPr>
        <p:spPr>
          <a:xfrm>
            <a:off x="7970044"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9453562"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9453562"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Mousses and Foams</a:t>
            </a:r>
          </a:p>
        </p:txBody>
      </p:sp>
      <p:sp>
        <p:nvSpPr>
          <p:cNvPr id="43" name="Rectangle 42"/>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124.0</a:t>
            </a:r>
          </a:p>
        </p:txBody>
      </p:sp>
      <p:sp>
        <p:nvSpPr>
          <p:cNvPr id="44" name="Rectangle 43"/>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228.5</a:t>
            </a:r>
          </a:p>
        </p:txBody>
      </p:sp>
      <p:sp>
        <p:nvSpPr>
          <p:cNvPr id="45" name="Rectangle 44"/>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6.3%</a:t>
            </a:r>
          </a:p>
        </p:txBody>
      </p:sp>
      <p:sp>
        <p:nvSpPr>
          <p:cNvPr id="46" name="Oval 45"/>
          <p:cNvSpPr/>
          <p:nvPr/>
        </p:nvSpPr>
        <p:spPr>
          <a:xfrm>
            <a:off x="10498931"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47" name="Rounded Rectangle 46"/>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9" name="Rectangle 48"/>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Sprays and Mists: </a:t>
            </a:r>
            <a:r>
              <a:rPr sz="1100" b="0">
                <a:solidFill>
                  <a:srgbClr val="2E2E2E"/>
                </a:solidFill>
                <a:latin typeface="Calibri"/>
              </a:rPr>
              <a:t>11% of 2026 value · 5.5%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Gels and Jellies: </a:t>
            </a:r>
            <a:r>
              <a:rPr sz="1100" b="0">
                <a:solidFill>
                  <a:srgbClr val="2E2E2E"/>
                </a:solidFill>
                <a:latin typeface="Calibri"/>
              </a:rPr>
              <a:t>11% of 2026 value · 6.9%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Styling Powders: </a:t>
            </a:r>
            <a:r>
              <a:rPr sz="1100" b="0">
                <a:solidFill>
                  <a:srgbClr val="2E2E2E"/>
                </a:solidFill>
                <a:latin typeface="Calibri"/>
              </a:rPr>
              <a:t>10% of 2026 value · 9.1% CAGR serves a niche.</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Mousses and Foams: </a:t>
            </a:r>
            <a:r>
              <a:rPr sz="1100" b="0">
                <a:solidFill>
                  <a:srgbClr val="2E2E2E"/>
                </a:solidFill>
                <a:latin typeface="Calibri"/>
              </a:rPr>
              <a:t>7% of 2026 value · 6.3% CAGR serves a niche.</a:t>
            </a:r>
          </a:p>
        </p:txBody>
      </p:sp>
      <p:sp>
        <p:nvSpPr>
          <p:cNvPr id="51" name="TextBox 50"/>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Structure &amp; Attractiveness, By Product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Format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Styling serums and oils followed by waxes, clays, pastes and pomades are expected to be the two most attractive product format segments in the South Asia &amp; Pacific hair styling products market in terms of value over the forecast period. Styling serums and oils and waxes, clays, pastes and pomades exhibit a CAGR index of 104.2 and 96.5 and a market share index of 144.5 and 142.0 respectively, against the segment average of 100. The mousses and foams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Product Format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Sprays and Mists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Mousses and Foams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Gels and Jellies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Creams and Lotions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Product Format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Waxes, Clays, Pastes and Pomades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Styling Powders</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Styling Serums and Oils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Sticks and Balms</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Product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Product Format (US$ Mn)</a:t>
            </a:r>
          </a:p>
        </p:txBody>
      </p:sp>
      <p:graphicFrame>
        <p:nvGraphicFramePr>
          <p:cNvPr id="13" name="Table 12"/>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248275"/>
            <a:ext cx="11906250" cy="1381125"/>
          </a:xfrm>
          <a:prstGeom prst="roundRect">
            <a:avLst>
              <a:gd name="adj" fmla="val 55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33400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Analysis, By Product Format</a:t>
            </a:r>
          </a:p>
        </p:txBody>
      </p:sp>
      <p:sp>
        <p:nvSpPr>
          <p:cNvPr id="17" name="Rectangle 16"/>
          <p:cNvSpPr/>
          <p:nvPr/>
        </p:nvSpPr>
        <p:spPr>
          <a:xfrm>
            <a:off x="276225" y="55721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657850"/>
            <a:ext cx="11639550" cy="8953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Styling serums and oils segment is projected to register 1.1X higher value than waxes, clays, pastes and pomades segment in 2036. Among hair styling products by product format, sticks and balms segment is expected to witness the highest CAGR of 9.5% over the forecast period.</a:t>
            </a:r>
          </a:p>
          <a:p>
            <a:pPr algn="l">
              <a:lnSpc>
                <a:spcPct val="110000"/>
              </a:lnSpc>
              <a:spcBef>
                <a:spcPts val="0"/>
              </a:spcBef>
              <a:spcAft>
                <a:spcPts val="500"/>
              </a:spcAft>
            </a:pPr>
            <a:r>
              <a:rPr sz="1100" b="0">
                <a:solidFill>
                  <a:srgbClr val="2E2E2E"/>
                </a:solidFill>
                <a:latin typeface="Calibri"/>
              </a:rPr>
              <a:t>In terms of value share by product format, the styling serums and oils segment is expected to dominate the market, gaining 56 BPS and accounting for 18.6% share by 2036. The sprays and mists segment is expected to lose 220 BPS over the forecast period to account for 8.9%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&amp; Share Shift, By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Composition, By Product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09736"/>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0497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2877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Mousses and Foams</a:t>
            </a:r>
          </a:p>
        </p:txBody>
      </p:sp>
      <p:sp>
        <p:nvSpPr>
          <p:cNvPr id="19" name="BPS Value 1"/>
          <p:cNvSpPr txBox="1"/>
          <p:nvPr/>
        </p:nvSpPr>
        <p:spPr>
          <a:xfrm>
            <a:off x="6896100" y="1790686"/>
            <a:ext cx="514350" cy="123825"/>
          </a:xfrm>
          <a:prstGeom prst="rect">
            <a:avLst/>
          </a:prstGeom>
          <a:noFill/>
        </p:spPr>
        <p:txBody>
          <a:bodyPr wrap="none" lIns="0" rIns="0" tIns="0" bIns="0" anchor="ctr">
            <a:spAutoFit/>
          </a:bodyPr>
          <a:lstStyle/>
          <a:p>
            <a:pPr algn="r"/>
            <a:r>
              <a:rPr sz="900" b="1">
                <a:solidFill>
                  <a:srgbClr val="E44D3A"/>
                </a:solidFill>
                <a:latin typeface="Calibri"/>
              </a:rPr>
              <a:t>-94</a:t>
            </a:r>
          </a:p>
        </p:txBody>
      </p:sp>
      <p:sp>
        <p:nvSpPr>
          <p:cNvPr id="20" name="FMI Legend Chip"/>
          <p:cNvSpPr/>
          <p:nvPr/>
        </p:nvSpPr>
        <p:spPr>
          <a:xfrm>
            <a:off x="4928997" y="2152740"/>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14797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7177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Sprays and Mists</a:t>
            </a:r>
          </a:p>
        </p:txBody>
      </p:sp>
      <p:sp>
        <p:nvSpPr>
          <p:cNvPr id="23" name="BPS Value 2"/>
          <p:cNvSpPr txBox="1"/>
          <p:nvPr/>
        </p:nvSpPr>
        <p:spPr>
          <a:xfrm>
            <a:off x="6896100" y="2133690"/>
            <a:ext cx="514350" cy="123825"/>
          </a:xfrm>
          <a:prstGeom prst="rect">
            <a:avLst/>
          </a:prstGeom>
          <a:noFill/>
        </p:spPr>
        <p:txBody>
          <a:bodyPr wrap="none" lIns="0" rIns="0" tIns="0" bIns="0" anchor="ctr">
            <a:spAutoFit/>
          </a:bodyPr>
          <a:lstStyle/>
          <a:p>
            <a:pPr algn="r"/>
            <a:r>
              <a:rPr sz="900" b="1">
                <a:solidFill>
                  <a:srgbClr val="E44D3A"/>
                </a:solidFill>
                <a:latin typeface="Calibri"/>
              </a:rPr>
              <a:t>-220</a:t>
            </a:r>
          </a:p>
        </p:txBody>
      </p:sp>
      <p:sp>
        <p:nvSpPr>
          <p:cNvPr id="24" name="FMI Legend Chip"/>
          <p:cNvSpPr/>
          <p:nvPr/>
        </p:nvSpPr>
        <p:spPr>
          <a:xfrm>
            <a:off x="4928997" y="2582760"/>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257799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50179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Gels and Jellies</a:t>
            </a:r>
          </a:p>
        </p:txBody>
      </p:sp>
      <p:sp>
        <p:nvSpPr>
          <p:cNvPr id="27" name="BPS Value 3"/>
          <p:cNvSpPr txBox="1"/>
          <p:nvPr/>
        </p:nvSpPr>
        <p:spPr>
          <a:xfrm>
            <a:off x="6896100" y="2563710"/>
            <a:ext cx="514350" cy="123825"/>
          </a:xfrm>
          <a:prstGeom prst="rect">
            <a:avLst/>
          </a:prstGeom>
          <a:noFill/>
        </p:spPr>
        <p:txBody>
          <a:bodyPr wrap="none" lIns="0" rIns="0" tIns="0" bIns="0" anchor="ctr">
            <a:spAutoFit/>
          </a:bodyPr>
          <a:lstStyle/>
          <a:p>
            <a:pPr algn="r"/>
            <a:r>
              <a:rPr sz="900" b="1">
                <a:solidFill>
                  <a:srgbClr val="E44D3A"/>
                </a:solidFill>
                <a:latin typeface="Calibri"/>
              </a:rPr>
              <a:t>-88</a:t>
            </a:r>
          </a:p>
        </p:txBody>
      </p:sp>
      <p:sp>
        <p:nvSpPr>
          <p:cNvPr id="28" name="FMI Legend Chip"/>
          <p:cNvSpPr/>
          <p:nvPr/>
        </p:nvSpPr>
        <p:spPr>
          <a:xfrm>
            <a:off x="4928997" y="3059065"/>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305430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97810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Powders</a:t>
            </a:r>
          </a:p>
        </p:txBody>
      </p:sp>
      <p:sp>
        <p:nvSpPr>
          <p:cNvPr id="31" name="BPS Value 4"/>
          <p:cNvSpPr txBox="1"/>
          <p:nvPr/>
        </p:nvSpPr>
        <p:spPr>
          <a:xfrm>
            <a:off x="6896100" y="3040015"/>
            <a:ext cx="514350" cy="123825"/>
          </a:xfrm>
          <a:prstGeom prst="rect">
            <a:avLst/>
          </a:prstGeom>
          <a:noFill/>
        </p:spPr>
        <p:txBody>
          <a:bodyPr wrap="none" lIns="0" rIns="0" tIns="0" bIns="0" anchor="ctr">
            <a:spAutoFit/>
          </a:bodyPr>
          <a:lstStyle/>
          <a:p>
            <a:pPr algn="r"/>
            <a:r>
              <a:rPr sz="900" b="1">
                <a:solidFill>
                  <a:srgbClr val="2E7D32"/>
                </a:solidFill>
                <a:latin typeface="Calibri"/>
              </a:rPr>
              <a:t>+118</a:t>
            </a:r>
          </a:p>
        </p:txBody>
      </p:sp>
      <p:sp>
        <p:nvSpPr>
          <p:cNvPr id="32" name="FMI Legend Chip"/>
          <p:cNvSpPr/>
          <p:nvPr/>
        </p:nvSpPr>
        <p:spPr>
          <a:xfrm>
            <a:off x="4928997" y="361191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360715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53095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Creams and Lotions</a:t>
            </a:r>
          </a:p>
        </p:txBody>
      </p:sp>
      <p:sp>
        <p:nvSpPr>
          <p:cNvPr id="35" name="BPS Value 5"/>
          <p:cNvSpPr txBox="1"/>
          <p:nvPr/>
        </p:nvSpPr>
        <p:spPr>
          <a:xfrm>
            <a:off x="6896100" y="3592865"/>
            <a:ext cx="514350" cy="123825"/>
          </a:xfrm>
          <a:prstGeom prst="rect">
            <a:avLst/>
          </a:prstGeom>
          <a:noFill/>
        </p:spPr>
        <p:txBody>
          <a:bodyPr wrap="none" lIns="0" rIns="0" tIns="0" bIns="0" anchor="ctr">
            <a:spAutoFit/>
          </a:bodyPr>
          <a:lstStyle/>
          <a:p>
            <a:pPr algn="r"/>
            <a:r>
              <a:rPr sz="900" b="1">
                <a:solidFill>
                  <a:srgbClr val="2E7D32"/>
                </a:solidFill>
                <a:latin typeface="Calibri"/>
              </a:rPr>
              <a:t>+66</a:t>
            </a:r>
          </a:p>
        </p:txBody>
      </p:sp>
      <p:sp>
        <p:nvSpPr>
          <p:cNvPr id="36" name="FMI Legend Chip"/>
          <p:cNvSpPr/>
          <p:nvPr/>
        </p:nvSpPr>
        <p:spPr>
          <a:xfrm>
            <a:off x="4928997" y="425740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425263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17643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Sticks and Balms</a:t>
            </a:r>
          </a:p>
        </p:txBody>
      </p:sp>
      <p:sp>
        <p:nvSpPr>
          <p:cNvPr id="39" name="BPS Value 6"/>
          <p:cNvSpPr txBox="1"/>
          <p:nvPr/>
        </p:nvSpPr>
        <p:spPr>
          <a:xfrm>
            <a:off x="6896100" y="4238350"/>
            <a:ext cx="514350" cy="123825"/>
          </a:xfrm>
          <a:prstGeom prst="rect">
            <a:avLst/>
          </a:prstGeom>
          <a:noFill/>
        </p:spPr>
        <p:txBody>
          <a:bodyPr wrap="none" lIns="0" rIns="0" tIns="0" bIns="0" anchor="ctr">
            <a:spAutoFit/>
          </a:bodyPr>
          <a:lstStyle/>
          <a:p>
            <a:pPr algn="r"/>
            <a:r>
              <a:rPr sz="900" b="1">
                <a:solidFill>
                  <a:srgbClr val="2E7D32"/>
                </a:solidFill>
                <a:latin typeface="Calibri"/>
              </a:rPr>
              <a:t>+207</a:t>
            </a:r>
          </a:p>
        </p:txBody>
      </p:sp>
      <p:sp>
        <p:nvSpPr>
          <p:cNvPr id="40" name="FMI Legend Chip"/>
          <p:cNvSpPr/>
          <p:nvPr/>
        </p:nvSpPr>
        <p:spPr>
          <a:xfrm>
            <a:off x="4928997" y="499651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0922" y="499175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491555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Clays, Pastes and Pomades</a:t>
            </a:r>
          </a:p>
        </p:txBody>
      </p:sp>
      <p:sp>
        <p:nvSpPr>
          <p:cNvPr id="43" name="BPS Value 7"/>
          <p:cNvSpPr txBox="1"/>
          <p:nvPr/>
        </p:nvSpPr>
        <p:spPr>
          <a:xfrm>
            <a:off x="6896100" y="4977468"/>
            <a:ext cx="514350" cy="123825"/>
          </a:xfrm>
          <a:prstGeom prst="rect">
            <a:avLst/>
          </a:prstGeom>
          <a:noFill/>
        </p:spPr>
        <p:txBody>
          <a:bodyPr wrap="none" lIns="0" rIns="0" tIns="0" bIns="0" anchor="ctr">
            <a:spAutoFit/>
          </a:bodyPr>
          <a:lstStyle/>
          <a:p>
            <a:pPr algn="r"/>
            <a:r>
              <a:rPr sz="900" b="1">
                <a:solidFill>
                  <a:srgbClr val="E44D3A"/>
                </a:solidFill>
                <a:latin typeface="Calibri"/>
              </a:rPr>
              <a:t>-45</a:t>
            </a:r>
          </a:p>
        </p:txBody>
      </p:sp>
      <p:sp>
        <p:nvSpPr>
          <p:cNvPr id="44" name="FMI Legend Chip"/>
          <p:cNvSpPr/>
          <p:nvPr/>
        </p:nvSpPr>
        <p:spPr>
          <a:xfrm>
            <a:off x="4928997" y="581791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a:off x="5090922" y="581315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573695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Serums and Oils</a:t>
            </a:r>
          </a:p>
        </p:txBody>
      </p:sp>
      <p:sp>
        <p:nvSpPr>
          <p:cNvPr id="47" name="BPS Value 8"/>
          <p:cNvSpPr txBox="1"/>
          <p:nvPr/>
        </p:nvSpPr>
        <p:spPr>
          <a:xfrm>
            <a:off x="6896100" y="5798866"/>
            <a:ext cx="514350" cy="123825"/>
          </a:xfrm>
          <a:prstGeom prst="rect">
            <a:avLst/>
          </a:prstGeom>
          <a:noFill/>
        </p:spPr>
        <p:txBody>
          <a:bodyPr wrap="none" lIns="0" rIns="0" tIns="0" bIns="0" anchor="ctr">
            <a:spAutoFit/>
          </a:bodyPr>
          <a:lstStyle/>
          <a:p>
            <a:pPr algn="r"/>
            <a:r>
              <a:rPr sz="900" b="1">
                <a:solidFill>
                  <a:srgbClr val="2E7D32"/>
                </a:solidFill>
                <a:latin typeface="Calibri"/>
              </a:rPr>
              <a:t>+56</a:t>
            </a:r>
          </a:p>
        </p:txBody>
      </p:sp>
      <p:sp>
        <p:nvSpPr>
          <p:cNvPr id="48" name="Rounded Rectangle 4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Read-out, By Product Format</a:t>
            </a:r>
          </a:p>
        </p:txBody>
      </p:sp>
      <p:sp>
        <p:nvSpPr>
          <p:cNvPr id="50" name="Rectangle 4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product format, sticks and balms segment is expected to witness the highest CAGR of 9.5% over the forecast period. In terms of value share by product format, the styling serums and oils segment is expected to dominate the market, gaining 56 BPS and accounting for 18.6% share by 2036.</a:t>
            </a:r>
          </a:p>
          <a:p>
            <a:pPr algn="l">
              <a:lnSpc>
                <a:spcPct val="110000"/>
              </a:lnSpc>
              <a:spcBef>
                <a:spcPts val="0"/>
              </a:spcBef>
              <a:spcAft>
                <a:spcPts val="500"/>
              </a:spcAft>
            </a:pPr>
            <a:r>
              <a:rPr sz="1150" b="0">
                <a:solidFill>
                  <a:srgbClr val="2E2E2E"/>
                </a:solidFill>
                <a:latin typeface="Calibri"/>
              </a:rPr>
              <a:t>The sprays and mists segment is expected to lose 220 BPS over the forecast period to account for 8.9% share by 2036.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Product Format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Growth,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Product Format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Heatmap, By Product Format (%)  ·  light = lower, dark = higher growth</a:t>
            </a:r>
          </a:p>
        </p:txBody>
      </p:sp>
      <p:sp>
        <p:nvSpPr>
          <p:cNvPr id="12" name="TextBox 11"/>
          <p:cNvSpPr txBox="1"/>
          <p:nvPr/>
        </p:nvSpPr>
        <p:spPr>
          <a:xfrm>
            <a:off x="181886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4653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1178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5823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04695"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511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697610"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44067"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69905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36982"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83439"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2989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763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281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6926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Sprays and Mists</a:t>
            </a:r>
          </a:p>
        </p:txBody>
      </p:sp>
      <p:sp>
        <p:nvSpPr>
          <p:cNvPr id="28" name="Rectangle 27"/>
          <p:cNvSpPr/>
          <p:nvPr/>
        </p:nvSpPr>
        <p:spPr>
          <a:xfrm>
            <a:off x="1818866" y="1409700"/>
            <a:ext cx="646457" cy="344170"/>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465324" y="1409700"/>
            <a:ext cx="646457" cy="34417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11781" y="1409700"/>
            <a:ext cx="646457" cy="34417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58238" y="1409700"/>
            <a:ext cx="646457" cy="34417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04695" y="1409700"/>
            <a:ext cx="646457" cy="344170"/>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51153" y="1409700"/>
            <a:ext cx="646457" cy="34417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697610" y="1409700"/>
            <a:ext cx="646457" cy="344170"/>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44067" y="1409700"/>
            <a:ext cx="646457" cy="344170"/>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6990524" y="1409700"/>
            <a:ext cx="646457" cy="344170"/>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36982" y="1409700"/>
            <a:ext cx="646457" cy="344170"/>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83439" y="1409700"/>
            <a:ext cx="646457" cy="344170"/>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29896" y="1409700"/>
            <a:ext cx="646457" cy="34417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76353" y="1409700"/>
            <a:ext cx="646457" cy="34417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2811" y="1409700"/>
            <a:ext cx="646457" cy="34417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69268" y="1409700"/>
            <a:ext cx="646457" cy="344170"/>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538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Hairsprays</a:t>
            </a:r>
          </a:p>
        </p:txBody>
      </p:sp>
      <p:sp>
        <p:nvSpPr>
          <p:cNvPr id="44" name="Rectangle 43"/>
          <p:cNvSpPr/>
          <p:nvPr/>
        </p:nvSpPr>
        <p:spPr>
          <a:xfrm>
            <a:off x="1818866" y="1753870"/>
            <a:ext cx="646457" cy="344170"/>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465324" y="1753870"/>
            <a:ext cx="646457" cy="344170"/>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11781" y="1753870"/>
            <a:ext cx="646457" cy="34417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58238" y="1753870"/>
            <a:ext cx="646457" cy="34417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04695" y="1753870"/>
            <a:ext cx="646457" cy="344170"/>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51153" y="1753870"/>
            <a:ext cx="646457" cy="344170"/>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697610" y="1753870"/>
            <a:ext cx="646457" cy="34417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44067" y="1753870"/>
            <a:ext cx="646457" cy="344170"/>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6990524" y="1753870"/>
            <a:ext cx="646457" cy="344170"/>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36982" y="1753870"/>
            <a:ext cx="646457" cy="34417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83439" y="1753870"/>
            <a:ext cx="646457" cy="344170"/>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29896" y="1753870"/>
            <a:ext cx="646457" cy="34417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76353" y="1753870"/>
            <a:ext cx="646457" cy="344170"/>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2811" y="1753870"/>
            <a:ext cx="646457" cy="34417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69268" y="1753870"/>
            <a:ext cx="646457" cy="344170"/>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980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Hairsprays</a:t>
            </a:r>
          </a:p>
        </p:txBody>
      </p:sp>
      <p:sp>
        <p:nvSpPr>
          <p:cNvPr id="60" name="Rectangle 59"/>
          <p:cNvSpPr/>
          <p:nvPr/>
        </p:nvSpPr>
        <p:spPr>
          <a:xfrm>
            <a:off x="1818866" y="2098040"/>
            <a:ext cx="646457" cy="34417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465324" y="2098040"/>
            <a:ext cx="646457" cy="34417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11781" y="2098040"/>
            <a:ext cx="646457" cy="34417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58238" y="2098040"/>
            <a:ext cx="646457" cy="34417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04695" y="2098040"/>
            <a:ext cx="646457" cy="344170"/>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51153" y="2098040"/>
            <a:ext cx="646457" cy="34417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697610" y="209804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44067" y="209804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6990524" y="2098040"/>
            <a:ext cx="646457" cy="344170"/>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36982" y="209804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83439" y="2098040"/>
            <a:ext cx="646457" cy="344170"/>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29896" y="2098040"/>
            <a:ext cx="646457" cy="344170"/>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76353" y="2098040"/>
            <a:ext cx="646457" cy="344170"/>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2811" y="2098040"/>
            <a:ext cx="646457" cy="344170"/>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69268" y="2098040"/>
            <a:ext cx="646457" cy="344170"/>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4422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Texturizing Sprays</a:t>
            </a:r>
          </a:p>
        </p:txBody>
      </p:sp>
      <p:sp>
        <p:nvSpPr>
          <p:cNvPr id="76" name="Rectangle 75"/>
          <p:cNvSpPr/>
          <p:nvPr/>
        </p:nvSpPr>
        <p:spPr>
          <a:xfrm>
            <a:off x="1818866" y="2442210"/>
            <a:ext cx="646457" cy="344170"/>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465324" y="2442210"/>
            <a:ext cx="646457" cy="34417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11781" y="2442210"/>
            <a:ext cx="646457" cy="344170"/>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58238" y="2442210"/>
            <a:ext cx="646457" cy="344170"/>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04695" y="2442210"/>
            <a:ext cx="646457" cy="344170"/>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51153" y="2442210"/>
            <a:ext cx="646457" cy="34417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697610" y="2442210"/>
            <a:ext cx="646457" cy="34417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44067" y="2442210"/>
            <a:ext cx="646457" cy="344170"/>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6990524" y="244221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36982" y="2442210"/>
            <a:ext cx="646457" cy="34417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83439" y="244221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29896" y="2442210"/>
            <a:ext cx="646457" cy="34417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76353" y="2442210"/>
            <a:ext cx="646457" cy="344170"/>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2811" y="2442210"/>
            <a:ext cx="646457" cy="344170"/>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69268" y="2442210"/>
            <a:ext cx="646457" cy="344170"/>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863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Sea-salt Sprays</a:t>
            </a:r>
          </a:p>
        </p:txBody>
      </p:sp>
      <p:sp>
        <p:nvSpPr>
          <p:cNvPr id="92" name="Rectangle 91"/>
          <p:cNvSpPr/>
          <p:nvPr/>
        </p:nvSpPr>
        <p:spPr>
          <a:xfrm>
            <a:off x="1818866" y="2786380"/>
            <a:ext cx="646457" cy="344170"/>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465324" y="2786380"/>
            <a:ext cx="646457" cy="344170"/>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11781" y="278638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58238" y="2786380"/>
            <a:ext cx="646457" cy="34417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04695" y="278638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51153" y="2786380"/>
            <a:ext cx="646457" cy="34417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697610" y="278638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44067" y="2786380"/>
            <a:ext cx="646457" cy="344170"/>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6990524" y="2786380"/>
            <a:ext cx="646457" cy="344170"/>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36982" y="2786380"/>
            <a:ext cx="646457" cy="344170"/>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83439" y="2786380"/>
            <a:ext cx="646457" cy="344170"/>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29896" y="2786380"/>
            <a:ext cx="646457" cy="344170"/>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76353" y="2786380"/>
            <a:ext cx="646457" cy="344170"/>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2811" y="2786380"/>
            <a:ext cx="646457" cy="344170"/>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69268" y="2786380"/>
            <a:ext cx="646457" cy="344170"/>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13055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Volumizing Sprays</a:t>
            </a:r>
          </a:p>
        </p:txBody>
      </p:sp>
      <p:sp>
        <p:nvSpPr>
          <p:cNvPr id="108" name="Rectangle 107"/>
          <p:cNvSpPr/>
          <p:nvPr/>
        </p:nvSpPr>
        <p:spPr>
          <a:xfrm>
            <a:off x="1818866" y="3130550"/>
            <a:ext cx="646457" cy="34417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465324" y="3130550"/>
            <a:ext cx="646457" cy="34417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11781" y="3130550"/>
            <a:ext cx="646457" cy="34417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58238" y="313055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04695" y="3130550"/>
            <a:ext cx="646457" cy="344170"/>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51153" y="3130550"/>
            <a:ext cx="646457" cy="34417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697610" y="3130550"/>
            <a:ext cx="646457" cy="34417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44067" y="313055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6990524" y="3130550"/>
            <a:ext cx="646457" cy="344170"/>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36982" y="3130550"/>
            <a:ext cx="646457" cy="344170"/>
          </a:xfrm>
          <a:prstGeom prst="rect">
            <a:avLst/>
          </a:prstGeom>
          <a:solidFill>
            <a:srgbClr val="AA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83439" y="3130550"/>
            <a:ext cx="646457" cy="344170"/>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29896" y="3130550"/>
            <a:ext cx="646457" cy="34417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76353" y="3130550"/>
            <a:ext cx="646457" cy="34417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2811" y="313055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69268" y="3130550"/>
            <a:ext cx="646457" cy="34417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47472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Mousses and Foams</a:t>
            </a:r>
          </a:p>
        </p:txBody>
      </p:sp>
      <p:sp>
        <p:nvSpPr>
          <p:cNvPr id="124" name="Rectangle 123"/>
          <p:cNvSpPr/>
          <p:nvPr/>
        </p:nvSpPr>
        <p:spPr>
          <a:xfrm>
            <a:off x="1818866" y="3474720"/>
            <a:ext cx="646457" cy="344170"/>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465324" y="3474720"/>
            <a:ext cx="646457" cy="34417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11781" y="3474720"/>
            <a:ext cx="646457" cy="34417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58238" y="347472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04695" y="347472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51153" y="3474720"/>
            <a:ext cx="646457" cy="344170"/>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697610" y="347472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44067" y="347472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6990524" y="347472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36982" y="3474720"/>
            <a:ext cx="646457" cy="34417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83439" y="3474720"/>
            <a:ext cx="646457" cy="344170"/>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29896" y="3474720"/>
            <a:ext cx="646457" cy="344170"/>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76353" y="3474720"/>
            <a:ext cx="646457" cy="344170"/>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2811" y="3474720"/>
            <a:ext cx="646457" cy="344170"/>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69268" y="3474720"/>
            <a:ext cx="646457" cy="344170"/>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81889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Mousses</a:t>
            </a:r>
          </a:p>
        </p:txBody>
      </p:sp>
      <p:sp>
        <p:nvSpPr>
          <p:cNvPr id="140" name="Rectangle 139"/>
          <p:cNvSpPr/>
          <p:nvPr/>
        </p:nvSpPr>
        <p:spPr>
          <a:xfrm>
            <a:off x="1818866" y="3818890"/>
            <a:ext cx="646457" cy="34417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465324" y="3818890"/>
            <a:ext cx="646457" cy="34417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11781" y="3818890"/>
            <a:ext cx="646457" cy="34417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58238" y="3818890"/>
            <a:ext cx="646457" cy="34417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04695" y="381889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51153" y="3818890"/>
            <a:ext cx="646457" cy="34417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697610" y="3818890"/>
            <a:ext cx="646457" cy="344170"/>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44067" y="3818890"/>
            <a:ext cx="646457" cy="344170"/>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6990524" y="3818890"/>
            <a:ext cx="646457" cy="34417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36982" y="3818890"/>
            <a:ext cx="646457" cy="34417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83439" y="381889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29896" y="381889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76353" y="381889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2811" y="3818890"/>
            <a:ext cx="646457" cy="34417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69268" y="381889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16306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Foams</a:t>
            </a:r>
          </a:p>
        </p:txBody>
      </p:sp>
      <p:sp>
        <p:nvSpPr>
          <p:cNvPr id="156" name="Rectangle 155"/>
          <p:cNvSpPr/>
          <p:nvPr/>
        </p:nvSpPr>
        <p:spPr>
          <a:xfrm>
            <a:off x="1818866" y="416306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465324" y="4163060"/>
            <a:ext cx="646457" cy="344170"/>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11781" y="4163060"/>
            <a:ext cx="646457" cy="344170"/>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58238" y="4163060"/>
            <a:ext cx="646457" cy="34417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04695" y="4163060"/>
            <a:ext cx="646457" cy="344170"/>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51153" y="4163060"/>
            <a:ext cx="646457" cy="344170"/>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697610" y="4163060"/>
            <a:ext cx="646457" cy="344170"/>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44067" y="4163060"/>
            <a:ext cx="646457" cy="34417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6990524" y="4163060"/>
            <a:ext cx="646457" cy="344170"/>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36982" y="4163060"/>
            <a:ext cx="646457" cy="344170"/>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83439" y="4163060"/>
            <a:ext cx="646457" cy="344170"/>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29896" y="4163060"/>
            <a:ext cx="646457" cy="344170"/>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76353" y="4163060"/>
            <a:ext cx="646457" cy="344170"/>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2811" y="4163060"/>
            <a:ext cx="646457" cy="344170"/>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69268" y="4163060"/>
            <a:ext cx="646457" cy="344170"/>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50723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Gels and Jellies</a:t>
            </a:r>
          </a:p>
        </p:txBody>
      </p:sp>
      <p:sp>
        <p:nvSpPr>
          <p:cNvPr id="172" name="Rectangle 171"/>
          <p:cNvSpPr/>
          <p:nvPr/>
        </p:nvSpPr>
        <p:spPr>
          <a:xfrm>
            <a:off x="1818866" y="4507230"/>
            <a:ext cx="646457" cy="34417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465324" y="4507230"/>
            <a:ext cx="646457" cy="344170"/>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11781" y="450723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58238" y="4507230"/>
            <a:ext cx="646457" cy="344170"/>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04695" y="450723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51153" y="4507230"/>
            <a:ext cx="646457" cy="344170"/>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697610" y="4507230"/>
            <a:ext cx="646457" cy="344170"/>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44067" y="4507230"/>
            <a:ext cx="646457" cy="344170"/>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6990524" y="4507230"/>
            <a:ext cx="646457" cy="344170"/>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36982" y="4507230"/>
            <a:ext cx="646457" cy="344170"/>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83439" y="4507230"/>
            <a:ext cx="646457" cy="344170"/>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29896" y="4507230"/>
            <a:ext cx="646457" cy="344170"/>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76353" y="4507230"/>
            <a:ext cx="646457" cy="344170"/>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2811" y="4507230"/>
            <a:ext cx="646457" cy="344170"/>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69268" y="4507230"/>
            <a:ext cx="646457" cy="344170"/>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8514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Creams and Lotions</a:t>
            </a:r>
          </a:p>
        </p:txBody>
      </p:sp>
      <p:sp>
        <p:nvSpPr>
          <p:cNvPr id="188" name="Rectangle 187"/>
          <p:cNvSpPr/>
          <p:nvPr/>
        </p:nvSpPr>
        <p:spPr>
          <a:xfrm>
            <a:off x="1818866" y="4851400"/>
            <a:ext cx="646457" cy="34417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465324" y="4851400"/>
            <a:ext cx="646457" cy="34417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11781" y="4851400"/>
            <a:ext cx="646457" cy="344170"/>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58238" y="4851400"/>
            <a:ext cx="646457" cy="34417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04695" y="4851400"/>
            <a:ext cx="646457" cy="344170"/>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51153" y="485140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697610" y="4851400"/>
            <a:ext cx="646457" cy="344170"/>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44067" y="4851400"/>
            <a:ext cx="646457" cy="344170"/>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6990524" y="4851400"/>
            <a:ext cx="646457" cy="344170"/>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36982" y="4851400"/>
            <a:ext cx="646457" cy="344170"/>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83439" y="4851400"/>
            <a:ext cx="646457" cy="344170"/>
          </a:xfrm>
          <a:prstGeom prst="rect">
            <a:avLst/>
          </a:prstGeom>
          <a:solidFill>
            <a:srgbClr val="0E70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29896" y="4851400"/>
            <a:ext cx="646457" cy="344170"/>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76353" y="4851400"/>
            <a:ext cx="646457" cy="344170"/>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2811" y="4851400"/>
            <a:ext cx="646457" cy="344170"/>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69268" y="4851400"/>
            <a:ext cx="646457" cy="344170"/>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1955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Waxes, Clays, Pastes and Pomades</a:t>
            </a:r>
          </a:p>
        </p:txBody>
      </p:sp>
      <p:sp>
        <p:nvSpPr>
          <p:cNvPr id="204" name="Rectangle 203"/>
          <p:cNvSpPr/>
          <p:nvPr/>
        </p:nvSpPr>
        <p:spPr>
          <a:xfrm>
            <a:off x="1818866" y="519557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465324" y="5195570"/>
            <a:ext cx="646457" cy="34417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11781" y="5195570"/>
            <a:ext cx="646457" cy="34417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58238" y="5195570"/>
            <a:ext cx="646457" cy="34417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04695" y="519557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51153" y="5195570"/>
            <a:ext cx="646457" cy="344170"/>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697610" y="5195570"/>
            <a:ext cx="646457" cy="344170"/>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44067" y="5195570"/>
            <a:ext cx="646457" cy="344170"/>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6990524" y="5195570"/>
            <a:ext cx="646457" cy="344170"/>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36982" y="5195570"/>
            <a:ext cx="646457" cy="344170"/>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83439" y="5195570"/>
            <a:ext cx="646457" cy="344170"/>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29896" y="5195570"/>
            <a:ext cx="646457" cy="344170"/>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76353" y="5195570"/>
            <a:ext cx="646457" cy="344170"/>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2811" y="5195570"/>
            <a:ext cx="646457" cy="344170"/>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69268" y="5195570"/>
            <a:ext cx="646457" cy="344170"/>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5397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Powders</a:t>
            </a:r>
          </a:p>
        </p:txBody>
      </p:sp>
      <p:sp>
        <p:nvSpPr>
          <p:cNvPr id="220" name="Rectangle 219"/>
          <p:cNvSpPr/>
          <p:nvPr/>
        </p:nvSpPr>
        <p:spPr>
          <a:xfrm>
            <a:off x="1818866" y="5539740"/>
            <a:ext cx="646457" cy="34417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465324" y="5539740"/>
            <a:ext cx="646457" cy="34417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11781" y="553974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58238" y="5539740"/>
            <a:ext cx="646457" cy="344170"/>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04695" y="5539740"/>
            <a:ext cx="646457" cy="344170"/>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51153" y="5539740"/>
            <a:ext cx="646457" cy="344170"/>
          </a:xfrm>
          <a:prstGeom prst="rect">
            <a:avLst/>
          </a:prstGeom>
          <a:solidFill>
            <a:srgbClr val="71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697610" y="5539740"/>
            <a:ext cx="646457" cy="344170"/>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44067" y="5539740"/>
            <a:ext cx="646457" cy="344170"/>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6990524" y="5539740"/>
            <a:ext cx="646457" cy="344170"/>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36982" y="5539740"/>
            <a:ext cx="646457" cy="344170"/>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83439" y="5539740"/>
            <a:ext cx="646457" cy="344170"/>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29896" y="5539740"/>
            <a:ext cx="646457" cy="344170"/>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76353" y="5539740"/>
            <a:ext cx="646457" cy="344170"/>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2811" y="5539740"/>
            <a:ext cx="646457" cy="344170"/>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69268" y="5539740"/>
            <a:ext cx="646457" cy="344170"/>
          </a:xfrm>
          <a:prstGeom prst="rect">
            <a:avLst/>
          </a:prstGeom>
          <a:solidFill>
            <a:srgbClr val="0C4E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8839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Serums and Oils</a:t>
            </a:r>
          </a:p>
        </p:txBody>
      </p:sp>
      <p:sp>
        <p:nvSpPr>
          <p:cNvPr id="236" name="Rectangle 235"/>
          <p:cNvSpPr/>
          <p:nvPr/>
        </p:nvSpPr>
        <p:spPr>
          <a:xfrm>
            <a:off x="1818866" y="5883910"/>
            <a:ext cx="646457" cy="344170"/>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465324" y="5883910"/>
            <a:ext cx="646457" cy="34417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11781" y="5883910"/>
            <a:ext cx="646457" cy="344170"/>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58238" y="5883910"/>
            <a:ext cx="646457" cy="34417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04695" y="588391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51153" y="5883910"/>
            <a:ext cx="646457" cy="344170"/>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697610" y="5883910"/>
            <a:ext cx="646457" cy="344170"/>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44067" y="5883910"/>
            <a:ext cx="646457" cy="344170"/>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6990524" y="5883910"/>
            <a:ext cx="646457" cy="344170"/>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36982" y="5883910"/>
            <a:ext cx="646457" cy="344170"/>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83439" y="5883910"/>
            <a:ext cx="646457" cy="344170"/>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29896" y="5883910"/>
            <a:ext cx="646457" cy="344170"/>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76353" y="5883910"/>
            <a:ext cx="646457" cy="344170"/>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2811" y="5883910"/>
            <a:ext cx="646457" cy="344170"/>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69268" y="5883910"/>
            <a:ext cx="646457" cy="344170"/>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62280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Sticks and Balms</a:t>
            </a:r>
          </a:p>
        </p:txBody>
      </p:sp>
      <p:sp>
        <p:nvSpPr>
          <p:cNvPr id="252" name="Rectangle 251"/>
          <p:cNvSpPr/>
          <p:nvPr/>
        </p:nvSpPr>
        <p:spPr>
          <a:xfrm>
            <a:off x="1818866" y="622808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465324" y="6228080"/>
            <a:ext cx="646457" cy="34417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11781" y="6228080"/>
            <a:ext cx="646457" cy="34417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58238" y="6228080"/>
            <a:ext cx="646457" cy="344170"/>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04695" y="6228080"/>
            <a:ext cx="646457" cy="344170"/>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51153" y="6228080"/>
            <a:ext cx="646457" cy="344170"/>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697610" y="6228080"/>
            <a:ext cx="646457" cy="344170"/>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44067" y="6228080"/>
            <a:ext cx="646457" cy="344170"/>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6990524" y="6228080"/>
            <a:ext cx="646457" cy="344170"/>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36982" y="6228080"/>
            <a:ext cx="646457" cy="344170"/>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83439" y="6228080"/>
            <a:ext cx="646457" cy="344170"/>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29896" y="6228080"/>
            <a:ext cx="646457" cy="34417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76353" y="6228080"/>
            <a:ext cx="646457" cy="344170"/>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2811" y="6228080"/>
            <a:ext cx="646457" cy="344170"/>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69268" y="6228080"/>
            <a:ext cx="646457" cy="344170"/>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TextBox 30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309" name="TextBox 30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10" name="TextBox 30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311" name="TextBox 3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22.2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Hold Level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Hold Level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Hold Level,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Hold Level segment categorizes the market by hold level.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 Hold</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409.0</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869.7</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7.8%</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Strong Hold</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382.1</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772.6</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7.3%</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Light or Flexible Hold</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346.5</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811.3</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8.9%</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Extra-strong Hold</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324.3</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627.5</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6.8%</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No Hold</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309.0</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690.6</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8.4%</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hold level, light or flexible hold segment is expected to witness the highest CAGR of 8.9% over the forecast period. In terms of value share by hold level, the medium hold segment is expected to dominate the market, maintaining its share and accounting for 23.1% share by 2036.</a:t>
            </a:r>
          </a:p>
          <a:p>
            <a:pPr algn="l">
              <a:lnSpc>
                <a:spcPct val="110000"/>
              </a:lnSpc>
              <a:spcBef>
                <a:spcPts val="0"/>
              </a:spcBef>
              <a:spcAft>
                <a:spcPts val="500"/>
              </a:spcAft>
            </a:pPr>
            <a:r>
              <a:rPr sz="1100" b="0">
                <a:solidFill>
                  <a:srgbClr val="2E2E2E"/>
                </a:solidFill>
                <a:latin typeface="Calibri"/>
              </a:rPr>
              <a:t>Medium hold segment is projected to register 1.1X higher value than light or flexible hold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 Hold: </a:t>
            </a:r>
            <a:r>
              <a:rPr sz="1100" b="0">
                <a:solidFill>
                  <a:srgbClr val="2E2E2E"/>
                </a:solidFill>
                <a:latin typeface="Calibri"/>
              </a:rPr>
              <a:t>23% of 2026 value · 7.8%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Strong Hold: </a:t>
            </a:r>
            <a:r>
              <a:rPr sz="1100" b="0">
                <a:solidFill>
                  <a:srgbClr val="2E2E2E"/>
                </a:solidFill>
                <a:latin typeface="Calibri"/>
              </a:rPr>
              <a:t>22% of 2026 value · 7.3%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Light or Flexible Hold: </a:t>
            </a:r>
            <a:r>
              <a:rPr sz="1100" b="0">
                <a:solidFill>
                  <a:srgbClr val="2E2E2E"/>
                </a:solidFill>
                <a:latin typeface="Calibri"/>
              </a:rPr>
              <a:t>20% of 2026 value · 8.9%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Extra-strong Hold: </a:t>
            </a:r>
            <a:r>
              <a:rPr sz="1100" b="0">
                <a:solidFill>
                  <a:srgbClr val="2E2E2E"/>
                </a:solidFill>
                <a:latin typeface="Calibri"/>
              </a:rPr>
              <a:t>18% of 2026 value · 6.8%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No Hold: </a:t>
            </a:r>
            <a:r>
              <a:rPr sz="1100" b="0">
                <a:solidFill>
                  <a:srgbClr val="2E2E2E"/>
                </a:solidFill>
                <a:latin typeface="Calibri"/>
              </a:rPr>
              <a:t>17% of 2026 value · 8.4% CAGR serves a niche.</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Hold Level split shows how demand is distributed across hold level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Hold Level segment is projected to grow at a CAGR of 7.9%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Structure &amp; Attractiveness, By Hold Level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Hold Level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Hold Level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Medium hold followed by light or flexible hold are expected to be the two most attractive hold level segments in the South Asia &amp; Pacific hair styling products market in terms of value over the forecast period. Medium hold and light or flexible hold exhibit a CAGR index of 99.8 and 113.1 and a market share index of 115.5 and 97.8 respectively, against the segment average of 100. The extra-strong hold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Hold Level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No Hold</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Light or Flexible Hold</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Medium Hold</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Strong Hold</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Hold Level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Extra-strong Hold</a:t>
            </a:r>
          </a:p>
        </p:txBody>
      </p:sp>
      <p:graphicFrame>
        <p:nvGraphicFramePr>
          <p:cNvPr id="12" name="Chart 11"/>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South Asia &amp; Pacific Absolute $ Opportunity Analysis, By Hold Level</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light or flexible hold segment is anticipated to witness an increase of 2.3X in terms of value as compared to 2026. The light or flexible hold segment is expected to create an incremental opportunity of US$ 464.8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medium hold segment is expected to create an incremental opportunity of US$ 460.7 Mn for the overall hair styling products market from 2026 to 2036. The strong hold segment is expected to create an incremental opportunity of US$ 390.6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Hold Level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Hold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Hold Level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Analysis, By Hold Level</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Medium hold segment is projected to register 1.1X higher value than light or flexible hold segment in 2036. Among hair styling products by hold level, light or flexible hold segment is expected to witness the highest CAGR of 8.9% over the forecast period.</a:t>
            </a:r>
          </a:p>
          <a:p>
            <a:pPr algn="l">
              <a:lnSpc>
                <a:spcPct val="110000"/>
              </a:lnSpc>
              <a:spcBef>
                <a:spcPts val="0"/>
              </a:spcBef>
              <a:spcAft>
                <a:spcPts val="500"/>
              </a:spcAft>
            </a:pPr>
            <a:r>
              <a:rPr sz="1150" b="0">
                <a:solidFill>
                  <a:srgbClr val="2E2E2E"/>
                </a:solidFill>
                <a:latin typeface="Calibri"/>
              </a:rPr>
              <a:t>In terms of value share by hold level, the medium hold segment is expected to dominate the market, maintaining its share and accounting for 23.1% share by 2036. The extra-strong hold segment is expected to lose 167 BPS over the forecast period to account for 16.6%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&amp; Share Shift, By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Hold Level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Composition, By Hold Level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51610"/>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4684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7064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Extra-strong Hold</a:t>
            </a:r>
          </a:p>
        </p:txBody>
      </p:sp>
      <p:sp>
        <p:nvSpPr>
          <p:cNvPr id="19" name="BPS Value 1"/>
          <p:cNvSpPr txBox="1"/>
          <p:nvPr/>
        </p:nvSpPr>
        <p:spPr>
          <a:xfrm>
            <a:off x="6896100" y="2032560"/>
            <a:ext cx="514350" cy="123825"/>
          </a:xfrm>
          <a:prstGeom prst="rect">
            <a:avLst/>
          </a:prstGeom>
          <a:noFill/>
        </p:spPr>
        <p:txBody>
          <a:bodyPr wrap="none" lIns="0" rIns="0" tIns="0" bIns="0" anchor="ctr">
            <a:spAutoFit/>
          </a:bodyPr>
          <a:lstStyle/>
          <a:p>
            <a:pPr algn="r"/>
            <a:r>
              <a:rPr sz="900" b="1">
                <a:solidFill>
                  <a:srgbClr val="E44D3A"/>
                </a:solidFill>
                <a:latin typeface="Calibri"/>
              </a:rPr>
              <a:t>-167</a:t>
            </a:r>
          </a:p>
        </p:txBody>
      </p:sp>
      <p:sp>
        <p:nvSpPr>
          <p:cNvPr id="20" name="FMI Legend Chip"/>
          <p:cNvSpPr/>
          <p:nvPr/>
        </p:nvSpPr>
        <p:spPr>
          <a:xfrm>
            <a:off x="4928997" y="285055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84579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6959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 Hold</a:t>
            </a:r>
          </a:p>
        </p:txBody>
      </p:sp>
      <p:sp>
        <p:nvSpPr>
          <p:cNvPr id="23" name="BPS Value 2"/>
          <p:cNvSpPr txBox="1"/>
          <p:nvPr/>
        </p:nvSpPr>
        <p:spPr>
          <a:xfrm>
            <a:off x="6896100" y="2831509"/>
            <a:ext cx="514350" cy="123825"/>
          </a:xfrm>
          <a:prstGeom prst="rect">
            <a:avLst/>
          </a:prstGeom>
          <a:noFill/>
        </p:spPr>
        <p:txBody>
          <a:bodyPr wrap="none" lIns="0" rIns="0" tIns="0" bIns="0" anchor="ctr">
            <a:spAutoFit/>
          </a:bodyPr>
          <a:lstStyle/>
          <a:p>
            <a:pPr algn="r"/>
            <a:r>
              <a:rPr sz="900" b="1">
                <a:solidFill>
                  <a:srgbClr val="2E7D32"/>
                </a:solidFill>
                <a:latin typeface="Calibri"/>
              </a:rPr>
              <a:t>+86</a:t>
            </a:r>
          </a:p>
        </p:txBody>
      </p:sp>
      <p:sp>
        <p:nvSpPr>
          <p:cNvPr id="24" name="FMI Legend Chip"/>
          <p:cNvSpPr/>
          <p:nvPr/>
        </p:nvSpPr>
        <p:spPr>
          <a:xfrm>
            <a:off x="4928997" y="373747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73271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65651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Strong Hold</a:t>
            </a:r>
          </a:p>
        </p:txBody>
      </p:sp>
      <p:sp>
        <p:nvSpPr>
          <p:cNvPr id="27" name="BPS Value 3"/>
          <p:cNvSpPr txBox="1"/>
          <p:nvPr/>
        </p:nvSpPr>
        <p:spPr>
          <a:xfrm>
            <a:off x="6896100" y="3718423"/>
            <a:ext cx="514350" cy="123825"/>
          </a:xfrm>
          <a:prstGeom prst="rect">
            <a:avLst/>
          </a:prstGeom>
          <a:noFill/>
        </p:spPr>
        <p:txBody>
          <a:bodyPr wrap="none" lIns="0" rIns="0" tIns="0" bIns="0" anchor="ctr">
            <a:spAutoFit/>
          </a:bodyPr>
          <a:lstStyle/>
          <a:p>
            <a:pPr algn="r"/>
            <a:r>
              <a:rPr sz="900" b="1">
                <a:solidFill>
                  <a:srgbClr val="E44D3A"/>
                </a:solidFill>
                <a:latin typeface="Calibri"/>
              </a:rPr>
              <a:t>-109</a:t>
            </a:r>
          </a:p>
        </p:txBody>
      </p:sp>
      <p:sp>
        <p:nvSpPr>
          <p:cNvPr id="28" name="FMI Legend Chip"/>
          <p:cNvSpPr/>
          <p:nvPr/>
        </p:nvSpPr>
        <p:spPr>
          <a:xfrm>
            <a:off x="4928997" y="469754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469278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61658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Light or Flexible Hold</a:t>
            </a:r>
          </a:p>
        </p:txBody>
      </p:sp>
      <p:sp>
        <p:nvSpPr>
          <p:cNvPr id="31" name="BPS Value 4"/>
          <p:cNvSpPr txBox="1"/>
          <p:nvPr/>
        </p:nvSpPr>
        <p:spPr>
          <a:xfrm>
            <a:off x="6896100" y="4678496"/>
            <a:ext cx="514350" cy="123825"/>
          </a:xfrm>
          <a:prstGeom prst="rect">
            <a:avLst/>
          </a:prstGeom>
          <a:noFill/>
        </p:spPr>
        <p:txBody>
          <a:bodyPr wrap="none" lIns="0" rIns="0" tIns="0" bIns="0" anchor="ctr">
            <a:spAutoFit/>
          </a:bodyPr>
          <a:lstStyle/>
          <a:p>
            <a:pPr algn="r"/>
            <a:r>
              <a:rPr sz="900" b="1">
                <a:solidFill>
                  <a:srgbClr val="2E7D32"/>
                </a:solidFill>
                <a:latin typeface="Calibri"/>
              </a:rPr>
              <a:t>+194</a:t>
            </a:r>
          </a:p>
        </p:txBody>
      </p:sp>
      <p:sp>
        <p:nvSpPr>
          <p:cNvPr id="32" name="FMI Legend Chip"/>
          <p:cNvSpPr/>
          <p:nvPr/>
        </p:nvSpPr>
        <p:spPr>
          <a:xfrm>
            <a:off x="4928997" y="571646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571170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3550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 Hold</a:t>
            </a:r>
          </a:p>
        </p:txBody>
      </p:sp>
      <p:sp>
        <p:nvSpPr>
          <p:cNvPr id="35" name="BPS Value 5"/>
          <p:cNvSpPr txBox="1"/>
          <p:nvPr/>
        </p:nvSpPr>
        <p:spPr>
          <a:xfrm>
            <a:off x="6896100" y="5697419"/>
            <a:ext cx="514350" cy="123825"/>
          </a:xfrm>
          <a:prstGeom prst="rect">
            <a:avLst/>
          </a:prstGeom>
          <a:noFill/>
        </p:spPr>
        <p:txBody>
          <a:bodyPr wrap="none" lIns="0" rIns="0" tIns="0" bIns="0" anchor="ctr">
            <a:spAutoFit/>
          </a:bodyPr>
          <a:lstStyle/>
          <a:p>
            <a:pPr algn="r"/>
            <a:r>
              <a:rPr sz="900" b="1">
                <a:solidFill>
                  <a:srgbClr val="E44D3A"/>
                </a:solidFill>
                <a:latin typeface="Calibri"/>
              </a:rPr>
              <a:t>-4</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Read-out, By Hold Level</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hold level, light or flexible hold segment is expected to witness the highest CAGR of 8.9% over the forecast period. In terms of value share by hold level, the medium hold segment is expected to dominate the market, maintaining its share and accounting for 23.1% share by 2036.</a:t>
            </a:r>
          </a:p>
          <a:p>
            <a:pPr algn="l">
              <a:lnSpc>
                <a:spcPct val="110000"/>
              </a:lnSpc>
              <a:spcBef>
                <a:spcPts val="0"/>
              </a:spcBef>
              <a:spcAft>
                <a:spcPts val="500"/>
              </a:spcAft>
            </a:pPr>
            <a:r>
              <a:rPr sz="1150" b="0">
                <a:solidFill>
                  <a:srgbClr val="2E2E2E"/>
                </a:solidFill>
                <a:latin typeface="Calibri"/>
              </a:rPr>
              <a:t>The extra-strong hold segment is expected to lose 167 BPS over the forecast period to account for 16.6%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Hold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Hold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Growth,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Heatmap, By Hold Level (%)  ·  light = lower, dark = higher growth</a:t>
            </a:r>
          </a:p>
        </p:txBody>
      </p:sp>
      <p:sp>
        <p:nvSpPr>
          <p:cNvPr id="17" name="TextBox 16"/>
          <p:cNvSpPr txBox="1"/>
          <p:nvPr/>
        </p:nvSpPr>
        <p:spPr>
          <a:xfrm>
            <a:off x="12532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193743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6215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305762"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398992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674089"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35825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042416"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726580"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41074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094907"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7790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463234"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1473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3156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No Hold</a:t>
            </a:r>
          </a:p>
        </p:txBody>
      </p:sp>
      <p:sp>
        <p:nvSpPr>
          <p:cNvPr id="33" name="Rectangle 32"/>
          <p:cNvSpPr/>
          <p:nvPr/>
        </p:nvSpPr>
        <p:spPr>
          <a:xfrm>
            <a:off x="1253271" y="3305175"/>
            <a:ext cx="684164"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937435" y="3305175"/>
            <a:ext cx="684164" cy="65341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621598" y="3305175"/>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305762" y="3305175"/>
            <a:ext cx="684164" cy="65341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89925" y="3305175"/>
            <a:ext cx="684164" cy="65341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74089" y="3305175"/>
            <a:ext cx="684164" cy="65341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358253" y="3305175"/>
            <a:ext cx="684164" cy="653415"/>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042416" y="3305175"/>
            <a:ext cx="684164" cy="653415"/>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726580" y="3305175"/>
            <a:ext cx="684164" cy="65341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410743" y="3305175"/>
            <a:ext cx="684164" cy="653415"/>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94907" y="3305175"/>
            <a:ext cx="684164" cy="653415"/>
          </a:xfrm>
          <a:prstGeom prst="rect">
            <a:avLst/>
          </a:prstGeom>
          <a:solidFill>
            <a:srgbClr val="0E6B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79071" y="3305175"/>
            <a:ext cx="684164" cy="653415"/>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63234" y="3305175"/>
            <a:ext cx="684164" cy="653415"/>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47398" y="3305175"/>
            <a:ext cx="684164" cy="653415"/>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31561" y="3305175"/>
            <a:ext cx="684164" cy="653415"/>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Light or Flexible Hold</a:t>
            </a:r>
          </a:p>
        </p:txBody>
      </p:sp>
      <p:sp>
        <p:nvSpPr>
          <p:cNvPr id="49" name="Rectangle 48"/>
          <p:cNvSpPr/>
          <p:nvPr/>
        </p:nvSpPr>
        <p:spPr>
          <a:xfrm>
            <a:off x="1253271" y="3958590"/>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937435" y="3958590"/>
            <a:ext cx="684164" cy="65341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621598" y="3958590"/>
            <a:ext cx="684164" cy="65341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305762" y="3958590"/>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89925" y="3958590"/>
            <a:ext cx="684164" cy="653415"/>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74089" y="3958590"/>
            <a:ext cx="684164" cy="653415"/>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358253" y="3958590"/>
            <a:ext cx="684164" cy="653415"/>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042416" y="3958590"/>
            <a:ext cx="684164" cy="653415"/>
          </a:xfrm>
          <a:prstGeom prst="rect">
            <a:avLst/>
          </a:prstGeom>
          <a:solidFill>
            <a:srgbClr val="4E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726580" y="3958590"/>
            <a:ext cx="684164" cy="653415"/>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410743" y="3958590"/>
            <a:ext cx="684164" cy="653415"/>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94907" y="3958590"/>
            <a:ext cx="684164"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79071" y="3958590"/>
            <a:ext cx="684164" cy="653415"/>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63234" y="3958590"/>
            <a:ext cx="684164" cy="653415"/>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47398" y="3958590"/>
            <a:ext cx="684164" cy="653415"/>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31561" y="3958590"/>
            <a:ext cx="684164" cy="653415"/>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Medium Hold</a:t>
            </a:r>
          </a:p>
        </p:txBody>
      </p:sp>
      <p:sp>
        <p:nvSpPr>
          <p:cNvPr id="65" name="Rectangle 64"/>
          <p:cNvSpPr/>
          <p:nvPr/>
        </p:nvSpPr>
        <p:spPr>
          <a:xfrm>
            <a:off x="1253271" y="4612005"/>
            <a:ext cx="684164" cy="653415"/>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937435" y="4612005"/>
            <a:ext cx="684164" cy="653415"/>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621598" y="4612005"/>
            <a:ext cx="684164" cy="653415"/>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305762" y="4612005"/>
            <a:ext cx="684164" cy="653415"/>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89925" y="4612005"/>
            <a:ext cx="684164" cy="653415"/>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74089" y="4612005"/>
            <a:ext cx="684164" cy="653415"/>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358253" y="4612005"/>
            <a:ext cx="684164" cy="653415"/>
          </a:xfrm>
          <a:prstGeom prst="rect">
            <a:avLst/>
          </a:prstGeom>
          <a:solidFill>
            <a:srgbClr val="7C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042416" y="4612005"/>
            <a:ext cx="684164" cy="653415"/>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726580" y="4612005"/>
            <a:ext cx="684164" cy="653415"/>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410743" y="4612005"/>
            <a:ext cx="684164" cy="653415"/>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94907" y="4612005"/>
            <a:ext cx="684164" cy="653415"/>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79071" y="4612005"/>
            <a:ext cx="684164" cy="65341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63234" y="4612005"/>
            <a:ext cx="684164" cy="653415"/>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47398" y="4612005"/>
            <a:ext cx="684164" cy="653415"/>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31561" y="4612005"/>
            <a:ext cx="684164" cy="653415"/>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Strong Hold</a:t>
            </a:r>
          </a:p>
        </p:txBody>
      </p:sp>
      <p:sp>
        <p:nvSpPr>
          <p:cNvPr id="81" name="Rectangle 80"/>
          <p:cNvSpPr/>
          <p:nvPr/>
        </p:nvSpPr>
        <p:spPr>
          <a:xfrm>
            <a:off x="1253271" y="5265420"/>
            <a:ext cx="684164" cy="653415"/>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937435" y="5265420"/>
            <a:ext cx="684164" cy="65341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621598" y="5265420"/>
            <a:ext cx="684164"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305762" y="5265420"/>
            <a:ext cx="684164" cy="653415"/>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989925" y="5265420"/>
            <a:ext cx="684164" cy="653415"/>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674089" y="5265420"/>
            <a:ext cx="684164" cy="653415"/>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358253" y="5265420"/>
            <a:ext cx="684164" cy="653415"/>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042416" y="5265420"/>
            <a:ext cx="684164" cy="653415"/>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726580" y="5265420"/>
            <a:ext cx="684164" cy="653415"/>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410743" y="5265420"/>
            <a:ext cx="684164" cy="653415"/>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094907" y="5265420"/>
            <a:ext cx="684164" cy="653415"/>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779071" y="5265420"/>
            <a:ext cx="684164" cy="65341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463234" y="5265420"/>
            <a:ext cx="684164" cy="653415"/>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47398" y="5265420"/>
            <a:ext cx="684164" cy="653415"/>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31561" y="5265420"/>
            <a:ext cx="684164" cy="653415"/>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Extra-strong Hold</a:t>
            </a:r>
          </a:p>
        </p:txBody>
      </p:sp>
      <p:sp>
        <p:nvSpPr>
          <p:cNvPr id="97" name="Rectangle 96"/>
          <p:cNvSpPr/>
          <p:nvPr/>
        </p:nvSpPr>
        <p:spPr>
          <a:xfrm>
            <a:off x="1253271" y="5918835"/>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937435" y="5918835"/>
            <a:ext cx="684164" cy="65341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621598" y="5918835"/>
            <a:ext cx="684164" cy="653415"/>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305762" y="5918835"/>
            <a:ext cx="684164" cy="65341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989925" y="5918835"/>
            <a:ext cx="684164" cy="653415"/>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674089" y="5918835"/>
            <a:ext cx="684164" cy="65341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358253" y="5918835"/>
            <a:ext cx="684164" cy="653415"/>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042416" y="5918835"/>
            <a:ext cx="684164" cy="653415"/>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726580" y="5918835"/>
            <a:ext cx="684164" cy="653415"/>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410743" y="5918835"/>
            <a:ext cx="684164" cy="653415"/>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094907" y="5918835"/>
            <a:ext cx="684164" cy="653415"/>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779071" y="5918835"/>
            <a:ext cx="684164" cy="653415"/>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463234" y="5918835"/>
            <a:ext cx="684164" cy="653415"/>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47398" y="5918835"/>
            <a:ext cx="684164" cy="653415"/>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31561" y="5918835"/>
            <a:ext cx="684164" cy="653415"/>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22.3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Finish</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Finish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Finish,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Finish segment categorizes the market by finish.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Natural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605.4</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1,215</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7.2%</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Glossy or Wet-look</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584.5</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1,328</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8.6%</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Matte</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581.1</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1,229</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7.8%</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finish, glossy or wet-look segment is expected to witness the highest CAGR of 8.6% over the forecast period. In terms of value share by finish, the glossy or wet-look segment is expected to dominate the market, gaining 221 BPS and accounting for 35.2% share by 2036.</a:t>
            </a:r>
          </a:p>
          <a:p>
            <a:pPr algn="l">
              <a:lnSpc>
                <a:spcPct val="110000"/>
              </a:lnSpc>
              <a:spcBef>
                <a:spcPts val="0"/>
              </a:spcBef>
              <a:spcAft>
                <a:spcPts val="500"/>
              </a:spcAft>
            </a:pPr>
            <a:r>
              <a:rPr sz="1100" b="0">
                <a:solidFill>
                  <a:srgbClr val="2E2E2E"/>
                </a:solidFill>
                <a:latin typeface="Calibri"/>
              </a:rPr>
              <a:t>Glossy or wet-look segment is projected to register 1.1X higher value than matte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Natural: </a:t>
            </a:r>
            <a:r>
              <a:rPr sz="1100" b="0">
                <a:solidFill>
                  <a:srgbClr val="2E2E2E"/>
                </a:solidFill>
                <a:latin typeface="Calibri"/>
              </a:rPr>
              <a:t>34% of 2026 value · 7.2%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Glossy or Wet-look: </a:t>
            </a:r>
            <a:r>
              <a:rPr sz="1100" b="0">
                <a:solidFill>
                  <a:srgbClr val="2E2E2E"/>
                </a:solidFill>
                <a:latin typeface="Calibri"/>
              </a:rPr>
              <a:t>33% of 2026 value · 8.6%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Matte: </a:t>
            </a:r>
            <a:r>
              <a:rPr sz="1100" b="0">
                <a:solidFill>
                  <a:srgbClr val="2E2E2E"/>
                </a:solidFill>
                <a:latin typeface="Calibri"/>
              </a:rPr>
              <a:t>33% of 2026 value · 7.8% CAGR serves a niche.</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Finish split shows how demand is distributed across finish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Finish segment is projected to grow at a CAGR of 7.9%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Structure &amp; Attractiveness, By Finish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Finish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Finish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Glossy or wet-look followed by matte are expected to be the two most attractive finish segments in the South Asia &amp; Pacific hair styling products market in terms of value over the forecast period. Glossy or wet-look and matte exhibit a CAGR index of 108.9 and 99.0 and a market share index of 99.0 and 98.4 respectively, against the segment average of 100. The natural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Finish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Matte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Natural</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Glossy or Wet-look</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South Asia &amp; Pacific Absolute $ Opportunity Analysis, By Finish</a:t>
            </a:r>
          </a:p>
        </p:txBody>
      </p:sp>
      <p:sp>
        <p:nvSpPr>
          <p:cNvPr id="22" name="Rectangle 21"/>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glossy or wet-look segment is anticipated to witness an increase of 2.3X in terms of value as compared to 2026. The glossy or wet-look segment is expected to create an incremental opportunity of US$ 743.5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matte segment is expected to create an incremental opportunity of US$ 647.6 Mn for the overall hair styling products market from 2026 to 2036. The natural segment is expected to create an incremental opportunity of US$ 609.7 Mn for the overall hair styling products market from 2026 to 2036.</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Finish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Finish,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Finish (US$ Mn)</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74320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Analysis, By Finish</a:t>
            </a:r>
          </a:p>
        </p:txBody>
      </p:sp>
      <p:sp>
        <p:nvSpPr>
          <p:cNvPr id="17" name="Rectangle 16"/>
          <p:cNvSpPr/>
          <p:nvPr/>
        </p:nvSpPr>
        <p:spPr>
          <a:xfrm>
            <a:off x="276225" y="2981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067050"/>
            <a:ext cx="11639550" cy="3486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Glossy or wet-look segment is projected to register 1.1X higher value than matte segment in 2036. Among hair styling products by finish, glossy or wet-look segment is expected to witness the highest CAGR of 8.6% over the forecast period.</a:t>
            </a:r>
          </a:p>
          <a:p>
            <a:pPr algn="l">
              <a:lnSpc>
                <a:spcPct val="110000"/>
              </a:lnSpc>
              <a:spcBef>
                <a:spcPts val="0"/>
              </a:spcBef>
              <a:spcAft>
                <a:spcPts val="500"/>
              </a:spcAft>
            </a:pPr>
            <a:r>
              <a:rPr sz="1150" b="0">
                <a:solidFill>
                  <a:srgbClr val="2E2E2E"/>
                </a:solidFill>
                <a:latin typeface="Calibri"/>
              </a:rPr>
              <a:t>In terms of value share by finish, the glossy or wet-look segment is expected to dominate the market, gaining 221 BPS and accounting for 35.2% share by 2036. The natural segment is expected to lose 197 BPS over the forecast period to account for 32.2%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&amp; Share Shift,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Finish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Composition, By Finish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40776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40300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32680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Natural</a:t>
            </a:r>
          </a:p>
        </p:txBody>
      </p:sp>
      <p:sp>
        <p:nvSpPr>
          <p:cNvPr id="19" name="BPS Value 1"/>
          <p:cNvSpPr txBox="1"/>
          <p:nvPr/>
        </p:nvSpPr>
        <p:spPr>
          <a:xfrm>
            <a:off x="6896100" y="2388714"/>
            <a:ext cx="514350" cy="123825"/>
          </a:xfrm>
          <a:prstGeom prst="rect">
            <a:avLst/>
          </a:prstGeom>
          <a:noFill/>
        </p:spPr>
        <p:txBody>
          <a:bodyPr wrap="none" lIns="0" rIns="0" tIns="0" bIns="0" anchor="ctr">
            <a:spAutoFit/>
          </a:bodyPr>
          <a:lstStyle/>
          <a:p>
            <a:pPr algn="r"/>
            <a:r>
              <a:rPr sz="900" b="1">
                <a:solidFill>
                  <a:srgbClr val="E44D3A"/>
                </a:solidFill>
                <a:latin typeface="Calibri"/>
              </a:rPr>
              <a:t>-197</a:t>
            </a:r>
          </a:p>
        </p:txBody>
      </p:sp>
      <p:sp>
        <p:nvSpPr>
          <p:cNvPr id="20" name="FMI Legend Chip"/>
          <p:cNvSpPr/>
          <p:nvPr/>
        </p:nvSpPr>
        <p:spPr>
          <a:xfrm>
            <a:off x="4928997" y="388903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88426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80806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Matte</a:t>
            </a:r>
          </a:p>
        </p:txBody>
      </p:sp>
      <p:sp>
        <p:nvSpPr>
          <p:cNvPr id="23" name="BPS Value 2"/>
          <p:cNvSpPr txBox="1"/>
          <p:nvPr/>
        </p:nvSpPr>
        <p:spPr>
          <a:xfrm>
            <a:off x="6896100" y="3869981"/>
            <a:ext cx="514350" cy="123825"/>
          </a:xfrm>
          <a:prstGeom prst="rect">
            <a:avLst/>
          </a:prstGeom>
          <a:noFill/>
        </p:spPr>
        <p:txBody>
          <a:bodyPr wrap="none" lIns="0" rIns="0" tIns="0" bIns="0" anchor="ctr">
            <a:spAutoFit/>
          </a:bodyPr>
          <a:lstStyle/>
          <a:p>
            <a:pPr algn="r"/>
            <a:r>
              <a:rPr sz="900" b="1">
                <a:solidFill>
                  <a:srgbClr val="E44D3A"/>
                </a:solidFill>
                <a:latin typeface="Calibri"/>
              </a:rPr>
              <a:t>-24</a:t>
            </a:r>
          </a:p>
        </p:txBody>
      </p:sp>
      <p:sp>
        <p:nvSpPr>
          <p:cNvPr id="24" name="FMI Legend Chip"/>
          <p:cNvSpPr/>
          <p:nvPr/>
        </p:nvSpPr>
        <p:spPr>
          <a:xfrm>
            <a:off x="4928997" y="543871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543395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35775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Glossy or Wet-look</a:t>
            </a:r>
          </a:p>
        </p:txBody>
      </p:sp>
      <p:sp>
        <p:nvSpPr>
          <p:cNvPr id="27" name="BPS Value 3"/>
          <p:cNvSpPr txBox="1"/>
          <p:nvPr/>
        </p:nvSpPr>
        <p:spPr>
          <a:xfrm>
            <a:off x="6896100" y="5419664"/>
            <a:ext cx="514350" cy="123825"/>
          </a:xfrm>
          <a:prstGeom prst="rect">
            <a:avLst/>
          </a:prstGeom>
          <a:noFill/>
        </p:spPr>
        <p:txBody>
          <a:bodyPr wrap="none" lIns="0" rIns="0" tIns="0" bIns="0" anchor="ctr">
            <a:spAutoFit/>
          </a:bodyPr>
          <a:lstStyle/>
          <a:p>
            <a:pPr algn="r"/>
            <a:r>
              <a:rPr sz="900" b="1">
                <a:solidFill>
                  <a:srgbClr val="2E7D32"/>
                </a:solidFill>
                <a:latin typeface="Calibri"/>
              </a:rPr>
              <a:t>+221</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Read-out, By Finish</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finish, glossy or wet-look segment is expected to witness the highest CAGR of 8.6% over the forecast period. In terms of value share by finish, the glossy or wet-look segment is expected to dominate the market, gaining 221 BPS and accounting for 35.2% share by 2036.</a:t>
            </a:r>
          </a:p>
          <a:p>
            <a:pPr algn="l">
              <a:lnSpc>
                <a:spcPct val="110000"/>
              </a:lnSpc>
              <a:spcBef>
                <a:spcPts val="0"/>
              </a:spcBef>
              <a:spcAft>
                <a:spcPts val="500"/>
              </a:spcAft>
            </a:pPr>
            <a:r>
              <a:rPr sz="1150" b="0">
                <a:solidFill>
                  <a:srgbClr val="2E2E2E"/>
                </a:solidFill>
                <a:latin typeface="Calibri"/>
              </a:rPr>
              <a:t>The natural segment is expected to lose 197 BPS over the forecast period to account for 32.2% share by 2036.</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Finish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Finish,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Growth,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5050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Heatmap, By Finish (%)  ·  light = lower, dark = higher growth</a:t>
            </a:r>
          </a:p>
        </p:txBody>
      </p:sp>
      <p:sp>
        <p:nvSpPr>
          <p:cNvPr id="17" name="TextBox 16"/>
          <p:cNvSpPr txBox="1"/>
          <p:nvPr/>
        </p:nvSpPr>
        <p:spPr>
          <a:xfrm>
            <a:off x="115183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84276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53368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22461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91553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60646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29739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98831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67924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37016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806109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75202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44294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3387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2479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28765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Matte</a:t>
            </a:r>
          </a:p>
        </p:txBody>
      </p:sp>
      <p:sp>
        <p:nvSpPr>
          <p:cNvPr id="33" name="Rectangle 32"/>
          <p:cNvSpPr/>
          <p:nvPr/>
        </p:nvSpPr>
        <p:spPr>
          <a:xfrm>
            <a:off x="1151835" y="2876550"/>
            <a:ext cx="690926" cy="1231900"/>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842761" y="2876550"/>
            <a:ext cx="690926" cy="1231900"/>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533687" y="2876550"/>
            <a:ext cx="690926" cy="1231900"/>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224613" y="2876550"/>
            <a:ext cx="690926" cy="123190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15539" y="2876550"/>
            <a:ext cx="690926" cy="123190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06465" y="2876550"/>
            <a:ext cx="690926" cy="123190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297391" y="2876550"/>
            <a:ext cx="690926" cy="1231900"/>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988317" y="2876550"/>
            <a:ext cx="690926" cy="1231900"/>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679243" y="2876550"/>
            <a:ext cx="690926" cy="1231900"/>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370169" y="2876550"/>
            <a:ext cx="690926" cy="1231900"/>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61095" y="2876550"/>
            <a:ext cx="690926" cy="1231900"/>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52021" y="2876550"/>
            <a:ext cx="690926" cy="1231900"/>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42947" y="2876550"/>
            <a:ext cx="690926" cy="1231900"/>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33873" y="2876550"/>
            <a:ext cx="690926" cy="1231900"/>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24799" y="2876550"/>
            <a:ext cx="690926" cy="1231900"/>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084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Natural</a:t>
            </a:r>
          </a:p>
        </p:txBody>
      </p:sp>
      <p:sp>
        <p:nvSpPr>
          <p:cNvPr id="49" name="Rectangle 48"/>
          <p:cNvSpPr/>
          <p:nvPr/>
        </p:nvSpPr>
        <p:spPr>
          <a:xfrm>
            <a:off x="1151835" y="4108450"/>
            <a:ext cx="690926" cy="1231900"/>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842761" y="4108450"/>
            <a:ext cx="690926" cy="123190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533687" y="4108450"/>
            <a:ext cx="690926" cy="1231900"/>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224613" y="4108450"/>
            <a:ext cx="690926" cy="123190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15539" y="4108450"/>
            <a:ext cx="690926" cy="123190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06465" y="4108450"/>
            <a:ext cx="690926" cy="1231900"/>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297391" y="4108450"/>
            <a:ext cx="690926" cy="123190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988317" y="4108450"/>
            <a:ext cx="690926" cy="1231900"/>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679243" y="4108450"/>
            <a:ext cx="690926" cy="1231900"/>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370169" y="4108450"/>
            <a:ext cx="690926" cy="1231900"/>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61095" y="4108450"/>
            <a:ext cx="690926" cy="1231900"/>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52021" y="4108450"/>
            <a:ext cx="690926" cy="1231900"/>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42947" y="4108450"/>
            <a:ext cx="690926" cy="1231900"/>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33873" y="4108450"/>
            <a:ext cx="690926" cy="1231900"/>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24799" y="4108450"/>
            <a:ext cx="690926" cy="1231900"/>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403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Glossy or Wet-look</a:t>
            </a:r>
          </a:p>
        </p:txBody>
      </p:sp>
      <p:sp>
        <p:nvSpPr>
          <p:cNvPr id="65" name="Rectangle 64"/>
          <p:cNvSpPr/>
          <p:nvPr/>
        </p:nvSpPr>
        <p:spPr>
          <a:xfrm>
            <a:off x="1151835" y="5340350"/>
            <a:ext cx="690926" cy="1231900"/>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842761" y="5340350"/>
            <a:ext cx="690926" cy="1231900"/>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533687" y="5340350"/>
            <a:ext cx="690926" cy="12319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224613" y="5340350"/>
            <a:ext cx="690926" cy="123190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15539" y="5340350"/>
            <a:ext cx="690926" cy="123190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06465" y="5340350"/>
            <a:ext cx="690926" cy="1231900"/>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297391" y="5340350"/>
            <a:ext cx="690926" cy="1231900"/>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988317" y="5340350"/>
            <a:ext cx="690926" cy="1231900"/>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679243" y="5340350"/>
            <a:ext cx="690926" cy="1231900"/>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370169" y="5340350"/>
            <a:ext cx="690926" cy="1231900"/>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61095" y="5340350"/>
            <a:ext cx="690926" cy="1231900"/>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52021" y="5340350"/>
            <a:ext cx="690926" cy="1231900"/>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42947" y="5340350"/>
            <a:ext cx="690926" cy="12319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33873" y="5340350"/>
            <a:ext cx="690926" cy="1231900"/>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24799" y="5340350"/>
            <a:ext cx="690926" cy="1231900"/>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2914650"/>
            <a:ext cx="104775" cy="98108"/>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005138"/>
            <a:ext cx="104775" cy="98108"/>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095625"/>
            <a:ext cx="104775" cy="98108"/>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186112"/>
            <a:ext cx="104775" cy="98108"/>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276600"/>
            <a:ext cx="104775" cy="98108"/>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367088"/>
            <a:ext cx="104775" cy="98108"/>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457575"/>
            <a:ext cx="104775" cy="98108"/>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548062"/>
            <a:ext cx="104775" cy="98108"/>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638550"/>
            <a:ext cx="104775" cy="98108"/>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729038"/>
            <a:ext cx="104775" cy="98108"/>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819525"/>
            <a:ext cx="104775" cy="98108"/>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10012"/>
            <a:ext cx="104775" cy="98108"/>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00500"/>
            <a:ext cx="104775" cy="98108"/>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090988"/>
            <a:ext cx="104775" cy="98108"/>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181475"/>
            <a:ext cx="104775" cy="98108"/>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271962"/>
            <a:ext cx="104775" cy="98108"/>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362450"/>
            <a:ext cx="104775" cy="98108"/>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452938"/>
            <a:ext cx="104775" cy="98108"/>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543425"/>
            <a:ext cx="104775" cy="98108"/>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33912"/>
            <a:ext cx="104775" cy="98108"/>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24400"/>
            <a:ext cx="104775" cy="98108"/>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14888"/>
            <a:ext cx="104775" cy="98108"/>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05375"/>
            <a:ext cx="104775" cy="98108"/>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4995862"/>
            <a:ext cx="104775" cy="98108"/>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086350"/>
            <a:ext cx="104775" cy="98108"/>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176838"/>
            <a:ext cx="104775" cy="98108"/>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267325"/>
            <a:ext cx="104775" cy="98108"/>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57812"/>
            <a:ext cx="104775" cy="98108"/>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48300"/>
            <a:ext cx="104775" cy="98108"/>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38788"/>
            <a:ext cx="104775" cy="98108"/>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29275"/>
            <a:ext cx="104775" cy="98108"/>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19762"/>
            <a:ext cx="104775" cy="98108"/>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10250"/>
            <a:ext cx="104775" cy="98108"/>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00738"/>
            <a:ext cx="104775" cy="98108"/>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5991225"/>
            <a:ext cx="104775" cy="98108"/>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81712"/>
            <a:ext cx="104775" cy="98108"/>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72200"/>
            <a:ext cx="104775" cy="98108"/>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62688"/>
            <a:ext cx="104775" cy="98108"/>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3175"/>
            <a:ext cx="104775" cy="98108"/>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3662"/>
            <a:ext cx="104775" cy="98108"/>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2914650"/>
            <a:ext cx="104775" cy="36195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84797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22" name="TextBox 121"/>
          <p:cNvSpPr txBox="1"/>
          <p:nvPr/>
        </p:nvSpPr>
        <p:spPr>
          <a:xfrm>
            <a:off x="11687175" y="46577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22.4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Mass Retail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394.6</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753.7</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6.7%</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Marketplaces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329.3</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795.4</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9.2%</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Salon and Professional Distributi…</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311.2</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640.5</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7.5%</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distribution channel, online marketplaces segment is expected to witness the highest CAGR of 9.2% over the forecast period. In terms of value share by distribution channel, the online marketplaces segment is expected to dominate the market, gaining 250 BPS and accounting for 21.1% share by 2036.</a:t>
            </a:r>
          </a:p>
          <a:p>
            <a:pPr algn="l">
              <a:lnSpc>
                <a:spcPct val="110000"/>
              </a:lnSpc>
              <a:spcBef>
                <a:spcPts val="0"/>
              </a:spcBef>
              <a:spcAft>
                <a:spcPts val="500"/>
              </a:spcAft>
            </a:pPr>
            <a:r>
              <a:rPr sz="1100" b="0">
                <a:solidFill>
                  <a:srgbClr val="2E2E2E"/>
                </a:solidFill>
                <a:latin typeface="Calibri"/>
              </a:rPr>
              <a:t>Online marketplaces segment is projected to register 1.1X higher value than mass retail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Mass Retail: </a:t>
            </a:r>
            <a:r>
              <a:rPr sz="1100" b="0">
                <a:solidFill>
                  <a:srgbClr val="2E2E2E"/>
                </a:solidFill>
                <a:latin typeface="Calibri"/>
              </a:rPr>
              <a:t>22% of 2026 value · 6.7%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Online Marketplaces: </a:t>
            </a:r>
            <a:r>
              <a:rPr sz="1100" b="0">
                <a:solidFill>
                  <a:srgbClr val="2E2E2E"/>
                </a:solidFill>
                <a:latin typeface="Calibri"/>
              </a:rPr>
              <a:t>19% of 2026 value · 9.2%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Salon and Professional Distribution: </a:t>
            </a:r>
            <a:r>
              <a:rPr sz="1100" b="0">
                <a:solidFill>
                  <a:srgbClr val="2E2E2E"/>
                </a:solidFill>
                <a:latin typeface="Calibri"/>
              </a:rPr>
              <a:t>18% of 2026 value · 7.5% CAGR serves a niche.</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Distribution Channel segment is projected to grow at a CAGR of 7.9%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Beauty Specialty Retail</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264.6</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579.7</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8.2%</a:t>
            </a:r>
          </a:p>
        </p:txBody>
      </p:sp>
      <p:sp>
        <p:nvSpPr>
          <p:cNvPr id="25" name="Oval 24"/>
          <p:cNvSpPr/>
          <p:nvPr/>
        </p:nvSpPr>
        <p:spPr>
          <a:xfrm>
            <a:off x="333375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26" name="Rounded Rectangle 25"/>
          <p:cNvSpPr/>
          <p:nvPr/>
        </p:nvSpPr>
        <p:spPr>
          <a:xfrm>
            <a:off x="523875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Pharmacies and Drugstores</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258.6</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510.6</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7.0%</a:t>
            </a:r>
          </a:p>
        </p:txBody>
      </p:sp>
      <p:sp>
        <p:nvSpPr>
          <p:cNvPr id="32" name="Oval 31"/>
          <p:cNvSpPr/>
          <p:nvPr/>
        </p:nvSpPr>
        <p:spPr>
          <a:xfrm>
            <a:off x="670560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33" name="Rounded Rectangle 32"/>
          <p:cNvSpPr/>
          <p:nvPr/>
        </p:nvSpPr>
        <p:spPr>
          <a:xfrm>
            <a:off x="861060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Brand-owned Online Stores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212.7</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491.8</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8.7%</a:t>
            </a:r>
          </a:p>
        </p:txBody>
      </p:sp>
      <p:sp>
        <p:nvSpPr>
          <p:cNvPr id="39" name="Oval 38"/>
          <p:cNvSpPr/>
          <p:nvPr/>
        </p:nvSpPr>
        <p:spPr>
          <a:xfrm>
            <a:off x="1007745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Beauty Specialty Retail: </a:t>
            </a:r>
            <a:r>
              <a:rPr sz="1100" b="0">
                <a:solidFill>
                  <a:srgbClr val="2E2E2E"/>
                </a:solidFill>
                <a:latin typeface="Calibri"/>
              </a:rPr>
              <a:t>15% of 2026 value · 8.2%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Pharmacies and Drugstores: </a:t>
            </a:r>
            <a:r>
              <a:rPr sz="1100" b="0">
                <a:solidFill>
                  <a:srgbClr val="2E2E2E"/>
                </a:solidFill>
                <a:latin typeface="Calibri"/>
              </a:rPr>
              <a:t>15% of 2026 value · 7.0%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Brand-owned Online Stores: </a:t>
            </a:r>
            <a:r>
              <a:rPr sz="1100" b="0">
                <a:solidFill>
                  <a:srgbClr val="2E2E2E"/>
                </a:solidFill>
                <a:latin typeface="Calibri"/>
              </a:rPr>
              <a:t>12% of 2026 value · 8.7% CAGR serves a niche.</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Online marketplaces followed by mass retail are expected to be the two most attractive distribution channel segments in the South Asia &amp; Pacific hair styling products market in terms of value over the forecast period. Online marketplaces and mass retail exhibit a CAGR index of 117.4 and 85.1 and a market share index of 111.6 and 133.7 respectively, against the segment average of 100. The pharmacies and drugstores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Distribution Channel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Mass Retail</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Beauty Specialty Retail</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Salon and Professional Distribution</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Pharmacies and Drugstores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Distribution Channel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Online Marketplaces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Brand-owned Online Stores</a:t>
            </a:r>
          </a:p>
        </p:txBody>
      </p:sp>
      <p:graphicFrame>
        <p:nvGraphicFramePr>
          <p:cNvPr id="15" name="Chart 14"/>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South Asia &amp; Pacific Absolute $ Opportunity Analysis, By Distribution Channel</a:t>
            </a:r>
          </a:p>
        </p:txBody>
      </p:sp>
      <p:sp>
        <p:nvSpPr>
          <p:cNvPr id="18" name="Rectangle 17"/>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online marketplaces segment is anticipated to witness an increase of 2.4X in terms of value as compared to 2026. The online marketplaces segment is expected to create an incremental opportunity of US$ 466.2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mass retail segment is expected to create an incremental opportunity of US$ 359.1 Mn for the overall hair styling products market from 2026 to 2036. The salon and professional distribution segment is expected to create an incremental opportunity of US$ 329.4 Mn for the overall hair styling products market from 2026 to 2036.</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Distribution Channel (US$ Mn)</a:t>
            </a:r>
          </a:p>
        </p:txBody>
      </p:sp>
      <p:graphicFrame>
        <p:nvGraphicFramePr>
          <p:cNvPr id="13" name="Table 12"/>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Analysis, By Distribution Channel</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Online marketplaces segment is projected to register 1.1X higher value than mass retail segment in 2036. Among hair styling products by distribution channel, online marketplaces segment is expected to witness the highest CAGR of 9.2% over the forecast period.</a:t>
            </a:r>
          </a:p>
          <a:p>
            <a:pPr algn="l">
              <a:lnSpc>
                <a:spcPct val="110000"/>
              </a:lnSpc>
              <a:spcBef>
                <a:spcPts val="0"/>
              </a:spcBef>
              <a:spcAft>
                <a:spcPts val="500"/>
              </a:spcAft>
            </a:pPr>
            <a:r>
              <a:rPr sz="1150" b="0">
                <a:solidFill>
                  <a:srgbClr val="2E2E2E"/>
                </a:solidFill>
                <a:latin typeface="Calibri"/>
              </a:rPr>
              <a:t>In terms of value share by distribution channel, the online marketplaces segment is expected to dominate the market, gaining 250 BPS and accounting for 21.1% share by 2036. The mass retail segment is expected to lose 230 BPS over the forecast period to account for 20.0%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Composition, By Distribution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69369"/>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6460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8840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Brand-owned Online Stores</a:t>
            </a:r>
          </a:p>
        </p:txBody>
      </p:sp>
      <p:sp>
        <p:nvSpPr>
          <p:cNvPr id="19" name="BPS Value 1"/>
          <p:cNvSpPr txBox="1"/>
          <p:nvPr/>
        </p:nvSpPr>
        <p:spPr>
          <a:xfrm>
            <a:off x="6896100" y="1950319"/>
            <a:ext cx="514350" cy="123825"/>
          </a:xfrm>
          <a:prstGeom prst="rect">
            <a:avLst/>
          </a:prstGeom>
          <a:noFill/>
        </p:spPr>
        <p:txBody>
          <a:bodyPr wrap="none" lIns="0" rIns="0" tIns="0" bIns="0" anchor="ctr">
            <a:spAutoFit/>
          </a:bodyPr>
          <a:lstStyle/>
          <a:p>
            <a:pPr algn="r"/>
            <a:r>
              <a:rPr sz="900" b="1">
                <a:solidFill>
                  <a:srgbClr val="2E7D32"/>
                </a:solidFill>
                <a:latin typeface="Calibri"/>
              </a:rPr>
              <a:t>+103</a:t>
            </a:r>
          </a:p>
        </p:txBody>
      </p:sp>
      <p:sp>
        <p:nvSpPr>
          <p:cNvPr id="20" name="FMI Legend Chip"/>
          <p:cNvSpPr/>
          <p:nvPr/>
        </p:nvSpPr>
        <p:spPr>
          <a:xfrm>
            <a:off x="4928997" y="2576974"/>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57221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49601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Pharmacies and Drugstores</a:t>
            </a:r>
          </a:p>
        </p:txBody>
      </p:sp>
      <p:sp>
        <p:nvSpPr>
          <p:cNvPr id="23" name="BPS Value 2"/>
          <p:cNvSpPr txBox="1"/>
          <p:nvPr/>
        </p:nvSpPr>
        <p:spPr>
          <a:xfrm>
            <a:off x="6896100" y="2557924"/>
            <a:ext cx="514350" cy="123825"/>
          </a:xfrm>
          <a:prstGeom prst="rect">
            <a:avLst/>
          </a:prstGeom>
          <a:noFill/>
        </p:spPr>
        <p:txBody>
          <a:bodyPr wrap="none" lIns="0" rIns="0" tIns="0" bIns="0" anchor="ctr">
            <a:spAutoFit/>
          </a:bodyPr>
          <a:lstStyle/>
          <a:p>
            <a:pPr algn="r"/>
            <a:r>
              <a:rPr sz="900" b="1">
                <a:solidFill>
                  <a:srgbClr val="E44D3A"/>
                </a:solidFill>
                <a:latin typeface="Calibri"/>
              </a:rPr>
              <a:t>-106</a:t>
            </a:r>
          </a:p>
        </p:txBody>
      </p:sp>
      <p:sp>
        <p:nvSpPr>
          <p:cNvPr id="24" name="FMI Legend Chip"/>
          <p:cNvSpPr/>
          <p:nvPr/>
        </p:nvSpPr>
        <p:spPr>
          <a:xfrm>
            <a:off x="4928997" y="323780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23304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15684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Beauty Specialty Retail</a:t>
            </a:r>
          </a:p>
        </p:txBody>
      </p:sp>
      <p:sp>
        <p:nvSpPr>
          <p:cNvPr id="27" name="BPS Value 3"/>
          <p:cNvSpPr txBox="1"/>
          <p:nvPr/>
        </p:nvSpPr>
        <p:spPr>
          <a:xfrm>
            <a:off x="6896100" y="3218759"/>
            <a:ext cx="514350" cy="123825"/>
          </a:xfrm>
          <a:prstGeom prst="rect">
            <a:avLst/>
          </a:prstGeom>
          <a:noFill/>
        </p:spPr>
        <p:txBody>
          <a:bodyPr wrap="none" lIns="0" rIns="0" tIns="0" bIns="0" anchor="ctr">
            <a:spAutoFit/>
          </a:bodyPr>
          <a:lstStyle/>
          <a:p>
            <a:pPr algn="r"/>
            <a:r>
              <a:rPr sz="900" b="1">
                <a:solidFill>
                  <a:srgbClr val="2E7D32"/>
                </a:solidFill>
                <a:latin typeface="Calibri"/>
              </a:rPr>
              <a:t>+43</a:t>
            </a:r>
          </a:p>
        </p:txBody>
      </p:sp>
      <p:sp>
        <p:nvSpPr>
          <p:cNvPr id="28" name="FMI Legend Chip"/>
          <p:cNvSpPr/>
          <p:nvPr/>
        </p:nvSpPr>
        <p:spPr>
          <a:xfrm>
            <a:off x="4928997" y="397739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97263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8964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Salon and Professional Distribution</a:t>
            </a:r>
          </a:p>
        </p:txBody>
      </p:sp>
      <p:sp>
        <p:nvSpPr>
          <p:cNvPr id="31" name="BPS Value 4"/>
          <p:cNvSpPr txBox="1"/>
          <p:nvPr/>
        </p:nvSpPr>
        <p:spPr>
          <a:xfrm>
            <a:off x="6896100" y="3958343"/>
            <a:ext cx="514350" cy="123825"/>
          </a:xfrm>
          <a:prstGeom prst="rect">
            <a:avLst/>
          </a:prstGeom>
          <a:noFill/>
        </p:spPr>
        <p:txBody>
          <a:bodyPr wrap="none" lIns="0" rIns="0" tIns="0" bIns="0" anchor="ctr">
            <a:spAutoFit/>
          </a:bodyPr>
          <a:lstStyle/>
          <a:p>
            <a:pPr algn="r"/>
            <a:r>
              <a:rPr sz="900" b="1">
                <a:solidFill>
                  <a:srgbClr val="E44D3A"/>
                </a:solidFill>
                <a:latin typeface="Calibri"/>
              </a:rPr>
              <a:t>-59</a:t>
            </a:r>
          </a:p>
        </p:txBody>
      </p:sp>
      <p:sp>
        <p:nvSpPr>
          <p:cNvPr id="32" name="FMI Legend Chip"/>
          <p:cNvSpPr/>
          <p:nvPr/>
        </p:nvSpPr>
        <p:spPr>
          <a:xfrm>
            <a:off x="4928997" y="482249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481773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7415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Mass Retail</a:t>
            </a:r>
          </a:p>
        </p:txBody>
      </p:sp>
      <p:sp>
        <p:nvSpPr>
          <p:cNvPr id="35" name="BPS Value 5"/>
          <p:cNvSpPr txBox="1"/>
          <p:nvPr/>
        </p:nvSpPr>
        <p:spPr>
          <a:xfrm>
            <a:off x="6896100" y="4803443"/>
            <a:ext cx="514350" cy="123825"/>
          </a:xfrm>
          <a:prstGeom prst="rect">
            <a:avLst/>
          </a:prstGeom>
          <a:noFill/>
        </p:spPr>
        <p:txBody>
          <a:bodyPr wrap="none" lIns="0" rIns="0" tIns="0" bIns="0" anchor="ctr">
            <a:spAutoFit/>
          </a:bodyPr>
          <a:lstStyle/>
          <a:p>
            <a:pPr algn="r"/>
            <a:r>
              <a:rPr sz="900" b="1">
                <a:solidFill>
                  <a:srgbClr val="E44D3A"/>
                </a:solidFill>
                <a:latin typeface="Calibri"/>
              </a:rPr>
              <a:t>-230</a:t>
            </a:r>
          </a:p>
        </p:txBody>
      </p:sp>
      <p:sp>
        <p:nvSpPr>
          <p:cNvPr id="36" name="FMI Legend Chip"/>
          <p:cNvSpPr/>
          <p:nvPr/>
        </p:nvSpPr>
        <p:spPr>
          <a:xfrm>
            <a:off x="4928997" y="576149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75673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6805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Marketplaces</a:t>
            </a:r>
          </a:p>
        </p:txBody>
      </p:sp>
      <p:sp>
        <p:nvSpPr>
          <p:cNvPr id="39" name="BPS Value 6"/>
          <p:cNvSpPr txBox="1"/>
          <p:nvPr/>
        </p:nvSpPr>
        <p:spPr>
          <a:xfrm>
            <a:off x="6896100" y="5742445"/>
            <a:ext cx="514350" cy="123825"/>
          </a:xfrm>
          <a:prstGeom prst="rect">
            <a:avLst/>
          </a:prstGeom>
          <a:noFill/>
        </p:spPr>
        <p:txBody>
          <a:bodyPr wrap="none" lIns="0" rIns="0" tIns="0" bIns="0" anchor="ctr">
            <a:spAutoFit/>
          </a:bodyPr>
          <a:lstStyle/>
          <a:p>
            <a:pPr algn="r"/>
            <a:r>
              <a:rPr sz="900" b="1">
                <a:solidFill>
                  <a:srgbClr val="2E7D32"/>
                </a:solidFill>
                <a:latin typeface="Calibri"/>
              </a:rPr>
              <a:t>+250</a:t>
            </a:r>
          </a:p>
        </p:txBody>
      </p:sp>
      <p:sp>
        <p:nvSpPr>
          <p:cNvPr id="40" name="Rounded Rectangle 3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829550" y="1066800"/>
            <a:ext cx="4076700" cy="407620"/>
          </a:xfrm>
          <a:prstGeom prst="rect">
            <a:avLst/>
          </a:prstGeom>
          <a:noFill/>
        </p:spPr>
        <p:txBody>
          <a:bodyPr wrap="square" lIns="0" rIns="19050" tIns="9525" bIns="9525">
            <a:spAutoFit/>
          </a:bodyPr>
          <a:lstStyle/>
          <a:p>
            <a:pPr algn="l"/>
            <a:r>
              <a:rPr sz="1300" b="1">
                <a:solidFill>
                  <a:srgbClr val="0B2E4A"/>
                </a:solidFill>
                <a:latin typeface="Calibri"/>
              </a:rPr>
              <a:t>South Asia &amp; Pacific Read-out, By Distribution Channel</a:t>
            </a:r>
          </a:p>
        </p:txBody>
      </p:sp>
      <p:sp>
        <p:nvSpPr>
          <p:cNvPr id="42" name="Rectangle 41"/>
          <p:cNvSpPr/>
          <p:nvPr/>
        </p:nvSpPr>
        <p:spPr>
          <a:xfrm>
            <a:off x="7829550" y="150299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829550" y="1588720"/>
            <a:ext cx="4076700"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distribution channel, online marketplaces segment is expected to witness the highest CAGR of 9.2% over the forecast period. In terms of value share by distribution channel, the online marketplaces segment is expected to dominate the market, gaining 250 BPS and accounting for 21.1% share by 2036.</a:t>
            </a:r>
          </a:p>
          <a:p>
            <a:pPr algn="l">
              <a:lnSpc>
                <a:spcPct val="110000"/>
              </a:lnSpc>
              <a:spcBef>
                <a:spcPts val="0"/>
              </a:spcBef>
              <a:spcAft>
                <a:spcPts val="500"/>
              </a:spcAft>
            </a:pPr>
            <a:r>
              <a:rPr sz="1150" b="0">
                <a:solidFill>
                  <a:srgbClr val="2E2E2E"/>
                </a:solidFill>
                <a:latin typeface="Calibri"/>
              </a:rPr>
              <a:t>The mass retail segment is expected to lose 230 BPS over the forecast period to account for 20.0% share by 2036.</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527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Heatmap, By Distribution Channel (%)  ·  light = lower, dark = higher growth</a:t>
            </a:r>
          </a:p>
        </p:txBody>
      </p:sp>
      <p:sp>
        <p:nvSpPr>
          <p:cNvPr id="17" name="TextBox 16"/>
          <p:cNvSpPr txBox="1"/>
          <p:nvPr/>
        </p:nvSpPr>
        <p:spPr>
          <a:xfrm>
            <a:off x="185233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49655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078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501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2923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346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1768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1915"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614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036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459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3882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304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27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49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52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Mass Retail</a:t>
            </a:r>
          </a:p>
        </p:txBody>
      </p:sp>
      <p:sp>
        <p:nvSpPr>
          <p:cNvPr id="33" name="Rectangle 32"/>
          <p:cNvSpPr/>
          <p:nvPr/>
        </p:nvSpPr>
        <p:spPr>
          <a:xfrm>
            <a:off x="1852331" y="3524250"/>
            <a:ext cx="644226" cy="50800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496557" y="3524250"/>
            <a:ext cx="644226" cy="50800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0784" y="3524250"/>
            <a:ext cx="644226" cy="508000"/>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5010" y="3524250"/>
            <a:ext cx="644226" cy="508000"/>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29236" y="3524250"/>
            <a:ext cx="644226" cy="50800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3462" y="3524250"/>
            <a:ext cx="644226" cy="508000"/>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17689" y="3524250"/>
            <a:ext cx="644226" cy="508000"/>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1915" y="3524250"/>
            <a:ext cx="644226" cy="508000"/>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6141" y="3524250"/>
            <a:ext cx="644226" cy="508000"/>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0367" y="3524250"/>
            <a:ext cx="644226" cy="50800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4594" y="3524250"/>
            <a:ext cx="644226" cy="508000"/>
          </a:xfrm>
          <a:prstGeom prst="rect">
            <a:avLst/>
          </a:prstGeom>
          <a:solidFill>
            <a:srgbClr val="AA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38820" y="3524250"/>
            <a:ext cx="644226" cy="508000"/>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3046" y="3524250"/>
            <a:ext cx="644226" cy="50800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272" y="3524250"/>
            <a:ext cx="644226" cy="50800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499" y="3524250"/>
            <a:ext cx="644226" cy="50800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32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Beauty Specialty Retail</a:t>
            </a:r>
          </a:p>
        </p:txBody>
      </p:sp>
      <p:sp>
        <p:nvSpPr>
          <p:cNvPr id="49" name="Rectangle 48"/>
          <p:cNvSpPr/>
          <p:nvPr/>
        </p:nvSpPr>
        <p:spPr>
          <a:xfrm>
            <a:off x="1852331" y="4032250"/>
            <a:ext cx="644226" cy="50800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496557" y="4032250"/>
            <a:ext cx="644226" cy="508000"/>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0784" y="4032250"/>
            <a:ext cx="644226" cy="508000"/>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5010" y="4032250"/>
            <a:ext cx="644226" cy="508000"/>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29236" y="4032250"/>
            <a:ext cx="644226" cy="50800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3462" y="4032250"/>
            <a:ext cx="644226" cy="508000"/>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17689" y="4032250"/>
            <a:ext cx="644226" cy="50800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1915" y="4032250"/>
            <a:ext cx="644226" cy="508000"/>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6141" y="4032250"/>
            <a:ext cx="644226" cy="508000"/>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0367" y="4032250"/>
            <a:ext cx="644226" cy="508000"/>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4594" y="4032250"/>
            <a:ext cx="644226" cy="508000"/>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38820" y="4032250"/>
            <a:ext cx="644226" cy="508000"/>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3046" y="4032250"/>
            <a:ext cx="644226" cy="508000"/>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272" y="4032250"/>
            <a:ext cx="644226" cy="508000"/>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499" y="4032250"/>
            <a:ext cx="644226" cy="508000"/>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0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Salon and Professional Distribution</a:t>
            </a:r>
          </a:p>
        </p:txBody>
      </p:sp>
      <p:sp>
        <p:nvSpPr>
          <p:cNvPr id="65" name="Rectangle 64"/>
          <p:cNvSpPr/>
          <p:nvPr/>
        </p:nvSpPr>
        <p:spPr>
          <a:xfrm>
            <a:off x="1852331" y="4540250"/>
            <a:ext cx="644226" cy="508000"/>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496557" y="4540250"/>
            <a:ext cx="644226" cy="50800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0784" y="4540250"/>
            <a:ext cx="644226" cy="50800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5010" y="4540250"/>
            <a:ext cx="644226" cy="50800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29236" y="4540250"/>
            <a:ext cx="644226" cy="50800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3462" y="4540250"/>
            <a:ext cx="644226" cy="508000"/>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17689" y="4540250"/>
            <a:ext cx="644226" cy="508000"/>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1915" y="4540250"/>
            <a:ext cx="644226" cy="508000"/>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6141" y="4540250"/>
            <a:ext cx="644226" cy="508000"/>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0367" y="4540250"/>
            <a:ext cx="644226" cy="508000"/>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4594" y="4540250"/>
            <a:ext cx="644226" cy="508000"/>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38820" y="4540250"/>
            <a:ext cx="644226" cy="508000"/>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3046" y="4540250"/>
            <a:ext cx="644226" cy="508000"/>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272" y="4540250"/>
            <a:ext cx="644226" cy="508000"/>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499" y="4540250"/>
            <a:ext cx="644226" cy="508000"/>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48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Pharmacies and Drugstores</a:t>
            </a:r>
          </a:p>
        </p:txBody>
      </p:sp>
      <p:sp>
        <p:nvSpPr>
          <p:cNvPr id="81" name="Rectangle 80"/>
          <p:cNvSpPr/>
          <p:nvPr/>
        </p:nvSpPr>
        <p:spPr>
          <a:xfrm>
            <a:off x="1852331" y="5048250"/>
            <a:ext cx="644226" cy="50800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496557" y="5048250"/>
            <a:ext cx="644226" cy="5080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0784" y="5048250"/>
            <a:ext cx="644226" cy="50800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5010" y="5048250"/>
            <a:ext cx="644226" cy="50800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29236" y="5048250"/>
            <a:ext cx="644226" cy="50800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3462" y="5048250"/>
            <a:ext cx="644226" cy="50800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17689" y="5048250"/>
            <a:ext cx="644226" cy="508000"/>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1915" y="5048250"/>
            <a:ext cx="644226" cy="50800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6141" y="5048250"/>
            <a:ext cx="644226" cy="50800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0367" y="5048250"/>
            <a:ext cx="644226" cy="50800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4594" y="5048250"/>
            <a:ext cx="644226" cy="508000"/>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38820" y="5048250"/>
            <a:ext cx="644226" cy="508000"/>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3046" y="5048250"/>
            <a:ext cx="644226" cy="508000"/>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272" y="5048250"/>
            <a:ext cx="644226" cy="508000"/>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499" y="5048250"/>
            <a:ext cx="644226" cy="508000"/>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556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Online Marketplaces</a:t>
            </a:r>
          </a:p>
        </p:txBody>
      </p:sp>
      <p:sp>
        <p:nvSpPr>
          <p:cNvPr id="97" name="Rectangle 96"/>
          <p:cNvSpPr/>
          <p:nvPr/>
        </p:nvSpPr>
        <p:spPr>
          <a:xfrm>
            <a:off x="1852331" y="5556250"/>
            <a:ext cx="644226" cy="5080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496557" y="5556250"/>
            <a:ext cx="644226" cy="50800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0784" y="5556250"/>
            <a:ext cx="644226" cy="5080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5010" y="5556250"/>
            <a:ext cx="644226" cy="508000"/>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29236" y="5556250"/>
            <a:ext cx="644226" cy="50800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3462" y="5556250"/>
            <a:ext cx="644226" cy="50800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17689" y="5556250"/>
            <a:ext cx="644226" cy="508000"/>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1915" y="5556250"/>
            <a:ext cx="644226" cy="508000"/>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6141" y="5556250"/>
            <a:ext cx="644226" cy="508000"/>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0367" y="5556250"/>
            <a:ext cx="644226" cy="508000"/>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4594" y="5556250"/>
            <a:ext cx="644226" cy="5080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38820" y="5556250"/>
            <a:ext cx="644226" cy="508000"/>
          </a:xfrm>
          <a:prstGeom prst="rect">
            <a:avLst/>
          </a:prstGeom>
          <a:solidFill>
            <a:srgbClr val="0B39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3046" y="5556250"/>
            <a:ext cx="644226" cy="508000"/>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272" y="5556250"/>
            <a:ext cx="644226" cy="508000"/>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499" y="5556250"/>
            <a:ext cx="644226" cy="508000"/>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6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Brand-owned Online Stores</a:t>
            </a:r>
          </a:p>
        </p:txBody>
      </p:sp>
      <p:sp>
        <p:nvSpPr>
          <p:cNvPr id="113" name="Rectangle 112"/>
          <p:cNvSpPr/>
          <p:nvPr/>
        </p:nvSpPr>
        <p:spPr>
          <a:xfrm>
            <a:off x="1852331" y="6064250"/>
            <a:ext cx="644226" cy="508000"/>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496557" y="6064250"/>
            <a:ext cx="644226" cy="5080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0784" y="6064250"/>
            <a:ext cx="644226" cy="508000"/>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5010" y="6064250"/>
            <a:ext cx="644226" cy="50800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29236" y="6064250"/>
            <a:ext cx="644226" cy="50800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3462" y="6064250"/>
            <a:ext cx="644226" cy="50800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17689" y="6064250"/>
            <a:ext cx="644226" cy="508000"/>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1915" y="6064250"/>
            <a:ext cx="644226" cy="508000"/>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6141" y="6064250"/>
            <a:ext cx="644226" cy="508000"/>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0367" y="6064250"/>
            <a:ext cx="644226" cy="508000"/>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4594" y="6064250"/>
            <a:ext cx="644226" cy="508000"/>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38820" y="6064250"/>
            <a:ext cx="644226" cy="508000"/>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3046" y="6064250"/>
            <a:ext cx="644226" cy="508000"/>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272" y="6064250"/>
            <a:ext cx="644226" cy="508000"/>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499" y="6064250"/>
            <a:ext cx="644226" cy="508000"/>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562350"/>
            <a:ext cx="104775" cy="8191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636645"/>
            <a:ext cx="104775" cy="8191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710940"/>
            <a:ext cx="104775" cy="8191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785235"/>
            <a:ext cx="104775" cy="8191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3859530"/>
            <a:ext cx="104775" cy="8191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3933825"/>
            <a:ext cx="104775" cy="8191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008120"/>
            <a:ext cx="104775" cy="8191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082415"/>
            <a:ext cx="104775" cy="8191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156710"/>
            <a:ext cx="104775" cy="8191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231005"/>
            <a:ext cx="104775" cy="8191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305300"/>
            <a:ext cx="104775" cy="8191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379595"/>
            <a:ext cx="104775" cy="8191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453890"/>
            <a:ext cx="104775" cy="8191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528185"/>
            <a:ext cx="104775" cy="8191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602480"/>
            <a:ext cx="104775" cy="8191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676775"/>
            <a:ext cx="104775" cy="8191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751070"/>
            <a:ext cx="104775" cy="8191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825365"/>
            <a:ext cx="104775" cy="8191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899660"/>
            <a:ext cx="104775" cy="8191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973955"/>
            <a:ext cx="104775" cy="8191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048250"/>
            <a:ext cx="104775" cy="8191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122545"/>
            <a:ext cx="104775" cy="8191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196840"/>
            <a:ext cx="104775" cy="8191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271135"/>
            <a:ext cx="104775" cy="8191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345430"/>
            <a:ext cx="104775" cy="8191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19725"/>
            <a:ext cx="104775" cy="8191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494020"/>
            <a:ext cx="104775" cy="8191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568315"/>
            <a:ext cx="104775" cy="8191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642610"/>
            <a:ext cx="104775" cy="8191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16905"/>
            <a:ext cx="104775" cy="8191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791200"/>
            <a:ext cx="104775" cy="8191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865495"/>
            <a:ext cx="104775" cy="8191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39790"/>
            <a:ext cx="104775" cy="8191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14085"/>
            <a:ext cx="104775" cy="8191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088380"/>
            <a:ext cx="104775" cy="8191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62675"/>
            <a:ext cx="104775" cy="8191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36970"/>
            <a:ext cx="104775" cy="8191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11265"/>
            <a:ext cx="104775" cy="8191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85560"/>
            <a:ext cx="104775" cy="8191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59855"/>
            <a:ext cx="104775" cy="8191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562350"/>
            <a:ext cx="104775" cy="29718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49567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70" name="TextBox 169"/>
          <p:cNvSpPr txBox="1"/>
          <p:nvPr/>
        </p:nvSpPr>
        <p:spPr>
          <a:xfrm>
            <a:off x="11687175" y="498157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22.5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Primary Styling Benefit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Primary Styling Benefit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Primary Styling Benefit,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Primary Styling Benefit segment categorizes the market by primary styling benefit.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330779"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330779"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Hold and Shape</a:t>
            </a:r>
          </a:p>
        </p:txBody>
      </p:sp>
      <p:sp>
        <p:nvSpPr>
          <p:cNvPr id="23" name="Rectangle 22"/>
          <p:cNvSpPr/>
          <p:nvPr/>
        </p:nvSpPr>
        <p:spPr>
          <a:xfrm>
            <a:off x="1866900"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295.0</a:t>
            </a:r>
          </a:p>
        </p:txBody>
      </p:sp>
      <p:sp>
        <p:nvSpPr>
          <p:cNvPr id="24" name="Rectangle 23"/>
          <p:cNvSpPr/>
          <p:nvPr/>
        </p:nvSpPr>
        <p:spPr>
          <a:xfrm>
            <a:off x="1866900"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542.1</a:t>
            </a:r>
          </a:p>
        </p:txBody>
      </p:sp>
      <p:sp>
        <p:nvSpPr>
          <p:cNvPr id="25" name="Rectangle 24"/>
          <p:cNvSpPr/>
          <p:nvPr/>
        </p:nvSpPr>
        <p:spPr>
          <a:xfrm>
            <a:off x="1866900"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6.3%</a:t>
            </a:r>
          </a:p>
        </p:txBody>
      </p:sp>
      <p:sp>
        <p:nvSpPr>
          <p:cNvPr id="26" name="Oval 25"/>
          <p:cNvSpPr/>
          <p:nvPr/>
        </p:nvSpPr>
        <p:spPr>
          <a:xfrm>
            <a:off x="237036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311979" y="1773916"/>
            <a:ext cx="1330779"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311979" y="1992961"/>
            <a:ext cx="1330779"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350079"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Smoothing and Frizz Control</a:t>
            </a:r>
          </a:p>
        </p:txBody>
      </p:sp>
      <p:sp>
        <p:nvSpPr>
          <p:cNvPr id="30" name="Rectangle 29"/>
          <p:cNvSpPr/>
          <p:nvPr/>
        </p:nvSpPr>
        <p:spPr>
          <a:xfrm>
            <a:off x="3311979"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283.0</a:t>
            </a:r>
          </a:p>
        </p:txBody>
      </p:sp>
      <p:sp>
        <p:nvSpPr>
          <p:cNvPr id="31" name="Rectangle 30"/>
          <p:cNvSpPr/>
          <p:nvPr/>
        </p:nvSpPr>
        <p:spPr>
          <a:xfrm>
            <a:off x="3311979"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634.6</a:t>
            </a:r>
          </a:p>
        </p:txBody>
      </p:sp>
      <p:sp>
        <p:nvSpPr>
          <p:cNvPr id="32" name="Rectangle 31"/>
          <p:cNvSpPr/>
          <p:nvPr/>
        </p:nvSpPr>
        <p:spPr>
          <a:xfrm>
            <a:off x="3311979"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8.4%</a:t>
            </a:r>
          </a:p>
        </p:txBody>
      </p:sp>
      <p:sp>
        <p:nvSpPr>
          <p:cNvPr id="33" name="Oval 32"/>
          <p:cNvSpPr/>
          <p:nvPr/>
        </p:nvSpPr>
        <p:spPr>
          <a:xfrm>
            <a:off x="3815443"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4757057" y="1773916"/>
            <a:ext cx="1330779"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4757057" y="1992961"/>
            <a:ext cx="1330779"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795157"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Curl Definition</a:t>
            </a:r>
          </a:p>
        </p:txBody>
      </p:sp>
      <p:sp>
        <p:nvSpPr>
          <p:cNvPr id="37" name="Rectangle 36"/>
          <p:cNvSpPr/>
          <p:nvPr/>
        </p:nvSpPr>
        <p:spPr>
          <a:xfrm>
            <a:off x="4757057"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256.1</a:t>
            </a:r>
          </a:p>
        </p:txBody>
      </p:sp>
      <p:sp>
        <p:nvSpPr>
          <p:cNvPr id="38" name="Rectangle 37"/>
          <p:cNvSpPr/>
          <p:nvPr/>
        </p:nvSpPr>
        <p:spPr>
          <a:xfrm>
            <a:off x="4757057"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631.2</a:t>
            </a:r>
          </a:p>
        </p:txBody>
      </p:sp>
      <p:sp>
        <p:nvSpPr>
          <p:cNvPr id="39" name="Rectangle 38"/>
          <p:cNvSpPr/>
          <p:nvPr/>
        </p:nvSpPr>
        <p:spPr>
          <a:xfrm>
            <a:off x="4757057"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9.4%</a:t>
            </a:r>
          </a:p>
        </p:txBody>
      </p:sp>
      <p:sp>
        <p:nvSpPr>
          <p:cNvPr id="40" name="Oval 39"/>
          <p:cNvSpPr/>
          <p:nvPr/>
        </p:nvSpPr>
        <p:spPr>
          <a:xfrm>
            <a:off x="5260521"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202136" y="1773916"/>
            <a:ext cx="1330779"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202136" y="1992961"/>
            <a:ext cx="1330779"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240236"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Heat Styling Support</a:t>
            </a:r>
          </a:p>
        </p:txBody>
      </p:sp>
      <p:sp>
        <p:nvSpPr>
          <p:cNvPr id="44" name="Rectangle 43"/>
          <p:cNvSpPr/>
          <p:nvPr/>
        </p:nvSpPr>
        <p:spPr>
          <a:xfrm>
            <a:off x="6202136"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246.0</a:t>
            </a:r>
          </a:p>
        </p:txBody>
      </p:sp>
      <p:sp>
        <p:nvSpPr>
          <p:cNvPr id="45" name="Rectangle 44"/>
          <p:cNvSpPr/>
          <p:nvPr/>
        </p:nvSpPr>
        <p:spPr>
          <a:xfrm>
            <a:off x="6202136"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572.1</a:t>
            </a:r>
          </a:p>
        </p:txBody>
      </p:sp>
      <p:sp>
        <p:nvSpPr>
          <p:cNvPr id="46" name="Rectangle 45"/>
          <p:cNvSpPr/>
          <p:nvPr/>
        </p:nvSpPr>
        <p:spPr>
          <a:xfrm>
            <a:off x="6202136"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8.8%</a:t>
            </a:r>
          </a:p>
        </p:txBody>
      </p:sp>
      <p:sp>
        <p:nvSpPr>
          <p:cNvPr id="47" name="Oval 46"/>
          <p:cNvSpPr/>
          <p:nvPr/>
        </p:nvSpPr>
        <p:spPr>
          <a:xfrm>
            <a:off x="670560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7647214" y="1773916"/>
            <a:ext cx="1330779"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647214" y="1992961"/>
            <a:ext cx="1330779"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7685314"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Separation</a:t>
            </a:r>
          </a:p>
        </p:txBody>
      </p:sp>
      <p:sp>
        <p:nvSpPr>
          <p:cNvPr id="51" name="Rectangle 50"/>
          <p:cNvSpPr/>
          <p:nvPr/>
        </p:nvSpPr>
        <p:spPr>
          <a:xfrm>
            <a:off x="7647214"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243.2</a:t>
            </a:r>
          </a:p>
        </p:txBody>
      </p:sp>
      <p:sp>
        <p:nvSpPr>
          <p:cNvPr id="52" name="Rectangle 51"/>
          <p:cNvSpPr/>
          <p:nvPr/>
        </p:nvSpPr>
        <p:spPr>
          <a:xfrm>
            <a:off x="7647214"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512.4</a:t>
            </a:r>
          </a:p>
        </p:txBody>
      </p:sp>
      <p:sp>
        <p:nvSpPr>
          <p:cNvPr id="53" name="Rectangle 52"/>
          <p:cNvSpPr/>
          <p:nvPr/>
        </p:nvSpPr>
        <p:spPr>
          <a:xfrm>
            <a:off x="7647214"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7.7%</a:t>
            </a:r>
          </a:p>
        </p:txBody>
      </p:sp>
      <p:sp>
        <p:nvSpPr>
          <p:cNvPr id="54" name="Oval 53"/>
          <p:cNvSpPr/>
          <p:nvPr/>
        </p:nvSpPr>
        <p:spPr>
          <a:xfrm>
            <a:off x="815067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9092293" y="1773916"/>
            <a:ext cx="1330779"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092293" y="1992961"/>
            <a:ext cx="1330779"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130393"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Volume and Root Lift</a:t>
            </a:r>
          </a:p>
        </p:txBody>
      </p:sp>
      <p:sp>
        <p:nvSpPr>
          <p:cNvPr id="58" name="Rectangle 57"/>
          <p:cNvSpPr/>
          <p:nvPr/>
        </p:nvSpPr>
        <p:spPr>
          <a:xfrm>
            <a:off x="9092293"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242.9</a:t>
            </a:r>
          </a:p>
        </p:txBody>
      </p:sp>
      <p:sp>
        <p:nvSpPr>
          <p:cNvPr id="59" name="Rectangle 58"/>
          <p:cNvSpPr/>
          <p:nvPr/>
        </p:nvSpPr>
        <p:spPr>
          <a:xfrm>
            <a:off x="9092293"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486.4</a:t>
            </a:r>
          </a:p>
        </p:txBody>
      </p:sp>
      <p:sp>
        <p:nvSpPr>
          <p:cNvPr id="60" name="Rectangle 59"/>
          <p:cNvSpPr/>
          <p:nvPr/>
        </p:nvSpPr>
        <p:spPr>
          <a:xfrm>
            <a:off x="9092293"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7.2%</a:t>
            </a:r>
          </a:p>
        </p:txBody>
      </p:sp>
      <p:sp>
        <p:nvSpPr>
          <p:cNvPr id="61" name="Oval 60"/>
          <p:cNvSpPr/>
          <p:nvPr/>
        </p:nvSpPr>
        <p:spPr>
          <a:xfrm>
            <a:off x="9595757"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10537371" y="1773916"/>
            <a:ext cx="1330779"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537371" y="1992961"/>
            <a:ext cx="1330779"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10575471"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Sleek Styling and Edge Control</a:t>
            </a:r>
          </a:p>
        </p:txBody>
      </p:sp>
      <p:sp>
        <p:nvSpPr>
          <p:cNvPr id="65" name="Rectangle 64"/>
          <p:cNvSpPr/>
          <p:nvPr/>
        </p:nvSpPr>
        <p:spPr>
          <a:xfrm>
            <a:off x="10537371"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204.6</a:t>
            </a:r>
          </a:p>
        </p:txBody>
      </p:sp>
      <p:sp>
        <p:nvSpPr>
          <p:cNvPr id="66" name="Rectangle 65"/>
          <p:cNvSpPr/>
          <p:nvPr/>
        </p:nvSpPr>
        <p:spPr>
          <a:xfrm>
            <a:off x="10537371"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392.9</a:t>
            </a:r>
          </a:p>
        </p:txBody>
      </p:sp>
      <p:sp>
        <p:nvSpPr>
          <p:cNvPr id="67" name="Rectangle 66"/>
          <p:cNvSpPr/>
          <p:nvPr/>
        </p:nvSpPr>
        <p:spPr>
          <a:xfrm>
            <a:off x="10537371"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6.7%</a:t>
            </a:r>
          </a:p>
        </p:txBody>
      </p:sp>
      <p:sp>
        <p:nvSpPr>
          <p:cNvPr id="68" name="Oval 67"/>
          <p:cNvSpPr/>
          <p:nvPr/>
        </p:nvSpPr>
        <p:spPr>
          <a:xfrm>
            <a:off x="11040836"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71" name="Rectangle 70"/>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primary styling benefit, curl definition segment is expected to witness the highest CAGR of 9.4% over the forecast period. In terms of value share by primary styling benefit, the smoothing and frizz control segment is expected to dominate the market, gaining 84 BPS and accounting for 16.8% share by 2036.</a:t>
            </a:r>
          </a:p>
          <a:p>
            <a:pPr algn="l">
              <a:lnSpc>
                <a:spcPct val="110000"/>
              </a:lnSpc>
              <a:spcBef>
                <a:spcPts val="0"/>
              </a:spcBef>
              <a:spcAft>
                <a:spcPts val="500"/>
              </a:spcAft>
            </a:pPr>
            <a:r>
              <a:rPr sz="1100" b="0">
                <a:solidFill>
                  <a:srgbClr val="2E2E2E"/>
                </a:solidFill>
                <a:latin typeface="Calibri"/>
              </a:rPr>
              <a:t>Smoothing and frizz control segment is projected to register 1.0X higher value than curl definition segment in 2036.</a:t>
            </a:r>
          </a:p>
        </p:txBody>
      </p:sp>
      <p:sp>
        <p:nvSpPr>
          <p:cNvPr id="73" name="Rounded Rectangle 72"/>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75" name="Rectangle 74"/>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Hold and Shape: </a:t>
            </a:r>
            <a:r>
              <a:rPr sz="1100" b="0">
                <a:solidFill>
                  <a:srgbClr val="2E2E2E"/>
                </a:solidFill>
                <a:latin typeface="Calibri"/>
              </a:rPr>
              <a:t>17% of 2026 value · 6.3%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Smoothing and Frizz Control: </a:t>
            </a:r>
            <a:r>
              <a:rPr sz="1100" b="0">
                <a:solidFill>
                  <a:srgbClr val="2E2E2E"/>
                </a:solidFill>
                <a:latin typeface="Calibri"/>
              </a:rPr>
              <a:t>16% of 2026 value · 8.4%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Curl Definition: </a:t>
            </a:r>
            <a:r>
              <a:rPr sz="1100" b="0">
                <a:solidFill>
                  <a:srgbClr val="2E2E2E"/>
                </a:solidFill>
                <a:latin typeface="Calibri"/>
              </a:rPr>
              <a:t>14% of 2026 value · 9.4%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Heat Styling Support: </a:t>
            </a:r>
            <a:r>
              <a:rPr sz="1100" b="0">
                <a:solidFill>
                  <a:srgbClr val="2E2E2E"/>
                </a:solidFill>
                <a:latin typeface="Calibri"/>
              </a:rPr>
              <a:t>14% of 2026 value · 8.8%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Texture and Separation: </a:t>
            </a:r>
            <a:r>
              <a:rPr sz="1100" b="0">
                <a:solidFill>
                  <a:srgbClr val="2E2E2E"/>
                </a:solidFill>
                <a:latin typeface="Calibri"/>
              </a:rPr>
              <a:t>14% of 2026 value · 7.7%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Volume and Root Lift: </a:t>
            </a:r>
            <a:r>
              <a:rPr sz="1100" b="0">
                <a:solidFill>
                  <a:srgbClr val="2E2E2E"/>
                </a:solidFill>
                <a:latin typeface="Calibri"/>
              </a:rPr>
              <a:t>14% of 2026 value · 7.2%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Sleek Styling and Edge Control: </a:t>
            </a:r>
            <a:r>
              <a:rPr sz="1100" b="0">
                <a:solidFill>
                  <a:srgbClr val="2E2E2E"/>
                </a:solidFill>
                <a:latin typeface="Calibri"/>
              </a:rPr>
              <a:t>12% of 2026 value · 6.7% CAGR serves a niche.</a:t>
            </a:r>
          </a:p>
        </p:txBody>
      </p:sp>
      <p:sp>
        <p:nvSpPr>
          <p:cNvPr id="77" name="Rounded Rectangle 76"/>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9" name="Rectangle 78"/>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Primary Styling Benefit split shows how demand is distributed across primary styling benefit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81" name="Rectangle 80"/>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Primary Styling Benefit segment is projected to grow at a CAGR of 7.9% from 2026 to 2036.</a:t>
            </a:r>
          </a:p>
        </p:txBody>
      </p:sp>
      <p:sp>
        <p:nvSpPr>
          <p:cNvPr id="83" name="TextBox 82"/>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84" name="TextBox 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Structure &amp; Attractiveness, By Primary Styling Benefit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Primary Styling Benefit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Primary Styling Benefit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Curl definition followed by smoothing and frizz control are expected to be the two most attractive primary styling benefit segments in the South Asia &amp; Pacific hair styling products market in terms of value over the forecast period. Curl definition and smoothing and frizz control exhibit a CAGR index of 120.2 and 107.1 and a market share index of 101.2 and 111.9 respectively, against the segment average of 100. The sleek styling and edge control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Primary Styling Benefit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Hold and Shape</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Curl Definition</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Volume and Root Lift</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Texture and Separation</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Primary Styling Benefit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Smoothing and Frizz Control</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Sleek Styling and Edge Control</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Heat Styling Support</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South Asia &amp; Pacific Absolute $ Opportunity Analysis, By Primary Styling Benefit</a:t>
            </a:r>
          </a:p>
        </p:txBody>
      </p:sp>
      <p:sp>
        <p:nvSpPr>
          <p:cNvPr id="21" name="Rectangle 20"/>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curl definition segment is anticipated to witness an increase of 2.5X in terms of value as compared to 2026. The curl definition segment is expected to create an incremental opportunity of US$ 375.2 Mn for the overall hair styling products market from 2026 to 2036.</a:t>
            </a:r>
          </a:p>
          <a:p>
            <a:pPr algn="l">
              <a:lnSpc>
                <a:spcPct val="110000"/>
              </a:lnSpc>
              <a:spcBef>
                <a:spcPts val="0"/>
              </a:spcBef>
              <a:spcAft>
                <a:spcPts val="500"/>
              </a:spcAft>
            </a:pPr>
            <a:r>
              <a:rPr sz="1150" b="0">
                <a:solidFill>
                  <a:srgbClr val="2E2E2E"/>
                </a:solidFill>
                <a:latin typeface="Calibri"/>
              </a:rPr>
              <a:t>The smoothing and frizz control segment is expected to create an incremental opportunity of US$ 351.6 Mn for the overall hair styling products market from 2026 to 2036. The heat styling support segment is expected to create an incremental opportunity of US$ 326.0 Mn for the overall hair styling products market from 2026 to 2036.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Primary Styling Benefit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Primary Styling Benefit,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Primary Styling Benefit (US$ Mn)</a:t>
            </a:r>
          </a:p>
        </p:txBody>
      </p:sp>
      <p:graphicFrame>
        <p:nvGraphicFramePr>
          <p:cNvPr id="13" name="Table 12"/>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09975"/>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Analysis, By Primary Styling Benefit</a:t>
            </a:r>
          </a:p>
        </p:txBody>
      </p:sp>
      <p:sp>
        <p:nvSpPr>
          <p:cNvPr id="17" name="Rectangle 16"/>
          <p:cNvSpPr/>
          <p:nvPr/>
        </p:nvSpPr>
        <p:spPr>
          <a:xfrm>
            <a:off x="276225" y="3848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33825"/>
            <a:ext cx="11639550" cy="2619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Smoothing and frizz control segment is projected to register 1.0X higher value than curl definition segment in 2036. Among hair styling products by primary styling benefit, curl definition segment is expected to witness the highest CAGR of 9.4% over the forecast period.</a:t>
            </a:r>
          </a:p>
          <a:p>
            <a:pPr algn="l">
              <a:lnSpc>
                <a:spcPct val="110000"/>
              </a:lnSpc>
              <a:spcBef>
                <a:spcPts val="0"/>
              </a:spcBef>
              <a:spcAft>
                <a:spcPts val="500"/>
              </a:spcAft>
            </a:pPr>
            <a:r>
              <a:rPr sz="1150" b="0">
                <a:solidFill>
                  <a:srgbClr val="2E2E2E"/>
                </a:solidFill>
                <a:latin typeface="Calibri"/>
              </a:rPr>
              <a:t>In terms of value share by primary styling benefit, the smoothing and frizz control segment is expected to dominate the market, gaining 84 BPS and accounting for 16.8% share by 2036. The hold and shape segment is expected to lose 229 BPS over the forecast period to account for 14.4%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&amp; Share Shift, By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Primary Styling Benefit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Composition, By Primary Styling Benefit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09409"/>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0464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2844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Sleek Styling and Edge Control</a:t>
            </a:r>
          </a:p>
        </p:txBody>
      </p:sp>
      <p:sp>
        <p:nvSpPr>
          <p:cNvPr id="19" name="BPS Value 1"/>
          <p:cNvSpPr txBox="1"/>
          <p:nvPr/>
        </p:nvSpPr>
        <p:spPr>
          <a:xfrm>
            <a:off x="6896100" y="1890359"/>
            <a:ext cx="514350" cy="123825"/>
          </a:xfrm>
          <a:prstGeom prst="rect">
            <a:avLst/>
          </a:prstGeom>
          <a:noFill/>
        </p:spPr>
        <p:txBody>
          <a:bodyPr wrap="none" lIns="0" rIns="0" tIns="0" bIns="0" anchor="ctr">
            <a:spAutoFit/>
          </a:bodyPr>
          <a:lstStyle/>
          <a:p>
            <a:pPr algn="r"/>
            <a:r>
              <a:rPr sz="900" b="1">
                <a:solidFill>
                  <a:srgbClr val="E44D3A"/>
                </a:solidFill>
                <a:latin typeface="Calibri"/>
              </a:rPr>
              <a:t>-114</a:t>
            </a:r>
          </a:p>
        </p:txBody>
      </p:sp>
      <p:sp>
        <p:nvSpPr>
          <p:cNvPr id="20" name="FMI Legend Chip"/>
          <p:cNvSpPr/>
          <p:nvPr/>
        </p:nvSpPr>
        <p:spPr>
          <a:xfrm>
            <a:off x="4928997" y="2442400"/>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43763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6143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Volume and Root Lift</a:t>
            </a:r>
          </a:p>
        </p:txBody>
      </p:sp>
      <p:sp>
        <p:nvSpPr>
          <p:cNvPr id="23" name="BPS Value 2"/>
          <p:cNvSpPr txBox="1"/>
          <p:nvPr/>
        </p:nvSpPr>
        <p:spPr>
          <a:xfrm>
            <a:off x="6896100" y="2423350"/>
            <a:ext cx="514350" cy="123825"/>
          </a:xfrm>
          <a:prstGeom prst="rect">
            <a:avLst/>
          </a:prstGeom>
          <a:noFill/>
        </p:spPr>
        <p:txBody>
          <a:bodyPr wrap="none" lIns="0" rIns="0" tIns="0" bIns="0" anchor="ctr">
            <a:spAutoFit/>
          </a:bodyPr>
          <a:lstStyle/>
          <a:p>
            <a:pPr algn="r"/>
            <a:r>
              <a:rPr sz="900" b="1">
                <a:solidFill>
                  <a:srgbClr val="E44D3A"/>
                </a:solidFill>
                <a:latin typeface="Calibri"/>
              </a:rPr>
              <a:t>-82</a:t>
            </a:r>
          </a:p>
        </p:txBody>
      </p:sp>
      <p:sp>
        <p:nvSpPr>
          <p:cNvPr id="24" name="FMI Legend Chip"/>
          <p:cNvSpPr/>
          <p:nvPr/>
        </p:nvSpPr>
        <p:spPr>
          <a:xfrm>
            <a:off x="4928997" y="3047823"/>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04306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96686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Separation</a:t>
            </a:r>
          </a:p>
        </p:txBody>
      </p:sp>
      <p:sp>
        <p:nvSpPr>
          <p:cNvPr id="27" name="BPS Value 3"/>
          <p:cNvSpPr txBox="1"/>
          <p:nvPr/>
        </p:nvSpPr>
        <p:spPr>
          <a:xfrm>
            <a:off x="6896100" y="3028773"/>
            <a:ext cx="514350" cy="123825"/>
          </a:xfrm>
          <a:prstGeom prst="rect">
            <a:avLst/>
          </a:prstGeom>
          <a:noFill/>
        </p:spPr>
        <p:txBody>
          <a:bodyPr wrap="none" lIns="0" rIns="0" tIns="0" bIns="0" anchor="ctr">
            <a:spAutoFit/>
          </a:bodyPr>
          <a:lstStyle/>
          <a:p>
            <a:pPr algn="r"/>
            <a:r>
              <a:rPr sz="900" b="1">
                <a:solidFill>
                  <a:srgbClr val="E44D3A"/>
                </a:solidFill>
                <a:latin typeface="Calibri"/>
              </a:rPr>
              <a:t>-15</a:t>
            </a:r>
          </a:p>
        </p:txBody>
      </p:sp>
      <p:sp>
        <p:nvSpPr>
          <p:cNvPr id="28" name="FMI Legend Chip"/>
          <p:cNvSpPr/>
          <p:nvPr/>
        </p:nvSpPr>
        <p:spPr>
          <a:xfrm>
            <a:off x="4928997" y="368700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68224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60604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Hold and Shape</a:t>
            </a:r>
          </a:p>
        </p:txBody>
      </p:sp>
      <p:sp>
        <p:nvSpPr>
          <p:cNvPr id="31" name="BPS Value 4"/>
          <p:cNvSpPr txBox="1"/>
          <p:nvPr/>
        </p:nvSpPr>
        <p:spPr>
          <a:xfrm>
            <a:off x="6896100" y="3667959"/>
            <a:ext cx="514350" cy="123825"/>
          </a:xfrm>
          <a:prstGeom prst="rect">
            <a:avLst/>
          </a:prstGeom>
          <a:noFill/>
        </p:spPr>
        <p:txBody>
          <a:bodyPr wrap="none" lIns="0" rIns="0" tIns="0" bIns="0" anchor="ctr">
            <a:spAutoFit/>
          </a:bodyPr>
          <a:lstStyle/>
          <a:p>
            <a:pPr algn="r"/>
            <a:r>
              <a:rPr sz="900" b="1">
                <a:solidFill>
                  <a:srgbClr val="E44D3A"/>
                </a:solidFill>
                <a:latin typeface="Calibri"/>
              </a:rPr>
              <a:t>-229</a:t>
            </a:r>
          </a:p>
        </p:txBody>
      </p:sp>
      <p:sp>
        <p:nvSpPr>
          <p:cNvPr id="32" name="FMI Legend Chip"/>
          <p:cNvSpPr/>
          <p:nvPr/>
        </p:nvSpPr>
        <p:spPr>
          <a:xfrm>
            <a:off x="4928997" y="436235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435759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28139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Heat Styling Support</a:t>
            </a:r>
          </a:p>
        </p:txBody>
      </p:sp>
      <p:sp>
        <p:nvSpPr>
          <p:cNvPr id="35" name="BPS Value 5"/>
          <p:cNvSpPr txBox="1"/>
          <p:nvPr/>
        </p:nvSpPr>
        <p:spPr>
          <a:xfrm>
            <a:off x="6896100" y="4343305"/>
            <a:ext cx="514350" cy="123825"/>
          </a:xfrm>
          <a:prstGeom prst="rect">
            <a:avLst/>
          </a:prstGeom>
          <a:noFill/>
        </p:spPr>
        <p:txBody>
          <a:bodyPr wrap="none" lIns="0" rIns="0" tIns="0" bIns="0" anchor="ctr">
            <a:spAutoFit/>
          </a:bodyPr>
          <a:lstStyle/>
          <a:p>
            <a:pPr algn="r"/>
            <a:r>
              <a:rPr sz="900" b="1">
                <a:solidFill>
                  <a:srgbClr val="2E7D32"/>
                </a:solidFill>
                <a:latin typeface="Calibri"/>
              </a:rPr>
              <a:t>+127</a:t>
            </a:r>
          </a:p>
        </p:txBody>
      </p:sp>
      <p:sp>
        <p:nvSpPr>
          <p:cNvPr id="36" name="FMI Legend Chip"/>
          <p:cNvSpPr/>
          <p:nvPr/>
        </p:nvSpPr>
        <p:spPr>
          <a:xfrm>
            <a:off x="4928997" y="509171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08695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01075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 Definition</a:t>
            </a:r>
          </a:p>
        </p:txBody>
      </p:sp>
      <p:sp>
        <p:nvSpPr>
          <p:cNvPr id="39" name="BPS Value 6"/>
          <p:cNvSpPr txBox="1"/>
          <p:nvPr/>
        </p:nvSpPr>
        <p:spPr>
          <a:xfrm>
            <a:off x="6896100" y="5072665"/>
            <a:ext cx="514350" cy="123825"/>
          </a:xfrm>
          <a:prstGeom prst="rect">
            <a:avLst/>
          </a:prstGeom>
          <a:noFill/>
        </p:spPr>
        <p:txBody>
          <a:bodyPr wrap="none" lIns="0" rIns="0" tIns="0" bIns="0" anchor="ctr">
            <a:spAutoFit/>
          </a:bodyPr>
          <a:lstStyle/>
          <a:p>
            <a:pPr algn="r"/>
            <a:r>
              <a:rPr sz="900" b="1">
                <a:solidFill>
                  <a:srgbClr val="2E7D32"/>
                </a:solidFill>
                <a:latin typeface="Calibri"/>
              </a:rPr>
              <a:t>+228</a:t>
            </a:r>
          </a:p>
        </p:txBody>
      </p:sp>
      <p:sp>
        <p:nvSpPr>
          <p:cNvPr id="40" name="FMI Legend Chip"/>
          <p:cNvSpPr/>
          <p:nvPr/>
        </p:nvSpPr>
        <p:spPr>
          <a:xfrm>
            <a:off x="4928997" y="585898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585422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77802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Smoothing and Frizz Control</a:t>
            </a:r>
          </a:p>
        </p:txBody>
      </p:sp>
      <p:sp>
        <p:nvSpPr>
          <p:cNvPr id="43" name="BPS Value 7"/>
          <p:cNvSpPr txBox="1"/>
          <p:nvPr/>
        </p:nvSpPr>
        <p:spPr>
          <a:xfrm>
            <a:off x="6896100" y="5839934"/>
            <a:ext cx="514350" cy="123825"/>
          </a:xfrm>
          <a:prstGeom prst="rect">
            <a:avLst/>
          </a:prstGeom>
          <a:noFill/>
        </p:spPr>
        <p:txBody>
          <a:bodyPr wrap="none" lIns="0" rIns="0" tIns="0" bIns="0" anchor="ctr">
            <a:spAutoFit/>
          </a:bodyPr>
          <a:lstStyle/>
          <a:p>
            <a:pPr algn="r"/>
            <a:r>
              <a:rPr sz="900" b="1">
                <a:solidFill>
                  <a:srgbClr val="2E7D32"/>
                </a:solidFill>
                <a:latin typeface="Calibri"/>
              </a:rPr>
              <a:t>+84</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407620"/>
          </a:xfrm>
          <a:prstGeom prst="rect">
            <a:avLst/>
          </a:prstGeom>
          <a:noFill/>
        </p:spPr>
        <p:txBody>
          <a:bodyPr wrap="square" lIns="0" rIns="19050" tIns="9525" bIns="9525">
            <a:spAutoFit/>
          </a:bodyPr>
          <a:lstStyle/>
          <a:p>
            <a:pPr algn="l"/>
            <a:r>
              <a:rPr sz="1300" b="1">
                <a:solidFill>
                  <a:srgbClr val="0B2E4A"/>
                </a:solidFill>
                <a:latin typeface="Calibri"/>
              </a:rPr>
              <a:t>South Asia &amp; Pacific Read-out, By Primary Styling Benefit</a:t>
            </a:r>
          </a:p>
        </p:txBody>
      </p:sp>
      <p:sp>
        <p:nvSpPr>
          <p:cNvPr id="46" name="Rectangle 45"/>
          <p:cNvSpPr/>
          <p:nvPr/>
        </p:nvSpPr>
        <p:spPr>
          <a:xfrm>
            <a:off x="7829550" y="150299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588720"/>
            <a:ext cx="4076700"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primary styling benefit, curl definition segment is expected to witness the highest CAGR of 9.4% over the forecast period. In terms of value share by primary styling benefit, the smoothing and frizz control segment is expected to dominate the market, gaining 84 BPS and accounting for 16.8% share by 2036.</a:t>
            </a:r>
          </a:p>
          <a:p>
            <a:pPr algn="l">
              <a:lnSpc>
                <a:spcPct val="110000"/>
              </a:lnSpc>
              <a:spcBef>
                <a:spcPts val="0"/>
              </a:spcBef>
              <a:spcAft>
                <a:spcPts val="500"/>
              </a:spcAft>
            </a:pPr>
            <a:r>
              <a:rPr sz="1150" b="0">
                <a:solidFill>
                  <a:srgbClr val="2E2E2E"/>
                </a:solidFill>
                <a:latin typeface="Calibri"/>
              </a:rPr>
              <a:t>The hold and shape segment is expected to lose 229 BPS over the forecast period to account for 14.4% share by 2036.</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Primary Styling Benefit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Primary Styling Benefit,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Growth,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Heatmap, By Primary Styling Benefit (%)  ·  light = lower, dark = higher growth</a:t>
            </a:r>
          </a:p>
        </p:txBody>
      </p:sp>
      <p:sp>
        <p:nvSpPr>
          <p:cNvPr id="17" name="TextBox 16"/>
          <p:cNvSpPr txBox="1"/>
          <p:nvPr/>
        </p:nvSpPr>
        <p:spPr>
          <a:xfrm>
            <a:off x="166143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31838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97534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632294"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28924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94619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60315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26010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91705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57401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3096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88791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4486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0182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5877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Hold and Shape</a:t>
            </a:r>
          </a:p>
        </p:txBody>
      </p:sp>
      <p:sp>
        <p:nvSpPr>
          <p:cNvPr id="33" name="Rectangle 32"/>
          <p:cNvSpPr/>
          <p:nvPr/>
        </p:nvSpPr>
        <p:spPr>
          <a:xfrm>
            <a:off x="1661437" y="3733800"/>
            <a:ext cx="656953" cy="405493"/>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318389" y="3733800"/>
            <a:ext cx="656953" cy="405493"/>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975342" y="3733800"/>
            <a:ext cx="656953" cy="405493"/>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632294" y="3733800"/>
            <a:ext cx="656953" cy="405493"/>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289247" y="3733800"/>
            <a:ext cx="656953" cy="405493"/>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946199" y="3733800"/>
            <a:ext cx="656953" cy="405493"/>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603152" y="3733800"/>
            <a:ext cx="656953" cy="405493"/>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260105" y="3733800"/>
            <a:ext cx="656953" cy="405493"/>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17057" y="3733800"/>
            <a:ext cx="656953" cy="405493"/>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574010" y="3733800"/>
            <a:ext cx="656953" cy="405493"/>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30962" y="3733800"/>
            <a:ext cx="656953" cy="405493"/>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887915" y="3733800"/>
            <a:ext cx="656953" cy="405493"/>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44867" y="3733800"/>
            <a:ext cx="656953" cy="405493"/>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01820" y="3733800"/>
            <a:ext cx="656953" cy="405493"/>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58772" y="3733800"/>
            <a:ext cx="656953" cy="405493"/>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39293"/>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Curl Definition</a:t>
            </a:r>
          </a:p>
        </p:txBody>
      </p:sp>
      <p:sp>
        <p:nvSpPr>
          <p:cNvPr id="49" name="Rectangle 48"/>
          <p:cNvSpPr/>
          <p:nvPr/>
        </p:nvSpPr>
        <p:spPr>
          <a:xfrm>
            <a:off x="1661437" y="4139293"/>
            <a:ext cx="656953" cy="40549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318389" y="4139293"/>
            <a:ext cx="656953" cy="405493"/>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975342" y="4139293"/>
            <a:ext cx="656953" cy="405493"/>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632294" y="4139293"/>
            <a:ext cx="656953" cy="405493"/>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289247" y="4139293"/>
            <a:ext cx="656953" cy="405493"/>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946199" y="4139293"/>
            <a:ext cx="656953" cy="405493"/>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603152" y="4139293"/>
            <a:ext cx="656953" cy="405493"/>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260105" y="4139293"/>
            <a:ext cx="656953" cy="405493"/>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917057" y="4139293"/>
            <a:ext cx="656953" cy="405493"/>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574010" y="4139293"/>
            <a:ext cx="656953" cy="405493"/>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30962" y="4139293"/>
            <a:ext cx="656953" cy="40549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887915" y="4139293"/>
            <a:ext cx="656953" cy="405493"/>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44867" y="4139293"/>
            <a:ext cx="656953" cy="405493"/>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01820" y="4139293"/>
            <a:ext cx="656953" cy="405493"/>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58772" y="4139293"/>
            <a:ext cx="656953" cy="405493"/>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4786"/>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Volume and Root Lift</a:t>
            </a:r>
          </a:p>
        </p:txBody>
      </p:sp>
      <p:sp>
        <p:nvSpPr>
          <p:cNvPr id="65" name="Rectangle 64"/>
          <p:cNvSpPr/>
          <p:nvPr/>
        </p:nvSpPr>
        <p:spPr>
          <a:xfrm>
            <a:off x="1661437" y="4544786"/>
            <a:ext cx="656953" cy="405493"/>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318389" y="4544786"/>
            <a:ext cx="656953" cy="405493"/>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975342" y="4544786"/>
            <a:ext cx="656953" cy="405493"/>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632294" y="4544786"/>
            <a:ext cx="656953" cy="405493"/>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289247" y="4544786"/>
            <a:ext cx="656953" cy="405493"/>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946199" y="4544786"/>
            <a:ext cx="656953" cy="405493"/>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603152" y="4544786"/>
            <a:ext cx="656953" cy="405493"/>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260105" y="4544786"/>
            <a:ext cx="656953" cy="405493"/>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917057" y="4544786"/>
            <a:ext cx="656953" cy="405493"/>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574010" y="4544786"/>
            <a:ext cx="656953" cy="405493"/>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30962" y="4544786"/>
            <a:ext cx="656953" cy="405493"/>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887915" y="4544786"/>
            <a:ext cx="656953" cy="405493"/>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44867" y="4544786"/>
            <a:ext cx="656953" cy="405493"/>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01820" y="4544786"/>
            <a:ext cx="656953" cy="405493"/>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58772" y="4544786"/>
            <a:ext cx="656953" cy="405493"/>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4950279"/>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Texture and Separation</a:t>
            </a:r>
          </a:p>
        </p:txBody>
      </p:sp>
      <p:sp>
        <p:nvSpPr>
          <p:cNvPr id="81" name="Rectangle 80"/>
          <p:cNvSpPr/>
          <p:nvPr/>
        </p:nvSpPr>
        <p:spPr>
          <a:xfrm>
            <a:off x="1661437" y="4950279"/>
            <a:ext cx="656953" cy="405493"/>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318389" y="4950279"/>
            <a:ext cx="656953" cy="405493"/>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975342" y="4950279"/>
            <a:ext cx="656953" cy="405493"/>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632294" y="4950279"/>
            <a:ext cx="656953" cy="405493"/>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289247" y="4950279"/>
            <a:ext cx="656953" cy="405493"/>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946199" y="4950279"/>
            <a:ext cx="656953" cy="405493"/>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603152" y="4950279"/>
            <a:ext cx="656953" cy="405493"/>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260105" y="4950279"/>
            <a:ext cx="656953" cy="405493"/>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917057" y="4950279"/>
            <a:ext cx="656953" cy="405493"/>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574010" y="4950279"/>
            <a:ext cx="656953" cy="405493"/>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30962" y="4950279"/>
            <a:ext cx="656953" cy="405493"/>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887915" y="4950279"/>
            <a:ext cx="656953" cy="405493"/>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44867" y="4950279"/>
            <a:ext cx="656953" cy="405493"/>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01820" y="4950279"/>
            <a:ext cx="656953" cy="405493"/>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58772" y="4950279"/>
            <a:ext cx="656953" cy="405493"/>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55771"/>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Smoothing and Frizz Control</a:t>
            </a:r>
          </a:p>
        </p:txBody>
      </p:sp>
      <p:sp>
        <p:nvSpPr>
          <p:cNvPr id="97" name="Rectangle 96"/>
          <p:cNvSpPr/>
          <p:nvPr/>
        </p:nvSpPr>
        <p:spPr>
          <a:xfrm>
            <a:off x="1661437" y="5355771"/>
            <a:ext cx="656953" cy="405493"/>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318389" y="5355771"/>
            <a:ext cx="656953" cy="40549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975342" y="5355771"/>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632294" y="5355771"/>
            <a:ext cx="656953" cy="405493"/>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289247" y="5355771"/>
            <a:ext cx="656953" cy="405493"/>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946199" y="5355771"/>
            <a:ext cx="656953" cy="40549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603152" y="5355771"/>
            <a:ext cx="656953" cy="405493"/>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260105" y="5355771"/>
            <a:ext cx="656953" cy="405493"/>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917057" y="5355771"/>
            <a:ext cx="656953" cy="405493"/>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574010" y="5355771"/>
            <a:ext cx="656953" cy="405493"/>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30962" y="5355771"/>
            <a:ext cx="656953" cy="405493"/>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887915" y="5355771"/>
            <a:ext cx="656953" cy="405493"/>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44867" y="5355771"/>
            <a:ext cx="656953" cy="405493"/>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01820" y="5355771"/>
            <a:ext cx="656953" cy="405493"/>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58772" y="5355771"/>
            <a:ext cx="656953" cy="405493"/>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761264"/>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Sleek Styling and Edge Control</a:t>
            </a:r>
          </a:p>
        </p:txBody>
      </p:sp>
      <p:sp>
        <p:nvSpPr>
          <p:cNvPr id="113" name="Rectangle 112"/>
          <p:cNvSpPr/>
          <p:nvPr/>
        </p:nvSpPr>
        <p:spPr>
          <a:xfrm>
            <a:off x="1661437" y="5761264"/>
            <a:ext cx="656953" cy="405493"/>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318389" y="5761264"/>
            <a:ext cx="656953" cy="405493"/>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2975342" y="5761264"/>
            <a:ext cx="656953" cy="405493"/>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632294" y="5761264"/>
            <a:ext cx="656953" cy="405493"/>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289247" y="5761264"/>
            <a:ext cx="656953" cy="405493"/>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4946199" y="5761264"/>
            <a:ext cx="656953" cy="405493"/>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603152" y="5761264"/>
            <a:ext cx="656953" cy="40549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260105" y="5761264"/>
            <a:ext cx="656953" cy="405493"/>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6917057" y="5761264"/>
            <a:ext cx="656953" cy="405493"/>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574010" y="5761264"/>
            <a:ext cx="656953" cy="405493"/>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30962" y="5761264"/>
            <a:ext cx="656953" cy="405493"/>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887915" y="5761264"/>
            <a:ext cx="656953" cy="405493"/>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44867" y="5761264"/>
            <a:ext cx="656953" cy="405493"/>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01820" y="5761264"/>
            <a:ext cx="656953" cy="405493"/>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58772" y="5761264"/>
            <a:ext cx="656953" cy="405493"/>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166757"/>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Heat Styling Support</a:t>
            </a:r>
          </a:p>
        </p:txBody>
      </p:sp>
      <p:sp>
        <p:nvSpPr>
          <p:cNvPr id="129" name="Rectangle 128"/>
          <p:cNvSpPr/>
          <p:nvPr/>
        </p:nvSpPr>
        <p:spPr>
          <a:xfrm>
            <a:off x="1661437" y="6166757"/>
            <a:ext cx="656953" cy="405493"/>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318389" y="6166757"/>
            <a:ext cx="656953" cy="405493"/>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2975342" y="6166757"/>
            <a:ext cx="656953" cy="405493"/>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632294" y="6166757"/>
            <a:ext cx="656953" cy="405493"/>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289247" y="6166757"/>
            <a:ext cx="656953" cy="405493"/>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4946199" y="6166757"/>
            <a:ext cx="656953" cy="405493"/>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603152" y="6166757"/>
            <a:ext cx="656953" cy="405493"/>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260105" y="6166757"/>
            <a:ext cx="656953" cy="405493"/>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6917057" y="6166757"/>
            <a:ext cx="656953" cy="405493"/>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574010" y="6166757"/>
            <a:ext cx="656953" cy="405493"/>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30962" y="6166757"/>
            <a:ext cx="656953" cy="405493"/>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887915" y="6166757"/>
            <a:ext cx="656953" cy="405493"/>
          </a:xfrm>
          <a:prstGeom prst="rect">
            <a:avLst/>
          </a:prstGeom>
          <a:solidFill>
            <a:srgbClr val="0E6A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44867" y="6166757"/>
            <a:ext cx="656953" cy="405493"/>
          </a:xfrm>
          <a:prstGeom prst="rect">
            <a:avLst/>
          </a:prstGeom>
          <a:solidFill>
            <a:srgbClr val="0D63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01820" y="6166757"/>
            <a:ext cx="656953" cy="405493"/>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58772" y="6166757"/>
            <a:ext cx="656953" cy="405493"/>
          </a:xfrm>
          <a:prstGeom prst="rect">
            <a:avLst/>
          </a:prstGeom>
          <a:solidFill>
            <a:srgbClr val="0E70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86" name="TextBox 185"/>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22.6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Hair Type Targeted</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Hair Type Targeted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Hair Type Targeted,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Hair Type Targeted segment categorizes the market by hair type targeted.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Straight Hair</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376.8</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728.1</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6.8%</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All Hair Types</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376.4</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760.3</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7.3%</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Wavy Hair</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359.2</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761.2</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7.8%</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Curly Hair</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336.9</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763.4</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8.5%</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Coily Hair</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321.6</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758.9</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9.0%</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hair type targeted, coily hair segment is expected to witness the highest CAGR of 9.0% over the forecast period. In terms of value share by hair type targeted, the curly hair segment is expected to dominate the market, gaining 122 BPS and accounting for 20.2% share by 2036.</a:t>
            </a:r>
          </a:p>
          <a:p>
            <a:pPr algn="l">
              <a:lnSpc>
                <a:spcPct val="110000"/>
              </a:lnSpc>
              <a:spcBef>
                <a:spcPts val="0"/>
              </a:spcBef>
              <a:spcAft>
                <a:spcPts val="500"/>
              </a:spcAft>
            </a:pPr>
            <a:r>
              <a:rPr sz="1100" b="0">
                <a:solidFill>
                  <a:srgbClr val="2E2E2E"/>
                </a:solidFill>
                <a:latin typeface="Calibri"/>
              </a:rPr>
              <a:t>Curly hair segment is projected to register 1.0X higher value than wavy hair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Straight Hair: </a:t>
            </a:r>
            <a:r>
              <a:rPr sz="1100" b="0">
                <a:solidFill>
                  <a:srgbClr val="2E2E2E"/>
                </a:solidFill>
                <a:latin typeface="Calibri"/>
              </a:rPr>
              <a:t>21% of 2026 value · 6.8%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All Hair Types: </a:t>
            </a:r>
            <a:r>
              <a:rPr sz="1100" b="0">
                <a:solidFill>
                  <a:srgbClr val="2E2E2E"/>
                </a:solidFill>
                <a:latin typeface="Calibri"/>
              </a:rPr>
              <a:t>21% of 2026 value · 7.3%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Wavy Hair: </a:t>
            </a:r>
            <a:r>
              <a:rPr sz="1100" b="0">
                <a:solidFill>
                  <a:srgbClr val="2E2E2E"/>
                </a:solidFill>
                <a:latin typeface="Calibri"/>
              </a:rPr>
              <a:t>20% of 2026 value · 7.8%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Curly Hair: </a:t>
            </a:r>
            <a:r>
              <a:rPr sz="1100" b="0">
                <a:solidFill>
                  <a:srgbClr val="2E2E2E"/>
                </a:solidFill>
                <a:latin typeface="Calibri"/>
              </a:rPr>
              <a:t>19% of 2026 value · 8.5%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Coily Hair: </a:t>
            </a:r>
            <a:r>
              <a:rPr sz="1100" b="0">
                <a:solidFill>
                  <a:srgbClr val="2E2E2E"/>
                </a:solidFill>
                <a:latin typeface="Calibri"/>
              </a:rPr>
              <a:t>18% of 2026 value · 9.0% CAGR grows fastest.</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Hair Type Targeted split shows how demand is distributed across hair type targeted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Hair Type Targeted segment is projected to grow at a CAGR of 7.9%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Structure &amp; Attractiveness, By Hair Type Targeted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Hair Type Targeted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Hair Type Targeted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Coily hair followed by curly hair are expected to be the two most attractive hair type targeted segments in the South Asia &amp; Pacific hair styling products market in terms of value over the forecast period. Coily hair and curly hair exhibit a CAGR index of 114.1 and 108.6 and a market share index of 90.8 and 95.1 respectively, against the segment average of 100. The straight hair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Hair Type Targeted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Straight Hair</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Wavy Hair</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Curly Hair</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Coily Hair</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Hair Type Targeted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All Hair Types</a:t>
            </a:r>
          </a:p>
        </p:txBody>
      </p:sp>
      <p:graphicFrame>
        <p:nvGraphicFramePr>
          <p:cNvPr id="12" name="Chart 11"/>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South Asia &amp; Pacific Absolute $ Opportunity Analysis, By Hair Type Targeted</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coily hair segment is anticipated to witness an increase of 2.4X in terms of value as compared to 2026. The coily hair segment is expected to create an incremental opportunity of US$ 437.2 Mn for the overall hair styling products market from 2026 to 2036.</a:t>
            </a:r>
          </a:p>
          <a:p>
            <a:pPr algn="l">
              <a:lnSpc>
                <a:spcPct val="110000"/>
              </a:lnSpc>
              <a:spcBef>
                <a:spcPts val="0"/>
              </a:spcBef>
              <a:spcAft>
                <a:spcPts val="500"/>
              </a:spcAft>
            </a:pPr>
            <a:r>
              <a:rPr sz="1150" b="0">
                <a:solidFill>
                  <a:srgbClr val="2E2E2E"/>
                </a:solidFill>
                <a:latin typeface="Calibri"/>
              </a:rPr>
              <a:t>The curly hair segment is expected to create an incremental opportunity of US$ 426.6 Mn for the overall hair styling products market from 2026 to 2036. The wavy hair segment is expected to create an incremental opportunity of US$ 401.9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Hair Type Targeted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Hair Type Targeted,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Hair Type Targeted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Analysis, By Hair Type Targeted</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Curly hair segment is projected to register 1.0X higher value than wavy hair segment in 2036. Among hair styling products by hair type targeted, coily hair segment is expected to witness the highest CAGR of 9.0% over the forecast period.</a:t>
            </a:r>
          </a:p>
          <a:p>
            <a:pPr algn="l">
              <a:lnSpc>
                <a:spcPct val="110000"/>
              </a:lnSpc>
              <a:spcBef>
                <a:spcPts val="0"/>
              </a:spcBef>
              <a:spcAft>
                <a:spcPts val="500"/>
              </a:spcAft>
            </a:pPr>
            <a:r>
              <a:rPr sz="1150" b="0">
                <a:solidFill>
                  <a:srgbClr val="2E2E2E"/>
                </a:solidFill>
                <a:latin typeface="Calibri"/>
              </a:rPr>
              <a:t>In terms of value share by hair type targeted, the curly hair segment is expected to dominate the market, gaining 122 BPS and accounting for 20.2% share by 2036. The straight hair segment is expected to lose 197 BPS over the forecast period to account for 19.3%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&amp; Share Shift, By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Hair Type Targeted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Composition, By Hair Type Targeted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112580"/>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10781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03161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Straight Hair</a:t>
            </a:r>
          </a:p>
        </p:txBody>
      </p:sp>
      <p:sp>
        <p:nvSpPr>
          <p:cNvPr id="19" name="BPS Value 1"/>
          <p:cNvSpPr txBox="1"/>
          <p:nvPr/>
        </p:nvSpPr>
        <p:spPr>
          <a:xfrm>
            <a:off x="6896100" y="2093530"/>
            <a:ext cx="514350" cy="123825"/>
          </a:xfrm>
          <a:prstGeom prst="rect">
            <a:avLst/>
          </a:prstGeom>
          <a:noFill/>
        </p:spPr>
        <p:txBody>
          <a:bodyPr wrap="none" lIns="0" rIns="0" tIns="0" bIns="0" anchor="ctr">
            <a:spAutoFit/>
          </a:bodyPr>
          <a:lstStyle/>
          <a:p>
            <a:pPr algn="r"/>
            <a:r>
              <a:rPr sz="900" b="1">
                <a:solidFill>
                  <a:srgbClr val="E44D3A"/>
                </a:solidFill>
                <a:latin typeface="Calibri"/>
              </a:rPr>
              <a:t>-197</a:t>
            </a:r>
          </a:p>
        </p:txBody>
      </p:sp>
      <p:sp>
        <p:nvSpPr>
          <p:cNvPr id="20" name="FMI Legend Chip"/>
          <p:cNvSpPr/>
          <p:nvPr/>
        </p:nvSpPr>
        <p:spPr>
          <a:xfrm>
            <a:off x="4928997" y="3013867"/>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300910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93290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Coily Hair</a:t>
            </a:r>
          </a:p>
        </p:txBody>
      </p:sp>
      <p:sp>
        <p:nvSpPr>
          <p:cNvPr id="23" name="BPS Value 2"/>
          <p:cNvSpPr txBox="1"/>
          <p:nvPr/>
        </p:nvSpPr>
        <p:spPr>
          <a:xfrm>
            <a:off x="6896100" y="2994817"/>
            <a:ext cx="514350" cy="123825"/>
          </a:xfrm>
          <a:prstGeom prst="rect">
            <a:avLst/>
          </a:prstGeom>
          <a:noFill/>
        </p:spPr>
        <p:txBody>
          <a:bodyPr wrap="none" lIns="0" rIns="0" tIns="0" bIns="0" anchor="ctr">
            <a:spAutoFit/>
          </a:bodyPr>
          <a:lstStyle/>
          <a:p>
            <a:pPr algn="r"/>
            <a:r>
              <a:rPr sz="900" b="1">
                <a:solidFill>
                  <a:srgbClr val="2E7D32"/>
                </a:solidFill>
                <a:latin typeface="Calibri"/>
              </a:rPr>
              <a:t>+196</a:t>
            </a:r>
          </a:p>
        </p:txBody>
      </p:sp>
      <p:sp>
        <p:nvSpPr>
          <p:cNvPr id="24" name="FMI Legend Chip"/>
          <p:cNvSpPr/>
          <p:nvPr/>
        </p:nvSpPr>
        <p:spPr>
          <a:xfrm>
            <a:off x="4928997" y="393464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92988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85368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All Hair Types</a:t>
            </a:r>
          </a:p>
        </p:txBody>
      </p:sp>
      <p:sp>
        <p:nvSpPr>
          <p:cNvPr id="27" name="BPS Value 3"/>
          <p:cNvSpPr txBox="1"/>
          <p:nvPr/>
        </p:nvSpPr>
        <p:spPr>
          <a:xfrm>
            <a:off x="6896100" y="3915594"/>
            <a:ext cx="514350" cy="123825"/>
          </a:xfrm>
          <a:prstGeom prst="rect">
            <a:avLst/>
          </a:prstGeom>
          <a:noFill/>
        </p:spPr>
        <p:txBody>
          <a:bodyPr wrap="none" lIns="0" rIns="0" tIns="0" bIns="0" anchor="ctr">
            <a:spAutoFit/>
          </a:bodyPr>
          <a:lstStyle/>
          <a:p>
            <a:pPr algn="r"/>
            <a:r>
              <a:rPr sz="900" b="1">
                <a:solidFill>
                  <a:srgbClr val="E44D3A"/>
                </a:solidFill>
                <a:latin typeface="Calibri"/>
              </a:rPr>
              <a:t>-110</a:t>
            </a:r>
          </a:p>
        </p:txBody>
      </p:sp>
      <p:sp>
        <p:nvSpPr>
          <p:cNvPr id="28" name="FMI Legend Chip"/>
          <p:cNvSpPr/>
          <p:nvPr/>
        </p:nvSpPr>
        <p:spPr>
          <a:xfrm>
            <a:off x="4928997" y="485682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85205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77585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Wavy Hair</a:t>
            </a:r>
          </a:p>
        </p:txBody>
      </p:sp>
      <p:sp>
        <p:nvSpPr>
          <p:cNvPr id="31" name="BPS Value 4"/>
          <p:cNvSpPr txBox="1"/>
          <p:nvPr/>
        </p:nvSpPr>
        <p:spPr>
          <a:xfrm>
            <a:off x="6896100" y="4837771"/>
            <a:ext cx="514350" cy="123825"/>
          </a:xfrm>
          <a:prstGeom prst="rect">
            <a:avLst/>
          </a:prstGeom>
          <a:noFill/>
        </p:spPr>
        <p:txBody>
          <a:bodyPr wrap="none" lIns="0" rIns="0" tIns="0" bIns="0" anchor="ctr">
            <a:spAutoFit/>
          </a:bodyPr>
          <a:lstStyle/>
          <a:p>
            <a:pPr algn="r"/>
            <a:r>
              <a:rPr sz="900" b="1">
                <a:solidFill>
                  <a:srgbClr val="E44D3A"/>
                </a:solidFill>
                <a:latin typeface="Calibri"/>
              </a:rPr>
              <a:t>-10</a:t>
            </a:r>
          </a:p>
        </p:txBody>
      </p:sp>
      <p:sp>
        <p:nvSpPr>
          <p:cNvPr id="32" name="FMI Legend Chip"/>
          <p:cNvSpPr/>
          <p:nvPr/>
        </p:nvSpPr>
        <p:spPr>
          <a:xfrm>
            <a:off x="4928997" y="578091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577614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9994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Curly Hair</a:t>
            </a:r>
          </a:p>
        </p:txBody>
      </p:sp>
      <p:sp>
        <p:nvSpPr>
          <p:cNvPr id="35" name="BPS Value 5"/>
          <p:cNvSpPr txBox="1"/>
          <p:nvPr/>
        </p:nvSpPr>
        <p:spPr>
          <a:xfrm>
            <a:off x="6896100" y="5761861"/>
            <a:ext cx="514350" cy="123825"/>
          </a:xfrm>
          <a:prstGeom prst="rect">
            <a:avLst/>
          </a:prstGeom>
          <a:noFill/>
        </p:spPr>
        <p:txBody>
          <a:bodyPr wrap="none" lIns="0" rIns="0" tIns="0" bIns="0" anchor="ctr">
            <a:spAutoFit/>
          </a:bodyPr>
          <a:lstStyle/>
          <a:p>
            <a:pPr algn="r"/>
            <a:r>
              <a:rPr sz="900" b="1">
                <a:solidFill>
                  <a:srgbClr val="2E7D32"/>
                </a:solidFill>
                <a:latin typeface="Calibri"/>
              </a:rPr>
              <a:t>+122</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Read-out, By Hair Type Targeted</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hair type targeted, coily hair segment is expected to witness the highest CAGR of 9.0% over the forecast period. In terms of value share by hair type targeted, the curly hair segment is expected to dominate the market, gaining 122 BPS and accounting for 20.2% share by 2036.</a:t>
            </a:r>
          </a:p>
          <a:p>
            <a:pPr algn="l">
              <a:lnSpc>
                <a:spcPct val="110000"/>
              </a:lnSpc>
              <a:spcBef>
                <a:spcPts val="0"/>
              </a:spcBef>
              <a:spcAft>
                <a:spcPts val="500"/>
              </a:spcAft>
            </a:pPr>
            <a:r>
              <a:rPr sz="1150" b="0">
                <a:solidFill>
                  <a:srgbClr val="2E2E2E"/>
                </a:solidFill>
                <a:latin typeface="Calibri"/>
              </a:rPr>
              <a:t>The straight hair segment is expected to lose 197 BPS over the forecast period to account for 19.3%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Hair Type Targeted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Hair Type Targeted,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Growth,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1295400"/>
        </p:xfrm>
        <a:graphic>
          <a:graphicData uri="http://schemas.openxmlformats.org/drawingml/2006/table">
            <a:tbl>
              <a:tblPr>
                <a:tableStyleId>{5C22544A-7EE6-4342-B048-85BDC9FD1C3A}</a:tableStyleId>
              </a:tblPr>
              <a:tblGrid>
                <a:gridCol w="1367167"/>
                <a:gridCol w="701336"/>
                <a:gridCol w="701336"/>
                <a:gridCol w="701336"/>
                <a:gridCol w="701336"/>
                <a:gridCol w="701336"/>
                <a:gridCol w="701336"/>
                <a:gridCol w="701336"/>
                <a:gridCol w="701336"/>
                <a:gridCol w="701336"/>
                <a:gridCol w="701336"/>
                <a:gridCol w="701336"/>
                <a:gridCol w="701336"/>
                <a:gridCol w="701336"/>
                <a:gridCol w="701336"/>
                <a:gridCol w="701336"/>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Heatmap, By Hair Type Targeted (%)  ·  light = lower, dark = higher growth</a:t>
            </a:r>
          </a:p>
        </p:txBody>
      </p:sp>
      <p:sp>
        <p:nvSpPr>
          <p:cNvPr id="17" name="TextBox 16"/>
          <p:cNvSpPr txBox="1"/>
          <p:nvPr/>
        </p:nvSpPr>
        <p:spPr>
          <a:xfrm>
            <a:off x="917783"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62431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33084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03737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74390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45043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15696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86348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57001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27654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798307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68960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39613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0266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0919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Straight Hair</a:t>
            </a:r>
          </a:p>
        </p:txBody>
      </p:sp>
      <p:sp>
        <p:nvSpPr>
          <p:cNvPr id="33" name="Rectangle 32"/>
          <p:cNvSpPr/>
          <p:nvPr/>
        </p:nvSpPr>
        <p:spPr>
          <a:xfrm>
            <a:off x="917783" y="3305175"/>
            <a:ext cx="706529" cy="653415"/>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624312" y="3305175"/>
            <a:ext cx="706529" cy="653415"/>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330842" y="3305175"/>
            <a:ext cx="706529" cy="65341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037371" y="3305175"/>
            <a:ext cx="706529" cy="65341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743901" y="3305175"/>
            <a:ext cx="706529" cy="653415"/>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450430" y="3305175"/>
            <a:ext cx="706529" cy="65341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156960" y="3305175"/>
            <a:ext cx="706529" cy="653415"/>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863489" y="3305175"/>
            <a:ext cx="706529" cy="653415"/>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570019" y="3305175"/>
            <a:ext cx="706529" cy="653415"/>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276548" y="3305175"/>
            <a:ext cx="706529" cy="65341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983078" y="3305175"/>
            <a:ext cx="706529" cy="653415"/>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689607" y="3305175"/>
            <a:ext cx="706529" cy="653415"/>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396137" y="3305175"/>
            <a:ext cx="706529" cy="653415"/>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02666" y="3305175"/>
            <a:ext cx="706529" cy="653415"/>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09196" y="3305175"/>
            <a:ext cx="706529" cy="653415"/>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Wavy Hair</a:t>
            </a:r>
          </a:p>
        </p:txBody>
      </p:sp>
      <p:sp>
        <p:nvSpPr>
          <p:cNvPr id="49" name="Rectangle 48"/>
          <p:cNvSpPr/>
          <p:nvPr/>
        </p:nvSpPr>
        <p:spPr>
          <a:xfrm>
            <a:off x="917783" y="3958590"/>
            <a:ext cx="706529" cy="653415"/>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624312" y="3958590"/>
            <a:ext cx="706529" cy="653415"/>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330842" y="3958590"/>
            <a:ext cx="706529" cy="65341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037371" y="3958590"/>
            <a:ext cx="706529" cy="653415"/>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743901" y="3958590"/>
            <a:ext cx="706529" cy="653415"/>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450430" y="3958590"/>
            <a:ext cx="706529" cy="653415"/>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156960" y="3958590"/>
            <a:ext cx="706529" cy="653415"/>
          </a:xfrm>
          <a:prstGeom prst="rect">
            <a:avLst/>
          </a:prstGeom>
          <a:solidFill>
            <a:srgbClr val="7C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863489" y="3958590"/>
            <a:ext cx="706529" cy="653415"/>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570019" y="3958590"/>
            <a:ext cx="706529" cy="653415"/>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276548" y="3958590"/>
            <a:ext cx="706529" cy="653415"/>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7983078" y="3958590"/>
            <a:ext cx="706529" cy="653415"/>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689607" y="3958590"/>
            <a:ext cx="706529" cy="653415"/>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396137" y="3958590"/>
            <a:ext cx="706529" cy="653415"/>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02666" y="3958590"/>
            <a:ext cx="706529" cy="653415"/>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09196" y="3958590"/>
            <a:ext cx="706529" cy="653415"/>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Curly Hair</a:t>
            </a:r>
          </a:p>
        </p:txBody>
      </p:sp>
      <p:sp>
        <p:nvSpPr>
          <p:cNvPr id="65" name="Rectangle 64"/>
          <p:cNvSpPr/>
          <p:nvPr/>
        </p:nvSpPr>
        <p:spPr>
          <a:xfrm>
            <a:off x="917783" y="4612005"/>
            <a:ext cx="706529" cy="65341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624312" y="4612005"/>
            <a:ext cx="706529" cy="65341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330842" y="4612005"/>
            <a:ext cx="706529" cy="65341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037371" y="4612005"/>
            <a:ext cx="706529" cy="65341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743901" y="4612005"/>
            <a:ext cx="706529" cy="65341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450430" y="4612005"/>
            <a:ext cx="706529" cy="653415"/>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156960" y="4612005"/>
            <a:ext cx="706529" cy="653415"/>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863489" y="4612005"/>
            <a:ext cx="706529" cy="653415"/>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570019" y="4612005"/>
            <a:ext cx="706529" cy="653415"/>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276548" y="4612005"/>
            <a:ext cx="706529" cy="653415"/>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7983078" y="4612005"/>
            <a:ext cx="706529" cy="653415"/>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689607" y="4612005"/>
            <a:ext cx="706529" cy="653415"/>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396137" y="4612005"/>
            <a:ext cx="706529" cy="653415"/>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02666" y="4612005"/>
            <a:ext cx="706529" cy="653415"/>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09196" y="4612005"/>
            <a:ext cx="706529" cy="653415"/>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Coily Hair</a:t>
            </a:r>
          </a:p>
        </p:txBody>
      </p:sp>
      <p:sp>
        <p:nvSpPr>
          <p:cNvPr id="81" name="Rectangle 80"/>
          <p:cNvSpPr/>
          <p:nvPr/>
        </p:nvSpPr>
        <p:spPr>
          <a:xfrm>
            <a:off x="917783" y="5265420"/>
            <a:ext cx="706529"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624312" y="5265420"/>
            <a:ext cx="706529"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330842" y="5265420"/>
            <a:ext cx="706529" cy="653415"/>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037371" y="5265420"/>
            <a:ext cx="706529"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743901" y="5265420"/>
            <a:ext cx="706529" cy="653415"/>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450430" y="5265420"/>
            <a:ext cx="706529" cy="653415"/>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156960" y="5265420"/>
            <a:ext cx="706529" cy="653415"/>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5863489" y="5265420"/>
            <a:ext cx="706529" cy="653415"/>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570019" y="5265420"/>
            <a:ext cx="706529" cy="653415"/>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276548" y="5265420"/>
            <a:ext cx="706529" cy="653415"/>
          </a:xfrm>
          <a:prstGeom prst="rect">
            <a:avLst/>
          </a:prstGeom>
          <a:solidFill>
            <a:srgbClr val="0C4A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7983078" y="5265420"/>
            <a:ext cx="706529"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689607" y="5265420"/>
            <a:ext cx="706529" cy="653415"/>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396137" y="5265420"/>
            <a:ext cx="706529" cy="653415"/>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02666" y="5265420"/>
            <a:ext cx="706529" cy="653415"/>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09196" y="5265420"/>
            <a:ext cx="706529" cy="653415"/>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All Hair Types</a:t>
            </a:r>
          </a:p>
        </p:txBody>
      </p:sp>
      <p:sp>
        <p:nvSpPr>
          <p:cNvPr id="97" name="Rectangle 96"/>
          <p:cNvSpPr/>
          <p:nvPr/>
        </p:nvSpPr>
        <p:spPr>
          <a:xfrm>
            <a:off x="917783" y="5918835"/>
            <a:ext cx="706529" cy="65341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624312" y="5918835"/>
            <a:ext cx="706529" cy="653415"/>
          </a:xfrm>
          <a:prstGeom prst="rect">
            <a:avLst/>
          </a:prstGeom>
          <a:solidFill>
            <a:srgbClr val="D6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330842" y="5918835"/>
            <a:ext cx="706529" cy="65341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037371" y="5918835"/>
            <a:ext cx="706529" cy="653415"/>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743901" y="5918835"/>
            <a:ext cx="706529" cy="65341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450430" y="5918835"/>
            <a:ext cx="706529" cy="653415"/>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156960" y="5918835"/>
            <a:ext cx="706529" cy="653415"/>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5863489" y="5918835"/>
            <a:ext cx="706529" cy="65341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570019" y="5918835"/>
            <a:ext cx="706529" cy="653415"/>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276548" y="5918835"/>
            <a:ext cx="706529" cy="653415"/>
          </a:xfrm>
          <a:prstGeom prst="rect">
            <a:avLst/>
          </a:prstGeom>
          <a:solidFill>
            <a:srgbClr val="7F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7983078" y="5918835"/>
            <a:ext cx="706529" cy="653415"/>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689607" y="5918835"/>
            <a:ext cx="706529" cy="65341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396137" y="5918835"/>
            <a:ext cx="706529" cy="653415"/>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02666" y="5918835"/>
            <a:ext cx="706529" cy="653415"/>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09196" y="5918835"/>
            <a:ext cx="706529" cy="653415"/>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22.7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Ingredient 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Ingredient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Ingredient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Ingredient Technology segment categorizes the market by ingredient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Film-forming and Fixative Polymers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459.9</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905.2</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7.0%</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Volume Additives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445.4</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981.4</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8.2%</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Conditioning and Smoothing Agents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441.9</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906.5</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7.4%</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and Structuring Agents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423.7</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978.7</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8.7%</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ingredient technology, waxes and structuring agents segment is expected to witness the highest CAGR of 8.7% over the forecast period. In terms of value share by ingredient technology, the texture and volume additives segment is expected to dominate the market, gaining 87 BPS and accounting for 26.0% share by 2036.</a:t>
            </a:r>
          </a:p>
          <a:p>
            <a:pPr algn="l">
              <a:lnSpc>
                <a:spcPct val="110000"/>
              </a:lnSpc>
              <a:spcBef>
                <a:spcPts val="0"/>
              </a:spcBef>
              <a:spcAft>
                <a:spcPts val="500"/>
              </a:spcAft>
            </a:pPr>
            <a:r>
              <a:rPr sz="1100" b="0">
                <a:solidFill>
                  <a:srgbClr val="2E2E2E"/>
                </a:solidFill>
                <a:latin typeface="Calibri"/>
              </a:rPr>
              <a:t>Texture and volume additives segment is projected to register 1.0X higher value than waxes and structuring agents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Film-forming and Fixative Polymers: </a:t>
            </a:r>
            <a:r>
              <a:rPr sz="1100" b="0">
                <a:solidFill>
                  <a:srgbClr val="2E2E2E"/>
                </a:solidFill>
                <a:latin typeface="Calibri"/>
              </a:rPr>
              <a:t>26% of 2026 value · 7.0%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Texture and Volume Additives: </a:t>
            </a:r>
            <a:r>
              <a:rPr sz="1100" b="0">
                <a:solidFill>
                  <a:srgbClr val="2E2E2E"/>
                </a:solidFill>
                <a:latin typeface="Calibri"/>
              </a:rPr>
              <a:t>25% of 2026 value · 8.2%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Conditioning and Smoothing Agents: </a:t>
            </a:r>
            <a:r>
              <a:rPr sz="1100" b="0">
                <a:solidFill>
                  <a:srgbClr val="2E2E2E"/>
                </a:solidFill>
                <a:latin typeface="Calibri"/>
              </a:rPr>
              <a:t>25% of 2026 value · 7.4%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Waxes and Structuring Agents: </a:t>
            </a:r>
            <a:r>
              <a:rPr sz="1100" b="0">
                <a:solidFill>
                  <a:srgbClr val="2E2E2E"/>
                </a:solidFill>
                <a:latin typeface="Calibri"/>
              </a:rPr>
              <a:t>24% of 2026 value · 8.7%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Ingredient Technology split shows how demand is distributed across ingredient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Ingredient Technology segment is projected to grow at a CAGR of 7.9%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Structure &amp; Attractiveness, By Ingredient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Ingredient Technology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Ingredient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Waxes and structuring agents followed by texture and volume additives are expected to be the two most attractive ingredient technology segments in the South Asia &amp; Pacific hair styling products market in terms of value over the forecast period. Waxes and structuring agents and texture and volume additives exhibit a CAGR index of 111.2 and 104.7 and a market share index of 95.7 and 100.6 respectively, against the segment average of 100. The film-forming and fixative polymers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Ingredient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Film-forming and Fixative Polymers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Texture and Volume Additives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Conditioning and Smoothing Agents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Waxes and Structuring Agents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Ingredient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Ingredient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Ingredient Technology (US$ Mn)</a:t>
            </a:r>
          </a:p>
        </p:txBody>
      </p:sp>
      <p:graphicFrame>
        <p:nvGraphicFramePr>
          <p:cNvPr id="13" name="Table 12"/>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29200"/>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114925"/>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Analysis, By Ingredient Technology</a:t>
            </a:r>
          </a:p>
        </p:txBody>
      </p:sp>
      <p:sp>
        <p:nvSpPr>
          <p:cNvPr id="17" name="Rectangle 16"/>
          <p:cNvSpPr/>
          <p:nvPr/>
        </p:nvSpPr>
        <p:spPr>
          <a:xfrm>
            <a:off x="276225" y="5353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438775"/>
            <a:ext cx="11639550"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Texture and volume additives segment is projected to register 1.0X higher value than waxes and structuring agents segment in 2036. Among hair styling products by ingredient technology, waxes and structuring agents segment is expected to witness the highest CAGR of 8.7% over the forecast period.</a:t>
            </a:r>
          </a:p>
          <a:p>
            <a:pPr algn="l">
              <a:lnSpc>
                <a:spcPct val="110000"/>
              </a:lnSpc>
              <a:spcBef>
                <a:spcPts val="0"/>
              </a:spcBef>
              <a:spcAft>
                <a:spcPts val="500"/>
              </a:spcAft>
            </a:pPr>
            <a:r>
              <a:rPr sz="1150" b="0">
                <a:solidFill>
                  <a:srgbClr val="2E2E2E"/>
                </a:solidFill>
                <a:latin typeface="Calibri"/>
              </a:rPr>
              <a:t>In terms of value share by ingredient technology, the texture and volume additives segment is expected to dominate the market, gaining 87 BPS and accounting for 26.0% share by 2036. The film-forming and fixative polymers segment is expected to lose 197 BPS over the forecast period to account for 24.0%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&amp; Share Shift,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Ingredient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Composition, By Ingredient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219938"/>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21517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13897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Film-forming and Fixative Polymers</a:t>
            </a:r>
          </a:p>
        </p:txBody>
      </p:sp>
      <p:sp>
        <p:nvSpPr>
          <p:cNvPr id="19" name="BPS Value 1"/>
          <p:cNvSpPr txBox="1"/>
          <p:nvPr/>
        </p:nvSpPr>
        <p:spPr>
          <a:xfrm>
            <a:off x="6896100" y="2200888"/>
            <a:ext cx="514350" cy="123825"/>
          </a:xfrm>
          <a:prstGeom prst="rect">
            <a:avLst/>
          </a:prstGeom>
          <a:noFill/>
        </p:spPr>
        <p:txBody>
          <a:bodyPr wrap="none" lIns="0" rIns="0" tIns="0" bIns="0" anchor="ctr">
            <a:spAutoFit/>
          </a:bodyPr>
          <a:lstStyle/>
          <a:p>
            <a:pPr algn="r"/>
            <a:r>
              <a:rPr sz="900" b="1">
                <a:solidFill>
                  <a:srgbClr val="E44D3A"/>
                </a:solidFill>
                <a:latin typeface="Calibri"/>
              </a:rPr>
              <a:t>-197</a:t>
            </a:r>
          </a:p>
        </p:txBody>
      </p:sp>
      <p:sp>
        <p:nvSpPr>
          <p:cNvPr id="20" name="FMI Legend Chip"/>
          <p:cNvSpPr/>
          <p:nvPr/>
        </p:nvSpPr>
        <p:spPr>
          <a:xfrm>
            <a:off x="4928997" y="3318077"/>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31331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23711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Conditioning and Smoothing Agents</a:t>
            </a:r>
          </a:p>
        </p:txBody>
      </p:sp>
      <p:sp>
        <p:nvSpPr>
          <p:cNvPr id="23" name="BPS Value 2"/>
          <p:cNvSpPr txBox="1"/>
          <p:nvPr/>
        </p:nvSpPr>
        <p:spPr>
          <a:xfrm>
            <a:off x="6896100" y="3299027"/>
            <a:ext cx="514350" cy="123825"/>
          </a:xfrm>
          <a:prstGeom prst="rect">
            <a:avLst/>
          </a:prstGeom>
          <a:noFill/>
        </p:spPr>
        <p:txBody>
          <a:bodyPr wrap="none" lIns="0" rIns="0" tIns="0" bIns="0" anchor="ctr">
            <a:spAutoFit/>
          </a:bodyPr>
          <a:lstStyle/>
          <a:p>
            <a:pPr algn="r"/>
            <a:r>
              <a:rPr sz="900" b="1">
                <a:solidFill>
                  <a:srgbClr val="E44D3A"/>
                </a:solidFill>
                <a:latin typeface="Calibri"/>
              </a:rPr>
              <a:t>-92</a:t>
            </a:r>
          </a:p>
        </p:txBody>
      </p:sp>
      <p:sp>
        <p:nvSpPr>
          <p:cNvPr id="24" name="FMI Legend Chip"/>
          <p:cNvSpPr/>
          <p:nvPr/>
        </p:nvSpPr>
        <p:spPr>
          <a:xfrm>
            <a:off x="4928997" y="446073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45597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37977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and Structuring Agents</a:t>
            </a:r>
          </a:p>
        </p:txBody>
      </p:sp>
      <p:sp>
        <p:nvSpPr>
          <p:cNvPr id="27" name="BPS Value 3"/>
          <p:cNvSpPr txBox="1"/>
          <p:nvPr/>
        </p:nvSpPr>
        <p:spPr>
          <a:xfrm>
            <a:off x="6896100" y="4441683"/>
            <a:ext cx="514350" cy="123825"/>
          </a:xfrm>
          <a:prstGeom prst="rect">
            <a:avLst/>
          </a:prstGeom>
          <a:noFill/>
        </p:spPr>
        <p:txBody>
          <a:bodyPr wrap="none" lIns="0" rIns="0" tIns="0" bIns="0" anchor="ctr">
            <a:spAutoFit/>
          </a:bodyPr>
          <a:lstStyle/>
          <a:p>
            <a:pPr algn="r"/>
            <a:r>
              <a:rPr sz="900" b="1">
                <a:solidFill>
                  <a:srgbClr val="2E7D32"/>
                </a:solidFill>
                <a:latin typeface="Calibri"/>
              </a:rPr>
              <a:t>+202</a:t>
            </a:r>
          </a:p>
        </p:txBody>
      </p:sp>
      <p:sp>
        <p:nvSpPr>
          <p:cNvPr id="28" name="FMI Legend Chip"/>
          <p:cNvSpPr/>
          <p:nvPr/>
        </p:nvSpPr>
        <p:spPr>
          <a:xfrm>
            <a:off x="4928997" y="564878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64402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56782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Volume Additives</a:t>
            </a:r>
          </a:p>
        </p:txBody>
      </p:sp>
      <p:sp>
        <p:nvSpPr>
          <p:cNvPr id="31" name="BPS Value 4"/>
          <p:cNvSpPr txBox="1"/>
          <p:nvPr/>
        </p:nvSpPr>
        <p:spPr>
          <a:xfrm>
            <a:off x="6896100" y="5629735"/>
            <a:ext cx="514350" cy="123825"/>
          </a:xfrm>
          <a:prstGeom prst="rect">
            <a:avLst/>
          </a:prstGeom>
          <a:noFill/>
        </p:spPr>
        <p:txBody>
          <a:bodyPr wrap="none" lIns="0" rIns="0" tIns="0" bIns="0" anchor="ctr">
            <a:spAutoFit/>
          </a:bodyPr>
          <a:lstStyle/>
          <a:p>
            <a:pPr algn="r"/>
            <a:r>
              <a:rPr sz="900" b="1">
                <a:solidFill>
                  <a:srgbClr val="2E7D32"/>
                </a:solidFill>
                <a:latin typeface="Calibri"/>
              </a:rPr>
              <a:t>+87</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407620"/>
          </a:xfrm>
          <a:prstGeom prst="rect">
            <a:avLst/>
          </a:prstGeom>
          <a:noFill/>
        </p:spPr>
        <p:txBody>
          <a:bodyPr wrap="square" lIns="0" rIns="19050" tIns="9525" bIns="9525">
            <a:spAutoFit/>
          </a:bodyPr>
          <a:lstStyle/>
          <a:p>
            <a:pPr algn="l"/>
            <a:r>
              <a:rPr sz="1300" b="1">
                <a:solidFill>
                  <a:srgbClr val="0B2E4A"/>
                </a:solidFill>
                <a:latin typeface="Calibri"/>
              </a:rPr>
              <a:t>South Asia &amp; Pacific Read-out, By Ingredient Technology</a:t>
            </a:r>
          </a:p>
        </p:txBody>
      </p:sp>
      <p:sp>
        <p:nvSpPr>
          <p:cNvPr id="34" name="Rectangle 33"/>
          <p:cNvSpPr/>
          <p:nvPr/>
        </p:nvSpPr>
        <p:spPr>
          <a:xfrm>
            <a:off x="7829550" y="150299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588720"/>
            <a:ext cx="4076700"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ingredient technology, waxes and structuring agents segment is expected to witness the highest CAGR of 8.7% over the forecast period. In terms of value share by ingredient technology, the texture and volume additives segment is expected to dominate the market, gaining 87 BPS and accounting for 26.0% share by 2036.</a:t>
            </a:r>
          </a:p>
          <a:p>
            <a:pPr algn="l">
              <a:lnSpc>
                <a:spcPct val="110000"/>
              </a:lnSpc>
              <a:spcBef>
                <a:spcPts val="0"/>
              </a:spcBef>
              <a:spcAft>
                <a:spcPts val="500"/>
              </a:spcAft>
            </a:pPr>
            <a:r>
              <a:rPr sz="1150" b="0">
                <a:solidFill>
                  <a:srgbClr val="2E2E2E"/>
                </a:solidFill>
                <a:latin typeface="Calibri"/>
              </a:rPr>
              <a:t>The film-forming and fixative polymers segment is expected to lose 197 BPS over the forecast period to account for 24.0% share by 2036.</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Ingredient Technology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3695700"/>
          </a:xfrm>
          <a:prstGeom prst="roundRect">
            <a:avLst>
              <a:gd name="adj" fmla="val 20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Growth,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3228975"/>
        </p:xfrm>
        <a:graphic>
          <a:graphicData uri="http://schemas.openxmlformats.org/drawingml/2006/table">
            <a:tbl>
              <a:tblPr>
                <a:tableStyleId>{5C22544A-7EE6-4342-B048-85BDC9FD1C3A}</a:tableStyleId>
              </a:tblPr>
              <a:tblGrid>
                <a:gridCol w="2732910"/>
                <a:gridCol w="580080"/>
                <a:gridCol w="580080"/>
                <a:gridCol w="580080"/>
                <a:gridCol w="580080"/>
                <a:gridCol w="580080"/>
                <a:gridCol w="580080"/>
                <a:gridCol w="580080"/>
                <a:gridCol w="580080"/>
                <a:gridCol w="580080"/>
                <a:gridCol w="655595"/>
                <a:gridCol w="655595"/>
                <a:gridCol w="655595"/>
                <a:gridCol w="655595"/>
                <a:gridCol w="655595"/>
                <a:gridCol w="655595"/>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76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Ingredient Technology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Heatmap, By Ingredient Technology (%)  ·  light = lower, dark = higher growth</a:t>
            </a:r>
          </a:p>
        </p:txBody>
      </p:sp>
      <p:sp>
        <p:nvSpPr>
          <p:cNvPr id="12" name="TextBox 11"/>
          <p:cNvSpPr txBox="1"/>
          <p:nvPr/>
        </p:nvSpPr>
        <p:spPr>
          <a:xfrm>
            <a:off x="2178532"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80101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42349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404597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66845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29093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91340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53588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15836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78084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40332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902580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64828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7076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93245"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Film-forming and Fixative Polymers</a:t>
            </a:r>
          </a:p>
        </p:txBody>
      </p:sp>
      <p:sp>
        <p:nvSpPr>
          <p:cNvPr id="28" name="Rectangle 27"/>
          <p:cNvSpPr/>
          <p:nvPr/>
        </p:nvSpPr>
        <p:spPr>
          <a:xfrm>
            <a:off x="2178532" y="1409700"/>
            <a:ext cx="622480" cy="36875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801011" y="1409700"/>
            <a:ext cx="622480" cy="368754"/>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423491" y="1409700"/>
            <a:ext cx="622480" cy="36875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4045971" y="1409700"/>
            <a:ext cx="622480" cy="36875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668450" y="1409700"/>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290930" y="1409700"/>
            <a:ext cx="622480" cy="368754"/>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409" y="1409700"/>
            <a:ext cx="622480" cy="368754"/>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535889" y="1409700"/>
            <a:ext cx="622480" cy="36875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158368" y="1409700"/>
            <a:ext cx="622480" cy="36875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780848" y="1409700"/>
            <a:ext cx="622480" cy="36875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403327" y="1409700"/>
            <a:ext cx="622480" cy="368754"/>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9025807" y="1409700"/>
            <a:ext cx="622480" cy="368754"/>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648286" y="1409700"/>
            <a:ext cx="622480" cy="368754"/>
          </a:xfrm>
          <a:prstGeom prst="rect">
            <a:avLst/>
          </a:prstGeom>
          <a:solidFill>
            <a:srgbClr val="87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70766" y="1409700"/>
            <a:ext cx="622480" cy="368754"/>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93245" y="1409700"/>
            <a:ext cx="622480" cy="368754"/>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7845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Polymers</a:t>
            </a:r>
          </a:p>
        </p:txBody>
      </p:sp>
      <p:sp>
        <p:nvSpPr>
          <p:cNvPr id="44" name="Rectangle 43"/>
          <p:cNvSpPr/>
          <p:nvPr/>
        </p:nvSpPr>
        <p:spPr>
          <a:xfrm>
            <a:off x="2178532" y="1778454"/>
            <a:ext cx="622480" cy="36875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801011" y="1778454"/>
            <a:ext cx="622480" cy="368754"/>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423491" y="1778454"/>
            <a:ext cx="622480" cy="368754"/>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4045971" y="1778454"/>
            <a:ext cx="622480" cy="36875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668450" y="1778454"/>
            <a:ext cx="622480" cy="368754"/>
          </a:xfrm>
          <a:prstGeom prst="rect">
            <a:avLst/>
          </a:prstGeom>
          <a:solidFill>
            <a:srgbClr val="E6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290930" y="1778454"/>
            <a:ext cx="622480" cy="36875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913409" y="1778454"/>
            <a:ext cx="622480" cy="36875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535889" y="1778454"/>
            <a:ext cx="622480" cy="36875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158368" y="1778454"/>
            <a:ext cx="622480" cy="36875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780848" y="1778454"/>
            <a:ext cx="622480" cy="36875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403327" y="1778454"/>
            <a:ext cx="622480" cy="36875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9025807" y="1778454"/>
            <a:ext cx="622480" cy="36875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648286" y="1778454"/>
            <a:ext cx="622480" cy="36875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70766" y="1778454"/>
            <a:ext cx="622480" cy="368754"/>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93245" y="1778454"/>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147207"/>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Bio-based Polymers</a:t>
            </a:r>
          </a:p>
        </p:txBody>
      </p:sp>
      <p:sp>
        <p:nvSpPr>
          <p:cNvPr id="60" name="Rectangle 59"/>
          <p:cNvSpPr/>
          <p:nvPr/>
        </p:nvSpPr>
        <p:spPr>
          <a:xfrm>
            <a:off x="2178532" y="2147207"/>
            <a:ext cx="622480" cy="36875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801011" y="2147207"/>
            <a:ext cx="622480" cy="36875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423491" y="2147207"/>
            <a:ext cx="622480" cy="368754"/>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4045971" y="2147207"/>
            <a:ext cx="622480" cy="36875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668450" y="2147207"/>
            <a:ext cx="622480" cy="36875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290930" y="2147207"/>
            <a:ext cx="622480" cy="368754"/>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913409" y="2147207"/>
            <a:ext cx="622480" cy="368754"/>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535889" y="2147207"/>
            <a:ext cx="622480" cy="36875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158368" y="2147207"/>
            <a:ext cx="622480" cy="368754"/>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780848" y="2147207"/>
            <a:ext cx="622480" cy="36875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403327" y="2147207"/>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9025807" y="2147207"/>
            <a:ext cx="622480" cy="368754"/>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48286" y="2147207"/>
            <a:ext cx="622480" cy="368754"/>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70766" y="2147207"/>
            <a:ext cx="622480" cy="36875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93245" y="2147207"/>
            <a:ext cx="622480" cy="36875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51596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Biodegradable Polymers</a:t>
            </a:r>
          </a:p>
        </p:txBody>
      </p:sp>
      <p:sp>
        <p:nvSpPr>
          <p:cNvPr id="76" name="Rectangle 75"/>
          <p:cNvSpPr/>
          <p:nvPr/>
        </p:nvSpPr>
        <p:spPr>
          <a:xfrm>
            <a:off x="2178532" y="2515961"/>
            <a:ext cx="622480" cy="368754"/>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801011" y="2515961"/>
            <a:ext cx="622480" cy="36875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423491" y="2515961"/>
            <a:ext cx="622480" cy="368754"/>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4045971" y="2515961"/>
            <a:ext cx="622480"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668450" y="2515961"/>
            <a:ext cx="622480" cy="368754"/>
          </a:xfrm>
          <a:prstGeom prst="rect">
            <a:avLst/>
          </a:prstGeom>
          <a:solidFill>
            <a:srgbClr val="CF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290930" y="2515961"/>
            <a:ext cx="622480" cy="368754"/>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913409" y="2515961"/>
            <a:ext cx="622480" cy="368754"/>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535889" y="2515961"/>
            <a:ext cx="622480" cy="368754"/>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158368" y="2515961"/>
            <a:ext cx="622480" cy="368754"/>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780848" y="2515961"/>
            <a:ext cx="622480" cy="36875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403327" y="2515961"/>
            <a:ext cx="622480" cy="36875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9025807" y="2515961"/>
            <a:ext cx="622480" cy="368754"/>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648286" y="2515961"/>
            <a:ext cx="622480" cy="36875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70766" y="2515961"/>
            <a:ext cx="622480" cy="36875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93245" y="2515961"/>
            <a:ext cx="622480" cy="368754"/>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88471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Texture and Volume Additives</a:t>
            </a:r>
          </a:p>
        </p:txBody>
      </p:sp>
      <p:sp>
        <p:nvSpPr>
          <p:cNvPr id="92" name="Rectangle 91"/>
          <p:cNvSpPr/>
          <p:nvPr/>
        </p:nvSpPr>
        <p:spPr>
          <a:xfrm>
            <a:off x="2178532" y="2884714"/>
            <a:ext cx="622480"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801011" y="2884714"/>
            <a:ext cx="622480" cy="36875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423491" y="2884714"/>
            <a:ext cx="622480" cy="368754"/>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4045971" y="2884714"/>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668450" y="2884714"/>
            <a:ext cx="622480" cy="36875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290930" y="2884714"/>
            <a:ext cx="622480" cy="36875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913409" y="2884714"/>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535889" y="2884714"/>
            <a:ext cx="622480" cy="368754"/>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158368" y="2884714"/>
            <a:ext cx="622480" cy="368754"/>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780848" y="2884714"/>
            <a:ext cx="622480" cy="36875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403327" y="2884714"/>
            <a:ext cx="622480" cy="368754"/>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9025807" y="2884714"/>
            <a:ext cx="622480" cy="368754"/>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648286" y="2884714"/>
            <a:ext cx="622480" cy="368754"/>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70766" y="2884714"/>
            <a:ext cx="622480" cy="36875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93245" y="2884714"/>
            <a:ext cx="622480" cy="368754"/>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253468"/>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Silica-based Additives</a:t>
            </a:r>
          </a:p>
        </p:txBody>
      </p:sp>
      <p:sp>
        <p:nvSpPr>
          <p:cNvPr id="108" name="Rectangle 107"/>
          <p:cNvSpPr/>
          <p:nvPr/>
        </p:nvSpPr>
        <p:spPr>
          <a:xfrm>
            <a:off x="2178532" y="3253468"/>
            <a:ext cx="622480"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801011" y="3253468"/>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423491" y="3253468"/>
            <a:ext cx="622480" cy="368754"/>
          </a:xfrm>
          <a:prstGeom prst="rect">
            <a:avLst/>
          </a:prstGeom>
          <a:solidFill>
            <a:srgbClr val="D6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4045971" y="3253468"/>
            <a:ext cx="622480"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668450" y="3253468"/>
            <a:ext cx="622480" cy="36875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290930" y="3253468"/>
            <a:ext cx="622480" cy="36875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913409" y="3253468"/>
            <a:ext cx="622480" cy="368754"/>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535889" y="3253468"/>
            <a:ext cx="622480" cy="368754"/>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158368" y="3253468"/>
            <a:ext cx="622480" cy="36875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780848" y="3253468"/>
            <a:ext cx="622480" cy="36875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403327" y="3253468"/>
            <a:ext cx="622480" cy="368754"/>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9025807" y="3253468"/>
            <a:ext cx="622480" cy="368754"/>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648286" y="3253468"/>
            <a:ext cx="622480" cy="368754"/>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70766" y="3253468"/>
            <a:ext cx="622480" cy="368754"/>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93245" y="3253468"/>
            <a:ext cx="622480" cy="368754"/>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62222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Starch-based Additives</a:t>
            </a:r>
          </a:p>
        </p:txBody>
      </p:sp>
      <p:sp>
        <p:nvSpPr>
          <p:cNvPr id="124" name="Rectangle 123"/>
          <p:cNvSpPr/>
          <p:nvPr/>
        </p:nvSpPr>
        <p:spPr>
          <a:xfrm>
            <a:off x="2178532" y="3622221"/>
            <a:ext cx="622480" cy="368754"/>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801011" y="3622221"/>
            <a:ext cx="622480" cy="36875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423491" y="3622221"/>
            <a:ext cx="622480" cy="36875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4045971" y="3622221"/>
            <a:ext cx="622480" cy="36875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668450" y="3622221"/>
            <a:ext cx="622480" cy="368754"/>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290930" y="3622221"/>
            <a:ext cx="622480" cy="36875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913409" y="3622221"/>
            <a:ext cx="622480" cy="36875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535889" y="3622221"/>
            <a:ext cx="622480" cy="368754"/>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158368" y="3622221"/>
            <a:ext cx="622480" cy="368754"/>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780848" y="3622221"/>
            <a:ext cx="622480" cy="36875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403327" y="3622221"/>
            <a:ext cx="622480" cy="368754"/>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9025807" y="3622221"/>
            <a:ext cx="622480" cy="36875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648286" y="3622221"/>
            <a:ext cx="622480" cy="368754"/>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70766" y="3622221"/>
            <a:ext cx="622480" cy="368754"/>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93245" y="3622221"/>
            <a:ext cx="622480" cy="368754"/>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990975"/>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Other Mineral and Plant-based Additives</a:t>
            </a:r>
          </a:p>
        </p:txBody>
      </p:sp>
      <p:sp>
        <p:nvSpPr>
          <p:cNvPr id="140" name="Rectangle 139"/>
          <p:cNvSpPr/>
          <p:nvPr/>
        </p:nvSpPr>
        <p:spPr>
          <a:xfrm>
            <a:off x="2178532" y="3990975"/>
            <a:ext cx="622480" cy="36875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801011" y="3990975"/>
            <a:ext cx="622480" cy="36875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423491" y="3990975"/>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4045971" y="3990975"/>
            <a:ext cx="622480" cy="36875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668450" y="3990975"/>
            <a:ext cx="622480" cy="36875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290930" y="3990975"/>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913409" y="3990975"/>
            <a:ext cx="622480" cy="368754"/>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535889" y="3990975"/>
            <a:ext cx="622480" cy="368754"/>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158368" y="3990975"/>
            <a:ext cx="622480" cy="368754"/>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780848" y="3990975"/>
            <a:ext cx="622480" cy="368754"/>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403327" y="3990975"/>
            <a:ext cx="622480" cy="368754"/>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9025807" y="3990975"/>
            <a:ext cx="622480" cy="368754"/>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648286" y="3990975"/>
            <a:ext cx="622480" cy="368754"/>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70766" y="3990975"/>
            <a:ext cx="622480" cy="368754"/>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93245" y="3990975"/>
            <a:ext cx="622480" cy="368754"/>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35972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Conditioning and Smoothing Agents</a:t>
            </a:r>
          </a:p>
        </p:txBody>
      </p:sp>
      <p:sp>
        <p:nvSpPr>
          <p:cNvPr id="156" name="Rectangle 155"/>
          <p:cNvSpPr/>
          <p:nvPr/>
        </p:nvSpPr>
        <p:spPr>
          <a:xfrm>
            <a:off x="2178532" y="4359729"/>
            <a:ext cx="622480" cy="36875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801011" y="4359729"/>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423491" y="4359729"/>
            <a:ext cx="622480" cy="36875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4045971" y="4359729"/>
            <a:ext cx="622480" cy="368754"/>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668450" y="4359729"/>
            <a:ext cx="622480" cy="36875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90930" y="4359729"/>
            <a:ext cx="622480"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913409" y="4359729"/>
            <a:ext cx="622480" cy="368754"/>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535889" y="4359729"/>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158368" y="4359729"/>
            <a:ext cx="622480" cy="368754"/>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780848" y="4359729"/>
            <a:ext cx="622480" cy="368754"/>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403327" y="4359729"/>
            <a:ext cx="622480" cy="368754"/>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9025807" y="4359729"/>
            <a:ext cx="622480" cy="368754"/>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648286" y="4359729"/>
            <a:ext cx="622480" cy="36875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70766" y="4359729"/>
            <a:ext cx="622480" cy="368754"/>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93245" y="4359729"/>
            <a:ext cx="622480" cy="36875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728482"/>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Silicone-based</a:t>
            </a:r>
          </a:p>
        </p:txBody>
      </p:sp>
      <p:sp>
        <p:nvSpPr>
          <p:cNvPr id="172" name="Rectangle 171"/>
          <p:cNvSpPr/>
          <p:nvPr/>
        </p:nvSpPr>
        <p:spPr>
          <a:xfrm>
            <a:off x="2178532" y="4728482"/>
            <a:ext cx="622480" cy="368754"/>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801011" y="4728482"/>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423491" y="4728482"/>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4045971" y="4728482"/>
            <a:ext cx="622480"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668450" y="4728482"/>
            <a:ext cx="622480" cy="36875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290930" y="4728482"/>
            <a:ext cx="622480" cy="368754"/>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913409" y="4728482"/>
            <a:ext cx="622480" cy="368754"/>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535889" y="4728482"/>
            <a:ext cx="622480" cy="368754"/>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158368" y="4728482"/>
            <a:ext cx="622480" cy="368754"/>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780848" y="4728482"/>
            <a:ext cx="622480" cy="368754"/>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403327" y="4728482"/>
            <a:ext cx="622480" cy="368754"/>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9025807" y="4728482"/>
            <a:ext cx="622480" cy="368754"/>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648286" y="4728482"/>
            <a:ext cx="622480" cy="36875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70766" y="4728482"/>
            <a:ext cx="622480" cy="368754"/>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93245" y="4728482"/>
            <a:ext cx="622480" cy="368754"/>
          </a:xfrm>
          <a:prstGeom prst="rect">
            <a:avLst/>
          </a:prstGeom>
          <a:solidFill>
            <a:srgbClr val="68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09723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Silicone-free</a:t>
            </a:r>
          </a:p>
        </p:txBody>
      </p:sp>
      <p:sp>
        <p:nvSpPr>
          <p:cNvPr id="188" name="Rectangle 187"/>
          <p:cNvSpPr/>
          <p:nvPr/>
        </p:nvSpPr>
        <p:spPr>
          <a:xfrm>
            <a:off x="2178532" y="5097236"/>
            <a:ext cx="622480" cy="368754"/>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801011" y="5097236"/>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423491" y="5097236"/>
            <a:ext cx="622480" cy="368754"/>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4045971" y="5097236"/>
            <a:ext cx="622480" cy="368754"/>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668450" y="5097236"/>
            <a:ext cx="622480" cy="36875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290930" y="5097236"/>
            <a:ext cx="622480" cy="36875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913409" y="5097236"/>
            <a:ext cx="622480" cy="368754"/>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535889" y="5097236"/>
            <a:ext cx="622480" cy="368754"/>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158368" y="5097236"/>
            <a:ext cx="622480" cy="368754"/>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780848" y="5097236"/>
            <a:ext cx="622480" cy="368754"/>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403327" y="5097236"/>
            <a:ext cx="622480" cy="368754"/>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9025807" y="5097236"/>
            <a:ext cx="622480" cy="368754"/>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648286" y="5097236"/>
            <a:ext cx="622480" cy="368754"/>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70766" y="5097236"/>
            <a:ext cx="622480" cy="368754"/>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93245" y="5097236"/>
            <a:ext cx="622480" cy="368754"/>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46598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Waxes and Structuring Agents</a:t>
            </a:r>
          </a:p>
        </p:txBody>
      </p:sp>
      <p:sp>
        <p:nvSpPr>
          <p:cNvPr id="204" name="Rectangle 203"/>
          <p:cNvSpPr/>
          <p:nvPr/>
        </p:nvSpPr>
        <p:spPr>
          <a:xfrm>
            <a:off x="2178532" y="5465989"/>
            <a:ext cx="622480" cy="368754"/>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801011" y="5465989"/>
            <a:ext cx="622480" cy="36875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423491" y="5465989"/>
            <a:ext cx="622480" cy="36875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4045971" y="5465989"/>
            <a:ext cx="622480" cy="36875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668450" y="5465989"/>
            <a:ext cx="622480" cy="36875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290930" y="5465989"/>
            <a:ext cx="622480" cy="368754"/>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913409" y="5465989"/>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535889" y="5465989"/>
            <a:ext cx="622480" cy="368754"/>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158368" y="5465989"/>
            <a:ext cx="622480" cy="368754"/>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780848" y="5465989"/>
            <a:ext cx="622480" cy="368754"/>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403327" y="5465989"/>
            <a:ext cx="622480" cy="368754"/>
          </a:xfrm>
          <a:prstGeom prst="rect">
            <a:avLst/>
          </a:prstGeom>
          <a:solidFill>
            <a:srgbClr val="0E68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9025807" y="5465989"/>
            <a:ext cx="622480" cy="368754"/>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648286" y="5465989"/>
            <a:ext cx="622480" cy="368754"/>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70766" y="5465989"/>
            <a:ext cx="622480" cy="368754"/>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93245" y="5465989"/>
            <a:ext cx="622480" cy="368754"/>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834743"/>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Waxes</a:t>
            </a:r>
          </a:p>
        </p:txBody>
      </p:sp>
      <p:sp>
        <p:nvSpPr>
          <p:cNvPr id="220" name="Rectangle 219"/>
          <p:cNvSpPr/>
          <p:nvPr/>
        </p:nvSpPr>
        <p:spPr>
          <a:xfrm>
            <a:off x="2178532" y="5834743"/>
            <a:ext cx="622480" cy="368754"/>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801011" y="5834743"/>
            <a:ext cx="622480" cy="36875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423491" y="5834743"/>
            <a:ext cx="622480" cy="36875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4045971" y="5834743"/>
            <a:ext cx="622480" cy="36875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668450" y="5834743"/>
            <a:ext cx="622480"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290930" y="5834743"/>
            <a:ext cx="622480" cy="36875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913409" y="5834743"/>
            <a:ext cx="622480" cy="368754"/>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535889" y="5834743"/>
            <a:ext cx="622480" cy="368754"/>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158368" y="5834743"/>
            <a:ext cx="622480" cy="368754"/>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780848" y="5834743"/>
            <a:ext cx="622480" cy="36875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403327" y="5834743"/>
            <a:ext cx="622480" cy="368754"/>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9025807" y="5834743"/>
            <a:ext cx="622480" cy="368754"/>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648286" y="5834743"/>
            <a:ext cx="622480" cy="36875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70766" y="5834743"/>
            <a:ext cx="622480" cy="368754"/>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93245" y="5834743"/>
            <a:ext cx="622480" cy="368754"/>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620349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Plant-derived Waxes</a:t>
            </a:r>
          </a:p>
        </p:txBody>
      </p:sp>
      <p:sp>
        <p:nvSpPr>
          <p:cNvPr id="236" name="Rectangle 235"/>
          <p:cNvSpPr/>
          <p:nvPr/>
        </p:nvSpPr>
        <p:spPr>
          <a:xfrm>
            <a:off x="2178532" y="6203496"/>
            <a:ext cx="622480" cy="36875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801011" y="6203496"/>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423491" y="6203496"/>
            <a:ext cx="622480" cy="368754"/>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4045971" y="6203496"/>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668450" y="6203496"/>
            <a:ext cx="622480" cy="36875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290930" y="6203496"/>
            <a:ext cx="622480" cy="36875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913409" y="6203496"/>
            <a:ext cx="622480" cy="368754"/>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535889" y="6203496"/>
            <a:ext cx="622480" cy="368754"/>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158368" y="6203496"/>
            <a:ext cx="622480" cy="368754"/>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780848" y="6203496"/>
            <a:ext cx="622480" cy="368754"/>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403327" y="6203496"/>
            <a:ext cx="622480" cy="36875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9025807" y="6203496"/>
            <a:ext cx="622480" cy="368754"/>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648286" y="6203496"/>
            <a:ext cx="622480" cy="368754"/>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70766" y="6203496"/>
            <a:ext cx="622480" cy="368754"/>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93245" y="6203496"/>
            <a:ext cx="622480" cy="368754"/>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293" name="TextBox 292"/>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94" name="TextBox 293"/>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95" name="TextBox 29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2.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807210"/>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2112010"/>
            <a:ext cx="7239000" cy="971550"/>
          </a:xfrm>
          <a:prstGeom prst="rect">
            <a:avLst/>
          </a:prstGeom>
          <a:noFill/>
        </p:spPr>
        <p:txBody>
          <a:bodyPr wrap="square" lIns="0" rIns="0" tIns="0">
            <a:spAutoFit/>
          </a:bodyPr>
          <a:lstStyle/>
          <a:p>
            <a:r>
              <a:rPr sz="3000" b="1" cap="all" spc="400">
                <a:solidFill>
                  <a:srgbClr val="FFFFFF"/>
                </a:solidFill>
                <a:latin typeface="Calibri"/>
              </a:rPr>
              <a:t>Middle East &amp; Africa Market Outlook</a:t>
            </a:r>
          </a:p>
        </p:txBody>
      </p:sp>
      <p:sp>
        <p:nvSpPr>
          <p:cNvPr id="7" name="TextBox 6"/>
          <p:cNvSpPr txBox="1"/>
          <p:nvPr/>
        </p:nvSpPr>
        <p:spPr>
          <a:xfrm>
            <a:off x="914400" y="3274060"/>
            <a:ext cx="7124700" cy="320548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Middle East &amp; Africa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Middle East &amp; Africa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Middle East &amp; Africa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Hold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Finish</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Primary Styling Benefit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Hair Type Targeted</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Ingredient Technology</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59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Middle East &amp; Africa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Market Summary, By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Middle East &amp; Africa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(MN UNITS)</a:t>
            </a:r>
          </a:p>
          <a:p>
            <a:pPr algn="ctr">
              <a:lnSpc>
                <a:spcPct val="95000"/>
              </a:lnSpc>
            </a:pPr>
            <a:r>
              <a:rPr sz="1500" b="1">
                <a:solidFill>
                  <a:srgbClr val="0E72AE"/>
                </a:solidFill>
                <a:latin typeface="Calibri"/>
              </a:rPr>
              <a:t>581.3</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1,045</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4.6%</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6.0%</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(Mn Units)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Middle East &amp; Africa hair styling products market is projected to register 1.9X increase in volume by the end of forecast period, 2036. Middle East &amp; Africa hair styling products market volume stood at 554.3 Mn Units in 2025 and is expected to reach 1,045 Mn Units by 2036 end, at a CAGR of 6.0%.</a:t>
            </a:r>
          </a:p>
          <a:p>
            <a:pPr algn="l">
              <a:lnSpc>
                <a:spcPct val="110000"/>
              </a:lnSpc>
              <a:spcBef>
                <a:spcPts val="0"/>
              </a:spcBef>
              <a:spcAft>
                <a:spcPts val="500"/>
              </a:spcAft>
            </a:pPr>
            <a:r>
              <a:rPr sz="1100" b="0">
                <a:solidFill>
                  <a:srgbClr val="2E2E2E"/>
                </a:solidFill>
                <a:latin typeface="Calibri"/>
              </a:rPr>
              <a:t>Value is projected to grow faster than volume over the forecast period, owing to an increase in average selling price.</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'Rest of GCC' leads regional growth at 6.9%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'Creams and Lotions'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Format  ·  range across 2021–2036 (US$/Units)</a:t>
            </a:r>
          </a:p>
        </p:txBody>
      </p:sp>
      <p:cxnSp>
        <p:nvCxnSpPr>
          <p:cNvPr id="13" name="Connector 12"/>
          <p:cNvCxnSpPr/>
          <p:nvPr/>
        </p:nvCxnSpPr>
        <p:spPr>
          <a:xfrm>
            <a:off x="657225" y="310071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68877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27683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86488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64777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10071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68877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27683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86488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03404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0.778</a:t>
            </a:r>
          </a:p>
        </p:txBody>
      </p:sp>
      <p:sp>
        <p:nvSpPr>
          <p:cNvPr id="25" name="FMI Scale tick"/>
          <p:cNvSpPr txBox="1"/>
          <p:nvPr/>
        </p:nvSpPr>
        <p:spPr>
          <a:xfrm>
            <a:off x="219075" y="2210155"/>
            <a:ext cx="381000" cy="133350"/>
          </a:xfrm>
          <a:prstGeom prst="rect">
            <a:avLst/>
          </a:prstGeom>
          <a:noFill/>
        </p:spPr>
        <p:txBody>
          <a:bodyPr wrap="none" lIns="0" rIns="0" tIns="0" bIns="0" anchor="ctr">
            <a:spAutoFit/>
          </a:bodyPr>
          <a:lstStyle/>
          <a:p>
            <a:pPr algn="r"/>
            <a:r>
              <a:rPr sz="1100" b="0">
                <a:solidFill>
                  <a:srgbClr val="6C7A89"/>
                </a:solidFill>
                <a:latin typeface="Calibri"/>
              </a:rPr>
              <a:t>2.09</a:t>
            </a:r>
          </a:p>
        </p:txBody>
      </p:sp>
      <p:sp>
        <p:nvSpPr>
          <p:cNvPr id="26" name="FMI Scale tick"/>
          <p:cNvSpPr txBox="1"/>
          <p:nvPr/>
        </p:nvSpPr>
        <p:spPr>
          <a:xfrm>
            <a:off x="219075" y="1386270"/>
            <a:ext cx="381000" cy="133350"/>
          </a:xfrm>
          <a:prstGeom prst="rect">
            <a:avLst/>
          </a:prstGeom>
          <a:noFill/>
        </p:spPr>
        <p:txBody>
          <a:bodyPr wrap="none" lIns="0" rIns="0" tIns="0" bIns="0" anchor="ctr">
            <a:spAutoFit/>
          </a:bodyPr>
          <a:lstStyle/>
          <a:p>
            <a:pPr algn="r"/>
            <a:r>
              <a:rPr sz="1100" b="0">
                <a:solidFill>
                  <a:srgbClr val="6C7A89"/>
                </a:solidFill>
                <a:latin typeface="Calibri"/>
              </a:rPr>
              <a:t>3.39</a:t>
            </a:r>
          </a:p>
        </p:txBody>
      </p:sp>
      <p:cxnSp>
        <p:nvCxnSpPr>
          <p:cNvPr id="27" name="Connector 26"/>
          <p:cNvCxnSpPr/>
          <p:nvPr/>
        </p:nvCxnSpPr>
        <p:spPr>
          <a:xfrm flipV="1">
            <a:off x="1095375" y="2417598"/>
            <a:ext cx="0" cy="160862"/>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963930" y="2578460"/>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963930" y="241759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876300" y="2483878"/>
            <a:ext cx="438150" cy="8344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876300" y="253408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265198"/>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1.68</a:t>
            </a:r>
          </a:p>
        </p:txBody>
      </p:sp>
      <p:cxnSp>
        <p:nvCxnSpPr>
          <p:cNvPr id="33" name="Connector 32"/>
          <p:cNvCxnSpPr/>
          <p:nvPr/>
        </p:nvCxnSpPr>
        <p:spPr>
          <a:xfrm flipV="1">
            <a:off x="1971675" y="2803364"/>
            <a:ext cx="0" cy="106231"/>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840230" y="290959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1840230" y="280336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752600" y="2847163"/>
            <a:ext cx="438150" cy="54587"/>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1752600" y="287976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1533525" y="2650964"/>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1.13</a:t>
            </a:r>
          </a:p>
        </p:txBody>
      </p:sp>
      <p:cxnSp>
        <p:nvCxnSpPr>
          <p:cNvPr id="39" name="Connector 38"/>
          <p:cNvCxnSpPr/>
          <p:nvPr/>
        </p:nvCxnSpPr>
        <p:spPr>
          <a:xfrm flipV="1">
            <a:off x="2847975" y="2823521"/>
            <a:ext cx="0" cy="87067"/>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2716530" y="291058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2716530" y="282352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2628900" y="2859029"/>
            <a:ext cx="438150" cy="45291"/>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2628900" y="2885832"/>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2409825" y="2671121"/>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1.12</a:t>
            </a:r>
          </a:p>
        </p:txBody>
      </p:sp>
      <p:cxnSp>
        <p:nvCxnSpPr>
          <p:cNvPr id="45" name="Connector 44"/>
          <p:cNvCxnSpPr/>
          <p:nvPr/>
        </p:nvCxnSpPr>
        <p:spPr>
          <a:xfrm flipV="1">
            <a:off x="3724275" y="2481041"/>
            <a:ext cx="0" cy="139732"/>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3592830" y="262077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3592830" y="248104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3505200" y="2540309"/>
            <a:ext cx="438150" cy="71027"/>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3505200" y="258246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286125" y="2328641"/>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1.60</a:t>
            </a:r>
          </a:p>
        </p:txBody>
      </p:sp>
      <p:cxnSp>
        <p:nvCxnSpPr>
          <p:cNvPr id="51" name="Connector 50"/>
          <p:cNvCxnSpPr/>
          <p:nvPr/>
        </p:nvCxnSpPr>
        <p:spPr>
          <a:xfrm flipV="1">
            <a:off x="4600575" y="2109461"/>
            <a:ext cx="0" cy="233054"/>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4469130" y="234251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4469130" y="210946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4381500" y="2202964"/>
            <a:ext cx="438150" cy="12199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5" name="Connector 54"/>
          <p:cNvCxnSpPr/>
          <p:nvPr/>
        </p:nvCxnSpPr>
        <p:spPr>
          <a:xfrm>
            <a:off x="4381500" y="2274005"/>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4162425" y="1957061"/>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2.09</a:t>
            </a:r>
          </a:p>
        </p:txBody>
      </p:sp>
      <p:cxnSp>
        <p:nvCxnSpPr>
          <p:cNvPr id="57" name="Connector 56"/>
          <p:cNvCxnSpPr/>
          <p:nvPr/>
        </p:nvCxnSpPr>
        <p:spPr>
          <a:xfrm flipV="1">
            <a:off x="5476875" y="2312533"/>
            <a:ext cx="0" cy="151169"/>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5345430" y="246370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5345430" y="231253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5257800" y="2370829"/>
            <a:ext cx="438150" cy="79640"/>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1" name="Connector 60"/>
          <p:cNvCxnSpPr/>
          <p:nvPr/>
        </p:nvCxnSpPr>
        <p:spPr>
          <a:xfrm>
            <a:off x="5257800" y="2416835"/>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5038725" y="2160133"/>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1.86</a:t>
            </a:r>
          </a:p>
        </p:txBody>
      </p:sp>
      <p:cxnSp>
        <p:nvCxnSpPr>
          <p:cNvPr id="63" name="Connector 62"/>
          <p:cNvCxnSpPr/>
          <p:nvPr/>
        </p:nvCxnSpPr>
        <p:spPr>
          <a:xfrm flipV="1">
            <a:off x="6353175" y="1643073"/>
            <a:ext cx="0" cy="23831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6221730" y="188138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6221730" y="164307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6134100" y="1740935"/>
            <a:ext cx="438150" cy="12150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7" name="Connector 66"/>
          <p:cNvCxnSpPr/>
          <p:nvPr/>
        </p:nvCxnSpPr>
        <p:spPr>
          <a:xfrm>
            <a:off x="6134100" y="1813111"/>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5915025" y="1490673"/>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2.82</a:t>
            </a:r>
          </a:p>
        </p:txBody>
      </p:sp>
      <p:cxnSp>
        <p:nvCxnSpPr>
          <p:cNvPr id="69" name="Connector 68"/>
          <p:cNvCxnSpPr/>
          <p:nvPr/>
        </p:nvCxnSpPr>
        <p:spPr>
          <a:xfrm flipV="1">
            <a:off x="7229475" y="1932575"/>
            <a:ext cx="0" cy="215635"/>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0" name="Connector 69"/>
          <p:cNvCxnSpPr/>
          <p:nvPr/>
        </p:nvCxnSpPr>
        <p:spPr>
          <a:xfrm>
            <a:off x="7098030" y="2148210"/>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1" name="Connector 70"/>
          <p:cNvCxnSpPr/>
          <p:nvPr/>
        </p:nvCxnSpPr>
        <p:spPr>
          <a:xfrm>
            <a:off x="7098030" y="193257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72" name="Rectangle 71"/>
          <p:cNvSpPr/>
          <p:nvPr/>
        </p:nvSpPr>
        <p:spPr>
          <a:xfrm>
            <a:off x="7010400" y="2017603"/>
            <a:ext cx="438150" cy="11354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3" name="Connector 72"/>
          <p:cNvCxnSpPr/>
          <p:nvPr/>
        </p:nvCxnSpPr>
        <p:spPr>
          <a:xfrm>
            <a:off x="7010400" y="208289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6791325" y="1780175"/>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2.39</a:t>
            </a:r>
          </a:p>
        </p:txBody>
      </p:sp>
      <p:sp>
        <p:nvSpPr>
          <p:cNvPr id="75" name="TextBox 74"/>
          <p:cNvSpPr txBox="1"/>
          <p:nvPr/>
        </p:nvSpPr>
        <p:spPr>
          <a:xfrm>
            <a:off x="6572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Sprays and Mists</a:t>
            </a:r>
          </a:p>
        </p:txBody>
      </p:sp>
      <p:sp>
        <p:nvSpPr>
          <p:cNvPr id="76" name="TextBox 75"/>
          <p:cNvSpPr txBox="1"/>
          <p:nvPr/>
        </p:nvSpPr>
        <p:spPr>
          <a:xfrm>
            <a:off x="15335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Mousses and Foams</a:t>
            </a:r>
          </a:p>
        </p:txBody>
      </p:sp>
      <p:sp>
        <p:nvSpPr>
          <p:cNvPr id="77" name="TextBox 76"/>
          <p:cNvSpPr txBox="1"/>
          <p:nvPr/>
        </p:nvSpPr>
        <p:spPr>
          <a:xfrm>
            <a:off x="24098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Gels and Jellies</a:t>
            </a:r>
          </a:p>
        </p:txBody>
      </p:sp>
      <p:sp>
        <p:nvSpPr>
          <p:cNvPr id="78" name="TextBox 77"/>
          <p:cNvSpPr txBox="1"/>
          <p:nvPr/>
        </p:nvSpPr>
        <p:spPr>
          <a:xfrm>
            <a:off x="32861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Creams and Lotions</a:t>
            </a:r>
          </a:p>
        </p:txBody>
      </p:sp>
      <p:sp>
        <p:nvSpPr>
          <p:cNvPr id="79" name="TextBox 78"/>
          <p:cNvSpPr txBox="1"/>
          <p:nvPr/>
        </p:nvSpPr>
        <p:spPr>
          <a:xfrm>
            <a:off x="41624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Waxes, Clays, Pastes…</a:t>
            </a:r>
          </a:p>
        </p:txBody>
      </p:sp>
      <p:sp>
        <p:nvSpPr>
          <p:cNvPr id="80" name="TextBox 79"/>
          <p:cNvSpPr txBox="1"/>
          <p:nvPr/>
        </p:nvSpPr>
        <p:spPr>
          <a:xfrm>
            <a:off x="50387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Powders</a:t>
            </a:r>
          </a:p>
        </p:txBody>
      </p:sp>
      <p:sp>
        <p:nvSpPr>
          <p:cNvPr id="81" name="TextBox 80"/>
          <p:cNvSpPr txBox="1"/>
          <p:nvPr/>
        </p:nvSpPr>
        <p:spPr>
          <a:xfrm>
            <a:off x="59150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Serums and Oils</a:t>
            </a:r>
          </a:p>
        </p:txBody>
      </p:sp>
      <p:sp>
        <p:nvSpPr>
          <p:cNvPr id="82" name="TextBox 81"/>
          <p:cNvSpPr txBox="1"/>
          <p:nvPr/>
        </p:nvSpPr>
        <p:spPr>
          <a:xfrm>
            <a:off x="67913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Sticks and Balms</a:t>
            </a:r>
          </a:p>
        </p:txBody>
      </p:sp>
      <p:sp>
        <p:nvSpPr>
          <p:cNvPr id="83" name="Rounded Rectangle 82"/>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Middle East &amp; Africa  ·  2026–2036</a:t>
            </a:r>
          </a:p>
        </p:txBody>
      </p:sp>
      <p:cxnSp>
        <p:nvCxnSpPr>
          <p:cNvPr id="85" name="Connector 84"/>
          <p:cNvCxnSpPr/>
          <p:nvPr/>
        </p:nvCxnSpPr>
        <p:spPr>
          <a:xfrm>
            <a:off x="619125" y="432606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a:off x="619125" y="4759591"/>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7" name="Connector 86"/>
          <p:cNvCxnSpPr/>
          <p:nvPr/>
        </p:nvCxnSpPr>
        <p:spPr>
          <a:xfrm>
            <a:off x="619125" y="51931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8" name="Connector 87"/>
          <p:cNvCxnSpPr/>
          <p:nvPr/>
        </p:nvCxnSpPr>
        <p:spPr>
          <a:xfrm>
            <a:off x="619125" y="5626641"/>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9" name="Connector 88"/>
          <p:cNvCxnSpPr/>
          <p:nvPr/>
        </p:nvCxnSpPr>
        <p:spPr>
          <a:xfrm>
            <a:off x="619125" y="606016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90" name="Connector 89"/>
          <p:cNvCxnSpPr/>
          <p:nvPr/>
        </p:nvCxnSpPr>
        <p:spPr>
          <a:xfrm>
            <a:off x="619125" y="4326066"/>
            <a:ext cx="0" cy="173410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1" name="Connector 90"/>
          <p:cNvCxnSpPr/>
          <p:nvPr/>
        </p:nvCxnSpPr>
        <p:spPr>
          <a:xfrm>
            <a:off x="590550" y="432606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2" name="Connector 91"/>
          <p:cNvCxnSpPr/>
          <p:nvPr/>
        </p:nvCxnSpPr>
        <p:spPr>
          <a:xfrm>
            <a:off x="590550" y="4759591"/>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3" name="Connector 92"/>
          <p:cNvCxnSpPr/>
          <p:nvPr/>
        </p:nvCxnSpPr>
        <p:spPr>
          <a:xfrm>
            <a:off x="590550" y="51931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4" name="Connector 93"/>
          <p:cNvCxnSpPr/>
          <p:nvPr/>
        </p:nvCxnSpPr>
        <p:spPr>
          <a:xfrm>
            <a:off x="590550" y="5626641"/>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5" name="Connector 94"/>
          <p:cNvCxnSpPr/>
          <p:nvPr/>
        </p:nvCxnSpPr>
        <p:spPr>
          <a:xfrm>
            <a:off x="590550" y="606016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96" name="FMI Scale tick"/>
          <p:cNvSpPr txBox="1"/>
          <p:nvPr/>
        </p:nvSpPr>
        <p:spPr>
          <a:xfrm>
            <a:off x="219075" y="4259391"/>
            <a:ext cx="361950" cy="133350"/>
          </a:xfrm>
          <a:prstGeom prst="rect">
            <a:avLst/>
          </a:prstGeom>
          <a:noFill/>
        </p:spPr>
        <p:txBody>
          <a:bodyPr wrap="none" lIns="0" rIns="0" tIns="0" bIns="0" anchor="ctr">
            <a:spAutoFit/>
          </a:bodyPr>
          <a:lstStyle/>
          <a:p>
            <a:pPr algn="r"/>
            <a:r>
              <a:rPr sz="1100" b="0">
                <a:solidFill>
                  <a:srgbClr val="6C7A89"/>
                </a:solidFill>
                <a:latin typeface="Calibri"/>
              </a:rPr>
              <a:t>+71%</a:t>
            </a:r>
          </a:p>
        </p:txBody>
      </p:sp>
      <p:sp>
        <p:nvSpPr>
          <p:cNvPr id="97" name="FMI Scale tick"/>
          <p:cNvSpPr txBox="1"/>
          <p:nvPr/>
        </p:nvSpPr>
        <p:spPr>
          <a:xfrm>
            <a:off x="219075" y="4692916"/>
            <a:ext cx="361950" cy="133350"/>
          </a:xfrm>
          <a:prstGeom prst="rect">
            <a:avLst/>
          </a:prstGeom>
          <a:noFill/>
        </p:spPr>
        <p:txBody>
          <a:bodyPr wrap="none" lIns="0" rIns="0" tIns="0" bIns="0" anchor="ctr">
            <a:spAutoFit/>
          </a:bodyPr>
          <a:lstStyle/>
          <a:p>
            <a:pPr algn="r"/>
            <a:r>
              <a:rPr sz="1100" b="0">
                <a:solidFill>
                  <a:srgbClr val="6C7A89"/>
                </a:solidFill>
                <a:latin typeface="Calibri"/>
              </a:rPr>
              <a:t>+35%</a:t>
            </a:r>
          </a:p>
        </p:txBody>
      </p:sp>
      <p:sp>
        <p:nvSpPr>
          <p:cNvPr id="98" name="FMI Scale tick"/>
          <p:cNvSpPr txBox="1"/>
          <p:nvPr/>
        </p:nvSpPr>
        <p:spPr>
          <a:xfrm>
            <a:off x="219075" y="512644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Middle East &amp; Africa</a:t>
            </a:r>
          </a:p>
        </p:txBody>
      </p:sp>
      <p:sp>
        <p:nvSpPr>
          <p:cNvPr id="99" name="FMI Scale tick"/>
          <p:cNvSpPr txBox="1"/>
          <p:nvPr/>
        </p:nvSpPr>
        <p:spPr>
          <a:xfrm>
            <a:off x="219075" y="5559966"/>
            <a:ext cx="361950" cy="133350"/>
          </a:xfrm>
          <a:prstGeom prst="rect">
            <a:avLst/>
          </a:prstGeom>
          <a:noFill/>
        </p:spPr>
        <p:txBody>
          <a:bodyPr wrap="none" lIns="0" rIns="0" tIns="0" bIns="0" anchor="ctr">
            <a:spAutoFit/>
          </a:bodyPr>
          <a:lstStyle/>
          <a:p>
            <a:pPr algn="r"/>
            <a:r>
              <a:rPr sz="1100" b="0">
                <a:solidFill>
                  <a:srgbClr val="6C7A89"/>
                </a:solidFill>
                <a:latin typeface="Calibri"/>
              </a:rPr>
              <a:t>-35%</a:t>
            </a:r>
          </a:p>
        </p:txBody>
      </p:sp>
      <p:sp>
        <p:nvSpPr>
          <p:cNvPr id="100" name="FMI Scale tick"/>
          <p:cNvSpPr txBox="1"/>
          <p:nvPr/>
        </p:nvSpPr>
        <p:spPr>
          <a:xfrm>
            <a:off x="219075" y="5993491"/>
            <a:ext cx="361950" cy="133350"/>
          </a:xfrm>
          <a:prstGeom prst="rect">
            <a:avLst/>
          </a:prstGeom>
          <a:noFill/>
        </p:spPr>
        <p:txBody>
          <a:bodyPr wrap="none" lIns="0" rIns="0" tIns="0" bIns="0" anchor="ctr">
            <a:spAutoFit/>
          </a:bodyPr>
          <a:lstStyle/>
          <a:p>
            <a:pPr algn="r"/>
            <a:r>
              <a:rPr sz="1100" b="0">
                <a:solidFill>
                  <a:srgbClr val="6C7A89"/>
                </a:solidFill>
                <a:latin typeface="Calibri"/>
              </a:rPr>
              <a:t>-71%</a:t>
            </a:r>
          </a:p>
        </p:txBody>
      </p:sp>
      <p:cxnSp>
        <p:nvCxnSpPr>
          <p:cNvPr id="101" name="Connector 100"/>
          <p:cNvCxnSpPr/>
          <p:nvPr/>
        </p:nvCxnSpPr>
        <p:spPr>
          <a:xfrm>
            <a:off x="619125" y="519311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102" name="Rectangle 101"/>
          <p:cNvSpPr/>
          <p:nvPr/>
        </p:nvSpPr>
        <p:spPr>
          <a:xfrm>
            <a:off x="893989" y="4569279"/>
            <a:ext cx="457200" cy="623837"/>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FMI Data Label"/>
          <p:cNvSpPr txBox="1"/>
          <p:nvPr/>
        </p:nvSpPr>
        <p:spPr>
          <a:xfrm>
            <a:off x="619125" y="4426404"/>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+50.9%</a:t>
            </a:r>
          </a:p>
        </p:txBody>
      </p:sp>
      <p:sp>
        <p:nvSpPr>
          <p:cNvPr id="104" name="Rectangle 103"/>
          <p:cNvSpPr/>
          <p:nvPr/>
        </p:nvSpPr>
        <p:spPr>
          <a:xfrm>
            <a:off x="1900918" y="4808600"/>
            <a:ext cx="457200" cy="384516"/>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MI Data Label"/>
          <p:cNvSpPr txBox="1"/>
          <p:nvPr/>
        </p:nvSpPr>
        <p:spPr>
          <a:xfrm>
            <a:off x="1626054" y="4665725"/>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+31.4%</a:t>
            </a:r>
          </a:p>
        </p:txBody>
      </p:sp>
      <p:sp>
        <p:nvSpPr>
          <p:cNvPr id="106" name="Rectangle 105"/>
          <p:cNvSpPr/>
          <p:nvPr/>
        </p:nvSpPr>
        <p:spPr>
          <a:xfrm>
            <a:off x="2907846" y="5193116"/>
            <a:ext cx="457200" cy="298544"/>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MI Data Label"/>
          <p:cNvSpPr txBox="1"/>
          <p:nvPr/>
        </p:nvSpPr>
        <p:spPr>
          <a:xfrm>
            <a:off x="2632982" y="5501184"/>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-24.4%</a:t>
            </a:r>
          </a:p>
        </p:txBody>
      </p:sp>
      <p:sp>
        <p:nvSpPr>
          <p:cNvPr id="108" name="Rectangle 107"/>
          <p:cNvSpPr/>
          <p:nvPr/>
        </p:nvSpPr>
        <p:spPr>
          <a:xfrm>
            <a:off x="3914775" y="4437287"/>
            <a:ext cx="457200" cy="75582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FMI Data Label"/>
          <p:cNvSpPr txBox="1"/>
          <p:nvPr/>
        </p:nvSpPr>
        <p:spPr>
          <a:xfrm>
            <a:off x="3639911" y="4294412"/>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+61.7%</a:t>
            </a:r>
          </a:p>
        </p:txBody>
      </p:sp>
      <p:sp>
        <p:nvSpPr>
          <p:cNvPr id="110" name="Rectangle 109"/>
          <p:cNvSpPr/>
          <p:nvPr/>
        </p:nvSpPr>
        <p:spPr>
          <a:xfrm>
            <a:off x="4921704" y="4823548"/>
            <a:ext cx="457200" cy="369567"/>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FMI Data Label"/>
          <p:cNvSpPr txBox="1"/>
          <p:nvPr/>
        </p:nvSpPr>
        <p:spPr>
          <a:xfrm>
            <a:off x="4646839" y="4680673"/>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+30.2%</a:t>
            </a:r>
          </a:p>
        </p:txBody>
      </p:sp>
      <p:sp>
        <p:nvSpPr>
          <p:cNvPr id="112" name="Rectangle 111"/>
          <p:cNvSpPr/>
          <p:nvPr/>
        </p:nvSpPr>
        <p:spPr>
          <a:xfrm>
            <a:off x="5928632" y="5193116"/>
            <a:ext cx="457200" cy="89350"/>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FMI Data Label"/>
          <p:cNvSpPr txBox="1"/>
          <p:nvPr/>
        </p:nvSpPr>
        <p:spPr>
          <a:xfrm>
            <a:off x="5653768" y="5291991"/>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-7.3%</a:t>
            </a:r>
          </a:p>
        </p:txBody>
      </p:sp>
      <p:sp>
        <p:nvSpPr>
          <p:cNvPr id="114" name="Rectangle 113"/>
          <p:cNvSpPr/>
          <p:nvPr/>
        </p:nvSpPr>
        <p:spPr>
          <a:xfrm>
            <a:off x="6935561" y="5193116"/>
            <a:ext cx="457200" cy="334605"/>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FMI Data Label"/>
          <p:cNvSpPr txBox="1"/>
          <p:nvPr/>
        </p:nvSpPr>
        <p:spPr>
          <a:xfrm>
            <a:off x="6660696" y="5537245"/>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-27.3%</a:t>
            </a:r>
          </a:p>
        </p:txBody>
      </p:sp>
      <p:sp>
        <p:nvSpPr>
          <p:cNvPr id="116" name="TextBox 115"/>
          <p:cNvSpPr txBox="1"/>
          <p:nvPr/>
        </p:nvSpPr>
        <p:spPr>
          <a:xfrm>
            <a:off x="619125"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UAE</a:t>
            </a:r>
          </a:p>
        </p:txBody>
      </p:sp>
      <p:sp>
        <p:nvSpPr>
          <p:cNvPr id="117" name="TextBox 116"/>
          <p:cNvSpPr txBox="1"/>
          <p:nvPr/>
        </p:nvSpPr>
        <p:spPr>
          <a:xfrm>
            <a:off x="1626054"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Saudi Arabia</a:t>
            </a:r>
          </a:p>
        </p:txBody>
      </p:sp>
      <p:sp>
        <p:nvSpPr>
          <p:cNvPr id="118" name="TextBox 117"/>
          <p:cNvSpPr txBox="1"/>
          <p:nvPr/>
        </p:nvSpPr>
        <p:spPr>
          <a:xfrm>
            <a:off x="2632982"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Turkey</a:t>
            </a:r>
          </a:p>
        </p:txBody>
      </p:sp>
      <p:sp>
        <p:nvSpPr>
          <p:cNvPr id="119" name="TextBox 118"/>
          <p:cNvSpPr txBox="1"/>
          <p:nvPr/>
        </p:nvSpPr>
        <p:spPr>
          <a:xfrm>
            <a:off x="3639911"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Israel</a:t>
            </a:r>
          </a:p>
        </p:txBody>
      </p:sp>
      <p:sp>
        <p:nvSpPr>
          <p:cNvPr id="120" name="TextBox 119"/>
          <p:cNvSpPr txBox="1"/>
          <p:nvPr/>
        </p:nvSpPr>
        <p:spPr>
          <a:xfrm>
            <a:off x="4646839"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Rest of GCC</a:t>
            </a:r>
          </a:p>
        </p:txBody>
      </p:sp>
      <p:sp>
        <p:nvSpPr>
          <p:cNvPr id="121" name="TextBox 120"/>
          <p:cNvSpPr txBox="1"/>
          <p:nvPr/>
        </p:nvSpPr>
        <p:spPr>
          <a:xfrm>
            <a:off x="5653768"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South Africa</a:t>
            </a:r>
          </a:p>
        </p:txBody>
      </p:sp>
      <p:sp>
        <p:nvSpPr>
          <p:cNvPr id="122" name="TextBox 121"/>
          <p:cNvSpPr txBox="1"/>
          <p:nvPr/>
        </p:nvSpPr>
        <p:spPr>
          <a:xfrm>
            <a:off x="6660696"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Rest of MEA</a:t>
            </a:r>
          </a:p>
        </p:txBody>
      </p:sp>
      <p:sp>
        <p:nvSpPr>
          <p:cNvPr id="123" name="Rounded Rectangle 122"/>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25" name="Rectangle 124"/>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Styling serums and oils segment is expected to command the highest average price of US$ 3.09 per Unit in 2036. Average selling price of hair styling products is estimated at US$ 1.75 per Unit in 2025 and is projected to increase to US$ 2.03 per Unit by 2036.</a:t>
            </a:r>
          </a:p>
          <a:p>
            <a:pPr algn="l">
              <a:lnSpc>
                <a:spcPct val="110000"/>
              </a:lnSpc>
              <a:spcBef>
                <a:spcPts val="0"/>
              </a:spcBef>
              <a:spcAft>
                <a:spcPts val="500"/>
              </a:spcAft>
            </a:pPr>
            <a:r>
              <a:rPr sz="1150" b="0">
                <a:solidFill>
                  <a:srgbClr val="2E2E2E"/>
                </a:solidFill>
                <a:latin typeface="Calibri"/>
              </a:rPr>
              <a:t>Israel is the highest-priced country, while Turkey is the most price-competitive market. Against the Middle East &amp; Africa price of 1.90 US$/Units, 4 of 7 countries price above and 3 below.</a:t>
            </a:r>
          </a:p>
          <a:p>
            <a:pPr algn="l">
              <a:lnSpc>
                <a:spcPct val="110000"/>
              </a:lnSpc>
              <a:spcBef>
                <a:spcPts val="0"/>
              </a:spcBef>
              <a:spcAft>
                <a:spcPts val="500"/>
              </a:spcAft>
            </a:pPr>
            <a:r>
              <a:rPr sz="1150" b="0">
                <a:solidFill>
                  <a:srgbClr val="2E2E2E"/>
                </a:solidFill>
                <a:latin typeface="Calibri"/>
              </a:rPr>
              <a:t>'Israel' is the dearest at +61.7% versus Middle East &amp; Africa, 'Rest of MEA' the cheapest at -27.3% pointing to premiumisation headroom in the lower-priced countries.</a:t>
            </a:r>
          </a:p>
        </p:txBody>
      </p:sp>
      <p:sp>
        <p:nvSpPr>
          <p:cNvPr id="127" name="TextBox 1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Middle East &amp; Africa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1,026</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2,122</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5.0%</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7.5%</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3051231"/>
          </a:xfrm>
          <a:prstGeom prst="roundRect">
            <a:avLst>
              <a:gd name="adj" fmla="val 24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565456"/>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Hair styling products market value in Middle East &amp; Africa is expected to increase 2.2X between 2025 and 2036. In 2025, the hair styling products market in Middle East &amp; Africa was valued at US$ 969.3 Mn and is estimated to account for US$ 1,026 Mn by the end of 2026, reflecting a Y-o-Y growth rate of 5.8%.</a:t>
            </a:r>
          </a:p>
          <a:p>
            <a:pPr algn="l">
              <a:lnSpc>
                <a:spcPct val="100000"/>
              </a:lnSpc>
              <a:spcBef>
                <a:spcPts val="0"/>
              </a:spcBef>
              <a:spcAft>
                <a:spcPts val="300"/>
              </a:spcAft>
            </a:pPr>
            <a:r>
              <a:rPr sz="1100" b="0">
                <a:solidFill>
                  <a:srgbClr val="2E2E2E"/>
                </a:solidFill>
                <a:latin typeface="Calibri"/>
              </a:rPr>
              <a:t>The market in Middle East &amp; Africa is expected to account for US$ 2,122 Mn by 2036 at a CAGR of 7.5% over the forecast period. Middle East &amp; Africa is expected to create an incremental opportunity of US$ 1,153 Mn for the overall hair styling products market from 2025 to 2036.</a:t>
            </a:r>
          </a:p>
          <a:p>
            <a:pPr algn="l">
              <a:lnSpc>
                <a:spcPct val="100000"/>
              </a:lnSpc>
              <a:spcBef>
                <a:spcPts val="0"/>
              </a:spcBef>
              <a:spcAft>
                <a:spcPts val="300"/>
              </a:spcAft>
            </a:pPr>
            <a:r>
              <a:rPr sz="1100" b="0">
                <a:solidFill>
                  <a:srgbClr val="2E2E2E"/>
                </a:solidFill>
                <a:latin typeface="Calibri"/>
              </a:rPr>
              <a:t>Absolute $ value for 2026 is estimated to be US$ 56.3 Mn.</a:t>
            </a:r>
          </a:p>
        </p:txBody>
      </p:sp>
      <p:sp>
        <p:nvSpPr>
          <p:cNvPr id="25" name="Rounded Rectangle 24"/>
          <p:cNvSpPr/>
          <p:nvPr/>
        </p:nvSpPr>
        <p:spPr>
          <a:xfrm>
            <a:off x="7915275" y="4733879"/>
            <a:ext cx="4133850" cy="1822506"/>
          </a:xfrm>
          <a:prstGeom prst="roundRect">
            <a:avLst>
              <a:gd name="adj" fmla="val 418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819604"/>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5057729"/>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143454"/>
            <a:ext cx="3867150" cy="133673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'Rest of MEA' leads regional growth at 8.7%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'Styling Serums and Oils'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Middle East &amp; Africa market and the incremental $ opportunity it creates…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4695825"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Market, 2021–2025 (Historical)</a:t>
            </a:r>
          </a:p>
        </p:txBody>
      </p:sp>
      <p:graphicFrame>
        <p:nvGraphicFramePr>
          <p:cNvPr id="13" name="Chart 12"/>
          <p:cNvGraphicFramePr>
            <a:graphicFrameLocks noGrp="1"/>
          </p:cNvGraphicFramePr>
          <p:nvPr/>
        </p:nvGraphicFramePr>
        <p:xfrm>
          <a:off x="238125" y="1266825"/>
          <a:ext cx="4505325" cy="2181225"/>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Market, 2026–2036 (Forecast)</a:t>
            </a:r>
          </a:p>
        </p:txBody>
      </p:sp>
      <p:graphicFrame>
        <p:nvGraphicFramePr>
          <p:cNvPr id="16" name="Chart 15"/>
          <p:cNvGraphicFramePr>
            <a:graphicFrameLocks noGrp="1"/>
          </p:cNvGraphicFramePr>
          <p:nvPr/>
        </p:nvGraphicFramePr>
        <p:xfrm>
          <a:off x="5086350" y="1266825"/>
          <a:ext cx="6858000" cy="21812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5.0%</a:t>
            </a:r>
          </a:p>
        </p:txBody>
      </p:sp>
      <p:sp>
        <p:nvSpPr>
          <p:cNvPr id="18" name="Rounded Rectangle 17"/>
          <p:cNvSpPr/>
          <p:nvPr/>
        </p:nvSpPr>
        <p:spPr>
          <a:xfrm>
            <a:off x="2809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7.5%</a:t>
            </a:r>
          </a:p>
        </p:txBody>
      </p:sp>
      <p:sp>
        <p:nvSpPr>
          <p:cNvPr id="19" name="Rounded Rectangle 18"/>
          <p:cNvSpPr/>
          <p:nvPr/>
        </p:nvSpPr>
        <p:spPr>
          <a:xfrm>
            <a:off x="54768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419.4 US$ Mn</a:t>
            </a:r>
          </a:p>
        </p:txBody>
      </p:sp>
      <p:sp>
        <p:nvSpPr>
          <p:cNvPr id="20" name="Rounded Rectangle 19"/>
          <p:cNvSpPr/>
          <p:nvPr/>
        </p:nvSpPr>
        <p:spPr>
          <a:xfrm>
            <a:off x="88296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1,096 US$ Mn</a:t>
            </a:r>
          </a:p>
        </p:txBody>
      </p:sp>
      <p:sp>
        <p:nvSpPr>
          <p:cNvPr id="21" name="Rounded Rectangle 20"/>
          <p:cNvSpPr/>
          <p:nvPr/>
        </p:nvSpPr>
        <p:spPr>
          <a:xfrm>
            <a:off x="142875" y="4457700"/>
            <a:ext cx="11906250" cy="2152650"/>
          </a:xfrm>
          <a:prstGeom prst="roundRect">
            <a:avLst>
              <a:gd name="adj" fmla="val 35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543425"/>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Volume &amp; Value Analysis</a:t>
            </a:r>
          </a:p>
        </p:txBody>
      </p:sp>
      <p:sp>
        <p:nvSpPr>
          <p:cNvPr id="23" name="Rectangle 22"/>
          <p:cNvSpPr/>
          <p:nvPr/>
        </p:nvSpPr>
        <p:spPr>
          <a:xfrm>
            <a:off x="276225" y="4781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867275"/>
            <a:ext cx="11639550" cy="1666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Hair styling products market value in Middle East &amp; Africa is expected to increase 2.2X between 2025 and 2036. In 2025, the hair styling products market in Middle East &amp; Africa was valued at US$ 969.3 Mn and is estimated to account for US$ 1,026 Mn by the end of 2026, reflecting a Y-o-Y growth rate of 5.8%. The market in Middle East &amp; Africa is expected to account for US$ 2,122 Mn by 2036 at a CAGR of 7.5% over the forecast period.</a:t>
            </a:r>
          </a:p>
          <a:p>
            <a:pPr algn="l">
              <a:lnSpc>
                <a:spcPct val="110000"/>
              </a:lnSpc>
              <a:spcBef>
                <a:spcPts val="0"/>
              </a:spcBef>
              <a:spcAft>
                <a:spcPts val="500"/>
              </a:spcAft>
            </a:pPr>
            <a:r>
              <a:rPr sz="1150" b="0">
                <a:solidFill>
                  <a:srgbClr val="2E2E2E"/>
                </a:solidFill>
                <a:latin typeface="Calibri"/>
              </a:rPr>
              <a:t>Middle East &amp; Africa is expected to create an incremental opportunity of US$ 1,153 Mn for the overall hair styling products market from 2025 to 2036. Absolute $ value for 2026 is estimated to be US$ 56.3 Mn. Middle East &amp; Africa hair styling products market is projected to register 1.9X increase in volume by the end of forecast period, 2036.</a:t>
            </a:r>
          </a:p>
          <a:p>
            <a:pPr algn="l">
              <a:lnSpc>
                <a:spcPct val="110000"/>
              </a:lnSpc>
              <a:spcBef>
                <a:spcPts val="0"/>
              </a:spcBef>
              <a:spcAft>
                <a:spcPts val="500"/>
              </a:spcAft>
            </a:pPr>
            <a:r>
              <a:rPr sz="1150" b="0">
                <a:solidFill>
                  <a:srgbClr val="2E2E2E"/>
                </a:solidFill>
                <a:latin typeface="Calibri"/>
              </a:rPr>
              <a:t>Middle East &amp; Africa hair styling products market volume stood at 554.3 Mn Units in 2025 and is expected to reach 1,045 Mn Units by 2036 end, at a CAGR of 6.0%. Value is projected to grow faster than volume over the forecast period, owing to an increase in average selling price.</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70"/>
        </p:xfrm>
        <a:graphic>
          <a:graphicData uri="http://schemas.openxmlformats.org/drawingml/2006/table">
            <a:tbl>
              <a:tblPr>
                <a:tableStyleId>{5C22544A-7EE6-4342-B048-85BDC9FD1C3A}</a:tableStyleId>
              </a:tblPr>
              <a:tblGrid>
                <a:gridCol w="1026891"/>
                <a:gridCol w="965533"/>
                <a:gridCol w="658971"/>
                <a:gridCol w="1263381"/>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383361">
                <a:tc>
                  <a:txBody>
                    <a:bodyPr wrap="none"/>
                    <a:lstStyle/>
                    <a:p>
                      <a:pPr algn="l"/>
                      <a:r>
                        <a:rPr sz="1100" b="1">
                          <a:solidFill>
                            <a:srgbClr val="2E2E2E"/>
                          </a:solidFill>
                          <a:latin typeface="Calibri"/>
                        </a:rPr>
                        <a:t>Turkey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FFFFF"/>
                    </a:solidFill>
                  </a:tcPr>
                </a:tc>
              </a:tr>
              <a:tr h="383361">
                <a:tc>
                  <a:txBody>
                    <a:bodyPr wrap="none"/>
                    <a:lstStyle/>
                    <a:p>
                      <a:pPr algn="l"/>
                      <a:r>
                        <a:rPr sz="1100" b="1">
                          <a:solidFill>
                            <a:srgbClr val="2E2E2E"/>
                          </a:solidFill>
                          <a:latin typeface="Calibri"/>
                        </a:rPr>
                        <a:t>Saudi Arabia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5F8FA"/>
                    </a:solidFill>
                  </a:tcPr>
                </a:tc>
              </a:tr>
              <a:tr h="383361">
                <a:tc>
                  <a:txBody>
                    <a:bodyPr wrap="none"/>
                    <a:lstStyle/>
                    <a:p>
                      <a:pPr algn="l"/>
                      <a:r>
                        <a:rPr sz="1100" b="1">
                          <a:solidFill>
                            <a:srgbClr val="2E2E2E"/>
                          </a:solidFill>
                          <a:latin typeface="Calibri"/>
                        </a:rPr>
                        <a:t>UAE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r>
              <a:tr h="383361">
                <a:tc>
                  <a:txBody>
                    <a:bodyPr wrap="none"/>
                    <a:lstStyle/>
                    <a:p>
                      <a:pPr algn="l"/>
                      <a:r>
                        <a:rPr sz="1100" b="1">
                          <a:solidFill>
                            <a:srgbClr val="2E2E2E"/>
                          </a:solidFill>
                          <a:latin typeface="Calibri"/>
                        </a:rPr>
                        <a:t>Israel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r>
              <a:tr h="383361">
                <a:tc>
                  <a:txBody>
                    <a:bodyPr wrap="none"/>
                    <a:lstStyle/>
                    <a:p>
                      <a:pPr algn="l"/>
                      <a:r>
                        <a:rPr sz="1100" b="1">
                          <a:solidFill>
                            <a:srgbClr val="2E2E2E"/>
                          </a:solidFill>
                          <a:latin typeface="Calibri"/>
                        </a:rPr>
                        <a:t>South Africa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1923094" cy="2521620"/>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Saudi Arabia</a:t>
            </a:r>
          </a:p>
          <a:p>
            <a:pPr algn="ctr"/>
            <a:r>
              <a:rPr sz="1100" b="0">
                <a:solidFill>
                  <a:srgbClr val="FFFFFF"/>
                </a:solidFill>
                <a:latin typeface="Calibri"/>
              </a:rPr>
              <a:t>431</a:t>
            </a:r>
          </a:p>
        </p:txBody>
      </p:sp>
      <p:sp>
        <p:nvSpPr>
          <p:cNvPr id="19" name="Rectangle 18"/>
          <p:cNvSpPr/>
          <p:nvPr/>
        </p:nvSpPr>
        <p:spPr>
          <a:xfrm>
            <a:off x="6133144" y="1293011"/>
            <a:ext cx="1820231" cy="2521620"/>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Turkey</a:t>
            </a:r>
          </a:p>
          <a:p>
            <a:pPr algn="ctr"/>
            <a:r>
              <a:rPr sz="1100" b="0">
                <a:solidFill>
                  <a:srgbClr val="FFFFFF"/>
                </a:solidFill>
                <a:latin typeface="Calibri"/>
              </a:rPr>
              <a:t>408</a:t>
            </a:r>
          </a:p>
        </p:txBody>
      </p:sp>
      <p:sp>
        <p:nvSpPr>
          <p:cNvPr id="20" name="Rectangle 19"/>
          <p:cNvSpPr/>
          <p:nvPr/>
        </p:nvSpPr>
        <p:spPr>
          <a:xfrm>
            <a:off x="4210050" y="3814631"/>
            <a:ext cx="1310900" cy="2063978"/>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South Africa</a:t>
            </a:r>
          </a:p>
          <a:p>
            <a:pPr algn="ctr"/>
            <a:r>
              <a:rPr sz="1100" b="0">
                <a:solidFill>
                  <a:srgbClr val="FFFFFF"/>
                </a:solidFill>
                <a:latin typeface="Calibri"/>
              </a:rPr>
              <a:t>241</a:t>
            </a:r>
          </a:p>
        </p:txBody>
      </p:sp>
      <p:sp>
        <p:nvSpPr>
          <p:cNvPr id="21" name="Rectangle 20"/>
          <p:cNvSpPr/>
          <p:nvPr/>
        </p:nvSpPr>
        <p:spPr>
          <a:xfrm>
            <a:off x="5520950" y="3814631"/>
            <a:ext cx="1253288" cy="2063978"/>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UAE</a:t>
            </a:r>
          </a:p>
          <a:p>
            <a:pPr algn="ctr"/>
            <a:r>
              <a:rPr sz="1100" b="0">
                <a:solidFill>
                  <a:srgbClr val="FFFFFF"/>
                </a:solidFill>
                <a:latin typeface="Calibri"/>
              </a:rPr>
              <a:t>230</a:t>
            </a:r>
          </a:p>
        </p:txBody>
      </p:sp>
      <p:sp>
        <p:nvSpPr>
          <p:cNvPr id="22" name="Rectangle 21"/>
          <p:cNvSpPr/>
          <p:nvPr/>
        </p:nvSpPr>
        <p:spPr>
          <a:xfrm>
            <a:off x="6774237" y="3814631"/>
            <a:ext cx="1179138" cy="2063978"/>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Israel</a:t>
            </a:r>
          </a:p>
          <a:p>
            <a:pPr algn="ctr"/>
            <a:r>
              <a:rPr sz="1100" b="0">
                <a:solidFill>
                  <a:srgbClr val="FFFFFF"/>
                </a:solidFill>
                <a:latin typeface="Calibri"/>
              </a:rPr>
              <a:t>216</a:t>
            </a:r>
          </a:p>
        </p:txBody>
      </p:sp>
      <p:sp>
        <p:nvSpPr>
          <p:cNvPr id="23" name="Rounded Rectangle 22"/>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5" name="Chart 24"/>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6" name="Rounded Rectangle 25"/>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27" name="Table 26"/>
          <p:cNvGraphicFramePr>
            <a:graphicFrameLocks noGrp="1"/>
          </p:cNvGraphicFramePr>
          <p:nvPr/>
        </p:nvGraphicFramePr>
        <p:xfrm>
          <a:off x="8096250" y="3547710"/>
          <a:ext cx="3914775" cy="2159450"/>
        </p:xfrm>
        <a:graphic>
          <a:graphicData uri="http://schemas.openxmlformats.org/drawingml/2006/table">
            <a:tbl>
              <a:tblPr>
                <a:tableStyleId>{5C22544A-7EE6-4342-B048-85BDC9FD1C3A}</a:tableStyleId>
              </a:tblPr>
              <a:tblGrid>
                <a:gridCol w="967699"/>
                <a:gridCol w="1135531"/>
                <a:gridCol w="620987"/>
                <a:gridCol w="1190558"/>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388837">
                <a:tc>
                  <a:txBody>
                    <a:bodyPr wrap="none"/>
                    <a:lstStyle/>
                    <a:p>
                      <a:pPr algn="l"/>
                      <a:r>
                        <a:rPr sz="1100" b="1">
                          <a:solidFill>
                            <a:srgbClr val="2E2E2E"/>
                          </a:solidFill>
                          <a:latin typeface="Calibri"/>
                        </a:rPr>
                        <a:t>Saudi Arabia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FFFFF"/>
                    </a:solidFill>
                  </a:tcPr>
                </a:tc>
              </a:tr>
              <a:tr h="388837">
                <a:tc>
                  <a:txBody>
                    <a:bodyPr wrap="none"/>
                    <a:lstStyle/>
                    <a:p>
                      <a:pPr algn="l"/>
                      <a:r>
                        <a:rPr sz="1100" b="1">
                          <a:solidFill>
                            <a:srgbClr val="2E2E2E"/>
                          </a:solidFill>
                          <a:latin typeface="Calibri"/>
                        </a:rPr>
                        <a:t>Turkey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5F8FA"/>
                    </a:solidFill>
                  </a:tcPr>
                </a:tc>
              </a:tr>
              <a:tr h="388837">
                <a:tc>
                  <a:txBody>
                    <a:bodyPr wrap="none"/>
                    <a:lstStyle/>
                    <a:p>
                      <a:pPr algn="l"/>
                      <a:r>
                        <a:rPr sz="1100" b="1">
                          <a:solidFill>
                            <a:srgbClr val="2E2E2E"/>
                          </a:solidFill>
                          <a:latin typeface="Calibri"/>
                        </a:rPr>
                        <a:t>UAE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r>
              <a:tr h="388837">
                <a:tc>
                  <a:txBody>
                    <a:bodyPr wrap="none"/>
                    <a:lstStyle/>
                    <a:p>
                      <a:pPr algn="l"/>
                      <a:r>
                        <a:rPr sz="1100" b="1">
                          <a:solidFill>
                            <a:srgbClr val="2E2E2E"/>
                          </a:solidFill>
                          <a:latin typeface="Calibri"/>
                        </a:rPr>
                        <a:t>South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r>
              <a:tr h="388837">
                <a:tc>
                  <a:txBody>
                    <a:bodyPr wrap="none"/>
                    <a:lstStyle/>
                    <a:p>
                      <a:pPr algn="l"/>
                      <a:r>
                        <a:rPr sz="1100" b="1">
                          <a:solidFill>
                            <a:srgbClr val="2E2E2E"/>
                          </a:solidFill>
                          <a:latin typeface="Calibri"/>
                        </a:rPr>
                        <a:t>Israel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r>
            </a:tbl>
          </a:graphicData>
        </a:graphic>
      </p:graphicFrame>
      <p:sp>
        <p:nvSpPr>
          <p:cNvPr id="28" name="TextBox 27"/>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9" name="Rounded Rectangle 28"/>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Saudi Arabia hair styling products market is projected to register 1.1X higher value than Turkey in 2036. Turkey posts the highest CAGR Index (104), growing at 7.9% against the Middle East &amp; Africa benchmark, while Saudi Arabia offers the largest absolute opportunity 222.3 US$ Mn of incremental market between 2026 and 2036 (20% of the Middle East &amp; Africa increment).</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Global hair styling products market is expected to witness 2.2X increase in revenue by 2036 end. Global hair styling products market accounted for US$ 969.3 Mn in 2025, which is expected to increase to US$ 2,122 Mn in 2036 at a CAGR of 7.5%.</a:t>
            </a:r>
          </a:p>
          <a:p>
            <a:pPr algn="l">
              <a:lnSpc>
                <a:spcPct val="110000"/>
              </a:lnSpc>
              <a:spcBef>
                <a:spcPts val="0"/>
              </a:spcBef>
              <a:spcAft>
                <a:spcPts val="500"/>
              </a:spcAft>
            </a:pPr>
            <a:r>
              <a:rPr sz="1150" b="0">
                <a:solidFill>
                  <a:srgbClr val="2E2E2E"/>
                </a:solidFill>
                <a:latin typeface="Calibri"/>
              </a:rPr>
              <a:t>The global hair styling products market has been analysed on the basis of product format, hold level, finish and distribution channel across the globe. Saudi Arabia is expected to remain the largest market for hair styling products, while demand in Turkey is projected to increase at the highest CAGR of 7.9% throughout the forecast period.</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is moderately fragmented: the leading product format category 'Styling Serums and Oils' holds 20.4% of 2036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spans 7 countries and 7 segmentation lenses (8 product format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Rest of MEA is the largest country market at 20.4% of 2036 value.</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Accelerating uptake of 'Sticks and Balms' (9.1%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Fast-growing demand in Rest of MEA (8.7%).</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Momentum in Online Marketplaces within distribution channel (9.0%).</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Slower momentum in 'Sprays and Mists' (5.7%).</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Maturing demand in established categories caps the blended 7.5%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 concentration in 'Styling Serums and Oils' raises barriers for new entrants.</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'Sticks and Balms'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Rest of MEA outpacing the Middle East &amp; Africa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8 product format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Capacity and product development are concentrating in 'Sticks and Balms' and in Rest of MEA, the fastest-growing country.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Portfolio expansion is tracking the shift toward higher-growth product format categories.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Commercial focus is intensifying in Rest of MEA, which accounts for 20.4% of 2036 value.</a:t>
            </a:r>
          </a:p>
        </p:txBody>
      </p:sp>
      <p:sp>
        <p:nvSpPr>
          <p:cNvPr id="14" name="Rounded Rectangle 13"/>
          <p:cNvSpPr/>
          <p:nvPr/>
        </p:nvSpPr>
        <p:spPr>
          <a:xfrm>
            <a:off x="6172200"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Market value rises from 1,026 US$ Mn in 2026 to 2,122 US$ Mn in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forecast CAGR is 7.5% over 2026-2036.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'Styling Serums and Oils' is the lead product format category with 20.4%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Rest of MEA is the lead country with 20.4%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incremental opportunity over 2026-2036 is 1,096 US$ Mn.</a:t>
            </a:r>
          </a:p>
        </p:txBody>
      </p:sp>
      <p:sp>
        <p:nvSpPr>
          <p:cNvPr id="18" name="Rounded Rectangle 17"/>
          <p:cNvSpPr/>
          <p:nvPr/>
        </p:nvSpPr>
        <p:spPr>
          <a:xfrm>
            <a:off x="142875"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152775"/>
            <a:ext cx="5610225" cy="1228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Investment is flowing toward 'Sticks and Balms', the fastest-growing product format category at 9.1%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Rest of MEA (8.7% CAGR) is a priority country for new capacity and distribution.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Scale players are anchoring their portfolios around 'Styling Serums and Oils', which holds 20.4% share.</a:t>
            </a:r>
          </a:p>
        </p:txBody>
      </p:sp>
      <p:sp>
        <p:nvSpPr>
          <p:cNvPr id="22" name="Rounded Rectangle 21"/>
          <p:cNvSpPr/>
          <p:nvPr/>
        </p:nvSpPr>
        <p:spPr>
          <a:xfrm>
            <a:off x="6172200"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152775"/>
            <a:ext cx="5610225" cy="12287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R&amp;D programmes are focused on product design, premium formats and sustainable materials, in line with the migration toward 'Sticks and Balms'.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Development spend is targeting the product format categories that gain share through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Innovation underpins the 7.5% forecast CAGR by sustaining both volume growth and price realisation.</a:t>
            </a:r>
          </a:p>
        </p:txBody>
      </p:sp>
      <p:sp>
        <p:nvSpPr>
          <p:cNvPr id="26" name="Rounded Rectangle 25"/>
          <p:cNvSpPr/>
          <p:nvPr/>
        </p:nvSpPr>
        <p:spPr>
          <a:xfrm>
            <a:off x="142875" y="4591050"/>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648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Format Share (2036)</a:t>
            </a:r>
          </a:p>
        </p:txBody>
      </p:sp>
      <p:graphicFrame>
        <p:nvGraphicFramePr>
          <p:cNvPr id="28" name="Chart 27"/>
          <p:cNvGraphicFramePr>
            <a:graphicFrameLocks noGrp="1"/>
          </p:cNvGraphicFramePr>
          <p:nvPr/>
        </p:nvGraphicFramePr>
        <p:xfrm>
          <a:off x="238125" y="4876800"/>
          <a:ext cx="11715750" cy="1685925"/>
        </p:xfrm>
        <a:graphic>
          <a:graphicData uri="http://schemas.openxmlformats.org/drawingml/2006/chart">
            <c:chart xmlns:c="http://schemas.openxmlformats.org/drawingml/2006/chart" r:id="rId3"/>
          </a:graphicData>
        </a:graphic>
      </p:graphicFrame>
      <p:sp>
        <p:nvSpPr>
          <p:cNvPr id="29" name="TextBox 28"/>
          <p:cNvSpPr txBox="1"/>
          <p:nvPr/>
        </p:nvSpPr>
        <p:spPr>
          <a:xfrm>
            <a:off x="3935364" y="5605462"/>
            <a:ext cx="806547" cy="228600"/>
          </a:xfrm>
          <a:prstGeom prst="rect">
            <a:avLst/>
          </a:prstGeom>
          <a:noFill/>
        </p:spPr>
        <p:txBody>
          <a:bodyPr wrap="square" lIns="28575" rIns="28575" tIns="9525" bIns="9525" anchor="ctr">
            <a:spAutoFit/>
          </a:bodyPr>
          <a:lstStyle/>
          <a:p>
            <a:pPr algn="ctr"/>
            <a:r>
              <a:rPr sz="1300" b="1">
                <a:solidFill>
                  <a:srgbClr val="2E2E2E"/>
                </a:solidFill>
                <a:latin typeface="Calibri"/>
              </a:rPr>
              <a:t>2036</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scale in 'Styling Serums and Oils' with targeted growth in 'Sticks and Balms' to capture the 7.5% CAGR trajectory to 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adds 1,096 US$ Mn of demand to 2036, a 2.1x expansion on the 2026 base.</a:t>
            </a:r>
          </a:p>
        </p:txBody>
      </p:sp>
      <p:sp>
        <p:nvSpPr>
          <p:cNvPr id="14" name="Rounded Rectangle 13"/>
          <p:cNvSpPr/>
          <p:nvPr/>
        </p:nvSpPr>
        <p:spPr>
          <a:xfrm>
            <a:off x="6172200"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'Sticks and Balms' category and the 'Online Marketplaces' distribution channel route, where growth outpaces the market.</a:t>
            </a:r>
          </a:p>
        </p:txBody>
      </p:sp>
      <p:sp>
        <p:nvSpPr>
          <p:cNvPr id="18" name="Rounded Rectangle 17"/>
          <p:cNvSpPr/>
          <p:nvPr/>
        </p:nvSpPr>
        <p:spPr>
          <a:xfrm>
            <a:off x="142875"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'Sticks and Balms' (9.1% CAGR) for growth, while 'Styling Serums and Oils' anchors 20.4% of value and funds the portfolio.</a:t>
            </a:r>
          </a:p>
        </p:txBody>
      </p:sp>
      <p:sp>
        <p:nvSpPr>
          <p:cNvPr id="22" name="Rounded Rectangle 21"/>
          <p:cNvSpPr/>
          <p:nvPr/>
        </p:nvSpPr>
        <p:spPr>
          <a:xfrm>
            <a:off x="6172200"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 with Rest of MEA, which holds 20.4% of value and grows fastest at 8.7% CAGR, while building positions in the next-largest countries.</a:t>
            </a:r>
          </a:p>
        </p:txBody>
      </p:sp>
      <p:sp>
        <p:nvSpPr>
          <p:cNvPr id="26" name="Rounded Rectangle 25"/>
          <p:cNvSpPr/>
          <p:nvPr/>
        </p:nvSpPr>
        <p:spPr>
          <a:xfrm>
            <a:off x="142875" y="4695825"/>
            <a:ext cx="11906250" cy="1914525"/>
          </a:xfrm>
          <a:prstGeom prst="roundRect">
            <a:avLst>
              <a:gd name="adj" fmla="val 39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81550"/>
            <a:ext cx="11639550" cy="209550"/>
          </a:xfrm>
          <a:prstGeom prst="rect">
            <a:avLst/>
          </a:prstGeom>
          <a:noFill/>
        </p:spPr>
        <p:txBody>
          <a:bodyPr wrap="square" lIns="0" rIns="19050" tIns="9525" bIns="9525">
            <a:spAutoFit/>
          </a:bodyPr>
          <a:lstStyle/>
          <a:p>
            <a:pPr algn="l"/>
            <a:r>
              <a:rPr sz="1300" b="1">
                <a:solidFill>
                  <a:srgbClr val="0B2E4A"/>
                </a:solidFill>
                <a:latin typeface="Calibri"/>
              </a:rPr>
              <a:t>FMI Analysis and Recommendation</a:t>
            </a:r>
          </a:p>
        </p:txBody>
      </p:sp>
      <p:sp>
        <p:nvSpPr>
          <p:cNvPr id="28" name="Rectangle 27"/>
          <p:cNvSpPr/>
          <p:nvPr/>
        </p:nvSpPr>
        <p:spPr>
          <a:xfrm>
            <a:off x="276225" y="5019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105400"/>
            <a:ext cx="11639550" cy="1428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 and country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'Styling Serums and Oils' as the value anchor of the portfolio.</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quality certification and brand trust into the offer to protect pricing as competition intensifies.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2,559 US$ Mn</a:t>
            </a:r>
          </a:p>
          <a:p>
            <a:pPr algn="ctr">
              <a:lnSpc>
                <a:spcPct val="95000"/>
              </a:lnSpc>
            </a:pPr>
            <a:r>
              <a:rPr sz="1100" b="0">
                <a:solidFill>
                  <a:srgbClr val="6C7A89"/>
                </a:solidFill>
                <a:latin typeface="Calibri"/>
              </a:rPr>
              <a:t>CAGR 9.1%</a:t>
            </a:r>
          </a:p>
        </p:txBody>
      </p:sp>
      <p:sp>
        <p:nvSpPr>
          <p:cNvPr id="11" name="Rounded Rectangle 10"/>
          <p:cNvSpPr/>
          <p:nvPr/>
        </p:nvSpPr>
        <p:spPr>
          <a:xfrm>
            <a:off x="4238625"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2,122 US$ Mn</a:t>
            </a:r>
          </a:p>
          <a:p>
            <a:pPr algn="ctr">
              <a:lnSpc>
                <a:spcPct val="95000"/>
              </a:lnSpc>
            </a:pPr>
            <a:r>
              <a:rPr sz="1100" b="0">
                <a:solidFill>
                  <a:srgbClr val="6C7A89"/>
                </a:solidFill>
                <a:latin typeface="Calibri"/>
              </a:rPr>
              <a:t>CAGR 7.5%</a:t>
            </a:r>
          </a:p>
        </p:txBody>
      </p:sp>
      <p:sp>
        <p:nvSpPr>
          <p:cNvPr id="12" name="Rounded Rectangle 11"/>
          <p:cNvSpPr/>
          <p:nvPr/>
        </p:nvSpPr>
        <p:spPr>
          <a:xfrm>
            <a:off x="8210550"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1,754 US$ Mn</a:t>
            </a:r>
          </a:p>
          <a:p>
            <a:pPr algn="ctr">
              <a:lnSpc>
                <a:spcPct val="95000"/>
              </a:lnSpc>
            </a:pPr>
            <a:r>
              <a:rPr sz="1100" b="0">
                <a:solidFill>
                  <a:srgbClr val="6C7A89"/>
                </a:solidFill>
                <a:latin typeface="Calibri"/>
              </a:rPr>
              <a:t>CAGR 5.5%</a:t>
            </a:r>
          </a:p>
        </p:txBody>
      </p:sp>
      <p:sp>
        <p:nvSpPr>
          <p:cNvPr id="13" name="Rounded Rectangle 12"/>
          <p:cNvSpPr/>
          <p:nvPr/>
        </p:nvSpPr>
        <p:spPr>
          <a:xfrm>
            <a:off x="142875"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Hair Styling Products Market Value (US$ Mn): Scenario Forecast, 2025 and 2036</a:t>
            </a:r>
          </a:p>
        </p:txBody>
      </p:sp>
      <p:cxnSp>
        <p:nvCxnSpPr>
          <p:cNvPr id="15" name="Connector 14"/>
          <p:cNvCxnSpPr/>
          <p:nvPr/>
        </p:nvCxnSpPr>
        <p:spPr>
          <a:xfrm>
            <a:off x="238125" y="413385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517492"/>
            <a:ext cx="635826" cy="616358"/>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18780"/>
            <a:ext cx="635826" cy="1115070"/>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784568"/>
            <a:ext cx="635826" cy="1349282"/>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506504"/>
            <a:ext cx="635826" cy="1627346"/>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885430"/>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780655"/>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5.5%</a:t>
            </a:r>
          </a:p>
        </p:txBody>
      </p:sp>
      <p:cxnSp>
        <p:nvCxnSpPr>
          <p:cNvPr id="22" name="Connector 21"/>
          <p:cNvCxnSpPr/>
          <p:nvPr/>
        </p:nvCxnSpPr>
        <p:spPr>
          <a:xfrm>
            <a:off x="1456468" y="2628255"/>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23480"/>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7.5%</a:t>
            </a:r>
          </a:p>
        </p:txBody>
      </p:sp>
      <p:cxnSp>
        <p:nvCxnSpPr>
          <p:cNvPr id="24" name="Connector 23"/>
          <p:cNvCxnSpPr/>
          <p:nvPr/>
        </p:nvCxnSpPr>
        <p:spPr>
          <a:xfrm>
            <a:off x="1456468" y="2371080"/>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266305"/>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9.1%</a:t>
            </a:r>
          </a:p>
        </p:txBody>
      </p:sp>
      <p:sp>
        <p:nvSpPr>
          <p:cNvPr id="26" name="TextBox 25"/>
          <p:cNvSpPr txBox="1"/>
          <p:nvPr/>
        </p:nvSpPr>
        <p:spPr>
          <a:xfrm>
            <a:off x="643255"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40055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40055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40055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Hair Styling Products Market Attractiveness Analysis By Region, 2026–2036</a:t>
            </a:r>
          </a:p>
        </p:txBody>
      </p:sp>
      <p:graphicFrame>
        <p:nvGraphicFramePr>
          <p:cNvPr id="36" name="Chart 35"/>
          <p:cNvGraphicFramePr>
            <a:graphicFrameLocks noGrp="1"/>
          </p:cNvGraphicFramePr>
          <p:nvPr/>
        </p:nvGraphicFramePr>
        <p:xfrm>
          <a:off x="6267450" y="2181225"/>
          <a:ext cx="5686425" cy="2409825"/>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781550"/>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191125"/>
            <a:ext cx="11639550" cy="135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Optimistic: the market reaches 2,559 US$ Mn by 2036 at 9.1% CAGR, assuming faster adoption and stronger price realisation.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Likely (base forecast): the market reaches 2,122 US$ Mn by 2036 at 7.5%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Conservative: the market reaches 1,754 US$ Mn by 2036 at 5.5% CAGR, assuming slower adoption and tighter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Scenarios flex the base forecast's year-on-year growth by plus or minus 25% across 2026-2036.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gap between the optimistic and conservative outcomes is 805.6 US$ Mn in 2036, which frames the planning range for capacity and investment decisions.</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Middle East &amp; Africa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Middle East &amp; Africa Hair Styling Products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7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Middle East &amp; Africa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330779"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330779"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Saudi Arabia</a:t>
            </a:r>
          </a:p>
        </p:txBody>
      </p:sp>
      <p:sp>
        <p:nvSpPr>
          <p:cNvPr id="23" name="Rectangle 22"/>
          <p:cNvSpPr/>
          <p:nvPr/>
        </p:nvSpPr>
        <p:spPr>
          <a:xfrm>
            <a:off x="1866900"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208.9</a:t>
            </a:r>
          </a:p>
        </p:txBody>
      </p:sp>
      <p:sp>
        <p:nvSpPr>
          <p:cNvPr id="24" name="Rectangle 23"/>
          <p:cNvSpPr/>
          <p:nvPr/>
        </p:nvSpPr>
        <p:spPr>
          <a:xfrm>
            <a:off x="1866900"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431.2</a:t>
            </a:r>
          </a:p>
        </p:txBody>
      </p:sp>
      <p:sp>
        <p:nvSpPr>
          <p:cNvPr id="25" name="Rectangle 24"/>
          <p:cNvSpPr/>
          <p:nvPr/>
        </p:nvSpPr>
        <p:spPr>
          <a:xfrm>
            <a:off x="1866900"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7.5%</a:t>
            </a:r>
          </a:p>
        </p:txBody>
      </p:sp>
      <p:sp>
        <p:nvSpPr>
          <p:cNvPr id="26" name="Oval 25"/>
          <p:cNvSpPr/>
          <p:nvPr/>
        </p:nvSpPr>
        <p:spPr>
          <a:xfrm>
            <a:off x="237036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311979" y="1773916"/>
            <a:ext cx="1330779"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311979" y="1992961"/>
            <a:ext cx="1330779"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350079"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Turkey</a:t>
            </a:r>
          </a:p>
        </p:txBody>
      </p:sp>
      <p:sp>
        <p:nvSpPr>
          <p:cNvPr id="30" name="Rectangle 29"/>
          <p:cNvSpPr/>
          <p:nvPr/>
        </p:nvSpPr>
        <p:spPr>
          <a:xfrm>
            <a:off x="3311979"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191.4</a:t>
            </a:r>
          </a:p>
        </p:txBody>
      </p:sp>
      <p:sp>
        <p:nvSpPr>
          <p:cNvPr id="31" name="Rectangle 30"/>
          <p:cNvSpPr/>
          <p:nvPr/>
        </p:nvSpPr>
        <p:spPr>
          <a:xfrm>
            <a:off x="3311979"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408.1</a:t>
            </a:r>
          </a:p>
        </p:txBody>
      </p:sp>
      <p:sp>
        <p:nvSpPr>
          <p:cNvPr id="32" name="Rectangle 31"/>
          <p:cNvSpPr/>
          <p:nvPr/>
        </p:nvSpPr>
        <p:spPr>
          <a:xfrm>
            <a:off x="3311979"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7.9%</a:t>
            </a:r>
          </a:p>
        </p:txBody>
      </p:sp>
      <p:sp>
        <p:nvSpPr>
          <p:cNvPr id="33" name="Oval 32"/>
          <p:cNvSpPr/>
          <p:nvPr/>
        </p:nvSpPr>
        <p:spPr>
          <a:xfrm>
            <a:off x="3815443"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4757057" y="1773916"/>
            <a:ext cx="1330779"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4757057" y="1992961"/>
            <a:ext cx="1330779"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795157"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MEA</a:t>
            </a:r>
          </a:p>
        </p:txBody>
      </p:sp>
      <p:sp>
        <p:nvSpPr>
          <p:cNvPr id="37" name="Rectangle 36"/>
          <p:cNvSpPr/>
          <p:nvPr/>
        </p:nvSpPr>
        <p:spPr>
          <a:xfrm>
            <a:off x="4757057"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187.5</a:t>
            </a:r>
          </a:p>
        </p:txBody>
      </p:sp>
      <p:sp>
        <p:nvSpPr>
          <p:cNvPr id="38" name="Rectangle 37"/>
          <p:cNvSpPr/>
          <p:nvPr/>
        </p:nvSpPr>
        <p:spPr>
          <a:xfrm>
            <a:off x="4757057"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433.7</a:t>
            </a:r>
          </a:p>
        </p:txBody>
      </p:sp>
      <p:sp>
        <p:nvSpPr>
          <p:cNvPr id="39" name="Rectangle 38"/>
          <p:cNvSpPr/>
          <p:nvPr/>
        </p:nvSpPr>
        <p:spPr>
          <a:xfrm>
            <a:off x="4757057"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8.7%</a:t>
            </a:r>
          </a:p>
        </p:txBody>
      </p:sp>
      <p:sp>
        <p:nvSpPr>
          <p:cNvPr id="40" name="Oval 39"/>
          <p:cNvSpPr/>
          <p:nvPr/>
        </p:nvSpPr>
        <p:spPr>
          <a:xfrm>
            <a:off x="5260521"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202136" y="1773916"/>
            <a:ext cx="1330779"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202136" y="1992961"/>
            <a:ext cx="1330779"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240236"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South Africa</a:t>
            </a:r>
          </a:p>
        </p:txBody>
      </p:sp>
      <p:sp>
        <p:nvSpPr>
          <p:cNvPr id="44" name="Rectangle 43"/>
          <p:cNvSpPr/>
          <p:nvPr/>
        </p:nvSpPr>
        <p:spPr>
          <a:xfrm>
            <a:off x="6202136"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132.8</a:t>
            </a:r>
          </a:p>
        </p:txBody>
      </p:sp>
      <p:sp>
        <p:nvSpPr>
          <p:cNvPr id="45" name="Rectangle 44"/>
          <p:cNvSpPr/>
          <p:nvPr/>
        </p:nvSpPr>
        <p:spPr>
          <a:xfrm>
            <a:off x="6202136"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240.6</a:t>
            </a:r>
          </a:p>
        </p:txBody>
      </p:sp>
      <p:sp>
        <p:nvSpPr>
          <p:cNvPr id="46" name="Rectangle 45"/>
          <p:cNvSpPr/>
          <p:nvPr/>
        </p:nvSpPr>
        <p:spPr>
          <a:xfrm>
            <a:off x="6202136"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6.1%</a:t>
            </a:r>
          </a:p>
        </p:txBody>
      </p:sp>
      <p:sp>
        <p:nvSpPr>
          <p:cNvPr id="47" name="Oval 46"/>
          <p:cNvSpPr/>
          <p:nvPr/>
        </p:nvSpPr>
        <p:spPr>
          <a:xfrm>
            <a:off x="670560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7647214" y="1773916"/>
            <a:ext cx="1330779"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647214" y="1992961"/>
            <a:ext cx="1330779"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7685314"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UAE</a:t>
            </a:r>
          </a:p>
        </p:txBody>
      </p:sp>
      <p:sp>
        <p:nvSpPr>
          <p:cNvPr id="51" name="Rectangle 50"/>
          <p:cNvSpPr/>
          <p:nvPr/>
        </p:nvSpPr>
        <p:spPr>
          <a:xfrm>
            <a:off x="7647214"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118.9</a:t>
            </a:r>
          </a:p>
        </p:txBody>
      </p:sp>
      <p:sp>
        <p:nvSpPr>
          <p:cNvPr id="52" name="Rectangle 51"/>
          <p:cNvSpPr/>
          <p:nvPr/>
        </p:nvSpPr>
        <p:spPr>
          <a:xfrm>
            <a:off x="7647214"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230.0</a:t>
            </a:r>
          </a:p>
        </p:txBody>
      </p:sp>
      <p:sp>
        <p:nvSpPr>
          <p:cNvPr id="53" name="Rectangle 52"/>
          <p:cNvSpPr/>
          <p:nvPr/>
        </p:nvSpPr>
        <p:spPr>
          <a:xfrm>
            <a:off x="7647214"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6.8%</a:t>
            </a:r>
          </a:p>
        </p:txBody>
      </p:sp>
      <p:sp>
        <p:nvSpPr>
          <p:cNvPr id="54" name="Oval 53"/>
          <p:cNvSpPr/>
          <p:nvPr/>
        </p:nvSpPr>
        <p:spPr>
          <a:xfrm>
            <a:off x="815067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9092293" y="1773916"/>
            <a:ext cx="1330779"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092293" y="1992961"/>
            <a:ext cx="1330779"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130393"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Israel</a:t>
            </a:r>
          </a:p>
        </p:txBody>
      </p:sp>
      <p:sp>
        <p:nvSpPr>
          <p:cNvPr id="58" name="Rectangle 57"/>
          <p:cNvSpPr/>
          <p:nvPr/>
        </p:nvSpPr>
        <p:spPr>
          <a:xfrm>
            <a:off x="9092293"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116.1</a:t>
            </a:r>
          </a:p>
        </p:txBody>
      </p:sp>
      <p:sp>
        <p:nvSpPr>
          <p:cNvPr id="59" name="Rectangle 58"/>
          <p:cNvSpPr/>
          <p:nvPr/>
        </p:nvSpPr>
        <p:spPr>
          <a:xfrm>
            <a:off x="9092293"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216.4</a:t>
            </a:r>
          </a:p>
        </p:txBody>
      </p:sp>
      <p:sp>
        <p:nvSpPr>
          <p:cNvPr id="60" name="Rectangle 59"/>
          <p:cNvSpPr/>
          <p:nvPr/>
        </p:nvSpPr>
        <p:spPr>
          <a:xfrm>
            <a:off x="9092293"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6.4%</a:t>
            </a:r>
          </a:p>
        </p:txBody>
      </p:sp>
      <p:sp>
        <p:nvSpPr>
          <p:cNvPr id="61" name="Oval 60"/>
          <p:cNvSpPr/>
          <p:nvPr/>
        </p:nvSpPr>
        <p:spPr>
          <a:xfrm>
            <a:off x="9595757"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10537371" y="1773916"/>
            <a:ext cx="1330779"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537371" y="1992961"/>
            <a:ext cx="1330779"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10575471"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GCC</a:t>
            </a:r>
          </a:p>
        </p:txBody>
      </p:sp>
      <p:sp>
        <p:nvSpPr>
          <p:cNvPr id="65" name="Rectangle 64"/>
          <p:cNvSpPr/>
          <p:nvPr/>
        </p:nvSpPr>
        <p:spPr>
          <a:xfrm>
            <a:off x="10537371"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70.1</a:t>
            </a:r>
          </a:p>
        </p:txBody>
      </p:sp>
      <p:sp>
        <p:nvSpPr>
          <p:cNvPr id="66" name="Rectangle 65"/>
          <p:cNvSpPr/>
          <p:nvPr/>
        </p:nvSpPr>
        <p:spPr>
          <a:xfrm>
            <a:off x="10537371"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161.9</a:t>
            </a:r>
          </a:p>
        </p:txBody>
      </p:sp>
      <p:sp>
        <p:nvSpPr>
          <p:cNvPr id="67" name="Rectangle 66"/>
          <p:cNvSpPr/>
          <p:nvPr/>
        </p:nvSpPr>
        <p:spPr>
          <a:xfrm>
            <a:off x="10537371"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8.7%</a:t>
            </a:r>
          </a:p>
        </p:txBody>
      </p:sp>
      <p:sp>
        <p:nvSpPr>
          <p:cNvPr id="68" name="Oval 67"/>
          <p:cNvSpPr/>
          <p:nvPr/>
        </p:nvSpPr>
        <p:spPr>
          <a:xfrm>
            <a:off x="11040836"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71" name="Rectangle 70"/>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Saudi Arabia hair styling products market is projected to register 1.1X higher value than Turkey in 2036. Among hair styling products by country, Turkey is expected to witness the highest CAGR of 7.9% over the forecast period.</a:t>
            </a:r>
          </a:p>
          <a:p>
            <a:pPr algn="l">
              <a:lnSpc>
                <a:spcPct val="110000"/>
              </a:lnSpc>
              <a:spcBef>
                <a:spcPts val="0"/>
              </a:spcBef>
              <a:spcAft>
                <a:spcPts val="500"/>
              </a:spcAft>
            </a:pPr>
            <a:r>
              <a:rPr sz="1100" b="0">
                <a:solidFill>
                  <a:srgbClr val="2E2E2E"/>
                </a:solidFill>
                <a:latin typeface="Calibri"/>
              </a:rPr>
              <a:t>In terms of value share by country, Saudi Arabia is expected to dominate the market, gaining 106 BPS and accounting for 28.3% share by 2036. South Africa is expected to lose 152 BPS over the forecast period to account for 15.8% share by 2036.</a:t>
            </a:r>
          </a:p>
        </p:txBody>
      </p:sp>
      <p:sp>
        <p:nvSpPr>
          <p:cNvPr id="73" name="Rounded Rectangle 72"/>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Country Insights</a:t>
            </a:r>
          </a:p>
        </p:txBody>
      </p:sp>
      <p:sp>
        <p:nvSpPr>
          <p:cNvPr id="75" name="Rectangle 74"/>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Saudi Arabia: </a:t>
            </a:r>
            <a:r>
              <a:rPr sz="1100" b="0">
                <a:solidFill>
                  <a:srgbClr val="2E2E2E"/>
                </a:solidFill>
                <a:latin typeface="Calibri"/>
              </a:rPr>
              <a:t>20% of 2026 value · 7.5% CAGR leads the market.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Turkey: </a:t>
            </a:r>
            <a:r>
              <a:rPr sz="1100" b="0">
                <a:solidFill>
                  <a:srgbClr val="2E2E2E"/>
                </a:solidFill>
                <a:latin typeface="Calibri"/>
              </a:rPr>
              <a:t>19% of 2026 value · 7.9% CAGR a smaller market.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Rest of MEA: </a:t>
            </a:r>
            <a:r>
              <a:rPr sz="1100" b="0">
                <a:solidFill>
                  <a:srgbClr val="2E2E2E"/>
                </a:solidFill>
                <a:latin typeface="Calibri"/>
              </a:rPr>
              <a:t>18% of 2026 value · 8.7%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South Africa: </a:t>
            </a:r>
            <a:r>
              <a:rPr sz="1100" b="0">
                <a:solidFill>
                  <a:srgbClr val="2E2E2E"/>
                </a:solidFill>
                <a:latin typeface="Calibri"/>
              </a:rPr>
              <a:t>13% of 2026 value · 6.1% CAGR a smaller market.</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UAE: </a:t>
            </a:r>
            <a:r>
              <a:rPr sz="1100" b="0">
                <a:solidFill>
                  <a:srgbClr val="2E2E2E"/>
                </a:solidFill>
                <a:latin typeface="Calibri"/>
              </a:rPr>
              <a:t>12% of 2026 value · 6.8% CAGR a smaller market.</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Israel: </a:t>
            </a:r>
            <a:r>
              <a:rPr sz="1100" b="0">
                <a:solidFill>
                  <a:srgbClr val="2E2E2E"/>
                </a:solidFill>
                <a:latin typeface="Calibri"/>
              </a:rPr>
              <a:t>11% of 2026 value · 6.4% CAGR a smaller market.</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Rest of GCC: </a:t>
            </a:r>
            <a:r>
              <a:rPr sz="1100" b="0">
                <a:solidFill>
                  <a:srgbClr val="2E2E2E"/>
                </a:solidFill>
                <a:latin typeface="Calibri"/>
              </a:rPr>
              <a:t>7% of 2026 value · 8.7% CAGR a smaller market.</a:t>
            </a:r>
          </a:p>
        </p:txBody>
      </p:sp>
      <p:sp>
        <p:nvSpPr>
          <p:cNvPr id="77" name="Rounded Rectangle 76"/>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Country Overview</a:t>
            </a:r>
          </a:p>
        </p:txBody>
      </p:sp>
      <p:sp>
        <p:nvSpPr>
          <p:cNvPr id="79" name="Rectangle 78"/>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81" name="Rectangle 80"/>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Middle East &amp; Africa market is projected to grow at a CAGR of 7.5% from 2026 to 2036.</a:t>
            </a:r>
          </a:p>
        </p:txBody>
      </p:sp>
      <p:sp>
        <p:nvSpPr>
          <p:cNvPr id="83" name="TextBox 82"/>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84" name="TextBox 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Market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68456"/>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56369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48749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GCC</a:t>
            </a:r>
          </a:p>
        </p:txBody>
      </p:sp>
      <p:sp>
        <p:nvSpPr>
          <p:cNvPr id="19" name="BPS Value 1"/>
          <p:cNvSpPr txBox="1"/>
          <p:nvPr/>
        </p:nvSpPr>
        <p:spPr>
          <a:xfrm>
            <a:off x="6305550" y="1549406"/>
            <a:ext cx="514350" cy="123825"/>
          </a:xfrm>
          <a:prstGeom prst="rect">
            <a:avLst/>
          </a:prstGeom>
          <a:noFill/>
        </p:spPr>
        <p:txBody>
          <a:bodyPr wrap="none" lIns="0" rIns="0" tIns="0" bIns="0" anchor="ctr">
            <a:spAutoFit/>
          </a:bodyPr>
          <a:lstStyle/>
          <a:p>
            <a:pPr algn="r"/>
            <a:r>
              <a:rPr sz="900" b="1">
                <a:solidFill>
                  <a:srgbClr val="2E7D32"/>
                </a:solidFill>
                <a:latin typeface="Calibri"/>
              </a:rPr>
              <a:t>+46</a:t>
            </a:r>
          </a:p>
        </p:txBody>
      </p:sp>
      <p:sp>
        <p:nvSpPr>
          <p:cNvPr id="20" name="FMI Legend Chip"/>
          <p:cNvSpPr/>
          <p:nvPr/>
        </p:nvSpPr>
        <p:spPr>
          <a:xfrm>
            <a:off x="4551045" y="1789651"/>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178488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70868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Israel</a:t>
            </a:r>
          </a:p>
        </p:txBody>
      </p:sp>
      <p:sp>
        <p:nvSpPr>
          <p:cNvPr id="23" name="BPS Value 2"/>
          <p:cNvSpPr txBox="1"/>
          <p:nvPr/>
        </p:nvSpPr>
        <p:spPr>
          <a:xfrm>
            <a:off x="6305550" y="1770601"/>
            <a:ext cx="514350" cy="123825"/>
          </a:xfrm>
          <a:prstGeom prst="rect">
            <a:avLst/>
          </a:prstGeom>
          <a:noFill/>
        </p:spPr>
        <p:txBody>
          <a:bodyPr wrap="none" lIns="0" rIns="0" tIns="0" bIns="0" anchor="ctr">
            <a:spAutoFit/>
          </a:bodyPr>
          <a:lstStyle/>
          <a:p>
            <a:pPr algn="r"/>
            <a:r>
              <a:rPr sz="900" b="1">
                <a:solidFill>
                  <a:srgbClr val="E44D3A"/>
                </a:solidFill>
                <a:latin typeface="Calibri"/>
              </a:rPr>
              <a:t>-77</a:t>
            </a:r>
          </a:p>
        </p:txBody>
      </p:sp>
      <p:sp>
        <p:nvSpPr>
          <p:cNvPr id="24" name="FMI Legend Chip"/>
          <p:cNvSpPr/>
          <p:nvPr/>
        </p:nvSpPr>
        <p:spPr>
          <a:xfrm>
            <a:off x="4551045" y="2036378"/>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203161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195541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UAE</a:t>
            </a:r>
          </a:p>
        </p:txBody>
      </p:sp>
      <p:sp>
        <p:nvSpPr>
          <p:cNvPr id="27" name="BPS Value 3"/>
          <p:cNvSpPr txBox="1"/>
          <p:nvPr/>
        </p:nvSpPr>
        <p:spPr>
          <a:xfrm>
            <a:off x="6305550" y="2017328"/>
            <a:ext cx="514350" cy="123825"/>
          </a:xfrm>
          <a:prstGeom prst="rect">
            <a:avLst/>
          </a:prstGeom>
          <a:noFill/>
        </p:spPr>
        <p:txBody>
          <a:bodyPr wrap="none" lIns="0" rIns="0" tIns="0" bIns="0" anchor="ctr">
            <a:spAutoFit/>
          </a:bodyPr>
          <a:lstStyle/>
          <a:p>
            <a:pPr algn="r"/>
            <a:r>
              <a:rPr sz="900" b="1">
                <a:solidFill>
                  <a:srgbClr val="E44D3A"/>
                </a:solidFill>
                <a:latin typeface="Calibri"/>
              </a:rPr>
              <a:t>-47</a:t>
            </a:r>
          </a:p>
        </p:txBody>
      </p:sp>
      <p:sp>
        <p:nvSpPr>
          <p:cNvPr id="28" name="FMI Legend Chip"/>
          <p:cNvSpPr/>
          <p:nvPr/>
        </p:nvSpPr>
        <p:spPr>
          <a:xfrm>
            <a:off x="4551045" y="238957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4712970" y="238481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30861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Africa</a:t>
            </a:r>
          </a:p>
        </p:txBody>
      </p:sp>
      <p:sp>
        <p:nvSpPr>
          <p:cNvPr id="31" name="BPS Value 4"/>
          <p:cNvSpPr txBox="1"/>
          <p:nvPr/>
        </p:nvSpPr>
        <p:spPr>
          <a:xfrm>
            <a:off x="6305550" y="2370526"/>
            <a:ext cx="514350" cy="123825"/>
          </a:xfrm>
          <a:prstGeom prst="rect">
            <a:avLst/>
          </a:prstGeom>
          <a:noFill/>
        </p:spPr>
        <p:txBody>
          <a:bodyPr wrap="none" lIns="0" rIns="0" tIns="0" bIns="0" anchor="ctr">
            <a:spAutoFit/>
          </a:bodyPr>
          <a:lstStyle/>
          <a:p>
            <a:pPr algn="r"/>
            <a:r>
              <a:rPr sz="900" b="1">
                <a:solidFill>
                  <a:srgbClr val="E44D3A"/>
                </a:solidFill>
                <a:latin typeface="Calibri"/>
              </a:rPr>
              <a:t>-205</a:t>
            </a:r>
          </a:p>
        </p:txBody>
      </p:sp>
      <p:sp>
        <p:nvSpPr>
          <p:cNvPr id="32" name="FMI Legend Chip"/>
          <p:cNvSpPr/>
          <p:nvPr/>
        </p:nvSpPr>
        <p:spPr>
          <a:xfrm>
            <a:off x="4551045" y="289353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4712970" y="288877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281257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Saudi Arabia</a:t>
            </a:r>
          </a:p>
        </p:txBody>
      </p:sp>
      <p:sp>
        <p:nvSpPr>
          <p:cNvPr id="35" name="BPS Value 5"/>
          <p:cNvSpPr txBox="1"/>
          <p:nvPr/>
        </p:nvSpPr>
        <p:spPr>
          <a:xfrm>
            <a:off x="6305550" y="2874484"/>
            <a:ext cx="514350" cy="123825"/>
          </a:xfrm>
          <a:prstGeom prst="rect">
            <a:avLst/>
          </a:prstGeom>
          <a:noFill/>
        </p:spPr>
        <p:txBody>
          <a:bodyPr wrap="none" lIns="0" rIns="0" tIns="0" bIns="0" anchor="ctr">
            <a:spAutoFit/>
          </a:bodyPr>
          <a:lstStyle/>
          <a:p>
            <a:pPr algn="r"/>
            <a:r>
              <a:rPr sz="900" b="1">
                <a:solidFill>
                  <a:srgbClr val="E44D3A"/>
                </a:solidFill>
                <a:latin typeface="Calibri"/>
              </a:rPr>
              <a:t>-17</a:t>
            </a:r>
          </a:p>
        </p:txBody>
      </p:sp>
      <p:sp>
        <p:nvSpPr>
          <p:cNvPr id="36" name="FMI Legend Chip"/>
          <p:cNvSpPr/>
          <p:nvPr/>
        </p:nvSpPr>
        <p:spPr>
          <a:xfrm>
            <a:off x="4551045" y="364380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4712970" y="363903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3562838"/>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Turkey</a:t>
            </a:r>
          </a:p>
        </p:txBody>
      </p:sp>
      <p:sp>
        <p:nvSpPr>
          <p:cNvPr id="39" name="BPS Value 6"/>
          <p:cNvSpPr txBox="1"/>
          <p:nvPr/>
        </p:nvSpPr>
        <p:spPr>
          <a:xfrm>
            <a:off x="6305550" y="3624751"/>
            <a:ext cx="514350" cy="123825"/>
          </a:xfrm>
          <a:prstGeom prst="rect">
            <a:avLst/>
          </a:prstGeom>
          <a:noFill/>
        </p:spPr>
        <p:txBody>
          <a:bodyPr wrap="none" lIns="0" rIns="0" tIns="0" bIns="0" anchor="ctr">
            <a:spAutoFit/>
          </a:bodyPr>
          <a:lstStyle/>
          <a:p>
            <a:pPr algn="r"/>
            <a:r>
              <a:rPr sz="900" b="1">
                <a:solidFill>
                  <a:srgbClr val="2E7D32"/>
                </a:solidFill>
                <a:latin typeface="Calibri"/>
              </a:rPr>
              <a:t>+82</a:t>
            </a:r>
          </a:p>
        </p:txBody>
      </p:sp>
      <p:sp>
        <p:nvSpPr>
          <p:cNvPr id="40" name="FMI Legend Chip"/>
          <p:cNvSpPr/>
          <p:nvPr/>
        </p:nvSpPr>
        <p:spPr>
          <a:xfrm>
            <a:off x="4551045" y="462031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4712970" y="461554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4855845" y="4539348"/>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MEA</a:t>
            </a:r>
          </a:p>
        </p:txBody>
      </p:sp>
      <p:sp>
        <p:nvSpPr>
          <p:cNvPr id="43" name="BPS Value 7"/>
          <p:cNvSpPr txBox="1"/>
          <p:nvPr/>
        </p:nvSpPr>
        <p:spPr>
          <a:xfrm>
            <a:off x="6305550" y="4601261"/>
            <a:ext cx="514350" cy="123825"/>
          </a:xfrm>
          <a:prstGeom prst="rect">
            <a:avLst/>
          </a:prstGeom>
          <a:noFill/>
        </p:spPr>
        <p:txBody>
          <a:bodyPr wrap="none" lIns="0" rIns="0" tIns="0" bIns="0" anchor="ctr">
            <a:spAutoFit/>
          </a:bodyPr>
          <a:lstStyle/>
          <a:p>
            <a:pPr algn="r"/>
            <a:r>
              <a:rPr sz="900" b="1">
                <a:solidFill>
                  <a:srgbClr val="2E7D32"/>
                </a:solidFill>
                <a:latin typeface="Calibri"/>
              </a:rPr>
              <a:t>+217</a:t>
            </a:r>
          </a:p>
        </p:txBody>
      </p:sp>
      <p:sp>
        <p:nvSpPr>
          <p:cNvPr id="44" name="Rounded Rectangle 4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6" name="Rectangle 4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Turkey hair styling products market is projected to register 1.7X higher volume than Saudi Arabia in 2036. Among hair styling products by country, Turkey is expected to witness the highest CAGR of 6.4% over the forecast period.</a:t>
            </a:r>
          </a:p>
          <a:p>
            <a:pPr algn="l">
              <a:lnSpc>
                <a:spcPct val="110000"/>
              </a:lnSpc>
              <a:spcBef>
                <a:spcPts val="0"/>
              </a:spcBef>
              <a:spcAft>
                <a:spcPts val="500"/>
              </a:spcAft>
            </a:pPr>
            <a:r>
              <a:rPr sz="1150" b="0">
                <a:solidFill>
                  <a:srgbClr val="2E2E2E"/>
                </a:solidFill>
                <a:latin typeface="Calibri"/>
              </a:rPr>
              <a:t>In terms of volume share by country, Turkey is expected to dominate the market, gaining 265 BPS and accounting for 38.4% share by 2036. South Africa is expected to lose 227 BPS over the forecast period to account for 18.2% share by 2036.</a:t>
            </a:r>
          </a:p>
        </p:txBody>
      </p:sp>
      <p:sp>
        <p:nvSpPr>
          <p:cNvPr id="48" name="Rounded Rectangle 4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(MN UNITS)</a:t>
            </a:r>
          </a:p>
          <a:p>
            <a:pPr algn="ctr">
              <a:lnSpc>
                <a:spcPct val="95000"/>
              </a:lnSpc>
            </a:pPr>
            <a:r>
              <a:rPr sz="2000" b="1">
                <a:solidFill>
                  <a:srgbClr val="0E72AE"/>
                </a:solidFill>
                <a:latin typeface="Calibri"/>
              </a:rPr>
              <a:t>581.3</a:t>
            </a:r>
          </a:p>
        </p:txBody>
      </p:sp>
      <p:sp>
        <p:nvSpPr>
          <p:cNvPr id="49" name="Rounded Rectangle 4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(MN UNITS)</a:t>
            </a:r>
          </a:p>
          <a:p>
            <a:pPr algn="ctr">
              <a:lnSpc>
                <a:spcPct val="95000"/>
              </a:lnSpc>
            </a:pPr>
            <a:r>
              <a:rPr sz="2000" b="1">
                <a:solidFill>
                  <a:srgbClr val="0E72AE"/>
                </a:solidFill>
                <a:latin typeface="Calibri"/>
              </a:rPr>
              <a:t>1,045</a:t>
            </a:r>
          </a:p>
        </p:txBody>
      </p:sp>
      <p:sp>
        <p:nvSpPr>
          <p:cNvPr id="50" name="Rounded Rectangle 4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6.0%</a:t>
            </a:r>
          </a:p>
        </p:txBody>
      </p:sp>
      <p:sp>
        <p:nvSpPr>
          <p:cNvPr id="51" name="TextBox 5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02023"/>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59726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2106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GCC</a:t>
            </a:r>
          </a:p>
        </p:txBody>
      </p:sp>
      <p:sp>
        <p:nvSpPr>
          <p:cNvPr id="19" name="BPS Value 1"/>
          <p:cNvSpPr txBox="1"/>
          <p:nvPr/>
        </p:nvSpPr>
        <p:spPr>
          <a:xfrm>
            <a:off x="6305550" y="1582973"/>
            <a:ext cx="514350" cy="123825"/>
          </a:xfrm>
          <a:prstGeom prst="rect">
            <a:avLst/>
          </a:prstGeom>
          <a:noFill/>
        </p:spPr>
        <p:txBody>
          <a:bodyPr wrap="none" lIns="0" rIns="0" tIns="0" bIns="0" anchor="ctr">
            <a:spAutoFit/>
          </a:bodyPr>
          <a:lstStyle/>
          <a:p>
            <a:pPr algn="r"/>
            <a:r>
              <a:rPr sz="900" b="1">
                <a:solidFill>
                  <a:srgbClr val="2E7D32"/>
                </a:solidFill>
                <a:latin typeface="Calibri"/>
              </a:rPr>
              <a:t>+80</a:t>
            </a:r>
          </a:p>
        </p:txBody>
      </p:sp>
      <p:sp>
        <p:nvSpPr>
          <p:cNvPr id="20" name="FMI Legend Chip"/>
          <p:cNvSpPr/>
          <p:nvPr/>
        </p:nvSpPr>
        <p:spPr>
          <a:xfrm>
            <a:off x="4551045" y="1928946"/>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192418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84798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Israel</a:t>
            </a:r>
          </a:p>
        </p:txBody>
      </p:sp>
      <p:sp>
        <p:nvSpPr>
          <p:cNvPr id="23" name="BPS Value 2"/>
          <p:cNvSpPr txBox="1"/>
          <p:nvPr/>
        </p:nvSpPr>
        <p:spPr>
          <a:xfrm>
            <a:off x="6305550" y="1909896"/>
            <a:ext cx="514350" cy="123825"/>
          </a:xfrm>
          <a:prstGeom prst="rect">
            <a:avLst/>
          </a:prstGeom>
          <a:noFill/>
        </p:spPr>
        <p:txBody>
          <a:bodyPr wrap="none" lIns="0" rIns="0" tIns="0" bIns="0" anchor="ctr">
            <a:spAutoFit/>
          </a:bodyPr>
          <a:lstStyle/>
          <a:p>
            <a:pPr algn="r"/>
            <a:r>
              <a:rPr sz="900" b="1">
                <a:solidFill>
                  <a:srgbClr val="E44D3A"/>
                </a:solidFill>
                <a:latin typeface="Calibri"/>
              </a:rPr>
              <a:t>-112</a:t>
            </a:r>
          </a:p>
        </p:txBody>
      </p:sp>
      <p:sp>
        <p:nvSpPr>
          <p:cNvPr id="24" name="FMI Legend Chip"/>
          <p:cNvSpPr/>
          <p:nvPr/>
        </p:nvSpPr>
        <p:spPr>
          <a:xfrm>
            <a:off x="4551045" y="2314680"/>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230991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23371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UAE</a:t>
            </a:r>
          </a:p>
        </p:txBody>
      </p:sp>
      <p:sp>
        <p:nvSpPr>
          <p:cNvPr id="27" name="BPS Value 3"/>
          <p:cNvSpPr txBox="1"/>
          <p:nvPr/>
        </p:nvSpPr>
        <p:spPr>
          <a:xfrm>
            <a:off x="6305550" y="2295630"/>
            <a:ext cx="514350" cy="123825"/>
          </a:xfrm>
          <a:prstGeom prst="rect">
            <a:avLst/>
          </a:prstGeom>
          <a:noFill/>
        </p:spPr>
        <p:txBody>
          <a:bodyPr wrap="none" lIns="0" rIns="0" tIns="0" bIns="0" anchor="ctr">
            <a:spAutoFit/>
          </a:bodyPr>
          <a:lstStyle/>
          <a:p>
            <a:pPr algn="r"/>
            <a:r>
              <a:rPr sz="900" b="1">
                <a:solidFill>
                  <a:srgbClr val="E44D3A"/>
                </a:solidFill>
                <a:latin typeface="Calibri"/>
              </a:rPr>
              <a:t>-76</a:t>
            </a:r>
          </a:p>
        </p:txBody>
      </p:sp>
      <p:sp>
        <p:nvSpPr>
          <p:cNvPr id="28" name="FMI Legend Chip"/>
          <p:cNvSpPr/>
          <p:nvPr/>
        </p:nvSpPr>
        <p:spPr>
          <a:xfrm>
            <a:off x="4551045" y="2721308"/>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4712970" y="271654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64034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Africa</a:t>
            </a:r>
          </a:p>
        </p:txBody>
      </p:sp>
      <p:sp>
        <p:nvSpPr>
          <p:cNvPr id="31" name="BPS Value 4"/>
          <p:cNvSpPr txBox="1"/>
          <p:nvPr/>
        </p:nvSpPr>
        <p:spPr>
          <a:xfrm>
            <a:off x="6305550" y="2702258"/>
            <a:ext cx="514350" cy="123825"/>
          </a:xfrm>
          <a:prstGeom prst="rect">
            <a:avLst/>
          </a:prstGeom>
          <a:noFill/>
        </p:spPr>
        <p:txBody>
          <a:bodyPr wrap="none" lIns="0" rIns="0" tIns="0" bIns="0" anchor="ctr">
            <a:spAutoFit/>
          </a:bodyPr>
          <a:lstStyle/>
          <a:p>
            <a:pPr algn="r"/>
            <a:r>
              <a:rPr sz="900" b="1">
                <a:solidFill>
                  <a:srgbClr val="E44D3A"/>
                </a:solidFill>
                <a:latin typeface="Calibri"/>
              </a:rPr>
              <a:t>-161</a:t>
            </a:r>
          </a:p>
        </p:txBody>
      </p:sp>
      <p:sp>
        <p:nvSpPr>
          <p:cNvPr id="32" name="FMI Legend Chip"/>
          <p:cNvSpPr/>
          <p:nvPr/>
        </p:nvSpPr>
        <p:spPr>
          <a:xfrm>
            <a:off x="4551045" y="328184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2970" y="327708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20088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Turkey</a:t>
            </a:r>
          </a:p>
        </p:txBody>
      </p:sp>
      <p:sp>
        <p:nvSpPr>
          <p:cNvPr id="35" name="BPS Value 5"/>
          <p:cNvSpPr txBox="1"/>
          <p:nvPr/>
        </p:nvSpPr>
        <p:spPr>
          <a:xfrm>
            <a:off x="6305550" y="3262796"/>
            <a:ext cx="514350" cy="123825"/>
          </a:xfrm>
          <a:prstGeom prst="rect">
            <a:avLst/>
          </a:prstGeom>
          <a:noFill/>
        </p:spPr>
        <p:txBody>
          <a:bodyPr wrap="none" lIns="0" rIns="0" tIns="0" bIns="0" anchor="ctr">
            <a:spAutoFit/>
          </a:bodyPr>
          <a:lstStyle/>
          <a:p>
            <a:pPr algn="r"/>
            <a:r>
              <a:rPr sz="900" b="1">
                <a:solidFill>
                  <a:srgbClr val="2E7D32"/>
                </a:solidFill>
                <a:latin typeface="Calibri"/>
              </a:rPr>
              <a:t>+57</a:t>
            </a:r>
          </a:p>
        </p:txBody>
      </p:sp>
      <p:sp>
        <p:nvSpPr>
          <p:cNvPr id="36" name="FMI Legend Chip"/>
          <p:cNvSpPr/>
          <p:nvPr/>
        </p:nvSpPr>
        <p:spPr>
          <a:xfrm>
            <a:off x="4551045" y="400708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4712970" y="400232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392612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Saudi Arabia</a:t>
            </a:r>
          </a:p>
        </p:txBody>
      </p:sp>
      <p:sp>
        <p:nvSpPr>
          <p:cNvPr id="39" name="BPS Value 6"/>
          <p:cNvSpPr txBox="1"/>
          <p:nvPr/>
        </p:nvSpPr>
        <p:spPr>
          <a:xfrm>
            <a:off x="6305550" y="3988035"/>
            <a:ext cx="514350" cy="123825"/>
          </a:xfrm>
          <a:prstGeom prst="rect">
            <a:avLst/>
          </a:prstGeom>
          <a:noFill/>
        </p:spPr>
        <p:txBody>
          <a:bodyPr wrap="none" lIns="0" rIns="0" tIns="0" bIns="0" anchor="ctr">
            <a:spAutoFit/>
          </a:bodyPr>
          <a:lstStyle/>
          <a:p>
            <a:pPr algn="r"/>
            <a:r>
              <a:rPr sz="900" b="1">
                <a:solidFill>
                  <a:srgbClr val="E44D3A"/>
                </a:solidFill>
                <a:latin typeface="Calibri"/>
              </a:rPr>
              <a:t>-5</a:t>
            </a:r>
          </a:p>
        </p:txBody>
      </p:sp>
      <p:sp>
        <p:nvSpPr>
          <p:cNvPr id="40" name="FMI Legend Chip"/>
          <p:cNvSpPr/>
          <p:nvPr/>
        </p:nvSpPr>
        <p:spPr>
          <a:xfrm>
            <a:off x="4551045" y="475444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4712970" y="474967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4855845" y="4673478"/>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MEA</a:t>
            </a:r>
          </a:p>
        </p:txBody>
      </p:sp>
      <p:sp>
        <p:nvSpPr>
          <p:cNvPr id="43" name="BPS Value 7"/>
          <p:cNvSpPr txBox="1"/>
          <p:nvPr/>
        </p:nvSpPr>
        <p:spPr>
          <a:xfrm>
            <a:off x="6305550" y="4735390"/>
            <a:ext cx="514350" cy="123825"/>
          </a:xfrm>
          <a:prstGeom prst="rect">
            <a:avLst/>
          </a:prstGeom>
          <a:noFill/>
        </p:spPr>
        <p:txBody>
          <a:bodyPr wrap="none" lIns="0" rIns="0" tIns="0" bIns="0" anchor="ctr">
            <a:spAutoFit/>
          </a:bodyPr>
          <a:lstStyle/>
          <a:p>
            <a:pPr algn="r"/>
            <a:r>
              <a:rPr sz="900" b="1">
                <a:solidFill>
                  <a:srgbClr val="2E7D32"/>
                </a:solidFill>
                <a:latin typeface="Calibri"/>
              </a:rPr>
              <a:t>+216</a:t>
            </a:r>
          </a:p>
        </p:txBody>
      </p:sp>
      <p:sp>
        <p:nvSpPr>
          <p:cNvPr id="44" name="Rounded Rectangle 4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6" name="Rectangle 4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Saudi Arabia hair styling products market is projected to register 1.1X higher value than Turkey in 2036. Among hair styling products by country, Turkey is expected to witness the highest CAGR of 7.9% over the forecast period.</a:t>
            </a:r>
          </a:p>
          <a:p>
            <a:pPr algn="l">
              <a:lnSpc>
                <a:spcPct val="110000"/>
              </a:lnSpc>
              <a:spcBef>
                <a:spcPts val="0"/>
              </a:spcBef>
              <a:spcAft>
                <a:spcPts val="500"/>
              </a:spcAft>
            </a:pPr>
            <a:r>
              <a:rPr sz="1150" b="0">
                <a:solidFill>
                  <a:srgbClr val="2E2E2E"/>
                </a:solidFill>
                <a:latin typeface="Calibri"/>
              </a:rPr>
              <a:t>In terms of value share by country, Saudi Arabia is expected to dominate the market, gaining 106 BPS and accounting for 28.3% share by 2036. South Africa is expected to lose 152 BPS over the forecast period to account for 15.8% share by 2036.</a:t>
            </a:r>
          </a:p>
        </p:txBody>
      </p:sp>
      <p:sp>
        <p:nvSpPr>
          <p:cNvPr id="48" name="Rounded Rectangle 4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1,026</a:t>
            </a:r>
          </a:p>
        </p:txBody>
      </p:sp>
      <p:sp>
        <p:nvSpPr>
          <p:cNvPr id="49" name="Rounded Rectangle 4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2,122</a:t>
            </a:r>
          </a:p>
        </p:txBody>
      </p:sp>
      <p:sp>
        <p:nvSpPr>
          <p:cNvPr id="50" name="Rounded Rectangle 4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7.5%</a:t>
            </a:r>
          </a:p>
        </p:txBody>
      </p:sp>
      <p:sp>
        <p:nvSpPr>
          <p:cNvPr id="51" name="TextBox 5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Market Share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Market Size, By Country (Mn Units)</a:t>
            </a:r>
          </a:p>
        </p:txBody>
      </p:sp>
      <p:graphicFrame>
        <p:nvGraphicFramePr>
          <p:cNvPr id="13" name="Table 12"/>
          <p:cNvGraphicFramePr>
            <a:graphicFrameLocks noGrp="1"/>
          </p:cNvGraphicFramePr>
          <p:nvPr/>
        </p:nvGraphicFramePr>
        <p:xfrm>
          <a:off x="152400" y="1238250"/>
          <a:ext cx="11887201" cy="1943097"/>
        </p:xfrm>
        <a:graphic>
          <a:graphicData uri="http://schemas.openxmlformats.org/drawingml/2006/table">
            <a:tbl>
              <a:tblPr>
                <a:tableStyleId>{5C22544A-7EE6-4342-B048-85BDC9FD1C3A}</a:tableStyleId>
              </a:tblPr>
              <a:tblGrid>
                <a:gridCol w="998157"/>
                <a:gridCol w="640532"/>
                <a:gridCol w="640532"/>
                <a:gridCol w="640532"/>
                <a:gridCol w="640532"/>
                <a:gridCol w="640532"/>
                <a:gridCol w="640532"/>
                <a:gridCol w="640532"/>
                <a:gridCol w="640532"/>
                <a:gridCol w="640532"/>
                <a:gridCol w="640532"/>
                <a:gridCol w="640532"/>
                <a:gridCol w="640532"/>
                <a:gridCol w="640532"/>
                <a:gridCol w="640532"/>
                <a:gridCol w="640532"/>
                <a:gridCol w="640532"/>
                <a:gridCol w="640532"/>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UAE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Saudi Arabia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Turkey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Israel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Rest of GCC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South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Rest of MEA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09975"/>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Volume Share Read-out, By Country</a:t>
            </a:r>
          </a:p>
        </p:txBody>
      </p:sp>
      <p:sp>
        <p:nvSpPr>
          <p:cNvPr id="17" name="Rectangle 16"/>
          <p:cNvSpPr/>
          <p:nvPr/>
        </p:nvSpPr>
        <p:spPr>
          <a:xfrm>
            <a:off x="276225" y="3848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33825"/>
            <a:ext cx="11639550" cy="2619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Turkey hair styling products market is projected to register 1.7X higher volume than Saudi Arabia in 2036. Among hair styling products by country, Turkey is expected to witness the highest CAGR of 6.4% over the forecast period.</a:t>
            </a:r>
          </a:p>
          <a:p>
            <a:pPr algn="l">
              <a:lnSpc>
                <a:spcPct val="110000"/>
              </a:lnSpc>
              <a:spcBef>
                <a:spcPts val="0"/>
              </a:spcBef>
              <a:spcAft>
                <a:spcPts val="500"/>
              </a:spcAft>
            </a:pPr>
            <a:r>
              <a:rPr sz="1150" b="0">
                <a:solidFill>
                  <a:srgbClr val="2E2E2E"/>
                </a:solidFill>
                <a:latin typeface="Calibri"/>
              </a:rPr>
              <a:t>In terms of volume share by country, Turkey is expected to dominate the market, gaining 265 BPS and accounting for 38.4% share by 2036. South Africa is expected to lose 227 BPS over the forecast period to account for 18.2%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Market Size, By Country (US$ Mn)</a:t>
            </a:r>
          </a:p>
        </p:txBody>
      </p:sp>
      <p:graphicFrame>
        <p:nvGraphicFramePr>
          <p:cNvPr id="13" name="Table 12"/>
          <p:cNvGraphicFramePr>
            <a:graphicFrameLocks noGrp="1"/>
          </p:cNvGraphicFramePr>
          <p:nvPr/>
        </p:nvGraphicFramePr>
        <p:xfrm>
          <a:off x="152400" y="1238250"/>
          <a:ext cx="11887201" cy="1943097"/>
        </p:xfrm>
        <a:graphic>
          <a:graphicData uri="http://schemas.openxmlformats.org/drawingml/2006/table">
            <a:tbl>
              <a:tblPr>
                <a:tableStyleId>{5C22544A-7EE6-4342-B048-85BDC9FD1C3A}</a:tableStyleId>
              </a:tblPr>
              <a:tblGrid>
                <a:gridCol w="998157"/>
                <a:gridCol w="640532"/>
                <a:gridCol w="640532"/>
                <a:gridCol w="640532"/>
                <a:gridCol w="640532"/>
                <a:gridCol w="640532"/>
                <a:gridCol w="640532"/>
                <a:gridCol w="640532"/>
                <a:gridCol w="640532"/>
                <a:gridCol w="640532"/>
                <a:gridCol w="640532"/>
                <a:gridCol w="640532"/>
                <a:gridCol w="640532"/>
                <a:gridCol w="640532"/>
                <a:gridCol w="640532"/>
                <a:gridCol w="640532"/>
                <a:gridCol w="640532"/>
                <a:gridCol w="640532"/>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UAE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Saudi Arabia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Turkey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Israel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Rest of GCC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South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Rest of MEA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09975"/>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Share Read-out, By Country</a:t>
            </a:r>
          </a:p>
        </p:txBody>
      </p:sp>
      <p:sp>
        <p:nvSpPr>
          <p:cNvPr id="17" name="Rectangle 16"/>
          <p:cNvSpPr/>
          <p:nvPr/>
        </p:nvSpPr>
        <p:spPr>
          <a:xfrm>
            <a:off x="276225" y="3848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33825"/>
            <a:ext cx="11639550" cy="2619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Saudi Arabia hair styling products market is projected to register 1.1X higher value than Turkey in 2036. Among hair styling products by country, Turkey is expected to witness the highest CAGR of 7.9% over the forecast period.</a:t>
            </a:r>
          </a:p>
          <a:p>
            <a:pPr algn="l">
              <a:lnSpc>
                <a:spcPct val="110000"/>
              </a:lnSpc>
              <a:spcBef>
                <a:spcPts val="0"/>
              </a:spcBef>
              <a:spcAft>
                <a:spcPts val="500"/>
              </a:spcAft>
            </a:pPr>
            <a:r>
              <a:rPr sz="1150" b="0">
                <a:solidFill>
                  <a:srgbClr val="2E2E2E"/>
                </a:solidFill>
                <a:latin typeface="Calibri"/>
              </a:rPr>
              <a:t>In terms of value share by country, Saudi Arabia is expected to dominate the market, gaining 106 BPS and accounting for 28.3% share by 2036. South Africa is expected to lose 152 BPS over the forecast period to account for 15.8%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By Country (Mn Units)</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MI Dense Legend"/>
          <p:cNvSpPr txBox="1"/>
          <p:nvPr/>
        </p:nvSpPr>
        <p:spPr>
          <a:xfrm>
            <a:off x="9839325" y="1362075"/>
            <a:ext cx="2057400" cy="171450"/>
          </a:xfrm>
          <a:prstGeom prst="rect">
            <a:avLst/>
          </a:prstGeom>
          <a:noFill/>
        </p:spPr>
        <p:txBody>
          <a:bodyPr wrap="none">
            <a:spAutoFit/>
          </a:bodyPr>
          <a:lstStyle/>
          <a:p>
            <a:r>
              <a:rPr sz="850" b="1">
                <a:solidFill>
                  <a:srgbClr val="6C7A89"/>
                </a:solidFill>
                <a:latin typeface="Calibri"/>
              </a:rPr>
              <a:t>By segment</a:t>
            </a: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Rest of MEA</a:t>
            </a:r>
          </a:p>
          <a:p>
            <a:pPr>
              <a:spcBef>
                <a:spcPts val="500"/>
              </a:spcBef>
            </a:pPr>
            <a:r>
              <a:rPr sz="900">
                <a:solidFill>
                  <a:srgbClr val="9E7E0A"/>
                </a:solidFill>
                <a:latin typeface="Calibri"/>
              </a:rPr>
              <a:t>■  </a:t>
            </a:r>
            <a:r>
              <a:rPr sz="750">
                <a:solidFill>
                  <a:srgbClr val="2E2E2E"/>
                </a:solidFill>
                <a:latin typeface="Calibri"/>
              </a:rPr>
              <a:t>   Turkey</a:t>
            </a:r>
          </a:p>
          <a:p>
            <a:pPr>
              <a:spcBef>
                <a:spcPts val="500"/>
              </a:spcBef>
            </a:pPr>
            <a:r>
              <a:rPr sz="900">
                <a:solidFill>
                  <a:srgbClr val="008189"/>
                </a:solidFill>
                <a:latin typeface="Calibri"/>
              </a:rPr>
              <a:t>■  </a:t>
            </a:r>
            <a:r>
              <a:rPr sz="750">
                <a:solidFill>
                  <a:srgbClr val="2E2E2E"/>
                </a:solidFill>
                <a:latin typeface="Calibri"/>
              </a:rPr>
              <a:t>   Saudi Arabia</a:t>
            </a:r>
          </a:p>
          <a:p>
            <a:pPr>
              <a:spcBef>
                <a:spcPts val="500"/>
              </a:spcBef>
            </a:pPr>
            <a:r>
              <a:rPr sz="900">
                <a:solidFill>
                  <a:srgbClr val="40315E"/>
                </a:solidFill>
                <a:latin typeface="Calibri"/>
              </a:rPr>
              <a:t>■  </a:t>
            </a:r>
            <a:r>
              <a:rPr sz="750">
                <a:solidFill>
                  <a:srgbClr val="2E2E2E"/>
                </a:solidFill>
                <a:latin typeface="Calibri"/>
              </a:rPr>
              <a:t>   South Africa</a:t>
            </a:r>
          </a:p>
          <a:p>
            <a:pPr>
              <a:spcBef>
                <a:spcPts val="500"/>
              </a:spcBef>
            </a:pPr>
            <a:r>
              <a:rPr sz="900">
                <a:solidFill>
                  <a:srgbClr val="A35313"/>
                </a:solidFill>
                <a:latin typeface="Calibri"/>
              </a:rPr>
              <a:t>■  </a:t>
            </a:r>
            <a:r>
              <a:rPr sz="750">
                <a:solidFill>
                  <a:srgbClr val="2E2E2E"/>
                </a:solidFill>
                <a:latin typeface="Calibri"/>
              </a:rPr>
              <a:t>   UAE</a:t>
            </a:r>
          </a:p>
          <a:p>
            <a:pPr>
              <a:spcBef>
                <a:spcPts val="500"/>
              </a:spcBef>
            </a:pPr>
            <a:r>
              <a:rPr sz="900">
                <a:solidFill>
                  <a:srgbClr val="808080"/>
                </a:solidFill>
                <a:latin typeface="Calibri"/>
              </a:rPr>
              <a:t>■  </a:t>
            </a:r>
            <a:r>
              <a:rPr sz="750">
                <a:solidFill>
                  <a:srgbClr val="2E2E2E"/>
                </a:solidFill>
                <a:latin typeface="Calibri"/>
              </a:rPr>
              <a:t>   Israel</a:t>
            </a:r>
          </a:p>
          <a:p>
            <a:pPr>
              <a:spcBef>
                <a:spcPts val="500"/>
              </a:spcBef>
            </a:pPr>
            <a:r>
              <a:rPr sz="900">
                <a:solidFill>
                  <a:srgbClr val="0E72AE"/>
                </a:solidFill>
                <a:latin typeface="Calibri"/>
              </a:rPr>
              <a:t>■  </a:t>
            </a:r>
            <a:r>
              <a:rPr sz="750">
                <a:solidFill>
                  <a:srgbClr val="2E2E2E"/>
                </a:solidFill>
                <a:latin typeface="Calibri"/>
              </a:rPr>
              <a:t>   Rest of GCC</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Country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MI Dense Legend"/>
          <p:cNvSpPr txBox="1"/>
          <p:nvPr/>
        </p:nvSpPr>
        <p:spPr>
          <a:xfrm>
            <a:off x="9839325" y="4248150"/>
            <a:ext cx="2057400" cy="171450"/>
          </a:xfrm>
          <a:prstGeom prst="rect">
            <a:avLst/>
          </a:prstGeom>
          <a:noFill/>
        </p:spPr>
        <p:txBody>
          <a:bodyPr wrap="none">
            <a:spAutoFit/>
          </a:bodyPr>
          <a:lstStyle/>
          <a:p>
            <a:r>
              <a:rPr sz="850" b="1">
                <a:solidFill>
                  <a:srgbClr val="6C7A89"/>
                </a:solidFill>
                <a:latin typeface="Calibri"/>
              </a:rPr>
              <a:t>By segment</a:t>
            </a: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500"/>
              </a:spcBef>
            </a:pPr>
            <a:r>
              <a:rPr sz="900">
                <a:solidFill>
                  <a:srgbClr val="008189"/>
                </a:solidFill>
                <a:latin typeface="Calibri"/>
              </a:rPr>
              <a:t>■  </a:t>
            </a:r>
            <a:r>
              <a:rPr sz="750">
                <a:solidFill>
                  <a:srgbClr val="2E2E2E"/>
                </a:solidFill>
                <a:latin typeface="Calibri"/>
              </a:rPr>
              <a:t>   Rest of MEA</a:t>
            </a:r>
          </a:p>
          <a:p>
            <a:pPr>
              <a:spcBef>
                <a:spcPts val="500"/>
              </a:spcBef>
            </a:pPr>
            <a:r>
              <a:rPr sz="900">
                <a:solidFill>
                  <a:srgbClr val="3D85C6"/>
                </a:solidFill>
                <a:latin typeface="Calibri"/>
              </a:rPr>
              <a:t>■  </a:t>
            </a:r>
            <a:r>
              <a:rPr sz="750">
                <a:solidFill>
                  <a:srgbClr val="2E2E2E"/>
                </a:solidFill>
                <a:latin typeface="Calibri"/>
              </a:rPr>
              <a:t>   Saudi Arabia</a:t>
            </a:r>
          </a:p>
          <a:p>
            <a:pPr>
              <a:spcBef>
                <a:spcPts val="500"/>
              </a:spcBef>
            </a:pPr>
            <a:r>
              <a:rPr sz="900">
                <a:solidFill>
                  <a:srgbClr val="9E7E0A"/>
                </a:solidFill>
                <a:latin typeface="Calibri"/>
              </a:rPr>
              <a:t>■  </a:t>
            </a:r>
            <a:r>
              <a:rPr sz="750">
                <a:solidFill>
                  <a:srgbClr val="2E2E2E"/>
                </a:solidFill>
                <a:latin typeface="Calibri"/>
              </a:rPr>
              <a:t>   Turkey</a:t>
            </a:r>
          </a:p>
          <a:p>
            <a:pPr>
              <a:spcBef>
                <a:spcPts val="500"/>
              </a:spcBef>
            </a:pPr>
            <a:r>
              <a:rPr sz="900">
                <a:solidFill>
                  <a:srgbClr val="40315E"/>
                </a:solidFill>
                <a:latin typeface="Calibri"/>
              </a:rPr>
              <a:t>■  </a:t>
            </a:r>
            <a:r>
              <a:rPr sz="750">
                <a:solidFill>
                  <a:srgbClr val="2E2E2E"/>
                </a:solidFill>
                <a:latin typeface="Calibri"/>
              </a:rPr>
              <a:t>   South Africa</a:t>
            </a:r>
          </a:p>
          <a:p>
            <a:pPr>
              <a:spcBef>
                <a:spcPts val="500"/>
              </a:spcBef>
            </a:pPr>
            <a:r>
              <a:rPr sz="900">
                <a:solidFill>
                  <a:srgbClr val="A35313"/>
                </a:solidFill>
                <a:latin typeface="Calibri"/>
              </a:rPr>
              <a:t>■  </a:t>
            </a:r>
            <a:r>
              <a:rPr sz="750">
                <a:solidFill>
                  <a:srgbClr val="2E2E2E"/>
                </a:solidFill>
                <a:latin typeface="Calibri"/>
              </a:rPr>
              <a:t>   UAE</a:t>
            </a:r>
          </a:p>
          <a:p>
            <a:pPr>
              <a:spcBef>
                <a:spcPts val="500"/>
              </a:spcBef>
            </a:pPr>
            <a:r>
              <a:rPr sz="900">
                <a:solidFill>
                  <a:srgbClr val="808080"/>
                </a:solidFill>
                <a:latin typeface="Calibri"/>
              </a:rPr>
              <a:t>■  </a:t>
            </a:r>
            <a:r>
              <a:rPr sz="750">
                <a:solidFill>
                  <a:srgbClr val="2E2E2E"/>
                </a:solidFill>
                <a:latin typeface="Calibri"/>
              </a:rPr>
              <a:t>   Israel</a:t>
            </a:r>
          </a:p>
          <a:p>
            <a:pPr>
              <a:spcBef>
                <a:spcPts val="500"/>
              </a:spcBef>
            </a:pPr>
            <a:r>
              <a:rPr sz="900">
                <a:solidFill>
                  <a:srgbClr val="0E72AE"/>
                </a:solidFill>
                <a:latin typeface="Calibri"/>
              </a:rPr>
              <a:t>■  </a:t>
            </a:r>
            <a:r>
              <a:rPr sz="750">
                <a:solidFill>
                  <a:srgbClr val="2E2E2E"/>
                </a:solidFill>
                <a:latin typeface="Calibri"/>
              </a:rPr>
              <a:t>   Rest of GCC</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Market Top 5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Middle East &amp; Africa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market by country  ·  2036 (US$ Mn)  ·  tile size = market value</a:t>
            </a:r>
          </a:p>
        </p:txBody>
      </p:sp>
      <p:sp>
        <p:nvSpPr>
          <p:cNvPr id="13" name="Rectangle 12"/>
          <p:cNvSpPr/>
          <p:nvPr/>
        </p:nvSpPr>
        <p:spPr>
          <a:xfrm>
            <a:off x="238125" y="1266825"/>
            <a:ext cx="3309757"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Saudi Arabia</a:t>
            </a:r>
          </a:p>
          <a:p>
            <a:pPr algn="ctr"/>
            <a:r>
              <a:rPr sz="1100" b="0">
                <a:solidFill>
                  <a:srgbClr val="FFFFFF"/>
                </a:solidFill>
                <a:latin typeface="Calibri"/>
              </a:rPr>
              <a:t>431</a:t>
            </a:r>
          </a:p>
        </p:txBody>
      </p:sp>
      <p:sp>
        <p:nvSpPr>
          <p:cNvPr id="14" name="Rectangle 13"/>
          <p:cNvSpPr/>
          <p:nvPr/>
        </p:nvSpPr>
        <p:spPr>
          <a:xfrm>
            <a:off x="3547882" y="1266825"/>
            <a:ext cx="3132740" cy="530542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Turkey</a:t>
            </a:r>
          </a:p>
          <a:p>
            <a:pPr algn="ctr"/>
            <a:r>
              <a:rPr sz="1100" b="0">
                <a:solidFill>
                  <a:srgbClr val="FFFFFF"/>
                </a:solidFill>
                <a:latin typeface="Calibri"/>
              </a:rPr>
              <a:t>408</a:t>
            </a:r>
          </a:p>
        </p:txBody>
      </p:sp>
      <p:sp>
        <p:nvSpPr>
          <p:cNvPr id="15" name="Rectangle 14"/>
          <p:cNvSpPr/>
          <p:nvPr/>
        </p:nvSpPr>
        <p:spPr>
          <a:xfrm>
            <a:off x="6680622" y="1266825"/>
            <a:ext cx="2695866" cy="3634230"/>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South Africa</a:t>
            </a:r>
          </a:p>
          <a:p>
            <a:pPr algn="ctr"/>
            <a:r>
              <a:rPr sz="1100" b="0">
                <a:solidFill>
                  <a:srgbClr val="FFFFFF"/>
                </a:solidFill>
                <a:latin typeface="Calibri"/>
              </a:rPr>
              <a:t>241</a:t>
            </a:r>
          </a:p>
        </p:txBody>
      </p:sp>
      <p:sp>
        <p:nvSpPr>
          <p:cNvPr id="16" name="Rectangle 15"/>
          <p:cNvSpPr/>
          <p:nvPr/>
        </p:nvSpPr>
        <p:spPr>
          <a:xfrm>
            <a:off x="9376488" y="1266825"/>
            <a:ext cx="2577387" cy="3634230"/>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UAE</a:t>
            </a:r>
          </a:p>
          <a:p>
            <a:pPr algn="ctr"/>
            <a:r>
              <a:rPr sz="1100" b="0">
                <a:solidFill>
                  <a:srgbClr val="FFFFFF"/>
                </a:solidFill>
                <a:latin typeface="Calibri"/>
              </a:rPr>
              <a:t>230</a:t>
            </a:r>
          </a:p>
        </p:txBody>
      </p:sp>
      <p:sp>
        <p:nvSpPr>
          <p:cNvPr id="17" name="Rectangle 16"/>
          <p:cNvSpPr/>
          <p:nvPr/>
        </p:nvSpPr>
        <p:spPr>
          <a:xfrm>
            <a:off x="6680622" y="4901055"/>
            <a:ext cx="5273253" cy="1671195"/>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Israel</a:t>
            </a:r>
          </a:p>
          <a:p>
            <a:pPr algn="ctr"/>
            <a:r>
              <a:rPr sz="1100" b="0">
                <a:solidFill>
                  <a:srgbClr val="FFFFFF"/>
                </a:solidFill>
                <a:latin typeface="Calibri"/>
              </a:rPr>
              <a:t>216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9653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308225"/>
            <a:ext cx="8572500" cy="514350"/>
          </a:xfrm>
          <a:prstGeom prst="rect">
            <a:avLst/>
          </a:prstGeom>
          <a:noFill/>
        </p:spPr>
        <p:txBody>
          <a:bodyPr wrap="square" lIns="0" rIns="0" tIns="0">
            <a:spAutoFit/>
          </a:bodyPr>
          <a:lstStyle/>
          <a:p>
            <a:r>
              <a:rPr sz="3000" b="1">
                <a:solidFill>
                  <a:srgbClr val="0B3C8C"/>
                </a:solidFill>
                <a:latin typeface="Calibri"/>
              </a:rPr>
              <a:t>Middle East &amp; Africa Market Analysis By Segments</a:t>
            </a:r>
          </a:p>
        </p:txBody>
      </p:sp>
      <p:sp>
        <p:nvSpPr>
          <p:cNvPr id="11" name="TextBox 10"/>
          <p:cNvSpPr txBox="1"/>
          <p:nvPr/>
        </p:nvSpPr>
        <p:spPr>
          <a:xfrm>
            <a:off x="914400" y="2994025"/>
            <a:ext cx="8458200" cy="28511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25.1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Serums and Oils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200.3</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432.8</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8.0%</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Clays, Pastes and Pomades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173.8</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355.3</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7.4%</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Creams and Lotions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130.8</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274.1</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7.7%</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Sticks and Balms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127.8</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306.4</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9.1%</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product format, sticks and balms segment is expected to witness the highest CAGR of 9.1% over the forecast period. In terms of value share by product format, the styling serums and oils segment is expected to dominate the market, gaining 86 BPS and accounting for 20.4% share by 2036.</a:t>
            </a:r>
          </a:p>
          <a:p>
            <a:pPr algn="l">
              <a:lnSpc>
                <a:spcPct val="110000"/>
              </a:lnSpc>
              <a:spcBef>
                <a:spcPts val="0"/>
              </a:spcBef>
              <a:spcAft>
                <a:spcPts val="500"/>
              </a:spcAft>
            </a:pPr>
            <a:r>
              <a:rPr sz="1100" b="0">
                <a:solidFill>
                  <a:srgbClr val="2E2E2E"/>
                </a:solidFill>
                <a:latin typeface="Calibri"/>
              </a:rPr>
              <a:t>Styling serums and oils segment is projected to register 1.2X higher value than waxes, clays, pastes and pomades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Styling Serums and Oils: </a:t>
            </a:r>
            <a:r>
              <a:rPr sz="1100" b="0">
                <a:solidFill>
                  <a:srgbClr val="2E2E2E"/>
                </a:solidFill>
                <a:latin typeface="Calibri"/>
              </a:rPr>
              <a:t>20% of 2026 value · 8.0%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Waxes, Clays, Pastes and Pomades: </a:t>
            </a:r>
            <a:r>
              <a:rPr sz="1100" b="0">
                <a:solidFill>
                  <a:srgbClr val="2E2E2E"/>
                </a:solidFill>
                <a:latin typeface="Calibri"/>
              </a:rPr>
              <a:t>17% of 2026 value · 7.4%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Creams and Lotions: </a:t>
            </a:r>
            <a:r>
              <a:rPr sz="1100" b="0">
                <a:solidFill>
                  <a:srgbClr val="2E2E2E"/>
                </a:solidFill>
                <a:latin typeface="Calibri"/>
              </a:rPr>
              <a:t>13% of 2026 value · 7.7%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Sticks and Balms: </a:t>
            </a:r>
            <a:r>
              <a:rPr sz="1100" b="0">
                <a:solidFill>
                  <a:srgbClr val="2E2E2E"/>
                </a:solidFill>
                <a:latin typeface="Calibri"/>
              </a:rPr>
              <a:t>12% of 2026 value · 9.1%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Format split shows how demand is distributed across product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Format segment is projected to grow at a CAGR of 7.5%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2414588"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2414588"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Sprays and Mists</a:t>
            </a:r>
          </a:p>
        </p:txBody>
      </p:sp>
      <p:sp>
        <p:nvSpPr>
          <p:cNvPr id="22" name="Rectangle 21"/>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120.3</a:t>
            </a:r>
          </a:p>
        </p:txBody>
      </p:sp>
      <p:sp>
        <p:nvSpPr>
          <p:cNvPr id="23" name="Rectangle 22"/>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209.1</a:t>
            </a:r>
          </a:p>
        </p:txBody>
      </p:sp>
      <p:sp>
        <p:nvSpPr>
          <p:cNvPr id="24" name="Rectangle 23"/>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5.7%</a:t>
            </a:r>
          </a:p>
        </p:txBody>
      </p:sp>
      <p:sp>
        <p:nvSpPr>
          <p:cNvPr id="25" name="Oval 24"/>
          <p:cNvSpPr/>
          <p:nvPr/>
        </p:nvSpPr>
        <p:spPr>
          <a:xfrm>
            <a:off x="291226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4395788" y="1773916"/>
            <a:ext cx="2414588"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4395788" y="1992961"/>
            <a:ext cx="2414588"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Gels and Jellies</a:t>
            </a:r>
          </a:p>
        </p:txBody>
      </p:sp>
      <p:sp>
        <p:nvSpPr>
          <p:cNvPr id="29" name="Rectangle 28"/>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101.3</a:t>
            </a:r>
          </a:p>
        </p:txBody>
      </p:sp>
      <p:sp>
        <p:nvSpPr>
          <p:cNvPr id="30" name="Rectangle 29"/>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189.3</a:t>
            </a:r>
          </a:p>
        </p:txBody>
      </p:sp>
      <p:sp>
        <p:nvSpPr>
          <p:cNvPr id="31" name="Rectangle 30"/>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6.5%</a:t>
            </a:r>
          </a:p>
        </p:txBody>
      </p:sp>
      <p:sp>
        <p:nvSpPr>
          <p:cNvPr id="32" name="Oval 31"/>
          <p:cNvSpPr/>
          <p:nvPr/>
        </p:nvSpPr>
        <p:spPr>
          <a:xfrm>
            <a:off x="5441156"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6924675" y="1773916"/>
            <a:ext cx="2414588"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6924675" y="1992961"/>
            <a:ext cx="2414588"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Powders</a:t>
            </a:r>
          </a:p>
        </p:txBody>
      </p:sp>
      <p:sp>
        <p:nvSpPr>
          <p:cNvPr id="36" name="Rectangle 35"/>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99.8</a:t>
            </a:r>
          </a:p>
        </p:txBody>
      </p:sp>
      <p:sp>
        <p:nvSpPr>
          <p:cNvPr id="37" name="Rectangle 36"/>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226.3</a:t>
            </a:r>
          </a:p>
        </p:txBody>
      </p:sp>
      <p:sp>
        <p:nvSpPr>
          <p:cNvPr id="38" name="Rectangle 37"/>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8.5%</a:t>
            </a:r>
          </a:p>
        </p:txBody>
      </p:sp>
      <p:sp>
        <p:nvSpPr>
          <p:cNvPr id="39" name="Oval 38"/>
          <p:cNvSpPr/>
          <p:nvPr/>
        </p:nvSpPr>
        <p:spPr>
          <a:xfrm>
            <a:off x="7970044"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9453562"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9453562"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Mousses and Foams</a:t>
            </a:r>
          </a:p>
        </p:txBody>
      </p:sp>
      <p:sp>
        <p:nvSpPr>
          <p:cNvPr id="43" name="Rectangle 42"/>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71.6</a:t>
            </a:r>
          </a:p>
        </p:txBody>
      </p:sp>
      <p:sp>
        <p:nvSpPr>
          <p:cNvPr id="44" name="Rectangle 43"/>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128.7</a:t>
            </a:r>
          </a:p>
        </p:txBody>
      </p:sp>
      <p:sp>
        <p:nvSpPr>
          <p:cNvPr id="45" name="Rectangle 44"/>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6.0%</a:t>
            </a:r>
          </a:p>
        </p:txBody>
      </p:sp>
      <p:sp>
        <p:nvSpPr>
          <p:cNvPr id="46" name="Oval 45"/>
          <p:cNvSpPr/>
          <p:nvPr/>
        </p:nvSpPr>
        <p:spPr>
          <a:xfrm>
            <a:off x="10498931"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47" name="Rounded Rectangle 46"/>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9" name="Rectangle 48"/>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Sprays and Mists: </a:t>
            </a:r>
            <a:r>
              <a:rPr sz="1100" b="0">
                <a:solidFill>
                  <a:srgbClr val="2E2E2E"/>
                </a:solidFill>
                <a:latin typeface="Calibri"/>
              </a:rPr>
              <a:t>12% of 2026 value · 5.7%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Gels and Jellies: </a:t>
            </a:r>
            <a:r>
              <a:rPr sz="1100" b="0">
                <a:solidFill>
                  <a:srgbClr val="2E2E2E"/>
                </a:solidFill>
                <a:latin typeface="Calibri"/>
              </a:rPr>
              <a:t>10% of 2026 value · 6.5%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Styling Powders: </a:t>
            </a:r>
            <a:r>
              <a:rPr sz="1100" b="0">
                <a:solidFill>
                  <a:srgbClr val="2E2E2E"/>
                </a:solidFill>
                <a:latin typeface="Calibri"/>
              </a:rPr>
              <a:t>10% of 2026 value · 8.5% CAGR serves a niche.</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Mousses and Foams: </a:t>
            </a:r>
            <a:r>
              <a:rPr sz="1100" b="0">
                <a:solidFill>
                  <a:srgbClr val="2E2E2E"/>
                </a:solidFill>
                <a:latin typeface="Calibri"/>
              </a:rPr>
              <a:t>7% of 2026 value · 6.0% CAGR serves a niche.</a:t>
            </a:r>
          </a:p>
        </p:txBody>
      </p:sp>
      <p:sp>
        <p:nvSpPr>
          <p:cNvPr id="51" name="TextBox 50"/>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Structure &amp; Attractiveness, By Product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Format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Styling serums and oils followed by waxes, clays, pastes and pomades are expected to be the two most attractive product format segments in the Middle East &amp; Africa hair styling products market in terms of value over the forecast period. Styling serums and oils and waxes, clays, pastes and pomades exhibit a CAGR index of 106.2 and 98.3 and a market share index of 156.3 and 135.5 respectively, against the segment average of 100. The mousses and foams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Product Format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Sprays and Mists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Mousses and Foams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Gels and Jellies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Creams and Lotions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Product Format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Waxes, Clays, Pastes and Pomades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Styling Powders</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Styling Serums and Oils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Sticks and Balms</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Product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Product Format (US$ Mn)</a:t>
            </a:r>
          </a:p>
        </p:txBody>
      </p:sp>
      <p:graphicFrame>
        <p:nvGraphicFramePr>
          <p:cNvPr id="13" name="Table 12"/>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248275"/>
            <a:ext cx="11906250" cy="1381125"/>
          </a:xfrm>
          <a:prstGeom prst="roundRect">
            <a:avLst>
              <a:gd name="adj" fmla="val 55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334000"/>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Analysis, By Product Format</a:t>
            </a:r>
          </a:p>
        </p:txBody>
      </p:sp>
      <p:sp>
        <p:nvSpPr>
          <p:cNvPr id="17" name="Rectangle 16"/>
          <p:cNvSpPr/>
          <p:nvPr/>
        </p:nvSpPr>
        <p:spPr>
          <a:xfrm>
            <a:off x="276225" y="55721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657850"/>
            <a:ext cx="11639550" cy="8953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Styling serums and oils segment is projected to register 1.2X higher value than waxes, clays, pastes and pomades segment in 2036. Among hair styling products by product format, sticks and balms segment is expected to witness the highest CAGR of 9.1% over the forecast period.</a:t>
            </a:r>
          </a:p>
          <a:p>
            <a:pPr algn="l">
              <a:lnSpc>
                <a:spcPct val="110000"/>
              </a:lnSpc>
              <a:spcBef>
                <a:spcPts val="0"/>
              </a:spcBef>
              <a:spcAft>
                <a:spcPts val="500"/>
              </a:spcAft>
            </a:pPr>
            <a:r>
              <a:rPr sz="1100" b="0">
                <a:solidFill>
                  <a:srgbClr val="2E2E2E"/>
                </a:solidFill>
                <a:latin typeface="Calibri"/>
              </a:rPr>
              <a:t>In terms of value share by product format, the styling serums and oils segment is expected to dominate the market, gaining 86 BPS and accounting for 20.4% share by 2036. The sprays and mists segment is expected to lose 187 BPS over the forecast period to account for 9.9%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&amp; Share Shift, By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Composition, By Product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09942"/>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0517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2897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Mousses and Foams</a:t>
            </a:r>
          </a:p>
        </p:txBody>
      </p:sp>
      <p:sp>
        <p:nvSpPr>
          <p:cNvPr id="19" name="BPS Value 1"/>
          <p:cNvSpPr txBox="1"/>
          <p:nvPr/>
        </p:nvSpPr>
        <p:spPr>
          <a:xfrm>
            <a:off x="6896100" y="1790892"/>
            <a:ext cx="514350" cy="123825"/>
          </a:xfrm>
          <a:prstGeom prst="rect">
            <a:avLst/>
          </a:prstGeom>
          <a:noFill/>
        </p:spPr>
        <p:txBody>
          <a:bodyPr wrap="none" lIns="0" rIns="0" tIns="0" bIns="0" anchor="ctr">
            <a:spAutoFit/>
          </a:bodyPr>
          <a:lstStyle/>
          <a:p>
            <a:pPr algn="r"/>
            <a:r>
              <a:rPr sz="900" b="1">
                <a:solidFill>
                  <a:srgbClr val="E44D3A"/>
                </a:solidFill>
                <a:latin typeface="Calibri"/>
              </a:rPr>
              <a:t>-91</a:t>
            </a:r>
          </a:p>
        </p:txBody>
      </p:sp>
      <p:sp>
        <p:nvSpPr>
          <p:cNvPr id="20" name="FMI Legend Chip"/>
          <p:cNvSpPr/>
          <p:nvPr/>
        </p:nvSpPr>
        <p:spPr>
          <a:xfrm>
            <a:off x="4928997" y="2152569"/>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1478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7160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Gels and Jellies</a:t>
            </a:r>
          </a:p>
        </p:txBody>
      </p:sp>
      <p:sp>
        <p:nvSpPr>
          <p:cNvPr id="23" name="BPS Value 2"/>
          <p:cNvSpPr txBox="1"/>
          <p:nvPr/>
        </p:nvSpPr>
        <p:spPr>
          <a:xfrm>
            <a:off x="6896100" y="2133519"/>
            <a:ext cx="514350" cy="123825"/>
          </a:xfrm>
          <a:prstGeom prst="rect">
            <a:avLst/>
          </a:prstGeom>
          <a:noFill/>
        </p:spPr>
        <p:txBody>
          <a:bodyPr wrap="none" lIns="0" rIns="0" tIns="0" bIns="0" anchor="ctr">
            <a:spAutoFit/>
          </a:bodyPr>
          <a:lstStyle/>
          <a:p>
            <a:pPr algn="r"/>
            <a:r>
              <a:rPr sz="900" b="1">
                <a:solidFill>
                  <a:srgbClr val="E44D3A"/>
                </a:solidFill>
                <a:latin typeface="Calibri"/>
              </a:rPr>
              <a:t>-96</a:t>
            </a:r>
          </a:p>
        </p:txBody>
      </p:sp>
      <p:sp>
        <p:nvSpPr>
          <p:cNvPr id="24" name="FMI Legend Chip"/>
          <p:cNvSpPr/>
          <p:nvPr/>
        </p:nvSpPr>
        <p:spPr>
          <a:xfrm>
            <a:off x="4928997" y="258178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257702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50082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Sprays and Mists</a:t>
            </a:r>
          </a:p>
        </p:txBody>
      </p:sp>
      <p:sp>
        <p:nvSpPr>
          <p:cNvPr id="27" name="BPS Value 3"/>
          <p:cNvSpPr txBox="1"/>
          <p:nvPr/>
        </p:nvSpPr>
        <p:spPr>
          <a:xfrm>
            <a:off x="6896100" y="2562732"/>
            <a:ext cx="514350" cy="123825"/>
          </a:xfrm>
          <a:prstGeom prst="rect">
            <a:avLst/>
          </a:prstGeom>
          <a:noFill/>
        </p:spPr>
        <p:txBody>
          <a:bodyPr wrap="none" lIns="0" rIns="0" tIns="0" bIns="0" anchor="ctr">
            <a:spAutoFit/>
          </a:bodyPr>
          <a:lstStyle/>
          <a:p>
            <a:pPr algn="r"/>
            <a:r>
              <a:rPr sz="900" b="1">
                <a:solidFill>
                  <a:srgbClr val="E44D3A"/>
                </a:solidFill>
                <a:latin typeface="Calibri"/>
              </a:rPr>
              <a:t>-187</a:t>
            </a:r>
          </a:p>
        </p:txBody>
      </p:sp>
      <p:sp>
        <p:nvSpPr>
          <p:cNvPr id="28" name="FMI Legend Chip"/>
          <p:cNvSpPr/>
          <p:nvPr/>
        </p:nvSpPr>
        <p:spPr>
          <a:xfrm>
            <a:off x="4928997" y="3050845"/>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304608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96988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Powders</a:t>
            </a:r>
          </a:p>
        </p:txBody>
      </p:sp>
      <p:sp>
        <p:nvSpPr>
          <p:cNvPr id="31" name="BPS Value 4"/>
          <p:cNvSpPr txBox="1"/>
          <p:nvPr/>
        </p:nvSpPr>
        <p:spPr>
          <a:xfrm>
            <a:off x="6896100" y="3031795"/>
            <a:ext cx="514350" cy="123825"/>
          </a:xfrm>
          <a:prstGeom prst="rect">
            <a:avLst/>
          </a:prstGeom>
          <a:noFill/>
        </p:spPr>
        <p:txBody>
          <a:bodyPr wrap="none" lIns="0" rIns="0" tIns="0" bIns="0" anchor="ctr">
            <a:spAutoFit/>
          </a:bodyPr>
          <a:lstStyle/>
          <a:p>
            <a:pPr algn="r"/>
            <a:r>
              <a:rPr sz="900" b="1">
                <a:solidFill>
                  <a:srgbClr val="2E7D32"/>
                </a:solidFill>
                <a:latin typeface="Calibri"/>
              </a:rPr>
              <a:t>+93</a:t>
            </a:r>
          </a:p>
        </p:txBody>
      </p:sp>
      <p:sp>
        <p:nvSpPr>
          <p:cNvPr id="32" name="FMI Legend Chip"/>
          <p:cNvSpPr/>
          <p:nvPr/>
        </p:nvSpPr>
        <p:spPr>
          <a:xfrm>
            <a:off x="4928997" y="358992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358515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50895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Creams and Lotions</a:t>
            </a:r>
          </a:p>
        </p:txBody>
      </p:sp>
      <p:sp>
        <p:nvSpPr>
          <p:cNvPr id="35" name="BPS Value 5"/>
          <p:cNvSpPr txBox="1"/>
          <p:nvPr/>
        </p:nvSpPr>
        <p:spPr>
          <a:xfrm>
            <a:off x="6896100" y="3570871"/>
            <a:ext cx="514350" cy="123825"/>
          </a:xfrm>
          <a:prstGeom prst="rect">
            <a:avLst/>
          </a:prstGeom>
          <a:noFill/>
        </p:spPr>
        <p:txBody>
          <a:bodyPr wrap="none" lIns="0" rIns="0" tIns="0" bIns="0" anchor="ctr">
            <a:spAutoFit/>
          </a:bodyPr>
          <a:lstStyle/>
          <a:p>
            <a:pPr algn="r"/>
            <a:r>
              <a:rPr sz="900" b="1">
                <a:solidFill>
                  <a:srgbClr val="2E7D32"/>
                </a:solidFill>
                <a:latin typeface="Calibri"/>
              </a:rPr>
              <a:t>+16</a:t>
            </a:r>
          </a:p>
        </p:txBody>
      </p:sp>
      <p:sp>
        <p:nvSpPr>
          <p:cNvPr id="36" name="FMI Legend Chip"/>
          <p:cNvSpPr/>
          <p:nvPr/>
        </p:nvSpPr>
        <p:spPr>
          <a:xfrm>
            <a:off x="4928997" y="421530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421054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13434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Sticks and Balms</a:t>
            </a:r>
          </a:p>
        </p:txBody>
      </p:sp>
      <p:sp>
        <p:nvSpPr>
          <p:cNvPr id="39" name="BPS Value 6"/>
          <p:cNvSpPr txBox="1"/>
          <p:nvPr/>
        </p:nvSpPr>
        <p:spPr>
          <a:xfrm>
            <a:off x="6896100" y="4196254"/>
            <a:ext cx="514350" cy="123825"/>
          </a:xfrm>
          <a:prstGeom prst="rect">
            <a:avLst/>
          </a:prstGeom>
          <a:noFill/>
        </p:spPr>
        <p:txBody>
          <a:bodyPr wrap="none" lIns="0" rIns="0" tIns="0" bIns="0" anchor="ctr">
            <a:spAutoFit/>
          </a:bodyPr>
          <a:lstStyle/>
          <a:p>
            <a:pPr algn="r"/>
            <a:r>
              <a:rPr sz="900" b="1">
                <a:solidFill>
                  <a:srgbClr val="2E7D32"/>
                </a:solidFill>
                <a:latin typeface="Calibri"/>
              </a:rPr>
              <a:t>+198</a:t>
            </a:r>
          </a:p>
        </p:txBody>
      </p:sp>
      <p:sp>
        <p:nvSpPr>
          <p:cNvPr id="40" name="FMI Legend Chip"/>
          <p:cNvSpPr/>
          <p:nvPr/>
        </p:nvSpPr>
        <p:spPr>
          <a:xfrm>
            <a:off x="4928997" y="492819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0922" y="492343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48472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Clays, Pastes and Pomades</a:t>
            </a:r>
          </a:p>
        </p:txBody>
      </p:sp>
      <p:sp>
        <p:nvSpPr>
          <p:cNvPr id="43" name="BPS Value 7"/>
          <p:cNvSpPr txBox="1"/>
          <p:nvPr/>
        </p:nvSpPr>
        <p:spPr>
          <a:xfrm>
            <a:off x="6896100" y="4909143"/>
            <a:ext cx="514350" cy="123825"/>
          </a:xfrm>
          <a:prstGeom prst="rect">
            <a:avLst/>
          </a:prstGeom>
          <a:noFill/>
        </p:spPr>
        <p:txBody>
          <a:bodyPr wrap="none" lIns="0" rIns="0" tIns="0" bIns="0" anchor="ctr">
            <a:spAutoFit/>
          </a:bodyPr>
          <a:lstStyle/>
          <a:p>
            <a:pPr algn="r"/>
            <a:r>
              <a:rPr sz="900" b="1">
                <a:solidFill>
                  <a:srgbClr val="E44D3A"/>
                </a:solidFill>
                <a:latin typeface="Calibri"/>
              </a:rPr>
              <a:t>-20</a:t>
            </a:r>
          </a:p>
        </p:txBody>
      </p:sp>
      <p:sp>
        <p:nvSpPr>
          <p:cNvPr id="44" name="FMI Legend Chip"/>
          <p:cNvSpPr/>
          <p:nvPr/>
        </p:nvSpPr>
        <p:spPr>
          <a:xfrm>
            <a:off x="4928997" y="577731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a:off x="5090922" y="577254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569634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Serums and Oils</a:t>
            </a:r>
          </a:p>
        </p:txBody>
      </p:sp>
      <p:sp>
        <p:nvSpPr>
          <p:cNvPr id="47" name="BPS Value 8"/>
          <p:cNvSpPr txBox="1"/>
          <p:nvPr/>
        </p:nvSpPr>
        <p:spPr>
          <a:xfrm>
            <a:off x="6896100" y="5758260"/>
            <a:ext cx="514350" cy="123825"/>
          </a:xfrm>
          <a:prstGeom prst="rect">
            <a:avLst/>
          </a:prstGeom>
          <a:noFill/>
        </p:spPr>
        <p:txBody>
          <a:bodyPr wrap="none" lIns="0" rIns="0" tIns="0" bIns="0" anchor="ctr">
            <a:spAutoFit/>
          </a:bodyPr>
          <a:lstStyle/>
          <a:p>
            <a:pPr algn="r"/>
            <a:r>
              <a:rPr sz="900" b="1">
                <a:solidFill>
                  <a:srgbClr val="2E7D32"/>
                </a:solidFill>
                <a:latin typeface="Calibri"/>
              </a:rPr>
              <a:t>+86</a:t>
            </a:r>
          </a:p>
        </p:txBody>
      </p:sp>
      <p:sp>
        <p:nvSpPr>
          <p:cNvPr id="48" name="Rounded Rectangle 4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Read-out, By Product Format</a:t>
            </a:r>
          </a:p>
        </p:txBody>
      </p:sp>
      <p:sp>
        <p:nvSpPr>
          <p:cNvPr id="50" name="Rectangle 4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product format, sticks and balms segment is expected to witness the highest CAGR of 9.1% over the forecast period. In terms of value share by product format, the styling serums and oils segment is expected to dominate the market, gaining 86 BPS and accounting for 20.4% share by 2036.</a:t>
            </a:r>
          </a:p>
          <a:p>
            <a:pPr algn="l">
              <a:lnSpc>
                <a:spcPct val="110000"/>
              </a:lnSpc>
              <a:spcBef>
                <a:spcPts val="0"/>
              </a:spcBef>
              <a:spcAft>
                <a:spcPts val="500"/>
              </a:spcAft>
            </a:pPr>
            <a:r>
              <a:rPr sz="1150" b="0">
                <a:solidFill>
                  <a:srgbClr val="2E2E2E"/>
                </a:solidFill>
                <a:latin typeface="Calibri"/>
              </a:rPr>
              <a:t>The sprays and mists segment is expected to lose 187 BPS over the forecast period to account for 9.9% share by 2036.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Product Format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Growth,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Product Format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Heatmap, By Product Format (%)  ·  light = lower, dark = higher growth</a:t>
            </a:r>
          </a:p>
        </p:txBody>
      </p:sp>
      <p:sp>
        <p:nvSpPr>
          <p:cNvPr id="12" name="TextBox 11"/>
          <p:cNvSpPr txBox="1"/>
          <p:nvPr/>
        </p:nvSpPr>
        <p:spPr>
          <a:xfrm>
            <a:off x="181886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4653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1178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5823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04695"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511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697610"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44067"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69905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36982"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83439"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2989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763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281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6926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Sprays and Mists</a:t>
            </a:r>
          </a:p>
        </p:txBody>
      </p:sp>
      <p:sp>
        <p:nvSpPr>
          <p:cNvPr id="28" name="Rectangle 27"/>
          <p:cNvSpPr/>
          <p:nvPr/>
        </p:nvSpPr>
        <p:spPr>
          <a:xfrm>
            <a:off x="1818866" y="1409700"/>
            <a:ext cx="646457" cy="344170"/>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465324" y="1409700"/>
            <a:ext cx="646457" cy="34417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11781" y="1409700"/>
            <a:ext cx="646457" cy="344170"/>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58238" y="1409700"/>
            <a:ext cx="646457" cy="344170"/>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04695" y="1409700"/>
            <a:ext cx="646457" cy="34417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51153" y="140970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697610" y="1409700"/>
            <a:ext cx="646457" cy="344170"/>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44067" y="1409700"/>
            <a:ext cx="646457" cy="344170"/>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6990524" y="140970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36982" y="140970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83439" y="1409700"/>
            <a:ext cx="646457" cy="344170"/>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29896" y="140970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76353" y="1409700"/>
            <a:ext cx="646457" cy="344170"/>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2811" y="140970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69268" y="140970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538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Hairsprays</a:t>
            </a:r>
          </a:p>
        </p:txBody>
      </p:sp>
      <p:sp>
        <p:nvSpPr>
          <p:cNvPr id="44" name="Rectangle 43"/>
          <p:cNvSpPr/>
          <p:nvPr/>
        </p:nvSpPr>
        <p:spPr>
          <a:xfrm>
            <a:off x="1818866" y="1753870"/>
            <a:ext cx="646457" cy="344170"/>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465324" y="1753870"/>
            <a:ext cx="646457" cy="344170"/>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11781" y="1753870"/>
            <a:ext cx="646457" cy="344170"/>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58238" y="1753870"/>
            <a:ext cx="646457" cy="344170"/>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04695" y="1753870"/>
            <a:ext cx="646457" cy="344170"/>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51153" y="1753870"/>
            <a:ext cx="646457" cy="34417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697610" y="1753870"/>
            <a:ext cx="646457" cy="344170"/>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44067" y="1753870"/>
            <a:ext cx="646457" cy="34417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6990524" y="1753870"/>
            <a:ext cx="646457" cy="344170"/>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36982" y="1753870"/>
            <a:ext cx="646457" cy="34417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83439" y="1753870"/>
            <a:ext cx="646457" cy="344170"/>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29896" y="1753870"/>
            <a:ext cx="646457" cy="344170"/>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76353" y="1753870"/>
            <a:ext cx="646457" cy="344170"/>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2811" y="1753870"/>
            <a:ext cx="646457" cy="344170"/>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69268" y="1753870"/>
            <a:ext cx="646457" cy="34417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980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Hairsprays</a:t>
            </a:r>
          </a:p>
        </p:txBody>
      </p:sp>
      <p:sp>
        <p:nvSpPr>
          <p:cNvPr id="60" name="Rectangle 59"/>
          <p:cNvSpPr/>
          <p:nvPr/>
        </p:nvSpPr>
        <p:spPr>
          <a:xfrm>
            <a:off x="1818866" y="2098040"/>
            <a:ext cx="646457" cy="344170"/>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465324" y="2098040"/>
            <a:ext cx="646457" cy="34417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11781" y="2098040"/>
            <a:ext cx="646457" cy="344170"/>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58238" y="2098040"/>
            <a:ext cx="646457" cy="34417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04695" y="2098040"/>
            <a:ext cx="646457" cy="344170"/>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51153" y="2098040"/>
            <a:ext cx="646457" cy="344170"/>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697610" y="2098040"/>
            <a:ext cx="646457" cy="344170"/>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44067" y="2098040"/>
            <a:ext cx="646457" cy="344170"/>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6990524" y="2098040"/>
            <a:ext cx="646457" cy="34417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36982" y="2098040"/>
            <a:ext cx="646457" cy="34417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83439" y="209804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29896" y="2098040"/>
            <a:ext cx="646457" cy="344170"/>
          </a:xfrm>
          <a:prstGeom prst="rect">
            <a:avLst/>
          </a:prstGeom>
          <a:solidFill>
            <a:srgbClr val="AA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76353" y="2098040"/>
            <a:ext cx="646457" cy="34417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2811" y="2098040"/>
            <a:ext cx="646457" cy="34417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69268" y="209804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4422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Texturizing Sprays</a:t>
            </a:r>
          </a:p>
        </p:txBody>
      </p:sp>
      <p:sp>
        <p:nvSpPr>
          <p:cNvPr id="76" name="Rectangle 75"/>
          <p:cNvSpPr/>
          <p:nvPr/>
        </p:nvSpPr>
        <p:spPr>
          <a:xfrm>
            <a:off x="1818866" y="2442210"/>
            <a:ext cx="646457" cy="34417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465324" y="2442210"/>
            <a:ext cx="646457" cy="344170"/>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11781" y="2442210"/>
            <a:ext cx="646457" cy="34417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58238" y="2442210"/>
            <a:ext cx="646457" cy="344170"/>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04695" y="2442210"/>
            <a:ext cx="646457" cy="34417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51153" y="2442210"/>
            <a:ext cx="646457" cy="34417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697610" y="244221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44067" y="2442210"/>
            <a:ext cx="646457" cy="344170"/>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6990524" y="244221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36982" y="244221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83439" y="2442210"/>
            <a:ext cx="646457" cy="344170"/>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29896" y="2442210"/>
            <a:ext cx="646457" cy="344170"/>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76353" y="2442210"/>
            <a:ext cx="646457" cy="344170"/>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2811" y="2442210"/>
            <a:ext cx="646457" cy="344170"/>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69268" y="2442210"/>
            <a:ext cx="646457" cy="344170"/>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863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Sea-salt Sprays</a:t>
            </a:r>
          </a:p>
        </p:txBody>
      </p:sp>
      <p:sp>
        <p:nvSpPr>
          <p:cNvPr id="92" name="Rectangle 91"/>
          <p:cNvSpPr/>
          <p:nvPr/>
        </p:nvSpPr>
        <p:spPr>
          <a:xfrm>
            <a:off x="1818866" y="2786380"/>
            <a:ext cx="646457" cy="344170"/>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465324" y="2786380"/>
            <a:ext cx="646457" cy="344170"/>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11781" y="2786380"/>
            <a:ext cx="646457" cy="344170"/>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58238" y="2786380"/>
            <a:ext cx="646457" cy="344170"/>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04695" y="278638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51153" y="278638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697610" y="2786380"/>
            <a:ext cx="646457" cy="344170"/>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44067" y="2786380"/>
            <a:ext cx="646457" cy="344170"/>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6990524" y="2786380"/>
            <a:ext cx="646457" cy="344170"/>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36982" y="2786380"/>
            <a:ext cx="646457" cy="344170"/>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83439" y="2786380"/>
            <a:ext cx="646457" cy="344170"/>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29896" y="2786380"/>
            <a:ext cx="646457" cy="344170"/>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76353" y="2786380"/>
            <a:ext cx="646457" cy="344170"/>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2811" y="2786380"/>
            <a:ext cx="646457" cy="344170"/>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69268" y="2786380"/>
            <a:ext cx="646457" cy="344170"/>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13055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Volumizing Sprays</a:t>
            </a:r>
          </a:p>
        </p:txBody>
      </p:sp>
      <p:sp>
        <p:nvSpPr>
          <p:cNvPr id="108" name="Rectangle 107"/>
          <p:cNvSpPr/>
          <p:nvPr/>
        </p:nvSpPr>
        <p:spPr>
          <a:xfrm>
            <a:off x="1818866" y="3130550"/>
            <a:ext cx="646457" cy="344170"/>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465324" y="3130550"/>
            <a:ext cx="646457" cy="34417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11781" y="3130550"/>
            <a:ext cx="646457" cy="34417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58238" y="313055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04695" y="3130550"/>
            <a:ext cx="646457" cy="344170"/>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51153" y="3130550"/>
            <a:ext cx="646457" cy="344170"/>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697610" y="3130550"/>
            <a:ext cx="646457" cy="34417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44067" y="3130550"/>
            <a:ext cx="646457" cy="344170"/>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6990524" y="3130550"/>
            <a:ext cx="646457" cy="34417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36982" y="3130550"/>
            <a:ext cx="646457" cy="34417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83439" y="3130550"/>
            <a:ext cx="646457" cy="344170"/>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29896" y="313055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76353" y="3130550"/>
            <a:ext cx="646457" cy="34417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2811" y="313055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69268" y="3130550"/>
            <a:ext cx="646457" cy="34417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47472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Mousses and Foams</a:t>
            </a:r>
          </a:p>
        </p:txBody>
      </p:sp>
      <p:sp>
        <p:nvSpPr>
          <p:cNvPr id="124" name="Rectangle 123"/>
          <p:cNvSpPr/>
          <p:nvPr/>
        </p:nvSpPr>
        <p:spPr>
          <a:xfrm>
            <a:off x="1818866" y="3474720"/>
            <a:ext cx="646457" cy="344170"/>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465324" y="3474720"/>
            <a:ext cx="646457" cy="34417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11781" y="3474720"/>
            <a:ext cx="646457" cy="34417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58238" y="347472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04695" y="3474720"/>
            <a:ext cx="646457" cy="344170"/>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51153" y="3474720"/>
            <a:ext cx="646457" cy="344170"/>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697610" y="3474720"/>
            <a:ext cx="646457" cy="34417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44067" y="347472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6990524" y="3474720"/>
            <a:ext cx="646457" cy="34417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36982" y="3474720"/>
            <a:ext cx="646457" cy="344170"/>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83439" y="3474720"/>
            <a:ext cx="646457" cy="344170"/>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29896" y="3474720"/>
            <a:ext cx="646457" cy="344170"/>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76353" y="3474720"/>
            <a:ext cx="646457" cy="344170"/>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2811" y="347472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69268" y="3474720"/>
            <a:ext cx="646457" cy="344170"/>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81889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Mousses</a:t>
            </a:r>
          </a:p>
        </p:txBody>
      </p:sp>
      <p:sp>
        <p:nvSpPr>
          <p:cNvPr id="140" name="Rectangle 139"/>
          <p:cNvSpPr/>
          <p:nvPr/>
        </p:nvSpPr>
        <p:spPr>
          <a:xfrm>
            <a:off x="1818866" y="3818890"/>
            <a:ext cx="646457" cy="34417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465324" y="381889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11781" y="3818890"/>
            <a:ext cx="646457" cy="344170"/>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58238" y="3818890"/>
            <a:ext cx="646457" cy="344170"/>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04695" y="381889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51153" y="3818890"/>
            <a:ext cx="646457" cy="34417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697610" y="3818890"/>
            <a:ext cx="646457" cy="344170"/>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44067" y="381889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6990524" y="3818890"/>
            <a:ext cx="646457" cy="34417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36982" y="381889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83439" y="3818890"/>
            <a:ext cx="646457" cy="344170"/>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29896" y="3818890"/>
            <a:ext cx="646457" cy="34417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76353" y="381889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2811" y="381889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69268" y="3818890"/>
            <a:ext cx="646457" cy="34417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16306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Foams</a:t>
            </a:r>
          </a:p>
        </p:txBody>
      </p:sp>
      <p:sp>
        <p:nvSpPr>
          <p:cNvPr id="156" name="Rectangle 155"/>
          <p:cNvSpPr/>
          <p:nvPr/>
        </p:nvSpPr>
        <p:spPr>
          <a:xfrm>
            <a:off x="1818866" y="4163060"/>
            <a:ext cx="646457" cy="344170"/>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465324" y="416306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11781" y="4163060"/>
            <a:ext cx="646457" cy="344170"/>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58238" y="4163060"/>
            <a:ext cx="646457" cy="344170"/>
          </a:xfrm>
          <a:prstGeom prst="rect">
            <a:avLst/>
          </a:prstGeom>
          <a:solidFill>
            <a:srgbClr val="CF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04695" y="4163060"/>
            <a:ext cx="646457" cy="344170"/>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51153" y="4163060"/>
            <a:ext cx="646457" cy="344170"/>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697610" y="4163060"/>
            <a:ext cx="646457" cy="344170"/>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44067" y="4163060"/>
            <a:ext cx="646457" cy="34417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6990524" y="4163060"/>
            <a:ext cx="646457" cy="344170"/>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36982" y="4163060"/>
            <a:ext cx="646457" cy="344170"/>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83439" y="4163060"/>
            <a:ext cx="646457" cy="344170"/>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29896" y="4163060"/>
            <a:ext cx="646457" cy="344170"/>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76353" y="4163060"/>
            <a:ext cx="646457" cy="344170"/>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2811" y="4163060"/>
            <a:ext cx="646457" cy="344170"/>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69268" y="4163060"/>
            <a:ext cx="646457" cy="344170"/>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50723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Gels and Jellies</a:t>
            </a:r>
          </a:p>
        </p:txBody>
      </p:sp>
      <p:sp>
        <p:nvSpPr>
          <p:cNvPr id="172" name="Rectangle 171"/>
          <p:cNvSpPr/>
          <p:nvPr/>
        </p:nvSpPr>
        <p:spPr>
          <a:xfrm>
            <a:off x="1818866" y="4507230"/>
            <a:ext cx="646457" cy="344170"/>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465324" y="450723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11781" y="4507230"/>
            <a:ext cx="646457" cy="34417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58238" y="4507230"/>
            <a:ext cx="646457" cy="344170"/>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04695" y="4507230"/>
            <a:ext cx="646457" cy="344170"/>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51153" y="450723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697610" y="4507230"/>
            <a:ext cx="646457" cy="344170"/>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44067" y="4507230"/>
            <a:ext cx="646457" cy="344170"/>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6990524" y="4507230"/>
            <a:ext cx="646457" cy="344170"/>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36982" y="4507230"/>
            <a:ext cx="646457" cy="344170"/>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83439" y="4507230"/>
            <a:ext cx="646457" cy="344170"/>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29896" y="4507230"/>
            <a:ext cx="646457" cy="344170"/>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76353" y="4507230"/>
            <a:ext cx="646457" cy="344170"/>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2811" y="4507230"/>
            <a:ext cx="646457" cy="344170"/>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69268" y="4507230"/>
            <a:ext cx="646457" cy="344170"/>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8514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Creams and Lotions</a:t>
            </a:r>
          </a:p>
        </p:txBody>
      </p:sp>
      <p:sp>
        <p:nvSpPr>
          <p:cNvPr id="188" name="Rectangle 187"/>
          <p:cNvSpPr/>
          <p:nvPr/>
        </p:nvSpPr>
        <p:spPr>
          <a:xfrm>
            <a:off x="1818866" y="4851400"/>
            <a:ext cx="646457" cy="344170"/>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465324" y="4851400"/>
            <a:ext cx="646457" cy="34417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11781" y="4851400"/>
            <a:ext cx="646457" cy="344170"/>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58238" y="4851400"/>
            <a:ext cx="646457" cy="344170"/>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04695" y="4851400"/>
            <a:ext cx="646457" cy="344170"/>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51153" y="4851400"/>
            <a:ext cx="646457" cy="34417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697610" y="485140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44067" y="4851400"/>
            <a:ext cx="646457" cy="344170"/>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6990524" y="4851400"/>
            <a:ext cx="646457" cy="344170"/>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36982" y="4851400"/>
            <a:ext cx="646457" cy="344170"/>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83439" y="4851400"/>
            <a:ext cx="646457" cy="344170"/>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29896" y="4851400"/>
            <a:ext cx="646457" cy="344170"/>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76353" y="4851400"/>
            <a:ext cx="646457" cy="344170"/>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2811" y="4851400"/>
            <a:ext cx="646457" cy="344170"/>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69268" y="4851400"/>
            <a:ext cx="646457" cy="344170"/>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1955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Waxes, Clays, Pastes and Pomades</a:t>
            </a:r>
          </a:p>
        </p:txBody>
      </p:sp>
      <p:sp>
        <p:nvSpPr>
          <p:cNvPr id="204" name="Rectangle 203"/>
          <p:cNvSpPr/>
          <p:nvPr/>
        </p:nvSpPr>
        <p:spPr>
          <a:xfrm>
            <a:off x="1818866" y="519557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465324" y="519557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11781" y="5195570"/>
            <a:ext cx="646457" cy="34417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58238" y="519557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04695" y="5195570"/>
            <a:ext cx="646457" cy="34417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51153" y="5195570"/>
            <a:ext cx="646457" cy="344170"/>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697610" y="5195570"/>
            <a:ext cx="646457" cy="344170"/>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44067" y="5195570"/>
            <a:ext cx="646457" cy="344170"/>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6990524" y="5195570"/>
            <a:ext cx="646457" cy="344170"/>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36982" y="5195570"/>
            <a:ext cx="646457" cy="344170"/>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83439" y="5195570"/>
            <a:ext cx="646457" cy="344170"/>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29896" y="5195570"/>
            <a:ext cx="646457" cy="344170"/>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76353" y="5195570"/>
            <a:ext cx="646457" cy="344170"/>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2811" y="5195570"/>
            <a:ext cx="646457" cy="344170"/>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69268" y="5195570"/>
            <a:ext cx="646457" cy="344170"/>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5397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Powders</a:t>
            </a:r>
          </a:p>
        </p:txBody>
      </p:sp>
      <p:sp>
        <p:nvSpPr>
          <p:cNvPr id="220" name="Rectangle 219"/>
          <p:cNvSpPr/>
          <p:nvPr/>
        </p:nvSpPr>
        <p:spPr>
          <a:xfrm>
            <a:off x="1818866" y="5539740"/>
            <a:ext cx="646457" cy="344170"/>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465324" y="5539740"/>
            <a:ext cx="646457" cy="344170"/>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11781" y="5539740"/>
            <a:ext cx="646457" cy="344170"/>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58238" y="5539740"/>
            <a:ext cx="646457" cy="344170"/>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04695" y="5539740"/>
            <a:ext cx="646457" cy="344170"/>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51153" y="5539740"/>
            <a:ext cx="646457" cy="344170"/>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697610" y="5539740"/>
            <a:ext cx="646457" cy="344170"/>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44067" y="5539740"/>
            <a:ext cx="646457" cy="344170"/>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6990524" y="5539740"/>
            <a:ext cx="646457" cy="344170"/>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36982" y="5539740"/>
            <a:ext cx="646457" cy="344170"/>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83439" y="5539740"/>
            <a:ext cx="646457" cy="344170"/>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29896" y="5539740"/>
            <a:ext cx="646457" cy="344170"/>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76353" y="5539740"/>
            <a:ext cx="646457" cy="344170"/>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2811" y="5539740"/>
            <a:ext cx="646457" cy="344170"/>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69268" y="5539740"/>
            <a:ext cx="646457" cy="344170"/>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8839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Serums and Oils</a:t>
            </a:r>
          </a:p>
        </p:txBody>
      </p:sp>
      <p:sp>
        <p:nvSpPr>
          <p:cNvPr id="236" name="Rectangle 235"/>
          <p:cNvSpPr/>
          <p:nvPr/>
        </p:nvSpPr>
        <p:spPr>
          <a:xfrm>
            <a:off x="1818866" y="588391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465324" y="588391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11781" y="588391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58238" y="588391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04695" y="588391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51153" y="5883910"/>
            <a:ext cx="646457" cy="344170"/>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697610" y="5883910"/>
            <a:ext cx="646457" cy="344170"/>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44067" y="5883910"/>
            <a:ext cx="646457" cy="344170"/>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6990524" y="5883910"/>
            <a:ext cx="646457" cy="344170"/>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36982" y="5883910"/>
            <a:ext cx="646457" cy="344170"/>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83439" y="5883910"/>
            <a:ext cx="646457" cy="344170"/>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29896" y="5883910"/>
            <a:ext cx="646457" cy="344170"/>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76353" y="5883910"/>
            <a:ext cx="646457" cy="344170"/>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2811" y="5883910"/>
            <a:ext cx="646457" cy="344170"/>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69268" y="5883910"/>
            <a:ext cx="646457" cy="344170"/>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62280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Sticks and Balms</a:t>
            </a:r>
          </a:p>
        </p:txBody>
      </p:sp>
      <p:sp>
        <p:nvSpPr>
          <p:cNvPr id="252" name="Rectangle 251"/>
          <p:cNvSpPr/>
          <p:nvPr/>
        </p:nvSpPr>
        <p:spPr>
          <a:xfrm>
            <a:off x="1818866" y="6228080"/>
            <a:ext cx="646457" cy="344170"/>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465324" y="6228080"/>
            <a:ext cx="646457" cy="34417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11781" y="622808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58238" y="6228080"/>
            <a:ext cx="646457" cy="344170"/>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04695" y="6228080"/>
            <a:ext cx="646457" cy="344170"/>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51153" y="6228080"/>
            <a:ext cx="646457" cy="344170"/>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697610" y="6228080"/>
            <a:ext cx="646457" cy="344170"/>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44067" y="6228080"/>
            <a:ext cx="646457" cy="344170"/>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6990524" y="6228080"/>
            <a:ext cx="646457" cy="344170"/>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36982" y="6228080"/>
            <a:ext cx="646457" cy="344170"/>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83439" y="6228080"/>
            <a:ext cx="646457" cy="344170"/>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29896" y="6228080"/>
            <a:ext cx="646457" cy="34417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76353" y="6228080"/>
            <a:ext cx="646457" cy="344170"/>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2811" y="6228080"/>
            <a:ext cx="646457" cy="344170"/>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69268" y="6228080"/>
            <a:ext cx="646457" cy="344170"/>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TextBox 30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309" name="TextBox 30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10" name="TextBox 30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311" name="TextBox 3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25.2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Hold Level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Hold Level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Hold Level,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Hold Level segment categorizes the market by hold level.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 Hold</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226.3</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464.4</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7.5%</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Strong Hold</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219.7</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429.5</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6.9%</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Light or Flexible Hold</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205.4</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468.1</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8.6%</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No Hold</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188.7</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412.8</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8.1%</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Extra-strong Hold</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185.6</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347.0</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6.5%</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hold level, light or flexible hold segment is expected to witness the highest CAGR of 8.6% over the forecast period. In terms of value share by hold level, the light or flexible hold segment is expected to dominate the market, gaining 203 BPS and accounting for 22.1% share by 2036.</a:t>
            </a:r>
          </a:p>
          <a:p>
            <a:pPr algn="l">
              <a:lnSpc>
                <a:spcPct val="110000"/>
              </a:lnSpc>
              <a:spcBef>
                <a:spcPts val="0"/>
              </a:spcBef>
              <a:spcAft>
                <a:spcPts val="500"/>
              </a:spcAft>
            </a:pPr>
            <a:r>
              <a:rPr sz="1100" b="0">
                <a:solidFill>
                  <a:srgbClr val="2E2E2E"/>
                </a:solidFill>
                <a:latin typeface="Calibri"/>
              </a:rPr>
              <a:t>Light or flexible hold segment is projected to register 1.0X higher value than medium hold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 Hold: </a:t>
            </a:r>
            <a:r>
              <a:rPr sz="1100" b="0">
                <a:solidFill>
                  <a:srgbClr val="2E2E2E"/>
                </a:solidFill>
                <a:latin typeface="Calibri"/>
              </a:rPr>
              <a:t>22% of 2026 value · 7.5%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Strong Hold: </a:t>
            </a:r>
            <a:r>
              <a:rPr sz="1100" b="0">
                <a:solidFill>
                  <a:srgbClr val="2E2E2E"/>
                </a:solidFill>
                <a:latin typeface="Calibri"/>
              </a:rPr>
              <a:t>21% of 2026 value · 6.9%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Light or Flexible Hold: </a:t>
            </a:r>
            <a:r>
              <a:rPr sz="1100" b="0">
                <a:solidFill>
                  <a:srgbClr val="2E2E2E"/>
                </a:solidFill>
                <a:latin typeface="Calibri"/>
              </a:rPr>
              <a:t>20% of 2026 value · 8.6%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No Hold: </a:t>
            </a:r>
            <a:r>
              <a:rPr sz="1100" b="0">
                <a:solidFill>
                  <a:srgbClr val="2E2E2E"/>
                </a:solidFill>
                <a:latin typeface="Calibri"/>
              </a:rPr>
              <a:t>18% of 2026 value · 8.1%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Extra-strong Hold: </a:t>
            </a:r>
            <a:r>
              <a:rPr sz="1100" b="0">
                <a:solidFill>
                  <a:srgbClr val="2E2E2E"/>
                </a:solidFill>
                <a:latin typeface="Calibri"/>
              </a:rPr>
              <a:t>18% of 2026 value · 6.5% CAGR serves a niche.</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Hold Level split shows how demand is distributed across hold level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Hold Level segment is projected to grow at a CAGR of 7.5%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Structure &amp; Attractiveness, By Hold Level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Hold Level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Hold Level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Light or flexible hold followed by medium hold are expected to be the two most attractive hold level segments in the Middle East &amp; Africa hair styling products market in terms of value over the forecast period. Light or flexible hold and medium hold exhibit a CAGR index of 113.9 and 98.9 and a market share index of 100.1 and 110.3 respectively, against the segment average of 100. The extra-strong hold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Hold Level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No Hold</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Light or Flexible Hold</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Medium Hold</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Strong Hold</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Hold Level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Extra-strong Hold</a:t>
            </a:r>
          </a:p>
        </p:txBody>
      </p:sp>
      <p:graphicFrame>
        <p:nvGraphicFramePr>
          <p:cNvPr id="12" name="Chart 11"/>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Middle East &amp; Africa Absolute $ Opportunity Analysis, By Hold Level</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light or flexible hold segment is anticipated to witness an increase of 2.3X in terms of value as compared to 2026. The light or flexible hold segment is expected to create an incremental opportunity of US$ 262.7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medium hold segment is expected to create an incremental opportunity of US$ 238.1 Mn for the overall hair styling products market from 2026 to 2036. The no hold segment is expected to create an incremental opportunity of US$ 224.1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Hold Level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Hold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Hold Level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Analysis, By Hold Level</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Light or flexible hold segment is projected to register 1.0X higher value than medium hold segment in 2036. Among hair styling products by hold level, light or flexible hold segment is expected to witness the highest CAGR of 8.6% over the forecast period.</a:t>
            </a:r>
          </a:p>
          <a:p>
            <a:pPr algn="l">
              <a:lnSpc>
                <a:spcPct val="110000"/>
              </a:lnSpc>
              <a:spcBef>
                <a:spcPts val="0"/>
              </a:spcBef>
              <a:spcAft>
                <a:spcPts val="500"/>
              </a:spcAft>
            </a:pPr>
            <a:r>
              <a:rPr sz="1150" b="0">
                <a:solidFill>
                  <a:srgbClr val="2E2E2E"/>
                </a:solidFill>
                <a:latin typeface="Calibri"/>
              </a:rPr>
              <a:t>In terms of value share by hold level, the light or flexible hold segment is expected to dominate the market, gaining 203 BPS and accounting for 22.1% share by 2036. The extra-strong hold segment is expected to lose 174 BPS over the forecast period to account for 16.4%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&amp; Share Shift, By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Hold Level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Composition, By Hold Level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45153"/>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4039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6419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Extra-strong Hold</a:t>
            </a:r>
          </a:p>
        </p:txBody>
      </p:sp>
      <p:sp>
        <p:nvSpPr>
          <p:cNvPr id="19" name="BPS Value 1"/>
          <p:cNvSpPr txBox="1"/>
          <p:nvPr/>
        </p:nvSpPr>
        <p:spPr>
          <a:xfrm>
            <a:off x="6896100" y="2026103"/>
            <a:ext cx="514350" cy="123825"/>
          </a:xfrm>
          <a:prstGeom prst="rect">
            <a:avLst/>
          </a:prstGeom>
          <a:noFill/>
        </p:spPr>
        <p:txBody>
          <a:bodyPr wrap="none" lIns="0" rIns="0" tIns="0" bIns="0" anchor="ctr">
            <a:spAutoFit/>
          </a:bodyPr>
          <a:lstStyle/>
          <a:p>
            <a:pPr algn="r"/>
            <a:r>
              <a:rPr sz="900" b="1">
                <a:solidFill>
                  <a:srgbClr val="E44D3A"/>
                </a:solidFill>
                <a:latin typeface="Calibri"/>
              </a:rPr>
              <a:t>-174</a:t>
            </a:r>
          </a:p>
        </p:txBody>
      </p:sp>
      <p:sp>
        <p:nvSpPr>
          <p:cNvPr id="20" name="FMI Legend Chip"/>
          <p:cNvSpPr/>
          <p:nvPr/>
        </p:nvSpPr>
        <p:spPr>
          <a:xfrm>
            <a:off x="4928997" y="2863820"/>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85905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8285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 Hold</a:t>
            </a:r>
          </a:p>
        </p:txBody>
      </p:sp>
      <p:sp>
        <p:nvSpPr>
          <p:cNvPr id="23" name="BPS Value 2"/>
          <p:cNvSpPr txBox="1"/>
          <p:nvPr/>
        </p:nvSpPr>
        <p:spPr>
          <a:xfrm>
            <a:off x="6896100" y="2844770"/>
            <a:ext cx="514350" cy="123825"/>
          </a:xfrm>
          <a:prstGeom prst="rect">
            <a:avLst/>
          </a:prstGeom>
          <a:noFill/>
        </p:spPr>
        <p:txBody>
          <a:bodyPr wrap="none" lIns="0" rIns="0" tIns="0" bIns="0" anchor="ctr">
            <a:spAutoFit/>
          </a:bodyPr>
          <a:lstStyle/>
          <a:p>
            <a:pPr algn="r"/>
            <a:r>
              <a:rPr sz="900" b="1">
                <a:solidFill>
                  <a:srgbClr val="2E7D32"/>
                </a:solidFill>
                <a:latin typeface="Calibri"/>
              </a:rPr>
              <a:t>+106</a:t>
            </a:r>
          </a:p>
        </p:txBody>
      </p:sp>
      <p:sp>
        <p:nvSpPr>
          <p:cNvPr id="24" name="FMI Legend Chip"/>
          <p:cNvSpPr/>
          <p:nvPr/>
        </p:nvSpPr>
        <p:spPr>
          <a:xfrm>
            <a:off x="4928997" y="377136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76659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69039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Strong Hold</a:t>
            </a:r>
          </a:p>
        </p:txBody>
      </p:sp>
      <p:sp>
        <p:nvSpPr>
          <p:cNvPr id="27" name="BPS Value 3"/>
          <p:cNvSpPr txBox="1"/>
          <p:nvPr/>
        </p:nvSpPr>
        <p:spPr>
          <a:xfrm>
            <a:off x="6896100" y="3752312"/>
            <a:ext cx="514350" cy="123825"/>
          </a:xfrm>
          <a:prstGeom prst="rect">
            <a:avLst/>
          </a:prstGeom>
          <a:noFill/>
        </p:spPr>
        <p:txBody>
          <a:bodyPr wrap="none" lIns="0" rIns="0" tIns="0" bIns="0" anchor="ctr">
            <a:spAutoFit/>
          </a:bodyPr>
          <a:lstStyle/>
          <a:p>
            <a:pPr algn="r"/>
            <a:r>
              <a:rPr sz="900" b="1">
                <a:solidFill>
                  <a:srgbClr val="E44D3A"/>
                </a:solidFill>
                <a:latin typeface="Calibri"/>
              </a:rPr>
              <a:t>-117</a:t>
            </a:r>
          </a:p>
        </p:txBody>
      </p:sp>
      <p:sp>
        <p:nvSpPr>
          <p:cNvPr id="28" name="FMI Legend Chip"/>
          <p:cNvSpPr/>
          <p:nvPr/>
        </p:nvSpPr>
        <p:spPr>
          <a:xfrm>
            <a:off x="4928997" y="473449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72973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65353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 Hold</a:t>
            </a:r>
          </a:p>
        </p:txBody>
      </p:sp>
      <p:sp>
        <p:nvSpPr>
          <p:cNvPr id="31" name="BPS Value 4"/>
          <p:cNvSpPr txBox="1"/>
          <p:nvPr/>
        </p:nvSpPr>
        <p:spPr>
          <a:xfrm>
            <a:off x="6896100" y="4715448"/>
            <a:ext cx="514350" cy="123825"/>
          </a:xfrm>
          <a:prstGeom prst="rect">
            <a:avLst/>
          </a:prstGeom>
          <a:noFill/>
        </p:spPr>
        <p:txBody>
          <a:bodyPr wrap="none" lIns="0" rIns="0" tIns="0" bIns="0" anchor="ctr">
            <a:spAutoFit/>
          </a:bodyPr>
          <a:lstStyle/>
          <a:p>
            <a:pPr algn="r"/>
            <a:r>
              <a:rPr sz="900" b="1">
                <a:solidFill>
                  <a:srgbClr val="E44D3A"/>
                </a:solidFill>
                <a:latin typeface="Calibri"/>
              </a:rPr>
              <a:t>-18</a:t>
            </a:r>
          </a:p>
        </p:txBody>
      </p:sp>
      <p:sp>
        <p:nvSpPr>
          <p:cNvPr id="32" name="FMI Legend Chip"/>
          <p:cNvSpPr/>
          <p:nvPr/>
        </p:nvSpPr>
        <p:spPr>
          <a:xfrm>
            <a:off x="4928997" y="573924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573448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5828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Light or Flexible Hold</a:t>
            </a:r>
          </a:p>
        </p:txBody>
      </p:sp>
      <p:sp>
        <p:nvSpPr>
          <p:cNvPr id="35" name="BPS Value 5"/>
          <p:cNvSpPr txBox="1"/>
          <p:nvPr/>
        </p:nvSpPr>
        <p:spPr>
          <a:xfrm>
            <a:off x="6896100" y="5720199"/>
            <a:ext cx="514350" cy="123825"/>
          </a:xfrm>
          <a:prstGeom prst="rect">
            <a:avLst/>
          </a:prstGeom>
          <a:noFill/>
        </p:spPr>
        <p:txBody>
          <a:bodyPr wrap="none" lIns="0" rIns="0" tIns="0" bIns="0" anchor="ctr">
            <a:spAutoFit/>
          </a:bodyPr>
          <a:lstStyle/>
          <a:p>
            <a:pPr algn="r"/>
            <a:r>
              <a:rPr sz="900" b="1">
                <a:solidFill>
                  <a:srgbClr val="2E7D32"/>
                </a:solidFill>
                <a:latin typeface="Calibri"/>
              </a:rPr>
              <a:t>+203</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Read-out, By Hold Level</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hold level, light or flexible hold segment is expected to witness the highest CAGR of 8.6% over the forecast period. In terms of value share by hold level, the light or flexible hold segment is expected to dominate the market, gaining 203 BPS and accounting for 22.1% share by 2036.</a:t>
            </a:r>
          </a:p>
          <a:p>
            <a:pPr algn="l">
              <a:lnSpc>
                <a:spcPct val="110000"/>
              </a:lnSpc>
              <a:spcBef>
                <a:spcPts val="0"/>
              </a:spcBef>
              <a:spcAft>
                <a:spcPts val="500"/>
              </a:spcAft>
            </a:pPr>
            <a:r>
              <a:rPr sz="1150" b="0">
                <a:solidFill>
                  <a:srgbClr val="2E2E2E"/>
                </a:solidFill>
                <a:latin typeface="Calibri"/>
              </a:rPr>
              <a:t>The extra-strong hold segment is expected to lose 174 BPS over the forecast period to account for 16.4%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Hold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Hold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Growth,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Heatmap, By Hold Level (%)  ·  light = lower, dark = higher growth</a:t>
            </a:r>
          </a:p>
        </p:txBody>
      </p:sp>
      <p:sp>
        <p:nvSpPr>
          <p:cNvPr id="17" name="TextBox 16"/>
          <p:cNvSpPr txBox="1"/>
          <p:nvPr/>
        </p:nvSpPr>
        <p:spPr>
          <a:xfrm>
            <a:off x="12532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193743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6215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305762"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398992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674089"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35825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042416"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726580"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41074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094907"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7790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463234"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1473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3156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No Hold</a:t>
            </a:r>
          </a:p>
        </p:txBody>
      </p:sp>
      <p:sp>
        <p:nvSpPr>
          <p:cNvPr id="33" name="Rectangle 32"/>
          <p:cNvSpPr/>
          <p:nvPr/>
        </p:nvSpPr>
        <p:spPr>
          <a:xfrm>
            <a:off x="1253271" y="3305175"/>
            <a:ext cx="684164" cy="65341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937435" y="3305175"/>
            <a:ext cx="684164" cy="65341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621598" y="3305175"/>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305762" y="3305175"/>
            <a:ext cx="684164" cy="65341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89925" y="3305175"/>
            <a:ext cx="684164" cy="65341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74089" y="3305175"/>
            <a:ext cx="684164" cy="65341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358253" y="3305175"/>
            <a:ext cx="684164" cy="653415"/>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042416" y="3305175"/>
            <a:ext cx="684164" cy="653415"/>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726580" y="3305175"/>
            <a:ext cx="684164" cy="653415"/>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410743" y="3305175"/>
            <a:ext cx="684164" cy="653415"/>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94907" y="3305175"/>
            <a:ext cx="684164" cy="653415"/>
          </a:xfrm>
          <a:prstGeom prst="rect">
            <a:avLst/>
          </a:prstGeom>
          <a:solidFill>
            <a:srgbClr val="0E67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79071" y="3305175"/>
            <a:ext cx="684164" cy="653415"/>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63234" y="3305175"/>
            <a:ext cx="684164" cy="653415"/>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47398" y="3305175"/>
            <a:ext cx="684164" cy="653415"/>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31561" y="3305175"/>
            <a:ext cx="684164" cy="653415"/>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Light or Flexible Hold</a:t>
            </a:r>
          </a:p>
        </p:txBody>
      </p:sp>
      <p:sp>
        <p:nvSpPr>
          <p:cNvPr id="49" name="Rectangle 48"/>
          <p:cNvSpPr/>
          <p:nvPr/>
        </p:nvSpPr>
        <p:spPr>
          <a:xfrm>
            <a:off x="1253271" y="3958590"/>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937435" y="3958590"/>
            <a:ext cx="684164"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621598" y="3958590"/>
            <a:ext cx="684164" cy="65341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305762" y="3958590"/>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89925" y="3958590"/>
            <a:ext cx="684164" cy="653415"/>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74089" y="3958590"/>
            <a:ext cx="684164" cy="653415"/>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358253" y="3958590"/>
            <a:ext cx="684164" cy="653415"/>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042416" y="3958590"/>
            <a:ext cx="684164" cy="653415"/>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726580" y="3958590"/>
            <a:ext cx="684164" cy="653415"/>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410743" y="3958590"/>
            <a:ext cx="684164" cy="653415"/>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94907" y="3958590"/>
            <a:ext cx="684164"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79071" y="3958590"/>
            <a:ext cx="684164" cy="653415"/>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63234" y="3958590"/>
            <a:ext cx="684164" cy="653415"/>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47398" y="3958590"/>
            <a:ext cx="684164" cy="653415"/>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31561" y="3958590"/>
            <a:ext cx="684164" cy="653415"/>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Medium Hold</a:t>
            </a:r>
          </a:p>
        </p:txBody>
      </p:sp>
      <p:sp>
        <p:nvSpPr>
          <p:cNvPr id="65" name="Rectangle 64"/>
          <p:cNvSpPr/>
          <p:nvPr/>
        </p:nvSpPr>
        <p:spPr>
          <a:xfrm>
            <a:off x="1253271" y="4612005"/>
            <a:ext cx="684164" cy="653415"/>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937435" y="4612005"/>
            <a:ext cx="684164" cy="653415"/>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621598" y="4612005"/>
            <a:ext cx="684164" cy="653415"/>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305762" y="4612005"/>
            <a:ext cx="684164" cy="653415"/>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89925" y="4612005"/>
            <a:ext cx="684164" cy="653415"/>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74089" y="4612005"/>
            <a:ext cx="684164" cy="653415"/>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358253" y="4612005"/>
            <a:ext cx="684164" cy="653415"/>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042416" y="4612005"/>
            <a:ext cx="684164" cy="653415"/>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726580" y="4612005"/>
            <a:ext cx="684164" cy="653415"/>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410743" y="4612005"/>
            <a:ext cx="684164" cy="653415"/>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94907" y="4612005"/>
            <a:ext cx="684164" cy="653415"/>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79071" y="4612005"/>
            <a:ext cx="684164" cy="653415"/>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63234" y="4612005"/>
            <a:ext cx="684164" cy="653415"/>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47398" y="4612005"/>
            <a:ext cx="684164" cy="653415"/>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31561" y="4612005"/>
            <a:ext cx="684164" cy="653415"/>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Strong Hold</a:t>
            </a:r>
          </a:p>
        </p:txBody>
      </p:sp>
      <p:sp>
        <p:nvSpPr>
          <p:cNvPr id="81" name="Rectangle 80"/>
          <p:cNvSpPr/>
          <p:nvPr/>
        </p:nvSpPr>
        <p:spPr>
          <a:xfrm>
            <a:off x="1253271" y="5265420"/>
            <a:ext cx="684164" cy="65341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937435" y="5265420"/>
            <a:ext cx="684164" cy="65341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621598" y="5265420"/>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305762" y="5265420"/>
            <a:ext cx="684164" cy="653415"/>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989925" y="5265420"/>
            <a:ext cx="684164" cy="653415"/>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674089" y="5265420"/>
            <a:ext cx="684164" cy="653415"/>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358253" y="5265420"/>
            <a:ext cx="684164" cy="653415"/>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042416" y="5265420"/>
            <a:ext cx="684164" cy="653415"/>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726580" y="5265420"/>
            <a:ext cx="684164" cy="653415"/>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410743" y="5265420"/>
            <a:ext cx="684164" cy="653415"/>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094907" y="5265420"/>
            <a:ext cx="684164" cy="653415"/>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779071" y="5265420"/>
            <a:ext cx="684164" cy="653415"/>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463234" y="5265420"/>
            <a:ext cx="684164" cy="653415"/>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47398" y="5265420"/>
            <a:ext cx="684164" cy="653415"/>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31561" y="5265420"/>
            <a:ext cx="684164" cy="653415"/>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Extra-strong Hold</a:t>
            </a:r>
          </a:p>
        </p:txBody>
      </p:sp>
      <p:sp>
        <p:nvSpPr>
          <p:cNvPr id="97" name="Rectangle 96"/>
          <p:cNvSpPr/>
          <p:nvPr/>
        </p:nvSpPr>
        <p:spPr>
          <a:xfrm>
            <a:off x="1253271" y="5918835"/>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937435" y="5918835"/>
            <a:ext cx="684164" cy="653415"/>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621598" y="5918835"/>
            <a:ext cx="684164" cy="65341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305762" y="5918835"/>
            <a:ext cx="684164" cy="65341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989925" y="5918835"/>
            <a:ext cx="684164"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674089" y="5918835"/>
            <a:ext cx="684164" cy="65341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358253" y="5918835"/>
            <a:ext cx="684164" cy="653415"/>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042416" y="5918835"/>
            <a:ext cx="684164" cy="653415"/>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726580" y="5918835"/>
            <a:ext cx="684164" cy="653415"/>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410743" y="5918835"/>
            <a:ext cx="684164" cy="653415"/>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094907" y="5918835"/>
            <a:ext cx="684164" cy="653415"/>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779071" y="5918835"/>
            <a:ext cx="684164" cy="653415"/>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463234" y="5918835"/>
            <a:ext cx="684164" cy="653415"/>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47398" y="5918835"/>
            <a:ext cx="684164" cy="653415"/>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31561" y="5918835"/>
            <a:ext cx="684164" cy="653415"/>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25.3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Finish</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Finish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Finish,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Finish segment categorizes the market by finish.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Glossy or Wet-look</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352.5</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771.4</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8.1%</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Natural</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337.5</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659.7</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6.9%</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Matte</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335.6</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690.8</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7.5%</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finish, glossy or wet-look segment is expected to witness the highest CAGR of 8.1% over the forecast period. In terms of value share by finish, the glossy or wet-look segment is expected to dominate the market, gaining 199 BPS and accounting for 36.4% share by 2036.</a:t>
            </a:r>
          </a:p>
          <a:p>
            <a:pPr algn="l">
              <a:lnSpc>
                <a:spcPct val="110000"/>
              </a:lnSpc>
              <a:spcBef>
                <a:spcPts val="0"/>
              </a:spcBef>
              <a:spcAft>
                <a:spcPts val="500"/>
              </a:spcAft>
            </a:pPr>
            <a:r>
              <a:rPr sz="1100" b="0">
                <a:solidFill>
                  <a:srgbClr val="2E2E2E"/>
                </a:solidFill>
                <a:latin typeface="Calibri"/>
              </a:rPr>
              <a:t>Glossy or wet-look segment is projected to register 1.1X higher value than matte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Glossy or Wet-look: </a:t>
            </a:r>
            <a:r>
              <a:rPr sz="1100" b="0">
                <a:solidFill>
                  <a:srgbClr val="2E2E2E"/>
                </a:solidFill>
                <a:latin typeface="Calibri"/>
              </a:rPr>
              <a:t>34% of 2026 value · 8.1%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Natural: </a:t>
            </a:r>
            <a:r>
              <a:rPr sz="1100" b="0">
                <a:solidFill>
                  <a:srgbClr val="2E2E2E"/>
                </a:solidFill>
                <a:latin typeface="Calibri"/>
              </a:rPr>
              <a:t>33% of 2026 value · 6.9%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Matte: </a:t>
            </a:r>
            <a:r>
              <a:rPr sz="1100" b="0">
                <a:solidFill>
                  <a:srgbClr val="2E2E2E"/>
                </a:solidFill>
                <a:latin typeface="Calibri"/>
              </a:rPr>
              <a:t>33% of 2026 value · 7.5% CAGR serves a niche.</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Finish split shows how demand is distributed across finish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Finish segment is projected to grow at a CAGR of 7.5%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Structure &amp; Attractiveness, By Finish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Finish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Finish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Glossy or wet-look followed by matte are expected to be the two most attractive finish segments in the Middle East &amp; Africa hair styling products market in terms of value over the forecast period. Glossy or wet-look and matte exhibit a CAGR index of 108.0 and 99.3 and a market share index of 103.1 and 98.2 respectively, against the segment average of 100. The natural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Finish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Matte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Natural</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Glossy or Wet-look</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Middle East &amp; Africa Absolute $ Opportunity Analysis, By Finish</a:t>
            </a:r>
          </a:p>
        </p:txBody>
      </p:sp>
      <p:sp>
        <p:nvSpPr>
          <p:cNvPr id="22" name="Rectangle 21"/>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glossy or wet-look segment is anticipated to witness an increase of 2.2X in terms of value as compared to 2026. The glossy or wet-look segment is expected to create an incremental opportunity of US$ 418.9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matte segment is expected to create an incremental opportunity of US$ 355.2 Mn for the overall hair styling products market from 2026 to 2036. The natural segment is expected to create an incremental opportunity of US$ 322.2 Mn for the overall hair styling products market from 2026 to 2036.</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Finish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Finish,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Finish (US$ Mn)</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743200"/>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Analysis, By Finish</a:t>
            </a:r>
          </a:p>
        </p:txBody>
      </p:sp>
      <p:sp>
        <p:nvSpPr>
          <p:cNvPr id="17" name="Rectangle 16"/>
          <p:cNvSpPr/>
          <p:nvPr/>
        </p:nvSpPr>
        <p:spPr>
          <a:xfrm>
            <a:off x="276225" y="2981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067050"/>
            <a:ext cx="11639550" cy="3486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Glossy or wet-look segment is projected to register 1.1X higher value than matte segment in 2036. Among hair styling products by finish, glossy or wet-look segment is expected to witness the highest CAGR of 8.1% over the forecast period.</a:t>
            </a:r>
          </a:p>
          <a:p>
            <a:pPr algn="l">
              <a:lnSpc>
                <a:spcPct val="110000"/>
              </a:lnSpc>
              <a:spcBef>
                <a:spcPts val="0"/>
              </a:spcBef>
              <a:spcAft>
                <a:spcPts val="500"/>
              </a:spcAft>
            </a:pPr>
            <a:r>
              <a:rPr sz="1150" b="0">
                <a:solidFill>
                  <a:srgbClr val="2E2E2E"/>
                </a:solidFill>
                <a:latin typeface="Calibri"/>
              </a:rPr>
              <a:t>In terms of value share by finish, the glossy or wet-look segment is expected to dominate the market, gaining 199 BPS and accounting for 36.4% share by 2036. The natural segment is expected to lose 182 BPS over the forecast period to account for 31.1%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&amp; Share Shift,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Finish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Composition, By Finish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381988"/>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37722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30102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Natural</a:t>
            </a:r>
          </a:p>
        </p:txBody>
      </p:sp>
      <p:sp>
        <p:nvSpPr>
          <p:cNvPr id="19" name="BPS Value 1"/>
          <p:cNvSpPr txBox="1"/>
          <p:nvPr/>
        </p:nvSpPr>
        <p:spPr>
          <a:xfrm>
            <a:off x="6896100" y="2362938"/>
            <a:ext cx="514350" cy="123825"/>
          </a:xfrm>
          <a:prstGeom prst="rect">
            <a:avLst/>
          </a:prstGeom>
          <a:noFill/>
        </p:spPr>
        <p:txBody>
          <a:bodyPr wrap="none" lIns="0" rIns="0" tIns="0" bIns="0" anchor="ctr">
            <a:spAutoFit/>
          </a:bodyPr>
          <a:lstStyle/>
          <a:p>
            <a:pPr algn="r"/>
            <a:r>
              <a:rPr sz="900" b="1">
                <a:solidFill>
                  <a:srgbClr val="E44D3A"/>
                </a:solidFill>
                <a:latin typeface="Calibri"/>
              </a:rPr>
              <a:t>-182</a:t>
            </a:r>
          </a:p>
        </p:txBody>
      </p:sp>
      <p:sp>
        <p:nvSpPr>
          <p:cNvPr id="20" name="FMI Legend Chip"/>
          <p:cNvSpPr/>
          <p:nvPr/>
        </p:nvSpPr>
        <p:spPr>
          <a:xfrm>
            <a:off x="4928997" y="383703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83226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75606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Matte</a:t>
            </a:r>
          </a:p>
        </p:txBody>
      </p:sp>
      <p:sp>
        <p:nvSpPr>
          <p:cNvPr id="23" name="BPS Value 2"/>
          <p:cNvSpPr txBox="1"/>
          <p:nvPr/>
        </p:nvSpPr>
        <p:spPr>
          <a:xfrm>
            <a:off x="6896100" y="3817982"/>
            <a:ext cx="514350" cy="123825"/>
          </a:xfrm>
          <a:prstGeom prst="rect">
            <a:avLst/>
          </a:prstGeom>
          <a:noFill/>
        </p:spPr>
        <p:txBody>
          <a:bodyPr wrap="none" lIns="0" rIns="0" tIns="0" bIns="0" anchor="ctr">
            <a:spAutoFit/>
          </a:bodyPr>
          <a:lstStyle/>
          <a:p>
            <a:pPr algn="r"/>
            <a:r>
              <a:rPr sz="900" b="1">
                <a:solidFill>
                  <a:srgbClr val="E44D3A"/>
                </a:solidFill>
                <a:latin typeface="Calibri"/>
              </a:rPr>
              <a:t>-17</a:t>
            </a:r>
          </a:p>
        </p:txBody>
      </p:sp>
      <p:sp>
        <p:nvSpPr>
          <p:cNvPr id="24" name="FMI Legend Chip"/>
          <p:cNvSpPr/>
          <p:nvPr/>
        </p:nvSpPr>
        <p:spPr>
          <a:xfrm>
            <a:off x="4928997" y="541249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540772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33152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Glossy or Wet-look</a:t>
            </a:r>
          </a:p>
        </p:txBody>
      </p:sp>
      <p:sp>
        <p:nvSpPr>
          <p:cNvPr id="27" name="BPS Value 3"/>
          <p:cNvSpPr txBox="1"/>
          <p:nvPr/>
        </p:nvSpPr>
        <p:spPr>
          <a:xfrm>
            <a:off x="6896100" y="5393440"/>
            <a:ext cx="514350" cy="123825"/>
          </a:xfrm>
          <a:prstGeom prst="rect">
            <a:avLst/>
          </a:prstGeom>
          <a:noFill/>
        </p:spPr>
        <p:txBody>
          <a:bodyPr wrap="none" lIns="0" rIns="0" tIns="0" bIns="0" anchor="ctr">
            <a:spAutoFit/>
          </a:bodyPr>
          <a:lstStyle/>
          <a:p>
            <a:pPr algn="r"/>
            <a:r>
              <a:rPr sz="900" b="1">
                <a:solidFill>
                  <a:srgbClr val="2E7D32"/>
                </a:solidFill>
                <a:latin typeface="Calibri"/>
              </a:rPr>
              <a:t>+199</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Read-out, By Finish</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finish, glossy or wet-look segment is expected to witness the highest CAGR of 8.1% over the forecast period. In terms of value share by finish, the glossy or wet-look segment is expected to dominate the market, gaining 199 BPS and accounting for 36.4% share by 2036.</a:t>
            </a:r>
          </a:p>
          <a:p>
            <a:pPr algn="l">
              <a:lnSpc>
                <a:spcPct val="110000"/>
              </a:lnSpc>
              <a:spcBef>
                <a:spcPts val="0"/>
              </a:spcBef>
              <a:spcAft>
                <a:spcPts val="500"/>
              </a:spcAft>
            </a:pPr>
            <a:r>
              <a:rPr sz="1150" b="0">
                <a:solidFill>
                  <a:srgbClr val="2E2E2E"/>
                </a:solidFill>
                <a:latin typeface="Calibri"/>
              </a:rPr>
              <a:t>The natural segment is expected to lose 182 BPS over the forecast period to account for 31.1% share by 2036.</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Finish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Finish,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Growth,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5050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Heatmap, By Finish (%)  ·  light = lower, dark = higher growth</a:t>
            </a:r>
          </a:p>
        </p:txBody>
      </p:sp>
      <p:sp>
        <p:nvSpPr>
          <p:cNvPr id="17" name="TextBox 16"/>
          <p:cNvSpPr txBox="1"/>
          <p:nvPr/>
        </p:nvSpPr>
        <p:spPr>
          <a:xfrm>
            <a:off x="115183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84276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53368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22461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91553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60646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29739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98831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67924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37016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806109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75202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44294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3387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2479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28765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Matte</a:t>
            </a:r>
          </a:p>
        </p:txBody>
      </p:sp>
      <p:sp>
        <p:nvSpPr>
          <p:cNvPr id="33" name="Rectangle 32"/>
          <p:cNvSpPr/>
          <p:nvPr/>
        </p:nvSpPr>
        <p:spPr>
          <a:xfrm>
            <a:off x="1151835" y="2876550"/>
            <a:ext cx="690926" cy="123190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842761" y="2876550"/>
            <a:ext cx="690926" cy="123190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533687" y="2876550"/>
            <a:ext cx="690926" cy="123190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224613" y="2876550"/>
            <a:ext cx="690926" cy="1231900"/>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15539" y="2876550"/>
            <a:ext cx="690926" cy="123190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06465" y="2876550"/>
            <a:ext cx="690926" cy="1231900"/>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297391" y="2876550"/>
            <a:ext cx="690926" cy="1231900"/>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988317" y="2876550"/>
            <a:ext cx="690926" cy="1231900"/>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679243" y="2876550"/>
            <a:ext cx="690926" cy="1231900"/>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370169" y="2876550"/>
            <a:ext cx="690926" cy="1231900"/>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61095" y="2876550"/>
            <a:ext cx="690926" cy="1231900"/>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52021" y="2876550"/>
            <a:ext cx="690926" cy="1231900"/>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42947" y="2876550"/>
            <a:ext cx="690926" cy="1231900"/>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33873" y="2876550"/>
            <a:ext cx="690926" cy="1231900"/>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24799" y="2876550"/>
            <a:ext cx="690926" cy="1231900"/>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084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Natural</a:t>
            </a:r>
          </a:p>
        </p:txBody>
      </p:sp>
      <p:sp>
        <p:nvSpPr>
          <p:cNvPr id="49" name="Rectangle 48"/>
          <p:cNvSpPr/>
          <p:nvPr/>
        </p:nvSpPr>
        <p:spPr>
          <a:xfrm>
            <a:off x="1151835" y="4108450"/>
            <a:ext cx="690926" cy="1231900"/>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842761" y="4108450"/>
            <a:ext cx="690926" cy="1231900"/>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533687" y="4108450"/>
            <a:ext cx="690926" cy="1231900"/>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224613" y="4108450"/>
            <a:ext cx="690926" cy="123190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15539" y="4108450"/>
            <a:ext cx="690926" cy="1231900"/>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06465" y="4108450"/>
            <a:ext cx="690926" cy="123190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297391" y="4108450"/>
            <a:ext cx="690926" cy="1231900"/>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988317" y="4108450"/>
            <a:ext cx="690926" cy="1231900"/>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679243" y="4108450"/>
            <a:ext cx="690926" cy="1231900"/>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370169" y="4108450"/>
            <a:ext cx="690926" cy="1231900"/>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61095" y="4108450"/>
            <a:ext cx="690926" cy="1231900"/>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52021" y="4108450"/>
            <a:ext cx="690926" cy="1231900"/>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42947" y="4108450"/>
            <a:ext cx="690926" cy="1231900"/>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33873" y="4108450"/>
            <a:ext cx="690926" cy="1231900"/>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24799" y="4108450"/>
            <a:ext cx="690926" cy="1231900"/>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403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Glossy or Wet-look</a:t>
            </a:r>
          </a:p>
        </p:txBody>
      </p:sp>
      <p:sp>
        <p:nvSpPr>
          <p:cNvPr id="65" name="Rectangle 64"/>
          <p:cNvSpPr/>
          <p:nvPr/>
        </p:nvSpPr>
        <p:spPr>
          <a:xfrm>
            <a:off x="1151835" y="5340350"/>
            <a:ext cx="690926" cy="1231900"/>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842761" y="5340350"/>
            <a:ext cx="690926" cy="123190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533687" y="5340350"/>
            <a:ext cx="690926" cy="12319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224613" y="5340350"/>
            <a:ext cx="690926" cy="123190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15539" y="5340350"/>
            <a:ext cx="690926" cy="1231900"/>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06465" y="5340350"/>
            <a:ext cx="690926" cy="123190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297391" y="5340350"/>
            <a:ext cx="690926" cy="1231900"/>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988317" y="5340350"/>
            <a:ext cx="690926" cy="1231900"/>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679243" y="5340350"/>
            <a:ext cx="690926" cy="1231900"/>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370169" y="5340350"/>
            <a:ext cx="690926" cy="1231900"/>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61095" y="5340350"/>
            <a:ext cx="690926" cy="1231900"/>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52021" y="5340350"/>
            <a:ext cx="690926" cy="1231900"/>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42947" y="5340350"/>
            <a:ext cx="690926" cy="12319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33873" y="5340350"/>
            <a:ext cx="690926" cy="1231900"/>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24799" y="5340350"/>
            <a:ext cx="690926" cy="1231900"/>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2914650"/>
            <a:ext cx="104775" cy="98108"/>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005138"/>
            <a:ext cx="104775" cy="98108"/>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095625"/>
            <a:ext cx="104775" cy="98108"/>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186112"/>
            <a:ext cx="104775" cy="98108"/>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276600"/>
            <a:ext cx="104775" cy="98108"/>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367088"/>
            <a:ext cx="104775" cy="98108"/>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457575"/>
            <a:ext cx="104775" cy="98108"/>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548062"/>
            <a:ext cx="104775" cy="98108"/>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638550"/>
            <a:ext cx="104775" cy="98108"/>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729038"/>
            <a:ext cx="104775" cy="98108"/>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819525"/>
            <a:ext cx="104775" cy="98108"/>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10012"/>
            <a:ext cx="104775" cy="98108"/>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00500"/>
            <a:ext cx="104775" cy="98108"/>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090988"/>
            <a:ext cx="104775" cy="98108"/>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181475"/>
            <a:ext cx="104775" cy="98108"/>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271962"/>
            <a:ext cx="104775" cy="98108"/>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362450"/>
            <a:ext cx="104775" cy="98108"/>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452938"/>
            <a:ext cx="104775" cy="98108"/>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543425"/>
            <a:ext cx="104775" cy="98108"/>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33912"/>
            <a:ext cx="104775" cy="98108"/>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24400"/>
            <a:ext cx="104775" cy="98108"/>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14888"/>
            <a:ext cx="104775" cy="98108"/>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05375"/>
            <a:ext cx="104775" cy="98108"/>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4995862"/>
            <a:ext cx="104775" cy="98108"/>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086350"/>
            <a:ext cx="104775" cy="98108"/>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176838"/>
            <a:ext cx="104775" cy="98108"/>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267325"/>
            <a:ext cx="104775" cy="98108"/>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57812"/>
            <a:ext cx="104775" cy="98108"/>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48300"/>
            <a:ext cx="104775" cy="98108"/>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38788"/>
            <a:ext cx="104775" cy="98108"/>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29275"/>
            <a:ext cx="104775" cy="98108"/>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19762"/>
            <a:ext cx="104775" cy="98108"/>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10250"/>
            <a:ext cx="104775" cy="98108"/>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00738"/>
            <a:ext cx="104775" cy="98108"/>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5991225"/>
            <a:ext cx="104775" cy="98108"/>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81712"/>
            <a:ext cx="104775" cy="98108"/>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72200"/>
            <a:ext cx="104775" cy="98108"/>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62688"/>
            <a:ext cx="104775" cy="98108"/>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3175"/>
            <a:ext cx="104775" cy="98108"/>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3662"/>
            <a:ext cx="104775" cy="98108"/>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2914650"/>
            <a:ext cx="104775" cy="36195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84797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22" name="TextBox 121"/>
          <p:cNvSpPr txBox="1"/>
          <p:nvPr/>
        </p:nvSpPr>
        <p:spPr>
          <a:xfrm>
            <a:off x="11687175" y="46577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25.4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Mass Retail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217.7</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396.8</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6.2%</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Salon and Professional Distributi…</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198.3</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400.7</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7.3%</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Marketplaces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165.5</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389.9</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9.0%</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distribution channel, online marketplaces segment is expected to witness the highest CAGR of 9.0% over the forecast period. In terms of value share by distribution channel, the salon and professional distribution segment is expected to dominate the market, losing 45 BPS and accounting for 18.9% share by 2036.</a:t>
            </a:r>
          </a:p>
          <a:p>
            <a:pPr algn="l">
              <a:lnSpc>
                <a:spcPct val="110000"/>
              </a:lnSpc>
              <a:spcBef>
                <a:spcPts val="0"/>
              </a:spcBef>
              <a:spcAft>
                <a:spcPts val="500"/>
              </a:spcAft>
            </a:pPr>
            <a:r>
              <a:rPr sz="1100" b="0">
                <a:solidFill>
                  <a:srgbClr val="2E2E2E"/>
                </a:solidFill>
                <a:latin typeface="Calibri"/>
              </a:rPr>
              <a:t>Salon and professional distribution segment is projected to register 1.0X higher value than mass retail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Mass Retail: </a:t>
            </a:r>
            <a:r>
              <a:rPr sz="1100" b="0">
                <a:solidFill>
                  <a:srgbClr val="2E2E2E"/>
                </a:solidFill>
                <a:latin typeface="Calibri"/>
              </a:rPr>
              <a:t>21% of 2026 value · 6.2%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Salon and Professional Distribution: </a:t>
            </a:r>
            <a:r>
              <a:rPr sz="1100" b="0">
                <a:solidFill>
                  <a:srgbClr val="2E2E2E"/>
                </a:solidFill>
                <a:latin typeface="Calibri"/>
              </a:rPr>
              <a:t>19% of 2026 value · 7.3%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Online Marketplaces: </a:t>
            </a:r>
            <a:r>
              <a:rPr sz="1100" b="0">
                <a:solidFill>
                  <a:srgbClr val="2E2E2E"/>
                </a:solidFill>
                <a:latin typeface="Calibri"/>
              </a:rPr>
              <a:t>16% of 2026 value · 9.0% CAGR grows fastest.</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Distribution Channel segment is projected to grow at a CAGR of 7.5%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Beauty Specialty Retail</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159.7</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344.2</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8.0%</a:t>
            </a:r>
          </a:p>
        </p:txBody>
      </p:sp>
      <p:sp>
        <p:nvSpPr>
          <p:cNvPr id="25" name="Oval 24"/>
          <p:cNvSpPr/>
          <p:nvPr/>
        </p:nvSpPr>
        <p:spPr>
          <a:xfrm>
            <a:off x="333375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26" name="Rounded Rectangle 25"/>
          <p:cNvSpPr/>
          <p:nvPr/>
        </p:nvSpPr>
        <p:spPr>
          <a:xfrm>
            <a:off x="523875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Pharmacies and Drugstores</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148.2</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283.9</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6.7%</a:t>
            </a:r>
          </a:p>
        </p:txBody>
      </p:sp>
      <p:sp>
        <p:nvSpPr>
          <p:cNvPr id="32" name="Oval 31"/>
          <p:cNvSpPr/>
          <p:nvPr/>
        </p:nvSpPr>
        <p:spPr>
          <a:xfrm>
            <a:off x="670560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33" name="Rounded Rectangle 32"/>
          <p:cNvSpPr/>
          <p:nvPr/>
        </p:nvSpPr>
        <p:spPr>
          <a:xfrm>
            <a:off x="861060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Brand-owned Online Stores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136.3</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306.4</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8.4%</a:t>
            </a:r>
          </a:p>
        </p:txBody>
      </p:sp>
      <p:sp>
        <p:nvSpPr>
          <p:cNvPr id="39" name="Oval 38"/>
          <p:cNvSpPr/>
          <p:nvPr/>
        </p:nvSpPr>
        <p:spPr>
          <a:xfrm>
            <a:off x="1007745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Beauty Specialty Retail: </a:t>
            </a:r>
            <a:r>
              <a:rPr sz="1100" b="0">
                <a:solidFill>
                  <a:srgbClr val="2E2E2E"/>
                </a:solidFill>
                <a:latin typeface="Calibri"/>
              </a:rPr>
              <a:t>16% of 2026 value · 8.0%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Pharmacies and Drugstores: </a:t>
            </a:r>
            <a:r>
              <a:rPr sz="1100" b="0">
                <a:solidFill>
                  <a:srgbClr val="2E2E2E"/>
                </a:solidFill>
                <a:latin typeface="Calibri"/>
              </a:rPr>
              <a:t>14% of 2026 value · 6.7%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Brand-owned Online Stores: </a:t>
            </a:r>
            <a:r>
              <a:rPr sz="1100" b="0">
                <a:solidFill>
                  <a:srgbClr val="2E2E2E"/>
                </a:solidFill>
                <a:latin typeface="Calibri"/>
              </a:rPr>
              <a:t>13% of 2026 value · 8.4% CAGR serves a niche.</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Online marketplaces followed by salon and professional distribution are expected to be the two most attractive distribution channel segments in the Middle East &amp; Africa hair styling products market in terms of value over the forecast period. Online marketplaces and salon and professional distribution exhibit a CAGR index of 118.7 and 96.7 and a market share index of 96.8 and 116.0 respectively, against the segment average of 100. The pharmacies and drugstores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Distribution Channel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Mass Retail</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Beauty Specialty Retail</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Salon and Professional Distribution</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Pharmacies and Drugstores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Distribution Channel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Online Marketplaces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Brand-owned Online Stores</a:t>
            </a:r>
          </a:p>
        </p:txBody>
      </p:sp>
      <p:graphicFrame>
        <p:nvGraphicFramePr>
          <p:cNvPr id="15" name="Chart 14"/>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Middle East &amp; Africa Absolute $ Opportunity Analysis, By Distribution Channel</a:t>
            </a:r>
          </a:p>
        </p:txBody>
      </p:sp>
      <p:sp>
        <p:nvSpPr>
          <p:cNvPr id="18" name="Rectangle 17"/>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online marketplaces segment is anticipated to witness an increase of 2.4X in terms of value as compared to 2026. The online marketplaces segment is expected to create an incremental opportunity of US$ 224.5 Mn for the overall hair styling products market from 2026 to 2036.</a:t>
            </a:r>
          </a:p>
          <a:p>
            <a:pPr algn="l">
              <a:lnSpc>
                <a:spcPct val="110000"/>
              </a:lnSpc>
              <a:spcBef>
                <a:spcPts val="0"/>
              </a:spcBef>
              <a:spcAft>
                <a:spcPts val="500"/>
              </a:spcAft>
            </a:pPr>
            <a:r>
              <a:rPr sz="1150" b="0">
                <a:solidFill>
                  <a:srgbClr val="2E2E2E"/>
                </a:solidFill>
                <a:latin typeface="Calibri"/>
              </a:rPr>
              <a:t>The salon and professional distribution segment is expected to create an incremental opportunity of US$ 202.4 Mn for the overall hair styling products market from 2026 to 2036. The beauty specialty retail segment is expected to create an incremental opportunity of US$ 184.4 Mn for the overall hair styling products market from 2026 to 2036.</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Distribution Channel (US$ Mn)</a:t>
            </a:r>
          </a:p>
        </p:txBody>
      </p:sp>
      <p:graphicFrame>
        <p:nvGraphicFramePr>
          <p:cNvPr id="13" name="Table 12"/>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Analysis, By Distribution Channel</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Salon and professional distribution segment is projected to register 1.0X higher value than mass retail segment in 2036. Among hair styling products by distribution channel, online marketplaces segment is expected to witness the highest CAGR of 9.0% over the forecast period.</a:t>
            </a:r>
          </a:p>
          <a:p>
            <a:pPr algn="l">
              <a:lnSpc>
                <a:spcPct val="110000"/>
              </a:lnSpc>
              <a:spcBef>
                <a:spcPts val="0"/>
              </a:spcBef>
              <a:spcAft>
                <a:spcPts val="500"/>
              </a:spcAft>
            </a:pPr>
            <a:r>
              <a:rPr sz="1150" b="0">
                <a:solidFill>
                  <a:srgbClr val="2E2E2E"/>
                </a:solidFill>
                <a:latin typeface="Calibri"/>
              </a:rPr>
              <a:t>In terms of value share by distribution channel, the salon and professional distribution segment is expected to dominate the market, losing 45 BPS and accounting for 18.9% share by 2036. The mass retail segment is expected to lose 252 BPS over the forecast period to account for 18.7%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Composition, By Distribution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77129"/>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7236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9616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Pharmacies and Drugstores</a:t>
            </a:r>
          </a:p>
        </p:txBody>
      </p:sp>
      <p:sp>
        <p:nvSpPr>
          <p:cNvPr id="19" name="BPS Value 1"/>
          <p:cNvSpPr txBox="1"/>
          <p:nvPr/>
        </p:nvSpPr>
        <p:spPr>
          <a:xfrm>
            <a:off x="6896100" y="1958079"/>
            <a:ext cx="514350" cy="123825"/>
          </a:xfrm>
          <a:prstGeom prst="rect">
            <a:avLst/>
          </a:prstGeom>
          <a:noFill/>
        </p:spPr>
        <p:txBody>
          <a:bodyPr wrap="none" lIns="0" rIns="0" tIns="0" bIns="0" anchor="ctr">
            <a:spAutoFit/>
          </a:bodyPr>
          <a:lstStyle/>
          <a:p>
            <a:pPr algn="r"/>
            <a:r>
              <a:rPr sz="900" b="1">
                <a:solidFill>
                  <a:srgbClr val="E44D3A"/>
                </a:solidFill>
                <a:latin typeface="Calibri"/>
              </a:rPr>
              <a:t>-107</a:t>
            </a:r>
          </a:p>
        </p:txBody>
      </p:sp>
      <p:sp>
        <p:nvSpPr>
          <p:cNvPr id="20" name="FMI Legend Chip"/>
          <p:cNvSpPr/>
          <p:nvPr/>
        </p:nvSpPr>
        <p:spPr>
          <a:xfrm>
            <a:off x="4928997" y="261313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60837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53217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Brand-owned Online Stores</a:t>
            </a:r>
          </a:p>
        </p:txBody>
      </p:sp>
      <p:sp>
        <p:nvSpPr>
          <p:cNvPr id="23" name="BPS Value 2"/>
          <p:cNvSpPr txBox="1"/>
          <p:nvPr/>
        </p:nvSpPr>
        <p:spPr>
          <a:xfrm>
            <a:off x="6896100" y="2594082"/>
            <a:ext cx="514350" cy="123825"/>
          </a:xfrm>
          <a:prstGeom prst="rect">
            <a:avLst/>
          </a:prstGeom>
          <a:noFill/>
        </p:spPr>
        <p:txBody>
          <a:bodyPr wrap="none" lIns="0" rIns="0" tIns="0" bIns="0" anchor="ctr">
            <a:spAutoFit/>
          </a:bodyPr>
          <a:lstStyle/>
          <a:p>
            <a:pPr algn="r"/>
            <a:r>
              <a:rPr sz="900" b="1">
                <a:solidFill>
                  <a:srgbClr val="2E7D32"/>
                </a:solidFill>
                <a:latin typeface="Calibri"/>
              </a:rPr>
              <a:t>+115</a:t>
            </a:r>
          </a:p>
        </p:txBody>
      </p:sp>
      <p:sp>
        <p:nvSpPr>
          <p:cNvPr id="24" name="FMI Legend Chip"/>
          <p:cNvSpPr/>
          <p:nvPr/>
        </p:nvSpPr>
        <p:spPr>
          <a:xfrm>
            <a:off x="4928997" y="3314070"/>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30930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23310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Beauty Specialty Retail</a:t>
            </a:r>
          </a:p>
        </p:txBody>
      </p:sp>
      <p:sp>
        <p:nvSpPr>
          <p:cNvPr id="27" name="BPS Value 3"/>
          <p:cNvSpPr txBox="1"/>
          <p:nvPr/>
        </p:nvSpPr>
        <p:spPr>
          <a:xfrm>
            <a:off x="6896100" y="3295020"/>
            <a:ext cx="514350" cy="123825"/>
          </a:xfrm>
          <a:prstGeom prst="rect">
            <a:avLst/>
          </a:prstGeom>
          <a:noFill/>
        </p:spPr>
        <p:txBody>
          <a:bodyPr wrap="none" lIns="0" rIns="0" tIns="0" bIns="0" anchor="ctr">
            <a:spAutoFit/>
          </a:bodyPr>
          <a:lstStyle/>
          <a:p>
            <a:pPr algn="r"/>
            <a:r>
              <a:rPr sz="900" b="1">
                <a:solidFill>
                  <a:srgbClr val="2E7D32"/>
                </a:solidFill>
                <a:latin typeface="Calibri"/>
              </a:rPr>
              <a:t>+65</a:t>
            </a:r>
          </a:p>
        </p:txBody>
      </p:sp>
      <p:sp>
        <p:nvSpPr>
          <p:cNvPr id="28" name="FMI Legend Chip"/>
          <p:cNvSpPr/>
          <p:nvPr/>
        </p:nvSpPr>
        <p:spPr>
          <a:xfrm>
            <a:off x="4928997" y="410498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410022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02402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Marketplaces</a:t>
            </a:r>
          </a:p>
        </p:txBody>
      </p:sp>
      <p:sp>
        <p:nvSpPr>
          <p:cNvPr id="31" name="BPS Value 4"/>
          <p:cNvSpPr txBox="1"/>
          <p:nvPr/>
        </p:nvSpPr>
        <p:spPr>
          <a:xfrm>
            <a:off x="6896100" y="4085935"/>
            <a:ext cx="514350" cy="123825"/>
          </a:xfrm>
          <a:prstGeom prst="rect">
            <a:avLst/>
          </a:prstGeom>
          <a:noFill/>
        </p:spPr>
        <p:txBody>
          <a:bodyPr wrap="none" lIns="0" rIns="0" tIns="0" bIns="0" anchor="ctr">
            <a:spAutoFit/>
          </a:bodyPr>
          <a:lstStyle/>
          <a:p>
            <a:pPr algn="r"/>
            <a:r>
              <a:rPr sz="900" b="1">
                <a:solidFill>
                  <a:srgbClr val="2E7D32"/>
                </a:solidFill>
                <a:latin typeface="Calibri"/>
              </a:rPr>
              <a:t>+224</a:t>
            </a:r>
          </a:p>
        </p:txBody>
      </p:sp>
      <p:sp>
        <p:nvSpPr>
          <p:cNvPr id="32" name="FMI Legend Chip"/>
          <p:cNvSpPr/>
          <p:nvPr/>
        </p:nvSpPr>
        <p:spPr>
          <a:xfrm>
            <a:off x="4928997" y="495260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494783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87163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Mass Retail</a:t>
            </a:r>
          </a:p>
        </p:txBody>
      </p:sp>
      <p:sp>
        <p:nvSpPr>
          <p:cNvPr id="35" name="BPS Value 5"/>
          <p:cNvSpPr txBox="1"/>
          <p:nvPr/>
        </p:nvSpPr>
        <p:spPr>
          <a:xfrm>
            <a:off x="6896100" y="4933550"/>
            <a:ext cx="514350" cy="123825"/>
          </a:xfrm>
          <a:prstGeom prst="rect">
            <a:avLst/>
          </a:prstGeom>
          <a:noFill/>
        </p:spPr>
        <p:txBody>
          <a:bodyPr wrap="none" lIns="0" rIns="0" tIns="0" bIns="0" anchor="ctr">
            <a:spAutoFit/>
          </a:bodyPr>
          <a:lstStyle/>
          <a:p>
            <a:pPr algn="r"/>
            <a:r>
              <a:rPr sz="900" b="1">
                <a:solidFill>
                  <a:srgbClr val="E44D3A"/>
                </a:solidFill>
                <a:latin typeface="Calibri"/>
              </a:rPr>
              <a:t>-252</a:t>
            </a:r>
          </a:p>
        </p:txBody>
      </p:sp>
      <p:sp>
        <p:nvSpPr>
          <p:cNvPr id="36" name="FMI Legend Chip"/>
          <p:cNvSpPr/>
          <p:nvPr/>
        </p:nvSpPr>
        <p:spPr>
          <a:xfrm>
            <a:off x="4928997" y="581187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5090922" y="580710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73090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Salon and Professional Distribution</a:t>
            </a:r>
          </a:p>
        </p:txBody>
      </p:sp>
      <p:sp>
        <p:nvSpPr>
          <p:cNvPr id="39" name="BPS Value 6"/>
          <p:cNvSpPr txBox="1"/>
          <p:nvPr/>
        </p:nvSpPr>
        <p:spPr>
          <a:xfrm>
            <a:off x="6896100" y="5792822"/>
            <a:ext cx="514350" cy="123825"/>
          </a:xfrm>
          <a:prstGeom prst="rect">
            <a:avLst/>
          </a:prstGeom>
          <a:noFill/>
        </p:spPr>
        <p:txBody>
          <a:bodyPr wrap="none" lIns="0" rIns="0" tIns="0" bIns="0" anchor="ctr">
            <a:spAutoFit/>
          </a:bodyPr>
          <a:lstStyle/>
          <a:p>
            <a:pPr algn="r"/>
            <a:r>
              <a:rPr sz="900" b="1">
                <a:solidFill>
                  <a:srgbClr val="E44D3A"/>
                </a:solidFill>
                <a:latin typeface="Calibri"/>
              </a:rPr>
              <a:t>-45</a:t>
            </a:r>
          </a:p>
        </p:txBody>
      </p:sp>
      <p:sp>
        <p:nvSpPr>
          <p:cNvPr id="40" name="Rounded Rectangle 3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829550" y="1066800"/>
            <a:ext cx="4076700" cy="407620"/>
          </a:xfrm>
          <a:prstGeom prst="rect">
            <a:avLst/>
          </a:prstGeom>
          <a:noFill/>
        </p:spPr>
        <p:txBody>
          <a:bodyPr wrap="square" lIns="0" rIns="19050" tIns="9525" bIns="9525">
            <a:spAutoFit/>
          </a:bodyPr>
          <a:lstStyle/>
          <a:p>
            <a:pPr algn="l"/>
            <a:r>
              <a:rPr sz="1300" b="1">
                <a:solidFill>
                  <a:srgbClr val="0B2E4A"/>
                </a:solidFill>
                <a:latin typeface="Calibri"/>
              </a:rPr>
              <a:t>Middle East &amp; Africa Read-out, By Distribution Channel</a:t>
            </a:r>
          </a:p>
        </p:txBody>
      </p:sp>
      <p:sp>
        <p:nvSpPr>
          <p:cNvPr id="42" name="Rectangle 41"/>
          <p:cNvSpPr/>
          <p:nvPr/>
        </p:nvSpPr>
        <p:spPr>
          <a:xfrm>
            <a:off x="7829550" y="150299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829550" y="1588720"/>
            <a:ext cx="4076700"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distribution channel, online marketplaces segment is expected to witness the highest CAGR of 9.0% over the forecast period. In terms of value share by distribution channel, the salon and professional distribution segment is expected to dominate the market, losing 45 BPS and accounting for 18.9% share by 2036.</a:t>
            </a:r>
          </a:p>
          <a:p>
            <a:pPr algn="l">
              <a:lnSpc>
                <a:spcPct val="110000"/>
              </a:lnSpc>
              <a:spcBef>
                <a:spcPts val="0"/>
              </a:spcBef>
              <a:spcAft>
                <a:spcPts val="500"/>
              </a:spcAft>
            </a:pPr>
            <a:r>
              <a:rPr sz="1150" b="0">
                <a:solidFill>
                  <a:srgbClr val="2E2E2E"/>
                </a:solidFill>
                <a:latin typeface="Calibri"/>
              </a:rPr>
              <a:t>The mass retail segment is expected to lose 252 BPS over the forecast period to account for 18.7% share by 2036.</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527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Heatmap, By Distribution Channel (%)  ·  light = lower, dark = higher growth</a:t>
            </a:r>
          </a:p>
        </p:txBody>
      </p:sp>
      <p:sp>
        <p:nvSpPr>
          <p:cNvPr id="17" name="TextBox 16"/>
          <p:cNvSpPr txBox="1"/>
          <p:nvPr/>
        </p:nvSpPr>
        <p:spPr>
          <a:xfrm>
            <a:off x="185233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49655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078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501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2923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346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1768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1915"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614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036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459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3882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304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27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49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52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Mass Retail</a:t>
            </a:r>
          </a:p>
        </p:txBody>
      </p:sp>
      <p:sp>
        <p:nvSpPr>
          <p:cNvPr id="33" name="Rectangle 32"/>
          <p:cNvSpPr/>
          <p:nvPr/>
        </p:nvSpPr>
        <p:spPr>
          <a:xfrm>
            <a:off x="1852331" y="3524250"/>
            <a:ext cx="644226" cy="50800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496557" y="3524250"/>
            <a:ext cx="644226" cy="508000"/>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0784" y="3524250"/>
            <a:ext cx="644226" cy="50800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5010" y="3524250"/>
            <a:ext cx="644226" cy="508000"/>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29236" y="3524250"/>
            <a:ext cx="644226" cy="50800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3462" y="3524250"/>
            <a:ext cx="644226" cy="50800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17689" y="3524250"/>
            <a:ext cx="644226" cy="508000"/>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1915" y="3524250"/>
            <a:ext cx="644226" cy="508000"/>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6141" y="3524250"/>
            <a:ext cx="644226" cy="50800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0367" y="3524250"/>
            <a:ext cx="644226" cy="50800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4594" y="3524250"/>
            <a:ext cx="644226" cy="508000"/>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38820" y="3524250"/>
            <a:ext cx="644226" cy="50800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3046" y="3524250"/>
            <a:ext cx="644226" cy="508000"/>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272" y="3524250"/>
            <a:ext cx="644226" cy="50800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499" y="3524250"/>
            <a:ext cx="644226" cy="508000"/>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32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Beauty Specialty Retail</a:t>
            </a:r>
          </a:p>
        </p:txBody>
      </p:sp>
      <p:sp>
        <p:nvSpPr>
          <p:cNvPr id="49" name="Rectangle 48"/>
          <p:cNvSpPr/>
          <p:nvPr/>
        </p:nvSpPr>
        <p:spPr>
          <a:xfrm>
            <a:off x="1852331" y="4032250"/>
            <a:ext cx="644226" cy="508000"/>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496557" y="4032250"/>
            <a:ext cx="644226" cy="508000"/>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0784" y="4032250"/>
            <a:ext cx="644226" cy="508000"/>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5010" y="4032250"/>
            <a:ext cx="644226" cy="508000"/>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29236" y="4032250"/>
            <a:ext cx="644226" cy="50800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3462" y="4032250"/>
            <a:ext cx="644226" cy="508000"/>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17689" y="4032250"/>
            <a:ext cx="644226" cy="508000"/>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1915" y="4032250"/>
            <a:ext cx="644226" cy="508000"/>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6141" y="4032250"/>
            <a:ext cx="644226" cy="508000"/>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0367" y="4032250"/>
            <a:ext cx="644226" cy="508000"/>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4594" y="4032250"/>
            <a:ext cx="644226" cy="508000"/>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38820" y="4032250"/>
            <a:ext cx="644226" cy="508000"/>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3046" y="4032250"/>
            <a:ext cx="644226" cy="508000"/>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272" y="4032250"/>
            <a:ext cx="644226" cy="508000"/>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499" y="4032250"/>
            <a:ext cx="644226" cy="508000"/>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0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Salon and Professional Distribution</a:t>
            </a:r>
          </a:p>
        </p:txBody>
      </p:sp>
      <p:sp>
        <p:nvSpPr>
          <p:cNvPr id="65" name="Rectangle 64"/>
          <p:cNvSpPr/>
          <p:nvPr/>
        </p:nvSpPr>
        <p:spPr>
          <a:xfrm>
            <a:off x="1852331" y="4540250"/>
            <a:ext cx="644226" cy="50800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496557" y="4540250"/>
            <a:ext cx="644226" cy="50800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0784" y="4540250"/>
            <a:ext cx="644226" cy="50800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5010" y="4540250"/>
            <a:ext cx="644226" cy="50800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29236" y="4540250"/>
            <a:ext cx="644226" cy="508000"/>
          </a:xfrm>
          <a:prstGeom prst="rect">
            <a:avLst/>
          </a:prstGeom>
          <a:solidFill>
            <a:srgbClr val="BAD4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3462" y="4540250"/>
            <a:ext cx="644226" cy="50800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17689" y="4540250"/>
            <a:ext cx="644226" cy="50800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1915" y="4540250"/>
            <a:ext cx="644226" cy="508000"/>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6141" y="4540250"/>
            <a:ext cx="644226" cy="508000"/>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0367" y="4540250"/>
            <a:ext cx="644226" cy="508000"/>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4594" y="4540250"/>
            <a:ext cx="644226" cy="508000"/>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38820" y="4540250"/>
            <a:ext cx="644226" cy="508000"/>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3046" y="4540250"/>
            <a:ext cx="644226" cy="508000"/>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272" y="4540250"/>
            <a:ext cx="644226" cy="508000"/>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499" y="4540250"/>
            <a:ext cx="644226" cy="508000"/>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48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Pharmacies and Drugstores</a:t>
            </a:r>
          </a:p>
        </p:txBody>
      </p:sp>
      <p:sp>
        <p:nvSpPr>
          <p:cNvPr id="81" name="Rectangle 80"/>
          <p:cNvSpPr/>
          <p:nvPr/>
        </p:nvSpPr>
        <p:spPr>
          <a:xfrm>
            <a:off x="1852331" y="5048250"/>
            <a:ext cx="644226" cy="508000"/>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496557" y="5048250"/>
            <a:ext cx="644226" cy="50800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0784" y="5048250"/>
            <a:ext cx="644226" cy="508000"/>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5010" y="5048250"/>
            <a:ext cx="644226" cy="508000"/>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29236" y="5048250"/>
            <a:ext cx="644226" cy="50800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3462" y="5048250"/>
            <a:ext cx="644226" cy="50800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17689" y="5048250"/>
            <a:ext cx="644226" cy="50800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1915" y="5048250"/>
            <a:ext cx="644226" cy="508000"/>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6141" y="5048250"/>
            <a:ext cx="644226" cy="50800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0367" y="5048250"/>
            <a:ext cx="644226" cy="50800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4594" y="5048250"/>
            <a:ext cx="644226" cy="50800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38820" y="5048250"/>
            <a:ext cx="644226" cy="508000"/>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3046" y="5048250"/>
            <a:ext cx="644226" cy="508000"/>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272" y="5048250"/>
            <a:ext cx="644226" cy="508000"/>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499" y="5048250"/>
            <a:ext cx="644226" cy="508000"/>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556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Online Marketplaces</a:t>
            </a:r>
          </a:p>
        </p:txBody>
      </p:sp>
      <p:sp>
        <p:nvSpPr>
          <p:cNvPr id="97" name="Rectangle 96"/>
          <p:cNvSpPr/>
          <p:nvPr/>
        </p:nvSpPr>
        <p:spPr>
          <a:xfrm>
            <a:off x="1852331" y="5556250"/>
            <a:ext cx="644226" cy="5080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496557" y="5556250"/>
            <a:ext cx="644226" cy="50800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0784" y="5556250"/>
            <a:ext cx="644226" cy="508000"/>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5010" y="5556250"/>
            <a:ext cx="644226" cy="508000"/>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29236" y="5556250"/>
            <a:ext cx="644226" cy="50800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3462" y="5556250"/>
            <a:ext cx="644226" cy="50800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17689" y="5556250"/>
            <a:ext cx="644226" cy="508000"/>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1915" y="5556250"/>
            <a:ext cx="644226" cy="508000"/>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6141" y="5556250"/>
            <a:ext cx="644226" cy="508000"/>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0367" y="5556250"/>
            <a:ext cx="644226" cy="508000"/>
          </a:xfrm>
          <a:prstGeom prst="rect">
            <a:avLst/>
          </a:prstGeom>
          <a:solidFill>
            <a:srgbClr val="0C4A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4594" y="5556250"/>
            <a:ext cx="644226" cy="5080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38820" y="5556250"/>
            <a:ext cx="644226" cy="508000"/>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3046" y="5556250"/>
            <a:ext cx="644226" cy="508000"/>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272" y="5556250"/>
            <a:ext cx="644226" cy="508000"/>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499" y="5556250"/>
            <a:ext cx="644226" cy="508000"/>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6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Brand-owned Online Stores</a:t>
            </a:r>
          </a:p>
        </p:txBody>
      </p:sp>
      <p:sp>
        <p:nvSpPr>
          <p:cNvPr id="113" name="Rectangle 112"/>
          <p:cNvSpPr/>
          <p:nvPr/>
        </p:nvSpPr>
        <p:spPr>
          <a:xfrm>
            <a:off x="1852331" y="6064250"/>
            <a:ext cx="644226" cy="50800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496557" y="6064250"/>
            <a:ext cx="644226" cy="50800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0784" y="6064250"/>
            <a:ext cx="644226" cy="50800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5010" y="6064250"/>
            <a:ext cx="644226" cy="50800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29236" y="6064250"/>
            <a:ext cx="644226" cy="508000"/>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3462" y="6064250"/>
            <a:ext cx="644226" cy="50800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17689" y="6064250"/>
            <a:ext cx="644226" cy="508000"/>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1915" y="6064250"/>
            <a:ext cx="644226" cy="508000"/>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6141" y="6064250"/>
            <a:ext cx="644226" cy="508000"/>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0367" y="6064250"/>
            <a:ext cx="644226" cy="508000"/>
          </a:xfrm>
          <a:prstGeom prst="rect">
            <a:avLst/>
          </a:prstGeom>
          <a:solidFill>
            <a:srgbClr val="1577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4594" y="6064250"/>
            <a:ext cx="644226" cy="508000"/>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38820" y="6064250"/>
            <a:ext cx="644226" cy="508000"/>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3046" y="6064250"/>
            <a:ext cx="644226" cy="508000"/>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272" y="6064250"/>
            <a:ext cx="644226" cy="508000"/>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499" y="6064250"/>
            <a:ext cx="644226" cy="508000"/>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562350"/>
            <a:ext cx="104775" cy="8191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636645"/>
            <a:ext cx="104775" cy="8191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710940"/>
            <a:ext cx="104775" cy="8191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785235"/>
            <a:ext cx="104775" cy="8191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3859530"/>
            <a:ext cx="104775" cy="8191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3933825"/>
            <a:ext cx="104775" cy="8191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008120"/>
            <a:ext cx="104775" cy="8191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082415"/>
            <a:ext cx="104775" cy="8191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156710"/>
            <a:ext cx="104775" cy="8191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231005"/>
            <a:ext cx="104775" cy="8191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305300"/>
            <a:ext cx="104775" cy="8191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379595"/>
            <a:ext cx="104775" cy="8191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453890"/>
            <a:ext cx="104775" cy="8191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528185"/>
            <a:ext cx="104775" cy="8191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602480"/>
            <a:ext cx="104775" cy="8191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676775"/>
            <a:ext cx="104775" cy="8191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751070"/>
            <a:ext cx="104775" cy="8191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825365"/>
            <a:ext cx="104775" cy="8191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899660"/>
            <a:ext cx="104775" cy="8191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973955"/>
            <a:ext cx="104775" cy="8191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048250"/>
            <a:ext cx="104775" cy="8191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122545"/>
            <a:ext cx="104775" cy="8191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196840"/>
            <a:ext cx="104775" cy="8191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271135"/>
            <a:ext cx="104775" cy="8191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345430"/>
            <a:ext cx="104775" cy="8191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19725"/>
            <a:ext cx="104775" cy="8191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494020"/>
            <a:ext cx="104775" cy="8191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568315"/>
            <a:ext cx="104775" cy="8191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642610"/>
            <a:ext cx="104775" cy="8191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16905"/>
            <a:ext cx="104775" cy="8191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791200"/>
            <a:ext cx="104775" cy="8191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865495"/>
            <a:ext cx="104775" cy="8191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39790"/>
            <a:ext cx="104775" cy="8191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14085"/>
            <a:ext cx="104775" cy="8191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088380"/>
            <a:ext cx="104775" cy="8191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62675"/>
            <a:ext cx="104775" cy="8191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36970"/>
            <a:ext cx="104775" cy="8191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11265"/>
            <a:ext cx="104775" cy="8191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85560"/>
            <a:ext cx="104775" cy="8191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59855"/>
            <a:ext cx="104775" cy="8191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562350"/>
            <a:ext cx="104775" cy="29718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49567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70" name="TextBox 169"/>
          <p:cNvSpPr txBox="1"/>
          <p:nvPr/>
        </p:nvSpPr>
        <p:spPr>
          <a:xfrm>
            <a:off x="11687175" y="498157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25.5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Primary Styling Benefit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Primary Styling Benefit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Primary Styling Benefit,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Primary Styling Benefit segment categorizes the market by primary styling benefit.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330779"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330779"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Smoothing and Frizz Control</a:t>
            </a:r>
          </a:p>
        </p:txBody>
      </p:sp>
      <p:sp>
        <p:nvSpPr>
          <p:cNvPr id="23" name="Rectangle 22"/>
          <p:cNvSpPr/>
          <p:nvPr/>
        </p:nvSpPr>
        <p:spPr>
          <a:xfrm>
            <a:off x="1866900"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169.2</a:t>
            </a:r>
          </a:p>
        </p:txBody>
      </p:sp>
      <p:sp>
        <p:nvSpPr>
          <p:cNvPr id="24" name="Rectangle 23"/>
          <p:cNvSpPr/>
          <p:nvPr/>
        </p:nvSpPr>
        <p:spPr>
          <a:xfrm>
            <a:off x="1866900"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368.5</a:t>
            </a:r>
          </a:p>
        </p:txBody>
      </p:sp>
      <p:sp>
        <p:nvSpPr>
          <p:cNvPr id="25" name="Rectangle 24"/>
          <p:cNvSpPr/>
          <p:nvPr/>
        </p:nvSpPr>
        <p:spPr>
          <a:xfrm>
            <a:off x="1866900"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8.1%</a:t>
            </a:r>
          </a:p>
        </p:txBody>
      </p:sp>
      <p:sp>
        <p:nvSpPr>
          <p:cNvPr id="26" name="Oval 25"/>
          <p:cNvSpPr/>
          <p:nvPr/>
        </p:nvSpPr>
        <p:spPr>
          <a:xfrm>
            <a:off x="237036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311979" y="1773916"/>
            <a:ext cx="1330779"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311979" y="1992961"/>
            <a:ext cx="1330779"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350079"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Hold and Shape</a:t>
            </a:r>
          </a:p>
        </p:txBody>
      </p:sp>
      <p:sp>
        <p:nvSpPr>
          <p:cNvPr id="30" name="Rectangle 29"/>
          <p:cNvSpPr/>
          <p:nvPr/>
        </p:nvSpPr>
        <p:spPr>
          <a:xfrm>
            <a:off x="3311979"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156.6</a:t>
            </a:r>
          </a:p>
        </p:txBody>
      </p:sp>
      <p:sp>
        <p:nvSpPr>
          <p:cNvPr id="31" name="Rectangle 30"/>
          <p:cNvSpPr/>
          <p:nvPr/>
        </p:nvSpPr>
        <p:spPr>
          <a:xfrm>
            <a:off x="3311979"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276.7</a:t>
            </a:r>
          </a:p>
        </p:txBody>
      </p:sp>
      <p:sp>
        <p:nvSpPr>
          <p:cNvPr id="32" name="Rectangle 31"/>
          <p:cNvSpPr/>
          <p:nvPr/>
        </p:nvSpPr>
        <p:spPr>
          <a:xfrm>
            <a:off x="3311979"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5.9%</a:t>
            </a:r>
          </a:p>
        </p:txBody>
      </p:sp>
      <p:sp>
        <p:nvSpPr>
          <p:cNvPr id="33" name="Oval 32"/>
          <p:cNvSpPr/>
          <p:nvPr/>
        </p:nvSpPr>
        <p:spPr>
          <a:xfrm>
            <a:off x="3815443"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4757057" y="1773916"/>
            <a:ext cx="1330779"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4757057" y="1992961"/>
            <a:ext cx="1330779"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795157"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Curl Definition</a:t>
            </a:r>
          </a:p>
        </p:txBody>
      </p:sp>
      <p:sp>
        <p:nvSpPr>
          <p:cNvPr id="37" name="Rectangle 36"/>
          <p:cNvSpPr/>
          <p:nvPr/>
        </p:nvSpPr>
        <p:spPr>
          <a:xfrm>
            <a:off x="4757057"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152.2</a:t>
            </a:r>
          </a:p>
        </p:txBody>
      </p:sp>
      <p:sp>
        <p:nvSpPr>
          <p:cNvPr id="38" name="Rectangle 37"/>
          <p:cNvSpPr/>
          <p:nvPr/>
        </p:nvSpPr>
        <p:spPr>
          <a:xfrm>
            <a:off x="4757057"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361.8</a:t>
            </a:r>
          </a:p>
        </p:txBody>
      </p:sp>
      <p:sp>
        <p:nvSpPr>
          <p:cNvPr id="39" name="Rectangle 38"/>
          <p:cNvSpPr/>
          <p:nvPr/>
        </p:nvSpPr>
        <p:spPr>
          <a:xfrm>
            <a:off x="4757057"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9.0%</a:t>
            </a:r>
          </a:p>
        </p:txBody>
      </p:sp>
      <p:sp>
        <p:nvSpPr>
          <p:cNvPr id="40" name="Oval 39"/>
          <p:cNvSpPr/>
          <p:nvPr/>
        </p:nvSpPr>
        <p:spPr>
          <a:xfrm>
            <a:off x="5260521"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202136" y="1773916"/>
            <a:ext cx="1330779"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202136" y="1992961"/>
            <a:ext cx="1330779"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240236"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Heat Styling Support</a:t>
            </a:r>
          </a:p>
        </p:txBody>
      </p:sp>
      <p:sp>
        <p:nvSpPr>
          <p:cNvPr id="44" name="Rectangle 43"/>
          <p:cNvSpPr/>
          <p:nvPr/>
        </p:nvSpPr>
        <p:spPr>
          <a:xfrm>
            <a:off x="6202136"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148.0</a:t>
            </a:r>
          </a:p>
        </p:txBody>
      </p:sp>
      <p:sp>
        <p:nvSpPr>
          <p:cNvPr id="45" name="Rectangle 44"/>
          <p:cNvSpPr/>
          <p:nvPr/>
        </p:nvSpPr>
        <p:spPr>
          <a:xfrm>
            <a:off x="6202136"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334.4</a:t>
            </a:r>
          </a:p>
        </p:txBody>
      </p:sp>
      <p:sp>
        <p:nvSpPr>
          <p:cNvPr id="46" name="Rectangle 45"/>
          <p:cNvSpPr/>
          <p:nvPr/>
        </p:nvSpPr>
        <p:spPr>
          <a:xfrm>
            <a:off x="6202136"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8.5%</a:t>
            </a:r>
          </a:p>
        </p:txBody>
      </p:sp>
      <p:sp>
        <p:nvSpPr>
          <p:cNvPr id="47" name="Oval 46"/>
          <p:cNvSpPr/>
          <p:nvPr/>
        </p:nvSpPr>
        <p:spPr>
          <a:xfrm>
            <a:off x="670560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7647214" y="1773916"/>
            <a:ext cx="1330779"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647214" y="1992961"/>
            <a:ext cx="1330779"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7685314"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Separation</a:t>
            </a:r>
          </a:p>
        </p:txBody>
      </p:sp>
      <p:sp>
        <p:nvSpPr>
          <p:cNvPr id="51" name="Rectangle 50"/>
          <p:cNvSpPr/>
          <p:nvPr/>
        </p:nvSpPr>
        <p:spPr>
          <a:xfrm>
            <a:off x="7647214"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138.1</a:t>
            </a:r>
          </a:p>
        </p:txBody>
      </p:sp>
      <p:sp>
        <p:nvSpPr>
          <p:cNvPr id="52" name="Rectangle 51"/>
          <p:cNvSpPr/>
          <p:nvPr/>
        </p:nvSpPr>
        <p:spPr>
          <a:xfrm>
            <a:off x="7647214"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282.3</a:t>
            </a:r>
          </a:p>
        </p:txBody>
      </p:sp>
      <p:sp>
        <p:nvSpPr>
          <p:cNvPr id="53" name="Rectangle 52"/>
          <p:cNvSpPr/>
          <p:nvPr/>
        </p:nvSpPr>
        <p:spPr>
          <a:xfrm>
            <a:off x="7647214"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7.4%</a:t>
            </a:r>
          </a:p>
        </p:txBody>
      </p:sp>
      <p:sp>
        <p:nvSpPr>
          <p:cNvPr id="54" name="Oval 53"/>
          <p:cNvSpPr/>
          <p:nvPr/>
        </p:nvSpPr>
        <p:spPr>
          <a:xfrm>
            <a:off x="815067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9092293" y="1773916"/>
            <a:ext cx="1330779"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092293" y="1992961"/>
            <a:ext cx="1330779"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130393"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Volume and Root Lift</a:t>
            </a:r>
          </a:p>
        </p:txBody>
      </p:sp>
      <p:sp>
        <p:nvSpPr>
          <p:cNvPr id="58" name="Rectangle 57"/>
          <p:cNvSpPr/>
          <p:nvPr/>
        </p:nvSpPr>
        <p:spPr>
          <a:xfrm>
            <a:off x="9092293"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137.9</a:t>
            </a:r>
          </a:p>
        </p:txBody>
      </p:sp>
      <p:sp>
        <p:nvSpPr>
          <p:cNvPr id="59" name="Rectangle 58"/>
          <p:cNvSpPr/>
          <p:nvPr/>
        </p:nvSpPr>
        <p:spPr>
          <a:xfrm>
            <a:off x="9092293"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267.9</a:t>
            </a:r>
          </a:p>
        </p:txBody>
      </p:sp>
      <p:sp>
        <p:nvSpPr>
          <p:cNvPr id="60" name="Rectangle 59"/>
          <p:cNvSpPr/>
          <p:nvPr/>
        </p:nvSpPr>
        <p:spPr>
          <a:xfrm>
            <a:off x="9092293"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6.9%</a:t>
            </a:r>
          </a:p>
        </p:txBody>
      </p:sp>
      <p:sp>
        <p:nvSpPr>
          <p:cNvPr id="61" name="Oval 60"/>
          <p:cNvSpPr/>
          <p:nvPr/>
        </p:nvSpPr>
        <p:spPr>
          <a:xfrm>
            <a:off x="9595757"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10537371" y="1773916"/>
            <a:ext cx="1330779"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537371" y="1992961"/>
            <a:ext cx="1330779"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10575471"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Sleek Styling and Edge Control</a:t>
            </a:r>
          </a:p>
        </p:txBody>
      </p:sp>
      <p:sp>
        <p:nvSpPr>
          <p:cNvPr id="65" name="Rectangle 64"/>
          <p:cNvSpPr/>
          <p:nvPr/>
        </p:nvSpPr>
        <p:spPr>
          <a:xfrm>
            <a:off x="10537371"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123.7</a:t>
            </a:r>
          </a:p>
        </p:txBody>
      </p:sp>
      <p:sp>
        <p:nvSpPr>
          <p:cNvPr id="66" name="Rectangle 65"/>
          <p:cNvSpPr/>
          <p:nvPr/>
        </p:nvSpPr>
        <p:spPr>
          <a:xfrm>
            <a:off x="10537371"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230.3</a:t>
            </a:r>
          </a:p>
        </p:txBody>
      </p:sp>
      <p:sp>
        <p:nvSpPr>
          <p:cNvPr id="67" name="Rectangle 66"/>
          <p:cNvSpPr/>
          <p:nvPr/>
        </p:nvSpPr>
        <p:spPr>
          <a:xfrm>
            <a:off x="10537371"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6.4%</a:t>
            </a:r>
          </a:p>
        </p:txBody>
      </p:sp>
      <p:sp>
        <p:nvSpPr>
          <p:cNvPr id="68" name="Oval 67"/>
          <p:cNvSpPr/>
          <p:nvPr/>
        </p:nvSpPr>
        <p:spPr>
          <a:xfrm>
            <a:off x="11040836"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71" name="Rectangle 70"/>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primary styling benefit, curl definition segment is expected to witness the highest CAGR of 9.0% over the forecast period. In terms of value share by primary styling benefit, the smoothing and frizz control segment is expected to dominate the market, gaining 86 BPS and accounting for 17.4% share by 2036.</a:t>
            </a:r>
          </a:p>
          <a:p>
            <a:pPr algn="l">
              <a:lnSpc>
                <a:spcPct val="110000"/>
              </a:lnSpc>
              <a:spcBef>
                <a:spcPts val="0"/>
              </a:spcBef>
              <a:spcAft>
                <a:spcPts val="500"/>
              </a:spcAft>
            </a:pPr>
            <a:r>
              <a:rPr sz="1100" b="0">
                <a:solidFill>
                  <a:srgbClr val="2E2E2E"/>
                </a:solidFill>
                <a:latin typeface="Calibri"/>
              </a:rPr>
              <a:t>Smoothing and frizz control segment is projected to register 1.0X higher value than curl definition segment in 2036.</a:t>
            </a:r>
          </a:p>
        </p:txBody>
      </p:sp>
      <p:sp>
        <p:nvSpPr>
          <p:cNvPr id="73" name="Rounded Rectangle 72"/>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75" name="Rectangle 74"/>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Smoothing and Frizz Control: </a:t>
            </a:r>
            <a:r>
              <a:rPr sz="1100" b="0">
                <a:solidFill>
                  <a:srgbClr val="2E2E2E"/>
                </a:solidFill>
                <a:latin typeface="Calibri"/>
              </a:rPr>
              <a:t>17% of 2026 value · 8.1%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Hold and Shape: </a:t>
            </a:r>
            <a:r>
              <a:rPr sz="1100" b="0">
                <a:solidFill>
                  <a:srgbClr val="2E2E2E"/>
                </a:solidFill>
                <a:latin typeface="Calibri"/>
              </a:rPr>
              <a:t>15% of 2026 value · 5.9%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Curl Definition: </a:t>
            </a:r>
            <a:r>
              <a:rPr sz="1100" b="0">
                <a:solidFill>
                  <a:srgbClr val="2E2E2E"/>
                </a:solidFill>
                <a:latin typeface="Calibri"/>
              </a:rPr>
              <a:t>15% of 2026 value · 9.0%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Heat Styling Support: </a:t>
            </a:r>
            <a:r>
              <a:rPr sz="1100" b="0">
                <a:solidFill>
                  <a:srgbClr val="2E2E2E"/>
                </a:solidFill>
                <a:latin typeface="Calibri"/>
              </a:rPr>
              <a:t>14% of 2026 value · 8.5%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Texture and Separation: </a:t>
            </a:r>
            <a:r>
              <a:rPr sz="1100" b="0">
                <a:solidFill>
                  <a:srgbClr val="2E2E2E"/>
                </a:solidFill>
                <a:latin typeface="Calibri"/>
              </a:rPr>
              <a:t>13% of 2026 value · 7.4%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Volume and Root Lift: </a:t>
            </a:r>
            <a:r>
              <a:rPr sz="1100" b="0">
                <a:solidFill>
                  <a:srgbClr val="2E2E2E"/>
                </a:solidFill>
                <a:latin typeface="Calibri"/>
              </a:rPr>
              <a:t>13% of 2026 value · 6.9%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Sleek Styling and Edge Control: </a:t>
            </a:r>
            <a:r>
              <a:rPr sz="1100" b="0">
                <a:solidFill>
                  <a:srgbClr val="2E2E2E"/>
                </a:solidFill>
                <a:latin typeface="Calibri"/>
              </a:rPr>
              <a:t>12% of 2026 value · 6.4% CAGR serves a niche.</a:t>
            </a:r>
          </a:p>
        </p:txBody>
      </p:sp>
      <p:sp>
        <p:nvSpPr>
          <p:cNvPr id="77" name="Rounded Rectangle 76"/>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9" name="Rectangle 78"/>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Primary Styling Benefit split shows how demand is distributed across primary styling benefit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81" name="Rectangle 80"/>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Primary Styling Benefit segment is projected to grow at a CAGR of 7.5% from 2026 to 2036.</a:t>
            </a:r>
          </a:p>
        </p:txBody>
      </p:sp>
      <p:sp>
        <p:nvSpPr>
          <p:cNvPr id="83" name="TextBox 82"/>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84" name="TextBox 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Structure &amp; Attractiveness, By Primary Styling Benefit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Primary Styling Benefit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Primary Styling Benefit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Curl definition followed by smoothing and frizz control are expected to be the two most attractive primary styling benefit segments in the Middle East &amp; Africa hair styling products market in terms of value over the forecast period. Curl definition and smoothing and frizz control exhibit a CAGR index of 119.9 and 107.3 and a market share index of 103.9 and 115.5 respectively, against the segment average of 100. The sleek styling and edge control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Primary Styling Benefit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Hold and Shape</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Curl Definition</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Volume and Root Lift</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Texture and Separation</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Primary Styling Benefit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Smoothing and Frizz Control</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Sleek Styling and Edge Control</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Heat Styling Support</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Middle East &amp; Africa Absolute $ Opportunity Analysis, By Primary Styling Benefit</a:t>
            </a:r>
          </a:p>
        </p:txBody>
      </p:sp>
      <p:sp>
        <p:nvSpPr>
          <p:cNvPr id="21" name="Rectangle 20"/>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curl definition segment is anticipated to witness an increase of 2.4X in terms of value as compared to 2026. The curl definition segment is expected to create an incremental opportunity of US$ 209.6 Mn for the overall hair styling products market from 2026 to 2036.</a:t>
            </a:r>
          </a:p>
          <a:p>
            <a:pPr algn="l">
              <a:lnSpc>
                <a:spcPct val="110000"/>
              </a:lnSpc>
              <a:spcBef>
                <a:spcPts val="0"/>
              </a:spcBef>
              <a:spcAft>
                <a:spcPts val="500"/>
              </a:spcAft>
            </a:pPr>
            <a:r>
              <a:rPr sz="1150" b="0">
                <a:solidFill>
                  <a:srgbClr val="2E2E2E"/>
                </a:solidFill>
                <a:latin typeface="Calibri"/>
              </a:rPr>
              <a:t>The smoothing and frizz control segment is expected to create an incremental opportunity of US$ 199.2 Mn for the overall hair styling products market from 2026 to 2036. The heat styling support segment is expected to create an incremental opportunity of US$ 186.5 Mn for the overall hair styling products market from 2026 to 2036.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Primary Styling Benefit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Primary Styling Benefit,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Primary Styling Benefit (US$ Mn)</a:t>
            </a:r>
          </a:p>
        </p:txBody>
      </p:sp>
      <p:graphicFrame>
        <p:nvGraphicFramePr>
          <p:cNvPr id="13" name="Table 12"/>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09975"/>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Analysis, By Primary Styling Benefit</a:t>
            </a:r>
          </a:p>
        </p:txBody>
      </p:sp>
      <p:sp>
        <p:nvSpPr>
          <p:cNvPr id="17" name="Rectangle 16"/>
          <p:cNvSpPr/>
          <p:nvPr/>
        </p:nvSpPr>
        <p:spPr>
          <a:xfrm>
            <a:off x="276225" y="3848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33825"/>
            <a:ext cx="11639550" cy="2619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Smoothing and frizz control segment is projected to register 1.0X higher value than curl definition segment in 2036. Among hair styling products by primary styling benefit, curl definition segment is expected to witness the highest CAGR of 9.0% over the forecast period.</a:t>
            </a:r>
          </a:p>
          <a:p>
            <a:pPr algn="l">
              <a:lnSpc>
                <a:spcPct val="110000"/>
              </a:lnSpc>
              <a:spcBef>
                <a:spcPts val="0"/>
              </a:spcBef>
              <a:spcAft>
                <a:spcPts val="500"/>
              </a:spcAft>
            </a:pPr>
            <a:r>
              <a:rPr sz="1150" b="0">
                <a:solidFill>
                  <a:srgbClr val="2E2E2E"/>
                </a:solidFill>
                <a:latin typeface="Calibri"/>
              </a:rPr>
              <a:t>In terms of value share by primary styling benefit, the smoothing and frizz control segment is expected to dominate the market, gaining 86 BPS and accounting for 17.4% share by 2036. The hold and shape segment is expected to lose 222 BPS over the forecast period to account for 13.0%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&amp; Share Shift, By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Primary Styling Benefit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Composition, By Primary Styling Benefit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19388"/>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1462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3842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Sleek Styling and Edge Control</a:t>
            </a:r>
          </a:p>
        </p:txBody>
      </p:sp>
      <p:sp>
        <p:nvSpPr>
          <p:cNvPr id="19" name="BPS Value 1"/>
          <p:cNvSpPr txBox="1"/>
          <p:nvPr/>
        </p:nvSpPr>
        <p:spPr>
          <a:xfrm>
            <a:off x="6896100" y="1900338"/>
            <a:ext cx="514350" cy="123825"/>
          </a:xfrm>
          <a:prstGeom prst="rect">
            <a:avLst/>
          </a:prstGeom>
          <a:noFill/>
        </p:spPr>
        <p:txBody>
          <a:bodyPr wrap="none" lIns="0" rIns="0" tIns="0" bIns="0" anchor="ctr">
            <a:spAutoFit/>
          </a:bodyPr>
          <a:lstStyle/>
          <a:p>
            <a:pPr algn="r"/>
            <a:r>
              <a:rPr sz="900" b="1">
                <a:solidFill>
                  <a:srgbClr val="E44D3A"/>
                </a:solidFill>
                <a:latin typeface="Calibri"/>
              </a:rPr>
              <a:t>-121</a:t>
            </a:r>
          </a:p>
        </p:txBody>
      </p:sp>
      <p:sp>
        <p:nvSpPr>
          <p:cNvPr id="20" name="FMI Legend Chip"/>
          <p:cNvSpPr/>
          <p:nvPr/>
        </p:nvSpPr>
        <p:spPr>
          <a:xfrm>
            <a:off x="4928997" y="2456199"/>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45143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7523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Volume and Root Lift</a:t>
            </a:r>
          </a:p>
        </p:txBody>
      </p:sp>
      <p:sp>
        <p:nvSpPr>
          <p:cNvPr id="23" name="BPS Value 2"/>
          <p:cNvSpPr txBox="1"/>
          <p:nvPr/>
        </p:nvSpPr>
        <p:spPr>
          <a:xfrm>
            <a:off x="6896100" y="2437149"/>
            <a:ext cx="514350" cy="123825"/>
          </a:xfrm>
          <a:prstGeom prst="rect">
            <a:avLst/>
          </a:prstGeom>
          <a:noFill/>
        </p:spPr>
        <p:txBody>
          <a:bodyPr wrap="none" lIns="0" rIns="0" tIns="0" bIns="0" anchor="ctr">
            <a:spAutoFit/>
          </a:bodyPr>
          <a:lstStyle/>
          <a:p>
            <a:pPr algn="r"/>
            <a:r>
              <a:rPr sz="900" b="1">
                <a:solidFill>
                  <a:srgbClr val="E44D3A"/>
                </a:solidFill>
                <a:latin typeface="Calibri"/>
              </a:rPr>
              <a:t>-82</a:t>
            </a:r>
          </a:p>
        </p:txBody>
      </p:sp>
      <p:sp>
        <p:nvSpPr>
          <p:cNvPr id="24" name="FMI Legend Chip"/>
          <p:cNvSpPr/>
          <p:nvPr/>
        </p:nvSpPr>
        <p:spPr>
          <a:xfrm>
            <a:off x="4928997" y="3042999"/>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03823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96203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Hold and Shape</a:t>
            </a:r>
          </a:p>
        </p:txBody>
      </p:sp>
      <p:sp>
        <p:nvSpPr>
          <p:cNvPr id="27" name="BPS Value 3"/>
          <p:cNvSpPr txBox="1"/>
          <p:nvPr/>
        </p:nvSpPr>
        <p:spPr>
          <a:xfrm>
            <a:off x="6896100" y="3023949"/>
            <a:ext cx="514350" cy="123825"/>
          </a:xfrm>
          <a:prstGeom prst="rect">
            <a:avLst/>
          </a:prstGeom>
          <a:noFill/>
        </p:spPr>
        <p:txBody>
          <a:bodyPr wrap="none" lIns="0" rIns="0" tIns="0" bIns="0" anchor="ctr">
            <a:spAutoFit/>
          </a:bodyPr>
          <a:lstStyle/>
          <a:p>
            <a:pPr algn="r"/>
            <a:r>
              <a:rPr sz="900" b="1">
                <a:solidFill>
                  <a:srgbClr val="E44D3A"/>
                </a:solidFill>
                <a:latin typeface="Calibri"/>
              </a:rPr>
              <a:t>-222</a:t>
            </a:r>
          </a:p>
        </p:txBody>
      </p:sp>
      <p:sp>
        <p:nvSpPr>
          <p:cNvPr id="28" name="FMI Legend Chip"/>
          <p:cNvSpPr/>
          <p:nvPr/>
        </p:nvSpPr>
        <p:spPr>
          <a:xfrm>
            <a:off x="4928997" y="364525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64048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56428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Separation</a:t>
            </a:r>
          </a:p>
        </p:txBody>
      </p:sp>
      <p:sp>
        <p:nvSpPr>
          <p:cNvPr id="31" name="BPS Value 4"/>
          <p:cNvSpPr txBox="1"/>
          <p:nvPr/>
        </p:nvSpPr>
        <p:spPr>
          <a:xfrm>
            <a:off x="6896100" y="3626201"/>
            <a:ext cx="514350" cy="123825"/>
          </a:xfrm>
          <a:prstGeom prst="rect">
            <a:avLst/>
          </a:prstGeom>
          <a:noFill/>
        </p:spPr>
        <p:txBody>
          <a:bodyPr wrap="none" lIns="0" rIns="0" tIns="0" bIns="0" anchor="ctr">
            <a:spAutoFit/>
          </a:bodyPr>
          <a:lstStyle/>
          <a:p>
            <a:pPr algn="r"/>
            <a:r>
              <a:rPr sz="900" b="1">
                <a:solidFill>
                  <a:srgbClr val="E44D3A"/>
                </a:solidFill>
                <a:latin typeface="Calibri"/>
              </a:rPr>
              <a:t>-16</a:t>
            </a:r>
          </a:p>
        </p:txBody>
      </p:sp>
      <p:sp>
        <p:nvSpPr>
          <p:cNvPr id="32" name="FMI Legend Chip"/>
          <p:cNvSpPr/>
          <p:nvPr/>
        </p:nvSpPr>
        <p:spPr>
          <a:xfrm>
            <a:off x="4928997" y="430970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430493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22873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Heat Styling Support</a:t>
            </a:r>
          </a:p>
        </p:txBody>
      </p:sp>
      <p:sp>
        <p:nvSpPr>
          <p:cNvPr id="35" name="BPS Value 5"/>
          <p:cNvSpPr txBox="1"/>
          <p:nvPr/>
        </p:nvSpPr>
        <p:spPr>
          <a:xfrm>
            <a:off x="6896100" y="4290651"/>
            <a:ext cx="514350" cy="123825"/>
          </a:xfrm>
          <a:prstGeom prst="rect">
            <a:avLst/>
          </a:prstGeom>
          <a:noFill/>
        </p:spPr>
        <p:txBody>
          <a:bodyPr wrap="none" lIns="0" rIns="0" tIns="0" bIns="0" anchor="ctr">
            <a:spAutoFit/>
          </a:bodyPr>
          <a:lstStyle/>
          <a:p>
            <a:pPr algn="r"/>
            <a:r>
              <a:rPr sz="900" b="1">
                <a:solidFill>
                  <a:srgbClr val="2E7D32"/>
                </a:solidFill>
                <a:latin typeface="Calibri"/>
              </a:rPr>
              <a:t>+133</a:t>
            </a:r>
          </a:p>
        </p:txBody>
      </p:sp>
      <p:sp>
        <p:nvSpPr>
          <p:cNvPr id="36" name="FMI Legend Chip"/>
          <p:cNvSpPr/>
          <p:nvPr/>
        </p:nvSpPr>
        <p:spPr>
          <a:xfrm>
            <a:off x="4928997" y="505982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05506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97886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 Definition</a:t>
            </a:r>
          </a:p>
        </p:txBody>
      </p:sp>
      <p:sp>
        <p:nvSpPr>
          <p:cNvPr id="39" name="BPS Value 6"/>
          <p:cNvSpPr txBox="1"/>
          <p:nvPr/>
        </p:nvSpPr>
        <p:spPr>
          <a:xfrm>
            <a:off x="6896100" y="5040778"/>
            <a:ext cx="514350" cy="123825"/>
          </a:xfrm>
          <a:prstGeom prst="rect">
            <a:avLst/>
          </a:prstGeom>
          <a:noFill/>
        </p:spPr>
        <p:txBody>
          <a:bodyPr wrap="none" lIns="0" rIns="0" tIns="0" bIns="0" anchor="ctr">
            <a:spAutoFit/>
          </a:bodyPr>
          <a:lstStyle/>
          <a:p>
            <a:pPr algn="r"/>
            <a:r>
              <a:rPr sz="900" b="1">
                <a:solidFill>
                  <a:srgbClr val="2E7D32"/>
                </a:solidFill>
                <a:latin typeface="Calibri"/>
              </a:rPr>
              <a:t>+221</a:t>
            </a:r>
          </a:p>
        </p:txBody>
      </p:sp>
      <p:sp>
        <p:nvSpPr>
          <p:cNvPr id="40" name="FMI Legend Chip"/>
          <p:cNvSpPr/>
          <p:nvPr/>
        </p:nvSpPr>
        <p:spPr>
          <a:xfrm>
            <a:off x="4928997" y="584663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584187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76567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Smoothing and Frizz Control</a:t>
            </a:r>
          </a:p>
        </p:txBody>
      </p:sp>
      <p:sp>
        <p:nvSpPr>
          <p:cNvPr id="43" name="BPS Value 7"/>
          <p:cNvSpPr txBox="1"/>
          <p:nvPr/>
        </p:nvSpPr>
        <p:spPr>
          <a:xfrm>
            <a:off x="6896100" y="5827588"/>
            <a:ext cx="514350" cy="123825"/>
          </a:xfrm>
          <a:prstGeom prst="rect">
            <a:avLst/>
          </a:prstGeom>
          <a:noFill/>
        </p:spPr>
        <p:txBody>
          <a:bodyPr wrap="none" lIns="0" rIns="0" tIns="0" bIns="0" anchor="ctr">
            <a:spAutoFit/>
          </a:bodyPr>
          <a:lstStyle/>
          <a:p>
            <a:pPr algn="r"/>
            <a:r>
              <a:rPr sz="900" b="1">
                <a:solidFill>
                  <a:srgbClr val="2E7D32"/>
                </a:solidFill>
                <a:latin typeface="Calibri"/>
              </a:rPr>
              <a:t>+86</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407620"/>
          </a:xfrm>
          <a:prstGeom prst="rect">
            <a:avLst/>
          </a:prstGeom>
          <a:noFill/>
        </p:spPr>
        <p:txBody>
          <a:bodyPr wrap="square" lIns="0" rIns="19050" tIns="9525" bIns="9525">
            <a:spAutoFit/>
          </a:bodyPr>
          <a:lstStyle/>
          <a:p>
            <a:pPr algn="l"/>
            <a:r>
              <a:rPr sz="1300" b="1">
                <a:solidFill>
                  <a:srgbClr val="0B2E4A"/>
                </a:solidFill>
                <a:latin typeface="Calibri"/>
              </a:rPr>
              <a:t>Middle East &amp; Africa Read-out, By Primary Styling Benefit</a:t>
            </a:r>
          </a:p>
        </p:txBody>
      </p:sp>
      <p:sp>
        <p:nvSpPr>
          <p:cNvPr id="46" name="Rectangle 45"/>
          <p:cNvSpPr/>
          <p:nvPr/>
        </p:nvSpPr>
        <p:spPr>
          <a:xfrm>
            <a:off x="7829550" y="150299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588720"/>
            <a:ext cx="4076700"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primary styling benefit, curl definition segment is expected to witness the highest CAGR of 9.0% over the forecast period. In terms of value share by primary styling benefit, the smoothing and frizz control segment is expected to dominate the market, gaining 86 BPS and accounting for 17.4% share by 2036.</a:t>
            </a:r>
          </a:p>
          <a:p>
            <a:pPr algn="l">
              <a:lnSpc>
                <a:spcPct val="110000"/>
              </a:lnSpc>
              <a:spcBef>
                <a:spcPts val="0"/>
              </a:spcBef>
              <a:spcAft>
                <a:spcPts val="500"/>
              </a:spcAft>
            </a:pPr>
            <a:r>
              <a:rPr sz="1150" b="0">
                <a:solidFill>
                  <a:srgbClr val="2E2E2E"/>
                </a:solidFill>
                <a:latin typeface="Calibri"/>
              </a:rPr>
              <a:t>The hold and shape segment is expected to lose 222 BPS over the forecast period to account for 13.0% share by 2036.</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Primary Styling Benefit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Primary Styling Benefit,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Growth,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Heatmap, By Primary Styling Benefit (%)  ·  light = lower, dark = higher growth</a:t>
            </a:r>
          </a:p>
        </p:txBody>
      </p:sp>
      <p:sp>
        <p:nvSpPr>
          <p:cNvPr id="17" name="TextBox 16"/>
          <p:cNvSpPr txBox="1"/>
          <p:nvPr/>
        </p:nvSpPr>
        <p:spPr>
          <a:xfrm>
            <a:off x="166143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31838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97534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632294"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28924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94619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60315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26010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91705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57401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3096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88791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4486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0182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5877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Hold and Shape</a:t>
            </a:r>
          </a:p>
        </p:txBody>
      </p:sp>
      <p:sp>
        <p:nvSpPr>
          <p:cNvPr id="33" name="Rectangle 32"/>
          <p:cNvSpPr/>
          <p:nvPr/>
        </p:nvSpPr>
        <p:spPr>
          <a:xfrm>
            <a:off x="1661437" y="3733800"/>
            <a:ext cx="656953" cy="405493"/>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318389" y="3733800"/>
            <a:ext cx="656953" cy="405493"/>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975342" y="3733800"/>
            <a:ext cx="656953" cy="405493"/>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632294" y="3733800"/>
            <a:ext cx="656953" cy="405493"/>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289247" y="3733800"/>
            <a:ext cx="656953" cy="405493"/>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946199" y="3733800"/>
            <a:ext cx="656953" cy="405493"/>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603152" y="3733800"/>
            <a:ext cx="656953" cy="405493"/>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260105" y="3733800"/>
            <a:ext cx="656953" cy="405493"/>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17057" y="3733800"/>
            <a:ext cx="656953" cy="405493"/>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574010" y="3733800"/>
            <a:ext cx="656953" cy="405493"/>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30962" y="3733800"/>
            <a:ext cx="656953" cy="40549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887915" y="3733800"/>
            <a:ext cx="656953" cy="405493"/>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44867" y="3733800"/>
            <a:ext cx="656953" cy="405493"/>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01820" y="3733800"/>
            <a:ext cx="656953" cy="405493"/>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58772" y="3733800"/>
            <a:ext cx="656953" cy="405493"/>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39293"/>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Curl Definition</a:t>
            </a:r>
          </a:p>
        </p:txBody>
      </p:sp>
      <p:sp>
        <p:nvSpPr>
          <p:cNvPr id="49" name="Rectangle 48"/>
          <p:cNvSpPr/>
          <p:nvPr/>
        </p:nvSpPr>
        <p:spPr>
          <a:xfrm>
            <a:off x="1661437" y="4139293"/>
            <a:ext cx="656953" cy="40549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318389" y="4139293"/>
            <a:ext cx="656953" cy="405493"/>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975342" y="4139293"/>
            <a:ext cx="656953" cy="405493"/>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632294" y="4139293"/>
            <a:ext cx="656953" cy="405493"/>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289247" y="4139293"/>
            <a:ext cx="656953" cy="405493"/>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946199" y="4139293"/>
            <a:ext cx="656953" cy="405493"/>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603152" y="4139293"/>
            <a:ext cx="656953" cy="405493"/>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260105" y="4139293"/>
            <a:ext cx="656953" cy="40549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917057" y="4139293"/>
            <a:ext cx="656953" cy="405493"/>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574010" y="4139293"/>
            <a:ext cx="656953" cy="405493"/>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30962" y="4139293"/>
            <a:ext cx="656953" cy="40549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887915" y="4139293"/>
            <a:ext cx="656953" cy="405493"/>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44867" y="4139293"/>
            <a:ext cx="656953" cy="405493"/>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01820" y="4139293"/>
            <a:ext cx="656953" cy="405493"/>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58772" y="4139293"/>
            <a:ext cx="656953" cy="405493"/>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4786"/>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Volume and Root Lift</a:t>
            </a:r>
          </a:p>
        </p:txBody>
      </p:sp>
      <p:sp>
        <p:nvSpPr>
          <p:cNvPr id="65" name="Rectangle 64"/>
          <p:cNvSpPr/>
          <p:nvPr/>
        </p:nvSpPr>
        <p:spPr>
          <a:xfrm>
            <a:off x="1661437" y="4544786"/>
            <a:ext cx="656953" cy="405493"/>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318389" y="4544786"/>
            <a:ext cx="656953" cy="405493"/>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975342" y="4544786"/>
            <a:ext cx="656953" cy="405493"/>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632294" y="4544786"/>
            <a:ext cx="656953" cy="405493"/>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289247" y="4544786"/>
            <a:ext cx="656953" cy="405493"/>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946199" y="4544786"/>
            <a:ext cx="656953" cy="405493"/>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603152" y="4544786"/>
            <a:ext cx="656953" cy="405493"/>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260105" y="4544786"/>
            <a:ext cx="656953" cy="40549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917057" y="4544786"/>
            <a:ext cx="656953" cy="405493"/>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574010" y="4544786"/>
            <a:ext cx="656953" cy="405493"/>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30962" y="4544786"/>
            <a:ext cx="656953" cy="405493"/>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887915" y="4544786"/>
            <a:ext cx="656953" cy="405493"/>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44867" y="4544786"/>
            <a:ext cx="656953" cy="405493"/>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01820" y="4544786"/>
            <a:ext cx="656953" cy="405493"/>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58772" y="4544786"/>
            <a:ext cx="656953" cy="405493"/>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4950279"/>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Texture and Separation</a:t>
            </a:r>
          </a:p>
        </p:txBody>
      </p:sp>
      <p:sp>
        <p:nvSpPr>
          <p:cNvPr id="81" name="Rectangle 80"/>
          <p:cNvSpPr/>
          <p:nvPr/>
        </p:nvSpPr>
        <p:spPr>
          <a:xfrm>
            <a:off x="1661437" y="4950279"/>
            <a:ext cx="656953" cy="405493"/>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318389" y="4950279"/>
            <a:ext cx="656953" cy="405493"/>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975342" y="4950279"/>
            <a:ext cx="656953" cy="405493"/>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632294" y="4950279"/>
            <a:ext cx="656953" cy="405493"/>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289247" y="4950279"/>
            <a:ext cx="656953" cy="405493"/>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946199" y="4950279"/>
            <a:ext cx="656953" cy="405493"/>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603152" y="4950279"/>
            <a:ext cx="656953" cy="405493"/>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260105" y="4950279"/>
            <a:ext cx="656953" cy="405493"/>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917057" y="4950279"/>
            <a:ext cx="656953" cy="405493"/>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574010" y="4950279"/>
            <a:ext cx="656953" cy="405493"/>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30962" y="4950279"/>
            <a:ext cx="656953" cy="405493"/>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887915" y="4950279"/>
            <a:ext cx="656953" cy="405493"/>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44867" y="4950279"/>
            <a:ext cx="656953" cy="405493"/>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01820" y="4950279"/>
            <a:ext cx="656953" cy="405493"/>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58772" y="4950279"/>
            <a:ext cx="656953" cy="405493"/>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55771"/>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Smoothing and Frizz Control</a:t>
            </a:r>
          </a:p>
        </p:txBody>
      </p:sp>
      <p:sp>
        <p:nvSpPr>
          <p:cNvPr id="97" name="Rectangle 96"/>
          <p:cNvSpPr/>
          <p:nvPr/>
        </p:nvSpPr>
        <p:spPr>
          <a:xfrm>
            <a:off x="1661437" y="5355771"/>
            <a:ext cx="656953" cy="405493"/>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318389" y="5355771"/>
            <a:ext cx="656953" cy="40549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975342" y="5355771"/>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632294" y="5355771"/>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289247" y="5355771"/>
            <a:ext cx="656953" cy="405493"/>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946199" y="5355771"/>
            <a:ext cx="656953" cy="405493"/>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603152" y="5355771"/>
            <a:ext cx="656953" cy="405493"/>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260105" y="5355771"/>
            <a:ext cx="656953" cy="405493"/>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917057" y="5355771"/>
            <a:ext cx="656953" cy="405493"/>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574010" y="5355771"/>
            <a:ext cx="656953" cy="405493"/>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30962" y="5355771"/>
            <a:ext cx="656953" cy="405493"/>
          </a:xfrm>
          <a:prstGeom prst="rect">
            <a:avLst/>
          </a:prstGeom>
          <a:solidFill>
            <a:srgbClr val="23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887915" y="5355771"/>
            <a:ext cx="656953" cy="405493"/>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44867" y="5355771"/>
            <a:ext cx="656953" cy="405493"/>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01820" y="5355771"/>
            <a:ext cx="656953" cy="405493"/>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58772" y="5355771"/>
            <a:ext cx="656953" cy="405493"/>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761264"/>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Sleek Styling and Edge Control</a:t>
            </a:r>
          </a:p>
        </p:txBody>
      </p:sp>
      <p:sp>
        <p:nvSpPr>
          <p:cNvPr id="113" name="Rectangle 112"/>
          <p:cNvSpPr/>
          <p:nvPr/>
        </p:nvSpPr>
        <p:spPr>
          <a:xfrm>
            <a:off x="1661437" y="5761264"/>
            <a:ext cx="656953" cy="405493"/>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318389" y="5761264"/>
            <a:ext cx="656953" cy="405493"/>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2975342" y="5761264"/>
            <a:ext cx="656953" cy="405493"/>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632294" y="5761264"/>
            <a:ext cx="656953" cy="405493"/>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289247" y="5761264"/>
            <a:ext cx="656953" cy="405493"/>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4946199" y="5761264"/>
            <a:ext cx="656953" cy="40549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603152" y="5761264"/>
            <a:ext cx="656953" cy="405493"/>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260105" y="5761264"/>
            <a:ext cx="656953" cy="405493"/>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6917057" y="5761264"/>
            <a:ext cx="656953" cy="405493"/>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574010" y="5761264"/>
            <a:ext cx="656953" cy="405493"/>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30962" y="5761264"/>
            <a:ext cx="656953" cy="405493"/>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887915" y="5761264"/>
            <a:ext cx="656953" cy="405493"/>
          </a:xfrm>
          <a:prstGeom prst="rect">
            <a:avLst/>
          </a:prstGeom>
          <a:solidFill>
            <a:srgbClr val="AA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44867" y="5761264"/>
            <a:ext cx="656953" cy="405493"/>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01820" y="5761264"/>
            <a:ext cx="656953" cy="405493"/>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58772" y="5761264"/>
            <a:ext cx="656953" cy="405493"/>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166757"/>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Heat Styling Support</a:t>
            </a:r>
          </a:p>
        </p:txBody>
      </p:sp>
      <p:sp>
        <p:nvSpPr>
          <p:cNvPr id="129" name="Rectangle 128"/>
          <p:cNvSpPr/>
          <p:nvPr/>
        </p:nvSpPr>
        <p:spPr>
          <a:xfrm>
            <a:off x="1661437" y="6166757"/>
            <a:ext cx="656953" cy="40549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318389" y="6166757"/>
            <a:ext cx="656953" cy="405493"/>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2975342" y="6166757"/>
            <a:ext cx="656953" cy="405493"/>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632294" y="6166757"/>
            <a:ext cx="656953" cy="405493"/>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289247" y="6166757"/>
            <a:ext cx="656953" cy="405493"/>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4946199" y="6166757"/>
            <a:ext cx="656953" cy="405493"/>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603152" y="6166757"/>
            <a:ext cx="656953" cy="405493"/>
          </a:xfrm>
          <a:prstGeom prst="rect">
            <a:avLst/>
          </a:prstGeom>
          <a:solidFill>
            <a:srgbClr val="89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260105" y="6166757"/>
            <a:ext cx="656953" cy="405493"/>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6917057" y="6166757"/>
            <a:ext cx="656953" cy="405493"/>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574010" y="6166757"/>
            <a:ext cx="656953" cy="405493"/>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30962" y="6166757"/>
            <a:ext cx="656953" cy="405493"/>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887915" y="6166757"/>
            <a:ext cx="656953" cy="405493"/>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44867" y="6166757"/>
            <a:ext cx="656953" cy="405493"/>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01820" y="6166757"/>
            <a:ext cx="656953" cy="405493"/>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58772" y="6166757"/>
            <a:ext cx="656953" cy="405493"/>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86" name="TextBox 185"/>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25.6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Hair Type Targeted</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Hair Type Targeted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Hair Type Targeted,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Hair Type Targeted segment categorizes the market by hair type targeted.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All Hair Types</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218.3</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429.1</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7.0%</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Straight Hair</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210.1</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393.0</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6.5%</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Wavy Hair</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202.0</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415.1</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7.5%</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Coily Hair</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200.1</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457.6</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8.6%</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Curly Hair</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195.2</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427.1</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8.1%</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hair type targeted, coily hair segment is expected to witness the highest CAGR of 8.6% over the forecast period. In terms of value share by hair type targeted, the coily hair segment is expected to dominate the market, gaining 206 BPS and accounting for 21.6% share by 2036.</a:t>
            </a:r>
          </a:p>
          <a:p>
            <a:pPr algn="l">
              <a:lnSpc>
                <a:spcPct val="110000"/>
              </a:lnSpc>
              <a:spcBef>
                <a:spcPts val="0"/>
              </a:spcBef>
              <a:spcAft>
                <a:spcPts val="500"/>
              </a:spcAft>
            </a:pPr>
            <a:r>
              <a:rPr sz="1100" b="0">
                <a:solidFill>
                  <a:srgbClr val="2E2E2E"/>
                </a:solidFill>
                <a:latin typeface="Calibri"/>
              </a:rPr>
              <a:t>Coily hair segment is projected to register 1.1X higher value than all hair types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All Hair Types: </a:t>
            </a:r>
            <a:r>
              <a:rPr sz="1100" b="0">
                <a:solidFill>
                  <a:srgbClr val="2E2E2E"/>
                </a:solidFill>
                <a:latin typeface="Calibri"/>
              </a:rPr>
              <a:t>21% of 2026 value · 7.0%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Straight Hair: </a:t>
            </a:r>
            <a:r>
              <a:rPr sz="1100" b="0">
                <a:solidFill>
                  <a:srgbClr val="2E2E2E"/>
                </a:solidFill>
                <a:latin typeface="Calibri"/>
              </a:rPr>
              <a:t>20% of 2026 value · 6.5%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Wavy Hair: </a:t>
            </a:r>
            <a:r>
              <a:rPr sz="1100" b="0">
                <a:solidFill>
                  <a:srgbClr val="2E2E2E"/>
                </a:solidFill>
                <a:latin typeface="Calibri"/>
              </a:rPr>
              <a:t>20% of 2026 value · 7.5%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Coily Hair: </a:t>
            </a:r>
            <a:r>
              <a:rPr sz="1100" b="0">
                <a:solidFill>
                  <a:srgbClr val="2E2E2E"/>
                </a:solidFill>
                <a:latin typeface="Calibri"/>
              </a:rPr>
              <a:t>20% of 2026 value · 8.6% CAGR grows fastest.</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Curly Hair: </a:t>
            </a:r>
            <a:r>
              <a:rPr sz="1100" b="0">
                <a:solidFill>
                  <a:srgbClr val="2E2E2E"/>
                </a:solidFill>
                <a:latin typeface="Calibri"/>
              </a:rPr>
              <a:t>19% of 2026 value · 8.1% CAGR serves a niche.</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Hair Type Targeted split shows how demand is distributed across hair type targeted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Hair Type Targeted segment is projected to grow at a CAGR of 7.5%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Structure &amp; Attractiveness, By Hair Type Targeted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Hair Type Targeted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Hair Type Targeted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Coily hair followed by curly hair are expected to be the two most attractive hair type targeted segments in the Middle East &amp; Africa hair styling products market in terms of value over the forecast period. Coily hair and curly hair exhibit a CAGR index of 114.4 and 108.0 and a market share index of 97.5 and 95.2 respectively, against the segment average of 100. The straight hair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Hair Type Targeted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Straight Hair</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Wavy Hair</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Curly Hair</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Coily Hair</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Hair Type Targeted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All Hair Types</a:t>
            </a:r>
          </a:p>
        </p:txBody>
      </p:sp>
      <p:graphicFrame>
        <p:nvGraphicFramePr>
          <p:cNvPr id="12" name="Chart 11"/>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Middle East &amp; Africa Absolute $ Opportunity Analysis, By Hair Type Targeted</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coily hair segment is anticipated to witness an increase of 2.3X in terms of value as compared to 2026. The coily hair segment is expected to create an incremental opportunity of US$ 257.5 Mn for the overall hair styling products market from 2026 to 2036.</a:t>
            </a:r>
          </a:p>
          <a:p>
            <a:pPr algn="l">
              <a:lnSpc>
                <a:spcPct val="110000"/>
              </a:lnSpc>
              <a:spcBef>
                <a:spcPts val="0"/>
              </a:spcBef>
              <a:spcAft>
                <a:spcPts val="500"/>
              </a:spcAft>
            </a:pPr>
            <a:r>
              <a:rPr sz="1150" b="0">
                <a:solidFill>
                  <a:srgbClr val="2E2E2E"/>
                </a:solidFill>
                <a:latin typeface="Calibri"/>
              </a:rPr>
              <a:t>The curly hair segment is expected to create an incremental opportunity of US$ 231.9 Mn for the overall hair styling products market from 2026 to 2036. The wavy hair segment is expected to create an incremental opportunity of US$ 213.1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Hair Type Targeted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Hair Type Targeted,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Hair Type Targeted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Analysis, By Hair Type Targeted</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Coily hair segment is projected to register 1.1X higher value than all hair types segment in 2036. Among hair styling products by hair type targeted, coily hair segment is expected to witness the highest CAGR of 8.6% over the forecast period.</a:t>
            </a:r>
          </a:p>
          <a:p>
            <a:pPr algn="l">
              <a:lnSpc>
                <a:spcPct val="110000"/>
              </a:lnSpc>
              <a:spcBef>
                <a:spcPts val="0"/>
              </a:spcBef>
              <a:spcAft>
                <a:spcPts val="500"/>
              </a:spcAft>
            </a:pPr>
            <a:r>
              <a:rPr sz="1150" b="0">
                <a:solidFill>
                  <a:srgbClr val="2E2E2E"/>
                </a:solidFill>
                <a:latin typeface="Calibri"/>
              </a:rPr>
              <a:t>In terms of value share by hair type targeted, the coily hair segment is expected to dominate the market, gaining 206 BPS and accounting for 21.6% share by 2036. The straight hair segment is expected to lose 196 BPS over the forecast period to account for 18.5%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&amp; Share Shift, By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Hair Type Targeted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Composition, By Hair Type Targeted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94691"/>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8992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01372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Straight Hair</a:t>
            </a:r>
          </a:p>
        </p:txBody>
      </p:sp>
      <p:sp>
        <p:nvSpPr>
          <p:cNvPr id="19" name="BPS Value 1"/>
          <p:cNvSpPr txBox="1"/>
          <p:nvPr/>
        </p:nvSpPr>
        <p:spPr>
          <a:xfrm>
            <a:off x="6896100" y="2075641"/>
            <a:ext cx="514350" cy="123825"/>
          </a:xfrm>
          <a:prstGeom prst="rect">
            <a:avLst/>
          </a:prstGeom>
          <a:noFill/>
        </p:spPr>
        <p:txBody>
          <a:bodyPr wrap="none" lIns="0" rIns="0" tIns="0" bIns="0" anchor="ctr">
            <a:spAutoFit/>
          </a:bodyPr>
          <a:lstStyle/>
          <a:p>
            <a:pPr algn="r"/>
            <a:r>
              <a:rPr sz="900" b="1">
                <a:solidFill>
                  <a:srgbClr val="E44D3A"/>
                </a:solidFill>
                <a:latin typeface="Calibri"/>
              </a:rPr>
              <a:t>-196</a:t>
            </a:r>
          </a:p>
        </p:txBody>
      </p:sp>
      <p:sp>
        <p:nvSpPr>
          <p:cNvPr id="20" name="FMI Legend Chip"/>
          <p:cNvSpPr/>
          <p:nvPr/>
        </p:nvSpPr>
        <p:spPr>
          <a:xfrm>
            <a:off x="4928997" y="296535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96059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88439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Wavy Hair</a:t>
            </a:r>
          </a:p>
        </p:txBody>
      </p:sp>
      <p:sp>
        <p:nvSpPr>
          <p:cNvPr id="23" name="BPS Value 2"/>
          <p:cNvSpPr txBox="1"/>
          <p:nvPr/>
        </p:nvSpPr>
        <p:spPr>
          <a:xfrm>
            <a:off x="6896100" y="2946302"/>
            <a:ext cx="514350" cy="123825"/>
          </a:xfrm>
          <a:prstGeom prst="rect">
            <a:avLst/>
          </a:prstGeom>
          <a:noFill/>
        </p:spPr>
        <p:txBody>
          <a:bodyPr wrap="none" lIns="0" rIns="0" tIns="0" bIns="0" anchor="ctr">
            <a:spAutoFit/>
          </a:bodyPr>
          <a:lstStyle/>
          <a:p>
            <a:pPr algn="r"/>
            <a:r>
              <a:rPr sz="900" b="1">
                <a:solidFill>
                  <a:srgbClr val="E44D3A"/>
                </a:solidFill>
                <a:latin typeface="Calibri"/>
              </a:rPr>
              <a:t>-13</a:t>
            </a:r>
          </a:p>
        </p:txBody>
      </p:sp>
      <p:sp>
        <p:nvSpPr>
          <p:cNvPr id="24" name="FMI Legend Chip"/>
          <p:cNvSpPr/>
          <p:nvPr/>
        </p:nvSpPr>
        <p:spPr>
          <a:xfrm>
            <a:off x="4928997" y="387278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86801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79181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Curly Hair</a:t>
            </a:r>
          </a:p>
        </p:txBody>
      </p:sp>
      <p:sp>
        <p:nvSpPr>
          <p:cNvPr id="27" name="BPS Value 3"/>
          <p:cNvSpPr txBox="1"/>
          <p:nvPr/>
        </p:nvSpPr>
        <p:spPr>
          <a:xfrm>
            <a:off x="6896100" y="3853731"/>
            <a:ext cx="514350" cy="123825"/>
          </a:xfrm>
          <a:prstGeom prst="rect">
            <a:avLst/>
          </a:prstGeom>
          <a:noFill/>
        </p:spPr>
        <p:txBody>
          <a:bodyPr wrap="none" lIns="0" rIns="0" tIns="0" bIns="0" anchor="ctr">
            <a:spAutoFit/>
          </a:bodyPr>
          <a:lstStyle/>
          <a:p>
            <a:pPr algn="r"/>
            <a:r>
              <a:rPr sz="900" b="1">
                <a:solidFill>
                  <a:srgbClr val="2E7D32"/>
                </a:solidFill>
                <a:latin typeface="Calibri"/>
              </a:rPr>
              <a:t>+109</a:t>
            </a:r>
          </a:p>
        </p:txBody>
      </p:sp>
      <p:sp>
        <p:nvSpPr>
          <p:cNvPr id="28" name="FMI Legend Chip"/>
          <p:cNvSpPr/>
          <p:nvPr/>
        </p:nvSpPr>
        <p:spPr>
          <a:xfrm>
            <a:off x="4928997" y="4795307"/>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79054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71434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All Hair Types</a:t>
            </a:r>
          </a:p>
        </p:txBody>
      </p:sp>
      <p:sp>
        <p:nvSpPr>
          <p:cNvPr id="31" name="BPS Value 4"/>
          <p:cNvSpPr txBox="1"/>
          <p:nvPr/>
        </p:nvSpPr>
        <p:spPr>
          <a:xfrm>
            <a:off x="6896100" y="4776257"/>
            <a:ext cx="514350" cy="123825"/>
          </a:xfrm>
          <a:prstGeom prst="rect">
            <a:avLst/>
          </a:prstGeom>
          <a:noFill/>
        </p:spPr>
        <p:txBody>
          <a:bodyPr wrap="none" lIns="0" rIns="0" tIns="0" bIns="0" anchor="ctr">
            <a:spAutoFit/>
          </a:bodyPr>
          <a:lstStyle/>
          <a:p>
            <a:pPr algn="r"/>
            <a:r>
              <a:rPr sz="900" b="1">
                <a:solidFill>
                  <a:srgbClr val="E44D3A"/>
                </a:solidFill>
                <a:latin typeface="Calibri"/>
              </a:rPr>
              <a:t>-106</a:t>
            </a:r>
          </a:p>
        </p:txBody>
      </p:sp>
      <p:sp>
        <p:nvSpPr>
          <p:cNvPr id="32" name="FMI Legend Chip"/>
          <p:cNvSpPr/>
          <p:nvPr/>
        </p:nvSpPr>
        <p:spPr>
          <a:xfrm>
            <a:off x="4928997" y="575063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574587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6967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Coily Hair</a:t>
            </a:r>
          </a:p>
        </p:txBody>
      </p:sp>
      <p:sp>
        <p:nvSpPr>
          <p:cNvPr id="35" name="BPS Value 5"/>
          <p:cNvSpPr txBox="1"/>
          <p:nvPr/>
        </p:nvSpPr>
        <p:spPr>
          <a:xfrm>
            <a:off x="6896100" y="5731584"/>
            <a:ext cx="514350" cy="123825"/>
          </a:xfrm>
          <a:prstGeom prst="rect">
            <a:avLst/>
          </a:prstGeom>
          <a:noFill/>
        </p:spPr>
        <p:txBody>
          <a:bodyPr wrap="none" lIns="0" rIns="0" tIns="0" bIns="0" anchor="ctr">
            <a:spAutoFit/>
          </a:bodyPr>
          <a:lstStyle/>
          <a:p>
            <a:pPr algn="r"/>
            <a:r>
              <a:rPr sz="900" b="1">
                <a:solidFill>
                  <a:srgbClr val="2E7D32"/>
                </a:solidFill>
                <a:latin typeface="Calibri"/>
              </a:rPr>
              <a:t>+206</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407620"/>
          </a:xfrm>
          <a:prstGeom prst="rect">
            <a:avLst/>
          </a:prstGeom>
          <a:noFill/>
        </p:spPr>
        <p:txBody>
          <a:bodyPr wrap="square" lIns="0" rIns="19050" tIns="9525" bIns="9525">
            <a:spAutoFit/>
          </a:bodyPr>
          <a:lstStyle/>
          <a:p>
            <a:pPr algn="l"/>
            <a:r>
              <a:rPr sz="1300" b="1">
                <a:solidFill>
                  <a:srgbClr val="0B2E4A"/>
                </a:solidFill>
                <a:latin typeface="Calibri"/>
              </a:rPr>
              <a:t>Middle East &amp; Africa Read-out, By Hair Type Targeted</a:t>
            </a:r>
          </a:p>
        </p:txBody>
      </p:sp>
      <p:sp>
        <p:nvSpPr>
          <p:cNvPr id="38" name="Rectangle 37"/>
          <p:cNvSpPr/>
          <p:nvPr/>
        </p:nvSpPr>
        <p:spPr>
          <a:xfrm>
            <a:off x="7829550" y="150299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588720"/>
            <a:ext cx="4076700"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hair type targeted, coily hair segment is expected to witness the highest CAGR of 8.6% over the forecast period. In terms of value share by hair type targeted, the coily hair segment is expected to dominate the market, gaining 206 BPS and accounting for 21.6% share by 2036.</a:t>
            </a:r>
          </a:p>
          <a:p>
            <a:pPr algn="l">
              <a:lnSpc>
                <a:spcPct val="110000"/>
              </a:lnSpc>
              <a:spcBef>
                <a:spcPts val="0"/>
              </a:spcBef>
              <a:spcAft>
                <a:spcPts val="500"/>
              </a:spcAft>
            </a:pPr>
            <a:r>
              <a:rPr sz="1150" b="0">
                <a:solidFill>
                  <a:srgbClr val="2E2E2E"/>
                </a:solidFill>
                <a:latin typeface="Calibri"/>
              </a:rPr>
              <a:t>The straight hair segment is expected to lose 196 BPS over the forecast period to account for 18.5%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Hair Type Targeted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Hair Type Targeted,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Growth,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Heatmap, By Hair Type Targeted (%)  ·  light = lower, dark = higher growth</a:t>
            </a:r>
          </a:p>
        </p:txBody>
      </p:sp>
      <p:sp>
        <p:nvSpPr>
          <p:cNvPr id="17" name="TextBox 16"/>
          <p:cNvSpPr txBox="1"/>
          <p:nvPr/>
        </p:nvSpPr>
        <p:spPr>
          <a:xfrm>
            <a:off x="917783"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62431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33084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03737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74390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45043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15696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86348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57001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27654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798307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68960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39613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0266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0919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Straight Hair</a:t>
            </a:r>
          </a:p>
        </p:txBody>
      </p:sp>
      <p:sp>
        <p:nvSpPr>
          <p:cNvPr id="33" name="Rectangle 32"/>
          <p:cNvSpPr/>
          <p:nvPr/>
        </p:nvSpPr>
        <p:spPr>
          <a:xfrm>
            <a:off x="917783" y="3305175"/>
            <a:ext cx="706529" cy="65341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624312" y="3305175"/>
            <a:ext cx="706529" cy="65341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330842" y="3305175"/>
            <a:ext cx="706529" cy="653415"/>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037371" y="3305175"/>
            <a:ext cx="706529" cy="65341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743901" y="3305175"/>
            <a:ext cx="706529" cy="653415"/>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450430" y="3305175"/>
            <a:ext cx="706529" cy="65341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156960" y="3305175"/>
            <a:ext cx="706529" cy="653415"/>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863489" y="3305175"/>
            <a:ext cx="706529" cy="653415"/>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570019" y="3305175"/>
            <a:ext cx="706529" cy="653415"/>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276548" y="3305175"/>
            <a:ext cx="706529" cy="653415"/>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983078" y="3305175"/>
            <a:ext cx="706529" cy="653415"/>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689607" y="3305175"/>
            <a:ext cx="706529" cy="653415"/>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396137" y="3305175"/>
            <a:ext cx="706529" cy="65341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02666" y="3305175"/>
            <a:ext cx="706529" cy="653415"/>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09196" y="3305175"/>
            <a:ext cx="706529" cy="653415"/>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Wavy Hair</a:t>
            </a:r>
          </a:p>
        </p:txBody>
      </p:sp>
      <p:sp>
        <p:nvSpPr>
          <p:cNvPr id="49" name="Rectangle 48"/>
          <p:cNvSpPr/>
          <p:nvPr/>
        </p:nvSpPr>
        <p:spPr>
          <a:xfrm>
            <a:off x="917783" y="3958590"/>
            <a:ext cx="706529" cy="653415"/>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624312" y="3958590"/>
            <a:ext cx="706529" cy="653415"/>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330842" y="3958590"/>
            <a:ext cx="706529" cy="65341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037371" y="3958590"/>
            <a:ext cx="706529" cy="653415"/>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743901" y="3958590"/>
            <a:ext cx="706529" cy="653415"/>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450430" y="3958590"/>
            <a:ext cx="706529" cy="653415"/>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156960" y="3958590"/>
            <a:ext cx="706529" cy="653415"/>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863489" y="3958590"/>
            <a:ext cx="706529" cy="65341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570019" y="3958590"/>
            <a:ext cx="706529" cy="653415"/>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276548" y="3958590"/>
            <a:ext cx="706529" cy="653415"/>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7983078" y="3958590"/>
            <a:ext cx="706529" cy="653415"/>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689607" y="3958590"/>
            <a:ext cx="706529" cy="653415"/>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396137" y="3958590"/>
            <a:ext cx="706529" cy="653415"/>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02666" y="3958590"/>
            <a:ext cx="706529" cy="653415"/>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09196" y="3958590"/>
            <a:ext cx="706529" cy="653415"/>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Curly Hair</a:t>
            </a:r>
          </a:p>
        </p:txBody>
      </p:sp>
      <p:sp>
        <p:nvSpPr>
          <p:cNvPr id="65" name="Rectangle 64"/>
          <p:cNvSpPr/>
          <p:nvPr/>
        </p:nvSpPr>
        <p:spPr>
          <a:xfrm>
            <a:off x="917783" y="4612005"/>
            <a:ext cx="706529" cy="65341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624312" y="4612005"/>
            <a:ext cx="706529" cy="65341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330842" y="4612005"/>
            <a:ext cx="706529"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037371" y="4612005"/>
            <a:ext cx="706529" cy="65341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743901" y="4612005"/>
            <a:ext cx="706529" cy="65341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450430" y="4612005"/>
            <a:ext cx="706529" cy="653415"/>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156960" y="4612005"/>
            <a:ext cx="706529" cy="65341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863489" y="4612005"/>
            <a:ext cx="706529" cy="653415"/>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570019" y="4612005"/>
            <a:ext cx="706529" cy="653415"/>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276548" y="4612005"/>
            <a:ext cx="706529" cy="653415"/>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7983078" y="4612005"/>
            <a:ext cx="706529" cy="653415"/>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689607" y="4612005"/>
            <a:ext cx="706529" cy="653415"/>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396137" y="4612005"/>
            <a:ext cx="706529" cy="653415"/>
          </a:xfrm>
          <a:prstGeom prst="rect">
            <a:avLst/>
          </a:prstGeom>
          <a:solidFill>
            <a:srgbClr val="0D5D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02666" y="4612005"/>
            <a:ext cx="706529" cy="653415"/>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09196" y="4612005"/>
            <a:ext cx="706529" cy="653415"/>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Coily Hair</a:t>
            </a:r>
          </a:p>
        </p:txBody>
      </p:sp>
      <p:sp>
        <p:nvSpPr>
          <p:cNvPr id="81" name="Rectangle 80"/>
          <p:cNvSpPr/>
          <p:nvPr/>
        </p:nvSpPr>
        <p:spPr>
          <a:xfrm>
            <a:off x="917783" y="5265420"/>
            <a:ext cx="706529"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624312" y="5265420"/>
            <a:ext cx="706529"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330842" y="5265420"/>
            <a:ext cx="706529" cy="653415"/>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037371" y="5265420"/>
            <a:ext cx="706529"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743901" y="5265420"/>
            <a:ext cx="706529" cy="653415"/>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450430" y="5265420"/>
            <a:ext cx="706529" cy="653415"/>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156960" y="5265420"/>
            <a:ext cx="706529" cy="653415"/>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5863489" y="5265420"/>
            <a:ext cx="706529" cy="653415"/>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570019" y="5265420"/>
            <a:ext cx="706529" cy="653415"/>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276548" y="5265420"/>
            <a:ext cx="706529" cy="653415"/>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7983078" y="5265420"/>
            <a:ext cx="706529"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689607" y="5265420"/>
            <a:ext cx="706529" cy="653415"/>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396137" y="5265420"/>
            <a:ext cx="706529" cy="653415"/>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02666" y="5265420"/>
            <a:ext cx="706529" cy="653415"/>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09196" y="5265420"/>
            <a:ext cx="706529" cy="653415"/>
          </a:xfrm>
          <a:prstGeom prst="rect">
            <a:avLst/>
          </a:prstGeom>
          <a:solidFill>
            <a:srgbClr val="0D5D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All Hair Types</a:t>
            </a:r>
          </a:p>
        </p:txBody>
      </p:sp>
      <p:sp>
        <p:nvSpPr>
          <p:cNvPr id="97" name="Rectangle 96"/>
          <p:cNvSpPr/>
          <p:nvPr/>
        </p:nvSpPr>
        <p:spPr>
          <a:xfrm>
            <a:off x="917783" y="5918835"/>
            <a:ext cx="706529" cy="65341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624312" y="5918835"/>
            <a:ext cx="706529" cy="653415"/>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330842" y="5918835"/>
            <a:ext cx="706529"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037371" y="5918835"/>
            <a:ext cx="706529" cy="65341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743901" y="5918835"/>
            <a:ext cx="706529" cy="65341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450430" y="5918835"/>
            <a:ext cx="706529" cy="653415"/>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156960" y="5918835"/>
            <a:ext cx="706529" cy="653415"/>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5863489" y="5918835"/>
            <a:ext cx="706529" cy="65341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570019" y="5918835"/>
            <a:ext cx="706529" cy="653415"/>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276548" y="5918835"/>
            <a:ext cx="706529" cy="653415"/>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7983078" y="5918835"/>
            <a:ext cx="706529" cy="653415"/>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689607" y="5918835"/>
            <a:ext cx="706529" cy="653415"/>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396137" y="5918835"/>
            <a:ext cx="706529" cy="653415"/>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02666" y="5918835"/>
            <a:ext cx="706529" cy="65341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09196" y="5918835"/>
            <a:ext cx="706529" cy="65341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25.7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Ingredient 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Ingredient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Ingredient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Ingredient Technology segment categorizes the market by ingredient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Film-forming and Fixative Polymers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266.4</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508.7</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6.7%</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Volume Additives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258.1</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552.2</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7.9%</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Conditioning and Smoothing Agents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255.9</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507.6</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7.1%</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and Structuring Agents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245.2</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553.5</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8.5%</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ingredient technology, waxes and structuring agents segment is expected to witness the highest CAGR of 8.5% over the forecast period. In terms of value share by ingredient technology, the waxes and structuring agents segment is expected to dominate the market, gaining 218 BPS and accounting for 26.1% share by 2036.</a:t>
            </a:r>
          </a:p>
          <a:p>
            <a:pPr algn="l">
              <a:lnSpc>
                <a:spcPct val="110000"/>
              </a:lnSpc>
              <a:spcBef>
                <a:spcPts val="0"/>
              </a:spcBef>
              <a:spcAft>
                <a:spcPts val="500"/>
              </a:spcAft>
            </a:pPr>
            <a:r>
              <a:rPr sz="1100" b="0">
                <a:solidFill>
                  <a:srgbClr val="2E2E2E"/>
                </a:solidFill>
                <a:latin typeface="Calibri"/>
              </a:rPr>
              <a:t>Waxes and structuring agents segment is projected to register 1.0X higher value than texture and volume additives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Film-forming and Fixative Polymers: </a:t>
            </a:r>
            <a:r>
              <a:rPr sz="1100" b="0">
                <a:solidFill>
                  <a:srgbClr val="2E2E2E"/>
                </a:solidFill>
                <a:latin typeface="Calibri"/>
              </a:rPr>
              <a:t>26% of 2026 value · 6.7%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Texture and Volume Additives: </a:t>
            </a:r>
            <a:r>
              <a:rPr sz="1100" b="0">
                <a:solidFill>
                  <a:srgbClr val="2E2E2E"/>
                </a:solidFill>
                <a:latin typeface="Calibri"/>
              </a:rPr>
              <a:t>25% of 2026 value · 7.9%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Conditioning and Smoothing Agents: </a:t>
            </a:r>
            <a:r>
              <a:rPr sz="1100" b="0">
                <a:solidFill>
                  <a:srgbClr val="2E2E2E"/>
                </a:solidFill>
                <a:latin typeface="Calibri"/>
              </a:rPr>
              <a:t>25% of 2026 value · 7.1%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Waxes and Structuring Agents: </a:t>
            </a:r>
            <a:r>
              <a:rPr sz="1100" b="0">
                <a:solidFill>
                  <a:srgbClr val="2E2E2E"/>
                </a:solidFill>
                <a:latin typeface="Calibri"/>
              </a:rPr>
              <a:t>24% of 2026 value · 8.5%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Ingredient Technology split shows how demand is distributed across ingredient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Ingredient Technology segment is projected to grow at a CAGR of 7.5%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Structure &amp; Attractiveness, By Ingredient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Ingredient Technology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Ingredient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Waxes and structuring agents followed by texture and volume additives are expected to be the two most attractive ingredient technology segments in the Middle East &amp; Africa hair styling products market in terms of value over the forecast period. Waxes and structuring agents and texture and volume additives exhibit a CAGR index of 112.5 and 104.8 and a market share index of 95.6 and 100.7 respectively, against the segment average of 100. The film-forming and fixative polymers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Ingredient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Film-forming and Fixative Polymers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Texture and Volume Additives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Conditioning and Smoothing Agents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Waxes and Structuring Agents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Ingredient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Ingredient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Ingredient Technology (US$ Mn)</a:t>
            </a:r>
          </a:p>
        </p:txBody>
      </p:sp>
      <p:graphicFrame>
        <p:nvGraphicFramePr>
          <p:cNvPr id="13" name="Table 12"/>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29200"/>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114925"/>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Analysis, By Ingredient Technology</a:t>
            </a:r>
          </a:p>
        </p:txBody>
      </p:sp>
      <p:sp>
        <p:nvSpPr>
          <p:cNvPr id="17" name="Rectangle 16"/>
          <p:cNvSpPr/>
          <p:nvPr/>
        </p:nvSpPr>
        <p:spPr>
          <a:xfrm>
            <a:off x="276225" y="5353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438775"/>
            <a:ext cx="11639550"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Waxes and structuring agents segment is projected to register 1.0X higher value than texture and volume additives segment in 2036. Among hair styling products by ingredient technology, waxes and structuring agents segment is expected to witness the highest CAGR of 8.5% over the forecast period.</a:t>
            </a:r>
          </a:p>
          <a:p>
            <a:pPr algn="l">
              <a:lnSpc>
                <a:spcPct val="110000"/>
              </a:lnSpc>
              <a:spcBef>
                <a:spcPts val="0"/>
              </a:spcBef>
              <a:spcAft>
                <a:spcPts val="500"/>
              </a:spcAft>
            </a:pPr>
            <a:r>
              <a:rPr sz="1150" b="0">
                <a:solidFill>
                  <a:srgbClr val="2E2E2E"/>
                </a:solidFill>
                <a:latin typeface="Calibri"/>
              </a:rPr>
              <a:t>In terms of value share by ingredient technology, the waxes and structuring agents segment is expected to dominate the market, gaining 218 BPS and accounting for 26.1% share by 2036. The film-forming and fixative polymers segment is expected to lose 200 BPS over the forecast period to account for 24.0%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&amp; Share Shift,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Ingredient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Composition, By Ingredient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218130"/>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21336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13716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Conditioning and Smoothing Agents</a:t>
            </a:r>
          </a:p>
        </p:txBody>
      </p:sp>
      <p:sp>
        <p:nvSpPr>
          <p:cNvPr id="19" name="BPS Value 1"/>
          <p:cNvSpPr txBox="1"/>
          <p:nvPr/>
        </p:nvSpPr>
        <p:spPr>
          <a:xfrm>
            <a:off x="6896100" y="2199080"/>
            <a:ext cx="514350" cy="123825"/>
          </a:xfrm>
          <a:prstGeom prst="rect">
            <a:avLst/>
          </a:prstGeom>
          <a:noFill/>
        </p:spPr>
        <p:txBody>
          <a:bodyPr wrap="none" lIns="0" rIns="0" tIns="0" bIns="0" anchor="ctr">
            <a:spAutoFit/>
          </a:bodyPr>
          <a:lstStyle/>
          <a:p>
            <a:pPr algn="r"/>
            <a:r>
              <a:rPr sz="900" b="1">
                <a:solidFill>
                  <a:srgbClr val="E44D3A"/>
                </a:solidFill>
                <a:latin typeface="Calibri"/>
              </a:rPr>
              <a:t>-103</a:t>
            </a:r>
          </a:p>
        </p:txBody>
      </p:sp>
      <p:sp>
        <p:nvSpPr>
          <p:cNvPr id="20" name="FMI Legend Chip"/>
          <p:cNvSpPr/>
          <p:nvPr/>
        </p:nvSpPr>
        <p:spPr>
          <a:xfrm>
            <a:off x="4928997" y="331305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30829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23209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Film-forming and Fixative Polymers</a:t>
            </a:r>
          </a:p>
        </p:txBody>
      </p:sp>
      <p:sp>
        <p:nvSpPr>
          <p:cNvPr id="23" name="BPS Value 2"/>
          <p:cNvSpPr txBox="1"/>
          <p:nvPr/>
        </p:nvSpPr>
        <p:spPr>
          <a:xfrm>
            <a:off x="6896100" y="3294006"/>
            <a:ext cx="514350" cy="123825"/>
          </a:xfrm>
          <a:prstGeom prst="rect">
            <a:avLst/>
          </a:prstGeom>
          <a:noFill/>
        </p:spPr>
        <p:txBody>
          <a:bodyPr wrap="none" lIns="0" rIns="0" tIns="0" bIns="0" anchor="ctr">
            <a:spAutoFit/>
          </a:bodyPr>
          <a:lstStyle/>
          <a:p>
            <a:pPr algn="r"/>
            <a:r>
              <a:rPr sz="900" b="1">
                <a:solidFill>
                  <a:srgbClr val="E44D3A"/>
                </a:solidFill>
                <a:latin typeface="Calibri"/>
              </a:rPr>
              <a:t>-200</a:t>
            </a:r>
          </a:p>
        </p:txBody>
      </p:sp>
      <p:sp>
        <p:nvSpPr>
          <p:cNvPr id="24" name="FMI Legend Chip"/>
          <p:cNvSpPr/>
          <p:nvPr/>
        </p:nvSpPr>
        <p:spPr>
          <a:xfrm>
            <a:off x="4928997" y="445606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45130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37510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Volume Additives</a:t>
            </a:r>
          </a:p>
        </p:txBody>
      </p:sp>
      <p:sp>
        <p:nvSpPr>
          <p:cNvPr id="27" name="BPS Value 3"/>
          <p:cNvSpPr txBox="1"/>
          <p:nvPr/>
        </p:nvSpPr>
        <p:spPr>
          <a:xfrm>
            <a:off x="6896100" y="4437015"/>
            <a:ext cx="514350" cy="123825"/>
          </a:xfrm>
          <a:prstGeom prst="rect">
            <a:avLst/>
          </a:prstGeom>
          <a:noFill/>
        </p:spPr>
        <p:txBody>
          <a:bodyPr wrap="none" lIns="0" rIns="0" tIns="0" bIns="0" anchor="ctr">
            <a:spAutoFit/>
          </a:bodyPr>
          <a:lstStyle/>
          <a:p>
            <a:pPr algn="r"/>
            <a:r>
              <a:rPr sz="900" b="1">
                <a:solidFill>
                  <a:srgbClr val="2E7D32"/>
                </a:solidFill>
                <a:latin typeface="Calibri"/>
              </a:rPr>
              <a:t>+86</a:t>
            </a:r>
          </a:p>
        </p:txBody>
      </p:sp>
      <p:sp>
        <p:nvSpPr>
          <p:cNvPr id="28" name="FMI Legend Chip"/>
          <p:cNvSpPr/>
          <p:nvPr/>
        </p:nvSpPr>
        <p:spPr>
          <a:xfrm>
            <a:off x="4928997" y="564732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64256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56636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and Structuring Agents</a:t>
            </a:r>
          </a:p>
        </p:txBody>
      </p:sp>
      <p:sp>
        <p:nvSpPr>
          <p:cNvPr id="31" name="BPS Value 4"/>
          <p:cNvSpPr txBox="1"/>
          <p:nvPr/>
        </p:nvSpPr>
        <p:spPr>
          <a:xfrm>
            <a:off x="6896100" y="5628279"/>
            <a:ext cx="514350" cy="123825"/>
          </a:xfrm>
          <a:prstGeom prst="rect">
            <a:avLst/>
          </a:prstGeom>
          <a:noFill/>
        </p:spPr>
        <p:txBody>
          <a:bodyPr wrap="none" lIns="0" rIns="0" tIns="0" bIns="0" anchor="ctr">
            <a:spAutoFit/>
          </a:bodyPr>
          <a:lstStyle/>
          <a:p>
            <a:pPr algn="r"/>
            <a:r>
              <a:rPr sz="900" b="1">
                <a:solidFill>
                  <a:srgbClr val="2E7D32"/>
                </a:solidFill>
                <a:latin typeface="Calibri"/>
              </a:rPr>
              <a:t>+218</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407620"/>
          </a:xfrm>
          <a:prstGeom prst="rect">
            <a:avLst/>
          </a:prstGeom>
          <a:noFill/>
        </p:spPr>
        <p:txBody>
          <a:bodyPr wrap="square" lIns="0" rIns="19050" tIns="9525" bIns="9525">
            <a:spAutoFit/>
          </a:bodyPr>
          <a:lstStyle/>
          <a:p>
            <a:pPr algn="l"/>
            <a:r>
              <a:rPr sz="1300" b="1">
                <a:solidFill>
                  <a:srgbClr val="0B2E4A"/>
                </a:solidFill>
                <a:latin typeface="Calibri"/>
              </a:rPr>
              <a:t>Middle East &amp; Africa Read-out, By Ingredient Technology</a:t>
            </a:r>
          </a:p>
        </p:txBody>
      </p:sp>
      <p:sp>
        <p:nvSpPr>
          <p:cNvPr id="34" name="Rectangle 33"/>
          <p:cNvSpPr/>
          <p:nvPr/>
        </p:nvSpPr>
        <p:spPr>
          <a:xfrm>
            <a:off x="7829550" y="150299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588720"/>
            <a:ext cx="4076700"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ingredient technology, waxes and structuring agents segment is expected to witness the highest CAGR of 8.5% over the forecast period. In terms of value share by ingredient technology, the waxes and structuring agents segment is expected to dominate the market, gaining 218 BPS and accounting for 26.1% share by 2036.</a:t>
            </a:r>
          </a:p>
          <a:p>
            <a:pPr algn="l">
              <a:lnSpc>
                <a:spcPct val="110000"/>
              </a:lnSpc>
              <a:spcBef>
                <a:spcPts val="0"/>
              </a:spcBef>
              <a:spcAft>
                <a:spcPts val="500"/>
              </a:spcAft>
            </a:pPr>
            <a:r>
              <a:rPr sz="1150" b="0">
                <a:solidFill>
                  <a:srgbClr val="2E2E2E"/>
                </a:solidFill>
                <a:latin typeface="Calibri"/>
              </a:rPr>
              <a:t>The film-forming and fixative polymers segment is expected to lose 200 BPS over the forecast period to account for 24.0% share by 2036.</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Ingredient Technology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3695700"/>
          </a:xfrm>
          <a:prstGeom prst="roundRect">
            <a:avLst>
              <a:gd name="adj" fmla="val 20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Growth,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3228975"/>
        </p:xfrm>
        <a:graphic>
          <a:graphicData uri="http://schemas.openxmlformats.org/drawingml/2006/table">
            <a:tbl>
              <a:tblPr>
                <a:tableStyleId>{5C22544A-7EE6-4342-B048-85BDC9FD1C3A}</a:tableStyleId>
              </a:tblPr>
              <a:tblGrid>
                <a:gridCol w="2822562"/>
                <a:gridCol w="599110"/>
                <a:gridCol w="599110"/>
                <a:gridCol w="599110"/>
                <a:gridCol w="599110"/>
                <a:gridCol w="599110"/>
                <a:gridCol w="599110"/>
                <a:gridCol w="599110"/>
                <a:gridCol w="599110"/>
                <a:gridCol w="599110"/>
                <a:gridCol w="599110"/>
                <a:gridCol w="677101"/>
                <a:gridCol w="599110"/>
                <a:gridCol w="599110"/>
                <a:gridCol w="599110"/>
                <a:gridCol w="599110"/>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76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Ingredient Technology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Heatmap, By Ingredient Technology (%)  ·  light = lower, dark = higher growth</a:t>
            </a:r>
          </a:p>
        </p:txBody>
      </p:sp>
      <p:sp>
        <p:nvSpPr>
          <p:cNvPr id="12" name="TextBox 11"/>
          <p:cNvSpPr txBox="1"/>
          <p:nvPr/>
        </p:nvSpPr>
        <p:spPr>
          <a:xfrm>
            <a:off x="2178532"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80101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42349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404597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66845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29093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91340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53588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15836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78084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40332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902580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64828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7076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93245"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Film-forming and Fixative Polymers</a:t>
            </a:r>
          </a:p>
        </p:txBody>
      </p:sp>
      <p:sp>
        <p:nvSpPr>
          <p:cNvPr id="28" name="Rectangle 27"/>
          <p:cNvSpPr/>
          <p:nvPr/>
        </p:nvSpPr>
        <p:spPr>
          <a:xfrm>
            <a:off x="2178532" y="1409700"/>
            <a:ext cx="622480" cy="368754"/>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801011" y="1409700"/>
            <a:ext cx="622480" cy="368754"/>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423491" y="1409700"/>
            <a:ext cx="622480" cy="36875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4045971" y="1409700"/>
            <a:ext cx="622480" cy="36875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668450" y="1409700"/>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290930" y="1409700"/>
            <a:ext cx="622480" cy="36875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409" y="1409700"/>
            <a:ext cx="622480" cy="36875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535889" y="1409700"/>
            <a:ext cx="622480" cy="36875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158368" y="1409700"/>
            <a:ext cx="622480" cy="368754"/>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780848" y="1409700"/>
            <a:ext cx="622480" cy="36875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403327" y="1409700"/>
            <a:ext cx="622480" cy="36875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9025807" y="1409700"/>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648286" y="1409700"/>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70766" y="1409700"/>
            <a:ext cx="622480" cy="368754"/>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93245" y="1409700"/>
            <a:ext cx="622480" cy="368754"/>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7845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Polymers</a:t>
            </a:r>
          </a:p>
        </p:txBody>
      </p:sp>
      <p:sp>
        <p:nvSpPr>
          <p:cNvPr id="44" name="Rectangle 43"/>
          <p:cNvSpPr/>
          <p:nvPr/>
        </p:nvSpPr>
        <p:spPr>
          <a:xfrm>
            <a:off x="2178532" y="1778454"/>
            <a:ext cx="622480" cy="36875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801011" y="1778454"/>
            <a:ext cx="622480" cy="36875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423491" y="1778454"/>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4045971" y="1778454"/>
            <a:ext cx="622480" cy="36875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668450" y="1778454"/>
            <a:ext cx="622480"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290930" y="1778454"/>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913409" y="1778454"/>
            <a:ext cx="622480" cy="36875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535889" y="1778454"/>
            <a:ext cx="622480" cy="36875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158368" y="1778454"/>
            <a:ext cx="622480" cy="36875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780848" y="1778454"/>
            <a:ext cx="622480" cy="36875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403327" y="1778454"/>
            <a:ext cx="622480" cy="368754"/>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9025807" y="1778454"/>
            <a:ext cx="622480"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648286" y="1778454"/>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70766" y="1778454"/>
            <a:ext cx="622480" cy="36875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93245" y="1778454"/>
            <a:ext cx="622480" cy="36875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147207"/>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Bio-based Polymers</a:t>
            </a:r>
          </a:p>
        </p:txBody>
      </p:sp>
      <p:sp>
        <p:nvSpPr>
          <p:cNvPr id="60" name="Rectangle 59"/>
          <p:cNvSpPr/>
          <p:nvPr/>
        </p:nvSpPr>
        <p:spPr>
          <a:xfrm>
            <a:off x="2178532" y="2147207"/>
            <a:ext cx="622480" cy="368754"/>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801011" y="2147207"/>
            <a:ext cx="622480" cy="36875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423491" y="2147207"/>
            <a:ext cx="622480" cy="36875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4045971" y="2147207"/>
            <a:ext cx="622480" cy="36875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668450" y="2147207"/>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290930" y="2147207"/>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913409" y="2147207"/>
            <a:ext cx="622480" cy="36875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535889" y="2147207"/>
            <a:ext cx="622480" cy="36875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158368" y="2147207"/>
            <a:ext cx="622480" cy="36875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780848" y="2147207"/>
            <a:ext cx="622480" cy="36875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403327" y="2147207"/>
            <a:ext cx="622480" cy="36875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9025807" y="2147207"/>
            <a:ext cx="622480" cy="368754"/>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48286" y="2147207"/>
            <a:ext cx="622480" cy="36875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70766" y="2147207"/>
            <a:ext cx="622480" cy="36875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93245" y="2147207"/>
            <a:ext cx="622480" cy="36875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51596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Biodegradable Polymers</a:t>
            </a:r>
          </a:p>
        </p:txBody>
      </p:sp>
      <p:sp>
        <p:nvSpPr>
          <p:cNvPr id="76" name="Rectangle 75"/>
          <p:cNvSpPr/>
          <p:nvPr/>
        </p:nvSpPr>
        <p:spPr>
          <a:xfrm>
            <a:off x="2178532" y="2515961"/>
            <a:ext cx="622480" cy="368754"/>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801011" y="2515961"/>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423491" y="2515961"/>
            <a:ext cx="622480" cy="36875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4045971" y="2515961"/>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668450" y="2515961"/>
            <a:ext cx="622480" cy="36875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290930" y="2515961"/>
            <a:ext cx="622480" cy="368754"/>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913409" y="2515961"/>
            <a:ext cx="622480" cy="368754"/>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535889" y="2515961"/>
            <a:ext cx="622480" cy="368754"/>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158368" y="2515961"/>
            <a:ext cx="622480" cy="368754"/>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780848" y="2515961"/>
            <a:ext cx="622480" cy="36875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403327" y="2515961"/>
            <a:ext cx="622480" cy="36875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9025807" y="2515961"/>
            <a:ext cx="622480" cy="368754"/>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648286" y="2515961"/>
            <a:ext cx="622480" cy="368754"/>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70766" y="2515961"/>
            <a:ext cx="622480" cy="368754"/>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93245" y="2515961"/>
            <a:ext cx="622480" cy="368754"/>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88471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Texture and Volume Additives</a:t>
            </a:r>
          </a:p>
        </p:txBody>
      </p:sp>
      <p:sp>
        <p:nvSpPr>
          <p:cNvPr id="92" name="Rectangle 91"/>
          <p:cNvSpPr/>
          <p:nvPr/>
        </p:nvSpPr>
        <p:spPr>
          <a:xfrm>
            <a:off x="2178532" y="2884714"/>
            <a:ext cx="622480" cy="368754"/>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801011" y="2884714"/>
            <a:ext cx="622480" cy="36875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423491" y="2884714"/>
            <a:ext cx="622480" cy="36875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4045971" y="2884714"/>
            <a:ext cx="622480" cy="36875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668450" y="2884714"/>
            <a:ext cx="622480" cy="36875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290930" y="2884714"/>
            <a:ext cx="622480" cy="36875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913409" y="2884714"/>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535889" y="2884714"/>
            <a:ext cx="622480" cy="368754"/>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158368" y="2884714"/>
            <a:ext cx="622480" cy="368754"/>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780848" y="2884714"/>
            <a:ext cx="622480" cy="368754"/>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403327" y="2884714"/>
            <a:ext cx="622480" cy="368754"/>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9025807" y="2884714"/>
            <a:ext cx="622480" cy="368754"/>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648286" y="2884714"/>
            <a:ext cx="622480" cy="368754"/>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70766" y="2884714"/>
            <a:ext cx="622480" cy="368754"/>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93245" y="2884714"/>
            <a:ext cx="622480" cy="36875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253468"/>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Silica-based Additives</a:t>
            </a:r>
          </a:p>
        </p:txBody>
      </p:sp>
      <p:sp>
        <p:nvSpPr>
          <p:cNvPr id="108" name="Rectangle 107"/>
          <p:cNvSpPr/>
          <p:nvPr/>
        </p:nvSpPr>
        <p:spPr>
          <a:xfrm>
            <a:off x="2178532" y="3253468"/>
            <a:ext cx="622480" cy="36875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801011" y="3253468"/>
            <a:ext cx="622480" cy="36875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423491" y="3253468"/>
            <a:ext cx="622480" cy="368754"/>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4045971" y="3253468"/>
            <a:ext cx="622480" cy="36875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668450" y="3253468"/>
            <a:ext cx="622480" cy="36875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290930" y="3253468"/>
            <a:ext cx="622480" cy="36875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913409" y="3253468"/>
            <a:ext cx="622480" cy="36875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535889" y="3253468"/>
            <a:ext cx="622480" cy="36875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158368" y="3253468"/>
            <a:ext cx="622480" cy="368754"/>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780848" y="3253468"/>
            <a:ext cx="622480" cy="368754"/>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403327" y="3253468"/>
            <a:ext cx="622480" cy="368754"/>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9025807" y="3253468"/>
            <a:ext cx="622480" cy="36875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648286" y="3253468"/>
            <a:ext cx="622480" cy="368754"/>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70766" y="3253468"/>
            <a:ext cx="622480" cy="368754"/>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93245" y="3253468"/>
            <a:ext cx="622480" cy="368754"/>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62222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Starch-based Additives</a:t>
            </a:r>
          </a:p>
        </p:txBody>
      </p:sp>
      <p:sp>
        <p:nvSpPr>
          <p:cNvPr id="124" name="Rectangle 123"/>
          <p:cNvSpPr/>
          <p:nvPr/>
        </p:nvSpPr>
        <p:spPr>
          <a:xfrm>
            <a:off x="2178532" y="3622221"/>
            <a:ext cx="622480" cy="36875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801011" y="3622221"/>
            <a:ext cx="622480"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423491" y="3622221"/>
            <a:ext cx="622480" cy="368754"/>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4045971" y="3622221"/>
            <a:ext cx="622480" cy="36875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668450" y="3622221"/>
            <a:ext cx="622480" cy="36875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290930" y="3622221"/>
            <a:ext cx="622480" cy="36875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913409" y="3622221"/>
            <a:ext cx="622480" cy="368754"/>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535889" y="3622221"/>
            <a:ext cx="622480" cy="368754"/>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158368" y="3622221"/>
            <a:ext cx="622480" cy="368754"/>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780848" y="3622221"/>
            <a:ext cx="622480" cy="36875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403327" y="3622221"/>
            <a:ext cx="622480" cy="368754"/>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9025807" y="3622221"/>
            <a:ext cx="622480" cy="368754"/>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648286" y="3622221"/>
            <a:ext cx="622480" cy="368754"/>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70766" y="3622221"/>
            <a:ext cx="622480" cy="368754"/>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93245" y="3622221"/>
            <a:ext cx="622480" cy="368754"/>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990975"/>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Other Mineral and Plant-based Additives</a:t>
            </a:r>
          </a:p>
        </p:txBody>
      </p:sp>
      <p:sp>
        <p:nvSpPr>
          <p:cNvPr id="140" name="Rectangle 139"/>
          <p:cNvSpPr/>
          <p:nvPr/>
        </p:nvSpPr>
        <p:spPr>
          <a:xfrm>
            <a:off x="2178532" y="3990975"/>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801011" y="3990975"/>
            <a:ext cx="622480" cy="36875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423491" y="3990975"/>
            <a:ext cx="622480" cy="368754"/>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4045971" y="3990975"/>
            <a:ext cx="622480" cy="368754"/>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668450" y="3990975"/>
            <a:ext cx="622480" cy="36875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290930" y="3990975"/>
            <a:ext cx="622480" cy="368754"/>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913409" y="3990975"/>
            <a:ext cx="622480" cy="368754"/>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535889" y="3990975"/>
            <a:ext cx="622480" cy="368754"/>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158368" y="3990975"/>
            <a:ext cx="622480" cy="368754"/>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780848" y="3990975"/>
            <a:ext cx="622480" cy="368754"/>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403327" y="3990975"/>
            <a:ext cx="622480" cy="368754"/>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9025807" y="3990975"/>
            <a:ext cx="622480" cy="368754"/>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648286" y="3990975"/>
            <a:ext cx="622480" cy="368754"/>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70766" y="3990975"/>
            <a:ext cx="622480" cy="368754"/>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93245" y="3990975"/>
            <a:ext cx="622480" cy="368754"/>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35972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Conditioning and Smoothing Agents</a:t>
            </a:r>
          </a:p>
        </p:txBody>
      </p:sp>
      <p:sp>
        <p:nvSpPr>
          <p:cNvPr id="156" name="Rectangle 155"/>
          <p:cNvSpPr/>
          <p:nvPr/>
        </p:nvSpPr>
        <p:spPr>
          <a:xfrm>
            <a:off x="2178532" y="4359729"/>
            <a:ext cx="622480"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801011" y="4359729"/>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423491" y="4359729"/>
            <a:ext cx="622480" cy="36875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4045971" y="4359729"/>
            <a:ext cx="622480" cy="368754"/>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668450" y="4359729"/>
            <a:ext cx="622480" cy="36875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90930" y="4359729"/>
            <a:ext cx="622480"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913409" y="4359729"/>
            <a:ext cx="622480" cy="368754"/>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535889" y="4359729"/>
            <a:ext cx="622480" cy="368754"/>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158368" y="4359729"/>
            <a:ext cx="622480" cy="368754"/>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780848" y="4359729"/>
            <a:ext cx="622480" cy="368754"/>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403327" y="4359729"/>
            <a:ext cx="622480" cy="368754"/>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9025807" y="4359729"/>
            <a:ext cx="622480" cy="368754"/>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648286" y="4359729"/>
            <a:ext cx="622480" cy="368754"/>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70766" y="4359729"/>
            <a:ext cx="622480" cy="368754"/>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93245" y="4359729"/>
            <a:ext cx="622480" cy="368754"/>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728482"/>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Silicone-based</a:t>
            </a:r>
          </a:p>
        </p:txBody>
      </p:sp>
      <p:sp>
        <p:nvSpPr>
          <p:cNvPr id="172" name="Rectangle 171"/>
          <p:cNvSpPr/>
          <p:nvPr/>
        </p:nvSpPr>
        <p:spPr>
          <a:xfrm>
            <a:off x="2178532" y="4728482"/>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801011" y="4728482"/>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423491" y="4728482"/>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4045971" y="4728482"/>
            <a:ext cx="622480" cy="36875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668450" y="4728482"/>
            <a:ext cx="622480" cy="36875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290930" y="4728482"/>
            <a:ext cx="622480" cy="36875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913409" y="4728482"/>
            <a:ext cx="622480"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535889" y="4728482"/>
            <a:ext cx="622480" cy="368754"/>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158368" y="4728482"/>
            <a:ext cx="622480" cy="36875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780848" y="4728482"/>
            <a:ext cx="622480" cy="368754"/>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403327" y="4728482"/>
            <a:ext cx="622480" cy="36875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9025807" y="4728482"/>
            <a:ext cx="622480" cy="36875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648286" y="4728482"/>
            <a:ext cx="622480" cy="368754"/>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70766" y="4728482"/>
            <a:ext cx="622480" cy="36875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93245" y="4728482"/>
            <a:ext cx="622480" cy="368754"/>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09723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Silicone-free</a:t>
            </a:r>
          </a:p>
        </p:txBody>
      </p:sp>
      <p:sp>
        <p:nvSpPr>
          <p:cNvPr id="188" name="Rectangle 187"/>
          <p:cNvSpPr/>
          <p:nvPr/>
        </p:nvSpPr>
        <p:spPr>
          <a:xfrm>
            <a:off x="2178532" y="5097236"/>
            <a:ext cx="622480" cy="36875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801011" y="5097236"/>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423491" y="5097236"/>
            <a:ext cx="622480"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4045971" y="5097236"/>
            <a:ext cx="622480" cy="36875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668450" y="5097236"/>
            <a:ext cx="622480" cy="36875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290930" y="5097236"/>
            <a:ext cx="622480" cy="368754"/>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913409" y="5097236"/>
            <a:ext cx="622480" cy="36875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535889" y="5097236"/>
            <a:ext cx="622480" cy="368754"/>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158368" y="5097236"/>
            <a:ext cx="622480" cy="368754"/>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780848" y="5097236"/>
            <a:ext cx="622480" cy="368754"/>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403327" y="5097236"/>
            <a:ext cx="622480" cy="368754"/>
          </a:xfrm>
          <a:prstGeom prst="rect">
            <a:avLst/>
          </a:prstGeom>
          <a:solidFill>
            <a:srgbClr val="65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9025807" y="5097236"/>
            <a:ext cx="622480" cy="368754"/>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648286" y="5097236"/>
            <a:ext cx="622480" cy="368754"/>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70766" y="5097236"/>
            <a:ext cx="622480" cy="368754"/>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93245" y="5097236"/>
            <a:ext cx="622480" cy="368754"/>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46598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Waxes and Structuring Agents</a:t>
            </a:r>
          </a:p>
        </p:txBody>
      </p:sp>
      <p:sp>
        <p:nvSpPr>
          <p:cNvPr id="204" name="Rectangle 203"/>
          <p:cNvSpPr/>
          <p:nvPr/>
        </p:nvSpPr>
        <p:spPr>
          <a:xfrm>
            <a:off x="2178532" y="5465989"/>
            <a:ext cx="622480" cy="36875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801011" y="5465989"/>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423491" y="5465989"/>
            <a:ext cx="622480" cy="36875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4045971" y="5465989"/>
            <a:ext cx="622480" cy="368754"/>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668450" y="5465989"/>
            <a:ext cx="622480" cy="36875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290930" y="5465989"/>
            <a:ext cx="622480" cy="36875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913409" y="5465989"/>
            <a:ext cx="622480" cy="368754"/>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535889" y="5465989"/>
            <a:ext cx="622480" cy="368754"/>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158368" y="5465989"/>
            <a:ext cx="622480" cy="368754"/>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780848" y="5465989"/>
            <a:ext cx="622480" cy="368754"/>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403327" y="5465989"/>
            <a:ext cx="622480" cy="368754"/>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9025807" y="5465989"/>
            <a:ext cx="622480" cy="368754"/>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648286" y="5465989"/>
            <a:ext cx="622480" cy="368754"/>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70766" y="5465989"/>
            <a:ext cx="622480" cy="368754"/>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93245" y="5465989"/>
            <a:ext cx="622480" cy="368754"/>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834743"/>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Waxes</a:t>
            </a:r>
          </a:p>
        </p:txBody>
      </p:sp>
      <p:sp>
        <p:nvSpPr>
          <p:cNvPr id="220" name="Rectangle 219"/>
          <p:cNvSpPr/>
          <p:nvPr/>
        </p:nvSpPr>
        <p:spPr>
          <a:xfrm>
            <a:off x="2178532" y="5834743"/>
            <a:ext cx="622480" cy="36875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801011" y="5834743"/>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423491" y="5834743"/>
            <a:ext cx="622480" cy="36875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4045971" y="5834743"/>
            <a:ext cx="622480" cy="36875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668450" y="5834743"/>
            <a:ext cx="622480"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290930" y="5834743"/>
            <a:ext cx="622480" cy="36875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913409" y="5834743"/>
            <a:ext cx="622480" cy="368754"/>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535889" y="5834743"/>
            <a:ext cx="622480" cy="368754"/>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158368" y="5834743"/>
            <a:ext cx="622480" cy="36875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780848" y="5834743"/>
            <a:ext cx="622480" cy="368754"/>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403327" y="5834743"/>
            <a:ext cx="622480" cy="368754"/>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9025807" y="5834743"/>
            <a:ext cx="622480" cy="368754"/>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648286" y="5834743"/>
            <a:ext cx="622480" cy="368754"/>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70766" y="5834743"/>
            <a:ext cx="622480" cy="368754"/>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93245" y="5834743"/>
            <a:ext cx="622480" cy="368754"/>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620349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Plant-derived Waxes</a:t>
            </a:r>
          </a:p>
        </p:txBody>
      </p:sp>
      <p:sp>
        <p:nvSpPr>
          <p:cNvPr id="236" name="Rectangle 235"/>
          <p:cNvSpPr/>
          <p:nvPr/>
        </p:nvSpPr>
        <p:spPr>
          <a:xfrm>
            <a:off x="2178532" y="6203496"/>
            <a:ext cx="622480" cy="36875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801011" y="6203496"/>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423491" y="6203496"/>
            <a:ext cx="622480" cy="368754"/>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4045971" y="6203496"/>
            <a:ext cx="622480" cy="36875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668450" y="6203496"/>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290930" y="6203496"/>
            <a:ext cx="622480" cy="368754"/>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913409" y="6203496"/>
            <a:ext cx="622480" cy="368754"/>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535889" y="6203496"/>
            <a:ext cx="622480" cy="36875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158368" y="6203496"/>
            <a:ext cx="622480" cy="368754"/>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780848" y="6203496"/>
            <a:ext cx="622480" cy="368754"/>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403327" y="6203496"/>
            <a:ext cx="622480" cy="36875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9025807" y="6203496"/>
            <a:ext cx="622480" cy="368754"/>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648286" y="6203496"/>
            <a:ext cx="622480" cy="368754"/>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70766" y="6203496"/>
            <a:ext cx="622480" cy="368754"/>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93245" y="6203496"/>
            <a:ext cx="622480" cy="368754"/>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293" name="TextBox 292"/>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94" name="TextBox 293"/>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95" name="TextBox 29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6.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232660"/>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2537460"/>
            <a:ext cx="7239000" cy="514350"/>
          </a:xfrm>
          <a:prstGeom prst="rect">
            <a:avLst/>
          </a:prstGeom>
          <a:noFill/>
        </p:spPr>
        <p:txBody>
          <a:bodyPr wrap="square" lIns="0" rIns="0" tIns="0">
            <a:spAutoFit/>
          </a:bodyPr>
          <a:lstStyle/>
          <a:p>
            <a:r>
              <a:rPr sz="3000" b="1" cap="all" spc="400">
                <a:solidFill>
                  <a:srgbClr val="FFFFFF"/>
                </a:solidFill>
                <a:latin typeface="Calibri"/>
              </a:rPr>
              <a:t>Country Market Outlook</a:t>
            </a:r>
          </a:p>
        </p:txBody>
      </p:sp>
      <p:sp>
        <p:nvSpPr>
          <p:cNvPr id="7" name="TextBox 6"/>
          <p:cNvSpPr txBox="1"/>
          <p:nvPr/>
        </p:nvSpPr>
        <p:spPr>
          <a:xfrm>
            <a:off x="914400" y="3242310"/>
            <a:ext cx="7124700" cy="281178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Overview (Volume &amp; Value)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Segment Overview (Volume &amp; Value)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Hold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Finish</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Primary Styling Benefit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Hair Type Targeted</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Ingredient Technology</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U.S.</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8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Overview (Volume &amp; Value)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Segments (Value)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U.S.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1,546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2,425</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-7 BPS</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U.S.'s hair styling products market expands at 4.3% CAGR through 2036, trailing the North America benchmark of 4.3% by 7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U.S. holds 20.2% of the global and 90.9% of the North America hair styling products market in 2026; by 2036 those shares move to 18.4% and 90.3%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826.2 Mn Units between 2026 and 2036 the U.S.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U.S.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4,373</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8,171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3.8%</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6.0%</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-8 BPS</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U.S.'s hair styling products market expands at 6.0% CAGR through 2036, trailing the North America benchmark of 6.1% by 8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U.S. holds 28.4% of the global and 91.1% of the North America hair styling products market in 2026; by 2036 those shares move to 26.6% and 90.4%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the U.S. is expected to account for US$ 8,171 Mn by 2036 at a CAGR of 6.0% over the forecast period. The U.S. is expected to create an incremental opportunity of US$ 3,799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U.S.'s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4,571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870.1 US$ Mn (19% share), ahead of 'Waxes, Clays, Pastes and Pomades' (755.7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1,014 US$ Mn (22% share), ahead of 'Strong Hold' (955.8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1,560 US$ Mn (34% share), ahead of 'Matte' (1,519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U.S.'s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4,571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'Salon and Professional Distribution' leads at 882.7 US$ Mn (19% share), ahead of 'Mass Retail' (866.7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737.1 US$ Mn (16% share), ahead of 'Curl Definition' (719.6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972.2 US$ Mn (21% share), ahead of 'Coily Hair' (955.8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1,185 US$ Mn (26% share), ahead of 'Texture and Volume Additives' (1,149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9653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308225"/>
            <a:ext cx="8572500" cy="514350"/>
          </a:xfrm>
          <a:prstGeom prst="rect">
            <a:avLst/>
          </a:prstGeom>
          <a:noFill/>
        </p:spPr>
        <p:txBody>
          <a:bodyPr wrap="square" lIns="0" rIns="0" tIns="0">
            <a:spAutoFit/>
          </a:bodyPr>
          <a:lstStyle/>
          <a:p>
            <a:r>
              <a:rPr sz="3000" b="1">
                <a:solidFill>
                  <a:srgbClr val="0B3C8C"/>
                </a:solidFill>
                <a:latin typeface="Calibri"/>
              </a:rPr>
              <a:t>Segment Overview (Volume &amp; Value)</a:t>
            </a:r>
          </a:p>
        </p:txBody>
      </p:sp>
      <p:sp>
        <p:nvSpPr>
          <p:cNvPr id="11" name="TextBox 10"/>
          <p:cNvSpPr txBox="1"/>
          <p:nvPr/>
        </p:nvSpPr>
        <p:spPr>
          <a:xfrm>
            <a:off x="914400" y="2994025"/>
            <a:ext cx="8458200" cy="28511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Hold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Finish</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Primary Styling Benefit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Hair Type Targeted</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Ingredient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27.1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Format</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U.S.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27.2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Hold Level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U.S.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27.3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Finish</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U.S.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27.4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U.S.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27.5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Primary Styling Benefit</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U.S.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27.6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Hair Type Targeted</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U.S.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27.7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Ingredient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U.S.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Canada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7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Canada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154.8</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261.2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3.7%</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5.0%</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+64 BPS</a:t>
            </a:r>
          </a:p>
          <a:p>
            <a:pPr algn="ctr"/>
            <a:r>
              <a:rPr sz="1100" b="0">
                <a:solidFill>
                  <a:srgbClr val="6C7A89"/>
                </a:solidFill>
                <a:latin typeface="Calibri"/>
              </a:rPr>
              <a:t>vs North America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Canada's hair styling products market expands at 5.0% CAGR through 2036, outpacing the North America benchmark of 4.3% by 64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Canada holds 2.0% of the global and 9.1% of the North America hair styling products market in 2026; by 2036 those shares move to 2.0% and 9.7%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100.3 Mn Units between 2026 and 2036 the Canada market grows to 1.6×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Canada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426.8</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868.6</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4.4%</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+76 BPS</a:t>
            </a:r>
          </a:p>
          <a:p>
            <a:pPr algn="ctr"/>
            <a:r>
              <a:rPr sz="1100" b="0">
                <a:solidFill>
                  <a:srgbClr val="6C7A89"/>
                </a:solidFill>
                <a:latin typeface="Calibri"/>
              </a:rPr>
              <a:t>vs North America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Canada's hair styling products market expands at 6.8% CAGR through 2036, outpacing the North America benchmark of 6.1% by 76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Canada holds 2.8% of the global and 8.9% of the North America hair styling products market in 2026; by 2036 those shares move to 2.8% and 9.6%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Canada is expected to account for US$ 868.6 Mn by 2036 at a CAGR of 6.8% over the forecast period. Canada is expected to create an incremental opportunity of US$ 441.8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Canada's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449.0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88.0 US$ Mn (20% share), ahead of 'Waxes, Clays, Pastes and Pomades' (71.5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99.7 US$ Mn (22% share), ahead of 'Strong Hold' (94.0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153.3 US$ Mn (34% share), ahead of 'Matte' (149.3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Canada's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449.0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87.4 US$ Mn (19% share), ahead of 'Online Marketplaces' (86.8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70.5 US$ Mn (16% share), ahead of 'Hold and Shape' (70.3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97.8 US$ Mn (22% share), ahead of 'Straight Hair' (94.4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116.6 US$ Mn (26% share), ahead of 'Texture and Volume Additives' (112.6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Canada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Canada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Canada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Canada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Canada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Canada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Canada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Brazil</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7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Brazil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427.0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762.2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5.5%</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-45 BPS</a:t>
            </a:r>
          </a:p>
          <a:p>
            <a:pPr algn="ctr"/>
            <a:r>
              <a:rPr sz="1100" b="0">
                <a:solidFill>
                  <a:srgbClr val="6C7A89"/>
                </a:solidFill>
                <a:latin typeface="Calibri"/>
              </a:rPr>
              <a:t>vs Latin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Brazil's hair styling products market expands at 5.5% CAGR through 2036, trailing the Latin America benchmark of 6.0% by 45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Brazil holds 5.6% of the global and 50.0% of the Latin America hair styling products market in 2026; by 2036 those shares move to 5.8% and 47.9%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316.4 Mn Units between 2026 and 2036 the Brazil market grows to 1.7×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Brazil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693.7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1,477</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4.8%</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-36 BPS</a:t>
            </a:r>
          </a:p>
          <a:p>
            <a:pPr algn="ctr"/>
            <a:r>
              <a:rPr sz="1100" b="0">
                <a:solidFill>
                  <a:srgbClr val="6C7A89"/>
                </a:solidFill>
                <a:latin typeface="Calibri"/>
              </a:rPr>
              <a:t>vs Latin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Brazil's hair styling products market expands at 7.3% CAGR through 2036, trailing the Latin America benchmark of 7.6% by 36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Brazil holds 4.5% of the global and 54.2% of the Latin America hair styling products market in 2026; by 2036 those shares move to 4.8% and 52.5%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Brazil is expected to account for US$ 1,477 Mn by 2036 at a CAGR of 7.3% over the forecast period. Brazil is expected to create an incremental opportunity of US$ 783.4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Brazil's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732.3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154.4 US$ Mn (21% share), ahead of 'Waxes, Clays, Pastes and Pomades' (111.2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162.6 US$ Mn (22% share), ahead of 'Strong Hold' (153.4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269.9 US$ Mn (37% share), ahead of 'Natural' (233.5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Brazil's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732.3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153.6 US$ Mn (21% share), ahead of 'Salon and Professional Distribution' (145.2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'Curl Definition' leads at 135.2 US$ Mn (18% share), ahead of 'Smoothing and Frizz Control' (131.7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'Coily Hair' leads at 174.4 US$ Mn (24% share), ahead of 'Curly Hair' (164.4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190.4 US$ Mn (26% share), ahead of 'Texture and Volume Additives' (184.1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Brazil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Brazil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Brazil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Brazil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Brazil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Brazil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Brazil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Mexico</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7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Mexico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172.7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323.6</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4.6%</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6.0%</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+2 BPS</a:t>
            </a:r>
          </a:p>
          <a:p>
            <a:pPr algn="ctr"/>
            <a:r>
              <a:rPr sz="1100" b="0">
                <a:solidFill>
                  <a:srgbClr val="6C7A89"/>
                </a:solidFill>
                <a:latin typeface="Calibri"/>
              </a:rPr>
              <a:t>vs Latin America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Mexico's hair styling products market expands at 6.0% CAGR through 2036, outpacing the Latin America benchmark of 6.0% by 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Mexico holds 2.3% of the global and 20.3% of the Latin America hair styling products market in 2026; by 2036 those shares move to 2.5% and 20.3%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142.5 Mn Units between 2026 and 2036 the Mexico market grows to 1.8×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Mexico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255.1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559.2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7.6%</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-7 BPS</a:t>
            </a:r>
          </a:p>
          <a:p>
            <a:pPr algn="ctr"/>
            <a:r>
              <a:rPr sz="1100" b="0">
                <a:solidFill>
                  <a:srgbClr val="6C7A89"/>
                </a:solidFill>
                <a:latin typeface="Calibri"/>
              </a:rPr>
              <a:t>vs Latin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Mexico's hair styling products market expands at 7.6% CAGR through 2036, trailing the Latin America benchmark of 7.6% by 7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Mexico holds 1.7% of the global and 20.0% of the Latin America hair styling products market in 2026; by 2036 those shares move to 1.8% and 19.9%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Mexico is expected to account for US$ 559.2 Mn by 2036 at a CAGR of 7.6% over the forecast period. Mexico is expected to create an incremental opportunity of US$ 304.1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Mexico's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270.0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46.6 US$ Mn (17% share), ahead of 'Waxes, Clays, Pastes and Pomades' (46.5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60.0 US$ Mn (22% share), ahead of 'Strong Hold' (56.6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95.9 US$ Mn (36% share), ahead of 'Natural' (88.3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Mexico's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270.0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62.8 US$ Mn (23% share), ahead of 'Salon and Professional Distribution' (46.5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48.5 US$ Mn (18% share), ahead of 'Heat Styling Support' (41.9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57.8 US$ Mn (21% share), ahead of 'Curly Hair' (55.7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70.2 US$ Mn (26% share), ahead of 'Texture and Volume Additives' (67.8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Mexico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Mexico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Mexico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Mexico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Mexico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Mexico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Mexico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2152650"/>
        </p:xfrm>
        <a:graphic>
          <a:graphicData uri="http://schemas.openxmlformats.org/drawingml/2006/table">
            <a:tbl>
              <a:tblPr>
                <a:tableStyleId>{5C22544A-7EE6-4342-B048-85BDC9FD1C3A}</a:tableStyleId>
              </a:tblPr>
              <a:tblGrid>
                <a:gridCol w="2786004"/>
                <a:gridCol w="591350"/>
                <a:gridCol w="591350"/>
                <a:gridCol w="591350"/>
                <a:gridCol w="591350"/>
                <a:gridCol w="591350"/>
                <a:gridCol w="591350"/>
                <a:gridCol w="591350"/>
                <a:gridCol w="591350"/>
                <a:gridCol w="591350"/>
                <a:gridCol w="591350"/>
                <a:gridCol w="591350"/>
                <a:gridCol w="668331"/>
                <a:gridCol w="668331"/>
                <a:gridCol w="668331"/>
                <a:gridCol w="591350"/>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Colombia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8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Colombia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52.7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109.0</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5.3%</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6.9%</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+98 BPS</a:t>
            </a:r>
          </a:p>
          <a:p>
            <a:pPr algn="ctr"/>
            <a:r>
              <a:rPr sz="1100" b="0">
                <a:solidFill>
                  <a:srgbClr val="6C7A89"/>
                </a:solidFill>
                <a:latin typeface="Calibri"/>
              </a:rPr>
              <a:t>vs Latin America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Colombia's hair styling products market expands at 6.9% CAGR through 2036, outpacing the Latin America benchmark of 6.0% by 98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Colombia holds 0.7% of the global and 6.2% of the Latin America hair styling products market in 2026; by 2036 those shares move to 0.8% and 6.9%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53.3 Mn Units between 2026 and 2036 the Colombia market grows to 2.0×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Colombia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68.7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164.8</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5.8%</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8.4%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+82 BPS</a:t>
            </a:r>
          </a:p>
          <a:p>
            <a:pPr algn="ctr"/>
            <a:r>
              <a:rPr sz="1100" b="0">
                <a:solidFill>
                  <a:srgbClr val="6C7A89"/>
                </a:solidFill>
                <a:latin typeface="Calibri"/>
              </a:rPr>
              <a:t>vs Latin America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Colombia's hair styling products market expands at 8.4% CAGR through 2036, outpacing the Latin America benchmark of 7.6% by 82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Colombia holds 0.5% of the global and 5.4% of the Latin America hair styling products market in 2026; by 2036 those shares move to 0.5% and 5.9%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Colombia is expected to account for US$ 164.8 Mn by 2036 at a CAGR of 8.4% over the forecast period. Colombia is expected to create an incremental opportunity of US$ 96.0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Colombia's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73.2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14.4 US$ Mn (20% share), ahead of 'Waxes, Clays, Pastes and Pomades' (11.3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16.3 US$ Mn (22% share), ahead of 'Strong Hold' (15.4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26.7 US$ Mn (36% share), ahead of 'Natural' (23.6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Colombia's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73.2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16.4 US$ Mn (22% share), ahead of 'Salon and Professional Distribution' (13.6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13.0 US$ Mn (18% share), ahead of 'Curl Definition' (12.5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'Curly Hair' leads at 15.9 US$ Mn (22% share), ahead of 'All Hair Types' (14.9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19.0 US$ Mn (26% share), ahead of 'Texture and Volume Additives' (18.4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Colombia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Colombia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5" cy="1295400"/>
        </p:xfrm>
        <a:graphic>
          <a:graphicData uri="http://schemas.openxmlformats.org/drawingml/2006/table">
            <a:tbl>
              <a:tblPr>
                <a:tableStyleId>{5C22544A-7EE6-4342-B048-85BDC9FD1C3A}</a:tableStyleId>
              </a:tblPr>
              <a:tblGrid>
                <a:gridCol w="1482655"/>
                <a:gridCol w="693636"/>
                <a:gridCol w="693636"/>
                <a:gridCol w="693636"/>
                <a:gridCol w="693636"/>
                <a:gridCol w="693636"/>
                <a:gridCol w="693636"/>
                <a:gridCol w="693636"/>
                <a:gridCol w="693636"/>
                <a:gridCol w="693636"/>
                <a:gridCol w="693636"/>
                <a:gridCol w="693636"/>
                <a:gridCol w="693636"/>
                <a:gridCol w="693636"/>
                <a:gridCol w="693636"/>
                <a:gridCol w="69363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Colombia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369549"/>
                <a:gridCol w="701177"/>
                <a:gridCol w="701177"/>
                <a:gridCol w="701177"/>
                <a:gridCol w="701177"/>
                <a:gridCol w="701177"/>
                <a:gridCol w="701177"/>
                <a:gridCol w="701177"/>
                <a:gridCol w="701177"/>
                <a:gridCol w="701177"/>
                <a:gridCol w="701177"/>
                <a:gridCol w="701177"/>
                <a:gridCol w="701177"/>
                <a:gridCol w="701177"/>
                <a:gridCol w="701177"/>
                <a:gridCol w="701177"/>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Colombia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Colombia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Colombia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7" cy="1295400"/>
        </p:xfrm>
        <a:graphic>
          <a:graphicData uri="http://schemas.openxmlformats.org/drawingml/2006/table">
            <a:tbl>
              <a:tblPr>
                <a:tableStyleId>{5C22544A-7EE6-4342-B048-85BDC9FD1C3A}</a:tableStyleId>
              </a:tblPr>
              <a:tblGrid>
                <a:gridCol w="1367167"/>
                <a:gridCol w="701336"/>
                <a:gridCol w="701336"/>
                <a:gridCol w="701336"/>
                <a:gridCol w="701336"/>
                <a:gridCol w="701336"/>
                <a:gridCol w="701336"/>
                <a:gridCol w="701336"/>
                <a:gridCol w="701336"/>
                <a:gridCol w="701336"/>
                <a:gridCol w="701336"/>
                <a:gridCol w="701336"/>
                <a:gridCol w="701336"/>
                <a:gridCol w="701336"/>
                <a:gridCol w="701336"/>
                <a:gridCol w="701336"/>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Colombia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2152650"/>
        </p:xfrm>
        <a:graphic>
          <a:graphicData uri="http://schemas.openxmlformats.org/drawingml/2006/table">
            <a:tbl>
              <a:tblPr>
                <a:tableStyleId>{5C22544A-7EE6-4342-B048-85BDC9FD1C3A}</a:tableStyleId>
              </a:tblPr>
              <a:tblGrid>
                <a:gridCol w="2715658"/>
                <a:gridCol w="576419"/>
                <a:gridCol w="576419"/>
                <a:gridCol w="576419"/>
                <a:gridCol w="576419"/>
                <a:gridCol w="576419"/>
                <a:gridCol w="576419"/>
                <a:gridCol w="576419"/>
                <a:gridCol w="576419"/>
                <a:gridCol w="651456"/>
                <a:gridCol w="651456"/>
                <a:gridCol w="651456"/>
                <a:gridCol w="651456"/>
                <a:gridCol w="651456"/>
                <a:gridCol w="651456"/>
                <a:gridCol w="65145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Rest of Latin America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8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Latin America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198.2</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395.3</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5.0%</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6.6%</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+63 BPS</a:t>
            </a:r>
          </a:p>
          <a:p>
            <a:pPr algn="ctr"/>
            <a:r>
              <a:rPr sz="1100" b="0">
                <a:solidFill>
                  <a:srgbClr val="6C7A89"/>
                </a:solidFill>
                <a:latin typeface="Calibri"/>
              </a:rPr>
              <a:t>vs Latin America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Latin America's hair styling products market expands at 6.6% CAGR through 2036, outpacing the Latin America benchmark of 6.0% by 63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Latin America holds 2.6% of the global and 23.4% of the Latin America hair styling products market in 2026; by 2036 those shares move to 3.0% and 24.9%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186.5 Mn Units between 2026 and 2036 the Rest of Latin America market grows to 1.9×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Latin America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258.1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614.4</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5.6%</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8.4%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+76 BPS</a:t>
            </a:r>
          </a:p>
          <a:p>
            <a:pPr algn="ctr"/>
            <a:r>
              <a:rPr sz="1100" b="0">
                <a:solidFill>
                  <a:srgbClr val="6C7A89"/>
                </a:solidFill>
                <a:latin typeface="Calibri"/>
              </a:rPr>
              <a:t>vs Latin America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Latin America's hair styling products market expands at 8.4% CAGR through 2036, outpacing the Latin America benchmark of 7.6% by 76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Latin America holds 1.7% of the global and 20.3% of the Latin America hair styling products market in 2026; by 2036 those shares move to 2.0% and 21.8%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Rest of Latin America is expected to account for US$ 614.4 Mn by 2036 at a CAGR of 8.4% over the forecast period. Rest of Latin America is expected to create an incremental opportunity of US$ 356.2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Latin America's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274.7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53.4 US$ Mn (19% share), ahead of 'Waxes, Clays, Pastes and Pomades' (43.0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61.1 US$ Mn (22% share), ahead of 'Strong Hold' (57.6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98.6 US$ Mn (36% share), ahead of 'Natural' (89.3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Latin America's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274.7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63.4 US$ Mn (23% share), ahead of 'Salon and Professional Distribution' (47.6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47.4 US$ Mn (17% share), ahead of 'Curl Definition' (46.0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'Curly Hair' leads at 57.5 US$ Mn (21% share), ahead of 'All Hair Types' (56.9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71.3 US$ Mn (26% share), ahead of 'Texture and Volume Additives' (69.1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Latin America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Latin America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5" cy="1295400"/>
        </p:xfrm>
        <a:graphic>
          <a:graphicData uri="http://schemas.openxmlformats.org/drawingml/2006/table">
            <a:tbl>
              <a:tblPr>
                <a:tableStyleId>{5C22544A-7EE6-4342-B048-85BDC9FD1C3A}</a:tableStyleId>
              </a:tblPr>
              <a:tblGrid>
                <a:gridCol w="1482655"/>
                <a:gridCol w="693636"/>
                <a:gridCol w="693636"/>
                <a:gridCol w="693636"/>
                <a:gridCol w="693636"/>
                <a:gridCol w="693636"/>
                <a:gridCol w="693636"/>
                <a:gridCol w="693636"/>
                <a:gridCol w="693636"/>
                <a:gridCol w="693636"/>
                <a:gridCol w="693636"/>
                <a:gridCol w="693636"/>
                <a:gridCol w="693636"/>
                <a:gridCol w="693636"/>
                <a:gridCol w="693636"/>
                <a:gridCol w="69363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Latin America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369549"/>
                <a:gridCol w="701177"/>
                <a:gridCol w="701177"/>
                <a:gridCol w="701177"/>
                <a:gridCol w="701177"/>
                <a:gridCol w="701177"/>
                <a:gridCol w="701177"/>
                <a:gridCol w="701177"/>
                <a:gridCol w="701177"/>
                <a:gridCol w="701177"/>
                <a:gridCol w="701177"/>
                <a:gridCol w="701177"/>
                <a:gridCol w="701177"/>
                <a:gridCol w="701177"/>
                <a:gridCol w="701177"/>
                <a:gridCol w="701177"/>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segmental analysis by Distribution Channel: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Latin America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segmental analysis by Primary Styling Benefit: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Latin America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value growth by Primary Styling Benefit,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segmental analysis by Hair Type Targeted: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Latin America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7" cy="1295400"/>
        </p:xfrm>
        <a:graphic>
          <a:graphicData uri="http://schemas.openxmlformats.org/drawingml/2006/table">
            <a:tbl>
              <a:tblPr>
                <a:tableStyleId>{5C22544A-7EE6-4342-B048-85BDC9FD1C3A}</a:tableStyleId>
              </a:tblPr>
              <a:tblGrid>
                <a:gridCol w="1367167"/>
                <a:gridCol w="701336"/>
                <a:gridCol w="701336"/>
                <a:gridCol w="701336"/>
                <a:gridCol w="701336"/>
                <a:gridCol w="701336"/>
                <a:gridCol w="701336"/>
                <a:gridCol w="701336"/>
                <a:gridCol w="701336"/>
                <a:gridCol w="701336"/>
                <a:gridCol w="701336"/>
                <a:gridCol w="701336"/>
                <a:gridCol w="701336"/>
                <a:gridCol w="701336"/>
                <a:gridCol w="701336"/>
                <a:gridCol w="701336"/>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segmental analysis by Ingredient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Latin America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2152650"/>
        </p:xfrm>
        <a:graphic>
          <a:graphicData uri="http://schemas.openxmlformats.org/drawingml/2006/table">
            <a:tbl>
              <a:tblPr>
                <a:tableStyleId>{5C22544A-7EE6-4342-B048-85BDC9FD1C3A}</a:tableStyleId>
              </a:tblPr>
              <a:tblGrid>
                <a:gridCol w="2715658"/>
                <a:gridCol w="576419"/>
                <a:gridCol w="576419"/>
                <a:gridCol w="576419"/>
                <a:gridCol w="576419"/>
                <a:gridCol w="576419"/>
                <a:gridCol w="576419"/>
                <a:gridCol w="576419"/>
                <a:gridCol w="576419"/>
                <a:gridCol w="651456"/>
                <a:gridCol w="651456"/>
                <a:gridCol w="651456"/>
                <a:gridCol w="651456"/>
                <a:gridCol w="651456"/>
                <a:gridCol w="651456"/>
                <a:gridCol w="65145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Germany</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8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Germany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198.5</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291.9</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2.7%</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3.6%</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-101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Germany's hair styling products market expands at 3.6% CAGR through 2036, trailing the Europe benchmark of 4.6% by 101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Germany holds 2.6% of the global and 15.1% of the Europe hair styling products market in 2026; by 2036 those shares move to 2.2% and 13.7%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87.7 Mn Units between 2026 and 2036 the Germany market grows to 1.4×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Germany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406.1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693.2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5.1%</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-116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Germany's hair styling products market expands at 5.1% CAGR through 2036, trailing the Europe benchmark of 6.3% by 116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Germany holds 2.6% of the global and 15.0% of the Europe hair styling products market in 2026; by 2036 those shares move to 2.3% and 13.4%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Germany is expected to account for US$ 693.2 Mn by 2036 at a CAGR of 5.1% over the forecast period. Germany is expected to create an incremental opportunity of US$ 287.1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Germany's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421.8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72.6 US$ Mn (17% share), ahead of 'Sprays and Mists' (69.3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'Strong Hold' leads at 96.6 US$ Mn (23% share), ahead of 'Medium Hold' (90.6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143.8 US$ Mn (34% share), ahead of 'Matte' (140.1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Germany's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421.8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88.3 US$ Mn (21% share), ahead of 'Salon and Professional Distribution' (74.3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67.3 US$ Mn (16% share), ahead of 'Smoothing and Frizz Control' (66.8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91.8 US$ Mn (22% share), ahead of 'Straight Hair' (88.5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109.4 US$ Mn (26% share), ahead of 'Texture and Volume Additives' (106.0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Germany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Germany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Germany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Germany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Germany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Germany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Germany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U.K.</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9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U.K.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193.3</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302.2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4.2%</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-42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U.K.'s hair styling products market expands at 4.2% CAGR through 2036, trailing the Europe benchmark of 4.6% by 42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U.K. holds 2.5% of the global and 14.8% of the Europe hair styling products market in 2026; by 2036 those shares move to 2.3% and 14.2%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102.4 Mn Units between 2026 and 2036 the U.K.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U.K.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445.1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814.1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3.7%</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-49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U.K.'s hair styling products market expands at 5.8% CAGR through 2036, trailing the Europe benchmark of 6.3% by 49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U.K. holds 2.9% of the global and 16.5% of the Europe hair styling products market in 2026; by 2036 those shares move to 2.7% and 15.8%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the U.K. is expected to account for US$ 814.1 Mn by 2036 at a CAGR of 5.8% over the forecast period. The U.K. is expected to create an incremental opportunity of US$ 369.0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U.K.'s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464.7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'Waxes, Clays, Pastes and Pomades' leads at 85.5 US$ Mn (18% share), ahead of 'Styling Serums and Oils' (79.3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103.1 US$ Mn (22% share), ahead of 'Strong Hold' (97.2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'Matte' leads at 175.4 US$ Mn (38% share), ahead of 'Natural' (147.4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U.K.'s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464.7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'Online Marketplaces' leads at 89.4 US$ Mn (19% share), ahead of 'Salon and Professional Distribution' (89.3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'Texture and Separation' leads at 77.4 US$ Mn (17% share), ahead of 'Hold and Shape' (71.8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101.2 US$ Mn (22% share), ahead of 'Straight Hair' (97.6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120.6 US$ Mn (26% share), ahead of 'Texture and Volume Additives' (116.6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U.K.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U.K.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U.K.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U.K.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U.K.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U.K.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U.K.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France</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9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France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160.7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257.0</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3.3%</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-20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France's hair styling products market expands at 4.4% CAGR through 2036, trailing the Europe benchmark of 4.6% by 20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France holds 2.1% of the global and 12.3% of the Europe hair styling products market in 2026; by 2036 those shares move to 1.9% and 12.0%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90.7 Mn Units between 2026 and 2036 the France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France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371.9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715.4</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4.0%</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France's hair styling products market expands at 6.3% CAGR through 2036, outpacing the Europe benchmark of 6.3% by 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France holds 2.4% of the global and 13.9% of the Europe hair styling products market in 2026; by 2036 those shares move to 2.3% and 13.9%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France is expected to account for US$ 715.4 Mn by 2036 at a CAGR of 6.3% over the forecast period. France is expected to create an incremental opportunity of US$ 343.5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France's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389.6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81.9 US$ Mn (21% share), ahead of 'Waxes, Clays, Pastes and Pomades' (60.5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86.5 US$ Mn (22% share), ahead of 'Strong Hold' (81.5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142.7 US$ Mn (37% share), ahead of 'Matte' (124.0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France's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389.6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'Salon and Professional Distribution' leads at 82.3 US$ Mn (21% share), ahead of 'Mass Retail' (70.8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69.0 US$ Mn (18% share), ahead of 'Hold and Shape' (60.3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84.8 US$ Mn (22% share), ahead of 'Straight Hair' (81.8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100.9 US$ Mn (26% share), ahead of 'Texture and Volume Additives' (97.9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France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France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France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France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France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France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France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Italy</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9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Italy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122.8</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202.6</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3.6%</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4.7%</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+10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Italy's hair styling products market expands at 4.7% CAGR through 2036, outpacing the Europe benchmark of 4.6% by 10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Italy holds 1.6% of the global and 9.4% of the Europe hair styling products market in 2026; by 2036 those shares move to 1.5% and 9.5%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75.2 Mn Units between 2026 and 2036 the Italy market grows to 1.6×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Italy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248.6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487.1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+19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Italy's hair styling products market expands at 6.4% CAGR through 2036, outpacing the Europe benchmark of 6.3% by 19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Italy holds 1.6% of the global and 9.3% of the Europe hair styling products market in 2026; by 2036 those shares move to 1.6% and 9.4%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Italy is expected to account for US$ 487.1 Mn by 2036 at a CAGR of 6.4% over the forecast period. Italy is expected to create an incremental opportunity of US$ 238.5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Italy's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260.9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48.6 US$ Mn (19% share), ahead of 'Waxes, Clays, Pastes and Pomades' (47.2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'Strong Hold' leads at 58.3 US$ Mn (22% share), ahead of 'Medium Hold' (56.6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97.1 US$ Mn (37% share), ahead of 'Natural' (82.8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Italy's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260.9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'Salon and Professional Distribution' leads at 53.0 US$ Mn (20% share), ahead of 'Mass Retail' (49.5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44.9 US$ Mn (17% share), ahead of 'Hold and Shape' (40.6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56.8 US$ Mn (22% share), ahead of 'Straight Hair' (54.8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67.8 US$ Mn (26% share), ahead of 'Texture and Volume Additives' (65.5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Italy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Italy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Italy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Italy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Italy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Italy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Italy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Spain</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9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Spain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88.8</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154.5</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3.9%</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+61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Spain's hair styling products market expands at 5.3% CAGR through 2036, outpacing the Europe benchmark of 4.6% by 61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Spain holds 1.2% of the global and 6.8% of the Europe hair styling products market in 2026; by 2036 those shares move to 1.2% and 7.2%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62.0 Mn Units between 2026 and 2036 the Spain market grows to 1.7×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Spain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168.1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350.1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7.0%</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+79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Spain's hair styling products market expands at 7.0% CAGR through 2036, outpacing the Europe benchmark of 6.3% by 79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Spain holds 1.1% of the global and 6.3% of the Europe hair styling products market in 2026; by 2036 those shares move to 1.1% and 6.8%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Spain is expected to account for US$ 350.1 Mn by 2036 at a CAGR of 7.0% over the forecast period. Spain is expected to create an incremental opportunity of US$ 182.0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Spain's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177.2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33.1 US$ Mn (19% share), ahead of 'Waxes, Clays, Pastes and Pomades' (27.9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39.3 US$ Mn (22% share), ahead of 'Strong Hold' (37.1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63.7 US$ Mn (36% share), ahead of 'Natural' (57.5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Spain's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177.2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34.5 US$ Mn (19% share), ahead of 'Salon and Professional Distribution' (34.4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31.0 US$ Mn (17% share), ahead of 'Hold and Shape' (27.6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38.6 US$ Mn (22% share), ahead of 'Straight Hair' (37.2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46.0 US$ Mn (26% share), ahead of 'Texture and Volume Additives' (44.5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Spain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Spain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Spain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Spain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Spain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Spain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Spain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Belgium</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0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Belgium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27.4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50.4</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4.4%</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+114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Belgium's hair styling products market expands at 5.8% CAGR through 2036, outpacing the Europe benchmark of 4.6% by 114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Belgium holds 0.4% of the global and 2.1% of the Europe hair styling products market in 2026; by 2036 those shares move to 0.4% and 2.4%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21.7 Mn Units between 2026 and 2036 the Belgium market grows to 1.8×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Belgium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59.6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130.0</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4.9%</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7.5%</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+125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Belgium's hair styling products market expands at 7.5% CAGR through 2036, outpacing the Europe benchmark of 6.3% by 125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Belgium holds 0.4% of the global and 2.2% of the Europe hair styling products market in 2026; by 2036 those shares move to 0.4% and 2.5%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Belgium is expected to account for US$ 130.0 Mn by 2036 at a CAGR of 7.5% over the forecast period. Belgium is expected to create an incremental opportunity of US$ 70.4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Belgium's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63.0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11.2 US$ Mn (18% share), ahead of 'Waxes, Clays, Pastes and Pomades' (10.2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14.0 US$ Mn (22% share), ahead of 'Strong Hold' (13.2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22.6 US$ Mn (36% share), ahead of 'Matte' (20.3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Belgium's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63.0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12.2 US$ Mn (19% share), ahead of 'Online Marketplaces' (11.9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10.1 US$ Mn (16% share), ahead of 'Smoothing and Frizz Control' (9.95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13.7 US$ Mn (22% share), ahead of 'Straight Hair' (13.3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16.4 US$ Mn (26% share), ahead of 'Texture and Volume Additives' (15.8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Belgium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Belgium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Belgium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Belgium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Belgium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Belgium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Belgium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2152650"/>
        </p:xfrm>
        <a:graphic>
          <a:graphicData uri="http://schemas.openxmlformats.org/drawingml/2006/table">
            <a:tbl>
              <a:tblPr>
                <a:tableStyleId>{5C22544A-7EE6-4342-B048-85BDC9FD1C3A}</a:tableStyleId>
              </a:tblPr>
              <a:tblGrid>
                <a:gridCol w="2768078"/>
                <a:gridCol w="587545"/>
                <a:gridCol w="587545"/>
                <a:gridCol w="587545"/>
                <a:gridCol w="587545"/>
                <a:gridCol w="587545"/>
                <a:gridCol w="587545"/>
                <a:gridCol w="587545"/>
                <a:gridCol w="587545"/>
                <a:gridCol w="587545"/>
                <a:gridCol w="587545"/>
                <a:gridCol w="664031"/>
                <a:gridCol w="664031"/>
                <a:gridCol w="664031"/>
                <a:gridCol w="664031"/>
                <a:gridCol w="587545"/>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Netherlands</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0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Netherlands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43.1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79.9</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5.9%</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+122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Netherlands's hair styling products market expands at 5.9% CAGR through 2036, outpacing the Europe benchmark of 4.6% by 122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Netherlands holds 0.6% of the global and 3.3% of the Europe hair styling products market in 2026; by 2036 those shares move to 0.6% and 3.7%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34.7 Mn Units between 2026 and 2036 the Netherlands market grows to 1.8×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Netherlands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95.7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214.3</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+151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Netherlands's hair styling products market expands at 7.8% CAGR through 2036, outpacing the Europe benchmark of 6.3% by 151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Netherlands holds 0.6% of the global and 3.6% of the Europe hair styling products market in 2026; by 2036 those shares move to 0.7% and 4.2%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the Netherlands is expected to account for US$ 214.3 Mn by 2036 at a CAGR of 7.8% over the forecast period. The Netherlands is expected to create an incremental opportunity of US$ 118.5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Netherlands's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101.5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18.5 US$ Mn (18% share), ahead of 'Waxes, Clays, Pastes and Pomades' (16.6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22.5 US$ Mn (22% share), ahead of 'Strong Hold' (21.3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'Matte' leads at 35.9 US$ Mn (35% share), ahead of 'Natural' (33.5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Netherlands's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101.5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'Online Marketplaces' leads at 21.1 US$ Mn (21% share), ahead of 'Mass Retail' (18.9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16.2 US$ Mn (16% share), ahead of 'Smoothing and Frizz Control' (16.0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22.1 US$ Mn (22% share), ahead of 'Straight Hair' (21.3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26.3 US$ Mn (26% share), ahead of 'Texture and Volume Additives' (25.6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Netherlands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Netherlands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Netherlands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Netherlands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Netherlands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Netherlands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Netherlands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0" cy="2152650"/>
        </p:xfrm>
        <a:graphic>
          <a:graphicData uri="http://schemas.openxmlformats.org/drawingml/2006/table">
            <a:tbl>
              <a:tblPr>
                <a:tableStyleId>{5C22544A-7EE6-4342-B048-85BDC9FD1C3A}</a:tableStyleId>
              </a:tblPr>
              <a:tblGrid>
                <a:gridCol w="2732910"/>
                <a:gridCol w="580080"/>
                <a:gridCol w="580080"/>
                <a:gridCol w="580080"/>
                <a:gridCol w="580080"/>
                <a:gridCol w="580080"/>
                <a:gridCol w="580080"/>
                <a:gridCol w="580080"/>
                <a:gridCol w="580080"/>
                <a:gridCol w="580080"/>
                <a:gridCol w="655595"/>
                <a:gridCol w="655595"/>
                <a:gridCol w="655595"/>
                <a:gridCol w="655595"/>
                <a:gridCol w="655595"/>
                <a:gridCol w="655595"/>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Nordic</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0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Nordic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75.8</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122.8</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3.4%</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4.6%</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-8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Nordic's hair styling products market expands at 4.6% CAGR through 2036, trailing the Europe benchmark of 4.6% by 8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Nordic holds 1.0% of the global and 5.8% of the Europe hair styling products market in 2026; by 2036 those shares move to 0.9% and 5.8%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44.3 Mn Units between 2026 and 2036 the Nordic market grows to 1.6×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Nordic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204.8</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395.5</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+4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Nordic's hair styling products market expands at 6.3% CAGR through 2036, outpacing the Europe benchmark of 6.3% by 4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Nordic holds 1.3% of the global and 7.6% of the Europe hair styling products market in 2026; by 2036 those shares move to 1.3% and 7.7%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Nordic is expected to account for US$ 395.5 Mn by 2036 at a CAGR of 6.3% over the forecast period. Nordic is expected to create an incremental opportunity of US$ 190.7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Nordic's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214.8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38.4 US$ Mn (18% share), ahead of 'Waxes, Clays, Pastes and Pomades' (34.8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47.7 US$ Mn (22% share), ahead of 'Strong Hold' (44.9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'Matte' leads at 77.8 US$ Mn (36% share), ahead of 'Natural' (70.1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Nordic's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214.8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'Online Marketplaces' leads at 43.5 US$ Mn (20% share), ahead of 'Mass Retail' (41.2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34.3 US$ Mn (16% share), ahead of 'Smoothing and Frizz Control' (34.0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46.8 US$ Mn (22% share), ahead of 'Straight Hair' (45.1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55.8 US$ Mn (26% share), ahead of 'Texture and Volume Additives' (53.9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Nordic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Nordic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Nordic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Nordic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Nordic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Nordic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Nordic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Switzerland</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1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Switzerland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28.7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44.2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3.0%</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4.1%</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-59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Switzerland's hair styling products market expands at 4.1% CAGR through 2036, trailing the Europe benchmark of 4.6% by 59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Switzerland holds 0.4% of the global and 2.2% of the Europe hair styling products market in 2026; by 2036 those shares move to 0.3% and 2.1%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14.5 Mn Units between 2026 and 2036 the Switzerland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Switzerland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99.9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174.1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-96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Switzerland's hair styling products market expands at 5.3% CAGR through 2036, trailing the Europe benchmark of 6.3% by 96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Switzerland holds 0.6% of the global and 3.7% of the Europe hair styling products market in 2026; by 2036 those shares move to 0.6% and 3.4%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Switzerland is expected to account for US$ 174.1 Mn by 2036 at a CAGR of 5.3% over the forecast period. Switzerland is expected to create an incremental opportunity of US$ 74.2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Switzerland's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103.9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22.3 US$ Mn (21% share), ahead of 'Waxes, Clays, Pastes and Pomades' (16.3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23.1 US$ Mn (22% share), ahead of 'Strong Hold' (21.7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38.0 US$ Mn (37% share), ahead of 'Matte' (33.1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Switzerland's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103.9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'Salon and Professional Distribution' leads at 22.1 US$ Mn (21% share), ahead of 'Mass Retail' (18.8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16.6 US$ Mn (16% share), ahead of 'Smoothing and Frizz Control' (16.5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22.6 US$ Mn (22% share), ahead of 'Straight Hair' (21.8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27.0 US$ Mn (26% share), ahead of 'Texture and Volume Additives' (26.1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Switzerland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Switzerland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Switzerland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Switzerland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Switzerland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Switzerland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Switzerland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Russia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Russia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118.9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189.2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3.3%</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-25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Russia's hair styling products market expands at 4.4% CAGR through 2036, trailing the Europe benchmark of 4.6% by 25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Russia holds 1.6% of the global and 9.1% of the Europe hair styling products market in 2026; by 2036 those shares move to 1.4% and 8.9%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66.2 Mn Units between 2026 and 2036 the Russia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Russia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162.0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311.2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3.9%</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+0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Russia's hair styling products market expands at 6.3% CAGR through 2036, outpacing the Europe benchmark of 6.3% by 0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Russia holds 1.1% of the global and 6.0% of the Europe hair styling products market in 2026; by 2036 those shares move to 1.0% and 6.0%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Russia is expected to account for US$ 311.2 Mn by 2036 at a CAGR of 6.3% over the forecast period. Russia is expected to create an incremental opportunity of US$ 149.2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Russia's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169.6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29.7 US$ Mn (18% share), ahead of 'Sprays and Mists' (27.0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'Strong Hold' leads at 40.4 US$ Mn (24% share), ahead of 'Medium Hold' (35.9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57.9 US$ Mn (34% share), ahead of 'Matte' (56.4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Russia's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169.6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38.9 US$ Mn (23% share), ahead of 'Salon and Professional Distribution' (29.0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27.1 US$ Mn (16% share), ahead of 'Smoothing and Frizz Control' (26.8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36.9 US$ Mn (22% share), ahead of 'Straight Hair' (35.6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44.0 US$ Mn (26% share), ahead of 'Texture and Volume Additives' (42.6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Russia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Russia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Russia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Russia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Russia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Russia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Russia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Poland</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Poland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47.0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90.3</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4.7%</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6.2%</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+157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Poland's hair styling products market expands at 6.2% CAGR through 2036, outpacing the Europe benchmark of 4.6% by 157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Poland holds 0.6% of the global and 3.6% of the Europe hair styling products market in 2026; by 2036 those shares move to 0.7% and 4.2%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40.9 Mn Units between 2026 and 2036 the Poland market grows to 1.8×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Poland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72.4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161.5</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7.7%</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+148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Poland's hair styling products market expands at 7.7% CAGR through 2036, outpacing the Europe benchmark of 6.3% by 148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Poland holds 0.5% of the global and 2.7% of the Europe hair styling products market in 2026; by 2036 those shares move to 0.5% and 3.1%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Poland is expected to account for US$ 161.5 Mn by 2036 at a CAGR of 7.7% over the forecast period. Poland is expected to create an incremental opportunity of US$ 89.2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Poland's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76.7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13.5 US$ Mn (18% share), ahead of 'Waxes, Clays, Pastes and Pomades' (12.3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'Strong Hold' leads at 17.6 US$ Mn (23% share), ahead of 'Medium Hold' (16.5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26.2 US$ Mn (34% share), ahead of 'Matte' (25.5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Poland's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76.7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18.2 US$ Mn (24% share), ahead of 'Salon and Professional Distribution' (12.8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12.3 US$ Mn (16% share), ahead of 'Smoothing and Frizz Control' (12.1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16.7 US$ Mn (22% share), ahead of 'Straight Hair' (16.1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19.9 US$ Mn (26% share), ahead of 'Texture and Volume Additives' (19.2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Poland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Poland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Poland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Poland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Poland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Poland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Poland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2152650"/>
        </p:xfrm>
        <a:graphic>
          <a:graphicData uri="http://schemas.openxmlformats.org/drawingml/2006/table">
            <a:tbl>
              <a:tblPr>
                <a:tableStyleId>{5C22544A-7EE6-4342-B048-85BDC9FD1C3A}</a:tableStyleId>
              </a:tblPr>
              <a:tblGrid>
                <a:gridCol w="2750382"/>
                <a:gridCol w="583789"/>
                <a:gridCol w="583789"/>
                <a:gridCol w="583789"/>
                <a:gridCol w="583789"/>
                <a:gridCol w="583789"/>
                <a:gridCol w="583789"/>
                <a:gridCol w="583789"/>
                <a:gridCol w="583789"/>
                <a:gridCol w="583789"/>
                <a:gridCol w="583789"/>
                <a:gridCol w="659786"/>
                <a:gridCol w="659786"/>
                <a:gridCol w="659786"/>
                <a:gridCol w="659786"/>
                <a:gridCol w="65978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Rest of Europe</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Europe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201.1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348.2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3.9%</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5.2%</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+56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Europe's hair styling products market expands at 5.2% CAGR through 2036, outpacing the Europe benchmark of 4.6% by 56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Europe holds 2.6% of the global and 15.5% of the Europe hair styling products market in 2026; by 2036 those shares move to 2.6% and 16.3%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138.7 Mn Units between 2026 and 2036 the Rest of Europe market grows to 1.7×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Europe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349.0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710.2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+56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Europe's hair styling products market expands at 6.8% CAGR through 2036, outpacing the Europe benchmark of 6.3% by 56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Europe holds 2.3% of the global and 13.1% of the Europe hair styling products market in 2026; by 2036 those shares move to 2.3% and 13.8%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Rest of Europe is expected to account for US$ 710.2 Mn by 2036 at a CAGR of 6.8% over the forecast period. Rest of Europe is expected to create an incremental opportunity of US$ 361.1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Europe's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367.3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66.0 US$ Mn (18% share), ahead of 'Waxes, Clays, Pastes and Pomades' (59.4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81.5 US$ Mn (22% share), ahead of 'Strong Hold' (76.9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125.5 US$ Mn (34% share), ahead of 'Matte' (122.2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Europe's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367.3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71.5 US$ Mn (19% share), ahead of 'Salon and Professional Distribution' (67.7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58.7 US$ Mn (16% share), ahead of 'Smoothing and Frizz Control' (58.0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80.0 US$ Mn (22% share), ahead of 'Straight Hair' (77.2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95.3 US$ Mn (26% share), ahead of 'Texture and Volume Additives' (92.3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Europe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Europe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Europe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Europe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Europe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Europe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Europe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China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2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China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1,315</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2,311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+39 BPS</a:t>
            </a:r>
          </a:p>
          <a:p>
            <a:pPr algn="ctr"/>
            <a:r>
              <a:rPr sz="1100" b="0">
                <a:solidFill>
                  <a:srgbClr val="6C7A89"/>
                </a:solidFill>
                <a:latin typeface="Calibri"/>
              </a:rPr>
              <a:t>vs East Asia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China's hair styling products market expands at 5.4% CAGR through 2036, outpacing the East Asia benchmark of 5.0% by 39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China holds 17.3% of the global and 64.8% of the East Asia hair styling products market in 2026; by 2036 those shares move to 17.5% and 67.3%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939.7 Mn Units between 2026 and 2036 the China market grows to 1.7×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China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1,833</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3,979</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4.8%</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7.5%</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+93 BPS</a:t>
            </a:r>
          </a:p>
          <a:p>
            <a:pPr algn="ctr"/>
            <a:r>
              <a:rPr sz="1100" b="0">
                <a:solidFill>
                  <a:srgbClr val="6C7A89"/>
                </a:solidFill>
                <a:latin typeface="Calibri"/>
              </a:rPr>
              <a:t>vs East Asia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China's hair styling products market expands at 7.5% CAGR through 2036, outpacing the East Asia benchmark of 6.5% by 93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China holds 12.0% of the global and 46.9% of the East Asia hair styling products market in 2026; by 2036 those shares move to 13.0% and 51.1%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China is expected to account for US$ 3,979 Mn by 2036 at a CAGR of 7.5% over the forecast period. China is expected to create an incremental opportunity of US$ 2,147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China's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1,936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'Waxes, Clays, Pastes and Pomades' leads at 358.5 US$ Mn (19% share), ahead of 'Styling Serums and Oils' (336.3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429.8 US$ Mn (22% share), ahead of 'Strong Hold' (405.3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661.3 US$ Mn (34% share), ahead of 'Matte' (643.8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China's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1,936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'Online Marketplaces' leads at 426.8 US$ Mn (22% share), ahead of 'Mass Retail' (341.7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334.7 US$ Mn (17% share), ahead of 'Heat Styling Support' (307.9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'Straight Hair' leads at 466.7 US$ Mn (24% share), ahead of 'All Hair Types' (408.2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502.9 US$ Mn (26% share), ahead of 'Texture and Volume Additives' (486.8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China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China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China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China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China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China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China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3" cy="2152650"/>
        </p:xfrm>
        <a:graphic>
          <a:graphicData uri="http://schemas.openxmlformats.org/drawingml/2006/table">
            <a:tbl>
              <a:tblPr>
                <a:tableStyleId>{5C22544A-7EE6-4342-B048-85BDC9FD1C3A}</a:tableStyleId>
              </a:tblPr>
              <a:tblGrid>
                <a:gridCol w="2822562"/>
                <a:gridCol w="599110"/>
                <a:gridCol w="599110"/>
                <a:gridCol w="599110"/>
                <a:gridCol w="599110"/>
                <a:gridCol w="599110"/>
                <a:gridCol w="599110"/>
                <a:gridCol w="599110"/>
                <a:gridCol w="599110"/>
                <a:gridCol w="599110"/>
                <a:gridCol w="599110"/>
                <a:gridCol w="677101"/>
                <a:gridCol w="599110"/>
                <a:gridCol w="599110"/>
                <a:gridCol w="599110"/>
                <a:gridCol w="599110"/>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Japan</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2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Japan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500.6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763.0</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3.0%</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4.0%</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-99 BPS</a:t>
            </a:r>
          </a:p>
          <a:p>
            <a:pPr algn="ctr"/>
            <a:r>
              <a:rPr sz="1100" b="0">
                <a:solidFill>
                  <a:srgbClr val="6C7A89"/>
                </a:solidFill>
                <a:latin typeface="Calibri"/>
              </a:rPr>
              <a:t>vs East Asia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Japan's hair styling products market expands at 4.0% CAGR through 2036, trailing the East Asia benchmark of 5.0% by 99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Japan holds 6.5% of the global and 24.4% of the East Asia hair styling products market in 2026; by 2036 those shares move to 5.8% and 22.2%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246.2 Mn Units between 2026 and 2036 the Japan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Japan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1,557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2,775</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3.6%</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5.5%</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-103 BPS</a:t>
            </a:r>
          </a:p>
          <a:p>
            <a:pPr algn="ctr"/>
            <a:r>
              <a:rPr sz="1100" b="0">
                <a:solidFill>
                  <a:srgbClr val="6C7A89"/>
                </a:solidFill>
                <a:latin typeface="Calibri"/>
              </a:rPr>
              <a:t>vs East Asia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Japan's hair styling products market expands at 5.5% CAGR through 2036, trailing the East Asia benchmark of 6.5% by 103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Japan holds 10.1% of the global and 39.3% of the East Asia hair styling products market in 2026; by 2036 those shares move to 9.0% and 35.7%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Japan is expected to account for US$ 2,775 Mn by 2036 at a CAGR of 5.5% over the forecast period. Japan is expected to create an incremental opportunity of US$ 1,218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Japan's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1,623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'Waxes, Clays, Pastes and Pomades' leads at 356.0 US$ Mn (22% share), ahead of 'Styling Serums and Oils' (266.0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359.9 US$ Mn (22% share), ahead of 'Strong Hold' (339.2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'Matte' leads at 622.1 US$ Mn (38% share), ahead of 'Natural' (509.6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Japan's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1,623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317.4 US$ Mn (20% share), ahead of 'Salon and Professional Distribution' (311.8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'Texture and Separation' leads at 279.9 US$ Mn (17% share), ahead of 'Smoothing and Frizz Control' (249.0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'Straight Hair' leads at 429.7 US$ Mn (26% share), ahead of 'Wavy Hair' (311.7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421.9 US$ Mn (26% share), ahead of 'Texture and Volume Additives' (407.5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Japan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Japan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Japan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Japan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Japan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Japan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Japan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South Korea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2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South Korea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219.8</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362.1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4.7%</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-24 BPS</a:t>
            </a:r>
          </a:p>
          <a:p>
            <a:pPr algn="ctr"/>
            <a:r>
              <a:rPr sz="1100" b="0">
                <a:solidFill>
                  <a:srgbClr val="6C7A89"/>
                </a:solidFill>
                <a:latin typeface="Calibri"/>
              </a:rPr>
              <a:t>vs East Asia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South Korea's hair styling products market expands at 4.7% CAGR through 2036, trailing the East Asia benchmark of 5.0% by 24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South Korea holds 2.9% of the global and 10.8% of the East Asia hair styling products market in 2026; by 2036 those shares move to 2.7% and 10.5%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134.0 Mn Units between 2026 and 2036 the South Korea market grows to 1.6×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South Korea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544.9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1,027</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4.0%</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6.1%</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-48 BPS</a:t>
            </a:r>
          </a:p>
          <a:p>
            <a:pPr algn="ctr"/>
            <a:r>
              <a:rPr sz="1100" b="0">
                <a:solidFill>
                  <a:srgbClr val="6C7A89"/>
                </a:solidFill>
                <a:latin typeface="Calibri"/>
              </a:rPr>
              <a:t>vs East Asia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South Korea's hair styling products market expands at 6.1% CAGR through 2036, trailing the East Asia benchmark of 6.5% by 48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South Korea holds 3.5% of the global and 13.8% of the East Asia hair styling products market in 2026; by 2036 those shares move to 3.3% and 13.2%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South Korea is expected to account for US$ 1,027 Mn by 2036 at a CAGR of 6.1% over the forecast period. South Korea is expected to create an incremental opportunity of US$ 482.4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South Korea's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570.2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'Waxes, Clays, Pastes and Pomades' leads at 108.3 US$ Mn (19% share), ahead of 'Styling Serums and Oils' (95.5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126.5 US$ Mn (22% share), ahead of 'Strong Hold' (119.3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194.7 US$ Mn (34% share), ahead of 'Matte' (189.5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South Korea's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570.2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'Online Marketplaces' leads at 122.8 US$ Mn (22% share), ahead of 'Mass Retail' (100.8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'Volume and Root Lift' leads at 104.5 US$ Mn (18% share), ahead of 'Heat Styling Support' (87.3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'Straight Hair' leads at 141.4 US$ Mn (25% share), ahead of 'All Hair Types' (118.5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148.0 US$ Mn (26% share), ahead of 'Texture and Volume Additives' (143.2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Korea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Korea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Korea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Korea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Korea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Korea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Korea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India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3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India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455.2</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987.2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5.7%</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+76 BPS</a:t>
            </a:r>
          </a:p>
          <a:p>
            <a:pPr algn="ctr"/>
            <a:r>
              <a:rPr sz="1100" b="0">
                <a:solidFill>
                  <a:srgbClr val="6C7A89"/>
                </a:solidFill>
                <a:latin typeface="Calibri"/>
              </a:rPr>
              <a:t>vs South Asia &amp; Pacific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India's hair styling products market expands at 7.4% CAGR through 2036, outpacing the South Asia &amp; Pacific benchmark of 6.7% by 76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India holds 6.1% of the global and 40.0% of the South Asia &amp; Pacific hair styling products market in 2026; by 2036 those shares move to 7.5% and 42.9%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504.3 Mn Units between 2026 and 2036 the India market grows to 2.0×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India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457.2</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1,190</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6.3%</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9.3%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+141 BPS</a:t>
            </a:r>
          </a:p>
          <a:p>
            <a:pPr algn="ctr"/>
            <a:r>
              <a:rPr sz="1100" b="0">
                <a:solidFill>
                  <a:srgbClr val="6C7A89"/>
                </a:solidFill>
                <a:latin typeface="Calibri"/>
              </a:rPr>
              <a:t>vs South Asia &amp; Pacific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India's hair styling products market expands at 9.3% CAGR through 2036, outpacing the South Asia &amp; Pacific benchmark of 7.9% by 141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India holds 3.0% of the global and 27.7% of the South Asia &amp; Pacific hair styling products market in 2026; by 2036 those shares move to 3.9% and 31.6%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India is expected to account for US$ 1,190 Mn by 2036 at a CAGR of 9.3% over the forecast period. India is expected to create an incremental opportunity of US$ 732.8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India's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490.5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'Waxes, Clays, Pastes and Pomades' leads at 94.8 US$ Mn (19% share), ahead of 'Styling Serums and Oils' (81.7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121.4 US$ Mn (25% share), ahead of 'Strong Hold' (112.2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168.0 US$ Mn (34% share), ahead of 'Matte' (163.4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India's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490.5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124.9 US$ Mn (25% share), ahead of 'Online Marketplaces' (88.4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92.2 US$ Mn (19% share), ahead of 'Smoothing and Frizz Control' (74.8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'Straight Hair' leads at 112.1 US$ Mn (23% share), ahead of 'Wavy Hair' (104.9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127.4 US$ Mn (26% share), ahead of 'Texture and Volume Additives' (123.6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India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India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5" cy="1295400"/>
        </p:xfrm>
        <a:graphic>
          <a:graphicData uri="http://schemas.openxmlformats.org/drawingml/2006/table">
            <a:tbl>
              <a:tblPr>
                <a:tableStyleId>{5C22544A-7EE6-4342-B048-85BDC9FD1C3A}</a:tableStyleId>
              </a:tblPr>
              <a:tblGrid>
                <a:gridCol w="1482655"/>
                <a:gridCol w="693636"/>
                <a:gridCol w="693636"/>
                <a:gridCol w="693636"/>
                <a:gridCol w="693636"/>
                <a:gridCol w="693636"/>
                <a:gridCol w="693636"/>
                <a:gridCol w="693636"/>
                <a:gridCol w="693636"/>
                <a:gridCol w="693636"/>
                <a:gridCol w="693636"/>
                <a:gridCol w="693636"/>
                <a:gridCol w="693636"/>
                <a:gridCol w="693636"/>
                <a:gridCol w="693636"/>
                <a:gridCol w="69363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India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369549"/>
                <a:gridCol w="701177"/>
                <a:gridCol w="701177"/>
                <a:gridCol w="701177"/>
                <a:gridCol w="701177"/>
                <a:gridCol w="701177"/>
                <a:gridCol w="701177"/>
                <a:gridCol w="701177"/>
                <a:gridCol w="701177"/>
                <a:gridCol w="701177"/>
                <a:gridCol w="701177"/>
                <a:gridCol w="701177"/>
                <a:gridCol w="701177"/>
                <a:gridCol w="701177"/>
                <a:gridCol w="701177"/>
                <a:gridCol w="701177"/>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India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India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12.1%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India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7" cy="1295400"/>
        </p:xfrm>
        <a:graphic>
          <a:graphicData uri="http://schemas.openxmlformats.org/drawingml/2006/table">
            <a:tbl>
              <a:tblPr>
                <a:tableStyleId>{5C22544A-7EE6-4342-B048-85BDC9FD1C3A}</a:tableStyleId>
              </a:tblPr>
              <a:tblGrid>
                <a:gridCol w="1367167"/>
                <a:gridCol w="701336"/>
                <a:gridCol w="701336"/>
                <a:gridCol w="701336"/>
                <a:gridCol w="701336"/>
                <a:gridCol w="701336"/>
                <a:gridCol w="701336"/>
                <a:gridCol w="701336"/>
                <a:gridCol w="701336"/>
                <a:gridCol w="701336"/>
                <a:gridCol w="701336"/>
                <a:gridCol w="701336"/>
                <a:gridCol w="701336"/>
                <a:gridCol w="701336"/>
                <a:gridCol w="701336"/>
                <a:gridCol w="701336"/>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India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2152650"/>
        </p:xfrm>
        <a:graphic>
          <a:graphicData uri="http://schemas.openxmlformats.org/drawingml/2006/table">
            <a:tbl>
              <a:tblPr>
                <a:tableStyleId>{5C22544A-7EE6-4342-B048-85BDC9FD1C3A}</a:tableStyleId>
              </a:tblPr>
              <a:tblGrid>
                <a:gridCol w="2698623"/>
                <a:gridCol w="572803"/>
                <a:gridCol w="572803"/>
                <a:gridCol w="572803"/>
                <a:gridCol w="572803"/>
                <a:gridCol w="572803"/>
                <a:gridCol w="572803"/>
                <a:gridCol w="572803"/>
                <a:gridCol w="647370"/>
                <a:gridCol w="647370"/>
                <a:gridCol w="647370"/>
                <a:gridCol w="647370"/>
                <a:gridCol w="647370"/>
                <a:gridCol w="647370"/>
                <a:gridCol w="647370"/>
                <a:gridCol w="647370"/>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Thailand</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3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Thailand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92.9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173.4</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5.9%</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-71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Thailand's hair styling products market expands at 5.9% CAGR through 2036, trailing the South Asia &amp; Pacific benchmark of 6.7% by 71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Thailand holds 1.2% of the global and 8.1% of the South Asia &amp; Pacific hair styling products market in 2026; by 2036 those shares move to 1.3% and 7.5%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76.1 Mn Units between 2026 and 2036 the Thailand market grows to 1.8×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Thailand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135.1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304.7</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Thailand's hair styling products market expands at 7.8% CAGR through 2036, trailing the South Asia &amp; Pacific benchmark of 7.9% by 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Thailand holds 0.9% of the global and 8.1% of the South Asia &amp; Pacific hair styling products market in 2026; by 2036 those shares move to 1.0% and 8.1%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Thailand is expected to account for US$ 304.7 Mn by 2036 at a CAGR of 7.8% over the forecast period. Thailand is expected to create an incremental opportunity of US$ 169.7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Thailand's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143.3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31.7 US$ Mn (22% share), ahead of 'Waxes, Clays, Pastes and Pomades' (22.2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31.8 US$ Mn (22% share), ahead of 'Strong Hold' (30.0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53.2 US$ Mn (37% share), ahead of 'Natural' (45.6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Thailand's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143.3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27.9 US$ Mn (19% share), ahead of 'Online Marketplaces' (27.7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26.9 US$ Mn (19% share), ahead of 'Heat Styling Support' (21.8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31.2 US$ Mn (22% share), ahead of 'Straight Hair' (30.1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37.3 US$ Mn (26% share), ahead of 'Texture and Volume Additives' (36.1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Thailand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Thailand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Thailand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Thailand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Thailand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Thailand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7" cy="1295400"/>
        </p:xfrm>
        <a:graphic>
          <a:graphicData uri="http://schemas.openxmlformats.org/drawingml/2006/table">
            <a:tbl>
              <a:tblPr>
                <a:tableStyleId>{5C22544A-7EE6-4342-B048-85BDC9FD1C3A}</a:tableStyleId>
              </a:tblPr>
              <a:tblGrid>
                <a:gridCol w="1367167"/>
                <a:gridCol w="701336"/>
                <a:gridCol w="701336"/>
                <a:gridCol w="701336"/>
                <a:gridCol w="701336"/>
                <a:gridCol w="701336"/>
                <a:gridCol w="701336"/>
                <a:gridCol w="701336"/>
                <a:gridCol w="701336"/>
                <a:gridCol w="701336"/>
                <a:gridCol w="701336"/>
                <a:gridCol w="701336"/>
                <a:gridCol w="701336"/>
                <a:gridCol w="701336"/>
                <a:gridCol w="701336"/>
                <a:gridCol w="701336"/>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Thailand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3" cy="2152650"/>
        </p:xfrm>
        <a:graphic>
          <a:graphicData uri="http://schemas.openxmlformats.org/drawingml/2006/table">
            <a:tbl>
              <a:tblPr>
                <a:tableStyleId>{5C22544A-7EE6-4342-B048-85BDC9FD1C3A}</a:tableStyleId>
              </a:tblPr>
              <a:tblGrid>
                <a:gridCol w="2822562"/>
                <a:gridCol w="599110"/>
                <a:gridCol w="599110"/>
                <a:gridCol w="599110"/>
                <a:gridCol w="599110"/>
                <a:gridCol w="599110"/>
                <a:gridCol w="599110"/>
                <a:gridCol w="599110"/>
                <a:gridCol w="599110"/>
                <a:gridCol w="599110"/>
                <a:gridCol w="599110"/>
                <a:gridCol w="677101"/>
                <a:gridCol w="599110"/>
                <a:gridCol w="599110"/>
                <a:gridCol w="599110"/>
                <a:gridCol w="599110"/>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Malaysia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3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Malaysia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53.9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104.9</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4.8%</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-30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Malaysia's hair styling products market expands at 6.4% CAGR through 2036, trailing the South Asia &amp; Pacific benchmark of 6.7% by 30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Malaysia holds 0.7% of the global and 4.7% of the South Asia &amp; Pacific hair styling products market in 2026; by 2036 those shares move to 0.8% and 4.6%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48.3 Mn Units between 2026 and 2036 the Malaysia market grows to 1.9×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Malaysia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84.4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189.2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5.3%</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-8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Malaysia's hair styling products market expands at 7.8% CAGR through 2036, trailing the South Asia &amp; Pacific benchmark of 7.9% by 8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Malaysia holds 0.6% of the global and 5.1% of the South Asia &amp; Pacific hair styling products market in 2026; by 2036 those shares move to 0.6% and 5.0%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Malaysia is expected to account for US$ 189.2 Mn by 2036 at a CAGR of 7.8% over the forecast period. Malaysia is expected to create an incremental opportunity of US$ 104.8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Malaysia's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89.5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17.4 US$ Mn (19% share), ahead of 'Waxes, Clays, Pastes and Pomades' (15.9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19.9 US$ Mn (22% share), ahead of 'Strong Hold' (18.8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30.6 US$ Mn (34% share), ahead of 'Matte' (29.8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Malaysia's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89.5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'Online Marketplaces' leads at 18.4 US$ Mn (21% share), ahead of 'Mass Retail' (18.3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16.3 US$ Mn (18% share), ahead of 'Hold and Shape' (14.0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19.5 US$ Mn (22% share), ahead of 'Straight Hair' (18.8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23.3 US$ Mn (26% share), ahead of 'Texture and Volume Additives' (22.5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Malaysia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Malaysia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Malaysia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Malaysia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Malaysia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Malaysia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Malaysia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0" cy="2152650"/>
        </p:xfrm>
        <a:graphic>
          <a:graphicData uri="http://schemas.openxmlformats.org/drawingml/2006/table">
            <a:tbl>
              <a:tblPr>
                <a:tableStyleId>{5C22544A-7EE6-4342-B048-85BDC9FD1C3A}</a:tableStyleId>
              </a:tblPr>
              <a:tblGrid>
                <a:gridCol w="2732910"/>
                <a:gridCol w="580080"/>
                <a:gridCol w="580080"/>
                <a:gridCol w="580080"/>
                <a:gridCol w="580080"/>
                <a:gridCol w="580080"/>
                <a:gridCol w="580080"/>
                <a:gridCol w="580080"/>
                <a:gridCol w="580080"/>
                <a:gridCol w="580080"/>
                <a:gridCol w="655595"/>
                <a:gridCol w="655595"/>
                <a:gridCol w="655595"/>
                <a:gridCol w="655595"/>
                <a:gridCol w="655595"/>
                <a:gridCol w="655595"/>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Indonesia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4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Indonesia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169.7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364.1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+66 BPS</a:t>
            </a:r>
          </a:p>
          <a:p>
            <a:pPr algn="ctr"/>
            <a:r>
              <a:rPr sz="1100" b="0">
                <a:solidFill>
                  <a:srgbClr val="6C7A89"/>
                </a:solidFill>
                <a:latin typeface="Calibri"/>
              </a:rPr>
              <a:t>vs South Asia &amp; Pacific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Indonesia's hair styling products market expands at 7.3% CAGR through 2036, outpacing the South Asia &amp; Pacific benchmark of 6.7% by 66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Indonesia holds 2.3% of the global and 14.9% of the South Asia &amp; Pacific hair styling products market in 2026; by 2036 those shares move to 2.8% and 15.8%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184.3 Mn Units between 2026 and 2036 the Indonesia market grows to 2.0×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Indonesia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194.6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505.0</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6.2%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9.2%</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+139 BPS</a:t>
            </a:r>
          </a:p>
          <a:p>
            <a:pPr algn="ctr"/>
            <a:r>
              <a:rPr sz="1100" b="0">
                <a:solidFill>
                  <a:srgbClr val="6C7A89"/>
                </a:solidFill>
                <a:latin typeface="Calibri"/>
              </a:rPr>
              <a:t>vs South Asia &amp; Pacific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Indonesia's hair styling products market expands at 9.2% CAGR through 2036, outpacing the South Asia &amp; Pacific benchmark of 7.9% by 139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Indonesia holds 1.3% of the global and 11.8% of the South Asia &amp; Pacific hair styling products market in 2026; by 2036 those shares move to 1.6% and 13.4%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Indonesia is expected to account for US$ 505.0 Mn by 2036 at a CAGR of 9.2% over the forecast period. Indonesia is expected to create an incremental opportunity of US$ 310.4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Indonesia's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208.6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'Waxes, Clays, Pastes and Pomades' leads at 36.5 US$ Mn (18% share), ahead of 'Styling Serums and Oils' (35.7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46.4 US$ Mn (22% share), ahead of 'Strong Hold' (43.8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74.8 US$ Mn (36% share), ahead of 'Natural' (67.9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Indonesia's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208.6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51.1 US$ Mn (24% share), ahead of 'Online Marketplaces' (38.6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'Curl Definition' leads at 36.1 US$ Mn (17% share), ahead of 'Hold and Shape' (31.9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'Coily Hair' leads at 43.5 US$ Mn (21% share), ahead of 'Curly Hair' (43.0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54.3 US$ Mn (26% share), ahead of 'Texture and Volume Additives' (52.3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Indonesia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Indonesia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5" cy="1295400"/>
        </p:xfrm>
        <a:graphic>
          <a:graphicData uri="http://schemas.openxmlformats.org/drawingml/2006/table">
            <a:tbl>
              <a:tblPr>
                <a:tableStyleId>{5C22544A-7EE6-4342-B048-85BDC9FD1C3A}</a:tableStyleId>
              </a:tblPr>
              <a:tblGrid>
                <a:gridCol w="1482655"/>
                <a:gridCol w="693636"/>
                <a:gridCol w="693636"/>
                <a:gridCol w="693636"/>
                <a:gridCol w="693636"/>
                <a:gridCol w="693636"/>
                <a:gridCol w="693636"/>
                <a:gridCol w="693636"/>
                <a:gridCol w="693636"/>
                <a:gridCol w="693636"/>
                <a:gridCol w="693636"/>
                <a:gridCol w="693636"/>
                <a:gridCol w="693636"/>
                <a:gridCol w="693636"/>
                <a:gridCol w="693636"/>
                <a:gridCol w="69363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Indonesia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369549"/>
                <a:gridCol w="701177"/>
                <a:gridCol w="701177"/>
                <a:gridCol w="701177"/>
                <a:gridCol w="701177"/>
                <a:gridCol w="701177"/>
                <a:gridCol w="701177"/>
                <a:gridCol w="701177"/>
                <a:gridCol w="701177"/>
                <a:gridCol w="701177"/>
                <a:gridCol w="701177"/>
                <a:gridCol w="701177"/>
                <a:gridCol w="701177"/>
                <a:gridCol w="701177"/>
                <a:gridCol w="701177"/>
                <a:gridCol w="701177"/>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Indonesia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Indonesia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Indonesia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7" cy="1295400"/>
        </p:xfrm>
        <a:graphic>
          <a:graphicData uri="http://schemas.openxmlformats.org/drawingml/2006/table">
            <a:tbl>
              <a:tblPr>
                <a:tableStyleId>{5C22544A-7EE6-4342-B048-85BDC9FD1C3A}</a:tableStyleId>
              </a:tblPr>
              <a:tblGrid>
                <a:gridCol w="1367167"/>
                <a:gridCol w="701336"/>
                <a:gridCol w="701336"/>
                <a:gridCol w="701336"/>
                <a:gridCol w="701336"/>
                <a:gridCol w="701336"/>
                <a:gridCol w="701336"/>
                <a:gridCol w="701336"/>
                <a:gridCol w="701336"/>
                <a:gridCol w="701336"/>
                <a:gridCol w="701336"/>
                <a:gridCol w="701336"/>
                <a:gridCol w="701336"/>
                <a:gridCol w="701336"/>
                <a:gridCol w="701336"/>
                <a:gridCol w="701336"/>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Indonesia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2152650"/>
        </p:xfrm>
        <a:graphic>
          <a:graphicData uri="http://schemas.openxmlformats.org/drawingml/2006/table">
            <a:tbl>
              <a:tblPr>
                <a:tableStyleId>{5C22544A-7EE6-4342-B048-85BDC9FD1C3A}</a:tableStyleId>
              </a:tblPr>
              <a:tblGrid>
                <a:gridCol w="2715658"/>
                <a:gridCol w="576419"/>
                <a:gridCol w="576419"/>
                <a:gridCol w="576419"/>
                <a:gridCol w="576419"/>
                <a:gridCol w="576419"/>
                <a:gridCol w="576419"/>
                <a:gridCol w="576419"/>
                <a:gridCol w="576419"/>
                <a:gridCol w="651456"/>
                <a:gridCol w="651456"/>
                <a:gridCol w="651456"/>
                <a:gridCol w="651456"/>
                <a:gridCol w="651456"/>
                <a:gridCol w="651456"/>
                <a:gridCol w="65145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Singapore</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4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Singapore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29.8</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47.1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-232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Singapore's hair styling products market expands at 4.3% CAGR through 2036, trailing the South Asia &amp; Pacific benchmark of 6.7% by 232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Singapore holds 0.4% of the global and 2.6% of the South Asia &amp; Pacific hair styling products market in 2026; by 2036 those shares move to 0.4% and 2.0%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16.3 Mn Units between 2026 and 2036 the Singapore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Singapore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95.5</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181.2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3.8%</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6.1%</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-172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Singapore's hair styling products market expands at 6.1% CAGR through 2036, trailing the South Asia &amp; Pacific benchmark of 7.9% by 172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Singapore holds 0.6% of the global and 5.6% of the South Asia &amp; Pacific hair styling products market in 2026; by 2036 those shares move to 0.6% and 4.8%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Singapore is expected to account for US$ 181.2 Mn by 2036 at a CAGR of 6.1% over the forecast period. Singapore is expected to create an incremental opportunity of US$ 85.7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Singapore's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99.9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22.7 US$ Mn (23% share), ahead of 'Waxes, Clays, Pastes and Pomades' (15.2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22.2 US$ Mn (22% share), ahead of 'Strong Hold' (20.9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34.1 US$ Mn (34% share), ahead of 'Matte' (33.2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Singapore's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99.9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'Salon and Professional Distribution' leads at 20.2 US$ Mn (20% share), ahead of 'Online Marketplaces' (19.5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17.3 US$ Mn (17% share), ahead of 'Heat Styling Support' (16.7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21.8 US$ Mn (22% share), ahead of 'Straight Hair' (21.0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25.9 US$ Mn (26% share), ahead of 'Texture and Volume Additives' (25.1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Singapore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Singapore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Singapore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Singapore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Singapore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Singapore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Singapore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Philippines</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4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Philippines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73.4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163.4</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5.9%</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7.7%</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+102 BPS</a:t>
            </a:r>
          </a:p>
          <a:p>
            <a:pPr algn="ctr"/>
            <a:r>
              <a:rPr sz="1100" b="0">
                <a:solidFill>
                  <a:srgbClr val="6C7A89"/>
                </a:solidFill>
                <a:latin typeface="Calibri"/>
              </a:rPr>
              <a:t>vs South Asia &amp; Pacific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Philippines's hair styling products market expands at 7.7% CAGR through 2036, outpacing the South Asia &amp; Pacific benchmark of 6.7% by 102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Philippines holds 1.0% of the global and 6.5% of the South Asia &amp; Pacific hair styling products market in 2026; by 2036 those shares move to 1.2% and 7.1%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85.4 Mn Units between 2026 and 2036 the Philippines market grows to 2.1×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Philippines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89.1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239.2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6.5%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9.6%</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+173 BPS</a:t>
            </a:r>
          </a:p>
          <a:p>
            <a:pPr algn="ctr"/>
            <a:r>
              <a:rPr sz="1100" b="0">
                <a:solidFill>
                  <a:srgbClr val="6C7A89"/>
                </a:solidFill>
                <a:latin typeface="Calibri"/>
              </a:rPr>
              <a:t>vs South Asia &amp; Pacific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Philippines's hair styling products market expands at 9.6% CAGR through 2036, outpacing the South Asia &amp; Pacific benchmark of 7.9% by 173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Philippines holds 0.6% of the global and 5.4% of the South Asia &amp; Pacific hair styling products market in 2026; by 2036 those shares move to 0.8% and 6.3%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the Philippines is expected to account for US$ 239.2 Mn by 2036 at a CAGR of 9.6% over the forecast period. The Philippines is expected to create an incremental opportunity of US$ 150.1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Philippines's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95.8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18.2 US$ Mn (19% share), ahead of 'Waxes, Clays, Pastes and Pomades' (15.1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21.3 US$ Mn (22% share), ahead of 'Strong Hold' (20.1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34.5 US$ Mn (36% share), ahead of 'Natural' (31.1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Philippines's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95.8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23.7 US$ Mn (25% share), ahead of 'Online Marketplaces' (17.4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'Curl Definition' leads at 17.1 US$ Mn (18% share), ahead of 'Hold and Shape' (14.6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'Curly Hair' leads at 20.7 US$ Mn (22% share), ahead of 'All Hair Types' (19.7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24.9 US$ Mn (26% share), ahead of 'Texture and Volume Additives' (24.0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Philippines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12.7%</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Philippines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5" cy="1295400"/>
        </p:xfrm>
        <a:graphic>
          <a:graphicData uri="http://schemas.openxmlformats.org/drawingml/2006/table">
            <a:tbl>
              <a:tblPr>
                <a:tableStyleId>{5C22544A-7EE6-4342-B048-85BDC9FD1C3A}</a:tableStyleId>
              </a:tblPr>
              <a:tblGrid>
                <a:gridCol w="1482655"/>
                <a:gridCol w="693636"/>
                <a:gridCol w="693636"/>
                <a:gridCol w="693636"/>
                <a:gridCol w="693636"/>
                <a:gridCol w="693636"/>
                <a:gridCol w="693636"/>
                <a:gridCol w="693636"/>
                <a:gridCol w="693636"/>
                <a:gridCol w="693636"/>
                <a:gridCol w="693636"/>
                <a:gridCol w="693636"/>
                <a:gridCol w="693636"/>
                <a:gridCol w="693636"/>
                <a:gridCol w="693636"/>
                <a:gridCol w="69363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Philippines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369549"/>
                <a:gridCol w="701177"/>
                <a:gridCol w="701177"/>
                <a:gridCol w="701177"/>
                <a:gridCol w="701177"/>
                <a:gridCol w="701177"/>
                <a:gridCol w="701177"/>
                <a:gridCol w="701177"/>
                <a:gridCol w="701177"/>
                <a:gridCol w="701177"/>
                <a:gridCol w="701177"/>
                <a:gridCol w="701177"/>
                <a:gridCol w="701177"/>
                <a:gridCol w="701177"/>
                <a:gridCol w="701177"/>
                <a:gridCol w="701177"/>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Philippines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Philippines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12.3%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12.0%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Philippines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7" cy="1295400"/>
        </p:xfrm>
        <a:graphic>
          <a:graphicData uri="http://schemas.openxmlformats.org/drawingml/2006/table">
            <a:tbl>
              <a:tblPr>
                <a:tableStyleId>{5C22544A-7EE6-4342-B048-85BDC9FD1C3A}</a:tableStyleId>
              </a:tblPr>
              <a:tblGrid>
                <a:gridCol w="1367167"/>
                <a:gridCol w="701336"/>
                <a:gridCol w="701336"/>
                <a:gridCol w="701336"/>
                <a:gridCol w="701336"/>
                <a:gridCol w="701336"/>
                <a:gridCol w="701336"/>
                <a:gridCol w="701336"/>
                <a:gridCol w="701336"/>
                <a:gridCol w="701336"/>
                <a:gridCol w="701336"/>
                <a:gridCol w="701336"/>
                <a:gridCol w="701336"/>
                <a:gridCol w="701336"/>
                <a:gridCol w="701336"/>
                <a:gridCol w="701336"/>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Philippines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2152650"/>
        </p:xfrm>
        <a:graphic>
          <a:graphicData uri="http://schemas.openxmlformats.org/drawingml/2006/table">
            <a:tbl>
              <a:tblPr>
                <a:tableStyleId>{5C22544A-7EE6-4342-B048-85BDC9FD1C3A}</a:tableStyleId>
              </a:tblPr>
              <a:tblGrid>
                <a:gridCol w="2698623"/>
                <a:gridCol w="572803"/>
                <a:gridCol w="572803"/>
                <a:gridCol w="572803"/>
                <a:gridCol w="572803"/>
                <a:gridCol w="572803"/>
                <a:gridCol w="572803"/>
                <a:gridCol w="572803"/>
                <a:gridCol w="647370"/>
                <a:gridCol w="647370"/>
                <a:gridCol w="647370"/>
                <a:gridCol w="647370"/>
                <a:gridCol w="647370"/>
                <a:gridCol w="647370"/>
                <a:gridCol w="647370"/>
                <a:gridCol w="647370"/>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Australia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5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Australia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134.2</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204.6</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3.0%</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4.0%</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-267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Australia's hair styling products market expands at 4.0% CAGR through 2036, trailing the South Asia &amp; Pacific benchmark of 6.7% by 267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Australia holds 1.7% of the global and 11.5% of the South Asia &amp; Pacific hair styling products market in 2026; by 2036 those shares move to 1.6% and 8.9%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66.1 Mn Units between 2026 and 2036 the Australia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Australia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405.7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724.7</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5.5%</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-231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Australia's hair styling products market expands at 5.5% CAGR through 2036, trailing the South Asia &amp; Pacific benchmark of 7.9% by 231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Australia holds 2.6% of the global and 23.9% of the South Asia &amp; Pacific hair styling products market in 2026; by 2036 those shares move to 2.4% and 19.2%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Australia is expected to account for US$ 724.7 Mn by 2036 at a CAGR of 5.5% over the forecast period. Australia is expected to create an incremental opportunity of US$ 319.0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Australia's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422.7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'Waxes, Clays, Pastes and Pomades' leads at 75.4 US$ Mn (18% share), ahead of 'Styling Serums and Oils' (74.0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93.8 US$ Mn (22% share), ahead of 'Strong Hold' (88.4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150.9 US$ Mn (36% share), ahead of 'Matte' (141.7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Australia's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422.7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'Salon and Professional Distribution' leads at 84.2 US$ Mn (20% share), ahead of 'Online Marketplaces' (81.3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67.4 US$ Mn (16% share), ahead of 'Smoothing and Frizz Control' (67.0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92.0 US$ Mn (22% share), ahead of 'Straight Hair' (88.7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109.5 US$ Mn (26% share), ahead of 'Texture and Volume Additives' (106.5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Australia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Australia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Australia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Australia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Australia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Australia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Australia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New Zealand</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5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New Zealand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24.1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35.1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2.6%</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3.5%</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-311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New Zealand's hair styling products market expands at 3.5% CAGR through 2036, trailing the South Asia &amp; Pacific benchmark of 6.7% by 311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New Zealand holds 0.3% of the global and 2.0% of the South Asia &amp; Pacific hair styling products market in 2026; by 2036 those shares move to 0.3% and 1.5%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10.3 Mn Units between 2026 and 2036 the New Zealand market grows to 1.4×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New Zealand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72.0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121.8</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5.0%</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-285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New Zealand's hair styling products market expands at 5.0% CAGR through 2036, trailing the South Asia &amp; Pacific benchmark of 7.9% by 285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New Zealand holds 0.5% of the global and 4.2% of the South Asia &amp; Pacific hair styling products market in 2026; by 2036 those shares move to 0.4% and 3.2%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New Zealand is expected to account for US$ 121.8 Mn by 2036 at a CAGR of 5.0% over the forecast period. New Zealand is expected to create an incremental opportunity of US$ 49.8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New Zealand's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74.7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13.5 US$ Mn (18% share), ahead of 'Waxes, Clays, Pastes and Pomades' (12.1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16.6 US$ Mn (22% share), ahead of 'Strong Hold' (15.6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27.3 US$ Mn (37% share), ahead of 'Matte' (23.8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New Zealand's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74.7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'Online Marketplaces' leads at 15.1 US$ Mn (20% share), ahead of 'Mass Retail' (14.3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11.9 US$ Mn (16% share), ahead of 'Smoothing and Frizz Control' (11.8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16.3 US$ Mn (22% share), ahead of 'Straight Hair' (15.7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19.4 US$ Mn (26% share), ahead of 'Texture and Volume Additives' (18.7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New Zealand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New Zealand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New Zealand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New Zealand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New Zealand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New Zealand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New Zealand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Rest of South Asia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5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South Asia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113.5</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221.0</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4.9%</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-30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South Asia's hair styling products market expands at 6.4% CAGR through 2036, trailing the South Asia &amp; Pacific benchmark of 6.7% by 30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South Asia holds 1.5% of the global and 9.9% of the South Asia &amp; Pacific hair styling products market in 2026; by 2036 those shares move to 1.7% and 9.6%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101.6 Mn Units between 2026 and 2036 the Rest of South Asia market grows to 1.9×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South Asia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137.3</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315.9</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5.4%</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8.0%</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+18 BPS</a:t>
            </a:r>
          </a:p>
          <a:p>
            <a:pPr algn="ctr"/>
            <a:r>
              <a:rPr sz="1100" b="0">
                <a:solidFill>
                  <a:srgbClr val="6C7A89"/>
                </a:solidFill>
                <a:latin typeface="Calibri"/>
              </a:rPr>
              <a:t>vs South Asia &amp; Pacific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South Asia's hair styling products market expands at 8.0% CAGR through 2036, outpacing the South Asia &amp; Pacific benchmark of 7.9% by 18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South Asia holds 0.9% of the global and 8.2% of the South Asia &amp; Pacific hair styling products market in 2026; by 2036 those shares move to 1.0% and 8.4%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Rest of South Asia is expected to account for US$ 315.9 Mn by 2036 at a CAGR of 8.0% over the forecast period. Rest of South Asia is expected to create an incremental opportunity of US$ 178.6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South Asia's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145.9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'Waxes, Clays, Pastes and Pomades' leads at 27.1 US$ Mn (19% share), ahead of 'Styling Serums and Oils' (24.9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35.8 US$ Mn (25% share), ahead of 'Strong Hold' (32.3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49.9 US$ Mn (34% share), ahead of 'Matte' (48.6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South Asia's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145.9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38.6 US$ Mn (26% share), ahead of 'Salon and Professional Distribution' (24.3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26.7 US$ Mn (18% share), ahead of 'Smoothing and Frizz Control' (22.6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31.8 US$ Mn (22% share), ahead of 'Straight Hair' (30.7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37.9 US$ Mn (26% share), ahead of 'Texture and Volume Additives' (36.6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South Asia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South Asia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5" cy="1295400"/>
        </p:xfrm>
        <a:graphic>
          <a:graphicData uri="http://schemas.openxmlformats.org/drawingml/2006/table">
            <a:tbl>
              <a:tblPr>
                <a:tableStyleId>{5C22544A-7EE6-4342-B048-85BDC9FD1C3A}</a:tableStyleId>
              </a:tblPr>
              <a:tblGrid>
                <a:gridCol w="1482655"/>
                <a:gridCol w="693636"/>
                <a:gridCol w="693636"/>
                <a:gridCol w="693636"/>
                <a:gridCol w="693636"/>
                <a:gridCol w="693636"/>
                <a:gridCol w="693636"/>
                <a:gridCol w="693636"/>
                <a:gridCol w="693636"/>
                <a:gridCol w="693636"/>
                <a:gridCol w="693636"/>
                <a:gridCol w="693636"/>
                <a:gridCol w="693636"/>
                <a:gridCol w="693636"/>
                <a:gridCol w="693636"/>
                <a:gridCol w="69363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South Asia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segmental analysis by Distribution Channel: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South Asia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segmental analysis by Primary Styling Benefit: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South Asia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South Asia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7" cy="1295400"/>
        </p:xfrm>
        <a:graphic>
          <a:graphicData uri="http://schemas.openxmlformats.org/drawingml/2006/table">
            <a:tbl>
              <a:tblPr>
                <a:tableStyleId>{5C22544A-7EE6-4342-B048-85BDC9FD1C3A}</a:tableStyleId>
              </a:tblPr>
              <a:tblGrid>
                <a:gridCol w="1367167"/>
                <a:gridCol w="701336"/>
                <a:gridCol w="701336"/>
                <a:gridCol w="701336"/>
                <a:gridCol w="701336"/>
                <a:gridCol w="701336"/>
                <a:gridCol w="701336"/>
                <a:gridCol w="701336"/>
                <a:gridCol w="701336"/>
                <a:gridCol w="701336"/>
                <a:gridCol w="701336"/>
                <a:gridCol w="701336"/>
                <a:gridCol w="701336"/>
                <a:gridCol w="701336"/>
                <a:gridCol w="701336"/>
                <a:gridCol w="701336"/>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segmental analysis by Ingredient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South Asia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0" cy="2152650"/>
        </p:xfrm>
        <a:graphic>
          <a:graphicData uri="http://schemas.openxmlformats.org/drawingml/2006/table">
            <a:tbl>
              <a:tblPr>
                <a:tableStyleId>{5C22544A-7EE6-4342-B048-85BDC9FD1C3A}</a:tableStyleId>
              </a:tblPr>
              <a:tblGrid>
                <a:gridCol w="2732910"/>
                <a:gridCol w="580080"/>
                <a:gridCol w="580080"/>
                <a:gridCol w="580080"/>
                <a:gridCol w="580080"/>
                <a:gridCol w="580080"/>
                <a:gridCol w="580080"/>
                <a:gridCol w="580080"/>
                <a:gridCol w="580080"/>
                <a:gridCol w="580080"/>
                <a:gridCol w="655595"/>
                <a:gridCol w="655595"/>
                <a:gridCol w="655595"/>
                <a:gridCol w="655595"/>
                <a:gridCol w="655595"/>
                <a:gridCol w="655595"/>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UAE</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5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UAE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42.7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75.2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-67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UAE's hair styling products market expands at 5.4% CAGR through 2036, trailing the Middle East &amp; Africa benchmark of 6.0% by 67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UAE holds 0.6% of the global and 7.7% of the Middle East &amp; Africa hair styling products market in 2026; by 2036 those shares move to 0.6% and 7.2%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30.6 Mn Units between 2026 and 2036 the UAE market grows to 1.7×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UAE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113.0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230.0</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4.6%</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-72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UAE's hair styling products market expands at 6.8% CAGR through 2036, trailing the Middle East &amp; Africa benchmark of 7.5% by 72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UAE holds 0.7% of the global and 11.6% of the Middle East &amp; Africa hair styling products market in 2026; by 2036 those shares move to 0.7% and 10.8%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the UAE is expected to account for US$ 230.0 Mn by 2036 at a CAGR of 6.8% over the forecast period. The UAE is expected to create an incremental opportunity of US$ 117.0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UAE's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118.9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27.0 US$ Mn (23% share), ahead of 'Waxes, Clays, Pastes and Pomades' (18.1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26.4 US$ Mn (22% share), ahead of 'Strong Hold' (24.9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44.2 US$ Mn (37% share), ahead of 'Natural' (37.8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UAE's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118.9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'Salon and Professional Distribution' leads at 25.8 US$ Mn (22% share), ahead of 'Beauty Specialty Retail' (20.5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21.5 US$ Mn (18% share), ahead of 'Heat Styling Support' (19.4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25.9 US$ Mn (22% share), ahead of 'Straight Hair' (25.0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30.8 US$ Mn (26% share), ahead of 'Texture and Volume Additives' (30.0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UAE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UAE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UAE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UAE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UAE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UAE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UAE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Saudi Arabia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6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Saudi Arabia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86.5</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161.1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5.9%</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-12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Saudi Arabia's hair styling products market expands at 5.9% CAGR through 2036, trailing the Middle East &amp; Africa benchmark of 6.0% by 12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Saudi Arabia holds 1.1% of the global and 15.6% of the Middle East &amp; Africa hair styling products market in 2026; by 2036 those shares move to 1.2% and 15.4%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70.5 Mn Units between 2026 and 2036 the Saudi Arabia market grows to 1.8×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Saudi Arabia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197.3</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431.2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7.5%</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Saudi Arabia's hair styling products market expands at 7.5% CAGR through 2036, trailing the Middle East &amp; Africa benchmark of 7.5% by 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Saudi Arabia holds 1.3% of the global and 20.4% of the Middle East &amp; Africa hair styling products market in 2026; by 2036 those shares move to 1.4% and 20.3%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Saudi Arabia is expected to account for US$ 431.2 Mn by 2036 at a CAGR of 7.5% over the forecast period. Saudi Arabia is expected to create an incremental opportunity of US$ 233.9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Saudi Arabia's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208.9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46.5 US$ Mn (22% share), ahead of 'Waxes, Clays, Pastes and Pomades' (32.2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46.4 US$ Mn (22% share), ahead of 'Strong Hold' (43.8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79.0 US$ Mn (38% share), ahead of 'Natural' (65.6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Saudi Arabia's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208.9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'Salon and Professional Distribution' leads at 43.5 US$ Mn (21% share), ahead of 'Mass Retail' (37.5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39.0 US$ Mn (19% share), ahead of 'Heat Styling Support' (32.8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45.5 US$ Mn (22% share), ahead of 'Straight Hair' (43.9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54.3 US$ Mn (26% share), ahead of 'Texture and Volume Additives' (52.6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Saudi Arabia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Saudi Arabia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Saudi Arabia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Saudi Arabia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Saudi Arabia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Saudi Arabia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Saudi Arabia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2152650"/>
        </p:xfrm>
        <a:graphic>
          <a:graphicData uri="http://schemas.openxmlformats.org/drawingml/2006/table">
            <a:tbl>
              <a:tblPr>
                <a:tableStyleId>{5C22544A-7EE6-4342-B048-85BDC9FD1C3A}</a:tableStyleId>
              </a:tblPr>
              <a:tblGrid>
                <a:gridCol w="2768078"/>
                <a:gridCol w="587545"/>
                <a:gridCol w="587545"/>
                <a:gridCol w="587545"/>
                <a:gridCol w="587545"/>
                <a:gridCol w="587545"/>
                <a:gridCol w="587545"/>
                <a:gridCol w="587545"/>
                <a:gridCol w="587545"/>
                <a:gridCol w="587545"/>
                <a:gridCol w="664031"/>
                <a:gridCol w="664031"/>
                <a:gridCol w="664031"/>
                <a:gridCol w="664031"/>
                <a:gridCol w="587545"/>
                <a:gridCol w="587545"/>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Turkey</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6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Turkey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136.4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266.5</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4.9%</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+35 BPS</a:t>
            </a:r>
          </a:p>
          <a:p>
            <a:pPr algn="ctr"/>
            <a:r>
              <a:rPr sz="1100" b="0">
                <a:solidFill>
                  <a:srgbClr val="6C7A89"/>
                </a:solidFill>
                <a:latin typeface="Calibri"/>
              </a:rPr>
              <a:t>vs Middle East &amp; Africa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Turkey's hair styling products market expands at 6.4% CAGR through 2036, outpacing the Middle East &amp; Africa benchmark of 6.0% by 35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Turkey holds 1.8% of the global and 24.7% of the Middle East &amp; Africa hair styling products market in 2026; by 2036 those shares move to 2.0% and 25.5%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123.0 Mn Units between 2026 and 2036 the Turkey market grows to 1.9×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Turkey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180.2</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408.1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7.9%</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+32 BPS</a:t>
            </a:r>
          </a:p>
          <a:p>
            <a:pPr algn="ctr"/>
            <a:r>
              <a:rPr sz="1100" b="0">
                <a:solidFill>
                  <a:srgbClr val="6C7A89"/>
                </a:solidFill>
                <a:latin typeface="Calibri"/>
              </a:rPr>
              <a:t>vs Middle East &amp; Africa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Turkey's hair styling products market expands at 7.9% CAGR through 2036, outpacing the Middle East &amp; Africa benchmark of 7.5% by 32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Turkey holds 1.2% of the global and 18.7% of the Middle East &amp; Africa hair styling products market in 2026; by 2036 those shares move to 1.3% and 19.2%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Turkey is expected to account for US$ 408.1 Mn by 2036 at a CAGR of 7.9% over the forecast period. Turkey is expected to create an incremental opportunity of US$ 227.9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Turkey's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191.4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'Waxes, Clays, Pastes and Pomades' leads at 36.8 US$ Mn (19% share), ahead of 'Styling Serums and Oils' (33.0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'Strong Hold' leads at 44.9 US$ Mn (23% share), ahead of 'Medium Hold' (41.0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'Matte' leads at 70.8 US$ Mn (37% share), ahead of 'Natural' (61.6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Turkey's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191.4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44.5 US$ Mn (23% share), ahead of 'Salon and Professional Distribution' (35.8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30.6 US$ Mn (16% share), ahead of 'Smoothing and Frizz Control' (30.2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41.7 US$ Mn (22% share), ahead of 'Straight Hair' (40.3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49.7 US$ Mn (26% share), ahead of 'Texture and Volume Additives' (48.2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Turkey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Turkey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5" cy="1295400"/>
        </p:xfrm>
        <a:graphic>
          <a:graphicData uri="http://schemas.openxmlformats.org/drawingml/2006/table">
            <a:tbl>
              <a:tblPr>
                <a:tableStyleId>{5C22544A-7EE6-4342-B048-85BDC9FD1C3A}</a:tableStyleId>
              </a:tblPr>
              <a:tblGrid>
                <a:gridCol w="1482655"/>
                <a:gridCol w="693636"/>
                <a:gridCol w="693636"/>
                <a:gridCol w="693636"/>
                <a:gridCol w="693636"/>
                <a:gridCol w="693636"/>
                <a:gridCol w="693636"/>
                <a:gridCol w="693636"/>
                <a:gridCol w="693636"/>
                <a:gridCol w="693636"/>
                <a:gridCol w="693636"/>
                <a:gridCol w="693636"/>
                <a:gridCol w="693636"/>
                <a:gridCol w="693636"/>
                <a:gridCol w="693636"/>
                <a:gridCol w="69363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Turkey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Turkey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Turkey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Turkey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7" cy="1295400"/>
        </p:xfrm>
        <a:graphic>
          <a:graphicData uri="http://schemas.openxmlformats.org/drawingml/2006/table">
            <a:tbl>
              <a:tblPr>
                <a:tableStyleId>{5C22544A-7EE6-4342-B048-85BDC9FD1C3A}</a:tableStyleId>
              </a:tblPr>
              <a:tblGrid>
                <a:gridCol w="1367167"/>
                <a:gridCol w="701336"/>
                <a:gridCol w="701336"/>
                <a:gridCol w="701336"/>
                <a:gridCol w="701336"/>
                <a:gridCol w="701336"/>
                <a:gridCol w="701336"/>
                <a:gridCol w="701336"/>
                <a:gridCol w="701336"/>
                <a:gridCol w="701336"/>
                <a:gridCol w="701336"/>
                <a:gridCol w="701336"/>
                <a:gridCol w="701336"/>
                <a:gridCol w="701336"/>
                <a:gridCol w="701336"/>
                <a:gridCol w="701336"/>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Turkey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0" cy="2152650"/>
        </p:xfrm>
        <a:graphic>
          <a:graphicData uri="http://schemas.openxmlformats.org/drawingml/2006/table">
            <a:tbl>
              <a:tblPr>
                <a:tableStyleId>{5C22544A-7EE6-4342-B048-85BDC9FD1C3A}</a:tableStyleId>
              </a:tblPr>
              <a:tblGrid>
                <a:gridCol w="2732910"/>
                <a:gridCol w="580080"/>
                <a:gridCol w="580080"/>
                <a:gridCol w="580080"/>
                <a:gridCol w="580080"/>
                <a:gridCol w="580080"/>
                <a:gridCol w="580080"/>
                <a:gridCol w="580080"/>
                <a:gridCol w="580080"/>
                <a:gridCol w="580080"/>
                <a:gridCol w="655595"/>
                <a:gridCol w="655595"/>
                <a:gridCol w="655595"/>
                <a:gridCol w="655595"/>
                <a:gridCol w="655595"/>
                <a:gridCol w="655595"/>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Israel</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6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Israel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39.4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65.4</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3.6%</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-122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Israel's hair styling products market expands at 4.8% CAGR through 2036, trailing the Middle East &amp; Africa benchmark of 6.0% by 122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Israel holds 0.5% of the global and 7.0% of the Middle East &amp; Africa hair styling products market in 2026; by 2036 those shares move to 0.5% and 6.3%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24.6 Mn Units between 2026 and 2036 the Israel market grows to 1.6×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Israel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110.7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216.4</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-111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Israel's hair styling products market expands at 6.4% CAGR through 2036, trailing the Middle East &amp; Africa benchmark of 7.5% by 111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Israel holds 0.7% of the global and 11.3% of the Middle East &amp; Africa hair styling products market in 2026; by 2036 those shares move to 0.7% and 10.2%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Israel is expected to account for US$ 216.4 Mn by 2036 at a CAGR of 6.4% over the forecast period. Israel is expected to create an incremental opportunity of US$ 105.7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Israel's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116.1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23.8 US$ Mn (20% share), ahead of 'Waxes, Clays, Pastes and Pomades' (18.1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25.8 US$ Mn (22% share), ahead of 'Strong Hold' (24.3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42.5 US$ Mn (37% share), ahead of 'Matte' (37.0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Israel's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116.1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'Online Marketplaces' leads at 23.7 US$ Mn (20% share), ahead of 'Salon and Professional Distribution' (23.1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18.5 US$ Mn (16% share), ahead of 'Smoothing and Frizz Control' (18.4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25.3 US$ Mn (22% share), ahead of 'Straight Hair' (24.4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30.2 US$ Mn (26% share), ahead of 'Texture and Volume Additives' (29.1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Israel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Israel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Israel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Israel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Israel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Israel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Israel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Rest of GCC</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7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GCC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29.4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60.6</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5.3%</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6.9%</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+89 BPS</a:t>
            </a:r>
          </a:p>
          <a:p>
            <a:pPr algn="ctr"/>
            <a:r>
              <a:rPr sz="1100" b="0">
                <a:solidFill>
                  <a:srgbClr val="6C7A89"/>
                </a:solidFill>
                <a:latin typeface="Calibri"/>
              </a:rPr>
              <a:t>vs Middle East &amp; Africa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GCC's hair styling products market expands at 6.9% CAGR through 2036, outpacing the Middle East &amp; Africa benchmark of 6.0% by 89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GCC holds 0.4% of the global and 5.3% of the Middle East &amp; Africa hair styling products market in 2026; by 2036 those shares move to 0.5% and 5.8%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29.6 Mn Units between 2026 and 2036 the Rest of GCC market grows to 2.0×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GCC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65.6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161.9</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5.9%</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8.7%</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+120 BPS</a:t>
            </a:r>
          </a:p>
          <a:p>
            <a:pPr algn="ctr"/>
            <a:r>
              <a:rPr sz="1100" b="0">
                <a:solidFill>
                  <a:srgbClr val="6C7A89"/>
                </a:solidFill>
                <a:latin typeface="Calibri"/>
              </a:rPr>
              <a:t>vs Middle East &amp; Africa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GCC's hair styling products market expands at 8.7% CAGR through 2036, outpacing the Middle East &amp; Africa benchmark of 7.5% by 120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GCC holds 0.4% of the global and 6.8% of the Middle East &amp; Africa hair styling products market in 2026; by 2036 those shares move to 0.5% and 7.6%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Rest of GCC is expected to account for US$ 161.9 Mn by 2036 at a CAGR of 8.7% over the forecast period. Rest of GCC is expected to create an incremental opportunity of US$ 96.3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GCC's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70.1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15.2 US$ Mn (22% share), ahead of 'Waxes, Clays, Pastes and Pomades' (10.9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15.6 US$ Mn (22% share), ahead of 'Strong Hold' (14.7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25.8 US$ Mn (37% share), ahead of 'Natural' (22.4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GCC's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70.1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'Salon and Professional Distribution' leads at 14.2 US$ Mn (20% share), ahead of 'Mass Retail' (12.8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12.6 US$ Mn (18% share), ahead of 'Heat Styling Support' (10.9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15.3 US$ Mn (22% share), ahead of 'Straight Hair' (14.7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18.2 US$ Mn (26% share), ahead of 'Texture and Volume Additives' (17.7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GCC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GCC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5" cy="1295400"/>
        </p:xfrm>
        <a:graphic>
          <a:graphicData uri="http://schemas.openxmlformats.org/drawingml/2006/table">
            <a:tbl>
              <a:tblPr>
                <a:tableStyleId>{5C22544A-7EE6-4342-B048-85BDC9FD1C3A}</a:tableStyleId>
              </a:tblPr>
              <a:tblGrid>
                <a:gridCol w="1482655"/>
                <a:gridCol w="693636"/>
                <a:gridCol w="693636"/>
                <a:gridCol w="693636"/>
                <a:gridCol w="693636"/>
                <a:gridCol w="693636"/>
                <a:gridCol w="693636"/>
                <a:gridCol w="693636"/>
                <a:gridCol w="693636"/>
                <a:gridCol w="693636"/>
                <a:gridCol w="693636"/>
                <a:gridCol w="693636"/>
                <a:gridCol w="693636"/>
                <a:gridCol w="693636"/>
                <a:gridCol w="693636"/>
                <a:gridCol w="69363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GCC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369549"/>
                <a:gridCol w="701177"/>
                <a:gridCol w="701177"/>
                <a:gridCol w="701177"/>
                <a:gridCol w="701177"/>
                <a:gridCol w="701177"/>
                <a:gridCol w="701177"/>
                <a:gridCol w="701177"/>
                <a:gridCol w="701177"/>
                <a:gridCol w="701177"/>
                <a:gridCol w="701177"/>
                <a:gridCol w="701177"/>
                <a:gridCol w="701177"/>
                <a:gridCol w="701177"/>
                <a:gridCol w="701177"/>
                <a:gridCol w="701177"/>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GCC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GCC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GCC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7" cy="1295400"/>
        </p:xfrm>
        <a:graphic>
          <a:graphicData uri="http://schemas.openxmlformats.org/drawingml/2006/table">
            <a:tbl>
              <a:tblPr>
                <a:tableStyleId>{5C22544A-7EE6-4342-B048-85BDC9FD1C3A}</a:tableStyleId>
              </a:tblPr>
              <a:tblGrid>
                <a:gridCol w="1367167"/>
                <a:gridCol w="701336"/>
                <a:gridCol w="701336"/>
                <a:gridCol w="701336"/>
                <a:gridCol w="701336"/>
                <a:gridCol w="701336"/>
                <a:gridCol w="701336"/>
                <a:gridCol w="701336"/>
                <a:gridCol w="701336"/>
                <a:gridCol w="701336"/>
                <a:gridCol w="701336"/>
                <a:gridCol w="701336"/>
                <a:gridCol w="701336"/>
                <a:gridCol w="701336"/>
                <a:gridCol w="701336"/>
                <a:gridCol w="701336"/>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GCC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0" cy="2152650"/>
        </p:xfrm>
        <a:graphic>
          <a:graphicData uri="http://schemas.openxmlformats.org/drawingml/2006/table">
            <a:tbl>
              <a:tblPr>
                <a:tableStyleId>{5C22544A-7EE6-4342-B048-85BDC9FD1C3A}</a:tableStyleId>
              </a:tblPr>
              <a:tblGrid>
                <a:gridCol w="2732910"/>
                <a:gridCol w="580080"/>
                <a:gridCol w="580080"/>
                <a:gridCol w="580080"/>
                <a:gridCol w="580080"/>
                <a:gridCol w="580080"/>
                <a:gridCol w="580080"/>
                <a:gridCol w="580080"/>
                <a:gridCol w="580080"/>
                <a:gridCol w="580080"/>
                <a:gridCol w="655595"/>
                <a:gridCol w="655595"/>
                <a:gridCol w="655595"/>
                <a:gridCol w="655595"/>
                <a:gridCol w="655595"/>
                <a:gridCol w="655595"/>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South Africa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7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South Africa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79.3</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126.1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3.3%</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-165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South Africa's hair styling products market expands at 4.4% CAGR through 2036, trailing the Middle East &amp; Africa benchmark of 6.0% by 165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South Africa holds 1.0% of the global and 14.1% of the Middle East &amp; Africa hair styling products market in 2026; by 2036 those shares move to 1.0% and 12.1%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44.1 Mn Units between 2026 and 2036 the South Africa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South Africa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126.9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240.6</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3.9%</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6.1%</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-142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South Africa's hair styling products market expands at 6.1% CAGR through 2036, trailing the Middle East &amp; Africa benchmark of 7.5% by 142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South Africa holds 0.8% of the global and 12.9% of the Middle East &amp; Africa hair styling products market in 2026; by 2036 those shares move to 0.8% and 11.3%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South Africa is expected to account for US$ 240.6 Mn by 2036 at a CAGR of 6.1% over the forecast period. South Africa is expected to create an incremental opportunity of US$ 113.7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South Africa's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132.8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'Waxes, Clays, Pastes and Pomades' leads at 23.2 US$ Mn (17% share), ahead of 'Styling Serums and Oils' (22.7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29.5 US$ Mn (22% share), ahead of 'Strong Hold' (27.8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47.0 US$ Mn (35% share), ahead of 'Natural' (43.5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South Africa's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132.8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31.3 US$ Mn (24% share), ahead of 'Salon and Professional Distribution' (24.9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'Curl Definition' leads at 23.9 US$ Mn (18% share), ahead of 'Hold and Shape' (19.6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'Coily Hair' leads at 30.2 US$ Mn (23% share), ahead of 'Curly Hair' (28.3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34.4 US$ Mn (26% share), ahead of 'Texture and Volume Additives' (33.5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Africa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Africa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Africa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Africa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Africa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Africa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Africa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Rest of MEA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7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MEA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140.8</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290.1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5.3%</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6.9%</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+87 BPS</a:t>
            </a:r>
          </a:p>
          <a:p>
            <a:pPr algn="ctr"/>
            <a:r>
              <a:rPr sz="1100" b="0">
                <a:solidFill>
                  <a:srgbClr val="6C7A89"/>
                </a:solidFill>
                <a:latin typeface="Calibri"/>
              </a:rPr>
              <a:t>vs Middle East &amp; Africa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MEA's hair styling products market expands at 6.9% CAGR through 2036, outpacing the Middle East &amp; Africa benchmark of 6.0% by 87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MEA holds 1.9% of the global and 25.6% of the Middle East &amp; Africa hair styling products market in 2026; by 2036 those shares move to 2.2% and 27.8%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141.3 Mn Units between 2026 and 2036 the Rest of MEA market grows to 2.0×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MEA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175.6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433.7</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5.9%</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8.7%</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+121 BPS</a:t>
            </a:r>
          </a:p>
          <a:p>
            <a:pPr algn="ctr"/>
            <a:r>
              <a:rPr sz="1100" b="0">
                <a:solidFill>
                  <a:srgbClr val="6C7A89"/>
                </a:solidFill>
                <a:latin typeface="Calibri"/>
              </a:rPr>
              <a:t>vs Middle East &amp; Africa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MEA's hair styling products market expands at 8.7% CAGR through 2036, outpacing the Middle East &amp; Africa benchmark of 7.5% by 121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MEA holds 1.2% of the global and 18.3% of the Middle East &amp; Africa hair styling products market in 2026; by 2036 those shares move to 1.4% and 20.4%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Rest of MEA is expected to account for US$ 433.7 Mn by 2036 at a CAGR of 8.7% over the forecast period. Rest of MEA is expected to create an incremental opportunity of US$ 258.1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MEA's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187.5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'Waxes, Clays, Pastes and Pomades' leads at 34.5 US$ Mn (18% share), ahead of 'Styling Serums and Oils' (32.2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41.7 US$ Mn (22% share), ahead of 'Strong Hold' (39.3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64.2 US$ Mn (34% share), ahead of 'Matte' (62.4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MEA's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187.5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50.6 US$ Mn (27% share), ahead of 'Salon and Professional Distribution' (30.8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'Curl Definition' leads at 31.9 US$ Mn (17% share), ahead of 'Hold and Shape' (28.1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'Coily Hair' leads at 43.1 US$ Mn (23% share), ahead of 'All Hair Types' (38.6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48.8 US$ Mn (26% share), ahead of 'Texture and Volume Additives' (47.0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MEA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MEA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5" cy="1295400"/>
        </p:xfrm>
        <a:graphic>
          <a:graphicData uri="http://schemas.openxmlformats.org/drawingml/2006/table">
            <a:tbl>
              <a:tblPr>
                <a:tableStyleId>{5C22544A-7EE6-4342-B048-85BDC9FD1C3A}</a:tableStyleId>
              </a:tblPr>
              <a:tblGrid>
                <a:gridCol w="1482655"/>
                <a:gridCol w="693636"/>
                <a:gridCol w="693636"/>
                <a:gridCol w="693636"/>
                <a:gridCol w="693636"/>
                <a:gridCol w="693636"/>
                <a:gridCol w="693636"/>
                <a:gridCol w="693636"/>
                <a:gridCol w="693636"/>
                <a:gridCol w="693636"/>
                <a:gridCol w="693636"/>
                <a:gridCol w="693636"/>
                <a:gridCol w="693636"/>
                <a:gridCol w="693636"/>
                <a:gridCol w="693636"/>
                <a:gridCol w="69363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MEA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369549"/>
                <a:gridCol w="701177"/>
                <a:gridCol w="701177"/>
                <a:gridCol w="701177"/>
                <a:gridCol w="701177"/>
                <a:gridCol w="701177"/>
                <a:gridCol w="701177"/>
                <a:gridCol w="701177"/>
                <a:gridCol w="701177"/>
                <a:gridCol w="701177"/>
                <a:gridCol w="701177"/>
                <a:gridCol w="701177"/>
                <a:gridCol w="701177"/>
                <a:gridCol w="701177"/>
                <a:gridCol w="701177"/>
                <a:gridCol w="701177"/>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MEA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MEA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MEA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7" cy="1295400"/>
        </p:xfrm>
        <a:graphic>
          <a:graphicData uri="http://schemas.openxmlformats.org/drawingml/2006/table">
            <a:tbl>
              <a:tblPr>
                <a:tableStyleId>{5C22544A-7EE6-4342-B048-85BDC9FD1C3A}</a:tableStyleId>
              </a:tblPr>
              <a:tblGrid>
                <a:gridCol w="1367167"/>
                <a:gridCol w="701336"/>
                <a:gridCol w="701336"/>
                <a:gridCol w="701336"/>
                <a:gridCol w="701336"/>
                <a:gridCol w="701336"/>
                <a:gridCol w="701336"/>
                <a:gridCol w="701336"/>
                <a:gridCol w="701336"/>
                <a:gridCol w="701336"/>
                <a:gridCol w="701336"/>
                <a:gridCol w="701336"/>
                <a:gridCol w="701336"/>
                <a:gridCol w="701336"/>
                <a:gridCol w="701336"/>
                <a:gridCol w="701336"/>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MEA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2152650"/>
        </p:xfrm>
        <a:graphic>
          <a:graphicData uri="http://schemas.openxmlformats.org/drawingml/2006/table">
            <a:tbl>
              <a:tblPr>
                <a:tableStyleId>{5C22544A-7EE6-4342-B048-85BDC9FD1C3A}</a:tableStyleId>
              </a:tblPr>
              <a:tblGrid>
                <a:gridCol w="2715658"/>
                <a:gridCol w="576419"/>
                <a:gridCol w="576419"/>
                <a:gridCol w="576419"/>
                <a:gridCol w="576419"/>
                <a:gridCol w="576419"/>
                <a:gridCol w="576419"/>
                <a:gridCol w="576419"/>
                <a:gridCol w="576419"/>
                <a:gridCol w="651456"/>
                <a:gridCol w="651456"/>
                <a:gridCol w="651456"/>
                <a:gridCol w="651456"/>
                <a:gridCol w="651456"/>
                <a:gridCol w="651456"/>
                <a:gridCol w="65145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06.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Pricing Assessment</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Pricing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80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Pricing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Pricing &amp; Regional Price Index Trends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Global Pricing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Price Positioning &amp; Key Findings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Pricing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Factors Impacting Pricing</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Product Pricing &amp; Regional Price Index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range by sub-segment and indexed regional price movement, highlighting dispersion and structural shifts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average USD pricing by product type and indexed regional price movement with base-year inflation adjustments.</a:t>
            </a:r>
          </a:p>
        </p:txBody>
      </p:sp>
      <p:sp>
        <p:nvSpPr>
          <p:cNvPr id="11" name="Rounded Rectangle 10"/>
          <p:cNvSpPr/>
          <p:nvPr/>
        </p:nvSpPr>
        <p:spPr>
          <a:xfrm>
            <a:off x="142875" y="1317574"/>
            <a:ext cx="7696200"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Pricing by Product Type</a:t>
            </a:r>
          </a:p>
        </p:txBody>
      </p:sp>
      <p:sp>
        <p:nvSpPr>
          <p:cNvPr id="13" name="TextBox 12"/>
          <p:cNvSpPr txBox="1"/>
          <p:nvPr/>
        </p:nvSpPr>
        <p:spPr>
          <a:xfrm>
            <a:off x="219075" y="3471051"/>
            <a:ext cx="381000" cy="133350"/>
          </a:xfrm>
          <a:prstGeom prst="rect">
            <a:avLst/>
          </a:prstGeom>
          <a:noFill/>
        </p:spPr>
        <p:txBody>
          <a:bodyPr wrap="none" lIns="0" rIns="0" tIns="0" bIns="0" anchor="ctr">
            <a:spAutoFit/>
          </a:bodyPr>
          <a:lstStyle/>
          <a:p>
            <a:pPr algn="r"/>
            <a:r>
              <a:rPr sz="1100" b="0">
                <a:solidFill>
                  <a:srgbClr val="6C7A89"/>
                </a:solidFill>
                <a:latin typeface="Calibri"/>
              </a:rPr>
              <a:t>0.9</a:t>
            </a:r>
          </a:p>
        </p:txBody>
      </p:sp>
      <p:sp>
        <p:nvSpPr>
          <p:cNvPr id="14" name="TextBox 13"/>
          <p:cNvSpPr txBox="1"/>
          <p:nvPr/>
        </p:nvSpPr>
        <p:spPr>
          <a:xfrm>
            <a:off x="219075" y="2561000"/>
            <a:ext cx="381000" cy="133350"/>
          </a:xfrm>
          <a:prstGeom prst="rect">
            <a:avLst/>
          </a:prstGeom>
          <a:noFill/>
        </p:spPr>
        <p:txBody>
          <a:bodyPr wrap="none" lIns="0" rIns="0" tIns="0" bIns="0" anchor="ctr">
            <a:spAutoFit/>
          </a:bodyPr>
          <a:lstStyle/>
          <a:p>
            <a:pPr algn="r"/>
            <a:r>
              <a:rPr sz="1100" b="0">
                <a:solidFill>
                  <a:srgbClr val="6C7A89"/>
                </a:solidFill>
                <a:latin typeface="Calibri"/>
              </a:rPr>
              <a:t>2.4</a:t>
            </a:r>
          </a:p>
        </p:txBody>
      </p:sp>
      <p:sp>
        <p:nvSpPr>
          <p:cNvPr id="15" name="TextBox 14"/>
          <p:cNvSpPr txBox="1"/>
          <p:nvPr/>
        </p:nvSpPr>
        <p:spPr>
          <a:xfrm>
            <a:off x="219075" y="1650949"/>
            <a:ext cx="381000" cy="133350"/>
          </a:xfrm>
          <a:prstGeom prst="rect">
            <a:avLst/>
          </a:prstGeom>
          <a:noFill/>
        </p:spPr>
        <p:txBody>
          <a:bodyPr wrap="none" lIns="0" rIns="0" tIns="0" bIns="0" anchor="ctr">
            <a:spAutoFit/>
          </a:bodyPr>
          <a:lstStyle/>
          <a:p>
            <a:pPr algn="r"/>
            <a:r>
              <a:rPr sz="1100" b="0">
                <a:solidFill>
                  <a:srgbClr val="6C7A89"/>
                </a:solidFill>
                <a:latin typeface="Calibri"/>
              </a:rPr>
              <a:t>3.8</a:t>
            </a:r>
          </a:p>
        </p:txBody>
      </p:sp>
      <p:cxnSp>
        <p:nvCxnSpPr>
          <p:cNvPr id="16" name="Connector 15"/>
          <p:cNvCxnSpPr/>
          <p:nvPr/>
        </p:nvCxnSpPr>
        <p:spPr>
          <a:xfrm>
            <a:off x="1095375" y="2772329"/>
            <a:ext cx="0" cy="163970"/>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17" name="Rectangle 16"/>
          <p:cNvSpPr/>
          <p:nvPr/>
        </p:nvSpPr>
        <p:spPr>
          <a:xfrm>
            <a:off x="876300" y="2772329"/>
            <a:ext cx="438150" cy="163971"/>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57225" y="261992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2.1</a:t>
            </a:r>
          </a:p>
        </p:txBody>
      </p:sp>
      <p:sp>
        <p:nvSpPr>
          <p:cNvPr id="19" name="TextBox 18"/>
          <p:cNvSpPr txBox="1"/>
          <p:nvPr/>
        </p:nvSpPr>
        <p:spPr>
          <a:xfrm>
            <a:off x="657225" y="3566301"/>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Sprays and Mists</a:t>
            </a:r>
          </a:p>
        </p:txBody>
      </p:sp>
      <p:cxnSp>
        <p:nvCxnSpPr>
          <p:cNvPr id="20" name="Connector 19"/>
          <p:cNvCxnSpPr/>
          <p:nvPr/>
        </p:nvCxnSpPr>
        <p:spPr>
          <a:xfrm>
            <a:off x="1971675" y="3215876"/>
            <a:ext cx="0" cy="111838"/>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1752600" y="3215876"/>
            <a:ext cx="438150" cy="111838"/>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533525" y="3063476"/>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1.4</a:t>
            </a:r>
          </a:p>
        </p:txBody>
      </p:sp>
      <p:sp>
        <p:nvSpPr>
          <p:cNvPr id="23" name="TextBox 22"/>
          <p:cNvSpPr txBox="1"/>
          <p:nvPr/>
        </p:nvSpPr>
        <p:spPr>
          <a:xfrm>
            <a:off x="1533525" y="3566301"/>
            <a:ext cx="876300" cy="285750"/>
          </a:xfrm>
          <a:prstGeom prst="rect">
            <a:avLst/>
          </a:prstGeom>
          <a:noFill/>
        </p:spPr>
        <p:txBody>
          <a:bodyPr wrap="square" lIns="28575" rIns="28575" tIns="9525" bIns="9525">
            <a:spAutoFit/>
          </a:bodyPr>
          <a:lstStyle/>
          <a:p>
            <a:pPr algn="ctr"/>
            <a:r>
              <a:rPr sz="1100" b="0">
                <a:solidFill>
                  <a:srgbClr val="2E2E2E"/>
                </a:solidFill>
                <a:latin typeface="Calibri"/>
              </a:rPr>
              <a:t>Mousses and Foams</a:t>
            </a:r>
          </a:p>
        </p:txBody>
      </p:sp>
      <p:cxnSp>
        <p:nvCxnSpPr>
          <p:cNvPr id="24" name="Connector 23"/>
          <p:cNvCxnSpPr/>
          <p:nvPr/>
        </p:nvCxnSpPr>
        <p:spPr>
          <a:xfrm>
            <a:off x="2847975" y="3224854"/>
            <a:ext cx="0" cy="96042"/>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2628900" y="3224854"/>
            <a:ext cx="438150" cy="96042"/>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409825" y="3072454"/>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1.4</a:t>
            </a:r>
          </a:p>
        </p:txBody>
      </p:sp>
      <p:sp>
        <p:nvSpPr>
          <p:cNvPr id="27" name="TextBox 26"/>
          <p:cNvSpPr txBox="1"/>
          <p:nvPr/>
        </p:nvSpPr>
        <p:spPr>
          <a:xfrm>
            <a:off x="2409825" y="3566301"/>
            <a:ext cx="876300" cy="285750"/>
          </a:xfrm>
          <a:prstGeom prst="rect">
            <a:avLst/>
          </a:prstGeom>
          <a:noFill/>
        </p:spPr>
        <p:txBody>
          <a:bodyPr wrap="square" lIns="28575" rIns="28575" tIns="9525" bIns="9525">
            <a:spAutoFit/>
          </a:bodyPr>
          <a:lstStyle/>
          <a:p>
            <a:pPr algn="ctr"/>
            <a:r>
              <a:rPr sz="1100" b="0">
                <a:solidFill>
                  <a:srgbClr val="2E2E2E"/>
                </a:solidFill>
                <a:latin typeface="Calibri"/>
              </a:rPr>
              <a:t>Gels and Jellies</a:t>
            </a:r>
          </a:p>
        </p:txBody>
      </p:sp>
      <p:cxnSp>
        <p:nvCxnSpPr>
          <p:cNvPr id="28" name="Connector 27"/>
          <p:cNvCxnSpPr/>
          <p:nvPr/>
        </p:nvCxnSpPr>
        <p:spPr>
          <a:xfrm>
            <a:off x="3724275" y="2844012"/>
            <a:ext cx="0" cy="173748"/>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3505200" y="2844012"/>
            <a:ext cx="438150" cy="173748"/>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3286125" y="2691612"/>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2.0</a:t>
            </a:r>
          </a:p>
        </p:txBody>
      </p:sp>
      <p:sp>
        <p:nvSpPr>
          <p:cNvPr id="31" name="TextBox 30"/>
          <p:cNvSpPr txBox="1"/>
          <p:nvPr/>
        </p:nvSpPr>
        <p:spPr>
          <a:xfrm>
            <a:off x="3286125" y="3566301"/>
            <a:ext cx="876300" cy="285750"/>
          </a:xfrm>
          <a:prstGeom prst="rect">
            <a:avLst/>
          </a:prstGeom>
          <a:noFill/>
        </p:spPr>
        <p:txBody>
          <a:bodyPr wrap="square" lIns="28575" rIns="28575" tIns="9525" bIns="9525">
            <a:spAutoFit/>
          </a:bodyPr>
          <a:lstStyle/>
          <a:p>
            <a:pPr algn="ctr"/>
            <a:r>
              <a:rPr sz="1100" b="0">
                <a:solidFill>
                  <a:srgbClr val="2E2E2E"/>
                </a:solidFill>
                <a:latin typeface="Calibri"/>
              </a:rPr>
              <a:t>Creams and Lotions</a:t>
            </a:r>
          </a:p>
        </p:txBody>
      </p:sp>
      <p:cxnSp>
        <p:nvCxnSpPr>
          <p:cNvPr id="32" name="Connector 31"/>
          <p:cNvCxnSpPr/>
          <p:nvPr/>
        </p:nvCxnSpPr>
        <p:spPr>
          <a:xfrm>
            <a:off x="4600575" y="2427028"/>
            <a:ext cx="0" cy="207118"/>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33" name="Rectangle 32"/>
          <p:cNvSpPr/>
          <p:nvPr/>
        </p:nvSpPr>
        <p:spPr>
          <a:xfrm>
            <a:off x="4381500" y="2427028"/>
            <a:ext cx="438150" cy="207117"/>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4162425" y="2274628"/>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2.7</a:t>
            </a:r>
          </a:p>
        </p:txBody>
      </p:sp>
      <p:sp>
        <p:nvSpPr>
          <p:cNvPr id="35" name="TextBox 34"/>
          <p:cNvSpPr txBox="1"/>
          <p:nvPr/>
        </p:nvSpPr>
        <p:spPr>
          <a:xfrm>
            <a:off x="4162425" y="3566301"/>
            <a:ext cx="876300" cy="285750"/>
          </a:xfrm>
          <a:prstGeom prst="rect">
            <a:avLst/>
          </a:prstGeom>
          <a:noFill/>
        </p:spPr>
        <p:txBody>
          <a:bodyPr wrap="square" lIns="28575" rIns="28575" tIns="9525" bIns="9525">
            <a:spAutoFit/>
          </a:bodyPr>
          <a:lstStyle/>
          <a:p>
            <a:pPr algn="ctr"/>
            <a:r>
              <a:rPr sz="1100" b="0">
                <a:solidFill>
                  <a:srgbClr val="2E2E2E"/>
                </a:solidFill>
                <a:latin typeface="Calibri"/>
              </a:rPr>
              <a:t>Waxes, Clays, Pastes…</a:t>
            </a:r>
          </a:p>
        </p:txBody>
      </p:sp>
      <p:cxnSp>
        <p:nvCxnSpPr>
          <p:cNvPr id="36" name="Connector 35"/>
          <p:cNvCxnSpPr/>
          <p:nvPr/>
        </p:nvCxnSpPr>
        <p:spPr>
          <a:xfrm>
            <a:off x="5476875" y="2673454"/>
            <a:ext cx="0" cy="138670"/>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37" name="Rectangle 36"/>
          <p:cNvSpPr/>
          <p:nvPr/>
        </p:nvSpPr>
        <p:spPr>
          <a:xfrm>
            <a:off x="5257800" y="2673454"/>
            <a:ext cx="438150" cy="138671"/>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5038725" y="2521054"/>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2.3</a:t>
            </a:r>
          </a:p>
        </p:txBody>
      </p:sp>
      <p:sp>
        <p:nvSpPr>
          <p:cNvPr id="39" name="TextBox 38"/>
          <p:cNvSpPr txBox="1"/>
          <p:nvPr/>
        </p:nvSpPr>
        <p:spPr>
          <a:xfrm>
            <a:off x="5038725" y="3566301"/>
            <a:ext cx="876300" cy="285750"/>
          </a:xfrm>
          <a:prstGeom prst="rect">
            <a:avLst/>
          </a:prstGeom>
          <a:noFill/>
        </p:spPr>
        <p:txBody>
          <a:bodyPr wrap="square" lIns="28575" rIns="28575" tIns="9525" bIns="9525">
            <a:spAutoFit/>
          </a:bodyPr>
          <a:lstStyle/>
          <a:p>
            <a:pPr algn="ctr"/>
            <a:r>
              <a:rPr sz="1100" b="0">
                <a:solidFill>
                  <a:srgbClr val="2E2E2E"/>
                </a:solidFill>
                <a:latin typeface="Calibri"/>
              </a:rPr>
              <a:t>Powders</a:t>
            </a:r>
          </a:p>
        </p:txBody>
      </p:sp>
      <p:cxnSp>
        <p:nvCxnSpPr>
          <p:cNvPr id="40" name="Connector 39"/>
          <p:cNvCxnSpPr/>
          <p:nvPr/>
        </p:nvCxnSpPr>
        <p:spPr>
          <a:xfrm>
            <a:off x="6353175" y="1927636"/>
            <a:ext cx="0" cy="271986"/>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6134100" y="1927636"/>
            <a:ext cx="438150" cy="271986"/>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5915025" y="1775236"/>
            <a:ext cx="876300" cy="133350"/>
          </a:xfrm>
          <a:prstGeom prst="rect">
            <a:avLst/>
          </a:prstGeom>
          <a:noFill/>
        </p:spPr>
        <p:txBody>
          <a:bodyPr wrap="square" lIns="28575" rIns="28575" tIns="9525" bIns="9525">
            <a:spAutoFit/>
          </a:bodyPr>
          <a:lstStyle/>
          <a:p>
            <a:pPr algn="ctr"/>
            <a:r>
              <a:rPr sz="1100" b="1">
                <a:solidFill>
                  <a:srgbClr val="0B2E4A"/>
                </a:solidFill>
                <a:latin typeface="Calibri"/>
              </a:rPr>
              <a:t>3.5</a:t>
            </a:r>
          </a:p>
        </p:txBody>
      </p:sp>
      <p:sp>
        <p:nvSpPr>
          <p:cNvPr id="43" name="TextBox 42"/>
          <p:cNvSpPr txBox="1"/>
          <p:nvPr/>
        </p:nvSpPr>
        <p:spPr>
          <a:xfrm>
            <a:off x="5915025" y="3566301"/>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Serums and Oils</a:t>
            </a:r>
          </a:p>
        </p:txBody>
      </p:sp>
      <p:cxnSp>
        <p:nvCxnSpPr>
          <p:cNvPr id="44" name="Connector 43"/>
          <p:cNvCxnSpPr/>
          <p:nvPr/>
        </p:nvCxnSpPr>
        <p:spPr>
          <a:xfrm>
            <a:off x="7229475" y="2223889"/>
            <a:ext cx="0" cy="231957"/>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45" name="Rectangle 44"/>
          <p:cNvSpPr/>
          <p:nvPr/>
        </p:nvSpPr>
        <p:spPr>
          <a:xfrm>
            <a:off x="7010400" y="2223889"/>
            <a:ext cx="438150" cy="231957"/>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6791325" y="207148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3.0</a:t>
            </a:r>
          </a:p>
        </p:txBody>
      </p:sp>
      <p:sp>
        <p:nvSpPr>
          <p:cNvPr id="47" name="TextBox 46"/>
          <p:cNvSpPr txBox="1"/>
          <p:nvPr/>
        </p:nvSpPr>
        <p:spPr>
          <a:xfrm>
            <a:off x="6791325" y="3566301"/>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Sticks and Balms</a:t>
            </a:r>
          </a:p>
        </p:txBody>
      </p:sp>
      <p:sp>
        <p:nvSpPr>
          <p:cNvPr id="48" name="Rounded Rectangle 47"/>
          <p:cNvSpPr/>
          <p:nvPr/>
        </p:nvSpPr>
        <p:spPr>
          <a:xfrm>
            <a:off x="142875" y="3991741"/>
            <a:ext cx="7696200" cy="2564645"/>
          </a:xfrm>
          <a:prstGeom prst="roundRect">
            <a:avLst>
              <a:gd name="adj" fmla="val 29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238125" y="4048891"/>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Region vs Global Price Trend (2026–2036)</a:t>
            </a:r>
          </a:p>
        </p:txBody>
      </p:sp>
      <p:cxnSp>
        <p:nvCxnSpPr>
          <p:cNvPr id="50" name="Connector 49"/>
          <p:cNvCxnSpPr/>
          <p:nvPr/>
        </p:nvCxnSpPr>
        <p:spPr>
          <a:xfrm>
            <a:off x="619125" y="452890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619125" y="4889101"/>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619125" y="524929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619125" y="560949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619125" y="5969692"/>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a:off x="619125" y="4528904"/>
            <a:ext cx="0" cy="1440788"/>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6" name="Connector 55"/>
          <p:cNvCxnSpPr/>
          <p:nvPr/>
        </p:nvCxnSpPr>
        <p:spPr>
          <a:xfrm>
            <a:off x="590550" y="452890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7" name="Connector 56"/>
          <p:cNvCxnSpPr/>
          <p:nvPr/>
        </p:nvCxnSpPr>
        <p:spPr>
          <a:xfrm>
            <a:off x="590550" y="4889101"/>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590550" y="524929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590550" y="560949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a:off x="590550" y="5969692"/>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61" name="FMI Scale tick"/>
          <p:cNvSpPr txBox="1"/>
          <p:nvPr/>
        </p:nvSpPr>
        <p:spPr>
          <a:xfrm>
            <a:off x="138112" y="4462229"/>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+4.2%</a:t>
            </a:r>
          </a:p>
        </p:txBody>
      </p:sp>
      <p:sp>
        <p:nvSpPr>
          <p:cNvPr id="62" name="FMI Scale tick"/>
          <p:cNvSpPr txBox="1"/>
          <p:nvPr/>
        </p:nvSpPr>
        <p:spPr>
          <a:xfrm>
            <a:off x="138112" y="4822426"/>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+2.1%</a:t>
            </a:r>
          </a:p>
        </p:txBody>
      </p:sp>
      <p:sp>
        <p:nvSpPr>
          <p:cNvPr id="63" name="FMI Scale tick"/>
          <p:cNvSpPr txBox="1"/>
          <p:nvPr/>
        </p:nvSpPr>
        <p:spPr>
          <a:xfrm>
            <a:off x="219075" y="5182623"/>
            <a:ext cx="361950" cy="13335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64" name="FMI Scale tick"/>
          <p:cNvSpPr txBox="1"/>
          <p:nvPr/>
        </p:nvSpPr>
        <p:spPr>
          <a:xfrm>
            <a:off x="164306" y="5542820"/>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-2.1%</a:t>
            </a:r>
          </a:p>
        </p:txBody>
      </p:sp>
      <p:sp>
        <p:nvSpPr>
          <p:cNvPr id="65" name="FMI Scale tick"/>
          <p:cNvSpPr txBox="1"/>
          <p:nvPr/>
        </p:nvSpPr>
        <p:spPr>
          <a:xfrm>
            <a:off x="164306" y="5903017"/>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-4.2%</a:t>
            </a:r>
          </a:p>
        </p:txBody>
      </p:sp>
      <p:cxnSp>
        <p:nvCxnSpPr>
          <p:cNvPr id="66" name="Connector 65"/>
          <p:cNvCxnSpPr/>
          <p:nvPr/>
        </p:nvCxnSpPr>
        <p:spPr>
          <a:xfrm>
            <a:off x="619125" y="5249298"/>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67" name="Rectangle 66"/>
          <p:cNvSpPr/>
          <p:nvPr/>
        </p:nvSpPr>
        <p:spPr>
          <a:xfrm>
            <a:off x="977900" y="4614107"/>
            <a:ext cx="457200" cy="63519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FMI Data Label"/>
          <p:cNvSpPr txBox="1"/>
          <p:nvPr/>
        </p:nvSpPr>
        <p:spPr>
          <a:xfrm>
            <a:off x="619125" y="4471232"/>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+3.7%</a:t>
            </a:r>
          </a:p>
        </p:txBody>
      </p:sp>
      <p:sp>
        <p:nvSpPr>
          <p:cNvPr id="69" name="Rectangle 68"/>
          <p:cNvSpPr/>
          <p:nvPr/>
        </p:nvSpPr>
        <p:spPr>
          <a:xfrm>
            <a:off x="2152650" y="4802337"/>
            <a:ext cx="457200" cy="44696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FMI Data Label"/>
          <p:cNvSpPr txBox="1"/>
          <p:nvPr/>
        </p:nvSpPr>
        <p:spPr>
          <a:xfrm>
            <a:off x="1793875" y="4659462"/>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+2.6%</a:t>
            </a:r>
          </a:p>
        </p:txBody>
      </p:sp>
      <p:sp>
        <p:nvSpPr>
          <p:cNvPr id="71" name="Rectangle 70"/>
          <p:cNvSpPr/>
          <p:nvPr/>
        </p:nvSpPr>
        <p:spPr>
          <a:xfrm>
            <a:off x="3327400" y="4868996"/>
            <a:ext cx="457200" cy="38030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FMI Data Label"/>
          <p:cNvSpPr txBox="1"/>
          <p:nvPr/>
        </p:nvSpPr>
        <p:spPr>
          <a:xfrm>
            <a:off x="2968625" y="4726121"/>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+2.2%</a:t>
            </a:r>
          </a:p>
        </p:txBody>
      </p:sp>
      <p:sp>
        <p:nvSpPr>
          <p:cNvPr id="73" name="Rectangle 72"/>
          <p:cNvSpPr/>
          <p:nvPr/>
        </p:nvSpPr>
        <p:spPr>
          <a:xfrm>
            <a:off x="4502150" y="4936342"/>
            <a:ext cx="457200" cy="312956"/>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MI Data Label"/>
          <p:cNvSpPr txBox="1"/>
          <p:nvPr/>
        </p:nvSpPr>
        <p:spPr>
          <a:xfrm>
            <a:off x="4143375" y="4793467"/>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+1.8%</a:t>
            </a:r>
          </a:p>
        </p:txBody>
      </p:sp>
      <p:sp>
        <p:nvSpPr>
          <p:cNvPr id="75" name="Rectangle 74"/>
          <p:cNvSpPr/>
          <p:nvPr/>
        </p:nvSpPr>
        <p:spPr>
          <a:xfrm>
            <a:off x="5676900" y="5249298"/>
            <a:ext cx="457200" cy="417520"/>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FMI Data Label"/>
          <p:cNvSpPr txBox="1"/>
          <p:nvPr/>
        </p:nvSpPr>
        <p:spPr>
          <a:xfrm>
            <a:off x="5318125" y="5676343"/>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-2.4%</a:t>
            </a:r>
          </a:p>
        </p:txBody>
      </p:sp>
      <p:sp>
        <p:nvSpPr>
          <p:cNvPr id="77" name="Rectangle 76"/>
          <p:cNvSpPr/>
          <p:nvPr/>
        </p:nvSpPr>
        <p:spPr>
          <a:xfrm>
            <a:off x="6851650" y="5109214"/>
            <a:ext cx="457200" cy="14008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FMI Data Label"/>
          <p:cNvSpPr txBox="1"/>
          <p:nvPr/>
        </p:nvSpPr>
        <p:spPr>
          <a:xfrm>
            <a:off x="6492875" y="4966339"/>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+0.8%</a:t>
            </a:r>
          </a:p>
        </p:txBody>
      </p:sp>
      <p:sp>
        <p:nvSpPr>
          <p:cNvPr id="79" name="TextBox 78"/>
          <p:cNvSpPr txBox="1"/>
          <p:nvPr/>
        </p:nvSpPr>
        <p:spPr>
          <a:xfrm>
            <a:off x="619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North America</a:t>
            </a:r>
          </a:p>
        </p:txBody>
      </p:sp>
      <p:sp>
        <p:nvSpPr>
          <p:cNvPr id="80" name="TextBox 79"/>
          <p:cNvSpPr txBox="1"/>
          <p:nvPr/>
        </p:nvSpPr>
        <p:spPr>
          <a:xfrm>
            <a:off x="1793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Latin America</a:t>
            </a:r>
          </a:p>
        </p:txBody>
      </p:sp>
      <p:sp>
        <p:nvSpPr>
          <p:cNvPr id="81" name="TextBox 80"/>
          <p:cNvSpPr txBox="1"/>
          <p:nvPr/>
        </p:nvSpPr>
        <p:spPr>
          <a:xfrm>
            <a:off x="29686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Europe</a:t>
            </a:r>
          </a:p>
        </p:txBody>
      </p:sp>
      <p:sp>
        <p:nvSpPr>
          <p:cNvPr id="82" name="TextBox 81"/>
          <p:cNvSpPr txBox="1"/>
          <p:nvPr/>
        </p:nvSpPr>
        <p:spPr>
          <a:xfrm>
            <a:off x="41433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East Asia</a:t>
            </a:r>
          </a:p>
        </p:txBody>
      </p:sp>
      <p:sp>
        <p:nvSpPr>
          <p:cNvPr id="83" name="TextBox 82"/>
          <p:cNvSpPr txBox="1"/>
          <p:nvPr/>
        </p:nvSpPr>
        <p:spPr>
          <a:xfrm>
            <a:off x="5318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South Asia &amp; Pacific</a:t>
            </a:r>
          </a:p>
        </p:txBody>
      </p:sp>
      <p:sp>
        <p:nvSpPr>
          <p:cNvPr id="84" name="TextBox 83"/>
          <p:cNvSpPr txBox="1"/>
          <p:nvPr/>
        </p:nvSpPr>
        <p:spPr>
          <a:xfrm>
            <a:off x="6492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Middle East &amp; Africa</a:t>
            </a:r>
          </a:p>
        </p:txBody>
      </p:sp>
      <p:sp>
        <p:nvSpPr>
          <p:cNvPr id="85" name="Rounded Rectangle 84"/>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87" name="Rectangle 86"/>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chart shows global average pricing of key product format types in USD, harmonised across regions. Each candlestick spans the minimum-to-maximum observed price within the base year, giving a clear read of price range and market dispersion.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Wider bodies mark a larger gap between opening and closing price levels 'Creams and Lotions' shows the most movement (+15.9%) and 'Styling Powders' the least (+10.7%) variability stakeholders should monitor when planning procurement or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lower chart indexes region-level price movement to the base year, applied consistently across the horizon to strip out year-on-year inflationary volatility and reveal structural price shifts.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Region price indices diverge by up to 3.7% between 2026 and 2036: higher-priced regions start higher and grow steadily, while lower-priced regions start lower and converge, reflecting catch-up growth.</a:t>
            </a:r>
          </a:p>
        </p:txBody>
      </p:sp>
      <p:sp>
        <p:nvSpPr>
          <p:cNvPr id="89" name="TextBox 8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Pricing Assessment: By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(US$/Units) by product format, 2021 to 2036, with 2026 price index and growth outlook</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Styling Serums and Oils command the highest 2026 price point at US$ 3/Units, a 143.7% premium over Mousses and Foams.</a:t>
            </a:r>
          </a:p>
        </p:txBody>
      </p:sp>
      <p:sp>
        <p:nvSpPr>
          <p:cNvPr id="11" name="Rectangle 10"/>
          <p:cNvSpPr/>
          <p:nvPr/>
        </p:nvSpPr>
        <p:spPr>
          <a:xfrm>
            <a:off x="274320" y="1529715"/>
            <a:ext cx="644652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621792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Trend by Product Format, 2021 to 2036 (US$/Units)</a:t>
            </a:r>
          </a:p>
        </p:txBody>
      </p:sp>
      <p:graphicFrame>
        <p:nvGraphicFramePr>
          <p:cNvPr id="13" name="FMI Price Chart"/>
          <p:cNvGraphicFramePr>
            <a:graphicFrameLocks noGrp="1"/>
          </p:cNvGraphicFramePr>
          <p:nvPr/>
        </p:nvGraphicFramePr>
        <p:xfrm>
          <a:off x="347472" y="1831467"/>
          <a:ext cx="6309360" cy="3182112"/>
        </p:xfrm>
        <a:graphic>
          <a:graphicData uri="http://schemas.openxmlformats.org/drawingml/2006/chart">
            <c:chart xmlns:c="http://schemas.openxmlformats.org/drawingml/2006/chart" r:id="rId3"/>
          </a:graphicData>
        </a:graphic>
      </p:graphicFrame>
      <p:sp>
        <p:nvSpPr>
          <p:cNvPr id="14" name="TextBox 13"/>
          <p:cNvSpPr txBox="1"/>
          <p:nvPr/>
        </p:nvSpPr>
        <p:spPr>
          <a:xfrm>
            <a:off x="4572000" y="1593723"/>
            <a:ext cx="2103120" cy="228600"/>
          </a:xfrm>
          <a:prstGeom prst="rect">
            <a:avLst/>
          </a:prstGeom>
          <a:noFill/>
        </p:spPr>
        <p:txBody>
          <a:bodyPr wrap="square" anchor="t" lIns="27432" rIns="27432" tIns="27432" bIns="27432">
            <a:spAutoFit/>
          </a:bodyPr>
          <a:lstStyle/>
          <a:p>
            <a:pPr algn="r"/>
            <a:r>
              <a:rPr sz="850" b="0" i="1">
                <a:solidFill>
                  <a:srgbClr val="59636E"/>
                </a:solidFill>
                <a:latin typeface="Calibri"/>
              </a:rPr>
              <a:t>Forecast period: 2026 to 2036</a:t>
            </a:r>
          </a:p>
        </p:txBody>
      </p:sp>
      <p:sp>
        <p:nvSpPr>
          <p:cNvPr id="15" name="Rectangle 14"/>
          <p:cNvSpPr/>
          <p:nvPr/>
        </p:nvSpPr>
        <p:spPr>
          <a:xfrm>
            <a:off x="6858000" y="1529715"/>
            <a:ext cx="5056632" cy="160020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6967728" y="1575435"/>
            <a:ext cx="484632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Index vs Global Average (= 100)</a:t>
            </a:r>
          </a:p>
        </p:txBody>
      </p:sp>
      <p:graphicFrame>
        <p:nvGraphicFramePr>
          <p:cNvPr id="17" name="FMI Open Chart"/>
          <p:cNvGraphicFramePr>
            <a:graphicFrameLocks noGrp="1"/>
          </p:cNvGraphicFramePr>
          <p:nvPr/>
        </p:nvGraphicFramePr>
        <p:xfrm>
          <a:off x="6903720" y="1785747"/>
          <a:ext cx="4965192" cy="1325880"/>
        </p:xfrm>
        <a:graphic>
          <a:graphicData uri="http://schemas.openxmlformats.org/drawingml/2006/chart">
            <c:chart xmlns:c="http://schemas.openxmlformats.org/drawingml/2006/chart" r:id="rId4"/>
          </a:graphicData>
        </a:graphic>
      </p:graphicFrame>
      <p:graphicFrame>
        <p:nvGraphicFramePr>
          <p:cNvPr id="18" name="Table 17"/>
          <p:cNvGraphicFramePr>
            <a:graphicFrameLocks noGrp="1"/>
          </p:cNvGraphicFramePr>
          <p:nvPr/>
        </p:nvGraphicFramePr>
        <p:xfrm>
          <a:off x="6858000" y="3203067"/>
          <a:ext cx="5056632" cy="1847090"/>
        </p:xfrm>
        <a:graphic>
          <a:graphicData uri="http://schemas.openxmlformats.org/drawingml/2006/table">
            <a:tbl>
              <a:tblPr firstRow="1" bandRow="1">
                <a:tableStyleId>{5C22544A-7EE6-4342-B048-85BDC9FD1C3A}</a:tableStyleId>
              </a:tblPr>
              <a:tblGrid>
                <a:gridCol w="2130552"/>
                <a:gridCol w="548640"/>
                <a:gridCol w="548640"/>
                <a:gridCol w="548640"/>
                <a:gridCol w="777240"/>
                <a:gridCol w="502920"/>
              </a:tblGrid>
              <a:tr h="184709">
                <a:tc>
                  <a:txBody>
                    <a:bodyPr wrap="square"/>
                    <a:lstStyle/>
                    <a:p>
                      <a:pPr algn="l"/>
                      <a:r>
                        <a:rPr sz="850" b="1">
                          <a:solidFill>
                            <a:srgbClr val="FFFFFF"/>
                          </a:solidFill>
                          <a:latin typeface="Calibri"/>
                        </a:rPr>
                        <a:t>Product Format</a:t>
                      </a:r>
                    </a:p>
                  </a:txBody>
                  <a:tcPr marL="36576" marR="36576" marT="9144" marB="9144" anchor="ctr">
                    <a:solidFill>
                      <a:srgbClr val="0B2E4A"/>
                    </a:solidFill>
                  </a:tcPr>
                </a:tc>
                <a:tc>
                  <a:txBody>
                    <a:bodyPr wrap="square"/>
                    <a:lstStyle/>
                    <a:p>
                      <a:pPr algn="ctr"/>
                      <a:r>
                        <a:rPr sz="850" b="1">
                          <a:solidFill>
                            <a:srgbClr val="FFFFFF"/>
                          </a:solidFill>
                          <a:latin typeface="Calibri"/>
                        </a:rPr>
                        <a:t>2021</a:t>
                      </a:r>
                    </a:p>
                  </a:txBody>
                  <a:tcPr marL="36576" marR="36576" marT="9144" marB="9144" anchor="ctr">
                    <a:solidFill>
                      <a:srgbClr val="0B2E4A"/>
                    </a:solidFill>
                  </a:tcPr>
                </a:tc>
                <a:tc>
                  <a:txBody>
                    <a:bodyPr wrap="square"/>
                    <a:lstStyle/>
                    <a:p>
                      <a:pPr algn="ctr"/>
                      <a:r>
                        <a:rPr sz="850" b="1">
                          <a:solidFill>
                            <a:srgbClr val="FFFFFF"/>
                          </a:solidFill>
                          <a:latin typeface="Calibri"/>
                        </a:rPr>
                        <a:t>2026</a:t>
                      </a:r>
                    </a:p>
                  </a:txBody>
                  <a:tcPr marL="36576" marR="36576" marT="9144" marB="9144" anchor="ctr">
                    <a:solidFill>
                      <a:srgbClr val="0B2E4A"/>
                    </a:solidFill>
                  </a:tcPr>
                </a:tc>
                <a:tc>
                  <a:txBody>
                    <a:bodyPr wrap="square"/>
                    <a:lstStyle/>
                    <a:p>
                      <a:pPr algn="ctr"/>
                      <a:r>
                        <a:rPr sz="850" b="1">
                          <a:solidFill>
                            <a:srgbClr val="FFFFFF"/>
                          </a:solidFill>
                          <a:latin typeface="Calibri"/>
                        </a:rPr>
                        <a:t>2036</a:t>
                      </a:r>
                    </a:p>
                  </a:txBody>
                  <a:tcPr marL="36576" marR="36576" marT="9144" marB="9144" anchor="ctr">
                    <a:solidFill>
                      <a:srgbClr val="0B2E4A"/>
                    </a:solidFill>
                  </a:tcPr>
                </a:tc>
                <a:tc>
                  <a:txBody>
                    <a:bodyPr wrap="square"/>
                    <a:lstStyle/>
                    <a:p>
                      <a:pPr algn="ctr"/>
                      <a:r>
                        <a:rPr sz="850" b="1">
                          <a:solidFill>
                            <a:srgbClr val="FFFFFF"/>
                          </a:solidFill>
                          <a:latin typeface="Calibri"/>
                        </a:rPr>
                        <a:t>CAGR 2026 to 2036</a:t>
                      </a:r>
                    </a:p>
                  </a:txBody>
                  <a:tcPr marL="36576" marR="36576" marT="9144" marB="9144" anchor="ctr">
                    <a:solidFill>
                      <a:srgbClr val="0B2E4A"/>
                    </a:solidFill>
                  </a:tcPr>
                </a:tc>
                <a:tc>
                  <a:txBody>
                    <a:bodyPr wrap="square"/>
                    <a:lstStyle/>
                    <a:p>
                      <a:pPr algn="ctr"/>
                      <a:r>
                        <a:rPr sz="850" b="1">
                          <a:solidFill>
                            <a:srgbClr val="FFFFFF"/>
                          </a:solidFill>
                          <a:latin typeface="Calibri"/>
                        </a:rPr>
                        <a:t>Index</a:t>
                      </a:r>
                    </a:p>
                  </a:txBody>
                  <a:tcPr marL="36576" marR="36576" marT="9144" marB="9144" anchor="ctr">
                    <a:solidFill>
                      <a:srgbClr val="0B2E4A"/>
                    </a:solidFill>
                  </a:tcPr>
                </a:tc>
              </a:tr>
              <a:tr h="184709">
                <a:tc>
                  <a:txBody>
                    <a:bodyPr wrap="square"/>
                    <a:lstStyle/>
                    <a:p>
                      <a:pPr algn="l"/>
                      <a:r>
                        <a:rPr sz="850" b="1">
                          <a:solidFill>
                            <a:srgbClr val="1F1F1F"/>
                          </a:solidFill>
                          <a:latin typeface="Calibri"/>
                        </a:rPr>
                        <a:t>Styling Serums and Oils</a:t>
                      </a:r>
                    </a:p>
                  </a:txBody>
                  <a:tcPr marL="36576" marR="36576" marT="9144" marB="9144" anchor="ctr">
                    <a:solidFill>
                      <a:srgbClr val="FFFFFF"/>
                    </a:solidFill>
                  </a:tcPr>
                </a:tc>
                <a:tc>
                  <a:txBody>
                    <a:bodyPr wrap="square"/>
                    <a:lstStyle/>
                    <a:p>
                      <a:pPr algn="ctr"/>
                      <a:r>
                        <a:rPr sz="850" b="0">
                          <a:solidFill>
                            <a:srgbClr val="1F1F1F"/>
                          </a:solidFill>
                          <a:latin typeface="Calibri"/>
                        </a:rPr>
                        <a:t>3</a:t>
                      </a:r>
                    </a:p>
                  </a:txBody>
                  <a:tcPr marL="36576" marR="36576" marT="9144" marB="9144" anchor="ctr">
                    <a:solidFill>
                      <a:srgbClr val="FFFFFF"/>
                    </a:solidFill>
                  </a:tcPr>
                </a:tc>
                <a:tc>
                  <a:txBody>
                    <a:bodyPr wrap="square"/>
                    <a:lstStyle/>
                    <a:p>
                      <a:pPr algn="ctr"/>
                      <a:r>
                        <a:rPr sz="850" b="0">
                          <a:solidFill>
                            <a:srgbClr val="1F1F1F"/>
                          </a:solidFill>
                          <a:latin typeface="Calibri"/>
                        </a:rPr>
                        <a:t>3</a:t>
                      </a:r>
                    </a:p>
                  </a:txBody>
                  <a:tcPr marL="36576" marR="36576" marT="9144" marB="9144" anchor="ctr">
                    <a:solidFill>
                      <a:srgbClr val="FFFFFF"/>
                    </a:solidFill>
                  </a:tcPr>
                </a:tc>
                <a:tc>
                  <a:txBody>
                    <a:bodyPr wrap="square"/>
                    <a:lstStyle/>
                    <a:p>
                      <a:pPr algn="ctr"/>
                      <a:r>
                        <a:rPr sz="850" b="0">
                          <a:solidFill>
                            <a:srgbClr val="1F1F1F"/>
                          </a:solidFill>
                          <a:latin typeface="Calibri"/>
                        </a:rPr>
                        <a:t>3</a:t>
                      </a:r>
                    </a:p>
                  </a:txBody>
                  <a:tcPr marL="36576" marR="36576" marT="9144" marB="9144" anchor="ctr">
                    <a:solidFill>
                      <a:srgbClr val="FFFFFF"/>
                    </a:solidFill>
                  </a:tcPr>
                </a:tc>
                <a:tc>
                  <a:txBody>
                    <a:bodyPr wrap="square"/>
                    <a:lstStyle/>
                    <a:p>
                      <a:pPr algn="ctr"/>
                      <a:r>
                        <a:rPr sz="850" b="0">
                          <a:solidFill>
                            <a:srgbClr val="1F1F1F"/>
                          </a:solidFill>
                          <a:latin typeface="Calibri"/>
                        </a:rPr>
                        <a:t>1.21%</a:t>
                      </a:r>
                    </a:p>
                  </a:txBody>
                  <a:tcPr marL="36576" marR="36576" marT="9144" marB="9144" anchor="ctr">
                    <a:solidFill>
                      <a:srgbClr val="FFFFFF"/>
                    </a:solidFill>
                  </a:tcPr>
                </a:tc>
                <a:tc>
                  <a:txBody>
                    <a:bodyPr wrap="square"/>
                    <a:lstStyle/>
                    <a:p>
                      <a:pPr algn="ctr"/>
                      <a:r>
                        <a:rPr sz="850" b="0">
                          <a:solidFill>
                            <a:srgbClr val="1F1F1F"/>
                          </a:solidFill>
                          <a:latin typeface="Calibri"/>
                        </a:rPr>
                        <a:t>152.0</a:t>
                      </a:r>
                    </a:p>
                  </a:txBody>
                  <a:tcPr marL="36576" marR="36576" marT="9144" marB="9144" anchor="ctr">
                    <a:solidFill>
                      <a:srgbClr val="F4B183"/>
                    </a:solidFill>
                  </a:tcPr>
                </a:tc>
              </a:tr>
              <a:tr h="184709">
                <a:tc>
                  <a:txBody>
                    <a:bodyPr wrap="square"/>
                    <a:lstStyle/>
                    <a:p>
                      <a:pPr algn="l"/>
                      <a:r>
                        <a:rPr sz="850" b="1">
                          <a:solidFill>
                            <a:srgbClr val="1F1F1F"/>
                          </a:solidFill>
                          <a:latin typeface="Calibri"/>
                        </a:rPr>
                        <a:t>Sticks and Balms</a:t>
                      </a:r>
                    </a:p>
                  </a:txBody>
                  <a:tcPr marL="36576" marR="36576" marT="9144" marB="9144" anchor="ctr">
                    <a:solidFill>
                      <a:srgbClr val="F3F6F9"/>
                    </a:solidFill>
                  </a:tcPr>
                </a:tc>
                <a:tc>
                  <a:txBody>
                    <a:bodyPr wrap="square"/>
                    <a:lstStyle/>
                    <a:p>
                      <a:pPr algn="ctr"/>
                      <a:r>
                        <a:rPr sz="850" b="0">
                          <a:solidFill>
                            <a:srgbClr val="1F1F1F"/>
                          </a:solidFill>
                          <a:latin typeface="Calibri"/>
                        </a:rPr>
                        <a:t>3</a:t>
                      </a:r>
                    </a:p>
                  </a:txBody>
                  <a:tcPr marL="36576" marR="36576" marT="9144" marB="9144" anchor="ctr">
                    <a:solidFill>
                      <a:srgbClr val="F3F6F9"/>
                    </a:solidFill>
                  </a:tcPr>
                </a:tc>
                <a:tc>
                  <a:txBody>
                    <a:bodyPr wrap="square"/>
                    <a:lstStyle/>
                    <a:p>
                      <a:pPr algn="ctr"/>
                      <a:r>
                        <a:rPr sz="850" b="0">
                          <a:solidFill>
                            <a:srgbClr val="1F1F1F"/>
                          </a:solidFill>
                          <a:latin typeface="Calibri"/>
                        </a:rPr>
                        <a:t>3</a:t>
                      </a:r>
                    </a:p>
                  </a:txBody>
                  <a:tcPr marL="36576" marR="36576" marT="9144" marB="9144" anchor="ctr">
                    <a:solidFill>
                      <a:srgbClr val="F3F6F9"/>
                    </a:solidFill>
                  </a:tcPr>
                </a:tc>
                <a:tc>
                  <a:txBody>
                    <a:bodyPr wrap="square"/>
                    <a:lstStyle/>
                    <a:p>
                      <a:pPr algn="ctr"/>
                      <a:r>
                        <a:rPr sz="850" b="0">
                          <a:solidFill>
                            <a:srgbClr val="1F1F1F"/>
                          </a:solidFill>
                          <a:latin typeface="Calibri"/>
                        </a:rPr>
                        <a:t>3</a:t>
                      </a:r>
                    </a:p>
                  </a:txBody>
                  <a:tcPr marL="36576" marR="36576" marT="9144" marB="9144" anchor="ctr">
                    <a:solidFill>
                      <a:srgbClr val="F3F6F9"/>
                    </a:solidFill>
                  </a:tcPr>
                </a:tc>
                <a:tc>
                  <a:txBody>
                    <a:bodyPr wrap="square"/>
                    <a:lstStyle/>
                    <a:p>
                      <a:pPr algn="ctr"/>
                      <a:r>
                        <a:rPr sz="850" b="0">
                          <a:solidFill>
                            <a:srgbClr val="1F1F1F"/>
                          </a:solidFill>
                          <a:latin typeface="Calibri"/>
                        </a:rPr>
                        <a:t>1.12%</a:t>
                      </a:r>
                    </a:p>
                  </a:txBody>
                  <a:tcPr marL="36576" marR="36576" marT="9144" marB="9144" anchor="ctr">
                    <a:solidFill>
                      <a:srgbClr val="F3F6F9"/>
                    </a:solidFill>
                  </a:tcPr>
                </a:tc>
                <a:tc>
                  <a:txBody>
                    <a:bodyPr wrap="square"/>
                    <a:lstStyle/>
                    <a:p>
                      <a:pPr algn="ctr"/>
                      <a:r>
                        <a:rPr sz="850" b="0">
                          <a:solidFill>
                            <a:srgbClr val="1F1F1F"/>
                          </a:solidFill>
                          <a:latin typeface="Calibri"/>
                        </a:rPr>
                        <a:t>132.5</a:t>
                      </a:r>
                    </a:p>
                  </a:txBody>
                  <a:tcPr marL="36576" marR="36576" marT="9144" marB="9144" anchor="ctr">
                    <a:solidFill>
                      <a:srgbClr val="F4B183"/>
                    </a:solidFill>
                  </a:tcPr>
                </a:tc>
              </a:tr>
              <a:tr h="184709">
                <a:tc>
                  <a:txBody>
                    <a:bodyPr wrap="square"/>
                    <a:lstStyle/>
                    <a:p>
                      <a:pPr algn="l"/>
                      <a:r>
                        <a:rPr sz="850" b="1">
                          <a:solidFill>
                            <a:srgbClr val="1F1F1F"/>
                          </a:solidFill>
                          <a:latin typeface="Calibri"/>
                        </a:rPr>
                        <a:t>Waxes, Clays, Pastes and Pomades</a:t>
                      </a:r>
                    </a:p>
                  </a:txBody>
                  <a:tcPr marL="36576" marR="36576" marT="9144" marB="9144" anchor="ctr">
                    <a:solidFill>
                      <a:srgbClr val="FFFFFF"/>
                    </a:solidFill>
                  </a:tcPr>
                </a:tc>
                <a:tc>
                  <a:txBody>
                    <a:bodyPr wrap="square"/>
                    <a:lstStyle/>
                    <a:p>
                      <a:pPr algn="ctr"/>
                      <a:r>
                        <a:rPr sz="850" b="0">
                          <a:solidFill>
                            <a:srgbClr val="1F1F1F"/>
                          </a:solidFill>
                          <a:latin typeface="Calibri"/>
                        </a:rPr>
                        <a:t>2</a:t>
                      </a:r>
                    </a:p>
                  </a:txBody>
                  <a:tcPr marL="36576" marR="36576" marT="9144" marB="9144" anchor="ctr">
                    <a:solidFill>
                      <a:srgbClr val="FFFFFF"/>
                    </a:solidFill>
                  </a:tcPr>
                </a:tc>
                <a:tc>
                  <a:txBody>
                    <a:bodyPr wrap="square"/>
                    <a:lstStyle/>
                    <a:p>
                      <a:pPr algn="ctr"/>
                      <a:r>
                        <a:rPr sz="850" b="0">
                          <a:solidFill>
                            <a:srgbClr val="1F1F1F"/>
                          </a:solidFill>
                          <a:latin typeface="Calibri"/>
                        </a:rPr>
                        <a:t>2</a:t>
                      </a:r>
                    </a:p>
                  </a:txBody>
                  <a:tcPr marL="36576" marR="36576" marT="9144" marB="9144" anchor="ctr">
                    <a:solidFill>
                      <a:srgbClr val="FFFFFF"/>
                    </a:solidFill>
                  </a:tcPr>
                </a:tc>
                <a:tc>
                  <a:txBody>
                    <a:bodyPr wrap="square"/>
                    <a:lstStyle/>
                    <a:p>
                      <a:pPr algn="ctr"/>
                      <a:r>
                        <a:rPr sz="850" b="0">
                          <a:solidFill>
                            <a:srgbClr val="1F1F1F"/>
                          </a:solidFill>
                          <a:latin typeface="Calibri"/>
                        </a:rPr>
                        <a:t>3</a:t>
                      </a:r>
                    </a:p>
                  </a:txBody>
                  <a:tcPr marL="36576" marR="36576" marT="9144" marB="9144" anchor="ctr">
                    <a:solidFill>
                      <a:srgbClr val="FFFFFF"/>
                    </a:solidFill>
                  </a:tcPr>
                </a:tc>
                <a:tc>
                  <a:txBody>
                    <a:bodyPr wrap="square"/>
                    <a:lstStyle/>
                    <a:p>
                      <a:pPr algn="ctr"/>
                      <a:r>
                        <a:rPr sz="850" b="0">
                          <a:solidFill>
                            <a:srgbClr val="1F1F1F"/>
                          </a:solidFill>
                          <a:latin typeface="Calibri"/>
                        </a:rPr>
                        <a:t>1.17%</a:t>
                      </a:r>
                    </a:p>
                  </a:txBody>
                  <a:tcPr marL="36576" marR="36576" marT="9144" marB="9144" anchor="ctr">
                    <a:solidFill>
                      <a:srgbClr val="FFFFFF"/>
                    </a:solidFill>
                  </a:tcPr>
                </a:tc>
                <a:tc>
                  <a:txBody>
                    <a:bodyPr wrap="square"/>
                    <a:lstStyle/>
                    <a:p>
                      <a:pPr algn="ctr"/>
                      <a:r>
                        <a:rPr sz="850" b="0">
                          <a:solidFill>
                            <a:srgbClr val="1F1F1F"/>
                          </a:solidFill>
                          <a:latin typeface="Calibri"/>
                        </a:rPr>
                        <a:t>117.7</a:t>
                      </a:r>
                    </a:p>
                  </a:txBody>
                  <a:tcPr marL="36576" marR="36576" marT="9144" marB="9144" anchor="ctr">
                    <a:solidFill>
                      <a:srgbClr val="F4B183"/>
                    </a:solidFill>
                  </a:tcPr>
                </a:tc>
              </a:tr>
              <a:tr h="184709">
                <a:tc>
                  <a:txBody>
                    <a:bodyPr wrap="square"/>
                    <a:lstStyle/>
                    <a:p>
                      <a:pPr algn="l"/>
                      <a:r>
                        <a:rPr sz="850" b="1">
                          <a:solidFill>
                            <a:srgbClr val="1F1F1F"/>
                          </a:solidFill>
                          <a:latin typeface="Calibri"/>
                        </a:rPr>
                        <a:t>Styling Powders</a:t>
                      </a:r>
                    </a:p>
                  </a:txBody>
                  <a:tcPr marL="36576" marR="36576" marT="9144" marB="9144" anchor="ctr">
                    <a:solidFill>
                      <a:srgbClr val="F3F6F9"/>
                    </a:solidFill>
                  </a:tcPr>
                </a:tc>
                <a:tc>
                  <a:txBody>
                    <a:bodyPr wrap="square"/>
                    <a:lstStyle/>
                    <a:p>
                      <a:pPr algn="ctr"/>
                      <a:r>
                        <a:rPr sz="850" b="0">
                          <a:solidFill>
                            <a:srgbClr val="1F1F1F"/>
                          </a:solidFill>
                          <a:latin typeface="Calibri"/>
                        </a:rPr>
                        <a:t>2</a:t>
                      </a:r>
                    </a:p>
                  </a:txBody>
                  <a:tcPr marL="36576" marR="36576" marT="9144" marB="9144" anchor="ctr">
                    <a:solidFill>
                      <a:srgbClr val="F3F6F9"/>
                    </a:solidFill>
                  </a:tcPr>
                </a:tc>
                <a:tc>
                  <a:txBody>
                    <a:bodyPr wrap="square"/>
                    <a:lstStyle/>
                    <a:p>
                      <a:pPr algn="ctr"/>
                      <a:r>
                        <a:rPr sz="850" b="0">
                          <a:solidFill>
                            <a:srgbClr val="1F1F1F"/>
                          </a:solidFill>
                          <a:latin typeface="Calibri"/>
                        </a:rPr>
                        <a:t>2</a:t>
                      </a:r>
                    </a:p>
                  </a:txBody>
                  <a:tcPr marL="36576" marR="36576" marT="9144" marB="9144" anchor="ctr">
                    <a:solidFill>
                      <a:srgbClr val="F3F6F9"/>
                    </a:solidFill>
                  </a:tcPr>
                </a:tc>
                <a:tc>
                  <a:txBody>
                    <a:bodyPr wrap="square"/>
                    <a:lstStyle/>
                    <a:p>
                      <a:pPr algn="ctr"/>
                      <a:r>
                        <a:rPr sz="850" b="0">
                          <a:solidFill>
                            <a:srgbClr val="1F1F1F"/>
                          </a:solidFill>
                          <a:latin typeface="Calibri"/>
                        </a:rPr>
                        <a:t>2</a:t>
                      </a:r>
                    </a:p>
                  </a:txBody>
                  <a:tcPr marL="36576" marR="36576" marT="9144" marB="9144" anchor="ctr">
                    <a:solidFill>
                      <a:srgbClr val="F3F6F9"/>
                    </a:solidFill>
                  </a:tcPr>
                </a:tc>
                <a:tc>
                  <a:txBody>
                    <a:bodyPr wrap="square"/>
                    <a:lstStyle/>
                    <a:p>
                      <a:pPr algn="ctr"/>
                      <a:r>
                        <a:rPr sz="850" b="0">
                          <a:solidFill>
                            <a:srgbClr val="1F1F1F"/>
                          </a:solidFill>
                          <a:latin typeface="Calibri"/>
                        </a:rPr>
                        <a:t>0.89%</a:t>
                      </a:r>
                    </a:p>
                  </a:txBody>
                  <a:tcPr marL="36576" marR="36576" marT="9144" marB="9144" anchor="ctr">
                    <a:solidFill>
                      <a:srgbClr val="F3F6F9"/>
                    </a:solidFill>
                  </a:tcPr>
                </a:tc>
                <a:tc>
                  <a:txBody>
                    <a:bodyPr wrap="square"/>
                    <a:lstStyle/>
                    <a:p>
                      <a:pPr algn="ctr"/>
                      <a:r>
                        <a:rPr sz="850" b="0">
                          <a:solidFill>
                            <a:srgbClr val="1F1F1F"/>
                          </a:solidFill>
                          <a:latin typeface="Calibri"/>
                        </a:rPr>
                        <a:t>103.3</a:t>
                      </a:r>
                    </a:p>
                  </a:txBody>
                  <a:tcPr marL="36576" marR="36576" marT="9144" marB="9144" anchor="ctr">
                    <a:solidFill>
                      <a:srgbClr val="F4B183"/>
                    </a:solidFill>
                  </a:tcPr>
                </a:tc>
              </a:tr>
              <a:tr h="184709">
                <a:tc>
                  <a:txBody>
                    <a:bodyPr wrap="square"/>
                    <a:lstStyle/>
                    <a:p>
                      <a:pPr algn="l"/>
                      <a:r>
                        <a:rPr sz="850" b="1">
                          <a:solidFill>
                            <a:srgbClr val="1F1F1F"/>
                          </a:solidFill>
                          <a:latin typeface="Calibri"/>
                        </a:rPr>
                        <a:t>Sprays and Mists</a:t>
                      </a:r>
                    </a:p>
                  </a:txBody>
                  <a:tcPr marL="36576" marR="36576" marT="9144" marB="9144" anchor="ctr">
                    <a:solidFill>
                      <a:srgbClr val="FFFFFF"/>
                    </a:solidFill>
                  </a:tcPr>
                </a:tc>
                <a:tc>
                  <a:txBody>
                    <a:bodyPr wrap="square"/>
                    <a:lstStyle/>
                    <a:p>
                      <a:pPr algn="ctr"/>
                      <a:r>
                        <a:rPr sz="850" b="0">
                          <a:solidFill>
                            <a:srgbClr val="1F1F1F"/>
                          </a:solidFill>
                          <a:latin typeface="Calibri"/>
                        </a:rPr>
                        <a:t>2</a:t>
                      </a:r>
                    </a:p>
                  </a:txBody>
                  <a:tcPr marL="36576" marR="36576" marT="9144" marB="9144" anchor="ctr">
                    <a:solidFill>
                      <a:srgbClr val="FFFFFF"/>
                    </a:solidFill>
                  </a:tcPr>
                </a:tc>
                <a:tc>
                  <a:txBody>
                    <a:bodyPr wrap="square"/>
                    <a:lstStyle/>
                    <a:p>
                      <a:pPr algn="ctr"/>
                      <a:r>
                        <a:rPr sz="850" b="0">
                          <a:solidFill>
                            <a:srgbClr val="1F1F1F"/>
                          </a:solidFill>
                          <a:latin typeface="Calibri"/>
                        </a:rPr>
                        <a:t>2</a:t>
                      </a:r>
                    </a:p>
                  </a:txBody>
                  <a:tcPr marL="36576" marR="36576" marT="9144" marB="9144" anchor="ctr">
                    <a:solidFill>
                      <a:srgbClr val="FFFFFF"/>
                    </a:solidFill>
                  </a:tcPr>
                </a:tc>
                <a:tc>
                  <a:txBody>
                    <a:bodyPr wrap="square"/>
                    <a:lstStyle/>
                    <a:p>
                      <a:pPr algn="ctr"/>
                      <a:r>
                        <a:rPr sz="850" b="0">
                          <a:solidFill>
                            <a:srgbClr val="1F1F1F"/>
                          </a:solidFill>
                          <a:latin typeface="Calibri"/>
                        </a:rPr>
                        <a:t>2</a:t>
                      </a:r>
                    </a:p>
                  </a:txBody>
                  <a:tcPr marL="36576" marR="36576" marT="9144" marB="9144" anchor="ctr">
                    <a:solidFill>
                      <a:srgbClr val="FFFFFF"/>
                    </a:solidFill>
                  </a:tcPr>
                </a:tc>
                <a:tc>
                  <a:txBody>
                    <a:bodyPr wrap="square"/>
                    <a:lstStyle/>
                    <a:p>
                      <a:pPr algn="ctr"/>
                      <a:r>
                        <a:rPr sz="850" b="0">
                          <a:solidFill>
                            <a:srgbClr val="1F1F1F"/>
                          </a:solidFill>
                          <a:latin typeface="Calibri"/>
                        </a:rPr>
                        <a:t>1.17%</a:t>
                      </a:r>
                    </a:p>
                  </a:txBody>
                  <a:tcPr marL="36576" marR="36576" marT="9144" marB="9144" anchor="ctr">
                    <a:solidFill>
                      <a:srgbClr val="FFFFFF"/>
                    </a:solidFill>
                  </a:tcPr>
                </a:tc>
                <a:tc>
                  <a:txBody>
                    <a:bodyPr wrap="square"/>
                    <a:lstStyle/>
                    <a:p>
                      <a:pPr algn="ctr"/>
                      <a:r>
                        <a:rPr sz="850" b="0">
                          <a:solidFill>
                            <a:srgbClr val="1F1F1F"/>
                          </a:solidFill>
                          <a:latin typeface="Calibri"/>
                        </a:rPr>
                        <a:t>93.6</a:t>
                      </a:r>
                    </a:p>
                  </a:txBody>
                  <a:tcPr marL="36576" marR="36576" marT="9144" marB="9144" anchor="ctr">
                    <a:solidFill>
                      <a:srgbClr val="9DC0E0"/>
                    </a:solidFill>
                  </a:tcPr>
                </a:tc>
              </a:tr>
              <a:tr h="184709">
                <a:tc>
                  <a:txBody>
                    <a:bodyPr wrap="square"/>
                    <a:lstStyle/>
                    <a:p>
                      <a:pPr algn="l"/>
                      <a:r>
                        <a:rPr sz="850" b="1">
                          <a:solidFill>
                            <a:srgbClr val="1F1F1F"/>
                          </a:solidFill>
                          <a:latin typeface="Calibri"/>
                        </a:rPr>
                        <a:t>Creams and Lotions</a:t>
                      </a:r>
                    </a:p>
                  </a:txBody>
                  <a:tcPr marL="36576" marR="36576" marT="9144" marB="9144" anchor="ctr">
                    <a:solidFill>
                      <a:srgbClr val="F3F6F9"/>
                    </a:solidFill>
                  </a:tcPr>
                </a:tc>
                <a:tc>
                  <a:txBody>
                    <a:bodyPr wrap="square"/>
                    <a:lstStyle/>
                    <a:p>
                      <a:pPr algn="ctr"/>
                      <a:r>
                        <a:rPr sz="850" b="0">
                          <a:solidFill>
                            <a:srgbClr val="1F1F1F"/>
                          </a:solidFill>
                          <a:latin typeface="Calibri"/>
                        </a:rPr>
                        <a:t>2</a:t>
                      </a:r>
                    </a:p>
                  </a:txBody>
                  <a:tcPr marL="36576" marR="36576" marT="9144" marB="9144" anchor="ctr">
                    <a:solidFill>
                      <a:srgbClr val="F3F6F9"/>
                    </a:solidFill>
                  </a:tcPr>
                </a:tc>
                <a:tc>
                  <a:txBody>
                    <a:bodyPr wrap="square"/>
                    <a:lstStyle/>
                    <a:p>
                      <a:pPr algn="ctr"/>
                      <a:r>
                        <a:rPr sz="850" b="0">
                          <a:solidFill>
                            <a:srgbClr val="1F1F1F"/>
                          </a:solidFill>
                          <a:latin typeface="Calibri"/>
                        </a:rPr>
                        <a:t>2</a:t>
                      </a:r>
                    </a:p>
                  </a:txBody>
                  <a:tcPr marL="36576" marR="36576" marT="9144" marB="9144" anchor="ctr">
                    <a:solidFill>
                      <a:srgbClr val="F3F6F9"/>
                    </a:solidFill>
                  </a:tcPr>
                </a:tc>
                <a:tc>
                  <a:txBody>
                    <a:bodyPr wrap="square"/>
                    <a:lstStyle/>
                    <a:p>
                      <a:pPr algn="ctr"/>
                      <a:r>
                        <a:rPr sz="850" b="0">
                          <a:solidFill>
                            <a:srgbClr val="1F1F1F"/>
                          </a:solidFill>
                          <a:latin typeface="Calibri"/>
                        </a:rPr>
                        <a:t>2</a:t>
                      </a:r>
                    </a:p>
                  </a:txBody>
                  <a:tcPr marL="36576" marR="36576" marT="9144" marB="9144" anchor="ctr">
                    <a:solidFill>
                      <a:srgbClr val="F3F6F9"/>
                    </a:solidFill>
                  </a:tcPr>
                </a:tc>
                <a:tc>
                  <a:txBody>
                    <a:bodyPr wrap="square"/>
                    <a:lstStyle/>
                    <a:p>
                      <a:pPr algn="ctr"/>
                      <a:r>
                        <a:rPr sz="850" b="0">
                          <a:solidFill>
                            <a:srgbClr val="1F1F1F"/>
                          </a:solidFill>
                          <a:latin typeface="Calibri"/>
                        </a:rPr>
                        <a:t>1.26%</a:t>
                      </a:r>
                    </a:p>
                  </a:txBody>
                  <a:tcPr marL="36576" marR="36576" marT="9144" marB="9144" anchor="ctr">
                    <a:solidFill>
                      <a:srgbClr val="F3F6F9"/>
                    </a:solidFill>
                  </a:tcPr>
                </a:tc>
                <a:tc>
                  <a:txBody>
                    <a:bodyPr wrap="square"/>
                    <a:lstStyle/>
                    <a:p>
                      <a:pPr algn="ctr"/>
                      <a:r>
                        <a:rPr sz="850" b="0">
                          <a:solidFill>
                            <a:srgbClr val="1F1F1F"/>
                          </a:solidFill>
                          <a:latin typeface="Calibri"/>
                        </a:rPr>
                        <a:t>87.7</a:t>
                      </a:r>
                    </a:p>
                  </a:txBody>
                  <a:tcPr marL="36576" marR="36576" marT="9144" marB="9144" anchor="ctr">
                    <a:solidFill>
                      <a:srgbClr val="9DC0E0"/>
                    </a:solidFill>
                  </a:tcPr>
                </a:tc>
              </a:tr>
              <a:tr h="184709">
                <a:tc>
                  <a:txBody>
                    <a:bodyPr wrap="square"/>
                    <a:lstStyle/>
                    <a:p>
                      <a:pPr algn="l"/>
                      <a:r>
                        <a:rPr sz="850" b="1">
                          <a:solidFill>
                            <a:srgbClr val="1F1F1F"/>
                          </a:solidFill>
                          <a:latin typeface="Calibri"/>
                        </a:rPr>
                        <a:t>Gels and Jellies</a:t>
                      </a:r>
                    </a:p>
                  </a:txBody>
                  <a:tcPr marL="36576" marR="36576" marT="9144" marB="9144" anchor="ctr">
                    <a:solidFill>
                      <a:srgbClr val="FFFFFF"/>
                    </a:solidFill>
                  </a:tcPr>
                </a:tc>
                <a:tc>
                  <a:txBody>
                    <a:bodyPr wrap="square"/>
                    <a:lstStyle/>
                    <a:p>
                      <a:pPr algn="ctr"/>
                      <a:r>
                        <a:rPr sz="850" b="0">
                          <a:solidFill>
                            <a:srgbClr val="1F1F1F"/>
                          </a:solidFill>
                          <a:latin typeface="Calibri"/>
                        </a:rPr>
                        <a:t>1</a:t>
                      </a:r>
                    </a:p>
                  </a:txBody>
                  <a:tcPr marL="36576" marR="36576" marT="9144" marB="9144" anchor="ctr">
                    <a:solidFill>
                      <a:srgbClr val="FFFFFF"/>
                    </a:solidFill>
                  </a:tcPr>
                </a:tc>
                <a:tc>
                  <a:txBody>
                    <a:bodyPr wrap="square"/>
                    <a:lstStyle/>
                    <a:p>
                      <a:pPr algn="ctr"/>
                      <a:r>
                        <a:rPr sz="850" b="0">
                          <a:solidFill>
                            <a:srgbClr val="1F1F1F"/>
                          </a:solidFill>
                          <a:latin typeface="Calibri"/>
                        </a:rPr>
                        <a:t>1</a:t>
                      </a:r>
                    </a:p>
                  </a:txBody>
                  <a:tcPr marL="36576" marR="36576" marT="9144" marB="9144" anchor="ctr">
                    <a:solidFill>
                      <a:srgbClr val="FFFFFF"/>
                    </a:solidFill>
                  </a:tcPr>
                </a:tc>
                <a:tc>
                  <a:txBody>
                    <a:bodyPr wrap="square"/>
                    <a:lstStyle/>
                    <a:p>
                      <a:pPr algn="ctr"/>
                      <a:r>
                        <a:rPr sz="850" b="0">
                          <a:solidFill>
                            <a:srgbClr val="1F1F1F"/>
                          </a:solidFill>
                          <a:latin typeface="Calibri"/>
                        </a:rPr>
                        <a:t>1</a:t>
                      </a:r>
                    </a:p>
                  </a:txBody>
                  <a:tcPr marL="36576" marR="36576" marT="9144" marB="9144" anchor="ctr">
                    <a:solidFill>
                      <a:srgbClr val="FFFFFF"/>
                    </a:solidFill>
                  </a:tcPr>
                </a:tc>
                <a:tc>
                  <a:txBody>
                    <a:bodyPr wrap="square"/>
                    <a:lstStyle/>
                    <a:p>
                      <a:pPr algn="ctr"/>
                      <a:r>
                        <a:rPr sz="850" b="0">
                          <a:solidFill>
                            <a:srgbClr val="1F1F1F"/>
                          </a:solidFill>
                          <a:latin typeface="Calibri"/>
                        </a:rPr>
                        <a:t>1.04%</a:t>
                      </a:r>
                    </a:p>
                  </a:txBody>
                  <a:tcPr marL="36576" marR="36576" marT="9144" marB="9144" anchor="ctr">
                    <a:solidFill>
                      <a:srgbClr val="FFFFFF"/>
                    </a:solidFill>
                  </a:tcPr>
                </a:tc>
                <a:tc>
                  <a:txBody>
                    <a:bodyPr wrap="square"/>
                    <a:lstStyle/>
                    <a:p>
                      <a:pPr algn="ctr"/>
                      <a:r>
                        <a:rPr sz="850" b="0">
                          <a:solidFill>
                            <a:srgbClr val="1F1F1F"/>
                          </a:solidFill>
                          <a:latin typeface="Calibri"/>
                        </a:rPr>
                        <a:t>62.7</a:t>
                      </a:r>
                    </a:p>
                  </a:txBody>
                  <a:tcPr marL="36576" marR="36576" marT="9144" marB="9144" anchor="ctr">
                    <a:solidFill>
                      <a:srgbClr val="9DC0E0"/>
                    </a:solidFill>
                  </a:tcPr>
                </a:tc>
              </a:tr>
              <a:tr h="184709">
                <a:tc>
                  <a:txBody>
                    <a:bodyPr wrap="square"/>
                    <a:lstStyle/>
                    <a:p>
                      <a:pPr algn="l"/>
                      <a:r>
                        <a:rPr sz="850" b="1">
                          <a:solidFill>
                            <a:srgbClr val="1F1F1F"/>
                          </a:solidFill>
                          <a:latin typeface="Calibri"/>
                        </a:rPr>
                        <a:t>Mousses and Foams</a:t>
                      </a:r>
                    </a:p>
                  </a:txBody>
                  <a:tcPr marL="36576" marR="36576" marT="9144" marB="9144" anchor="ctr">
                    <a:solidFill>
                      <a:srgbClr val="F3F6F9"/>
                    </a:solidFill>
                  </a:tcPr>
                </a:tc>
                <a:tc>
                  <a:txBody>
                    <a:bodyPr wrap="square"/>
                    <a:lstStyle/>
                    <a:p>
                      <a:pPr algn="ctr"/>
                      <a:r>
                        <a:rPr sz="850" b="0">
                          <a:solidFill>
                            <a:srgbClr val="1F1F1F"/>
                          </a:solidFill>
                          <a:latin typeface="Calibri"/>
                        </a:rPr>
                        <a:t>1</a:t>
                      </a:r>
                    </a:p>
                  </a:txBody>
                  <a:tcPr marL="36576" marR="36576" marT="9144" marB="9144" anchor="ctr">
                    <a:solidFill>
                      <a:srgbClr val="F3F6F9"/>
                    </a:solidFill>
                  </a:tcPr>
                </a:tc>
                <a:tc>
                  <a:txBody>
                    <a:bodyPr wrap="square"/>
                    <a:lstStyle/>
                    <a:p>
                      <a:pPr algn="ctr"/>
                      <a:r>
                        <a:rPr sz="850" b="0">
                          <a:solidFill>
                            <a:srgbClr val="1F1F1F"/>
                          </a:solidFill>
                          <a:latin typeface="Calibri"/>
                        </a:rPr>
                        <a:t>1</a:t>
                      </a:r>
                    </a:p>
                  </a:txBody>
                  <a:tcPr marL="36576" marR="36576" marT="9144" marB="9144" anchor="ctr">
                    <a:solidFill>
                      <a:srgbClr val="F3F6F9"/>
                    </a:solidFill>
                  </a:tcPr>
                </a:tc>
                <a:tc>
                  <a:txBody>
                    <a:bodyPr wrap="square"/>
                    <a:lstStyle/>
                    <a:p>
                      <a:pPr algn="ctr"/>
                      <a:r>
                        <a:rPr sz="850" b="0">
                          <a:solidFill>
                            <a:srgbClr val="1F1F1F"/>
                          </a:solidFill>
                          <a:latin typeface="Calibri"/>
                        </a:rPr>
                        <a:t>1</a:t>
                      </a:r>
                    </a:p>
                  </a:txBody>
                  <a:tcPr marL="36576" marR="36576" marT="9144" marB="9144" anchor="ctr">
                    <a:solidFill>
                      <a:srgbClr val="F3F6F9"/>
                    </a:solidFill>
                  </a:tcPr>
                </a:tc>
                <a:tc>
                  <a:txBody>
                    <a:bodyPr wrap="square"/>
                    <a:lstStyle/>
                    <a:p>
                      <a:pPr algn="ctr"/>
                      <a:r>
                        <a:rPr sz="850" b="0">
                          <a:solidFill>
                            <a:srgbClr val="1F1F1F"/>
                          </a:solidFill>
                          <a:latin typeface="Calibri"/>
                        </a:rPr>
                        <a:t>1.20%</a:t>
                      </a:r>
                    </a:p>
                  </a:txBody>
                  <a:tcPr marL="36576" marR="36576" marT="9144" marB="9144" anchor="ctr">
                    <a:solidFill>
                      <a:srgbClr val="F3F6F9"/>
                    </a:solidFill>
                  </a:tcPr>
                </a:tc>
                <a:tc>
                  <a:txBody>
                    <a:bodyPr wrap="square"/>
                    <a:lstStyle/>
                    <a:p>
                      <a:pPr algn="ctr"/>
                      <a:r>
                        <a:rPr sz="850" b="0">
                          <a:solidFill>
                            <a:srgbClr val="1F1F1F"/>
                          </a:solidFill>
                          <a:latin typeface="Calibri"/>
                        </a:rPr>
                        <a:t>62.4</a:t>
                      </a:r>
                    </a:p>
                  </a:txBody>
                  <a:tcPr marL="36576" marR="36576" marT="9144" marB="9144" anchor="ctr">
                    <a:solidFill>
                      <a:srgbClr val="9DC0E0"/>
                    </a:solidFill>
                  </a:tcPr>
                </a:tc>
              </a:tr>
              <a:tr h="184709">
                <a:tc>
                  <a:txBody>
                    <a:bodyPr wrap="square"/>
                    <a:lstStyle/>
                    <a:p>
                      <a:pPr algn="l"/>
                      <a:r>
                        <a:rPr sz="850" b="1">
                          <a:solidFill>
                            <a:srgbClr val="1F1F1F"/>
                          </a:solidFill>
                          <a:latin typeface="Calibri"/>
                        </a:rPr>
                        <a:t>Global Average</a:t>
                      </a:r>
                    </a:p>
                  </a:txBody>
                  <a:tcPr marL="36576" marR="36576" marT="9144" marB="9144" anchor="ctr">
                    <a:solidFill>
                      <a:srgbClr val="F3F6F9"/>
                    </a:solidFill>
                  </a:tcPr>
                </a:tc>
                <a:tc>
                  <a:txBody>
                    <a:bodyPr wrap="square"/>
                    <a:lstStyle/>
                    <a:p>
                      <a:pPr algn="ctr"/>
                      <a:r>
                        <a:rPr sz="850" b="0">
                          <a:solidFill>
                            <a:srgbClr val="1F1F1F"/>
                          </a:solidFill>
                          <a:latin typeface="Calibri"/>
                        </a:rPr>
                        <a:t>2</a:t>
                      </a:r>
                    </a:p>
                  </a:txBody>
                  <a:tcPr marL="36576" marR="36576" marT="9144" marB="9144" anchor="ctr">
                    <a:solidFill>
                      <a:srgbClr val="F3F6F9"/>
                    </a:solidFill>
                  </a:tcPr>
                </a:tc>
                <a:tc>
                  <a:txBody>
                    <a:bodyPr wrap="square"/>
                    <a:lstStyle/>
                    <a:p>
                      <a:pPr algn="ctr"/>
                      <a:r>
                        <a:rPr sz="850" b="0">
                          <a:solidFill>
                            <a:srgbClr val="1F1F1F"/>
                          </a:solidFill>
                          <a:latin typeface="Calibri"/>
                        </a:rPr>
                        <a:t>2</a:t>
                      </a:r>
                    </a:p>
                  </a:txBody>
                  <a:tcPr marL="36576" marR="36576" marT="9144" marB="9144" anchor="ctr">
                    <a:solidFill>
                      <a:srgbClr val="F3F6F9"/>
                    </a:solidFill>
                  </a:tcPr>
                </a:tc>
                <a:tc>
                  <a:txBody>
                    <a:bodyPr wrap="square"/>
                    <a:lstStyle/>
                    <a:p>
                      <a:pPr algn="ctr"/>
                      <a:r>
                        <a:rPr sz="850" b="0">
                          <a:solidFill>
                            <a:srgbClr val="1F1F1F"/>
                          </a:solidFill>
                          <a:latin typeface="Calibri"/>
                        </a:rPr>
                        <a:t>2</a:t>
                      </a:r>
                    </a:p>
                  </a:txBody>
                  <a:tcPr marL="36576" marR="36576" marT="9144" marB="9144" anchor="ctr">
                    <a:solidFill>
                      <a:srgbClr val="F3F6F9"/>
                    </a:solidFill>
                  </a:tcPr>
                </a:tc>
                <a:tc>
                  <a:txBody>
                    <a:bodyPr wrap="square"/>
                    <a:lstStyle/>
                    <a:p>
                      <a:pPr algn="ctr"/>
                      <a:r>
                        <a:rPr sz="850" b="0">
                          <a:solidFill>
                            <a:srgbClr val="1F1F1F"/>
                          </a:solidFill>
                          <a:latin typeface="Calibri"/>
                        </a:rPr>
                        <a:t>1.34%</a:t>
                      </a:r>
                    </a:p>
                  </a:txBody>
                  <a:tcPr marL="36576" marR="36576" marT="9144" marB="9144" anchor="ctr">
                    <a:solidFill>
                      <a:srgbClr val="F3F6F9"/>
                    </a:solidFill>
                  </a:tcPr>
                </a:tc>
                <a:tc>
                  <a:txBody>
                    <a:bodyPr wrap="square"/>
                    <a:lstStyle/>
                    <a:p>
                      <a:pPr algn="ctr"/>
                      <a:r>
                        <a:rPr sz="850" b="0">
                          <a:solidFill>
                            <a:srgbClr val="1F1F1F"/>
                          </a:solidFill>
                          <a:latin typeface="Calibri"/>
                        </a:rPr>
                        <a:t>100.0</a:t>
                      </a:r>
                    </a:p>
                  </a:txBody>
                  <a:tcPr marL="36576" marR="36576" marT="9144" marB="9144" anchor="ctr">
                    <a:solidFill>
                      <a:srgbClr val="F3F6F9"/>
                    </a:solidFill>
                  </a:tcPr>
                </a:tc>
              </a:tr>
            </a:tbl>
          </a:graphicData>
        </a:graphic>
      </p:graphicFrame>
      <p:sp>
        <p:nvSpPr>
          <p:cNvPr id="19" name="Rectangle 18"/>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0" name="Oval 19"/>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1" name="TextBox 20"/>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Hierarchy</a:t>
            </a:r>
          </a:p>
        </p:txBody>
      </p:sp>
      <p:sp>
        <p:nvSpPr>
          <p:cNvPr id="22" name="TextBox 21"/>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Styling Serums and Oils sit at the top of the 2026 price ladder at an index of 152.0, while Mousses and Foams trade at 62.4, which keeps the full product format spread within 143.7%.</a:t>
            </a:r>
          </a:p>
        </p:txBody>
      </p:sp>
      <p:sp>
        <p:nvSpPr>
          <p:cNvPr id="23" name="Rectangle 22"/>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4" name="Oval 23"/>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5" name="TextBox 24"/>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Momentum</a:t>
            </a:r>
          </a:p>
        </p:txBody>
      </p:sp>
      <p:sp>
        <p:nvSpPr>
          <p:cNvPr id="26" name="TextBox 25"/>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Creams and Lotions post the fastest price growth at a 1.26% CAGR between 2026 and 2036, compared with 0.89% for Styling Powders.</a:t>
            </a:r>
          </a:p>
        </p:txBody>
      </p:sp>
      <p:sp>
        <p:nvSpPr>
          <p:cNvPr id="27" name="Rectangle 26"/>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8" name="Oval 27"/>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9" name="TextBox 28"/>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Outlook</a:t>
            </a:r>
          </a:p>
        </p:txBody>
      </p:sp>
      <p:sp>
        <p:nvSpPr>
          <p:cNvPr id="30" name="TextBox 29"/>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The Global average price rises from US$ 2/Units in 2026 to US$ 2/Units in 2036, and the gap between the highest and lowest priced product format moves from 144.1% in 2021 to 146.5% in 2036.</a:t>
            </a:r>
          </a:p>
        </p:txBody>
      </p:sp>
      <p:sp>
        <p:nvSpPr>
          <p:cNvPr id="31" name="TextBox 30"/>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Average price = market value (US$) / market volume (Units). 2021 to 2025 historical, 2026 to 2036 forecast.</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Pricing Assessment: Region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 average price and price range across product formats, 2026 (US$/Units)</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North America is the most premium Global region at US$ 3/Units in 2026, +40.1% above the global average, while South Asia &amp; Pacific is the lowest priced.</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Range Across Product Formats by Region (US$/Units), Ranked by Average</a:t>
            </a:r>
          </a:p>
        </p:txBody>
      </p:sp>
      <p:graphicFrame>
        <p:nvGraphicFramePr>
          <p:cNvPr id="13" name="FMI Open Chart"/>
          <p:cNvGraphicFramePr>
            <a:graphicFrameLocks noGrp="1"/>
          </p:cNvGraphicFramePr>
          <p:nvPr/>
        </p:nvGraphicFramePr>
        <p:xfrm>
          <a:off x="347472" y="2014347"/>
          <a:ext cx="7406640" cy="3017520"/>
        </p:xfrm>
        <a:graphic>
          <a:graphicData uri="http://schemas.openxmlformats.org/drawingml/2006/chart">
            <c:chart xmlns:c="http://schemas.openxmlformats.org/drawingml/2006/chart" r:id="rId3"/>
          </a:graphicData>
        </a:graphic>
      </p:graphicFrame>
      <p:sp>
        <p:nvSpPr>
          <p:cNvPr id="14" name="TextBox 13"/>
          <p:cNvSpPr txBox="1"/>
          <p:nvPr/>
        </p:nvSpPr>
        <p:spPr>
          <a:xfrm>
            <a:off x="384048" y="1804035"/>
            <a:ext cx="7223760" cy="219075"/>
          </a:xfrm>
          <a:prstGeom prst="rect">
            <a:avLst/>
          </a:prstGeom>
          <a:noFill/>
        </p:spPr>
        <p:txBody>
          <a:bodyPr wrap="square" anchor="t" lIns="27432" rIns="27432" tIns="27432" bIns="27432">
            <a:spAutoFit/>
          </a:bodyPr>
          <a:lstStyle/>
          <a:p>
            <a:pPr algn="l"/>
            <a:r>
              <a:rPr sz="850" b="0" i="1">
                <a:solidFill>
                  <a:srgbClr val="59636E"/>
                </a:solidFill>
                <a:latin typeface="Calibri"/>
              </a:rPr>
              <a:t>Bar spans the lowest to highest product format price in each region, read on the price index axis (Global average = 100). Teal = above Global average, blue = below.</a:t>
            </a:r>
          </a:p>
        </p:txBody>
      </p:sp>
      <p:sp>
        <p:nvSpPr>
          <p:cNvPr id="15" name="Rectangle 14"/>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Premium and Discount Markets</a:t>
            </a:r>
          </a:p>
        </p:txBody>
      </p:sp>
      <p:graphicFrame>
        <p:nvGraphicFramePr>
          <p:cNvPr id="17" name="Table 16"/>
          <p:cNvGraphicFramePr>
            <a:graphicFrameLocks noGrp="1"/>
          </p:cNvGraphicFramePr>
          <p:nvPr/>
        </p:nvGraphicFramePr>
        <p:xfrm>
          <a:off x="8046720" y="1868043"/>
          <a:ext cx="3776472" cy="3090675"/>
        </p:xfrm>
        <a:graphic>
          <a:graphicData uri="http://schemas.openxmlformats.org/drawingml/2006/table">
            <a:tbl>
              <a:tblPr firstRow="1" bandRow="1">
                <a:tableStyleId>{5C22544A-7EE6-4342-B048-85BDC9FD1C3A}</a:tableStyleId>
              </a:tblPr>
              <a:tblGrid>
                <a:gridCol w="1417320"/>
                <a:gridCol w="786384"/>
                <a:gridCol w="658368"/>
                <a:gridCol w="914400"/>
              </a:tblGrid>
              <a:tr h="441525">
                <a:tc>
                  <a:txBody>
                    <a:bodyPr wrap="square"/>
                    <a:lstStyle/>
                    <a:p>
                      <a:pPr algn="l"/>
                      <a:r>
                        <a:rPr sz="900" b="1">
                          <a:solidFill>
                            <a:srgbClr val="FFFFFF"/>
                          </a:solidFill>
                          <a:latin typeface="Calibri"/>
                        </a:rPr>
                        <a:t>Region</a:t>
                      </a:r>
                    </a:p>
                  </a:txBody>
                  <a:tcPr marL="36576" marR="36576" marT="9144" marB="9144" anchor="ctr">
                    <a:solidFill>
                      <a:srgbClr val="0B2E4A"/>
                    </a:solidFill>
                  </a:tcPr>
                </a:tc>
                <a:tc>
                  <a:txBody>
                    <a:bodyPr wrap="square"/>
                    <a:lstStyle/>
                    <a:p>
                      <a:pPr algn="ctr"/>
                      <a:r>
                        <a:rPr sz="900" b="1">
                          <a:solidFill>
                            <a:srgbClr val="FFFFFF"/>
                          </a:solidFill>
                          <a:latin typeface="Calibri"/>
                        </a:rPr>
                        <a:t>Avg. 2026</a:t>
                      </a:r>
                    </a:p>
                  </a:txBody>
                  <a:tcPr marL="36576" marR="36576" marT="9144" marB="9144" anchor="ctr">
                    <a:solidFill>
                      <a:srgbClr val="0B2E4A"/>
                    </a:solidFill>
                  </a:tcPr>
                </a:tc>
                <a:tc>
                  <a:txBody>
                    <a:bodyPr wrap="square"/>
                    <a:lstStyle/>
                    <a:p>
                      <a:pPr algn="ctr"/>
                      <a:r>
                        <a:rPr sz="900" b="1">
                          <a:solidFill>
                            <a:srgbClr val="FFFFFF"/>
                          </a:solidFill>
                          <a:latin typeface="Calibri"/>
                        </a:rPr>
                        <a:t>Index</a:t>
                      </a:r>
                    </a:p>
                  </a:txBody>
                  <a:tcPr marL="36576" marR="36576" marT="9144" marB="9144" anchor="ctr">
                    <a:solidFill>
                      <a:srgbClr val="0B2E4A"/>
                    </a:solidFill>
                  </a:tcPr>
                </a:tc>
                <a:tc>
                  <a:txBody>
                    <a:bodyPr wrap="square"/>
                    <a:lstStyle/>
                    <a:p>
                      <a:pPr algn="ctr"/>
                      <a:r>
                        <a:rPr sz="900" b="1">
                          <a:solidFill>
                            <a:srgbClr val="FFFFFF"/>
                          </a:solidFill>
                          <a:latin typeface="Calibri"/>
                        </a:rPr>
                        <a:t>CAGR 2026 to 2036</a:t>
                      </a:r>
                    </a:p>
                  </a:txBody>
                  <a:tcPr marL="36576" marR="36576" marT="9144" marB="9144" anchor="ctr">
                    <a:solidFill>
                      <a:srgbClr val="0B2E4A"/>
                    </a:solidFill>
                  </a:tcPr>
                </a:tc>
              </a:tr>
              <a:tr h="441525">
                <a:tc>
                  <a:txBody>
                    <a:bodyPr wrap="square"/>
                    <a:lstStyle/>
                    <a:p>
                      <a:pPr algn="l"/>
                      <a:r>
                        <a:rPr sz="900" b="1">
                          <a:solidFill>
                            <a:srgbClr val="1F1F1F"/>
                          </a:solidFill>
                          <a:latin typeface="Calibri"/>
                        </a:rPr>
                        <a:t>North America</a:t>
                      </a:r>
                    </a:p>
                  </a:txBody>
                  <a:tcPr marL="36576" marR="36576" marT="9144" marB="9144" anchor="ctr">
                    <a:solidFill>
                      <a:srgbClr val="FFFFFF"/>
                    </a:solidFill>
                  </a:tcPr>
                </a:tc>
                <a:tc>
                  <a:txBody>
                    <a:bodyPr wrap="square"/>
                    <a:lstStyle/>
                    <a:p>
                      <a:pPr algn="ctr"/>
                      <a:r>
                        <a:rPr sz="900" b="0">
                          <a:solidFill>
                            <a:srgbClr val="1F1F1F"/>
                          </a:solidFill>
                          <a:latin typeface="Calibri"/>
                        </a:rPr>
                        <a:t>3</a:t>
                      </a:r>
                    </a:p>
                  </a:txBody>
                  <a:tcPr marL="36576" marR="36576" marT="9144" marB="9144" anchor="ctr">
                    <a:solidFill>
                      <a:srgbClr val="FFFFFF"/>
                    </a:solidFill>
                  </a:tcPr>
                </a:tc>
                <a:tc>
                  <a:txBody>
                    <a:bodyPr wrap="square"/>
                    <a:lstStyle/>
                    <a:p>
                      <a:pPr algn="ctr"/>
                      <a:r>
                        <a:rPr sz="900" b="0">
                          <a:solidFill>
                            <a:srgbClr val="1F1F1F"/>
                          </a:solidFill>
                          <a:latin typeface="Calibri"/>
                        </a:rPr>
                        <a:t>140.1</a:t>
                      </a:r>
                    </a:p>
                  </a:txBody>
                  <a:tcPr marL="36576" marR="36576" marT="9144" marB="9144" anchor="ctr">
                    <a:solidFill>
                      <a:srgbClr val="F4B183"/>
                    </a:solidFill>
                  </a:tcPr>
                </a:tc>
                <a:tc>
                  <a:txBody>
                    <a:bodyPr wrap="square"/>
                    <a:lstStyle/>
                    <a:p>
                      <a:pPr algn="ctr"/>
                      <a:r>
                        <a:rPr sz="900" b="0">
                          <a:solidFill>
                            <a:srgbClr val="1F1F1F"/>
                          </a:solidFill>
                          <a:latin typeface="Calibri"/>
                        </a:rPr>
                        <a:t>1.67%</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Europe</a:t>
                      </a:r>
                    </a:p>
                  </a:txBody>
                  <a:tcPr marL="36576" marR="36576" marT="9144" marB="9144" anchor="ctr">
                    <a:solidFill>
                      <a:srgbClr val="F3F6F9"/>
                    </a:solidFill>
                  </a:tcPr>
                </a:tc>
                <a:tc>
                  <a:txBody>
                    <a:bodyPr wrap="square"/>
                    <a:lstStyle/>
                    <a:p>
                      <a:pPr algn="ctr"/>
                      <a:r>
                        <a:rPr sz="900" b="0">
                          <a:solidFill>
                            <a:srgbClr val="1F1F1F"/>
                          </a:solidFill>
                          <a:latin typeface="Calibri"/>
                        </a:rPr>
                        <a:t>2</a:t>
                      </a:r>
                    </a:p>
                  </a:txBody>
                  <a:tcPr marL="36576" marR="36576" marT="9144" marB="9144" anchor="ctr">
                    <a:solidFill>
                      <a:srgbClr val="F3F6F9"/>
                    </a:solidFill>
                  </a:tcPr>
                </a:tc>
                <a:tc>
                  <a:txBody>
                    <a:bodyPr wrap="square"/>
                    <a:lstStyle/>
                    <a:p>
                      <a:pPr algn="ctr"/>
                      <a:r>
                        <a:rPr sz="900" b="0">
                          <a:solidFill>
                            <a:srgbClr val="1F1F1F"/>
                          </a:solidFill>
                          <a:latin typeface="Calibri"/>
                        </a:rPr>
                        <a:t>101.9</a:t>
                      </a:r>
                    </a:p>
                  </a:txBody>
                  <a:tcPr marL="36576" marR="36576" marT="9144" marB="9144" anchor="ctr">
                    <a:solidFill>
                      <a:srgbClr val="FBE3D3"/>
                    </a:solidFill>
                  </a:tcPr>
                </a:tc>
                <a:tc>
                  <a:txBody>
                    <a:bodyPr wrap="square"/>
                    <a:lstStyle/>
                    <a:p>
                      <a:pPr algn="ctr"/>
                      <a:r>
                        <a:rPr sz="900" b="0">
                          <a:solidFill>
                            <a:srgbClr val="1F1F1F"/>
                          </a:solidFill>
                          <a:latin typeface="Calibri"/>
                        </a:rPr>
                        <a:t>1.54%</a:t>
                      </a:r>
                    </a:p>
                  </a:txBody>
                  <a:tcPr marL="36576" marR="36576" marT="9144" marB="9144" anchor="ctr">
                    <a:solidFill>
                      <a:srgbClr val="F3F6F9"/>
                    </a:solidFill>
                  </a:tcPr>
                </a:tc>
              </a:tr>
              <a:tr h="441525">
                <a:tc>
                  <a:txBody>
                    <a:bodyPr wrap="square"/>
                    <a:lstStyle/>
                    <a:p>
                      <a:pPr algn="l"/>
                      <a:r>
                        <a:rPr sz="900" b="1">
                          <a:solidFill>
                            <a:srgbClr val="1F1F1F"/>
                          </a:solidFill>
                          <a:latin typeface="Calibri"/>
                        </a:rPr>
                        <a:t>East Asia</a:t>
                      </a:r>
                    </a:p>
                  </a:txBody>
                  <a:tcPr marL="36576" marR="36576" marT="9144" marB="9144" anchor="ctr">
                    <a:solidFill>
                      <a:srgbClr val="FFFFFF"/>
                    </a:solidFill>
                  </a:tcPr>
                </a:tc>
                <a:tc>
                  <a:txBody>
                    <a:bodyPr wrap="square"/>
                    <a:lstStyle/>
                    <a:p>
                      <a:pPr algn="ctr"/>
                      <a:r>
                        <a:rPr sz="900" b="0">
                          <a:solidFill>
                            <a:srgbClr val="1F1F1F"/>
                          </a:solidFill>
                          <a:latin typeface="Calibri"/>
                        </a:rPr>
                        <a:t>2</a:t>
                      </a:r>
                    </a:p>
                  </a:txBody>
                  <a:tcPr marL="36576" marR="36576" marT="9144" marB="9144" anchor="ctr">
                    <a:solidFill>
                      <a:srgbClr val="FFFFFF"/>
                    </a:solidFill>
                  </a:tcPr>
                </a:tc>
                <a:tc>
                  <a:txBody>
                    <a:bodyPr wrap="square"/>
                    <a:lstStyle/>
                    <a:p>
                      <a:pPr algn="ctr"/>
                      <a:r>
                        <a:rPr sz="900" b="0">
                          <a:solidFill>
                            <a:srgbClr val="1F1F1F"/>
                          </a:solidFill>
                          <a:latin typeface="Calibri"/>
                        </a:rPr>
                        <a:t>95.8</a:t>
                      </a:r>
                    </a:p>
                  </a:txBody>
                  <a:tcPr marL="36576" marR="36576" marT="9144" marB="9144" anchor="ctr">
                    <a:solidFill>
                      <a:srgbClr val="9DC0E0"/>
                    </a:solidFill>
                  </a:tcPr>
                </a:tc>
                <a:tc>
                  <a:txBody>
                    <a:bodyPr wrap="square"/>
                    <a:lstStyle/>
                    <a:p>
                      <a:pPr algn="ctr"/>
                      <a:r>
                        <a:rPr sz="900" b="0">
                          <a:solidFill>
                            <a:srgbClr val="1F1F1F"/>
                          </a:solidFill>
                          <a:latin typeface="Calibri"/>
                        </a:rPr>
                        <a:t>1.50%</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Middle East &amp; Africa</a:t>
                      </a:r>
                    </a:p>
                  </a:txBody>
                  <a:tcPr marL="36576" marR="36576" marT="9144" marB="9144" anchor="ctr">
                    <a:solidFill>
                      <a:srgbClr val="F3F6F9"/>
                    </a:solidFill>
                  </a:tcPr>
                </a:tc>
                <a:tc>
                  <a:txBody>
                    <a:bodyPr wrap="square"/>
                    <a:lstStyle/>
                    <a:p>
                      <a:pPr algn="ctr"/>
                      <a:r>
                        <a:rPr sz="900" b="0">
                          <a:solidFill>
                            <a:srgbClr val="1F1F1F"/>
                          </a:solidFill>
                          <a:latin typeface="Calibri"/>
                        </a:rPr>
                        <a:t>2</a:t>
                      </a:r>
                    </a:p>
                  </a:txBody>
                  <a:tcPr marL="36576" marR="36576" marT="9144" marB="9144" anchor="ctr">
                    <a:solidFill>
                      <a:srgbClr val="F3F6F9"/>
                    </a:solidFill>
                  </a:tcPr>
                </a:tc>
                <a:tc>
                  <a:txBody>
                    <a:bodyPr wrap="square"/>
                    <a:lstStyle/>
                    <a:p>
                      <a:pPr algn="ctr"/>
                      <a:r>
                        <a:rPr sz="900" b="0">
                          <a:solidFill>
                            <a:srgbClr val="1F1F1F"/>
                          </a:solidFill>
                          <a:latin typeface="Calibri"/>
                        </a:rPr>
                        <a:t>86.7</a:t>
                      </a:r>
                    </a:p>
                  </a:txBody>
                  <a:tcPr marL="36576" marR="36576" marT="9144" marB="9144" anchor="ctr">
                    <a:solidFill>
                      <a:srgbClr val="9DC0E0"/>
                    </a:solidFill>
                  </a:tcPr>
                </a:tc>
                <a:tc>
                  <a:txBody>
                    <a:bodyPr wrap="square"/>
                    <a:lstStyle/>
                    <a:p>
                      <a:pPr algn="ctr"/>
                      <a:r>
                        <a:rPr sz="900" b="0">
                          <a:solidFill>
                            <a:srgbClr val="1F1F1F"/>
                          </a:solidFill>
                          <a:latin typeface="Calibri"/>
                        </a:rPr>
                        <a:t>1.41%</a:t>
                      </a:r>
                    </a:p>
                  </a:txBody>
                  <a:tcPr marL="36576" marR="36576" marT="9144" marB="9144" anchor="ctr">
                    <a:solidFill>
                      <a:srgbClr val="F3F6F9"/>
                    </a:solidFill>
                  </a:tcPr>
                </a:tc>
              </a:tr>
              <a:tr h="441525">
                <a:tc>
                  <a:txBody>
                    <a:bodyPr wrap="square"/>
                    <a:lstStyle/>
                    <a:p>
                      <a:pPr algn="l"/>
                      <a:r>
                        <a:rPr sz="900" b="1">
                          <a:solidFill>
                            <a:srgbClr val="1F1F1F"/>
                          </a:solidFill>
                          <a:latin typeface="Calibri"/>
                        </a:rPr>
                        <a:t>Latin America</a:t>
                      </a:r>
                    </a:p>
                  </a:txBody>
                  <a:tcPr marL="36576" marR="36576" marT="9144" marB="9144" anchor="ctr">
                    <a:solidFill>
                      <a:srgbClr val="FFFFFF"/>
                    </a:solidFill>
                  </a:tcPr>
                </a:tc>
                <a:tc>
                  <a:txBody>
                    <a:bodyPr wrap="square"/>
                    <a:lstStyle/>
                    <a:p>
                      <a:pPr algn="ctr"/>
                      <a:r>
                        <a:rPr sz="900" b="0">
                          <a:solidFill>
                            <a:srgbClr val="1F1F1F"/>
                          </a:solidFill>
                          <a:latin typeface="Calibri"/>
                        </a:rPr>
                        <a:t>2</a:t>
                      </a:r>
                    </a:p>
                  </a:txBody>
                  <a:tcPr marL="36576" marR="36576" marT="9144" marB="9144" anchor="ctr">
                    <a:solidFill>
                      <a:srgbClr val="FFFFFF"/>
                    </a:solidFill>
                  </a:tcPr>
                </a:tc>
                <a:tc>
                  <a:txBody>
                    <a:bodyPr wrap="square"/>
                    <a:lstStyle/>
                    <a:p>
                      <a:pPr algn="ctr"/>
                      <a:r>
                        <a:rPr sz="900" b="0">
                          <a:solidFill>
                            <a:srgbClr val="1F1F1F"/>
                          </a:solidFill>
                          <a:latin typeface="Calibri"/>
                        </a:rPr>
                        <a:t>74.4</a:t>
                      </a:r>
                    </a:p>
                  </a:txBody>
                  <a:tcPr marL="36576" marR="36576" marT="9144" marB="9144" anchor="ctr">
                    <a:solidFill>
                      <a:srgbClr val="9DC0E0"/>
                    </a:solidFill>
                  </a:tcPr>
                </a:tc>
                <a:tc>
                  <a:txBody>
                    <a:bodyPr wrap="square"/>
                    <a:lstStyle/>
                    <a:p>
                      <a:pPr algn="ctr"/>
                      <a:r>
                        <a:rPr sz="900" b="0">
                          <a:solidFill>
                            <a:srgbClr val="1F1F1F"/>
                          </a:solidFill>
                          <a:latin typeface="Calibri"/>
                        </a:rPr>
                        <a:t>1.57%</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South Asia &amp; Pacific</a:t>
                      </a:r>
                    </a:p>
                  </a:txBody>
                  <a:tcPr marL="36576" marR="36576" marT="9144" marB="9144" anchor="ctr">
                    <a:solidFill>
                      <a:srgbClr val="F3F6F9"/>
                    </a:solidFill>
                  </a:tcPr>
                </a:tc>
                <a:tc>
                  <a:txBody>
                    <a:bodyPr wrap="square"/>
                    <a:lstStyle/>
                    <a:p>
                      <a:pPr algn="ctr"/>
                      <a:r>
                        <a:rPr sz="900" b="0">
                          <a:solidFill>
                            <a:srgbClr val="1F1F1F"/>
                          </a:solidFill>
                          <a:latin typeface="Calibri"/>
                        </a:rPr>
                        <a:t>1</a:t>
                      </a:r>
                    </a:p>
                  </a:txBody>
                  <a:tcPr marL="36576" marR="36576" marT="9144" marB="9144" anchor="ctr">
                    <a:solidFill>
                      <a:srgbClr val="F3F6F9"/>
                    </a:solidFill>
                  </a:tcPr>
                </a:tc>
                <a:tc>
                  <a:txBody>
                    <a:bodyPr wrap="square"/>
                    <a:lstStyle/>
                    <a:p>
                      <a:pPr algn="ctr"/>
                      <a:r>
                        <a:rPr sz="900" b="0">
                          <a:solidFill>
                            <a:srgbClr val="1F1F1F"/>
                          </a:solidFill>
                          <a:latin typeface="Calibri"/>
                        </a:rPr>
                        <a:t>72.0</a:t>
                      </a:r>
                    </a:p>
                  </a:txBody>
                  <a:tcPr marL="36576" marR="36576" marT="9144" marB="9144" anchor="ctr">
                    <a:solidFill>
                      <a:srgbClr val="9DC0E0"/>
                    </a:solidFill>
                  </a:tcPr>
                </a:tc>
                <a:tc>
                  <a:txBody>
                    <a:bodyPr wrap="square"/>
                    <a:lstStyle/>
                    <a:p>
                      <a:pPr algn="ctr"/>
                      <a:r>
                        <a:rPr sz="900" b="0">
                          <a:solidFill>
                            <a:srgbClr val="1F1F1F"/>
                          </a:solidFill>
                          <a:latin typeface="Calibri"/>
                        </a:rPr>
                        <a:t>1.12%</a:t>
                      </a:r>
                    </a:p>
                  </a:txBody>
                  <a:tcPr marL="36576" marR="36576" marT="9144" marB="9144" anchor="ctr">
                    <a:solidFill>
                      <a:srgbClr val="F3F6F9"/>
                    </a:solidFill>
                  </a:tcPr>
                </a:tc>
              </a:tr>
            </a:tbl>
          </a:graphicData>
        </a:graphic>
      </p:graphicFrame>
      <p:sp>
        <p:nvSpPr>
          <p:cNvPr id="18" name="Rectangle 1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19" name="Oval 1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0" name="TextBox 1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Region Spread</a:t>
            </a:r>
          </a:p>
        </p:txBody>
      </p:sp>
      <p:sp>
        <p:nvSpPr>
          <p:cNvPr id="21" name="TextBox 2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Average prices across the ranked regions differ by 94.6% in 2026, from US$ 1/Units in South Asia &amp; Pacific to US$ 3/Units in North America.</a:t>
            </a:r>
          </a:p>
        </p:txBody>
      </p:sp>
      <p:sp>
        <p:nvSpPr>
          <p:cNvPr id="22" name="Rectangle 2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3" name="Oval 2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4" name="TextBox 2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Growth Leader</a:t>
            </a:r>
          </a:p>
        </p:txBody>
      </p:sp>
      <p:sp>
        <p:nvSpPr>
          <p:cNvPr id="25" name="TextBox 2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North America records the fastest average price growth at a 1.67% CAGR between 2026 and 2036, against 1.34% for Global as a whole.</a:t>
            </a:r>
          </a:p>
        </p:txBody>
      </p:sp>
      <p:sp>
        <p:nvSpPr>
          <p:cNvPr id="26" name="Rectangle 2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7" name="Oval 2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8" name="TextBox 2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Mix Exposure</a:t>
            </a:r>
          </a:p>
        </p:txBody>
      </p:sp>
      <p:sp>
        <p:nvSpPr>
          <p:cNvPr id="29" name="TextBox 2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Middle East &amp; Africa shows the widest gap between its cheapest and most expensive product format at 151.9%, so product mix shifts move its average price the most.</a:t>
            </a:r>
          </a:p>
        </p:txBody>
      </p:sp>
      <p:sp>
        <p:nvSpPr>
          <p:cNvPr id="30" name="TextBox 2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Range = lowest to highest product format price in each region; ranked by average price. Other geographies grouped as 'Other' are excluded from the ranking.</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Price Positioning &amp; Key Findings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positioning of each region on a common axis with FMI's key findings on where premiums and discounts sit</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Average selling price and price range by region on a shared price scale (US$/Units).</a:t>
            </a:r>
          </a:p>
        </p:txBody>
      </p:sp>
      <p:sp>
        <p:nvSpPr>
          <p:cNvPr id="11" name="Rounded Rectangle 10"/>
          <p:cNvSpPr/>
          <p:nvPr/>
        </p:nvSpPr>
        <p:spPr>
          <a:xfrm>
            <a:off x="142875" y="1317574"/>
            <a:ext cx="769620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&amp; Range by Region</a:t>
            </a:r>
          </a:p>
        </p:txBody>
      </p:sp>
      <p:cxnSp>
        <p:nvCxnSpPr>
          <p:cNvPr id="13" name="Connector 12"/>
          <p:cNvCxnSpPr/>
          <p:nvPr/>
        </p:nvCxnSpPr>
        <p:spPr>
          <a:xfrm>
            <a:off x="13620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114425" y="6289685"/>
            <a:ext cx="495300" cy="114300"/>
          </a:xfrm>
          <a:prstGeom prst="rect">
            <a:avLst/>
          </a:prstGeom>
          <a:noFill/>
        </p:spPr>
        <p:txBody>
          <a:bodyPr wrap="none" lIns="0" rIns="0" tIns="0" bIns="0">
            <a:spAutoFit/>
          </a:bodyPr>
          <a:lstStyle/>
          <a:p>
            <a:pPr algn="ctr"/>
            <a:r>
              <a:rPr sz="1100" b="0">
                <a:solidFill>
                  <a:srgbClr val="6C7A89"/>
                </a:solidFill>
                <a:latin typeface="Calibri"/>
              </a:rPr>
              <a:t>0.4</a:t>
            </a:r>
          </a:p>
        </p:txBody>
      </p:sp>
      <p:cxnSp>
        <p:nvCxnSpPr>
          <p:cNvPr id="15" name="Connector 14"/>
          <p:cNvCxnSpPr/>
          <p:nvPr/>
        </p:nvCxnSpPr>
        <p:spPr>
          <a:xfrm>
            <a:off x="261175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364105" y="6289685"/>
            <a:ext cx="495300" cy="114300"/>
          </a:xfrm>
          <a:prstGeom prst="rect">
            <a:avLst/>
          </a:prstGeom>
          <a:noFill/>
        </p:spPr>
        <p:txBody>
          <a:bodyPr wrap="none" lIns="0" rIns="0" tIns="0" bIns="0">
            <a:spAutoFit/>
          </a:bodyPr>
          <a:lstStyle/>
          <a:p>
            <a:pPr algn="ctr"/>
            <a:r>
              <a:rPr sz="1100" b="0">
                <a:solidFill>
                  <a:srgbClr val="6C7A89"/>
                </a:solidFill>
                <a:latin typeface="Calibri"/>
              </a:rPr>
              <a:t>1.3</a:t>
            </a:r>
          </a:p>
        </p:txBody>
      </p:sp>
      <p:cxnSp>
        <p:nvCxnSpPr>
          <p:cNvPr id="17" name="Connector 16"/>
          <p:cNvCxnSpPr/>
          <p:nvPr/>
        </p:nvCxnSpPr>
        <p:spPr>
          <a:xfrm>
            <a:off x="386143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613785" y="6289685"/>
            <a:ext cx="495300" cy="114300"/>
          </a:xfrm>
          <a:prstGeom prst="rect">
            <a:avLst/>
          </a:prstGeom>
          <a:noFill/>
        </p:spPr>
        <p:txBody>
          <a:bodyPr wrap="none" lIns="0" rIns="0" tIns="0" bIns="0">
            <a:spAutoFit/>
          </a:bodyPr>
          <a:lstStyle/>
          <a:p>
            <a:pPr algn="ctr"/>
            <a:r>
              <a:rPr sz="1100" b="0">
                <a:solidFill>
                  <a:srgbClr val="6C7A89"/>
                </a:solidFill>
                <a:latin typeface="Calibri"/>
              </a:rPr>
              <a:t>2.2</a:t>
            </a:r>
          </a:p>
        </p:txBody>
      </p:sp>
      <p:cxnSp>
        <p:nvCxnSpPr>
          <p:cNvPr id="19" name="Connector 18"/>
          <p:cNvCxnSpPr/>
          <p:nvPr/>
        </p:nvCxnSpPr>
        <p:spPr>
          <a:xfrm>
            <a:off x="511111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863465" y="6289685"/>
            <a:ext cx="495300" cy="114300"/>
          </a:xfrm>
          <a:prstGeom prst="rect">
            <a:avLst/>
          </a:prstGeom>
          <a:noFill/>
        </p:spPr>
        <p:txBody>
          <a:bodyPr wrap="none" lIns="0" rIns="0" tIns="0" bIns="0">
            <a:spAutoFit/>
          </a:bodyPr>
          <a:lstStyle/>
          <a:p>
            <a:pPr algn="ctr"/>
            <a:r>
              <a:rPr sz="1100" b="0">
                <a:solidFill>
                  <a:srgbClr val="6C7A89"/>
                </a:solidFill>
                <a:latin typeface="Calibri"/>
              </a:rPr>
              <a:t>3.0</a:t>
            </a:r>
          </a:p>
        </p:txBody>
      </p:sp>
      <p:cxnSp>
        <p:nvCxnSpPr>
          <p:cNvPr id="21" name="Connector 20"/>
          <p:cNvCxnSpPr/>
          <p:nvPr/>
        </p:nvCxnSpPr>
        <p:spPr>
          <a:xfrm>
            <a:off x="636079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6113145" y="6289685"/>
            <a:ext cx="495300" cy="114300"/>
          </a:xfrm>
          <a:prstGeom prst="rect">
            <a:avLst/>
          </a:prstGeom>
          <a:noFill/>
        </p:spPr>
        <p:txBody>
          <a:bodyPr wrap="none" lIns="0" rIns="0" tIns="0" bIns="0">
            <a:spAutoFit/>
          </a:bodyPr>
          <a:lstStyle/>
          <a:p>
            <a:pPr algn="ctr"/>
            <a:r>
              <a:rPr sz="1100" b="0">
                <a:solidFill>
                  <a:srgbClr val="6C7A89"/>
                </a:solidFill>
                <a:latin typeface="Calibri"/>
              </a:rPr>
              <a:t>3.9</a:t>
            </a:r>
          </a:p>
        </p:txBody>
      </p:sp>
      <p:cxnSp>
        <p:nvCxnSpPr>
          <p:cNvPr id="23" name="Connector 22"/>
          <p:cNvCxnSpPr/>
          <p:nvPr/>
        </p:nvCxnSpPr>
        <p:spPr>
          <a:xfrm>
            <a:off x="76104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7362825" y="6289685"/>
            <a:ext cx="495300" cy="114300"/>
          </a:xfrm>
          <a:prstGeom prst="rect">
            <a:avLst/>
          </a:prstGeom>
          <a:noFill/>
        </p:spPr>
        <p:txBody>
          <a:bodyPr wrap="none" lIns="0" rIns="0" tIns="0" bIns="0">
            <a:spAutoFit/>
          </a:bodyPr>
          <a:lstStyle/>
          <a:p>
            <a:pPr algn="ctr"/>
            <a:r>
              <a:rPr sz="1100" b="0">
                <a:solidFill>
                  <a:srgbClr val="6C7A89"/>
                </a:solidFill>
                <a:latin typeface="Calibri"/>
              </a:rPr>
              <a:t>4.8</a:t>
            </a:r>
          </a:p>
        </p:txBody>
      </p:sp>
      <p:sp>
        <p:nvSpPr>
          <p:cNvPr id="25" name="TextBox 24"/>
          <p:cNvSpPr txBox="1"/>
          <p:nvPr/>
        </p:nvSpPr>
        <p:spPr>
          <a:xfrm>
            <a:off x="238125" y="220340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North America</a:t>
            </a:r>
          </a:p>
        </p:txBody>
      </p:sp>
      <p:sp>
        <p:nvSpPr>
          <p:cNvPr id="26" name="Rectangle 25"/>
          <p:cNvSpPr/>
          <p:nvPr/>
        </p:nvSpPr>
        <p:spPr>
          <a:xfrm>
            <a:off x="3297966" y="2100912"/>
            <a:ext cx="3629090"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Oval 26"/>
          <p:cNvSpPr/>
          <p:nvPr/>
        </p:nvSpPr>
        <p:spPr>
          <a:xfrm>
            <a:off x="4835904" y="222721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38125" y="292731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Latin America</a:t>
            </a:r>
          </a:p>
        </p:txBody>
      </p:sp>
      <p:sp>
        <p:nvSpPr>
          <p:cNvPr id="29" name="Rectangle 28"/>
          <p:cNvSpPr/>
          <p:nvPr/>
        </p:nvSpPr>
        <p:spPr>
          <a:xfrm>
            <a:off x="2115513" y="2824823"/>
            <a:ext cx="1964767"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2908381" y="295112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5122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Europe</a:t>
            </a:r>
          </a:p>
        </p:txBody>
      </p:sp>
      <p:sp>
        <p:nvSpPr>
          <p:cNvPr id="32" name="Rectangle 31"/>
          <p:cNvSpPr/>
          <p:nvPr/>
        </p:nvSpPr>
        <p:spPr>
          <a:xfrm>
            <a:off x="2607314" y="3548733"/>
            <a:ext cx="2700469"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3728070" y="367503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238125" y="437513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East Asia</a:t>
            </a:r>
          </a:p>
        </p:txBody>
      </p:sp>
      <p:sp>
        <p:nvSpPr>
          <p:cNvPr id="35" name="Rectangle 34"/>
          <p:cNvSpPr/>
          <p:nvPr/>
        </p:nvSpPr>
        <p:spPr>
          <a:xfrm>
            <a:off x="2480664" y="4272643"/>
            <a:ext cx="2463981"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3530175" y="439894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38125" y="509904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South Asia &amp; Pacific</a:t>
            </a:r>
          </a:p>
        </p:txBody>
      </p:sp>
      <p:sp>
        <p:nvSpPr>
          <p:cNvPr id="38" name="Rectangle 37"/>
          <p:cNvSpPr/>
          <p:nvPr/>
        </p:nvSpPr>
        <p:spPr>
          <a:xfrm>
            <a:off x="2045494" y="4996553"/>
            <a:ext cx="1968931"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2855685" y="512285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38125" y="582295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Middle East &amp; Africa</a:t>
            </a:r>
          </a:p>
        </p:txBody>
      </p:sp>
      <p:sp>
        <p:nvSpPr>
          <p:cNvPr id="41" name="Rectangle 40"/>
          <p:cNvSpPr/>
          <p:nvPr/>
        </p:nvSpPr>
        <p:spPr>
          <a:xfrm>
            <a:off x="2330503" y="5720463"/>
            <a:ext cx="2406736"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3276410" y="5846768"/>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1362075" y="1727149"/>
            <a:ext cx="114300" cy="114300"/>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495425" y="1717624"/>
            <a:ext cx="838200" cy="133350"/>
          </a:xfrm>
          <a:prstGeom prst="rect">
            <a:avLst/>
          </a:prstGeom>
          <a:noFill/>
        </p:spPr>
        <p:txBody>
          <a:bodyPr wrap="square" lIns="28575" rIns="28575" tIns="9525" bIns="9525">
            <a:spAutoFit/>
          </a:bodyPr>
          <a:lstStyle/>
          <a:p>
            <a:pPr algn="l"/>
            <a:r>
              <a:rPr sz="1100" b="0">
                <a:solidFill>
                  <a:srgbClr val="2E2E2E"/>
                </a:solidFill>
                <a:latin typeface="Calibri"/>
              </a:rPr>
              <a:t>Average Price</a:t>
            </a:r>
          </a:p>
        </p:txBody>
      </p:sp>
      <p:sp>
        <p:nvSpPr>
          <p:cNvPr id="45" name="Rectangle 44"/>
          <p:cNvSpPr/>
          <p:nvPr/>
        </p:nvSpPr>
        <p:spPr>
          <a:xfrm>
            <a:off x="2390775" y="1736674"/>
            <a:ext cx="190500" cy="114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619375" y="1717624"/>
            <a:ext cx="800100" cy="133350"/>
          </a:xfrm>
          <a:prstGeom prst="rect">
            <a:avLst/>
          </a:prstGeom>
          <a:noFill/>
        </p:spPr>
        <p:txBody>
          <a:bodyPr wrap="square" lIns="28575" rIns="28575" tIns="9525" bIns="9525">
            <a:spAutoFit/>
          </a:bodyPr>
          <a:lstStyle/>
          <a:p>
            <a:pPr algn="l"/>
            <a:r>
              <a:rPr sz="1100" b="0">
                <a:solidFill>
                  <a:srgbClr val="2E2E2E"/>
                </a:solidFill>
                <a:latin typeface="Calibri"/>
              </a:rPr>
              <a:t>Price Range</a:t>
            </a:r>
          </a:p>
        </p:txBody>
      </p:sp>
      <p:sp>
        <p:nvSpPr>
          <p:cNvPr id="47" name="Rounded Rectangle 46"/>
          <p:cNvSpPr/>
          <p:nvPr/>
        </p:nvSpPr>
        <p:spPr>
          <a:xfrm>
            <a:off x="7915275" y="1317574"/>
            <a:ext cx="413385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49" name="Rectangle 48"/>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048625" y="1727149"/>
            <a:ext cx="3867150" cy="343877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Styling serums and oils segment is expected to command the highest average price of US$ 3.49 per Unit in 2036. Average selling price of hair styling products is estimated at US$ 2.02 per Unit in 2025 and is projected to increase to US$ 2.33 per Unit by 2036.</a:t>
            </a:r>
          </a:p>
          <a:p>
            <a:pPr algn="l">
              <a:lnSpc>
                <a:spcPct val="110000"/>
              </a:lnSpc>
              <a:spcBef>
                <a:spcPts val="0"/>
              </a:spcBef>
              <a:spcAft>
                <a:spcPts val="500"/>
              </a:spcAft>
            </a:pPr>
            <a:r>
              <a:rPr sz="1150" b="0">
                <a:solidFill>
                  <a:srgbClr val="2E2E2E"/>
                </a:solidFill>
                <a:latin typeface="Calibri"/>
              </a:rPr>
              <a:t>North America is the highest-priced region, while South Asia &amp; Pacific is the most price-competitive market. The orange dot is each region's average selling price; the blue band is its full low-to-high price range, all derived as Value ÷ Volume.</a:t>
            </a:r>
          </a:p>
          <a:p>
            <a:pPr algn="l">
              <a:lnSpc>
                <a:spcPct val="110000"/>
              </a:lnSpc>
              <a:spcBef>
                <a:spcPts val="0"/>
              </a:spcBef>
              <a:spcAft>
                <a:spcPts val="500"/>
              </a:spcAft>
            </a:pPr>
            <a:r>
              <a:rPr sz="1150" b="0">
                <a:solidFill>
                  <a:srgbClr val="2E2E2E"/>
                </a:solidFill>
                <a:latin typeface="Calibri"/>
              </a:rPr>
              <a:t>Narrow bands point to commoditised, price-led competition; wider bands flag premiumisation headroom to trade buyers up the mix.</a:t>
            </a:r>
          </a:p>
        </p:txBody>
      </p:sp>
      <p:sp>
        <p:nvSpPr>
          <p:cNvPr id="51" name="Rounded Rectangle 50"/>
          <p:cNvSpPr/>
          <p:nvPr/>
        </p:nvSpPr>
        <p:spPr>
          <a:xfrm>
            <a:off x="7915275" y="5351641"/>
            <a:ext cx="4133850" cy="1204744"/>
          </a:xfrm>
          <a:prstGeom prst="roundRect">
            <a:avLst>
              <a:gd name="adj" fmla="val 6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the above information is indicative in nature and does not constitute any form of analysis.</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Key Pricing Drivers Influencing Hair Styling Products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input costs, market conditions and competitive forces shaping pricing strategies and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input costs, market conditions, and competitive forces shaping pricing strategies and profitability across the value chain</a:t>
            </a:r>
          </a:p>
        </p:txBody>
      </p:sp>
      <p:sp>
        <p:nvSpPr>
          <p:cNvPr id="12" name="Rounded Rectangle 11"/>
          <p:cNvSpPr/>
          <p:nvPr/>
        </p:nvSpPr>
        <p:spPr>
          <a:xfrm>
            <a:off x="142875" y="1354081"/>
            <a:ext cx="702945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6838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Impacting Factors</a:t>
            </a:r>
          </a:p>
        </p:txBody>
      </p:sp>
      <p:sp>
        <p:nvSpPr>
          <p:cNvPr id="14" name="Freeform 13"/>
          <p:cNvSpPr/>
          <p:nvPr/>
        </p:nvSpPr>
        <p:spPr>
          <a:xfrm>
            <a:off x="3295650" y="3705225"/>
            <a:ext cx="723900" cy="752475"/>
          </a:xfrm>
          <a:custGeom>
            <a:avLst/>
            <a:gdLst/>
            <a:ahLst/>
            <a:cxnLst/>
            <a:rect l="l" t="t" r="r" b="b"/>
            <a:pathLst>
              <a:path w="76" h="79">
                <a:moveTo>
                  <a:pt x="38" y="0"/>
                </a:moveTo>
                <a:lnTo>
                  <a:pt x="61" y="7"/>
                </a:lnTo>
                <a:lnTo>
                  <a:pt x="76" y="27"/>
                </a:lnTo>
                <a:lnTo>
                  <a:pt x="76" y="51"/>
                </a:lnTo>
                <a:lnTo>
                  <a:pt x="61" y="71"/>
                </a:lnTo>
                <a:lnTo>
                  <a:pt x="38" y="79"/>
                </a:lnTo>
                <a:lnTo>
                  <a:pt x="15" y="71"/>
                </a:lnTo>
                <a:lnTo>
                  <a:pt x="0" y="51"/>
                </a:lnTo>
                <a:lnTo>
                  <a:pt x="0" y="27"/>
                </a:lnTo>
                <a:lnTo>
                  <a:pt x="15" y="7"/>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943225" y="3324225"/>
            <a:ext cx="1428750" cy="1504950"/>
          </a:xfrm>
          <a:custGeom>
            <a:avLst/>
            <a:gdLst/>
            <a:ahLst/>
            <a:cxnLst/>
            <a:rect l="l" t="t" r="r" b="b"/>
            <a:pathLst>
              <a:path w="150" h="158">
                <a:moveTo>
                  <a:pt x="75" y="0"/>
                </a:moveTo>
                <a:lnTo>
                  <a:pt x="122" y="15"/>
                </a:lnTo>
                <a:lnTo>
                  <a:pt x="150" y="55"/>
                </a:lnTo>
                <a:lnTo>
                  <a:pt x="150" y="104"/>
                </a:lnTo>
                <a:lnTo>
                  <a:pt x="122" y="143"/>
                </a:lnTo>
                <a:lnTo>
                  <a:pt x="75" y="158"/>
                </a:lnTo>
                <a:lnTo>
                  <a:pt x="28" y="143"/>
                </a:lnTo>
                <a:lnTo>
                  <a:pt x="0" y="104"/>
                </a:lnTo>
                <a:lnTo>
                  <a:pt x="0" y="55"/>
                </a:lnTo>
                <a:lnTo>
                  <a:pt x="28" y="15"/>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581275" y="2943225"/>
            <a:ext cx="2152650" cy="2266950"/>
          </a:xfrm>
          <a:custGeom>
            <a:avLst/>
            <a:gdLst/>
            <a:ahLst/>
            <a:cxnLst/>
            <a:rect l="l" t="t" r="r" b="b"/>
            <a:pathLst>
              <a:path w="226" h="238">
                <a:moveTo>
                  <a:pt x="113" y="0"/>
                </a:moveTo>
                <a:lnTo>
                  <a:pt x="183" y="23"/>
                </a:lnTo>
                <a:lnTo>
                  <a:pt x="226" y="82"/>
                </a:lnTo>
                <a:lnTo>
                  <a:pt x="226" y="156"/>
                </a:lnTo>
                <a:lnTo>
                  <a:pt x="183" y="215"/>
                </a:lnTo>
                <a:lnTo>
                  <a:pt x="113" y="238"/>
                </a:lnTo>
                <a:lnTo>
                  <a:pt x="43" y="215"/>
                </a:lnTo>
                <a:lnTo>
                  <a:pt x="0" y="156"/>
                </a:lnTo>
                <a:lnTo>
                  <a:pt x="0" y="82"/>
                </a:lnTo>
                <a:lnTo>
                  <a:pt x="43" y="23"/>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219325" y="2571750"/>
            <a:ext cx="2876550" cy="3019425"/>
          </a:xfrm>
          <a:custGeom>
            <a:avLst/>
            <a:gdLst/>
            <a:ahLst/>
            <a:cxnLst/>
            <a:rect l="l" t="t" r="r" b="b"/>
            <a:pathLst>
              <a:path w="302" h="317">
                <a:moveTo>
                  <a:pt x="151" y="0"/>
                </a:moveTo>
                <a:lnTo>
                  <a:pt x="244" y="30"/>
                </a:lnTo>
                <a:lnTo>
                  <a:pt x="302" y="109"/>
                </a:lnTo>
                <a:lnTo>
                  <a:pt x="302" y="207"/>
                </a:lnTo>
                <a:lnTo>
                  <a:pt x="244" y="286"/>
                </a:lnTo>
                <a:lnTo>
                  <a:pt x="151" y="317"/>
                </a:lnTo>
                <a:lnTo>
                  <a:pt x="58" y="286"/>
                </a:lnTo>
                <a:lnTo>
                  <a:pt x="0" y="207"/>
                </a:lnTo>
                <a:lnTo>
                  <a:pt x="0" y="109"/>
                </a:lnTo>
                <a:lnTo>
                  <a:pt x="58" y="30"/>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1866900" y="2190750"/>
            <a:ext cx="3581400" cy="3771900"/>
          </a:xfrm>
          <a:custGeom>
            <a:avLst/>
            <a:gdLst/>
            <a:ahLst/>
            <a:cxnLst/>
            <a:rect l="l" t="t" r="r" b="b"/>
            <a:pathLst>
              <a:path w="376" h="396">
                <a:moveTo>
                  <a:pt x="188" y="0"/>
                </a:moveTo>
                <a:lnTo>
                  <a:pt x="304" y="38"/>
                </a:lnTo>
                <a:lnTo>
                  <a:pt x="376" y="137"/>
                </a:lnTo>
                <a:lnTo>
                  <a:pt x="376" y="259"/>
                </a:lnTo>
                <a:lnTo>
                  <a:pt x="304" y="358"/>
                </a:lnTo>
                <a:lnTo>
                  <a:pt x="188" y="396"/>
                </a:lnTo>
                <a:lnTo>
                  <a:pt x="72" y="358"/>
                </a:lnTo>
                <a:lnTo>
                  <a:pt x="0" y="259"/>
                </a:lnTo>
                <a:lnTo>
                  <a:pt x="0" y="137"/>
                </a:lnTo>
                <a:lnTo>
                  <a:pt x="72" y="38"/>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flipV="1">
            <a:off x="3657600" y="2192281"/>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flipV="1">
            <a:off x="3657600"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flipV="1">
            <a:off x="3657600"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657600"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657600"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3657600" y="4078660"/>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548814"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1863547"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flipV="1">
            <a:off x="1863547"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flipH="1" flipV="1">
            <a:off x="2548814"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95550" y="2381250"/>
            <a:ext cx="2505075" cy="3209925"/>
          </a:xfrm>
          <a:custGeom>
            <a:avLst/>
            <a:gdLst/>
            <a:ahLst/>
            <a:cxnLst/>
            <a:rect l="l" t="t" r="r" b="b"/>
            <a:pathLst>
              <a:path w="263" h="337">
                <a:moveTo>
                  <a:pt x="122" y="0"/>
                </a:moveTo>
                <a:lnTo>
                  <a:pt x="203" y="66"/>
                </a:lnTo>
                <a:lnTo>
                  <a:pt x="244" y="138"/>
                </a:lnTo>
                <a:lnTo>
                  <a:pt x="263" y="224"/>
                </a:lnTo>
                <a:lnTo>
                  <a:pt x="221" y="314"/>
                </a:lnTo>
                <a:lnTo>
                  <a:pt x="122" y="337"/>
                </a:lnTo>
                <a:lnTo>
                  <a:pt x="52" y="274"/>
                </a:lnTo>
                <a:lnTo>
                  <a:pt x="18" y="212"/>
                </a:lnTo>
                <a:lnTo>
                  <a:pt x="0" y="138"/>
                </a:lnTo>
                <a:lnTo>
                  <a:pt x="70" y="106"/>
                </a:lnTo>
                <a:close/>
              </a:path>
            </a:pathLst>
          </a:custGeom>
          <a:solidFill>
            <a:srgbClr val="2B5F8E">
              <a:alpha val="62000"/>
            </a:srgbClr>
          </a:solidFill>
          <a:ln w="27940">
            <a:solidFill>
              <a:srgbClr val="2B5F8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624262" y="234758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400412" y="2977044"/>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4790397"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4969802" y="4482515"/>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4566730" y="5342518"/>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3624262" y="5554426"/>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2958991" y="496099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2637533" y="436593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Oval 37"/>
          <p:cNvSpPr/>
          <p:nvPr/>
        </p:nvSpPr>
        <p:spPr>
          <a:xfrm>
            <a:off x="2458128"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3125309" y="335857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686175" y="3634709"/>
            <a:ext cx="285750" cy="123825"/>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41" name="TextBox 40"/>
          <p:cNvSpPr txBox="1"/>
          <p:nvPr/>
        </p:nvSpPr>
        <p:spPr>
          <a:xfrm>
            <a:off x="3686175" y="3257434"/>
            <a:ext cx="285750" cy="123825"/>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42" name="TextBox 41"/>
          <p:cNvSpPr txBox="1"/>
          <p:nvPr/>
        </p:nvSpPr>
        <p:spPr>
          <a:xfrm>
            <a:off x="3686175" y="2880158"/>
            <a:ext cx="285750" cy="123825"/>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43" name="TextBox 42"/>
          <p:cNvSpPr txBox="1"/>
          <p:nvPr/>
        </p:nvSpPr>
        <p:spPr>
          <a:xfrm>
            <a:off x="3686175" y="2502882"/>
            <a:ext cx="285750" cy="123825"/>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44" name="TextBox 43"/>
          <p:cNvSpPr txBox="1"/>
          <p:nvPr/>
        </p:nvSpPr>
        <p:spPr>
          <a:xfrm>
            <a:off x="3686175" y="2125606"/>
            <a:ext cx="285750" cy="123825"/>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5" name="TextBox 44"/>
          <p:cNvSpPr txBox="1"/>
          <p:nvPr/>
        </p:nvSpPr>
        <p:spPr>
          <a:xfrm>
            <a:off x="3000375" y="1839856"/>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Input Cost  13.0%</a:t>
            </a:r>
          </a:p>
        </p:txBody>
      </p:sp>
      <p:sp>
        <p:nvSpPr>
          <p:cNvPr id="46" name="TextBox 45"/>
          <p:cNvSpPr txBox="1"/>
          <p:nvPr/>
        </p:nvSpPr>
        <p:spPr>
          <a:xfrm>
            <a:off x="4232331"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Labor &amp; Production Costs  10.1%</a:t>
            </a:r>
          </a:p>
        </p:txBody>
      </p:sp>
      <p:sp>
        <p:nvSpPr>
          <p:cNvPr id="47" name="TextBox 46"/>
          <p:cNvSpPr txBox="1"/>
          <p:nvPr/>
        </p:nvSpPr>
        <p:spPr>
          <a:xfrm>
            <a:off x="4993722"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Technology &amp; Innovation  9.4%</a:t>
            </a:r>
          </a:p>
        </p:txBody>
      </p:sp>
      <p:sp>
        <p:nvSpPr>
          <p:cNvPr id="48" name="TextBox 47"/>
          <p:cNvSpPr txBox="1"/>
          <p:nvPr/>
        </p:nvSpPr>
        <p:spPr>
          <a:xfrm>
            <a:off x="4993722"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Supply Chain &amp; Logistics  10.9%</a:t>
            </a:r>
          </a:p>
        </p:txBody>
      </p:sp>
      <p:sp>
        <p:nvSpPr>
          <p:cNvPr id="49" name="TextBox 48"/>
          <p:cNvSpPr txBox="1"/>
          <p:nvPr/>
        </p:nvSpPr>
        <p:spPr>
          <a:xfrm>
            <a:off x="4232331"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Demand &amp; Market Conditions  12.3%</a:t>
            </a:r>
          </a:p>
        </p:txBody>
      </p:sp>
      <p:sp>
        <p:nvSpPr>
          <p:cNvPr id="50" name="TextBox 49"/>
          <p:cNvSpPr txBox="1"/>
          <p:nvPr/>
        </p:nvSpPr>
        <p:spPr>
          <a:xfrm>
            <a:off x="3000375" y="6031714"/>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Competitive Landscape  11.6%</a:t>
            </a:r>
          </a:p>
        </p:txBody>
      </p:sp>
      <p:sp>
        <p:nvSpPr>
          <p:cNvPr id="51" name="TextBox 50"/>
          <p:cNvSpPr txBox="1"/>
          <p:nvPr/>
        </p:nvSpPr>
        <p:spPr>
          <a:xfrm>
            <a:off x="1768419"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Regulatory &amp; Compliance Costs  8.7%</a:t>
            </a:r>
          </a:p>
        </p:txBody>
      </p:sp>
      <p:sp>
        <p:nvSpPr>
          <p:cNvPr id="52" name="TextBox 51"/>
          <p:cNvSpPr txBox="1"/>
          <p:nvPr/>
        </p:nvSpPr>
        <p:spPr>
          <a:xfrm>
            <a:off x="1007028"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Currency &amp; Trade Dynamics  8.0%</a:t>
            </a:r>
          </a:p>
        </p:txBody>
      </p:sp>
      <p:sp>
        <p:nvSpPr>
          <p:cNvPr id="53" name="TextBox 52"/>
          <p:cNvSpPr txBox="1"/>
          <p:nvPr/>
        </p:nvSpPr>
        <p:spPr>
          <a:xfrm>
            <a:off x="1007028"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Brand &amp; Value Perception  9.4%</a:t>
            </a:r>
          </a:p>
        </p:txBody>
      </p:sp>
      <p:sp>
        <p:nvSpPr>
          <p:cNvPr id="54" name="TextBox 53"/>
          <p:cNvSpPr txBox="1"/>
          <p:nvPr/>
        </p:nvSpPr>
        <p:spPr>
          <a:xfrm>
            <a:off x="1768419"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Aftermarket &amp; Service Costs  6.5%</a:t>
            </a:r>
          </a:p>
        </p:txBody>
      </p:sp>
      <p:sp>
        <p:nvSpPr>
          <p:cNvPr id="55" name="Rounded Rectangle 54"/>
          <p:cNvSpPr/>
          <p:nvPr/>
        </p:nvSpPr>
        <p:spPr>
          <a:xfrm>
            <a:off x="7248525" y="1354081"/>
            <a:ext cx="4800600" cy="3479443"/>
          </a:xfrm>
          <a:prstGeom prst="roundRect">
            <a:avLst>
              <a:gd name="adj" fmla="val 21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7381875" y="1439806"/>
            <a:ext cx="453390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7" name="Rectangle 56"/>
          <p:cNvSpPr/>
          <p:nvPr/>
        </p:nvSpPr>
        <p:spPr>
          <a:xfrm>
            <a:off x="7381875" y="1677931"/>
            <a:ext cx="45339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7381875" y="1763656"/>
            <a:ext cx="4533900" cy="2993668"/>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Pricing across the Hair Styling Products Market is shaped by a mix of input costs, operational efficiency and market dynamics with raw-material and input costs carrying the single heaviest weight on selling prices today.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Raw-material and input costs and demand and broader market conditions are the dominant cost pressures; as they fluctuate they feed directly into prices and squeeze margins along the value chain.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intensity and supply-chain and logistics conditions are the next most influential forces helping offset cost inflation and setting how aggressively players can price without ceding share.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strength, competitive intensity and supply-chain reliability together define the ceiling on pricing power across the Hair Styling Products Market.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Regulatory, currency and brand factors add second-order effects while aftermarket and service costs exert the least pressure collectively creating a pricing balance that must be monitored to stay competitive and profitable.</a:t>
            </a:r>
          </a:p>
        </p:txBody>
      </p:sp>
      <p:sp>
        <p:nvSpPr>
          <p:cNvPr id="59" name="Rounded Rectangle 58"/>
          <p:cNvSpPr/>
          <p:nvPr/>
        </p:nvSpPr>
        <p:spPr>
          <a:xfrm>
            <a:off x="7248525" y="4943046"/>
            <a:ext cx="4800600" cy="1686354"/>
          </a:xfrm>
          <a:prstGeom prst="roundRect">
            <a:avLst>
              <a:gd name="adj" fmla="val 45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7381875" y="5028771"/>
            <a:ext cx="4533900" cy="209550"/>
          </a:xfrm>
          <a:prstGeom prst="rect">
            <a:avLst/>
          </a:prstGeom>
          <a:noFill/>
        </p:spPr>
        <p:txBody>
          <a:bodyPr wrap="square" lIns="0" rIns="19050" tIns="9525" bIns="9525">
            <a:spAutoFit/>
          </a:bodyPr>
          <a:lstStyle/>
          <a:p>
            <a:pPr algn="l"/>
            <a:r>
              <a:rPr sz="1300" b="1">
                <a:solidFill>
                  <a:srgbClr val="0B2E4A"/>
                </a:solidFill>
                <a:latin typeface="Calibri"/>
              </a:rPr>
              <a:t>Highest-Impact Drivers</a:t>
            </a:r>
          </a:p>
        </p:txBody>
      </p:sp>
      <p:sp>
        <p:nvSpPr>
          <p:cNvPr id="61" name="Rectangle 60"/>
          <p:cNvSpPr/>
          <p:nvPr/>
        </p:nvSpPr>
        <p:spPr>
          <a:xfrm>
            <a:off x="7381875" y="5266896"/>
            <a:ext cx="45339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381875" y="5352621"/>
            <a:ext cx="4533900" cy="1200579"/>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Input Cost 9.0 / 10  ·  dominant cost pressure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&amp; Market Conditions 8.5 / 10  ·  major cost pressure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Landscape 8.0 / 10  ·  key pricing lever</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Supply Chain &amp; Logistics 7.5 / 10  ·  key pricing lever</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Labor &amp; Production Costs 7.0 / 10  ·  supporting factor</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Factors Impacting Pricing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Factors affecting the pricing decision of the product: category, price impact, direction of pressure and rationale</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cost, demand, efficiency and regulatory forces shaping and impacting achievable selling prices grouped by category, with each factor's direction, impact and score.</a:t>
            </a:r>
          </a:p>
        </p:txBody>
      </p:sp>
      <p:sp>
        <p:nvSpPr>
          <p:cNvPr id="11" name="Rounded Rectangle 10"/>
          <p:cNvSpPr/>
          <p:nvPr/>
        </p:nvSpPr>
        <p:spPr>
          <a:xfrm>
            <a:off x="142875" y="1314450"/>
            <a:ext cx="11906250" cy="3114675"/>
          </a:xfrm>
          <a:prstGeom prst="roundRect">
            <a:avLst>
              <a:gd name="adj" fmla="val 24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0650"/>
          <a:ext cx="11887199" cy="2809875"/>
        </p:xfrm>
        <a:graphic>
          <a:graphicData uri="http://schemas.openxmlformats.org/drawingml/2006/table">
            <a:tbl>
              <a:tblPr>
                <a:tableStyleId>{5C22544A-7EE6-4342-B048-85BDC9FD1C3A}</a:tableStyleId>
              </a:tblPr>
              <a:tblGrid>
                <a:gridCol w="2561515"/>
                <a:gridCol w="2697613"/>
                <a:gridCol w="1098187"/>
                <a:gridCol w="1211368"/>
                <a:gridCol w="1098187"/>
                <a:gridCol w="3220329"/>
              </a:tblGrid>
              <a:tr h="215265">
                <a:tc>
                  <a:txBody>
                    <a:bodyPr wrap="none"/>
                    <a:lstStyle/>
                    <a:p>
                      <a:pPr algn="l"/>
                      <a:r>
                        <a:rPr sz="1100" b="1">
                          <a:solidFill>
                            <a:srgbClr val="0B2E4A"/>
                          </a:solidFill>
                          <a:latin typeface="Calibri"/>
                        </a:rPr>
                        <a:t>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Impact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Score (0–10)</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How It Shapes Price</a:t>
                      </a:r>
                      <a:endParaRPr sz="1100"/>
                    </a:p>
                  </a:txBody>
                  <a:tcPr marL="47625" marR="38100" marT="19050" marB="19050" anchor="ctr">
                    <a:solidFill>
                      <a:srgbClr val="E0E8EF"/>
                    </a:solidFill>
                  </a:tcPr>
                </a:tc>
              </a:tr>
              <a:tr h="259461">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Raw-material and input costs.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Labour and production expenses.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Supply-chain and logistics conditions.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and broader market conditions.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Competitive intensity.</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strength and value perception.</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Technology and process innovation.</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Aftermarket and service costs.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and compliance costs.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Currency and trade dynamics.</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210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581525"/>
            <a:ext cx="11906250" cy="1962150"/>
          </a:xfrm>
          <a:prstGeom prst="roundRect">
            <a:avLst>
              <a:gd name="adj" fmla="val 388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667250"/>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the Factors Imply</a:t>
            </a:r>
          </a:p>
        </p:txBody>
      </p:sp>
      <p:sp>
        <p:nvSpPr>
          <p:cNvPr id="16" name="Rectangle 15"/>
          <p:cNvSpPr/>
          <p:nvPr/>
        </p:nvSpPr>
        <p:spPr>
          <a:xfrm>
            <a:off x="276225" y="4905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991100"/>
            <a:ext cx="11639550" cy="14763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Input Cost and Demand &amp; Market Conditions carry the heaviest weight on selling prices (9.0 and 8.5 / 10).</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8 of 10 factors exert upward pressure on price; the rest pull prices down chiefly Technology &amp; Innovation and the Competitive Landscape.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Cost-side factors set the price floor; demand, brand and competitive forces determine how much of that cost can be passed through.</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Aftermarket &amp; Service Costs exerts the least pressure a second-order effect to monitor rather than actively manage.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Regional Price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price assessment across the value chain, from manufacturer to retail, and average price by geography, 2026–2036</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price assessment across the value chain (US$/Units) and price trajectory to 2036.</a:t>
            </a:r>
          </a:p>
        </p:txBody>
      </p:sp>
      <p:sp>
        <p:nvSpPr>
          <p:cNvPr id="11" name="Rounded Rectangle 10"/>
          <p:cNvSpPr/>
          <p:nvPr/>
        </p:nvSpPr>
        <p:spPr>
          <a:xfrm>
            <a:off x="142875" y="1317574"/>
            <a:ext cx="590550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Regional Price by Value-Chain Level (US$/Units)</a:t>
            </a:r>
          </a:p>
        </p:txBody>
      </p:sp>
      <p:graphicFrame>
        <p:nvGraphicFramePr>
          <p:cNvPr id="13" name="Table 12"/>
          <p:cNvGraphicFramePr>
            <a:graphicFrameLocks noGrp="1"/>
          </p:cNvGraphicFramePr>
          <p:nvPr/>
        </p:nvGraphicFramePr>
        <p:xfrm>
          <a:off x="152400" y="1574749"/>
          <a:ext cx="5886452" cy="2271327"/>
        </p:xfrm>
        <a:graphic>
          <a:graphicData uri="http://schemas.openxmlformats.org/drawingml/2006/table">
            <a:tbl>
              <a:tblPr>
                <a:tableStyleId>{5C22544A-7EE6-4342-B048-85BDC9FD1C3A}</a:tableStyleId>
              </a:tblPr>
              <a:tblGrid>
                <a:gridCol w="1370904"/>
                <a:gridCol w="1128887"/>
                <a:gridCol w="1128887"/>
                <a:gridCol w="1128887"/>
                <a:gridCol w="1128887"/>
              </a:tblGrid>
              <a:tr h="215265">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Manufacturer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Distribution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Retail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Total Margin (%)</a:t>
                      </a:r>
                      <a:endParaRPr sz="1100"/>
                    </a:p>
                  </a:txBody>
                  <a:tcPr marL="47625" marR="38100" marT="19050" marB="19050" anchor="ctr">
                    <a:solidFill>
                      <a:srgbClr val="E0E8EF"/>
                    </a:solidFill>
                  </a:tcPr>
                </a:tc>
              </a:tr>
              <a:tr h="342677">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342677">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342677">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342677">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342677">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342677">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855604"/>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6200775" y="1317574"/>
            <a:ext cx="584835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6025" y="1374724"/>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by Geography (US$/Units)</a:t>
            </a:r>
          </a:p>
        </p:txBody>
      </p:sp>
      <p:graphicFrame>
        <p:nvGraphicFramePr>
          <p:cNvPr id="17" name="Table 16"/>
          <p:cNvGraphicFramePr>
            <a:graphicFrameLocks noGrp="1"/>
          </p:cNvGraphicFramePr>
          <p:nvPr/>
        </p:nvGraphicFramePr>
        <p:xfrm>
          <a:off x="6210300" y="1574749"/>
          <a:ext cx="5829298" cy="2271327"/>
        </p:xfrm>
        <a:graphic>
          <a:graphicData uri="http://schemas.openxmlformats.org/drawingml/2006/table">
            <a:tbl>
              <a:tblPr>
                <a:tableStyleId>{5C22544A-7EE6-4342-B048-85BDC9FD1C3A}</a:tableStyleId>
              </a:tblPr>
              <a:tblGrid>
                <a:gridCol w="2418330"/>
                <a:gridCol w="852742"/>
                <a:gridCol w="852742"/>
                <a:gridCol w="852742"/>
                <a:gridCol w="852742"/>
              </a:tblGrid>
              <a:tr h="215265">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342677">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r>
              <a:tr h="342677">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r>
              <a:tr h="342677">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r>
              <a:tr h="342677">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r>
              <a:tr h="342677">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r>
              <a:tr h="342677">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r>
            </a:tbl>
          </a:graphicData>
        </a:graphic>
      </p:graphicFrame>
      <p:sp>
        <p:nvSpPr>
          <p:cNvPr id="18" name="TextBox 17"/>
          <p:cNvSpPr txBox="1"/>
          <p:nvPr/>
        </p:nvSpPr>
        <p:spPr>
          <a:xfrm>
            <a:off x="6276975" y="3855604"/>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142875" y="4201658"/>
            <a:ext cx="119062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287383"/>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This Section Covers</a:t>
            </a:r>
          </a:p>
        </p:txBody>
      </p:sp>
      <p:sp>
        <p:nvSpPr>
          <p:cNvPr id="21" name="Rectangle 20"/>
          <p:cNvSpPr/>
          <p:nvPr/>
        </p:nvSpPr>
        <p:spPr>
          <a:xfrm>
            <a:off x="276225" y="4525508"/>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11233"/>
            <a:ext cx="116395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Manufacturer-level pricing ex-works / producer price benchmarked for each geography.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Distribution &amp; channel pricing logistics and channel margin layered onto the producer price.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Retail / end-market pricing the average price paid by the end customer across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Value-chain margin build-up cumulative margin from manufacturer to retail, by geography (prices derived as Value ÷ Volume).</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Global Pricing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price range by region and sub-segment against the weighted average price of each region</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Development-stage price assumptions and manufacturer benchmarking price range by product format type and region (US$/Units).</a:t>
            </a:r>
          </a:p>
        </p:txBody>
      </p:sp>
      <p:sp>
        <p:nvSpPr>
          <p:cNvPr id="11" name="Rounded Rectangle 10"/>
          <p:cNvSpPr/>
          <p:nvPr/>
        </p:nvSpPr>
        <p:spPr>
          <a:xfrm>
            <a:off x="142875" y="1314450"/>
            <a:ext cx="11906250" cy="2838450"/>
          </a:xfrm>
          <a:prstGeom prst="roundRect">
            <a:avLst>
              <a:gd name="adj" fmla="val 268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16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Benchmarking by Region &amp; Product Format (US$/Units)</a:t>
            </a:r>
          </a:p>
        </p:txBody>
      </p:sp>
      <p:graphicFrame>
        <p:nvGraphicFramePr>
          <p:cNvPr id="13" name="Table 12"/>
          <p:cNvGraphicFramePr>
            <a:graphicFrameLocks noGrp="1"/>
          </p:cNvGraphicFramePr>
          <p:nvPr/>
        </p:nvGraphicFramePr>
        <p:xfrm>
          <a:off x="152400" y="1571625"/>
          <a:ext cx="11888515" cy="2371725"/>
        </p:xfrm>
        <a:graphic>
          <a:graphicData uri="http://schemas.openxmlformats.org/drawingml/2006/table">
            <a:tbl>
              <a:tblPr>
                <a:tableStyleId>{5C22544A-7EE6-4342-B048-85BDC9FD1C3A}</a:tableStyleId>
              </a:tblPr>
              <a:tblGrid>
                <a:gridCol w="1348921"/>
                <a:gridCol w="1040559"/>
                <a:gridCol w="1203875"/>
                <a:gridCol w="952910"/>
                <a:gridCol w="1172034"/>
                <a:gridCol w="1903112"/>
                <a:gridCol w="992750"/>
                <a:gridCol w="1351317"/>
                <a:gridCol w="1022631"/>
                <a:gridCol w="900406"/>
              </a:tblGrid>
              <a:tr h="349377">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square"/>
                    <a:lstStyle/>
                    <a:p>
                      <a:pPr algn="l">
                        <a:lnSpc>
                          <a:spcPct val="90000"/>
                        </a:lnSpc>
                      </a:pPr>
                      <a:r>
                        <a:rPr sz="1100" b="1">
                          <a:solidFill>
                            <a:srgbClr val="0B2E4A"/>
                          </a:solidFill>
                          <a:latin typeface="Calibri"/>
                        </a:rPr>
                        <a:t>Sprays and Mists</a:t>
                      </a:r>
                      <a:endParaRPr sz="1100"/>
                    </a:p>
                  </a:txBody>
                  <a:tcPr marL="47625" marR="38100" marT="19050" marB="19050" anchor="ctr">
                    <a:solidFill>
                      <a:srgbClr val="E0E8EF"/>
                    </a:solidFill>
                  </a:tcPr>
                </a:tc>
                <a:tc>
                  <a:txBody>
                    <a:bodyPr wrap="square"/>
                    <a:lstStyle/>
                    <a:p>
                      <a:pPr algn="l">
                        <a:lnSpc>
                          <a:spcPct val="90000"/>
                        </a:lnSpc>
                      </a:pPr>
                      <a:r>
                        <a:rPr sz="1100" b="1">
                          <a:solidFill>
                            <a:srgbClr val="0B2E4A"/>
                          </a:solidFill>
                          <a:latin typeface="Calibri"/>
                        </a:rPr>
                        <a:t>Mousses and Foams</a:t>
                      </a:r>
                      <a:endParaRPr sz="1100"/>
                    </a:p>
                  </a:txBody>
                  <a:tcPr marL="47625" marR="38100" marT="19050" marB="19050" anchor="ctr">
                    <a:solidFill>
                      <a:srgbClr val="E0E8EF"/>
                    </a:solidFill>
                  </a:tcPr>
                </a:tc>
                <a:tc>
                  <a:txBody>
                    <a:bodyPr wrap="square"/>
                    <a:lstStyle/>
                    <a:p>
                      <a:pPr algn="l">
                        <a:lnSpc>
                          <a:spcPct val="90000"/>
                        </a:lnSpc>
                      </a:pPr>
                      <a:r>
                        <a:rPr sz="1100" b="1">
                          <a:solidFill>
                            <a:srgbClr val="0B2E4A"/>
                          </a:solidFill>
                          <a:latin typeface="Calibri"/>
                        </a:rPr>
                        <a:t>Gels and Jellies</a:t>
                      </a:r>
                      <a:endParaRPr sz="1100"/>
                    </a:p>
                  </a:txBody>
                  <a:tcPr marL="47625" marR="38100" marT="19050" marB="19050" anchor="ctr">
                    <a:solidFill>
                      <a:srgbClr val="E0E8EF"/>
                    </a:solidFill>
                  </a:tcPr>
                </a:tc>
                <a:tc>
                  <a:txBody>
                    <a:bodyPr wrap="square"/>
                    <a:lstStyle/>
                    <a:p>
                      <a:pPr algn="l">
                        <a:lnSpc>
                          <a:spcPct val="90000"/>
                        </a:lnSpc>
                      </a:pPr>
                      <a:r>
                        <a:rPr sz="1100" b="1">
                          <a:solidFill>
                            <a:srgbClr val="0B2E4A"/>
                          </a:solidFill>
                          <a:latin typeface="Calibri"/>
                        </a:rPr>
                        <a:t>Creams and Lotions</a:t>
                      </a:r>
                      <a:endParaRPr sz="1100"/>
                    </a:p>
                  </a:txBody>
                  <a:tcPr marL="47625" marR="38100" marT="19050" marB="19050" anchor="ctr">
                    <a:solidFill>
                      <a:srgbClr val="E0E8EF"/>
                    </a:solidFill>
                  </a:tcPr>
                </a:tc>
                <a:tc>
                  <a:txBody>
                    <a:bodyPr wrap="square"/>
                    <a:lstStyle/>
                    <a:p>
                      <a:pPr algn="l">
                        <a:lnSpc>
                          <a:spcPct val="90000"/>
                        </a:lnSpc>
                      </a:pPr>
                      <a:r>
                        <a:rPr sz="1100" b="1">
                          <a:solidFill>
                            <a:srgbClr val="0B2E4A"/>
                          </a:solidFill>
                          <a:latin typeface="Calibri"/>
                        </a:rPr>
                        <a:t>Waxes, Clays, Pastes and Pomades</a:t>
                      </a:r>
                      <a:endParaRPr sz="1100"/>
                    </a:p>
                  </a:txBody>
                  <a:tcPr marL="47625" marR="38100" marT="19050" marB="19050" anchor="ctr">
                    <a:solidFill>
                      <a:srgbClr val="E0E8EF"/>
                    </a:solidFill>
                  </a:tcPr>
                </a:tc>
                <a:tc>
                  <a:txBody>
                    <a:bodyPr wrap="square"/>
                    <a:lstStyle/>
                    <a:p>
                      <a:pPr algn="l">
                        <a:lnSpc>
                          <a:spcPct val="90000"/>
                        </a:lnSpc>
                      </a:pPr>
                      <a:r>
                        <a:rPr sz="1100" b="1">
                          <a:solidFill>
                            <a:srgbClr val="0B2E4A"/>
                          </a:solidFill>
                          <a:latin typeface="Calibri"/>
                        </a:rPr>
                        <a:t>Styling Powders</a:t>
                      </a:r>
                      <a:endParaRPr sz="1100"/>
                    </a:p>
                  </a:txBody>
                  <a:tcPr marL="47625" marR="38100" marT="19050" marB="19050" anchor="ctr">
                    <a:solidFill>
                      <a:srgbClr val="E0E8EF"/>
                    </a:solidFill>
                  </a:tcPr>
                </a:tc>
                <a:tc>
                  <a:txBody>
                    <a:bodyPr wrap="square"/>
                    <a:lstStyle/>
                    <a:p>
                      <a:pPr algn="l">
                        <a:lnSpc>
                          <a:spcPct val="90000"/>
                        </a:lnSpc>
                      </a:pPr>
                      <a:r>
                        <a:rPr sz="1100" b="1">
                          <a:solidFill>
                            <a:srgbClr val="0B2E4A"/>
                          </a:solidFill>
                          <a:latin typeface="Calibri"/>
                        </a:rPr>
                        <a:t>Styling Serums and Oils</a:t>
                      </a:r>
                      <a:endParaRPr sz="1100"/>
                    </a:p>
                  </a:txBody>
                  <a:tcPr marL="47625" marR="38100" marT="19050" marB="19050" anchor="ctr">
                    <a:solidFill>
                      <a:srgbClr val="E0E8EF"/>
                    </a:solidFill>
                  </a:tcPr>
                </a:tc>
                <a:tc>
                  <a:txBody>
                    <a:bodyPr wrap="square"/>
                    <a:lstStyle/>
                    <a:p>
                      <a:pPr algn="l">
                        <a:lnSpc>
                          <a:spcPct val="90000"/>
                        </a:lnSpc>
                      </a:pPr>
                      <a:r>
                        <a:rPr sz="1100" b="1">
                          <a:solidFill>
                            <a:srgbClr val="0B2E4A"/>
                          </a:solidFill>
                          <a:latin typeface="Calibri"/>
                        </a:rPr>
                        <a:t>Sticks and Balms</a:t>
                      </a:r>
                      <a:endParaRPr sz="1100"/>
                    </a:p>
                  </a:txBody>
                  <a:tcPr marL="47625" marR="38100" marT="19050" marB="19050" anchor="ctr">
                    <a:solidFill>
                      <a:srgbClr val="E0E8EF"/>
                    </a:solidFill>
                  </a:tcPr>
                </a:tc>
                <a:tc>
                  <a:txBody>
                    <a:bodyPr wrap="square"/>
                    <a:lstStyle/>
                    <a:p>
                      <a:pPr algn="l">
                        <a:lnSpc>
                          <a:spcPct val="90000"/>
                        </a:lnSpc>
                      </a:pPr>
                      <a:r>
                        <a:rPr sz="1100" b="1">
                          <a:solidFill>
                            <a:srgbClr val="0B2E4A"/>
                          </a:solidFill>
                          <a:latin typeface="Calibri"/>
                        </a:rPr>
                        <a:t>Weighted Avg</a:t>
                      </a:r>
                      <a:endParaRPr sz="1100"/>
                    </a:p>
                  </a:txBody>
                  <a:tcPr marL="47625" marR="38100" marT="19050" marB="19050" anchor="ctr">
                    <a:solidFill>
                      <a:srgbClr val="E0E8EF"/>
                    </a:solidFill>
                  </a:tcPr>
                </a:tc>
              </a:tr>
              <a:tr h="337058">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r>
              <a:tr h="337058">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0.94–0.96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0.97–0.99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r>
              <a:tr h="337058">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r>
              <a:tr h="337058">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r>
              <a:tr h="337058">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0.92–0.94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0.89–0.91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r>
              <a:tr h="337058">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952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295775"/>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381500"/>
            <a:ext cx="11639550" cy="209550"/>
          </a:xfrm>
          <a:prstGeom prst="rect">
            <a:avLst/>
          </a:prstGeom>
          <a:noFill/>
        </p:spPr>
        <p:txBody>
          <a:bodyPr wrap="square" lIns="0" rIns="19050" tIns="9525" bIns="9525">
            <a:spAutoFit/>
          </a:bodyPr>
          <a:lstStyle/>
          <a:p>
            <a:pPr algn="l"/>
            <a:r>
              <a:rPr sz="1300" b="1">
                <a:solidFill>
                  <a:srgbClr val="0B2E4A"/>
                </a:solidFill>
                <a:latin typeface="Calibri"/>
              </a:rPr>
              <a:t>Benchmarking Insights</a:t>
            </a:r>
          </a:p>
        </p:txBody>
      </p:sp>
      <p:sp>
        <p:nvSpPr>
          <p:cNvPr id="17" name="Rectangle 16"/>
          <p:cNvSpPr/>
          <p:nvPr/>
        </p:nvSpPr>
        <p:spPr>
          <a:xfrm>
            <a:off x="276225" y="4619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05350"/>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On a weighted-average basis 'North America' is the highest-priced region (~2.85 US$/Units) and 'South Asia &amp; Pacific' the most competitive (~1.47 US$/Units).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Price ranges are benchmarked per product format type at 2026, derived as Value ÷ Volume with a ±1% observed trading band.</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Cross-region price dispersion of ~1.95× reflects differences in mix, logistics and channel structure.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Benchmarks support price-corridor setting and margin-defence decisions across geographies.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Price Forecast &amp; Dynamics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forecast by sub-segment, 2026–2036, with the factors and dynamics shaping the trajectory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Forward price trajectory to 2036 by product format type and the structural factors shaping it (US$/Units).</a:t>
            </a:r>
          </a:p>
        </p:txBody>
      </p:sp>
      <p:sp>
        <p:nvSpPr>
          <p:cNvPr id="11" name="Rounded Rectangle 10"/>
          <p:cNvSpPr/>
          <p:nvPr/>
        </p:nvSpPr>
        <p:spPr>
          <a:xfrm>
            <a:off x="142875" y="1317574"/>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Forecast to 2036 by Product Format (US$/Units)</a:t>
            </a:r>
          </a:p>
        </p:txBody>
      </p:sp>
      <p:graphicFrame>
        <p:nvGraphicFramePr>
          <p:cNvPr id="13" name="Table 12"/>
          <p:cNvGraphicFramePr>
            <a:graphicFrameLocks noGrp="1"/>
          </p:cNvGraphicFramePr>
          <p:nvPr/>
        </p:nvGraphicFramePr>
        <p:xfrm>
          <a:off x="152400" y="1574749"/>
          <a:ext cx="11887198" cy="1504674"/>
        </p:xfrm>
        <a:graphic>
          <a:graphicData uri="http://schemas.openxmlformats.org/drawingml/2006/table">
            <a:tbl>
              <a:tblPr>
                <a:tableStyleId>{5C22544A-7EE6-4342-B048-85BDC9FD1C3A}</a:tableStyleId>
              </a:tblPr>
              <a:tblGrid>
                <a:gridCol w="3796156"/>
                <a:gridCol w="1348507"/>
                <a:gridCol w="1348507"/>
                <a:gridCol w="1348507"/>
                <a:gridCol w="1348507"/>
                <a:gridCol w="1348507"/>
                <a:gridCol w="1348507"/>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429803">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r>
              <a:tr h="429803">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r>
              <a:tr h="429803">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088948"/>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Factors Impacting Pricing</a:t>
            </a:r>
          </a:p>
        </p:txBody>
      </p:sp>
      <p:graphicFrame>
        <p:nvGraphicFramePr>
          <p:cNvPr id="17" name="Table 16"/>
          <p:cNvGraphicFramePr>
            <a:graphicFrameLocks noGrp="1"/>
          </p:cNvGraphicFramePr>
          <p:nvPr/>
        </p:nvGraphicFramePr>
        <p:xfrm>
          <a:off x="152400" y="3655670"/>
          <a:ext cx="5886449" cy="2691165"/>
        </p:xfrm>
        <a:graphic>
          <a:graphicData uri="http://schemas.openxmlformats.org/drawingml/2006/table">
            <a:tbl>
              <a:tblPr>
                <a:tableStyleId>{5C22544A-7EE6-4342-B048-85BDC9FD1C3A}</a:tableStyleId>
              </a:tblPr>
              <a:tblGrid>
                <a:gridCol w="2867491"/>
                <a:gridCol w="1509479"/>
                <a:gridCol w="1509479"/>
              </a:tblGrid>
              <a:tr h="215265">
                <a:tc>
                  <a:txBody>
                    <a:bodyPr wrap="none"/>
                    <a:lstStyle/>
                    <a:p>
                      <a:pPr algn="l"/>
                      <a:r>
                        <a:rPr sz="1100" b="1">
                          <a:solidFill>
                            <a:srgbClr val="0B2E4A"/>
                          </a:solidFill>
                          <a:latin typeface="Calibri"/>
                        </a:rPr>
                        <a:t>Pricing 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Impact (H/M/L)</a:t>
                      </a:r>
                      <a:endParaRPr sz="1100"/>
                    </a:p>
                  </a:txBody>
                  <a:tcPr marL="47625" marR="38100" marT="19050" marB="19050" anchor="ctr">
                    <a:solidFill>
                      <a:srgbClr val="E0E8EF"/>
                    </a:solidFill>
                  </a:tcPr>
                </a:tc>
              </a:tr>
              <a:tr h="24759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56360"/>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3398495"/>
            <a:ext cx="584835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34125" y="3484220"/>
            <a:ext cx="5581650" cy="209550"/>
          </a:xfrm>
          <a:prstGeom prst="rect">
            <a:avLst/>
          </a:prstGeom>
          <a:noFill/>
        </p:spPr>
        <p:txBody>
          <a:bodyPr wrap="square" lIns="0" rIns="19050" tIns="9525" bIns="9525">
            <a:spAutoFit/>
          </a:bodyPr>
          <a:lstStyle/>
          <a:p>
            <a:pPr algn="l"/>
            <a:r>
              <a:rPr sz="1300" b="1">
                <a:solidFill>
                  <a:srgbClr val="0B2E4A"/>
                </a:solidFill>
                <a:latin typeface="Calibri"/>
              </a:rPr>
              <a:t>Pricing Dynamics &amp; Outlook</a:t>
            </a:r>
          </a:p>
        </p:txBody>
      </p:sp>
      <p:sp>
        <p:nvSpPr>
          <p:cNvPr id="21" name="Rectangle 20"/>
          <p:cNvSpPr/>
          <p:nvPr/>
        </p:nvSpPr>
        <p:spPr>
          <a:xfrm>
            <a:off x="6334125" y="3722345"/>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34125" y="3808070"/>
            <a:ext cx="5581650" cy="267211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Average product format price is projected to rise from ~2.07 to ~2.31 US$/Units by 2036 a +1.1%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'Creams and Lotions' shows the strongest forecast price appreciation (+13.4%) over the horizon.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Upward pressure is led by input cost and demand &amp; market conditions; efficiency and competitive intensity work the other way.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Net outlook: modest, structural price appreciation mix and geography will determine realised pricing.</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Price Forecast &amp; Dynamics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forecast by sub-segment, 2026–2036, with the factors and dynamics shaping the trajectory</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Forecast to 2036 by Product Format (US$/Units)</a:t>
            </a:r>
          </a:p>
        </p:txBody>
      </p:sp>
      <p:graphicFrame>
        <p:nvGraphicFramePr>
          <p:cNvPr id="12" name="Table 11"/>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5040042"/>
                <a:gridCol w="1141193"/>
                <a:gridCol w="1141193"/>
                <a:gridCol w="1141193"/>
                <a:gridCol w="1141193"/>
                <a:gridCol w="1141193"/>
                <a:gridCol w="1141193"/>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Waxes, Clays, Pastes and Poma…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Competitor Pricing Strategies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leading players position price: tier, price position versus peers and strategy focus</a:t>
            </a:r>
          </a:p>
        </p:txBody>
      </p:sp>
      <p:sp>
        <p:nvSpPr>
          <p:cNvPr id="10" name="Rounded Rectangle 9"/>
          <p:cNvSpPr/>
          <p:nvPr/>
        </p:nvSpPr>
        <p:spPr>
          <a:xfrm>
            <a:off x="142875" y="1007261"/>
            <a:ext cx="769620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Competitor pricing strategies how leading players position price and the levers they use to sustain it.</a:t>
            </a:r>
          </a:p>
        </p:txBody>
      </p:sp>
      <p:sp>
        <p:nvSpPr>
          <p:cNvPr id="11" name="Rounded Rectangle 10"/>
          <p:cNvSpPr/>
          <p:nvPr/>
        </p:nvSpPr>
        <p:spPr>
          <a:xfrm>
            <a:off x="142875" y="1317574"/>
            <a:ext cx="769620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3774"/>
          <a:ext cx="7677149" cy="3619743"/>
        </p:xfrm>
        <a:graphic>
          <a:graphicData uri="http://schemas.openxmlformats.org/drawingml/2006/table">
            <a:tbl>
              <a:tblPr>
                <a:tableStyleId>{5C22544A-7EE6-4342-B048-85BDC9FD1C3A}</a:tableStyleId>
              </a:tblPr>
              <a:tblGrid>
                <a:gridCol w="1192443"/>
                <a:gridCol w="656296"/>
                <a:gridCol w="1379727"/>
                <a:gridCol w="1291593"/>
                <a:gridCol w="3157090"/>
              </a:tblGrid>
              <a:tr h="215265">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Tier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Position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ASP vs Peers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Strategy Focus</a:t>
                      </a:r>
                      <a:endParaRPr sz="1100"/>
                    </a:p>
                  </a:txBody>
                  <a:tcPr marL="47625" marR="38100" marT="19050" marB="19050" anchor="ctr">
                    <a:solidFill>
                      <a:srgbClr val="E0E8EF"/>
                    </a:solidFill>
                  </a:tcPr>
                </a:tc>
              </a:tr>
              <a:tr h="567413">
                <a:tc>
                  <a:txBody>
                    <a:bodyPr wrap="none"/>
                    <a:lstStyle/>
                    <a:p>
                      <a:pPr algn="l"/>
                      <a:r>
                        <a:rPr sz="1100" b="1">
                          <a:solidFill>
                            <a:srgbClr val="2E2E2E"/>
                          </a:solidFill>
                          <a:latin typeface="Calibri"/>
                        </a:rPr>
                        <a:t>Company 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 brand-led pricing</a:t>
                      </a:r>
                      <a:endParaRPr sz="1100"/>
                    </a:p>
                  </a:txBody>
                  <a:tcPr marL="47625" marR="38100" marT="19050" marB="19050" anchor="ctr">
                    <a:solidFill>
                      <a:srgbClr val="FFFFFF"/>
                    </a:solidFill>
                  </a:tcPr>
                </a:tc>
              </a:tr>
              <a:tr h="567413">
                <a:tc>
                  <a:txBody>
                    <a:bodyPr wrap="none"/>
                    <a:lstStyle/>
                    <a:p>
                      <a:pPr algn="l"/>
                      <a:r>
                        <a:rPr sz="1100" b="1">
                          <a:solidFill>
                            <a:srgbClr val="2E2E2E"/>
                          </a:solidFill>
                          <a:latin typeface="Calibri"/>
                        </a:rPr>
                        <a:t>Company B</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Value-based premium pricing</a:t>
                      </a:r>
                      <a:endParaRPr sz="1100"/>
                    </a:p>
                  </a:txBody>
                  <a:tcPr marL="47625" marR="38100" marT="19050" marB="19050" anchor="ctr">
                    <a:solidFill>
                      <a:srgbClr val="F5F8FA"/>
                    </a:solidFill>
                  </a:tcPr>
                </a:tc>
              </a:tr>
              <a:tr h="567413">
                <a:tc>
                  <a:txBody>
                    <a:bodyPr wrap="none"/>
                    <a:lstStyle/>
                    <a:p>
                      <a:pPr algn="l"/>
                      <a:r>
                        <a:rPr sz="1100" b="1">
                          <a:solidFill>
                            <a:srgbClr val="2E2E2E"/>
                          </a:solidFill>
                          <a:latin typeface="Calibri"/>
                        </a:rPr>
                        <a:t>Company 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Innovation-led price leadership</a:t>
                      </a:r>
                      <a:endParaRPr sz="1100"/>
                    </a:p>
                  </a:txBody>
                  <a:tcPr marL="47625" marR="38100" marT="19050" marB="19050" anchor="ctr">
                    <a:solidFill>
                      <a:srgbClr val="FFFFFF"/>
                    </a:solidFill>
                  </a:tcPr>
                </a:tc>
              </a:tr>
              <a:tr h="567413">
                <a:tc>
                  <a:txBody>
                    <a:bodyPr wrap="none"/>
                    <a:lstStyle/>
                    <a:p>
                      <a:pPr algn="l"/>
                      <a:r>
                        <a:rPr sz="1100" b="1">
                          <a:solidFill>
                            <a:srgbClr val="2E2E2E"/>
                          </a:solidFill>
                          <a:latin typeface="Calibri"/>
                        </a:rPr>
                        <a:t>Company 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 pricing with mix upsell</a:t>
                      </a:r>
                      <a:endParaRPr sz="1100"/>
                    </a:p>
                  </a:txBody>
                  <a:tcPr marL="47625" marR="38100" marT="19050" marB="19050" anchor="ctr">
                    <a:solidFill>
                      <a:srgbClr val="F5F8FA"/>
                    </a:solidFill>
                  </a:tcPr>
                </a:tc>
              </a:tr>
              <a:tr h="567413">
                <a:tc>
                  <a:txBody>
                    <a:bodyPr wrap="none"/>
                    <a:lstStyle/>
                    <a:p>
                      <a:pPr algn="l"/>
                      <a:r>
                        <a:rPr sz="1100" b="1">
                          <a:solidFill>
                            <a:srgbClr val="2E2E2E"/>
                          </a:solidFill>
                          <a:latin typeface="Calibri"/>
                        </a:rPr>
                        <a:t>Company 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Penetration &amp; share-led pricing</a:t>
                      </a:r>
                      <a:endParaRPr sz="1100"/>
                    </a:p>
                  </a:txBody>
                  <a:tcPr marL="47625" marR="38100" marT="19050" marB="19050" anchor="ctr">
                    <a:solidFill>
                      <a:srgbClr val="FFFFFF"/>
                    </a:solidFill>
                  </a:tcPr>
                </a:tc>
              </a:tr>
              <a:tr h="567413">
                <a:tc>
                  <a:txBody>
                    <a:bodyPr wrap="none"/>
                    <a:lstStyle/>
                    <a:p>
                      <a:pPr algn="l"/>
                      <a:r>
                        <a:rPr sz="1100" b="1">
                          <a:solidFill>
                            <a:srgbClr val="2E2E2E"/>
                          </a:solidFill>
                          <a:latin typeface="Calibri"/>
                        </a:rPr>
                        <a:t>Company F</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Competitive / discount-led pricing</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23044"/>
            <a:ext cx="75438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5351641"/>
            <a:ext cx="7696200" cy="365074"/>
          </a:xfrm>
          <a:prstGeom prst="roundRect">
            <a:avLst>
              <a:gd name="adj" fmla="val 2087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competitor figures are indicative derived from market modelling and expert validation, not company disclosures.</a:t>
            </a:r>
          </a:p>
        </p:txBody>
      </p:sp>
      <p:sp>
        <p:nvSpPr>
          <p:cNvPr id="15" name="Rounded Rectangle 14"/>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Competitive Pricing Themes</a:t>
            </a:r>
          </a:p>
        </p:txBody>
      </p:sp>
      <p:sp>
        <p:nvSpPr>
          <p:cNvPr id="17" name="Rectangle 16"/>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Tier 1 players anchor premium pricing, defending ASP through brand, product development and certification rather than discounting.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Mid-tier players price at or just below parity, using launches and expansion to win share in fast-growing segments.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Emerging players compete on value pricing, trading margin for access and volume in price-sensitive regions.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Across tiers, R&amp;D investment and selective M&amp;A are the primary levers to move up the price ladder over time.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19.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Supply Chain Analysis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Supply Chain Analysis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82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Supply Chain Analysis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Chain &amp; Stakeholder Mapping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Operating Margin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Buyers Assessment</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Value Chain &amp; Stakeholder Mapping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Mapping of the value chain stages, the stakeholders at each stage and the value added along the chain</a:t>
            </a:r>
          </a:p>
        </p:txBody>
      </p:sp>
      <p:sp>
        <p:nvSpPr>
          <p:cNvPr id="10" name="TextBox 9"/>
          <p:cNvSpPr txBox="1"/>
          <p:nvPr/>
        </p:nvSpPr>
        <p:spPr>
          <a:xfrm>
            <a:off x="285750" y="970754"/>
            <a:ext cx="10668000" cy="164283"/>
          </a:xfrm>
          <a:prstGeom prst="rect">
            <a:avLst/>
          </a:prstGeom>
          <a:noFill/>
        </p:spPr>
        <p:txBody>
          <a:bodyPr wrap="square" lIns="0" rIns="19050" tIns="0" bIns="0">
            <a:spAutoFit/>
          </a:bodyPr>
          <a:lstStyle/>
          <a:p>
            <a:pPr algn="l"/>
            <a:r>
              <a:rPr sz="1100" b="0">
                <a:solidFill>
                  <a:srgbClr val="6C7A89"/>
                </a:solidFill>
                <a:latin typeface="Calibri"/>
              </a:rPr>
              <a:t>End-to-end value chain with the key stakeholders at each stage and their indicative contribution to value addition.</a:t>
            </a:r>
          </a:p>
        </p:txBody>
      </p:sp>
      <p:sp>
        <p:nvSpPr>
          <p:cNvPr id="11" name="Right Arrow 10"/>
          <p:cNvSpPr/>
          <p:nvPr/>
        </p:nvSpPr>
        <p:spPr>
          <a:xfrm>
            <a:off x="1885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ight Arrow 11"/>
          <p:cNvSpPr/>
          <p:nvPr/>
        </p:nvSpPr>
        <p:spPr>
          <a:xfrm>
            <a:off x="4171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ight Arrow 12"/>
          <p:cNvSpPr/>
          <p:nvPr/>
        </p:nvSpPr>
        <p:spPr>
          <a:xfrm>
            <a:off x="6457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ight Arrow 13"/>
          <p:cNvSpPr/>
          <p:nvPr/>
        </p:nvSpPr>
        <p:spPr>
          <a:xfrm>
            <a:off x="8743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19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Raw Material</a:t>
            </a:r>
          </a:p>
          <a:p>
            <a:pPr algn="ctr">
              <a:lnSpc>
                <a:spcPct val="100000"/>
              </a:lnSpc>
            </a:pPr>
            <a:r>
              <a:rPr sz="1100" b="1">
                <a:solidFill>
                  <a:srgbClr val="0B2E4A"/>
                </a:solidFill>
                <a:latin typeface="Calibri"/>
              </a:rPr>
              <a:t>Suppliers</a:t>
            </a:r>
          </a:p>
        </p:txBody>
      </p:sp>
      <p:sp>
        <p:nvSpPr>
          <p:cNvPr id="16" name="Oval 15"/>
          <p:cNvSpPr/>
          <p:nvPr/>
        </p:nvSpPr>
        <p:spPr>
          <a:xfrm>
            <a:off x="1076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1123950" y="1719155"/>
            <a:ext cx="800100" cy="766655"/>
          </a:xfrm>
          <a:prstGeom prst="ellipse">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1509712" y="2084229"/>
            <a:ext cx="28575" cy="1551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rot="19500000">
            <a:off x="1381125"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rot="2100000">
            <a:off x="1524000"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000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5–10%</a:t>
            </a:r>
          </a:p>
        </p:txBody>
      </p:sp>
      <p:sp>
        <p:nvSpPr>
          <p:cNvPr id="22" name="Rounded Rectangle 21"/>
          <p:cNvSpPr/>
          <p:nvPr/>
        </p:nvSpPr>
        <p:spPr>
          <a:xfrm>
            <a:off x="457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457200" y="2905646"/>
            <a:ext cx="2133600" cy="4563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542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Raw Material Suppliers</a:t>
            </a:r>
          </a:p>
        </p:txBody>
      </p:sp>
      <p:sp>
        <p:nvSpPr>
          <p:cNvPr id="25" name="TextBox 24"/>
          <p:cNvSpPr txBox="1"/>
          <p:nvPr/>
        </p:nvSpPr>
        <p:spPr>
          <a:xfrm>
            <a:off x="542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26" name="TextBox 25"/>
          <p:cNvSpPr txBox="1"/>
          <p:nvPr/>
        </p:nvSpPr>
        <p:spPr>
          <a:xfrm>
            <a:off x="542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Growers and primary producers supply core inputs; some forward-integrate into small-scale processing.</a:t>
            </a:r>
          </a:p>
        </p:txBody>
      </p:sp>
      <p:sp>
        <p:nvSpPr>
          <p:cNvPr id="27" name="TextBox 26"/>
          <p:cNvSpPr txBox="1"/>
          <p:nvPr/>
        </p:nvSpPr>
        <p:spPr>
          <a:xfrm>
            <a:off x="2705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Manufacturers</a:t>
            </a:r>
          </a:p>
        </p:txBody>
      </p:sp>
      <p:sp>
        <p:nvSpPr>
          <p:cNvPr id="28" name="Oval 27"/>
          <p:cNvSpPr/>
          <p:nvPr/>
        </p:nvSpPr>
        <p:spPr>
          <a:xfrm>
            <a:off x="3362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3409950" y="1719155"/>
            <a:ext cx="800100" cy="766655"/>
          </a:xfrm>
          <a:prstGeom prst="ellipse">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638550" y="2084229"/>
            <a:ext cx="34290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667125" y="1983834"/>
            <a:ext cx="66675" cy="109522"/>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3771900" y="2020341"/>
            <a:ext cx="66675" cy="7301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3876675" y="1992961"/>
            <a:ext cx="66675" cy="10039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ounded Rectangle 33"/>
          <p:cNvSpPr/>
          <p:nvPr/>
        </p:nvSpPr>
        <p:spPr>
          <a:xfrm>
            <a:off x="3286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20–40%</a:t>
            </a:r>
          </a:p>
        </p:txBody>
      </p:sp>
      <p:sp>
        <p:nvSpPr>
          <p:cNvPr id="35" name="Rounded Rectangle 34"/>
          <p:cNvSpPr/>
          <p:nvPr/>
        </p:nvSpPr>
        <p:spPr>
          <a:xfrm>
            <a:off x="2743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2743200" y="2905646"/>
            <a:ext cx="2133600" cy="4563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28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Manufacturers / Processors</a:t>
            </a:r>
          </a:p>
        </p:txBody>
      </p:sp>
      <p:sp>
        <p:nvSpPr>
          <p:cNvPr id="38" name="TextBox 37"/>
          <p:cNvSpPr txBox="1"/>
          <p:nvPr/>
        </p:nvSpPr>
        <p:spPr>
          <a:xfrm>
            <a:off x="2828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39" name="TextBox 38"/>
          <p:cNvSpPr txBox="1"/>
          <p:nvPr/>
        </p:nvSpPr>
        <p:spPr>
          <a:xfrm>
            <a:off x="2828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Convert inputs into finished and semi-finished product the single largest value-addition stage.</a:t>
            </a:r>
          </a:p>
        </p:txBody>
      </p:sp>
      <p:sp>
        <p:nvSpPr>
          <p:cNvPr id="40" name="TextBox 39"/>
          <p:cNvSpPr txBox="1"/>
          <p:nvPr/>
        </p:nvSpPr>
        <p:spPr>
          <a:xfrm>
            <a:off x="4991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Distributors</a:t>
            </a:r>
          </a:p>
        </p:txBody>
      </p:sp>
      <p:sp>
        <p:nvSpPr>
          <p:cNvPr id="41" name="Oval 40"/>
          <p:cNvSpPr/>
          <p:nvPr/>
        </p:nvSpPr>
        <p:spPr>
          <a:xfrm>
            <a:off x="5648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5695950" y="1719155"/>
            <a:ext cx="800100" cy="766655"/>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5915025" y="2002088"/>
            <a:ext cx="20955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6134100" y="2075102"/>
            <a:ext cx="123825" cy="912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5972175"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6153150"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ounded Rectangle 46"/>
          <p:cNvSpPr/>
          <p:nvPr/>
        </p:nvSpPr>
        <p:spPr>
          <a:xfrm>
            <a:off x="5572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5–25%</a:t>
            </a:r>
          </a:p>
        </p:txBody>
      </p:sp>
      <p:sp>
        <p:nvSpPr>
          <p:cNvPr id="48" name="Rounded Rectangle 47"/>
          <p:cNvSpPr/>
          <p:nvPr/>
        </p:nvSpPr>
        <p:spPr>
          <a:xfrm>
            <a:off x="5029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29200" y="2905646"/>
            <a:ext cx="2133600" cy="4563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5114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Distributors &amp; Wholesalers</a:t>
            </a:r>
          </a:p>
        </p:txBody>
      </p:sp>
      <p:sp>
        <p:nvSpPr>
          <p:cNvPr id="51" name="TextBox 50"/>
          <p:cNvSpPr txBox="1"/>
          <p:nvPr/>
        </p:nvSpPr>
        <p:spPr>
          <a:xfrm>
            <a:off x="5114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52" name="TextBox 51"/>
          <p:cNvSpPr txBox="1"/>
          <p:nvPr/>
        </p:nvSpPr>
        <p:spPr>
          <a:xfrm>
            <a:off x="5114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Move product to market, hold inventory and provide logistics, reach and credit to downstream channels.</a:t>
            </a:r>
          </a:p>
        </p:txBody>
      </p:sp>
      <p:sp>
        <p:nvSpPr>
          <p:cNvPr id="53" name="TextBox 52"/>
          <p:cNvSpPr txBox="1"/>
          <p:nvPr/>
        </p:nvSpPr>
        <p:spPr>
          <a:xfrm>
            <a:off x="7277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Retailers</a:t>
            </a:r>
          </a:p>
        </p:txBody>
      </p:sp>
      <p:sp>
        <p:nvSpPr>
          <p:cNvPr id="54" name="Oval 53"/>
          <p:cNvSpPr/>
          <p:nvPr/>
        </p:nvSpPr>
        <p:spPr>
          <a:xfrm>
            <a:off x="7934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7981950" y="1719155"/>
            <a:ext cx="800100" cy="766655"/>
          </a:xfrm>
          <a:prstGeom prst="ellipse">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Isosceles Triangle 55"/>
          <p:cNvSpPr/>
          <p:nvPr/>
        </p:nvSpPr>
        <p:spPr>
          <a:xfrm>
            <a:off x="8201025" y="1965580"/>
            <a:ext cx="361950" cy="109522"/>
          </a:xfrm>
          <a:prstGeom prst="triangl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8239125" y="2065976"/>
            <a:ext cx="285750" cy="182537"/>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8343900" y="2138990"/>
            <a:ext cx="76200" cy="109522"/>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ounded Rectangle 58"/>
          <p:cNvSpPr/>
          <p:nvPr/>
        </p:nvSpPr>
        <p:spPr>
          <a:xfrm>
            <a:off x="7858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10–35%</a:t>
            </a:r>
          </a:p>
        </p:txBody>
      </p:sp>
      <p:sp>
        <p:nvSpPr>
          <p:cNvPr id="60" name="Rounded Rectangle 59"/>
          <p:cNvSpPr/>
          <p:nvPr/>
        </p:nvSpPr>
        <p:spPr>
          <a:xfrm>
            <a:off x="7315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7315200" y="2905646"/>
            <a:ext cx="2133600" cy="4563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400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Retailers &amp; Channels</a:t>
            </a:r>
          </a:p>
        </p:txBody>
      </p:sp>
      <p:sp>
        <p:nvSpPr>
          <p:cNvPr id="63" name="TextBox 62"/>
          <p:cNvSpPr txBox="1"/>
          <p:nvPr/>
        </p:nvSpPr>
        <p:spPr>
          <a:xfrm>
            <a:off x="7400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64" name="TextBox 63"/>
          <p:cNvSpPr txBox="1"/>
          <p:nvPr/>
        </p:nvSpPr>
        <p:spPr>
          <a:xfrm>
            <a:off x="7400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Sell to end customers across offline and online channels, capturing point-of-sale margin and brand visibility.</a:t>
            </a:r>
          </a:p>
        </p:txBody>
      </p:sp>
      <p:sp>
        <p:nvSpPr>
          <p:cNvPr id="65" name="TextBox 64"/>
          <p:cNvSpPr txBox="1"/>
          <p:nvPr/>
        </p:nvSpPr>
        <p:spPr>
          <a:xfrm>
            <a:off x="9563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End Users</a:t>
            </a:r>
          </a:p>
        </p:txBody>
      </p:sp>
      <p:sp>
        <p:nvSpPr>
          <p:cNvPr id="66" name="Oval 65"/>
          <p:cNvSpPr/>
          <p:nvPr/>
        </p:nvSpPr>
        <p:spPr>
          <a:xfrm>
            <a:off x="10220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10267950" y="1719155"/>
            <a:ext cx="800100" cy="766655"/>
          </a:xfrm>
          <a:prstGeom prst="ellipse">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0601325" y="1956453"/>
            <a:ext cx="133350" cy="127776"/>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0544175" y="2111610"/>
            <a:ext cx="247650" cy="127776"/>
          </a:xfrm>
          <a:custGeom>
            <a:avLst/>
            <a:gdLst/>
            <a:ahLst/>
            <a:cxnLst/>
            <a:rect l="l" t="t" r="r" b="b"/>
            <a:pathLst>
              <a:path w="26" h="14">
                <a:moveTo>
                  <a:pt x="0" y="14"/>
                </a:moveTo>
                <a:lnTo>
                  <a:pt x="4" y="0"/>
                </a:lnTo>
                <a:lnTo>
                  <a:pt x="22" y="0"/>
                </a:lnTo>
                <a:lnTo>
                  <a:pt x="26" y="14"/>
                </a:lnTo>
                <a:close/>
              </a:path>
            </a:pathLst>
          </a:cu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ounded Rectangle 69"/>
          <p:cNvSpPr/>
          <p:nvPr/>
        </p:nvSpPr>
        <p:spPr>
          <a:xfrm>
            <a:off x="10144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10–20%</a:t>
            </a:r>
          </a:p>
        </p:txBody>
      </p:sp>
      <p:sp>
        <p:nvSpPr>
          <p:cNvPr id="71" name="Rounded Rectangle 70"/>
          <p:cNvSpPr/>
          <p:nvPr/>
        </p:nvSpPr>
        <p:spPr>
          <a:xfrm>
            <a:off x="9601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01200" y="2905646"/>
            <a:ext cx="2133600" cy="4563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9686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End Users</a:t>
            </a:r>
          </a:p>
        </p:txBody>
      </p:sp>
      <p:sp>
        <p:nvSpPr>
          <p:cNvPr id="74" name="TextBox 73"/>
          <p:cNvSpPr txBox="1"/>
          <p:nvPr/>
        </p:nvSpPr>
        <p:spPr>
          <a:xfrm>
            <a:off x="9686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75" name="TextBox 74"/>
          <p:cNvSpPr txBox="1"/>
          <p:nvPr/>
        </p:nvSpPr>
        <p:spPr>
          <a:xfrm>
            <a:off x="9686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Consumers and downstream industries; large end users sometimes backward-integrate to secure supply and cost.</a:t>
            </a:r>
          </a:p>
        </p:txBody>
      </p:sp>
      <p:sp>
        <p:nvSpPr>
          <p:cNvPr id="76" name="Rounded Rectangle 75"/>
          <p:cNvSpPr/>
          <p:nvPr/>
        </p:nvSpPr>
        <p:spPr>
          <a:xfrm>
            <a:off x="381000" y="5315134"/>
            <a:ext cx="11430000" cy="1204744"/>
          </a:xfrm>
          <a:prstGeom prst="roundRect">
            <a:avLst>
              <a:gd name="adj" fmla="val 60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514350" y="5397275"/>
            <a:ext cx="11163300" cy="200791"/>
          </a:xfrm>
          <a:prstGeom prst="rect">
            <a:avLst/>
          </a:prstGeom>
          <a:noFill/>
        </p:spPr>
        <p:txBody>
          <a:bodyPr wrap="square" lIns="0" rIns="19050" tIns="9525" bIns="9525">
            <a:spAutoFit/>
          </a:bodyPr>
          <a:lstStyle/>
          <a:p>
            <a:pPr algn="l"/>
            <a:r>
              <a:rPr sz="1300" b="1">
                <a:solidFill>
                  <a:srgbClr val="0B2E4A"/>
                </a:solidFill>
                <a:latin typeface="Calibri"/>
              </a:rPr>
              <a:t>Value-Added Read-out</a:t>
            </a:r>
          </a:p>
        </p:txBody>
      </p:sp>
      <p:sp>
        <p:nvSpPr>
          <p:cNvPr id="78" name="Rectangle 77"/>
          <p:cNvSpPr/>
          <p:nvPr/>
        </p:nvSpPr>
        <p:spPr>
          <a:xfrm>
            <a:off x="514350" y="5625447"/>
            <a:ext cx="111633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514350" y="5707588"/>
            <a:ext cx="11163300" cy="73927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Hair Styling Products Market value chain runs from raw-material suppliers through manufacturers, distributors and retailers to end users.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'Manufacturers / Processors' captures the largest value addition (20–40%), reflecting processing and scale advantages.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Forward and backward integration is common some suppliers process, and some large end users produce their own input.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Percentages show each stage's indicative share of value added along the chain.</a:t>
            </a:r>
          </a:p>
        </p:txBody>
      </p:sp>
      <p:sp>
        <p:nvSpPr>
          <p:cNvPr id="80" name="TextBox 7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Industry-Wide Operating Margin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Operating margin by region and value chain node, highlighting where value concentrates along the chain</a:t>
            </a:r>
          </a:p>
        </p:txBody>
      </p:sp>
      <p:sp>
        <p:nvSpPr>
          <p:cNvPr id="10" name="Rounded Rectangle 9"/>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Hair Styling Products Market Operating Margin by Region &amp; Node</a:t>
            </a:r>
          </a:p>
        </p:txBody>
      </p:sp>
      <p:graphicFrame>
        <p:nvGraphicFramePr>
          <p:cNvPr id="12" name="Table 11"/>
          <p:cNvGraphicFramePr>
            <a:graphicFrameLocks noGrp="1"/>
          </p:cNvGraphicFramePr>
          <p:nvPr/>
        </p:nvGraphicFramePr>
        <p:xfrm>
          <a:off x="152400" y="1238250"/>
          <a:ext cx="11887202" cy="2800353"/>
        </p:xfrm>
        <a:graphic>
          <a:graphicData uri="http://schemas.openxmlformats.org/drawingml/2006/table">
            <a:tbl>
              <a:tblPr>
                <a:tableStyleId>{5C22544A-7EE6-4342-B048-85BDC9FD1C3A}</a:tableStyleId>
              </a:tblPr>
              <a:tblGrid>
                <a:gridCol w="1208402"/>
                <a:gridCol w="2669700"/>
                <a:gridCol w="2669700"/>
                <a:gridCol w="2669700"/>
                <a:gridCol w="2669700"/>
              </a:tblGrid>
              <a:tr h="215265">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Node of Supply Chain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Operating Margin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Comparison to Parent Market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Notes</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+1,722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381500"/>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467225"/>
            <a:ext cx="11639550" cy="209550"/>
          </a:xfrm>
          <a:prstGeom prst="rect">
            <a:avLst/>
          </a:prstGeom>
          <a:noFill/>
        </p:spPr>
        <p:txBody>
          <a:bodyPr wrap="square" lIns="0" rIns="19050" tIns="9525" bIns="9525">
            <a:spAutoFit/>
          </a:bodyPr>
          <a:lstStyle/>
          <a:p>
            <a:pPr algn="l"/>
            <a:r>
              <a:rPr sz="1300" b="1">
                <a:solidFill>
                  <a:srgbClr val="0B2E4A"/>
                </a:solidFill>
                <a:latin typeface="Calibri"/>
              </a:rPr>
              <a:t>How to Read This</a:t>
            </a:r>
          </a:p>
        </p:txBody>
      </p:sp>
      <p:sp>
        <p:nvSpPr>
          <p:cNvPr id="16" name="Rectangle 15"/>
          <p:cNvSpPr/>
          <p:nvPr/>
        </p:nvSpPr>
        <p:spPr>
          <a:xfrm>
            <a:off x="276225" y="4705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791075"/>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Node of Supply Chain: each major stage, from raw-material suppliers through to retailers.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Operating Margin: the indicative margin earned at each node, by region.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Comparison to Parent Market: margin versus the parent / associated market (e.g. the broader food or pharmaceutical value chain).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Margins are broken down by both region and node to surface where value concentrates along the chain.</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Buyers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Assessment of buyers and end users by volume, average price and revenue, highlighting purchasing power</a:t>
            </a:r>
          </a:p>
        </p:txBody>
      </p:sp>
      <p:sp>
        <p:nvSpPr>
          <p:cNvPr id="10" name="Rounded Rectangle 9"/>
          <p:cNvSpPr/>
          <p:nvPr/>
        </p:nvSpPr>
        <p:spPr>
          <a:xfrm>
            <a:off x="142875" y="981075"/>
            <a:ext cx="11906250" cy="2838450"/>
          </a:xfrm>
          <a:prstGeom prst="roundRect">
            <a:avLst>
              <a:gd name="adj" fmla="val 268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Hair Styling Products Market Buyers / End-User Assessment</a:t>
            </a:r>
          </a:p>
        </p:txBody>
      </p:sp>
      <p:graphicFrame>
        <p:nvGraphicFramePr>
          <p:cNvPr id="12" name="Table 11"/>
          <p:cNvGraphicFramePr>
            <a:graphicFrameLocks noGrp="1"/>
          </p:cNvGraphicFramePr>
          <p:nvPr/>
        </p:nvGraphicFramePr>
        <p:xfrm>
          <a:off x="152400" y="1238250"/>
          <a:ext cx="11887200" cy="2371725"/>
        </p:xfrm>
        <a:graphic>
          <a:graphicData uri="http://schemas.openxmlformats.org/drawingml/2006/table">
            <a:tbl>
              <a:tblPr>
                <a:tableStyleId>{5C22544A-7EE6-4342-B048-85BDC9FD1C3A}</a:tableStyleId>
              </a:tblPr>
              <a:tblGrid>
                <a:gridCol w="937608"/>
                <a:gridCol w="1484989"/>
                <a:gridCol w="1064342"/>
                <a:gridCol w="1129057"/>
                <a:gridCol w="1603633"/>
                <a:gridCol w="1280058"/>
                <a:gridCol w="1533483"/>
                <a:gridCol w="1350166"/>
                <a:gridCol w="1503864"/>
              </a:tblGrid>
              <a:tr h="215265">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 End-User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Procurement Vol.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Avg Price (US$/Units)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Revenue (US$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Key Selection Factor</a:t>
                      </a:r>
                      <a:endParaRPr sz="1100"/>
                    </a:p>
                  </a:txBody>
                  <a:tcPr marL="47625" marR="38100" marT="19050" marB="19050" anchor="ctr">
                    <a:solidFill>
                      <a:srgbClr val="E0E8EF"/>
                    </a:solidFill>
                  </a:tcPr>
                </a:tc>
              </a:tr>
              <a:tr h="215646">
                <a:tc>
                  <a:txBody>
                    <a:bodyPr wrap="none"/>
                    <a:lstStyle/>
                    <a:p>
                      <a:pPr algn="l"/>
                      <a:r>
                        <a:rPr sz="1100" b="1">
                          <a:solidFill>
                            <a:srgbClr val="2E2E2E"/>
                          </a:solidFill>
                          <a:latin typeface="Calibri"/>
                        </a:rPr>
                        <a:t>Company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 Mn Units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 Mn Units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 Mn Units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 Mn Units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 Mn Units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Rest of 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 Mn Units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 Mn Units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 Mn Units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 Mn Units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 Mn Units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3619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952875"/>
            <a:ext cx="11906250" cy="2676525"/>
          </a:xfrm>
          <a:prstGeom prst="roundRect">
            <a:avLst>
              <a:gd name="adj" fmla="val 2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038600"/>
            <a:ext cx="11639550" cy="209550"/>
          </a:xfrm>
          <a:prstGeom prst="rect">
            <a:avLst/>
          </a:prstGeom>
          <a:noFill/>
        </p:spPr>
        <p:txBody>
          <a:bodyPr wrap="square" lIns="0" rIns="19050" tIns="9525" bIns="9525">
            <a:spAutoFit/>
          </a:bodyPr>
          <a:lstStyle/>
          <a:p>
            <a:pPr algn="l"/>
            <a:r>
              <a:rPr sz="1300" b="1">
                <a:solidFill>
                  <a:srgbClr val="0B2E4A"/>
                </a:solidFill>
                <a:latin typeface="Calibri"/>
              </a:rPr>
              <a:t>Notes</a:t>
            </a:r>
          </a:p>
        </p:txBody>
      </p:sp>
      <p:sp>
        <p:nvSpPr>
          <p:cNvPr id="16" name="Rectangle 15"/>
          <p:cNvSpPr/>
          <p:nvPr/>
        </p:nvSpPr>
        <p:spPr>
          <a:xfrm>
            <a:off x="276225" y="4276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362450"/>
            <a:ext cx="11639550" cy="2190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This is a representative subset the full assessment lists 20–30 active participants (with brands, specifications, procurement strategies and SWOT). Note: value-chain economics are indicative derived from market modelling and expert validation, not company disclosures.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24.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Market Dynamics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Dynamics &amp; Forces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82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Dynamics &amp; Forces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Restraints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Opportunities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Recent Developments &amp; Milestones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Five Forces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Dynamics by Region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growth driver, restraint and opportunity shaping each region of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Global Driving Factors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economic and supply-side factors scored by their impact on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Global Driving Factors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demand-side factors scored by their impact on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Restraints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restraints on the global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Opportunities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opportunities in the global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Recent Developments &amp; Milestones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Recent developments and milestones shaping the global market, by year</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Porter's Five Forces Analysis Global Hair Styling Products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supplier power, buyer power, competition, substitutes and entry barriers shaping the market's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33.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Competition Assessment</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Competitive Landscape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Share by Leading Players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Company Profiles &amp; Strategic Benchmarking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83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Competitive Landscape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Pipeline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Strategic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Competition Dashboard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Competitive Landscape at a Glance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Market concentration, segment leadership and the moves that will shift share, 2026–2036, in one page</a:t>
            </a:r>
          </a:p>
        </p:txBody>
      </p:sp>
      <p:cxnSp>
        <p:nvCxnSpPr>
          <p:cNvPr id="10" name="Connector 9"/>
          <p:cNvCxnSpPr/>
          <p:nvPr/>
        </p:nvCxnSpPr>
        <p:spPr>
          <a:xfrm>
            <a:off x="190500" y="10477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2476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2" name="TextBox 11"/>
          <p:cNvSpPr txBox="1"/>
          <p:nvPr/>
        </p:nvSpPr>
        <p:spPr>
          <a:xfrm>
            <a:off x="2476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E87722"/>
                </a:solidFill>
                <a:latin typeface="Calibri"/>
              </a:rPr>
              <a:t>41%</a:t>
            </a:r>
          </a:p>
        </p:txBody>
      </p:sp>
      <p:cxnSp>
        <p:nvCxnSpPr>
          <p:cNvPr id="13" name="Connector 12"/>
          <p:cNvCxnSpPr/>
          <p:nvPr/>
        </p:nvCxnSpPr>
        <p:spPr>
          <a:xfrm>
            <a:off x="16668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7240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5" name="TextBox 14"/>
          <p:cNvSpPr txBox="1"/>
          <p:nvPr/>
        </p:nvSpPr>
        <p:spPr>
          <a:xfrm>
            <a:off x="17240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55%</a:t>
            </a:r>
          </a:p>
        </p:txBody>
      </p:sp>
      <p:cxnSp>
        <p:nvCxnSpPr>
          <p:cNvPr id="16" name="Connector 15"/>
          <p:cNvCxnSpPr/>
          <p:nvPr/>
        </p:nvCxnSpPr>
        <p:spPr>
          <a:xfrm>
            <a:off x="31432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32004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product types</a:t>
            </a:r>
          </a:p>
        </p:txBody>
      </p:sp>
      <p:sp>
        <p:nvSpPr>
          <p:cNvPr id="18" name="TextBox 17"/>
          <p:cNvSpPr txBox="1"/>
          <p:nvPr/>
        </p:nvSpPr>
        <p:spPr>
          <a:xfrm>
            <a:off x="32004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18 / 17 / 13%</a:t>
            </a:r>
          </a:p>
        </p:txBody>
      </p:sp>
      <p:cxnSp>
        <p:nvCxnSpPr>
          <p:cNvPr id="19" name="Connector 18"/>
          <p:cNvCxnSpPr/>
          <p:nvPr/>
        </p:nvCxnSpPr>
        <p:spPr>
          <a:xfrm>
            <a:off x="46196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6767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end use</a:t>
            </a:r>
          </a:p>
        </p:txBody>
      </p:sp>
      <p:sp>
        <p:nvSpPr>
          <p:cNvPr id="21" name="TextBox 20"/>
          <p:cNvSpPr txBox="1"/>
          <p:nvPr/>
        </p:nvSpPr>
        <p:spPr>
          <a:xfrm>
            <a:off x="46767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Mass Retail, 20%</a:t>
            </a:r>
          </a:p>
        </p:txBody>
      </p:sp>
      <p:cxnSp>
        <p:nvCxnSpPr>
          <p:cNvPr id="22" name="Connector 21"/>
          <p:cNvCxnSpPr/>
          <p:nvPr/>
        </p:nvCxnSpPr>
        <p:spPr>
          <a:xfrm>
            <a:off x="609600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61531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Named competitors</a:t>
            </a:r>
          </a:p>
        </p:txBody>
      </p:sp>
      <p:sp>
        <p:nvSpPr>
          <p:cNvPr id="24" name="TextBox 23"/>
          <p:cNvSpPr txBox="1"/>
          <p:nvPr/>
        </p:nvSpPr>
        <p:spPr>
          <a:xfrm>
            <a:off x="61531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8</a:t>
            </a:r>
          </a:p>
        </p:txBody>
      </p:sp>
      <p:cxnSp>
        <p:nvCxnSpPr>
          <p:cNvPr id="25" name="Connector 24"/>
          <p:cNvCxnSpPr/>
          <p:nvPr/>
        </p:nvCxnSpPr>
        <p:spPr>
          <a:xfrm>
            <a:off x="75723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6" name="TextBox 25"/>
          <p:cNvSpPr txBox="1"/>
          <p:nvPr/>
        </p:nvSpPr>
        <p:spPr>
          <a:xfrm>
            <a:off x="76295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Moves tracked</a:t>
            </a:r>
          </a:p>
        </p:txBody>
      </p:sp>
      <p:sp>
        <p:nvSpPr>
          <p:cNvPr id="27" name="TextBox 26"/>
          <p:cNvSpPr txBox="1"/>
          <p:nvPr/>
        </p:nvSpPr>
        <p:spPr>
          <a:xfrm>
            <a:off x="76295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40</a:t>
            </a:r>
          </a:p>
        </p:txBody>
      </p:sp>
      <p:cxnSp>
        <p:nvCxnSpPr>
          <p:cNvPr id="28" name="Connector 27"/>
          <p:cNvCxnSpPr/>
          <p:nvPr/>
        </p:nvCxnSpPr>
        <p:spPr>
          <a:xfrm>
            <a:off x="90487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91059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player</a:t>
            </a:r>
          </a:p>
        </p:txBody>
      </p:sp>
      <p:sp>
        <p:nvSpPr>
          <p:cNvPr id="30" name="TextBox 29"/>
          <p:cNvSpPr txBox="1"/>
          <p:nvPr/>
        </p:nvSpPr>
        <p:spPr>
          <a:xfrm>
            <a:off x="91059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Company A</a:t>
            </a:r>
          </a:p>
        </p:txBody>
      </p:sp>
      <p:cxnSp>
        <p:nvCxnSpPr>
          <p:cNvPr id="31" name="Connector 30"/>
          <p:cNvCxnSpPr/>
          <p:nvPr/>
        </p:nvCxnSpPr>
        <p:spPr>
          <a:xfrm>
            <a:off x="105251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105822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sp>
        <p:nvSpPr>
          <p:cNvPr id="33" name="TextBox 32"/>
          <p:cNvSpPr txBox="1"/>
          <p:nvPr/>
        </p:nvSpPr>
        <p:spPr>
          <a:xfrm>
            <a:off x="105822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6.7%</a:t>
            </a:r>
          </a:p>
        </p:txBody>
      </p:sp>
      <p:cxnSp>
        <p:nvCxnSpPr>
          <p:cNvPr id="34" name="Connector 33"/>
          <p:cNvCxnSpPr/>
          <p:nvPr/>
        </p:nvCxnSpPr>
        <p:spPr>
          <a:xfrm>
            <a:off x="190500" y="17335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190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7" name="TextBox 36"/>
          <p:cNvSpPr txBox="1"/>
          <p:nvPr/>
        </p:nvSpPr>
        <p:spPr>
          <a:xfrm>
            <a:off x="495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Leadership is concentrated in value, spread in capability</a:t>
            </a:r>
          </a:p>
        </p:txBody>
      </p:sp>
      <p:sp>
        <p:nvSpPr>
          <p:cNvPr id="38" name="TextBox 37"/>
          <p:cNvSpPr txBox="1"/>
          <p:nvPr/>
        </p:nvSpPr>
        <p:spPr>
          <a:xfrm>
            <a:off x="495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The top three hold 41% of 2026 value, but 3 companies lead the 8 sub-segments tracked; no one leads more than 5.</a:t>
            </a:r>
          </a:p>
        </p:txBody>
      </p:sp>
      <p:sp>
        <p:nvSpPr>
          <p:cNvPr id="39" name="Rectangle 38"/>
          <p:cNvSpPr/>
          <p:nvPr/>
        </p:nvSpPr>
        <p:spPr>
          <a:xfrm>
            <a:off x="190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90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TextBox 40"/>
          <p:cNvSpPr txBox="1"/>
          <p:nvPr/>
        </p:nvSpPr>
        <p:spPr>
          <a:xfrm>
            <a:off x="495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The tier structure is steep</a:t>
            </a:r>
          </a:p>
        </p:txBody>
      </p:sp>
      <p:sp>
        <p:nvSpPr>
          <p:cNvPr id="42" name="TextBox 41"/>
          <p:cNvSpPr txBox="1"/>
          <p:nvPr/>
        </p:nvSpPr>
        <p:spPr>
          <a:xfrm>
            <a:off x="495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Tier 1 (4 players) holds 52.0%; Tier 2 and Tier 3 together hold 32.0%.</a:t>
            </a:r>
          </a:p>
        </p:txBody>
      </p:sp>
      <p:sp>
        <p:nvSpPr>
          <p:cNvPr id="43" name="Rectangle 42"/>
          <p:cNvSpPr/>
          <p:nvPr/>
        </p:nvSpPr>
        <p:spPr>
          <a:xfrm>
            <a:off x="190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90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45" name="TextBox 44"/>
          <p:cNvSpPr txBox="1"/>
          <p:nvPr/>
        </p:nvSpPr>
        <p:spPr>
          <a:xfrm>
            <a:off x="495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Growth is shifting inside the product mix</a:t>
            </a:r>
          </a:p>
        </p:txBody>
      </p:sp>
      <p:sp>
        <p:nvSpPr>
          <p:cNvPr id="46" name="TextBox 45"/>
          <p:cNvSpPr txBox="1"/>
          <p:nvPr/>
        </p:nvSpPr>
        <p:spPr>
          <a:xfrm>
            <a:off x="495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'Styling Serums and Oils' is the largest line; 'Sticks and Balms' compounds fastest at 8.3% CAGR.</a:t>
            </a:r>
          </a:p>
        </p:txBody>
      </p:sp>
      <p:sp>
        <p:nvSpPr>
          <p:cNvPr id="47" name="Rectangle 46"/>
          <p:cNvSpPr/>
          <p:nvPr/>
        </p:nvSpPr>
        <p:spPr>
          <a:xfrm>
            <a:off x="6286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286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49" name="TextBox 48"/>
          <p:cNvSpPr txBox="1"/>
          <p:nvPr/>
        </p:nvSpPr>
        <p:spPr>
          <a:xfrm>
            <a:off x="6591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Reach divides the field</a:t>
            </a:r>
          </a:p>
        </p:txBody>
      </p:sp>
      <p:sp>
        <p:nvSpPr>
          <p:cNvPr id="50" name="TextBox 49"/>
          <p:cNvSpPr txBox="1"/>
          <p:nvPr/>
        </p:nvSpPr>
        <p:spPr>
          <a:xfrm>
            <a:off x="6591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players compete globally, 2 regionally and 2 in one market or niche.</a:t>
            </a:r>
          </a:p>
        </p:txBody>
      </p:sp>
      <p:sp>
        <p:nvSpPr>
          <p:cNvPr id="51" name="Rectangle 50"/>
          <p:cNvSpPr/>
          <p:nvPr/>
        </p:nvSpPr>
        <p:spPr>
          <a:xfrm>
            <a:off x="6286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6286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53" name="TextBox 52"/>
          <p:cNvSpPr txBox="1"/>
          <p:nvPr/>
        </p:nvSpPr>
        <p:spPr>
          <a:xfrm>
            <a:off x="6591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Consolidation is an active lever</a:t>
            </a:r>
          </a:p>
        </p:txBody>
      </p:sp>
      <p:sp>
        <p:nvSpPr>
          <p:cNvPr id="54" name="TextBox 53"/>
          <p:cNvSpPr txBox="1"/>
          <p:nvPr/>
        </p:nvSpPr>
        <p:spPr>
          <a:xfrm>
            <a:off x="6591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is an active strategy at 4 of 8 named players; the independent target list is shrinking.</a:t>
            </a:r>
          </a:p>
        </p:txBody>
      </p:sp>
      <p:sp>
        <p:nvSpPr>
          <p:cNvPr id="55" name="Rectangle 54"/>
          <p:cNvSpPr/>
          <p:nvPr/>
        </p:nvSpPr>
        <p:spPr>
          <a:xfrm>
            <a:off x="6286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6286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6</a:t>
            </a:r>
          </a:p>
        </p:txBody>
      </p:sp>
      <p:sp>
        <p:nvSpPr>
          <p:cNvPr id="57" name="TextBox 56"/>
          <p:cNvSpPr txBox="1"/>
          <p:nvPr/>
        </p:nvSpPr>
        <p:spPr>
          <a:xfrm>
            <a:off x="6591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Success factors, in order</a:t>
            </a:r>
          </a:p>
        </p:txBody>
      </p:sp>
      <p:sp>
        <p:nvSpPr>
          <p:cNvPr id="58" name="TextBox 57"/>
          <p:cNvSpPr txBox="1"/>
          <p:nvPr/>
        </p:nvSpPr>
        <p:spPr>
          <a:xfrm>
            <a:off x="6591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 segment breadth, 2 scale and share, 3 geographic reach, 4 innovation pipeline, 5 strategic momentum.  Ranking leads: Company B, Company A, Company C.</a:t>
            </a:r>
          </a:p>
        </p:txBody>
      </p:sp>
      <p:cxnSp>
        <p:nvCxnSpPr>
          <p:cNvPr id="59" name="Connector 58"/>
          <p:cNvCxnSpPr/>
          <p:nvPr/>
        </p:nvCxnSpPr>
        <p:spPr>
          <a:xfrm>
            <a:off x="190500" y="521970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190500" y="5276850"/>
            <a:ext cx="3810000" cy="152400"/>
          </a:xfrm>
          <a:prstGeom prst="rect">
            <a:avLst/>
          </a:prstGeom>
          <a:noFill/>
        </p:spPr>
        <p:txBody>
          <a:bodyPr wrap="square" lIns="28575" rIns="28575" tIns="9525" bIns="9525" anchor="t">
            <a:spAutoFit/>
          </a:bodyPr>
          <a:lstStyle/>
          <a:p>
            <a:pPr algn="l"/>
            <a:r>
              <a:rPr sz="1100" b="1">
                <a:solidFill>
                  <a:srgbClr val="0F2D52"/>
                </a:solidFill>
                <a:latin typeface="Calibri"/>
              </a:rPr>
              <a:t>HOW THIS SECTION IS BUILT</a:t>
            </a:r>
          </a:p>
        </p:txBody>
      </p:sp>
      <p:sp>
        <p:nvSpPr>
          <p:cNvPr id="61" name="TextBox 60"/>
          <p:cNvSpPr txBox="1"/>
          <p:nvPr/>
        </p:nvSpPr>
        <p:spPr>
          <a:xfrm>
            <a:off x="190500" y="5448300"/>
            <a:ext cx="11811000" cy="5715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Pages 2 to 4 show where the market is and who plays.  Pages 5 to 7 rate every named company on twenty Ps (who they are, what they sell, how they win); a cell reads n/a where no evidence exists.  Page 8 turns the pattern into five success factors and a ranking.  Pages 9 and 10 list what each player is doing and what each of your departments should do about it.</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Segment Leadership Map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Share by player group and which named player leads or is active in each sub-segment, 2026</a:t>
            </a:r>
          </a:p>
        </p:txBody>
      </p:sp>
      <p:sp>
        <p:nvSpPr>
          <p:cNvPr id="10" name="TextBox 9"/>
          <p:cNvSpPr txBox="1"/>
          <p:nvPr/>
        </p:nvSpPr>
        <p:spPr>
          <a:xfrm>
            <a:off x="190500" y="104775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Who holds the market, 2026</a:t>
            </a:r>
          </a:p>
        </p:txBody>
      </p:sp>
      <p:sp>
        <p:nvSpPr>
          <p:cNvPr id="11" name="Rectangle 10"/>
          <p:cNvSpPr/>
          <p:nvPr/>
        </p:nvSpPr>
        <p:spPr>
          <a:xfrm>
            <a:off x="190500" y="1257300"/>
            <a:ext cx="4804315" cy="266700"/>
          </a:xfrm>
          <a:prstGeom prst="rect">
            <a:avLst/>
          </a:prstGeom>
          <a:solidFill>
            <a:srgbClr val="0F2D5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47650" y="1257300"/>
            <a:ext cx="4728115" cy="266700"/>
          </a:xfrm>
          <a:prstGeom prst="rect">
            <a:avLst/>
          </a:prstGeom>
          <a:noFill/>
        </p:spPr>
        <p:txBody>
          <a:bodyPr wrap="square" lIns="28575" rIns="28575" tIns="9525" bIns="9525" anchor="ctr">
            <a:spAutoFit/>
          </a:bodyPr>
          <a:lstStyle/>
          <a:p>
            <a:pPr algn="l"/>
            <a:r>
              <a:rPr sz="1100" b="1">
                <a:solidFill>
                  <a:srgbClr val="FFFFFF"/>
                </a:solidFill>
                <a:latin typeface="Calibri"/>
              </a:rPr>
              <a:t>Top 3  41%</a:t>
            </a:r>
          </a:p>
        </p:txBody>
      </p:sp>
      <p:sp>
        <p:nvSpPr>
          <p:cNvPr id="13" name="Rectangle 12"/>
          <p:cNvSpPr/>
          <p:nvPr/>
        </p:nvSpPr>
        <p:spPr>
          <a:xfrm>
            <a:off x="4994815" y="1257300"/>
            <a:ext cx="1636451" cy="266700"/>
          </a:xfrm>
          <a:prstGeom prst="rect">
            <a:avLst/>
          </a:prstGeom>
          <a:solidFill>
            <a:srgbClr val="1F6FA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5051965" y="1257300"/>
            <a:ext cx="1560251" cy="266700"/>
          </a:xfrm>
          <a:prstGeom prst="rect">
            <a:avLst/>
          </a:prstGeom>
          <a:noFill/>
        </p:spPr>
        <p:txBody>
          <a:bodyPr wrap="square" lIns="28575" rIns="28575" tIns="9525" bIns="9525" anchor="ctr">
            <a:spAutoFit/>
          </a:bodyPr>
          <a:lstStyle/>
          <a:p>
            <a:pPr algn="l"/>
            <a:r>
              <a:rPr sz="1100" b="1">
                <a:solidFill>
                  <a:srgbClr val="FFFFFF"/>
                </a:solidFill>
                <a:latin typeface="Calibri"/>
              </a:rPr>
              <a:t>Rest of top 5  14%</a:t>
            </a:r>
          </a:p>
        </p:txBody>
      </p:sp>
      <p:sp>
        <p:nvSpPr>
          <p:cNvPr id="15" name="Rectangle 14"/>
          <p:cNvSpPr/>
          <p:nvPr/>
        </p:nvSpPr>
        <p:spPr>
          <a:xfrm>
            <a:off x="6631266" y="1257300"/>
            <a:ext cx="1847696" cy="266700"/>
          </a:xfrm>
          <a:prstGeom prst="rect">
            <a:avLst/>
          </a:prstGeom>
          <a:solidFill>
            <a:srgbClr val="6FA0CF"/>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688416" y="1257300"/>
            <a:ext cx="1771496" cy="266700"/>
          </a:xfrm>
          <a:prstGeom prst="rect">
            <a:avLst/>
          </a:prstGeom>
          <a:noFill/>
        </p:spPr>
        <p:txBody>
          <a:bodyPr wrap="square" lIns="28575" rIns="28575" tIns="9525" bIns="9525" anchor="ctr">
            <a:spAutoFit/>
          </a:bodyPr>
          <a:lstStyle/>
          <a:p>
            <a:pPr algn="l"/>
            <a:r>
              <a:rPr sz="1100" b="1">
                <a:solidFill>
                  <a:srgbClr val="FFFFFF"/>
                </a:solidFill>
                <a:latin typeface="Calibri"/>
              </a:rPr>
              <a:t>Emerging  16%</a:t>
            </a:r>
          </a:p>
        </p:txBody>
      </p:sp>
      <p:sp>
        <p:nvSpPr>
          <p:cNvPr id="17" name="Rectangle 16"/>
          <p:cNvSpPr/>
          <p:nvPr/>
        </p:nvSpPr>
        <p:spPr>
          <a:xfrm>
            <a:off x="8478962" y="1257300"/>
            <a:ext cx="3522538" cy="266700"/>
          </a:xfrm>
          <a:prstGeom prst="rect">
            <a:avLst/>
          </a:prstGeom>
          <a:solidFill>
            <a:srgbClr val="A9C6E3"/>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536112" y="1257300"/>
            <a:ext cx="3446338" cy="266700"/>
          </a:xfrm>
          <a:prstGeom prst="rect">
            <a:avLst/>
          </a:prstGeom>
          <a:noFill/>
        </p:spPr>
        <p:txBody>
          <a:bodyPr wrap="square" lIns="28575" rIns="28575" tIns="9525" bIns="9525" anchor="ctr">
            <a:spAutoFit/>
          </a:bodyPr>
          <a:lstStyle/>
          <a:p>
            <a:pPr algn="l"/>
            <a:r>
              <a:rPr sz="1100" b="1">
                <a:solidFill>
                  <a:srgbClr val="0F2D52"/>
                </a:solidFill>
                <a:latin typeface="Calibri"/>
              </a:rPr>
              <a:t>Others  30%</a:t>
            </a:r>
          </a:p>
        </p:txBody>
      </p:sp>
      <p:sp>
        <p:nvSpPr>
          <p:cNvPr id="19" name="Rectangle 18"/>
          <p:cNvSpPr/>
          <p:nvPr/>
        </p:nvSpPr>
        <p:spPr>
          <a:xfrm>
            <a:off x="190500" y="1600200"/>
            <a:ext cx="85725" cy="857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3143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Company A, Company B, Company C</a:t>
            </a:r>
          </a:p>
        </p:txBody>
      </p:sp>
      <p:sp>
        <p:nvSpPr>
          <p:cNvPr id="21" name="Rectangle 20"/>
          <p:cNvSpPr/>
          <p:nvPr/>
        </p:nvSpPr>
        <p:spPr>
          <a:xfrm>
            <a:off x="3143250" y="1600200"/>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32670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Company D, Company E</a:t>
            </a:r>
          </a:p>
        </p:txBody>
      </p:sp>
      <p:sp>
        <p:nvSpPr>
          <p:cNvPr id="23" name="Rectangle 22"/>
          <p:cNvSpPr/>
          <p:nvPr/>
        </p:nvSpPr>
        <p:spPr>
          <a:xfrm>
            <a:off x="6096000" y="1600200"/>
            <a:ext cx="85725" cy="85725"/>
          </a:xfrm>
          <a:prstGeom prst="rect">
            <a:avLst/>
          </a:prstGeom>
          <a:solidFill>
            <a:srgbClr val="6FA0C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2198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Company F, Company G, Company H</a:t>
            </a:r>
          </a:p>
        </p:txBody>
      </p:sp>
      <p:sp>
        <p:nvSpPr>
          <p:cNvPr id="25" name="Rectangle 24"/>
          <p:cNvSpPr/>
          <p:nvPr/>
        </p:nvSpPr>
        <p:spPr>
          <a:xfrm>
            <a:off x="9048750" y="1600200"/>
            <a:ext cx="85725" cy="857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91725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Long tail of regional and niche suppliers</a:t>
            </a:r>
          </a:p>
        </p:txBody>
      </p:sp>
      <p:cxnSp>
        <p:nvCxnSpPr>
          <p:cNvPr id="27" name="Connector 26"/>
          <p:cNvCxnSpPr/>
          <p:nvPr/>
        </p:nvCxnSpPr>
        <p:spPr>
          <a:xfrm>
            <a:off x="190500" y="19240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190500" y="1981200"/>
            <a:ext cx="8572500" cy="171450"/>
          </a:xfrm>
          <a:prstGeom prst="rect">
            <a:avLst/>
          </a:prstGeom>
          <a:noFill/>
        </p:spPr>
        <p:txBody>
          <a:bodyPr wrap="square" lIns="28575" rIns="28575" tIns="9525" bIns="9525" anchor="t">
            <a:spAutoFit/>
          </a:bodyPr>
          <a:lstStyle/>
          <a:p>
            <a:pPr algn="l"/>
            <a:r>
              <a:rPr sz="1100" b="1">
                <a:solidFill>
                  <a:srgbClr val="0F2D52"/>
                </a:solidFill>
                <a:latin typeface="Calibri"/>
              </a:rPr>
              <a:t>Who leads which sub-segment, 2026  (full = leader, half = active)</a:t>
            </a:r>
          </a:p>
        </p:txBody>
      </p:sp>
      <p:sp>
        <p:nvSpPr>
          <p:cNvPr id="29" name="TextBox 28"/>
          <p:cNvSpPr txBox="1"/>
          <p:nvPr/>
        </p:nvSpPr>
        <p:spPr>
          <a:xfrm>
            <a:off x="21145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Styling Serums and Oils</a:t>
            </a:r>
          </a:p>
        </p:txBody>
      </p:sp>
      <p:sp>
        <p:nvSpPr>
          <p:cNvPr id="30" name="TextBox 29"/>
          <p:cNvSpPr txBox="1"/>
          <p:nvPr/>
        </p:nvSpPr>
        <p:spPr>
          <a:xfrm>
            <a:off x="33528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Waxes, Clays, Pastes and Pomades</a:t>
            </a:r>
          </a:p>
        </p:txBody>
      </p:sp>
      <p:sp>
        <p:nvSpPr>
          <p:cNvPr id="31" name="TextBox 30"/>
          <p:cNvSpPr txBox="1"/>
          <p:nvPr/>
        </p:nvSpPr>
        <p:spPr>
          <a:xfrm>
            <a:off x="45910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Sprays and Mists</a:t>
            </a:r>
          </a:p>
        </p:txBody>
      </p:sp>
      <p:sp>
        <p:nvSpPr>
          <p:cNvPr id="32" name="TextBox 31"/>
          <p:cNvSpPr txBox="1"/>
          <p:nvPr/>
        </p:nvSpPr>
        <p:spPr>
          <a:xfrm>
            <a:off x="58293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Sticks and Balms</a:t>
            </a:r>
          </a:p>
        </p:txBody>
      </p:sp>
      <p:sp>
        <p:nvSpPr>
          <p:cNvPr id="33" name="TextBox 32"/>
          <p:cNvSpPr txBox="1"/>
          <p:nvPr/>
        </p:nvSpPr>
        <p:spPr>
          <a:xfrm>
            <a:off x="70675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Mass Retail</a:t>
            </a:r>
          </a:p>
        </p:txBody>
      </p:sp>
      <p:sp>
        <p:nvSpPr>
          <p:cNvPr id="34" name="TextBox 33"/>
          <p:cNvSpPr txBox="1"/>
          <p:nvPr/>
        </p:nvSpPr>
        <p:spPr>
          <a:xfrm>
            <a:off x="83058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Online Marketplaces</a:t>
            </a:r>
          </a:p>
        </p:txBody>
      </p:sp>
      <p:sp>
        <p:nvSpPr>
          <p:cNvPr id="35" name="TextBox 34"/>
          <p:cNvSpPr txBox="1"/>
          <p:nvPr/>
        </p:nvSpPr>
        <p:spPr>
          <a:xfrm>
            <a:off x="95440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Salon and Professional Distribution</a:t>
            </a:r>
          </a:p>
        </p:txBody>
      </p:sp>
      <p:sp>
        <p:nvSpPr>
          <p:cNvPr id="36" name="TextBox 35"/>
          <p:cNvSpPr txBox="1"/>
          <p:nvPr/>
        </p:nvSpPr>
        <p:spPr>
          <a:xfrm>
            <a:off x="107823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Beauty Specialty Retail</a:t>
            </a:r>
          </a:p>
        </p:txBody>
      </p:sp>
      <p:cxnSp>
        <p:nvCxnSpPr>
          <p:cNvPr id="37" name="Connector 36"/>
          <p:cNvCxnSpPr/>
          <p:nvPr/>
        </p:nvCxnSpPr>
        <p:spPr>
          <a:xfrm>
            <a:off x="190500" y="2609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190500" y="2638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85750" y="26289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A</a:t>
            </a:r>
          </a:p>
        </p:txBody>
      </p:sp>
      <p:sp>
        <p:nvSpPr>
          <p:cNvPr id="40" name="TextBox 39"/>
          <p:cNvSpPr txBox="1"/>
          <p:nvPr/>
        </p:nvSpPr>
        <p:spPr>
          <a:xfrm>
            <a:off x="285750" y="27908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1" name="Oval 40"/>
          <p:cNvSpPr/>
          <p:nvPr/>
        </p:nvSpPr>
        <p:spPr>
          <a:xfrm>
            <a:off x="2638425"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Freeform 41"/>
          <p:cNvSpPr/>
          <p:nvPr/>
        </p:nvSpPr>
        <p:spPr>
          <a:xfrm>
            <a:off x="2714625" y="2705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387667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Oval 43"/>
          <p:cNvSpPr/>
          <p:nvPr/>
        </p:nvSpPr>
        <p:spPr>
          <a:xfrm>
            <a:off x="511492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635317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7591425"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reeform 46"/>
          <p:cNvSpPr/>
          <p:nvPr/>
        </p:nvSpPr>
        <p:spPr>
          <a:xfrm>
            <a:off x="7667625" y="2705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Oval 47"/>
          <p:cNvSpPr/>
          <p:nvPr/>
        </p:nvSpPr>
        <p:spPr>
          <a:xfrm>
            <a:off x="8829675"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Freeform 48"/>
          <p:cNvSpPr/>
          <p:nvPr/>
        </p:nvSpPr>
        <p:spPr>
          <a:xfrm>
            <a:off x="8905875" y="2705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Oval 49"/>
          <p:cNvSpPr/>
          <p:nvPr/>
        </p:nvSpPr>
        <p:spPr>
          <a:xfrm>
            <a:off x="1006792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1130617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2" name="Connector 51"/>
          <p:cNvCxnSpPr/>
          <p:nvPr/>
        </p:nvCxnSpPr>
        <p:spPr>
          <a:xfrm>
            <a:off x="190500" y="2952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3" name="Rectangle 52"/>
          <p:cNvSpPr/>
          <p:nvPr/>
        </p:nvSpPr>
        <p:spPr>
          <a:xfrm>
            <a:off x="190500" y="2981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285750" y="29718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B</a:t>
            </a:r>
          </a:p>
        </p:txBody>
      </p:sp>
      <p:sp>
        <p:nvSpPr>
          <p:cNvPr id="55" name="TextBox 54"/>
          <p:cNvSpPr txBox="1"/>
          <p:nvPr/>
        </p:nvSpPr>
        <p:spPr>
          <a:xfrm>
            <a:off x="285750" y="31337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6" name="Oval 55"/>
          <p:cNvSpPr/>
          <p:nvPr/>
        </p:nvSpPr>
        <p:spPr>
          <a:xfrm>
            <a:off x="26384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Freeform 56"/>
          <p:cNvSpPr/>
          <p:nvPr/>
        </p:nvSpPr>
        <p:spPr>
          <a:xfrm>
            <a:off x="271462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Oval 57"/>
          <p:cNvSpPr/>
          <p:nvPr/>
        </p:nvSpPr>
        <p:spPr>
          <a:xfrm>
            <a:off x="387667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reeform 58"/>
          <p:cNvSpPr/>
          <p:nvPr/>
        </p:nvSpPr>
        <p:spPr>
          <a:xfrm>
            <a:off x="395287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Oval 59"/>
          <p:cNvSpPr/>
          <p:nvPr/>
        </p:nvSpPr>
        <p:spPr>
          <a:xfrm>
            <a:off x="51149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Freeform 60"/>
          <p:cNvSpPr/>
          <p:nvPr/>
        </p:nvSpPr>
        <p:spPr>
          <a:xfrm>
            <a:off x="519112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Oval 61"/>
          <p:cNvSpPr/>
          <p:nvPr/>
        </p:nvSpPr>
        <p:spPr>
          <a:xfrm>
            <a:off x="635317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Oval 62"/>
          <p:cNvSpPr/>
          <p:nvPr/>
        </p:nvSpPr>
        <p:spPr>
          <a:xfrm>
            <a:off x="75914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Freeform 63"/>
          <p:cNvSpPr/>
          <p:nvPr/>
        </p:nvSpPr>
        <p:spPr>
          <a:xfrm>
            <a:off x="766762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Oval 64"/>
          <p:cNvSpPr/>
          <p:nvPr/>
        </p:nvSpPr>
        <p:spPr>
          <a:xfrm>
            <a:off x="8829675" y="3048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Oval 65"/>
          <p:cNvSpPr/>
          <p:nvPr/>
        </p:nvSpPr>
        <p:spPr>
          <a:xfrm>
            <a:off x="100679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Freeform 66"/>
          <p:cNvSpPr/>
          <p:nvPr/>
        </p:nvSpPr>
        <p:spPr>
          <a:xfrm>
            <a:off x="1014412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130617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138237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0" name="Connector 69"/>
          <p:cNvCxnSpPr/>
          <p:nvPr/>
        </p:nvCxnSpPr>
        <p:spPr>
          <a:xfrm>
            <a:off x="190500" y="3295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1" name="Rectangle 70"/>
          <p:cNvSpPr/>
          <p:nvPr/>
        </p:nvSpPr>
        <p:spPr>
          <a:xfrm>
            <a:off x="190500" y="3324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285750" y="33147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C</a:t>
            </a:r>
          </a:p>
        </p:txBody>
      </p:sp>
      <p:sp>
        <p:nvSpPr>
          <p:cNvPr id="73" name="TextBox 72"/>
          <p:cNvSpPr txBox="1"/>
          <p:nvPr/>
        </p:nvSpPr>
        <p:spPr>
          <a:xfrm>
            <a:off x="285750" y="34766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74" name="Oval 73"/>
          <p:cNvSpPr/>
          <p:nvPr/>
        </p:nvSpPr>
        <p:spPr>
          <a:xfrm>
            <a:off x="2638425"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Oval 74"/>
          <p:cNvSpPr/>
          <p:nvPr/>
        </p:nvSpPr>
        <p:spPr>
          <a:xfrm>
            <a:off x="38766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Oval 75"/>
          <p:cNvSpPr/>
          <p:nvPr/>
        </p:nvSpPr>
        <p:spPr>
          <a:xfrm>
            <a:off x="511492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reeform 76"/>
          <p:cNvSpPr/>
          <p:nvPr/>
        </p:nvSpPr>
        <p:spPr>
          <a:xfrm>
            <a:off x="519112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Oval 77"/>
          <p:cNvSpPr/>
          <p:nvPr/>
        </p:nvSpPr>
        <p:spPr>
          <a:xfrm>
            <a:off x="63531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Freeform 78"/>
          <p:cNvSpPr/>
          <p:nvPr/>
        </p:nvSpPr>
        <p:spPr>
          <a:xfrm>
            <a:off x="642937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Oval 79"/>
          <p:cNvSpPr/>
          <p:nvPr/>
        </p:nvSpPr>
        <p:spPr>
          <a:xfrm>
            <a:off x="7591425"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Oval 80"/>
          <p:cNvSpPr/>
          <p:nvPr/>
        </p:nvSpPr>
        <p:spPr>
          <a:xfrm>
            <a:off x="88296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Freeform 81"/>
          <p:cNvSpPr/>
          <p:nvPr/>
        </p:nvSpPr>
        <p:spPr>
          <a:xfrm>
            <a:off x="890587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Oval 82"/>
          <p:cNvSpPr/>
          <p:nvPr/>
        </p:nvSpPr>
        <p:spPr>
          <a:xfrm>
            <a:off x="1006792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Freeform 83"/>
          <p:cNvSpPr/>
          <p:nvPr/>
        </p:nvSpPr>
        <p:spPr>
          <a:xfrm>
            <a:off x="1014412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Oval 84"/>
          <p:cNvSpPr/>
          <p:nvPr/>
        </p:nvSpPr>
        <p:spPr>
          <a:xfrm>
            <a:off x="113061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Freeform 85"/>
          <p:cNvSpPr/>
          <p:nvPr/>
        </p:nvSpPr>
        <p:spPr>
          <a:xfrm>
            <a:off x="1138237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7" name="Connector 86"/>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8" name="Rectangle 87"/>
          <p:cNvSpPr/>
          <p:nvPr/>
        </p:nvSpPr>
        <p:spPr>
          <a:xfrm>
            <a:off x="190500" y="3667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285750" y="36576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D</a:t>
            </a:r>
          </a:p>
        </p:txBody>
      </p:sp>
      <p:sp>
        <p:nvSpPr>
          <p:cNvPr id="90" name="TextBox 89"/>
          <p:cNvSpPr txBox="1"/>
          <p:nvPr/>
        </p:nvSpPr>
        <p:spPr>
          <a:xfrm>
            <a:off x="285750" y="38195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91" name="Oval 90"/>
          <p:cNvSpPr/>
          <p:nvPr/>
        </p:nvSpPr>
        <p:spPr>
          <a:xfrm>
            <a:off x="26384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Oval 91"/>
          <p:cNvSpPr/>
          <p:nvPr/>
        </p:nvSpPr>
        <p:spPr>
          <a:xfrm>
            <a:off x="38766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Freeform 92"/>
          <p:cNvSpPr/>
          <p:nvPr/>
        </p:nvSpPr>
        <p:spPr>
          <a:xfrm>
            <a:off x="395287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Oval 93"/>
          <p:cNvSpPr/>
          <p:nvPr/>
        </p:nvSpPr>
        <p:spPr>
          <a:xfrm>
            <a:off x="51149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Oval 94"/>
          <p:cNvSpPr/>
          <p:nvPr/>
        </p:nvSpPr>
        <p:spPr>
          <a:xfrm>
            <a:off x="63531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642937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75914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Freeform 97"/>
          <p:cNvSpPr/>
          <p:nvPr/>
        </p:nvSpPr>
        <p:spPr>
          <a:xfrm>
            <a:off x="766762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Oval 98"/>
          <p:cNvSpPr/>
          <p:nvPr/>
        </p:nvSpPr>
        <p:spPr>
          <a:xfrm>
            <a:off x="88296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Freeform 99"/>
          <p:cNvSpPr/>
          <p:nvPr/>
        </p:nvSpPr>
        <p:spPr>
          <a:xfrm>
            <a:off x="890587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Oval 100"/>
          <p:cNvSpPr/>
          <p:nvPr/>
        </p:nvSpPr>
        <p:spPr>
          <a:xfrm>
            <a:off x="100679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Oval 101"/>
          <p:cNvSpPr/>
          <p:nvPr/>
        </p:nvSpPr>
        <p:spPr>
          <a:xfrm>
            <a:off x="113061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3" name="Connector 102"/>
          <p:cNvCxnSpPr/>
          <p:nvPr/>
        </p:nvCxnSpPr>
        <p:spPr>
          <a:xfrm>
            <a:off x="190500" y="3981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4" name="Rectangle 103"/>
          <p:cNvSpPr/>
          <p:nvPr/>
        </p:nvSpPr>
        <p:spPr>
          <a:xfrm>
            <a:off x="190500" y="4010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85750" y="40005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E</a:t>
            </a:r>
          </a:p>
        </p:txBody>
      </p:sp>
      <p:sp>
        <p:nvSpPr>
          <p:cNvPr id="106" name="TextBox 105"/>
          <p:cNvSpPr txBox="1"/>
          <p:nvPr/>
        </p:nvSpPr>
        <p:spPr>
          <a:xfrm>
            <a:off x="285750" y="41624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107" name="Oval 106"/>
          <p:cNvSpPr/>
          <p:nvPr/>
        </p:nvSpPr>
        <p:spPr>
          <a:xfrm>
            <a:off x="26384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27146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38766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Freeform 109"/>
          <p:cNvSpPr/>
          <p:nvPr/>
        </p:nvSpPr>
        <p:spPr>
          <a:xfrm>
            <a:off x="395287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Oval 110"/>
          <p:cNvSpPr/>
          <p:nvPr/>
        </p:nvSpPr>
        <p:spPr>
          <a:xfrm>
            <a:off x="51149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Oval 111"/>
          <p:cNvSpPr/>
          <p:nvPr/>
        </p:nvSpPr>
        <p:spPr>
          <a:xfrm>
            <a:off x="63531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Freeform 112"/>
          <p:cNvSpPr/>
          <p:nvPr/>
        </p:nvSpPr>
        <p:spPr>
          <a:xfrm>
            <a:off x="642937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Oval 113"/>
          <p:cNvSpPr/>
          <p:nvPr/>
        </p:nvSpPr>
        <p:spPr>
          <a:xfrm>
            <a:off x="75914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Freeform 114"/>
          <p:cNvSpPr/>
          <p:nvPr/>
        </p:nvSpPr>
        <p:spPr>
          <a:xfrm>
            <a:off x="76676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Oval 115"/>
          <p:cNvSpPr/>
          <p:nvPr/>
        </p:nvSpPr>
        <p:spPr>
          <a:xfrm>
            <a:off x="88296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Oval 116"/>
          <p:cNvSpPr/>
          <p:nvPr/>
        </p:nvSpPr>
        <p:spPr>
          <a:xfrm>
            <a:off x="100679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101441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113061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20" name="Connector 119"/>
          <p:cNvCxnSpPr/>
          <p:nvPr/>
        </p:nvCxnSpPr>
        <p:spPr>
          <a:xfrm>
            <a:off x="190500" y="4324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1" name="Rectangle 120"/>
          <p:cNvSpPr/>
          <p:nvPr/>
        </p:nvSpPr>
        <p:spPr>
          <a:xfrm>
            <a:off x="190500" y="4352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285750" y="43434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F</a:t>
            </a:r>
          </a:p>
        </p:txBody>
      </p:sp>
      <p:sp>
        <p:nvSpPr>
          <p:cNvPr id="123" name="TextBox 122"/>
          <p:cNvSpPr txBox="1"/>
          <p:nvPr/>
        </p:nvSpPr>
        <p:spPr>
          <a:xfrm>
            <a:off x="285750" y="45053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124" name="Oval 123"/>
          <p:cNvSpPr/>
          <p:nvPr/>
        </p:nvSpPr>
        <p:spPr>
          <a:xfrm>
            <a:off x="26384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Freeform 124"/>
          <p:cNvSpPr/>
          <p:nvPr/>
        </p:nvSpPr>
        <p:spPr>
          <a:xfrm>
            <a:off x="271462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Oval 125"/>
          <p:cNvSpPr/>
          <p:nvPr/>
        </p:nvSpPr>
        <p:spPr>
          <a:xfrm>
            <a:off x="38766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Freeform 126"/>
          <p:cNvSpPr/>
          <p:nvPr/>
        </p:nvSpPr>
        <p:spPr>
          <a:xfrm>
            <a:off x="395287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Oval 127"/>
          <p:cNvSpPr/>
          <p:nvPr/>
        </p:nvSpPr>
        <p:spPr>
          <a:xfrm>
            <a:off x="51149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Oval 128"/>
          <p:cNvSpPr/>
          <p:nvPr/>
        </p:nvSpPr>
        <p:spPr>
          <a:xfrm>
            <a:off x="63531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Oval 129"/>
          <p:cNvSpPr/>
          <p:nvPr/>
        </p:nvSpPr>
        <p:spPr>
          <a:xfrm>
            <a:off x="75914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Oval 130"/>
          <p:cNvSpPr/>
          <p:nvPr/>
        </p:nvSpPr>
        <p:spPr>
          <a:xfrm>
            <a:off x="88296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Freeform 131"/>
          <p:cNvSpPr/>
          <p:nvPr/>
        </p:nvSpPr>
        <p:spPr>
          <a:xfrm>
            <a:off x="890587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Oval 132"/>
          <p:cNvSpPr/>
          <p:nvPr/>
        </p:nvSpPr>
        <p:spPr>
          <a:xfrm>
            <a:off x="100679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1014412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Oval 134"/>
          <p:cNvSpPr/>
          <p:nvPr/>
        </p:nvSpPr>
        <p:spPr>
          <a:xfrm>
            <a:off x="113061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36" name="Connector 135"/>
          <p:cNvCxnSpPr/>
          <p:nvPr/>
        </p:nvCxnSpPr>
        <p:spPr>
          <a:xfrm>
            <a:off x="190500" y="4667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7" name="Rectangle 136"/>
          <p:cNvSpPr/>
          <p:nvPr/>
        </p:nvSpPr>
        <p:spPr>
          <a:xfrm>
            <a:off x="190500" y="4695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285750" y="46863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G</a:t>
            </a:r>
          </a:p>
        </p:txBody>
      </p:sp>
      <p:sp>
        <p:nvSpPr>
          <p:cNvPr id="139" name="TextBox 138"/>
          <p:cNvSpPr txBox="1"/>
          <p:nvPr/>
        </p:nvSpPr>
        <p:spPr>
          <a:xfrm>
            <a:off x="285750" y="48482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40" name="Oval 139"/>
          <p:cNvSpPr/>
          <p:nvPr/>
        </p:nvSpPr>
        <p:spPr>
          <a:xfrm>
            <a:off x="26384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Freeform 140"/>
          <p:cNvSpPr/>
          <p:nvPr/>
        </p:nvSpPr>
        <p:spPr>
          <a:xfrm>
            <a:off x="271462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Oval 141"/>
          <p:cNvSpPr/>
          <p:nvPr/>
        </p:nvSpPr>
        <p:spPr>
          <a:xfrm>
            <a:off x="38766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Oval 142"/>
          <p:cNvSpPr/>
          <p:nvPr/>
        </p:nvSpPr>
        <p:spPr>
          <a:xfrm>
            <a:off x="51149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Oval 143"/>
          <p:cNvSpPr/>
          <p:nvPr/>
        </p:nvSpPr>
        <p:spPr>
          <a:xfrm>
            <a:off x="63531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Freeform 144"/>
          <p:cNvSpPr/>
          <p:nvPr/>
        </p:nvSpPr>
        <p:spPr>
          <a:xfrm>
            <a:off x="642937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Oval 145"/>
          <p:cNvSpPr/>
          <p:nvPr/>
        </p:nvSpPr>
        <p:spPr>
          <a:xfrm>
            <a:off x="75914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Freeform 146"/>
          <p:cNvSpPr/>
          <p:nvPr/>
        </p:nvSpPr>
        <p:spPr>
          <a:xfrm>
            <a:off x="766762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Oval 147"/>
          <p:cNvSpPr/>
          <p:nvPr/>
        </p:nvSpPr>
        <p:spPr>
          <a:xfrm>
            <a:off x="88296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Freeform 148"/>
          <p:cNvSpPr/>
          <p:nvPr/>
        </p:nvSpPr>
        <p:spPr>
          <a:xfrm>
            <a:off x="890587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Oval 149"/>
          <p:cNvSpPr/>
          <p:nvPr/>
        </p:nvSpPr>
        <p:spPr>
          <a:xfrm>
            <a:off x="100679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Oval 150"/>
          <p:cNvSpPr/>
          <p:nvPr/>
        </p:nvSpPr>
        <p:spPr>
          <a:xfrm>
            <a:off x="113061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52" name="Connector 151"/>
          <p:cNvCxnSpPr/>
          <p:nvPr/>
        </p:nvCxnSpPr>
        <p:spPr>
          <a:xfrm>
            <a:off x="190500" y="5010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53" name="Rectangle 152"/>
          <p:cNvSpPr/>
          <p:nvPr/>
        </p:nvSpPr>
        <p:spPr>
          <a:xfrm>
            <a:off x="190500" y="5038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285750" y="50292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H</a:t>
            </a:r>
          </a:p>
        </p:txBody>
      </p:sp>
      <p:sp>
        <p:nvSpPr>
          <p:cNvPr id="155" name="TextBox 154"/>
          <p:cNvSpPr txBox="1"/>
          <p:nvPr/>
        </p:nvSpPr>
        <p:spPr>
          <a:xfrm>
            <a:off x="285750" y="51911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56" name="Oval 155"/>
          <p:cNvSpPr/>
          <p:nvPr/>
        </p:nvSpPr>
        <p:spPr>
          <a:xfrm>
            <a:off x="26384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Oval 156"/>
          <p:cNvSpPr/>
          <p:nvPr/>
        </p:nvSpPr>
        <p:spPr>
          <a:xfrm>
            <a:off x="38766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Freeform 157"/>
          <p:cNvSpPr/>
          <p:nvPr/>
        </p:nvSpPr>
        <p:spPr>
          <a:xfrm>
            <a:off x="395287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Oval 158"/>
          <p:cNvSpPr/>
          <p:nvPr/>
        </p:nvSpPr>
        <p:spPr>
          <a:xfrm>
            <a:off x="51149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Oval 159"/>
          <p:cNvSpPr/>
          <p:nvPr/>
        </p:nvSpPr>
        <p:spPr>
          <a:xfrm>
            <a:off x="63531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Freeform 160"/>
          <p:cNvSpPr/>
          <p:nvPr/>
        </p:nvSpPr>
        <p:spPr>
          <a:xfrm>
            <a:off x="642937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Oval 161"/>
          <p:cNvSpPr/>
          <p:nvPr/>
        </p:nvSpPr>
        <p:spPr>
          <a:xfrm>
            <a:off x="75914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Freeform 162"/>
          <p:cNvSpPr/>
          <p:nvPr/>
        </p:nvSpPr>
        <p:spPr>
          <a:xfrm>
            <a:off x="766762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Oval 163"/>
          <p:cNvSpPr/>
          <p:nvPr/>
        </p:nvSpPr>
        <p:spPr>
          <a:xfrm>
            <a:off x="88296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Oval 164"/>
          <p:cNvSpPr/>
          <p:nvPr/>
        </p:nvSpPr>
        <p:spPr>
          <a:xfrm>
            <a:off x="100679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Freeform 165"/>
          <p:cNvSpPr/>
          <p:nvPr/>
        </p:nvSpPr>
        <p:spPr>
          <a:xfrm>
            <a:off x="1014412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Oval 166"/>
          <p:cNvSpPr/>
          <p:nvPr/>
        </p:nvSpPr>
        <p:spPr>
          <a:xfrm>
            <a:off x="113061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68" name="Connector 167"/>
          <p:cNvCxnSpPr/>
          <p:nvPr/>
        </p:nvCxnSpPr>
        <p:spPr>
          <a:xfrm>
            <a:off x="190500" y="5353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69" name="Rectangle 168"/>
          <p:cNvSpPr/>
          <p:nvPr/>
        </p:nvSpPr>
        <p:spPr>
          <a:xfrm>
            <a:off x="190500" y="5438775"/>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TextBox 169"/>
          <p:cNvSpPr txBox="1"/>
          <p:nvPr/>
        </p:nvSpPr>
        <p:spPr>
          <a:xfrm>
            <a:off x="314325" y="53911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1</a:t>
            </a:r>
          </a:p>
        </p:txBody>
      </p:sp>
      <p:sp>
        <p:nvSpPr>
          <p:cNvPr id="171" name="Rectangle 170"/>
          <p:cNvSpPr/>
          <p:nvPr/>
        </p:nvSpPr>
        <p:spPr>
          <a:xfrm>
            <a:off x="847725" y="5438775"/>
            <a:ext cx="85725" cy="85725"/>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971550" y="53911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2</a:t>
            </a:r>
          </a:p>
        </p:txBody>
      </p:sp>
      <p:sp>
        <p:nvSpPr>
          <p:cNvPr id="173" name="Rectangle 172"/>
          <p:cNvSpPr/>
          <p:nvPr/>
        </p:nvSpPr>
        <p:spPr>
          <a:xfrm>
            <a:off x="1504950" y="5438775"/>
            <a:ext cx="85725" cy="85725"/>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TextBox 173"/>
          <p:cNvSpPr txBox="1"/>
          <p:nvPr/>
        </p:nvSpPr>
        <p:spPr>
          <a:xfrm>
            <a:off x="1628775" y="53911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3</a:t>
            </a:r>
          </a:p>
        </p:txBody>
      </p:sp>
      <p:sp>
        <p:nvSpPr>
          <p:cNvPr id="175" name="TextBox 174"/>
          <p:cNvSpPr txBox="1"/>
          <p:nvPr/>
        </p:nvSpPr>
        <p:spPr>
          <a:xfrm>
            <a:off x="190500" y="56007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76" name="TextBox 175"/>
          <p:cNvSpPr txBox="1"/>
          <p:nvPr/>
        </p:nvSpPr>
        <p:spPr>
          <a:xfrm>
            <a:off x="190500" y="57531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Read across a row to see breadth; down a column to see contestability.  'Mass Retail' is the most contested column (7 players active); 'Sprays and Mists' is the most open (3).</a:t>
            </a:r>
          </a:p>
        </p:txBody>
      </p:sp>
      <p:sp>
        <p:nvSpPr>
          <p:cNvPr id="177" name="TextBox 1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Value Chain Positioning of Leading Players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How the market is organised by product type and end use, and who leads at each stage</a:t>
            </a:r>
          </a:p>
        </p:txBody>
      </p:sp>
      <p:sp>
        <p:nvSpPr>
          <p:cNvPr id="10" name="TextBox 9"/>
          <p:cNvSpPr txBox="1"/>
          <p:nvPr/>
        </p:nvSpPr>
        <p:spPr>
          <a:xfrm>
            <a:off x="2476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1" name="TextBox 10"/>
          <p:cNvSpPr txBox="1"/>
          <p:nvPr/>
        </p:nvSpPr>
        <p:spPr>
          <a:xfrm>
            <a:off x="247650" y="1238250"/>
            <a:ext cx="2266950" cy="228600"/>
          </a:xfrm>
          <a:prstGeom prst="rect">
            <a:avLst/>
          </a:prstGeom>
          <a:noFill/>
        </p:spPr>
        <p:txBody>
          <a:bodyPr wrap="square" lIns="28575" rIns="28575" tIns="9525" bIns="9525" anchor="t">
            <a:spAutoFit/>
          </a:bodyPr>
          <a:lstStyle/>
          <a:p>
            <a:pPr algn="l"/>
            <a:r>
              <a:rPr sz="1100" b="1">
                <a:solidFill>
                  <a:srgbClr val="E87722"/>
                </a:solidFill>
                <a:latin typeface="Calibri"/>
              </a:rPr>
              <a:t>41%</a:t>
            </a:r>
          </a:p>
        </p:txBody>
      </p:sp>
      <p:cxnSp>
        <p:nvCxnSpPr>
          <p:cNvPr id="12" name="Connector 11"/>
          <p:cNvCxnSpPr/>
          <p:nvPr/>
        </p:nvCxnSpPr>
        <p:spPr>
          <a:xfrm>
            <a:off x="25527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26098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4" name="TextBox 13"/>
          <p:cNvSpPr txBox="1"/>
          <p:nvPr/>
        </p:nvSpPr>
        <p:spPr>
          <a:xfrm>
            <a:off x="26098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55%</a:t>
            </a:r>
          </a:p>
        </p:txBody>
      </p:sp>
      <p:cxnSp>
        <p:nvCxnSpPr>
          <p:cNvPr id="15" name="Connector 14"/>
          <p:cNvCxnSpPr/>
          <p:nvPr/>
        </p:nvCxnSpPr>
        <p:spPr>
          <a:xfrm>
            <a:off x="49149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49720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Styling Serums and Oils, share</a:t>
            </a:r>
          </a:p>
        </p:txBody>
      </p:sp>
      <p:sp>
        <p:nvSpPr>
          <p:cNvPr id="17" name="TextBox 16"/>
          <p:cNvSpPr txBox="1"/>
          <p:nvPr/>
        </p:nvSpPr>
        <p:spPr>
          <a:xfrm>
            <a:off x="49720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18%</a:t>
            </a:r>
          </a:p>
        </p:txBody>
      </p:sp>
      <p:cxnSp>
        <p:nvCxnSpPr>
          <p:cNvPr id="18" name="Connector 17"/>
          <p:cNvCxnSpPr/>
          <p:nvPr/>
        </p:nvCxnSpPr>
        <p:spPr>
          <a:xfrm>
            <a:off x="72771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73342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Waxes, Clays, Pastes and Pomades, share</a:t>
            </a:r>
          </a:p>
        </p:txBody>
      </p:sp>
      <p:sp>
        <p:nvSpPr>
          <p:cNvPr id="20" name="TextBox 19"/>
          <p:cNvSpPr txBox="1"/>
          <p:nvPr/>
        </p:nvSpPr>
        <p:spPr>
          <a:xfrm>
            <a:off x="73342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17%</a:t>
            </a:r>
          </a:p>
        </p:txBody>
      </p:sp>
      <p:cxnSp>
        <p:nvCxnSpPr>
          <p:cNvPr id="21" name="Connector 20"/>
          <p:cNvCxnSpPr/>
          <p:nvPr/>
        </p:nvCxnSpPr>
        <p:spPr>
          <a:xfrm>
            <a:off x="96393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96964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Sprays and Mists, share</a:t>
            </a:r>
          </a:p>
        </p:txBody>
      </p:sp>
      <p:sp>
        <p:nvSpPr>
          <p:cNvPr id="23" name="TextBox 22"/>
          <p:cNvSpPr txBox="1"/>
          <p:nvPr/>
        </p:nvSpPr>
        <p:spPr>
          <a:xfrm>
            <a:off x="96964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13%</a:t>
            </a:r>
          </a:p>
        </p:txBody>
      </p:sp>
      <p:cxnSp>
        <p:nvCxnSpPr>
          <p:cNvPr id="24" name="Connector 23"/>
          <p:cNvCxnSpPr/>
          <p:nvPr/>
        </p:nvCxnSpPr>
        <p:spPr>
          <a:xfrm>
            <a:off x="190500" y="154305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Rectangle 25"/>
          <p:cNvSpPr/>
          <p:nvPr/>
        </p:nvSpPr>
        <p:spPr>
          <a:xfrm>
            <a:off x="190500"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85750"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1. Styling Serums and Oils</a:t>
            </a:r>
          </a:p>
        </p:txBody>
      </p:sp>
      <p:sp>
        <p:nvSpPr>
          <p:cNvPr id="28" name="TextBox 27"/>
          <p:cNvSpPr txBox="1"/>
          <p:nvPr/>
        </p:nvSpPr>
        <p:spPr>
          <a:xfrm>
            <a:off x="285750" y="1924050"/>
            <a:ext cx="666750" cy="190500"/>
          </a:xfrm>
          <a:prstGeom prst="rect">
            <a:avLst/>
          </a:prstGeom>
          <a:noFill/>
        </p:spPr>
        <p:txBody>
          <a:bodyPr wrap="none" lIns="0" rIns="0" tIns="0" bIns="0" anchor="t">
            <a:spAutoFit/>
          </a:bodyPr>
          <a:lstStyle/>
          <a:p>
            <a:pPr algn="l"/>
            <a:r>
              <a:rPr sz="1100" b="1">
                <a:solidFill>
                  <a:srgbClr val="1F2933"/>
                </a:solidFill>
                <a:latin typeface="Calibri"/>
              </a:rPr>
              <a:t>18%</a:t>
            </a:r>
          </a:p>
        </p:txBody>
      </p:sp>
      <p:sp>
        <p:nvSpPr>
          <p:cNvPr id="29" name="TextBox 28"/>
          <p:cNvSpPr txBox="1"/>
          <p:nvPr/>
        </p:nvSpPr>
        <p:spPr>
          <a:xfrm>
            <a:off x="971550"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30" name="TextBox 29"/>
          <p:cNvSpPr txBox="1"/>
          <p:nvPr/>
        </p:nvSpPr>
        <p:spPr>
          <a:xfrm>
            <a:off x="285750" y="2133600"/>
            <a:ext cx="666750" cy="190500"/>
          </a:xfrm>
          <a:prstGeom prst="rect">
            <a:avLst/>
          </a:prstGeom>
          <a:noFill/>
        </p:spPr>
        <p:txBody>
          <a:bodyPr wrap="none" lIns="0" rIns="0" tIns="0" bIns="0" anchor="t">
            <a:spAutoFit/>
          </a:bodyPr>
          <a:lstStyle/>
          <a:p>
            <a:pPr algn="l"/>
            <a:r>
              <a:rPr sz="1100" b="0">
                <a:solidFill>
                  <a:srgbClr val="5F6B7A"/>
                </a:solidFill>
                <a:latin typeface="Calibri"/>
              </a:rPr>
              <a:t>7.4%</a:t>
            </a:r>
          </a:p>
        </p:txBody>
      </p:sp>
      <p:sp>
        <p:nvSpPr>
          <p:cNvPr id="31" name="TextBox 30"/>
          <p:cNvSpPr txBox="1"/>
          <p:nvPr/>
        </p:nvSpPr>
        <p:spPr>
          <a:xfrm>
            <a:off x="971550"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32" name="Connector 31"/>
          <p:cNvCxnSpPr/>
          <p:nvPr/>
        </p:nvCxnSpPr>
        <p:spPr>
          <a:xfrm>
            <a:off x="285750"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285750"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34" name="TextBox 33"/>
          <p:cNvSpPr txBox="1"/>
          <p:nvPr/>
        </p:nvSpPr>
        <p:spPr>
          <a:xfrm>
            <a:off x="285750"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Company C</a:t>
            </a:r>
          </a:p>
        </p:txBody>
      </p:sp>
      <p:sp>
        <p:nvSpPr>
          <p:cNvPr id="35" name="TextBox 34"/>
          <p:cNvSpPr txBox="1"/>
          <p:nvPr/>
        </p:nvSpPr>
        <p:spPr>
          <a:xfrm>
            <a:off x="285750"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36" name="TextBox 35"/>
          <p:cNvSpPr txBox="1"/>
          <p:nvPr/>
        </p:nvSpPr>
        <p:spPr>
          <a:xfrm>
            <a:off x="285750"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A</a:t>
            </a:r>
          </a:p>
        </p:txBody>
      </p:sp>
      <p:sp>
        <p:nvSpPr>
          <p:cNvPr id="37" name="TextBox 36"/>
          <p:cNvSpPr txBox="1"/>
          <p:nvPr/>
        </p:nvSpPr>
        <p:spPr>
          <a:xfrm>
            <a:off x="285750"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B</a:t>
            </a:r>
          </a:p>
        </p:txBody>
      </p:sp>
      <p:sp>
        <p:nvSpPr>
          <p:cNvPr id="38" name="TextBox 37"/>
          <p:cNvSpPr txBox="1"/>
          <p:nvPr/>
        </p:nvSpPr>
        <p:spPr>
          <a:xfrm>
            <a:off x="285750"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E</a:t>
            </a:r>
          </a:p>
        </p:txBody>
      </p:sp>
      <p:sp>
        <p:nvSpPr>
          <p:cNvPr id="39" name="TextBox 38"/>
          <p:cNvSpPr txBox="1"/>
          <p:nvPr/>
        </p:nvSpPr>
        <p:spPr>
          <a:xfrm>
            <a:off x="285750"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F</a:t>
            </a:r>
          </a:p>
        </p:txBody>
      </p:sp>
      <p:cxnSp>
        <p:nvCxnSpPr>
          <p:cNvPr id="40" name="Connector 39"/>
          <p:cNvCxnSpPr/>
          <p:nvPr/>
        </p:nvCxnSpPr>
        <p:spPr>
          <a:xfrm>
            <a:off x="285750"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285750"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42" name="TextBox 41"/>
          <p:cNvSpPr txBox="1"/>
          <p:nvPr/>
        </p:nvSpPr>
        <p:spPr>
          <a:xfrm>
            <a:off x="285750"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named players compete here; 'Styling Serums and Oils' adds 3,059 US$ Mn by 2036.</a:t>
            </a:r>
          </a:p>
        </p:txBody>
      </p:sp>
      <p:cxnSp>
        <p:nvCxnSpPr>
          <p:cNvPr id="43" name="Connector 42"/>
          <p:cNvCxnSpPr/>
          <p:nvPr/>
        </p:nvCxnSpPr>
        <p:spPr>
          <a:xfrm>
            <a:off x="2995612"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44" name="Freeform 43"/>
          <p:cNvSpPr/>
          <p:nvPr/>
        </p:nvSpPr>
        <p:spPr>
          <a:xfrm>
            <a:off x="3105150" y="3448050"/>
            <a:ext cx="57150" cy="95250"/>
          </a:xfrm>
          <a:custGeom>
            <a:avLst/>
            <a:gdLst/>
            <a:ahLst/>
            <a:cxnLst/>
            <a:rect l="l" t="t" r="r" b="b"/>
            <a:pathLst>
              <a:path w="6" h="10">
                <a:moveTo>
                  <a:pt x="6"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3205162"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205162"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3300412"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2. Waxes, Clays, Pastes and Pomades</a:t>
            </a:r>
          </a:p>
        </p:txBody>
      </p:sp>
      <p:sp>
        <p:nvSpPr>
          <p:cNvPr id="48" name="TextBox 47"/>
          <p:cNvSpPr txBox="1"/>
          <p:nvPr/>
        </p:nvSpPr>
        <p:spPr>
          <a:xfrm>
            <a:off x="3300412" y="1924050"/>
            <a:ext cx="666750" cy="190500"/>
          </a:xfrm>
          <a:prstGeom prst="rect">
            <a:avLst/>
          </a:prstGeom>
          <a:noFill/>
        </p:spPr>
        <p:txBody>
          <a:bodyPr wrap="none" lIns="0" rIns="0" tIns="0" bIns="0" anchor="t">
            <a:spAutoFit/>
          </a:bodyPr>
          <a:lstStyle/>
          <a:p>
            <a:pPr algn="l"/>
            <a:r>
              <a:rPr sz="1100" b="1">
                <a:solidFill>
                  <a:srgbClr val="1F2933"/>
                </a:solidFill>
                <a:latin typeface="Calibri"/>
              </a:rPr>
              <a:t>17%</a:t>
            </a:r>
          </a:p>
        </p:txBody>
      </p:sp>
      <p:sp>
        <p:nvSpPr>
          <p:cNvPr id="49" name="TextBox 48"/>
          <p:cNvSpPr txBox="1"/>
          <p:nvPr/>
        </p:nvSpPr>
        <p:spPr>
          <a:xfrm>
            <a:off x="3986212"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50" name="TextBox 49"/>
          <p:cNvSpPr txBox="1"/>
          <p:nvPr/>
        </p:nvSpPr>
        <p:spPr>
          <a:xfrm>
            <a:off x="3300412" y="2133600"/>
            <a:ext cx="666750" cy="190500"/>
          </a:xfrm>
          <a:prstGeom prst="rect">
            <a:avLst/>
          </a:prstGeom>
          <a:noFill/>
        </p:spPr>
        <p:txBody>
          <a:bodyPr wrap="none" lIns="0" rIns="0" tIns="0" bIns="0" anchor="t">
            <a:spAutoFit/>
          </a:bodyPr>
          <a:lstStyle/>
          <a:p>
            <a:pPr algn="l"/>
            <a:r>
              <a:rPr sz="1100" b="0">
                <a:solidFill>
                  <a:srgbClr val="5F6B7A"/>
                </a:solidFill>
                <a:latin typeface="Calibri"/>
              </a:rPr>
              <a:t>6.3%</a:t>
            </a:r>
          </a:p>
        </p:txBody>
      </p:sp>
      <p:sp>
        <p:nvSpPr>
          <p:cNvPr id="51" name="TextBox 50"/>
          <p:cNvSpPr txBox="1"/>
          <p:nvPr/>
        </p:nvSpPr>
        <p:spPr>
          <a:xfrm>
            <a:off x="3986212"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52" name="Connector 51"/>
          <p:cNvCxnSpPr/>
          <p:nvPr/>
        </p:nvCxnSpPr>
        <p:spPr>
          <a:xfrm>
            <a:off x="3300412" y="236220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3300412"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54" name="TextBox 53"/>
          <p:cNvSpPr txBox="1"/>
          <p:nvPr/>
        </p:nvSpPr>
        <p:spPr>
          <a:xfrm>
            <a:off x="3300412"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Company A</a:t>
            </a:r>
          </a:p>
        </p:txBody>
      </p:sp>
      <p:sp>
        <p:nvSpPr>
          <p:cNvPr id="55" name="TextBox 54"/>
          <p:cNvSpPr txBox="1"/>
          <p:nvPr/>
        </p:nvSpPr>
        <p:spPr>
          <a:xfrm>
            <a:off x="3300412"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56" name="TextBox 55"/>
          <p:cNvSpPr txBox="1"/>
          <p:nvPr/>
        </p:nvSpPr>
        <p:spPr>
          <a:xfrm>
            <a:off x="3300412"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B</a:t>
            </a:r>
          </a:p>
        </p:txBody>
      </p:sp>
      <p:sp>
        <p:nvSpPr>
          <p:cNvPr id="57" name="TextBox 56"/>
          <p:cNvSpPr txBox="1"/>
          <p:nvPr/>
        </p:nvSpPr>
        <p:spPr>
          <a:xfrm>
            <a:off x="3300412"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D</a:t>
            </a:r>
          </a:p>
        </p:txBody>
      </p:sp>
      <p:sp>
        <p:nvSpPr>
          <p:cNvPr id="58" name="TextBox 57"/>
          <p:cNvSpPr txBox="1"/>
          <p:nvPr/>
        </p:nvSpPr>
        <p:spPr>
          <a:xfrm>
            <a:off x="3300412"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E</a:t>
            </a:r>
          </a:p>
        </p:txBody>
      </p:sp>
      <p:sp>
        <p:nvSpPr>
          <p:cNvPr id="59" name="TextBox 58"/>
          <p:cNvSpPr txBox="1"/>
          <p:nvPr/>
        </p:nvSpPr>
        <p:spPr>
          <a:xfrm>
            <a:off x="3300412"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F</a:t>
            </a:r>
          </a:p>
        </p:txBody>
      </p:sp>
      <p:cxnSp>
        <p:nvCxnSpPr>
          <p:cNvPr id="60" name="Connector 59"/>
          <p:cNvCxnSpPr/>
          <p:nvPr/>
        </p:nvCxnSpPr>
        <p:spPr>
          <a:xfrm>
            <a:off x="3300412" y="443865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3300412"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62" name="TextBox 61"/>
          <p:cNvSpPr txBox="1"/>
          <p:nvPr/>
        </p:nvSpPr>
        <p:spPr>
          <a:xfrm>
            <a:off x="3300412"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named players compete here; 'Waxes, Clays, Pastes and Pomades' adds 2,354 US$ Mn by 2036.</a:t>
            </a:r>
          </a:p>
        </p:txBody>
      </p:sp>
      <p:cxnSp>
        <p:nvCxnSpPr>
          <p:cNvPr id="63" name="Connector 62"/>
          <p:cNvCxnSpPr/>
          <p:nvPr/>
        </p:nvCxnSpPr>
        <p:spPr>
          <a:xfrm>
            <a:off x="6010275"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64" name="Freeform 63"/>
          <p:cNvSpPr/>
          <p:nvPr/>
        </p:nvSpPr>
        <p:spPr>
          <a:xfrm>
            <a:off x="6115050" y="3448050"/>
            <a:ext cx="66675" cy="95250"/>
          </a:xfrm>
          <a:custGeom>
            <a:avLst/>
            <a:gdLst/>
            <a:ahLst/>
            <a:cxnLst/>
            <a:rect l="l" t="t" r="r" b="b"/>
            <a:pathLst>
              <a:path w="7" h="10">
                <a:moveTo>
                  <a:pt x="7"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6219825"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6219825"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6315075"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3. Sprays and Mists</a:t>
            </a:r>
          </a:p>
        </p:txBody>
      </p:sp>
      <p:sp>
        <p:nvSpPr>
          <p:cNvPr id="68" name="TextBox 67"/>
          <p:cNvSpPr txBox="1"/>
          <p:nvPr/>
        </p:nvSpPr>
        <p:spPr>
          <a:xfrm>
            <a:off x="6315075" y="1924050"/>
            <a:ext cx="666750" cy="190500"/>
          </a:xfrm>
          <a:prstGeom prst="rect">
            <a:avLst/>
          </a:prstGeom>
          <a:noFill/>
        </p:spPr>
        <p:txBody>
          <a:bodyPr wrap="none" lIns="0" rIns="0" tIns="0" bIns="0" anchor="t">
            <a:spAutoFit/>
          </a:bodyPr>
          <a:lstStyle/>
          <a:p>
            <a:pPr algn="l"/>
            <a:r>
              <a:rPr sz="1100" b="1">
                <a:solidFill>
                  <a:srgbClr val="1F2933"/>
                </a:solidFill>
                <a:latin typeface="Calibri"/>
              </a:rPr>
              <a:t>13%</a:t>
            </a:r>
          </a:p>
        </p:txBody>
      </p:sp>
      <p:sp>
        <p:nvSpPr>
          <p:cNvPr id="69" name="TextBox 68"/>
          <p:cNvSpPr txBox="1"/>
          <p:nvPr/>
        </p:nvSpPr>
        <p:spPr>
          <a:xfrm>
            <a:off x="7000875"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70" name="TextBox 69"/>
          <p:cNvSpPr txBox="1"/>
          <p:nvPr/>
        </p:nvSpPr>
        <p:spPr>
          <a:xfrm>
            <a:off x="6315075" y="2133600"/>
            <a:ext cx="666750" cy="190500"/>
          </a:xfrm>
          <a:prstGeom prst="rect">
            <a:avLst/>
          </a:prstGeom>
          <a:noFill/>
        </p:spPr>
        <p:txBody>
          <a:bodyPr wrap="none" lIns="0" rIns="0" tIns="0" bIns="0" anchor="t">
            <a:spAutoFit/>
          </a:bodyPr>
          <a:lstStyle/>
          <a:p>
            <a:pPr algn="l"/>
            <a:r>
              <a:rPr sz="1100" b="0">
                <a:solidFill>
                  <a:srgbClr val="5F6B7A"/>
                </a:solidFill>
                <a:latin typeface="Calibri"/>
              </a:rPr>
              <a:t>4.6%</a:t>
            </a:r>
          </a:p>
        </p:txBody>
      </p:sp>
      <p:sp>
        <p:nvSpPr>
          <p:cNvPr id="71" name="TextBox 70"/>
          <p:cNvSpPr txBox="1"/>
          <p:nvPr/>
        </p:nvSpPr>
        <p:spPr>
          <a:xfrm>
            <a:off x="7000875"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72" name="Connector 71"/>
          <p:cNvCxnSpPr/>
          <p:nvPr/>
        </p:nvCxnSpPr>
        <p:spPr>
          <a:xfrm>
            <a:off x="6315075" y="236220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6315075"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74" name="TextBox 73"/>
          <p:cNvSpPr txBox="1"/>
          <p:nvPr/>
        </p:nvSpPr>
        <p:spPr>
          <a:xfrm>
            <a:off x="6315075"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Company A</a:t>
            </a:r>
          </a:p>
        </p:txBody>
      </p:sp>
      <p:sp>
        <p:nvSpPr>
          <p:cNvPr id="75" name="TextBox 74"/>
          <p:cNvSpPr txBox="1"/>
          <p:nvPr/>
        </p:nvSpPr>
        <p:spPr>
          <a:xfrm>
            <a:off x="6315075"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76" name="TextBox 75"/>
          <p:cNvSpPr txBox="1"/>
          <p:nvPr/>
        </p:nvSpPr>
        <p:spPr>
          <a:xfrm>
            <a:off x="6315075"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B</a:t>
            </a:r>
          </a:p>
        </p:txBody>
      </p:sp>
      <p:sp>
        <p:nvSpPr>
          <p:cNvPr id="77" name="TextBox 76"/>
          <p:cNvSpPr txBox="1"/>
          <p:nvPr/>
        </p:nvSpPr>
        <p:spPr>
          <a:xfrm>
            <a:off x="6315075"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C</a:t>
            </a:r>
          </a:p>
        </p:txBody>
      </p:sp>
      <p:cxnSp>
        <p:nvCxnSpPr>
          <p:cNvPr id="78" name="Connector 77"/>
          <p:cNvCxnSpPr/>
          <p:nvPr/>
        </p:nvCxnSpPr>
        <p:spPr>
          <a:xfrm>
            <a:off x="6315075" y="443865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6315075"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80" name="TextBox 79"/>
          <p:cNvSpPr txBox="1"/>
          <p:nvPr/>
        </p:nvSpPr>
        <p:spPr>
          <a:xfrm>
            <a:off x="6315075"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3 named players compete here; 'Sprays and Mists' adds 1,202 US$ Mn by 2036.</a:t>
            </a:r>
          </a:p>
        </p:txBody>
      </p:sp>
      <p:cxnSp>
        <p:nvCxnSpPr>
          <p:cNvPr id="81" name="Connector 80"/>
          <p:cNvCxnSpPr/>
          <p:nvPr/>
        </p:nvCxnSpPr>
        <p:spPr>
          <a:xfrm>
            <a:off x="9024938"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82" name="Freeform 81"/>
          <p:cNvSpPr/>
          <p:nvPr/>
        </p:nvSpPr>
        <p:spPr>
          <a:xfrm>
            <a:off x="9124950" y="3448050"/>
            <a:ext cx="76200" cy="95250"/>
          </a:xfrm>
          <a:custGeom>
            <a:avLst/>
            <a:gdLst/>
            <a:ahLst/>
            <a:cxnLst/>
            <a:rect l="l" t="t" r="r" b="b"/>
            <a:pathLst>
              <a:path w="8" h="10">
                <a:moveTo>
                  <a:pt x="8"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9234488"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9234488"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9329738"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4. Distribution Channel</a:t>
            </a:r>
          </a:p>
        </p:txBody>
      </p:sp>
      <p:sp>
        <p:nvSpPr>
          <p:cNvPr id="86" name="TextBox 85"/>
          <p:cNvSpPr txBox="1"/>
          <p:nvPr/>
        </p:nvSpPr>
        <p:spPr>
          <a:xfrm>
            <a:off x="9329738" y="1924050"/>
            <a:ext cx="2576512" cy="190500"/>
          </a:xfrm>
          <a:prstGeom prst="rect">
            <a:avLst/>
          </a:prstGeom>
          <a:noFill/>
        </p:spPr>
        <p:txBody>
          <a:bodyPr wrap="square" lIns="28575" rIns="28575" tIns="9525" bIns="9525" anchor="t">
            <a:spAutoFit/>
          </a:bodyPr>
          <a:lstStyle/>
          <a:p>
            <a:pPr algn="l"/>
            <a:r>
              <a:rPr sz="1100" b="1">
                <a:solidFill>
                  <a:srgbClr val="1F2933"/>
                </a:solidFill>
                <a:latin typeface="Calibri"/>
              </a:rPr>
              <a:t>By application</a:t>
            </a:r>
          </a:p>
        </p:txBody>
      </p:sp>
      <p:sp>
        <p:nvSpPr>
          <p:cNvPr id="87" name="TextBox 86"/>
          <p:cNvSpPr txBox="1"/>
          <p:nvPr/>
        </p:nvSpPr>
        <p:spPr>
          <a:xfrm>
            <a:off x="9329738" y="2133600"/>
            <a:ext cx="2576512" cy="190500"/>
          </a:xfrm>
          <a:prstGeom prst="rect">
            <a:avLst/>
          </a:prstGeom>
          <a:noFill/>
        </p:spPr>
        <p:txBody>
          <a:bodyPr wrap="square" lIns="28575" rIns="28575" tIns="9525" bIns="9525" anchor="t">
            <a:spAutoFit/>
          </a:bodyPr>
          <a:lstStyle/>
          <a:p>
            <a:pPr algn="l"/>
            <a:r>
              <a:rPr sz="1100" b="0">
                <a:solidFill>
                  <a:srgbClr val="5F6B7A"/>
                </a:solidFill>
                <a:latin typeface="Calibri"/>
              </a:rPr>
              <a:t>Who buys the output.</a:t>
            </a:r>
          </a:p>
        </p:txBody>
      </p:sp>
      <p:cxnSp>
        <p:nvCxnSpPr>
          <p:cNvPr id="88" name="Connector 87"/>
          <p:cNvCxnSpPr/>
          <p:nvPr/>
        </p:nvCxnSpPr>
        <p:spPr>
          <a:xfrm>
            <a:off x="9329738"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89" name="TextBox 88"/>
          <p:cNvSpPr txBox="1"/>
          <p:nvPr/>
        </p:nvSpPr>
        <p:spPr>
          <a:xfrm>
            <a:off x="9329738" y="24193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Mass Retail</a:t>
            </a:r>
          </a:p>
        </p:txBody>
      </p:sp>
      <p:sp>
        <p:nvSpPr>
          <p:cNvPr id="90" name="Rectangle 89"/>
          <p:cNvSpPr/>
          <p:nvPr/>
        </p:nvSpPr>
        <p:spPr>
          <a:xfrm>
            <a:off x="10682288" y="2524125"/>
            <a:ext cx="766762"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11487150" y="2486025"/>
            <a:ext cx="476250" cy="190500"/>
          </a:xfrm>
          <a:prstGeom prst="rect">
            <a:avLst/>
          </a:prstGeom>
          <a:noFill/>
        </p:spPr>
        <p:txBody>
          <a:bodyPr wrap="none" lIns="0" rIns="0" tIns="0" bIns="0" anchor="ctr">
            <a:spAutoFit/>
          </a:bodyPr>
          <a:lstStyle/>
          <a:p>
            <a:pPr algn="l"/>
            <a:r>
              <a:rPr sz="1100" b="1">
                <a:solidFill>
                  <a:srgbClr val="1F2933"/>
                </a:solidFill>
                <a:latin typeface="Calibri"/>
              </a:rPr>
              <a:t>20%</a:t>
            </a:r>
          </a:p>
        </p:txBody>
      </p:sp>
      <p:sp>
        <p:nvSpPr>
          <p:cNvPr id="92" name="TextBox 91"/>
          <p:cNvSpPr txBox="1"/>
          <p:nvPr/>
        </p:nvSpPr>
        <p:spPr>
          <a:xfrm>
            <a:off x="9329738" y="27432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Online Marketplaces</a:t>
            </a:r>
          </a:p>
        </p:txBody>
      </p:sp>
      <p:sp>
        <p:nvSpPr>
          <p:cNvPr id="93" name="Rectangle 92"/>
          <p:cNvSpPr/>
          <p:nvPr/>
        </p:nvSpPr>
        <p:spPr>
          <a:xfrm>
            <a:off x="10682288" y="2847975"/>
            <a:ext cx="719498"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TextBox 93"/>
          <p:cNvSpPr txBox="1"/>
          <p:nvPr/>
        </p:nvSpPr>
        <p:spPr>
          <a:xfrm>
            <a:off x="11439886" y="2809875"/>
            <a:ext cx="476250" cy="190500"/>
          </a:xfrm>
          <a:prstGeom prst="rect">
            <a:avLst/>
          </a:prstGeom>
          <a:noFill/>
        </p:spPr>
        <p:txBody>
          <a:bodyPr wrap="none" lIns="0" rIns="0" tIns="0" bIns="0" anchor="ctr">
            <a:spAutoFit/>
          </a:bodyPr>
          <a:lstStyle/>
          <a:p>
            <a:pPr algn="l"/>
            <a:r>
              <a:rPr sz="1100" b="1">
                <a:solidFill>
                  <a:srgbClr val="1F2933"/>
                </a:solidFill>
                <a:latin typeface="Calibri"/>
              </a:rPr>
              <a:t>18%</a:t>
            </a:r>
          </a:p>
        </p:txBody>
      </p:sp>
      <p:sp>
        <p:nvSpPr>
          <p:cNvPr id="95" name="TextBox 94"/>
          <p:cNvSpPr txBox="1"/>
          <p:nvPr/>
        </p:nvSpPr>
        <p:spPr>
          <a:xfrm>
            <a:off x="9329738" y="30670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Salon and Professional Distribution</a:t>
            </a:r>
          </a:p>
        </p:txBody>
      </p:sp>
      <p:sp>
        <p:nvSpPr>
          <p:cNvPr id="96" name="Rectangle 95"/>
          <p:cNvSpPr/>
          <p:nvPr/>
        </p:nvSpPr>
        <p:spPr>
          <a:xfrm>
            <a:off x="10682288" y="3171825"/>
            <a:ext cx="717771"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11438159" y="3133725"/>
            <a:ext cx="476250" cy="190500"/>
          </a:xfrm>
          <a:prstGeom prst="rect">
            <a:avLst/>
          </a:prstGeom>
          <a:noFill/>
        </p:spPr>
        <p:txBody>
          <a:bodyPr wrap="none" lIns="0" rIns="0" tIns="0" bIns="0" anchor="ctr">
            <a:spAutoFit/>
          </a:bodyPr>
          <a:lstStyle/>
          <a:p>
            <a:pPr algn="l"/>
            <a:r>
              <a:rPr sz="1100" b="1">
                <a:solidFill>
                  <a:srgbClr val="1F2933"/>
                </a:solidFill>
                <a:latin typeface="Calibri"/>
              </a:rPr>
              <a:t>18%</a:t>
            </a:r>
          </a:p>
        </p:txBody>
      </p:sp>
      <p:sp>
        <p:nvSpPr>
          <p:cNvPr id="98" name="TextBox 97"/>
          <p:cNvSpPr txBox="1"/>
          <p:nvPr/>
        </p:nvSpPr>
        <p:spPr>
          <a:xfrm>
            <a:off x="9329738" y="33909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Beauty Specialty Retail</a:t>
            </a:r>
          </a:p>
        </p:txBody>
      </p:sp>
      <p:sp>
        <p:nvSpPr>
          <p:cNvPr id="99" name="Rectangle 98"/>
          <p:cNvSpPr/>
          <p:nvPr/>
        </p:nvSpPr>
        <p:spPr>
          <a:xfrm>
            <a:off x="10682288" y="3495675"/>
            <a:ext cx="606515"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TextBox 99"/>
          <p:cNvSpPr txBox="1"/>
          <p:nvPr/>
        </p:nvSpPr>
        <p:spPr>
          <a:xfrm>
            <a:off x="11326903" y="3457575"/>
            <a:ext cx="476250" cy="190500"/>
          </a:xfrm>
          <a:prstGeom prst="rect">
            <a:avLst/>
          </a:prstGeom>
          <a:noFill/>
        </p:spPr>
        <p:txBody>
          <a:bodyPr wrap="none" lIns="0" rIns="0" tIns="0" bIns="0" anchor="ctr">
            <a:spAutoFit/>
          </a:bodyPr>
          <a:lstStyle/>
          <a:p>
            <a:pPr algn="l"/>
            <a:r>
              <a:rPr sz="1100" b="1">
                <a:solidFill>
                  <a:srgbClr val="1F2933"/>
                </a:solidFill>
                <a:latin typeface="Calibri"/>
              </a:rPr>
              <a:t>16%</a:t>
            </a:r>
          </a:p>
        </p:txBody>
      </p:sp>
      <p:sp>
        <p:nvSpPr>
          <p:cNvPr id="101" name="TextBox 100"/>
          <p:cNvSpPr txBox="1"/>
          <p:nvPr/>
        </p:nvSpPr>
        <p:spPr>
          <a:xfrm>
            <a:off x="9329738" y="37147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Pharmacies and Drugstores</a:t>
            </a:r>
          </a:p>
        </p:txBody>
      </p:sp>
      <p:sp>
        <p:nvSpPr>
          <p:cNvPr id="102" name="Rectangle 101"/>
          <p:cNvSpPr/>
          <p:nvPr/>
        </p:nvSpPr>
        <p:spPr>
          <a:xfrm>
            <a:off x="10682288" y="3819525"/>
            <a:ext cx="585429"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11305816" y="3781425"/>
            <a:ext cx="476250" cy="190500"/>
          </a:xfrm>
          <a:prstGeom prst="rect">
            <a:avLst/>
          </a:prstGeom>
          <a:noFill/>
        </p:spPr>
        <p:txBody>
          <a:bodyPr wrap="none" lIns="0" rIns="0" tIns="0" bIns="0" anchor="ctr">
            <a:spAutoFit/>
          </a:bodyPr>
          <a:lstStyle/>
          <a:p>
            <a:pPr algn="l"/>
            <a:r>
              <a:rPr sz="1100" b="1">
                <a:solidFill>
                  <a:srgbClr val="1F2933"/>
                </a:solidFill>
                <a:latin typeface="Calibri"/>
              </a:rPr>
              <a:t>15%</a:t>
            </a:r>
          </a:p>
        </p:txBody>
      </p:sp>
      <p:sp>
        <p:nvSpPr>
          <p:cNvPr id="104" name="TextBox 103"/>
          <p:cNvSpPr txBox="1"/>
          <p:nvPr/>
        </p:nvSpPr>
        <p:spPr>
          <a:xfrm>
            <a:off x="9329738" y="40386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Brand-owned Online Stores</a:t>
            </a:r>
          </a:p>
        </p:txBody>
      </p:sp>
      <p:sp>
        <p:nvSpPr>
          <p:cNvPr id="105" name="Rectangle 104"/>
          <p:cNvSpPr/>
          <p:nvPr/>
        </p:nvSpPr>
        <p:spPr>
          <a:xfrm>
            <a:off x="10682288" y="4143375"/>
            <a:ext cx="495655"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TextBox 105"/>
          <p:cNvSpPr txBox="1"/>
          <p:nvPr/>
        </p:nvSpPr>
        <p:spPr>
          <a:xfrm>
            <a:off x="11216042" y="4105275"/>
            <a:ext cx="476250" cy="190500"/>
          </a:xfrm>
          <a:prstGeom prst="rect">
            <a:avLst/>
          </a:prstGeom>
          <a:noFill/>
        </p:spPr>
        <p:txBody>
          <a:bodyPr wrap="none" lIns="0" rIns="0" tIns="0" bIns="0" anchor="ctr">
            <a:spAutoFit/>
          </a:bodyPr>
          <a:lstStyle/>
          <a:p>
            <a:pPr algn="l"/>
            <a:r>
              <a:rPr sz="1100" b="1">
                <a:solidFill>
                  <a:srgbClr val="1F2933"/>
                </a:solidFill>
                <a:latin typeface="Calibri"/>
              </a:rPr>
              <a:t>13%</a:t>
            </a:r>
          </a:p>
        </p:txBody>
      </p:sp>
      <p:cxnSp>
        <p:nvCxnSpPr>
          <p:cNvPr id="107" name="Connector 106"/>
          <p:cNvCxnSpPr/>
          <p:nvPr/>
        </p:nvCxnSpPr>
        <p:spPr>
          <a:xfrm>
            <a:off x="9329738"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08" name="TextBox 107"/>
          <p:cNvSpPr txBox="1"/>
          <p:nvPr/>
        </p:nvSpPr>
        <p:spPr>
          <a:xfrm>
            <a:off x="9329738"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109" name="TextBox 108"/>
          <p:cNvSpPr txBox="1"/>
          <p:nvPr/>
        </p:nvSpPr>
        <p:spPr>
          <a:xfrm>
            <a:off x="9329738"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The top two end uses pay for 38% of the market; vendors package for one vertical at a time.</a:t>
            </a:r>
          </a:p>
        </p:txBody>
      </p:sp>
      <p:sp>
        <p:nvSpPr>
          <p:cNvPr id="110" name="Rectangle 109"/>
          <p:cNvSpPr/>
          <p:nvPr/>
        </p:nvSpPr>
        <p:spPr>
          <a:xfrm>
            <a:off x="190500" y="54673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90500" y="5467350"/>
            <a:ext cx="47625" cy="4000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304800" y="5467350"/>
            <a:ext cx="1047750" cy="400050"/>
          </a:xfrm>
          <a:prstGeom prst="rect">
            <a:avLst/>
          </a:prstGeom>
          <a:noFill/>
        </p:spPr>
        <p:txBody>
          <a:bodyPr wrap="square" lIns="28575" rIns="28575" tIns="9525" bIns="9525" anchor="ctr">
            <a:spAutoFit/>
          </a:bodyPr>
          <a:lstStyle/>
          <a:p>
            <a:pPr algn="l"/>
            <a:r>
              <a:rPr sz="1100" b="1">
                <a:solidFill>
                  <a:srgbClr val="0F2D52"/>
                </a:solidFill>
                <a:latin typeface="Calibri"/>
              </a:rPr>
              <a:t>ENABLERS</a:t>
            </a:r>
          </a:p>
        </p:txBody>
      </p:sp>
      <p:sp>
        <p:nvSpPr>
          <p:cNvPr id="113" name="TextBox 112"/>
          <p:cNvSpPr txBox="1"/>
          <p:nvPr/>
        </p:nvSpPr>
        <p:spPr>
          <a:xfrm>
            <a:off x="1428750" y="54673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Sticks and Balms Compounds Fastest Across the Product Format Mix  |  South Asia &amp; Pacific Emerges as the Growth Engine Among Regions  |  Premiumisation Lifts Average Realisation</a:t>
            </a:r>
          </a:p>
        </p:txBody>
      </p:sp>
      <p:sp>
        <p:nvSpPr>
          <p:cNvPr id="114" name="Rectangle 113"/>
          <p:cNvSpPr/>
          <p:nvPr/>
        </p:nvSpPr>
        <p:spPr>
          <a:xfrm>
            <a:off x="190500" y="59245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90500" y="5924550"/>
            <a:ext cx="47625" cy="400050"/>
          </a:xfrm>
          <a:prstGeom prst="rect">
            <a:avLst/>
          </a:prstGeom>
          <a:solidFill>
            <a:srgbClr val="8B1E2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304800" y="5924550"/>
            <a:ext cx="1047750" cy="400050"/>
          </a:xfrm>
          <a:prstGeom prst="rect">
            <a:avLst/>
          </a:prstGeom>
          <a:noFill/>
        </p:spPr>
        <p:txBody>
          <a:bodyPr wrap="square" lIns="28575" rIns="28575" tIns="9525" bIns="9525" anchor="ctr">
            <a:spAutoFit/>
          </a:bodyPr>
          <a:lstStyle/>
          <a:p>
            <a:pPr algn="l"/>
            <a:r>
              <a:rPr sz="1100" b="1">
                <a:solidFill>
                  <a:srgbClr val="8B1E2D"/>
                </a:solidFill>
                <a:latin typeface="Calibri"/>
              </a:rPr>
              <a:t>CONSTRAINTS</a:t>
            </a:r>
          </a:p>
        </p:txBody>
      </p:sp>
      <p:sp>
        <p:nvSpPr>
          <p:cNvPr id="117" name="TextBox 116"/>
          <p:cNvSpPr txBox="1"/>
          <p:nvPr/>
        </p:nvSpPr>
        <p:spPr>
          <a:xfrm>
            <a:off x="1428750" y="59245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Sprays and Mists Lags the Category and Dilutes Blended Growth  |  Uneven Region Performance Caps the Blended Rate  |  Fragmented Demand Raises Cost-to-Serve</a:t>
            </a:r>
          </a:p>
        </p:txBody>
      </p:sp>
      <p:sp>
        <p:nvSpPr>
          <p:cNvPr id="118" name="TextBox 1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Player Landscape by Business Type and Reach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Named players by business type and geographic reach, with how each group competes</a:t>
            </a:r>
          </a:p>
        </p:txBody>
      </p:sp>
      <p:sp>
        <p:nvSpPr>
          <p:cNvPr id="10" name="Rectangle 9"/>
          <p:cNvSpPr/>
          <p:nvPr/>
        </p:nvSpPr>
        <p:spPr>
          <a:xfrm>
            <a:off x="1638300" y="1047750"/>
            <a:ext cx="3422650" cy="2667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17145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1  (4)</a:t>
            </a:r>
          </a:p>
        </p:txBody>
      </p:sp>
      <p:sp>
        <p:nvSpPr>
          <p:cNvPr id="12" name="Rectangle 11"/>
          <p:cNvSpPr/>
          <p:nvPr/>
        </p:nvSpPr>
        <p:spPr>
          <a:xfrm>
            <a:off x="5099050" y="1047750"/>
            <a:ext cx="3422650" cy="2667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517525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2  (2)</a:t>
            </a:r>
          </a:p>
        </p:txBody>
      </p:sp>
      <p:sp>
        <p:nvSpPr>
          <p:cNvPr id="14" name="Rectangle 13"/>
          <p:cNvSpPr/>
          <p:nvPr/>
        </p:nvSpPr>
        <p:spPr>
          <a:xfrm>
            <a:off x="8559800" y="1047750"/>
            <a:ext cx="3422650" cy="2667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86360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3  (2)</a:t>
            </a:r>
          </a:p>
        </p:txBody>
      </p:sp>
      <p:sp>
        <p:nvSpPr>
          <p:cNvPr id="16" name="TextBox 15"/>
          <p:cNvSpPr txBox="1"/>
          <p:nvPr/>
        </p:nvSpPr>
        <p:spPr>
          <a:xfrm>
            <a:off x="190500" y="14097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Global (4)</a:t>
            </a:r>
          </a:p>
        </p:txBody>
      </p:sp>
      <p:sp>
        <p:nvSpPr>
          <p:cNvPr id="17" name="TextBox 16"/>
          <p:cNvSpPr txBox="1"/>
          <p:nvPr/>
        </p:nvSpPr>
        <p:spPr>
          <a:xfrm>
            <a:off x="190500" y="15811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Sells in most major regions</a:t>
            </a:r>
          </a:p>
        </p:txBody>
      </p:sp>
      <p:cxnSp>
        <p:nvCxnSpPr>
          <p:cNvPr id="18" name="Connector 17"/>
          <p:cNvCxnSpPr/>
          <p:nvPr/>
        </p:nvCxnSpPr>
        <p:spPr>
          <a:xfrm>
            <a:off x="1647825" y="13906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733550" y="1447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1733550" y="1438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1" name="TextBox 20"/>
          <p:cNvSpPr txBox="1"/>
          <p:nvPr/>
        </p:nvSpPr>
        <p:spPr>
          <a:xfrm>
            <a:off x="1924050" y="1428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A</a:t>
            </a:r>
          </a:p>
        </p:txBody>
      </p:sp>
      <p:sp>
        <p:nvSpPr>
          <p:cNvPr id="22" name="Rectangle 21"/>
          <p:cNvSpPr/>
          <p:nvPr/>
        </p:nvSpPr>
        <p:spPr>
          <a:xfrm>
            <a:off x="1733550" y="1638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733550" y="1628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4" name="TextBox 23"/>
          <p:cNvSpPr txBox="1"/>
          <p:nvPr/>
        </p:nvSpPr>
        <p:spPr>
          <a:xfrm>
            <a:off x="1924050" y="1619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B</a:t>
            </a:r>
          </a:p>
        </p:txBody>
      </p:sp>
      <p:sp>
        <p:nvSpPr>
          <p:cNvPr id="25" name="Rectangle 24"/>
          <p:cNvSpPr/>
          <p:nvPr/>
        </p:nvSpPr>
        <p:spPr>
          <a:xfrm>
            <a:off x="1733550" y="1828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1733550" y="1819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7" name="TextBox 26"/>
          <p:cNvSpPr txBox="1"/>
          <p:nvPr/>
        </p:nvSpPr>
        <p:spPr>
          <a:xfrm>
            <a:off x="1924050" y="1809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C</a:t>
            </a:r>
          </a:p>
        </p:txBody>
      </p:sp>
      <p:sp>
        <p:nvSpPr>
          <p:cNvPr id="28" name="Rectangle 27"/>
          <p:cNvSpPr/>
          <p:nvPr/>
        </p:nvSpPr>
        <p:spPr>
          <a:xfrm>
            <a:off x="1733550" y="2019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733550" y="2009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0" name="TextBox 29"/>
          <p:cNvSpPr txBox="1"/>
          <p:nvPr/>
        </p:nvSpPr>
        <p:spPr>
          <a:xfrm>
            <a:off x="1924050" y="2000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D</a:t>
            </a:r>
          </a:p>
        </p:txBody>
      </p:sp>
      <p:cxnSp>
        <p:nvCxnSpPr>
          <p:cNvPr id="31" name="Connector 30"/>
          <p:cNvCxnSpPr/>
          <p:nvPr/>
        </p:nvCxnSpPr>
        <p:spPr>
          <a:xfrm>
            <a:off x="5108575" y="13906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8569325" y="13906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90500" y="24384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Regional (2)</a:t>
            </a:r>
          </a:p>
        </p:txBody>
      </p:sp>
      <p:sp>
        <p:nvSpPr>
          <p:cNvPr id="34" name="TextBox 33"/>
          <p:cNvSpPr txBox="1"/>
          <p:nvPr/>
        </p:nvSpPr>
        <p:spPr>
          <a:xfrm>
            <a:off x="190500" y="26098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Strong in one or two regions</a:t>
            </a:r>
          </a:p>
        </p:txBody>
      </p:sp>
      <p:cxnSp>
        <p:nvCxnSpPr>
          <p:cNvPr id="35" name="Connector 34"/>
          <p:cNvCxnSpPr/>
          <p:nvPr/>
        </p:nvCxnSpPr>
        <p:spPr>
          <a:xfrm>
            <a:off x="190500" y="24003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1647825" y="24193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5108575" y="24193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5194300" y="24765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5194300" y="24669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0" name="TextBox 39"/>
          <p:cNvSpPr txBox="1"/>
          <p:nvPr/>
        </p:nvSpPr>
        <p:spPr>
          <a:xfrm>
            <a:off x="5384800" y="24574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Company E</a:t>
            </a:r>
          </a:p>
        </p:txBody>
      </p:sp>
      <p:sp>
        <p:nvSpPr>
          <p:cNvPr id="41" name="Rectangle 40"/>
          <p:cNvSpPr/>
          <p:nvPr/>
        </p:nvSpPr>
        <p:spPr>
          <a:xfrm>
            <a:off x="5194300" y="26670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5194300" y="26574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3" name="TextBox 42"/>
          <p:cNvSpPr txBox="1"/>
          <p:nvPr/>
        </p:nvSpPr>
        <p:spPr>
          <a:xfrm>
            <a:off x="5384800" y="26479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Company F</a:t>
            </a:r>
          </a:p>
        </p:txBody>
      </p:sp>
      <p:cxnSp>
        <p:nvCxnSpPr>
          <p:cNvPr id="44" name="Connector 43"/>
          <p:cNvCxnSpPr/>
          <p:nvPr/>
        </p:nvCxnSpPr>
        <p:spPr>
          <a:xfrm>
            <a:off x="8569325" y="24193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45" name="TextBox 44"/>
          <p:cNvSpPr txBox="1"/>
          <p:nvPr/>
        </p:nvSpPr>
        <p:spPr>
          <a:xfrm>
            <a:off x="190500" y="34671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Local or niche (2)</a:t>
            </a:r>
          </a:p>
        </p:txBody>
      </p:sp>
      <p:sp>
        <p:nvSpPr>
          <p:cNvPr id="46" name="TextBox 45"/>
          <p:cNvSpPr txBox="1"/>
          <p:nvPr/>
        </p:nvSpPr>
        <p:spPr>
          <a:xfrm>
            <a:off x="190500" y="36385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One market or one specialist use</a:t>
            </a:r>
          </a:p>
        </p:txBody>
      </p:sp>
      <p:cxnSp>
        <p:nvCxnSpPr>
          <p:cNvPr id="47" name="Connector 46"/>
          <p:cNvCxnSpPr/>
          <p:nvPr/>
        </p:nvCxnSpPr>
        <p:spPr>
          <a:xfrm>
            <a:off x="190500" y="34290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647825" y="34480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5108575" y="34480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8569325" y="34480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8655050" y="35052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655050" y="34956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3" name="TextBox 52"/>
          <p:cNvSpPr txBox="1"/>
          <p:nvPr/>
        </p:nvSpPr>
        <p:spPr>
          <a:xfrm>
            <a:off x="8845550" y="34861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Company G</a:t>
            </a:r>
          </a:p>
        </p:txBody>
      </p:sp>
      <p:sp>
        <p:nvSpPr>
          <p:cNvPr id="54" name="Rectangle 53"/>
          <p:cNvSpPr/>
          <p:nvPr/>
        </p:nvSpPr>
        <p:spPr>
          <a:xfrm>
            <a:off x="8655050" y="36957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55050" y="36861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6" name="TextBox 55"/>
          <p:cNvSpPr txBox="1"/>
          <p:nvPr/>
        </p:nvSpPr>
        <p:spPr>
          <a:xfrm>
            <a:off x="8845550" y="36766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Company H</a:t>
            </a:r>
          </a:p>
        </p:txBody>
      </p:sp>
      <p:sp>
        <p:nvSpPr>
          <p:cNvPr id="57" name="Rectangle 56"/>
          <p:cNvSpPr/>
          <p:nvPr/>
        </p:nvSpPr>
        <p:spPr>
          <a:xfrm>
            <a:off x="190500" y="4524375"/>
            <a:ext cx="123825" cy="1238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3619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1</a:t>
            </a:r>
          </a:p>
        </p:txBody>
      </p:sp>
      <p:sp>
        <p:nvSpPr>
          <p:cNvPr id="59" name="TextBox 58"/>
          <p:cNvSpPr txBox="1"/>
          <p:nvPr/>
        </p:nvSpPr>
        <p:spPr>
          <a:xfrm>
            <a:off x="8191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52.0%</a:t>
            </a:r>
          </a:p>
        </p:txBody>
      </p:sp>
      <p:sp>
        <p:nvSpPr>
          <p:cNvPr id="60" name="TextBox 59"/>
          <p:cNvSpPr txBox="1"/>
          <p:nvPr/>
        </p:nvSpPr>
        <p:spPr>
          <a:xfrm>
            <a:off x="14478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61" name="Rectangle 60"/>
          <p:cNvSpPr/>
          <p:nvPr/>
        </p:nvSpPr>
        <p:spPr>
          <a:xfrm>
            <a:off x="2952750" y="4524375"/>
            <a:ext cx="123825" cy="1238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12420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2</a:t>
            </a:r>
          </a:p>
        </p:txBody>
      </p:sp>
      <p:sp>
        <p:nvSpPr>
          <p:cNvPr id="63" name="TextBox 62"/>
          <p:cNvSpPr txBox="1"/>
          <p:nvPr/>
        </p:nvSpPr>
        <p:spPr>
          <a:xfrm>
            <a:off x="358140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22.0%</a:t>
            </a:r>
          </a:p>
        </p:txBody>
      </p:sp>
      <p:sp>
        <p:nvSpPr>
          <p:cNvPr id="64" name="TextBox 63"/>
          <p:cNvSpPr txBox="1"/>
          <p:nvPr/>
        </p:nvSpPr>
        <p:spPr>
          <a:xfrm>
            <a:off x="421005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65" name="Rectangle 64"/>
          <p:cNvSpPr/>
          <p:nvPr/>
        </p:nvSpPr>
        <p:spPr>
          <a:xfrm>
            <a:off x="5715000" y="4524375"/>
            <a:ext cx="123825" cy="1238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58864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3</a:t>
            </a:r>
          </a:p>
        </p:txBody>
      </p:sp>
      <p:sp>
        <p:nvSpPr>
          <p:cNvPr id="67" name="TextBox 66"/>
          <p:cNvSpPr txBox="1"/>
          <p:nvPr/>
        </p:nvSpPr>
        <p:spPr>
          <a:xfrm>
            <a:off x="63436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10.0%</a:t>
            </a:r>
          </a:p>
        </p:txBody>
      </p:sp>
      <p:sp>
        <p:nvSpPr>
          <p:cNvPr id="68" name="TextBox 67"/>
          <p:cNvSpPr txBox="1"/>
          <p:nvPr/>
        </p:nvSpPr>
        <p:spPr>
          <a:xfrm>
            <a:off x="69723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69" name="TextBox 68"/>
          <p:cNvSpPr txBox="1"/>
          <p:nvPr/>
        </p:nvSpPr>
        <p:spPr>
          <a:xfrm>
            <a:off x="190500" y="4705350"/>
            <a:ext cx="11811000" cy="171450"/>
          </a:xfrm>
          <a:prstGeom prst="rect">
            <a:avLst/>
          </a:prstGeom>
          <a:noFill/>
        </p:spPr>
        <p:txBody>
          <a:bodyPr wrap="square" lIns="28575" rIns="28575" tIns="9525" bIns="9525" anchor="t">
            <a:spAutoFit/>
          </a:bodyPr>
          <a:lstStyle/>
          <a:p>
            <a:pPr algn="l"/>
            <a:r>
              <a:rPr sz="1100" b="0">
                <a:solidFill>
                  <a:srgbClr val="1F2933"/>
                </a:solidFill>
                <a:latin typeface="Calibri"/>
              </a:rPr>
              <a:t>BY TYPE   Tier 1 4   |   Tier 2 2   |   Tier 3 2      BY REACH   Global 4   |   Regional 2   |   Local or niche 2</a:t>
            </a:r>
          </a:p>
        </p:txBody>
      </p:sp>
      <p:sp>
        <p:nvSpPr>
          <p:cNvPr id="70" name="Rectangle 69"/>
          <p:cNvSpPr/>
          <p:nvPr/>
        </p:nvSpPr>
        <p:spPr>
          <a:xfrm>
            <a:off x="190500" y="4972050"/>
            <a:ext cx="2809875" cy="38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19050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72" name="TextBox 71"/>
          <p:cNvSpPr txBox="1"/>
          <p:nvPr/>
        </p:nvSpPr>
        <p:spPr>
          <a:xfrm>
            <a:off x="19050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73" name="TextBox 72"/>
          <p:cNvSpPr txBox="1"/>
          <p:nvPr/>
        </p:nvSpPr>
        <p:spPr>
          <a:xfrm>
            <a:off x="19050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Direct + key accounts; premium / bundled positioning.</a:t>
            </a:r>
          </a:p>
        </p:txBody>
      </p:sp>
      <p:sp>
        <p:nvSpPr>
          <p:cNvPr id="74" name="TextBox 73"/>
          <p:cNvSpPr txBox="1"/>
          <p:nvPr/>
        </p:nvSpPr>
        <p:spPr>
          <a:xfrm>
            <a:off x="19050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75" name="TextBox 74"/>
          <p:cNvSpPr txBox="1"/>
          <p:nvPr/>
        </p:nvSpPr>
        <p:spPr>
          <a:xfrm>
            <a:off x="19050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Launch-led growth; 47.6% combined share.</a:t>
            </a:r>
          </a:p>
        </p:txBody>
      </p:sp>
      <p:sp>
        <p:nvSpPr>
          <p:cNvPr id="76" name="Rectangle 75"/>
          <p:cNvSpPr/>
          <p:nvPr/>
        </p:nvSpPr>
        <p:spPr>
          <a:xfrm>
            <a:off x="3190875" y="4972050"/>
            <a:ext cx="2809875" cy="38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3190875"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78" name="TextBox 77"/>
          <p:cNvSpPr txBox="1"/>
          <p:nvPr/>
        </p:nvSpPr>
        <p:spPr>
          <a:xfrm>
            <a:off x="3190875"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79" name="TextBox 78"/>
          <p:cNvSpPr txBox="1"/>
          <p:nvPr/>
        </p:nvSpPr>
        <p:spPr>
          <a:xfrm>
            <a:off x="3190875"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Distributors; mid / value-added positioning.</a:t>
            </a:r>
          </a:p>
        </p:txBody>
      </p:sp>
      <p:sp>
        <p:nvSpPr>
          <p:cNvPr id="80" name="TextBox 79"/>
          <p:cNvSpPr txBox="1"/>
          <p:nvPr/>
        </p:nvSpPr>
        <p:spPr>
          <a:xfrm>
            <a:off x="3190875"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1" name="TextBox 80"/>
          <p:cNvSpPr txBox="1"/>
          <p:nvPr/>
        </p:nvSpPr>
        <p:spPr>
          <a:xfrm>
            <a:off x="3190875"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Launch-led growth; 13.7% combined share.</a:t>
            </a:r>
          </a:p>
        </p:txBody>
      </p:sp>
      <p:sp>
        <p:nvSpPr>
          <p:cNvPr id="82" name="Rectangle 81"/>
          <p:cNvSpPr/>
          <p:nvPr/>
        </p:nvSpPr>
        <p:spPr>
          <a:xfrm>
            <a:off x="6191250" y="4972050"/>
            <a:ext cx="2809875" cy="38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619125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84" name="TextBox 83"/>
          <p:cNvSpPr txBox="1"/>
          <p:nvPr/>
        </p:nvSpPr>
        <p:spPr>
          <a:xfrm>
            <a:off x="619125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85" name="TextBox 84"/>
          <p:cNvSpPr txBox="1"/>
          <p:nvPr/>
        </p:nvSpPr>
        <p:spPr>
          <a:xfrm>
            <a:off x="619125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Regional partners; value / entry positioning.</a:t>
            </a:r>
          </a:p>
        </p:txBody>
      </p:sp>
      <p:sp>
        <p:nvSpPr>
          <p:cNvPr id="86" name="TextBox 85"/>
          <p:cNvSpPr txBox="1"/>
          <p:nvPr/>
        </p:nvSpPr>
        <p:spPr>
          <a:xfrm>
            <a:off x="619125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7" name="TextBox 86"/>
          <p:cNvSpPr txBox="1"/>
          <p:nvPr/>
        </p:nvSpPr>
        <p:spPr>
          <a:xfrm>
            <a:off x="619125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Launch-led growth; 8.8% combined share.</a:t>
            </a:r>
          </a:p>
        </p:txBody>
      </p:sp>
      <p:sp>
        <p:nvSpPr>
          <p:cNvPr id="88" name="TextBox 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Corporate Scorecard: Who They Are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Eight corporate Ps for every named competitor: ownership, strategy, breadth, presence, scale and performance</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1, CORPORATE: WHO THEY ARE</a:t>
            </a:r>
          </a:p>
        </p:txBody>
      </p:sp>
      <p:sp>
        <p:nvSpPr>
          <p:cNvPr id="12" name="TextBox 11"/>
          <p:cNvSpPr txBox="1"/>
          <p:nvPr/>
        </p:nvSpPr>
        <p:spPr>
          <a:xfrm>
            <a:off x="2038350" y="1295400"/>
            <a:ext cx="2305050"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Parent and ownership</a:t>
            </a:r>
          </a:p>
        </p:txBody>
      </p:sp>
      <p:sp>
        <p:nvSpPr>
          <p:cNvPr id="13" name="TextBox 12"/>
          <p:cNvSpPr txBox="1"/>
          <p:nvPr/>
        </p:nvSpPr>
        <p:spPr>
          <a:xfrm>
            <a:off x="2038350" y="1657350"/>
            <a:ext cx="2305050"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From the company roster</a:t>
            </a:r>
          </a:p>
        </p:txBody>
      </p:sp>
      <p:sp>
        <p:nvSpPr>
          <p:cNvPr id="14" name="TextBox 13"/>
          <p:cNvSpPr txBox="1"/>
          <p:nvPr/>
        </p:nvSpPr>
        <p:spPr>
          <a:xfrm>
            <a:off x="4419600" y="1295400"/>
            <a:ext cx="1193800"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Purpose (strategy)</a:t>
            </a:r>
          </a:p>
        </p:txBody>
      </p:sp>
      <p:sp>
        <p:nvSpPr>
          <p:cNvPr id="15" name="TextBox 14"/>
          <p:cNvSpPr txBox="1"/>
          <p:nvPr/>
        </p:nvSpPr>
        <p:spPr>
          <a:xfrm>
            <a:off x="4419600" y="1657350"/>
            <a:ext cx="1193800"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Dominant active move</a:t>
            </a:r>
          </a:p>
        </p:txBody>
      </p:sp>
      <p:sp>
        <p:nvSpPr>
          <p:cNvPr id="16" name="TextBox 15"/>
          <p:cNvSpPr txBox="1"/>
          <p:nvPr/>
        </p:nvSpPr>
        <p:spPr>
          <a:xfrm>
            <a:off x="5689600"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Portfolio breadth</a:t>
            </a:r>
          </a:p>
        </p:txBody>
      </p:sp>
      <p:sp>
        <p:nvSpPr>
          <p:cNvPr id="17" name="TextBox 16"/>
          <p:cNvSpPr txBox="1"/>
          <p:nvPr/>
        </p:nvSpPr>
        <p:spPr>
          <a:xfrm>
            <a:off x="5689600"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Sub-segments: 6+ 3, 4+ 2, 2+ 1</a:t>
            </a:r>
          </a:p>
        </p:txBody>
      </p:sp>
      <p:sp>
        <p:nvSpPr>
          <p:cNvPr id="18" name="TextBox 17"/>
          <p:cNvSpPr txBox="1"/>
          <p:nvPr/>
        </p:nvSpPr>
        <p:spPr>
          <a:xfrm>
            <a:off x="6747933"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Presence</a:t>
            </a:r>
          </a:p>
        </p:txBody>
      </p:sp>
      <p:sp>
        <p:nvSpPr>
          <p:cNvPr id="19" name="TextBox 18"/>
          <p:cNvSpPr txBox="1"/>
          <p:nvPr/>
        </p:nvSpPr>
        <p:spPr>
          <a:xfrm>
            <a:off x="6747933"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3, regional 2, local 1</a:t>
            </a:r>
          </a:p>
        </p:txBody>
      </p:sp>
      <p:sp>
        <p:nvSpPr>
          <p:cNvPr id="20" name="TextBox 19"/>
          <p:cNvSpPr txBox="1"/>
          <p:nvPr/>
        </p:nvSpPr>
        <p:spPr>
          <a:xfrm>
            <a:off x="7806267"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Power (scale)</a:t>
            </a:r>
          </a:p>
        </p:txBody>
      </p:sp>
      <p:sp>
        <p:nvSpPr>
          <p:cNvPr id="21" name="TextBox 20"/>
          <p:cNvSpPr txBox="1"/>
          <p:nvPr/>
        </p:nvSpPr>
        <p:spPr>
          <a:xfrm>
            <a:off x="7806267"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1 = 3, 2 = 2, 3 = 1</a:t>
            </a:r>
          </a:p>
        </p:txBody>
      </p:sp>
      <p:sp>
        <p:nvSpPr>
          <p:cNvPr id="22" name="TextBox 21"/>
          <p:cNvSpPr txBox="1"/>
          <p:nvPr/>
        </p:nvSpPr>
        <p:spPr>
          <a:xfrm>
            <a:off x="8864600"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Performance</a:t>
            </a:r>
          </a:p>
        </p:txBody>
      </p:sp>
      <p:sp>
        <p:nvSpPr>
          <p:cNvPr id="23" name="TextBox 22"/>
          <p:cNvSpPr txBox="1"/>
          <p:nvPr/>
        </p:nvSpPr>
        <p:spPr>
          <a:xfrm>
            <a:off x="8864600"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Share 10%+ = 3, 5-10% = 2, else 1</a:t>
            </a:r>
          </a:p>
        </p:txBody>
      </p:sp>
      <p:sp>
        <p:nvSpPr>
          <p:cNvPr id="24" name="TextBox 23"/>
          <p:cNvSpPr txBox="1"/>
          <p:nvPr/>
        </p:nvSpPr>
        <p:spPr>
          <a:xfrm>
            <a:off x="9922933"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People</a:t>
            </a:r>
          </a:p>
        </p:txBody>
      </p:sp>
      <p:sp>
        <p:nvSpPr>
          <p:cNvPr id="25" name="TextBox 24"/>
          <p:cNvSpPr txBox="1"/>
          <p:nvPr/>
        </p:nvSpPr>
        <p:spPr>
          <a:xfrm>
            <a:off x="9922933"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Talent; not assessed</a:t>
            </a:r>
          </a:p>
        </p:txBody>
      </p:sp>
      <p:sp>
        <p:nvSpPr>
          <p:cNvPr id="26" name="TextBox 25"/>
          <p:cNvSpPr txBox="1"/>
          <p:nvPr/>
        </p:nvSpPr>
        <p:spPr>
          <a:xfrm>
            <a:off x="10981267"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Partnerships</a:t>
            </a:r>
          </a:p>
        </p:txBody>
      </p:sp>
      <p:sp>
        <p:nvSpPr>
          <p:cNvPr id="27" name="TextBox 26"/>
          <p:cNvSpPr txBox="1"/>
          <p:nvPr/>
        </p:nvSpPr>
        <p:spPr>
          <a:xfrm>
            <a:off x="10981267"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alliances</a:t>
            </a:r>
          </a:p>
        </p:txBody>
      </p:sp>
      <p:cxnSp>
        <p:nvCxnSpPr>
          <p:cNvPr id="28" name="Connector 27"/>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A</a:t>
            </a:r>
          </a:p>
        </p:txBody>
      </p:sp>
      <p:sp>
        <p:nvSpPr>
          <p:cNvPr id="31" name="TextBox 30"/>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2" name="TextBox 31"/>
          <p:cNvSpPr txBox="1"/>
          <p:nvPr/>
        </p:nvSpPr>
        <p:spPr>
          <a:xfrm>
            <a:off x="2000250" y="22288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33" name="TextBox 32"/>
          <p:cNvSpPr txBox="1"/>
          <p:nvPr/>
        </p:nvSpPr>
        <p:spPr>
          <a:xfrm>
            <a:off x="4419600" y="22288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34" name="Oval 33"/>
          <p:cNvSpPr/>
          <p:nvPr/>
        </p:nvSpPr>
        <p:spPr>
          <a:xfrm>
            <a:off x="6104467"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7162800"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8221133"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9279467"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9884833" y="22288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39" name="TextBox 38"/>
          <p:cNvSpPr txBox="1"/>
          <p:nvPr/>
        </p:nvSpPr>
        <p:spPr>
          <a:xfrm>
            <a:off x="10943167" y="22288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40" name="Connector 39"/>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B</a:t>
            </a:r>
          </a:p>
        </p:txBody>
      </p:sp>
      <p:sp>
        <p:nvSpPr>
          <p:cNvPr id="43" name="TextBox 42"/>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4" name="TextBox 43"/>
          <p:cNvSpPr txBox="1"/>
          <p:nvPr/>
        </p:nvSpPr>
        <p:spPr>
          <a:xfrm>
            <a:off x="2000250" y="25717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45" name="TextBox 44"/>
          <p:cNvSpPr txBox="1"/>
          <p:nvPr/>
        </p:nvSpPr>
        <p:spPr>
          <a:xfrm>
            <a:off x="4419600" y="25717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46" name="Oval 45"/>
          <p:cNvSpPr/>
          <p:nvPr/>
        </p:nvSpPr>
        <p:spPr>
          <a:xfrm>
            <a:off x="6104467"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7162800"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Oval 47"/>
          <p:cNvSpPr/>
          <p:nvPr/>
        </p:nvSpPr>
        <p:spPr>
          <a:xfrm>
            <a:off x="8221133"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9279467"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884833" y="25717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51" name="TextBox 50"/>
          <p:cNvSpPr txBox="1"/>
          <p:nvPr/>
        </p:nvSpPr>
        <p:spPr>
          <a:xfrm>
            <a:off x="10943167" y="25717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52" name="Connector 51"/>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3" name="Rectangle 52"/>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C</a:t>
            </a:r>
          </a:p>
        </p:txBody>
      </p:sp>
      <p:sp>
        <p:nvSpPr>
          <p:cNvPr id="55" name="TextBox 54"/>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6" name="TextBox 55"/>
          <p:cNvSpPr txBox="1"/>
          <p:nvPr/>
        </p:nvSpPr>
        <p:spPr>
          <a:xfrm>
            <a:off x="2000250" y="29146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57" name="TextBox 56"/>
          <p:cNvSpPr txBox="1"/>
          <p:nvPr/>
        </p:nvSpPr>
        <p:spPr>
          <a:xfrm>
            <a:off x="4419600" y="29146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58" name="Oval 57"/>
          <p:cNvSpPr/>
          <p:nvPr/>
        </p:nvSpPr>
        <p:spPr>
          <a:xfrm>
            <a:off x="6104467"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Oval 58"/>
          <p:cNvSpPr/>
          <p:nvPr/>
        </p:nvSpPr>
        <p:spPr>
          <a:xfrm>
            <a:off x="7162800"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Oval 59"/>
          <p:cNvSpPr/>
          <p:nvPr/>
        </p:nvSpPr>
        <p:spPr>
          <a:xfrm>
            <a:off x="8221133"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Oval 60"/>
          <p:cNvSpPr/>
          <p:nvPr/>
        </p:nvSpPr>
        <p:spPr>
          <a:xfrm>
            <a:off x="9279467"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reeform 61"/>
          <p:cNvSpPr/>
          <p:nvPr/>
        </p:nvSpPr>
        <p:spPr>
          <a:xfrm>
            <a:off x="9353550"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9884833" y="29146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64" name="TextBox 63"/>
          <p:cNvSpPr txBox="1"/>
          <p:nvPr/>
        </p:nvSpPr>
        <p:spPr>
          <a:xfrm>
            <a:off x="10943167" y="29146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65" name="Connector 64"/>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D</a:t>
            </a:r>
          </a:p>
        </p:txBody>
      </p:sp>
      <p:sp>
        <p:nvSpPr>
          <p:cNvPr id="68" name="TextBox 67"/>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9" name="TextBox 68"/>
          <p:cNvSpPr txBox="1"/>
          <p:nvPr/>
        </p:nvSpPr>
        <p:spPr>
          <a:xfrm>
            <a:off x="2000250" y="32575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70" name="TextBox 69"/>
          <p:cNvSpPr txBox="1"/>
          <p:nvPr/>
        </p:nvSpPr>
        <p:spPr>
          <a:xfrm>
            <a:off x="4419600" y="32575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71" name="Oval 70"/>
          <p:cNvSpPr/>
          <p:nvPr/>
        </p:nvSpPr>
        <p:spPr>
          <a:xfrm>
            <a:off x="6104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Freeform 71"/>
          <p:cNvSpPr/>
          <p:nvPr/>
        </p:nvSpPr>
        <p:spPr>
          <a:xfrm>
            <a:off x="6181725" y="3352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Oval 72"/>
          <p:cNvSpPr/>
          <p:nvPr/>
        </p:nvSpPr>
        <p:spPr>
          <a:xfrm>
            <a:off x="7162800"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8221133"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Oval 74"/>
          <p:cNvSpPr/>
          <p:nvPr/>
        </p:nvSpPr>
        <p:spPr>
          <a:xfrm>
            <a:off x="9279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Freeform 75"/>
          <p:cNvSpPr/>
          <p:nvPr/>
        </p:nvSpPr>
        <p:spPr>
          <a:xfrm>
            <a:off x="9353550"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9884833" y="32575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78" name="TextBox 77"/>
          <p:cNvSpPr txBox="1"/>
          <p:nvPr/>
        </p:nvSpPr>
        <p:spPr>
          <a:xfrm>
            <a:off x="10943167" y="32575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79" name="Connector 78"/>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0" name="Rectangle 79"/>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E</a:t>
            </a:r>
          </a:p>
        </p:txBody>
      </p:sp>
      <p:sp>
        <p:nvSpPr>
          <p:cNvPr id="82" name="TextBox 81"/>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3" name="TextBox 82"/>
          <p:cNvSpPr txBox="1"/>
          <p:nvPr/>
        </p:nvSpPr>
        <p:spPr>
          <a:xfrm>
            <a:off x="2000250" y="36004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84" name="TextBox 83"/>
          <p:cNvSpPr txBox="1"/>
          <p:nvPr/>
        </p:nvSpPr>
        <p:spPr>
          <a:xfrm>
            <a:off x="4419600" y="36004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85" name="Oval 84"/>
          <p:cNvSpPr/>
          <p:nvPr/>
        </p:nvSpPr>
        <p:spPr>
          <a:xfrm>
            <a:off x="6104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Freeform 85"/>
          <p:cNvSpPr/>
          <p:nvPr/>
        </p:nvSpPr>
        <p:spPr>
          <a:xfrm>
            <a:off x="618172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Oval 86"/>
          <p:cNvSpPr/>
          <p:nvPr/>
        </p:nvSpPr>
        <p:spPr>
          <a:xfrm>
            <a:off x="7162800"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Freeform 87"/>
          <p:cNvSpPr/>
          <p:nvPr/>
        </p:nvSpPr>
        <p:spPr>
          <a:xfrm>
            <a:off x="7239000"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Oval 88"/>
          <p:cNvSpPr/>
          <p:nvPr/>
        </p:nvSpPr>
        <p:spPr>
          <a:xfrm>
            <a:off x="8221133"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Freeform 89"/>
          <p:cNvSpPr/>
          <p:nvPr/>
        </p:nvSpPr>
        <p:spPr>
          <a:xfrm>
            <a:off x="8296275"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Oval 90"/>
          <p:cNvSpPr/>
          <p:nvPr/>
        </p:nvSpPr>
        <p:spPr>
          <a:xfrm>
            <a:off x="9279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Freeform 91"/>
          <p:cNvSpPr/>
          <p:nvPr/>
        </p:nvSpPr>
        <p:spPr>
          <a:xfrm>
            <a:off x="9353550"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9884833" y="36004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94" name="TextBox 93"/>
          <p:cNvSpPr txBox="1"/>
          <p:nvPr/>
        </p:nvSpPr>
        <p:spPr>
          <a:xfrm>
            <a:off x="10943167" y="36004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95" name="Connector 94"/>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6" name="Rectangle 95"/>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F</a:t>
            </a:r>
          </a:p>
        </p:txBody>
      </p:sp>
      <p:sp>
        <p:nvSpPr>
          <p:cNvPr id="98" name="TextBox 97"/>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99" name="TextBox 98"/>
          <p:cNvSpPr txBox="1"/>
          <p:nvPr/>
        </p:nvSpPr>
        <p:spPr>
          <a:xfrm>
            <a:off x="2000250" y="39433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00" name="TextBox 99"/>
          <p:cNvSpPr txBox="1"/>
          <p:nvPr/>
        </p:nvSpPr>
        <p:spPr>
          <a:xfrm>
            <a:off x="4419600" y="39433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01" name="Oval 100"/>
          <p:cNvSpPr/>
          <p:nvPr/>
        </p:nvSpPr>
        <p:spPr>
          <a:xfrm>
            <a:off x="6104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Freeform 101"/>
          <p:cNvSpPr/>
          <p:nvPr/>
        </p:nvSpPr>
        <p:spPr>
          <a:xfrm>
            <a:off x="618172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Oval 102"/>
          <p:cNvSpPr/>
          <p:nvPr/>
        </p:nvSpPr>
        <p:spPr>
          <a:xfrm>
            <a:off x="7162800"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Freeform 103"/>
          <p:cNvSpPr/>
          <p:nvPr/>
        </p:nvSpPr>
        <p:spPr>
          <a:xfrm>
            <a:off x="7239000"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Oval 104"/>
          <p:cNvSpPr/>
          <p:nvPr/>
        </p:nvSpPr>
        <p:spPr>
          <a:xfrm>
            <a:off x="8221133"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Freeform 105"/>
          <p:cNvSpPr/>
          <p:nvPr/>
        </p:nvSpPr>
        <p:spPr>
          <a:xfrm>
            <a:off x="82962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Oval 106"/>
          <p:cNvSpPr/>
          <p:nvPr/>
        </p:nvSpPr>
        <p:spPr>
          <a:xfrm>
            <a:off x="9279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9353550"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9884833" y="39433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10" name="TextBox 109"/>
          <p:cNvSpPr txBox="1"/>
          <p:nvPr/>
        </p:nvSpPr>
        <p:spPr>
          <a:xfrm>
            <a:off x="10943167" y="39433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111" name="Connector 110"/>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2" name="Rectangle 111"/>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G</a:t>
            </a:r>
          </a:p>
        </p:txBody>
      </p:sp>
      <p:sp>
        <p:nvSpPr>
          <p:cNvPr id="114" name="TextBox 113"/>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5" name="TextBox 114"/>
          <p:cNvSpPr txBox="1"/>
          <p:nvPr/>
        </p:nvSpPr>
        <p:spPr>
          <a:xfrm>
            <a:off x="2000250" y="42862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16" name="TextBox 115"/>
          <p:cNvSpPr txBox="1"/>
          <p:nvPr/>
        </p:nvSpPr>
        <p:spPr>
          <a:xfrm>
            <a:off x="4419600" y="42862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117" name="Oval 116"/>
          <p:cNvSpPr/>
          <p:nvPr/>
        </p:nvSpPr>
        <p:spPr>
          <a:xfrm>
            <a:off x="6104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6181725" y="4381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7162800"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7239000" y="43815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Oval 120"/>
          <p:cNvSpPr/>
          <p:nvPr/>
        </p:nvSpPr>
        <p:spPr>
          <a:xfrm>
            <a:off x="8221133"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Freeform 121"/>
          <p:cNvSpPr/>
          <p:nvPr/>
        </p:nvSpPr>
        <p:spPr>
          <a:xfrm>
            <a:off x="8296275" y="43815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Oval 122"/>
          <p:cNvSpPr/>
          <p:nvPr/>
        </p:nvSpPr>
        <p:spPr>
          <a:xfrm>
            <a:off x="9279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Freeform 123"/>
          <p:cNvSpPr/>
          <p:nvPr/>
        </p:nvSpPr>
        <p:spPr>
          <a:xfrm>
            <a:off x="9353550"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TextBox 124"/>
          <p:cNvSpPr txBox="1"/>
          <p:nvPr/>
        </p:nvSpPr>
        <p:spPr>
          <a:xfrm>
            <a:off x="9884833" y="42862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26" name="TextBox 125"/>
          <p:cNvSpPr txBox="1"/>
          <p:nvPr/>
        </p:nvSpPr>
        <p:spPr>
          <a:xfrm>
            <a:off x="10943167" y="42862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127" name="Connector 126"/>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8" name="Rectangle 127"/>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H</a:t>
            </a:r>
          </a:p>
        </p:txBody>
      </p:sp>
      <p:sp>
        <p:nvSpPr>
          <p:cNvPr id="130" name="TextBox 129"/>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31" name="TextBox 130"/>
          <p:cNvSpPr txBox="1"/>
          <p:nvPr/>
        </p:nvSpPr>
        <p:spPr>
          <a:xfrm>
            <a:off x="2000250" y="46291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32" name="TextBox 131"/>
          <p:cNvSpPr txBox="1"/>
          <p:nvPr/>
        </p:nvSpPr>
        <p:spPr>
          <a:xfrm>
            <a:off x="4419600" y="46291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33" name="Oval 132"/>
          <p:cNvSpPr/>
          <p:nvPr/>
        </p:nvSpPr>
        <p:spPr>
          <a:xfrm>
            <a:off x="6104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6181725" y="4724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Oval 134"/>
          <p:cNvSpPr/>
          <p:nvPr/>
        </p:nvSpPr>
        <p:spPr>
          <a:xfrm>
            <a:off x="7162800"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Freeform 135"/>
          <p:cNvSpPr/>
          <p:nvPr/>
        </p:nvSpPr>
        <p:spPr>
          <a:xfrm>
            <a:off x="7239000" y="47244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Oval 136"/>
          <p:cNvSpPr/>
          <p:nvPr/>
        </p:nvSpPr>
        <p:spPr>
          <a:xfrm>
            <a:off x="8221133"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Freeform 137"/>
          <p:cNvSpPr/>
          <p:nvPr/>
        </p:nvSpPr>
        <p:spPr>
          <a:xfrm>
            <a:off x="8296275"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Oval 138"/>
          <p:cNvSpPr/>
          <p:nvPr/>
        </p:nvSpPr>
        <p:spPr>
          <a:xfrm>
            <a:off x="9279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9353550"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9884833" y="46291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42" name="TextBox 141"/>
          <p:cNvSpPr txBox="1"/>
          <p:nvPr/>
        </p:nvSpPr>
        <p:spPr>
          <a:xfrm>
            <a:off x="10943167" y="46291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143" name="Connector 142"/>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4" name="Oval 143"/>
          <p:cNvSpPr/>
          <p:nvPr/>
        </p:nvSpPr>
        <p:spPr>
          <a:xfrm>
            <a:off x="200025" y="50482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38100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46" name="Oval 145"/>
          <p:cNvSpPr/>
          <p:nvPr/>
        </p:nvSpPr>
        <p:spPr>
          <a:xfrm>
            <a:off x="2065020"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Freeform 146"/>
          <p:cNvSpPr/>
          <p:nvPr/>
        </p:nvSpPr>
        <p:spPr>
          <a:xfrm>
            <a:off x="2133600" y="50482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TextBox 147"/>
          <p:cNvSpPr txBox="1"/>
          <p:nvPr/>
        </p:nvSpPr>
        <p:spPr>
          <a:xfrm>
            <a:off x="2245995"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49" name="Oval 148"/>
          <p:cNvSpPr/>
          <p:nvPr/>
        </p:nvSpPr>
        <p:spPr>
          <a:xfrm>
            <a:off x="367855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Freeform 149"/>
          <p:cNvSpPr/>
          <p:nvPr/>
        </p:nvSpPr>
        <p:spPr>
          <a:xfrm>
            <a:off x="3743325" y="50482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385953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52" name="Oval 151"/>
          <p:cNvSpPr/>
          <p:nvPr/>
        </p:nvSpPr>
        <p:spPr>
          <a:xfrm>
            <a:off x="510349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528447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54" name="TextBox 153"/>
          <p:cNvSpPr txBox="1"/>
          <p:nvPr/>
        </p:nvSpPr>
        <p:spPr>
          <a:xfrm>
            <a:off x="190500" y="52578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55" name="TextBox 154"/>
          <p:cNvSpPr txBox="1"/>
          <p:nvPr/>
        </p:nvSpPr>
        <p:spPr>
          <a:xfrm>
            <a:off x="190500" y="54102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of 8 named players compete globally; scale and share follow the tier structure.</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Offering Scorecard: What They Sell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offering Ps: product, technology, price and model, verticals, proof and IP</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2, OFFERING: WHAT THEY SELL</a:t>
            </a:r>
          </a:p>
        </p:txBody>
      </p:sp>
      <p:sp>
        <p:nvSpPr>
          <p:cNvPr id="12" name="TextBox 11"/>
          <p:cNvSpPr txBox="1"/>
          <p:nvPr/>
        </p:nvSpPr>
        <p:spPr>
          <a:xfrm>
            <a:off x="2038350"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Product</a:t>
            </a:r>
          </a:p>
        </p:txBody>
      </p:sp>
      <p:sp>
        <p:nvSpPr>
          <p:cNvPr id="13" name="TextBox 12"/>
          <p:cNvSpPr txBox="1"/>
          <p:nvPr/>
        </p:nvSpPr>
        <p:spPr>
          <a:xfrm>
            <a:off x="2038350"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Of the top three types offered</a:t>
            </a:r>
          </a:p>
        </p:txBody>
      </p:sp>
      <p:sp>
        <p:nvSpPr>
          <p:cNvPr id="14" name="TextBox 13"/>
          <p:cNvSpPr txBox="1"/>
          <p:nvPr/>
        </p:nvSpPr>
        <p:spPr>
          <a:xfrm>
            <a:off x="3509122"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Platform (technology)</a:t>
            </a:r>
          </a:p>
        </p:txBody>
      </p:sp>
      <p:sp>
        <p:nvSpPr>
          <p:cNvPr id="15" name="TextBox 14"/>
          <p:cNvSpPr txBox="1"/>
          <p:nvPr/>
        </p:nvSpPr>
        <p:spPr>
          <a:xfrm>
            <a:off x="3509122"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development: both 3, one 2</a:t>
            </a:r>
          </a:p>
        </p:txBody>
      </p:sp>
      <p:sp>
        <p:nvSpPr>
          <p:cNvPr id="16" name="TextBox 15"/>
          <p:cNvSpPr txBox="1"/>
          <p:nvPr/>
        </p:nvSpPr>
        <p:spPr>
          <a:xfrm>
            <a:off x="4979894"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Price and model</a:t>
            </a:r>
          </a:p>
        </p:txBody>
      </p:sp>
      <p:sp>
        <p:nvSpPr>
          <p:cNvPr id="17" name="TextBox 16"/>
          <p:cNvSpPr txBox="1"/>
          <p:nvPr/>
        </p:nvSpPr>
        <p:spPr>
          <a:xfrm>
            <a:off x="4979894"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Positioning by tier</a:t>
            </a:r>
          </a:p>
        </p:txBody>
      </p:sp>
      <p:sp>
        <p:nvSpPr>
          <p:cNvPr id="18" name="TextBox 17"/>
          <p:cNvSpPr txBox="1"/>
          <p:nvPr/>
        </p:nvSpPr>
        <p:spPr>
          <a:xfrm>
            <a:off x="6744821"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Positioning (verticals)</a:t>
            </a:r>
          </a:p>
        </p:txBody>
      </p:sp>
      <p:sp>
        <p:nvSpPr>
          <p:cNvPr id="19" name="TextBox 18"/>
          <p:cNvSpPr txBox="1"/>
          <p:nvPr/>
        </p:nvSpPr>
        <p:spPr>
          <a:xfrm>
            <a:off x="6744821"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End uses served</a:t>
            </a:r>
          </a:p>
        </p:txBody>
      </p:sp>
      <p:sp>
        <p:nvSpPr>
          <p:cNvPr id="20" name="TextBox 19"/>
          <p:cNvSpPr txBox="1"/>
          <p:nvPr/>
        </p:nvSpPr>
        <p:spPr>
          <a:xfrm>
            <a:off x="8509747"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Proof</a:t>
            </a:r>
          </a:p>
        </p:txBody>
      </p:sp>
      <p:sp>
        <p:nvSpPr>
          <p:cNvPr id="21" name="TextBox 20"/>
          <p:cNvSpPr txBox="1"/>
          <p:nvPr/>
        </p:nvSpPr>
        <p:spPr>
          <a:xfrm>
            <a:off x="8509747"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customer references</a:t>
            </a:r>
          </a:p>
        </p:txBody>
      </p:sp>
      <p:sp>
        <p:nvSpPr>
          <p:cNvPr id="22" name="TextBox 21"/>
          <p:cNvSpPr txBox="1"/>
          <p:nvPr/>
        </p:nvSpPr>
        <p:spPr>
          <a:xfrm>
            <a:off x="10274674"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Patents and IP</a:t>
            </a:r>
          </a:p>
        </p:txBody>
      </p:sp>
      <p:sp>
        <p:nvSpPr>
          <p:cNvPr id="23" name="TextBox 22"/>
          <p:cNvSpPr txBox="1"/>
          <p:nvPr/>
        </p:nvSpPr>
        <p:spPr>
          <a:xfrm>
            <a:off x="10274674"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Where the study covers patents</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A</a:t>
            </a:r>
          </a:p>
        </p:txBody>
      </p:sp>
      <p:sp>
        <p:nvSpPr>
          <p:cNvPr id="27" name="TextBox 26"/>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Oval 27"/>
          <p:cNvSpPr/>
          <p:nvPr/>
        </p:nvSpPr>
        <p:spPr>
          <a:xfrm>
            <a:off x="2659436"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4130208" y="2324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4210050" y="23241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4979894"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32" name="TextBox 31"/>
          <p:cNvSpPr txBox="1"/>
          <p:nvPr/>
        </p:nvSpPr>
        <p:spPr>
          <a:xfrm>
            <a:off x="6744821"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Mass Retail, Online Marketplaces</a:t>
            </a:r>
          </a:p>
        </p:txBody>
      </p:sp>
      <p:sp>
        <p:nvSpPr>
          <p:cNvPr id="33" name="TextBox 32"/>
          <p:cNvSpPr txBox="1"/>
          <p:nvPr/>
        </p:nvSpPr>
        <p:spPr>
          <a:xfrm>
            <a:off x="8471647"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34" name="TextBox 33"/>
          <p:cNvSpPr txBox="1"/>
          <p:nvPr/>
        </p:nvSpPr>
        <p:spPr>
          <a:xfrm>
            <a:off x="10236574"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35" name="Connector 34"/>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B</a:t>
            </a:r>
          </a:p>
        </p:txBody>
      </p:sp>
      <p:sp>
        <p:nvSpPr>
          <p:cNvPr id="38" name="TextBox 37"/>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9" name="Oval 38"/>
          <p:cNvSpPr/>
          <p:nvPr/>
        </p:nvSpPr>
        <p:spPr>
          <a:xfrm>
            <a:off x="2659436" y="2667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733675" y="26670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Oval 40"/>
          <p:cNvSpPr/>
          <p:nvPr/>
        </p:nvSpPr>
        <p:spPr>
          <a:xfrm>
            <a:off x="4130208"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979894"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43" name="TextBox 42"/>
          <p:cNvSpPr txBox="1"/>
          <p:nvPr/>
        </p:nvSpPr>
        <p:spPr>
          <a:xfrm>
            <a:off x="6744821"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Mass Retail, Salon and Professional Distribution</a:t>
            </a:r>
          </a:p>
        </p:txBody>
      </p:sp>
      <p:sp>
        <p:nvSpPr>
          <p:cNvPr id="44" name="TextBox 43"/>
          <p:cNvSpPr txBox="1"/>
          <p:nvPr/>
        </p:nvSpPr>
        <p:spPr>
          <a:xfrm>
            <a:off x="8471647"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45" name="TextBox 44"/>
          <p:cNvSpPr txBox="1"/>
          <p:nvPr/>
        </p:nvSpPr>
        <p:spPr>
          <a:xfrm>
            <a:off x="10236574"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46" name="Connector 45"/>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C</a:t>
            </a:r>
          </a:p>
        </p:txBody>
      </p:sp>
      <p:sp>
        <p:nvSpPr>
          <p:cNvPr id="49" name="TextBox 48"/>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0" name="Oval 49"/>
          <p:cNvSpPr/>
          <p:nvPr/>
        </p:nvSpPr>
        <p:spPr>
          <a:xfrm>
            <a:off x="2659436"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2733675"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4130208"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4210050" y="30099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4979894"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55" name="TextBox 54"/>
          <p:cNvSpPr txBox="1"/>
          <p:nvPr/>
        </p:nvSpPr>
        <p:spPr>
          <a:xfrm>
            <a:off x="6744821"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Online Marketplaces, Salon and Professional Distribution</a:t>
            </a:r>
          </a:p>
        </p:txBody>
      </p:sp>
      <p:sp>
        <p:nvSpPr>
          <p:cNvPr id="56" name="TextBox 55"/>
          <p:cNvSpPr txBox="1"/>
          <p:nvPr/>
        </p:nvSpPr>
        <p:spPr>
          <a:xfrm>
            <a:off x="8471647"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57" name="TextBox 56"/>
          <p:cNvSpPr txBox="1"/>
          <p:nvPr/>
        </p:nvSpPr>
        <p:spPr>
          <a:xfrm>
            <a:off x="10236574"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58" name="Connector 57"/>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D</a:t>
            </a:r>
          </a:p>
        </p:txBody>
      </p:sp>
      <p:sp>
        <p:nvSpPr>
          <p:cNvPr id="61" name="TextBox 60"/>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2" name="Oval 61"/>
          <p:cNvSpPr/>
          <p:nvPr/>
        </p:nvSpPr>
        <p:spPr>
          <a:xfrm>
            <a:off x="2659436"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2733675"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4130208"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979894"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66" name="TextBox 65"/>
          <p:cNvSpPr txBox="1"/>
          <p:nvPr/>
        </p:nvSpPr>
        <p:spPr>
          <a:xfrm>
            <a:off x="6744821"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Mass Retail, Online Marketplaces</a:t>
            </a:r>
          </a:p>
        </p:txBody>
      </p:sp>
      <p:sp>
        <p:nvSpPr>
          <p:cNvPr id="67" name="TextBox 66"/>
          <p:cNvSpPr txBox="1"/>
          <p:nvPr/>
        </p:nvSpPr>
        <p:spPr>
          <a:xfrm>
            <a:off x="8471647"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68" name="TextBox 67"/>
          <p:cNvSpPr txBox="1"/>
          <p:nvPr/>
        </p:nvSpPr>
        <p:spPr>
          <a:xfrm>
            <a:off x="10236574"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69" name="Connector 68"/>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0" name="Rectangle 69"/>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E</a:t>
            </a:r>
          </a:p>
        </p:txBody>
      </p:sp>
      <p:sp>
        <p:nvSpPr>
          <p:cNvPr id="72" name="TextBox 71"/>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3" name="Oval 72"/>
          <p:cNvSpPr/>
          <p:nvPr/>
        </p:nvSpPr>
        <p:spPr>
          <a:xfrm>
            <a:off x="2659436"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4130208"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reeform 74"/>
          <p:cNvSpPr/>
          <p:nvPr/>
        </p:nvSpPr>
        <p:spPr>
          <a:xfrm>
            <a:off x="4210050" y="36957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4979894"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77" name="TextBox 76"/>
          <p:cNvSpPr txBox="1"/>
          <p:nvPr/>
        </p:nvSpPr>
        <p:spPr>
          <a:xfrm>
            <a:off x="6744821"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Mass Retail, Salon and Professional Distribution</a:t>
            </a:r>
          </a:p>
        </p:txBody>
      </p:sp>
      <p:sp>
        <p:nvSpPr>
          <p:cNvPr id="78" name="TextBox 77"/>
          <p:cNvSpPr txBox="1"/>
          <p:nvPr/>
        </p:nvSpPr>
        <p:spPr>
          <a:xfrm>
            <a:off x="8471647"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79" name="TextBox 78"/>
          <p:cNvSpPr txBox="1"/>
          <p:nvPr/>
        </p:nvSpPr>
        <p:spPr>
          <a:xfrm>
            <a:off x="10236574"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80" name="Connector 79"/>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1" name="Rectangle 80"/>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F</a:t>
            </a:r>
          </a:p>
        </p:txBody>
      </p:sp>
      <p:sp>
        <p:nvSpPr>
          <p:cNvPr id="83" name="TextBox 82"/>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4" name="Oval 83"/>
          <p:cNvSpPr/>
          <p:nvPr/>
        </p:nvSpPr>
        <p:spPr>
          <a:xfrm>
            <a:off x="2659436"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27336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Oval 85"/>
          <p:cNvSpPr/>
          <p:nvPr/>
        </p:nvSpPr>
        <p:spPr>
          <a:xfrm>
            <a:off x="4130208"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979894"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88" name="TextBox 87"/>
          <p:cNvSpPr txBox="1"/>
          <p:nvPr/>
        </p:nvSpPr>
        <p:spPr>
          <a:xfrm>
            <a:off x="6744821"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Online Marketplaces, Salon and Professional Distribution</a:t>
            </a:r>
          </a:p>
        </p:txBody>
      </p:sp>
      <p:sp>
        <p:nvSpPr>
          <p:cNvPr id="89" name="TextBox 88"/>
          <p:cNvSpPr txBox="1"/>
          <p:nvPr/>
        </p:nvSpPr>
        <p:spPr>
          <a:xfrm>
            <a:off x="8471647"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90" name="TextBox 89"/>
          <p:cNvSpPr txBox="1"/>
          <p:nvPr/>
        </p:nvSpPr>
        <p:spPr>
          <a:xfrm>
            <a:off x="10236574"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91" name="Connector 90"/>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2" name="Rectangle 91"/>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G</a:t>
            </a:r>
          </a:p>
        </p:txBody>
      </p:sp>
      <p:sp>
        <p:nvSpPr>
          <p:cNvPr id="94" name="TextBox 93"/>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5" name="Oval 94"/>
          <p:cNvSpPr/>
          <p:nvPr/>
        </p:nvSpPr>
        <p:spPr>
          <a:xfrm>
            <a:off x="2659436"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2733675"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4130208"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Freeform 97"/>
          <p:cNvSpPr/>
          <p:nvPr/>
        </p:nvSpPr>
        <p:spPr>
          <a:xfrm>
            <a:off x="4210050" y="43815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4979894"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00" name="TextBox 99"/>
          <p:cNvSpPr txBox="1"/>
          <p:nvPr/>
        </p:nvSpPr>
        <p:spPr>
          <a:xfrm>
            <a:off x="6744821"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Mass Retail, Online Marketplaces</a:t>
            </a:r>
          </a:p>
        </p:txBody>
      </p:sp>
      <p:sp>
        <p:nvSpPr>
          <p:cNvPr id="101" name="TextBox 100"/>
          <p:cNvSpPr txBox="1"/>
          <p:nvPr/>
        </p:nvSpPr>
        <p:spPr>
          <a:xfrm>
            <a:off x="8471647"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02" name="TextBox 101"/>
          <p:cNvSpPr txBox="1"/>
          <p:nvPr/>
        </p:nvSpPr>
        <p:spPr>
          <a:xfrm>
            <a:off x="10236574"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103" name="Connector 102"/>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4" name="Rectangle 103"/>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H</a:t>
            </a:r>
          </a:p>
        </p:txBody>
      </p:sp>
      <p:sp>
        <p:nvSpPr>
          <p:cNvPr id="106" name="TextBox 105"/>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7" name="Oval 106"/>
          <p:cNvSpPr/>
          <p:nvPr/>
        </p:nvSpPr>
        <p:spPr>
          <a:xfrm>
            <a:off x="2659436"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2733675" y="47244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4130208"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4979894"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11" name="TextBox 110"/>
          <p:cNvSpPr txBox="1"/>
          <p:nvPr/>
        </p:nvSpPr>
        <p:spPr>
          <a:xfrm>
            <a:off x="6744821"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Mass Retail, Salon and Professional Distribution</a:t>
            </a:r>
          </a:p>
        </p:txBody>
      </p:sp>
      <p:sp>
        <p:nvSpPr>
          <p:cNvPr id="112" name="TextBox 111"/>
          <p:cNvSpPr txBox="1"/>
          <p:nvPr/>
        </p:nvSpPr>
        <p:spPr>
          <a:xfrm>
            <a:off x="8471647"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13" name="TextBox 112"/>
          <p:cNvSpPr txBox="1"/>
          <p:nvPr/>
        </p:nvSpPr>
        <p:spPr>
          <a:xfrm>
            <a:off x="10236574"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114" name="Connector 113"/>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5" name="Oval 114"/>
          <p:cNvSpPr/>
          <p:nvPr/>
        </p:nvSpPr>
        <p:spPr>
          <a:xfrm>
            <a:off x="200025" y="50482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38100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17" name="Oval 116"/>
          <p:cNvSpPr/>
          <p:nvPr/>
        </p:nvSpPr>
        <p:spPr>
          <a:xfrm>
            <a:off x="2065020"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2133600" y="50482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2245995"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20" name="Oval 119"/>
          <p:cNvSpPr/>
          <p:nvPr/>
        </p:nvSpPr>
        <p:spPr>
          <a:xfrm>
            <a:off x="367855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Freeform 120"/>
          <p:cNvSpPr/>
          <p:nvPr/>
        </p:nvSpPr>
        <p:spPr>
          <a:xfrm>
            <a:off x="3743325" y="50482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385953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23" name="Oval 122"/>
          <p:cNvSpPr/>
          <p:nvPr/>
        </p:nvSpPr>
        <p:spPr>
          <a:xfrm>
            <a:off x="510349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528447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25" name="TextBox 124"/>
          <p:cNvSpPr txBox="1"/>
          <p:nvPr/>
        </p:nvSpPr>
        <p:spPr>
          <a:xfrm>
            <a:off x="190500" y="52578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26" name="TextBox 125"/>
          <p:cNvSpPr txBox="1"/>
          <p:nvPr/>
        </p:nvSpPr>
        <p:spPr>
          <a:xfrm>
            <a:off x="190500" y="54102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breadth and technology strength do not always go together; the end uses each player serves show where it competes head to head.  Proof needs customer research.</a:t>
            </a:r>
          </a:p>
        </p:txBody>
      </p:sp>
      <p:sp>
        <p:nvSpPr>
          <p:cNvPr id="127" name="TextBox 1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Execution Scorecard: How They Win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execution Ps: channel, promotion, momentum, pipeline, policy exposure and prospects</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3, EXECUTION: HOW THEY WIN</a:t>
            </a:r>
          </a:p>
        </p:txBody>
      </p:sp>
      <p:sp>
        <p:nvSpPr>
          <p:cNvPr id="12" name="TextBox 11"/>
          <p:cNvSpPr txBox="1"/>
          <p:nvPr/>
        </p:nvSpPr>
        <p:spPr>
          <a:xfrm>
            <a:off x="2038350"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Place (channel)</a:t>
            </a:r>
          </a:p>
        </p:txBody>
      </p:sp>
      <p:sp>
        <p:nvSpPr>
          <p:cNvPr id="13" name="TextBox 12"/>
          <p:cNvSpPr txBox="1"/>
          <p:nvPr/>
        </p:nvSpPr>
        <p:spPr>
          <a:xfrm>
            <a:off x="2038350"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Route to market by tier</a:t>
            </a:r>
          </a:p>
        </p:txBody>
      </p:sp>
      <p:sp>
        <p:nvSpPr>
          <p:cNvPr id="14" name="TextBox 13"/>
          <p:cNvSpPr txBox="1"/>
          <p:nvPr/>
        </p:nvSpPr>
        <p:spPr>
          <a:xfrm>
            <a:off x="3803276"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Promotion</a:t>
            </a:r>
          </a:p>
        </p:txBody>
      </p:sp>
      <p:sp>
        <p:nvSpPr>
          <p:cNvPr id="15" name="TextBox 14"/>
          <p:cNvSpPr txBox="1"/>
          <p:nvPr/>
        </p:nvSpPr>
        <p:spPr>
          <a:xfrm>
            <a:off x="3803276"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Go-to-market; not assessed</a:t>
            </a:r>
          </a:p>
        </p:txBody>
      </p:sp>
      <p:sp>
        <p:nvSpPr>
          <p:cNvPr id="16" name="TextBox 15"/>
          <p:cNvSpPr txBox="1"/>
          <p:nvPr/>
        </p:nvSpPr>
        <p:spPr>
          <a:xfrm>
            <a:off x="5568203"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Pace (momentum)</a:t>
            </a:r>
          </a:p>
        </p:txBody>
      </p:sp>
      <p:sp>
        <p:nvSpPr>
          <p:cNvPr id="17" name="TextBox 16"/>
          <p:cNvSpPr txBox="1"/>
          <p:nvPr/>
        </p:nvSpPr>
        <p:spPr>
          <a:xfrm>
            <a:off x="5568203"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Active moves: 5+ = 3, 3-4 = 2</a:t>
            </a:r>
          </a:p>
        </p:txBody>
      </p:sp>
      <p:sp>
        <p:nvSpPr>
          <p:cNvPr id="18" name="TextBox 17"/>
          <p:cNvSpPr txBox="1"/>
          <p:nvPr/>
        </p:nvSpPr>
        <p:spPr>
          <a:xfrm>
            <a:off x="7038975"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Pipeline</a:t>
            </a:r>
          </a:p>
        </p:txBody>
      </p:sp>
      <p:sp>
        <p:nvSpPr>
          <p:cNvPr id="19" name="TextBox 18"/>
          <p:cNvSpPr txBox="1"/>
          <p:nvPr/>
        </p:nvSpPr>
        <p:spPr>
          <a:xfrm>
            <a:off x="7038975"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Launch or development in motion</a:t>
            </a:r>
          </a:p>
        </p:txBody>
      </p:sp>
      <p:sp>
        <p:nvSpPr>
          <p:cNvPr id="20" name="TextBox 19"/>
          <p:cNvSpPr txBox="1"/>
          <p:nvPr/>
        </p:nvSpPr>
        <p:spPr>
          <a:xfrm>
            <a:off x="8803901"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Policy exposure</a:t>
            </a:r>
          </a:p>
        </p:txBody>
      </p:sp>
      <p:sp>
        <p:nvSpPr>
          <p:cNvPr id="21" name="TextBox 20"/>
          <p:cNvSpPr txBox="1"/>
          <p:nvPr/>
        </p:nvSpPr>
        <p:spPr>
          <a:xfrm>
            <a:off x="8803901"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Regulation in its favour or against</a:t>
            </a:r>
          </a:p>
        </p:txBody>
      </p:sp>
      <p:sp>
        <p:nvSpPr>
          <p:cNvPr id="22" name="TextBox 21"/>
          <p:cNvSpPr txBox="1"/>
          <p:nvPr/>
        </p:nvSpPr>
        <p:spPr>
          <a:xfrm>
            <a:off x="10568828"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Prospects</a:t>
            </a:r>
          </a:p>
        </p:txBody>
      </p:sp>
      <p:sp>
        <p:nvSpPr>
          <p:cNvPr id="23" name="TextBox 22"/>
          <p:cNvSpPr txBox="1"/>
          <p:nvPr/>
        </p:nvSpPr>
        <p:spPr>
          <a:xfrm>
            <a:off x="10568828"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Gaining 3, holding 2, at risk 1</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A</a:t>
            </a:r>
          </a:p>
        </p:txBody>
      </p:sp>
      <p:sp>
        <p:nvSpPr>
          <p:cNvPr id="27" name="TextBox 26"/>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TextBox 27"/>
          <p:cNvSpPr txBox="1"/>
          <p:nvPr/>
        </p:nvSpPr>
        <p:spPr>
          <a:xfrm>
            <a:off x="2038350"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29" name="TextBox 28"/>
          <p:cNvSpPr txBox="1"/>
          <p:nvPr/>
        </p:nvSpPr>
        <p:spPr>
          <a:xfrm>
            <a:off x="3765176"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30" name="Oval 29"/>
          <p:cNvSpPr/>
          <p:nvPr/>
        </p:nvSpPr>
        <p:spPr>
          <a:xfrm>
            <a:off x="6189289"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000875"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32" name="TextBox 31"/>
          <p:cNvSpPr txBox="1"/>
          <p:nvPr/>
        </p:nvSpPr>
        <p:spPr>
          <a:xfrm>
            <a:off x="8765801"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33" name="Oval 32"/>
          <p:cNvSpPr/>
          <p:nvPr/>
        </p:nvSpPr>
        <p:spPr>
          <a:xfrm>
            <a:off x="11189914"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4" name="Connector 33"/>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B</a:t>
            </a:r>
          </a:p>
        </p:txBody>
      </p:sp>
      <p:sp>
        <p:nvSpPr>
          <p:cNvPr id="37" name="TextBox 36"/>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8" name="TextBox 37"/>
          <p:cNvSpPr txBox="1"/>
          <p:nvPr/>
        </p:nvSpPr>
        <p:spPr>
          <a:xfrm>
            <a:off x="2038350"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39" name="TextBox 38"/>
          <p:cNvSpPr txBox="1"/>
          <p:nvPr/>
        </p:nvSpPr>
        <p:spPr>
          <a:xfrm>
            <a:off x="3765176"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40" name="Oval 39"/>
          <p:cNvSpPr/>
          <p:nvPr/>
        </p:nvSpPr>
        <p:spPr>
          <a:xfrm>
            <a:off x="6189289"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038975"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42" name="TextBox 41"/>
          <p:cNvSpPr txBox="1"/>
          <p:nvPr/>
        </p:nvSpPr>
        <p:spPr>
          <a:xfrm>
            <a:off x="8765801"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43" name="Oval 42"/>
          <p:cNvSpPr/>
          <p:nvPr/>
        </p:nvSpPr>
        <p:spPr>
          <a:xfrm>
            <a:off x="11189914"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4" name="Connector 43"/>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5" name="Rectangle 44"/>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C</a:t>
            </a:r>
          </a:p>
        </p:txBody>
      </p:sp>
      <p:sp>
        <p:nvSpPr>
          <p:cNvPr id="47" name="TextBox 46"/>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8" name="TextBox 47"/>
          <p:cNvSpPr txBox="1"/>
          <p:nvPr/>
        </p:nvSpPr>
        <p:spPr>
          <a:xfrm>
            <a:off x="2038350"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49" name="TextBox 48"/>
          <p:cNvSpPr txBox="1"/>
          <p:nvPr/>
        </p:nvSpPr>
        <p:spPr>
          <a:xfrm>
            <a:off x="3765176"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50" name="Oval 49"/>
          <p:cNvSpPr/>
          <p:nvPr/>
        </p:nvSpPr>
        <p:spPr>
          <a:xfrm>
            <a:off x="6189289"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000875"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52" name="TextBox 51"/>
          <p:cNvSpPr txBox="1"/>
          <p:nvPr/>
        </p:nvSpPr>
        <p:spPr>
          <a:xfrm>
            <a:off x="8765801"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53" name="Oval 52"/>
          <p:cNvSpPr/>
          <p:nvPr/>
        </p:nvSpPr>
        <p:spPr>
          <a:xfrm>
            <a:off x="11189914"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4" name="Connector 53"/>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5" name="Rectangle 54"/>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D</a:t>
            </a:r>
          </a:p>
        </p:txBody>
      </p:sp>
      <p:sp>
        <p:nvSpPr>
          <p:cNvPr id="57" name="TextBox 56"/>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8" name="TextBox 57"/>
          <p:cNvSpPr txBox="1"/>
          <p:nvPr/>
        </p:nvSpPr>
        <p:spPr>
          <a:xfrm>
            <a:off x="2038350"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59" name="TextBox 58"/>
          <p:cNvSpPr txBox="1"/>
          <p:nvPr/>
        </p:nvSpPr>
        <p:spPr>
          <a:xfrm>
            <a:off x="3765176"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60" name="Oval 59"/>
          <p:cNvSpPr/>
          <p:nvPr/>
        </p:nvSpPr>
        <p:spPr>
          <a:xfrm>
            <a:off x="6189289"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7038975"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62" name="TextBox 61"/>
          <p:cNvSpPr txBox="1"/>
          <p:nvPr/>
        </p:nvSpPr>
        <p:spPr>
          <a:xfrm>
            <a:off x="8765801"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63" name="Oval 62"/>
          <p:cNvSpPr/>
          <p:nvPr/>
        </p:nvSpPr>
        <p:spPr>
          <a:xfrm>
            <a:off x="11189914"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4" name="Connector 63"/>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E</a:t>
            </a:r>
          </a:p>
        </p:txBody>
      </p:sp>
      <p:sp>
        <p:nvSpPr>
          <p:cNvPr id="67" name="TextBox 66"/>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68" name="TextBox 67"/>
          <p:cNvSpPr txBox="1"/>
          <p:nvPr/>
        </p:nvSpPr>
        <p:spPr>
          <a:xfrm>
            <a:off x="2038350"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69" name="TextBox 68"/>
          <p:cNvSpPr txBox="1"/>
          <p:nvPr/>
        </p:nvSpPr>
        <p:spPr>
          <a:xfrm>
            <a:off x="3765176"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70" name="Oval 69"/>
          <p:cNvSpPr/>
          <p:nvPr/>
        </p:nvSpPr>
        <p:spPr>
          <a:xfrm>
            <a:off x="6189289"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000875"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72" name="TextBox 71"/>
          <p:cNvSpPr txBox="1"/>
          <p:nvPr/>
        </p:nvSpPr>
        <p:spPr>
          <a:xfrm>
            <a:off x="8765801"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73" name="Oval 72"/>
          <p:cNvSpPr/>
          <p:nvPr/>
        </p:nvSpPr>
        <p:spPr>
          <a:xfrm>
            <a:off x="11189914"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reeform 73"/>
          <p:cNvSpPr/>
          <p:nvPr/>
        </p:nvSpPr>
        <p:spPr>
          <a:xfrm>
            <a:off x="1126807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5" name="Connector 74"/>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6" name="Rectangle 75"/>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F</a:t>
            </a:r>
          </a:p>
        </p:txBody>
      </p:sp>
      <p:sp>
        <p:nvSpPr>
          <p:cNvPr id="78" name="TextBox 77"/>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9" name="TextBox 78"/>
          <p:cNvSpPr txBox="1"/>
          <p:nvPr/>
        </p:nvSpPr>
        <p:spPr>
          <a:xfrm>
            <a:off x="2038350"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80" name="TextBox 79"/>
          <p:cNvSpPr txBox="1"/>
          <p:nvPr/>
        </p:nvSpPr>
        <p:spPr>
          <a:xfrm>
            <a:off x="3765176"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81" name="Oval 80"/>
          <p:cNvSpPr/>
          <p:nvPr/>
        </p:nvSpPr>
        <p:spPr>
          <a:xfrm>
            <a:off x="6189289"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7038975"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83" name="TextBox 82"/>
          <p:cNvSpPr txBox="1"/>
          <p:nvPr/>
        </p:nvSpPr>
        <p:spPr>
          <a:xfrm>
            <a:off x="8765801"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84" name="Oval 83"/>
          <p:cNvSpPr/>
          <p:nvPr/>
        </p:nvSpPr>
        <p:spPr>
          <a:xfrm>
            <a:off x="11189914"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1126807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6" name="Connector 85"/>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G</a:t>
            </a:r>
          </a:p>
        </p:txBody>
      </p:sp>
      <p:sp>
        <p:nvSpPr>
          <p:cNvPr id="89" name="TextBox 88"/>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0" name="TextBox 89"/>
          <p:cNvSpPr txBox="1"/>
          <p:nvPr/>
        </p:nvSpPr>
        <p:spPr>
          <a:xfrm>
            <a:off x="2038350"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91" name="TextBox 90"/>
          <p:cNvSpPr txBox="1"/>
          <p:nvPr/>
        </p:nvSpPr>
        <p:spPr>
          <a:xfrm>
            <a:off x="3765176"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92" name="Oval 91"/>
          <p:cNvSpPr/>
          <p:nvPr/>
        </p:nvSpPr>
        <p:spPr>
          <a:xfrm>
            <a:off x="6189289" y="43815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7000875"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94" name="TextBox 93"/>
          <p:cNvSpPr txBox="1"/>
          <p:nvPr/>
        </p:nvSpPr>
        <p:spPr>
          <a:xfrm>
            <a:off x="8765801"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95" name="Oval 94"/>
          <p:cNvSpPr/>
          <p:nvPr/>
        </p:nvSpPr>
        <p:spPr>
          <a:xfrm>
            <a:off x="11189914"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11268075" y="4381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7" name="Connector 96"/>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H</a:t>
            </a:r>
          </a:p>
        </p:txBody>
      </p:sp>
      <p:sp>
        <p:nvSpPr>
          <p:cNvPr id="100" name="TextBox 99"/>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1" name="TextBox 100"/>
          <p:cNvSpPr txBox="1"/>
          <p:nvPr/>
        </p:nvSpPr>
        <p:spPr>
          <a:xfrm>
            <a:off x="2038350"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02" name="TextBox 101"/>
          <p:cNvSpPr txBox="1"/>
          <p:nvPr/>
        </p:nvSpPr>
        <p:spPr>
          <a:xfrm>
            <a:off x="3765176"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03" name="Oval 102"/>
          <p:cNvSpPr/>
          <p:nvPr/>
        </p:nvSpPr>
        <p:spPr>
          <a:xfrm>
            <a:off x="6189289"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7038975"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105" name="TextBox 104"/>
          <p:cNvSpPr txBox="1"/>
          <p:nvPr/>
        </p:nvSpPr>
        <p:spPr>
          <a:xfrm>
            <a:off x="8765801"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06" name="Oval 105"/>
          <p:cNvSpPr/>
          <p:nvPr/>
        </p:nvSpPr>
        <p:spPr>
          <a:xfrm>
            <a:off x="11189914"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reeform 106"/>
          <p:cNvSpPr/>
          <p:nvPr/>
        </p:nvSpPr>
        <p:spPr>
          <a:xfrm>
            <a:off x="11268075" y="4724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8" name="Connector 107"/>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9" name="Oval 108"/>
          <p:cNvSpPr/>
          <p:nvPr/>
        </p:nvSpPr>
        <p:spPr>
          <a:xfrm>
            <a:off x="200025" y="50482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38100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11" name="Oval 110"/>
          <p:cNvSpPr/>
          <p:nvPr/>
        </p:nvSpPr>
        <p:spPr>
          <a:xfrm>
            <a:off x="2065020"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Freeform 111"/>
          <p:cNvSpPr/>
          <p:nvPr/>
        </p:nvSpPr>
        <p:spPr>
          <a:xfrm>
            <a:off x="2133600" y="50482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245995"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14" name="Oval 113"/>
          <p:cNvSpPr/>
          <p:nvPr/>
        </p:nvSpPr>
        <p:spPr>
          <a:xfrm>
            <a:off x="367855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Freeform 114"/>
          <p:cNvSpPr/>
          <p:nvPr/>
        </p:nvSpPr>
        <p:spPr>
          <a:xfrm>
            <a:off x="3743325" y="50482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385953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17" name="Oval 116"/>
          <p:cNvSpPr/>
          <p:nvPr/>
        </p:nvSpPr>
        <p:spPr>
          <a:xfrm>
            <a:off x="510349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TextBox 117"/>
          <p:cNvSpPr txBox="1"/>
          <p:nvPr/>
        </p:nvSpPr>
        <p:spPr>
          <a:xfrm>
            <a:off x="528447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19" name="TextBox 118"/>
          <p:cNvSpPr txBox="1"/>
          <p:nvPr/>
        </p:nvSpPr>
        <p:spPr>
          <a:xfrm>
            <a:off x="190500" y="52578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20" name="TextBox 119"/>
          <p:cNvSpPr txBox="1"/>
          <p:nvPr/>
        </p:nvSpPr>
        <p:spPr>
          <a:xfrm>
            <a:off x="190500" y="54102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Momentum sits with the players running the most strategic moves; prospects combine breadth, reach, scale and pace.  Promotion and policy exposure need market and regulatory research.</a:t>
            </a:r>
          </a:p>
        </p:txBody>
      </p:sp>
      <p:sp>
        <p:nvSpPr>
          <p:cNvPr id="121" name="TextBox 12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Success Factors and Composite Ranking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Five weighted success factors and the composite ranking they produce</a:t>
            </a:r>
          </a:p>
        </p:txBody>
      </p:sp>
      <p:sp>
        <p:nvSpPr>
          <p:cNvPr id="10" name="TextBox 9"/>
          <p:cNvSpPr txBox="1"/>
          <p:nvPr/>
        </p:nvSpPr>
        <p:spPr>
          <a:xfrm>
            <a:off x="21336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1. Segment breadth</a:t>
            </a:r>
          </a:p>
        </p:txBody>
      </p:sp>
      <p:sp>
        <p:nvSpPr>
          <p:cNvPr id="11" name="TextBox 10"/>
          <p:cNvSpPr txBox="1"/>
          <p:nvPr/>
        </p:nvSpPr>
        <p:spPr>
          <a:xfrm>
            <a:off x="21336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Weight 30%</a:t>
            </a:r>
          </a:p>
        </p:txBody>
      </p:sp>
      <p:sp>
        <p:nvSpPr>
          <p:cNvPr id="12" name="TextBox 11"/>
          <p:cNvSpPr txBox="1"/>
          <p:nvPr/>
        </p:nvSpPr>
        <p:spPr>
          <a:xfrm>
            <a:off x="21336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Lead or be active in several sub-segments</a:t>
            </a:r>
          </a:p>
        </p:txBody>
      </p:sp>
      <p:sp>
        <p:nvSpPr>
          <p:cNvPr id="13" name="TextBox 12"/>
          <p:cNvSpPr txBox="1"/>
          <p:nvPr/>
        </p:nvSpPr>
        <p:spPr>
          <a:xfrm>
            <a:off x="37909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2. Scale and share</a:t>
            </a:r>
          </a:p>
        </p:txBody>
      </p:sp>
      <p:sp>
        <p:nvSpPr>
          <p:cNvPr id="14" name="TextBox 13"/>
          <p:cNvSpPr txBox="1"/>
          <p:nvPr/>
        </p:nvSpPr>
        <p:spPr>
          <a:xfrm>
            <a:off x="37909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Weight 25%</a:t>
            </a:r>
          </a:p>
        </p:txBody>
      </p:sp>
      <p:sp>
        <p:nvSpPr>
          <p:cNvPr id="15" name="TextBox 14"/>
          <p:cNvSpPr txBox="1"/>
          <p:nvPr/>
        </p:nvSpPr>
        <p:spPr>
          <a:xfrm>
            <a:off x="37909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position and share of market value</a:t>
            </a:r>
          </a:p>
        </p:txBody>
      </p:sp>
      <p:sp>
        <p:nvSpPr>
          <p:cNvPr id="16" name="TextBox 15"/>
          <p:cNvSpPr txBox="1"/>
          <p:nvPr/>
        </p:nvSpPr>
        <p:spPr>
          <a:xfrm>
            <a:off x="54483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3. Geographic reach</a:t>
            </a:r>
          </a:p>
        </p:txBody>
      </p:sp>
      <p:sp>
        <p:nvSpPr>
          <p:cNvPr id="17" name="TextBox 16"/>
          <p:cNvSpPr txBox="1"/>
          <p:nvPr/>
        </p:nvSpPr>
        <p:spPr>
          <a:xfrm>
            <a:off x="54483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Weight 15%</a:t>
            </a:r>
          </a:p>
        </p:txBody>
      </p:sp>
      <p:sp>
        <p:nvSpPr>
          <p:cNvPr id="18" name="TextBox 17"/>
          <p:cNvSpPr txBox="1"/>
          <p:nvPr/>
        </p:nvSpPr>
        <p:spPr>
          <a:xfrm>
            <a:off x="54483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regional or single-market footprint</a:t>
            </a:r>
          </a:p>
        </p:txBody>
      </p:sp>
      <p:sp>
        <p:nvSpPr>
          <p:cNvPr id="19" name="TextBox 18"/>
          <p:cNvSpPr txBox="1"/>
          <p:nvPr/>
        </p:nvSpPr>
        <p:spPr>
          <a:xfrm>
            <a:off x="71056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4. Innovation pipeline</a:t>
            </a:r>
          </a:p>
        </p:txBody>
      </p:sp>
      <p:sp>
        <p:nvSpPr>
          <p:cNvPr id="20" name="TextBox 19"/>
          <p:cNvSpPr txBox="1"/>
          <p:nvPr/>
        </p:nvSpPr>
        <p:spPr>
          <a:xfrm>
            <a:off x="71056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Weight 15%</a:t>
            </a:r>
          </a:p>
        </p:txBody>
      </p:sp>
      <p:sp>
        <p:nvSpPr>
          <p:cNvPr id="21" name="TextBox 20"/>
          <p:cNvSpPr txBox="1"/>
          <p:nvPr/>
        </p:nvSpPr>
        <p:spPr>
          <a:xfrm>
            <a:off x="71056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product development in motion</a:t>
            </a:r>
          </a:p>
        </p:txBody>
      </p:sp>
      <p:sp>
        <p:nvSpPr>
          <p:cNvPr id="22" name="TextBox 21"/>
          <p:cNvSpPr txBox="1"/>
          <p:nvPr/>
        </p:nvSpPr>
        <p:spPr>
          <a:xfrm>
            <a:off x="87630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5. Strategic momentum</a:t>
            </a:r>
          </a:p>
        </p:txBody>
      </p:sp>
      <p:sp>
        <p:nvSpPr>
          <p:cNvPr id="23" name="TextBox 22"/>
          <p:cNvSpPr txBox="1"/>
          <p:nvPr/>
        </p:nvSpPr>
        <p:spPr>
          <a:xfrm>
            <a:off x="87630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Weight 15%</a:t>
            </a:r>
          </a:p>
        </p:txBody>
      </p:sp>
      <p:sp>
        <p:nvSpPr>
          <p:cNvPr id="24" name="TextBox 23"/>
          <p:cNvSpPr txBox="1"/>
          <p:nvPr/>
        </p:nvSpPr>
        <p:spPr>
          <a:xfrm>
            <a:off x="87630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Number of active strategic moves</a:t>
            </a:r>
          </a:p>
        </p:txBody>
      </p:sp>
      <p:sp>
        <p:nvSpPr>
          <p:cNvPr id="25" name="TextBox 24"/>
          <p:cNvSpPr txBox="1"/>
          <p:nvPr/>
        </p:nvSpPr>
        <p:spPr>
          <a:xfrm>
            <a:off x="10420350" y="1047750"/>
            <a:ext cx="1619250" cy="171450"/>
          </a:xfrm>
          <a:prstGeom prst="rect">
            <a:avLst/>
          </a:prstGeom>
          <a:noFill/>
        </p:spPr>
        <p:txBody>
          <a:bodyPr wrap="square" lIns="28575" rIns="28575" tIns="9525" bIns="9525" anchor="t">
            <a:spAutoFit/>
          </a:bodyPr>
          <a:lstStyle/>
          <a:p>
            <a:pPr algn="l"/>
            <a:r>
              <a:rPr sz="1100" b="1">
                <a:solidFill>
                  <a:srgbClr val="0F2D52"/>
                </a:solidFill>
                <a:latin typeface="Calibri"/>
              </a:rPr>
              <a:t>Composite</a:t>
            </a:r>
          </a:p>
        </p:txBody>
      </p:sp>
      <p:sp>
        <p:nvSpPr>
          <p:cNvPr id="26" name="TextBox 25"/>
          <p:cNvSpPr txBox="1"/>
          <p:nvPr/>
        </p:nvSpPr>
        <p:spPr>
          <a:xfrm>
            <a:off x="10420350" y="1219200"/>
            <a:ext cx="1619250" cy="152400"/>
          </a:xfrm>
          <a:prstGeom prst="rect">
            <a:avLst/>
          </a:prstGeom>
          <a:noFill/>
        </p:spPr>
        <p:txBody>
          <a:bodyPr wrap="square" lIns="28575" rIns="28575" tIns="9525" bIns="9525" anchor="t">
            <a:spAutoFit/>
          </a:bodyPr>
          <a:lstStyle/>
          <a:p>
            <a:pPr algn="l"/>
            <a:r>
              <a:rPr sz="1100" b="0">
                <a:solidFill>
                  <a:srgbClr val="1F2933"/>
                </a:solidFill>
                <a:latin typeface="Calibri"/>
              </a:rPr>
              <a:t>weighted 0 to 3</a:t>
            </a:r>
          </a:p>
        </p:txBody>
      </p:sp>
      <p:cxnSp>
        <p:nvCxnSpPr>
          <p:cNvPr id="27" name="Connector 26"/>
          <p:cNvCxnSpPr/>
          <p:nvPr/>
        </p:nvCxnSpPr>
        <p:spPr>
          <a:xfrm>
            <a:off x="190500" y="17526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Rectangle 27"/>
          <p:cNvSpPr/>
          <p:nvPr/>
        </p:nvSpPr>
        <p:spPr>
          <a:xfrm>
            <a:off x="190500" y="18478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85750" y="1809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B</a:t>
            </a:r>
          </a:p>
        </p:txBody>
      </p:sp>
      <p:sp>
        <p:nvSpPr>
          <p:cNvPr id="30" name="Oval 29"/>
          <p:cNvSpPr/>
          <p:nvPr/>
        </p:nvSpPr>
        <p:spPr>
          <a:xfrm>
            <a:off x="28479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5053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61626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78200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94773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10420350" y="1895475"/>
            <a:ext cx="11430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11601450" y="1809750"/>
            <a:ext cx="419100" cy="304800"/>
          </a:xfrm>
          <a:prstGeom prst="rect">
            <a:avLst/>
          </a:prstGeom>
          <a:noFill/>
        </p:spPr>
        <p:txBody>
          <a:bodyPr wrap="none" lIns="0" rIns="0" tIns="0" bIns="0" anchor="ctr">
            <a:spAutoFit/>
          </a:bodyPr>
          <a:lstStyle/>
          <a:p>
            <a:pPr algn="l"/>
            <a:r>
              <a:rPr sz="1100" b="1">
                <a:solidFill>
                  <a:srgbClr val="1F2933"/>
                </a:solidFill>
                <a:latin typeface="Calibri"/>
              </a:rPr>
              <a:t>3.0</a:t>
            </a:r>
          </a:p>
        </p:txBody>
      </p:sp>
      <p:cxnSp>
        <p:nvCxnSpPr>
          <p:cNvPr id="37" name="Connector 36"/>
          <p:cNvCxnSpPr/>
          <p:nvPr/>
        </p:nvCxnSpPr>
        <p:spPr>
          <a:xfrm>
            <a:off x="190500" y="2114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190500" y="21526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85750" y="2114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A</a:t>
            </a:r>
          </a:p>
        </p:txBody>
      </p:sp>
      <p:sp>
        <p:nvSpPr>
          <p:cNvPr id="40" name="Oval 39"/>
          <p:cNvSpPr/>
          <p:nvPr/>
        </p:nvSpPr>
        <p:spPr>
          <a:xfrm>
            <a:off x="28479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Oval 40"/>
          <p:cNvSpPr/>
          <p:nvPr/>
        </p:nvSpPr>
        <p:spPr>
          <a:xfrm>
            <a:off x="450532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61626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7820025" y="2190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Freeform 43"/>
          <p:cNvSpPr/>
          <p:nvPr/>
        </p:nvSpPr>
        <p:spPr>
          <a:xfrm>
            <a:off x="7896225" y="2190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94773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420350" y="2200275"/>
            <a:ext cx="10858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11544300" y="2114550"/>
            <a:ext cx="419100" cy="304800"/>
          </a:xfrm>
          <a:prstGeom prst="rect">
            <a:avLst/>
          </a:prstGeom>
          <a:noFill/>
        </p:spPr>
        <p:txBody>
          <a:bodyPr wrap="none" lIns="0" rIns="0" tIns="0" bIns="0" anchor="ctr">
            <a:spAutoFit/>
          </a:bodyPr>
          <a:lstStyle/>
          <a:p>
            <a:pPr algn="l"/>
            <a:r>
              <a:rPr sz="1100" b="1">
                <a:solidFill>
                  <a:srgbClr val="1F2933"/>
                </a:solidFill>
                <a:latin typeface="Calibri"/>
              </a:rPr>
              <a:t>2.9</a:t>
            </a:r>
          </a:p>
        </p:txBody>
      </p:sp>
      <p:cxnSp>
        <p:nvCxnSpPr>
          <p:cNvPr id="48" name="Connector 47"/>
          <p:cNvCxnSpPr/>
          <p:nvPr/>
        </p:nvCxnSpPr>
        <p:spPr>
          <a:xfrm>
            <a:off x="190500" y="2419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9" name="Rectangle 48"/>
          <p:cNvSpPr/>
          <p:nvPr/>
        </p:nvSpPr>
        <p:spPr>
          <a:xfrm>
            <a:off x="190500" y="24574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285750" y="2419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C</a:t>
            </a:r>
          </a:p>
        </p:txBody>
      </p:sp>
      <p:sp>
        <p:nvSpPr>
          <p:cNvPr id="51" name="Oval 50"/>
          <p:cNvSpPr/>
          <p:nvPr/>
        </p:nvSpPr>
        <p:spPr>
          <a:xfrm>
            <a:off x="28479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450532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Oval 52"/>
          <p:cNvSpPr/>
          <p:nvPr/>
        </p:nvSpPr>
        <p:spPr>
          <a:xfrm>
            <a:off x="61626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Oval 53"/>
          <p:cNvSpPr/>
          <p:nvPr/>
        </p:nvSpPr>
        <p:spPr>
          <a:xfrm>
            <a:off x="7820025" y="2495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Freeform 54"/>
          <p:cNvSpPr/>
          <p:nvPr/>
        </p:nvSpPr>
        <p:spPr>
          <a:xfrm>
            <a:off x="7896225" y="2495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Oval 55"/>
          <p:cNvSpPr/>
          <p:nvPr/>
        </p:nvSpPr>
        <p:spPr>
          <a:xfrm>
            <a:off x="94773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420350" y="2505075"/>
            <a:ext cx="10858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11544300" y="2419350"/>
            <a:ext cx="419100" cy="304800"/>
          </a:xfrm>
          <a:prstGeom prst="rect">
            <a:avLst/>
          </a:prstGeom>
          <a:noFill/>
        </p:spPr>
        <p:txBody>
          <a:bodyPr wrap="none" lIns="0" rIns="0" tIns="0" bIns="0" anchor="ctr">
            <a:spAutoFit/>
          </a:bodyPr>
          <a:lstStyle/>
          <a:p>
            <a:pPr algn="l"/>
            <a:r>
              <a:rPr sz="1100" b="1">
                <a:solidFill>
                  <a:srgbClr val="1F2933"/>
                </a:solidFill>
                <a:latin typeface="Calibri"/>
              </a:rPr>
              <a:t>2.9</a:t>
            </a:r>
          </a:p>
        </p:txBody>
      </p:sp>
      <p:cxnSp>
        <p:nvCxnSpPr>
          <p:cNvPr id="59" name="Connector 58"/>
          <p:cNvCxnSpPr/>
          <p:nvPr/>
        </p:nvCxnSpPr>
        <p:spPr>
          <a:xfrm>
            <a:off x="190500" y="2724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190500" y="27622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285750" y="27241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D</a:t>
            </a:r>
          </a:p>
        </p:txBody>
      </p:sp>
      <p:sp>
        <p:nvSpPr>
          <p:cNvPr id="62" name="Oval 61"/>
          <p:cNvSpPr/>
          <p:nvPr/>
        </p:nvSpPr>
        <p:spPr>
          <a:xfrm>
            <a:off x="2847975" y="2800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2924175" y="2800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450532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Oval 64"/>
          <p:cNvSpPr/>
          <p:nvPr/>
        </p:nvSpPr>
        <p:spPr>
          <a:xfrm>
            <a:off x="61626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Oval 65"/>
          <p:cNvSpPr/>
          <p:nvPr/>
        </p:nvSpPr>
        <p:spPr>
          <a:xfrm>
            <a:off x="782002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94773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0420350" y="2809875"/>
            <a:ext cx="10287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11487150" y="2724150"/>
            <a:ext cx="419100" cy="304800"/>
          </a:xfrm>
          <a:prstGeom prst="rect">
            <a:avLst/>
          </a:prstGeom>
          <a:noFill/>
        </p:spPr>
        <p:txBody>
          <a:bodyPr wrap="none" lIns="0" rIns="0" tIns="0" bIns="0" anchor="ctr">
            <a:spAutoFit/>
          </a:bodyPr>
          <a:lstStyle/>
          <a:p>
            <a:pPr algn="l"/>
            <a:r>
              <a:rPr sz="1100" b="1">
                <a:solidFill>
                  <a:srgbClr val="1F2933"/>
                </a:solidFill>
                <a:latin typeface="Calibri"/>
              </a:rPr>
              <a:t>2.7</a:t>
            </a:r>
          </a:p>
        </p:txBody>
      </p:sp>
      <p:cxnSp>
        <p:nvCxnSpPr>
          <p:cNvPr id="70" name="Connector 69"/>
          <p:cNvCxnSpPr/>
          <p:nvPr/>
        </p:nvCxnSpPr>
        <p:spPr>
          <a:xfrm>
            <a:off x="190500" y="3028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1" name="Rectangle 70"/>
          <p:cNvSpPr/>
          <p:nvPr/>
        </p:nvSpPr>
        <p:spPr>
          <a:xfrm>
            <a:off x="190500" y="30670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285750" y="30289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F</a:t>
            </a:r>
          </a:p>
        </p:txBody>
      </p:sp>
      <p:sp>
        <p:nvSpPr>
          <p:cNvPr id="73" name="Oval 72"/>
          <p:cNvSpPr/>
          <p:nvPr/>
        </p:nvSpPr>
        <p:spPr>
          <a:xfrm>
            <a:off x="28479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reeform 73"/>
          <p:cNvSpPr/>
          <p:nvPr/>
        </p:nvSpPr>
        <p:spPr>
          <a:xfrm>
            <a:off x="292417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Oval 74"/>
          <p:cNvSpPr/>
          <p:nvPr/>
        </p:nvSpPr>
        <p:spPr>
          <a:xfrm>
            <a:off x="450532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Freeform 75"/>
          <p:cNvSpPr/>
          <p:nvPr/>
        </p:nvSpPr>
        <p:spPr>
          <a:xfrm>
            <a:off x="458152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Oval 76"/>
          <p:cNvSpPr/>
          <p:nvPr/>
        </p:nvSpPr>
        <p:spPr>
          <a:xfrm>
            <a:off x="61626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Freeform 77"/>
          <p:cNvSpPr/>
          <p:nvPr/>
        </p:nvSpPr>
        <p:spPr>
          <a:xfrm>
            <a:off x="623887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Oval 78"/>
          <p:cNvSpPr/>
          <p:nvPr/>
        </p:nvSpPr>
        <p:spPr>
          <a:xfrm>
            <a:off x="782002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Oval 79"/>
          <p:cNvSpPr/>
          <p:nvPr/>
        </p:nvSpPr>
        <p:spPr>
          <a:xfrm>
            <a:off x="947737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0420350" y="3114675"/>
            <a:ext cx="8763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11334750" y="3028950"/>
            <a:ext cx="419100" cy="304800"/>
          </a:xfrm>
          <a:prstGeom prst="rect">
            <a:avLst/>
          </a:prstGeom>
          <a:noFill/>
        </p:spPr>
        <p:txBody>
          <a:bodyPr wrap="none" lIns="0" rIns="0" tIns="0" bIns="0" anchor="ctr">
            <a:spAutoFit/>
          </a:bodyPr>
          <a:lstStyle/>
          <a:p>
            <a:pPr algn="l"/>
            <a:r>
              <a:rPr sz="1100" b="1">
                <a:solidFill>
                  <a:srgbClr val="1F2933"/>
                </a:solidFill>
                <a:latin typeface="Calibri"/>
              </a:rPr>
              <a:t>2.3</a:t>
            </a:r>
          </a:p>
        </p:txBody>
      </p:sp>
      <p:cxnSp>
        <p:nvCxnSpPr>
          <p:cNvPr id="83" name="Connector 82"/>
          <p:cNvCxnSpPr/>
          <p:nvPr/>
        </p:nvCxnSpPr>
        <p:spPr>
          <a:xfrm>
            <a:off x="190500" y="3333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4" name="Rectangle 83"/>
          <p:cNvSpPr/>
          <p:nvPr/>
        </p:nvSpPr>
        <p:spPr>
          <a:xfrm>
            <a:off x="190500" y="33718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285750" y="3333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E</a:t>
            </a:r>
          </a:p>
        </p:txBody>
      </p:sp>
      <p:sp>
        <p:nvSpPr>
          <p:cNvPr id="86" name="Oval 85"/>
          <p:cNvSpPr/>
          <p:nvPr/>
        </p:nvSpPr>
        <p:spPr>
          <a:xfrm>
            <a:off x="28479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Freeform 86"/>
          <p:cNvSpPr/>
          <p:nvPr/>
        </p:nvSpPr>
        <p:spPr>
          <a:xfrm>
            <a:off x="29241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Oval 87"/>
          <p:cNvSpPr/>
          <p:nvPr/>
        </p:nvSpPr>
        <p:spPr>
          <a:xfrm>
            <a:off x="45053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Freeform 88"/>
          <p:cNvSpPr/>
          <p:nvPr/>
        </p:nvSpPr>
        <p:spPr>
          <a:xfrm>
            <a:off x="45815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Oval 89"/>
          <p:cNvSpPr/>
          <p:nvPr/>
        </p:nvSpPr>
        <p:spPr>
          <a:xfrm>
            <a:off x="61626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Freeform 90"/>
          <p:cNvSpPr/>
          <p:nvPr/>
        </p:nvSpPr>
        <p:spPr>
          <a:xfrm>
            <a:off x="62388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Oval 91"/>
          <p:cNvSpPr/>
          <p:nvPr/>
        </p:nvSpPr>
        <p:spPr>
          <a:xfrm>
            <a:off x="78200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Freeform 92"/>
          <p:cNvSpPr/>
          <p:nvPr/>
        </p:nvSpPr>
        <p:spPr>
          <a:xfrm>
            <a:off x="78962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Oval 93"/>
          <p:cNvSpPr/>
          <p:nvPr/>
        </p:nvSpPr>
        <p:spPr>
          <a:xfrm>
            <a:off x="9477375" y="3409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420350" y="3419475"/>
            <a:ext cx="8191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11277600" y="3333750"/>
            <a:ext cx="419100" cy="304800"/>
          </a:xfrm>
          <a:prstGeom prst="rect">
            <a:avLst/>
          </a:prstGeom>
          <a:noFill/>
        </p:spPr>
        <p:txBody>
          <a:bodyPr wrap="none" lIns="0" rIns="0" tIns="0" bIns="0" anchor="ctr">
            <a:spAutoFit/>
          </a:bodyPr>
          <a:lstStyle/>
          <a:p>
            <a:pPr algn="l"/>
            <a:r>
              <a:rPr sz="1100" b="1">
                <a:solidFill>
                  <a:srgbClr val="1F2933"/>
                </a:solidFill>
                <a:latin typeface="Calibri"/>
              </a:rPr>
              <a:t>2.1</a:t>
            </a:r>
          </a:p>
        </p:txBody>
      </p:sp>
      <p:cxnSp>
        <p:nvCxnSpPr>
          <p:cNvPr id="97" name="Connector 96"/>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190500" y="36766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285750" y="3638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H</a:t>
            </a:r>
          </a:p>
        </p:txBody>
      </p:sp>
      <p:sp>
        <p:nvSpPr>
          <p:cNvPr id="100" name="Oval 99"/>
          <p:cNvSpPr/>
          <p:nvPr/>
        </p:nvSpPr>
        <p:spPr>
          <a:xfrm>
            <a:off x="28479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Freeform 100"/>
          <p:cNvSpPr/>
          <p:nvPr/>
        </p:nvSpPr>
        <p:spPr>
          <a:xfrm>
            <a:off x="2924175" y="3714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Oval 101"/>
          <p:cNvSpPr/>
          <p:nvPr/>
        </p:nvSpPr>
        <p:spPr>
          <a:xfrm>
            <a:off x="450532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Freeform 102"/>
          <p:cNvSpPr/>
          <p:nvPr/>
        </p:nvSpPr>
        <p:spPr>
          <a:xfrm>
            <a:off x="458152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Oval 103"/>
          <p:cNvSpPr/>
          <p:nvPr/>
        </p:nvSpPr>
        <p:spPr>
          <a:xfrm>
            <a:off x="61626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reeform 104"/>
          <p:cNvSpPr/>
          <p:nvPr/>
        </p:nvSpPr>
        <p:spPr>
          <a:xfrm>
            <a:off x="623887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782002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Oval 106"/>
          <p:cNvSpPr/>
          <p:nvPr/>
        </p:nvSpPr>
        <p:spPr>
          <a:xfrm>
            <a:off x="947737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0420350" y="3724275"/>
            <a:ext cx="7239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11182350" y="3638550"/>
            <a:ext cx="419100" cy="304800"/>
          </a:xfrm>
          <a:prstGeom prst="rect">
            <a:avLst/>
          </a:prstGeom>
          <a:noFill/>
        </p:spPr>
        <p:txBody>
          <a:bodyPr wrap="none" lIns="0" rIns="0" tIns="0" bIns="0" anchor="ctr">
            <a:spAutoFit/>
          </a:bodyPr>
          <a:lstStyle/>
          <a:p>
            <a:pPr algn="l"/>
            <a:r>
              <a:rPr sz="1100" b="1">
                <a:solidFill>
                  <a:srgbClr val="1F2933"/>
                </a:solidFill>
                <a:latin typeface="Calibri"/>
              </a:rPr>
              <a:t>1.9</a:t>
            </a:r>
          </a:p>
        </p:txBody>
      </p:sp>
      <p:cxnSp>
        <p:nvCxnSpPr>
          <p:cNvPr id="110" name="Connector 109"/>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1" name="Rectangle 110"/>
          <p:cNvSpPr/>
          <p:nvPr/>
        </p:nvSpPr>
        <p:spPr>
          <a:xfrm>
            <a:off x="190500" y="39814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85750" y="3943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G</a:t>
            </a:r>
          </a:p>
        </p:txBody>
      </p:sp>
      <p:sp>
        <p:nvSpPr>
          <p:cNvPr id="113" name="Oval 112"/>
          <p:cNvSpPr/>
          <p:nvPr/>
        </p:nvSpPr>
        <p:spPr>
          <a:xfrm>
            <a:off x="28479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Freeform 113"/>
          <p:cNvSpPr/>
          <p:nvPr/>
        </p:nvSpPr>
        <p:spPr>
          <a:xfrm>
            <a:off x="2924175" y="4019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Oval 114"/>
          <p:cNvSpPr/>
          <p:nvPr/>
        </p:nvSpPr>
        <p:spPr>
          <a:xfrm>
            <a:off x="450532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Freeform 115"/>
          <p:cNvSpPr/>
          <p:nvPr/>
        </p:nvSpPr>
        <p:spPr>
          <a:xfrm>
            <a:off x="458152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Oval 116"/>
          <p:cNvSpPr/>
          <p:nvPr/>
        </p:nvSpPr>
        <p:spPr>
          <a:xfrm>
            <a:off x="61626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623887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782002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7896225" y="4019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Oval 120"/>
          <p:cNvSpPr/>
          <p:nvPr/>
        </p:nvSpPr>
        <p:spPr>
          <a:xfrm>
            <a:off x="9477375" y="4019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420350" y="4029075"/>
            <a:ext cx="6667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11125200" y="3943350"/>
            <a:ext cx="419100" cy="304800"/>
          </a:xfrm>
          <a:prstGeom prst="rect">
            <a:avLst/>
          </a:prstGeom>
          <a:noFill/>
        </p:spPr>
        <p:txBody>
          <a:bodyPr wrap="none" lIns="0" rIns="0" tIns="0" bIns="0" anchor="ctr">
            <a:spAutoFit/>
          </a:bodyPr>
          <a:lstStyle/>
          <a:p>
            <a:pPr algn="l"/>
            <a:r>
              <a:rPr sz="1100" b="1">
                <a:solidFill>
                  <a:srgbClr val="1F2933"/>
                </a:solidFill>
                <a:latin typeface="Calibri"/>
              </a:rPr>
              <a:t>1.8</a:t>
            </a:r>
          </a:p>
        </p:txBody>
      </p:sp>
      <p:cxnSp>
        <p:nvCxnSpPr>
          <p:cNvPr id="124" name="Connector 123"/>
          <p:cNvCxnSpPr/>
          <p:nvPr/>
        </p:nvCxnSpPr>
        <p:spPr>
          <a:xfrm>
            <a:off x="190500" y="4248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5" name="Oval 124"/>
          <p:cNvSpPr/>
          <p:nvPr/>
        </p:nvSpPr>
        <p:spPr>
          <a:xfrm>
            <a:off x="200025" y="43243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381000" y="43053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27" name="Oval 126"/>
          <p:cNvSpPr/>
          <p:nvPr/>
        </p:nvSpPr>
        <p:spPr>
          <a:xfrm>
            <a:off x="2065020" y="43243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Freeform 127"/>
          <p:cNvSpPr/>
          <p:nvPr/>
        </p:nvSpPr>
        <p:spPr>
          <a:xfrm>
            <a:off x="2133600" y="43243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2245995" y="43053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30" name="Oval 129"/>
          <p:cNvSpPr/>
          <p:nvPr/>
        </p:nvSpPr>
        <p:spPr>
          <a:xfrm>
            <a:off x="3678555" y="43243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Freeform 130"/>
          <p:cNvSpPr/>
          <p:nvPr/>
        </p:nvSpPr>
        <p:spPr>
          <a:xfrm>
            <a:off x="3743325" y="43243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3859530" y="43053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33" name="Oval 132"/>
          <p:cNvSpPr/>
          <p:nvPr/>
        </p:nvSpPr>
        <p:spPr>
          <a:xfrm>
            <a:off x="5103495" y="43243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TextBox 133"/>
          <p:cNvSpPr txBox="1"/>
          <p:nvPr/>
        </p:nvSpPr>
        <p:spPr>
          <a:xfrm>
            <a:off x="5284470" y="43053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35" name="TextBox 134"/>
          <p:cNvSpPr txBox="1"/>
          <p:nvPr/>
        </p:nvSpPr>
        <p:spPr>
          <a:xfrm>
            <a:off x="190500" y="45339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STRATEGIC GROUPS</a:t>
            </a:r>
          </a:p>
        </p:txBody>
      </p:sp>
      <p:sp>
        <p:nvSpPr>
          <p:cNvPr id="136" name="Rectangle 135"/>
          <p:cNvSpPr/>
          <p:nvPr/>
        </p:nvSpPr>
        <p:spPr>
          <a:xfrm>
            <a:off x="190500" y="47244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90500" y="47815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138" name="TextBox 137"/>
          <p:cNvSpPr txBox="1"/>
          <p:nvPr/>
        </p:nvSpPr>
        <p:spPr>
          <a:xfrm>
            <a:off x="190500" y="49530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Company B, Company A, Company C, Company D</a:t>
            </a:r>
          </a:p>
        </p:txBody>
      </p:sp>
      <p:sp>
        <p:nvSpPr>
          <p:cNvPr id="139" name="TextBox 138"/>
          <p:cNvSpPr txBox="1"/>
          <p:nvPr/>
        </p:nvSpPr>
        <p:spPr>
          <a:xfrm>
            <a:off x="190500" y="53149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scale and share; weakest on innovation pipeline.</a:t>
            </a:r>
          </a:p>
        </p:txBody>
      </p:sp>
      <p:sp>
        <p:nvSpPr>
          <p:cNvPr id="140" name="Rectangle 139"/>
          <p:cNvSpPr/>
          <p:nvPr/>
        </p:nvSpPr>
        <p:spPr>
          <a:xfrm>
            <a:off x="4191000" y="47244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4191000" y="47815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142" name="TextBox 141"/>
          <p:cNvSpPr txBox="1"/>
          <p:nvPr/>
        </p:nvSpPr>
        <p:spPr>
          <a:xfrm>
            <a:off x="4191000" y="49530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Company F, Company E</a:t>
            </a:r>
          </a:p>
        </p:txBody>
      </p:sp>
      <p:sp>
        <p:nvSpPr>
          <p:cNvPr id="143" name="TextBox 142"/>
          <p:cNvSpPr txBox="1"/>
          <p:nvPr/>
        </p:nvSpPr>
        <p:spPr>
          <a:xfrm>
            <a:off x="4191000" y="53149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segment breadth.</a:t>
            </a:r>
          </a:p>
        </p:txBody>
      </p:sp>
      <p:sp>
        <p:nvSpPr>
          <p:cNvPr id="144" name="Rectangle 143"/>
          <p:cNvSpPr/>
          <p:nvPr/>
        </p:nvSpPr>
        <p:spPr>
          <a:xfrm>
            <a:off x="8191500" y="47244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8191500" y="47815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146" name="TextBox 145"/>
          <p:cNvSpPr txBox="1"/>
          <p:nvPr/>
        </p:nvSpPr>
        <p:spPr>
          <a:xfrm>
            <a:off x="8191500" y="49530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Company H, Company G</a:t>
            </a:r>
          </a:p>
        </p:txBody>
      </p:sp>
      <p:sp>
        <p:nvSpPr>
          <p:cNvPr id="147" name="TextBox 146"/>
          <p:cNvSpPr txBox="1"/>
          <p:nvPr/>
        </p:nvSpPr>
        <p:spPr>
          <a:xfrm>
            <a:off x="8191500" y="53149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scale and share.</a:t>
            </a:r>
          </a:p>
        </p:txBody>
      </p:sp>
      <p:sp>
        <p:nvSpPr>
          <p:cNvPr id="148" name="TextBox 1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Strategic Activity Tracker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Each player's active strategic moves: what, type, source department, signal and who should act</a:t>
            </a:r>
          </a:p>
        </p:txBody>
      </p:sp>
      <p:sp>
        <p:nvSpPr>
          <p:cNvPr id="10" name="TextBox 9"/>
          <p:cNvSpPr txBox="1"/>
          <p:nvPr/>
        </p:nvSpPr>
        <p:spPr>
          <a:xfrm>
            <a:off x="209550" y="1047750"/>
            <a:ext cx="1295400" cy="171450"/>
          </a:xfrm>
          <a:prstGeom prst="rect">
            <a:avLst/>
          </a:prstGeom>
          <a:noFill/>
        </p:spPr>
        <p:txBody>
          <a:bodyPr wrap="square" lIns="28575" rIns="28575" tIns="9525" bIns="9525" anchor="t">
            <a:spAutoFit/>
          </a:bodyPr>
          <a:lstStyle/>
          <a:p>
            <a:pPr algn="l"/>
            <a:r>
              <a:rPr sz="1100" b="1">
                <a:solidFill>
                  <a:srgbClr val="0F2D52"/>
                </a:solidFill>
                <a:latin typeface="Calibri"/>
              </a:rPr>
              <a:t>COMPANY</a:t>
            </a:r>
          </a:p>
        </p:txBody>
      </p:sp>
      <p:sp>
        <p:nvSpPr>
          <p:cNvPr id="11" name="TextBox 10"/>
          <p:cNvSpPr txBox="1"/>
          <p:nvPr/>
        </p:nvSpPr>
        <p:spPr>
          <a:xfrm>
            <a:off x="1543050" y="1047750"/>
            <a:ext cx="2343150" cy="171450"/>
          </a:xfrm>
          <a:prstGeom prst="rect">
            <a:avLst/>
          </a:prstGeom>
          <a:noFill/>
        </p:spPr>
        <p:txBody>
          <a:bodyPr wrap="square" lIns="28575" rIns="28575" tIns="9525" bIns="9525" anchor="t">
            <a:spAutoFit/>
          </a:bodyPr>
          <a:lstStyle/>
          <a:p>
            <a:pPr algn="l"/>
            <a:r>
              <a:rPr sz="1100" b="1">
                <a:solidFill>
                  <a:srgbClr val="0F2D52"/>
                </a:solidFill>
                <a:latin typeface="Calibri"/>
              </a:rPr>
              <a:t>DEVELOPMENT (WHAT IS HAPPENING)</a:t>
            </a:r>
          </a:p>
        </p:txBody>
      </p:sp>
      <p:sp>
        <p:nvSpPr>
          <p:cNvPr id="12" name="TextBox 11"/>
          <p:cNvSpPr txBox="1"/>
          <p:nvPr/>
        </p:nvSpPr>
        <p:spPr>
          <a:xfrm>
            <a:off x="3924300" y="1047750"/>
            <a:ext cx="533400" cy="171450"/>
          </a:xfrm>
          <a:prstGeom prst="rect">
            <a:avLst/>
          </a:prstGeom>
          <a:noFill/>
        </p:spPr>
        <p:txBody>
          <a:bodyPr wrap="none" lIns="0" rIns="0" tIns="0" bIns="0" anchor="t">
            <a:spAutoFit/>
          </a:bodyPr>
          <a:lstStyle/>
          <a:p>
            <a:pPr algn="l"/>
            <a:r>
              <a:rPr sz="1100" b="1">
                <a:solidFill>
                  <a:srgbClr val="0F2D52"/>
                </a:solidFill>
                <a:latin typeface="Calibri"/>
              </a:rPr>
              <a:t>DATE</a:t>
            </a:r>
          </a:p>
        </p:txBody>
      </p:sp>
      <p:sp>
        <p:nvSpPr>
          <p:cNvPr id="13" name="TextBox 12"/>
          <p:cNvSpPr txBox="1"/>
          <p:nvPr/>
        </p:nvSpPr>
        <p:spPr>
          <a:xfrm>
            <a:off x="4495800" y="1047750"/>
            <a:ext cx="438150" cy="171450"/>
          </a:xfrm>
          <a:prstGeom prst="rect">
            <a:avLst/>
          </a:prstGeom>
          <a:noFill/>
        </p:spPr>
        <p:txBody>
          <a:bodyPr wrap="none" lIns="0" rIns="0" tIns="0" bIns="0" anchor="t">
            <a:spAutoFit/>
          </a:bodyPr>
          <a:lstStyle/>
          <a:p>
            <a:pPr algn="l"/>
            <a:r>
              <a:rPr sz="1100" b="1">
                <a:solidFill>
                  <a:srgbClr val="0F2D52"/>
                </a:solidFill>
                <a:latin typeface="Calibri"/>
              </a:rPr>
              <a:t>TYPE</a:t>
            </a:r>
          </a:p>
        </p:txBody>
      </p:sp>
      <p:sp>
        <p:nvSpPr>
          <p:cNvPr id="14" name="TextBox 13"/>
          <p:cNvSpPr txBox="1"/>
          <p:nvPr/>
        </p:nvSpPr>
        <p:spPr>
          <a:xfrm>
            <a:off x="4972050" y="1047750"/>
            <a:ext cx="1200150" cy="171450"/>
          </a:xfrm>
          <a:prstGeom prst="rect">
            <a:avLst/>
          </a:prstGeom>
          <a:noFill/>
        </p:spPr>
        <p:txBody>
          <a:bodyPr wrap="square" lIns="28575" rIns="28575" tIns="9525" bIns="9525" anchor="t">
            <a:spAutoFit/>
          </a:bodyPr>
          <a:lstStyle/>
          <a:p>
            <a:pPr algn="l"/>
            <a:r>
              <a:rPr sz="1100" b="1">
                <a:solidFill>
                  <a:srgbClr val="0F2D52"/>
                </a:solidFill>
                <a:latin typeface="Calibri"/>
              </a:rPr>
              <a:t>SOURCE DEPT</a:t>
            </a:r>
          </a:p>
        </p:txBody>
      </p:sp>
      <p:sp>
        <p:nvSpPr>
          <p:cNvPr id="15" name="TextBox 14"/>
          <p:cNvSpPr txBox="1"/>
          <p:nvPr/>
        </p:nvSpPr>
        <p:spPr>
          <a:xfrm>
            <a:off x="6210300" y="1047750"/>
            <a:ext cx="914400" cy="171450"/>
          </a:xfrm>
          <a:prstGeom prst="rect">
            <a:avLst/>
          </a:prstGeom>
          <a:noFill/>
        </p:spPr>
        <p:txBody>
          <a:bodyPr wrap="square" lIns="28575" rIns="28575" tIns="9525" bIns="9525" anchor="t">
            <a:spAutoFit/>
          </a:bodyPr>
          <a:lstStyle/>
          <a:p>
            <a:pPr algn="l"/>
            <a:r>
              <a:rPr sz="1100" b="1">
                <a:solidFill>
                  <a:srgbClr val="0F2D52"/>
                </a:solidFill>
                <a:latin typeface="Calibri"/>
              </a:rPr>
              <a:t>EVIDENCE</a:t>
            </a:r>
          </a:p>
        </p:txBody>
      </p:sp>
      <p:sp>
        <p:nvSpPr>
          <p:cNvPr id="16" name="TextBox 15"/>
          <p:cNvSpPr txBox="1"/>
          <p:nvPr/>
        </p:nvSpPr>
        <p:spPr>
          <a:xfrm>
            <a:off x="7162800" y="1047750"/>
            <a:ext cx="2152650" cy="171450"/>
          </a:xfrm>
          <a:prstGeom prst="rect">
            <a:avLst/>
          </a:prstGeom>
          <a:noFill/>
        </p:spPr>
        <p:txBody>
          <a:bodyPr wrap="square" lIns="28575" rIns="28575" tIns="9525" bIns="9525" anchor="t">
            <a:spAutoFit/>
          </a:bodyPr>
          <a:lstStyle/>
          <a:p>
            <a:pPr algn="l"/>
            <a:r>
              <a:rPr sz="1100" b="1">
                <a:solidFill>
                  <a:srgbClr val="0F2D52"/>
                </a:solidFill>
                <a:latin typeface="Calibri"/>
              </a:rPr>
              <a:t>SIGNAL (WHAT IT INDICATES)</a:t>
            </a:r>
          </a:p>
        </p:txBody>
      </p:sp>
      <p:sp>
        <p:nvSpPr>
          <p:cNvPr id="17" name="TextBox 16"/>
          <p:cNvSpPr txBox="1"/>
          <p:nvPr/>
        </p:nvSpPr>
        <p:spPr>
          <a:xfrm>
            <a:off x="9353550" y="1047750"/>
            <a:ext cx="2628900" cy="171450"/>
          </a:xfrm>
          <a:prstGeom prst="rect">
            <a:avLst/>
          </a:prstGeom>
          <a:noFill/>
        </p:spPr>
        <p:txBody>
          <a:bodyPr wrap="square" lIns="28575" rIns="28575" tIns="9525" bIns="9525" anchor="t">
            <a:spAutoFit/>
          </a:bodyPr>
          <a:lstStyle/>
          <a:p>
            <a:pPr algn="l"/>
            <a:r>
              <a:rPr sz="1100" b="1">
                <a:solidFill>
                  <a:srgbClr val="0F2D52"/>
                </a:solidFill>
                <a:latin typeface="Calibri"/>
              </a:rPr>
              <a:t>WHO SHOULD ACT</a:t>
            </a:r>
          </a:p>
        </p:txBody>
      </p:sp>
      <p:cxnSp>
        <p:nvCxnSpPr>
          <p:cNvPr id="18" name="Connector 17"/>
          <p:cNvCxnSpPr/>
          <p:nvPr/>
        </p:nvCxnSpPr>
        <p:spPr>
          <a:xfrm>
            <a:off x="190500" y="12382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90500" y="12954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66700" y="12858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A</a:t>
            </a:r>
          </a:p>
        </p:txBody>
      </p:sp>
      <p:sp>
        <p:nvSpPr>
          <p:cNvPr id="21" name="TextBox 20"/>
          <p:cNvSpPr txBox="1"/>
          <p:nvPr/>
        </p:nvSpPr>
        <p:spPr>
          <a:xfrm>
            <a:off x="1543050" y="12858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22" name="TextBox 21"/>
          <p:cNvSpPr txBox="1"/>
          <p:nvPr/>
        </p:nvSpPr>
        <p:spPr>
          <a:xfrm>
            <a:off x="3924300" y="12858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23" name="Rectangle 22"/>
          <p:cNvSpPr/>
          <p:nvPr/>
        </p:nvSpPr>
        <p:spPr>
          <a:xfrm>
            <a:off x="4514850" y="13144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4514850" y="13144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25" name="TextBox 24"/>
          <p:cNvSpPr txBox="1"/>
          <p:nvPr/>
        </p:nvSpPr>
        <p:spPr>
          <a:xfrm>
            <a:off x="4972050" y="12858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26" name="TextBox 25"/>
          <p:cNvSpPr txBox="1"/>
          <p:nvPr/>
        </p:nvSpPr>
        <p:spPr>
          <a:xfrm>
            <a:off x="6210300" y="12858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27" name="TextBox 26"/>
          <p:cNvSpPr txBox="1"/>
          <p:nvPr/>
        </p:nvSpPr>
        <p:spPr>
          <a:xfrm>
            <a:off x="7162800" y="12858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28" name="TextBox 27"/>
          <p:cNvSpPr txBox="1"/>
          <p:nvPr/>
        </p:nvSpPr>
        <p:spPr>
          <a:xfrm>
            <a:off x="9353550" y="12858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29" name="Connector 28"/>
          <p:cNvCxnSpPr/>
          <p:nvPr/>
        </p:nvCxnSpPr>
        <p:spPr>
          <a:xfrm>
            <a:off x="190500" y="17526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90500" y="17907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66700" y="17811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B</a:t>
            </a:r>
          </a:p>
        </p:txBody>
      </p:sp>
      <p:sp>
        <p:nvSpPr>
          <p:cNvPr id="32" name="TextBox 31"/>
          <p:cNvSpPr txBox="1"/>
          <p:nvPr/>
        </p:nvSpPr>
        <p:spPr>
          <a:xfrm>
            <a:off x="1543050" y="17811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Styling Serums and Oils</a:t>
            </a:r>
          </a:p>
        </p:txBody>
      </p:sp>
      <p:sp>
        <p:nvSpPr>
          <p:cNvPr id="33" name="TextBox 32"/>
          <p:cNvSpPr txBox="1"/>
          <p:nvPr/>
        </p:nvSpPr>
        <p:spPr>
          <a:xfrm>
            <a:off x="3924300" y="17811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34" name="Rectangle 33"/>
          <p:cNvSpPr/>
          <p:nvPr/>
        </p:nvSpPr>
        <p:spPr>
          <a:xfrm>
            <a:off x="4514850" y="18097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14850" y="18097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36" name="TextBox 35"/>
          <p:cNvSpPr txBox="1"/>
          <p:nvPr/>
        </p:nvSpPr>
        <p:spPr>
          <a:xfrm>
            <a:off x="4972050" y="17811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37" name="TextBox 36"/>
          <p:cNvSpPr txBox="1"/>
          <p:nvPr/>
        </p:nvSpPr>
        <p:spPr>
          <a:xfrm>
            <a:off x="6210300" y="17811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38" name="TextBox 37"/>
          <p:cNvSpPr txBox="1"/>
          <p:nvPr/>
        </p:nvSpPr>
        <p:spPr>
          <a:xfrm>
            <a:off x="7162800" y="17811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39" name="TextBox 38"/>
          <p:cNvSpPr txBox="1"/>
          <p:nvPr/>
        </p:nvSpPr>
        <p:spPr>
          <a:xfrm>
            <a:off x="9353550" y="17811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40" name="Connector 39"/>
          <p:cNvCxnSpPr/>
          <p:nvPr/>
        </p:nvCxnSpPr>
        <p:spPr>
          <a:xfrm>
            <a:off x="190500" y="22479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190500" y="22860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66700" y="22764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C</a:t>
            </a:r>
          </a:p>
        </p:txBody>
      </p:sp>
      <p:sp>
        <p:nvSpPr>
          <p:cNvPr id="43" name="TextBox 42"/>
          <p:cNvSpPr txBox="1"/>
          <p:nvPr/>
        </p:nvSpPr>
        <p:spPr>
          <a:xfrm>
            <a:off x="1543050" y="22764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Europe</a:t>
            </a:r>
          </a:p>
        </p:txBody>
      </p:sp>
      <p:sp>
        <p:nvSpPr>
          <p:cNvPr id="44" name="TextBox 43"/>
          <p:cNvSpPr txBox="1"/>
          <p:nvPr/>
        </p:nvSpPr>
        <p:spPr>
          <a:xfrm>
            <a:off x="3924300" y="22764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45" name="Rectangle 44"/>
          <p:cNvSpPr/>
          <p:nvPr/>
        </p:nvSpPr>
        <p:spPr>
          <a:xfrm>
            <a:off x="4514850" y="23050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4514850" y="23050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47" name="TextBox 46"/>
          <p:cNvSpPr txBox="1"/>
          <p:nvPr/>
        </p:nvSpPr>
        <p:spPr>
          <a:xfrm>
            <a:off x="4972050" y="22764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48" name="TextBox 47"/>
          <p:cNvSpPr txBox="1"/>
          <p:nvPr/>
        </p:nvSpPr>
        <p:spPr>
          <a:xfrm>
            <a:off x="6210300" y="22764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49" name="TextBox 48"/>
          <p:cNvSpPr txBox="1"/>
          <p:nvPr/>
        </p:nvSpPr>
        <p:spPr>
          <a:xfrm>
            <a:off x="7162800" y="22764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50" name="TextBox 49"/>
          <p:cNvSpPr txBox="1"/>
          <p:nvPr/>
        </p:nvSpPr>
        <p:spPr>
          <a:xfrm>
            <a:off x="9353550" y="22764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51" name="Connector 50"/>
          <p:cNvCxnSpPr/>
          <p:nvPr/>
        </p:nvCxnSpPr>
        <p:spPr>
          <a:xfrm>
            <a:off x="190500" y="27432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2" name="Rectangle 51"/>
          <p:cNvSpPr/>
          <p:nvPr/>
        </p:nvSpPr>
        <p:spPr>
          <a:xfrm>
            <a:off x="190500" y="27813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66700" y="27717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D</a:t>
            </a:r>
          </a:p>
        </p:txBody>
      </p:sp>
      <p:sp>
        <p:nvSpPr>
          <p:cNvPr id="54" name="TextBox 53"/>
          <p:cNvSpPr txBox="1"/>
          <p:nvPr/>
        </p:nvSpPr>
        <p:spPr>
          <a:xfrm>
            <a:off x="1543050" y="27717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Waxes, Clays, Pastes and Pomades</a:t>
            </a:r>
          </a:p>
        </p:txBody>
      </p:sp>
      <p:sp>
        <p:nvSpPr>
          <p:cNvPr id="55" name="TextBox 54"/>
          <p:cNvSpPr txBox="1"/>
          <p:nvPr/>
        </p:nvSpPr>
        <p:spPr>
          <a:xfrm>
            <a:off x="3924300" y="27717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56" name="Rectangle 55"/>
          <p:cNvSpPr/>
          <p:nvPr/>
        </p:nvSpPr>
        <p:spPr>
          <a:xfrm>
            <a:off x="4514850" y="28003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514850" y="28003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58" name="TextBox 57"/>
          <p:cNvSpPr txBox="1"/>
          <p:nvPr/>
        </p:nvSpPr>
        <p:spPr>
          <a:xfrm>
            <a:off x="4972050" y="27717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59" name="TextBox 58"/>
          <p:cNvSpPr txBox="1"/>
          <p:nvPr/>
        </p:nvSpPr>
        <p:spPr>
          <a:xfrm>
            <a:off x="6210300" y="27717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60" name="TextBox 59"/>
          <p:cNvSpPr txBox="1"/>
          <p:nvPr/>
        </p:nvSpPr>
        <p:spPr>
          <a:xfrm>
            <a:off x="7162800" y="27717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61" name="TextBox 60"/>
          <p:cNvSpPr txBox="1"/>
          <p:nvPr/>
        </p:nvSpPr>
        <p:spPr>
          <a:xfrm>
            <a:off x="9353550" y="27717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62" name="Connector 61"/>
          <p:cNvCxnSpPr/>
          <p:nvPr/>
        </p:nvCxnSpPr>
        <p:spPr>
          <a:xfrm>
            <a:off x="190500" y="32385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3" name="Rectangle 62"/>
          <p:cNvSpPr/>
          <p:nvPr/>
        </p:nvSpPr>
        <p:spPr>
          <a:xfrm>
            <a:off x="190500" y="32766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66700" y="32670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E</a:t>
            </a:r>
          </a:p>
        </p:txBody>
      </p:sp>
      <p:sp>
        <p:nvSpPr>
          <p:cNvPr id="65" name="TextBox 64"/>
          <p:cNvSpPr txBox="1"/>
          <p:nvPr/>
        </p:nvSpPr>
        <p:spPr>
          <a:xfrm>
            <a:off x="1543050" y="32670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Latin America</a:t>
            </a:r>
          </a:p>
        </p:txBody>
      </p:sp>
      <p:sp>
        <p:nvSpPr>
          <p:cNvPr id="66" name="TextBox 65"/>
          <p:cNvSpPr txBox="1"/>
          <p:nvPr/>
        </p:nvSpPr>
        <p:spPr>
          <a:xfrm>
            <a:off x="3924300" y="32670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67" name="Rectangle 66"/>
          <p:cNvSpPr/>
          <p:nvPr/>
        </p:nvSpPr>
        <p:spPr>
          <a:xfrm>
            <a:off x="4514850" y="32956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4514850" y="32956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69" name="TextBox 68"/>
          <p:cNvSpPr txBox="1"/>
          <p:nvPr/>
        </p:nvSpPr>
        <p:spPr>
          <a:xfrm>
            <a:off x="4972050" y="32670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70" name="TextBox 69"/>
          <p:cNvSpPr txBox="1"/>
          <p:nvPr/>
        </p:nvSpPr>
        <p:spPr>
          <a:xfrm>
            <a:off x="6210300" y="32670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71" name="TextBox 70"/>
          <p:cNvSpPr txBox="1"/>
          <p:nvPr/>
        </p:nvSpPr>
        <p:spPr>
          <a:xfrm>
            <a:off x="7162800" y="32670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72" name="TextBox 71"/>
          <p:cNvSpPr txBox="1"/>
          <p:nvPr/>
        </p:nvSpPr>
        <p:spPr>
          <a:xfrm>
            <a:off x="9353550" y="32670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73" name="Connector 72"/>
          <p:cNvCxnSpPr/>
          <p:nvPr/>
        </p:nvCxnSpPr>
        <p:spPr>
          <a:xfrm>
            <a:off x="190500" y="37338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190500" y="37719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66700" y="37623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F</a:t>
            </a:r>
          </a:p>
        </p:txBody>
      </p:sp>
      <p:sp>
        <p:nvSpPr>
          <p:cNvPr id="76" name="TextBox 75"/>
          <p:cNvSpPr txBox="1"/>
          <p:nvPr/>
        </p:nvSpPr>
        <p:spPr>
          <a:xfrm>
            <a:off x="1543050" y="37623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Styling Serums and Oils</a:t>
            </a:r>
          </a:p>
        </p:txBody>
      </p:sp>
      <p:sp>
        <p:nvSpPr>
          <p:cNvPr id="77" name="TextBox 76"/>
          <p:cNvSpPr txBox="1"/>
          <p:nvPr/>
        </p:nvSpPr>
        <p:spPr>
          <a:xfrm>
            <a:off x="3924300" y="37623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78" name="Rectangle 77"/>
          <p:cNvSpPr/>
          <p:nvPr/>
        </p:nvSpPr>
        <p:spPr>
          <a:xfrm>
            <a:off x="4514850" y="37909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514850" y="37909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80" name="TextBox 79"/>
          <p:cNvSpPr txBox="1"/>
          <p:nvPr/>
        </p:nvSpPr>
        <p:spPr>
          <a:xfrm>
            <a:off x="4972050" y="37623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81" name="TextBox 80"/>
          <p:cNvSpPr txBox="1"/>
          <p:nvPr/>
        </p:nvSpPr>
        <p:spPr>
          <a:xfrm>
            <a:off x="6210300" y="37623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82" name="TextBox 81"/>
          <p:cNvSpPr txBox="1"/>
          <p:nvPr/>
        </p:nvSpPr>
        <p:spPr>
          <a:xfrm>
            <a:off x="7162800" y="37623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83" name="TextBox 82"/>
          <p:cNvSpPr txBox="1"/>
          <p:nvPr/>
        </p:nvSpPr>
        <p:spPr>
          <a:xfrm>
            <a:off x="9353550" y="37623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84" name="Connector 83"/>
          <p:cNvCxnSpPr/>
          <p:nvPr/>
        </p:nvCxnSpPr>
        <p:spPr>
          <a:xfrm>
            <a:off x="190500" y="42291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5" name="Rectangle 84"/>
          <p:cNvSpPr/>
          <p:nvPr/>
        </p:nvSpPr>
        <p:spPr>
          <a:xfrm>
            <a:off x="190500" y="42672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266700" y="42576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G</a:t>
            </a:r>
          </a:p>
        </p:txBody>
      </p:sp>
      <p:sp>
        <p:nvSpPr>
          <p:cNvPr id="87" name="TextBox 86"/>
          <p:cNvSpPr txBox="1"/>
          <p:nvPr/>
        </p:nvSpPr>
        <p:spPr>
          <a:xfrm>
            <a:off x="1543050" y="42576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88" name="TextBox 87"/>
          <p:cNvSpPr txBox="1"/>
          <p:nvPr/>
        </p:nvSpPr>
        <p:spPr>
          <a:xfrm>
            <a:off x="3924300" y="42576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89" name="Rectangle 88"/>
          <p:cNvSpPr/>
          <p:nvPr/>
        </p:nvSpPr>
        <p:spPr>
          <a:xfrm>
            <a:off x="4514850" y="42862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TextBox 89"/>
          <p:cNvSpPr txBox="1"/>
          <p:nvPr/>
        </p:nvSpPr>
        <p:spPr>
          <a:xfrm>
            <a:off x="4514850" y="42862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91" name="TextBox 90"/>
          <p:cNvSpPr txBox="1"/>
          <p:nvPr/>
        </p:nvSpPr>
        <p:spPr>
          <a:xfrm>
            <a:off x="4972050" y="42576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92" name="TextBox 91"/>
          <p:cNvSpPr txBox="1"/>
          <p:nvPr/>
        </p:nvSpPr>
        <p:spPr>
          <a:xfrm>
            <a:off x="6210300" y="42576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93" name="TextBox 92"/>
          <p:cNvSpPr txBox="1"/>
          <p:nvPr/>
        </p:nvSpPr>
        <p:spPr>
          <a:xfrm>
            <a:off x="7162800" y="42576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94" name="TextBox 93"/>
          <p:cNvSpPr txBox="1"/>
          <p:nvPr/>
        </p:nvSpPr>
        <p:spPr>
          <a:xfrm>
            <a:off x="9353550" y="42576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95" name="Connector 94"/>
          <p:cNvCxnSpPr/>
          <p:nvPr/>
        </p:nvCxnSpPr>
        <p:spPr>
          <a:xfrm>
            <a:off x="190500" y="47244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6" name="Rectangle 95"/>
          <p:cNvSpPr/>
          <p:nvPr/>
        </p:nvSpPr>
        <p:spPr>
          <a:xfrm>
            <a:off x="190500" y="47625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66700" y="47529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H</a:t>
            </a:r>
          </a:p>
        </p:txBody>
      </p:sp>
      <p:sp>
        <p:nvSpPr>
          <p:cNvPr id="98" name="TextBox 97"/>
          <p:cNvSpPr txBox="1"/>
          <p:nvPr/>
        </p:nvSpPr>
        <p:spPr>
          <a:xfrm>
            <a:off x="1543050" y="47529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Waxes, Clays, Pastes and Pomades</a:t>
            </a:r>
          </a:p>
        </p:txBody>
      </p:sp>
      <p:sp>
        <p:nvSpPr>
          <p:cNvPr id="99" name="TextBox 98"/>
          <p:cNvSpPr txBox="1"/>
          <p:nvPr/>
        </p:nvSpPr>
        <p:spPr>
          <a:xfrm>
            <a:off x="3924300" y="47529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100" name="Rectangle 99"/>
          <p:cNvSpPr/>
          <p:nvPr/>
        </p:nvSpPr>
        <p:spPr>
          <a:xfrm>
            <a:off x="4514850" y="47815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514850" y="47815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02" name="TextBox 101"/>
          <p:cNvSpPr txBox="1"/>
          <p:nvPr/>
        </p:nvSpPr>
        <p:spPr>
          <a:xfrm>
            <a:off x="4972050" y="47529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103" name="TextBox 102"/>
          <p:cNvSpPr txBox="1"/>
          <p:nvPr/>
        </p:nvSpPr>
        <p:spPr>
          <a:xfrm>
            <a:off x="6210300" y="47529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04" name="TextBox 103"/>
          <p:cNvSpPr txBox="1"/>
          <p:nvPr/>
        </p:nvSpPr>
        <p:spPr>
          <a:xfrm>
            <a:off x="7162800" y="47529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105" name="TextBox 104"/>
          <p:cNvSpPr txBox="1"/>
          <p:nvPr/>
        </p:nvSpPr>
        <p:spPr>
          <a:xfrm>
            <a:off x="9353550" y="47529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106" name="Connector 105"/>
          <p:cNvCxnSpPr/>
          <p:nvPr/>
        </p:nvCxnSpPr>
        <p:spPr>
          <a:xfrm>
            <a:off x="190500" y="52197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7" name="Rectangle 106"/>
          <p:cNvSpPr/>
          <p:nvPr/>
        </p:nvSpPr>
        <p:spPr>
          <a:xfrm>
            <a:off x="190500" y="5286375"/>
            <a:ext cx="285750" cy="15240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190500"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109" name="TextBox 108"/>
          <p:cNvSpPr txBox="1"/>
          <p:nvPr/>
        </p:nvSpPr>
        <p:spPr>
          <a:xfrm>
            <a:off x="514350"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M&amp;A</a:t>
            </a:r>
          </a:p>
        </p:txBody>
      </p:sp>
      <p:sp>
        <p:nvSpPr>
          <p:cNvPr id="110" name="Rectangle 109"/>
          <p:cNvSpPr/>
          <p:nvPr/>
        </p:nvSpPr>
        <p:spPr>
          <a:xfrm>
            <a:off x="923925" y="5286375"/>
            <a:ext cx="285750" cy="1524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923925"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12" name="TextBox 111"/>
          <p:cNvSpPr txBox="1"/>
          <p:nvPr/>
        </p:nvSpPr>
        <p:spPr>
          <a:xfrm>
            <a:off x="1247775"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Product / portfolio</a:t>
            </a:r>
          </a:p>
        </p:txBody>
      </p:sp>
      <p:sp>
        <p:nvSpPr>
          <p:cNvPr id="113" name="Rectangle 112"/>
          <p:cNvSpPr/>
          <p:nvPr/>
        </p:nvSpPr>
        <p:spPr>
          <a:xfrm>
            <a:off x="2724150" y="5286375"/>
            <a:ext cx="285750" cy="152400"/>
          </a:xfrm>
          <a:prstGeom prst="rect">
            <a:avLst/>
          </a:prstGeom>
          <a:solidFill>
            <a:srgbClr val="6B7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2724150"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EX</a:t>
            </a:r>
          </a:p>
        </p:txBody>
      </p:sp>
      <p:sp>
        <p:nvSpPr>
          <p:cNvPr id="115" name="TextBox 114"/>
          <p:cNvSpPr txBox="1"/>
          <p:nvPr/>
        </p:nvSpPr>
        <p:spPr>
          <a:xfrm>
            <a:off x="3048000"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Expansion</a:t>
            </a:r>
          </a:p>
        </p:txBody>
      </p:sp>
      <p:sp>
        <p:nvSpPr>
          <p:cNvPr id="116" name="Rectangle 115"/>
          <p:cNvSpPr/>
          <p:nvPr/>
        </p:nvSpPr>
        <p:spPr>
          <a:xfrm>
            <a:off x="3857625" y="5286375"/>
            <a:ext cx="285750" cy="1524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3857625"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RD</a:t>
            </a:r>
          </a:p>
        </p:txBody>
      </p:sp>
      <p:sp>
        <p:nvSpPr>
          <p:cNvPr id="118" name="TextBox 117"/>
          <p:cNvSpPr txBox="1"/>
          <p:nvPr/>
        </p:nvSpPr>
        <p:spPr>
          <a:xfrm>
            <a:off x="4181475"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R&amp;D / technology</a:t>
            </a:r>
          </a:p>
        </p:txBody>
      </p:sp>
      <p:sp>
        <p:nvSpPr>
          <p:cNvPr id="119" name="Rectangle 118"/>
          <p:cNvSpPr/>
          <p:nvPr/>
        </p:nvSpPr>
        <p:spPr>
          <a:xfrm>
            <a:off x="5457825" y="5286375"/>
            <a:ext cx="285750" cy="152400"/>
          </a:xfrm>
          <a:prstGeom prst="rect">
            <a:avLst/>
          </a:prstGeom>
          <a:solidFill>
            <a:srgbClr val="C039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5457825"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RG</a:t>
            </a:r>
          </a:p>
        </p:txBody>
      </p:sp>
      <p:sp>
        <p:nvSpPr>
          <p:cNvPr id="121" name="TextBox 120"/>
          <p:cNvSpPr txBox="1"/>
          <p:nvPr/>
        </p:nvSpPr>
        <p:spPr>
          <a:xfrm>
            <a:off x="5781675"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Regulation / compliance</a:t>
            </a:r>
          </a:p>
        </p:txBody>
      </p:sp>
      <p:sp>
        <p:nvSpPr>
          <p:cNvPr id="122" name="Rectangle 121"/>
          <p:cNvSpPr/>
          <p:nvPr/>
        </p:nvSpPr>
        <p:spPr>
          <a:xfrm>
            <a:off x="7524750" y="5286375"/>
            <a:ext cx="285750" cy="152400"/>
          </a:xfrm>
          <a:prstGeom prst="rect">
            <a:avLst/>
          </a:prstGeom>
          <a:solidFill>
            <a:srgbClr val="17768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7524750"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CP</a:t>
            </a:r>
          </a:p>
        </p:txBody>
      </p:sp>
      <p:sp>
        <p:nvSpPr>
          <p:cNvPr id="124" name="TextBox 123"/>
          <p:cNvSpPr txBox="1"/>
          <p:nvPr/>
        </p:nvSpPr>
        <p:spPr>
          <a:xfrm>
            <a:off x="7848600"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Capital / funding</a:t>
            </a:r>
          </a:p>
        </p:txBody>
      </p:sp>
      <p:sp>
        <p:nvSpPr>
          <p:cNvPr id="125" name="TextBox 124"/>
          <p:cNvSpPr txBox="1"/>
          <p:nvPr/>
        </p:nvSpPr>
        <p:spPr>
          <a:xfrm>
            <a:off x="190500" y="5505450"/>
            <a:ext cx="11811000" cy="171450"/>
          </a:xfrm>
          <a:prstGeom prst="rect">
            <a:avLst/>
          </a:prstGeom>
          <a:noFill/>
        </p:spPr>
        <p:txBody>
          <a:bodyPr wrap="square" lIns="28575" rIns="28575" tIns="9525" bIns="9525" anchor="t">
            <a:spAutoFit/>
          </a:bodyPr>
          <a:lstStyle/>
          <a:p>
            <a:pPr algn="l"/>
            <a:r>
              <a:rPr sz="1100" b="0">
                <a:solidFill>
                  <a:srgbClr val="5F6B7A"/>
                </a:solidFill>
                <a:latin typeface="Calibri"/>
              </a:rPr>
              <a:t>Dates, deal values and evidence sources populate from the research feed; until then each row reads the player's most telling active strategy.</a:t>
            </a:r>
          </a:p>
        </p:txBody>
      </p:sp>
      <p:sp>
        <p:nvSpPr>
          <p:cNvPr id="126" name="TextBox 12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Strategic Activity by Function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Where competitor activity concentrates by type and department, and what it means for each function</a:t>
            </a:r>
          </a:p>
        </p:txBody>
      </p:sp>
      <p:sp>
        <p:nvSpPr>
          <p:cNvPr id="10" name="Rectangle 9"/>
          <p:cNvSpPr/>
          <p:nvPr/>
        </p:nvSpPr>
        <p:spPr>
          <a:xfrm>
            <a:off x="190500" y="16383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85750" y="16002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A</a:t>
            </a:r>
          </a:p>
        </p:txBody>
      </p:sp>
      <p:sp>
        <p:nvSpPr>
          <p:cNvPr id="12" name="Rectangle 11"/>
          <p:cNvSpPr/>
          <p:nvPr/>
        </p:nvSpPr>
        <p:spPr>
          <a:xfrm>
            <a:off x="190500" y="18859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85750" y="18478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B</a:t>
            </a:r>
          </a:p>
        </p:txBody>
      </p:sp>
      <p:sp>
        <p:nvSpPr>
          <p:cNvPr id="14" name="Rectangle 13"/>
          <p:cNvSpPr/>
          <p:nvPr/>
        </p:nvSpPr>
        <p:spPr>
          <a:xfrm>
            <a:off x="190500" y="21336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85750" y="20955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C</a:t>
            </a:r>
          </a:p>
        </p:txBody>
      </p:sp>
      <p:sp>
        <p:nvSpPr>
          <p:cNvPr id="16" name="Rectangle 15"/>
          <p:cNvSpPr/>
          <p:nvPr/>
        </p:nvSpPr>
        <p:spPr>
          <a:xfrm>
            <a:off x="190500" y="23812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85750" y="23431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D</a:t>
            </a:r>
          </a:p>
        </p:txBody>
      </p:sp>
      <p:sp>
        <p:nvSpPr>
          <p:cNvPr id="18" name="Rectangle 17"/>
          <p:cNvSpPr/>
          <p:nvPr/>
        </p:nvSpPr>
        <p:spPr>
          <a:xfrm>
            <a:off x="190500" y="262890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85750" y="25908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E</a:t>
            </a:r>
          </a:p>
        </p:txBody>
      </p:sp>
      <p:sp>
        <p:nvSpPr>
          <p:cNvPr id="20" name="Rectangle 19"/>
          <p:cNvSpPr/>
          <p:nvPr/>
        </p:nvSpPr>
        <p:spPr>
          <a:xfrm>
            <a:off x="190500" y="287655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85750" y="28384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F</a:t>
            </a:r>
          </a:p>
        </p:txBody>
      </p:sp>
      <p:sp>
        <p:nvSpPr>
          <p:cNvPr id="22" name="Rectangle 21"/>
          <p:cNvSpPr/>
          <p:nvPr/>
        </p:nvSpPr>
        <p:spPr>
          <a:xfrm>
            <a:off x="190500" y="312420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85750" y="30861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G</a:t>
            </a:r>
          </a:p>
        </p:txBody>
      </p:sp>
      <p:sp>
        <p:nvSpPr>
          <p:cNvPr id="24" name="Rectangle 23"/>
          <p:cNvSpPr/>
          <p:nvPr/>
        </p:nvSpPr>
        <p:spPr>
          <a:xfrm>
            <a:off x="190500" y="337185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285750" y="33337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H</a:t>
            </a:r>
          </a:p>
        </p:txBody>
      </p:sp>
      <p:sp>
        <p:nvSpPr>
          <p:cNvPr id="26" name="TextBox 25"/>
          <p:cNvSpPr txBox="1"/>
          <p:nvPr/>
        </p:nvSpPr>
        <p:spPr>
          <a:xfrm>
            <a:off x="1714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Moves by type (count)</a:t>
            </a:r>
          </a:p>
        </p:txBody>
      </p:sp>
      <p:sp>
        <p:nvSpPr>
          <p:cNvPr id="27" name="TextBox 26"/>
          <p:cNvSpPr txBox="1"/>
          <p:nvPr/>
        </p:nvSpPr>
        <p:spPr>
          <a:xfrm>
            <a:off x="1714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MA</a:t>
            </a:r>
          </a:p>
        </p:txBody>
      </p:sp>
      <p:sp>
        <p:nvSpPr>
          <p:cNvPr id="28" name="TextBox 27"/>
          <p:cNvSpPr txBox="1"/>
          <p:nvPr/>
        </p:nvSpPr>
        <p:spPr>
          <a:xfrm>
            <a:off x="2264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PR</a:t>
            </a:r>
          </a:p>
        </p:txBody>
      </p:sp>
      <p:sp>
        <p:nvSpPr>
          <p:cNvPr id="29" name="TextBox 28"/>
          <p:cNvSpPr txBox="1"/>
          <p:nvPr/>
        </p:nvSpPr>
        <p:spPr>
          <a:xfrm>
            <a:off x="2815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EX</a:t>
            </a:r>
          </a:p>
        </p:txBody>
      </p:sp>
      <p:sp>
        <p:nvSpPr>
          <p:cNvPr id="30" name="TextBox 29"/>
          <p:cNvSpPr txBox="1"/>
          <p:nvPr/>
        </p:nvSpPr>
        <p:spPr>
          <a:xfrm>
            <a:off x="3365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RD</a:t>
            </a:r>
          </a:p>
        </p:txBody>
      </p:sp>
      <p:sp>
        <p:nvSpPr>
          <p:cNvPr id="31" name="TextBox 30"/>
          <p:cNvSpPr txBox="1"/>
          <p:nvPr/>
        </p:nvSpPr>
        <p:spPr>
          <a:xfrm>
            <a:off x="3915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RG</a:t>
            </a:r>
          </a:p>
        </p:txBody>
      </p:sp>
      <p:sp>
        <p:nvSpPr>
          <p:cNvPr id="32" name="TextBox 31"/>
          <p:cNvSpPr txBox="1"/>
          <p:nvPr/>
        </p:nvSpPr>
        <p:spPr>
          <a:xfrm>
            <a:off x="4466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CP</a:t>
            </a:r>
          </a:p>
        </p:txBody>
      </p:sp>
      <p:sp>
        <p:nvSpPr>
          <p:cNvPr id="33" name="Rectangle 32"/>
          <p:cNvSpPr/>
          <p:nvPr/>
        </p:nvSpPr>
        <p:spPr>
          <a:xfrm>
            <a:off x="1724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1714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5" name="Rectangle 34"/>
          <p:cNvSpPr/>
          <p:nvPr/>
        </p:nvSpPr>
        <p:spPr>
          <a:xfrm>
            <a:off x="2274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2824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15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8" name="Rectangle 37"/>
          <p:cNvSpPr/>
          <p:nvPr/>
        </p:nvSpPr>
        <p:spPr>
          <a:xfrm>
            <a:off x="3375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365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0" name="Rectangle 39"/>
          <p:cNvSpPr/>
          <p:nvPr/>
        </p:nvSpPr>
        <p:spPr>
          <a:xfrm>
            <a:off x="3925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915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2" name="Rectangle 41"/>
          <p:cNvSpPr/>
          <p:nvPr/>
        </p:nvSpPr>
        <p:spPr>
          <a:xfrm>
            <a:off x="4475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466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4" name="Rectangle 43"/>
          <p:cNvSpPr/>
          <p:nvPr/>
        </p:nvSpPr>
        <p:spPr>
          <a:xfrm>
            <a:off x="1724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274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264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47" name="Rectangle 46"/>
          <p:cNvSpPr/>
          <p:nvPr/>
        </p:nvSpPr>
        <p:spPr>
          <a:xfrm>
            <a:off x="2824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815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9" name="Rectangle 48"/>
          <p:cNvSpPr/>
          <p:nvPr/>
        </p:nvSpPr>
        <p:spPr>
          <a:xfrm>
            <a:off x="3375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65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1" name="Rectangle 50"/>
          <p:cNvSpPr/>
          <p:nvPr/>
        </p:nvSpPr>
        <p:spPr>
          <a:xfrm>
            <a:off x="3925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4475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4466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4" name="Rectangle 53"/>
          <p:cNvSpPr/>
          <p:nvPr/>
        </p:nvSpPr>
        <p:spPr>
          <a:xfrm>
            <a:off x="1724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1714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6" name="Rectangle 55"/>
          <p:cNvSpPr/>
          <p:nvPr/>
        </p:nvSpPr>
        <p:spPr>
          <a:xfrm>
            <a:off x="2274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2824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2815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9" name="Rectangle 58"/>
          <p:cNvSpPr/>
          <p:nvPr/>
        </p:nvSpPr>
        <p:spPr>
          <a:xfrm>
            <a:off x="3375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365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1" name="Rectangle 60"/>
          <p:cNvSpPr/>
          <p:nvPr/>
        </p:nvSpPr>
        <p:spPr>
          <a:xfrm>
            <a:off x="3925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915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3" name="Rectangle 62"/>
          <p:cNvSpPr/>
          <p:nvPr/>
        </p:nvSpPr>
        <p:spPr>
          <a:xfrm>
            <a:off x="4475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4466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5" name="Rectangle 64"/>
          <p:cNvSpPr/>
          <p:nvPr/>
        </p:nvSpPr>
        <p:spPr>
          <a:xfrm>
            <a:off x="1724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274358"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2264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68" name="Rectangle 67"/>
          <p:cNvSpPr/>
          <p:nvPr/>
        </p:nvSpPr>
        <p:spPr>
          <a:xfrm>
            <a:off x="2824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2815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0" name="Rectangle 69"/>
          <p:cNvSpPr/>
          <p:nvPr/>
        </p:nvSpPr>
        <p:spPr>
          <a:xfrm>
            <a:off x="3375025"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3365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2" name="Rectangle 71"/>
          <p:cNvSpPr/>
          <p:nvPr/>
        </p:nvSpPr>
        <p:spPr>
          <a:xfrm>
            <a:off x="3925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4475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4466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5" name="Rectangle 74"/>
          <p:cNvSpPr/>
          <p:nvPr/>
        </p:nvSpPr>
        <p:spPr>
          <a:xfrm>
            <a:off x="1724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1714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7" name="Rectangle 76"/>
          <p:cNvSpPr/>
          <p:nvPr/>
        </p:nvSpPr>
        <p:spPr>
          <a:xfrm>
            <a:off x="2274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2824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2815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0" name="Rectangle 79"/>
          <p:cNvSpPr/>
          <p:nvPr/>
        </p:nvSpPr>
        <p:spPr>
          <a:xfrm>
            <a:off x="3375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3365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2" name="Rectangle 81"/>
          <p:cNvSpPr/>
          <p:nvPr/>
        </p:nvSpPr>
        <p:spPr>
          <a:xfrm>
            <a:off x="3925358"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3915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4" name="Rectangle 83"/>
          <p:cNvSpPr/>
          <p:nvPr/>
        </p:nvSpPr>
        <p:spPr>
          <a:xfrm>
            <a:off x="4475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4466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6" name="Rectangle 85"/>
          <p:cNvSpPr/>
          <p:nvPr/>
        </p:nvSpPr>
        <p:spPr>
          <a:xfrm>
            <a:off x="1724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2274358"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264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89" name="Rectangle 88"/>
          <p:cNvSpPr/>
          <p:nvPr/>
        </p:nvSpPr>
        <p:spPr>
          <a:xfrm>
            <a:off x="2824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TextBox 89"/>
          <p:cNvSpPr txBox="1"/>
          <p:nvPr/>
        </p:nvSpPr>
        <p:spPr>
          <a:xfrm>
            <a:off x="2815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1" name="Rectangle 90"/>
          <p:cNvSpPr/>
          <p:nvPr/>
        </p:nvSpPr>
        <p:spPr>
          <a:xfrm>
            <a:off x="3375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3365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3" name="Rectangle 92"/>
          <p:cNvSpPr/>
          <p:nvPr/>
        </p:nvSpPr>
        <p:spPr>
          <a:xfrm>
            <a:off x="3925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4475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4466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6" name="Rectangle 95"/>
          <p:cNvSpPr/>
          <p:nvPr/>
        </p:nvSpPr>
        <p:spPr>
          <a:xfrm>
            <a:off x="1724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1714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8" name="Rectangle 97"/>
          <p:cNvSpPr/>
          <p:nvPr/>
        </p:nvSpPr>
        <p:spPr>
          <a:xfrm>
            <a:off x="2274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824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TextBox 99"/>
          <p:cNvSpPr txBox="1"/>
          <p:nvPr/>
        </p:nvSpPr>
        <p:spPr>
          <a:xfrm>
            <a:off x="2815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1" name="Rectangle 100"/>
          <p:cNvSpPr/>
          <p:nvPr/>
        </p:nvSpPr>
        <p:spPr>
          <a:xfrm>
            <a:off x="3375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TextBox 101"/>
          <p:cNvSpPr txBox="1"/>
          <p:nvPr/>
        </p:nvSpPr>
        <p:spPr>
          <a:xfrm>
            <a:off x="3365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3" name="Rectangle 102"/>
          <p:cNvSpPr/>
          <p:nvPr/>
        </p:nvSpPr>
        <p:spPr>
          <a:xfrm>
            <a:off x="3925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3915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5" name="Rectangle 104"/>
          <p:cNvSpPr/>
          <p:nvPr/>
        </p:nvSpPr>
        <p:spPr>
          <a:xfrm>
            <a:off x="4475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TextBox 105"/>
          <p:cNvSpPr txBox="1"/>
          <p:nvPr/>
        </p:nvSpPr>
        <p:spPr>
          <a:xfrm>
            <a:off x="4466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7" name="Rectangle 106"/>
          <p:cNvSpPr/>
          <p:nvPr/>
        </p:nvSpPr>
        <p:spPr>
          <a:xfrm>
            <a:off x="1724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2274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2264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10" name="Rectangle 109"/>
          <p:cNvSpPr/>
          <p:nvPr/>
        </p:nvSpPr>
        <p:spPr>
          <a:xfrm>
            <a:off x="2824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2815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2" name="Rectangle 111"/>
          <p:cNvSpPr/>
          <p:nvPr/>
        </p:nvSpPr>
        <p:spPr>
          <a:xfrm>
            <a:off x="3375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3365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4" name="Rectangle 113"/>
          <p:cNvSpPr/>
          <p:nvPr/>
        </p:nvSpPr>
        <p:spPr>
          <a:xfrm>
            <a:off x="3925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4475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4466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7" name="TextBox 116"/>
          <p:cNvSpPr txBox="1"/>
          <p:nvPr/>
        </p:nvSpPr>
        <p:spPr>
          <a:xfrm>
            <a:off x="52070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department</a:t>
            </a:r>
          </a:p>
        </p:txBody>
      </p:sp>
      <p:sp>
        <p:nvSpPr>
          <p:cNvPr id="118" name="TextBox 117"/>
          <p:cNvSpPr txBox="1"/>
          <p:nvPr/>
        </p:nvSpPr>
        <p:spPr>
          <a:xfrm>
            <a:off x="5207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Product &amp; R&amp;D</a:t>
            </a:r>
          </a:p>
        </p:txBody>
      </p:sp>
      <p:sp>
        <p:nvSpPr>
          <p:cNvPr id="119" name="TextBox 118"/>
          <p:cNvSpPr txBox="1"/>
          <p:nvPr/>
        </p:nvSpPr>
        <p:spPr>
          <a:xfrm>
            <a:off x="6032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Corp. dev.</a:t>
            </a:r>
          </a:p>
        </p:txBody>
      </p:sp>
      <p:sp>
        <p:nvSpPr>
          <p:cNvPr id="120" name="TextBox 119"/>
          <p:cNvSpPr txBox="1"/>
          <p:nvPr/>
        </p:nvSpPr>
        <p:spPr>
          <a:xfrm>
            <a:off x="6858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Operations</a:t>
            </a:r>
          </a:p>
        </p:txBody>
      </p:sp>
      <p:sp>
        <p:nvSpPr>
          <p:cNvPr id="121" name="TextBox 120"/>
          <p:cNvSpPr txBox="1"/>
          <p:nvPr/>
        </p:nvSpPr>
        <p:spPr>
          <a:xfrm>
            <a:off x="7683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Legal &amp; reg.</a:t>
            </a:r>
          </a:p>
        </p:txBody>
      </p:sp>
      <p:sp>
        <p:nvSpPr>
          <p:cNvPr id="122" name="Rectangle 121"/>
          <p:cNvSpPr/>
          <p:nvPr/>
        </p:nvSpPr>
        <p:spPr>
          <a:xfrm>
            <a:off x="5216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5207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24" name="Rectangle 123"/>
          <p:cNvSpPr/>
          <p:nvPr/>
        </p:nvSpPr>
        <p:spPr>
          <a:xfrm>
            <a:off x="6042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TextBox 124"/>
          <p:cNvSpPr txBox="1"/>
          <p:nvPr/>
        </p:nvSpPr>
        <p:spPr>
          <a:xfrm>
            <a:off x="6032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26" name="Rectangle 125"/>
          <p:cNvSpPr/>
          <p:nvPr/>
        </p:nvSpPr>
        <p:spPr>
          <a:xfrm>
            <a:off x="6867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6858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28" name="Rectangle 127"/>
          <p:cNvSpPr/>
          <p:nvPr/>
        </p:nvSpPr>
        <p:spPr>
          <a:xfrm>
            <a:off x="7693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7683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30" name="Rectangle 129"/>
          <p:cNvSpPr/>
          <p:nvPr/>
        </p:nvSpPr>
        <p:spPr>
          <a:xfrm>
            <a:off x="5216525" y="18573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TextBox 130"/>
          <p:cNvSpPr txBox="1"/>
          <p:nvPr/>
        </p:nvSpPr>
        <p:spPr>
          <a:xfrm>
            <a:off x="5207000" y="18573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32" name="Rectangle 131"/>
          <p:cNvSpPr/>
          <p:nvPr/>
        </p:nvSpPr>
        <p:spPr>
          <a:xfrm>
            <a:off x="6042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6867525" y="18573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TextBox 133"/>
          <p:cNvSpPr txBox="1"/>
          <p:nvPr/>
        </p:nvSpPr>
        <p:spPr>
          <a:xfrm>
            <a:off x="6858000" y="18573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35" name="Rectangle 134"/>
          <p:cNvSpPr/>
          <p:nvPr/>
        </p:nvSpPr>
        <p:spPr>
          <a:xfrm>
            <a:off x="7693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5216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5207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38" name="Rectangle 137"/>
          <p:cNvSpPr/>
          <p:nvPr/>
        </p:nvSpPr>
        <p:spPr>
          <a:xfrm>
            <a:off x="6042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6032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0" name="Rectangle 139"/>
          <p:cNvSpPr/>
          <p:nvPr/>
        </p:nvSpPr>
        <p:spPr>
          <a:xfrm>
            <a:off x="6867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6858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2" name="Rectangle 141"/>
          <p:cNvSpPr/>
          <p:nvPr/>
        </p:nvSpPr>
        <p:spPr>
          <a:xfrm>
            <a:off x="7693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TextBox 142"/>
          <p:cNvSpPr txBox="1"/>
          <p:nvPr/>
        </p:nvSpPr>
        <p:spPr>
          <a:xfrm>
            <a:off x="7683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4" name="Rectangle 143"/>
          <p:cNvSpPr/>
          <p:nvPr/>
        </p:nvSpPr>
        <p:spPr>
          <a:xfrm>
            <a:off x="5216525" y="23526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5207000" y="23526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46" name="Rectangle 145"/>
          <p:cNvSpPr/>
          <p:nvPr/>
        </p:nvSpPr>
        <p:spPr>
          <a:xfrm>
            <a:off x="6042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867525" y="23526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TextBox 147"/>
          <p:cNvSpPr txBox="1"/>
          <p:nvPr/>
        </p:nvSpPr>
        <p:spPr>
          <a:xfrm>
            <a:off x="6858000" y="23526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9" name="Rectangle 148"/>
          <p:cNvSpPr/>
          <p:nvPr/>
        </p:nvSpPr>
        <p:spPr>
          <a:xfrm>
            <a:off x="7693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216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207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2" name="Rectangle 151"/>
          <p:cNvSpPr/>
          <p:nvPr/>
        </p:nvSpPr>
        <p:spPr>
          <a:xfrm>
            <a:off x="6042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6032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4" name="Rectangle 153"/>
          <p:cNvSpPr/>
          <p:nvPr/>
        </p:nvSpPr>
        <p:spPr>
          <a:xfrm>
            <a:off x="6867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6858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6" name="Rectangle 155"/>
          <p:cNvSpPr/>
          <p:nvPr/>
        </p:nvSpPr>
        <p:spPr>
          <a:xfrm>
            <a:off x="7693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TextBox 156"/>
          <p:cNvSpPr txBox="1"/>
          <p:nvPr/>
        </p:nvSpPr>
        <p:spPr>
          <a:xfrm>
            <a:off x="7683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8" name="Rectangle 157"/>
          <p:cNvSpPr/>
          <p:nvPr/>
        </p:nvSpPr>
        <p:spPr>
          <a:xfrm>
            <a:off x="5216525" y="28479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5207000" y="28479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60" name="Rectangle 159"/>
          <p:cNvSpPr/>
          <p:nvPr/>
        </p:nvSpPr>
        <p:spPr>
          <a:xfrm>
            <a:off x="6042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6867525" y="28479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6858000" y="28479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3" name="Rectangle 162"/>
          <p:cNvSpPr/>
          <p:nvPr/>
        </p:nvSpPr>
        <p:spPr>
          <a:xfrm>
            <a:off x="7693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5216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TextBox 164"/>
          <p:cNvSpPr txBox="1"/>
          <p:nvPr/>
        </p:nvSpPr>
        <p:spPr>
          <a:xfrm>
            <a:off x="5207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6" name="Rectangle 165"/>
          <p:cNvSpPr/>
          <p:nvPr/>
        </p:nvSpPr>
        <p:spPr>
          <a:xfrm>
            <a:off x="6042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TextBox 166"/>
          <p:cNvSpPr txBox="1"/>
          <p:nvPr/>
        </p:nvSpPr>
        <p:spPr>
          <a:xfrm>
            <a:off x="6032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8" name="Rectangle 167"/>
          <p:cNvSpPr/>
          <p:nvPr/>
        </p:nvSpPr>
        <p:spPr>
          <a:xfrm>
            <a:off x="6867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6858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0" name="Rectangle 169"/>
          <p:cNvSpPr/>
          <p:nvPr/>
        </p:nvSpPr>
        <p:spPr>
          <a:xfrm>
            <a:off x="7693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7683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2" name="Rectangle 171"/>
          <p:cNvSpPr/>
          <p:nvPr/>
        </p:nvSpPr>
        <p:spPr>
          <a:xfrm>
            <a:off x="5216525" y="33432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TextBox 172"/>
          <p:cNvSpPr txBox="1"/>
          <p:nvPr/>
        </p:nvSpPr>
        <p:spPr>
          <a:xfrm>
            <a:off x="5207000" y="33432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74" name="Rectangle 173"/>
          <p:cNvSpPr/>
          <p:nvPr/>
        </p:nvSpPr>
        <p:spPr>
          <a:xfrm>
            <a:off x="6042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6867525" y="33432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6858000" y="33432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7" name="Rectangle 176"/>
          <p:cNvSpPr/>
          <p:nvPr/>
        </p:nvSpPr>
        <p:spPr>
          <a:xfrm>
            <a:off x="7693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8699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region of activity</a:t>
            </a:r>
          </a:p>
        </p:txBody>
      </p:sp>
      <p:sp>
        <p:nvSpPr>
          <p:cNvPr id="179" name="TextBox 178"/>
          <p:cNvSpPr txBox="1"/>
          <p:nvPr/>
        </p:nvSpPr>
        <p:spPr>
          <a:xfrm>
            <a:off x="8699500"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N. America</a:t>
            </a:r>
          </a:p>
        </p:txBody>
      </p:sp>
      <p:sp>
        <p:nvSpPr>
          <p:cNvPr id="180" name="TextBox 179"/>
          <p:cNvSpPr txBox="1"/>
          <p:nvPr/>
        </p:nvSpPr>
        <p:spPr>
          <a:xfrm>
            <a:off x="9249833"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E. Asia</a:t>
            </a:r>
          </a:p>
        </p:txBody>
      </p:sp>
      <p:sp>
        <p:nvSpPr>
          <p:cNvPr id="181" name="TextBox 180"/>
          <p:cNvSpPr txBox="1"/>
          <p:nvPr/>
        </p:nvSpPr>
        <p:spPr>
          <a:xfrm>
            <a:off x="9800167"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Europe</a:t>
            </a:r>
          </a:p>
        </p:txBody>
      </p:sp>
      <p:sp>
        <p:nvSpPr>
          <p:cNvPr id="182" name="TextBox 181"/>
          <p:cNvSpPr txBox="1"/>
          <p:nvPr/>
        </p:nvSpPr>
        <p:spPr>
          <a:xfrm>
            <a:off x="10350500"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S. Asia &amp; Pac.</a:t>
            </a:r>
          </a:p>
        </p:txBody>
      </p:sp>
      <p:sp>
        <p:nvSpPr>
          <p:cNvPr id="183" name="TextBox 182"/>
          <p:cNvSpPr txBox="1"/>
          <p:nvPr/>
        </p:nvSpPr>
        <p:spPr>
          <a:xfrm>
            <a:off x="10900833"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LATAM</a:t>
            </a:r>
          </a:p>
        </p:txBody>
      </p:sp>
      <p:sp>
        <p:nvSpPr>
          <p:cNvPr id="184" name="TextBox 183"/>
          <p:cNvSpPr txBox="1"/>
          <p:nvPr/>
        </p:nvSpPr>
        <p:spPr>
          <a:xfrm>
            <a:off x="11451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MEA</a:t>
            </a:r>
          </a:p>
        </p:txBody>
      </p:sp>
      <p:sp>
        <p:nvSpPr>
          <p:cNvPr id="185" name="Rectangle 184"/>
          <p:cNvSpPr/>
          <p:nvPr/>
        </p:nvSpPr>
        <p:spPr>
          <a:xfrm>
            <a:off x="8709025" y="16097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8699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87" name="Rectangle 186"/>
          <p:cNvSpPr/>
          <p:nvPr/>
        </p:nvSpPr>
        <p:spPr>
          <a:xfrm>
            <a:off x="9259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TextBox 187"/>
          <p:cNvSpPr txBox="1"/>
          <p:nvPr/>
        </p:nvSpPr>
        <p:spPr>
          <a:xfrm>
            <a:off x="9249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89" name="Rectangle 188"/>
          <p:cNvSpPr/>
          <p:nvPr/>
        </p:nvSpPr>
        <p:spPr>
          <a:xfrm>
            <a:off x="9809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9800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91" name="Rectangle 190"/>
          <p:cNvSpPr/>
          <p:nvPr/>
        </p:nvSpPr>
        <p:spPr>
          <a:xfrm>
            <a:off x="10360025"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0910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460692"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8709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9259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9249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97" name="Rectangle 196"/>
          <p:cNvSpPr/>
          <p:nvPr/>
        </p:nvSpPr>
        <p:spPr>
          <a:xfrm>
            <a:off x="9809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9800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99" name="Rectangle 198"/>
          <p:cNvSpPr/>
          <p:nvPr/>
        </p:nvSpPr>
        <p:spPr>
          <a:xfrm>
            <a:off x="10360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10350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01" name="Rectangle 200"/>
          <p:cNvSpPr/>
          <p:nvPr/>
        </p:nvSpPr>
        <p:spPr>
          <a:xfrm>
            <a:off x="10910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1460692"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8709025"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Rectangle 203"/>
          <p:cNvSpPr/>
          <p:nvPr/>
        </p:nvSpPr>
        <p:spPr>
          <a:xfrm>
            <a:off x="9259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9809692" y="21050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9800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07" name="Rectangle 206"/>
          <p:cNvSpPr/>
          <p:nvPr/>
        </p:nvSpPr>
        <p:spPr>
          <a:xfrm>
            <a:off x="10360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10350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09" name="Rectangle 208"/>
          <p:cNvSpPr/>
          <p:nvPr/>
        </p:nvSpPr>
        <p:spPr>
          <a:xfrm>
            <a:off x="10910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10900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11" name="Rectangle 210"/>
          <p:cNvSpPr/>
          <p:nvPr/>
        </p:nvSpPr>
        <p:spPr>
          <a:xfrm>
            <a:off x="11460692"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8709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9259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9809692"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10360025"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TextBox 215"/>
          <p:cNvSpPr txBox="1"/>
          <p:nvPr/>
        </p:nvSpPr>
        <p:spPr>
          <a:xfrm>
            <a:off x="10350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17" name="Rectangle 216"/>
          <p:cNvSpPr/>
          <p:nvPr/>
        </p:nvSpPr>
        <p:spPr>
          <a:xfrm>
            <a:off x="10910358"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TextBox 217"/>
          <p:cNvSpPr txBox="1"/>
          <p:nvPr/>
        </p:nvSpPr>
        <p:spPr>
          <a:xfrm>
            <a:off x="10900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19" name="Rectangle 218"/>
          <p:cNvSpPr/>
          <p:nvPr/>
        </p:nvSpPr>
        <p:spPr>
          <a:xfrm>
            <a:off x="11460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TextBox 219"/>
          <p:cNvSpPr txBox="1"/>
          <p:nvPr/>
        </p:nvSpPr>
        <p:spPr>
          <a:xfrm>
            <a:off x="11451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21" name="Rectangle 220"/>
          <p:cNvSpPr/>
          <p:nvPr/>
        </p:nvSpPr>
        <p:spPr>
          <a:xfrm>
            <a:off x="8709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TextBox 221"/>
          <p:cNvSpPr txBox="1"/>
          <p:nvPr/>
        </p:nvSpPr>
        <p:spPr>
          <a:xfrm>
            <a:off x="8699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23" name="Rectangle 222"/>
          <p:cNvSpPr/>
          <p:nvPr/>
        </p:nvSpPr>
        <p:spPr>
          <a:xfrm>
            <a:off x="9259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9809692"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0360025"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0910358" y="26003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TextBox 226"/>
          <p:cNvSpPr txBox="1"/>
          <p:nvPr/>
        </p:nvSpPr>
        <p:spPr>
          <a:xfrm>
            <a:off x="10900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28" name="Rectangle 227"/>
          <p:cNvSpPr/>
          <p:nvPr/>
        </p:nvSpPr>
        <p:spPr>
          <a:xfrm>
            <a:off x="11460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TextBox 228"/>
          <p:cNvSpPr txBox="1"/>
          <p:nvPr/>
        </p:nvSpPr>
        <p:spPr>
          <a:xfrm>
            <a:off x="11451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0" name="Rectangle 229"/>
          <p:cNvSpPr/>
          <p:nvPr/>
        </p:nvSpPr>
        <p:spPr>
          <a:xfrm>
            <a:off x="8709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TextBox 230"/>
          <p:cNvSpPr txBox="1"/>
          <p:nvPr/>
        </p:nvSpPr>
        <p:spPr>
          <a:xfrm>
            <a:off x="8699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2" name="Rectangle 231"/>
          <p:cNvSpPr/>
          <p:nvPr/>
        </p:nvSpPr>
        <p:spPr>
          <a:xfrm>
            <a:off x="9259358"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TextBox 232"/>
          <p:cNvSpPr txBox="1"/>
          <p:nvPr/>
        </p:nvSpPr>
        <p:spPr>
          <a:xfrm>
            <a:off x="9249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4" name="Rectangle 233"/>
          <p:cNvSpPr/>
          <p:nvPr/>
        </p:nvSpPr>
        <p:spPr>
          <a:xfrm>
            <a:off x="9809692"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0360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0910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460692"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TextBox 237"/>
          <p:cNvSpPr txBox="1"/>
          <p:nvPr/>
        </p:nvSpPr>
        <p:spPr>
          <a:xfrm>
            <a:off x="11451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39" name="Rectangle 238"/>
          <p:cNvSpPr/>
          <p:nvPr/>
        </p:nvSpPr>
        <p:spPr>
          <a:xfrm>
            <a:off x="8709025" y="30956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TextBox 239"/>
          <p:cNvSpPr txBox="1"/>
          <p:nvPr/>
        </p:nvSpPr>
        <p:spPr>
          <a:xfrm>
            <a:off x="8699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41" name="Rectangle 240"/>
          <p:cNvSpPr/>
          <p:nvPr/>
        </p:nvSpPr>
        <p:spPr>
          <a:xfrm>
            <a:off x="9259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TextBox 241"/>
          <p:cNvSpPr txBox="1"/>
          <p:nvPr/>
        </p:nvSpPr>
        <p:spPr>
          <a:xfrm>
            <a:off x="9249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43" name="Rectangle 242"/>
          <p:cNvSpPr/>
          <p:nvPr/>
        </p:nvSpPr>
        <p:spPr>
          <a:xfrm>
            <a:off x="9809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TextBox 243"/>
          <p:cNvSpPr txBox="1"/>
          <p:nvPr/>
        </p:nvSpPr>
        <p:spPr>
          <a:xfrm>
            <a:off x="9800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45" name="Rectangle 244"/>
          <p:cNvSpPr/>
          <p:nvPr/>
        </p:nvSpPr>
        <p:spPr>
          <a:xfrm>
            <a:off x="10360025"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0910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460692"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8709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9259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TextBox 249"/>
          <p:cNvSpPr txBox="1"/>
          <p:nvPr/>
        </p:nvSpPr>
        <p:spPr>
          <a:xfrm>
            <a:off x="9249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51" name="Rectangle 250"/>
          <p:cNvSpPr/>
          <p:nvPr/>
        </p:nvSpPr>
        <p:spPr>
          <a:xfrm>
            <a:off x="9809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TextBox 251"/>
          <p:cNvSpPr txBox="1"/>
          <p:nvPr/>
        </p:nvSpPr>
        <p:spPr>
          <a:xfrm>
            <a:off x="9800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53" name="Rectangle 252"/>
          <p:cNvSpPr/>
          <p:nvPr/>
        </p:nvSpPr>
        <p:spPr>
          <a:xfrm>
            <a:off x="10360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TextBox 253"/>
          <p:cNvSpPr txBox="1"/>
          <p:nvPr/>
        </p:nvSpPr>
        <p:spPr>
          <a:xfrm>
            <a:off x="10350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55" name="Rectangle 254"/>
          <p:cNvSpPr/>
          <p:nvPr/>
        </p:nvSpPr>
        <p:spPr>
          <a:xfrm>
            <a:off x="10910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460692"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90500" y="3676650"/>
            <a:ext cx="209550" cy="123825"/>
          </a:xfrm>
          <a:prstGeom prst="rect">
            <a:avLst/>
          </a:prstGeom>
          <a:solidFill>
            <a:srgbClr val="CFE0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TextBox 257"/>
          <p:cNvSpPr txBox="1"/>
          <p:nvPr/>
        </p:nvSpPr>
        <p:spPr>
          <a:xfrm>
            <a:off x="438150" y="36385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1 move</a:t>
            </a:r>
          </a:p>
        </p:txBody>
      </p:sp>
      <p:sp>
        <p:nvSpPr>
          <p:cNvPr id="259" name="Rectangle 258"/>
          <p:cNvSpPr/>
          <p:nvPr/>
        </p:nvSpPr>
        <p:spPr>
          <a:xfrm>
            <a:off x="1238250" y="3676650"/>
            <a:ext cx="209550" cy="123825"/>
          </a:xfrm>
          <a:prstGeom prst="rect">
            <a:avLst/>
          </a:prstGeom>
          <a:solidFill>
            <a:srgbClr val="8FB4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485900" y="36385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2 moves</a:t>
            </a:r>
          </a:p>
        </p:txBody>
      </p:sp>
      <p:sp>
        <p:nvSpPr>
          <p:cNvPr id="261" name="Rectangle 260"/>
          <p:cNvSpPr/>
          <p:nvPr/>
        </p:nvSpPr>
        <p:spPr>
          <a:xfrm>
            <a:off x="2286000" y="3676650"/>
            <a:ext cx="209550" cy="123825"/>
          </a:xfrm>
          <a:prstGeom prst="rect">
            <a:avLst/>
          </a:prstGeom>
          <a:solidFill>
            <a:srgbClr val="3D73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TextBox 261"/>
          <p:cNvSpPr txBox="1"/>
          <p:nvPr/>
        </p:nvSpPr>
        <p:spPr>
          <a:xfrm>
            <a:off x="2533650" y="36385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3+ moves</a:t>
            </a:r>
          </a:p>
        </p:txBody>
      </p:sp>
      <p:sp>
        <p:nvSpPr>
          <p:cNvPr id="263" name="TextBox 262"/>
          <p:cNvSpPr txBox="1"/>
          <p:nvPr/>
        </p:nvSpPr>
        <p:spPr>
          <a:xfrm>
            <a:off x="3524250" y="3638550"/>
            <a:ext cx="8477250" cy="190500"/>
          </a:xfrm>
          <a:prstGeom prst="rect">
            <a:avLst/>
          </a:prstGeom>
          <a:noFill/>
        </p:spPr>
        <p:txBody>
          <a:bodyPr wrap="square" lIns="28575" rIns="28575" tIns="9525" bIns="9525" anchor="ctr">
            <a:spAutoFit/>
          </a:bodyPr>
          <a:lstStyle/>
          <a:p>
            <a:pPr algn="l"/>
            <a:r>
              <a:rPr sz="1100" b="0">
                <a:solidFill>
                  <a:srgbClr val="5F6B7A"/>
                </a:solidFill>
                <a:latin typeface="Calibri"/>
              </a:rPr>
              <a:t>Type codes: MA M&amp;A, PR Product / portfolio, EX Expansion, RD R&amp;D / technology, RG Regulation / compliance, CP Capital / funding</a:t>
            </a:r>
          </a:p>
        </p:txBody>
      </p:sp>
      <p:cxnSp>
        <p:nvCxnSpPr>
          <p:cNvPr id="264" name="Connector 263"/>
          <p:cNvCxnSpPr/>
          <p:nvPr/>
        </p:nvCxnSpPr>
        <p:spPr>
          <a:xfrm>
            <a:off x="190500" y="39052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65" name="TextBox 264"/>
          <p:cNvSpPr txBox="1"/>
          <p:nvPr/>
        </p:nvSpPr>
        <p:spPr>
          <a:xfrm>
            <a:off x="190500" y="396240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WHAT IT MEANS FOR EACH OF YOUR DEPARTMENTS</a:t>
            </a:r>
          </a:p>
        </p:txBody>
      </p:sp>
      <p:sp>
        <p:nvSpPr>
          <p:cNvPr id="266" name="Rectangle 265"/>
          <p:cNvSpPr/>
          <p:nvPr/>
        </p:nvSpPr>
        <p:spPr>
          <a:xfrm>
            <a:off x="19050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6670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Sales</a:t>
            </a:r>
          </a:p>
        </p:txBody>
      </p:sp>
      <p:sp>
        <p:nvSpPr>
          <p:cNvPr id="268" name="TextBox 267"/>
          <p:cNvSpPr txBox="1"/>
          <p:nvPr/>
        </p:nvSpPr>
        <p:spPr>
          <a:xfrm>
            <a:off x="19050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8 expansion moves target new regions and volume tiers: defend key accounts where rivals expand.</a:t>
            </a:r>
          </a:p>
        </p:txBody>
      </p:sp>
      <p:sp>
        <p:nvSpPr>
          <p:cNvPr id="269" name="Rectangle 268"/>
          <p:cNvSpPr/>
          <p:nvPr/>
        </p:nvSpPr>
        <p:spPr>
          <a:xfrm>
            <a:off x="217805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TextBox 269"/>
          <p:cNvSpPr txBox="1"/>
          <p:nvPr/>
        </p:nvSpPr>
        <p:spPr>
          <a:xfrm>
            <a:off x="225425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Marketing</a:t>
            </a:r>
          </a:p>
        </p:txBody>
      </p:sp>
      <p:sp>
        <p:nvSpPr>
          <p:cNvPr id="271" name="TextBox 270"/>
          <p:cNvSpPr txBox="1"/>
          <p:nvPr/>
        </p:nvSpPr>
        <p:spPr>
          <a:xfrm>
            <a:off x="217805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Certification and compliance are being used as trust signals; make your own credentials visible.</a:t>
            </a:r>
          </a:p>
        </p:txBody>
      </p:sp>
      <p:sp>
        <p:nvSpPr>
          <p:cNvPr id="272" name="Rectangle 271"/>
          <p:cNvSpPr/>
          <p:nvPr/>
        </p:nvSpPr>
        <p:spPr>
          <a:xfrm>
            <a:off x="416560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TextBox 272"/>
          <p:cNvSpPr txBox="1"/>
          <p:nvPr/>
        </p:nvSpPr>
        <p:spPr>
          <a:xfrm>
            <a:off x="424180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Product and R&amp;D</a:t>
            </a:r>
          </a:p>
        </p:txBody>
      </p:sp>
      <p:sp>
        <p:nvSpPr>
          <p:cNvPr id="274" name="TextBox 273"/>
          <p:cNvSpPr txBox="1"/>
          <p:nvPr/>
        </p:nvSpPr>
        <p:spPr>
          <a:xfrm>
            <a:off x="416560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16 product and R&amp;D moves: benchmark launches and the technology roadmap.</a:t>
            </a:r>
          </a:p>
        </p:txBody>
      </p:sp>
      <p:sp>
        <p:nvSpPr>
          <p:cNvPr id="275" name="Rectangle 274"/>
          <p:cNvSpPr/>
          <p:nvPr/>
        </p:nvSpPr>
        <p:spPr>
          <a:xfrm>
            <a:off x="615315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TextBox 275"/>
          <p:cNvSpPr txBox="1"/>
          <p:nvPr/>
        </p:nvSpPr>
        <p:spPr>
          <a:xfrm>
            <a:off x="622935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Corporate development</a:t>
            </a:r>
          </a:p>
        </p:txBody>
      </p:sp>
      <p:sp>
        <p:nvSpPr>
          <p:cNvPr id="277" name="TextBox 276"/>
          <p:cNvSpPr txBox="1"/>
          <p:nvPr/>
        </p:nvSpPr>
        <p:spPr>
          <a:xfrm>
            <a:off x="615315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players are acquiring; the independent target list is shrinking.</a:t>
            </a:r>
          </a:p>
        </p:txBody>
      </p:sp>
      <p:sp>
        <p:nvSpPr>
          <p:cNvPr id="278" name="Rectangle 277"/>
          <p:cNvSpPr/>
          <p:nvPr/>
        </p:nvSpPr>
        <p:spPr>
          <a:xfrm>
            <a:off x="814070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TextBox 278"/>
          <p:cNvSpPr txBox="1"/>
          <p:nvPr/>
        </p:nvSpPr>
        <p:spPr>
          <a:xfrm>
            <a:off x="821690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Operations</a:t>
            </a:r>
          </a:p>
        </p:txBody>
      </p:sp>
      <p:sp>
        <p:nvSpPr>
          <p:cNvPr id="280" name="TextBox 279"/>
          <p:cNvSpPr txBox="1"/>
          <p:nvPr/>
        </p:nvSpPr>
        <p:spPr>
          <a:xfrm>
            <a:off x="814070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Expansion moves add capacity in rivals' home regions; review supply and lead times.</a:t>
            </a:r>
          </a:p>
        </p:txBody>
      </p:sp>
      <p:sp>
        <p:nvSpPr>
          <p:cNvPr id="281" name="Rectangle 280"/>
          <p:cNvSpPr/>
          <p:nvPr/>
        </p:nvSpPr>
        <p:spPr>
          <a:xfrm>
            <a:off x="1012825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TextBox 281"/>
          <p:cNvSpPr txBox="1"/>
          <p:nvPr/>
        </p:nvSpPr>
        <p:spPr>
          <a:xfrm>
            <a:off x="1020445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Legal and regulatory</a:t>
            </a:r>
          </a:p>
        </p:txBody>
      </p:sp>
      <p:sp>
        <p:nvSpPr>
          <p:cNvPr id="283" name="TextBox 282"/>
          <p:cNvSpPr txBox="1"/>
          <p:nvPr/>
        </p:nvSpPr>
        <p:spPr>
          <a:xfrm>
            <a:off x="1012825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players lean on certification; audit your own compliance position.</a:t>
            </a:r>
          </a:p>
        </p:txBody>
      </p:sp>
      <p:sp>
        <p:nvSpPr>
          <p:cNvPr id="284" name="TextBox 2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Hair Styling Products Market, Global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5810250" cy="400050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Tier Ladder – Share of Market Value, 2026</a:t>
            </a:r>
          </a:p>
        </p:txBody>
      </p:sp>
      <p:sp>
        <p:nvSpPr>
          <p:cNvPr id="12" name="TextBox 11"/>
          <p:cNvSpPr txBox="1"/>
          <p:nvPr/>
        </p:nvSpPr>
        <p:spPr>
          <a:xfrm>
            <a:off x="238125" y="1304925"/>
            <a:ext cx="5619750" cy="247650"/>
          </a:xfrm>
          <a:prstGeom prst="rect">
            <a:avLst/>
          </a:prstGeom>
          <a:noFill/>
        </p:spPr>
        <p:txBody>
          <a:bodyPr wrap="square" lIns="28575" rIns="28575" tIns="9525" bIns="9525" anchor="ctr">
            <a:spAutoFit/>
          </a:bodyPr>
          <a:lstStyle/>
          <a:p>
            <a:pPr algn="l"/>
            <a:r>
              <a:rPr sz="1100" b="0">
                <a:solidFill>
                  <a:srgbClr val="6B7280"/>
                </a:solidFill>
                <a:latin typeface="Calibri"/>
              </a:rPr>
              <a:t>Market 16,106 US$ Mn  ·  Tier 1 share 52.0% → 52.8% by 2036</a:t>
            </a:r>
          </a:p>
        </p:txBody>
      </p:sp>
      <p:sp>
        <p:nvSpPr>
          <p:cNvPr id="13" name="TextBox 12"/>
          <p:cNvSpPr txBox="1"/>
          <p:nvPr/>
        </p:nvSpPr>
        <p:spPr>
          <a:xfrm>
            <a:off x="257175" y="16002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1</a:t>
            </a:r>
          </a:p>
        </p:txBody>
      </p:sp>
      <p:sp>
        <p:nvSpPr>
          <p:cNvPr id="14" name="TextBox 13"/>
          <p:cNvSpPr txBox="1"/>
          <p:nvPr/>
        </p:nvSpPr>
        <p:spPr>
          <a:xfrm>
            <a:off x="257175" y="18097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Top / global players</a:t>
            </a:r>
          </a:p>
        </p:txBody>
      </p:sp>
      <p:sp>
        <p:nvSpPr>
          <p:cNvPr id="15" name="Rectangle 14"/>
          <p:cNvSpPr/>
          <p:nvPr/>
        </p:nvSpPr>
        <p:spPr>
          <a:xfrm>
            <a:off x="1266825" y="1581150"/>
            <a:ext cx="4533900" cy="476250"/>
          </a:xfrm>
          <a:prstGeom prst="rect">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1362075" y="16097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52.0%</a:t>
            </a:r>
          </a:p>
        </p:txBody>
      </p:sp>
      <p:sp>
        <p:nvSpPr>
          <p:cNvPr id="17" name="TextBox 16"/>
          <p:cNvSpPr txBox="1"/>
          <p:nvPr/>
        </p:nvSpPr>
        <p:spPr>
          <a:xfrm>
            <a:off x="1362075" y="1809750"/>
            <a:ext cx="4381500" cy="247650"/>
          </a:xfrm>
          <a:prstGeom prst="rect">
            <a:avLst/>
          </a:prstGeom>
          <a:noFill/>
        </p:spPr>
        <p:txBody>
          <a:bodyPr wrap="square" lIns="28575" rIns="28575" tIns="9525" bIns="9525" anchor="ctr">
            <a:spAutoFit/>
          </a:bodyPr>
          <a:lstStyle/>
          <a:p>
            <a:pPr algn="l"/>
            <a:r>
              <a:rPr sz="1100" b="0">
                <a:solidFill>
                  <a:srgbClr val="FFFFFF"/>
                </a:solidFill>
                <a:latin typeface="Calibri"/>
              </a:rPr>
              <a:t>8,375 US$ Mn  ·  4 players  ·  avg 2,094 US$ Mn / player</a:t>
            </a:r>
          </a:p>
        </p:txBody>
      </p:sp>
      <p:sp>
        <p:nvSpPr>
          <p:cNvPr id="18" name="TextBox 17"/>
          <p:cNvSpPr txBox="1"/>
          <p:nvPr/>
        </p:nvSpPr>
        <p:spPr>
          <a:xfrm>
            <a:off x="1266825" y="20669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Company A · Company B · Company C · Company D</a:t>
            </a:r>
          </a:p>
        </p:txBody>
      </p:sp>
      <p:sp>
        <p:nvSpPr>
          <p:cNvPr id="19" name="TextBox 18"/>
          <p:cNvSpPr txBox="1"/>
          <p:nvPr/>
        </p:nvSpPr>
        <p:spPr>
          <a:xfrm>
            <a:off x="257175" y="24574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2</a:t>
            </a:r>
          </a:p>
        </p:txBody>
      </p:sp>
      <p:sp>
        <p:nvSpPr>
          <p:cNvPr id="20" name="TextBox 19"/>
          <p:cNvSpPr txBox="1"/>
          <p:nvPr/>
        </p:nvSpPr>
        <p:spPr>
          <a:xfrm>
            <a:off x="257175" y="26670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Mid-sized players</a:t>
            </a:r>
          </a:p>
        </p:txBody>
      </p:sp>
      <p:sp>
        <p:nvSpPr>
          <p:cNvPr id="21" name="Rectangle 20"/>
          <p:cNvSpPr/>
          <p:nvPr/>
        </p:nvSpPr>
        <p:spPr>
          <a:xfrm>
            <a:off x="1266825" y="2438400"/>
            <a:ext cx="3786554" cy="476250"/>
          </a:xfrm>
          <a:prstGeom prst="rect">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362075" y="246697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22.0%</a:t>
            </a:r>
          </a:p>
        </p:txBody>
      </p:sp>
      <p:sp>
        <p:nvSpPr>
          <p:cNvPr id="23" name="TextBox 22"/>
          <p:cNvSpPr txBox="1"/>
          <p:nvPr/>
        </p:nvSpPr>
        <p:spPr>
          <a:xfrm>
            <a:off x="1362075" y="2667000"/>
            <a:ext cx="3634154" cy="247650"/>
          </a:xfrm>
          <a:prstGeom prst="rect">
            <a:avLst/>
          </a:prstGeom>
          <a:noFill/>
        </p:spPr>
        <p:txBody>
          <a:bodyPr wrap="square" lIns="28575" rIns="28575" tIns="9525" bIns="9525" anchor="ctr">
            <a:spAutoFit/>
          </a:bodyPr>
          <a:lstStyle/>
          <a:p>
            <a:pPr algn="l"/>
            <a:r>
              <a:rPr sz="1100" b="0">
                <a:solidFill>
                  <a:srgbClr val="FFFFFF"/>
                </a:solidFill>
                <a:latin typeface="Calibri"/>
              </a:rPr>
              <a:t>3,543 US$ Mn  ·  2 players  ·  avg 1,772 US$ Mn / player</a:t>
            </a:r>
          </a:p>
        </p:txBody>
      </p:sp>
      <p:sp>
        <p:nvSpPr>
          <p:cNvPr id="24" name="TextBox 23"/>
          <p:cNvSpPr txBox="1"/>
          <p:nvPr/>
        </p:nvSpPr>
        <p:spPr>
          <a:xfrm>
            <a:off x="1266825" y="29241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Company E · Company F</a:t>
            </a:r>
          </a:p>
        </p:txBody>
      </p:sp>
      <p:sp>
        <p:nvSpPr>
          <p:cNvPr id="25" name="TextBox 24"/>
          <p:cNvSpPr txBox="1"/>
          <p:nvPr/>
        </p:nvSpPr>
        <p:spPr>
          <a:xfrm>
            <a:off x="257175" y="33147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3</a:t>
            </a:r>
          </a:p>
        </p:txBody>
      </p:sp>
      <p:sp>
        <p:nvSpPr>
          <p:cNvPr id="26" name="TextBox 25"/>
          <p:cNvSpPr txBox="1"/>
          <p:nvPr/>
        </p:nvSpPr>
        <p:spPr>
          <a:xfrm>
            <a:off x="257175" y="35242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Emerging / local players</a:t>
            </a:r>
          </a:p>
        </p:txBody>
      </p:sp>
      <p:sp>
        <p:nvSpPr>
          <p:cNvPr id="27" name="Rectangle 26"/>
          <p:cNvSpPr/>
          <p:nvPr/>
        </p:nvSpPr>
        <p:spPr>
          <a:xfrm>
            <a:off x="1266825" y="3295650"/>
            <a:ext cx="3487615" cy="476250"/>
          </a:xfrm>
          <a:prstGeom prst="rect">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362075" y="33242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10.0%</a:t>
            </a:r>
          </a:p>
        </p:txBody>
      </p:sp>
      <p:sp>
        <p:nvSpPr>
          <p:cNvPr id="29" name="TextBox 28"/>
          <p:cNvSpPr txBox="1"/>
          <p:nvPr/>
        </p:nvSpPr>
        <p:spPr>
          <a:xfrm>
            <a:off x="1362075" y="3524250"/>
            <a:ext cx="3335215" cy="247650"/>
          </a:xfrm>
          <a:prstGeom prst="rect">
            <a:avLst/>
          </a:prstGeom>
          <a:noFill/>
        </p:spPr>
        <p:txBody>
          <a:bodyPr wrap="square" lIns="28575" rIns="28575" tIns="9525" bIns="9525" anchor="ctr">
            <a:spAutoFit/>
          </a:bodyPr>
          <a:lstStyle/>
          <a:p>
            <a:pPr algn="l"/>
            <a:r>
              <a:rPr sz="1100" b="0">
                <a:solidFill>
                  <a:srgbClr val="FFFFFF"/>
                </a:solidFill>
                <a:latin typeface="Calibri"/>
              </a:rPr>
              <a:t>1,611 US$ Mn  ·  2 players  ·  avg 805.3 US$ Mn / player</a:t>
            </a:r>
          </a:p>
        </p:txBody>
      </p:sp>
      <p:sp>
        <p:nvSpPr>
          <p:cNvPr id="30" name="TextBox 29"/>
          <p:cNvSpPr txBox="1"/>
          <p:nvPr/>
        </p:nvSpPr>
        <p:spPr>
          <a:xfrm>
            <a:off x="1266825" y="37814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Company G · Company H</a:t>
            </a:r>
          </a:p>
        </p:txBody>
      </p:sp>
      <p:sp>
        <p:nvSpPr>
          <p:cNvPr id="31" name="TextBox 30"/>
          <p:cNvSpPr txBox="1"/>
          <p:nvPr/>
        </p:nvSpPr>
        <p:spPr>
          <a:xfrm>
            <a:off x="257175" y="41719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Others</a:t>
            </a:r>
          </a:p>
        </p:txBody>
      </p:sp>
      <p:sp>
        <p:nvSpPr>
          <p:cNvPr id="32" name="TextBox 31"/>
          <p:cNvSpPr txBox="1"/>
          <p:nvPr/>
        </p:nvSpPr>
        <p:spPr>
          <a:xfrm>
            <a:off x="257175" y="43815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Long tail</a:t>
            </a:r>
          </a:p>
        </p:txBody>
      </p:sp>
      <p:sp>
        <p:nvSpPr>
          <p:cNvPr id="33" name="Rectangle 32"/>
          <p:cNvSpPr/>
          <p:nvPr/>
        </p:nvSpPr>
        <p:spPr>
          <a:xfrm>
            <a:off x="1266825" y="4152900"/>
            <a:ext cx="3637085" cy="476250"/>
          </a:xfrm>
          <a:prstGeom prst="rect">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1362075" y="4181475"/>
            <a:ext cx="666750" cy="209550"/>
          </a:xfrm>
          <a:prstGeom prst="rect">
            <a:avLst/>
          </a:prstGeom>
          <a:noFill/>
        </p:spPr>
        <p:txBody>
          <a:bodyPr wrap="square" lIns="28575" rIns="28575" tIns="9525" bIns="9525" anchor="ctr">
            <a:spAutoFit/>
          </a:bodyPr>
          <a:lstStyle/>
          <a:p>
            <a:pPr algn="l"/>
            <a:r>
              <a:rPr sz="1100" b="1">
                <a:solidFill>
                  <a:srgbClr val="14213D"/>
                </a:solidFill>
                <a:latin typeface="Calibri"/>
              </a:rPr>
              <a:t>16.0%</a:t>
            </a:r>
          </a:p>
        </p:txBody>
      </p:sp>
      <p:sp>
        <p:nvSpPr>
          <p:cNvPr id="35" name="TextBox 34"/>
          <p:cNvSpPr txBox="1"/>
          <p:nvPr/>
        </p:nvSpPr>
        <p:spPr>
          <a:xfrm>
            <a:off x="1362075" y="4381500"/>
            <a:ext cx="3484685" cy="247650"/>
          </a:xfrm>
          <a:prstGeom prst="rect">
            <a:avLst/>
          </a:prstGeom>
          <a:noFill/>
        </p:spPr>
        <p:txBody>
          <a:bodyPr wrap="square" lIns="28575" rIns="28575" tIns="9525" bIns="9525" anchor="ctr">
            <a:spAutoFit/>
          </a:bodyPr>
          <a:lstStyle/>
          <a:p>
            <a:pPr algn="l"/>
            <a:r>
              <a:rPr sz="1100" b="0">
                <a:solidFill>
                  <a:srgbClr val="14213D"/>
                </a:solidFill>
                <a:latin typeface="Calibri"/>
              </a:rPr>
              <a:t>2,577 US$ Mn  ·  –  ·  long tail</a:t>
            </a:r>
          </a:p>
        </p:txBody>
      </p:sp>
      <p:sp>
        <p:nvSpPr>
          <p:cNvPr id="36" name="TextBox 35"/>
          <p:cNvSpPr txBox="1"/>
          <p:nvPr/>
        </p:nvSpPr>
        <p:spPr>
          <a:xfrm>
            <a:off x="1266825" y="46386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Regional &amp; niche suppliers</a:t>
            </a:r>
          </a:p>
        </p:txBody>
      </p:sp>
      <p:sp>
        <p:nvSpPr>
          <p:cNvPr id="37" name="Rounded Rectangle 36"/>
          <p:cNvSpPr/>
          <p:nvPr/>
        </p:nvSpPr>
        <p:spPr>
          <a:xfrm>
            <a:off x="142875" y="5162550"/>
            <a:ext cx="5810250" cy="146685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38125" y="52197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Concentration Read-out</a:t>
            </a:r>
          </a:p>
        </p:txBody>
      </p:sp>
      <p:sp>
        <p:nvSpPr>
          <p:cNvPr id="39" name="Rectangle 38"/>
          <p:cNvSpPr/>
          <p:nvPr/>
        </p:nvSpPr>
        <p:spPr>
          <a:xfrm>
            <a:off x="276225" y="5505450"/>
            <a:ext cx="1847850" cy="247650"/>
          </a:xfrm>
          <a:prstGeom prst="rect">
            <a:avLst/>
          </a:prstGeom>
          <a:solidFill>
            <a:srgbClr val="C9DAF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505450"/>
            <a:ext cx="1847850" cy="247650"/>
          </a:xfrm>
          <a:prstGeom prst="rect">
            <a:avLst/>
          </a:prstGeom>
          <a:noFill/>
        </p:spPr>
        <p:txBody>
          <a:bodyPr wrap="square" lIns="28575" rIns="28575" tIns="9525" bIns="9525" anchor="ctr">
            <a:spAutoFit/>
          </a:bodyPr>
          <a:lstStyle/>
          <a:p>
            <a:pPr algn="ctr"/>
            <a:r>
              <a:rPr sz="1100" b="1">
                <a:solidFill>
                  <a:srgbClr val="14213D"/>
                </a:solidFill>
                <a:latin typeface="Calibri"/>
              </a:rPr>
              <a:t>Fragmented HHI &lt; 1,500</a:t>
            </a:r>
          </a:p>
        </p:txBody>
      </p:sp>
      <p:sp>
        <p:nvSpPr>
          <p:cNvPr id="41" name="Rectangle 40"/>
          <p:cNvSpPr/>
          <p:nvPr/>
        </p:nvSpPr>
        <p:spPr>
          <a:xfrm>
            <a:off x="2124075" y="5505450"/>
            <a:ext cx="1847850"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12407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Moderate 1,500–2,500</a:t>
            </a:r>
          </a:p>
        </p:txBody>
      </p:sp>
      <p:sp>
        <p:nvSpPr>
          <p:cNvPr id="43" name="Rectangle 42"/>
          <p:cNvSpPr/>
          <p:nvPr/>
        </p:nvSpPr>
        <p:spPr>
          <a:xfrm>
            <a:off x="3971925" y="5505450"/>
            <a:ext cx="18478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397192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Concentrated &gt; 2,500</a:t>
            </a:r>
          </a:p>
        </p:txBody>
      </p:sp>
      <p:sp>
        <p:nvSpPr>
          <p:cNvPr id="45" name="TextBox 44"/>
          <p:cNvSpPr txBox="1"/>
          <p:nvPr/>
        </p:nvSpPr>
        <p:spPr>
          <a:xfrm>
            <a:off x="818906" y="5762625"/>
            <a:ext cx="1714500" cy="247650"/>
          </a:xfrm>
          <a:prstGeom prst="rect">
            <a:avLst/>
          </a:prstGeom>
          <a:noFill/>
        </p:spPr>
        <p:txBody>
          <a:bodyPr wrap="square" lIns="28575" rIns="28575" tIns="9525" bIns="9525" anchor="ctr">
            <a:spAutoFit/>
          </a:bodyPr>
          <a:lstStyle/>
          <a:p>
            <a:pPr algn="ctr"/>
            <a:r>
              <a:rPr sz="1100" b="1">
                <a:solidFill>
                  <a:srgbClr val="14213D"/>
                </a:solidFill>
                <a:latin typeface="Calibri"/>
              </a:rPr>
              <a:t>▲ HHI = 758</a:t>
            </a:r>
          </a:p>
        </p:txBody>
      </p:sp>
      <p:sp>
        <p:nvSpPr>
          <p:cNvPr id="46" name="TextBox 45"/>
          <p:cNvSpPr txBox="1"/>
          <p:nvPr/>
        </p:nvSpPr>
        <p:spPr>
          <a:xfrm>
            <a:off x="238125" y="5981700"/>
            <a:ext cx="5619750" cy="419100"/>
          </a:xfrm>
          <a:prstGeom prst="rect">
            <a:avLst/>
          </a:prstGeom>
          <a:noFill/>
        </p:spPr>
        <p:txBody>
          <a:bodyPr wrap="square" lIns="28575" rIns="28575" tIns="9525" bIns="9525" anchor="ctr">
            <a:spAutoFit/>
          </a:bodyPr>
          <a:lstStyle/>
          <a:p>
            <a:pPr algn="ctr"/>
            <a:r>
              <a:rPr sz="1100" b="1">
                <a:solidFill>
                  <a:srgbClr val="14213D"/>
                </a:solidFill>
                <a:latin typeface="Calibri"/>
              </a:rPr>
              <a:t>CR4 = 47.6%  ·  Tier 1 : Others = 3.2 : 1  ·  Top-player share = 16.4%  ·  Class: Fragmented</a:t>
            </a:r>
          </a:p>
        </p:txBody>
      </p:sp>
      <p:sp>
        <p:nvSpPr>
          <p:cNvPr id="47" name="Rounded Rectangle 46"/>
          <p:cNvSpPr/>
          <p:nvPr/>
        </p:nvSpPr>
        <p:spPr>
          <a:xfrm>
            <a:off x="6096000" y="1047750"/>
            <a:ext cx="5953125" cy="400050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191250" y="11049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Tier Profile Matrix</a:t>
            </a:r>
          </a:p>
        </p:txBody>
      </p:sp>
      <p:sp>
        <p:nvSpPr>
          <p:cNvPr id="49" name="TextBox 48"/>
          <p:cNvSpPr txBox="1"/>
          <p:nvPr/>
        </p:nvSpPr>
        <p:spPr>
          <a:xfrm>
            <a:off x="6191250" y="1304925"/>
            <a:ext cx="5762625" cy="247650"/>
          </a:xfrm>
          <a:prstGeom prst="rect">
            <a:avLst/>
          </a:prstGeom>
          <a:noFill/>
        </p:spPr>
        <p:txBody>
          <a:bodyPr wrap="square" lIns="28575" rIns="28575" tIns="9525" bIns="9525" anchor="ctr">
            <a:spAutoFit/>
          </a:bodyPr>
          <a:lstStyle/>
          <a:p>
            <a:pPr algn="l"/>
            <a:r>
              <a:rPr sz="1100" b="0">
                <a:solidFill>
                  <a:srgbClr val="6B7280"/>
                </a:solidFill>
                <a:latin typeface="Calibri"/>
              </a:rPr>
              <a:t>Size, growth and competitive characteristics of each tier</a:t>
            </a:r>
          </a:p>
        </p:txBody>
      </p:sp>
      <p:sp>
        <p:nvSpPr>
          <p:cNvPr id="50" name="Rectangle 49"/>
          <p:cNvSpPr/>
          <p:nvPr/>
        </p:nvSpPr>
        <p:spPr>
          <a:xfrm>
            <a:off x="6191250" y="1562100"/>
            <a:ext cx="16192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6248400" y="1562100"/>
            <a:ext cx="1543050" cy="247650"/>
          </a:xfrm>
          <a:prstGeom prst="rect">
            <a:avLst/>
          </a:prstGeom>
          <a:noFill/>
        </p:spPr>
        <p:txBody>
          <a:bodyPr wrap="square" lIns="28575" rIns="28575" tIns="9525" bIns="9525" anchor="ctr">
            <a:spAutoFit/>
          </a:bodyPr>
          <a:lstStyle/>
          <a:p>
            <a:pPr algn="l"/>
            <a:r>
              <a:rPr sz="1100" b="1">
                <a:solidFill>
                  <a:srgbClr val="FFFFFF"/>
                </a:solidFill>
                <a:latin typeface="Calibri"/>
              </a:rPr>
              <a:t>Metric</a:t>
            </a:r>
          </a:p>
        </p:txBody>
      </p:sp>
      <p:sp>
        <p:nvSpPr>
          <p:cNvPr id="52" name="Rectangle 51"/>
          <p:cNvSpPr/>
          <p:nvPr/>
        </p:nvSpPr>
        <p:spPr>
          <a:xfrm>
            <a:off x="7810500" y="1562100"/>
            <a:ext cx="82867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78105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54" name="Rectangle 53"/>
          <p:cNvSpPr/>
          <p:nvPr/>
        </p:nvSpPr>
        <p:spPr>
          <a:xfrm>
            <a:off x="8639175" y="1562100"/>
            <a:ext cx="828675" cy="247650"/>
          </a:xfrm>
          <a:prstGeom prst="rect">
            <a:avLst/>
          </a:prstGeom>
          <a:solidFill>
            <a:srgbClr val="2E6DB4"/>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39175"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56" name="Rectangle 55"/>
          <p:cNvSpPr/>
          <p:nvPr/>
        </p:nvSpPr>
        <p:spPr>
          <a:xfrm>
            <a:off x="9467850" y="1562100"/>
            <a:ext cx="828675"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46785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58" name="Rectangle 57"/>
          <p:cNvSpPr/>
          <p:nvPr/>
        </p:nvSpPr>
        <p:spPr>
          <a:xfrm>
            <a:off x="10296525" y="1562100"/>
            <a:ext cx="828675" cy="247650"/>
          </a:xfrm>
          <a:prstGeom prst="rect">
            <a:avLst/>
          </a:prstGeom>
          <a:solidFill>
            <a:srgbClr val="9FC5E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10296525" y="1562100"/>
            <a:ext cx="828675" cy="2476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60" name="Rectangle 59"/>
          <p:cNvSpPr/>
          <p:nvPr/>
        </p:nvSpPr>
        <p:spPr>
          <a:xfrm>
            <a:off x="11125200" y="1562100"/>
            <a:ext cx="828675" cy="247650"/>
          </a:xfrm>
          <a:prstGeom prst="rect">
            <a:avLst/>
          </a:prstGeom>
          <a:solidFill>
            <a:srgbClr val="10244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111252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Total</a:t>
            </a:r>
          </a:p>
        </p:txBody>
      </p:sp>
      <p:sp>
        <p:nvSpPr>
          <p:cNvPr id="62" name="Rectangle 61"/>
          <p:cNvSpPr/>
          <p:nvPr/>
        </p:nvSpPr>
        <p:spPr>
          <a:xfrm>
            <a:off x="6191250" y="1809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6248400" y="1809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Players</a:t>
            </a:r>
          </a:p>
        </p:txBody>
      </p:sp>
      <p:sp>
        <p:nvSpPr>
          <p:cNvPr id="64" name="Rectangle 63"/>
          <p:cNvSpPr/>
          <p:nvPr/>
        </p:nvSpPr>
        <p:spPr>
          <a:xfrm>
            <a:off x="78105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782955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4</a:t>
            </a:r>
          </a:p>
        </p:txBody>
      </p:sp>
      <p:sp>
        <p:nvSpPr>
          <p:cNvPr id="66" name="Rectangle 65"/>
          <p:cNvSpPr/>
          <p:nvPr/>
        </p:nvSpPr>
        <p:spPr>
          <a:xfrm>
            <a:off x="863917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865822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2</a:t>
            </a:r>
          </a:p>
        </p:txBody>
      </p:sp>
      <p:sp>
        <p:nvSpPr>
          <p:cNvPr id="68" name="Rectangle 67"/>
          <p:cNvSpPr/>
          <p:nvPr/>
        </p:nvSpPr>
        <p:spPr>
          <a:xfrm>
            <a:off x="946785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948690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2</a:t>
            </a:r>
          </a:p>
        </p:txBody>
      </p:sp>
      <p:sp>
        <p:nvSpPr>
          <p:cNvPr id="70" name="Rectangle 69"/>
          <p:cNvSpPr/>
          <p:nvPr/>
        </p:nvSpPr>
        <p:spPr>
          <a:xfrm>
            <a:off x="1029652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1031557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72" name="Rectangle 71"/>
          <p:cNvSpPr/>
          <p:nvPr/>
        </p:nvSpPr>
        <p:spPr>
          <a:xfrm>
            <a:off x="111252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11144250" y="18097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8+</a:t>
            </a:r>
          </a:p>
        </p:txBody>
      </p:sp>
      <p:sp>
        <p:nvSpPr>
          <p:cNvPr id="74" name="Rectangle 73"/>
          <p:cNvSpPr/>
          <p:nvPr/>
        </p:nvSpPr>
        <p:spPr>
          <a:xfrm>
            <a:off x="6191250" y="2038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6248400" y="2038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Value 2026 (US$ Mn)</a:t>
            </a:r>
          </a:p>
        </p:txBody>
      </p:sp>
      <p:sp>
        <p:nvSpPr>
          <p:cNvPr id="76" name="Rectangle 75"/>
          <p:cNvSpPr/>
          <p:nvPr/>
        </p:nvSpPr>
        <p:spPr>
          <a:xfrm>
            <a:off x="78105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782955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8,375</a:t>
            </a:r>
          </a:p>
        </p:txBody>
      </p:sp>
      <p:sp>
        <p:nvSpPr>
          <p:cNvPr id="78" name="Rectangle 77"/>
          <p:cNvSpPr/>
          <p:nvPr/>
        </p:nvSpPr>
        <p:spPr>
          <a:xfrm>
            <a:off x="863917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865822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3,543</a:t>
            </a:r>
          </a:p>
        </p:txBody>
      </p:sp>
      <p:sp>
        <p:nvSpPr>
          <p:cNvPr id="80" name="Rectangle 79"/>
          <p:cNvSpPr/>
          <p:nvPr/>
        </p:nvSpPr>
        <p:spPr>
          <a:xfrm>
            <a:off x="946785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948690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1,611</a:t>
            </a:r>
          </a:p>
        </p:txBody>
      </p:sp>
      <p:sp>
        <p:nvSpPr>
          <p:cNvPr id="82" name="Rectangle 81"/>
          <p:cNvSpPr/>
          <p:nvPr/>
        </p:nvSpPr>
        <p:spPr>
          <a:xfrm>
            <a:off x="1029652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031557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2,577</a:t>
            </a:r>
          </a:p>
        </p:txBody>
      </p:sp>
      <p:sp>
        <p:nvSpPr>
          <p:cNvPr id="84" name="Rectangle 83"/>
          <p:cNvSpPr/>
          <p:nvPr/>
        </p:nvSpPr>
        <p:spPr>
          <a:xfrm>
            <a:off x="111252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11144250" y="2038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16,106</a:t>
            </a:r>
          </a:p>
        </p:txBody>
      </p:sp>
      <p:sp>
        <p:nvSpPr>
          <p:cNvPr id="86" name="Rectangle 85"/>
          <p:cNvSpPr/>
          <p:nvPr/>
        </p:nvSpPr>
        <p:spPr>
          <a:xfrm>
            <a:off x="6191250" y="22669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6248400" y="22669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2026</a:t>
            </a:r>
          </a:p>
        </p:txBody>
      </p:sp>
      <p:sp>
        <p:nvSpPr>
          <p:cNvPr id="88" name="Rectangle 87"/>
          <p:cNvSpPr/>
          <p:nvPr/>
        </p:nvSpPr>
        <p:spPr>
          <a:xfrm>
            <a:off x="78105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807624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52.0</a:t>
            </a:r>
          </a:p>
        </p:txBody>
      </p:sp>
      <p:sp>
        <p:nvSpPr>
          <p:cNvPr id="90" name="TextBox 89"/>
          <p:cNvSpPr txBox="1"/>
          <p:nvPr/>
        </p:nvSpPr>
        <p:spPr>
          <a:xfrm>
            <a:off x="836390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1" name="Rectangle 90"/>
          <p:cNvSpPr/>
          <p:nvPr/>
        </p:nvSpPr>
        <p:spPr>
          <a:xfrm>
            <a:off x="863917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890492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22.0</a:t>
            </a:r>
          </a:p>
        </p:txBody>
      </p:sp>
      <p:sp>
        <p:nvSpPr>
          <p:cNvPr id="93" name="TextBox 92"/>
          <p:cNvSpPr txBox="1"/>
          <p:nvPr/>
        </p:nvSpPr>
        <p:spPr>
          <a:xfrm>
            <a:off x="919257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4" name="Rectangle 93"/>
          <p:cNvSpPr/>
          <p:nvPr/>
        </p:nvSpPr>
        <p:spPr>
          <a:xfrm>
            <a:off x="946785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973359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10.0</a:t>
            </a:r>
          </a:p>
        </p:txBody>
      </p:sp>
      <p:sp>
        <p:nvSpPr>
          <p:cNvPr id="96" name="TextBox 95"/>
          <p:cNvSpPr txBox="1"/>
          <p:nvPr/>
        </p:nvSpPr>
        <p:spPr>
          <a:xfrm>
            <a:off x="1002125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7" name="Rectangle 96"/>
          <p:cNvSpPr/>
          <p:nvPr/>
        </p:nvSpPr>
        <p:spPr>
          <a:xfrm>
            <a:off x="1029652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TextBox 97"/>
          <p:cNvSpPr txBox="1"/>
          <p:nvPr/>
        </p:nvSpPr>
        <p:spPr>
          <a:xfrm>
            <a:off x="1056227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16.0</a:t>
            </a:r>
          </a:p>
        </p:txBody>
      </p:sp>
      <p:sp>
        <p:nvSpPr>
          <p:cNvPr id="99" name="TextBox 98"/>
          <p:cNvSpPr txBox="1"/>
          <p:nvPr/>
        </p:nvSpPr>
        <p:spPr>
          <a:xfrm>
            <a:off x="1084992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0" name="Rectangle 99"/>
          <p:cNvSpPr/>
          <p:nvPr/>
        </p:nvSpPr>
        <p:spPr>
          <a:xfrm>
            <a:off x="111252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11144250" y="22669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02" name="Rectangle 101"/>
          <p:cNvSpPr/>
          <p:nvPr/>
        </p:nvSpPr>
        <p:spPr>
          <a:xfrm>
            <a:off x="6191250" y="24955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6248400" y="24955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2036</a:t>
            </a:r>
          </a:p>
        </p:txBody>
      </p:sp>
      <p:sp>
        <p:nvSpPr>
          <p:cNvPr id="104" name="Rectangle 103"/>
          <p:cNvSpPr/>
          <p:nvPr/>
        </p:nvSpPr>
        <p:spPr>
          <a:xfrm>
            <a:off x="78105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807624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52.8</a:t>
            </a:r>
          </a:p>
        </p:txBody>
      </p:sp>
      <p:sp>
        <p:nvSpPr>
          <p:cNvPr id="106" name="TextBox 105"/>
          <p:cNvSpPr txBox="1"/>
          <p:nvPr/>
        </p:nvSpPr>
        <p:spPr>
          <a:xfrm>
            <a:off x="836390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7" name="Rectangle 106"/>
          <p:cNvSpPr/>
          <p:nvPr/>
        </p:nvSpPr>
        <p:spPr>
          <a:xfrm>
            <a:off x="863917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890492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23.4</a:t>
            </a:r>
          </a:p>
        </p:txBody>
      </p:sp>
      <p:sp>
        <p:nvSpPr>
          <p:cNvPr id="109" name="TextBox 108"/>
          <p:cNvSpPr txBox="1"/>
          <p:nvPr/>
        </p:nvSpPr>
        <p:spPr>
          <a:xfrm>
            <a:off x="919257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0" name="Rectangle 109"/>
          <p:cNvSpPr/>
          <p:nvPr/>
        </p:nvSpPr>
        <p:spPr>
          <a:xfrm>
            <a:off x="946785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973359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10.1</a:t>
            </a:r>
          </a:p>
        </p:txBody>
      </p:sp>
      <p:sp>
        <p:nvSpPr>
          <p:cNvPr id="112" name="TextBox 111"/>
          <p:cNvSpPr txBox="1"/>
          <p:nvPr/>
        </p:nvSpPr>
        <p:spPr>
          <a:xfrm>
            <a:off x="1002125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3" name="Rectangle 112"/>
          <p:cNvSpPr/>
          <p:nvPr/>
        </p:nvSpPr>
        <p:spPr>
          <a:xfrm>
            <a:off x="1029652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1056227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13.7</a:t>
            </a:r>
          </a:p>
        </p:txBody>
      </p:sp>
      <p:sp>
        <p:nvSpPr>
          <p:cNvPr id="115" name="TextBox 114"/>
          <p:cNvSpPr txBox="1"/>
          <p:nvPr/>
        </p:nvSpPr>
        <p:spPr>
          <a:xfrm>
            <a:off x="1084992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6" name="Rectangle 115"/>
          <p:cNvSpPr/>
          <p:nvPr/>
        </p:nvSpPr>
        <p:spPr>
          <a:xfrm>
            <a:off x="111252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11144250" y="24955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18" name="Rectangle 117"/>
          <p:cNvSpPr/>
          <p:nvPr/>
        </p:nvSpPr>
        <p:spPr>
          <a:xfrm>
            <a:off x="6191250" y="27241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6248400" y="27241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change (pp)</a:t>
            </a:r>
          </a:p>
        </p:txBody>
      </p:sp>
      <p:sp>
        <p:nvSpPr>
          <p:cNvPr id="120" name="Rectangle 119"/>
          <p:cNvSpPr/>
          <p:nvPr/>
        </p:nvSpPr>
        <p:spPr>
          <a:xfrm>
            <a:off x="78105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97528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2" name="TextBox 121"/>
          <p:cNvSpPr txBox="1"/>
          <p:nvPr/>
        </p:nvSpPr>
        <p:spPr>
          <a:xfrm>
            <a:off x="810863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0.8</a:t>
            </a:r>
          </a:p>
        </p:txBody>
      </p:sp>
      <p:sp>
        <p:nvSpPr>
          <p:cNvPr id="123" name="Rectangle 122"/>
          <p:cNvSpPr/>
          <p:nvPr/>
        </p:nvSpPr>
        <p:spPr>
          <a:xfrm>
            <a:off x="863917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880395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5" name="TextBox 124"/>
          <p:cNvSpPr txBox="1"/>
          <p:nvPr/>
        </p:nvSpPr>
        <p:spPr>
          <a:xfrm>
            <a:off x="893730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1.4</a:t>
            </a:r>
          </a:p>
        </p:txBody>
      </p:sp>
      <p:sp>
        <p:nvSpPr>
          <p:cNvPr id="126" name="Rectangle 125"/>
          <p:cNvSpPr/>
          <p:nvPr/>
        </p:nvSpPr>
        <p:spPr>
          <a:xfrm>
            <a:off x="946785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963263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8" name="TextBox 127"/>
          <p:cNvSpPr txBox="1"/>
          <p:nvPr/>
        </p:nvSpPr>
        <p:spPr>
          <a:xfrm>
            <a:off x="976598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0.1</a:t>
            </a:r>
          </a:p>
        </p:txBody>
      </p:sp>
      <p:sp>
        <p:nvSpPr>
          <p:cNvPr id="129" name="Rectangle 128"/>
          <p:cNvSpPr/>
          <p:nvPr/>
        </p:nvSpPr>
        <p:spPr>
          <a:xfrm>
            <a:off x="1029652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1046130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31" name="TextBox 130"/>
          <p:cNvSpPr txBox="1"/>
          <p:nvPr/>
        </p:nvSpPr>
        <p:spPr>
          <a:xfrm>
            <a:off x="1059465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2.3</a:t>
            </a:r>
          </a:p>
        </p:txBody>
      </p:sp>
      <p:sp>
        <p:nvSpPr>
          <p:cNvPr id="132" name="Rectangle 131"/>
          <p:cNvSpPr/>
          <p:nvPr/>
        </p:nvSpPr>
        <p:spPr>
          <a:xfrm>
            <a:off x="111252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11144250" y="27241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34" name="Rectangle 133"/>
          <p:cNvSpPr/>
          <p:nvPr/>
        </p:nvSpPr>
        <p:spPr>
          <a:xfrm>
            <a:off x="6191250" y="2952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6248400" y="2952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CAGR 2026–2036</a:t>
            </a:r>
          </a:p>
        </p:txBody>
      </p:sp>
      <p:sp>
        <p:nvSpPr>
          <p:cNvPr id="136" name="Rectangle 135"/>
          <p:cNvSpPr/>
          <p:nvPr/>
        </p:nvSpPr>
        <p:spPr>
          <a:xfrm>
            <a:off x="78105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810863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6.8</a:t>
            </a:r>
          </a:p>
        </p:txBody>
      </p:sp>
      <p:sp>
        <p:nvSpPr>
          <p:cNvPr id="138" name="TextBox 137"/>
          <p:cNvSpPr txBox="1"/>
          <p:nvPr/>
        </p:nvSpPr>
        <p:spPr>
          <a:xfrm>
            <a:off x="833151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39" name="Rectangle 138"/>
          <p:cNvSpPr/>
          <p:nvPr/>
        </p:nvSpPr>
        <p:spPr>
          <a:xfrm>
            <a:off x="863917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893730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7.3</a:t>
            </a:r>
          </a:p>
        </p:txBody>
      </p:sp>
      <p:sp>
        <p:nvSpPr>
          <p:cNvPr id="141" name="TextBox 140"/>
          <p:cNvSpPr txBox="1"/>
          <p:nvPr/>
        </p:nvSpPr>
        <p:spPr>
          <a:xfrm>
            <a:off x="916019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2" name="Rectangle 141"/>
          <p:cNvSpPr/>
          <p:nvPr/>
        </p:nvSpPr>
        <p:spPr>
          <a:xfrm>
            <a:off x="946785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TextBox 142"/>
          <p:cNvSpPr txBox="1"/>
          <p:nvPr/>
        </p:nvSpPr>
        <p:spPr>
          <a:xfrm>
            <a:off x="976598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6.7</a:t>
            </a:r>
          </a:p>
        </p:txBody>
      </p:sp>
      <p:sp>
        <p:nvSpPr>
          <p:cNvPr id="144" name="TextBox 143"/>
          <p:cNvSpPr txBox="1"/>
          <p:nvPr/>
        </p:nvSpPr>
        <p:spPr>
          <a:xfrm>
            <a:off x="998886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5" name="Rectangle 144"/>
          <p:cNvSpPr/>
          <p:nvPr/>
        </p:nvSpPr>
        <p:spPr>
          <a:xfrm>
            <a:off x="1029652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TextBox 145"/>
          <p:cNvSpPr txBox="1"/>
          <p:nvPr/>
        </p:nvSpPr>
        <p:spPr>
          <a:xfrm>
            <a:off x="1059465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5.0</a:t>
            </a:r>
          </a:p>
        </p:txBody>
      </p:sp>
      <p:sp>
        <p:nvSpPr>
          <p:cNvPr id="147" name="TextBox 146"/>
          <p:cNvSpPr txBox="1"/>
          <p:nvPr/>
        </p:nvSpPr>
        <p:spPr>
          <a:xfrm>
            <a:off x="1081754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8" name="Rectangle 147"/>
          <p:cNvSpPr/>
          <p:nvPr/>
        </p:nvSpPr>
        <p:spPr>
          <a:xfrm>
            <a:off x="111252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11423332" y="2952750"/>
            <a:ext cx="232410" cy="228600"/>
          </a:xfrm>
          <a:prstGeom prst="rect">
            <a:avLst/>
          </a:prstGeom>
          <a:noFill/>
        </p:spPr>
        <p:txBody>
          <a:bodyPr wrap="none" lIns="0" rIns="0" tIns="0" bIns="0" anchor="ctr">
            <a:spAutoFit/>
          </a:bodyPr>
          <a:lstStyle/>
          <a:p>
            <a:pPr algn="ctr"/>
            <a:r>
              <a:rPr sz="1100" b="1">
                <a:solidFill>
                  <a:srgbClr val="14213D"/>
                </a:solidFill>
                <a:latin typeface="Calibri"/>
              </a:rPr>
              <a:t>6.7</a:t>
            </a:r>
          </a:p>
        </p:txBody>
      </p:sp>
      <p:sp>
        <p:nvSpPr>
          <p:cNvPr id="150" name="TextBox 149"/>
          <p:cNvSpPr txBox="1"/>
          <p:nvPr/>
        </p:nvSpPr>
        <p:spPr>
          <a:xfrm>
            <a:off x="11646218" y="2952750"/>
            <a:ext cx="133350" cy="228600"/>
          </a:xfrm>
          <a:prstGeom prst="rect">
            <a:avLst/>
          </a:prstGeom>
          <a:noFill/>
        </p:spPr>
        <p:txBody>
          <a:bodyPr wrap="none" lIns="0" rIns="0" tIns="0" bIns="0" anchor="ctr">
            <a:spAutoFit/>
          </a:bodyPr>
          <a:lstStyle/>
          <a:p>
            <a:pPr algn="l"/>
            <a:r>
              <a:rPr sz="1100" b="1">
                <a:solidFill>
                  <a:srgbClr val="14213D"/>
                </a:solidFill>
                <a:latin typeface="Calibri"/>
              </a:rPr>
              <a:t>%</a:t>
            </a:r>
          </a:p>
        </p:txBody>
      </p:sp>
      <p:sp>
        <p:nvSpPr>
          <p:cNvPr id="151" name="Rectangle 150"/>
          <p:cNvSpPr/>
          <p:nvPr/>
        </p:nvSpPr>
        <p:spPr>
          <a:xfrm>
            <a:off x="6191250" y="3181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TextBox 151"/>
          <p:cNvSpPr txBox="1"/>
          <p:nvPr/>
        </p:nvSpPr>
        <p:spPr>
          <a:xfrm>
            <a:off x="6248400" y="3181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Avg / player (US$ Mn)</a:t>
            </a:r>
          </a:p>
        </p:txBody>
      </p:sp>
      <p:sp>
        <p:nvSpPr>
          <p:cNvPr id="153" name="Rectangle 152"/>
          <p:cNvSpPr/>
          <p:nvPr/>
        </p:nvSpPr>
        <p:spPr>
          <a:xfrm>
            <a:off x="78105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782955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2,094</a:t>
            </a:r>
          </a:p>
        </p:txBody>
      </p:sp>
      <p:sp>
        <p:nvSpPr>
          <p:cNvPr id="155" name="Rectangle 154"/>
          <p:cNvSpPr/>
          <p:nvPr/>
        </p:nvSpPr>
        <p:spPr>
          <a:xfrm>
            <a:off x="863917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865822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1,772</a:t>
            </a:r>
          </a:p>
        </p:txBody>
      </p:sp>
      <p:sp>
        <p:nvSpPr>
          <p:cNvPr id="157" name="Rectangle 156"/>
          <p:cNvSpPr/>
          <p:nvPr/>
        </p:nvSpPr>
        <p:spPr>
          <a:xfrm>
            <a:off x="946785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948690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805.3</a:t>
            </a:r>
          </a:p>
        </p:txBody>
      </p:sp>
      <p:sp>
        <p:nvSpPr>
          <p:cNvPr id="159" name="Rectangle 158"/>
          <p:cNvSpPr/>
          <p:nvPr/>
        </p:nvSpPr>
        <p:spPr>
          <a:xfrm>
            <a:off x="1029652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1031557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a:t>
            </a:r>
          </a:p>
        </p:txBody>
      </p:sp>
      <p:sp>
        <p:nvSpPr>
          <p:cNvPr id="161" name="Rectangle 160"/>
          <p:cNvSpPr/>
          <p:nvPr/>
        </p:nvSpPr>
        <p:spPr>
          <a:xfrm>
            <a:off x="111252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11144250" y="3181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63" name="Rectangle 162"/>
          <p:cNvSpPr/>
          <p:nvPr/>
        </p:nvSpPr>
        <p:spPr>
          <a:xfrm>
            <a:off x="6191250" y="34099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248400" y="34099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Installed base share (units)</a:t>
            </a:r>
          </a:p>
        </p:txBody>
      </p:sp>
      <p:sp>
        <p:nvSpPr>
          <p:cNvPr id="165" name="Rectangle 164"/>
          <p:cNvSpPr/>
          <p:nvPr/>
        </p:nvSpPr>
        <p:spPr>
          <a:xfrm>
            <a:off x="78105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07624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41.4</a:t>
            </a:r>
          </a:p>
        </p:txBody>
      </p:sp>
      <p:sp>
        <p:nvSpPr>
          <p:cNvPr id="167" name="TextBox 166"/>
          <p:cNvSpPr txBox="1"/>
          <p:nvPr/>
        </p:nvSpPr>
        <p:spPr>
          <a:xfrm>
            <a:off x="836390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68" name="Rectangle 167"/>
          <p:cNvSpPr/>
          <p:nvPr/>
        </p:nvSpPr>
        <p:spPr>
          <a:xfrm>
            <a:off x="863917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90492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22.8</a:t>
            </a:r>
          </a:p>
        </p:txBody>
      </p:sp>
      <p:sp>
        <p:nvSpPr>
          <p:cNvPr id="170" name="TextBox 169"/>
          <p:cNvSpPr txBox="1"/>
          <p:nvPr/>
        </p:nvSpPr>
        <p:spPr>
          <a:xfrm>
            <a:off x="919257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1" name="Rectangle 170"/>
          <p:cNvSpPr/>
          <p:nvPr/>
        </p:nvSpPr>
        <p:spPr>
          <a:xfrm>
            <a:off x="946785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973359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12.2</a:t>
            </a:r>
          </a:p>
        </p:txBody>
      </p:sp>
      <p:sp>
        <p:nvSpPr>
          <p:cNvPr id="173" name="TextBox 172"/>
          <p:cNvSpPr txBox="1"/>
          <p:nvPr/>
        </p:nvSpPr>
        <p:spPr>
          <a:xfrm>
            <a:off x="1002125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4" name="Rectangle 173"/>
          <p:cNvSpPr/>
          <p:nvPr/>
        </p:nvSpPr>
        <p:spPr>
          <a:xfrm>
            <a:off x="1029652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TextBox 174"/>
          <p:cNvSpPr txBox="1"/>
          <p:nvPr/>
        </p:nvSpPr>
        <p:spPr>
          <a:xfrm>
            <a:off x="1056227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23.7</a:t>
            </a:r>
          </a:p>
        </p:txBody>
      </p:sp>
      <p:sp>
        <p:nvSpPr>
          <p:cNvPr id="176" name="TextBox 175"/>
          <p:cNvSpPr txBox="1"/>
          <p:nvPr/>
        </p:nvSpPr>
        <p:spPr>
          <a:xfrm>
            <a:off x="1084992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7" name="Rectangle 176"/>
          <p:cNvSpPr/>
          <p:nvPr/>
        </p:nvSpPr>
        <p:spPr>
          <a:xfrm>
            <a:off x="111252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11144250" y="3409950"/>
            <a:ext cx="790575" cy="32385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79" name="Rectangle 178"/>
          <p:cNvSpPr/>
          <p:nvPr/>
        </p:nvSpPr>
        <p:spPr>
          <a:xfrm>
            <a:off x="6191250" y="37338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248400" y="37338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Price positioning</a:t>
            </a:r>
          </a:p>
        </p:txBody>
      </p:sp>
      <p:sp>
        <p:nvSpPr>
          <p:cNvPr id="181" name="Rectangle 180"/>
          <p:cNvSpPr/>
          <p:nvPr/>
        </p:nvSpPr>
        <p:spPr>
          <a:xfrm>
            <a:off x="78105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82955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Premium</a:t>
            </a:r>
          </a:p>
        </p:txBody>
      </p:sp>
      <p:sp>
        <p:nvSpPr>
          <p:cNvPr id="183" name="Rectangle 182"/>
          <p:cNvSpPr/>
          <p:nvPr/>
        </p:nvSpPr>
        <p:spPr>
          <a:xfrm>
            <a:off x="863917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865822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Mid / value</a:t>
            </a:r>
          </a:p>
        </p:txBody>
      </p:sp>
      <p:sp>
        <p:nvSpPr>
          <p:cNvPr id="185" name="Rectangle 184"/>
          <p:cNvSpPr/>
          <p:nvPr/>
        </p:nvSpPr>
        <p:spPr>
          <a:xfrm>
            <a:off x="946785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948690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Value / entry</a:t>
            </a:r>
          </a:p>
        </p:txBody>
      </p:sp>
      <p:sp>
        <p:nvSpPr>
          <p:cNvPr id="187" name="Rectangle 186"/>
          <p:cNvSpPr/>
          <p:nvPr/>
        </p:nvSpPr>
        <p:spPr>
          <a:xfrm>
            <a:off x="1029652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TextBox 187"/>
          <p:cNvSpPr txBox="1"/>
          <p:nvPr/>
        </p:nvSpPr>
        <p:spPr>
          <a:xfrm>
            <a:off x="1031557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Mixed</a:t>
            </a:r>
          </a:p>
        </p:txBody>
      </p:sp>
      <p:sp>
        <p:nvSpPr>
          <p:cNvPr id="189" name="Rectangle 188"/>
          <p:cNvSpPr/>
          <p:nvPr/>
        </p:nvSpPr>
        <p:spPr>
          <a:xfrm>
            <a:off x="111252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11144250" y="37338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191" name="Rectangle 190"/>
          <p:cNvSpPr/>
          <p:nvPr/>
        </p:nvSpPr>
        <p:spPr>
          <a:xfrm>
            <a:off x="6191250" y="40576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6248400" y="40576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Route-to-market</a:t>
            </a:r>
          </a:p>
        </p:txBody>
      </p:sp>
      <p:sp>
        <p:nvSpPr>
          <p:cNvPr id="193" name="Rectangle 192"/>
          <p:cNvSpPr/>
          <p:nvPr/>
        </p:nvSpPr>
        <p:spPr>
          <a:xfrm>
            <a:off x="78105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TextBox 193"/>
          <p:cNvSpPr txBox="1"/>
          <p:nvPr/>
        </p:nvSpPr>
        <p:spPr>
          <a:xfrm>
            <a:off x="782955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Direct / key accounts</a:t>
            </a:r>
          </a:p>
        </p:txBody>
      </p:sp>
      <p:sp>
        <p:nvSpPr>
          <p:cNvPr id="195" name="Rectangle 194"/>
          <p:cNvSpPr/>
          <p:nvPr/>
        </p:nvSpPr>
        <p:spPr>
          <a:xfrm>
            <a:off x="863917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865822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Distributors</a:t>
            </a:r>
          </a:p>
        </p:txBody>
      </p:sp>
      <p:sp>
        <p:nvSpPr>
          <p:cNvPr id="197" name="Rectangle 196"/>
          <p:cNvSpPr/>
          <p:nvPr/>
        </p:nvSpPr>
        <p:spPr>
          <a:xfrm>
            <a:off x="946785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948690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Regional partners</a:t>
            </a:r>
          </a:p>
        </p:txBody>
      </p:sp>
      <p:sp>
        <p:nvSpPr>
          <p:cNvPr id="199" name="Rectangle 198"/>
          <p:cNvSpPr/>
          <p:nvPr/>
        </p:nvSpPr>
        <p:spPr>
          <a:xfrm>
            <a:off x="1029652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1031557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Local / online</a:t>
            </a:r>
          </a:p>
        </p:txBody>
      </p:sp>
      <p:sp>
        <p:nvSpPr>
          <p:cNvPr id="201" name="Rectangle 200"/>
          <p:cNvSpPr/>
          <p:nvPr/>
        </p:nvSpPr>
        <p:spPr>
          <a:xfrm>
            <a:off x="111252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TextBox 201"/>
          <p:cNvSpPr txBox="1"/>
          <p:nvPr/>
        </p:nvSpPr>
        <p:spPr>
          <a:xfrm>
            <a:off x="11144250" y="40576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03" name="Rectangle 202"/>
          <p:cNvSpPr/>
          <p:nvPr/>
        </p:nvSpPr>
        <p:spPr>
          <a:xfrm>
            <a:off x="6191250" y="43815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TextBox 203"/>
          <p:cNvSpPr txBox="1"/>
          <p:nvPr/>
        </p:nvSpPr>
        <p:spPr>
          <a:xfrm>
            <a:off x="6248400" y="43815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Portfolio breadth</a:t>
            </a:r>
          </a:p>
        </p:txBody>
      </p:sp>
      <p:sp>
        <p:nvSpPr>
          <p:cNvPr id="205" name="Rectangle 204"/>
          <p:cNvSpPr/>
          <p:nvPr/>
        </p:nvSpPr>
        <p:spPr>
          <a:xfrm>
            <a:off x="78105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782955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Full portfolio</a:t>
            </a:r>
          </a:p>
        </p:txBody>
      </p:sp>
      <p:sp>
        <p:nvSpPr>
          <p:cNvPr id="207" name="Rectangle 206"/>
          <p:cNvSpPr/>
          <p:nvPr/>
        </p:nvSpPr>
        <p:spPr>
          <a:xfrm>
            <a:off x="863917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865822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2–3 core lines</a:t>
            </a:r>
          </a:p>
        </p:txBody>
      </p:sp>
      <p:sp>
        <p:nvSpPr>
          <p:cNvPr id="209" name="Rectangle 208"/>
          <p:cNvSpPr/>
          <p:nvPr/>
        </p:nvSpPr>
        <p:spPr>
          <a:xfrm>
            <a:off x="946785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948690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Single line</a:t>
            </a:r>
          </a:p>
        </p:txBody>
      </p:sp>
      <p:sp>
        <p:nvSpPr>
          <p:cNvPr id="211" name="Rectangle 210"/>
          <p:cNvSpPr/>
          <p:nvPr/>
        </p:nvSpPr>
        <p:spPr>
          <a:xfrm>
            <a:off x="1029652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TextBox 211"/>
          <p:cNvSpPr txBox="1"/>
          <p:nvPr/>
        </p:nvSpPr>
        <p:spPr>
          <a:xfrm>
            <a:off x="1031557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Niche</a:t>
            </a:r>
          </a:p>
        </p:txBody>
      </p:sp>
      <p:sp>
        <p:nvSpPr>
          <p:cNvPr id="213" name="Rectangle 212"/>
          <p:cNvSpPr/>
          <p:nvPr/>
        </p:nvSpPr>
        <p:spPr>
          <a:xfrm>
            <a:off x="111252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TextBox 213"/>
          <p:cNvSpPr txBox="1"/>
          <p:nvPr/>
        </p:nvSpPr>
        <p:spPr>
          <a:xfrm>
            <a:off x="11144250" y="43815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15" name="Rectangle 214"/>
          <p:cNvSpPr/>
          <p:nvPr/>
        </p:nvSpPr>
        <p:spPr>
          <a:xfrm>
            <a:off x="6191250" y="47053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TextBox 215"/>
          <p:cNvSpPr txBox="1"/>
          <p:nvPr/>
        </p:nvSpPr>
        <p:spPr>
          <a:xfrm>
            <a:off x="6248400" y="47053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Strategic posture</a:t>
            </a:r>
          </a:p>
        </p:txBody>
      </p:sp>
      <p:sp>
        <p:nvSpPr>
          <p:cNvPr id="217" name="Rectangle 216"/>
          <p:cNvSpPr/>
          <p:nvPr/>
        </p:nvSpPr>
        <p:spPr>
          <a:xfrm>
            <a:off x="781050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TextBox 217"/>
          <p:cNvSpPr txBox="1"/>
          <p:nvPr/>
        </p:nvSpPr>
        <p:spPr>
          <a:xfrm>
            <a:off x="78295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Defend &amp; bundle</a:t>
            </a:r>
          </a:p>
        </p:txBody>
      </p:sp>
      <p:sp>
        <p:nvSpPr>
          <p:cNvPr id="219" name="Rectangle 218"/>
          <p:cNvSpPr/>
          <p:nvPr/>
        </p:nvSpPr>
        <p:spPr>
          <a:xfrm>
            <a:off x="863917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TextBox 219"/>
          <p:cNvSpPr txBox="1"/>
          <p:nvPr/>
        </p:nvSpPr>
        <p:spPr>
          <a:xfrm>
            <a:off x="865822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Niche deepening</a:t>
            </a:r>
          </a:p>
        </p:txBody>
      </p:sp>
      <p:sp>
        <p:nvSpPr>
          <p:cNvPr id="221" name="Rectangle 220"/>
          <p:cNvSpPr/>
          <p:nvPr/>
        </p:nvSpPr>
        <p:spPr>
          <a:xfrm>
            <a:off x="946785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TextBox 221"/>
          <p:cNvSpPr txBox="1"/>
          <p:nvPr/>
        </p:nvSpPr>
        <p:spPr>
          <a:xfrm>
            <a:off x="948690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Scale-up or exit</a:t>
            </a:r>
          </a:p>
        </p:txBody>
      </p:sp>
      <p:sp>
        <p:nvSpPr>
          <p:cNvPr id="223" name="Rectangle 222"/>
          <p:cNvSpPr/>
          <p:nvPr/>
        </p:nvSpPr>
        <p:spPr>
          <a:xfrm>
            <a:off x="1029652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TextBox 223"/>
          <p:cNvSpPr txBox="1"/>
          <p:nvPr/>
        </p:nvSpPr>
        <p:spPr>
          <a:xfrm>
            <a:off x="1031557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Long-tail</a:t>
            </a:r>
          </a:p>
        </p:txBody>
      </p:sp>
      <p:sp>
        <p:nvSpPr>
          <p:cNvPr id="225" name="Rectangle 224"/>
          <p:cNvSpPr/>
          <p:nvPr/>
        </p:nvSpPr>
        <p:spPr>
          <a:xfrm>
            <a:off x="11125200" y="47053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TextBox 225"/>
          <p:cNvSpPr txBox="1"/>
          <p:nvPr/>
        </p:nvSpPr>
        <p:spPr>
          <a:xfrm>
            <a:off x="111442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27" name="Rounded Rectangle 226"/>
          <p:cNvSpPr/>
          <p:nvPr/>
        </p:nvSpPr>
        <p:spPr>
          <a:xfrm>
            <a:off x="6096000" y="5162550"/>
            <a:ext cx="5953125" cy="146685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TextBox 227"/>
          <p:cNvSpPr txBox="1"/>
          <p:nvPr/>
        </p:nvSpPr>
        <p:spPr>
          <a:xfrm>
            <a:off x="6191250" y="52197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229" name="TextBox 228"/>
          <p:cNvSpPr txBox="1"/>
          <p:nvPr/>
        </p:nvSpPr>
        <p:spPr>
          <a:xfrm>
            <a:off x="6210300" y="5467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0" name="TextBox 229"/>
          <p:cNvSpPr txBox="1"/>
          <p:nvPr/>
        </p:nvSpPr>
        <p:spPr>
          <a:xfrm>
            <a:off x="6343650" y="5467350"/>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Tier 1 (52.0%) holds the largest single block of value on a 16,106 US$ Mn base; CR4 of 47.6% and HHI of 758 classify the market as fragmented.</a:t>
            </a:r>
          </a:p>
        </p:txBody>
      </p:sp>
      <p:sp>
        <p:nvSpPr>
          <p:cNvPr id="231" name="TextBox 230"/>
          <p:cNvSpPr txBox="1"/>
          <p:nvPr/>
        </p:nvSpPr>
        <p:spPr>
          <a:xfrm>
            <a:off x="6210300" y="5848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2" name="TextBox 231"/>
          <p:cNvSpPr txBox="1"/>
          <p:nvPr/>
        </p:nvSpPr>
        <p:spPr>
          <a:xfrm>
            <a:off x="6343650" y="5848350"/>
            <a:ext cx="5591175" cy="37147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Tier 2 grows fastest at 7.3% CAGR, moving +1.4 pp of share by 2036.</a:t>
            </a:r>
          </a:p>
        </p:txBody>
      </p:sp>
      <p:sp>
        <p:nvSpPr>
          <p:cNvPr id="233" name="TextBox 232"/>
          <p:cNvSpPr txBox="1"/>
          <p:nvPr/>
        </p:nvSpPr>
        <p:spPr>
          <a:xfrm>
            <a:off x="6210300" y="60674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4" name="TextBox 233"/>
          <p:cNvSpPr txBox="1"/>
          <p:nvPr/>
        </p:nvSpPr>
        <p:spPr>
          <a:xfrm>
            <a:off x="6343650" y="6067425"/>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Tier 3 and the long tail together hold 26.0% of value; the average Tier 3 player is 2.6x smaller than a Tier 1 supplier.</a:t>
            </a:r>
          </a:p>
        </p:txBody>
      </p:sp>
      <p:sp>
        <p:nvSpPr>
          <p:cNvPr id="235" name="TextBox 2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Hair Styling Products Market, Global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11906250" cy="2381250"/>
          </a:xfrm>
          <a:prstGeom prst="roundRect">
            <a:avLst>
              <a:gd name="adj" fmla="val 6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11715750"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Shift, 2026 → 2036 – Tier Migration and Entry / Exit</a:t>
            </a:r>
          </a:p>
        </p:txBody>
      </p:sp>
      <p:sp>
        <p:nvSpPr>
          <p:cNvPr id="12" name="Rounded Rectangle 11"/>
          <p:cNvSpPr/>
          <p:nvPr/>
        </p:nvSpPr>
        <p:spPr>
          <a:xfrm>
            <a:off x="257175" y="1390650"/>
            <a:ext cx="1905000" cy="876300"/>
          </a:xfrm>
          <a:prstGeom prst="roundRect">
            <a:avLst>
              <a:gd name="adj" fmla="val 4000"/>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571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14" name="TextBox 13"/>
          <p:cNvSpPr txBox="1"/>
          <p:nvPr/>
        </p:nvSpPr>
        <p:spPr>
          <a:xfrm>
            <a:off x="2571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Top / global players</a:t>
            </a:r>
          </a:p>
        </p:txBody>
      </p:sp>
      <p:sp>
        <p:nvSpPr>
          <p:cNvPr id="15" name="TextBox 14"/>
          <p:cNvSpPr txBox="1"/>
          <p:nvPr/>
        </p:nvSpPr>
        <p:spPr>
          <a:xfrm>
            <a:off x="2952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4 → 5 players  ·  52.0% → 52.8% share</a:t>
            </a:r>
          </a:p>
        </p:txBody>
      </p:sp>
      <p:sp>
        <p:nvSpPr>
          <p:cNvPr id="16" name="TextBox 15"/>
          <p:cNvSpPr txBox="1"/>
          <p:nvPr/>
        </p:nvSpPr>
        <p:spPr>
          <a:xfrm>
            <a:off x="22383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17" name="Connector 16"/>
          <p:cNvCxnSpPr/>
          <p:nvPr/>
        </p:nvCxnSpPr>
        <p:spPr>
          <a:xfrm>
            <a:off x="23145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18" name="Freeform 17"/>
          <p:cNvSpPr/>
          <p:nvPr/>
        </p:nvSpPr>
        <p:spPr>
          <a:xfrm>
            <a:off x="22383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a:off x="22383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20" name="Freeform 19"/>
          <p:cNvSpPr/>
          <p:nvPr/>
        </p:nvSpPr>
        <p:spPr>
          <a:xfrm>
            <a:off x="33432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2383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22" name="Rounded Rectangle 21"/>
          <p:cNvSpPr/>
          <p:nvPr/>
        </p:nvSpPr>
        <p:spPr>
          <a:xfrm>
            <a:off x="3514725" y="1390650"/>
            <a:ext cx="1905000" cy="876300"/>
          </a:xfrm>
          <a:prstGeom prst="roundRect">
            <a:avLst>
              <a:gd name="adj" fmla="val 4000"/>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351472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24" name="TextBox 23"/>
          <p:cNvSpPr txBox="1"/>
          <p:nvPr/>
        </p:nvSpPr>
        <p:spPr>
          <a:xfrm>
            <a:off x="351472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Mid-sized players</a:t>
            </a:r>
          </a:p>
        </p:txBody>
      </p:sp>
      <p:sp>
        <p:nvSpPr>
          <p:cNvPr id="25" name="TextBox 24"/>
          <p:cNvSpPr txBox="1"/>
          <p:nvPr/>
        </p:nvSpPr>
        <p:spPr>
          <a:xfrm>
            <a:off x="35528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2 → 2 players  ·  22.0% → 23.4% share</a:t>
            </a:r>
          </a:p>
        </p:txBody>
      </p:sp>
      <p:sp>
        <p:nvSpPr>
          <p:cNvPr id="26" name="TextBox 25"/>
          <p:cNvSpPr txBox="1"/>
          <p:nvPr/>
        </p:nvSpPr>
        <p:spPr>
          <a:xfrm>
            <a:off x="549592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27" name="Connector 26"/>
          <p:cNvCxnSpPr/>
          <p:nvPr/>
        </p:nvCxnSpPr>
        <p:spPr>
          <a:xfrm>
            <a:off x="557212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28" name="Freeform 27"/>
          <p:cNvSpPr/>
          <p:nvPr/>
        </p:nvSpPr>
        <p:spPr>
          <a:xfrm>
            <a:off x="549592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9" name="Connector 28"/>
          <p:cNvCxnSpPr/>
          <p:nvPr/>
        </p:nvCxnSpPr>
        <p:spPr>
          <a:xfrm>
            <a:off x="549592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30" name="Freeform 29"/>
          <p:cNvSpPr/>
          <p:nvPr/>
        </p:nvSpPr>
        <p:spPr>
          <a:xfrm>
            <a:off x="660082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549592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32" name="Rounded Rectangle 31"/>
          <p:cNvSpPr/>
          <p:nvPr/>
        </p:nvSpPr>
        <p:spPr>
          <a:xfrm>
            <a:off x="6772275" y="1390650"/>
            <a:ext cx="1905000" cy="876300"/>
          </a:xfrm>
          <a:prstGeom prst="roundRect">
            <a:avLst>
              <a:gd name="adj" fmla="val 4000"/>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67722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34" name="TextBox 33"/>
          <p:cNvSpPr txBox="1"/>
          <p:nvPr/>
        </p:nvSpPr>
        <p:spPr>
          <a:xfrm>
            <a:off x="67722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Emerging / local players</a:t>
            </a:r>
          </a:p>
        </p:txBody>
      </p:sp>
      <p:sp>
        <p:nvSpPr>
          <p:cNvPr id="35" name="TextBox 34"/>
          <p:cNvSpPr txBox="1"/>
          <p:nvPr/>
        </p:nvSpPr>
        <p:spPr>
          <a:xfrm>
            <a:off x="68103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2 → 2 players  ·  10.0% → 10.1% share</a:t>
            </a:r>
          </a:p>
        </p:txBody>
      </p:sp>
      <p:sp>
        <p:nvSpPr>
          <p:cNvPr id="36" name="TextBox 35"/>
          <p:cNvSpPr txBox="1"/>
          <p:nvPr/>
        </p:nvSpPr>
        <p:spPr>
          <a:xfrm>
            <a:off x="87534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2 up-tier (M&amp;A)</a:t>
            </a:r>
          </a:p>
        </p:txBody>
      </p:sp>
      <p:cxnSp>
        <p:nvCxnSpPr>
          <p:cNvPr id="37" name="Connector 36"/>
          <p:cNvCxnSpPr/>
          <p:nvPr/>
        </p:nvCxnSpPr>
        <p:spPr>
          <a:xfrm>
            <a:off x="88296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38" name="Freeform 37"/>
          <p:cNvSpPr/>
          <p:nvPr/>
        </p:nvSpPr>
        <p:spPr>
          <a:xfrm>
            <a:off x="87534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9" name="Connector 38"/>
          <p:cNvCxnSpPr/>
          <p:nvPr/>
        </p:nvCxnSpPr>
        <p:spPr>
          <a:xfrm>
            <a:off x="87534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40" name="Freeform 39"/>
          <p:cNvSpPr/>
          <p:nvPr/>
        </p:nvSpPr>
        <p:spPr>
          <a:xfrm>
            <a:off x="98583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87534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1 down / exit</a:t>
            </a:r>
          </a:p>
        </p:txBody>
      </p:sp>
      <p:sp>
        <p:nvSpPr>
          <p:cNvPr id="42" name="Rounded Rectangle 41"/>
          <p:cNvSpPr/>
          <p:nvPr/>
        </p:nvSpPr>
        <p:spPr>
          <a:xfrm>
            <a:off x="10029825" y="1390650"/>
            <a:ext cx="1905000" cy="876300"/>
          </a:xfrm>
          <a:prstGeom prst="roundRect">
            <a:avLst>
              <a:gd name="adj" fmla="val 4000"/>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0029825" y="1447800"/>
            <a:ext cx="1905000" cy="2095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44" name="TextBox 43"/>
          <p:cNvSpPr txBox="1"/>
          <p:nvPr/>
        </p:nvSpPr>
        <p:spPr>
          <a:xfrm>
            <a:off x="10029825" y="1676400"/>
            <a:ext cx="1905000" cy="17145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45" name="TextBox 44"/>
          <p:cNvSpPr txBox="1"/>
          <p:nvPr/>
        </p:nvSpPr>
        <p:spPr>
          <a:xfrm>
            <a:off x="100679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Long tail  ·  16.0% → 13.7% share</a:t>
            </a:r>
          </a:p>
        </p:txBody>
      </p:sp>
      <p:sp>
        <p:nvSpPr>
          <p:cNvPr id="46" name="Rounded Rectangle 45"/>
          <p:cNvSpPr/>
          <p:nvPr/>
        </p:nvSpPr>
        <p:spPr>
          <a:xfrm>
            <a:off x="2571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KPI Value"/>
          <p:cNvSpPr txBox="1"/>
          <p:nvPr/>
        </p:nvSpPr>
        <p:spPr>
          <a:xfrm>
            <a:off x="3524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3</a:t>
            </a:r>
          </a:p>
        </p:txBody>
      </p:sp>
      <p:sp>
        <p:nvSpPr>
          <p:cNvPr id="48" name="TextBox 47"/>
          <p:cNvSpPr txBox="1"/>
          <p:nvPr/>
        </p:nvSpPr>
        <p:spPr>
          <a:xfrm>
            <a:off x="11906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New entrants 2026–2036</a:t>
            </a:r>
          </a:p>
        </p:txBody>
      </p:sp>
      <p:sp>
        <p:nvSpPr>
          <p:cNvPr id="49" name="TextBox 48"/>
          <p:cNvSpPr txBox="1"/>
          <p:nvPr/>
        </p:nvSpPr>
        <p:spPr>
          <a:xfrm>
            <a:off x="11906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scaling up from the long tail</a:t>
            </a:r>
          </a:p>
        </p:txBody>
      </p:sp>
      <p:sp>
        <p:nvSpPr>
          <p:cNvPr id="50" name="Rounded Rectangle 49"/>
          <p:cNvSpPr/>
          <p:nvPr/>
        </p:nvSpPr>
        <p:spPr>
          <a:xfrm>
            <a:off x="32099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MI KPI Value"/>
          <p:cNvSpPr txBox="1"/>
          <p:nvPr/>
        </p:nvSpPr>
        <p:spPr>
          <a:xfrm>
            <a:off x="33051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2</a:t>
            </a:r>
          </a:p>
        </p:txBody>
      </p:sp>
      <p:sp>
        <p:nvSpPr>
          <p:cNvPr id="52" name="TextBox 51"/>
          <p:cNvSpPr txBox="1"/>
          <p:nvPr/>
        </p:nvSpPr>
        <p:spPr>
          <a:xfrm>
            <a:off x="41433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Exits / acquisitions</a:t>
            </a:r>
          </a:p>
        </p:txBody>
      </p:sp>
      <p:sp>
        <p:nvSpPr>
          <p:cNvPr id="53" name="TextBox 52"/>
          <p:cNvSpPr txBox="1"/>
          <p:nvPr/>
        </p:nvSpPr>
        <p:spPr>
          <a:xfrm>
            <a:off x="41433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absorbed mainly by Tier 1–2 acquirers</a:t>
            </a:r>
          </a:p>
        </p:txBody>
      </p:sp>
      <p:sp>
        <p:nvSpPr>
          <p:cNvPr id="54" name="Rounded Rectangle 53"/>
          <p:cNvSpPr/>
          <p:nvPr/>
        </p:nvSpPr>
        <p:spPr>
          <a:xfrm>
            <a:off x="61626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FMI KPI Value"/>
          <p:cNvSpPr txBox="1"/>
          <p:nvPr/>
        </p:nvSpPr>
        <p:spPr>
          <a:xfrm>
            <a:off x="62579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+1</a:t>
            </a:r>
          </a:p>
        </p:txBody>
      </p:sp>
      <p:sp>
        <p:nvSpPr>
          <p:cNvPr id="56" name="TextBox 55"/>
          <p:cNvSpPr txBox="1"/>
          <p:nvPr/>
        </p:nvSpPr>
        <p:spPr>
          <a:xfrm>
            <a:off x="70961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Net change in player count</a:t>
            </a:r>
          </a:p>
        </p:txBody>
      </p:sp>
      <p:sp>
        <p:nvSpPr>
          <p:cNvPr id="57" name="TextBox 56"/>
          <p:cNvSpPr txBox="1"/>
          <p:nvPr/>
        </p:nvSpPr>
        <p:spPr>
          <a:xfrm>
            <a:off x="70961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Between 2026 and 2036</a:t>
            </a:r>
          </a:p>
        </p:txBody>
      </p:sp>
      <p:sp>
        <p:nvSpPr>
          <p:cNvPr id="58" name="Rounded Rectangle 57"/>
          <p:cNvSpPr/>
          <p:nvPr/>
        </p:nvSpPr>
        <p:spPr>
          <a:xfrm>
            <a:off x="91154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MI KPI Value"/>
          <p:cNvSpPr txBox="1"/>
          <p:nvPr/>
        </p:nvSpPr>
        <p:spPr>
          <a:xfrm>
            <a:off x="92106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2.3 pp</a:t>
            </a:r>
          </a:p>
        </p:txBody>
      </p:sp>
      <p:sp>
        <p:nvSpPr>
          <p:cNvPr id="60" name="TextBox 59"/>
          <p:cNvSpPr txBox="1"/>
          <p:nvPr/>
        </p:nvSpPr>
        <p:spPr>
          <a:xfrm>
            <a:off x="100488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Share moving between tiers</a:t>
            </a:r>
          </a:p>
        </p:txBody>
      </p:sp>
      <p:sp>
        <p:nvSpPr>
          <p:cNvPr id="61" name="TextBox 60"/>
          <p:cNvSpPr txBox="1"/>
          <p:nvPr/>
        </p:nvSpPr>
        <p:spPr>
          <a:xfrm>
            <a:off x="100488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largest transfer: Others → Tier 2</a:t>
            </a:r>
          </a:p>
        </p:txBody>
      </p:sp>
      <p:sp>
        <p:nvSpPr>
          <p:cNvPr id="62" name="Rounded Rectangle 61"/>
          <p:cNvSpPr/>
          <p:nvPr/>
        </p:nvSpPr>
        <p:spPr>
          <a:xfrm>
            <a:off x="142875" y="3543300"/>
            <a:ext cx="7096125" cy="3086100"/>
          </a:xfrm>
          <a:prstGeom prst="roundRect">
            <a:avLst>
              <a:gd name="adj" fmla="val 10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238125" y="3600450"/>
            <a:ext cx="6905625"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Forces Shaping the Tier Structure (1 = weak, 5 = strong)</a:t>
            </a:r>
          </a:p>
        </p:txBody>
      </p:sp>
      <p:sp>
        <p:nvSpPr>
          <p:cNvPr id="64" name="Rectangle 63"/>
          <p:cNvSpPr/>
          <p:nvPr/>
        </p:nvSpPr>
        <p:spPr>
          <a:xfrm>
            <a:off x="238125" y="3867150"/>
            <a:ext cx="1428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295275" y="3867150"/>
            <a:ext cx="1352550" cy="247650"/>
          </a:xfrm>
          <a:prstGeom prst="rect">
            <a:avLst/>
          </a:prstGeom>
          <a:noFill/>
        </p:spPr>
        <p:txBody>
          <a:bodyPr wrap="square" lIns="28575" rIns="28575" tIns="9525" bIns="9525" anchor="ctr">
            <a:spAutoFit/>
          </a:bodyPr>
          <a:lstStyle/>
          <a:p>
            <a:pPr algn="l"/>
            <a:r>
              <a:rPr sz="1100" b="1">
                <a:solidFill>
                  <a:srgbClr val="FFFFFF"/>
                </a:solidFill>
                <a:latin typeface="Calibri"/>
              </a:rPr>
              <a:t>Force</a:t>
            </a:r>
          </a:p>
        </p:txBody>
      </p:sp>
      <p:sp>
        <p:nvSpPr>
          <p:cNvPr id="66" name="Rectangle 65"/>
          <p:cNvSpPr/>
          <p:nvPr/>
        </p:nvSpPr>
        <p:spPr>
          <a:xfrm>
            <a:off x="1666875" y="3867150"/>
            <a:ext cx="233362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1724025" y="3867150"/>
            <a:ext cx="2257425" cy="247650"/>
          </a:xfrm>
          <a:prstGeom prst="rect">
            <a:avLst/>
          </a:prstGeom>
          <a:noFill/>
        </p:spPr>
        <p:txBody>
          <a:bodyPr wrap="square" lIns="28575" rIns="28575" tIns="9525" bIns="9525" anchor="ctr">
            <a:spAutoFit/>
          </a:bodyPr>
          <a:lstStyle/>
          <a:p>
            <a:pPr algn="l"/>
            <a:r>
              <a:rPr sz="1100" b="1">
                <a:solidFill>
                  <a:srgbClr val="FFFFFF"/>
                </a:solidFill>
                <a:latin typeface="Calibri"/>
              </a:rPr>
              <a:t>Drivers in the market</a:t>
            </a:r>
          </a:p>
        </p:txBody>
      </p:sp>
      <p:sp>
        <p:nvSpPr>
          <p:cNvPr id="68" name="Rectangle 67"/>
          <p:cNvSpPr/>
          <p:nvPr/>
        </p:nvSpPr>
        <p:spPr>
          <a:xfrm>
            <a:off x="4000500" y="3867150"/>
            <a:ext cx="666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4057650" y="3867150"/>
            <a:ext cx="590550" cy="247650"/>
          </a:xfrm>
          <a:prstGeom prst="rect">
            <a:avLst/>
          </a:prstGeom>
          <a:noFill/>
        </p:spPr>
        <p:txBody>
          <a:bodyPr wrap="square" lIns="28575" rIns="28575" tIns="9525" bIns="9525" anchor="ctr">
            <a:spAutoFit/>
          </a:bodyPr>
          <a:lstStyle/>
          <a:p>
            <a:pPr algn="l"/>
            <a:r>
              <a:rPr sz="1100" b="1">
                <a:solidFill>
                  <a:srgbClr val="FFFFFF"/>
                </a:solidFill>
                <a:latin typeface="Calibri"/>
              </a:rPr>
              <a:t>Score</a:t>
            </a:r>
          </a:p>
        </p:txBody>
      </p:sp>
      <p:sp>
        <p:nvSpPr>
          <p:cNvPr id="70" name="Rectangle 69"/>
          <p:cNvSpPr/>
          <p:nvPr/>
        </p:nvSpPr>
        <p:spPr>
          <a:xfrm>
            <a:off x="4667250" y="3867150"/>
            <a:ext cx="2476500" cy="247650"/>
          </a:xfrm>
          <a:prstGeom prst="rect">
            <a:avLst/>
          </a:prstGeom>
          <a:solidFill>
            <a:srgbClr val="0E8C8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4724400" y="3867150"/>
            <a:ext cx="2400300" cy="247650"/>
          </a:xfrm>
          <a:prstGeom prst="rect">
            <a:avLst/>
          </a:prstGeom>
          <a:noFill/>
        </p:spPr>
        <p:txBody>
          <a:bodyPr wrap="square" lIns="28575" rIns="28575" tIns="9525" bIns="9525" anchor="ctr">
            <a:spAutoFit/>
          </a:bodyPr>
          <a:lstStyle/>
          <a:p>
            <a:pPr algn="l"/>
            <a:r>
              <a:rPr sz="1100" b="1">
                <a:solidFill>
                  <a:srgbClr val="FFFFFF"/>
                </a:solidFill>
                <a:latin typeface="Calibri"/>
              </a:rPr>
              <a:t>Effect on tier structure</a:t>
            </a:r>
          </a:p>
        </p:txBody>
      </p:sp>
      <p:sp>
        <p:nvSpPr>
          <p:cNvPr id="72" name="Rectangle 71"/>
          <p:cNvSpPr/>
          <p:nvPr/>
        </p:nvSpPr>
        <p:spPr>
          <a:xfrm>
            <a:off x="238125" y="41148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295275" y="41148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Entry barriers</a:t>
            </a:r>
          </a:p>
        </p:txBody>
      </p:sp>
      <p:sp>
        <p:nvSpPr>
          <p:cNvPr id="74" name="Rectangle 73"/>
          <p:cNvSpPr/>
          <p:nvPr/>
        </p:nvSpPr>
        <p:spPr>
          <a:xfrm>
            <a:off x="1666875" y="41148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1724025" y="41148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Certification, qualification, scale economics</a:t>
            </a:r>
          </a:p>
        </p:txBody>
      </p:sp>
      <p:sp>
        <p:nvSpPr>
          <p:cNvPr id="76" name="Rectangle 75"/>
          <p:cNvSpPr/>
          <p:nvPr/>
        </p:nvSpPr>
        <p:spPr>
          <a:xfrm>
            <a:off x="4000500" y="41148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4057650" y="41148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2 / 5</a:t>
            </a:r>
          </a:p>
        </p:txBody>
      </p:sp>
      <p:sp>
        <p:nvSpPr>
          <p:cNvPr id="78" name="Rectangle 77"/>
          <p:cNvSpPr/>
          <p:nvPr/>
        </p:nvSpPr>
        <p:spPr>
          <a:xfrm>
            <a:off x="4667250" y="41148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724400" y="41148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Protects Tier 1–2; slows new entry</a:t>
            </a:r>
          </a:p>
        </p:txBody>
      </p:sp>
      <p:sp>
        <p:nvSpPr>
          <p:cNvPr id="80" name="Rectangle 79"/>
          <p:cNvSpPr/>
          <p:nvPr/>
        </p:nvSpPr>
        <p:spPr>
          <a:xfrm>
            <a:off x="238125" y="45243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295275" y="45243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Buyer power</a:t>
            </a:r>
          </a:p>
        </p:txBody>
      </p:sp>
      <p:sp>
        <p:nvSpPr>
          <p:cNvPr id="82" name="Rectangle 81"/>
          <p:cNvSpPr/>
          <p:nvPr/>
        </p:nvSpPr>
        <p:spPr>
          <a:xfrm>
            <a:off x="1666875" y="45243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724025" y="452437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Key-account purchasing, multi-year supply contracts</a:t>
            </a:r>
          </a:p>
        </p:txBody>
      </p:sp>
      <p:sp>
        <p:nvSpPr>
          <p:cNvPr id="84" name="Rectangle 83"/>
          <p:cNvSpPr/>
          <p:nvPr/>
        </p:nvSpPr>
        <p:spPr>
          <a:xfrm>
            <a:off x="4000500" y="45243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4057650" y="45243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4 / 5</a:t>
            </a:r>
          </a:p>
        </p:txBody>
      </p:sp>
      <p:sp>
        <p:nvSpPr>
          <p:cNvPr id="86" name="Rectangle 85"/>
          <p:cNvSpPr/>
          <p:nvPr/>
        </p:nvSpPr>
        <p:spPr>
          <a:xfrm>
            <a:off x="4667250" y="45243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724400" y="452437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Compresses Tier 3 pricing</a:t>
            </a:r>
          </a:p>
        </p:txBody>
      </p:sp>
      <p:sp>
        <p:nvSpPr>
          <p:cNvPr id="88" name="Rectangle 87"/>
          <p:cNvSpPr/>
          <p:nvPr/>
        </p:nvSpPr>
        <p:spPr>
          <a:xfrm>
            <a:off x="238125" y="493395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295275" y="493395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Switching costs</a:t>
            </a:r>
          </a:p>
        </p:txBody>
      </p:sp>
      <p:sp>
        <p:nvSpPr>
          <p:cNvPr id="90" name="Rectangle 89"/>
          <p:cNvSpPr/>
          <p:nvPr/>
        </p:nvSpPr>
        <p:spPr>
          <a:xfrm>
            <a:off x="1666875" y="493395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1724025" y="493395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Requalification, integration and retraining</a:t>
            </a:r>
          </a:p>
        </p:txBody>
      </p:sp>
      <p:sp>
        <p:nvSpPr>
          <p:cNvPr id="92" name="Rectangle 91"/>
          <p:cNvSpPr/>
          <p:nvPr/>
        </p:nvSpPr>
        <p:spPr>
          <a:xfrm>
            <a:off x="4000500" y="493395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4057650" y="493395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1 / 5</a:t>
            </a:r>
          </a:p>
        </p:txBody>
      </p:sp>
      <p:sp>
        <p:nvSpPr>
          <p:cNvPr id="94" name="Rectangle 93"/>
          <p:cNvSpPr/>
          <p:nvPr/>
        </p:nvSpPr>
        <p:spPr>
          <a:xfrm>
            <a:off x="4667250" y="493395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4724400" y="493395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Locks in the installed base</a:t>
            </a:r>
          </a:p>
        </p:txBody>
      </p:sp>
      <p:sp>
        <p:nvSpPr>
          <p:cNvPr id="96" name="Rectangle 95"/>
          <p:cNvSpPr/>
          <p:nvPr/>
        </p:nvSpPr>
        <p:spPr>
          <a:xfrm>
            <a:off x="238125" y="534352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95275" y="534352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Technology substitution</a:t>
            </a:r>
          </a:p>
        </p:txBody>
      </p:sp>
      <p:sp>
        <p:nvSpPr>
          <p:cNvPr id="98" name="Rectangle 97"/>
          <p:cNvSpPr/>
          <p:nvPr/>
        </p:nvSpPr>
        <p:spPr>
          <a:xfrm>
            <a:off x="1666875" y="534352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724025" y="534352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Alternative materials and next-generation formats</a:t>
            </a:r>
          </a:p>
        </p:txBody>
      </p:sp>
      <p:sp>
        <p:nvSpPr>
          <p:cNvPr id="100" name="Rectangle 99"/>
          <p:cNvSpPr/>
          <p:nvPr/>
        </p:nvSpPr>
        <p:spPr>
          <a:xfrm>
            <a:off x="4000500" y="534352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057650" y="534352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3 / 5</a:t>
            </a:r>
          </a:p>
        </p:txBody>
      </p:sp>
      <p:sp>
        <p:nvSpPr>
          <p:cNvPr id="102" name="Rectangle 101"/>
          <p:cNvSpPr/>
          <p:nvPr/>
        </p:nvSpPr>
        <p:spPr>
          <a:xfrm>
            <a:off x="4667250" y="534352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4724400" y="534352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Opens demand to Tier 2–3 innovators</a:t>
            </a:r>
          </a:p>
        </p:txBody>
      </p:sp>
      <p:sp>
        <p:nvSpPr>
          <p:cNvPr id="104" name="Rectangle 103"/>
          <p:cNvSpPr/>
          <p:nvPr/>
        </p:nvSpPr>
        <p:spPr>
          <a:xfrm>
            <a:off x="238125" y="57531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95275" y="57531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Supplier power</a:t>
            </a:r>
          </a:p>
        </p:txBody>
      </p:sp>
      <p:sp>
        <p:nvSpPr>
          <p:cNvPr id="106" name="Rectangle 105"/>
          <p:cNvSpPr/>
          <p:nvPr/>
        </p:nvSpPr>
        <p:spPr>
          <a:xfrm>
            <a:off x="1666875" y="57531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1724025" y="57531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Few qualified input and component suppliers</a:t>
            </a:r>
          </a:p>
        </p:txBody>
      </p:sp>
      <p:sp>
        <p:nvSpPr>
          <p:cNvPr id="108" name="Rectangle 107"/>
          <p:cNvSpPr/>
          <p:nvPr/>
        </p:nvSpPr>
        <p:spPr>
          <a:xfrm>
            <a:off x="4000500" y="57531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4057650" y="57531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4 / 5</a:t>
            </a:r>
          </a:p>
        </p:txBody>
      </p:sp>
      <p:sp>
        <p:nvSpPr>
          <p:cNvPr id="110" name="Rectangle 109"/>
          <p:cNvSpPr/>
          <p:nvPr/>
        </p:nvSpPr>
        <p:spPr>
          <a:xfrm>
            <a:off x="4667250" y="57531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4724400" y="57531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Raises input cost for sub-scale players</a:t>
            </a:r>
          </a:p>
        </p:txBody>
      </p:sp>
      <p:sp>
        <p:nvSpPr>
          <p:cNvPr id="112" name="Rectangle 111"/>
          <p:cNvSpPr/>
          <p:nvPr/>
        </p:nvSpPr>
        <p:spPr>
          <a:xfrm>
            <a:off x="238125" y="61626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95275" y="61626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Overall structural pressure</a:t>
            </a:r>
          </a:p>
        </p:txBody>
      </p:sp>
      <p:sp>
        <p:nvSpPr>
          <p:cNvPr id="114" name="Rectangle 113"/>
          <p:cNvSpPr/>
          <p:nvPr/>
        </p:nvSpPr>
        <p:spPr>
          <a:xfrm>
            <a:off x="1666875" y="61626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1724025" y="6162675"/>
            <a:ext cx="2238375"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Average of the five forces</a:t>
            </a:r>
          </a:p>
        </p:txBody>
      </p:sp>
      <p:sp>
        <p:nvSpPr>
          <p:cNvPr id="116" name="Rectangle 115"/>
          <p:cNvSpPr/>
          <p:nvPr/>
        </p:nvSpPr>
        <p:spPr>
          <a:xfrm>
            <a:off x="4000500" y="61626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4057650" y="61626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2.8 / 5</a:t>
            </a:r>
          </a:p>
        </p:txBody>
      </p:sp>
      <p:sp>
        <p:nvSpPr>
          <p:cNvPr id="118" name="Rectangle 117"/>
          <p:cNvSpPr/>
          <p:nvPr/>
        </p:nvSpPr>
        <p:spPr>
          <a:xfrm>
            <a:off x="4667250" y="61626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4724400" y="6162675"/>
            <a:ext cx="238125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Structure broadly stable</a:t>
            </a:r>
          </a:p>
        </p:txBody>
      </p:sp>
      <p:sp>
        <p:nvSpPr>
          <p:cNvPr id="120" name="Rounded Rectangle 119"/>
          <p:cNvSpPr/>
          <p:nvPr/>
        </p:nvSpPr>
        <p:spPr>
          <a:xfrm>
            <a:off x="7381875" y="3543300"/>
            <a:ext cx="4667250" cy="3086100"/>
          </a:xfrm>
          <a:prstGeom prst="roundRect">
            <a:avLst>
              <a:gd name="adj" fmla="val 16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477125" y="3600450"/>
            <a:ext cx="4476750"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122" name="TextBox 121"/>
          <p:cNvSpPr txBox="1"/>
          <p:nvPr/>
        </p:nvSpPr>
        <p:spPr>
          <a:xfrm>
            <a:off x="7496175" y="384810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3" name="TextBox 122"/>
          <p:cNvSpPr txBox="1"/>
          <p:nvPr/>
        </p:nvSpPr>
        <p:spPr>
          <a:xfrm>
            <a:off x="7629525" y="3848100"/>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The market is fragmented (HHI 758); Tier 1 sets pricing and innovation benchmarks and is expected to hold 52.8% of value in 2036.</a:t>
            </a:r>
          </a:p>
        </p:txBody>
      </p:sp>
      <p:sp>
        <p:nvSpPr>
          <p:cNvPr id="124" name="TextBox 123"/>
          <p:cNvSpPr txBox="1"/>
          <p:nvPr/>
        </p:nvSpPr>
        <p:spPr>
          <a:xfrm>
            <a:off x="7496175" y="44291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5" name="TextBox 124"/>
          <p:cNvSpPr txBox="1"/>
          <p:nvPr/>
        </p:nvSpPr>
        <p:spPr>
          <a:xfrm>
            <a:off x="7629525" y="4429125"/>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1 Tier 2 player is positioned to move up-tier by 2036 through M&amp;A and key-account wins – the main structural change of the decade.</a:t>
            </a:r>
          </a:p>
        </p:txBody>
      </p:sp>
      <p:sp>
        <p:nvSpPr>
          <p:cNvPr id="126" name="TextBox 125"/>
          <p:cNvSpPr txBox="1"/>
          <p:nvPr/>
        </p:nvSpPr>
        <p:spPr>
          <a:xfrm>
            <a:off x="7496175" y="50101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7" name="TextBox 126"/>
          <p:cNvSpPr txBox="1"/>
          <p:nvPr/>
        </p:nvSpPr>
        <p:spPr>
          <a:xfrm>
            <a:off x="7629525" y="50101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Tier 3 and the long tail face the highest structural pressure (2.8 / 5); 2 players are expected to exit or be acquired.</a:t>
            </a:r>
          </a:p>
        </p:txBody>
      </p:sp>
      <p:sp>
        <p:nvSpPr>
          <p:cNvPr id="128" name="TextBox 127"/>
          <p:cNvSpPr txBox="1"/>
          <p:nvPr/>
        </p:nvSpPr>
        <p:spPr>
          <a:xfrm>
            <a:off x="7496175" y="54292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9" name="TextBox 128"/>
          <p:cNvSpPr txBox="1"/>
          <p:nvPr/>
        </p:nvSpPr>
        <p:spPr>
          <a:xfrm>
            <a:off x="7629525" y="54292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Buyer power (4 / 5) and supplier power (4 / 5) are the dominant forces shaping the tier structure.</a:t>
            </a:r>
          </a:p>
        </p:txBody>
      </p:sp>
      <p:sp>
        <p:nvSpPr>
          <p:cNvPr id="130" name="TextBox 1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Competitive Dashboard View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companies on portfolio, coverage, revenue, share, regional presence and strategy</a:t>
            </a:r>
          </a:p>
        </p:txBody>
      </p:sp>
      <p:sp>
        <p:nvSpPr>
          <p:cNvPr id="10" name="TextBox 9"/>
          <p:cNvSpPr txBox="1"/>
          <p:nvPr/>
        </p:nvSpPr>
        <p:spPr>
          <a:xfrm>
            <a:off x="285750" y="970754"/>
            <a:ext cx="10477500" cy="164283"/>
          </a:xfrm>
          <a:prstGeom prst="rect">
            <a:avLst/>
          </a:prstGeom>
          <a:noFill/>
        </p:spPr>
        <p:txBody>
          <a:bodyPr wrap="square" lIns="0" rIns="19050" tIns="0" bIns="0">
            <a:spAutoFit/>
          </a:bodyPr>
          <a:lstStyle/>
          <a:p>
            <a:pPr algn="l"/>
            <a:r>
              <a:rPr sz="1100" b="0">
                <a:solidFill>
                  <a:srgbClr val="6C7A89"/>
                </a:solidFill>
                <a:latin typeface="Calibri"/>
              </a:rPr>
              <a:t>Intensified competition across the leading players portfolio, revenue, share, regional presence and strategy.  All figures 2026.</a:t>
            </a:r>
          </a:p>
        </p:txBody>
      </p:sp>
      <p:sp>
        <p:nvSpPr>
          <p:cNvPr id="11" name="Rounded Rectangle 10"/>
          <p:cNvSpPr/>
          <p:nvPr/>
        </p:nvSpPr>
        <p:spPr>
          <a:xfrm>
            <a:off x="133350" y="1153291"/>
            <a:ext cx="11925300" cy="4563424"/>
          </a:xfrm>
          <a:prstGeom prst="roundRect">
            <a:avLst>
              <a:gd name="adj" fmla="val 16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33350" y="1171544"/>
            <a:ext cx="11925300" cy="365074"/>
          </a:xfrm>
          <a:prstGeom prst="rect">
            <a:avLst/>
          </a:prstGeom>
          <a:solidFill>
            <a:srgbClr val="F1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ectangle 12"/>
          <p:cNvSpPr/>
          <p:nvPr/>
        </p:nvSpPr>
        <p:spPr>
          <a:xfrm>
            <a:off x="133350" y="1171544"/>
            <a:ext cx="1143000" cy="4526917"/>
          </a:xfrm>
          <a:prstGeom prst="rect">
            <a:avLst/>
          </a:prstGeom>
          <a:solidFill>
            <a:srgbClr val="F7FA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4" name="Connector 13"/>
          <p:cNvCxnSpPr/>
          <p:nvPr/>
        </p:nvCxnSpPr>
        <p:spPr>
          <a:xfrm>
            <a:off x="133350" y="153661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133350" y="179217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133350" y="263184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33350" y="2960407"/>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33350" y="3288973"/>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33350" y="4055629"/>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133350" y="504132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1333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12954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2640806"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3986212"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331619"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66770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8022431"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9367838"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10713244"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133350" y="5698461"/>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71450" y="1536618"/>
            <a:ext cx="1085850" cy="255552"/>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Company / Brand</a:t>
            </a:r>
          </a:p>
        </p:txBody>
      </p:sp>
      <p:sp>
        <p:nvSpPr>
          <p:cNvPr id="34" name="TextBox 33"/>
          <p:cNvSpPr txBox="1"/>
          <p:nvPr/>
        </p:nvSpPr>
        <p:spPr>
          <a:xfrm>
            <a:off x="171450" y="1792170"/>
            <a:ext cx="1085850" cy="83967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Product Portfolio</a:t>
            </a:r>
          </a:p>
        </p:txBody>
      </p:sp>
      <p:sp>
        <p:nvSpPr>
          <p:cNvPr id="35" name="TextBox 34"/>
          <p:cNvSpPr txBox="1"/>
          <p:nvPr/>
        </p:nvSpPr>
        <p:spPr>
          <a:xfrm>
            <a:off x="171450" y="2631840"/>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Overall Rev (US$ Mn)</a:t>
            </a:r>
          </a:p>
        </p:txBody>
      </p:sp>
      <p:sp>
        <p:nvSpPr>
          <p:cNvPr id="36" name="TextBox 35"/>
          <p:cNvSpPr txBox="1"/>
          <p:nvPr/>
        </p:nvSpPr>
        <p:spPr>
          <a:xfrm>
            <a:off x="171450" y="2960407"/>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Target Rev (US$ Mn)</a:t>
            </a:r>
          </a:p>
        </p:txBody>
      </p:sp>
      <p:sp>
        <p:nvSpPr>
          <p:cNvPr id="37" name="TextBox 36"/>
          <p:cNvSpPr txBox="1"/>
          <p:nvPr/>
        </p:nvSpPr>
        <p:spPr>
          <a:xfrm>
            <a:off x="171450" y="3288973"/>
            <a:ext cx="1085850" cy="766655"/>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Market Share (%)</a:t>
            </a:r>
          </a:p>
        </p:txBody>
      </p:sp>
      <p:sp>
        <p:nvSpPr>
          <p:cNvPr id="38" name="TextBox 37"/>
          <p:cNvSpPr txBox="1"/>
          <p:nvPr/>
        </p:nvSpPr>
        <p:spPr>
          <a:xfrm>
            <a:off x="171450" y="4055629"/>
            <a:ext cx="1085850" cy="98570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Regional Presence</a:t>
            </a:r>
          </a:p>
        </p:txBody>
      </p:sp>
      <p:sp>
        <p:nvSpPr>
          <p:cNvPr id="39" name="TextBox 38"/>
          <p:cNvSpPr txBox="1"/>
          <p:nvPr/>
        </p:nvSpPr>
        <p:spPr>
          <a:xfrm>
            <a:off x="171450" y="5041328"/>
            <a:ext cx="1085850" cy="657133"/>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Strategies</a:t>
            </a:r>
          </a:p>
        </p:txBody>
      </p:sp>
      <p:sp>
        <p:nvSpPr>
          <p:cNvPr id="40" name="TextBox 39"/>
          <p:cNvSpPr txBox="1"/>
          <p:nvPr/>
        </p:nvSpPr>
        <p:spPr>
          <a:xfrm>
            <a:off x="1323975"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A</a:t>
            </a:r>
          </a:p>
        </p:txBody>
      </p:sp>
      <p:cxnSp>
        <p:nvCxnSpPr>
          <p:cNvPr id="41" name="Connector 40"/>
          <p:cNvCxnSpPr/>
          <p:nvPr/>
        </p:nvCxnSpPr>
        <p:spPr>
          <a:xfrm>
            <a:off x="1739503"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2" name="TextBox 41"/>
          <p:cNvSpPr txBox="1"/>
          <p:nvPr/>
        </p:nvSpPr>
        <p:spPr>
          <a:xfrm>
            <a:off x="1323975"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A</a:t>
            </a:r>
          </a:p>
        </p:txBody>
      </p:sp>
      <p:sp>
        <p:nvSpPr>
          <p:cNvPr id="43" name="TextBox 42"/>
          <p:cNvSpPr txBox="1"/>
          <p:nvPr/>
        </p:nvSpPr>
        <p:spPr>
          <a:xfrm>
            <a:off x="1314450"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44" name="TextBox 43"/>
          <p:cNvSpPr txBox="1"/>
          <p:nvPr/>
        </p:nvSpPr>
        <p:spPr>
          <a:xfrm>
            <a:off x="1314450"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45" name="Rectangle 44"/>
          <p:cNvSpPr/>
          <p:nvPr/>
        </p:nvSpPr>
        <p:spPr>
          <a:xfrm>
            <a:off x="1739503"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910953"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2082403"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1323975"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7,928</a:t>
            </a:r>
          </a:p>
        </p:txBody>
      </p:sp>
      <p:sp>
        <p:nvSpPr>
          <p:cNvPr id="49" name="TextBox 48"/>
          <p:cNvSpPr txBox="1"/>
          <p:nvPr/>
        </p:nvSpPr>
        <p:spPr>
          <a:xfrm>
            <a:off x="1323975"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2,643</a:t>
            </a:r>
          </a:p>
        </p:txBody>
      </p:sp>
      <p:sp>
        <p:nvSpPr>
          <p:cNvPr id="50" name="Oval 49"/>
          <p:cNvSpPr/>
          <p:nvPr/>
        </p:nvSpPr>
        <p:spPr>
          <a:xfrm>
            <a:off x="1720453"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1971675" y="3416749"/>
            <a:ext cx="209550" cy="237298"/>
          </a:xfrm>
          <a:custGeom>
            <a:avLst/>
            <a:gdLst/>
            <a:ahLst/>
            <a:cxnLst/>
            <a:rect l="l" t="t" r="r" b="b"/>
            <a:pathLst>
              <a:path w="22" h="26">
                <a:moveTo>
                  <a:pt x="0" y="26"/>
                </a:moveTo>
                <a:lnTo>
                  <a:pt x="0" y="0"/>
                </a:lnTo>
                <a:lnTo>
                  <a:pt x="3" y="0"/>
                </a:lnTo>
                <a:lnTo>
                  <a:pt x="7" y="1"/>
                </a:lnTo>
                <a:lnTo>
                  <a:pt x="11" y="2"/>
                </a:lnTo>
                <a:lnTo>
                  <a:pt x="14" y="4"/>
                </a:lnTo>
                <a:lnTo>
                  <a:pt x="17" y="7"/>
                </a:lnTo>
                <a:lnTo>
                  <a:pt x="20" y="10"/>
                </a:lnTo>
                <a:lnTo>
                  <a:pt x="22" y="13"/>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1829419"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1720453"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16.4%</a:t>
            </a:r>
          </a:p>
        </p:txBody>
      </p:sp>
      <p:sp>
        <p:nvSpPr>
          <p:cNvPr id="54" name="TextBox 53"/>
          <p:cNvSpPr txBox="1"/>
          <p:nvPr/>
        </p:nvSpPr>
        <p:spPr>
          <a:xfrm>
            <a:off x="1343025"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9AA3A8"/>
                </a:solidFill>
                <a:latin typeface="Calibri"/>
              </a:rPr>
              <a:t>▲</a:t>
            </a:r>
          </a:p>
        </p:txBody>
      </p:sp>
      <p:sp>
        <p:nvSpPr>
          <p:cNvPr id="55" name="Oval 54"/>
          <p:cNvSpPr/>
          <p:nvPr/>
        </p:nvSpPr>
        <p:spPr>
          <a:xfrm>
            <a:off x="1563291"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563291"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57" name="Oval 56"/>
          <p:cNvSpPr/>
          <p:nvPr/>
        </p:nvSpPr>
        <p:spPr>
          <a:xfrm>
            <a:off x="1772841"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1772841"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59" name="Oval 58"/>
          <p:cNvSpPr/>
          <p:nvPr/>
        </p:nvSpPr>
        <p:spPr>
          <a:xfrm>
            <a:off x="1982391"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1982391"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61" name="Oval 60"/>
          <p:cNvSpPr/>
          <p:nvPr/>
        </p:nvSpPr>
        <p:spPr>
          <a:xfrm>
            <a:off x="2191941"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2191941"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63" name="Oval 62"/>
          <p:cNvSpPr/>
          <p:nvPr/>
        </p:nvSpPr>
        <p:spPr>
          <a:xfrm>
            <a:off x="1668066"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1668066"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65" name="Oval 64"/>
          <p:cNvSpPr/>
          <p:nvPr/>
        </p:nvSpPr>
        <p:spPr>
          <a:xfrm>
            <a:off x="1877616"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1877616"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67" name="Oval 66"/>
          <p:cNvSpPr/>
          <p:nvPr/>
        </p:nvSpPr>
        <p:spPr>
          <a:xfrm>
            <a:off x="2087166"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2087166"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69" name="TextBox 68"/>
          <p:cNvSpPr txBox="1"/>
          <p:nvPr/>
        </p:nvSpPr>
        <p:spPr>
          <a:xfrm>
            <a:off x="2669381"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B</a:t>
            </a:r>
          </a:p>
        </p:txBody>
      </p:sp>
      <p:cxnSp>
        <p:nvCxnSpPr>
          <p:cNvPr id="70" name="Connector 69"/>
          <p:cNvCxnSpPr/>
          <p:nvPr/>
        </p:nvCxnSpPr>
        <p:spPr>
          <a:xfrm>
            <a:off x="3084909"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1" name="TextBox 70"/>
          <p:cNvSpPr txBox="1"/>
          <p:nvPr/>
        </p:nvSpPr>
        <p:spPr>
          <a:xfrm>
            <a:off x="2669381"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B</a:t>
            </a:r>
          </a:p>
        </p:txBody>
      </p:sp>
      <p:sp>
        <p:nvSpPr>
          <p:cNvPr id="72" name="TextBox 71"/>
          <p:cNvSpPr txBox="1"/>
          <p:nvPr/>
        </p:nvSpPr>
        <p:spPr>
          <a:xfrm>
            <a:off x="2659856"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73" name="TextBox 72"/>
          <p:cNvSpPr txBox="1"/>
          <p:nvPr/>
        </p:nvSpPr>
        <p:spPr>
          <a:xfrm>
            <a:off x="2659856"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74" name="Rectangle 73"/>
          <p:cNvSpPr/>
          <p:nvPr/>
        </p:nvSpPr>
        <p:spPr>
          <a:xfrm>
            <a:off x="3084909"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3256359"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3427809"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2669381"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7,981</a:t>
            </a:r>
          </a:p>
        </p:txBody>
      </p:sp>
      <p:sp>
        <p:nvSpPr>
          <p:cNvPr id="78" name="TextBox 77"/>
          <p:cNvSpPr txBox="1"/>
          <p:nvPr/>
        </p:nvSpPr>
        <p:spPr>
          <a:xfrm>
            <a:off x="2669381"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2,313</a:t>
            </a:r>
          </a:p>
        </p:txBody>
      </p:sp>
      <p:sp>
        <p:nvSpPr>
          <p:cNvPr id="79" name="Oval 78"/>
          <p:cNvSpPr/>
          <p:nvPr/>
        </p:nvSpPr>
        <p:spPr>
          <a:xfrm>
            <a:off x="3065859"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Freeform 79"/>
          <p:cNvSpPr/>
          <p:nvPr/>
        </p:nvSpPr>
        <p:spPr>
          <a:xfrm>
            <a:off x="3314700" y="3416749"/>
            <a:ext cx="190500" cy="237298"/>
          </a:xfrm>
          <a:custGeom>
            <a:avLst/>
            <a:gdLst/>
            <a:ahLst/>
            <a:cxnLst/>
            <a:rect l="l" t="t" r="r" b="b"/>
            <a:pathLst>
              <a:path w="20" h="26">
                <a:moveTo>
                  <a:pt x="0" y="26"/>
                </a:moveTo>
                <a:lnTo>
                  <a:pt x="0" y="0"/>
                </a:lnTo>
                <a:lnTo>
                  <a:pt x="4" y="0"/>
                </a:lnTo>
                <a:lnTo>
                  <a:pt x="8" y="1"/>
                </a:lnTo>
                <a:lnTo>
                  <a:pt x="11" y="3"/>
                </a:lnTo>
                <a:lnTo>
                  <a:pt x="15" y="5"/>
                </a:lnTo>
                <a:lnTo>
                  <a:pt x="18" y="7"/>
                </a:lnTo>
                <a:lnTo>
                  <a:pt x="20" y="1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Oval 80"/>
          <p:cNvSpPr/>
          <p:nvPr/>
        </p:nvSpPr>
        <p:spPr>
          <a:xfrm>
            <a:off x="3174825"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3065859"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14.4%</a:t>
            </a:r>
          </a:p>
        </p:txBody>
      </p:sp>
      <p:sp>
        <p:nvSpPr>
          <p:cNvPr id="83" name="TextBox 82"/>
          <p:cNvSpPr txBox="1"/>
          <p:nvPr/>
        </p:nvSpPr>
        <p:spPr>
          <a:xfrm>
            <a:off x="2688431"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East Asia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84" name="Oval 83"/>
          <p:cNvSpPr/>
          <p:nvPr/>
        </p:nvSpPr>
        <p:spPr>
          <a:xfrm>
            <a:off x="2908697"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2908697"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86" name="Oval 85"/>
          <p:cNvSpPr/>
          <p:nvPr/>
        </p:nvSpPr>
        <p:spPr>
          <a:xfrm>
            <a:off x="3118247"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3118247"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88" name="Oval 87"/>
          <p:cNvSpPr/>
          <p:nvPr/>
        </p:nvSpPr>
        <p:spPr>
          <a:xfrm>
            <a:off x="3327797"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3327797"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90" name="Oval 89"/>
          <p:cNvSpPr/>
          <p:nvPr/>
        </p:nvSpPr>
        <p:spPr>
          <a:xfrm>
            <a:off x="3537347"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3537347"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92" name="Oval 91"/>
          <p:cNvSpPr/>
          <p:nvPr/>
        </p:nvSpPr>
        <p:spPr>
          <a:xfrm>
            <a:off x="3013472"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3013472"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94" name="Oval 93"/>
          <p:cNvSpPr/>
          <p:nvPr/>
        </p:nvSpPr>
        <p:spPr>
          <a:xfrm>
            <a:off x="3223022"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3223022"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96" name="Oval 95"/>
          <p:cNvSpPr/>
          <p:nvPr/>
        </p:nvSpPr>
        <p:spPr>
          <a:xfrm>
            <a:off x="3432572"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3432572"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98" name="TextBox 97"/>
          <p:cNvSpPr txBox="1"/>
          <p:nvPr/>
        </p:nvSpPr>
        <p:spPr>
          <a:xfrm>
            <a:off x="4014788"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C</a:t>
            </a:r>
          </a:p>
        </p:txBody>
      </p:sp>
      <p:cxnSp>
        <p:nvCxnSpPr>
          <p:cNvPr id="99" name="Connector 98"/>
          <p:cNvCxnSpPr/>
          <p:nvPr/>
        </p:nvCxnSpPr>
        <p:spPr>
          <a:xfrm>
            <a:off x="4430316"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4014788"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C</a:t>
            </a:r>
          </a:p>
        </p:txBody>
      </p:sp>
      <p:sp>
        <p:nvSpPr>
          <p:cNvPr id="101" name="TextBox 100"/>
          <p:cNvSpPr txBox="1"/>
          <p:nvPr/>
        </p:nvSpPr>
        <p:spPr>
          <a:xfrm>
            <a:off x="4005262"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02" name="TextBox 101"/>
          <p:cNvSpPr txBox="1"/>
          <p:nvPr/>
        </p:nvSpPr>
        <p:spPr>
          <a:xfrm>
            <a:off x="4005262" y="2047722"/>
            <a:ext cx="1307306"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03" name="Rectangle 102"/>
          <p:cNvSpPr/>
          <p:nvPr/>
        </p:nvSpPr>
        <p:spPr>
          <a:xfrm>
            <a:off x="4430316"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4601766"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4773216"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TextBox 105"/>
          <p:cNvSpPr txBox="1"/>
          <p:nvPr/>
        </p:nvSpPr>
        <p:spPr>
          <a:xfrm>
            <a:off x="4014788"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6,223</a:t>
            </a:r>
          </a:p>
        </p:txBody>
      </p:sp>
      <p:sp>
        <p:nvSpPr>
          <p:cNvPr id="107" name="TextBox 106"/>
          <p:cNvSpPr txBox="1"/>
          <p:nvPr/>
        </p:nvSpPr>
        <p:spPr>
          <a:xfrm>
            <a:off x="4014788"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1,596</a:t>
            </a:r>
          </a:p>
        </p:txBody>
      </p:sp>
      <p:sp>
        <p:nvSpPr>
          <p:cNvPr id="108" name="Oval 107"/>
          <p:cNvSpPr/>
          <p:nvPr/>
        </p:nvSpPr>
        <p:spPr>
          <a:xfrm>
            <a:off x="4411266"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Freeform 108"/>
          <p:cNvSpPr/>
          <p:nvPr/>
        </p:nvSpPr>
        <p:spPr>
          <a:xfrm>
            <a:off x="4657725" y="3416749"/>
            <a:ext cx="142875" cy="237298"/>
          </a:xfrm>
          <a:custGeom>
            <a:avLst/>
            <a:gdLst/>
            <a:ahLst/>
            <a:cxnLst/>
            <a:rect l="l" t="t" r="r" b="b"/>
            <a:pathLst>
              <a:path w="15" h="26">
                <a:moveTo>
                  <a:pt x="0" y="26"/>
                </a:moveTo>
                <a:lnTo>
                  <a:pt x="0" y="0"/>
                </a:lnTo>
                <a:lnTo>
                  <a:pt x="4" y="0"/>
                </a:lnTo>
                <a:lnTo>
                  <a:pt x="8" y="1"/>
                </a:lnTo>
                <a:lnTo>
                  <a:pt x="12" y="3"/>
                </a:lnTo>
                <a:lnTo>
                  <a:pt x="15" y="5"/>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Oval 109"/>
          <p:cNvSpPr/>
          <p:nvPr/>
        </p:nvSpPr>
        <p:spPr>
          <a:xfrm>
            <a:off x="4520232"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4411266"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9.9%</a:t>
            </a:r>
          </a:p>
        </p:txBody>
      </p:sp>
      <p:sp>
        <p:nvSpPr>
          <p:cNvPr id="112" name="TextBox 111"/>
          <p:cNvSpPr txBox="1"/>
          <p:nvPr/>
        </p:nvSpPr>
        <p:spPr>
          <a:xfrm>
            <a:off x="4033838"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Europe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9AA3A8"/>
                </a:solidFill>
                <a:latin typeface="Calibri"/>
              </a:rPr>
              <a:t>▲</a:t>
            </a:r>
          </a:p>
        </p:txBody>
      </p:sp>
      <p:sp>
        <p:nvSpPr>
          <p:cNvPr id="113" name="Oval 112"/>
          <p:cNvSpPr/>
          <p:nvPr/>
        </p:nvSpPr>
        <p:spPr>
          <a:xfrm>
            <a:off x="4254103"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4254103"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15" name="Oval 114"/>
          <p:cNvSpPr/>
          <p:nvPr/>
        </p:nvSpPr>
        <p:spPr>
          <a:xfrm>
            <a:off x="4463653"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4463653"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17" name="Oval 116"/>
          <p:cNvSpPr/>
          <p:nvPr/>
        </p:nvSpPr>
        <p:spPr>
          <a:xfrm>
            <a:off x="4673203"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TextBox 117"/>
          <p:cNvSpPr txBox="1"/>
          <p:nvPr/>
        </p:nvSpPr>
        <p:spPr>
          <a:xfrm>
            <a:off x="4673203"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19" name="Oval 118"/>
          <p:cNvSpPr/>
          <p:nvPr/>
        </p:nvSpPr>
        <p:spPr>
          <a:xfrm>
            <a:off x="4882753"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4882753"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21" name="Oval 120"/>
          <p:cNvSpPr/>
          <p:nvPr/>
        </p:nvSpPr>
        <p:spPr>
          <a:xfrm>
            <a:off x="4358878"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4358878"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23" name="Oval 122"/>
          <p:cNvSpPr/>
          <p:nvPr/>
        </p:nvSpPr>
        <p:spPr>
          <a:xfrm>
            <a:off x="4568428"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4568428"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25" name="Oval 124"/>
          <p:cNvSpPr/>
          <p:nvPr/>
        </p:nvSpPr>
        <p:spPr>
          <a:xfrm>
            <a:off x="4777978"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4777978"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27" name="TextBox 126"/>
          <p:cNvSpPr txBox="1"/>
          <p:nvPr/>
        </p:nvSpPr>
        <p:spPr>
          <a:xfrm>
            <a:off x="5360194"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D</a:t>
            </a:r>
          </a:p>
        </p:txBody>
      </p:sp>
      <p:cxnSp>
        <p:nvCxnSpPr>
          <p:cNvPr id="128" name="Connector 127"/>
          <p:cNvCxnSpPr/>
          <p:nvPr/>
        </p:nvCxnSpPr>
        <p:spPr>
          <a:xfrm>
            <a:off x="577572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29" name="TextBox 128"/>
          <p:cNvSpPr txBox="1"/>
          <p:nvPr/>
        </p:nvSpPr>
        <p:spPr>
          <a:xfrm>
            <a:off x="5360194"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D</a:t>
            </a:r>
          </a:p>
        </p:txBody>
      </p:sp>
      <p:sp>
        <p:nvSpPr>
          <p:cNvPr id="130" name="TextBox 129"/>
          <p:cNvSpPr txBox="1"/>
          <p:nvPr/>
        </p:nvSpPr>
        <p:spPr>
          <a:xfrm>
            <a:off x="5350669"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131" name="TextBox 130"/>
          <p:cNvSpPr txBox="1"/>
          <p:nvPr/>
        </p:nvSpPr>
        <p:spPr>
          <a:xfrm>
            <a:off x="5350669"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132" name="Rectangle 131"/>
          <p:cNvSpPr/>
          <p:nvPr/>
        </p:nvSpPr>
        <p:spPr>
          <a:xfrm>
            <a:off x="5775722"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594717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611862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5360194"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4,876</a:t>
            </a:r>
          </a:p>
        </p:txBody>
      </p:sp>
      <p:sp>
        <p:nvSpPr>
          <p:cNvPr id="136" name="TextBox 135"/>
          <p:cNvSpPr txBox="1"/>
          <p:nvPr/>
        </p:nvSpPr>
        <p:spPr>
          <a:xfrm>
            <a:off x="5360194"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1,121</a:t>
            </a:r>
          </a:p>
        </p:txBody>
      </p:sp>
      <p:sp>
        <p:nvSpPr>
          <p:cNvPr id="137" name="Oval 136"/>
          <p:cNvSpPr/>
          <p:nvPr/>
        </p:nvSpPr>
        <p:spPr>
          <a:xfrm>
            <a:off x="575667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Freeform 137"/>
          <p:cNvSpPr/>
          <p:nvPr/>
        </p:nvSpPr>
        <p:spPr>
          <a:xfrm>
            <a:off x="6000750" y="3416749"/>
            <a:ext cx="104775" cy="237298"/>
          </a:xfrm>
          <a:custGeom>
            <a:avLst/>
            <a:gdLst/>
            <a:ahLst/>
            <a:cxnLst/>
            <a:rect l="l" t="t" r="r" b="b"/>
            <a:pathLst>
              <a:path w="11" h="26">
                <a:moveTo>
                  <a:pt x="0" y="26"/>
                </a:moveTo>
                <a:lnTo>
                  <a:pt x="0" y="0"/>
                </a:lnTo>
                <a:lnTo>
                  <a:pt x="4" y="0"/>
                </a:lnTo>
                <a:lnTo>
                  <a:pt x="8" y="1"/>
                </a:lnTo>
                <a:lnTo>
                  <a:pt x="11"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Oval 138"/>
          <p:cNvSpPr/>
          <p:nvPr/>
        </p:nvSpPr>
        <p:spPr>
          <a:xfrm>
            <a:off x="586563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575667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7.0%</a:t>
            </a:r>
          </a:p>
        </p:txBody>
      </p:sp>
      <p:sp>
        <p:nvSpPr>
          <p:cNvPr id="141" name="TextBox 140"/>
          <p:cNvSpPr txBox="1"/>
          <p:nvPr/>
        </p:nvSpPr>
        <p:spPr>
          <a:xfrm>
            <a:off x="5379244"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South Asia &amp; Pacific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9AA3A8"/>
                </a:solidFill>
                <a:latin typeface="Calibri"/>
              </a:rPr>
              <a:t>▲</a:t>
            </a:r>
          </a:p>
        </p:txBody>
      </p:sp>
      <p:sp>
        <p:nvSpPr>
          <p:cNvPr id="142" name="Oval 141"/>
          <p:cNvSpPr/>
          <p:nvPr/>
        </p:nvSpPr>
        <p:spPr>
          <a:xfrm>
            <a:off x="5599509"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TextBox 142"/>
          <p:cNvSpPr txBox="1"/>
          <p:nvPr/>
        </p:nvSpPr>
        <p:spPr>
          <a:xfrm>
            <a:off x="5599509"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44" name="Oval 143"/>
          <p:cNvSpPr/>
          <p:nvPr/>
        </p:nvSpPr>
        <p:spPr>
          <a:xfrm>
            <a:off x="5809059"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5809059"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46" name="Oval 145"/>
          <p:cNvSpPr/>
          <p:nvPr/>
        </p:nvSpPr>
        <p:spPr>
          <a:xfrm>
            <a:off x="6018609"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6018609"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48" name="Oval 147"/>
          <p:cNvSpPr/>
          <p:nvPr/>
        </p:nvSpPr>
        <p:spPr>
          <a:xfrm>
            <a:off x="6228159"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6228159"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50" name="Oval 149"/>
          <p:cNvSpPr/>
          <p:nvPr/>
        </p:nvSpPr>
        <p:spPr>
          <a:xfrm>
            <a:off x="5704284"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704284"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52" name="Oval 151"/>
          <p:cNvSpPr/>
          <p:nvPr/>
        </p:nvSpPr>
        <p:spPr>
          <a:xfrm>
            <a:off x="5913834"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5913834"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54" name="Oval 153"/>
          <p:cNvSpPr/>
          <p:nvPr/>
        </p:nvSpPr>
        <p:spPr>
          <a:xfrm>
            <a:off x="6123384"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6123384"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56" name="TextBox 155"/>
          <p:cNvSpPr txBox="1"/>
          <p:nvPr/>
        </p:nvSpPr>
        <p:spPr>
          <a:xfrm>
            <a:off x="6705600"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E</a:t>
            </a:r>
          </a:p>
        </p:txBody>
      </p:sp>
      <p:cxnSp>
        <p:nvCxnSpPr>
          <p:cNvPr id="157" name="Connector 156"/>
          <p:cNvCxnSpPr/>
          <p:nvPr/>
        </p:nvCxnSpPr>
        <p:spPr>
          <a:xfrm>
            <a:off x="712112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58" name="TextBox 157"/>
          <p:cNvSpPr txBox="1"/>
          <p:nvPr/>
        </p:nvSpPr>
        <p:spPr>
          <a:xfrm>
            <a:off x="6705600"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E</a:t>
            </a:r>
          </a:p>
        </p:txBody>
      </p:sp>
      <p:sp>
        <p:nvSpPr>
          <p:cNvPr id="159" name="TextBox 158"/>
          <p:cNvSpPr txBox="1"/>
          <p:nvPr/>
        </p:nvSpPr>
        <p:spPr>
          <a:xfrm>
            <a:off x="6696075"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160" name="TextBox 159"/>
          <p:cNvSpPr txBox="1"/>
          <p:nvPr/>
        </p:nvSpPr>
        <p:spPr>
          <a:xfrm>
            <a:off x="6696075"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161" name="Rectangle 160"/>
          <p:cNvSpPr/>
          <p:nvPr/>
        </p:nvSpPr>
        <p:spPr>
          <a:xfrm>
            <a:off x="712112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729257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7464028"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705600"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5,331</a:t>
            </a:r>
          </a:p>
        </p:txBody>
      </p:sp>
      <p:sp>
        <p:nvSpPr>
          <p:cNvPr id="165" name="TextBox 164"/>
          <p:cNvSpPr txBox="1"/>
          <p:nvPr/>
        </p:nvSpPr>
        <p:spPr>
          <a:xfrm>
            <a:off x="6705600"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1,111</a:t>
            </a:r>
          </a:p>
        </p:txBody>
      </p:sp>
      <p:sp>
        <p:nvSpPr>
          <p:cNvPr id="166" name="Oval 165"/>
          <p:cNvSpPr/>
          <p:nvPr/>
        </p:nvSpPr>
        <p:spPr>
          <a:xfrm>
            <a:off x="710207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Freeform 166"/>
          <p:cNvSpPr/>
          <p:nvPr/>
        </p:nvSpPr>
        <p:spPr>
          <a:xfrm>
            <a:off x="7353300" y="3416749"/>
            <a:ext cx="104775" cy="237298"/>
          </a:xfrm>
          <a:custGeom>
            <a:avLst/>
            <a:gdLst/>
            <a:ahLst/>
            <a:cxnLst/>
            <a:rect l="l" t="t" r="r" b="b"/>
            <a:pathLst>
              <a:path w="11" h="26">
                <a:moveTo>
                  <a:pt x="0" y="26"/>
                </a:moveTo>
                <a:lnTo>
                  <a:pt x="0" y="0"/>
                </a:lnTo>
                <a:lnTo>
                  <a:pt x="3" y="0"/>
                </a:lnTo>
                <a:lnTo>
                  <a:pt x="7" y="1"/>
                </a:lnTo>
                <a:lnTo>
                  <a:pt x="11"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Oval 167"/>
          <p:cNvSpPr/>
          <p:nvPr/>
        </p:nvSpPr>
        <p:spPr>
          <a:xfrm>
            <a:off x="721104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710207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6.9%</a:t>
            </a:r>
          </a:p>
        </p:txBody>
      </p:sp>
      <p:sp>
        <p:nvSpPr>
          <p:cNvPr id="170" name="TextBox 169"/>
          <p:cNvSpPr txBox="1"/>
          <p:nvPr/>
        </p:nvSpPr>
        <p:spPr>
          <a:xfrm>
            <a:off x="6724650"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Latin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9AA3A8"/>
                </a:solidFill>
                <a:latin typeface="Calibri"/>
              </a:rPr>
              <a:t>▲</a:t>
            </a:r>
          </a:p>
        </p:txBody>
      </p:sp>
      <p:sp>
        <p:nvSpPr>
          <p:cNvPr id="171" name="Oval 170"/>
          <p:cNvSpPr/>
          <p:nvPr/>
        </p:nvSpPr>
        <p:spPr>
          <a:xfrm>
            <a:off x="6944916"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6944916"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73" name="Oval 172"/>
          <p:cNvSpPr/>
          <p:nvPr/>
        </p:nvSpPr>
        <p:spPr>
          <a:xfrm>
            <a:off x="7154466"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TextBox 173"/>
          <p:cNvSpPr txBox="1"/>
          <p:nvPr/>
        </p:nvSpPr>
        <p:spPr>
          <a:xfrm>
            <a:off x="7154466"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75" name="Oval 174"/>
          <p:cNvSpPr/>
          <p:nvPr/>
        </p:nvSpPr>
        <p:spPr>
          <a:xfrm>
            <a:off x="7364016"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7364016"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77" name="Oval 176"/>
          <p:cNvSpPr/>
          <p:nvPr/>
        </p:nvSpPr>
        <p:spPr>
          <a:xfrm>
            <a:off x="7573566"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7573566"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79" name="Oval 178"/>
          <p:cNvSpPr/>
          <p:nvPr/>
        </p:nvSpPr>
        <p:spPr>
          <a:xfrm>
            <a:off x="7049691"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7049691"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81" name="Oval 180"/>
          <p:cNvSpPr/>
          <p:nvPr/>
        </p:nvSpPr>
        <p:spPr>
          <a:xfrm>
            <a:off x="7259241"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259241"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83" name="Oval 182"/>
          <p:cNvSpPr/>
          <p:nvPr/>
        </p:nvSpPr>
        <p:spPr>
          <a:xfrm>
            <a:off x="7468791"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7468791"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85" name="TextBox 184"/>
          <p:cNvSpPr txBox="1"/>
          <p:nvPr/>
        </p:nvSpPr>
        <p:spPr>
          <a:xfrm>
            <a:off x="8051006"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F</a:t>
            </a:r>
          </a:p>
        </p:txBody>
      </p:sp>
      <p:cxnSp>
        <p:nvCxnSpPr>
          <p:cNvPr id="186" name="Connector 185"/>
          <p:cNvCxnSpPr/>
          <p:nvPr/>
        </p:nvCxnSpPr>
        <p:spPr>
          <a:xfrm>
            <a:off x="8466534"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87" name="TextBox 186"/>
          <p:cNvSpPr txBox="1"/>
          <p:nvPr/>
        </p:nvSpPr>
        <p:spPr>
          <a:xfrm>
            <a:off x="8051006"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F</a:t>
            </a:r>
          </a:p>
        </p:txBody>
      </p:sp>
      <p:sp>
        <p:nvSpPr>
          <p:cNvPr id="188" name="TextBox 187"/>
          <p:cNvSpPr txBox="1"/>
          <p:nvPr/>
        </p:nvSpPr>
        <p:spPr>
          <a:xfrm>
            <a:off x="8041481"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89" name="TextBox 188"/>
          <p:cNvSpPr txBox="1"/>
          <p:nvPr/>
        </p:nvSpPr>
        <p:spPr>
          <a:xfrm>
            <a:off x="8041481" y="2047722"/>
            <a:ext cx="1307306"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90" name="Rectangle 189"/>
          <p:cNvSpPr/>
          <p:nvPr/>
        </p:nvSpPr>
        <p:spPr>
          <a:xfrm>
            <a:off x="8466534"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8637984"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8809434"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TextBox 192"/>
          <p:cNvSpPr txBox="1"/>
          <p:nvPr/>
        </p:nvSpPr>
        <p:spPr>
          <a:xfrm>
            <a:off x="8051006"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5,795</a:t>
            </a:r>
          </a:p>
        </p:txBody>
      </p:sp>
      <p:sp>
        <p:nvSpPr>
          <p:cNvPr id="194" name="TextBox 193"/>
          <p:cNvSpPr txBox="1"/>
          <p:nvPr/>
        </p:nvSpPr>
        <p:spPr>
          <a:xfrm>
            <a:off x="8051006"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1,104</a:t>
            </a:r>
          </a:p>
        </p:txBody>
      </p:sp>
      <p:sp>
        <p:nvSpPr>
          <p:cNvPr id="195" name="Oval 194"/>
          <p:cNvSpPr/>
          <p:nvPr/>
        </p:nvSpPr>
        <p:spPr>
          <a:xfrm>
            <a:off x="8447484"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Freeform 195"/>
          <p:cNvSpPr/>
          <p:nvPr/>
        </p:nvSpPr>
        <p:spPr>
          <a:xfrm>
            <a:off x="8696325" y="3416749"/>
            <a:ext cx="104775" cy="237298"/>
          </a:xfrm>
          <a:custGeom>
            <a:avLst/>
            <a:gdLst/>
            <a:ahLst/>
            <a:cxnLst/>
            <a:rect l="l" t="t" r="r" b="b"/>
            <a:pathLst>
              <a:path w="11" h="26">
                <a:moveTo>
                  <a:pt x="0" y="26"/>
                </a:moveTo>
                <a:lnTo>
                  <a:pt x="0" y="0"/>
                </a:lnTo>
                <a:lnTo>
                  <a:pt x="4" y="0"/>
                </a:lnTo>
                <a:lnTo>
                  <a:pt x="7" y="1"/>
                </a:lnTo>
                <a:lnTo>
                  <a:pt x="11"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Oval 196"/>
          <p:cNvSpPr/>
          <p:nvPr/>
        </p:nvSpPr>
        <p:spPr>
          <a:xfrm>
            <a:off x="8556450"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8447484"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6.9%</a:t>
            </a:r>
          </a:p>
        </p:txBody>
      </p:sp>
      <p:sp>
        <p:nvSpPr>
          <p:cNvPr id="199" name="TextBox 198"/>
          <p:cNvSpPr txBox="1"/>
          <p:nvPr/>
        </p:nvSpPr>
        <p:spPr>
          <a:xfrm>
            <a:off x="8070056"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Middle East &amp; Africa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9AA3A8"/>
                </a:solidFill>
                <a:latin typeface="Calibri"/>
              </a:rPr>
              <a:t>▲</a:t>
            </a:r>
          </a:p>
        </p:txBody>
      </p:sp>
      <p:sp>
        <p:nvSpPr>
          <p:cNvPr id="200" name="Oval 199"/>
          <p:cNvSpPr/>
          <p:nvPr/>
        </p:nvSpPr>
        <p:spPr>
          <a:xfrm>
            <a:off x="8290322"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8290322"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02" name="Oval 201"/>
          <p:cNvSpPr/>
          <p:nvPr/>
        </p:nvSpPr>
        <p:spPr>
          <a:xfrm>
            <a:off x="8499872"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8499872"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04" name="Oval 203"/>
          <p:cNvSpPr/>
          <p:nvPr/>
        </p:nvSpPr>
        <p:spPr>
          <a:xfrm>
            <a:off x="8709422"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TextBox 204"/>
          <p:cNvSpPr txBox="1"/>
          <p:nvPr/>
        </p:nvSpPr>
        <p:spPr>
          <a:xfrm>
            <a:off x="8709422"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06" name="Oval 205"/>
          <p:cNvSpPr/>
          <p:nvPr/>
        </p:nvSpPr>
        <p:spPr>
          <a:xfrm>
            <a:off x="8918972"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TextBox 206"/>
          <p:cNvSpPr txBox="1"/>
          <p:nvPr/>
        </p:nvSpPr>
        <p:spPr>
          <a:xfrm>
            <a:off x="8918972"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08" name="Oval 207"/>
          <p:cNvSpPr/>
          <p:nvPr/>
        </p:nvSpPr>
        <p:spPr>
          <a:xfrm>
            <a:off x="8395097"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TextBox 208"/>
          <p:cNvSpPr txBox="1"/>
          <p:nvPr/>
        </p:nvSpPr>
        <p:spPr>
          <a:xfrm>
            <a:off x="8395097"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10" name="Oval 209"/>
          <p:cNvSpPr/>
          <p:nvPr/>
        </p:nvSpPr>
        <p:spPr>
          <a:xfrm>
            <a:off x="8604647"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TextBox 210"/>
          <p:cNvSpPr txBox="1"/>
          <p:nvPr/>
        </p:nvSpPr>
        <p:spPr>
          <a:xfrm>
            <a:off x="8604647"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12" name="Oval 211"/>
          <p:cNvSpPr/>
          <p:nvPr/>
        </p:nvSpPr>
        <p:spPr>
          <a:xfrm>
            <a:off x="8814197"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TextBox 212"/>
          <p:cNvSpPr txBox="1"/>
          <p:nvPr/>
        </p:nvSpPr>
        <p:spPr>
          <a:xfrm>
            <a:off x="8814197"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14" name="TextBox 213"/>
          <p:cNvSpPr txBox="1"/>
          <p:nvPr/>
        </p:nvSpPr>
        <p:spPr>
          <a:xfrm>
            <a:off x="9396412"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G</a:t>
            </a:r>
          </a:p>
        </p:txBody>
      </p:sp>
      <p:cxnSp>
        <p:nvCxnSpPr>
          <p:cNvPr id="215" name="Connector 214"/>
          <p:cNvCxnSpPr/>
          <p:nvPr/>
        </p:nvCxnSpPr>
        <p:spPr>
          <a:xfrm>
            <a:off x="9811941"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16" name="TextBox 215"/>
          <p:cNvSpPr txBox="1"/>
          <p:nvPr/>
        </p:nvSpPr>
        <p:spPr>
          <a:xfrm>
            <a:off x="9396412"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G</a:t>
            </a:r>
          </a:p>
        </p:txBody>
      </p:sp>
      <p:sp>
        <p:nvSpPr>
          <p:cNvPr id="217" name="TextBox 216"/>
          <p:cNvSpPr txBox="1"/>
          <p:nvPr/>
        </p:nvSpPr>
        <p:spPr>
          <a:xfrm>
            <a:off x="9386888"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218" name="TextBox 217"/>
          <p:cNvSpPr txBox="1"/>
          <p:nvPr/>
        </p:nvSpPr>
        <p:spPr>
          <a:xfrm>
            <a:off x="9386888"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219" name="Rectangle 218"/>
          <p:cNvSpPr/>
          <p:nvPr/>
        </p:nvSpPr>
        <p:spPr>
          <a:xfrm>
            <a:off x="9811941"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9983391"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0154841"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TextBox 221"/>
          <p:cNvSpPr txBox="1"/>
          <p:nvPr/>
        </p:nvSpPr>
        <p:spPr>
          <a:xfrm>
            <a:off x="9396412"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5,037</a:t>
            </a:r>
          </a:p>
        </p:txBody>
      </p:sp>
      <p:sp>
        <p:nvSpPr>
          <p:cNvPr id="223" name="TextBox 222"/>
          <p:cNvSpPr txBox="1"/>
          <p:nvPr/>
        </p:nvSpPr>
        <p:spPr>
          <a:xfrm>
            <a:off x="9396412"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883.7</a:t>
            </a:r>
          </a:p>
        </p:txBody>
      </p:sp>
      <p:sp>
        <p:nvSpPr>
          <p:cNvPr id="224" name="Oval 223"/>
          <p:cNvSpPr/>
          <p:nvPr/>
        </p:nvSpPr>
        <p:spPr>
          <a:xfrm>
            <a:off x="9792891"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Freeform 224"/>
          <p:cNvSpPr/>
          <p:nvPr/>
        </p:nvSpPr>
        <p:spPr>
          <a:xfrm>
            <a:off x="10039350" y="3416749"/>
            <a:ext cx="85725" cy="237298"/>
          </a:xfrm>
          <a:custGeom>
            <a:avLst/>
            <a:gdLst/>
            <a:ahLst/>
            <a:cxnLst/>
            <a:rect l="l" t="t" r="r" b="b"/>
            <a:pathLst>
              <a:path w="9" h="26">
                <a:moveTo>
                  <a:pt x="0" y="26"/>
                </a:moveTo>
                <a:lnTo>
                  <a:pt x="0" y="0"/>
                </a:lnTo>
                <a:lnTo>
                  <a:pt x="5" y="0"/>
                </a:lnTo>
                <a:lnTo>
                  <a:pt x="9"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Oval 225"/>
          <p:cNvSpPr/>
          <p:nvPr/>
        </p:nvSpPr>
        <p:spPr>
          <a:xfrm>
            <a:off x="9901857"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TextBox 226"/>
          <p:cNvSpPr txBox="1"/>
          <p:nvPr/>
        </p:nvSpPr>
        <p:spPr>
          <a:xfrm>
            <a:off x="9792891"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5.5%</a:t>
            </a:r>
          </a:p>
        </p:txBody>
      </p:sp>
      <p:sp>
        <p:nvSpPr>
          <p:cNvPr id="228" name="TextBox 227"/>
          <p:cNvSpPr txBox="1"/>
          <p:nvPr/>
        </p:nvSpPr>
        <p:spPr>
          <a:xfrm>
            <a:off x="9415462"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9AA3A8"/>
                </a:solidFill>
                <a:latin typeface="Calibri"/>
              </a:rPr>
              <a:t>▲</a:t>
            </a:r>
          </a:p>
        </p:txBody>
      </p:sp>
      <p:sp>
        <p:nvSpPr>
          <p:cNvPr id="229" name="Oval 228"/>
          <p:cNvSpPr/>
          <p:nvPr/>
        </p:nvSpPr>
        <p:spPr>
          <a:xfrm>
            <a:off x="9635728"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TextBox 229"/>
          <p:cNvSpPr txBox="1"/>
          <p:nvPr/>
        </p:nvSpPr>
        <p:spPr>
          <a:xfrm>
            <a:off x="9635728"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31" name="Oval 230"/>
          <p:cNvSpPr/>
          <p:nvPr/>
        </p:nvSpPr>
        <p:spPr>
          <a:xfrm>
            <a:off x="9845278"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TextBox 231"/>
          <p:cNvSpPr txBox="1"/>
          <p:nvPr/>
        </p:nvSpPr>
        <p:spPr>
          <a:xfrm>
            <a:off x="9845278"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33" name="Oval 232"/>
          <p:cNvSpPr/>
          <p:nvPr/>
        </p:nvSpPr>
        <p:spPr>
          <a:xfrm>
            <a:off x="10054828"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TextBox 233"/>
          <p:cNvSpPr txBox="1"/>
          <p:nvPr/>
        </p:nvSpPr>
        <p:spPr>
          <a:xfrm>
            <a:off x="10054828"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35" name="Oval 234"/>
          <p:cNvSpPr/>
          <p:nvPr/>
        </p:nvSpPr>
        <p:spPr>
          <a:xfrm>
            <a:off x="10264378"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TextBox 235"/>
          <p:cNvSpPr txBox="1"/>
          <p:nvPr/>
        </p:nvSpPr>
        <p:spPr>
          <a:xfrm>
            <a:off x="10264378"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37" name="Oval 236"/>
          <p:cNvSpPr/>
          <p:nvPr/>
        </p:nvSpPr>
        <p:spPr>
          <a:xfrm>
            <a:off x="9740503"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TextBox 237"/>
          <p:cNvSpPr txBox="1"/>
          <p:nvPr/>
        </p:nvSpPr>
        <p:spPr>
          <a:xfrm>
            <a:off x="9740503"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39" name="Oval 238"/>
          <p:cNvSpPr/>
          <p:nvPr/>
        </p:nvSpPr>
        <p:spPr>
          <a:xfrm>
            <a:off x="9950053"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TextBox 239"/>
          <p:cNvSpPr txBox="1"/>
          <p:nvPr/>
        </p:nvSpPr>
        <p:spPr>
          <a:xfrm>
            <a:off x="9950053"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41" name="Oval 240"/>
          <p:cNvSpPr/>
          <p:nvPr/>
        </p:nvSpPr>
        <p:spPr>
          <a:xfrm>
            <a:off x="10159603"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TextBox 241"/>
          <p:cNvSpPr txBox="1"/>
          <p:nvPr/>
        </p:nvSpPr>
        <p:spPr>
          <a:xfrm>
            <a:off x="10159603"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43" name="TextBox 242"/>
          <p:cNvSpPr txBox="1"/>
          <p:nvPr/>
        </p:nvSpPr>
        <p:spPr>
          <a:xfrm>
            <a:off x="10741819"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H</a:t>
            </a:r>
          </a:p>
        </p:txBody>
      </p:sp>
      <p:cxnSp>
        <p:nvCxnSpPr>
          <p:cNvPr id="244" name="Connector 243"/>
          <p:cNvCxnSpPr/>
          <p:nvPr/>
        </p:nvCxnSpPr>
        <p:spPr>
          <a:xfrm>
            <a:off x="11157347"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45" name="TextBox 244"/>
          <p:cNvSpPr txBox="1"/>
          <p:nvPr/>
        </p:nvSpPr>
        <p:spPr>
          <a:xfrm>
            <a:off x="10741819"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H</a:t>
            </a:r>
          </a:p>
        </p:txBody>
      </p:sp>
      <p:sp>
        <p:nvSpPr>
          <p:cNvPr id="246" name="TextBox 245"/>
          <p:cNvSpPr txBox="1"/>
          <p:nvPr/>
        </p:nvSpPr>
        <p:spPr>
          <a:xfrm>
            <a:off x="10732294"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247" name="TextBox 246"/>
          <p:cNvSpPr txBox="1"/>
          <p:nvPr/>
        </p:nvSpPr>
        <p:spPr>
          <a:xfrm>
            <a:off x="10732294"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248" name="Rectangle 247"/>
          <p:cNvSpPr/>
          <p:nvPr/>
        </p:nvSpPr>
        <p:spPr>
          <a:xfrm>
            <a:off x="11157347"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328797"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00247"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10741819"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3,273</a:t>
            </a:r>
          </a:p>
        </p:txBody>
      </p:sp>
      <p:sp>
        <p:nvSpPr>
          <p:cNvPr id="252" name="TextBox 251"/>
          <p:cNvSpPr txBox="1"/>
          <p:nvPr/>
        </p:nvSpPr>
        <p:spPr>
          <a:xfrm>
            <a:off x="10741819"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532.2</a:t>
            </a:r>
          </a:p>
        </p:txBody>
      </p:sp>
      <p:sp>
        <p:nvSpPr>
          <p:cNvPr id="253" name="Oval 252"/>
          <p:cNvSpPr/>
          <p:nvPr/>
        </p:nvSpPr>
        <p:spPr>
          <a:xfrm>
            <a:off x="11138297"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Freeform 253"/>
          <p:cNvSpPr/>
          <p:nvPr/>
        </p:nvSpPr>
        <p:spPr>
          <a:xfrm>
            <a:off x="11382375" y="3416749"/>
            <a:ext cx="57150" cy="237298"/>
          </a:xfrm>
          <a:custGeom>
            <a:avLst/>
            <a:gdLst/>
            <a:ahLst/>
            <a:cxnLst/>
            <a:rect l="l" t="t" r="r" b="b"/>
            <a:pathLst>
              <a:path w="6" h="26">
                <a:moveTo>
                  <a:pt x="0" y="26"/>
                </a:moveTo>
                <a:lnTo>
                  <a:pt x="0" y="0"/>
                </a:lnTo>
                <a:lnTo>
                  <a:pt x="3" y="0"/>
                </a:lnTo>
                <a:lnTo>
                  <a:pt x="6" y="1"/>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Oval 254"/>
          <p:cNvSpPr/>
          <p:nvPr/>
        </p:nvSpPr>
        <p:spPr>
          <a:xfrm>
            <a:off x="11247263"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TextBox 255"/>
          <p:cNvSpPr txBox="1"/>
          <p:nvPr/>
        </p:nvSpPr>
        <p:spPr>
          <a:xfrm>
            <a:off x="11138297"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3.3%</a:t>
            </a:r>
          </a:p>
        </p:txBody>
      </p:sp>
      <p:sp>
        <p:nvSpPr>
          <p:cNvPr id="257" name="TextBox 256"/>
          <p:cNvSpPr txBox="1"/>
          <p:nvPr/>
        </p:nvSpPr>
        <p:spPr>
          <a:xfrm>
            <a:off x="10760869"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East Asia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258" name="Oval 257"/>
          <p:cNvSpPr/>
          <p:nvPr/>
        </p:nvSpPr>
        <p:spPr>
          <a:xfrm>
            <a:off x="10981134"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TextBox 258"/>
          <p:cNvSpPr txBox="1"/>
          <p:nvPr/>
        </p:nvSpPr>
        <p:spPr>
          <a:xfrm>
            <a:off x="10981134"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60" name="Oval 259"/>
          <p:cNvSpPr/>
          <p:nvPr/>
        </p:nvSpPr>
        <p:spPr>
          <a:xfrm>
            <a:off x="11190684"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TextBox 260"/>
          <p:cNvSpPr txBox="1"/>
          <p:nvPr/>
        </p:nvSpPr>
        <p:spPr>
          <a:xfrm>
            <a:off x="11190684"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62" name="Oval 261"/>
          <p:cNvSpPr/>
          <p:nvPr/>
        </p:nvSpPr>
        <p:spPr>
          <a:xfrm>
            <a:off x="11400234"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TextBox 262"/>
          <p:cNvSpPr txBox="1"/>
          <p:nvPr/>
        </p:nvSpPr>
        <p:spPr>
          <a:xfrm>
            <a:off x="11400234"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64" name="Oval 263"/>
          <p:cNvSpPr/>
          <p:nvPr/>
        </p:nvSpPr>
        <p:spPr>
          <a:xfrm>
            <a:off x="11609784"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TextBox 264"/>
          <p:cNvSpPr txBox="1"/>
          <p:nvPr/>
        </p:nvSpPr>
        <p:spPr>
          <a:xfrm>
            <a:off x="11609784"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66" name="Oval 265"/>
          <p:cNvSpPr/>
          <p:nvPr/>
        </p:nvSpPr>
        <p:spPr>
          <a:xfrm>
            <a:off x="11085909"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11085909"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68" name="Oval 267"/>
          <p:cNvSpPr/>
          <p:nvPr/>
        </p:nvSpPr>
        <p:spPr>
          <a:xfrm>
            <a:off x="11295459"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TextBox 268"/>
          <p:cNvSpPr txBox="1"/>
          <p:nvPr/>
        </p:nvSpPr>
        <p:spPr>
          <a:xfrm>
            <a:off x="11295459"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70" name="Oval 269"/>
          <p:cNvSpPr/>
          <p:nvPr/>
        </p:nvSpPr>
        <p:spPr>
          <a:xfrm>
            <a:off x="11505009"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TextBox 270"/>
          <p:cNvSpPr txBox="1"/>
          <p:nvPr/>
        </p:nvSpPr>
        <p:spPr>
          <a:xfrm>
            <a:off x="11505009"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72" name="TextBox 271"/>
          <p:cNvSpPr txBox="1"/>
          <p:nvPr/>
        </p:nvSpPr>
        <p:spPr>
          <a:xfrm>
            <a:off x="285750" y="5716715"/>
            <a:ext cx="1116806" cy="164283"/>
          </a:xfrm>
          <a:prstGeom prst="rect">
            <a:avLst/>
          </a:prstGeom>
          <a:noFill/>
        </p:spPr>
        <p:txBody>
          <a:bodyPr wrap="square" lIns="0" rIns="0" tIns="0" bIns="0" anchor="ctr">
            <a:spAutoFit/>
          </a:bodyPr>
          <a:lstStyle/>
          <a:p>
            <a:pPr algn="l"/>
            <a:r>
              <a:rPr sz="1100" b="1">
                <a:solidFill>
                  <a:srgbClr val="2E2E2E"/>
                </a:solidFill>
                <a:latin typeface="Calibri"/>
              </a:rPr>
              <a:t>Product Portfolio:</a:t>
            </a:r>
          </a:p>
        </p:txBody>
      </p:sp>
      <p:sp>
        <p:nvSpPr>
          <p:cNvPr id="273" name="Rectangle 272"/>
          <p:cNvSpPr/>
          <p:nvPr/>
        </p:nvSpPr>
        <p:spPr>
          <a:xfrm>
            <a:off x="1383506" y="5744096"/>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TextBox 273"/>
          <p:cNvSpPr txBox="1"/>
          <p:nvPr/>
        </p:nvSpPr>
        <p:spPr>
          <a:xfrm>
            <a:off x="1535906" y="5716715"/>
            <a:ext cx="1404938" cy="164283"/>
          </a:xfrm>
          <a:prstGeom prst="rect">
            <a:avLst/>
          </a:prstGeom>
          <a:noFill/>
        </p:spPr>
        <p:txBody>
          <a:bodyPr wrap="square" lIns="0" rIns="0" tIns="0" bIns="0" anchor="ctr">
            <a:spAutoFit/>
          </a:bodyPr>
          <a:lstStyle/>
          <a:p>
            <a:pPr algn="l"/>
            <a:r>
              <a:rPr sz="1100" b="0">
                <a:solidFill>
                  <a:srgbClr val="2E2E2E"/>
                </a:solidFill>
                <a:latin typeface="Calibri"/>
              </a:rPr>
              <a:t>Styling Serums and Oils</a:t>
            </a:r>
          </a:p>
        </p:txBody>
      </p:sp>
      <p:sp>
        <p:nvSpPr>
          <p:cNvPr id="275" name="Rectangle 274"/>
          <p:cNvSpPr/>
          <p:nvPr/>
        </p:nvSpPr>
        <p:spPr>
          <a:xfrm>
            <a:off x="2997994" y="5744096"/>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TextBox 275"/>
          <p:cNvSpPr txBox="1"/>
          <p:nvPr/>
        </p:nvSpPr>
        <p:spPr>
          <a:xfrm>
            <a:off x="3150394" y="5716715"/>
            <a:ext cx="2040731" cy="164283"/>
          </a:xfrm>
          <a:prstGeom prst="rect">
            <a:avLst/>
          </a:prstGeom>
          <a:noFill/>
        </p:spPr>
        <p:txBody>
          <a:bodyPr wrap="square" lIns="0" rIns="0" tIns="0" bIns="0" anchor="ctr">
            <a:spAutoFit/>
          </a:bodyPr>
          <a:lstStyle/>
          <a:p>
            <a:pPr algn="l"/>
            <a:r>
              <a:rPr sz="1100" b="0">
                <a:solidFill>
                  <a:srgbClr val="2E2E2E"/>
                </a:solidFill>
                <a:latin typeface="Calibri"/>
              </a:rPr>
              <a:t>Waxes, Clays, Pastes and Pomades</a:t>
            </a:r>
          </a:p>
        </p:txBody>
      </p:sp>
      <p:sp>
        <p:nvSpPr>
          <p:cNvPr id="277" name="Rectangle 276"/>
          <p:cNvSpPr/>
          <p:nvPr/>
        </p:nvSpPr>
        <p:spPr>
          <a:xfrm>
            <a:off x="5248275" y="5744096"/>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TextBox 277"/>
          <p:cNvSpPr txBox="1"/>
          <p:nvPr/>
        </p:nvSpPr>
        <p:spPr>
          <a:xfrm>
            <a:off x="5400675" y="5716715"/>
            <a:ext cx="1019175" cy="164283"/>
          </a:xfrm>
          <a:prstGeom prst="rect">
            <a:avLst/>
          </a:prstGeom>
          <a:noFill/>
        </p:spPr>
        <p:txBody>
          <a:bodyPr wrap="square" lIns="0" rIns="0" tIns="0" bIns="0" anchor="ctr">
            <a:spAutoFit/>
          </a:bodyPr>
          <a:lstStyle/>
          <a:p>
            <a:pPr algn="l"/>
            <a:r>
              <a:rPr sz="1100" b="0">
                <a:solidFill>
                  <a:srgbClr val="2E2E2E"/>
                </a:solidFill>
                <a:latin typeface="Calibri"/>
              </a:rPr>
              <a:t>Sticks and Balms</a:t>
            </a:r>
          </a:p>
        </p:txBody>
      </p:sp>
      <p:sp>
        <p:nvSpPr>
          <p:cNvPr id="279" name="Rectangle 278"/>
          <p:cNvSpPr/>
          <p:nvPr/>
        </p:nvSpPr>
        <p:spPr>
          <a:xfrm>
            <a:off x="6477000" y="5744096"/>
            <a:ext cx="114300" cy="109522"/>
          </a:xfrm>
          <a:prstGeom prst="rect">
            <a:avLst/>
          </a:prstGeom>
          <a:solidFill>
            <a:srgbClr val="FFFFFF"/>
          </a:solidFill>
          <a:ln w="12700">
            <a:solidFill>
              <a:srgbClr val="6C7A8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TextBox 279"/>
          <p:cNvSpPr txBox="1"/>
          <p:nvPr/>
        </p:nvSpPr>
        <p:spPr>
          <a:xfrm>
            <a:off x="6629400" y="5716715"/>
            <a:ext cx="740569" cy="164283"/>
          </a:xfrm>
          <a:prstGeom prst="rect">
            <a:avLst/>
          </a:prstGeom>
          <a:noFill/>
        </p:spPr>
        <p:txBody>
          <a:bodyPr wrap="square" lIns="0" rIns="0" tIns="0" bIns="0" anchor="ctr">
            <a:spAutoFit/>
          </a:bodyPr>
          <a:lstStyle/>
          <a:p>
            <a:pPr algn="l"/>
            <a:r>
              <a:rPr sz="1100" b="0">
                <a:solidFill>
                  <a:srgbClr val="2E2E2E"/>
                </a:solidFill>
                <a:latin typeface="Calibri"/>
              </a:rPr>
              <a:t>Not offered</a:t>
            </a:r>
          </a:p>
        </p:txBody>
      </p:sp>
      <p:sp>
        <p:nvSpPr>
          <p:cNvPr id="281" name="TextBox 280"/>
          <p:cNvSpPr txBox="1"/>
          <p:nvPr/>
        </p:nvSpPr>
        <p:spPr>
          <a:xfrm>
            <a:off x="285750" y="5890125"/>
            <a:ext cx="208915" cy="164283"/>
          </a:xfrm>
          <a:prstGeom prst="rect">
            <a:avLst/>
          </a:prstGeom>
          <a:noFill/>
        </p:spPr>
        <p:txBody>
          <a:bodyPr wrap="none" lIns="0" rIns="0" tIns="0" bIns="0" anchor="ctr">
            <a:spAutoFit/>
          </a:bodyPr>
          <a:lstStyle/>
          <a:p>
            <a:pPr algn="l"/>
            <a:r>
              <a:rPr sz="1100" b="1">
                <a:solidFill>
                  <a:srgbClr val="008189"/>
                </a:solidFill>
                <a:latin typeface="Calibri"/>
              </a:rPr>
              <a:t>✔</a:t>
            </a:r>
          </a:p>
        </p:txBody>
      </p:sp>
      <p:sp>
        <p:nvSpPr>
          <p:cNvPr id="282" name="TextBox 281"/>
          <p:cNvSpPr txBox="1"/>
          <p:nvPr/>
        </p:nvSpPr>
        <p:spPr>
          <a:xfrm>
            <a:off x="475615" y="5890125"/>
            <a:ext cx="457200" cy="164283"/>
          </a:xfrm>
          <a:prstGeom prst="rect">
            <a:avLst/>
          </a:prstGeom>
          <a:noFill/>
        </p:spPr>
        <p:txBody>
          <a:bodyPr wrap="square" lIns="0" rIns="0" tIns="0" bIns="0" anchor="ctr">
            <a:spAutoFit/>
          </a:bodyPr>
          <a:lstStyle/>
          <a:p>
            <a:pPr algn="l"/>
            <a:r>
              <a:rPr sz="1100" b="0">
                <a:solidFill>
                  <a:srgbClr val="2E2E2E"/>
                </a:solidFill>
                <a:latin typeface="Calibri"/>
              </a:rPr>
              <a:t>served</a:t>
            </a:r>
          </a:p>
        </p:txBody>
      </p:sp>
      <p:sp>
        <p:nvSpPr>
          <p:cNvPr id="283" name="TextBox 282"/>
          <p:cNvSpPr txBox="1"/>
          <p:nvPr/>
        </p:nvSpPr>
        <p:spPr>
          <a:xfrm>
            <a:off x="913765" y="5890125"/>
            <a:ext cx="208915" cy="164283"/>
          </a:xfrm>
          <a:prstGeom prst="rect">
            <a:avLst/>
          </a:prstGeom>
          <a:noFill/>
        </p:spPr>
        <p:txBody>
          <a:bodyPr wrap="none" lIns="0" rIns="0" tIns="0" bIns="0" anchor="ctr">
            <a:spAutoFit/>
          </a:bodyPr>
          <a:lstStyle/>
          <a:p>
            <a:pPr algn="l"/>
            <a:r>
              <a:rPr sz="1100" b="1">
                <a:solidFill>
                  <a:srgbClr val="E44D3A"/>
                </a:solidFill>
                <a:latin typeface="Calibri"/>
              </a:rPr>
              <a:t>✘</a:t>
            </a:r>
          </a:p>
        </p:txBody>
      </p:sp>
      <p:sp>
        <p:nvSpPr>
          <p:cNvPr id="284" name="TextBox 283"/>
          <p:cNvSpPr txBox="1"/>
          <p:nvPr/>
        </p:nvSpPr>
        <p:spPr>
          <a:xfrm>
            <a:off x="1103630" y="5890125"/>
            <a:ext cx="683419" cy="164283"/>
          </a:xfrm>
          <a:prstGeom prst="rect">
            <a:avLst/>
          </a:prstGeom>
          <a:noFill/>
        </p:spPr>
        <p:txBody>
          <a:bodyPr wrap="square" lIns="0" rIns="0" tIns="0" bIns="0" anchor="ctr">
            <a:spAutoFit/>
          </a:bodyPr>
          <a:lstStyle/>
          <a:p>
            <a:pPr algn="l"/>
            <a:r>
              <a:rPr sz="1100" b="0">
                <a:solidFill>
                  <a:srgbClr val="2E2E2E"/>
                </a:solidFill>
                <a:latin typeface="Calibri"/>
              </a:rPr>
              <a:t>not served</a:t>
            </a:r>
          </a:p>
        </p:txBody>
      </p:sp>
      <p:sp>
        <p:nvSpPr>
          <p:cNvPr id="285" name="TextBox 284"/>
          <p:cNvSpPr txBox="1"/>
          <p:nvPr/>
        </p:nvSpPr>
        <p:spPr>
          <a:xfrm>
            <a:off x="1939449" y="5890125"/>
            <a:ext cx="1183481" cy="164283"/>
          </a:xfrm>
          <a:prstGeom prst="rect">
            <a:avLst/>
          </a:prstGeom>
          <a:noFill/>
        </p:spPr>
        <p:txBody>
          <a:bodyPr wrap="square" lIns="0" rIns="0" tIns="0" bIns="0" anchor="ctr">
            <a:spAutoFit/>
          </a:bodyPr>
          <a:lstStyle/>
          <a:p>
            <a:pPr algn="l"/>
            <a:r>
              <a:rPr sz="1100" b="1">
                <a:solidFill>
                  <a:srgbClr val="2E2E2E"/>
                </a:solidFill>
                <a:latin typeface="Calibri"/>
              </a:rPr>
              <a:t>Regional presence:</a:t>
            </a:r>
          </a:p>
        </p:txBody>
      </p:sp>
      <p:sp>
        <p:nvSpPr>
          <p:cNvPr id="286" name="TextBox 285"/>
          <p:cNvSpPr txBox="1"/>
          <p:nvPr/>
        </p:nvSpPr>
        <p:spPr>
          <a:xfrm>
            <a:off x="3103880" y="5890125"/>
            <a:ext cx="208915" cy="164283"/>
          </a:xfrm>
          <a:prstGeom prst="rect">
            <a:avLst/>
          </a:prstGeom>
          <a:noFill/>
        </p:spPr>
        <p:txBody>
          <a:bodyPr wrap="none" lIns="0" rIns="0" tIns="0" bIns="0" anchor="ctr">
            <a:spAutoFit/>
          </a:bodyPr>
          <a:lstStyle/>
          <a:p>
            <a:pPr algn="l"/>
            <a:r>
              <a:rPr sz="1100" b="1">
                <a:solidFill>
                  <a:srgbClr val="0E72AE"/>
                </a:solidFill>
                <a:latin typeface="Calibri"/>
              </a:rPr>
              <a:t>▲</a:t>
            </a:r>
          </a:p>
        </p:txBody>
      </p:sp>
      <p:sp>
        <p:nvSpPr>
          <p:cNvPr id="287" name="TextBox 286"/>
          <p:cNvSpPr txBox="1"/>
          <p:nvPr/>
        </p:nvSpPr>
        <p:spPr>
          <a:xfrm>
            <a:off x="3293745" y="5890125"/>
            <a:ext cx="338138" cy="164283"/>
          </a:xfrm>
          <a:prstGeom prst="rect">
            <a:avLst/>
          </a:prstGeom>
          <a:noFill/>
        </p:spPr>
        <p:txBody>
          <a:bodyPr wrap="none" lIns="0" rIns="0" tIns="0" bIns="0" anchor="ctr">
            <a:spAutoFit/>
          </a:bodyPr>
          <a:lstStyle/>
          <a:p>
            <a:pPr algn="l"/>
            <a:r>
              <a:rPr sz="1100" b="0">
                <a:solidFill>
                  <a:srgbClr val="2E2E2E"/>
                </a:solidFill>
                <a:latin typeface="Calibri"/>
              </a:rPr>
              <a:t>High</a:t>
            </a:r>
          </a:p>
        </p:txBody>
      </p:sp>
      <p:sp>
        <p:nvSpPr>
          <p:cNvPr id="288" name="TextBox 287"/>
          <p:cNvSpPr txBox="1"/>
          <p:nvPr/>
        </p:nvSpPr>
        <p:spPr>
          <a:xfrm>
            <a:off x="3612832" y="5890125"/>
            <a:ext cx="208915" cy="164283"/>
          </a:xfrm>
          <a:prstGeom prst="rect">
            <a:avLst/>
          </a:prstGeom>
          <a:noFill/>
        </p:spPr>
        <p:txBody>
          <a:bodyPr wrap="none" lIns="0" rIns="0" tIns="0" bIns="0" anchor="ctr">
            <a:spAutoFit/>
          </a:bodyPr>
          <a:lstStyle/>
          <a:p>
            <a:pPr algn="l"/>
            <a:r>
              <a:rPr sz="1100" b="1">
                <a:solidFill>
                  <a:srgbClr val="A86F00"/>
                </a:solidFill>
                <a:latin typeface="Calibri"/>
              </a:rPr>
              <a:t>▲</a:t>
            </a:r>
          </a:p>
        </p:txBody>
      </p:sp>
      <p:sp>
        <p:nvSpPr>
          <p:cNvPr id="289" name="TextBox 288"/>
          <p:cNvSpPr txBox="1"/>
          <p:nvPr/>
        </p:nvSpPr>
        <p:spPr>
          <a:xfrm>
            <a:off x="3802698" y="5890125"/>
            <a:ext cx="576262" cy="164283"/>
          </a:xfrm>
          <a:prstGeom prst="rect">
            <a:avLst/>
          </a:prstGeom>
          <a:noFill/>
        </p:spPr>
        <p:txBody>
          <a:bodyPr wrap="square" lIns="0" rIns="0" tIns="0" bIns="0" anchor="ctr">
            <a:spAutoFit/>
          </a:bodyPr>
          <a:lstStyle/>
          <a:p>
            <a:pPr algn="l"/>
            <a:r>
              <a:rPr sz="1100" b="0">
                <a:solidFill>
                  <a:srgbClr val="2E2E2E"/>
                </a:solidFill>
                <a:latin typeface="Calibri"/>
              </a:rPr>
              <a:t>Medium</a:t>
            </a:r>
          </a:p>
        </p:txBody>
      </p:sp>
      <p:sp>
        <p:nvSpPr>
          <p:cNvPr id="290" name="TextBox 289"/>
          <p:cNvSpPr txBox="1"/>
          <p:nvPr/>
        </p:nvSpPr>
        <p:spPr>
          <a:xfrm>
            <a:off x="4340860" y="5890125"/>
            <a:ext cx="208915" cy="164283"/>
          </a:xfrm>
          <a:prstGeom prst="rect">
            <a:avLst/>
          </a:prstGeom>
          <a:noFill/>
        </p:spPr>
        <p:txBody>
          <a:bodyPr wrap="none" lIns="0" rIns="0" tIns="0" bIns="0" anchor="ctr">
            <a:spAutoFit/>
          </a:bodyPr>
          <a:lstStyle/>
          <a:p>
            <a:pPr algn="l"/>
            <a:r>
              <a:rPr sz="1100" b="1">
                <a:solidFill>
                  <a:srgbClr val="9AA3A8"/>
                </a:solidFill>
                <a:latin typeface="Calibri"/>
              </a:rPr>
              <a:t>▲</a:t>
            </a:r>
          </a:p>
        </p:txBody>
      </p:sp>
      <p:sp>
        <p:nvSpPr>
          <p:cNvPr id="291" name="TextBox 290"/>
          <p:cNvSpPr txBox="1"/>
          <p:nvPr/>
        </p:nvSpPr>
        <p:spPr>
          <a:xfrm>
            <a:off x="4530725" y="5890125"/>
            <a:ext cx="309562" cy="164283"/>
          </a:xfrm>
          <a:prstGeom prst="rect">
            <a:avLst/>
          </a:prstGeom>
          <a:noFill/>
        </p:spPr>
        <p:txBody>
          <a:bodyPr wrap="none" lIns="0" rIns="0" tIns="0" bIns="0" anchor="ctr">
            <a:spAutoFit/>
          </a:bodyPr>
          <a:lstStyle/>
          <a:p>
            <a:pPr algn="l"/>
            <a:r>
              <a:rPr sz="1100" b="0">
                <a:solidFill>
                  <a:srgbClr val="2E2E2E"/>
                </a:solidFill>
                <a:latin typeface="Calibri"/>
              </a:rPr>
              <a:t>Low</a:t>
            </a:r>
          </a:p>
        </p:txBody>
      </p:sp>
      <p:sp>
        <p:nvSpPr>
          <p:cNvPr id="292" name="Oval 291"/>
          <p:cNvSpPr/>
          <p:nvPr/>
        </p:nvSpPr>
        <p:spPr>
          <a:xfrm>
            <a:off x="285750"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TextBox 292"/>
          <p:cNvSpPr txBox="1"/>
          <p:nvPr/>
        </p:nvSpPr>
        <p:spPr>
          <a:xfrm>
            <a:off x="285750"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94" name="TextBox 293"/>
          <p:cNvSpPr txBox="1"/>
          <p:nvPr/>
        </p:nvSpPr>
        <p:spPr>
          <a:xfrm>
            <a:off x="495300" y="6072662"/>
            <a:ext cx="657225" cy="182537"/>
          </a:xfrm>
          <a:prstGeom prst="rect">
            <a:avLst/>
          </a:prstGeom>
          <a:noFill/>
        </p:spPr>
        <p:txBody>
          <a:bodyPr wrap="square" lIns="0" rIns="0" tIns="0" bIns="0" anchor="ctr">
            <a:spAutoFit/>
          </a:bodyPr>
          <a:lstStyle/>
          <a:p>
            <a:pPr algn="l"/>
            <a:r>
              <a:rPr sz="1100" b="0">
                <a:solidFill>
                  <a:srgbClr val="2E2E2E"/>
                </a:solidFill>
                <a:latin typeface="Calibri"/>
              </a:rPr>
              <a:t>Expansion</a:t>
            </a:r>
          </a:p>
        </p:txBody>
      </p:sp>
      <p:sp>
        <p:nvSpPr>
          <p:cNvPr id="295" name="Oval 294"/>
          <p:cNvSpPr/>
          <p:nvPr/>
        </p:nvSpPr>
        <p:spPr>
          <a:xfrm>
            <a:off x="124777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TextBox 295"/>
          <p:cNvSpPr txBox="1"/>
          <p:nvPr/>
        </p:nvSpPr>
        <p:spPr>
          <a:xfrm>
            <a:off x="124777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97" name="TextBox 296"/>
          <p:cNvSpPr txBox="1"/>
          <p:nvPr/>
        </p:nvSpPr>
        <p:spPr>
          <a:xfrm>
            <a:off x="1457325" y="6072662"/>
            <a:ext cx="1012031" cy="182537"/>
          </a:xfrm>
          <a:prstGeom prst="rect">
            <a:avLst/>
          </a:prstGeom>
          <a:noFill/>
        </p:spPr>
        <p:txBody>
          <a:bodyPr wrap="square" lIns="0" rIns="0" tIns="0" bIns="0" anchor="ctr">
            <a:spAutoFit/>
          </a:bodyPr>
          <a:lstStyle/>
          <a:p>
            <a:pPr algn="l"/>
            <a:r>
              <a:rPr sz="1100" b="0">
                <a:solidFill>
                  <a:srgbClr val="2E2E2E"/>
                </a:solidFill>
                <a:latin typeface="Calibri"/>
              </a:rPr>
              <a:t>R&amp;D Investment</a:t>
            </a:r>
          </a:p>
        </p:txBody>
      </p:sp>
      <p:sp>
        <p:nvSpPr>
          <p:cNvPr id="298" name="Oval 297"/>
          <p:cNvSpPr/>
          <p:nvPr/>
        </p:nvSpPr>
        <p:spPr>
          <a:xfrm>
            <a:off x="25646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25646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300" name="TextBox 299"/>
          <p:cNvSpPr txBox="1"/>
          <p:nvPr/>
        </p:nvSpPr>
        <p:spPr>
          <a:xfrm>
            <a:off x="2774156" y="6072662"/>
            <a:ext cx="800100" cy="182537"/>
          </a:xfrm>
          <a:prstGeom prst="rect">
            <a:avLst/>
          </a:prstGeom>
          <a:noFill/>
        </p:spPr>
        <p:txBody>
          <a:bodyPr wrap="square" lIns="0" rIns="0" tIns="0" bIns="0" anchor="ctr">
            <a:spAutoFit/>
          </a:bodyPr>
          <a:lstStyle/>
          <a:p>
            <a:pPr algn="l"/>
            <a:r>
              <a:rPr sz="1100" b="0">
                <a:solidFill>
                  <a:srgbClr val="2E2E2E"/>
                </a:solidFill>
                <a:latin typeface="Calibri"/>
              </a:rPr>
              <a:t>Financial Aid</a:t>
            </a:r>
          </a:p>
        </p:txBody>
      </p:sp>
      <p:sp>
        <p:nvSpPr>
          <p:cNvPr id="301" name="Oval 300"/>
          <p:cNvSpPr/>
          <p:nvPr/>
        </p:nvSpPr>
        <p:spPr>
          <a:xfrm>
            <a:off x="36695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TextBox 301"/>
          <p:cNvSpPr txBox="1"/>
          <p:nvPr/>
        </p:nvSpPr>
        <p:spPr>
          <a:xfrm>
            <a:off x="36695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303" name="TextBox 302"/>
          <p:cNvSpPr txBox="1"/>
          <p:nvPr/>
        </p:nvSpPr>
        <p:spPr>
          <a:xfrm>
            <a:off x="3879056" y="6072662"/>
            <a:ext cx="1328738" cy="182537"/>
          </a:xfrm>
          <a:prstGeom prst="rect">
            <a:avLst/>
          </a:prstGeom>
          <a:noFill/>
        </p:spPr>
        <p:txBody>
          <a:bodyPr wrap="square" lIns="0" rIns="0" tIns="0" bIns="0" anchor="ctr">
            <a:spAutoFit/>
          </a:bodyPr>
          <a:lstStyle/>
          <a:p>
            <a:pPr algn="l"/>
            <a:r>
              <a:rPr sz="1100" b="0">
                <a:solidFill>
                  <a:srgbClr val="2E2E2E"/>
                </a:solidFill>
                <a:latin typeface="Calibri"/>
              </a:rPr>
              <a:t>Product Development</a:t>
            </a:r>
          </a:p>
        </p:txBody>
      </p:sp>
      <p:sp>
        <p:nvSpPr>
          <p:cNvPr id="304" name="Oval 303"/>
          <p:cNvSpPr/>
          <p:nvPr/>
        </p:nvSpPr>
        <p:spPr>
          <a:xfrm>
            <a:off x="5303044"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TextBox 304"/>
          <p:cNvSpPr txBox="1"/>
          <p:nvPr/>
        </p:nvSpPr>
        <p:spPr>
          <a:xfrm>
            <a:off x="5303044"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306" name="TextBox 305"/>
          <p:cNvSpPr txBox="1"/>
          <p:nvPr/>
        </p:nvSpPr>
        <p:spPr>
          <a:xfrm>
            <a:off x="5512594" y="6072662"/>
            <a:ext cx="714375" cy="182537"/>
          </a:xfrm>
          <a:prstGeom prst="rect">
            <a:avLst/>
          </a:prstGeom>
          <a:noFill/>
        </p:spPr>
        <p:txBody>
          <a:bodyPr wrap="square" lIns="0" rIns="0" tIns="0" bIns="0" anchor="ctr">
            <a:spAutoFit/>
          </a:bodyPr>
          <a:lstStyle/>
          <a:p>
            <a:pPr algn="l"/>
            <a:r>
              <a:rPr sz="1100" b="0">
                <a:solidFill>
                  <a:srgbClr val="2E2E2E"/>
                </a:solidFill>
                <a:latin typeface="Calibri"/>
              </a:rPr>
              <a:t>Acquisition</a:t>
            </a:r>
          </a:p>
        </p:txBody>
      </p:sp>
      <p:sp>
        <p:nvSpPr>
          <p:cNvPr id="307" name="Oval 306"/>
          <p:cNvSpPr/>
          <p:nvPr/>
        </p:nvSpPr>
        <p:spPr>
          <a:xfrm>
            <a:off x="6322219"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TextBox 307"/>
          <p:cNvSpPr txBox="1"/>
          <p:nvPr/>
        </p:nvSpPr>
        <p:spPr>
          <a:xfrm>
            <a:off x="6322219"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09" name="TextBox 308"/>
          <p:cNvSpPr txBox="1"/>
          <p:nvPr/>
        </p:nvSpPr>
        <p:spPr>
          <a:xfrm>
            <a:off x="6531769" y="6072662"/>
            <a:ext cx="964406" cy="182537"/>
          </a:xfrm>
          <a:prstGeom prst="rect">
            <a:avLst/>
          </a:prstGeom>
          <a:noFill/>
        </p:spPr>
        <p:txBody>
          <a:bodyPr wrap="square" lIns="0" rIns="0" tIns="0" bIns="0" anchor="ctr">
            <a:spAutoFit/>
          </a:bodyPr>
          <a:lstStyle/>
          <a:p>
            <a:pPr algn="l"/>
            <a:r>
              <a:rPr sz="1100" b="0">
                <a:solidFill>
                  <a:srgbClr val="2E2E2E"/>
                </a:solidFill>
                <a:latin typeface="Calibri"/>
              </a:rPr>
              <a:t>Product Launch</a:t>
            </a:r>
          </a:p>
        </p:txBody>
      </p:sp>
      <p:sp>
        <p:nvSpPr>
          <p:cNvPr id="310" name="Oval 309"/>
          <p:cNvSpPr/>
          <p:nvPr/>
        </p:nvSpPr>
        <p:spPr>
          <a:xfrm>
            <a:off x="759142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TextBox 310"/>
          <p:cNvSpPr txBox="1"/>
          <p:nvPr/>
        </p:nvSpPr>
        <p:spPr>
          <a:xfrm>
            <a:off x="759142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12" name="TextBox 311"/>
          <p:cNvSpPr txBox="1"/>
          <p:nvPr/>
        </p:nvSpPr>
        <p:spPr>
          <a:xfrm>
            <a:off x="7800975" y="6072662"/>
            <a:ext cx="781050" cy="182537"/>
          </a:xfrm>
          <a:prstGeom prst="rect">
            <a:avLst/>
          </a:prstGeom>
          <a:noFill/>
        </p:spPr>
        <p:txBody>
          <a:bodyPr wrap="square" lIns="0" rIns="0" tIns="0" bIns="0" anchor="ctr">
            <a:spAutoFit/>
          </a:bodyPr>
          <a:lstStyle/>
          <a:p>
            <a:pPr algn="l"/>
            <a:r>
              <a:rPr sz="1100" b="0">
                <a:solidFill>
                  <a:srgbClr val="2E2E2E"/>
                </a:solidFill>
                <a:latin typeface="Calibri"/>
              </a:rPr>
              <a:t>Certification</a:t>
            </a:r>
          </a:p>
        </p:txBody>
      </p:sp>
      <p:sp>
        <p:nvSpPr>
          <p:cNvPr id="313" name="TextBox 312"/>
          <p:cNvSpPr txBox="1"/>
          <p:nvPr/>
        </p:nvSpPr>
        <p:spPr>
          <a:xfrm>
            <a:off x="285750" y="6273453"/>
            <a:ext cx="11620500" cy="155156"/>
          </a:xfrm>
          <a:prstGeom prst="rect">
            <a:avLst/>
          </a:prstGeom>
          <a:noFill/>
        </p:spPr>
        <p:txBody>
          <a:bodyPr wrap="square" lIns="0" rIns="0" tIns="0" bIns="0">
            <a:spAutoFit/>
          </a:bodyPr>
          <a:lstStyle/>
          <a:p>
            <a:pPr algn="l"/>
            <a:r>
              <a:rPr sz="1100" b="1">
                <a:solidFill>
                  <a:srgbClr val="A35313"/>
                </a:solidFill>
                <a:latin typeface="Calibri"/>
              </a:rPr>
              <a:t>Note: Market Share indicates the contribution of target revenue in Market</a:t>
            </a:r>
          </a:p>
        </p:txBody>
      </p:sp>
      <p:sp>
        <p:nvSpPr>
          <p:cNvPr id="314" name="TextBox 313"/>
          <p:cNvSpPr txBox="1"/>
          <p:nvPr/>
        </p:nvSpPr>
        <p:spPr>
          <a:xfrm>
            <a:off x="285750" y="6428609"/>
            <a:ext cx="11620500" cy="155156"/>
          </a:xfrm>
          <a:prstGeom prst="rect">
            <a:avLst/>
          </a:prstGeom>
          <a:noFill/>
        </p:spPr>
        <p:txBody>
          <a:bodyPr wrap="square" lIns="0" rIns="0" tIns="0" bIns="0">
            <a:spAutoFit/>
          </a:bodyPr>
          <a:lstStyle/>
          <a:p>
            <a:pPr algn="l"/>
            <a:r>
              <a:rPr sz="1100" b="1">
                <a:solidFill>
                  <a:srgbClr val="A35313"/>
                </a:solidFill>
                <a:latin typeface="Calibri"/>
              </a:rPr>
              <a:t>Revenue represents sales of the company from target market</a:t>
            </a:r>
          </a:p>
        </p:txBody>
      </p:sp>
      <p:sp>
        <p:nvSpPr>
          <p:cNvPr id="315" name="TextBox 3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4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Share by Leading Players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Advice for Vendors &amp; Suppliers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Value Share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Who Shaped Growth</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Advice for Market Vendors / Suppliers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Strategic advice for vendors and suppliers on pricing, product, geography, channel and competitive risk</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Strategic advice for vendors and suppliers where to compete, how to price, and which risks to manage across the Hair Styling Products Market.</a:t>
            </a:r>
          </a:p>
        </p:txBody>
      </p:sp>
      <p:sp>
        <p:nvSpPr>
          <p:cNvPr id="11" name="Rounded Rectangle 10"/>
          <p:cNvSpPr/>
          <p:nvPr/>
        </p:nvSpPr>
        <p:spPr>
          <a:xfrm>
            <a:off x="142875"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76225"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Pricing &amp; Margin Strategy</a:t>
            </a:r>
          </a:p>
        </p:txBody>
      </p:sp>
      <p:sp>
        <p:nvSpPr>
          <p:cNvPr id="13" name="Rectangle 12"/>
          <p:cNvSpPr/>
          <p:nvPr/>
        </p:nvSpPr>
        <p:spPr>
          <a:xfrm>
            <a:off x="276225"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Hold price discipline: with the top three players at ~41% share, avoid value-destructive discounting compete on mix and service, not headline price.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Premiumise toward higher-value formulations (e.g. 'Styling Serums and Oils') to lift blended ASP and defend margin as input costs move.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Set transparent, corridor-based regional pricing to limit grey-market arbitrage.</a:t>
            </a:r>
          </a:p>
        </p:txBody>
      </p:sp>
      <p:sp>
        <p:nvSpPr>
          <p:cNvPr id="15" name="Rounded Rectangle 14"/>
          <p:cNvSpPr/>
          <p:nvPr/>
        </p:nvSpPr>
        <p:spPr>
          <a:xfrm>
            <a:off x="6191250"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24600"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Product &amp; Innovation</a:t>
            </a:r>
          </a:p>
        </p:txBody>
      </p:sp>
      <p:sp>
        <p:nvSpPr>
          <p:cNvPr id="17" name="Rectangle 16"/>
          <p:cNvSpPr/>
          <p:nvPr/>
        </p:nvSpPr>
        <p:spPr>
          <a:xfrm>
            <a:off x="6324600"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324600"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R&amp;D in the fastest-growing formulations a differentiated portfolio is the clearest route to out-growing the ~6.7% market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Pursue certification and clinical validation to build switching costs and support premium positioning.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Localise formats and pack sizes to each channel and geography.</a:t>
            </a:r>
          </a:p>
        </p:txBody>
      </p:sp>
      <p:sp>
        <p:nvSpPr>
          <p:cNvPr id="19" name="Rounded Rectangle 18"/>
          <p:cNvSpPr/>
          <p:nvPr/>
        </p:nvSpPr>
        <p:spPr>
          <a:xfrm>
            <a:off x="142875"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Geographic &amp; Channel Expansion</a:t>
            </a:r>
          </a:p>
        </p:txBody>
      </p:sp>
      <p:sp>
        <p:nvSpPr>
          <p:cNvPr id="21" name="Rectangle 20"/>
          <p:cNvSpPr/>
          <p:nvPr/>
        </p:nvSpPr>
        <p:spPr>
          <a:xfrm>
            <a:off x="276225"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 selectively into under-penetrated regions where the leaders are thin, rather than head-on in saturated markets.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retail, hospital/clinic and online channels online is the fastest-shifting route to end customers.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reliable distribution and logistics partnerships to convert demand into fulfilled volume.</a:t>
            </a:r>
          </a:p>
        </p:txBody>
      </p:sp>
      <p:sp>
        <p:nvSpPr>
          <p:cNvPr id="23" name="Rounded Rectangle 22"/>
          <p:cNvSpPr/>
          <p:nvPr/>
        </p:nvSpPr>
        <p:spPr>
          <a:xfrm>
            <a:off x="6191250"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324600"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Competitive &amp; Risk Positioning</a:t>
            </a:r>
          </a:p>
        </p:txBody>
      </p:sp>
      <p:sp>
        <p:nvSpPr>
          <p:cNvPr id="25" name="Rectangle 24"/>
          <p:cNvSpPr/>
          <p:nvPr/>
        </p:nvSpPr>
        <p:spPr>
          <a:xfrm>
            <a:off x="6324600"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6324600"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Benchmark relentlessly against 'Company A' (~16.4% share) match on service and lead on innovation to take share.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Diversify the customer base to cut dependence on a few large accounts and single-region exposure.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Stress-test for regulatory, currency and supply shocks; keep flexible capacity and dual sourcing.</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Company Value Share (Global)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company in the global market, 2025, highlighting leadership and the long tail</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Target market value share by key companies leadership, concentration and how the competitive mix shifts by region.</a:t>
            </a:r>
          </a:p>
        </p:txBody>
      </p:sp>
      <p:sp>
        <p:nvSpPr>
          <p:cNvPr id="12" name="Rounded Rectangle 11"/>
          <p:cNvSpPr/>
          <p:nvPr/>
        </p:nvSpPr>
        <p:spPr>
          <a:xfrm>
            <a:off x="142875" y="1354081"/>
            <a:ext cx="754380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73533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by Key Company (US$ Mn, 2026)</a:t>
            </a:r>
          </a:p>
        </p:txBody>
      </p:sp>
      <p:graphicFrame>
        <p:nvGraphicFramePr>
          <p:cNvPr id="14" name="Chart 13"/>
          <p:cNvGraphicFramePr>
            <a:graphicFrameLocks noGrp="1"/>
          </p:cNvGraphicFramePr>
          <p:nvPr/>
        </p:nvGraphicFramePr>
        <p:xfrm>
          <a:off x="238125" y="1639831"/>
          <a:ext cx="7353300" cy="4877658"/>
        </p:xfrm>
        <a:graphic>
          <a:graphicData uri="http://schemas.openxmlformats.org/drawingml/2006/chart">
            <c:chart xmlns:c="http://schemas.openxmlformats.org/drawingml/2006/chart" r:id="rId3"/>
          </a:graphicData>
        </a:graphic>
      </p:graphicFrame>
      <p:sp>
        <p:nvSpPr>
          <p:cNvPr id="15" name="TextBox 14"/>
          <p:cNvSpPr txBox="1"/>
          <p:nvPr/>
        </p:nvSpPr>
        <p:spPr>
          <a:xfrm>
            <a:off x="2049780" y="3878635"/>
            <a:ext cx="1524000" cy="400050"/>
          </a:xfrm>
          <a:prstGeom prst="rect">
            <a:avLst/>
          </a:prstGeom>
          <a:noFill/>
        </p:spPr>
        <p:txBody>
          <a:bodyPr wrap="square" lIns="28575" rIns="28575" tIns="9525" bIns="9525" anchor="ctr">
            <a:spAutoFit/>
          </a:bodyPr>
          <a:lstStyle/>
          <a:p>
            <a:pPr algn="ctr"/>
            <a:r>
              <a:rPr sz="1300" b="1">
                <a:solidFill>
                  <a:srgbClr val="2E2E2E"/>
                </a:solidFill>
                <a:latin typeface="Calibri"/>
              </a:rPr>
              <a:t>100% =</a:t>
            </a:r>
          </a:p>
          <a:p>
            <a:pPr algn="ctr"/>
            <a:r>
              <a:rPr sz="1300" b="1">
                <a:solidFill>
                  <a:srgbClr val="2E2E2E"/>
                </a:solidFill>
                <a:latin typeface="Calibri"/>
              </a:rPr>
              <a:t>16,106 US$ Mn</a:t>
            </a:r>
          </a:p>
        </p:txBody>
      </p:sp>
      <p:sp>
        <p:nvSpPr>
          <p:cNvPr id="16" name="Rounded Rectangle 15"/>
          <p:cNvSpPr/>
          <p:nvPr/>
        </p:nvSpPr>
        <p:spPr>
          <a:xfrm>
            <a:off x="7800975" y="1354081"/>
            <a:ext cx="4248150" cy="5220558"/>
          </a:xfrm>
          <a:prstGeom prst="roundRect">
            <a:avLst>
              <a:gd name="adj" fmla="val 17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7934325" y="1439806"/>
            <a:ext cx="39814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8" name="Rectangle 17"/>
          <p:cNvSpPr/>
          <p:nvPr/>
        </p:nvSpPr>
        <p:spPr>
          <a:xfrm>
            <a:off x="7934325" y="1677931"/>
            <a:ext cx="39814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934325" y="1763656"/>
            <a:ext cx="3981450" cy="4734783"/>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Company A accounted for the largest share of the global hair styling products market in 2026. The global hair styling products market is moderately consolidated, with the top three players accounting for an estimated 41% share of the market in 2026.</a:t>
            </a:r>
          </a:p>
          <a:p>
            <a:pPr algn="l">
              <a:lnSpc>
                <a:spcPct val="110000"/>
              </a:lnSpc>
              <a:spcBef>
                <a:spcPts val="0"/>
              </a:spcBef>
              <a:spcAft>
                <a:spcPts val="500"/>
              </a:spcAft>
            </a:pPr>
            <a:r>
              <a:rPr sz="1150" b="0">
                <a:solidFill>
                  <a:srgbClr val="2E2E2E"/>
                </a:solidFill>
                <a:latin typeface="Calibri"/>
              </a:rPr>
              <a:t>Company A accounted for an estimated 16.4% share of the market, followed by Company B with 14.4%. Key players are focusing on product innovation, geographic expansion and strategic partnerships to strengthen their market position.</a:t>
            </a:r>
          </a:p>
          <a:p>
            <a:pPr algn="l">
              <a:lnSpc>
                <a:spcPct val="110000"/>
              </a:lnSpc>
              <a:spcBef>
                <a:spcPts val="0"/>
              </a:spcBef>
              <a:spcAft>
                <a:spcPts val="500"/>
              </a:spcAft>
            </a:pPr>
            <a:r>
              <a:rPr sz="1150" b="0">
                <a:solidFill>
                  <a:srgbClr val="2E2E2E"/>
                </a:solidFill>
                <a:latin typeface="Calibri"/>
              </a:rPr>
              <a:t>Regional share differs from the global picture use the region selector to see how leadership shifts across geographies.</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Company Share by Product Type (Top 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value share within each leading product format, highlighting where leadership differs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leading product types where each player concentrates, and how leadership varies by formulation.</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Styling Serums and Oils</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Waxes, Clays, Pastes and Pomades</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8105775" y="1299320"/>
            <a:ext cx="39433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201025" y="1356470"/>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Sticks and Balms</a:t>
            </a:r>
          </a:p>
        </p:txBody>
      </p:sp>
      <p:graphicFrame>
        <p:nvGraphicFramePr>
          <p:cNvPr id="19" name="Chart 18"/>
          <p:cNvGraphicFramePr>
            <a:graphicFrameLocks noGrp="1"/>
          </p:cNvGraphicFramePr>
          <p:nvPr/>
        </p:nvGraphicFramePr>
        <p:xfrm>
          <a:off x="8201025" y="1585070"/>
          <a:ext cx="3752850" cy="2869751"/>
        </p:xfrm>
        <a:graphic>
          <a:graphicData uri="http://schemas.openxmlformats.org/drawingml/2006/chart">
            <c:chart xmlns:c="http://schemas.openxmlformats.org/drawingml/2006/chart" r:id="rId5"/>
          </a:graphicData>
        </a:graphic>
      </p:graphicFrame>
      <p:sp>
        <p:nvSpPr>
          <p:cNvPr id="20" name="Rounded Rectangle 19"/>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22" name="Rectangle 21"/>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Styling Serums and Oils: 'Company A' leads at ~12.8%, ahead of 'Company D' (~12.7%); the top three hold ~38% and a long tail ('Others') ~27%.</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Waxes, Clays, Pastes and Pomades: 'Company C' leads at ~14.9%, ahead of 'Company B' (~14.8%); the top three hold ~43% and a long tail ('Others') ~23%.</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Sticks and Balms: 'Company A' leads at ~17.8%, ahead of 'Company B' (~16.9%); the top three hold ~48% and a long tail ('Others') ~20%.</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Leadership shifts across formulations a strong position in one product type does not carry over to the others, so product-level targeting is essential.</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Note: competitor figures are indicative derived from market modelling and expert validation, not company disclosures.</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Company Share by Region (Top 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Company value share within the largest regions, highlighting where leadership shifts across geographies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largest regions where each player concentrates, and how leadership varies by geography.</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8105775" y="1299320"/>
            <a:ext cx="39433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201025" y="1356470"/>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a:t>
            </a:r>
          </a:p>
        </p:txBody>
      </p:sp>
      <p:graphicFrame>
        <p:nvGraphicFramePr>
          <p:cNvPr id="19" name="Chart 18"/>
          <p:cNvGraphicFramePr>
            <a:graphicFrameLocks noGrp="1"/>
          </p:cNvGraphicFramePr>
          <p:nvPr/>
        </p:nvGraphicFramePr>
        <p:xfrm>
          <a:off x="8201025" y="1585070"/>
          <a:ext cx="3752850" cy="2869751"/>
        </p:xfrm>
        <a:graphic>
          <a:graphicData uri="http://schemas.openxmlformats.org/drawingml/2006/chart">
            <c:chart xmlns:c="http://schemas.openxmlformats.org/drawingml/2006/chart" r:id="rId5"/>
          </a:graphicData>
        </a:graphic>
      </p:graphicFrame>
      <p:sp>
        <p:nvSpPr>
          <p:cNvPr id="20" name="Rounded Rectangle 19"/>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22" name="Rectangle 21"/>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North America: 'Company A' leads at ~18.4%, ahead of 'Company B' (~13.5%); the top three hold ~41% and a long tail ('Others') ~27%.</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East Asia: 'Company A' leads at ~14.5%, ahead of 'Company C' (~13.7%); the top three hold ~42% and a long tail ('Others') ~21%.</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Europe: 'Company A' leads at ~17.1%, ahead of 'Company D' (~12.6%); the top three hold ~41% and a long tail ('Others') ~21%.</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Leadership is not uniform across geographies a strong position in one region does not carry over to the others, so region-level go-to-market planning is essential.</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Note: competitor figures are indicative derived from market modelling and expert validation, not company disclosures.</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Who Shaped Growth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Ranking of the players that shaped growth, by value share, growth role and signature move</a:t>
            </a:r>
          </a:p>
        </p:txBody>
      </p:sp>
      <p:sp>
        <p:nvSpPr>
          <p:cNvPr id="10" name="TextBox 9"/>
          <p:cNvSpPr txBox="1"/>
          <p:nvPr/>
        </p:nvSpPr>
        <p:spPr>
          <a:xfrm>
            <a:off x="142875" y="970754"/>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A framework to identify the companies that most influenced annual Hair Styling Products Market growth, ranked by growth-shaping impact.</a:t>
            </a:r>
          </a:p>
        </p:txBody>
      </p:sp>
      <p:sp>
        <p:nvSpPr>
          <p:cNvPr id="11" name="Rounded Rectangle 10"/>
          <p:cNvSpPr/>
          <p:nvPr/>
        </p:nvSpPr>
        <p:spPr>
          <a:xfrm>
            <a:off x="3619500" y="1189798"/>
            <a:ext cx="4953000" cy="419835"/>
          </a:xfrm>
          <a:prstGeom prst="roundRect">
            <a:avLst>
              <a:gd name="adj" fmla="val 1538"/>
            </a:avLst>
          </a:prstGeom>
          <a:solidFill>
            <a:srgbClr val="F4F8FB"/>
          </a:solidFill>
          <a:ln w="12700">
            <a:solidFill>
              <a:srgbClr val="CFE0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3733800" y="1226305"/>
            <a:ext cx="4724400" cy="173410"/>
          </a:xfrm>
          <a:prstGeom prst="rect">
            <a:avLst/>
          </a:prstGeom>
          <a:noFill/>
        </p:spPr>
        <p:txBody>
          <a:bodyPr wrap="square" lIns="28575" rIns="28575" tIns="9525" bIns="9525" anchor="ctr">
            <a:spAutoFit/>
          </a:bodyPr>
          <a:lstStyle/>
          <a:p>
            <a:pPr algn="ctr"/>
            <a:r>
              <a:rPr sz="1100" b="1">
                <a:solidFill>
                  <a:srgbClr val="0B2E4A"/>
                </a:solidFill>
                <a:latin typeface="Calibri"/>
              </a:rPr>
              <a:t>RANKED BY GROWTH-SHAPING IMPACT</a:t>
            </a:r>
          </a:p>
        </p:txBody>
      </p:sp>
      <p:sp>
        <p:nvSpPr>
          <p:cNvPr id="13" name="TextBox 12"/>
          <p:cNvSpPr txBox="1"/>
          <p:nvPr/>
        </p:nvSpPr>
        <p:spPr>
          <a:xfrm>
            <a:off x="3733800" y="1399716"/>
            <a:ext cx="4724400" cy="173410"/>
          </a:xfrm>
          <a:prstGeom prst="rect">
            <a:avLst/>
          </a:prstGeom>
          <a:noFill/>
        </p:spPr>
        <p:txBody>
          <a:bodyPr wrap="square" lIns="28575" rIns="28575" tIns="9525" bIns="9525" anchor="ctr">
            <a:spAutoFit/>
          </a:bodyPr>
          <a:lstStyle/>
          <a:p>
            <a:pPr algn="ctr"/>
            <a:r>
              <a:rPr sz="1100" b="0">
                <a:solidFill>
                  <a:srgbClr val="6C7A89"/>
                </a:solidFill>
                <a:latin typeface="Calibri"/>
              </a:rPr>
              <a:t>Ranked by overall contribution to category growth, not share alone.</a:t>
            </a:r>
          </a:p>
        </p:txBody>
      </p:sp>
      <p:cxnSp>
        <p:nvCxnSpPr>
          <p:cNvPr id="14" name="Connector 13"/>
          <p:cNvCxnSpPr/>
          <p:nvPr/>
        </p:nvCxnSpPr>
        <p:spPr>
          <a:xfrm>
            <a:off x="428625"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8743950"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523875" y="1792170"/>
            <a:ext cx="11106150" cy="0"/>
          </a:xfrm>
          <a:prstGeom prst="line">
            <a:avLst/>
          </a:prstGeom>
          <a:ln w="25400">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17" name="Freeform 16"/>
          <p:cNvSpPr/>
          <p:nvPr/>
        </p:nvSpPr>
        <p:spPr>
          <a:xfrm>
            <a:off x="11630025" y="1728282"/>
            <a:ext cx="171450" cy="127776"/>
          </a:xfrm>
          <a:custGeom>
            <a:avLst/>
            <a:gdLst/>
            <a:ahLst/>
            <a:cxnLst/>
            <a:rect l="l" t="t" r="r" b="b"/>
            <a:pathLst>
              <a:path w="18" h="14">
                <a:moveTo>
                  <a:pt x="0" y="0"/>
                </a:moveTo>
                <a:lnTo>
                  <a:pt x="18" y="7"/>
                </a:lnTo>
                <a:lnTo>
                  <a:pt x="0" y="14"/>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1152525" y="1655267"/>
            <a:ext cx="285750" cy="273805"/>
          </a:xfrm>
          <a:prstGeom prst="ellipse">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1525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0" name="Rounded Rectangle 19"/>
          <p:cNvSpPr/>
          <p:nvPr/>
        </p:nvSpPr>
        <p:spPr>
          <a:xfrm>
            <a:off x="142875" y="1992961"/>
            <a:ext cx="2305050" cy="2135683"/>
          </a:xfrm>
          <a:prstGeom prst="roundRect">
            <a:avLst>
              <a:gd name="adj" fmla="val 3719"/>
            </a:avLst>
          </a:prstGeom>
          <a:solidFill>
            <a:srgbClr val="FFFFFF"/>
          </a:solidFill>
          <a:ln w="2032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42875" y="1992961"/>
            <a:ext cx="2305050" cy="310313"/>
          </a:xfrm>
          <a:prstGeom prst="roundRect">
            <a:avLst>
              <a:gd name="adj" fmla="val 3719"/>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2571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571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24" name="TextBox 23"/>
          <p:cNvSpPr txBox="1"/>
          <p:nvPr/>
        </p:nvSpPr>
        <p:spPr>
          <a:xfrm>
            <a:off x="5238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Company A</a:t>
            </a:r>
          </a:p>
        </p:txBody>
      </p:sp>
      <p:sp>
        <p:nvSpPr>
          <p:cNvPr id="25" name="TextBox 24"/>
          <p:cNvSpPr txBox="1"/>
          <p:nvPr/>
        </p:nvSpPr>
        <p:spPr>
          <a:xfrm>
            <a:off x="2381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4286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Value share:  16.4%</a:t>
            </a:r>
          </a:p>
        </p:txBody>
      </p:sp>
      <p:cxnSp>
        <p:nvCxnSpPr>
          <p:cNvPr id="27" name="Connector 26"/>
          <p:cNvCxnSpPr/>
          <p:nvPr/>
        </p:nvCxnSpPr>
        <p:spPr>
          <a:xfrm>
            <a:off x="2381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2381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4286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30" name="TextBox 29"/>
          <p:cNvSpPr txBox="1"/>
          <p:nvPr/>
        </p:nvSpPr>
        <p:spPr>
          <a:xfrm>
            <a:off x="428625" y="2805250"/>
            <a:ext cx="1924050" cy="164283"/>
          </a:xfrm>
          <a:prstGeom prst="rect">
            <a:avLst/>
          </a:prstGeom>
          <a:noFill/>
        </p:spPr>
        <p:txBody>
          <a:bodyPr wrap="square" lIns="28575" rIns="28575" tIns="9525" bIns="9525" anchor="ctr">
            <a:spAutoFit/>
          </a:bodyPr>
          <a:lstStyle/>
          <a:p>
            <a:pPr algn="l"/>
            <a:r>
              <a:rPr sz="1100" b="1">
                <a:solidFill>
                  <a:srgbClr val="0E72AE"/>
                </a:solidFill>
                <a:latin typeface="Calibri"/>
              </a:rPr>
              <a:t>Market leader</a:t>
            </a:r>
          </a:p>
        </p:txBody>
      </p:sp>
      <p:cxnSp>
        <p:nvCxnSpPr>
          <p:cNvPr id="31" name="Connector 30"/>
          <p:cNvCxnSpPr/>
          <p:nvPr/>
        </p:nvCxnSpPr>
        <p:spPr>
          <a:xfrm>
            <a:off x="2381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2381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3" name="TextBox 32"/>
          <p:cNvSpPr txBox="1"/>
          <p:nvPr/>
        </p:nvSpPr>
        <p:spPr>
          <a:xfrm>
            <a:off x="4286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34" name="TextBox 33"/>
          <p:cNvSpPr txBox="1"/>
          <p:nvPr/>
        </p:nvSpPr>
        <p:spPr>
          <a:xfrm>
            <a:off x="4286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Expanded reach across its core segment</a:t>
            </a:r>
          </a:p>
        </p:txBody>
      </p:sp>
      <p:cxnSp>
        <p:nvCxnSpPr>
          <p:cNvPr id="35" name="Connector 34"/>
          <p:cNvCxnSpPr/>
          <p:nvPr/>
        </p:nvCxnSpPr>
        <p:spPr>
          <a:xfrm>
            <a:off x="2381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6" name="TextBox 35"/>
          <p:cNvSpPr txBox="1"/>
          <p:nvPr/>
        </p:nvSpPr>
        <p:spPr>
          <a:xfrm>
            <a:off x="2381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7" name="TextBox 36"/>
          <p:cNvSpPr txBox="1"/>
          <p:nvPr/>
        </p:nvSpPr>
        <p:spPr>
          <a:xfrm>
            <a:off x="4286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38" name="TextBox 37"/>
          <p:cNvSpPr txBox="1"/>
          <p:nvPr/>
        </p:nvSpPr>
        <p:spPr>
          <a:xfrm>
            <a:off x="4286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New launch</a:t>
            </a:r>
          </a:p>
        </p:txBody>
      </p:sp>
      <p:sp>
        <p:nvSpPr>
          <p:cNvPr id="39" name="Oval 38"/>
          <p:cNvSpPr/>
          <p:nvPr/>
        </p:nvSpPr>
        <p:spPr>
          <a:xfrm>
            <a:off x="3552825" y="1655267"/>
            <a:ext cx="285750" cy="273805"/>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5528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Rounded Rectangle 40"/>
          <p:cNvSpPr/>
          <p:nvPr/>
        </p:nvSpPr>
        <p:spPr>
          <a:xfrm>
            <a:off x="2543175" y="1992961"/>
            <a:ext cx="2305050" cy="2135683"/>
          </a:xfrm>
          <a:prstGeom prst="roundRect">
            <a:avLst>
              <a:gd name="adj" fmla="val 3719"/>
            </a:avLst>
          </a:prstGeom>
          <a:solidFill>
            <a:srgbClr val="FFFFFF"/>
          </a:solidFill>
          <a:ln w="2032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ounded Rectangle 41"/>
          <p:cNvSpPr/>
          <p:nvPr/>
        </p:nvSpPr>
        <p:spPr>
          <a:xfrm>
            <a:off x="2543175" y="1992961"/>
            <a:ext cx="2305050" cy="310313"/>
          </a:xfrm>
          <a:prstGeom prst="roundRect">
            <a:avLst>
              <a:gd name="adj" fmla="val 3719"/>
            </a:avLst>
          </a:prstGeom>
          <a:solidFill>
            <a:srgbClr val="A35313"/>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26574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26574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45" name="TextBox 44"/>
          <p:cNvSpPr txBox="1"/>
          <p:nvPr/>
        </p:nvSpPr>
        <p:spPr>
          <a:xfrm>
            <a:off x="29241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Company B</a:t>
            </a:r>
          </a:p>
        </p:txBody>
      </p:sp>
      <p:sp>
        <p:nvSpPr>
          <p:cNvPr id="46" name="TextBox 45"/>
          <p:cNvSpPr txBox="1"/>
          <p:nvPr/>
        </p:nvSpPr>
        <p:spPr>
          <a:xfrm>
            <a:off x="26384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28289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Value share:  14.4%</a:t>
            </a:r>
          </a:p>
        </p:txBody>
      </p:sp>
      <p:cxnSp>
        <p:nvCxnSpPr>
          <p:cNvPr id="48" name="Connector 47"/>
          <p:cNvCxnSpPr/>
          <p:nvPr/>
        </p:nvCxnSpPr>
        <p:spPr>
          <a:xfrm>
            <a:off x="26384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26384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28289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51" name="TextBox 50"/>
          <p:cNvSpPr txBox="1"/>
          <p:nvPr/>
        </p:nvSpPr>
        <p:spPr>
          <a:xfrm>
            <a:off x="2828925" y="2805250"/>
            <a:ext cx="1924050" cy="164283"/>
          </a:xfrm>
          <a:prstGeom prst="rect">
            <a:avLst/>
          </a:prstGeom>
          <a:noFill/>
        </p:spPr>
        <p:txBody>
          <a:bodyPr wrap="square" lIns="28575" rIns="28575" tIns="9525" bIns="9525" anchor="ctr">
            <a:spAutoFit/>
          </a:bodyPr>
          <a:lstStyle/>
          <a:p>
            <a:pPr algn="l"/>
            <a:r>
              <a:rPr sz="1100" b="1">
                <a:solidFill>
                  <a:srgbClr val="A35313"/>
                </a:solidFill>
                <a:latin typeface="Calibri"/>
              </a:rPr>
              <a:t>Portfolio expander</a:t>
            </a:r>
          </a:p>
        </p:txBody>
      </p:sp>
      <p:cxnSp>
        <p:nvCxnSpPr>
          <p:cNvPr id="52" name="Connector 51"/>
          <p:cNvCxnSpPr/>
          <p:nvPr/>
        </p:nvCxnSpPr>
        <p:spPr>
          <a:xfrm>
            <a:off x="26384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26384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4" name="TextBox 53"/>
          <p:cNvSpPr txBox="1"/>
          <p:nvPr/>
        </p:nvSpPr>
        <p:spPr>
          <a:xfrm>
            <a:off x="28289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55" name="TextBox 54"/>
          <p:cNvSpPr txBox="1"/>
          <p:nvPr/>
        </p:nvSpPr>
        <p:spPr>
          <a:xfrm>
            <a:off x="28289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Drove new customer adoption</a:t>
            </a:r>
          </a:p>
        </p:txBody>
      </p:sp>
      <p:cxnSp>
        <p:nvCxnSpPr>
          <p:cNvPr id="56" name="Connector 55"/>
          <p:cNvCxnSpPr/>
          <p:nvPr/>
        </p:nvCxnSpPr>
        <p:spPr>
          <a:xfrm>
            <a:off x="26384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26384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8" name="TextBox 57"/>
          <p:cNvSpPr txBox="1"/>
          <p:nvPr/>
        </p:nvSpPr>
        <p:spPr>
          <a:xfrm>
            <a:off x="28289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59" name="TextBox 58"/>
          <p:cNvSpPr txBox="1"/>
          <p:nvPr/>
        </p:nvSpPr>
        <p:spPr>
          <a:xfrm>
            <a:off x="28289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expansion</a:t>
            </a:r>
          </a:p>
        </p:txBody>
      </p:sp>
      <p:sp>
        <p:nvSpPr>
          <p:cNvPr id="60" name="Oval 59"/>
          <p:cNvSpPr/>
          <p:nvPr/>
        </p:nvSpPr>
        <p:spPr>
          <a:xfrm>
            <a:off x="5953125" y="1655267"/>
            <a:ext cx="285750" cy="273805"/>
          </a:xfrm>
          <a:prstGeom prst="ellipse">
            <a:avLst/>
          </a:prstGeom>
          <a:solidFill>
            <a:srgbClr val="69B1E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59531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62" name="Rounded Rectangle 61"/>
          <p:cNvSpPr/>
          <p:nvPr/>
        </p:nvSpPr>
        <p:spPr>
          <a:xfrm>
            <a:off x="4943475" y="1992961"/>
            <a:ext cx="2305050" cy="2135683"/>
          </a:xfrm>
          <a:prstGeom prst="roundRect">
            <a:avLst>
              <a:gd name="adj" fmla="val 3719"/>
            </a:avLst>
          </a:prstGeom>
          <a:solidFill>
            <a:srgbClr val="FFFFFF"/>
          </a:solidFill>
          <a:ln w="2032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ounded Rectangle 62"/>
          <p:cNvSpPr/>
          <p:nvPr/>
        </p:nvSpPr>
        <p:spPr>
          <a:xfrm>
            <a:off x="4943475" y="1992961"/>
            <a:ext cx="2305050" cy="310313"/>
          </a:xfrm>
          <a:prstGeom prst="roundRect">
            <a:avLst>
              <a:gd name="adj" fmla="val 3719"/>
            </a:avLst>
          </a:prstGeom>
          <a:solidFill>
            <a:srgbClr val="69B1E0"/>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50577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50577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66" name="TextBox 65"/>
          <p:cNvSpPr txBox="1"/>
          <p:nvPr/>
        </p:nvSpPr>
        <p:spPr>
          <a:xfrm>
            <a:off x="53244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Company C</a:t>
            </a:r>
          </a:p>
        </p:txBody>
      </p:sp>
      <p:sp>
        <p:nvSpPr>
          <p:cNvPr id="67" name="TextBox 66"/>
          <p:cNvSpPr txBox="1"/>
          <p:nvPr/>
        </p:nvSpPr>
        <p:spPr>
          <a:xfrm>
            <a:off x="50387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8" name="TextBox 67"/>
          <p:cNvSpPr txBox="1"/>
          <p:nvPr/>
        </p:nvSpPr>
        <p:spPr>
          <a:xfrm>
            <a:off x="52292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Value share:  9.9%</a:t>
            </a:r>
          </a:p>
        </p:txBody>
      </p:sp>
      <p:cxnSp>
        <p:nvCxnSpPr>
          <p:cNvPr id="69" name="Connector 68"/>
          <p:cNvCxnSpPr/>
          <p:nvPr/>
        </p:nvCxnSpPr>
        <p:spPr>
          <a:xfrm>
            <a:off x="50387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50387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1" name="TextBox 70"/>
          <p:cNvSpPr txBox="1"/>
          <p:nvPr/>
        </p:nvSpPr>
        <p:spPr>
          <a:xfrm>
            <a:off x="52292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72" name="TextBox 71"/>
          <p:cNvSpPr txBox="1"/>
          <p:nvPr/>
        </p:nvSpPr>
        <p:spPr>
          <a:xfrm>
            <a:off x="5229225" y="2805250"/>
            <a:ext cx="1924050" cy="164283"/>
          </a:xfrm>
          <a:prstGeom prst="rect">
            <a:avLst/>
          </a:prstGeom>
          <a:noFill/>
        </p:spPr>
        <p:txBody>
          <a:bodyPr wrap="square" lIns="28575" rIns="28575" tIns="9525" bIns="9525" anchor="ctr">
            <a:spAutoFit/>
          </a:bodyPr>
          <a:lstStyle/>
          <a:p>
            <a:pPr algn="l"/>
            <a:r>
              <a:rPr sz="1100" b="1">
                <a:solidFill>
                  <a:srgbClr val="69B1E0"/>
                </a:solidFill>
                <a:latin typeface="Calibri"/>
              </a:rPr>
              <a:t>Access builder</a:t>
            </a:r>
          </a:p>
        </p:txBody>
      </p:sp>
      <p:cxnSp>
        <p:nvCxnSpPr>
          <p:cNvPr id="73" name="Connector 72"/>
          <p:cNvCxnSpPr/>
          <p:nvPr/>
        </p:nvCxnSpPr>
        <p:spPr>
          <a:xfrm>
            <a:off x="50387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50387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5" name="TextBox 74"/>
          <p:cNvSpPr txBox="1"/>
          <p:nvPr/>
        </p:nvSpPr>
        <p:spPr>
          <a:xfrm>
            <a:off x="52292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76" name="TextBox 75"/>
          <p:cNvSpPr txBox="1"/>
          <p:nvPr/>
        </p:nvSpPr>
        <p:spPr>
          <a:xfrm>
            <a:off x="52292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Won through wider channel availability</a:t>
            </a:r>
          </a:p>
        </p:txBody>
      </p:sp>
      <p:cxnSp>
        <p:nvCxnSpPr>
          <p:cNvPr id="77" name="Connector 76"/>
          <p:cNvCxnSpPr/>
          <p:nvPr/>
        </p:nvCxnSpPr>
        <p:spPr>
          <a:xfrm>
            <a:off x="50387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50387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9" name="TextBox 78"/>
          <p:cNvSpPr txBox="1"/>
          <p:nvPr/>
        </p:nvSpPr>
        <p:spPr>
          <a:xfrm>
            <a:off x="52292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80" name="TextBox 79"/>
          <p:cNvSpPr txBox="1"/>
          <p:nvPr/>
        </p:nvSpPr>
        <p:spPr>
          <a:xfrm>
            <a:off x="52292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Pricing strategy</a:t>
            </a:r>
          </a:p>
        </p:txBody>
      </p:sp>
      <p:sp>
        <p:nvSpPr>
          <p:cNvPr id="81" name="Oval 80"/>
          <p:cNvSpPr/>
          <p:nvPr/>
        </p:nvSpPr>
        <p:spPr>
          <a:xfrm>
            <a:off x="8353425" y="1655267"/>
            <a:ext cx="285750" cy="273805"/>
          </a:xfrm>
          <a:prstGeom prst="ellipse">
            <a:avLst/>
          </a:prstGeom>
          <a:solidFill>
            <a:srgbClr val="6F3CC2"/>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3534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83" name="Rounded Rectangle 82"/>
          <p:cNvSpPr/>
          <p:nvPr/>
        </p:nvSpPr>
        <p:spPr>
          <a:xfrm>
            <a:off x="7343775" y="1992961"/>
            <a:ext cx="2305050" cy="2135683"/>
          </a:xfrm>
          <a:prstGeom prst="roundRect">
            <a:avLst>
              <a:gd name="adj" fmla="val 3719"/>
            </a:avLst>
          </a:prstGeom>
          <a:solidFill>
            <a:srgbClr val="FFFFFF"/>
          </a:solidFill>
          <a:ln w="2032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ounded Rectangle 83"/>
          <p:cNvSpPr/>
          <p:nvPr/>
        </p:nvSpPr>
        <p:spPr>
          <a:xfrm>
            <a:off x="7343775" y="1992961"/>
            <a:ext cx="2305050" cy="310313"/>
          </a:xfrm>
          <a:prstGeom prst="roundRect">
            <a:avLst>
              <a:gd name="adj" fmla="val 3719"/>
            </a:avLst>
          </a:prstGeom>
          <a:solidFill>
            <a:srgbClr val="6F3CC2"/>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Oval 84"/>
          <p:cNvSpPr/>
          <p:nvPr/>
        </p:nvSpPr>
        <p:spPr>
          <a:xfrm>
            <a:off x="74580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74580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87" name="TextBox 86"/>
          <p:cNvSpPr txBox="1"/>
          <p:nvPr/>
        </p:nvSpPr>
        <p:spPr>
          <a:xfrm>
            <a:off x="77247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Company D</a:t>
            </a:r>
          </a:p>
        </p:txBody>
      </p:sp>
      <p:sp>
        <p:nvSpPr>
          <p:cNvPr id="88" name="TextBox 87"/>
          <p:cNvSpPr txBox="1"/>
          <p:nvPr/>
        </p:nvSpPr>
        <p:spPr>
          <a:xfrm>
            <a:off x="74390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76295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Value share:  7.0%</a:t>
            </a:r>
          </a:p>
        </p:txBody>
      </p:sp>
      <p:cxnSp>
        <p:nvCxnSpPr>
          <p:cNvPr id="90" name="Connector 89"/>
          <p:cNvCxnSpPr/>
          <p:nvPr/>
        </p:nvCxnSpPr>
        <p:spPr>
          <a:xfrm>
            <a:off x="74390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74390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76295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93" name="TextBox 92"/>
          <p:cNvSpPr txBox="1"/>
          <p:nvPr/>
        </p:nvSpPr>
        <p:spPr>
          <a:xfrm>
            <a:off x="7629525" y="2805250"/>
            <a:ext cx="1924050" cy="164283"/>
          </a:xfrm>
          <a:prstGeom prst="rect">
            <a:avLst/>
          </a:prstGeom>
          <a:noFill/>
        </p:spPr>
        <p:txBody>
          <a:bodyPr wrap="square" lIns="28575" rIns="28575" tIns="9525" bIns="9525" anchor="ctr">
            <a:spAutoFit/>
          </a:bodyPr>
          <a:lstStyle/>
          <a:p>
            <a:pPr algn="l"/>
            <a:r>
              <a:rPr sz="1100" b="1">
                <a:solidFill>
                  <a:srgbClr val="6F3CC2"/>
                </a:solidFill>
                <a:latin typeface="Calibri"/>
              </a:rPr>
              <a:t>Premiumiser</a:t>
            </a:r>
          </a:p>
        </p:txBody>
      </p:sp>
      <p:cxnSp>
        <p:nvCxnSpPr>
          <p:cNvPr id="94" name="Connector 93"/>
          <p:cNvCxnSpPr/>
          <p:nvPr/>
        </p:nvCxnSpPr>
        <p:spPr>
          <a:xfrm>
            <a:off x="74390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5" name="TextBox 94"/>
          <p:cNvSpPr txBox="1"/>
          <p:nvPr/>
        </p:nvSpPr>
        <p:spPr>
          <a:xfrm>
            <a:off x="74390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6" name="TextBox 95"/>
          <p:cNvSpPr txBox="1"/>
          <p:nvPr/>
        </p:nvSpPr>
        <p:spPr>
          <a:xfrm>
            <a:off x="76295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97" name="TextBox 96"/>
          <p:cNvSpPr txBox="1"/>
          <p:nvPr/>
        </p:nvSpPr>
        <p:spPr>
          <a:xfrm>
            <a:off x="76295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Supported premium SKU growth</a:t>
            </a:r>
          </a:p>
        </p:txBody>
      </p:sp>
      <p:cxnSp>
        <p:nvCxnSpPr>
          <p:cNvPr id="98" name="Connector 97"/>
          <p:cNvCxnSpPr/>
          <p:nvPr/>
        </p:nvCxnSpPr>
        <p:spPr>
          <a:xfrm>
            <a:off x="74390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74390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0" name="TextBox 99"/>
          <p:cNvSpPr txBox="1"/>
          <p:nvPr/>
        </p:nvSpPr>
        <p:spPr>
          <a:xfrm>
            <a:off x="76295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01" name="TextBox 100"/>
          <p:cNvSpPr txBox="1"/>
          <p:nvPr/>
        </p:nvSpPr>
        <p:spPr>
          <a:xfrm>
            <a:off x="76295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Portfolio/brand investment</a:t>
            </a:r>
          </a:p>
        </p:txBody>
      </p:sp>
      <p:sp>
        <p:nvSpPr>
          <p:cNvPr id="102" name="Oval 101"/>
          <p:cNvSpPr/>
          <p:nvPr/>
        </p:nvSpPr>
        <p:spPr>
          <a:xfrm>
            <a:off x="10753725" y="1655267"/>
            <a:ext cx="285750" cy="273805"/>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107537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104" name="Rounded Rectangle 103"/>
          <p:cNvSpPr/>
          <p:nvPr/>
        </p:nvSpPr>
        <p:spPr>
          <a:xfrm>
            <a:off x="9744075" y="1992961"/>
            <a:ext cx="2305050" cy="2135683"/>
          </a:xfrm>
          <a:prstGeom prst="roundRect">
            <a:avLst>
              <a:gd name="adj" fmla="val 3719"/>
            </a:avLst>
          </a:prstGeom>
          <a:solidFill>
            <a:srgbClr val="FFFFFF"/>
          </a:solidFill>
          <a:ln w="2032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ounded Rectangle 104"/>
          <p:cNvSpPr/>
          <p:nvPr/>
        </p:nvSpPr>
        <p:spPr>
          <a:xfrm>
            <a:off x="9744075" y="1992961"/>
            <a:ext cx="2305050" cy="310313"/>
          </a:xfrm>
          <a:prstGeom prst="roundRect">
            <a:avLst>
              <a:gd name="adj" fmla="val 3719"/>
            </a:avLst>
          </a:prstGeom>
          <a:solidFill>
            <a:srgbClr val="A86F00"/>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98583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98583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108" name="TextBox 107"/>
          <p:cNvSpPr txBox="1"/>
          <p:nvPr/>
        </p:nvSpPr>
        <p:spPr>
          <a:xfrm>
            <a:off x="101250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Company E</a:t>
            </a:r>
          </a:p>
        </p:txBody>
      </p:sp>
      <p:sp>
        <p:nvSpPr>
          <p:cNvPr id="109" name="TextBox 108"/>
          <p:cNvSpPr txBox="1"/>
          <p:nvPr/>
        </p:nvSpPr>
        <p:spPr>
          <a:xfrm>
            <a:off x="98393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0" name="TextBox 109"/>
          <p:cNvSpPr txBox="1"/>
          <p:nvPr/>
        </p:nvSpPr>
        <p:spPr>
          <a:xfrm>
            <a:off x="100298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Value share:  6.9%</a:t>
            </a:r>
          </a:p>
        </p:txBody>
      </p:sp>
      <p:cxnSp>
        <p:nvCxnSpPr>
          <p:cNvPr id="111" name="Connector 110"/>
          <p:cNvCxnSpPr/>
          <p:nvPr/>
        </p:nvCxnSpPr>
        <p:spPr>
          <a:xfrm>
            <a:off x="98393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2" name="TextBox 111"/>
          <p:cNvSpPr txBox="1"/>
          <p:nvPr/>
        </p:nvSpPr>
        <p:spPr>
          <a:xfrm>
            <a:off x="98393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3" name="TextBox 112"/>
          <p:cNvSpPr txBox="1"/>
          <p:nvPr/>
        </p:nvSpPr>
        <p:spPr>
          <a:xfrm>
            <a:off x="100298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114" name="TextBox 113"/>
          <p:cNvSpPr txBox="1"/>
          <p:nvPr/>
        </p:nvSpPr>
        <p:spPr>
          <a:xfrm>
            <a:off x="10029825" y="2805250"/>
            <a:ext cx="1924050" cy="164283"/>
          </a:xfrm>
          <a:prstGeom prst="rect">
            <a:avLst/>
          </a:prstGeom>
          <a:noFill/>
        </p:spPr>
        <p:txBody>
          <a:bodyPr wrap="square" lIns="28575" rIns="28575" tIns="9525" bIns="9525" anchor="ctr">
            <a:spAutoFit/>
          </a:bodyPr>
          <a:lstStyle/>
          <a:p>
            <a:pPr algn="l"/>
            <a:r>
              <a:rPr sz="1100" b="1">
                <a:solidFill>
                  <a:srgbClr val="A86F00"/>
                </a:solidFill>
                <a:latin typeface="Calibri"/>
              </a:rPr>
              <a:t>Disruptor</a:t>
            </a:r>
          </a:p>
        </p:txBody>
      </p:sp>
      <p:cxnSp>
        <p:nvCxnSpPr>
          <p:cNvPr id="115" name="Connector 114"/>
          <p:cNvCxnSpPr/>
          <p:nvPr/>
        </p:nvCxnSpPr>
        <p:spPr>
          <a:xfrm>
            <a:off x="98393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6" name="TextBox 115"/>
          <p:cNvSpPr txBox="1"/>
          <p:nvPr/>
        </p:nvSpPr>
        <p:spPr>
          <a:xfrm>
            <a:off x="98393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100298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118" name="TextBox 117"/>
          <p:cNvSpPr txBox="1"/>
          <p:nvPr/>
        </p:nvSpPr>
        <p:spPr>
          <a:xfrm>
            <a:off x="100298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Strengthened end-user and specifier pull</a:t>
            </a:r>
          </a:p>
        </p:txBody>
      </p:sp>
      <p:cxnSp>
        <p:nvCxnSpPr>
          <p:cNvPr id="119" name="Connector 118"/>
          <p:cNvCxnSpPr/>
          <p:nvPr/>
        </p:nvCxnSpPr>
        <p:spPr>
          <a:xfrm>
            <a:off x="98393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98393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1" name="TextBox 120"/>
          <p:cNvSpPr txBox="1"/>
          <p:nvPr/>
        </p:nvSpPr>
        <p:spPr>
          <a:xfrm>
            <a:off x="100298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22" name="TextBox 121"/>
          <p:cNvSpPr txBox="1"/>
          <p:nvPr/>
        </p:nvSpPr>
        <p:spPr>
          <a:xfrm>
            <a:off x="100298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Partnership / acquisition</a:t>
            </a:r>
          </a:p>
        </p:txBody>
      </p:sp>
      <p:sp>
        <p:nvSpPr>
          <p:cNvPr id="123" name="Rounded Rectangle 122"/>
          <p:cNvSpPr/>
          <p:nvPr/>
        </p:nvSpPr>
        <p:spPr>
          <a:xfrm>
            <a:off x="142875" y="4238166"/>
            <a:ext cx="7886700" cy="2391234"/>
          </a:xfrm>
          <a:prstGeom prst="roundRect">
            <a:avLst>
              <a:gd name="adj" fmla="val 1086"/>
            </a:avLst>
          </a:prstGeom>
          <a:solidFill>
            <a:srgbClr val="F7FAFC"/>
          </a:solidFill>
          <a:ln w="12700">
            <a:solidFill>
              <a:srgbClr val="DCE6E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142875" y="4311180"/>
            <a:ext cx="7886700" cy="182537"/>
          </a:xfrm>
          <a:prstGeom prst="rect">
            <a:avLst/>
          </a:prstGeom>
          <a:noFill/>
        </p:spPr>
        <p:txBody>
          <a:bodyPr wrap="square" lIns="28575" rIns="28575" tIns="9525" bIns="9525" anchor="ctr">
            <a:spAutoFit/>
          </a:bodyPr>
          <a:lstStyle/>
          <a:p>
            <a:pPr algn="ctr"/>
            <a:r>
              <a:rPr sz="1100" b="1">
                <a:solidFill>
                  <a:srgbClr val="0B2E4A"/>
                </a:solidFill>
                <a:latin typeface="Calibri"/>
              </a:rPr>
              <a:t>HOW TO DECIDE WHO SHAPED GROWTH</a:t>
            </a:r>
          </a:p>
        </p:txBody>
      </p:sp>
      <p:sp>
        <p:nvSpPr>
          <p:cNvPr id="125" name="Oval 124"/>
          <p:cNvSpPr/>
          <p:nvPr/>
        </p:nvSpPr>
        <p:spPr>
          <a:xfrm>
            <a:off x="815340" y="4539352"/>
            <a:ext cx="400050" cy="383328"/>
          </a:xfrm>
          <a:prstGeom prst="ellipse">
            <a:avLst/>
          </a:prstGeom>
          <a:solidFill>
            <a:srgbClr val="FFFFFF"/>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81534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27" name="TextBox 126"/>
          <p:cNvSpPr txBox="1"/>
          <p:nvPr/>
        </p:nvSpPr>
        <p:spPr>
          <a:xfrm>
            <a:off x="27622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0E72AE"/>
                </a:solidFill>
                <a:latin typeface="Calibri"/>
              </a:rPr>
              <a:t>1. SHARE GAIN</a:t>
            </a:r>
          </a:p>
        </p:txBody>
      </p:sp>
      <p:sp>
        <p:nvSpPr>
          <p:cNvPr id="128" name="TextBox 127"/>
          <p:cNvSpPr txBox="1"/>
          <p:nvPr/>
        </p:nvSpPr>
        <p:spPr>
          <a:xfrm>
            <a:off x="27622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Company gained value or volume share</a:t>
            </a:r>
          </a:p>
        </p:txBody>
      </p:sp>
      <p:sp>
        <p:nvSpPr>
          <p:cNvPr id="129" name="Rounded Rectangle 128"/>
          <p:cNvSpPr/>
          <p:nvPr/>
        </p:nvSpPr>
        <p:spPr>
          <a:xfrm>
            <a:off x="520065" y="6027028"/>
            <a:ext cx="990600" cy="237298"/>
          </a:xfrm>
          <a:prstGeom prst="roundRect">
            <a:avLst>
              <a:gd name="adj" fmla="val 11538"/>
            </a:avLst>
          </a:prstGeom>
          <a:solidFill>
            <a:srgbClr val="FFFFFF"/>
          </a:solidFill>
          <a:ln w="1524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520065" y="6036155"/>
            <a:ext cx="990600" cy="219044"/>
          </a:xfrm>
          <a:prstGeom prst="rect">
            <a:avLst/>
          </a:prstGeom>
          <a:noFill/>
        </p:spPr>
        <p:txBody>
          <a:bodyPr wrap="square" lIns="28575" rIns="28575" tIns="9525" bIns="9525" anchor="ctr">
            <a:spAutoFit/>
          </a:bodyPr>
          <a:lstStyle/>
          <a:p>
            <a:pPr algn="ctr"/>
            <a:r>
              <a:rPr sz="1100" b="1">
                <a:solidFill>
                  <a:srgbClr val="0E72AE"/>
                </a:solidFill>
                <a:latin typeface="Calibri"/>
              </a:rPr>
              <a:t>0–5 POINTS</a:t>
            </a:r>
          </a:p>
        </p:txBody>
      </p:sp>
      <p:sp>
        <p:nvSpPr>
          <p:cNvPr id="131" name="TextBox 130"/>
          <p:cNvSpPr txBox="1"/>
          <p:nvPr/>
        </p:nvSpPr>
        <p:spPr>
          <a:xfrm>
            <a:off x="175450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2" name="Oval 131"/>
          <p:cNvSpPr/>
          <p:nvPr/>
        </p:nvSpPr>
        <p:spPr>
          <a:xfrm>
            <a:off x="2350770" y="4539352"/>
            <a:ext cx="400050" cy="383328"/>
          </a:xfrm>
          <a:prstGeom prst="ellipse">
            <a:avLst/>
          </a:prstGeom>
          <a:solidFill>
            <a:srgbClr val="FFFFFF"/>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235077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34" name="TextBox 133"/>
          <p:cNvSpPr txBox="1"/>
          <p:nvPr/>
        </p:nvSpPr>
        <p:spPr>
          <a:xfrm>
            <a:off x="181165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35313"/>
                </a:solidFill>
                <a:latin typeface="Calibri"/>
              </a:rPr>
              <a:t>2. DISTRIBUTION EXPANSION</a:t>
            </a:r>
          </a:p>
        </p:txBody>
      </p:sp>
      <p:sp>
        <p:nvSpPr>
          <p:cNvPr id="135" name="TextBox 134"/>
          <p:cNvSpPr txBox="1"/>
          <p:nvPr/>
        </p:nvSpPr>
        <p:spPr>
          <a:xfrm>
            <a:off x="181165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Expanded channel, retail or e-commerce reach</a:t>
            </a:r>
          </a:p>
        </p:txBody>
      </p:sp>
      <p:sp>
        <p:nvSpPr>
          <p:cNvPr id="136" name="Rounded Rectangle 135"/>
          <p:cNvSpPr/>
          <p:nvPr/>
        </p:nvSpPr>
        <p:spPr>
          <a:xfrm>
            <a:off x="2055495" y="6027028"/>
            <a:ext cx="990600" cy="237298"/>
          </a:xfrm>
          <a:prstGeom prst="roundRect">
            <a:avLst>
              <a:gd name="adj" fmla="val 11538"/>
            </a:avLst>
          </a:prstGeom>
          <a:solidFill>
            <a:srgbClr val="FFFFFF"/>
          </a:solidFill>
          <a:ln w="1524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2055495" y="6036155"/>
            <a:ext cx="990600" cy="219044"/>
          </a:xfrm>
          <a:prstGeom prst="rect">
            <a:avLst/>
          </a:prstGeom>
          <a:noFill/>
        </p:spPr>
        <p:txBody>
          <a:bodyPr wrap="square" lIns="28575" rIns="28575" tIns="9525" bIns="9525" anchor="ctr">
            <a:spAutoFit/>
          </a:bodyPr>
          <a:lstStyle/>
          <a:p>
            <a:pPr algn="ctr"/>
            <a:r>
              <a:rPr sz="1100" b="1">
                <a:solidFill>
                  <a:srgbClr val="A35313"/>
                </a:solidFill>
                <a:latin typeface="Calibri"/>
              </a:rPr>
              <a:t>0–5 POINTS</a:t>
            </a:r>
          </a:p>
        </p:txBody>
      </p:sp>
      <p:sp>
        <p:nvSpPr>
          <p:cNvPr id="138" name="TextBox 137"/>
          <p:cNvSpPr txBox="1"/>
          <p:nvPr/>
        </p:nvSpPr>
        <p:spPr>
          <a:xfrm>
            <a:off x="328993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9" name="Oval 138"/>
          <p:cNvSpPr/>
          <p:nvPr/>
        </p:nvSpPr>
        <p:spPr>
          <a:xfrm>
            <a:off x="3886200" y="4539352"/>
            <a:ext cx="400050" cy="383328"/>
          </a:xfrm>
          <a:prstGeom prst="ellipse">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388620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1" name="TextBox 140"/>
          <p:cNvSpPr txBox="1"/>
          <p:nvPr/>
        </p:nvSpPr>
        <p:spPr>
          <a:xfrm>
            <a:off x="334708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9B1E0"/>
                </a:solidFill>
                <a:latin typeface="Calibri"/>
              </a:rPr>
              <a:t>3. INNOVATION / LAUNCHES</a:t>
            </a:r>
          </a:p>
        </p:txBody>
      </p:sp>
      <p:sp>
        <p:nvSpPr>
          <p:cNvPr id="142" name="TextBox 141"/>
          <p:cNvSpPr txBox="1"/>
          <p:nvPr/>
        </p:nvSpPr>
        <p:spPr>
          <a:xfrm>
            <a:off x="334708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New SKUs, pack sizes or product improvements</a:t>
            </a:r>
          </a:p>
        </p:txBody>
      </p:sp>
      <p:sp>
        <p:nvSpPr>
          <p:cNvPr id="143" name="Rounded Rectangle 142"/>
          <p:cNvSpPr/>
          <p:nvPr/>
        </p:nvSpPr>
        <p:spPr>
          <a:xfrm>
            <a:off x="3590925" y="6027028"/>
            <a:ext cx="990600" cy="237298"/>
          </a:xfrm>
          <a:prstGeom prst="roundRect">
            <a:avLst>
              <a:gd name="adj" fmla="val 11538"/>
            </a:avLst>
          </a:prstGeom>
          <a:solidFill>
            <a:srgbClr val="FFFFFF"/>
          </a:solidFill>
          <a:ln w="1524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3590925" y="6036155"/>
            <a:ext cx="990600" cy="219044"/>
          </a:xfrm>
          <a:prstGeom prst="rect">
            <a:avLst/>
          </a:prstGeom>
          <a:noFill/>
        </p:spPr>
        <p:txBody>
          <a:bodyPr wrap="square" lIns="28575" rIns="28575" tIns="9525" bIns="9525" anchor="ctr">
            <a:spAutoFit/>
          </a:bodyPr>
          <a:lstStyle/>
          <a:p>
            <a:pPr algn="ctr"/>
            <a:r>
              <a:rPr sz="1100" b="1">
                <a:solidFill>
                  <a:srgbClr val="69B1E0"/>
                </a:solidFill>
                <a:latin typeface="Calibri"/>
              </a:rPr>
              <a:t>0–5 POINTS</a:t>
            </a:r>
          </a:p>
        </p:txBody>
      </p:sp>
      <p:sp>
        <p:nvSpPr>
          <p:cNvPr id="145" name="TextBox 144"/>
          <p:cNvSpPr txBox="1"/>
          <p:nvPr/>
        </p:nvSpPr>
        <p:spPr>
          <a:xfrm>
            <a:off x="482536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46" name="Oval 145"/>
          <p:cNvSpPr/>
          <p:nvPr/>
        </p:nvSpPr>
        <p:spPr>
          <a:xfrm>
            <a:off x="5421630" y="4539352"/>
            <a:ext cx="400050" cy="383328"/>
          </a:xfrm>
          <a:prstGeom prst="ellipse">
            <a:avLst/>
          </a:prstGeom>
          <a:solidFill>
            <a:srgbClr val="FFFFFF"/>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542163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8" name="TextBox 147"/>
          <p:cNvSpPr txBox="1"/>
          <p:nvPr/>
        </p:nvSpPr>
        <p:spPr>
          <a:xfrm>
            <a:off x="488251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F3CC2"/>
                </a:solidFill>
                <a:latin typeface="Calibri"/>
              </a:rPr>
              <a:t>4. BUYER INFLUENCE</a:t>
            </a:r>
          </a:p>
        </p:txBody>
      </p:sp>
      <p:sp>
        <p:nvSpPr>
          <p:cNvPr id="149" name="TextBox 148"/>
          <p:cNvSpPr txBox="1"/>
          <p:nvPr/>
        </p:nvSpPr>
        <p:spPr>
          <a:xfrm>
            <a:off x="488251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Stronger specifier, channel or end-user pull</a:t>
            </a:r>
          </a:p>
        </p:txBody>
      </p:sp>
      <p:sp>
        <p:nvSpPr>
          <p:cNvPr id="150" name="Rounded Rectangle 149"/>
          <p:cNvSpPr/>
          <p:nvPr/>
        </p:nvSpPr>
        <p:spPr>
          <a:xfrm>
            <a:off x="5126355" y="6027028"/>
            <a:ext cx="990600" cy="237298"/>
          </a:xfrm>
          <a:prstGeom prst="roundRect">
            <a:avLst>
              <a:gd name="adj" fmla="val 11538"/>
            </a:avLst>
          </a:prstGeom>
          <a:solidFill>
            <a:srgbClr val="FFFFFF"/>
          </a:solidFill>
          <a:ln w="1524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126355" y="6036155"/>
            <a:ext cx="990600" cy="219044"/>
          </a:xfrm>
          <a:prstGeom prst="rect">
            <a:avLst/>
          </a:prstGeom>
          <a:noFill/>
        </p:spPr>
        <p:txBody>
          <a:bodyPr wrap="square" lIns="28575" rIns="28575" tIns="9525" bIns="9525" anchor="ctr">
            <a:spAutoFit/>
          </a:bodyPr>
          <a:lstStyle/>
          <a:p>
            <a:pPr algn="ctr"/>
            <a:r>
              <a:rPr sz="1100" b="1">
                <a:solidFill>
                  <a:srgbClr val="6F3CC2"/>
                </a:solidFill>
                <a:latin typeface="Calibri"/>
              </a:rPr>
              <a:t>0–5 POINTS</a:t>
            </a:r>
          </a:p>
        </p:txBody>
      </p:sp>
      <p:sp>
        <p:nvSpPr>
          <p:cNvPr id="152" name="TextBox 151"/>
          <p:cNvSpPr txBox="1"/>
          <p:nvPr/>
        </p:nvSpPr>
        <p:spPr>
          <a:xfrm>
            <a:off x="636079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53" name="Oval 152"/>
          <p:cNvSpPr/>
          <p:nvPr/>
        </p:nvSpPr>
        <p:spPr>
          <a:xfrm>
            <a:off x="6957060" y="4539352"/>
            <a:ext cx="400050" cy="383328"/>
          </a:xfrm>
          <a:prstGeom prst="ellipse">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695706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55" name="TextBox 154"/>
          <p:cNvSpPr txBox="1"/>
          <p:nvPr/>
        </p:nvSpPr>
        <p:spPr>
          <a:xfrm>
            <a:off x="641794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86F00"/>
                </a:solidFill>
                <a:latin typeface="Calibri"/>
              </a:rPr>
              <a:t>5. BRAND / PRICING POWER</a:t>
            </a:r>
          </a:p>
        </p:txBody>
      </p:sp>
      <p:sp>
        <p:nvSpPr>
          <p:cNvPr id="156" name="TextBox 155"/>
          <p:cNvSpPr txBox="1"/>
          <p:nvPr/>
        </p:nvSpPr>
        <p:spPr>
          <a:xfrm>
            <a:off x="641794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Premiumisation, positioning or pricing execution</a:t>
            </a:r>
          </a:p>
        </p:txBody>
      </p:sp>
      <p:sp>
        <p:nvSpPr>
          <p:cNvPr id="157" name="Rounded Rectangle 156"/>
          <p:cNvSpPr/>
          <p:nvPr/>
        </p:nvSpPr>
        <p:spPr>
          <a:xfrm>
            <a:off x="6661785" y="6027028"/>
            <a:ext cx="990600" cy="237298"/>
          </a:xfrm>
          <a:prstGeom prst="roundRect">
            <a:avLst>
              <a:gd name="adj" fmla="val 11538"/>
            </a:avLst>
          </a:prstGeom>
          <a:solidFill>
            <a:srgbClr val="FFFFFF"/>
          </a:solidFill>
          <a:ln w="1524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6661785" y="6036155"/>
            <a:ext cx="990600" cy="219044"/>
          </a:xfrm>
          <a:prstGeom prst="rect">
            <a:avLst/>
          </a:prstGeom>
          <a:noFill/>
        </p:spPr>
        <p:txBody>
          <a:bodyPr wrap="square" lIns="28575" rIns="28575" tIns="9525" bIns="9525" anchor="ctr">
            <a:spAutoFit/>
          </a:bodyPr>
          <a:lstStyle/>
          <a:p>
            <a:pPr algn="ctr"/>
            <a:r>
              <a:rPr sz="1100" b="1">
                <a:solidFill>
                  <a:srgbClr val="A86F00"/>
                </a:solidFill>
                <a:latin typeface="Calibri"/>
              </a:rPr>
              <a:t>0–5 POINTS</a:t>
            </a:r>
          </a:p>
        </p:txBody>
      </p:sp>
      <p:sp>
        <p:nvSpPr>
          <p:cNvPr id="159" name="Rounded Rectangle 158"/>
          <p:cNvSpPr/>
          <p:nvPr/>
        </p:nvSpPr>
        <p:spPr>
          <a:xfrm>
            <a:off x="8191500" y="4238166"/>
            <a:ext cx="3857625" cy="2391234"/>
          </a:xfrm>
          <a:prstGeom prst="roundRect">
            <a:avLst>
              <a:gd name="adj" fmla="val 2222"/>
            </a:avLst>
          </a:prstGeom>
          <a:solidFill>
            <a:srgbClr val="F4FAF9"/>
          </a:solidFill>
          <a:ln w="12700">
            <a:solidFill>
              <a:srgbClr val="CFE3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8191500" y="4311180"/>
            <a:ext cx="3857625" cy="182537"/>
          </a:xfrm>
          <a:prstGeom prst="rect">
            <a:avLst/>
          </a:prstGeom>
          <a:noFill/>
        </p:spPr>
        <p:txBody>
          <a:bodyPr wrap="square" lIns="28575" rIns="28575" tIns="9525" bIns="9525" anchor="ctr">
            <a:spAutoFit/>
          </a:bodyPr>
          <a:lstStyle/>
          <a:p>
            <a:pPr algn="ctr"/>
            <a:r>
              <a:rPr sz="1100" b="1">
                <a:solidFill>
                  <a:srgbClr val="1F6F63"/>
                </a:solidFill>
                <a:latin typeface="Calibri"/>
              </a:rPr>
              <a:t>BEST WAY TO USE THIS SLIDE</a:t>
            </a:r>
          </a:p>
        </p:txBody>
      </p:sp>
      <p:cxnSp>
        <p:nvCxnSpPr>
          <p:cNvPr id="161" name="Connector 160"/>
          <p:cNvCxnSpPr/>
          <p:nvPr/>
        </p:nvCxnSpPr>
        <p:spPr>
          <a:xfrm>
            <a:off x="8343900" y="4548478"/>
            <a:ext cx="3552825" cy="0"/>
          </a:xfrm>
          <a:prstGeom prst="line">
            <a:avLst/>
          </a:prstGeom>
          <a:ln w="12700">
            <a:solidFill>
              <a:srgbClr val="CFE3E0"/>
            </a:solidFill>
          </a:ln>
          <a:effectLst/>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8372475" y="4721889"/>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TextBox 162"/>
          <p:cNvSpPr txBox="1"/>
          <p:nvPr/>
        </p:nvSpPr>
        <p:spPr>
          <a:xfrm>
            <a:off x="8372475" y="4767523"/>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4" name="TextBox 163"/>
          <p:cNvSpPr txBox="1"/>
          <p:nvPr/>
        </p:nvSpPr>
        <p:spPr>
          <a:xfrm>
            <a:off x="8743950" y="4694508"/>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Rank companies by impact on category growth</a:t>
            </a:r>
          </a:p>
        </p:txBody>
      </p:sp>
      <p:sp>
        <p:nvSpPr>
          <p:cNvPr id="165" name="Oval 164"/>
          <p:cNvSpPr/>
          <p:nvPr/>
        </p:nvSpPr>
        <p:spPr>
          <a:xfrm>
            <a:off x="8372475" y="5360768"/>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372475" y="540640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7" name="TextBox 166"/>
          <p:cNvSpPr txBox="1"/>
          <p:nvPr/>
        </p:nvSpPr>
        <p:spPr>
          <a:xfrm>
            <a:off x="8743950" y="533338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Mention the one move that explains their impact</a:t>
            </a:r>
          </a:p>
        </p:txBody>
      </p:sp>
      <p:sp>
        <p:nvSpPr>
          <p:cNvPr id="168" name="Oval 167"/>
          <p:cNvSpPr/>
          <p:nvPr/>
        </p:nvSpPr>
        <p:spPr>
          <a:xfrm>
            <a:off x="8372475" y="5999647"/>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372475" y="604528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70" name="TextBox 169"/>
          <p:cNvSpPr txBox="1"/>
          <p:nvPr/>
        </p:nvSpPr>
        <p:spPr>
          <a:xfrm>
            <a:off x="8743950" y="597226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Do not rely on market share alone</a:t>
            </a:r>
          </a:p>
        </p:txBody>
      </p:sp>
      <p:sp>
        <p:nvSpPr>
          <p:cNvPr id="171" name="TextBox 17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5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Company Profiles &amp; Strategic Benchmarking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A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A Penetration &amp; Win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A SWOT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A Key Financials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A Strategy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A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Company A: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30,687</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15,957</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SOM (US$ MN)</a:t>
            </a:r>
          </a:p>
          <a:p>
            <a:pPr algn="ctr">
              <a:lnSpc>
                <a:spcPct val="95000"/>
              </a:lnSpc>
            </a:pPr>
            <a:r>
              <a:rPr sz="1500" b="1">
                <a:solidFill>
                  <a:srgbClr val="0E72AE"/>
                </a:solidFill>
                <a:latin typeface="Calibri"/>
              </a:rPr>
              <a:t>5,035</a:t>
            </a:r>
          </a:p>
          <a:p>
            <a:pPr algn="ctr">
              <a:lnSpc>
                <a:spcPct val="95000"/>
              </a:lnSpc>
            </a:pPr>
            <a:r>
              <a:rPr sz="1100" b="0">
                <a:solidFill>
                  <a:srgbClr val="6C7A89"/>
                </a:solidFill>
                <a:latin typeface="Calibri"/>
              </a:rPr>
              <a:t>32% of SAM</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1.00</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12%</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Market Position: Company A captures ~32% of a US$ Mn SAM, with its strongest end-market in 'Pharmacies and Drugstores'.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Geographic Balance: 'North America' is the largest SOM region; 'Rest of the World' shows the highest SAM penetration (~74%).</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Growth Trajectory: a 1.00 book-to-bill and ~12% EBITDA margin point to a path to capture more of the addressable market.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Competitive Edge: ~18% win rate with a +6% ASP premium and 2.9x pipeline coverage.</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A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Company A: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359287"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645037"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Company A</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TAM  ·  100%  ·  30,687 US$ Mn</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SAM  ·  52% of TAM  ·  15,957 US$ Mn</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SOM  ·  32% of SAM  ·  5,035 US$ Mn</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597914"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01828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90601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Regional Opportunity: 'Rest of the World' shows the highest SAM penetration; lower-penetration regions are the growth headroom.</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Competitive Edge: ~18% win rate with a +6% ASP premium signals value recognition; 2.9x pipeline coverage underpins growth.</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Sales Efficiency: a ~95-day sales cycle and ~30% conversion support faster share capture.</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A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Company A: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Company A: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~18% win rate with a +6% ASP premium clear value recognition.</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'North America'.</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1.00 book-to-bill and ~12% EBITDA signal healthy momentum.</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~16.4% share leaves a scale gap versus the market leader.</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Intense competition ~2.9x pipeline needed to convert.</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'Styling Serums and Oils'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A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A's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Company A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A Financial Performance</a:t>
            </a:r>
          </a:p>
        </p:txBody>
      </p:sp>
      <p:graphicFrame>
        <p:nvGraphicFramePr>
          <p:cNvPr id="13" name="Table 12"/>
          <p:cNvGraphicFramePr>
            <a:graphicFrameLocks noGrp="1"/>
          </p:cNvGraphicFramePr>
          <p:nvPr/>
        </p:nvGraphicFramePr>
        <p:xfrm>
          <a:off x="152400" y="1611256"/>
          <a:ext cx="5886451" cy="1449913"/>
        </p:xfrm>
        <a:graphic>
          <a:graphicData uri="http://schemas.openxmlformats.org/drawingml/2006/table">
            <a:tbl>
              <a:tblPr>
                <a:tableStyleId>{5C22544A-7EE6-4342-B048-85BDC9FD1C3A}</a:tableStyleId>
              </a:tblPr>
              <a:tblGrid>
                <a:gridCol w="2383566"/>
                <a:gridCol w="700577"/>
                <a:gridCol w="700577"/>
                <a:gridCol w="700577"/>
                <a:gridCol w="700577"/>
                <a:gridCol w="700577"/>
              </a:tblGrid>
              <a:tr h="215265">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308662">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15,406</a:t>
                      </a:r>
                      <a:endParaRPr sz="1100"/>
                    </a:p>
                  </a:txBody>
                  <a:tcPr marL="47625" marR="38100" marT="19050" marB="19050" anchor="ctr">
                    <a:solidFill>
                      <a:srgbClr val="FFFFFF"/>
                    </a:solidFill>
                  </a:tcPr>
                </a:tc>
              </a:tr>
              <a:tr h="308662">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5,238</a:t>
                      </a:r>
                      <a:endParaRPr sz="1100"/>
                    </a:p>
                  </a:txBody>
                  <a:tcPr marL="47625" marR="38100" marT="19050" marB="19050" anchor="ctr">
                    <a:solidFill>
                      <a:srgbClr val="F5F8FA"/>
                    </a:solidFill>
                  </a:tcPr>
                </a:tc>
              </a:tr>
              <a:tr h="308662">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FFFFF"/>
                    </a:solidFill>
                  </a:tcPr>
                </a:tc>
              </a:tr>
              <a:tr h="308662">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A Key Ratios</a:t>
            </a:r>
          </a:p>
        </p:txBody>
      </p:sp>
      <p:graphicFrame>
        <p:nvGraphicFramePr>
          <p:cNvPr id="17" name="Table 16"/>
          <p:cNvGraphicFramePr>
            <a:graphicFrameLocks noGrp="1"/>
          </p:cNvGraphicFramePr>
          <p:nvPr/>
        </p:nvGraphicFramePr>
        <p:xfrm>
          <a:off x="152400" y="3655670"/>
          <a:ext cx="5886450" cy="2727670"/>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15265">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502481">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r>
              <a:tr h="502481">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r>
              <a:tr h="502481">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r>
              <a:tr h="502481">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r>
              <a:tr h="502481">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A Pricing Analysis (US$/Units)</a:t>
            </a:r>
          </a:p>
        </p:txBody>
      </p:sp>
      <p:graphicFrame>
        <p:nvGraphicFramePr>
          <p:cNvPr id="21" name="Table 20"/>
          <p:cNvGraphicFramePr>
            <a:graphicFrameLocks noGrp="1"/>
          </p:cNvGraphicFramePr>
          <p:nvPr/>
        </p:nvGraphicFramePr>
        <p:xfrm>
          <a:off x="6210300" y="1611256"/>
          <a:ext cx="5829300" cy="4772085"/>
        </p:xfrm>
        <a:graphic>
          <a:graphicData uri="http://schemas.openxmlformats.org/drawingml/2006/table">
            <a:tbl>
              <a:tblPr>
                <a:tableStyleId>{5C22544A-7EE6-4342-B048-85BDC9FD1C3A}</a:tableStyleId>
              </a:tblPr>
              <a:tblGrid>
                <a:gridCol w="4030776"/>
                <a:gridCol w="899262"/>
                <a:gridCol w="899262"/>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1139205">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r>
              <a:tr h="1139205">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r>
              <a:tr h="1139205">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r>
              <a:tr h="1139205">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A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A's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Company A: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16.4%</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18%</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+6%</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1.00</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12%</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and extend leadership in 'Pharmacies and Drugstores' Company A's strongest end-market while scaling the next-best applications.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Convert its ~18% win rate and +6% ASP premium into share gains through value-based selling.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Raise SAM penetration beyond 'Rest of the World' (~74%) into lower-penetration regions.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Sustain a 1.00 book-to-bill with disciplined capacity and channel investment.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Protect margin through corridor-based pricing and cost discipline as input prices move.</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Premiumise the portfolio around 'Styling Serums and Oils' and adjacent high-value lines to lift blended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Deepen presence in 'North America' (largest SOM region) and build out under-served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 in R&amp;D, certification and selective M&amp;A to move up the price ladder and widen the moat.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Diversify the customer base and secure supply to de-risk concentration and input-cost shocks.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Sharpen go-to-market a ~95-day sales cycle and ~30% conversion speed share capture.</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B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Company B: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30,687</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16,878</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SOM (US$ MN)</a:t>
            </a:r>
          </a:p>
          <a:p>
            <a:pPr algn="ctr">
              <a:lnSpc>
                <a:spcPct val="95000"/>
              </a:lnSpc>
            </a:pPr>
            <a:r>
              <a:rPr sz="1500" b="1">
                <a:solidFill>
                  <a:srgbClr val="0E72AE"/>
                </a:solidFill>
                <a:latin typeface="Calibri"/>
              </a:rPr>
              <a:t>4,408</a:t>
            </a:r>
          </a:p>
          <a:p>
            <a:pPr algn="ctr">
              <a:lnSpc>
                <a:spcPct val="95000"/>
              </a:lnSpc>
            </a:pPr>
            <a:r>
              <a:rPr sz="1100" b="0">
                <a:solidFill>
                  <a:srgbClr val="6C7A89"/>
                </a:solidFill>
                <a:latin typeface="Calibri"/>
              </a:rPr>
              <a:t>26% of SAM</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1.04</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14%</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Market Position: Company B captures ~26% of a US$ Mn SAM, with its strongest end-market in 'Pharmacies and Drugstores'.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Geographic Balance: 'Rest of the World' is the largest SOM region; 'Rest of the World' shows the highest SAM penetration (~92%).</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Growth Trajectory: a 1.04 book-to-bill and ~14% EBITDA margin point to a path to capture more of the addressable market.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Competitive Edge: ~21% win rate with a +5% ASP premium and 2.7x pipeline coverage.</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B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Company B: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629688"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915438"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Company B</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TAM  ·  100%  ·  30,687 US$ Mn</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SAM  ·  55% of TAM  ·  16,878 US$ Mn</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SOM  ·  26% of SAM  ·  4,408 US$ Mn</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686687"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10705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728466"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Regional Opportunity: 'Rest of the World' shows the highest SAM penetration; lower-penetration regions are the growth headroom.</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Competitive Edge: ~21% win rate with a +5% ASP premium signals value recognition; 2.7x pipeline coverage underpins growth.</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Sales Efficiency: a ~90-day sales cycle and ~34% conversion support faster share capture.</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B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Company B: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Company B: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~21% win rate with a +5% ASP premium clear value recognition.</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'Rest of the World'.</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1.04 book-to-bill and ~14% EBITDA signal healthy momentum.</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~14.4% share leaves a scale gap versus the market leader.</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Intense competition ~2.7x pipeline needed to convert.</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'Styling Serums and Oils'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B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B's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Company B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B Financial Performance</a:t>
            </a:r>
          </a:p>
        </p:txBody>
      </p:sp>
      <p:graphicFrame>
        <p:nvGraphicFramePr>
          <p:cNvPr id="13" name="Table 12"/>
          <p:cNvGraphicFramePr>
            <a:graphicFrameLocks noGrp="1"/>
          </p:cNvGraphicFramePr>
          <p:nvPr/>
        </p:nvGraphicFramePr>
        <p:xfrm>
          <a:off x="152400" y="1611256"/>
          <a:ext cx="5886451" cy="1449913"/>
        </p:xfrm>
        <a:graphic>
          <a:graphicData uri="http://schemas.openxmlformats.org/drawingml/2006/table">
            <a:tbl>
              <a:tblPr>
                <a:tableStyleId>{5C22544A-7EE6-4342-B048-85BDC9FD1C3A}</a:tableStyleId>
              </a:tblPr>
              <a:tblGrid>
                <a:gridCol w="2383566"/>
                <a:gridCol w="700577"/>
                <a:gridCol w="700577"/>
                <a:gridCol w="700577"/>
                <a:gridCol w="700577"/>
                <a:gridCol w="700577"/>
              </a:tblGrid>
              <a:tr h="215265">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308662">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15,511</a:t>
                      </a:r>
                      <a:endParaRPr sz="1100"/>
                    </a:p>
                  </a:txBody>
                  <a:tcPr marL="47625" marR="38100" marT="19050" marB="19050" anchor="ctr">
                    <a:solidFill>
                      <a:srgbClr val="FFFFFF"/>
                    </a:solidFill>
                  </a:tcPr>
                </a:tc>
              </a:tr>
              <a:tr h="308662">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5,351</a:t>
                      </a:r>
                      <a:endParaRPr sz="1100"/>
                    </a:p>
                  </a:txBody>
                  <a:tcPr marL="47625" marR="38100" marT="19050" marB="19050" anchor="ctr">
                    <a:solidFill>
                      <a:srgbClr val="F5F8FA"/>
                    </a:solidFill>
                  </a:tcPr>
                </a:tc>
              </a:tr>
              <a:tr h="308662">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2,544</a:t>
                      </a:r>
                      <a:endParaRPr sz="1100"/>
                    </a:p>
                  </a:txBody>
                  <a:tcPr marL="47625" marR="38100" marT="19050" marB="19050" anchor="ctr">
                    <a:solidFill>
                      <a:srgbClr val="FFFFFF"/>
                    </a:solidFill>
                  </a:tcPr>
                </a:tc>
              </a:tr>
              <a:tr h="308662">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1,908</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B Key Ratios</a:t>
            </a:r>
          </a:p>
        </p:txBody>
      </p:sp>
      <p:graphicFrame>
        <p:nvGraphicFramePr>
          <p:cNvPr id="17" name="Table 16"/>
          <p:cNvGraphicFramePr>
            <a:graphicFrameLocks noGrp="1"/>
          </p:cNvGraphicFramePr>
          <p:nvPr/>
        </p:nvGraphicFramePr>
        <p:xfrm>
          <a:off x="152400" y="3655670"/>
          <a:ext cx="5886450" cy="2727670"/>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15265">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502481">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r>
              <a:tr h="502481">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r>
              <a:tr h="502481">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r>
              <a:tr h="502481">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r>
              <a:tr h="502481">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B Pricing Analysis (US$/Units)</a:t>
            </a:r>
          </a:p>
        </p:txBody>
      </p:sp>
      <p:graphicFrame>
        <p:nvGraphicFramePr>
          <p:cNvPr id="21" name="Table 20"/>
          <p:cNvGraphicFramePr>
            <a:graphicFrameLocks noGrp="1"/>
          </p:cNvGraphicFramePr>
          <p:nvPr/>
        </p:nvGraphicFramePr>
        <p:xfrm>
          <a:off x="6210300" y="1611256"/>
          <a:ext cx="5829300" cy="4772085"/>
        </p:xfrm>
        <a:graphic>
          <a:graphicData uri="http://schemas.openxmlformats.org/drawingml/2006/table">
            <a:tbl>
              <a:tblPr>
                <a:tableStyleId>{5C22544A-7EE6-4342-B048-85BDC9FD1C3A}</a:tableStyleId>
              </a:tblPr>
              <a:tblGrid>
                <a:gridCol w="4030776"/>
                <a:gridCol w="899262"/>
                <a:gridCol w="899262"/>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1139205">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r>
              <a:tr h="1139205">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r>
              <a:tr h="1139205">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r>
              <a:tr h="1139205">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B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B's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Company B: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14.4%</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21%</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+5%</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1.04</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14%</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and extend leadership in 'Pharmacies and Drugstores' Company B's strongest end-market while scaling the next-best applications.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Convert its ~21% win rate and +5% ASP premium into share gains through value-based selling.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Raise SAM penetration beyond 'Rest of the World' (~92%) into lower-penetration regions.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Sustain a 1.04 book-to-bill with disciplined capacity and channel investment.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Protect margin through corridor-based pricing and cost discipline as input prices move.</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Premiumise the portfolio around 'Styling Serums and Oils' and adjacent high-value lines to lift blended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Deepen presence in 'Rest of the World' (largest SOM region) and build out under-served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 in R&amp;D, certification and selective M&amp;A to move up the price ladder and widen the moat.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Diversify the customer base and secure supply to de-risk concentration and input-cost shocks.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Sharpen go-to-market a ~90-day sales cycle and ~34% conversion speed share capture.</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C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Company C: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30,687</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17,799</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SOM (US$ MN)</a:t>
            </a:r>
          </a:p>
          <a:p>
            <a:pPr algn="ctr">
              <a:lnSpc>
                <a:spcPct val="95000"/>
              </a:lnSpc>
            </a:pPr>
            <a:r>
              <a:rPr sz="1500" b="1">
                <a:solidFill>
                  <a:srgbClr val="0E72AE"/>
                </a:solidFill>
                <a:latin typeface="Calibri"/>
              </a:rPr>
              <a:t>3,040</a:t>
            </a:r>
          </a:p>
          <a:p>
            <a:pPr algn="ctr">
              <a:lnSpc>
                <a:spcPct val="95000"/>
              </a:lnSpc>
            </a:pPr>
            <a:r>
              <a:rPr sz="1100" b="0">
                <a:solidFill>
                  <a:srgbClr val="6C7A89"/>
                </a:solidFill>
                <a:latin typeface="Calibri"/>
              </a:rPr>
              <a:t>17% of SAM</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1.08</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15%</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Market Position: Company C captures ~17% of a US$ Mn SAM, with its strongest end-market in 'Pharmacies and Drugstores'.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Geographic Balance: 'Rest of the World' is the largest SOM region; 'Rest of the World' shows the highest SAM penetration (~53%).</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Growth Trajectory: a 1.08 book-to-bill and ~15% EBITDA margin point to a path to capture more of the addressable market.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Competitive Edge: ~24% win rate with a +4% ASP premium and 2.5x pipeline coverage.</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C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Company C: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900089"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8185839"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Company C</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TAM  ·  100%  ·  30,687 US$ Mn</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SAM  ·  58% of TAM  ·  17,799 US$ Mn</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SOM  ·  17% of SAM  ·  3,040 US$ Mn</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775460"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195828"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550920"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Regional Opportunity: 'Rest of the World' shows the highest SAM penetration; lower-penetration regions are the growth headroom.</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Competitive Edge: ~24% win rate with a +4% ASP premium signals value recognition; 2.5x pipeline coverage underpins growth.</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Sales Efficiency: a ~85-day sales cycle and ~38% conversion support faster share capture.</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C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Company C: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Company C: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~24% win rate with a +4% ASP premium clear value recognition.</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'Rest of the World'.</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1.08 book-to-bill and ~15% EBITDA signal healthy momentum.</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~9.9% share leaves a scale gap versus the market leader.</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Intense competition ~2.5x pipeline needed to convert.</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'Styling Serums and Oils'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C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C's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Company C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C Financial Performance</a:t>
            </a:r>
          </a:p>
        </p:txBody>
      </p:sp>
      <p:graphicFrame>
        <p:nvGraphicFramePr>
          <p:cNvPr id="13" name="Table 12"/>
          <p:cNvGraphicFramePr>
            <a:graphicFrameLocks noGrp="1"/>
          </p:cNvGraphicFramePr>
          <p:nvPr/>
        </p:nvGraphicFramePr>
        <p:xfrm>
          <a:off x="152400" y="1611256"/>
          <a:ext cx="5886451" cy="1449913"/>
        </p:xfrm>
        <a:graphic>
          <a:graphicData uri="http://schemas.openxmlformats.org/drawingml/2006/table">
            <a:tbl>
              <a:tblPr>
                <a:tableStyleId>{5C22544A-7EE6-4342-B048-85BDC9FD1C3A}</a:tableStyleId>
              </a:tblPr>
              <a:tblGrid>
                <a:gridCol w="2383566"/>
                <a:gridCol w="700577"/>
                <a:gridCol w="700577"/>
                <a:gridCol w="700577"/>
                <a:gridCol w="700577"/>
                <a:gridCol w="700577"/>
              </a:tblGrid>
              <a:tr h="215265">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308662">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12,093</a:t>
                      </a:r>
                      <a:endParaRPr sz="1100"/>
                    </a:p>
                  </a:txBody>
                  <a:tcPr marL="47625" marR="38100" marT="19050" marB="19050" anchor="ctr">
                    <a:solidFill>
                      <a:srgbClr val="FFFFFF"/>
                    </a:solidFill>
                  </a:tcPr>
                </a:tc>
              </a:tr>
              <a:tr h="308662">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4,233</a:t>
                      </a:r>
                      <a:endParaRPr sz="1100"/>
                    </a:p>
                  </a:txBody>
                  <a:tcPr marL="47625" marR="38100" marT="19050" marB="19050" anchor="ctr">
                    <a:solidFill>
                      <a:srgbClr val="F5F8FA"/>
                    </a:solidFill>
                  </a:tcPr>
                </a:tc>
              </a:tr>
              <a:tr h="308662">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FFFFF"/>
                    </a:solidFill>
                  </a:tcPr>
                </a:tc>
              </a:tr>
              <a:tr h="308662">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C Key Ratios</a:t>
            </a:r>
          </a:p>
        </p:txBody>
      </p:sp>
      <p:graphicFrame>
        <p:nvGraphicFramePr>
          <p:cNvPr id="17" name="Table 16"/>
          <p:cNvGraphicFramePr>
            <a:graphicFrameLocks noGrp="1"/>
          </p:cNvGraphicFramePr>
          <p:nvPr/>
        </p:nvGraphicFramePr>
        <p:xfrm>
          <a:off x="152400" y="3655670"/>
          <a:ext cx="5886450" cy="2727670"/>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15265">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502481">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r>
              <a:tr h="502481">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r>
              <a:tr h="502481">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r>
              <a:tr h="502481">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r>
              <a:tr h="502481">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C Pricing Analysis (US$/Units)</a:t>
            </a:r>
          </a:p>
        </p:txBody>
      </p:sp>
      <p:graphicFrame>
        <p:nvGraphicFramePr>
          <p:cNvPr id="21" name="Table 20"/>
          <p:cNvGraphicFramePr>
            <a:graphicFrameLocks noGrp="1"/>
          </p:cNvGraphicFramePr>
          <p:nvPr/>
        </p:nvGraphicFramePr>
        <p:xfrm>
          <a:off x="6210300" y="1611256"/>
          <a:ext cx="5829300" cy="4772085"/>
        </p:xfrm>
        <a:graphic>
          <a:graphicData uri="http://schemas.openxmlformats.org/drawingml/2006/table">
            <a:tbl>
              <a:tblPr>
                <a:tableStyleId>{5C22544A-7EE6-4342-B048-85BDC9FD1C3A}</a:tableStyleId>
              </a:tblPr>
              <a:tblGrid>
                <a:gridCol w="4030776"/>
                <a:gridCol w="899262"/>
                <a:gridCol w="899262"/>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1139205">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r>
              <a:tr h="1139205">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r>
              <a:tr h="1139205">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r>
              <a:tr h="1139205">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C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C's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Company C: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9.9%</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24%</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+4%</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1.08</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15%</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and extend leadership in 'Pharmacies and Drugstores' Company C's strongest end-market while scaling the next-best applications.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Convert its ~24% win rate and +4% ASP premium into share gains through value-based selling.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Raise SAM penetration beyond 'Rest of the World' (~53%) into lower-penetration regions.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Sustain a 1.08 book-to-bill with disciplined capacity and channel investment.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Protect margin through corridor-based pricing and cost discipline as input prices move.</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Premiumise the portfolio around 'Styling Serums and Oils' and adjacent high-value lines to lift blended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Deepen presence in 'Rest of the World' (largest SOM region) and build out under-served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 in R&amp;D, certification and selective M&amp;A to move up the price ladder and widen the moat.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Diversify the customer base and secure supply to de-risk concentration and input-cost shocks.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Sharpen go-to-market a ~85-day sales cycle and ~38% conversion speed share capture.</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theme/theme1.xml><?xml version="1.0" encoding="utf-8"?>
<a:theme xmlns:a="http://schemas.openxmlformats.org/drawingml/2006/main" name="Office Theme">
  <a:themeElements>
    <a:clrScheme name="Custom 70">
      <a:dk1>
        <a:sysClr val="windowText" lastClr="000000"/>
      </a:dk1>
      <a:lt1>
        <a:sysClr val="window" lastClr="FFFFFF"/>
      </a:lt1>
      <a:dk2>
        <a:srgbClr val="000000"/>
      </a:dk2>
      <a:lt2>
        <a:srgbClr val="F8F8F8"/>
      </a:lt2>
      <a:accent1>
        <a:srgbClr val="3D85C6"/>
      </a:accent1>
      <a:accent2>
        <a:srgbClr val="9E7E0A"/>
      </a:accent2>
      <a:accent3>
        <a:srgbClr val="40315E"/>
      </a:accent3>
      <a:accent4>
        <a:srgbClr val="008189"/>
      </a:accent4>
      <a:accent5>
        <a:srgbClr val="A35313"/>
      </a:accent5>
      <a:accent6>
        <a:srgbClr val="5F5F5F"/>
      </a:accent6>
      <a:hlink>
        <a:srgbClr val="5F5F5F"/>
      </a:hlink>
      <a:folHlink>
        <a:srgbClr val="919191"/>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